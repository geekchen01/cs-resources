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bmp" ContentType="image/bmp"/>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560" r:id="rId4"/>
    <p:sldId id="644" r:id="rId5"/>
    <p:sldId id="664" r:id="rId6"/>
    <p:sldId id="645" r:id="rId7"/>
    <p:sldId id="657" r:id="rId8"/>
    <p:sldId id="659" r:id="rId9"/>
    <p:sldId id="658" r:id="rId11"/>
    <p:sldId id="596" r:id="rId12"/>
    <p:sldId id="597" r:id="rId13"/>
    <p:sldId id="598" r:id="rId14"/>
    <p:sldId id="599" r:id="rId15"/>
    <p:sldId id="600" r:id="rId16"/>
    <p:sldId id="585" r:id="rId17"/>
    <p:sldId id="668" r:id="rId18"/>
    <p:sldId id="586" r:id="rId19"/>
    <p:sldId id="660" r:id="rId20"/>
    <p:sldId id="661" r:id="rId21"/>
    <p:sldId id="662" r:id="rId22"/>
    <p:sldId id="616" r:id="rId23"/>
    <p:sldId id="588" r:id="rId24"/>
    <p:sldId id="589" r:id="rId25"/>
    <p:sldId id="718" r:id="rId26"/>
    <p:sldId id="719" r:id="rId27"/>
    <p:sldId id="606" r:id="rId28"/>
    <p:sldId id="666" r:id="rId29"/>
    <p:sldId id="667" r:id="rId30"/>
    <p:sldId id="665" r:id="rId31"/>
    <p:sldId id="610" r:id="rId32"/>
    <p:sldId id="609" r:id="rId33"/>
    <p:sldId id="669" r:id="rId34"/>
    <p:sldId id="670" r:id="rId35"/>
    <p:sldId id="647" r:id="rId36"/>
    <p:sldId id="648" r:id="rId37"/>
    <p:sldId id="663" r:id="rId38"/>
    <p:sldId id="627" r:id="rId39"/>
    <p:sldId id="652" r:id="rId40"/>
    <p:sldId id="683" r:id="rId41"/>
    <p:sldId id="684" r:id="rId42"/>
    <p:sldId id="685" r:id="rId43"/>
    <p:sldId id="686" r:id="rId44"/>
    <p:sldId id="619" r:id="rId45"/>
    <p:sldId id="671" r:id="rId46"/>
    <p:sldId id="678" r:id="rId47"/>
    <p:sldId id="653" r:id="rId48"/>
    <p:sldId id="655" r:id="rId49"/>
    <p:sldId id="656" r:id="rId50"/>
    <p:sldId id="672" r:id="rId51"/>
    <p:sldId id="673" r:id="rId52"/>
    <p:sldId id="674" r:id="rId53"/>
    <p:sldId id="675" r:id="rId54"/>
    <p:sldId id="622" r:id="rId55"/>
    <p:sldId id="623" r:id="rId56"/>
    <p:sldId id="654" r:id="rId57"/>
    <p:sldId id="676" r:id="rId58"/>
    <p:sldId id="680" r:id="rId59"/>
    <p:sldId id="681" r:id="rId60"/>
    <p:sldId id="682" r:id="rId61"/>
    <p:sldId id="559" r:id="rId62"/>
  </p:sldIdLst>
  <p:sldSz cx="9144000" cy="6858000" type="screen4x3"/>
  <p:notesSz cx="6858000" cy="9144000"/>
  <p:custDataLst>
    <p:tags r:id="rId66"/>
  </p:custDataLst>
  <p:defaultTextStyle>
    <a:defPPr>
      <a:defRPr lang="en-US"/>
    </a:defPPr>
    <a:lvl1pPr marL="0" lvl="0"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CC"/>
    <a:srgbClr val="CC0066"/>
    <a:srgbClr val="000099"/>
    <a:srgbClr val="00CC00"/>
    <a:srgbClr val="009900"/>
    <a:srgbClr val="008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979"/>
    <p:restoredTop sz="87384"/>
  </p:normalViewPr>
  <p:slideViewPr>
    <p:cSldViewPr showGuides="1">
      <p:cViewPr varScale="1">
        <p:scale>
          <a:sx n="53" d="100"/>
          <a:sy n="53" d="100"/>
        </p:scale>
        <p:origin x="557" y="29"/>
      </p:cViewPr>
      <p:guideLst>
        <p:guide orient="horz" pos="2160"/>
        <p:guide pos="2903"/>
      </p:guideLst>
    </p:cSldViewPr>
  </p:slid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6" Type="http://schemas.openxmlformats.org/officeDocument/2006/relationships/tags" Target="tags/tag20.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229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9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229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229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29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0639E292-79CF-4325-B002-47261B87D1F3}"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幻灯片图像占位符 1"/>
          <p:cNvSpPr>
            <a:spLocks noGrp="1" noRot="1" noChangeAspect="1" noTextEdit="1"/>
          </p:cNvSpPr>
          <p:nvPr>
            <p:ph type="sldImg"/>
          </p:nvPr>
        </p:nvSpPr>
        <p:spPr/>
      </p:sp>
      <p:sp>
        <p:nvSpPr>
          <p:cNvPr id="11267" name="备注占位符 2"/>
          <p:cNvSpPr>
            <a:spLocks noGrp="1"/>
          </p:cNvSpPr>
          <p:nvPr>
            <p:ph type="body" idx="1"/>
          </p:nvPr>
        </p:nvSpPr>
        <p:spPr/>
        <p:txBody>
          <a:bodyPr wrap="square" lIns="91440" tIns="45720" rIns="91440" bIns="45720" anchor="t" anchorCtr="0"/>
          <a:p>
            <a:pPr lvl="0"/>
            <a:endParaRPr lang="en-US" altLang="zh-CN" dirty="0">
              <a:ea typeface="宋体" panose="02010600030101010101" pitchFamily="2" charset="-122"/>
            </a:endParaRPr>
          </a:p>
        </p:txBody>
      </p:sp>
      <p:sp>
        <p:nvSpPr>
          <p:cNvPr id="112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15363" name="Rectangle 2"/>
          <p:cNvSpPr>
            <a:spLocks noRot="1" noTextEdit="1"/>
          </p:cNvSpPr>
          <p:nvPr>
            <p:ph type="sldImg"/>
          </p:nvPr>
        </p:nvSpPr>
        <p:spPr/>
      </p:sp>
      <p:sp>
        <p:nvSpPr>
          <p:cNvPr id="15364" name="Rectangle 3"/>
          <p:cNvSpPr>
            <a:spLocks noGrp="1"/>
          </p:cNvSpPr>
          <p:nvPr>
            <p:ph type="body" idx="1"/>
          </p:nvPr>
        </p:nvSpPr>
        <p:spPr>
          <a:xfrm>
            <a:off x="914400" y="4344988"/>
            <a:ext cx="5029200" cy="4113212"/>
          </a:xfrm>
        </p:spPr>
        <p:txBody>
          <a:bodyPr wrap="square" lIns="91440" tIns="45720" rIns="91440" bIns="45720" anchor="t" anchorCtr="0"/>
          <a:p>
            <a:pPr lvl="1" eaLnBrk="1" hangingPunct="1"/>
            <a:r>
              <a:rPr lang="zh-CN" altLang="en-US" sz="1600" dirty="0">
                <a:ea typeface="宋体" panose="02010600030101010101" pitchFamily="2" charset="-122"/>
              </a:rPr>
              <a:t>和</a:t>
            </a:r>
            <a:endParaRPr lang="zh-CN" altLang="en-US" sz="16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幻灯片图像占位符 1"/>
          <p:cNvSpPr>
            <a:spLocks noGrp="1" noRot="1" noChangeAspect="1" noTextEdit="1"/>
          </p:cNvSpPr>
          <p:nvPr>
            <p:ph type="sldImg"/>
          </p:nvPr>
        </p:nvSpPr>
        <p:spPr/>
      </p:sp>
      <p:sp>
        <p:nvSpPr>
          <p:cNvPr id="34819"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A</a:t>
            </a:r>
            <a:endParaRPr lang="en-US" altLang="zh-CN" dirty="0">
              <a:ea typeface="宋体" panose="02010600030101010101" pitchFamily="2" charset="-122"/>
            </a:endParaRPr>
          </a:p>
          <a:p>
            <a:pPr lvl="0"/>
            <a:r>
              <a:rPr lang="en-US" altLang="zh-CN" dirty="0">
                <a:ea typeface="宋体" panose="02010600030101010101" pitchFamily="2" charset="-122"/>
              </a:rPr>
              <a:t>D</a:t>
            </a:r>
            <a:endParaRPr lang="zh-CN" altLang="en-US" dirty="0">
              <a:ea typeface="宋体" panose="02010600030101010101" pitchFamily="2" charset="-122"/>
            </a:endParaRPr>
          </a:p>
        </p:txBody>
      </p:sp>
      <p:sp>
        <p:nvSpPr>
          <p:cNvPr id="348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幻灯片图像占位符 1"/>
          <p:cNvSpPr>
            <a:spLocks noGrp="1" noRot="1" noChangeAspect="1" noTextEdit="1"/>
          </p:cNvSpPr>
          <p:nvPr>
            <p:ph type="sldImg"/>
          </p:nvPr>
        </p:nvSpPr>
        <p:spPr/>
      </p:sp>
      <p:sp>
        <p:nvSpPr>
          <p:cNvPr id="36867"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C</a:t>
            </a:r>
            <a:endParaRPr lang="zh-CN" altLang="en-US" dirty="0">
              <a:ea typeface="宋体" panose="02010600030101010101" pitchFamily="2" charset="-122"/>
            </a:endParaRPr>
          </a:p>
        </p:txBody>
      </p:sp>
      <p:sp>
        <p:nvSpPr>
          <p:cNvPr id="368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幻灯片图像占位符 1"/>
          <p:cNvSpPr>
            <a:spLocks noGrp="1" noRot="1" noChangeAspect="1" noTextEdit="1"/>
          </p:cNvSpPr>
          <p:nvPr>
            <p:ph type="sldImg"/>
          </p:nvPr>
        </p:nvSpPr>
        <p:spPr/>
      </p:sp>
      <p:sp>
        <p:nvSpPr>
          <p:cNvPr id="40963"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B</a:t>
            </a:r>
            <a:endParaRPr lang="en-US" altLang="zh-CN" dirty="0">
              <a:ea typeface="宋体" panose="02010600030101010101" pitchFamily="2" charset="-122"/>
            </a:endParaRPr>
          </a:p>
        </p:txBody>
      </p:sp>
      <p:sp>
        <p:nvSpPr>
          <p:cNvPr id="409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幻灯片图像占位符 1"/>
          <p:cNvSpPr>
            <a:spLocks noGrp="1" noRot="1" noChangeAspect="1" noTextEdit="1"/>
          </p:cNvSpPr>
          <p:nvPr>
            <p:ph type="sldImg"/>
          </p:nvPr>
        </p:nvSpPr>
        <p:spPr/>
      </p:sp>
      <p:sp>
        <p:nvSpPr>
          <p:cNvPr id="43011"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A</a:t>
            </a:r>
            <a:endParaRPr lang="en-US" altLang="zh-CN" dirty="0">
              <a:ea typeface="宋体" panose="02010600030101010101" pitchFamily="2" charset="-122"/>
            </a:endParaRPr>
          </a:p>
          <a:p>
            <a:pPr lvl="0"/>
            <a:r>
              <a:rPr lang="en-US" altLang="zh-CN" dirty="0">
                <a:ea typeface="宋体" panose="02010600030101010101" pitchFamily="2" charset="-122"/>
              </a:rPr>
              <a:t>A</a:t>
            </a:r>
            <a:endParaRPr lang="en-US" altLang="zh-CN" dirty="0">
              <a:ea typeface="宋体" panose="02010600030101010101" pitchFamily="2" charset="-122"/>
            </a:endParaRPr>
          </a:p>
        </p:txBody>
      </p:sp>
      <p:sp>
        <p:nvSpPr>
          <p:cNvPr id="4301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幻灯片图像占位符 1"/>
          <p:cNvSpPr>
            <a:spLocks noGrp="1" noRot="1" noChangeAspect="1" noTextEdit="1"/>
          </p:cNvSpPr>
          <p:nvPr>
            <p:ph type="sldImg"/>
          </p:nvPr>
        </p:nvSpPr>
        <p:spPr/>
      </p:sp>
      <p:sp>
        <p:nvSpPr>
          <p:cNvPr id="45059"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B</a:t>
            </a:r>
            <a:endParaRPr lang="en-US" altLang="zh-CN" dirty="0">
              <a:ea typeface="宋体" panose="02010600030101010101" pitchFamily="2" charset="-122"/>
            </a:endParaRPr>
          </a:p>
          <a:p>
            <a:pPr lvl="0"/>
            <a:r>
              <a:rPr lang="en-US" altLang="zh-CN" dirty="0">
                <a:ea typeface="宋体" panose="02010600030101010101" pitchFamily="2" charset="-122"/>
              </a:rPr>
              <a:t>D  1.11.......11</a:t>
            </a:r>
            <a:r>
              <a:rPr lang="zh-CN" altLang="en-US" dirty="0">
                <a:ea typeface="宋体" panose="02010600030101010101" pitchFamily="2" charset="-122"/>
                <a:sym typeface="+mn-ea"/>
              </a:rPr>
              <a:t>*</a:t>
            </a:r>
            <a:r>
              <a:rPr lang="en-US" altLang="zh-CN" dirty="0">
                <a:ea typeface="宋体" panose="02010600030101010101" pitchFamily="2" charset="-122"/>
                <a:sym typeface="+mn-ea"/>
              </a:rPr>
              <a:t>2</a:t>
            </a:r>
            <a:r>
              <a:rPr lang="en-US" altLang="zh-CN" baseline="30000" dirty="0">
                <a:ea typeface="宋体" panose="02010600030101010101" pitchFamily="2" charset="-122"/>
                <a:sym typeface="+mn-ea"/>
              </a:rPr>
              <a:t>127 </a:t>
            </a:r>
            <a:r>
              <a:rPr lang="en-US" altLang="zh-CN" dirty="0">
                <a:ea typeface="宋体" panose="02010600030101010101" pitchFamily="2" charset="-122"/>
              </a:rPr>
              <a:t>=</a:t>
            </a:r>
            <a:r>
              <a:rPr lang="zh-CN" altLang="en-US" dirty="0">
                <a:ea typeface="宋体" panose="02010600030101010101" pitchFamily="2" charset="-122"/>
              </a:rPr>
              <a:t>（</a:t>
            </a:r>
            <a:r>
              <a:rPr lang="en-US" altLang="zh-CN" dirty="0">
                <a:ea typeface="宋体" panose="02010600030101010101" pitchFamily="2" charset="-122"/>
              </a:rPr>
              <a:t>2-0.00......01)</a:t>
            </a:r>
            <a:r>
              <a:rPr lang="zh-CN" altLang="en-US" dirty="0">
                <a:ea typeface="宋体" panose="02010600030101010101" pitchFamily="2" charset="-122"/>
              </a:rPr>
              <a:t> *</a:t>
            </a:r>
            <a:r>
              <a:rPr lang="en-US" altLang="zh-CN" dirty="0">
                <a:ea typeface="宋体" panose="02010600030101010101" pitchFamily="2" charset="-122"/>
              </a:rPr>
              <a:t>2</a:t>
            </a:r>
            <a:r>
              <a:rPr lang="en-US" altLang="zh-CN" baseline="30000" dirty="0">
                <a:ea typeface="宋体" panose="02010600030101010101" pitchFamily="2" charset="-122"/>
              </a:rPr>
              <a:t>127</a:t>
            </a:r>
            <a:endParaRPr lang="en-US" altLang="zh-CN" baseline="30000" dirty="0">
              <a:ea typeface="宋体" panose="02010600030101010101" pitchFamily="2" charset="-122"/>
            </a:endParaRPr>
          </a:p>
          <a:p>
            <a:pPr lvl="0"/>
            <a:r>
              <a:rPr lang="en-US" altLang="zh-CN" dirty="0">
                <a:ea typeface="宋体" panose="02010600030101010101" pitchFamily="2" charset="-122"/>
              </a:rPr>
              <a:t>A</a:t>
            </a:r>
            <a:r>
              <a:rPr lang="zh-CN" altLang="en-US" dirty="0">
                <a:ea typeface="宋体" panose="02010600030101010101" pitchFamily="2" charset="-122"/>
              </a:rPr>
              <a:t>（</a:t>
            </a:r>
            <a:r>
              <a:rPr lang="en-US" altLang="zh-CN" dirty="0">
                <a:ea typeface="宋体" panose="02010600030101010101" pitchFamily="2" charset="-122"/>
              </a:rPr>
              <a:t>-8.25=-1000.01=-1.00001</a:t>
            </a:r>
            <a:r>
              <a:rPr lang="zh-CN" altLang="en-US" dirty="0">
                <a:ea typeface="宋体" panose="02010600030101010101" pitchFamily="2" charset="-122"/>
              </a:rPr>
              <a:t>*</a:t>
            </a:r>
            <a:r>
              <a:rPr lang="en-US" altLang="zh-CN" dirty="0">
                <a:ea typeface="宋体" panose="02010600030101010101" pitchFamily="2" charset="-122"/>
              </a:rPr>
              <a:t>2</a:t>
            </a:r>
            <a:r>
              <a:rPr lang="en-US" altLang="zh-CN" baseline="30000" dirty="0">
                <a:ea typeface="宋体" panose="02010600030101010101" pitchFamily="2" charset="-122"/>
              </a:rPr>
              <a:t>3</a:t>
            </a:r>
            <a:r>
              <a:rPr lang="zh-CN" altLang="en-US" dirty="0">
                <a:ea typeface="宋体" panose="02010600030101010101" pitchFamily="2" charset="-122"/>
              </a:rPr>
              <a:t>，</a:t>
            </a:r>
            <a:r>
              <a:rPr lang="en-US" altLang="zh-CN" dirty="0">
                <a:ea typeface="宋体" panose="02010600030101010101" pitchFamily="2" charset="-122"/>
              </a:rPr>
              <a:t>IEEE754</a:t>
            </a:r>
            <a:r>
              <a:rPr lang="zh-CN" altLang="en-US" dirty="0">
                <a:ea typeface="宋体" panose="02010600030101010101" pitchFamily="2" charset="-122"/>
              </a:rPr>
              <a:t>：</a:t>
            </a:r>
            <a:r>
              <a:rPr lang="en-US" altLang="zh-CN" dirty="0">
                <a:ea typeface="宋体" panose="02010600030101010101" pitchFamily="2" charset="-122"/>
              </a:rPr>
              <a:t>1 10000010 000010000......0,C1040000H</a:t>
            </a:r>
            <a:r>
              <a:rPr lang="zh-CN" altLang="en-US" dirty="0">
                <a:ea typeface="宋体" panose="02010600030101010101" pitchFamily="2" charset="-122"/>
              </a:rPr>
              <a:t>）</a:t>
            </a:r>
            <a:endParaRPr lang="zh-CN" altLang="en-US" dirty="0">
              <a:ea typeface="宋体" panose="02010600030101010101" pitchFamily="2" charset="-122"/>
            </a:endParaRPr>
          </a:p>
        </p:txBody>
      </p:sp>
      <p:sp>
        <p:nvSpPr>
          <p:cNvPr id="450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幻灯片图像占位符 1"/>
          <p:cNvSpPr>
            <a:spLocks noGrp="1" noRot="1" noChangeAspect="1" noTextEdit="1"/>
          </p:cNvSpPr>
          <p:nvPr>
            <p:ph type="sldImg"/>
          </p:nvPr>
        </p:nvSpPr>
        <p:spPr/>
      </p:sp>
      <p:sp>
        <p:nvSpPr>
          <p:cNvPr id="47107" name="备注占位符 2"/>
          <p:cNvSpPr>
            <a:spLocks noGrp="1"/>
          </p:cNvSpPr>
          <p:nvPr>
            <p:ph type="body" idx="1"/>
          </p:nvPr>
        </p:nvSpPr>
        <p:spPr/>
        <p:txBody>
          <a:bodyPr wrap="square" lIns="91440" tIns="45720" rIns="91440" bIns="45720" anchor="t" anchorCtr="0"/>
          <a:p>
            <a:pPr lvl="0"/>
            <a:endParaRPr lang="zh-CN" altLang="en-US" dirty="0">
              <a:ea typeface="宋体" panose="02010600030101010101" pitchFamily="2" charset="-122"/>
            </a:endParaRPr>
          </a:p>
        </p:txBody>
      </p:sp>
      <p:sp>
        <p:nvSpPr>
          <p:cNvPr id="4710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幻灯片图像占位符 1"/>
          <p:cNvSpPr>
            <a:spLocks noGrp="1" noRot="1" noChangeAspect="1" noTextEdit="1"/>
          </p:cNvSpPr>
          <p:nvPr>
            <p:ph type="sldImg"/>
          </p:nvPr>
        </p:nvSpPr>
        <p:spPr/>
      </p:sp>
      <p:sp>
        <p:nvSpPr>
          <p:cNvPr id="49155" name="备注占位符 2"/>
          <p:cNvSpPr>
            <a:spLocks noGrp="1"/>
          </p:cNvSpPr>
          <p:nvPr>
            <p:ph type="body" idx="1"/>
          </p:nvPr>
        </p:nvSpPr>
        <p:spPr/>
        <p:txBody>
          <a:bodyPr wrap="square" lIns="91440" tIns="45720" rIns="91440" bIns="45720" anchor="t" anchorCtr="0"/>
          <a:p>
            <a:pPr lvl="0"/>
            <a:endParaRPr lang="zh-CN" altLang="en-US" dirty="0">
              <a:ea typeface="宋体" panose="02010600030101010101" pitchFamily="2" charset="-122"/>
            </a:endParaRPr>
          </a:p>
        </p:txBody>
      </p:sp>
      <p:sp>
        <p:nvSpPr>
          <p:cNvPr id="491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幻灯片图像占位符 1"/>
          <p:cNvSpPr>
            <a:spLocks noGrp="1" noRot="1" noChangeAspect="1" noTextEdit="1"/>
          </p:cNvSpPr>
          <p:nvPr>
            <p:ph type="sldImg"/>
          </p:nvPr>
        </p:nvSpPr>
        <p:spPr/>
      </p:sp>
      <p:sp>
        <p:nvSpPr>
          <p:cNvPr id="51203"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D</a:t>
            </a:r>
            <a:endParaRPr lang="zh-CN" altLang="en-US" dirty="0">
              <a:ea typeface="宋体" panose="02010600030101010101" pitchFamily="2" charset="-122"/>
            </a:endParaRPr>
          </a:p>
        </p:txBody>
      </p:sp>
      <p:sp>
        <p:nvSpPr>
          <p:cNvPr id="5120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
        <p:nvSpPr>
          <p:cNvPr id="53251" name="Rectangle 2"/>
          <p:cNvSpPr>
            <a:spLocks noRot="1" noTextEdit="1"/>
          </p:cNvSpPr>
          <p:nvPr>
            <p:ph type="sldImg"/>
          </p:nvPr>
        </p:nvSpPr>
        <p:spPr/>
      </p:sp>
      <p:sp>
        <p:nvSpPr>
          <p:cNvPr id="53252" name="Rectangle 3"/>
          <p:cNvSpPr>
            <a:spLocks noGrp="1"/>
          </p:cNvSpPr>
          <p:nvPr>
            <p:ph type="body" idx="1"/>
          </p:nvPr>
        </p:nvSpPr>
        <p:spPr>
          <a:xfrm>
            <a:off x="914400" y="4343400"/>
            <a:ext cx="5029200" cy="4114800"/>
          </a:xfrm>
        </p:spPr>
        <p:txBody>
          <a:bodyPr wrap="square" lIns="91435" tIns="45718" rIns="91435" bIns="45718" anchor="t" anchorCtr="0"/>
          <a:p>
            <a:pPr lvl="0" eaLnBrk="1" hangingPunct="1"/>
            <a:endParaRPr lang="zh-CN" altLang="en-US" sz="2000"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幻灯片图像占位符 1"/>
          <p:cNvSpPr>
            <a:spLocks noGrp="1" noRot="1" noChangeAspect="1" noTextEdit="1"/>
          </p:cNvSpPr>
          <p:nvPr>
            <p:ph type="sldImg"/>
          </p:nvPr>
        </p:nvSpPr>
        <p:spPr/>
      </p:sp>
      <p:sp>
        <p:nvSpPr>
          <p:cNvPr id="57347" name="备注占位符 2"/>
          <p:cNvSpPr>
            <a:spLocks noGrp="1"/>
          </p:cNvSpPr>
          <p:nvPr>
            <p:ph type="body" idx="1"/>
          </p:nvPr>
        </p:nvSpPr>
        <p:spPr/>
        <p:txBody>
          <a:bodyPr wrap="square" lIns="91440" tIns="45720" rIns="91440" bIns="45720" anchor="t" anchorCtr="0"/>
          <a:p>
            <a:pPr lvl="0"/>
            <a:endParaRPr lang="zh-CN" altLang="en-US" dirty="0">
              <a:ea typeface="宋体" panose="02010600030101010101" pitchFamily="2" charset="-122"/>
            </a:endParaRPr>
          </a:p>
        </p:txBody>
      </p:sp>
      <p:sp>
        <p:nvSpPr>
          <p:cNvPr id="573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B</a:t>
            </a:r>
            <a:endParaRPr lang="zh-CN" altLang="en-US" dirty="0">
              <a:ea typeface="宋体" panose="02010600030101010101" pitchFamily="2" charset="-122"/>
            </a:endParaRPr>
          </a:p>
        </p:txBody>
      </p:sp>
      <p:sp>
        <p:nvSpPr>
          <p:cNvPr id="593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C</a:t>
            </a:r>
            <a:endParaRPr lang="zh-CN" altLang="en-US" dirty="0">
              <a:ea typeface="宋体" panose="02010600030101010101" pitchFamily="2" charset="-122"/>
            </a:endParaRPr>
          </a:p>
        </p:txBody>
      </p:sp>
      <p:sp>
        <p:nvSpPr>
          <p:cNvPr id="624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A</a:t>
            </a:r>
            <a:endParaRPr lang="en-US" altLang="zh-CN" dirty="0">
              <a:ea typeface="宋体" panose="02010600030101010101" pitchFamily="2" charset="-122"/>
            </a:endParaRPr>
          </a:p>
          <a:p>
            <a:pPr lvl="0"/>
            <a:r>
              <a:rPr lang="en-US" altLang="zh-CN" dirty="0">
                <a:ea typeface="宋体" panose="02010600030101010101" pitchFamily="2" charset="-122"/>
              </a:rPr>
              <a:t>B</a:t>
            </a:r>
            <a:endParaRPr lang="zh-CN" altLang="en-US" dirty="0">
              <a:ea typeface="宋体" panose="02010600030101010101" pitchFamily="2" charset="-122"/>
            </a:endParaRPr>
          </a:p>
        </p:txBody>
      </p:sp>
      <p:sp>
        <p:nvSpPr>
          <p:cNvPr id="645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D</a:t>
            </a:r>
            <a:endParaRPr lang="zh-CN" altLang="en-US" dirty="0">
              <a:ea typeface="宋体" panose="02010600030101010101" pitchFamily="2" charset="-122"/>
            </a:endParaRPr>
          </a:p>
        </p:txBody>
      </p:sp>
      <p:sp>
        <p:nvSpPr>
          <p:cNvPr id="6656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幻灯片图像占位符 1"/>
          <p:cNvSpPr>
            <a:spLocks noGrp="1" noRot="1" noChangeAspect="1" noTextEdit="1"/>
          </p:cNvSpPr>
          <p:nvPr>
            <p:ph type="sldImg"/>
          </p:nvPr>
        </p:nvSpPr>
        <p:spPr/>
      </p:sp>
      <p:sp>
        <p:nvSpPr>
          <p:cNvPr id="75779"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D</a:t>
            </a:r>
            <a:endParaRPr lang="zh-CN" altLang="en-US" dirty="0">
              <a:ea typeface="宋体" panose="02010600030101010101" pitchFamily="2" charset="-122"/>
            </a:endParaRPr>
          </a:p>
        </p:txBody>
      </p:sp>
      <p:sp>
        <p:nvSpPr>
          <p:cNvPr id="757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幻灯片图像占位符 1"/>
          <p:cNvSpPr>
            <a:spLocks noGrp="1" noRot="1" noChangeAspect="1" noTextEdit="1"/>
          </p:cNvSpPr>
          <p:nvPr>
            <p:ph type="sldImg"/>
          </p:nvPr>
        </p:nvSpPr>
        <p:spPr/>
      </p:sp>
      <p:sp>
        <p:nvSpPr>
          <p:cNvPr id="79875" name="备注占位符 2"/>
          <p:cNvSpPr>
            <a:spLocks noGrp="1"/>
          </p:cNvSpPr>
          <p:nvPr>
            <p:ph type="body" idx="1"/>
          </p:nvPr>
        </p:nvSpPr>
        <p:spPr/>
        <p:txBody>
          <a:bodyPr wrap="square" lIns="91440" tIns="45720" rIns="91440" bIns="45720" anchor="t" anchorCtr="0"/>
          <a:p>
            <a:pPr lvl="0"/>
            <a:r>
              <a:rPr lang="en-US" altLang="zh-CN" dirty="0">
                <a:ea typeface="宋体" panose="02010600030101010101" pitchFamily="2" charset="-122"/>
              </a:rPr>
              <a:t>D</a:t>
            </a:r>
            <a:r>
              <a:rPr lang="zh-CN" altLang="en-US" dirty="0">
                <a:ea typeface="宋体" panose="02010600030101010101" pitchFamily="2" charset="-122"/>
              </a:rPr>
              <a:t>（</a:t>
            </a:r>
            <a:r>
              <a:rPr lang="en-US" altLang="zh-CN" dirty="0">
                <a:ea typeface="宋体" panose="02010600030101010101" pitchFamily="2" charset="-122"/>
              </a:rPr>
              <a:t>X=0.11101</a:t>
            </a:r>
            <a:r>
              <a:rPr lang="en-US" altLang="zh-CN" dirty="0">
                <a:latin typeface="Times New Roman" panose="02020603050405020304" pitchFamily="18" charset="0"/>
                <a:ea typeface="宋体" panose="02010600030101010101" pitchFamily="2" charset="-122"/>
              </a:rPr>
              <a:t>×2</a:t>
            </a:r>
            <a:r>
              <a:rPr lang="en-US" altLang="zh-CN" baseline="30000" dirty="0">
                <a:latin typeface="Times New Roman" panose="02020603050405020304" pitchFamily="18" charset="0"/>
                <a:ea typeface="宋体" panose="02010600030101010101" pitchFamily="2" charset="-122"/>
              </a:rPr>
              <a:t>7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Y=0.10100×2</a:t>
            </a:r>
            <a:r>
              <a:rPr lang="en-US" altLang="zh-CN" baseline="30000"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X+Y=1.11010×2</a:t>
            </a:r>
            <a:r>
              <a:rPr lang="en-US" altLang="zh-CN" baseline="30000" dirty="0">
                <a:latin typeface="Times New Roman" panose="02020603050405020304" pitchFamily="18" charset="0"/>
                <a:ea typeface="宋体" panose="02010600030101010101" pitchFamily="2" charset="-122"/>
              </a:rPr>
              <a:t>7</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溢出）</a:t>
            </a:r>
            <a:endParaRPr lang="en-US" altLang="zh-CN" dirty="0">
              <a:latin typeface="Times New Roman" panose="02020603050405020304" pitchFamily="18" charset="0"/>
              <a:ea typeface="宋体" panose="02010600030101010101" pitchFamily="2" charset="-122"/>
            </a:endParaRPr>
          </a:p>
          <a:p>
            <a:pPr lvl="0"/>
            <a:r>
              <a:rPr lang="en-US" altLang="zh-CN" dirty="0">
                <a:latin typeface="Times New Roman" panose="02020603050405020304" pitchFamily="18" charset="0"/>
                <a:ea typeface="宋体" panose="02010600030101010101" pitchFamily="2" charset="-122"/>
              </a:rPr>
              <a:t>B</a:t>
            </a:r>
            <a:endParaRPr lang="en-US" altLang="zh-CN" dirty="0">
              <a:ea typeface="宋体" panose="02010600030101010101" pitchFamily="2" charset="-122"/>
            </a:endParaRPr>
          </a:p>
          <a:p>
            <a:pPr lvl="0"/>
            <a:endParaRPr lang="zh-CN" altLang="en-US" dirty="0">
              <a:ea typeface="宋体" panose="02010600030101010101" pitchFamily="2" charset="-122"/>
            </a:endParaRPr>
          </a:p>
        </p:txBody>
      </p:sp>
      <p:sp>
        <p:nvSpPr>
          <p:cNvPr id="798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ea typeface="宋体" panose="02010600030101010101" pitchFamily="2" charset="-122"/>
              </a:rPr>
            </a:fld>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1.w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1.wmf"/><Relationship Id="rId3" Type="http://schemas.openxmlformats.org/officeDocument/2006/relationships/oleObject" Target="../embeddings/oleObject2.bin"/><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1.wmf"/><Relationship Id="rId3" Type="http://schemas.openxmlformats.org/officeDocument/2006/relationships/oleObject" Target="../embeddings/oleObject3.bin"/><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AutoShape 4"/>
          <p:cNvSpPr/>
          <p:nvPr/>
        </p:nvSpPr>
        <p:spPr>
          <a:xfrm>
            <a:off x="685800" y="2393950"/>
            <a:ext cx="7772400" cy="71438"/>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rgbClr val="0000FF">
              <a:alpha val="100000"/>
            </a:srgbClr>
          </a:solidFill>
          <a:ln w="9525" cap="flat" cmpd="sng">
            <a:solidFill>
              <a:srgbClr val="0000FF">
                <a:alpha val="100000"/>
              </a:srgbClr>
            </a:solidFill>
            <a:prstDash val="solid"/>
            <a:round/>
            <a:headEnd type="none" w="med" len="med"/>
            <a:tailEnd type="none" w="med" len="med"/>
          </a:ln>
        </p:spPr>
        <p:txBody>
          <a:bodyPr/>
          <a:p>
            <a:endParaRPr lang="zh-CN" altLang="en-US"/>
          </a:p>
        </p:txBody>
      </p:sp>
      <p:sp>
        <p:nvSpPr>
          <p:cNvPr id="5122" name="Rectangle 2"/>
          <p:cNvSpPr>
            <a:spLocks noGrp="1" noChangeArrowheads="1"/>
          </p:cNvSpPr>
          <p:nvPr>
            <p:ph type="ctrTitle"/>
          </p:nvPr>
        </p:nvSpPr>
        <p:spPr>
          <a:xfrm>
            <a:off x="685800" y="990600"/>
            <a:ext cx="7772400" cy="1371600"/>
          </a:xfrm>
        </p:spPr>
        <p:txBody>
          <a:bodyPr/>
          <a:lstStyle>
            <a:lvl1pPr>
              <a:defRPr sz="5400"/>
            </a:lvl1pPr>
          </a:lstStyle>
          <a:p>
            <a:pPr lvl="0"/>
            <a:r>
              <a:rPr lang="zh-CN" altLang="en-US" noProof="0" smtClean="0"/>
              <a:t>单击此处编辑母版标题样式</a:t>
            </a:r>
            <a:endParaRPr lang="zh-CN" altLang="en-US" noProof="0" smtClean="0"/>
          </a:p>
        </p:txBody>
      </p:sp>
      <p:sp>
        <p:nvSpPr>
          <p:cNvPr id="5123" name="Rectangle 3"/>
          <p:cNvSpPr>
            <a:spLocks noGrp="1" noChangeArrowheads="1"/>
          </p:cNvSpPr>
          <p:nvPr>
            <p:ph type="subTitle" idx="1"/>
          </p:nvPr>
        </p:nvSpPr>
        <p:spPr>
          <a:xfrm>
            <a:off x="2484438" y="3429000"/>
            <a:ext cx="5973762" cy="2376488"/>
          </a:xfrm>
        </p:spPr>
        <p:txBody>
          <a:bodyPr/>
          <a:lstStyle>
            <a:lvl1pPr marL="0" indent="0" algn="ctr">
              <a:spcBef>
                <a:spcPct val="40000"/>
              </a:spcBef>
              <a:buFont typeface="Wingdings" panose="05000000000000000000" pitchFamily="2" charset="2"/>
              <a:buNone/>
              <a:defRPr>
                <a:ea typeface="隶书" panose="02010509060101010101" pitchFamily="49" charset="-122"/>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graphicFrame>
        <p:nvGraphicFramePr>
          <p:cNvPr id="4" name="对象 3"/>
          <p:cNvGraphicFramePr/>
          <p:nvPr userDrawn="1">
            <p:custDataLst>
              <p:tags r:id="rId2"/>
            </p:custDataLst>
          </p:nvPr>
        </p:nvGraphicFramePr>
        <p:xfrm>
          <a:off x="8100060" y="182245"/>
          <a:ext cx="806450" cy="789305"/>
        </p:xfrm>
        <a:graphic>
          <a:graphicData uri="http://schemas.openxmlformats.org/presentationml/2006/ole">
            <mc:AlternateContent xmlns:mc="http://schemas.openxmlformats.org/markup-compatibility/2006">
              <mc:Choice xmlns:v="urn:schemas-microsoft-com:vml" Requires="v">
                <p:oleObj spid="_x0000_s5" name="" r:id="rId3" imgW="770255" imgH="774700" progId="Paint.Picture">
                  <p:embed/>
                </p:oleObj>
              </mc:Choice>
              <mc:Fallback>
                <p:oleObj name="" r:id="rId3" imgW="770255" imgH="774700" progId="Paint.Picture">
                  <p:embed/>
                  <p:pic>
                    <p:nvPicPr>
                      <p:cNvPr id="0" name="图片 4"/>
                      <p:cNvPicPr/>
                      <p:nvPr/>
                    </p:nvPicPr>
                    <p:blipFill>
                      <a:blip r:embed="rId4"/>
                      <a:stretch>
                        <a:fillRect/>
                      </a:stretch>
                    </p:blipFill>
                    <p:spPr>
                      <a:xfrm>
                        <a:off x="8100060" y="182245"/>
                        <a:ext cx="806450" cy="789305"/>
                      </a:xfrm>
                      <a:prstGeom prst="rect">
                        <a:avLst/>
                      </a:prstGeom>
                    </p:spPr>
                  </p:pic>
                </p:oleObj>
              </mc:Fallback>
            </mc:AlternateContent>
          </a:graphicData>
        </a:graphic>
      </p:graphicFrame>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39750" y="1393825"/>
            <a:ext cx="3924300" cy="4772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6450" y="1393825"/>
            <a:ext cx="3924300" cy="4772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aphicFrame>
        <p:nvGraphicFramePr>
          <p:cNvPr id="2" name="对象 1"/>
          <p:cNvGraphicFramePr/>
          <p:nvPr userDrawn="1">
            <p:custDataLst>
              <p:tags r:id="rId2"/>
            </p:custDataLst>
          </p:nvPr>
        </p:nvGraphicFramePr>
        <p:xfrm>
          <a:off x="8087360" y="134620"/>
          <a:ext cx="819150" cy="829945"/>
        </p:xfrm>
        <a:graphic>
          <a:graphicData uri="http://schemas.openxmlformats.org/presentationml/2006/ole">
            <mc:AlternateContent xmlns:mc="http://schemas.openxmlformats.org/markup-compatibility/2006">
              <mc:Choice xmlns:v="urn:schemas-microsoft-com:vml" Requires="v">
                <p:oleObj spid="_x0000_s3" name="" r:id="rId3" imgW="770255" imgH="774700" progId="Paint.Picture">
                  <p:embed/>
                </p:oleObj>
              </mc:Choice>
              <mc:Fallback>
                <p:oleObj name="" r:id="rId3" imgW="770255" imgH="774700" progId="Paint.Picture">
                  <p:embed/>
                  <p:pic>
                    <p:nvPicPr>
                      <p:cNvPr id="0" name="图片 2"/>
                      <p:cNvPicPr/>
                      <p:nvPr/>
                    </p:nvPicPr>
                    <p:blipFill>
                      <a:blip r:embed="rId4"/>
                      <a:stretch>
                        <a:fillRect/>
                      </a:stretch>
                    </p:blipFill>
                    <p:spPr>
                      <a:xfrm>
                        <a:off x="8087360" y="134620"/>
                        <a:ext cx="819150" cy="829945"/>
                      </a:xfrm>
                      <a:prstGeom prst="rect">
                        <a:avLst/>
                      </a:prstGeom>
                    </p:spPr>
                  </p:pic>
                </p:oleObj>
              </mc:Fallback>
            </mc:AlternateContent>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0500" y="231775"/>
            <a:ext cx="2000250" cy="59340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39750" y="231775"/>
            <a:ext cx="5848350" cy="593407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231775"/>
            <a:ext cx="7021513" cy="67627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539750" y="1393825"/>
            <a:ext cx="8001000" cy="4772025"/>
          </a:xfrm>
        </p:spPr>
        <p:txBody>
          <a:bodyPr vert="horz" wrap="square" lIns="91440" tIns="45720" rIns="91440" bIns="45720" numCol="1" anchor="t" anchorCtr="0" compatLnSpc="1"/>
          <a:lstStyle/>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Char char="p"/>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graphicFrame>
        <p:nvGraphicFramePr>
          <p:cNvPr id="4" name="对象 3"/>
          <p:cNvGraphicFramePr/>
          <p:nvPr userDrawn="1">
            <p:custDataLst>
              <p:tags r:id="rId2"/>
            </p:custDataLst>
          </p:nvPr>
        </p:nvGraphicFramePr>
        <p:xfrm>
          <a:off x="8100060" y="173355"/>
          <a:ext cx="803275" cy="794385"/>
        </p:xfrm>
        <a:graphic>
          <a:graphicData uri="http://schemas.openxmlformats.org/presentationml/2006/ole">
            <mc:AlternateContent xmlns:mc="http://schemas.openxmlformats.org/markup-compatibility/2006">
              <mc:Choice xmlns:v="urn:schemas-microsoft-com:vml" Requires="v">
                <p:oleObj spid="_x0000_s5" name="" r:id="rId3" imgW="770255" imgH="774700" progId="Paint.Picture">
                  <p:embed/>
                </p:oleObj>
              </mc:Choice>
              <mc:Fallback>
                <p:oleObj name="" r:id="rId3" imgW="770255" imgH="774700" progId="Paint.Picture">
                  <p:embed/>
                  <p:pic>
                    <p:nvPicPr>
                      <p:cNvPr id="0" name="图片 4"/>
                      <p:cNvPicPr/>
                      <p:nvPr/>
                    </p:nvPicPr>
                    <p:blipFill>
                      <a:blip r:embed="rId4"/>
                      <a:stretch>
                        <a:fillRect/>
                      </a:stretch>
                    </p:blipFill>
                    <p:spPr>
                      <a:xfrm>
                        <a:off x="8100060" y="173355"/>
                        <a:ext cx="803275" cy="794385"/>
                      </a:xfrm>
                      <a:prstGeom prst="rect">
                        <a:avLst/>
                      </a:prstGeom>
                    </p:spPr>
                  </p:pic>
                </p:oleObj>
              </mc:Fallback>
            </mc:AlternateContent>
          </a:graphicData>
        </a:graphic>
      </p:graphicFrame>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231775"/>
            <a:ext cx="7021513" cy="6762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39750" y="1393825"/>
            <a:ext cx="3924300" cy="47720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16450" y="1393825"/>
            <a:ext cx="3924300" cy="230981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16450" y="3856038"/>
            <a:ext cx="3924300" cy="230981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574675" y="231775"/>
            <a:ext cx="7021513" cy="676275"/>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27" name="AutoShape 3"/>
          <p:cNvSpPr/>
          <p:nvPr/>
        </p:nvSpPr>
        <p:spPr>
          <a:xfrm>
            <a:off x="609600" y="1087438"/>
            <a:ext cx="7958138" cy="53975"/>
          </a:xfrm>
          <a:custGeom>
            <a:avLst/>
            <a:gdLst/>
            <a:ahLst/>
            <a:cxnLst>
              <a:cxn ang="0">
                <a:pos x="0" y="0"/>
              </a:cxn>
              <a:cxn ang="0">
                <a:pos x="2147483646" y="0"/>
              </a:cxn>
              <a:cxn ang="0">
                <a:pos x="2147483646" y="2147483646"/>
              </a:cxn>
              <a:cxn ang="0">
                <a:pos x="0" y="2147483646"/>
              </a:cxn>
              <a:cxn ang="0">
                <a:pos x="0" y="0"/>
              </a:cxn>
              <a:cxn ang="0">
                <a:pos x="2147483646" y="0"/>
              </a:cxn>
            </a:cxnLst>
            <a:pathLst>
              <a:path w="1000" h="1000" stroke="0">
                <a:moveTo>
                  <a:pt x="0" y="0"/>
                </a:moveTo>
                <a:lnTo>
                  <a:pt x="587" y="0"/>
                </a:lnTo>
                <a:lnTo>
                  <a:pt x="587" y="1000"/>
                </a:lnTo>
                <a:lnTo>
                  <a:pt x="0" y="1000"/>
                </a:lnTo>
                <a:lnTo>
                  <a:pt x="0" y="0"/>
                </a:lnTo>
                <a:close/>
              </a:path>
              <a:path w="1000" h="1000">
                <a:moveTo>
                  <a:pt x="0" y="0"/>
                </a:moveTo>
                <a:lnTo>
                  <a:pt x="1000" y="0"/>
                </a:lnTo>
              </a:path>
            </a:pathLst>
          </a:custGeom>
          <a:solidFill>
            <a:srgbClr val="0000FF">
              <a:alpha val="100000"/>
            </a:srgbClr>
          </a:solidFill>
          <a:ln w="6350" cap="flat" cmpd="sng">
            <a:solidFill>
              <a:srgbClr val="0000CC">
                <a:alpha val="100000"/>
              </a:srgbClr>
            </a:solidFill>
            <a:prstDash val="solid"/>
            <a:round/>
            <a:headEnd type="none" w="med" len="med"/>
            <a:tailEnd type="none" w="med" len="med"/>
          </a:ln>
        </p:spPr>
        <p:txBody>
          <a:bodyPr/>
          <a:p>
            <a:endParaRPr lang="zh-CN" altLang="en-US"/>
          </a:p>
        </p:txBody>
      </p:sp>
      <p:sp>
        <p:nvSpPr>
          <p:cNvPr id="1028" name="Line 4"/>
          <p:cNvSpPr/>
          <p:nvPr/>
        </p:nvSpPr>
        <p:spPr>
          <a:xfrm flipV="1">
            <a:off x="539750" y="6237288"/>
            <a:ext cx="7994650" cy="0"/>
          </a:xfrm>
          <a:prstGeom prst="line">
            <a:avLst/>
          </a:prstGeom>
          <a:ln w="3175" cap="flat" cmpd="sng">
            <a:solidFill>
              <a:srgbClr val="0000CC"/>
            </a:solidFill>
            <a:prstDash val="solid"/>
            <a:headEnd type="none" w="med" len="med"/>
            <a:tailEnd type="none" w="med" len="med"/>
          </a:ln>
        </p:spPr>
      </p:sp>
      <p:pic>
        <p:nvPicPr>
          <p:cNvPr id="1029" name="Picture 6" descr="TITLE"/>
          <p:cNvPicPr>
            <a:picLocks noChangeAspect="1"/>
          </p:cNvPicPr>
          <p:nvPr/>
        </p:nvPicPr>
        <p:blipFill>
          <a:blip r:embed="rId14">
            <a:clrChange>
              <a:clrFrom>
                <a:srgbClr val="FFFFFE"/>
              </a:clrFrom>
              <a:clrTo>
                <a:srgbClr val="FFFFFE">
                  <a:alpha val="0"/>
                </a:srgbClr>
              </a:clrTo>
            </a:clrChange>
          </a:blip>
          <a:srcRect b="-1291"/>
          <a:stretch>
            <a:fillRect/>
          </a:stretch>
        </p:blipFill>
        <p:spPr>
          <a:xfrm>
            <a:off x="8101013" y="188913"/>
            <a:ext cx="801687" cy="792162"/>
          </a:xfrm>
          <a:prstGeom prst="rect">
            <a:avLst/>
          </a:prstGeom>
          <a:noFill/>
          <a:ln w="9525">
            <a:noFill/>
          </a:ln>
        </p:spPr>
      </p:pic>
      <p:sp>
        <p:nvSpPr>
          <p:cNvPr id="1030" name="Rectangle 7"/>
          <p:cNvSpPr>
            <a:spLocks noChangeArrowheads="1"/>
          </p:cNvSpPr>
          <p:nvPr/>
        </p:nvSpPr>
        <p:spPr bwMode="auto">
          <a:xfrm>
            <a:off x="7970838" y="6351588"/>
            <a:ext cx="457200" cy="274638"/>
          </a:xfrm>
          <a:prstGeom prst="rect">
            <a:avLst/>
          </a:prstGeom>
          <a:noFill/>
          <a:ln w="9525">
            <a:noFill/>
            <a:miter lim="800000"/>
          </a:ln>
          <a:effectLst/>
        </p:spPr>
        <p:txBody>
          <a:bodyPr lIns="92075" tIns="46038" rIns="92075" bIns="46038">
            <a:spAutoFit/>
          </a:bodyPr>
          <a:lstStyle>
            <a:lvl1pPr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fld id="{ED50E554-CC3B-471B-A7DE-154B0E5E91FD}" type="slidenum">
              <a:rPr kumimoji="1" lang="en-US" altLang="zh-CN" sz="1200" b="1" i="0" u="none" strike="noStrike" kern="1200" cap="none" spc="0" normalizeH="0" baseline="0" noProof="0" smtClean="0">
                <a:ln>
                  <a:noFill/>
                </a:ln>
                <a:solidFill>
                  <a:schemeClr val="accent2"/>
                </a:solidFill>
                <a:effectLst/>
                <a:uLnTx/>
                <a:uFillTx/>
                <a:latin typeface="Times New Roman" panose="02020603050405020304" pitchFamily="18" charset="0"/>
                <a:ea typeface="宋体" panose="02010600030101010101" pitchFamily="2" charset="-122"/>
                <a:cs typeface="+mn-cs"/>
              </a:rPr>
            </a:fld>
            <a:endParaRPr kumimoji="1" lang="en-US" altLang="zh-CN" sz="1200" b="1" i="0" u="none" strike="noStrike" kern="1200" cap="none" spc="0" normalizeH="0" baseline="0" noProof="0" smtClean="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1" name="Rectangle 8"/>
          <p:cNvSpPr>
            <a:spLocks noGrp="1"/>
          </p:cNvSpPr>
          <p:nvPr>
            <p:ph type="body" idx="1"/>
          </p:nvPr>
        </p:nvSpPr>
        <p:spPr>
          <a:xfrm>
            <a:off x="539750" y="1393825"/>
            <a:ext cx="8001000" cy="477202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4000" b="1">
          <a:solidFill>
            <a:schemeClr val="tx2"/>
          </a:solidFill>
          <a:latin typeface="+mj-lt"/>
          <a:ea typeface="+mj-ea"/>
          <a:cs typeface="+mj-cs"/>
        </a:defRPr>
      </a:lvl1pPr>
      <a:lvl2pPr algn="l" rtl="0" eaLnBrk="0" fontAlgn="base" hangingPunct="0">
        <a:spcBef>
          <a:spcPct val="0"/>
        </a:spcBef>
        <a:spcAft>
          <a:spcPct val="0"/>
        </a:spcAft>
        <a:defRPr sz="4000" b="1">
          <a:solidFill>
            <a:schemeClr val="tx2"/>
          </a:solidFill>
          <a:latin typeface="Arial" panose="020B0604020202020204" pitchFamily="34" charset="0"/>
          <a:ea typeface="隶书" panose="02010509060101010101" pitchFamily="49" charset="-122"/>
        </a:defRPr>
      </a:lvl2pPr>
      <a:lvl3pPr algn="l" rtl="0" eaLnBrk="0" fontAlgn="base" hangingPunct="0">
        <a:spcBef>
          <a:spcPct val="0"/>
        </a:spcBef>
        <a:spcAft>
          <a:spcPct val="0"/>
        </a:spcAft>
        <a:defRPr sz="4000" b="1">
          <a:solidFill>
            <a:schemeClr val="tx2"/>
          </a:solidFill>
          <a:latin typeface="Arial" panose="020B0604020202020204" pitchFamily="34" charset="0"/>
          <a:ea typeface="隶书" panose="02010509060101010101" pitchFamily="49" charset="-122"/>
        </a:defRPr>
      </a:lvl3pPr>
      <a:lvl4pPr algn="l" rtl="0" eaLnBrk="0" fontAlgn="base" hangingPunct="0">
        <a:spcBef>
          <a:spcPct val="0"/>
        </a:spcBef>
        <a:spcAft>
          <a:spcPct val="0"/>
        </a:spcAft>
        <a:defRPr sz="4000" b="1">
          <a:solidFill>
            <a:schemeClr val="tx2"/>
          </a:solidFill>
          <a:latin typeface="Arial" panose="020B0604020202020204" pitchFamily="34" charset="0"/>
          <a:ea typeface="隶书" panose="02010509060101010101" pitchFamily="49" charset="-122"/>
        </a:defRPr>
      </a:lvl4pPr>
      <a:lvl5pPr algn="l" rtl="0" eaLnBrk="0" fontAlgn="base" hangingPunct="0">
        <a:spcBef>
          <a:spcPct val="0"/>
        </a:spcBef>
        <a:spcAft>
          <a:spcPct val="0"/>
        </a:spcAft>
        <a:defRPr sz="4000" b="1">
          <a:solidFill>
            <a:schemeClr val="tx2"/>
          </a:solidFill>
          <a:latin typeface="Arial" panose="020B0604020202020204" pitchFamily="34" charset="0"/>
          <a:ea typeface="隶书" panose="02010509060101010101" pitchFamily="49" charset="-122"/>
        </a:defRPr>
      </a:lvl5pPr>
      <a:lvl6pPr marL="4572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6pPr>
      <a:lvl7pPr marL="9144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7pPr>
      <a:lvl8pPr marL="13716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8pPr>
      <a:lvl9pPr marL="1828800" algn="l" rtl="0" fontAlgn="base">
        <a:spcBef>
          <a:spcPct val="0"/>
        </a:spcBef>
        <a:spcAft>
          <a:spcPct val="0"/>
        </a:spcAft>
        <a:defRPr sz="4000" b="1">
          <a:solidFill>
            <a:schemeClr val="tx2"/>
          </a:solidFill>
          <a:latin typeface="Arial" panose="020B0604020202020204" pitchFamily="34" charset="0"/>
          <a:ea typeface="隶书" panose="02010509060101010101" pitchFamily="49" charset="-122"/>
        </a:defRPr>
      </a:lvl9pPr>
    </p:titleStyle>
    <p:body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3073400" indent="-228600" algn="l" rtl="0" fontAlgn="base">
        <a:spcBef>
          <a:spcPct val="20000"/>
        </a:spcBef>
        <a:spcAft>
          <a:spcPct val="0"/>
        </a:spcAft>
        <a:buChar char="»"/>
        <a:defRPr sz="2000">
          <a:solidFill>
            <a:schemeClr val="tx1"/>
          </a:solidFill>
          <a:latin typeface="+mn-lt"/>
          <a:ea typeface="宋体" panose="02010600030101010101" pitchFamily="2" charset="-122"/>
        </a:defRPr>
      </a:lvl6pPr>
      <a:lvl7pPr marL="3530600" indent="-228600" algn="l" rtl="0" fontAlgn="base">
        <a:spcBef>
          <a:spcPct val="20000"/>
        </a:spcBef>
        <a:spcAft>
          <a:spcPct val="0"/>
        </a:spcAft>
        <a:buChar char="»"/>
        <a:defRPr sz="2000">
          <a:solidFill>
            <a:schemeClr val="tx1"/>
          </a:solidFill>
          <a:latin typeface="+mn-lt"/>
          <a:ea typeface="宋体" panose="02010600030101010101" pitchFamily="2" charset="-122"/>
        </a:defRPr>
      </a:lvl7pPr>
      <a:lvl8pPr marL="3987800" indent="-228600" algn="l" rtl="0" fontAlgn="base">
        <a:spcBef>
          <a:spcPct val="20000"/>
        </a:spcBef>
        <a:spcAft>
          <a:spcPct val="0"/>
        </a:spcAft>
        <a:buChar char="»"/>
        <a:defRPr sz="2000">
          <a:solidFill>
            <a:schemeClr val="tx1"/>
          </a:solidFill>
          <a:latin typeface="+mn-lt"/>
          <a:ea typeface="宋体" panose="02010600030101010101" pitchFamily="2" charset="-122"/>
        </a:defRPr>
      </a:lvl8pPr>
      <a:lvl9pPr marL="4445000" indent="-228600" algn="l" rtl="0" fontAlgn="base">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image" Target="../media/image10.wmf"/><Relationship Id="rId10" Type="http://schemas.openxmlformats.org/officeDocument/2006/relationships/slideLayout" Target="../slideLayouts/slideLayout2.xml"/><Relationship Id="rId1" Type="http://schemas.openxmlformats.org/officeDocument/2006/relationships/tags" Target="../tags/tag4.xml"/></Relationships>
</file>

<file path=ppt/slides/_rels/slide24.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image" Target="../media/image11.wmf"/><Relationship Id="rId10" Type="http://schemas.openxmlformats.org/officeDocument/2006/relationships/slideLayout" Target="../slideLayouts/slideLayout2.xml"/><Relationship Id="rId1" Type="http://schemas.openxmlformats.org/officeDocument/2006/relationships/tags" Target="../tags/tag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3.wmf"/><Relationship Id="rId1" Type="http://schemas.openxmlformats.org/officeDocument/2006/relationships/oleObject" Target="../embeddings/oleObject4.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bmp"/></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6"/>
          <p:cNvSpPr>
            <a:spLocks noGrp="1"/>
          </p:cNvSpPr>
          <p:nvPr>
            <p:ph type="ctrTitle"/>
          </p:nvPr>
        </p:nvSpPr>
        <p:spPr/>
        <p:txBody>
          <a:bodyPr vert="horz" wrap="square" lIns="91440" tIns="45720" rIns="91440" bIns="45720" anchor="b" anchorCtr="0"/>
          <a:p>
            <a:pPr eaLnBrk="1" hangingPunct="1">
              <a:buClrTx/>
              <a:buSzTx/>
              <a:buFontTx/>
            </a:pPr>
            <a:r>
              <a:rPr lang="zh-CN" altLang="en-US" dirty="0">
                <a:latin typeface="+mj-lt"/>
                <a:ea typeface="+mj-ea"/>
                <a:cs typeface="+mj-cs"/>
              </a:rPr>
              <a:t>计算机原理</a:t>
            </a:r>
            <a:endParaRPr lang="zh-CN" altLang="en-US" dirty="0">
              <a:latin typeface="+mj-lt"/>
              <a:ea typeface="+mj-ea"/>
              <a:cs typeface="+mj-cs"/>
            </a:endParaRPr>
          </a:p>
        </p:txBody>
      </p:sp>
      <p:sp>
        <p:nvSpPr>
          <p:cNvPr id="4099" name="Rectangle 8"/>
          <p:cNvSpPr>
            <a:spLocks noGrp="1"/>
          </p:cNvSpPr>
          <p:nvPr>
            <p:ph type="subTitle" idx="1"/>
          </p:nvPr>
        </p:nvSpPr>
        <p:spPr>
          <a:xfrm>
            <a:off x="2987675" y="3213100"/>
            <a:ext cx="5616575" cy="1223963"/>
          </a:xfrm>
        </p:spPr>
        <p:txBody>
          <a:bodyPr vert="horz" wrap="square" lIns="91440" tIns="45720" rIns="91440" bIns="45720" anchor="t" anchorCtr="0"/>
          <a:p>
            <a:pPr algn="just" eaLnBrk="1" hangingPunct="1">
              <a:buClrTx/>
              <a:buSzTx/>
            </a:pPr>
            <a:r>
              <a:rPr lang="zh-CN" altLang="en-US" sz="4800" dirty="0">
                <a:latin typeface="+mn-lt"/>
                <a:ea typeface="隶书" panose="02010509060101010101" pitchFamily="49" charset="-122"/>
                <a:cs typeface="+mn-cs"/>
              </a:rPr>
              <a:t>习题课一</a:t>
            </a:r>
            <a:endParaRPr lang="en-US" altLang="zh-CN" sz="4800" dirty="0">
              <a:latin typeface="+mn-lt"/>
              <a:ea typeface="隶书" panose="02010509060101010101" pitchFamily="49"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xfrm>
            <a:off x="684213" y="188913"/>
            <a:ext cx="8089900" cy="714375"/>
          </a:xfrm>
        </p:spPr>
        <p:txBody>
          <a:bodyPr vert="horz" wrap="square" lIns="91440" tIns="45720" rIns="91440" bIns="45720" anchor="b" anchorCtr="0"/>
          <a:p>
            <a:pPr eaLnBrk="1" hangingPunct="1"/>
            <a:r>
              <a:rPr lang="zh-CN" altLang="en-US" dirty="0"/>
              <a:t>主要内容</a:t>
            </a:r>
            <a:endParaRPr lang="zh-CN" altLang="en-US" dirty="0"/>
          </a:p>
        </p:txBody>
      </p:sp>
      <p:sp>
        <p:nvSpPr>
          <p:cNvPr id="5123" name="Rectangle 3"/>
          <p:cNvSpPr>
            <a:spLocks noGrp="1"/>
          </p:cNvSpPr>
          <p:nvPr>
            <p:ph idx="1"/>
          </p:nvPr>
        </p:nvSpPr>
        <p:spPr>
          <a:xfrm>
            <a:off x="665163" y="1276350"/>
            <a:ext cx="7813675" cy="4867275"/>
          </a:xfrm>
        </p:spPr>
        <p:txBody>
          <a:bodyPr vert="horz" wrap="square" lIns="91440" tIns="45720" rIns="91440" bIns="45720" anchor="t" anchorCtr="0"/>
          <a:p>
            <a:pPr algn="just" eaLnBrk="1" hangingPunct="1">
              <a:spcBef>
                <a:spcPts val="600"/>
              </a:spcBef>
              <a:buNone/>
            </a:pPr>
            <a:r>
              <a:rPr lang="zh-CN" altLang="en-US" sz="2400" dirty="0"/>
              <a:t>一、关于计算机性能问题</a:t>
            </a:r>
            <a:endParaRPr lang="zh-CN" altLang="en-US" sz="2400" dirty="0"/>
          </a:p>
          <a:p>
            <a:pPr algn="just" eaLnBrk="1" hangingPunct="1">
              <a:spcBef>
                <a:spcPts val="600"/>
              </a:spcBef>
              <a:buNone/>
            </a:pPr>
            <a:r>
              <a:rPr lang="zh-CN" altLang="en-US" sz="2400" dirty="0"/>
              <a:t>二、关于指令系统设计问题</a:t>
            </a:r>
            <a:endParaRPr lang="en-US" altLang="zh-CN" sz="2400" dirty="0"/>
          </a:p>
          <a:p>
            <a:pPr algn="just" eaLnBrk="1" hangingPunct="1">
              <a:spcBef>
                <a:spcPts val="600"/>
              </a:spcBef>
              <a:buNone/>
            </a:pPr>
            <a:r>
              <a:rPr lang="zh-CN" altLang="en-US" sz="2400" dirty="0"/>
              <a:t>三、关于转移指令和跳转指令</a:t>
            </a:r>
            <a:endParaRPr lang="en-US" altLang="zh-CN" sz="2400" dirty="0"/>
          </a:p>
          <a:p>
            <a:pPr algn="just" eaLnBrk="1" hangingPunct="1">
              <a:spcBef>
                <a:spcPts val="600"/>
              </a:spcBef>
              <a:buNone/>
            </a:pPr>
            <a:r>
              <a:rPr lang="zh-CN" altLang="en-US" sz="2400" dirty="0"/>
              <a:t>四、关于寻址方式问题</a:t>
            </a:r>
            <a:endParaRPr lang="en-US" altLang="zh-CN" sz="2400" dirty="0"/>
          </a:p>
          <a:p>
            <a:pPr algn="just" eaLnBrk="1" hangingPunct="1">
              <a:spcBef>
                <a:spcPts val="600"/>
              </a:spcBef>
              <a:buNone/>
            </a:pPr>
            <a:r>
              <a:rPr lang="zh-CN" altLang="en-US" sz="2400" dirty="0"/>
              <a:t>五、关于二进制数表示问题</a:t>
            </a:r>
            <a:endParaRPr lang="en-US" altLang="zh-CN" sz="2400" dirty="0"/>
          </a:p>
          <a:p>
            <a:pPr algn="just" eaLnBrk="1" hangingPunct="1">
              <a:spcBef>
                <a:spcPts val="600"/>
              </a:spcBef>
              <a:buNone/>
            </a:pPr>
            <a:r>
              <a:rPr lang="zh-CN" altLang="en-US" sz="2400" dirty="0">
                <a:sym typeface="+mn-ea"/>
              </a:rPr>
              <a:t>六</a:t>
            </a:r>
            <a:r>
              <a:rPr lang="zh-CN" altLang="en-US" sz="2400" dirty="0"/>
              <a:t>、关于数据的存储方式问题</a:t>
            </a:r>
            <a:endParaRPr lang="en-US" altLang="zh-CN" sz="2400" dirty="0"/>
          </a:p>
          <a:p>
            <a:pPr algn="just" eaLnBrk="1" hangingPunct="1">
              <a:spcBef>
                <a:spcPts val="600"/>
              </a:spcBef>
              <a:buNone/>
            </a:pPr>
            <a:r>
              <a:rPr lang="zh-CN" altLang="en-US" sz="2400" dirty="0">
                <a:sym typeface="+mn-ea"/>
              </a:rPr>
              <a:t>七</a:t>
            </a:r>
            <a:r>
              <a:rPr lang="zh-CN" altLang="en-US" sz="2400" dirty="0"/>
              <a:t>、关于基本运算问题</a:t>
            </a:r>
            <a:endParaRPr lang="en-US" altLang="zh-CN" sz="2400" dirty="0"/>
          </a:p>
          <a:p>
            <a:pPr algn="just" eaLnBrk="1" hangingPunct="1">
              <a:spcBef>
                <a:spcPts val="600"/>
              </a:spcBef>
              <a:buNone/>
            </a:pPr>
            <a:r>
              <a:rPr lang="zh-CN" altLang="en-US" sz="2400" dirty="0">
                <a:sym typeface="+mn-ea"/>
              </a:rPr>
              <a:t>八</a:t>
            </a:r>
            <a:r>
              <a:rPr lang="zh-CN" altLang="en-US" sz="2400" dirty="0"/>
              <a:t>、关于运算精度问题</a:t>
            </a:r>
            <a:endParaRPr lang="en-US" altLang="zh-CN" sz="2400" dirty="0"/>
          </a:p>
          <a:p>
            <a:pPr algn="just" eaLnBrk="1" hangingPunct="1">
              <a:spcBef>
                <a:spcPts val="600"/>
              </a:spcBef>
              <a:buNone/>
            </a:pPr>
            <a:r>
              <a:rPr lang="zh-CN" altLang="en-US" sz="2400" dirty="0">
                <a:sym typeface="+mn-ea"/>
              </a:rPr>
              <a:t>九</a:t>
            </a:r>
            <a:r>
              <a:rPr lang="zh-CN" altLang="en-US" sz="2400" dirty="0"/>
              <a:t>、关于定点数运算问题</a:t>
            </a:r>
            <a:endParaRPr lang="en-US" altLang="zh-CN" sz="2400" dirty="0"/>
          </a:p>
          <a:p>
            <a:pPr algn="just" eaLnBrk="1" hangingPunct="1">
              <a:spcBef>
                <a:spcPts val="600"/>
              </a:spcBef>
              <a:buNone/>
            </a:pPr>
            <a:r>
              <a:rPr lang="zh-CN" altLang="en-US" sz="2400" dirty="0"/>
              <a:t>十、关于加法器设计问题</a:t>
            </a:r>
            <a:endParaRPr lang="en-US" altLang="zh-CN" sz="2400" dirty="0"/>
          </a:p>
          <a:p>
            <a:pPr algn="just" eaLnBrk="1" hangingPunct="1">
              <a:spcBef>
                <a:spcPts val="600"/>
              </a:spcBef>
              <a:buNone/>
            </a:pPr>
            <a:r>
              <a:rPr lang="zh-CN" altLang="en-US" sz="2400" dirty="0"/>
              <a:t>十一、关于浮点数运算问题</a:t>
            </a:r>
            <a:endParaRPr lang="en-US" altLang="zh-CN" sz="2400" dirty="0"/>
          </a:p>
          <a:p>
            <a:pPr algn="just" eaLnBrk="1" hangingPunct="1">
              <a:spcBef>
                <a:spcPts val="600"/>
              </a:spcBef>
              <a:buNone/>
            </a:pPr>
            <a:endParaRPr lang="zh-CN" altLang="en-US" sz="2400" dirty="0"/>
          </a:p>
        </p:txBody>
      </p:sp>
    </p:spTree>
  </p:cSld>
  <p:clrMapOvr>
    <a:masterClrMapping/>
  </p:clrMapOvr>
  <p:transition spd="slow">
    <p:pull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ph type="title"/>
          </p:nvPr>
        </p:nvSpPr>
        <p:spPr/>
        <p:txBody>
          <a:bodyPr vert="horz" wrap="square" lIns="91440" tIns="45720" rIns="91440" bIns="45720" anchor="b" anchorCtr="0"/>
          <a:p>
            <a:pPr eaLnBrk="1" hangingPunct="1"/>
            <a:r>
              <a:rPr lang="zh-CN" altLang="en-US" dirty="0"/>
              <a:t>一、关于计算机性能问题</a:t>
            </a:r>
            <a:endParaRPr lang="zh-CN" altLang="en-US" dirty="0"/>
          </a:p>
        </p:txBody>
      </p:sp>
      <p:graphicFrame>
        <p:nvGraphicFramePr>
          <p:cNvPr id="10" name="表格 9"/>
          <p:cNvGraphicFramePr>
            <a:graphicFrameLocks noGrp="1"/>
          </p:cNvGraphicFramePr>
          <p:nvPr/>
        </p:nvGraphicFramePr>
        <p:xfrm>
          <a:off x="285750" y="1223963"/>
          <a:ext cx="8643938" cy="5276851"/>
        </p:xfrm>
        <a:graphic>
          <a:graphicData uri="http://schemas.openxmlformats.org/drawingml/2006/table">
            <a:tbl>
              <a:tblPr/>
              <a:tblGrid>
                <a:gridCol w="1376911"/>
                <a:gridCol w="1623484"/>
                <a:gridCol w="5643543"/>
              </a:tblGrid>
              <a:tr h="365760">
                <a:tc>
                  <a:txBody>
                    <a:bodyPr/>
                    <a:lstStyle/>
                    <a:p>
                      <a:pPr algn="ctr">
                        <a:spcAft>
                          <a:spcPts val="0"/>
                        </a:spcAft>
                      </a:pPr>
                      <a:r>
                        <a:rPr lang="zh-CN" altLang="en-US" sz="2400" b="1" kern="100" dirty="0" smtClean="0">
                          <a:solidFill>
                            <a:srgbClr val="FF0000"/>
                          </a:solidFill>
                          <a:latin typeface="Times New Roman" panose="02020603050405020304" pitchFamily="18" charset="0"/>
                          <a:ea typeface="+mn-ea"/>
                          <a:cs typeface="Times New Roman" panose="02020603050405020304" pitchFamily="18" charset="0"/>
                        </a:rPr>
                        <a:t>名称</a:t>
                      </a:r>
                      <a:endParaRPr lang="zh-CN" sz="2400" b="1" kern="100" dirty="0">
                        <a:solidFill>
                          <a:srgbClr val="FF0000"/>
                        </a:solidFill>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0" dirty="0" smtClean="0">
                          <a:solidFill>
                            <a:srgbClr val="FF0000"/>
                          </a:solidFill>
                          <a:latin typeface="Times New Roman" panose="02020603050405020304" pitchFamily="18" charset="0"/>
                          <a:ea typeface="+mn-ea"/>
                          <a:cs typeface="Times New Roman" panose="02020603050405020304" pitchFamily="18" charset="0"/>
                        </a:rPr>
                        <a:t>影响</a:t>
                      </a:r>
                      <a:r>
                        <a:rPr lang="zh-CN" altLang="en-US" sz="2400" b="1" kern="0" dirty="0" smtClean="0">
                          <a:solidFill>
                            <a:srgbClr val="FF0000"/>
                          </a:solidFill>
                          <a:latin typeface="Times New Roman" panose="02020603050405020304" pitchFamily="18" charset="0"/>
                          <a:ea typeface="+mn-ea"/>
                          <a:cs typeface="Times New Roman" panose="02020603050405020304" pitchFamily="18" charset="0"/>
                        </a:rPr>
                        <a:t>因素</a:t>
                      </a:r>
                      <a:endParaRPr lang="zh-CN" sz="2400" b="1" kern="100" dirty="0">
                        <a:solidFill>
                          <a:srgbClr val="FF0000"/>
                        </a:solidFill>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0" dirty="0">
                          <a:solidFill>
                            <a:srgbClr val="FF0000"/>
                          </a:solidFill>
                          <a:latin typeface="Times New Roman" panose="02020603050405020304" pitchFamily="18" charset="0"/>
                          <a:ea typeface="+mn-ea"/>
                          <a:cs typeface="Times New Roman" panose="02020603050405020304" pitchFamily="18" charset="0"/>
                        </a:rPr>
                        <a:t>如何影响</a:t>
                      </a:r>
                      <a:endParaRPr lang="zh-CN" sz="2400" b="1" kern="100" dirty="0">
                        <a:solidFill>
                          <a:srgbClr val="FF0000"/>
                        </a:solidFill>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19200">
                <a:tc>
                  <a:txBody>
                    <a:bodyPr/>
                    <a:lstStyle/>
                    <a:p>
                      <a:pPr algn="ctr">
                        <a:spcAft>
                          <a:spcPts val="0"/>
                        </a:spcAft>
                      </a:pPr>
                      <a:endParaRPr lang="en-US" altLang="zh-CN" sz="2000" b="1" kern="0" dirty="0" smtClean="0">
                        <a:latin typeface="Times New Roman" panose="02020603050405020304" pitchFamily="18" charset="0"/>
                        <a:ea typeface="+mn-ea"/>
                        <a:cs typeface="Times New Roman" panose="02020603050405020304" pitchFamily="18" charset="0"/>
                      </a:endParaRPr>
                    </a:p>
                    <a:p>
                      <a:pPr algn="ctr">
                        <a:spcAft>
                          <a:spcPts val="0"/>
                        </a:spcAft>
                      </a:pPr>
                      <a:r>
                        <a:rPr lang="zh-CN" sz="2000" b="1" kern="0" dirty="0" smtClean="0">
                          <a:latin typeface="Times New Roman" panose="02020603050405020304" pitchFamily="18" charset="0"/>
                          <a:ea typeface="+mn-ea"/>
                          <a:cs typeface="Times New Roman" panose="02020603050405020304" pitchFamily="18" charset="0"/>
                        </a:rPr>
                        <a:t>算法</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2000" b="1" kern="0" dirty="0" smtClean="0">
                        <a:latin typeface="Times New Roman" panose="02020603050405020304" pitchFamily="18" charset="0"/>
                        <a:ea typeface="+mn-ea"/>
                        <a:cs typeface="Times New Roman" panose="02020603050405020304" pitchFamily="18" charset="0"/>
                      </a:endParaRPr>
                    </a:p>
                    <a:p>
                      <a:pPr algn="ctr">
                        <a:spcAft>
                          <a:spcPts val="0"/>
                        </a:spcAft>
                      </a:pPr>
                      <a:r>
                        <a:rPr lang="zh-CN" sz="2000" b="1" kern="0" dirty="0" smtClean="0">
                          <a:latin typeface="Times New Roman" panose="02020603050405020304" pitchFamily="18" charset="0"/>
                          <a:ea typeface="+mn-ea"/>
                          <a:cs typeface="Times New Roman" panose="02020603050405020304" pitchFamily="18" charset="0"/>
                        </a:rPr>
                        <a:t>指令</a:t>
                      </a:r>
                      <a:r>
                        <a:rPr lang="zh-CN" sz="2000" b="1" kern="0" dirty="0">
                          <a:latin typeface="Times New Roman" panose="02020603050405020304" pitchFamily="18" charset="0"/>
                          <a:ea typeface="+mn-ea"/>
                          <a:cs typeface="Times New Roman" panose="02020603050405020304" pitchFamily="18" charset="0"/>
                        </a:rPr>
                        <a:t>数、</a:t>
                      </a:r>
                      <a:r>
                        <a:rPr lang="en-US" sz="2000" b="1" kern="0" dirty="0">
                          <a:latin typeface="Times New Roman" panose="02020603050405020304" pitchFamily="18" charset="0"/>
                          <a:ea typeface="+mn-ea"/>
                          <a:cs typeface="Times New Roman" panose="02020603050405020304" pitchFamily="18" charset="0"/>
                        </a:rPr>
                        <a:t>CPI</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b="1" kern="0" dirty="0">
                          <a:latin typeface="Times New Roman" panose="02020603050405020304" pitchFamily="18" charset="0"/>
                          <a:ea typeface="+mn-ea"/>
                          <a:cs typeface="Times New Roman" panose="02020603050405020304" pitchFamily="18" charset="0"/>
                        </a:rPr>
                        <a:t>算法</a:t>
                      </a:r>
                      <a:r>
                        <a:rPr lang="zh-CN" sz="2000" b="1" kern="0" dirty="0" smtClean="0">
                          <a:latin typeface="Times New Roman" panose="02020603050405020304" pitchFamily="18" charset="0"/>
                          <a:ea typeface="+mn-ea"/>
                          <a:cs typeface="Times New Roman" panose="02020603050405020304" pitchFamily="18" charset="0"/>
                        </a:rPr>
                        <a:t>决定源程序的</a:t>
                      </a:r>
                      <a:r>
                        <a:rPr lang="zh-CN" altLang="en-US" sz="2000" b="1" kern="0" dirty="0" smtClean="0">
                          <a:latin typeface="Times New Roman" panose="02020603050405020304" pitchFamily="18" charset="0"/>
                          <a:ea typeface="+mn-ea"/>
                          <a:cs typeface="Times New Roman" panose="02020603050405020304" pitchFamily="18" charset="0"/>
                        </a:rPr>
                        <a:t>语句</a:t>
                      </a:r>
                      <a:r>
                        <a:rPr lang="zh-CN" sz="2000" b="1" kern="0" dirty="0" smtClean="0">
                          <a:latin typeface="Times New Roman" panose="02020603050405020304" pitchFamily="18" charset="0"/>
                          <a:ea typeface="+mn-ea"/>
                          <a:cs typeface="Times New Roman" panose="02020603050405020304" pitchFamily="18" charset="0"/>
                        </a:rPr>
                        <a:t>条</a:t>
                      </a:r>
                      <a:r>
                        <a:rPr lang="zh-CN" sz="2000" b="1" kern="0" dirty="0">
                          <a:latin typeface="Times New Roman" panose="02020603050405020304" pitchFamily="18" charset="0"/>
                          <a:ea typeface="+mn-ea"/>
                          <a:cs typeface="Times New Roman" panose="02020603050405020304" pitchFamily="18" charset="0"/>
                        </a:rPr>
                        <a:t>数，因此决定了处理器执行的</a:t>
                      </a:r>
                      <a:r>
                        <a:rPr lang="zh-CN" sz="2000" b="1" kern="0" dirty="0" smtClean="0">
                          <a:latin typeface="Times New Roman" panose="02020603050405020304" pitchFamily="18" charset="0"/>
                          <a:ea typeface="+mn-ea"/>
                          <a:cs typeface="Times New Roman" panose="02020603050405020304" pitchFamily="18" charset="0"/>
                        </a:rPr>
                        <a:t>指令数</a:t>
                      </a:r>
                      <a:r>
                        <a:rPr lang="zh-CN" sz="2000" b="1" kern="0" dirty="0">
                          <a:latin typeface="Times New Roman" panose="02020603050405020304" pitchFamily="18" charset="0"/>
                          <a:ea typeface="+mn-ea"/>
                          <a:cs typeface="Times New Roman" panose="02020603050405020304" pitchFamily="18" charset="0"/>
                        </a:rPr>
                        <a:t>。算法由于对慢速或快速指令的不同</a:t>
                      </a:r>
                      <a:r>
                        <a:rPr lang="zh-CN" sz="2000" b="1" kern="0" dirty="0" smtClean="0">
                          <a:latin typeface="Times New Roman" panose="02020603050405020304" pitchFamily="18" charset="0"/>
                          <a:ea typeface="+mn-ea"/>
                          <a:cs typeface="Times New Roman" panose="02020603050405020304" pitchFamily="18" charset="0"/>
                        </a:rPr>
                        <a:t>倾向性</a:t>
                      </a:r>
                      <a:r>
                        <a:rPr lang="zh-CN" altLang="en-US" sz="2000" b="1" kern="0" dirty="0" smtClean="0">
                          <a:latin typeface="Times New Roman" panose="02020603050405020304" pitchFamily="18" charset="0"/>
                          <a:ea typeface="+mn-ea"/>
                          <a:cs typeface="Times New Roman" panose="02020603050405020304" pitchFamily="18" charset="0"/>
                        </a:rPr>
                        <a:t>，</a:t>
                      </a:r>
                      <a:r>
                        <a:rPr lang="zh-CN" sz="2000" b="1" kern="0" dirty="0" smtClean="0">
                          <a:latin typeface="Times New Roman" panose="02020603050405020304" pitchFamily="18" charset="0"/>
                          <a:ea typeface="+mn-ea"/>
                          <a:cs typeface="Times New Roman" panose="02020603050405020304" pitchFamily="18" charset="0"/>
                        </a:rPr>
                        <a:t>同样</a:t>
                      </a:r>
                      <a:r>
                        <a:rPr lang="zh-CN" sz="2000" b="1" kern="0" dirty="0">
                          <a:latin typeface="Times New Roman" panose="02020603050405020304" pitchFamily="18" charset="0"/>
                          <a:ea typeface="+mn-ea"/>
                          <a:cs typeface="Times New Roman" panose="02020603050405020304" pitchFamily="18" charset="0"/>
                        </a:rPr>
                        <a:t>影响了</a:t>
                      </a:r>
                      <a:r>
                        <a:rPr lang="en-US" sz="2000" b="1" kern="0" dirty="0">
                          <a:latin typeface="Times New Roman" panose="02020603050405020304" pitchFamily="18" charset="0"/>
                          <a:ea typeface="+mn-ea"/>
                          <a:cs typeface="Times New Roman" panose="02020603050405020304" pitchFamily="18" charset="0"/>
                        </a:rPr>
                        <a:t>CPI</a:t>
                      </a:r>
                      <a:r>
                        <a:rPr lang="zh-CN" sz="2000" b="1" kern="0" dirty="0" smtClean="0">
                          <a:latin typeface="Times New Roman" panose="02020603050405020304" pitchFamily="18" charset="0"/>
                          <a:ea typeface="+mn-ea"/>
                          <a:cs typeface="Times New Roman" panose="02020603050405020304" pitchFamily="18" charset="0"/>
                        </a:rPr>
                        <a:t>。例</a:t>
                      </a:r>
                      <a:r>
                        <a:rPr lang="zh-CN" altLang="en-US" sz="2000" b="1" kern="0" dirty="0" smtClean="0">
                          <a:latin typeface="Times New Roman" panose="02020603050405020304" pitchFamily="18" charset="0"/>
                          <a:ea typeface="+mn-ea"/>
                          <a:cs typeface="Times New Roman" panose="02020603050405020304" pitchFamily="18" charset="0"/>
                        </a:rPr>
                        <a:t>如，</a:t>
                      </a:r>
                      <a:r>
                        <a:rPr lang="zh-CN" sz="2000" b="1" kern="0" dirty="0" smtClean="0">
                          <a:latin typeface="Times New Roman" panose="02020603050405020304" pitchFamily="18" charset="0"/>
                          <a:ea typeface="+mn-ea"/>
                          <a:cs typeface="Times New Roman" panose="02020603050405020304" pitchFamily="18" charset="0"/>
                        </a:rPr>
                        <a:t>算法</a:t>
                      </a:r>
                      <a:r>
                        <a:rPr lang="zh-CN" sz="2000" b="1" kern="0" dirty="0">
                          <a:latin typeface="Times New Roman" panose="02020603050405020304" pitchFamily="18" charset="0"/>
                          <a:ea typeface="+mn-ea"/>
                          <a:cs typeface="Times New Roman" panose="02020603050405020304" pitchFamily="18" charset="0"/>
                        </a:rPr>
                        <a:t>更多地使用浮点运算，将获得更高的</a:t>
                      </a:r>
                      <a:r>
                        <a:rPr lang="en-US" sz="2000" b="1" kern="0" dirty="0">
                          <a:latin typeface="Times New Roman" panose="02020603050405020304" pitchFamily="18" charset="0"/>
                          <a:ea typeface="+mn-ea"/>
                          <a:cs typeface="Times New Roman" panose="02020603050405020304" pitchFamily="18" charset="0"/>
                        </a:rPr>
                        <a:t>CPI</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58291">
                <a:tc>
                  <a:txBody>
                    <a:bodyPr/>
                    <a:lstStyle/>
                    <a:p>
                      <a:pPr algn="ctr">
                        <a:spcAft>
                          <a:spcPts val="0"/>
                        </a:spcAft>
                      </a:pPr>
                      <a:endParaRPr lang="en-US" altLang="zh-CN" sz="2000" b="1" kern="0" dirty="0" smtClean="0">
                        <a:latin typeface="Times New Roman" panose="02020603050405020304" pitchFamily="18" charset="0"/>
                        <a:ea typeface="+mn-ea"/>
                        <a:cs typeface="Times New Roman" panose="02020603050405020304" pitchFamily="18" charset="0"/>
                      </a:endParaRPr>
                    </a:p>
                    <a:p>
                      <a:pPr algn="ctr">
                        <a:spcAft>
                          <a:spcPts val="0"/>
                        </a:spcAft>
                      </a:pPr>
                      <a:r>
                        <a:rPr lang="zh-CN" sz="2000" b="1" kern="0" dirty="0" smtClean="0">
                          <a:latin typeface="Times New Roman" panose="02020603050405020304" pitchFamily="18" charset="0"/>
                          <a:ea typeface="+mn-ea"/>
                          <a:cs typeface="Times New Roman" panose="02020603050405020304" pitchFamily="18" charset="0"/>
                        </a:rPr>
                        <a:t>编程语言</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2000" b="1" kern="0" dirty="0" smtClean="0">
                        <a:latin typeface="Times New Roman" panose="02020603050405020304" pitchFamily="18" charset="0"/>
                        <a:ea typeface="+mn-ea"/>
                        <a:cs typeface="Times New Roman" panose="02020603050405020304" pitchFamily="18" charset="0"/>
                      </a:endParaRPr>
                    </a:p>
                    <a:p>
                      <a:pPr algn="ctr">
                        <a:spcAft>
                          <a:spcPts val="0"/>
                        </a:spcAft>
                      </a:pPr>
                      <a:r>
                        <a:rPr lang="zh-CN" sz="2000" b="1" kern="0" dirty="0" smtClean="0">
                          <a:latin typeface="Times New Roman" panose="02020603050405020304" pitchFamily="18" charset="0"/>
                          <a:ea typeface="+mn-ea"/>
                          <a:cs typeface="Times New Roman" panose="02020603050405020304" pitchFamily="18" charset="0"/>
                        </a:rPr>
                        <a:t>指令</a:t>
                      </a:r>
                      <a:r>
                        <a:rPr lang="zh-CN" sz="2000" b="1" kern="0" dirty="0">
                          <a:latin typeface="Times New Roman" panose="02020603050405020304" pitchFamily="18" charset="0"/>
                          <a:ea typeface="+mn-ea"/>
                          <a:cs typeface="Times New Roman" panose="02020603050405020304" pitchFamily="18" charset="0"/>
                        </a:rPr>
                        <a:t>数、</a:t>
                      </a:r>
                      <a:r>
                        <a:rPr lang="en-US" sz="2000" b="1" kern="0" dirty="0">
                          <a:latin typeface="Times New Roman" panose="02020603050405020304" pitchFamily="18" charset="0"/>
                          <a:ea typeface="+mn-ea"/>
                          <a:cs typeface="Times New Roman" panose="02020603050405020304" pitchFamily="18" charset="0"/>
                        </a:rPr>
                        <a:t>CPI</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b="1" kern="0" dirty="0" smtClean="0">
                          <a:latin typeface="Times New Roman" panose="02020603050405020304" pitchFamily="18" charset="0"/>
                          <a:ea typeface="+mn-ea"/>
                          <a:cs typeface="Times New Roman" panose="02020603050405020304" pitchFamily="18" charset="0"/>
                        </a:rPr>
                        <a:t>编程语言</a:t>
                      </a:r>
                      <a:r>
                        <a:rPr lang="zh-CN" sz="2000" b="1" kern="0" dirty="0">
                          <a:latin typeface="Times New Roman" panose="02020603050405020304" pitchFamily="18" charset="0"/>
                          <a:ea typeface="+mn-ea"/>
                          <a:cs typeface="Times New Roman" panose="02020603050405020304" pitchFamily="18" charset="0"/>
                        </a:rPr>
                        <a:t>中的语句被翻译</a:t>
                      </a:r>
                      <a:r>
                        <a:rPr lang="zh-CN" sz="2000" b="1" kern="0" dirty="0" smtClean="0">
                          <a:latin typeface="Times New Roman" panose="02020603050405020304" pitchFamily="18" charset="0"/>
                          <a:ea typeface="+mn-ea"/>
                          <a:cs typeface="Times New Roman" panose="02020603050405020304" pitchFamily="18" charset="0"/>
                        </a:rPr>
                        <a:t>成</a:t>
                      </a:r>
                      <a:r>
                        <a:rPr lang="en-US" altLang="zh-CN" sz="2000" b="1" kern="0" dirty="0" smtClean="0">
                          <a:latin typeface="Times New Roman" panose="02020603050405020304" pitchFamily="18" charset="0"/>
                          <a:ea typeface="+mn-ea"/>
                          <a:cs typeface="Times New Roman" panose="02020603050405020304" pitchFamily="18" charset="0"/>
                        </a:rPr>
                        <a:t>CPU</a:t>
                      </a:r>
                      <a:r>
                        <a:rPr lang="zh-CN" sz="2000" b="1" kern="0" dirty="0" smtClean="0">
                          <a:latin typeface="Times New Roman" panose="02020603050405020304" pitchFamily="18" charset="0"/>
                          <a:ea typeface="+mn-ea"/>
                          <a:cs typeface="Times New Roman" panose="02020603050405020304" pitchFamily="18" charset="0"/>
                        </a:rPr>
                        <a:t>指令</a:t>
                      </a:r>
                      <a:r>
                        <a:rPr lang="zh-CN" sz="2000" b="1" kern="0" dirty="0">
                          <a:latin typeface="Times New Roman" panose="02020603050405020304" pitchFamily="18" charset="0"/>
                          <a:ea typeface="+mn-ea"/>
                          <a:cs typeface="Times New Roman" panose="02020603050405020304" pitchFamily="18" charset="0"/>
                        </a:rPr>
                        <a:t>，而后者</a:t>
                      </a:r>
                      <a:r>
                        <a:rPr lang="zh-CN" sz="2000" b="1" kern="0" dirty="0" smtClean="0">
                          <a:latin typeface="Times New Roman" panose="02020603050405020304" pitchFamily="18" charset="0"/>
                          <a:ea typeface="+mn-ea"/>
                          <a:cs typeface="Times New Roman" panose="02020603050405020304" pitchFamily="18" charset="0"/>
                        </a:rPr>
                        <a:t>决定</a:t>
                      </a:r>
                      <a:r>
                        <a:rPr lang="zh-CN" altLang="en-US" sz="2000" b="1" kern="0" dirty="0" smtClean="0">
                          <a:latin typeface="Times New Roman" panose="02020603050405020304" pitchFamily="18" charset="0"/>
                          <a:ea typeface="+mn-ea"/>
                          <a:cs typeface="Times New Roman" panose="02020603050405020304" pitchFamily="18" charset="0"/>
                        </a:rPr>
                        <a:t>了</a:t>
                      </a:r>
                      <a:r>
                        <a:rPr lang="zh-CN" sz="2000" b="1" kern="0" dirty="0" smtClean="0">
                          <a:latin typeface="Times New Roman" panose="02020603050405020304" pitchFamily="18" charset="0"/>
                          <a:ea typeface="+mn-ea"/>
                          <a:cs typeface="Times New Roman" panose="02020603050405020304" pitchFamily="18" charset="0"/>
                        </a:rPr>
                        <a:t>指令</a:t>
                      </a:r>
                      <a:r>
                        <a:rPr lang="zh-CN" sz="2000" b="1" kern="0" dirty="0">
                          <a:latin typeface="Times New Roman" panose="02020603050405020304" pitchFamily="18" charset="0"/>
                          <a:ea typeface="+mn-ea"/>
                          <a:cs typeface="Times New Roman" panose="02020603050405020304" pitchFamily="18" charset="0"/>
                        </a:rPr>
                        <a:t>条数</a:t>
                      </a:r>
                      <a:r>
                        <a:rPr lang="zh-CN" sz="2000" b="1" kern="0" dirty="0" smtClean="0">
                          <a:latin typeface="Times New Roman" panose="02020603050405020304" pitchFamily="18" charset="0"/>
                          <a:ea typeface="+mn-ea"/>
                          <a:cs typeface="Times New Roman" panose="02020603050405020304" pitchFamily="18" charset="0"/>
                        </a:rPr>
                        <a:t>，</a:t>
                      </a:r>
                      <a:r>
                        <a:rPr lang="zh-CN" altLang="en-US" sz="2000" b="1" kern="0" dirty="0" smtClean="0">
                          <a:latin typeface="Times New Roman" panose="02020603050405020304" pitchFamily="18" charset="0"/>
                          <a:ea typeface="+mn-ea"/>
                          <a:cs typeface="Times New Roman" panose="02020603050405020304" pitchFamily="18" charset="0"/>
                        </a:rPr>
                        <a:t>故</a:t>
                      </a:r>
                      <a:r>
                        <a:rPr lang="zh-CN" sz="2000" b="1" kern="0" dirty="0" smtClean="0">
                          <a:latin typeface="Times New Roman" panose="02020603050405020304" pitchFamily="18" charset="0"/>
                          <a:ea typeface="+mn-ea"/>
                          <a:cs typeface="Times New Roman" panose="02020603050405020304" pitchFamily="18" charset="0"/>
                        </a:rPr>
                        <a:t>编程语言</a:t>
                      </a:r>
                      <a:r>
                        <a:rPr lang="zh-CN" sz="2000" b="1" kern="0" dirty="0">
                          <a:latin typeface="Times New Roman" panose="02020603050405020304" pitchFamily="18" charset="0"/>
                          <a:ea typeface="+mn-ea"/>
                          <a:cs typeface="Times New Roman" panose="02020603050405020304" pitchFamily="18" charset="0"/>
                        </a:rPr>
                        <a:t>势必会影响指令条数。由于编程语言的</a:t>
                      </a:r>
                      <a:r>
                        <a:rPr lang="zh-CN" sz="2000" b="1" kern="0" dirty="0" smtClean="0">
                          <a:latin typeface="Times New Roman" panose="02020603050405020304" pitchFamily="18" charset="0"/>
                          <a:ea typeface="+mn-ea"/>
                          <a:cs typeface="Times New Roman" panose="02020603050405020304" pitchFamily="18" charset="0"/>
                        </a:rPr>
                        <a:t>自身</a:t>
                      </a:r>
                      <a:r>
                        <a:rPr lang="zh-CN" altLang="en-US" sz="2000" b="1" kern="0" dirty="0" smtClean="0">
                          <a:latin typeface="Times New Roman" panose="02020603050405020304" pitchFamily="18" charset="0"/>
                          <a:ea typeface="+mn-ea"/>
                          <a:cs typeface="Times New Roman" panose="02020603050405020304" pitchFamily="18" charset="0"/>
                        </a:rPr>
                        <a:t>特</a:t>
                      </a:r>
                      <a:r>
                        <a:rPr lang="zh-CN" sz="2000" b="1" kern="0" dirty="0" smtClean="0">
                          <a:latin typeface="Times New Roman" panose="02020603050405020304" pitchFamily="18" charset="0"/>
                          <a:ea typeface="+mn-ea"/>
                          <a:cs typeface="Times New Roman" panose="02020603050405020304" pitchFamily="18" charset="0"/>
                        </a:rPr>
                        <a:t>点</a:t>
                      </a:r>
                      <a:r>
                        <a:rPr lang="zh-CN" sz="2000" b="1" kern="0" dirty="0">
                          <a:latin typeface="Times New Roman" panose="02020603050405020304" pitchFamily="18" charset="0"/>
                          <a:ea typeface="+mn-ea"/>
                          <a:cs typeface="Times New Roman" panose="02020603050405020304" pitchFamily="18" charset="0"/>
                        </a:rPr>
                        <a:t>，它可能同样影响</a:t>
                      </a:r>
                      <a:r>
                        <a:rPr lang="en-US" sz="2000" b="1" kern="0" dirty="0" smtClean="0">
                          <a:latin typeface="Times New Roman" panose="02020603050405020304" pitchFamily="18" charset="0"/>
                          <a:ea typeface="+mn-ea"/>
                          <a:cs typeface="Times New Roman" panose="02020603050405020304" pitchFamily="18" charset="0"/>
                        </a:rPr>
                        <a:t>CPI</a:t>
                      </a:r>
                      <a:r>
                        <a:rPr lang="zh-CN" altLang="en-US" sz="2000" b="1" kern="0" dirty="0" smtClean="0">
                          <a:latin typeface="Times New Roman" panose="02020603050405020304" pitchFamily="18" charset="0"/>
                          <a:ea typeface="+mn-ea"/>
                          <a:cs typeface="Times New Roman" panose="02020603050405020304" pitchFamily="18" charset="0"/>
                        </a:rPr>
                        <a:t>。</a:t>
                      </a:r>
                      <a:r>
                        <a:rPr lang="zh-CN" sz="2000" b="1" kern="0" dirty="0" smtClean="0">
                          <a:latin typeface="Times New Roman" panose="02020603050405020304" pitchFamily="18" charset="0"/>
                          <a:ea typeface="+mn-ea"/>
                          <a:cs typeface="Times New Roman" panose="02020603050405020304" pitchFamily="18" charset="0"/>
                        </a:rPr>
                        <a:t>例</a:t>
                      </a:r>
                      <a:r>
                        <a:rPr lang="zh-CN" altLang="en-US" sz="2000" b="1" kern="0" dirty="0" smtClean="0">
                          <a:latin typeface="Times New Roman" panose="02020603050405020304" pitchFamily="18" charset="0"/>
                          <a:ea typeface="+mn-ea"/>
                          <a:cs typeface="Times New Roman" panose="02020603050405020304" pitchFamily="18" charset="0"/>
                        </a:rPr>
                        <a:t>如，</a:t>
                      </a:r>
                      <a:r>
                        <a:rPr lang="zh-CN" sz="2000" b="1" kern="0" dirty="0" smtClean="0">
                          <a:latin typeface="Times New Roman" panose="02020603050405020304" pitchFamily="18" charset="0"/>
                          <a:ea typeface="+mn-ea"/>
                          <a:cs typeface="Times New Roman" panose="02020603050405020304" pitchFamily="18" charset="0"/>
                        </a:rPr>
                        <a:t>强</a:t>
                      </a:r>
                      <a:r>
                        <a:rPr lang="zh-CN" sz="2000" b="1" kern="0" dirty="0">
                          <a:latin typeface="Times New Roman" panose="02020603050405020304" pitchFamily="18" charset="0"/>
                          <a:ea typeface="+mn-ea"/>
                          <a:cs typeface="Times New Roman" panose="02020603050405020304" pitchFamily="18" charset="0"/>
                        </a:rPr>
                        <a:t>支持数据抽象的语言</a:t>
                      </a:r>
                      <a:r>
                        <a:rPr lang="en-US" sz="2000" b="1" kern="0" dirty="0">
                          <a:latin typeface="Times New Roman" panose="02020603050405020304" pitchFamily="18" charset="0"/>
                          <a:ea typeface="+mn-ea"/>
                          <a:cs typeface="Times New Roman" panose="02020603050405020304" pitchFamily="18" charset="0"/>
                        </a:rPr>
                        <a:t>(</a:t>
                      </a:r>
                      <a:r>
                        <a:rPr lang="zh-CN" sz="2000" b="1" kern="0" dirty="0">
                          <a:latin typeface="Times New Roman" panose="02020603050405020304" pitchFamily="18" charset="0"/>
                          <a:ea typeface="+mn-ea"/>
                          <a:cs typeface="Times New Roman" panose="02020603050405020304" pitchFamily="18" charset="0"/>
                        </a:rPr>
                        <a:t>如</a:t>
                      </a:r>
                      <a:r>
                        <a:rPr lang="en-US" sz="2000" b="1" kern="0" dirty="0">
                          <a:latin typeface="Times New Roman" panose="02020603050405020304" pitchFamily="18" charset="0"/>
                          <a:ea typeface="+mn-ea"/>
                          <a:cs typeface="Times New Roman" panose="02020603050405020304" pitchFamily="18" charset="0"/>
                        </a:rPr>
                        <a:t>Java)</a:t>
                      </a:r>
                      <a:r>
                        <a:rPr lang="zh-CN" sz="2000" b="1" kern="0" dirty="0">
                          <a:latin typeface="Times New Roman" panose="02020603050405020304" pitchFamily="18" charset="0"/>
                          <a:ea typeface="+mn-ea"/>
                          <a:cs typeface="Times New Roman" panose="02020603050405020304" pitchFamily="18" charset="0"/>
                        </a:rPr>
                        <a:t>要求间接调用，而这往往会用</a:t>
                      </a:r>
                      <a:r>
                        <a:rPr lang="zh-CN" sz="2000" b="1" kern="0" dirty="0" smtClean="0">
                          <a:latin typeface="Times New Roman" panose="02020603050405020304" pitchFamily="18" charset="0"/>
                          <a:ea typeface="+mn-ea"/>
                          <a:cs typeface="Times New Roman" panose="02020603050405020304" pitchFamily="18" charset="0"/>
                        </a:rPr>
                        <a:t>到高</a:t>
                      </a:r>
                      <a:r>
                        <a:rPr lang="en-US" sz="2000" b="1" kern="0" dirty="0">
                          <a:latin typeface="Times New Roman" panose="02020603050405020304" pitchFamily="18" charset="0"/>
                          <a:ea typeface="+mn-ea"/>
                          <a:cs typeface="Times New Roman" panose="02020603050405020304" pitchFamily="18" charset="0"/>
                        </a:rPr>
                        <a:t>CPI</a:t>
                      </a:r>
                      <a:r>
                        <a:rPr lang="zh-CN" sz="2000" b="1" kern="0" dirty="0">
                          <a:latin typeface="Times New Roman" panose="02020603050405020304" pitchFamily="18" charset="0"/>
                          <a:ea typeface="+mn-ea"/>
                          <a:cs typeface="Times New Roman" panose="02020603050405020304" pitchFamily="18" charset="0"/>
                        </a:rPr>
                        <a:t>的</a:t>
                      </a:r>
                      <a:r>
                        <a:rPr lang="zh-CN" sz="2000" b="1" kern="0" dirty="0" smtClean="0">
                          <a:latin typeface="Times New Roman" panose="02020603050405020304" pitchFamily="18" charset="0"/>
                          <a:ea typeface="+mn-ea"/>
                          <a:cs typeface="Times New Roman" panose="02020603050405020304" pitchFamily="18" charset="0"/>
                        </a:rPr>
                        <a:t>指令</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19200">
                <a:tc>
                  <a:txBody>
                    <a:bodyPr/>
                    <a:lstStyle/>
                    <a:p>
                      <a:pPr algn="ctr">
                        <a:spcAft>
                          <a:spcPts val="0"/>
                        </a:spcAft>
                      </a:pPr>
                      <a:endParaRPr lang="en-US" altLang="zh-CN" sz="2000" b="1" kern="0" dirty="0" smtClean="0">
                        <a:latin typeface="Times New Roman" panose="02020603050405020304" pitchFamily="18" charset="0"/>
                        <a:ea typeface="+mn-ea"/>
                        <a:cs typeface="Times New Roman" panose="02020603050405020304" pitchFamily="18" charset="0"/>
                      </a:endParaRPr>
                    </a:p>
                    <a:p>
                      <a:pPr algn="ctr">
                        <a:spcAft>
                          <a:spcPts val="0"/>
                        </a:spcAft>
                      </a:pPr>
                      <a:r>
                        <a:rPr lang="zh-CN" sz="2000" b="1" kern="0" dirty="0" smtClean="0">
                          <a:latin typeface="Times New Roman" panose="02020603050405020304" pitchFamily="18" charset="0"/>
                          <a:ea typeface="+mn-ea"/>
                          <a:cs typeface="Times New Roman" panose="02020603050405020304" pitchFamily="18" charset="0"/>
                        </a:rPr>
                        <a:t>编译器</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altLang="zh-CN" sz="2000" b="1" kern="0" dirty="0" smtClean="0">
                        <a:latin typeface="Times New Roman" panose="02020603050405020304" pitchFamily="18" charset="0"/>
                        <a:ea typeface="+mn-ea"/>
                        <a:cs typeface="Times New Roman" panose="02020603050405020304" pitchFamily="18" charset="0"/>
                      </a:endParaRPr>
                    </a:p>
                    <a:p>
                      <a:pPr algn="ctr">
                        <a:spcAft>
                          <a:spcPts val="0"/>
                        </a:spcAft>
                      </a:pPr>
                      <a:r>
                        <a:rPr lang="zh-CN" sz="2000" b="1" kern="0" dirty="0" smtClean="0">
                          <a:latin typeface="Times New Roman" panose="02020603050405020304" pitchFamily="18" charset="0"/>
                          <a:ea typeface="+mn-ea"/>
                          <a:cs typeface="Times New Roman" panose="02020603050405020304" pitchFamily="18" charset="0"/>
                        </a:rPr>
                        <a:t>指令</a:t>
                      </a:r>
                      <a:r>
                        <a:rPr lang="zh-CN" sz="2000" b="1" kern="0" dirty="0">
                          <a:latin typeface="Times New Roman" panose="02020603050405020304" pitchFamily="18" charset="0"/>
                          <a:ea typeface="+mn-ea"/>
                          <a:cs typeface="Times New Roman" panose="02020603050405020304" pitchFamily="18" charset="0"/>
                        </a:rPr>
                        <a:t>数、</a:t>
                      </a:r>
                      <a:r>
                        <a:rPr lang="en-US" sz="2000" b="1" kern="0" dirty="0">
                          <a:latin typeface="Times New Roman" panose="02020603050405020304" pitchFamily="18" charset="0"/>
                          <a:ea typeface="+mn-ea"/>
                          <a:cs typeface="Times New Roman" panose="02020603050405020304" pitchFamily="18" charset="0"/>
                        </a:rPr>
                        <a:t>CPI</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b="1" kern="0" dirty="0">
                          <a:latin typeface="Times New Roman" panose="02020603050405020304" pitchFamily="18" charset="0"/>
                          <a:ea typeface="+mn-ea"/>
                          <a:cs typeface="Times New Roman" panose="02020603050405020304" pitchFamily="18" charset="0"/>
                        </a:rPr>
                        <a:t>编译器的效率对指令数及每条指令的平均周期数均有影响</a:t>
                      </a:r>
                      <a:r>
                        <a:rPr lang="zh-CN" sz="2000" b="1" kern="0" dirty="0" smtClean="0">
                          <a:latin typeface="Times New Roman" panose="02020603050405020304" pitchFamily="18" charset="0"/>
                          <a:ea typeface="+mn-ea"/>
                          <a:cs typeface="Times New Roman" panose="02020603050405020304" pitchFamily="18" charset="0"/>
                        </a:rPr>
                        <a:t>，因为</a:t>
                      </a:r>
                      <a:r>
                        <a:rPr lang="zh-CN" sz="2000" b="1" kern="0" dirty="0">
                          <a:latin typeface="Times New Roman" panose="02020603050405020304" pitchFamily="18" charset="0"/>
                          <a:ea typeface="+mn-ea"/>
                          <a:cs typeface="Times New Roman" panose="02020603050405020304" pitchFamily="18" charset="0"/>
                        </a:rPr>
                        <a:t>编译器决定了从</a:t>
                      </a:r>
                      <a:r>
                        <a:rPr lang="zh-CN" sz="2000" b="1" kern="0" dirty="0" smtClean="0">
                          <a:latin typeface="Times New Roman" panose="02020603050405020304" pitchFamily="18" charset="0"/>
                          <a:ea typeface="+mn-ea"/>
                          <a:cs typeface="Times New Roman" panose="02020603050405020304" pitchFamily="18" charset="0"/>
                        </a:rPr>
                        <a:t>源语言</a:t>
                      </a:r>
                      <a:r>
                        <a:rPr lang="zh-CN" altLang="en-US" sz="2000" b="1" kern="0" dirty="0" smtClean="0">
                          <a:latin typeface="Times New Roman" panose="02020603050405020304" pitchFamily="18" charset="0"/>
                          <a:ea typeface="+mn-ea"/>
                          <a:cs typeface="Times New Roman" panose="02020603050405020304" pitchFamily="18" charset="0"/>
                        </a:rPr>
                        <a:t>语句</a:t>
                      </a:r>
                      <a:r>
                        <a:rPr lang="zh-CN" sz="2000" b="1" kern="0" dirty="0" smtClean="0">
                          <a:latin typeface="Times New Roman" panose="02020603050405020304" pitchFamily="18" charset="0"/>
                          <a:ea typeface="+mn-ea"/>
                          <a:cs typeface="Times New Roman" panose="02020603050405020304" pitchFamily="18" charset="0"/>
                        </a:rPr>
                        <a:t>到</a:t>
                      </a:r>
                      <a:r>
                        <a:rPr lang="zh-CN" sz="2000" b="1" kern="0" dirty="0">
                          <a:latin typeface="Times New Roman" panose="02020603050405020304" pitchFamily="18" charset="0"/>
                          <a:ea typeface="+mn-ea"/>
                          <a:cs typeface="Times New Roman" panose="02020603050405020304" pitchFamily="18" charset="0"/>
                        </a:rPr>
                        <a:t>机器指令的翻译。编译器的作用可以非常复杂，同时通过复杂的方式影响</a:t>
                      </a:r>
                      <a:r>
                        <a:rPr lang="en-US" sz="2000" b="1" kern="0" dirty="0">
                          <a:latin typeface="Times New Roman" panose="02020603050405020304" pitchFamily="18" charset="0"/>
                          <a:ea typeface="+mn-ea"/>
                          <a:cs typeface="Times New Roman" panose="02020603050405020304" pitchFamily="18" charset="0"/>
                        </a:rPr>
                        <a:t>CPI</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14400">
                <a:tc>
                  <a:txBody>
                    <a:bodyPr/>
                    <a:lstStyle/>
                    <a:p>
                      <a:pPr algn="ctr">
                        <a:spcAft>
                          <a:spcPts val="0"/>
                        </a:spcAft>
                      </a:pPr>
                      <a:r>
                        <a:rPr lang="zh-CN" sz="2000" b="1" kern="0" dirty="0" smtClean="0">
                          <a:latin typeface="Times New Roman" panose="02020603050405020304" pitchFamily="18" charset="0"/>
                          <a:ea typeface="+mn-ea"/>
                          <a:cs typeface="Times New Roman" panose="02020603050405020304" pitchFamily="18" charset="0"/>
                        </a:rPr>
                        <a:t>指令集体系结构</a:t>
                      </a:r>
                      <a:r>
                        <a:rPr lang="en-US" altLang="zh-CN" sz="2000" b="1" kern="0" dirty="0" smtClean="0">
                          <a:latin typeface="Times New Roman" panose="02020603050405020304" pitchFamily="18" charset="0"/>
                          <a:ea typeface="+mn-ea"/>
                          <a:cs typeface="Times New Roman" panose="02020603050405020304" pitchFamily="18" charset="0"/>
                        </a:rPr>
                        <a:t>ISA</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000" b="1" kern="0" dirty="0" smtClean="0">
                          <a:latin typeface="Times New Roman" panose="02020603050405020304" pitchFamily="18" charset="0"/>
                          <a:ea typeface="+mn-ea"/>
                          <a:cs typeface="Times New Roman" panose="02020603050405020304" pitchFamily="18" charset="0"/>
                        </a:rPr>
                        <a:t>指令</a:t>
                      </a:r>
                      <a:r>
                        <a:rPr lang="zh-CN" sz="2000" b="1" kern="0" dirty="0">
                          <a:latin typeface="Times New Roman" panose="02020603050405020304" pitchFamily="18" charset="0"/>
                          <a:ea typeface="+mn-ea"/>
                          <a:cs typeface="Times New Roman" panose="02020603050405020304" pitchFamily="18" charset="0"/>
                        </a:rPr>
                        <a:t>数、时钟频率、</a:t>
                      </a:r>
                      <a:r>
                        <a:rPr lang="en-US" sz="2000" b="1" kern="0" dirty="0">
                          <a:latin typeface="Times New Roman" panose="02020603050405020304" pitchFamily="18" charset="0"/>
                          <a:ea typeface="+mn-ea"/>
                          <a:cs typeface="Times New Roman" panose="02020603050405020304" pitchFamily="18" charset="0"/>
                        </a:rPr>
                        <a:t>CPI</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b="1" kern="0" dirty="0" smtClean="0">
                          <a:latin typeface="Times New Roman" panose="02020603050405020304" pitchFamily="18" charset="0"/>
                          <a:ea typeface="+mn-ea"/>
                          <a:cs typeface="Times New Roman" panose="02020603050405020304" pitchFamily="18" charset="0"/>
                        </a:rPr>
                        <a:t>指令集</a:t>
                      </a:r>
                      <a:r>
                        <a:rPr lang="zh-CN" altLang="en-US" sz="2000" b="1" kern="0" dirty="0" smtClean="0">
                          <a:latin typeface="Times New Roman" panose="02020603050405020304" pitchFamily="18" charset="0"/>
                          <a:ea typeface="+mn-ea"/>
                          <a:cs typeface="Times New Roman" panose="02020603050405020304" pitchFamily="18" charset="0"/>
                        </a:rPr>
                        <a:t>体系</a:t>
                      </a:r>
                      <a:r>
                        <a:rPr lang="zh-CN" sz="2000" b="1" kern="0" dirty="0" smtClean="0">
                          <a:latin typeface="Times New Roman" panose="02020603050405020304" pitchFamily="18" charset="0"/>
                          <a:ea typeface="+mn-ea"/>
                          <a:cs typeface="Times New Roman" panose="02020603050405020304" pitchFamily="18" charset="0"/>
                        </a:rPr>
                        <a:t>结构</a:t>
                      </a:r>
                      <a:r>
                        <a:rPr lang="zh-CN" sz="2000" b="1" kern="0" dirty="0">
                          <a:latin typeface="Times New Roman" panose="02020603050405020304" pitchFamily="18" charset="0"/>
                          <a:ea typeface="+mn-ea"/>
                          <a:cs typeface="Times New Roman" panose="02020603050405020304" pitchFamily="18" charset="0"/>
                        </a:rPr>
                        <a:t>对</a:t>
                      </a:r>
                      <a:r>
                        <a:rPr lang="en-US" sz="2000" b="1" kern="0" dirty="0">
                          <a:latin typeface="Times New Roman" panose="02020603050405020304" pitchFamily="18" charset="0"/>
                          <a:ea typeface="+mn-ea"/>
                          <a:cs typeface="Times New Roman" panose="02020603050405020304" pitchFamily="18" charset="0"/>
                        </a:rPr>
                        <a:t>CPU</a:t>
                      </a:r>
                      <a:r>
                        <a:rPr lang="zh-CN" sz="2000" b="1" kern="0" dirty="0">
                          <a:latin typeface="Times New Roman" panose="02020603050405020304" pitchFamily="18" charset="0"/>
                          <a:ea typeface="+mn-ea"/>
                          <a:cs typeface="Times New Roman" panose="02020603050405020304" pitchFamily="18" charset="0"/>
                        </a:rPr>
                        <a:t>性能的这三个方面均有</a:t>
                      </a:r>
                      <a:r>
                        <a:rPr lang="zh-CN" sz="2000" b="1" kern="0" dirty="0" smtClean="0">
                          <a:latin typeface="Times New Roman" panose="02020603050405020304" pitchFamily="18" charset="0"/>
                          <a:ea typeface="+mn-ea"/>
                          <a:cs typeface="Times New Roman" panose="02020603050405020304" pitchFamily="18" charset="0"/>
                        </a:rPr>
                        <a:t>影响</a:t>
                      </a:r>
                      <a:r>
                        <a:rPr lang="en-US" altLang="zh-CN" sz="2000" b="1" kern="0" dirty="0" smtClean="0">
                          <a:latin typeface="Times New Roman" panose="02020603050405020304" pitchFamily="18" charset="0"/>
                          <a:ea typeface="+mn-ea"/>
                          <a:cs typeface="Times New Roman" panose="02020603050405020304" pitchFamily="18" charset="0"/>
                        </a:rPr>
                        <a:t> </a:t>
                      </a:r>
                      <a:endParaRPr lang="zh-CN" sz="2000" b="1" kern="100" dirty="0">
                        <a:latin typeface="Times New Roman" panose="02020603050405020304" pitchFamily="18" charset="0"/>
                        <a:ea typeface="+mn-ea"/>
                        <a:cs typeface="Times New Roman" panose="02020603050405020304" pitchFamily="18" charset="0"/>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p:txBody>
          <a:bodyPr vert="horz" wrap="square" lIns="91440" tIns="45720" rIns="91440" bIns="45720" anchor="b" anchorCtr="0"/>
          <a:p>
            <a:pPr eaLnBrk="1" hangingPunct="1"/>
            <a:r>
              <a:rPr lang="zh-CN" altLang="en-US" sz="3600" dirty="0"/>
              <a:t>计算机性能举例</a:t>
            </a:r>
            <a:endParaRPr lang="zh-CN" altLang="en-US" sz="3600" dirty="0"/>
          </a:p>
        </p:txBody>
      </p:sp>
      <p:sp>
        <p:nvSpPr>
          <p:cNvPr id="6147" name="内容占位符 2"/>
          <p:cNvSpPr>
            <a:spLocks noGrp="1"/>
          </p:cNvSpPr>
          <p:nvPr>
            <p:ph idx="1"/>
          </p:nvPr>
        </p:nvSpPr>
        <p:spPr>
          <a:xfrm>
            <a:off x="428625" y="3025775"/>
            <a:ext cx="8607425" cy="3716338"/>
          </a:xfrm>
        </p:spPr>
        <p:txBody>
          <a:bodyPr vert="horz" wrap="square" lIns="91440" tIns="45720" rIns="91440" bIns="45720" numCol="1" anchor="t" anchorCtr="0" compatLnSpc="1"/>
          <a:lstStyle/>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解</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rPr>
              <a:t>程序的运行时间 </a:t>
            </a:r>
            <a:r>
              <a:rPr kumimoji="0" lang="en-US" altLang="zh-CN"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rPr>
              <a:t>= CPU</a:t>
            </a:r>
            <a:r>
              <a:rPr kumimoji="0" lang="zh-CN" altLang="en-US"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rPr>
              <a:t>时间 </a:t>
            </a:r>
            <a:r>
              <a:rPr kumimoji="0" lang="en-US" altLang="zh-CN"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rPr>
              <a:t>+ I/O</a:t>
            </a:r>
            <a:r>
              <a:rPr kumimoji="0" lang="zh-CN" altLang="en-US"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rPr>
              <a:t>时间</a:t>
            </a:r>
            <a:endParaRPr kumimoji="0" lang="en-US" altLang="zh-CN"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根据题意，有：</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100 = 90 + I/O</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时间，</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I/O</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时间为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10s </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449580" marR="0" lvl="1" indent="17462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CPU</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速度提高</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50%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，此时，</a:t>
            </a:r>
            <a:r>
              <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 CPU</a:t>
            </a:r>
            <a:r>
              <a:rPr kumimoji="0"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时间 </a:t>
            </a:r>
            <a:r>
              <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 90</a:t>
            </a:r>
            <a:r>
              <a:rPr kumimoji="0"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1.5= 60s</a:t>
            </a:r>
            <a:endPar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endParaRPr>
          </a:p>
          <a:p>
            <a:pPr marL="449580" marR="0" lvl="1" indent="17462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则，程序的运行时间 </a:t>
            </a:r>
            <a:r>
              <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 60+10=</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mn-cs"/>
              </a:rPr>
              <a:t>70s</a:t>
            </a:r>
            <a:endPar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mn-cs"/>
            </a:endParaRPr>
          </a:p>
          <a:p>
            <a:pPr marL="449580" marR="0" lvl="1" indent="174625" algn="l" defTabSz="914400" rtl="0" eaLnBrk="1" fontAlgn="base" latinLnBrk="0" hangingPunct="1">
              <a:lnSpc>
                <a:spcPct val="95000"/>
              </a:lnSpc>
              <a:spcBef>
                <a:spcPct val="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endParaRPr>
          </a:p>
          <a:p>
            <a:pPr marL="363855" marR="0" lvl="1" indent="260350"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考察一个程序执行的响应时间 </a:t>
            </a:r>
            <a:r>
              <a:rPr kumimoji="0" lang="en-US" altLang="zh-CN" sz="2400" b="1" i="0" u="none" strike="noStrike" kern="0" cap="none" spc="0" normalizeH="0" baseline="0" noProof="0" dirty="0" smtClean="0">
                <a:ln>
                  <a:noFill/>
                </a:ln>
                <a:solidFill>
                  <a:srgbClr val="0000CC"/>
                </a:solidFill>
                <a:effectLst/>
                <a:uLnTx/>
                <a:uFillTx/>
                <a:latin typeface="Times New Roman" panose="02020603050405020304" pitchFamily="18" charset="0"/>
                <a:ea typeface="+mn-ea"/>
              </a:rPr>
              <a:t>(response time)</a:t>
            </a:r>
            <a:r>
              <a:rPr kumimoji="0" lang="zh-CN" altLang="en-US" sz="2400" b="1" i="0" u="none" strike="noStrike" kern="0" cap="none" spc="0" normalizeH="0" baseline="0" noProof="0" dirty="0" smtClean="0">
                <a:ln>
                  <a:noFill/>
                </a:ln>
                <a:solidFill>
                  <a:srgbClr val="0000CC"/>
                </a:solidFill>
                <a:effectLst/>
                <a:uLnTx/>
                <a:uFillTx/>
                <a:latin typeface="Times New Roman" panose="02020603050405020304" pitchFamily="18" charset="0"/>
                <a:ea typeface="+mn-ea"/>
              </a:rPr>
              <a:t>：完成单个任务所需的总时间，包括：</a:t>
            </a:r>
            <a:endParaRPr kumimoji="0" lang="zh-CN" altLang="en-US" sz="2400" b="1" i="0" u="none" strike="noStrike" kern="0" cap="none" spc="0" normalizeH="0" baseline="0" noProof="0" dirty="0" smtClean="0">
              <a:ln>
                <a:noFill/>
              </a:ln>
              <a:solidFill>
                <a:srgbClr val="0000CC"/>
              </a:solidFill>
              <a:effectLst/>
              <a:uLnTx/>
              <a:uFillTx/>
              <a:latin typeface="Times New Roman" panose="02020603050405020304" pitchFamily="18" charset="0"/>
              <a:ea typeface="+mn-ea"/>
            </a:endParaRPr>
          </a:p>
          <a:p>
            <a:pPr marL="449580" marR="0" lvl="1" indent="17462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CPU</a:t>
            </a:r>
            <a:r>
              <a:rPr kumimoji="0"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执行时间：</a:t>
            </a:r>
            <a:r>
              <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CPU</a:t>
            </a:r>
            <a:r>
              <a:rPr kumimoji="0"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用于程序运行所花费的时间</a:t>
            </a:r>
            <a:endPar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endParaRPr>
          </a:p>
          <a:p>
            <a:pPr marL="449580" marR="0" lvl="1" indent="17462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I/O</a:t>
            </a:r>
            <a:r>
              <a:rPr kumimoji="0"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时间 ：等待</a:t>
            </a:r>
            <a:r>
              <a:rPr kumimoji="0" lang="en-US" altLang="zh-CN"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I/O</a:t>
            </a:r>
            <a:r>
              <a:rPr kumimoji="0" lang="zh-CN" altLang="en-US" sz="24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操作及其它开销所花费的时间</a:t>
            </a:r>
            <a:endParaRPr kumimoji="0" lang="en-US" altLang="zh-CN"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endParaRPr>
          </a:p>
        </p:txBody>
      </p:sp>
      <p:sp>
        <p:nvSpPr>
          <p:cNvPr id="6149" name="Rectangle 5"/>
          <p:cNvSpPr>
            <a:spLocks noChangeArrowheads="1"/>
          </p:cNvSpPr>
          <p:nvPr/>
        </p:nvSpPr>
        <p:spPr bwMode="auto">
          <a:xfrm>
            <a:off x="574675" y="1283335"/>
            <a:ext cx="8426450" cy="1645285"/>
          </a:xfrm>
          <a:prstGeom prst="rect">
            <a:avLst/>
          </a:prstGeom>
          <a:noFill/>
          <a:ln w="9525">
            <a:noFill/>
            <a:miter lim="800000"/>
          </a:ln>
          <a:effectLst/>
        </p:spPr>
        <p:txBody>
          <a:bodyPr wrap="square" anchor="ctr">
            <a:spAutoFit/>
          </a:bodyPr>
          <a:lstStyle/>
          <a:p>
            <a:pPr marL="0" marR="0" lvl="0" indent="0"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2012</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假设基准程序</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在某计算机上的运行时间为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l00s</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．其中</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90s</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CPU</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时间，其余为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时间。若</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CPU</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速度提高</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50%</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I/O</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速度不变，运行基准程序</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所耗费的时间是</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363855"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55s    		B</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60s    	  C. 65s    	  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70s </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charRg st="0" end="27"/>
                                            </p:txEl>
                                          </p:spTgt>
                                        </p:tgtEl>
                                        <p:attrNameLst>
                                          <p:attrName>style.visibility</p:attrName>
                                        </p:attrNameLst>
                                      </p:cBhvr>
                                      <p:to>
                                        <p:strVal val="visible"/>
                                      </p:to>
                                    </p:set>
                                    <p:animEffect transition="in" filter="blinds(horizontal)">
                                      <p:cBhvr>
                                        <p:cTn id="7" dur="500"/>
                                        <p:tgtEl>
                                          <p:spTgt spid="6147">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7">
                                            <p:txEl>
                                              <p:charRg st="27" end="71"/>
                                            </p:txEl>
                                          </p:spTgt>
                                        </p:tgtEl>
                                        <p:attrNameLst>
                                          <p:attrName>style.visibility</p:attrName>
                                        </p:attrNameLst>
                                      </p:cBhvr>
                                      <p:to>
                                        <p:strVal val="visible"/>
                                      </p:to>
                                    </p:set>
                                    <p:animEffect transition="in" filter="blinds(horizontal)">
                                      <p:cBhvr>
                                        <p:cTn id="12" dur="500"/>
                                        <p:tgtEl>
                                          <p:spTgt spid="6147">
                                            <p:txEl>
                                              <p:charRg st="27" end="7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7">
                                            <p:txEl>
                                              <p:charRg st="71" end="107"/>
                                            </p:txEl>
                                          </p:spTgt>
                                        </p:tgtEl>
                                        <p:attrNameLst>
                                          <p:attrName>style.visibility</p:attrName>
                                        </p:attrNameLst>
                                      </p:cBhvr>
                                      <p:to>
                                        <p:strVal val="visible"/>
                                      </p:to>
                                    </p:set>
                                    <p:animEffect transition="in" filter="blinds(horizontal)">
                                      <p:cBhvr>
                                        <p:cTn id="17" dur="500"/>
                                        <p:tgtEl>
                                          <p:spTgt spid="6147">
                                            <p:txEl>
                                              <p:charRg st="71" end="107"/>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6147">
                                            <p:txEl>
                                              <p:charRg st="107" end="129"/>
                                            </p:txEl>
                                          </p:spTgt>
                                        </p:tgtEl>
                                        <p:attrNameLst>
                                          <p:attrName>style.visibility</p:attrName>
                                        </p:attrNameLst>
                                      </p:cBhvr>
                                      <p:to>
                                        <p:strVal val="visible"/>
                                      </p:to>
                                    </p:set>
                                    <p:animEffect transition="in" filter="blinds(horizontal)">
                                      <p:cBhvr>
                                        <p:cTn id="20" dur="500"/>
                                        <p:tgtEl>
                                          <p:spTgt spid="6147">
                                            <p:txEl>
                                              <p:charRg st="107" end="129"/>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147">
                                            <p:txEl>
                                              <p:charRg st="130" end="177"/>
                                            </p:txEl>
                                          </p:spTgt>
                                        </p:tgtEl>
                                        <p:attrNameLst>
                                          <p:attrName>style.visibility</p:attrName>
                                        </p:attrNameLst>
                                      </p:cBhvr>
                                      <p:to>
                                        <p:strVal val="visible"/>
                                      </p:to>
                                    </p:set>
                                    <p:animEffect transition="in" filter="blinds(horizontal)">
                                      <p:cBhvr>
                                        <p:cTn id="25" dur="500"/>
                                        <p:tgtEl>
                                          <p:spTgt spid="6147">
                                            <p:txEl>
                                              <p:charRg st="130" end="177"/>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6147">
                                            <p:txEl>
                                              <p:charRg st="177" end="201"/>
                                            </p:txEl>
                                          </p:spTgt>
                                        </p:tgtEl>
                                        <p:attrNameLst>
                                          <p:attrName>style.visibility</p:attrName>
                                        </p:attrNameLst>
                                      </p:cBhvr>
                                      <p:to>
                                        <p:strVal val="visible"/>
                                      </p:to>
                                    </p:set>
                                    <p:animEffect transition="in" filter="blinds(horizontal)">
                                      <p:cBhvr>
                                        <p:cTn id="28" dur="500"/>
                                        <p:tgtEl>
                                          <p:spTgt spid="6147">
                                            <p:txEl>
                                              <p:charRg st="177" end="201"/>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147">
                                            <p:txEl>
                                              <p:charRg st="201" end="227"/>
                                            </p:txEl>
                                          </p:spTgt>
                                        </p:tgtEl>
                                        <p:attrNameLst>
                                          <p:attrName>style.visibility</p:attrName>
                                        </p:attrNameLst>
                                      </p:cBhvr>
                                      <p:to>
                                        <p:strVal val="visible"/>
                                      </p:to>
                                    </p:set>
                                    <p:animEffect transition="in" filter="blinds(horizontal)">
                                      <p:cBhvr>
                                        <p:cTn id="31" dur="500"/>
                                        <p:tgtEl>
                                          <p:spTgt spid="6147">
                                            <p:txEl>
                                              <p:charRg st="201" end="2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p:txBody>
          <a:bodyPr vert="horz" wrap="square" lIns="91440" tIns="45720" rIns="91440" bIns="45720" anchor="b" anchorCtr="0"/>
          <a:p>
            <a:r>
              <a:rPr lang="zh-CN" altLang="en-US" sz="3600" dirty="0"/>
              <a:t>计算机性能举例</a:t>
            </a:r>
            <a:endParaRPr lang="zh-CN" altLang="en-US" sz="3600" dirty="0"/>
          </a:p>
        </p:txBody>
      </p:sp>
      <p:sp>
        <p:nvSpPr>
          <p:cNvPr id="7171" name="Rectangle 3"/>
          <p:cNvSpPr>
            <a:spLocks noGrp="1" noChangeArrowheads="1"/>
          </p:cNvSpPr>
          <p:nvPr>
            <p:ph idx="1"/>
          </p:nvPr>
        </p:nvSpPr>
        <p:spPr>
          <a:xfrm>
            <a:off x="571500" y="4500880"/>
            <a:ext cx="8286750" cy="2379663"/>
          </a:xfrm>
        </p:spPr>
        <p:txBody>
          <a:bodyPr vert="horz" wrap="square" lIns="91440" tIns="45720" rIns="91440" bIns="45720" numCol="1" anchor="t" anchorCtr="0" compatLnSpc="1"/>
          <a:lstStyle/>
          <a:p>
            <a:pPr marL="179705" marR="0" lvl="0" indent="-179705" algn="l" defTabSz="914400" rtl="0" eaLnBrk="0" fontAlgn="base" latinLnBrk="0" hangingPunct="0">
              <a:lnSpc>
                <a:spcPct val="95000"/>
              </a:lnSpc>
              <a:spcBef>
                <a:spcPct val="0"/>
              </a:spcBef>
              <a:spcAft>
                <a:spcPts val="0"/>
              </a:spcAft>
              <a:buClr>
                <a:schemeClr val="tx1"/>
              </a:buClr>
              <a:buSzTx/>
              <a:buFont typeface="Wingdings" panose="05000000000000000000" pitchFamily="2" charset="2"/>
              <a:buNone/>
              <a:tabLst>
                <a:tab pos="914400" algn="l"/>
                <a:tab pos="3657600" algn="l"/>
              </a:tabLst>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解：</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方正正粗黑简体" pitchFamily="2" charset="-122"/>
                <a:cs typeface="Times New Roman" panose="02020603050405020304" pitchFamily="18" charset="0"/>
              </a:rPr>
              <a:t>MIPS</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Instruction Counts / (Execution Time</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6</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09625" marR="0" lvl="2" indent="-179705" algn="l" defTabSz="914400" rtl="0" eaLnBrk="0" fontAlgn="base" latinLnBrk="0" hangingPunct="0">
              <a:lnSpc>
                <a:spcPct val="95000"/>
              </a:lnSpc>
              <a:spcBef>
                <a:spcPct val="0"/>
              </a:spcBef>
              <a:spcAft>
                <a:spcPts val="0"/>
              </a:spcAft>
              <a:buClrTx/>
              <a:buSzPct val="80000"/>
              <a:buFont typeface="Wingdings" panose="05000000000000000000" pitchFamily="2" charset="2"/>
              <a:buNone/>
              <a:tabLst>
                <a:tab pos="914400" algn="l"/>
                <a:tab pos="3657600" algn="l"/>
              </a:tabLst>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Clock Rate / (CPI</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6</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5000"/>
              </a:lnSpc>
              <a:spcBef>
                <a:spcPct val="0"/>
              </a:spcBef>
              <a:spcAft>
                <a:spcPts val="0"/>
              </a:spcAft>
              <a:buClrTx/>
              <a:buSzTx/>
              <a:buFont typeface="Wingdings" panose="05000000000000000000" pitchFamily="2" charset="2"/>
              <a:buNone/>
              <a:defRPr/>
            </a:pPr>
            <a:r>
              <a:rPr kumimoji="0" lang="en-US" altLang="zh-CN" sz="2400" b="0" i="0" u="none" strike="noStrike" kern="0" cap="none" spc="0" normalizeH="0" baseline="0" noProof="0" dirty="0" smtClean="0">
                <a:ln>
                  <a:noFill/>
                </a:ln>
                <a:solidFill>
                  <a:srgbClr val="FF0000"/>
                </a:solidFill>
                <a:effectLst/>
                <a:uLnTx/>
                <a:uFillTx/>
                <a:latin typeface="Times New Roman" panose="02020603050405020304" pitchFamily="18" charset="0"/>
                <a:ea typeface="方正正粗黑简体" pitchFamily="2" charset="-122"/>
                <a:cs typeface="Times New Roman" panose="02020603050405020304" pitchFamily="18" charset="0"/>
              </a:rPr>
              <a:t>	  </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方正正粗黑简体" pitchFamily="2" charset="-122"/>
                <a:cs typeface="Times New Roman" panose="02020603050405020304" pitchFamily="18" charset="0"/>
              </a:rPr>
              <a:t>程序</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方正正粗黑简体" pitchFamily="2" charset="-122"/>
                <a:cs typeface="Times New Roman" panose="02020603050405020304" pitchFamily="18" charset="0"/>
              </a:rPr>
              <a:t>CPI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∑CPI</a:t>
            </a:r>
            <a:r>
              <a:rPr kumimoji="0" lang="en-US" altLang="zh-CN" sz="24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a:t>
            </a:r>
            <a:r>
              <a:rPr kumimoji="0" lang="en-US" altLang="zh-CN" sz="24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881505" algn="l" defTabSz="914400" rtl="0" eaLnBrk="0" fontAlgn="base" latinLnBrk="0" hangingPunct="0">
              <a:lnSpc>
                <a:spcPct val="95000"/>
              </a:lnSpc>
              <a:spcBef>
                <a:spcPct val="0"/>
              </a:spcBef>
              <a:spcAft>
                <a:spcPts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 2×</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50%+3×</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20%+4×</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10%+5×</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20%=3</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95000"/>
              </a:lnSpc>
              <a:spcBef>
                <a:spcPct val="0"/>
              </a:spcBef>
              <a:spcAft>
                <a:spcPts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则，该机的</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MIPS=1.2GHz/</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(3</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6</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=400</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7175" name="Rectangle 7"/>
          <p:cNvSpPr>
            <a:spLocks noChangeArrowheads="1"/>
          </p:cNvSpPr>
          <p:nvPr/>
        </p:nvSpPr>
        <p:spPr bwMode="auto">
          <a:xfrm>
            <a:off x="500063" y="1285875"/>
            <a:ext cx="8286750" cy="1200150"/>
          </a:xfrm>
          <a:prstGeom prst="rect">
            <a:avLst/>
          </a:prstGeom>
          <a:noFill/>
          <a:ln w="9525">
            <a:noFill/>
            <a:miter lim="800000"/>
          </a:ln>
          <a:effec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2013</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某计算机主频为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1.2 GHz</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，其指令分为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类，它们在基准程序中所占比例及</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CPI</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如下表所示。</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pic>
        <p:nvPicPr>
          <p:cNvPr id="8197" name="图片 3"/>
          <p:cNvPicPr>
            <a:picLocks noChangeAspect="1"/>
          </p:cNvPicPr>
          <p:nvPr/>
        </p:nvPicPr>
        <p:blipFill>
          <a:blip r:embed="rId1"/>
          <a:stretch>
            <a:fillRect/>
          </a:stretch>
        </p:blipFill>
        <p:spPr>
          <a:xfrm>
            <a:off x="1962150" y="2071688"/>
            <a:ext cx="5219700" cy="1685925"/>
          </a:xfrm>
          <a:prstGeom prst="rect">
            <a:avLst/>
          </a:prstGeom>
          <a:noFill/>
          <a:ln w="9525">
            <a:noFill/>
          </a:ln>
        </p:spPr>
      </p:pic>
      <p:sp>
        <p:nvSpPr>
          <p:cNvPr id="7176" name="Rectangle 8"/>
          <p:cNvSpPr>
            <a:spLocks noChangeArrowheads="1"/>
          </p:cNvSpPr>
          <p:nvPr/>
        </p:nvSpPr>
        <p:spPr bwMode="auto">
          <a:xfrm>
            <a:off x="642938" y="3571875"/>
            <a:ext cx="8215313" cy="830263"/>
          </a:xfrm>
          <a:prstGeom prst="rect">
            <a:avLst/>
          </a:prstGeom>
          <a:noFill/>
          <a:ln w="9525">
            <a:noFill/>
            <a:miter lim="800000"/>
          </a:ln>
          <a:effec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该机的</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MIPS</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数是</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262255"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 10          	  B. 200       	C. 400              D. 600</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9" name="圆角矩形标注 8"/>
          <p:cNvSpPr/>
          <p:nvPr/>
        </p:nvSpPr>
        <p:spPr>
          <a:xfrm>
            <a:off x="3571875" y="3143250"/>
            <a:ext cx="5500688" cy="1785938"/>
          </a:xfrm>
          <a:prstGeom prst="wedgeRoundRectCallout">
            <a:avLst>
              <a:gd name="adj1" fmla="val -35211"/>
              <a:gd name="adj2" fmla="val -110791"/>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62255" marR="0" lvl="0" indent="-262255" algn="l" defTabSz="914400" rtl="0" eaLnBrk="1" fontAlgn="base" latinLnBrk="0" hangingPunct="1">
              <a:lnSpc>
                <a:spcPct val="100000"/>
              </a:lnSpc>
              <a:spcBef>
                <a:spcPts val="1800"/>
              </a:spcBef>
              <a:spcAft>
                <a:spcPct val="0"/>
              </a:spcAft>
              <a:buClrTx/>
              <a:buSzTx/>
              <a:buFont typeface="Wingdings" panose="05000000000000000000" pitchFamily="2" charset="2"/>
              <a:buChar char="Ø"/>
              <a:defRPr/>
            </a:pP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262255" marR="0" lvl="0" indent="-262255" algn="l" defTabSz="914400" rtl="0" eaLnBrk="1" fontAlgn="base" latinLnBrk="0" hangingPunct="1">
              <a:lnSpc>
                <a:spcPct val="100000"/>
              </a:lnSpc>
              <a:spcBef>
                <a:spcPts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某条指令或某类指令的</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CPI</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是确定的，其与</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CPU</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实现相关</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262255" marR="0" lvl="0" indent="-262255" algn="l" defTabSz="914400" rtl="0" eaLnBrk="1" fontAlgn="base" latinLnBrk="0" hangingPunct="1">
              <a:lnSpc>
                <a:spcPct val="100000"/>
              </a:lnSpc>
              <a:spcBef>
                <a:spcPts val="60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一个程序的综合</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CPI</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是一个平均值，其与程序中每类指令所占比例</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F</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相关</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Tx/>
              <a:buSzTx/>
              <a:buFontTx/>
              <a:buNone/>
              <a:defRPr/>
            </a:pPr>
            <a:endPar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charRg st="0" end="52"/>
                                            </p:txEl>
                                          </p:spTgt>
                                        </p:tgtEl>
                                        <p:attrNameLst>
                                          <p:attrName>style.visibility</p:attrName>
                                        </p:attrNameLst>
                                      </p:cBhvr>
                                      <p:to>
                                        <p:strVal val="visible"/>
                                      </p:to>
                                    </p:set>
                                    <p:animEffect transition="in" filter="blinds(horizontal)">
                                      <p:cBhvr>
                                        <p:cTn id="12" dur="500"/>
                                        <p:tgtEl>
                                          <p:spTgt spid="7171">
                                            <p:txEl>
                                              <p:charRg st="0" end="5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171">
                                            <p:txEl>
                                              <p:charRg st="52" end="94"/>
                                            </p:txEl>
                                          </p:spTgt>
                                        </p:tgtEl>
                                        <p:attrNameLst>
                                          <p:attrName>style.visibility</p:attrName>
                                        </p:attrNameLst>
                                      </p:cBhvr>
                                      <p:to>
                                        <p:strVal val="visible"/>
                                      </p:to>
                                    </p:set>
                                    <p:animEffect transition="in" filter="blinds(horizontal)">
                                      <p:cBhvr>
                                        <p:cTn id="15" dur="500"/>
                                        <p:tgtEl>
                                          <p:spTgt spid="7171">
                                            <p:txEl>
                                              <p:charRg st="52" end="9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171">
                                            <p:txEl>
                                              <p:charRg st="94" end="116"/>
                                            </p:txEl>
                                          </p:spTgt>
                                        </p:tgtEl>
                                        <p:attrNameLst>
                                          <p:attrName>style.visibility</p:attrName>
                                        </p:attrNameLst>
                                      </p:cBhvr>
                                      <p:to>
                                        <p:strVal val="visible"/>
                                      </p:to>
                                    </p:set>
                                    <p:animEffect transition="in" filter="blinds(horizontal)">
                                      <p:cBhvr>
                                        <p:cTn id="20" dur="500"/>
                                        <p:tgtEl>
                                          <p:spTgt spid="7171">
                                            <p:txEl>
                                              <p:charRg st="94" end="11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171">
                                            <p:txEl>
                                              <p:charRg st="116" end="145"/>
                                            </p:txEl>
                                          </p:spTgt>
                                        </p:tgtEl>
                                        <p:attrNameLst>
                                          <p:attrName>style.visibility</p:attrName>
                                        </p:attrNameLst>
                                      </p:cBhvr>
                                      <p:to>
                                        <p:strVal val="visible"/>
                                      </p:to>
                                    </p:set>
                                    <p:animEffect transition="in" filter="blinds(horizontal)">
                                      <p:cBhvr>
                                        <p:cTn id="25" dur="500"/>
                                        <p:tgtEl>
                                          <p:spTgt spid="7171">
                                            <p:txEl>
                                              <p:charRg st="116" end="14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171">
                                            <p:txEl>
                                              <p:charRg st="145" end="188"/>
                                            </p:txEl>
                                          </p:spTgt>
                                        </p:tgtEl>
                                        <p:attrNameLst>
                                          <p:attrName>style.visibility</p:attrName>
                                        </p:attrNameLst>
                                      </p:cBhvr>
                                      <p:to>
                                        <p:strVal val="visible"/>
                                      </p:to>
                                    </p:set>
                                    <p:animEffect transition="in" filter="blinds(horizontal)">
                                      <p:cBhvr>
                                        <p:cTn id="30" dur="500"/>
                                        <p:tgtEl>
                                          <p:spTgt spid="7171">
                                            <p:txEl>
                                              <p:charRg st="145" end="18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p:txBody>
          <a:bodyPr vert="horz" wrap="square" lIns="91440" tIns="45720" rIns="91440" bIns="45720" anchor="b" anchorCtr="0"/>
          <a:p>
            <a:r>
              <a:rPr lang="zh-CN" altLang="en-US" sz="3600" dirty="0"/>
              <a:t>计算机性能举例</a:t>
            </a:r>
            <a:endParaRPr lang="zh-CN" altLang="en-US" sz="3600" dirty="0"/>
          </a:p>
        </p:txBody>
      </p:sp>
      <p:sp>
        <p:nvSpPr>
          <p:cNvPr id="7171" name="Rectangle 3"/>
          <p:cNvSpPr>
            <a:spLocks noGrp="1"/>
          </p:cNvSpPr>
          <p:nvPr>
            <p:ph idx="1"/>
          </p:nvPr>
        </p:nvSpPr>
        <p:spPr>
          <a:xfrm>
            <a:off x="428625" y="3286125"/>
            <a:ext cx="8429625" cy="3143250"/>
          </a:xfrm>
        </p:spPr>
        <p:txBody>
          <a:bodyPr vert="horz" wrap="square" lIns="91440" tIns="45720" rIns="91440" bIns="45720" anchor="t" anchorCtr="0"/>
          <a:p>
            <a:pPr defTabSz="914400">
              <a:spcBef>
                <a:spcPts val="300"/>
              </a:spcBef>
              <a:buClr>
                <a:schemeClr val="tx1"/>
              </a:buClr>
              <a:buNone/>
              <a:tabLst>
                <a:tab pos="914400" algn="l"/>
                <a:tab pos="3657600" algn="l"/>
              </a:tabLst>
            </a:pPr>
            <a:r>
              <a:rPr lang="zh-CN" altLang="en-US" sz="2400" dirty="0"/>
              <a:t>解：</a:t>
            </a:r>
            <a:r>
              <a:rPr lang="en-US" altLang="zh-CN" sz="2000" dirty="0">
                <a:solidFill>
                  <a:srgbClr val="FF0000"/>
                </a:solidFill>
                <a:latin typeface="Tahoma" panose="020B0604030504040204" pitchFamily="34" charset="0"/>
                <a:cs typeface="Tahoma" panose="020B0604030504040204" pitchFamily="34" charset="0"/>
              </a:rPr>
              <a:t>CPU  time = Instruction counts × CPI × Cycle Time</a:t>
            </a:r>
            <a:endParaRPr lang="en-US" altLang="zh-CN" sz="2400" dirty="0">
              <a:solidFill>
                <a:srgbClr val="FF0000"/>
              </a:solidFill>
              <a:latin typeface="Tahoma" panose="020B0604030504040204" pitchFamily="34" charset="0"/>
              <a:cs typeface="Tahoma" panose="020B0604030504040204" pitchFamily="34" charset="0"/>
            </a:endParaRPr>
          </a:p>
          <a:p>
            <a:pPr defTabSz="914400">
              <a:buNone/>
              <a:tabLst>
                <a:tab pos="914400" algn="l"/>
                <a:tab pos="3657600" algn="l"/>
              </a:tabLst>
            </a:pPr>
            <a:r>
              <a:rPr lang="zh-CN" altLang="en-US" sz="2400" dirty="0">
                <a:latin typeface="Times New Roman" panose="02020603050405020304" pitchFamily="18" charset="0"/>
                <a:cs typeface="Times New Roman" panose="02020603050405020304" pitchFamily="18" charset="0"/>
              </a:rPr>
              <a:t>        同一机器的时钟周期</a:t>
            </a:r>
            <a:r>
              <a:rPr lang="en-US" altLang="zh-CN" sz="2400" dirty="0">
                <a:latin typeface="Times New Roman" panose="02020603050405020304" pitchFamily="18" charset="0"/>
                <a:cs typeface="Times New Roman" panose="02020603050405020304" pitchFamily="18" charset="0"/>
              </a:rPr>
              <a:t>(Cycle Time)</a:t>
            </a:r>
            <a:r>
              <a:rPr lang="zh-CN" altLang="en-US" sz="2400" dirty="0">
                <a:latin typeface="Times New Roman" panose="02020603050405020304" pitchFamily="18" charset="0"/>
                <a:cs typeface="Times New Roman" panose="02020603050405020304" pitchFamily="18" charset="0"/>
              </a:rPr>
              <a:t>是一样的，用</a:t>
            </a:r>
            <a:r>
              <a:rPr lang="en-US" altLang="zh-CN" sz="2400" dirty="0">
                <a:latin typeface="Times New Roman" panose="02020603050405020304" pitchFamily="18" charset="0"/>
                <a:cs typeface="Times New Roman" panose="02020603050405020304" pitchFamily="18" charset="0"/>
              </a:rPr>
              <a:t>CT</a:t>
            </a:r>
            <a:r>
              <a:rPr lang="zh-CN" altLang="en-US" sz="2400" dirty="0">
                <a:latin typeface="Times New Roman" panose="02020603050405020304" pitchFamily="18" charset="0"/>
                <a:cs typeface="Times New Roman" panose="02020603050405020304" pitchFamily="18" charset="0"/>
              </a:rPr>
              <a:t>表示。设程序</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编译优化前的指令数为</a:t>
            </a:r>
            <a:r>
              <a:rPr lang="en-US" altLang="zh-CN" sz="2400" dirty="0">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P</a:t>
            </a:r>
            <a:r>
              <a:rPr lang="zh-CN" altLang="en-US" sz="2400" dirty="0">
                <a:latin typeface="Times New Roman" panose="02020603050405020304" pitchFamily="18" charset="0"/>
                <a:cs typeface="Times New Roman" panose="02020603050405020304" pitchFamily="18" charset="0"/>
              </a:rPr>
              <a:t>在</a:t>
            </a:r>
            <a:r>
              <a:rPr lang="en-US" altLang="zh-CN" sz="2400"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上的执行时间是</a:t>
            </a:r>
            <a:r>
              <a:rPr lang="en-US" altLang="zh-CN" sz="2400"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。则：</a:t>
            </a:r>
            <a:endParaRPr lang="en-US" altLang="zh-CN" sz="2400" dirty="0">
              <a:latin typeface="Times New Roman" panose="02020603050405020304" pitchFamily="18" charset="0"/>
              <a:cs typeface="Times New Roman" panose="02020603050405020304" pitchFamily="18" charset="0"/>
            </a:endParaRPr>
          </a:p>
          <a:p>
            <a:pPr defTabSz="914400">
              <a:buNone/>
              <a:tabLst>
                <a:tab pos="914400" algn="l"/>
                <a:tab pos="3657600" algn="l"/>
              </a:tabLst>
            </a:pPr>
            <a:r>
              <a:rPr lang="en-US" altLang="zh-CN" sz="2400" dirty="0">
                <a:latin typeface="Times New Roman" panose="02020603050405020304" pitchFamily="18" charset="0"/>
                <a:cs typeface="Times New Roman" panose="02020603050405020304" pitchFamily="18" charset="0"/>
              </a:rPr>
              <a:t>          20s = I × CPI × CT</a:t>
            </a:r>
            <a:endParaRPr lang="en-US" altLang="zh-CN" sz="2400" dirty="0">
              <a:latin typeface="Times New Roman" panose="02020603050405020304" pitchFamily="18" charset="0"/>
              <a:cs typeface="Times New Roman" panose="02020603050405020304" pitchFamily="18" charset="0"/>
            </a:endParaRPr>
          </a:p>
          <a:p>
            <a:pPr defTabSz="914400">
              <a:buNone/>
              <a:tabLst>
                <a:tab pos="914400" algn="l"/>
                <a:tab pos="3657600" algn="l"/>
              </a:tabLst>
            </a:pPr>
            <a:r>
              <a:rPr lang="en-US" altLang="zh-CN" sz="2400" dirty="0">
                <a:latin typeface="Times New Roman" panose="02020603050405020304" pitchFamily="18" charset="0"/>
                <a:cs typeface="Times New Roman" panose="02020603050405020304" pitchFamily="18" charset="0"/>
              </a:rPr>
              <a:t>          x = 0.7I × 1.2CPI × CT</a:t>
            </a:r>
            <a:endParaRPr lang="en-US" altLang="zh-CN" sz="2400" dirty="0">
              <a:latin typeface="Times New Roman" panose="02020603050405020304" pitchFamily="18" charset="0"/>
              <a:cs typeface="Times New Roman" panose="02020603050405020304" pitchFamily="18" charset="0"/>
            </a:endParaRPr>
          </a:p>
          <a:p>
            <a:pPr defTabSz="914400">
              <a:buNone/>
              <a:tabLst>
                <a:tab pos="914400" algn="l"/>
                <a:tab pos="3657600" algn="l"/>
              </a:tabLst>
            </a:pPr>
            <a:r>
              <a:rPr lang="en-US" altLang="zh-CN" sz="2400" dirty="0">
                <a:latin typeface="Times New Roman" panose="02020603050405020304" pitchFamily="18" charset="0"/>
                <a:cs typeface="Times New Roman" panose="02020603050405020304" pitchFamily="18" charset="0"/>
              </a:rPr>
              <a:t>          x = 16.8s</a:t>
            </a:r>
            <a:endParaRPr lang="zh-CN" altLang="en-US" sz="2400" dirty="0">
              <a:latin typeface="Times New Roman" panose="02020603050405020304" pitchFamily="18" charset="0"/>
              <a:ea typeface="Times New Roman" panose="02020603050405020304" pitchFamily="18" charset="0"/>
            </a:endParaRPr>
          </a:p>
        </p:txBody>
      </p:sp>
      <p:sp>
        <p:nvSpPr>
          <p:cNvPr id="7175" name="Rectangle 7"/>
          <p:cNvSpPr>
            <a:spLocks noChangeArrowheads="1"/>
          </p:cNvSpPr>
          <p:nvPr/>
        </p:nvSpPr>
        <p:spPr bwMode="auto">
          <a:xfrm>
            <a:off x="500063" y="1428750"/>
            <a:ext cx="8286750" cy="1646238"/>
          </a:xfrm>
          <a:prstGeom prst="rect">
            <a:avLst/>
          </a:prstGeom>
          <a:noFill/>
          <a:ln w="9525">
            <a:noFill/>
            <a:miter lim="800000"/>
          </a:ln>
          <a:effec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2014</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程序</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在机器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上的执行时间是</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20</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秒，编译优化后，</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执行的指令数减少到原来的</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70%</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，而</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CPI</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增加到原来的</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倍，则</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上的执行时间是</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262255"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8.4</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秒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11.7</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秒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14.0</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秒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16.8</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秒</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8" name="圆角矩形标注 7"/>
          <p:cNvSpPr/>
          <p:nvPr/>
        </p:nvSpPr>
        <p:spPr>
          <a:xfrm>
            <a:off x="4857750" y="4929188"/>
            <a:ext cx="3786188" cy="1143000"/>
          </a:xfrm>
          <a:prstGeom prst="wedgeRoundRectCallout">
            <a:avLst>
              <a:gd name="adj1" fmla="val -67444"/>
              <a:gd name="adj2" fmla="val -27658"/>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CC"/>
                </a:solidFill>
                <a:effectLst/>
                <a:uLnTx/>
                <a:uFillTx/>
                <a:latin typeface="+mn-lt"/>
                <a:ea typeface="+mn-ea"/>
                <a:cs typeface="+mn-cs"/>
              </a:rPr>
              <a:t>这里再一次看到</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CPU</a:t>
            </a:r>
            <a:r>
              <a:rPr kumimoji="0" lang="zh-CN" altLang="en-US" sz="2400" b="1" i="0" u="none" strike="noStrike" kern="1200" cap="none" spc="0" normalizeH="0" baseline="0" noProof="0" dirty="0">
                <a:ln>
                  <a:noFill/>
                </a:ln>
                <a:solidFill>
                  <a:srgbClr val="0000CC"/>
                </a:solidFill>
                <a:effectLst/>
                <a:uLnTx/>
                <a:uFillTx/>
                <a:latin typeface="+mn-lt"/>
                <a:ea typeface="+mn-ea"/>
                <a:cs typeface="+mn-cs"/>
              </a:rPr>
              <a:t>执行时间与</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时钟周期、</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CPI</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与指令数三者之间的关系</a:t>
            </a:r>
            <a:endParaRPr kumimoji="0" lang="zh-CN" altLang="en-US" sz="2400" b="1" i="0" u="none" strike="noStrike" kern="1200" cap="none" spc="0" normalizeH="0" baseline="0" noProof="0" dirty="0">
              <a:ln>
                <a:noFill/>
              </a:ln>
              <a:solidFill>
                <a:srgbClr val="0000CC"/>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1">
                                            <p:txEl>
                                              <p:charRg st="0" end="52"/>
                                            </p:txEl>
                                          </p:spTgt>
                                        </p:tgtEl>
                                        <p:attrNameLst>
                                          <p:attrName>style.visibility</p:attrName>
                                        </p:attrNameLst>
                                      </p:cBhvr>
                                      <p:to>
                                        <p:strVal val="visible"/>
                                      </p:to>
                                    </p:set>
                                    <p:animEffect transition="in" filter="blinds(horizontal)">
                                      <p:cBhvr>
                                        <p:cTn id="7" dur="500"/>
                                        <p:tgtEl>
                                          <p:spTgt spid="7171">
                                            <p:txEl>
                                              <p:charRg st="0" end="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xEl>
                                              <p:charRg st="52" end="124"/>
                                            </p:txEl>
                                          </p:spTgt>
                                        </p:tgtEl>
                                        <p:attrNameLst>
                                          <p:attrName>style.visibility</p:attrName>
                                        </p:attrNameLst>
                                      </p:cBhvr>
                                      <p:to>
                                        <p:strVal val="visible"/>
                                      </p:to>
                                    </p:set>
                                    <p:animEffect transition="in" filter="blinds(horizontal)">
                                      <p:cBhvr>
                                        <p:cTn id="12" dur="500"/>
                                        <p:tgtEl>
                                          <p:spTgt spid="7171">
                                            <p:txEl>
                                              <p:charRg st="52" end="1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1">
                                            <p:txEl>
                                              <p:charRg st="124" end="153"/>
                                            </p:txEl>
                                          </p:spTgt>
                                        </p:tgtEl>
                                        <p:attrNameLst>
                                          <p:attrName>style.visibility</p:attrName>
                                        </p:attrNameLst>
                                      </p:cBhvr>
                                      <p:to>
                                        <p:strVal val="visible"/>
                                      </p:to>
                                    </p:set>
                                    <p:animEffect transition="in" filter="blinds(horizontal)">
                                      <p:cBhvr>
                                        <p:cTn id="17" dur="500"/>
                                        <p:tgtEl>
                                          <p:spTgt spid="7171">
                                            <p:txEl>
                                              <p:charRg st="124" end="15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71">
                                            <p:txEl>
                                              <p:charRg st="153" end="186"/>
                                            </p:txEl>
                                          </p:spTgt>
                                        </p:tgtEl>
                                        <p:attrNameLst>
                                          <p:attrName>style.visibility</p:attrName>
                                        </p:attrNameLst>
                                      </p:cBhvr>
                                      <p:to>
                                        <p:strVal val="visible"/>
                                      </p:to>
                                    </p:set>
                                    <p:animEffect transition="in" filter="blinds(horizontal)">
                                      <p:cBhvr>
                                        <p:cTn id="22" dur="500"/>
                                        <p:tgtEl>
                                          <p:spTgt spid="7171">
                                            <p:txEl>
                                              <p:charRg st="153" end="18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171">
                                            <p:txEl>
                                              <p:charRg st="186" end="206"/>
                                            </p:txEl>
                                          </p:spTgt>
                                        </p:tgtEl>
                                        <p:attrNameLst>
                                          <p:attrName>style.visibility</p:attrName>
                                        </p:attrNameLst>
                                      </p:cBhvr>
                                      <p:to>
                                        <p:strVal val="visible"/>
                                      </p:to>
                                    </p:set>
                                    <p:animEffect transition="in" filter="blinds(horizontal)">
                                      <p:cBhvr>
                                        <p:cTn id="27" dur="500"/>
                                        <p:tgtEl>
                                          <p:spTgt spid="7171">
                                            <p:txEl>
                                              <p:charRg st="186" end="20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285750" y="1285875"/>
            <a:ext cx="8643938" cy="5324475"/>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例：若相同指令集有两种不同的实现</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，在该指令集中有</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类指令：</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的时钟频率为</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6GHz</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I2</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的时钟频率为</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3GHz</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。下表给出在</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上运行时所需的每类指令平均</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时钟</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周期数</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(CPI)</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表中还列出了</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 </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个不同编译器生成的程序代码中这</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类指令各自所占的百分比。其中，</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是由</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生产商</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提供的编译器，</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是由</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的生产商提供的编译器，</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C3</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是由第三方</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生产商</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提供的。假设对于同一个程序，</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个编译器生成的代码中指令数相同，但代码的组合不同，如上表所示。如果在</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与</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上使用</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编译器，那么</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生产商</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可以声称其性能是</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的多少倍？如果在</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与</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上使用</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编译器，那么</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生产商</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可以声称其性能是</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的多少倍？如果你购买了</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，那么你会选择哪个编译器？如果你购买了</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I2</a:t>
            </a: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，那么你又会选择哪个编译器？如果所有其他指标都相同，那么你会买哪台机器和哪个编译器？</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0243" name="Rectangle 2"/>
          <p:cNvSpPr>
            <a:spLocks noGrp="1"/>
          </p:cNvSpPr>
          <p:nvPr>
            <p:ph type="title"/>
          </p:nvPr>
        </p:nvSpPr>
        <p:spPr/>
        <p:txBody>
          <a:bodyPr vert="horz" wrap="square" lIns="91440" tIns="45720" rIns="91440" bIns="45720" anchor="b" anchorCtr="0"/>
          <a:p>
            <a:r>
              <a:rPr lang="zh-CN" altLang="en-US" sz="3600" dirty="0"/>
              <a:t>计算机性能举例</a:t>
            </a:r>
            <a:endParaRPr lang="zh-CN" altLang="en-US" sz="3600" dirty="0"/>
          </a:p>
        </p:txBody>
      </p:sp>
      <p:graphicFrame>
        <p:nvGraphicFramePr>
          <p:cNvPr id="9" name="表格 8"/>
          <p:cNvGraphicFramePr>
            <a:graphicFrameLocks noGrp="1"/>
          </p:cNvGraphicFramePr>
          <p:nvPr/>
        </p:nvGraphicFramePr>
        <p:xfrm>
          <a:off x="571500" y="2357438"/>
          <a:ext cx="8215313" cy="1584325"/>
        </p:xfrm>
        <a:graphic>
          <a:graphicData uri="http://schemas.openxmlformats.org/drawingml/2006/table">
            <a:tbl>
              <a:tblPr/>
              <a:tblGrid>
                <a:gridCol w="1370013"/>
                <a:gridCol w="1368425"/>
                <a:gridCol w="1370012"/>
                <a:gridCol w="1368425"/>
                <a:gridCol w="1370013"/>
                <a:gridCol w="1368425"/>
              </a:tblGrid>
              <a:tr h="396081">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指令类型</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I1</a:t>
                      </a:r>
                      <a:r>
                        <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上的</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CPI</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I2</a:t>
                      </a:r>
                      <a:r>
                        <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上的</a:t>
                      </a:r>
                      <a:r>
                        <a:rPr kumimoji="0" lang="en-US" altLang="zh-CN"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CPI</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C1</a:t>
                      </a:r>
                      <a:r>
                        <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编译器</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C2</a:t>
                      </a:r>
                      <a:r>
                        <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编译器</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C3</a:t>
                      </a:r>
                      <a:r>
                        <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rPr>
                        <a:t>编译器</a:t>
                      </a:r>
                      <a:endParaRPr kumimoji="0" lang="zh-CN" altLang="en-US" sz="2000" b="1" i="0" u="none" strike="noStrike" cap="none" normalizeH="0" baseline="0" smtClean="0">
                        <a:ln>
                          <a:noFill/>
                        </a:ln>
                        <a:solidFill>
                          <a:schemeClr val="tx1"/>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96081">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A</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2</a:t>
                      </a:r>
                      <a:endPar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1</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40%</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40%</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50%</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r>
              <a:tr h="396081">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B</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3</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2</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40%</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20%</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25%</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r>
              <a:tr h="396081">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C</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5</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2</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20%</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40%</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eaLnBrk="0" hangingPunct="0">
                        <a:spcBef>
                          <a:spcPct val="20000"/>
                        </a:spcBef>
                        <a:buFont typeface="Wingdings" panose="05000000000000000000" pitchFamily="2" charset="2"/>
                        <a:defRPr sz="2800" b="1">
                          <a:solidFill>
                            <a:schemeClr val="tx1"/>
                          </a:solidFill>
                          <a:latin typeface="Arial" panose="020B0604020202020204" pitchFamily="34" charset="0"/>
                          <a:ea typeface="华文新魏" panose="02010800040101010101" pitchFamily="2" charset="-122"/>
                        </a:defRPr>
                      </a:lvl1pPr>
                      <a:lvl2pPr marL="742950" indent="-285750" eaLnBrk="0" hangingPunct="0">
                        <a:spcBef>
                          <a:spcPct val="20000"/>
                        </a:spcBef>
                        <a:buFont typeface="Wingdings" panose="05000000000000000000" pitchFamily="2" charset="2"/>
                        <a:defRPr sz="2400" b="1">
                          <a:solidFill>
                            <a:schemeClr val="tx1"/>
                          </a:solidFill>
                          <a:latin typeface="Arial" panose="020B0604020202020204" pitchFamily="34" charset="0"/>
                          <a:ea typeface="华文新魏" panose="02010800040101010101" pitchFamily="2" charset="-122"/>
                        </a:defRPr>
                      </a:lvl2pPr>
                      <a:lvl3pPr marL="1143000" indent="-228600" eaLnBrk="0" hangingPunct="0">
                        <a:spcBef>
                          <a:spcPct val="20000"/>
                        </a:spcBef>
                        <a:buSzPct val="80000"/>
                        <a:buFont typeface="Wingdings" panose="05000000000000000000" pitchFamily="2" charset="2"/>
                        <a:defRPr sz="2000" b="1">
                          <a:solidFill>
                            <a:schemeClr val="tx1"/>
                          </a:solidFill>
                          <a:latin typeface="Arial" panose="020B0604020202020204" pitchFamily="34" charset="0"/>
                          <a:ea typeface="华文新魏" panose="02010800040101010101" pitchFamily="2" charset="-122"/>
                        </a:defRPr>
                      </a:lvl3pPr>
                      <a:lvl4pPr marL="1600200" indent="-228600" eaLnBrk="0" hangingPunct="0">
                        <a:spcBef>
                          <a:spcPct val="20000"/>
                        </a:spcBef>
                        <a:buSzPct val="60000"/>
                        <a:buFont typeface="Wingdings" panose="05000000000000000000" pitchFamily="2" charset="2"/>
                        <a:defRPr b="1">
                          <a:solidFill>
                            <a:schemeClr val="tx1"/>
                          </a:solidFill>
                          <a:latin typeface="Arial" panose="020B0604020202020204" pitchFamily="34" charset="0"/>
                          <a:ea typeface="华文中宋" panose="0201060004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rPr>
                        <a:t>25%</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华文新魏" panose="02010800040101010101" pitchFamily="2" charset="-122"/>
                        <a:cs typeface="Times New Roman" panose="02020603050405020304" pitchFamily="18" charset="0"/>
                      </a:endParaRPr>
                    </a:p>
                  </a:txBody>
                  <a:tcPr marT="45669" marB="4566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r>
            </a:tbl>
          </a:graphicData>
        </a:graphic>
      </p:graphicFrame>
      <p:sp>
        <p:nvSpPr>
          <p:cNvPr id="10" name="圆角矩形标注 9"/>
          <p:cNvSpPr/>
          <p:nvPr/>
        </p:nvSpPr>
        <p:spPr>
          <a:xfrm>
            <a:off x="5000625" y="2357438"/>
            <a:ext cx="3929063" cy="1500188"/>
          </a:xfrm>
          <a:prstGeom prst="wedgeRoundRectCallout">
            <a:avLst>
              <a:gd name="adj1" fmla="val -37826"/>
              <a:gd name="adj2" fmla="val -68112"/>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CPU</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影响了指令</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CPI</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编译器影响了程序的指令数及程序的综合</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CPI</a:t>
            </a:r>
            <a:endPar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p:txBody>
          <a:bodyPr vert="horz" wrap="square" lIns="91440" tIns="45720" rIns="91440" bIns="45720" anchor="b" anchorCtr="0"/>
          <a:p>
            <a:r>
              <a:rPr lang="zh-CN" altLang="en-US" sz="3600" dirty="0"/>
              <a:t>计算机性能举例</a:t>
            </a:r>
            <a:endParaRPr lang="zh-CN" altLang="en-US" sz="3600" dirty="0"/>
          </a:p>
        </p:txBody>
      </p:sp>
      <p:sp>
        <p:nvSpPr>
          <p:cNvPr id="12291" name="Rectangle 3"/>
          <p:cNvSpPr>
            <a:spLocks noGrp="1"/>
          </p:cNvSpPr>
          <p:nvPr>
            <p:ph idx="1"/>
          </p:nvPr>
        </p:nvSpPr>
        <p:spPr>
          <a:xfrm>
            <a:off x="250825" y="1285875"/>
            <a:ext cx="8821738" cy="3929063"/>
          </a:xfrm>
        </p:spPr>
        <p:txBody>
          <a:bodyPr vert="horz" wrap="square" lIns="91440" tIns="45720" rIns="91440" bIns="45720" anchor="t" anchorCtr="0"/>
          <a:p>
            <a:pPr>
              <a:buNone/>
            </a:pPr>
            <a:r>
              <a:rPr lang="zh-CN" altLang="en-US" sz="2200" dirty="0"/>
              <a:t>解：</a:t>
            </a:r>
            <a:r>
              <a:rPr lang="en-US" altLang="zh-CN" sz="2000" dirty="0">
                <a:solidFill>
                  <a:srgbClr val="FF0000"/>
                </a:solidFill>
                <a:latin typeface="Tahoma" panose="020B0604030504040204" pitchFamily="34" charset="0"/>
                <a:cs typeface="Tahoma" panose="020B0604030504040204" pitchFamily="34" charset="0"/>
              </a:rPr>
              <a:t>CPU Time = cycle time × CPI × Instructions / program</a:t>
            </a:r>
            <a:endParaRPr lang="en-US" altLang="zh-CN" sz="2000" dirty="0">
              <a:solidFill>
                <a:srgbClr val="FF0000"/>
              </a:solidFill>
              <a:latin typeface="Tahoma" panose="020B0604030504040204" pitchFamily="34" charset="0"/>
              <a:cs typeface="Tahoma" panose="020B0604030504040204" pitchFamily="34" charset="0"/>
            </a:endParaRPr>
          </a:p>
          <a:p>
            <a:pPr>
              <a:buNone/>
            </a:pPr>
            <a:r>
              <a:rPr lang="en-US" altLang="zh-CN" sz="2000" dirty="0">
                <a:solidFill>
                  <a:srgbClr val="FF0000"/>
                </a:solidFill>
                <a:latin typeface="Tahoma" panose="020B0604030504040204" pitchFamily="34" charset="0"/>
                <a:cs typeface="Tahoma" panose="020B0604030504040204" pitchFamily="34" charset="0"/>
              </a:rPr>
              <a:t>       </a:t>
            </a:r>
            <a:r>
              <a:rPr lang="zh-CN" altLang="en-US" sz="2000" dirty="0">
                <a:solidFill>
                  <a:srgbClr val="FF0000"/>
                </a:solidFill>
                <a:latin typeface="Tahoma" panose="020B0604030504040204" pitchFamily="34" charset="0"/>
                <a:ea typeface="方正正粗黑简体" pitchFamily="2" charset="-122"/>
              </a:rPr>
              <a:t>性能 </a:t>
            </a:r>
            <a:r>
              <a:rPr lang="en-US" altLang="zh-CN" sz="2000" dirty="0">
                <a:solidFill>
                  <a:srgbClr val="FF0000"/>
                </a:solidFill>
                <a:latin typeface="Tahoma" panose="020B0604030504040204" pitchFamily="34" charset="0"/>
                <a:cs typeface="Tahoma" panose="020B0604030504040204" pitchFamily="34" charset="0"/>
              </a:rPr>
              <a:t>= 1 / CPU Time</a:t>
            </a:r>
            <a:endParaRPr lang="en-US" altLang="zh-CN" sz="2200" dirty="0">
              <a:solidFill>
                <a:srgbClr val="FF0000"/>
              </a:solidFill>
              <a:latin typeface="Tahoma" panose="020B0604030504040204" pitchFamily="34" charset="0"/>
              <a:cs typeface="Tahoma" panose="020B0604030504040204" pitchFamily="34" charset="0"/>
            </a:endParaRPr>
          </a:p>
          <a:p>
            <a:pPr marL="727075" lvl="1" indent="-457200">
              <a:buFont typeface="隶书" panose="02010509060101010101" pitchFamily="49" charset="-122"/>
              <a:buAutoNum type="circleNumDbPlain"/>
            </a:pPr>
            <a:r>
              <a:rPr lang="en-US" altLang="zh-CN" sz="2000" dirty="0">
                <a:latin typeface="Times New Roman" panose="02020603050405020304" pitchFamily="18" charset="0"/>
              </a:rPr>
              <a:t>I1</a:t>
            </a:r>
            <a:r>
              <a:rPr lang="zh-CN" altLang="en-US" sz="2000" dirty="0">
                <a:latin typeface="Times New Roman" panose="02020603050405020304" pitchFamily="18" charset="0"/>
              </a:rPr>
              <a:t>和</a:t>
            </a:r>
            <a:r>
              <a:rPr lang="en-US" altLang="zh-CN" sz="2000" dirty="0">
                <a:latin typeface="Times New Roman" panose="02020603050405020304" pitchFamily="18" charset="0"/>
              </a:rPr>
              <a:t>C1</a:t>
            </a:r>
            <a:r>
              <a:rPr lang="zh-CN" altLang="en-US" sz="2000" dirty="0">
                <a:latin typeface="Times New Roman" panose="02020603050405020304" pitchFamily="18" charset="0"/>
              </a:rPr>
              <a:t>：</a:t>
            </a:r>
            <a:r>
              <a:rPr lang="pt-BR" altLang="zh-CN" sz="2000" dirty="0">
                <a:latin typeface="Times New Roman" panose="02020603050405020304" pitchFamily="18" charset="0"/>
              </a:rPr>
              <a:t>CPI</a:t>
            </a:r>
            <a:r>
              <a:rPr lang="pt-BR" altLang="zh-CN" sz="2000" baseline="-25000" dirty="0">
                <a:latin typeface="Times New Roman" panose="02020603050405020304" pitchFamily="18" charset="0"/>
              </a:rPr>
              <a:t>11</a:t>
            </a:r>
            <a:r>
              <a:rPr lang="pt-BR" altLang="zh-CN" sz="2000" dirty="0">
                <a:latin typeface="Times New Roman" panose="02020603050405020304" pitchFamily="18" charset="0"/>
              </a:rPr>
              <a:t> = 2×40% + 3×40% + 5×20%  = 3</a:t>
            </a:r>
            <a:endParaRPr lang="pt-BR" altLang="zh-CN" sz="2000" dirty="0">
              <a:latin typeface="Times New Roman" panose="02020603050405020304" pitchFamily="18" charset="0"/>
            </a:endParaRPr>
          </a:p>
          <a:p>
            <a:pPr marL="727075" lvl="1" indent="-457200">
              <a:buFont typeface="隶书" panose="02010509060101010101" pitchFamily="49" charset="-122"/>
              <a:buAutoNum type="circleNumDbPlain"/>
            </a:pPr>
            <a:r>
              <a:rPr lang="en-US" altLang="zh-CN" sz="2000" dirty="0">
                <a:latin typeface="Times New Roman" panose="02020603050405020304" pitchFamily="18" charset="0"/>
              </a:rPr>
              <a:t>I1</a:t>
            </a:r>
            <a:r>
              <a:rPr lang="zh-CN" altLang="en-US" sz="2000" dirty="0">
                <a:latin typeface="Times New Roman" panose="02020603050405020304" pitchFamily="18" charset="0"/>
              </a:rPr>
              <a:t>和</a:t>
            </a:r>
            <a:r>
              <a:rPr lang="en-US" altLang="zh-CN" sz="2000" dirty="0">
                <a:latin typeface="Times New Roman" panose="02020603050405020304" pitchFamily="18" charset="0"/>
              </a:rPr>
              <a:t>C2</a:t>
            </a:r>
            <a:r>
              <a:rPr lang="zh-CN" altLang="en-US" sz="2000" dirty="0">
                <a:latin typeface="Times New Roman" panose="02020603050405020304" pitchFamily="18" charset="0"/>
              </a:rPr>
              <a:t>：</a:t>
            </a:r>
            <a:r>
              <a:rPr lang="pt-BR" altLang="zh-CN" sz="2000" dirty="0">
                <a:latin typeface="Times New Roman" panose="02020603050405020304" pitchFamily="18" charset="0"/>
              </a:rPr>
              <a:t>CPI</a:t>
            </a:r>
            <a:r>
              <a:rPr lang="pt-BR" altLang="zh-CN" sz="2000" baseline="-25000" dirty="0">
                <a:latin typeface="Times New Roman" panose="02020603050405020304" pitchFamily="18" charset="0"/>
              </a:rPr>
              <a:t>12</a:t>
            </a:r>
            <a:r>
              <a:rPr lang="pt-BR" altLang="zh-CN" sz="2000" dirty="0">
                <a:latin typeface="Times New Roman" panose="02020603050405020304" pitchFamily="18" charset="0"/>
              </a:rPr>
              <a:t> = 2×40% + 3×20% + 5×40%  = 3.4</a:t>
            </a:r>
            <a:endParaRPr lang="zh-CN" altLang="en-US" sz="2000" dirty="0">
              <a:latin typeface="Times New Roman" panose="02020603050405020304" pitchFamily="18" charset="0"/>
            </a:endParaRPr>
          </a:p>
          <a:p>
            <a:pPr marL="727075" lvl="1" indent="-457200">
              <a:buFont typeface="隶书" panose="02010509060101010101" pitchFamily="49" charset="-122"/>
              <a:buAutoNum type="circleNumDbPlain"/>
            </a:pPr>
            <a:r>
              <a:rPr lang="en-US" altLang="zh-CN" sz="2000" dirty="0">
                <a:latin typeface="Times New Roman" panose="02020603050405020304" pitchFamily="18" charset="0"/>
              </a:rPr>
              <a:t>I1</a:t>
            </a:r>
            <a:r>
              <a:rPr lang="zh-CN" altLang="en-US" sz="2000" dirty="0">
                <a:latin typeface="Times New Roman" panose="02020603050405020304" pitchFamily="18" charset="0"/>
              </a:rPr>
              <a:t>和</a:t>
            </a:r>
            <a:r>
              <a:rPr lang="en-US" altLang="zh-CN" sz="2000" dirty="0">
                <a:latin typeface="Times New Roman" panose="02020603050405020304" pitchFamily="18" charset="0"/>
              </a:rPr>
              <a:t>C3</a:t>
            </a:r>
            <a:r>
              <a:rPr lang="zh-CN" altLang="en-US" sz="1800" dirty="0">
                <a:latin typeface="Times New Roman" panose="02020603050405020304" pitchFamily="18" charset="0"/>
              </a:rPr>
              <a:t>：</a:t>
            </a:r>
            <a:r>
              <a:rPr lang="pt-BR" altLang="zh-CN" sz="1800" dirty="0">
                <a:latin typeface="Times New Roman" panose="02020603050405020304" pitchFamily="18" charset="0"/>
              </a:rPr>
              <a:t>CPI</a:t>
            </a:r>
            <a:r>
              <a:rPr lang="pt-BR" altLang="zh-CN" sz="1800" baseline="-25000" dirty="0">
                <a:latin typeface="Times New Roman" panose="02020603050405020304" pitchFamily="18" charset="0"/>
              </a:rPr>
              <a:t>13</a:t>
            </a:r>
            <a:r>
              <a:rPr lang="pt-BR" altLang="zh-CN" sz="1800" dirty="0">
                <a:latin typeface="Times New Roman" panose="02020603050405020304" pitchFamily="18" charset="0"/>
              </a:rPr>
              <a:t> = 2×50% + 3×25% + 5×25%  = 3</a:t>
            </a:r>
            <a:endParaRPr lang="pt-BR" altLang="zh-CN" sz="1800" dirty="0">
              <a:latin typeface="Times New Roman" panose="02020603050405020304" pitchFamily="18" charset="0"/>
            </a:endParaRPr>
          </a:p>
          <a:p>
            <a:pPr marL="727075" lvl="1" indent="-457200">
              <a:buFont typeface="隶书" panose="02010509060101010101" pitchFamily="49" charset="-122"/>
              <a:buAutoNum type="circleNumDbPlain"/>
            </a:pPr>
            <a:r>
              <a:rPr lang="en-US" altLang="zh-CN" sz="2000" dirty="0">
                <a:latin typeface="Times New Roman" panose="02020603050405020304" pitchFamily="18" charset="0"/>
              </a:rPr>
              <a:t>I2</a:t>
            </a:r>
            <a:r>
              <a:rPr lang="zh-CN" altLang="en-US" sz="2000" dirty="0">
                <a:latin typeface="Times New Roman" panose="02020603050405020304" pitchFamily="18" charset="0"/>
              </a:rPr>
              <a:t>和</a:t>
            </a:r>
            <a:r>
              <a:rPr lang="en-US" altLang="zh-CN" sz="2000" dirty="0">
                <a:latin typeface="Times New Roman" panose="02020603050405020304" pitchFamily="18" charset="0"/>
              </a:rPr>
              <a:t>C1</a:t>
            </a:r>
            <a:r>
              <a:rPr lang="zh-CN" altLang="en-US" sz="2000" dirty="0">
                <a:latin typeface="Times New Roman" panose="02020603050405020304" pitchFamily="18" charset="0"/>
              </a:rPr>
              <a:t>：</a:t>
            </a:r>
            <a:r>
              <a:rPr lang="pt-BR" altLang="zh-CN" sz="2000" dirty="0">
                <a:latin typeface="Times New Roman" panose="02020603050405020304" pitchFamily="18" charset="0"/>
              </a:rPr>
              <a:t>CPI</a:t>
            </a:r>
            <a:r>
              <a:rPr lang="pt-BR" altLang="zh-CN" sz="2000" baseline="-25000" dirty="0">
                <a:latin typeface="Times New Roman" panose="02020603050405020304" pitchFamily="18" charset="0"/>
              </a:rPr>
              <a:t>21</a:t>
            </a:r>
            <a:r>
              <a:rPr lang="pt-BR" altLang="zh-CN" sz="2000" dirty="0">
                <a:latin typeface="Times New Roman" panose="02020603050405020304" pitchFamily="18" charset="0"/>
              </a:rPr>
              <a:t> = 1×40% + 2×40% + 2×20%  = 1.6</a:t>
            </a:r>
            <a:endParaRPr lang="pt-BR" altLang="zh-CN" sz="2000" dirty="0">
              <a:latin typeface="Times New Roman" panose="02020603050405020304" pitchFamily="18" charset="0"/>
            </a:endParaRPr>
          </a:p>
          <a:p>
            <a:pPr marL="727075" lvl="1" indent="-457200">
              <a:buFont typeface="隶书" panose="02010509060101010101" pitchFamily="49" charset="-122"/>
              <a:buAutoNum type="circleNumDbPlain"/>
            </a:pPr>
            <a:r>
              <a:rPr lang="en-US" altLang="zh-CN" sz="2000" dirty="0">
                <a:latin typeface="Times New Roman" panose="02020603050405020304" pitchFamily="18" charset="0"/>
              </a:rPr>
              <a:t>I2</a:t>
            </a:r>
            <a:r>
              <a:rPr lang="zh-CN" altLang="en-US" sz="2000" dirty="0">
                <a:latin typeface="Times New Roman" panose="02020603050405020304" pitchFamily="18" charset="0"/>
              </a:rPr>
              <a:t>和</a:t>
            </a:r>
            <a:r>
              <a:rPr lang="en-US" altLang="zh-CN" sz="2000" dirty="0">
                <a:latin typeface="Times New Roman" panose="02020603050405020304" pitchFamily="18" charset="0"/>
              </a:rPr>
              <a:t>C2</a:t>
            </a:r>
            <a:r>
              <a:rPr lang="zh-CN" altLang="en-US" sz="2000" dirty="0">
                <a:latin typeface="Times New Roman" panose="02020603050405020304" pitchFamily="18" charset="0"/>
              </a:rPr>
              <a:t>：</a:t>
            </a:r>
            <a:r>
              <a:rPr lang="pt-BR" altLang="zh-CN" sz="2000" dirty="0">
                <a:latin typeface="Times New Roman" panose="02020603050405020304" pitchFamily="18" charset="0"/>
              </a:rPr>
              <a:t>CPI</a:t>
            </a:r>
            <a:r>
              <a:rPr lang="pt-BR" altLang="zh-CN" sz="2000" baseline="-25000" dirty="0">
                <a:latin typeface="Times New Roman" panose="02020603050405020304" pitchFamily="18" charset="0"/>
              </a:rPr>
              <a:t>22</a:t>
            </a:r>
            <a:r>
              <a:rPr lang="pt-BR" altLang="zh-CN" sz="2000" dirty="0">
                <a:latin typeface="Times New Roman" panose="02020603050405020304" pitchFamily="18" charset="0"/>
              </a:rPr>
              <a:t> = 1×40% + 2×20% + 2×40%  = 1.6</a:t>
            </a:r>
            <a:endParaRPr lang="zh-CN" altLang="en-US" sz="2000" dirty="0">
              <a:latin typeface="Times New Roman" panose="02020603050405020304" pitchFamily="18" charset="0"/>
            </a:endParaRPr>
          </a:p>
          <a:p>
            <a:pPr marL="727075" lvl="1" indent="-457200">
              <a:buFont typeface="隶书" panose="02010509060101010101" pitchFamily="49" charset="-122"/>
              <a:buAutoNum type="circleNumDbPlain"/>
            </a:pPr>
            <a:r>
              <a:rPr lang="en-US" altLang="zh-CN" sz="2000" dirty="0">
                <a:latin typeface="Times New Roman" panose="02020603050405020304" pitchFamily="18" charset="0"/>
              </a:rPr>
              <a:t>I2</a:t>
            </a:r>
            <a:r>
              <a:rPr lang="zh-CN" altLang="en-US" sz="2000" dirty="0">
                <a:latin typeface="Times New Roman" panose="02020603050405020304" pitchFamily="18" charset="0"/>
              </a:rPr>
              <a:t>和</a:t>
            </a:r>
            <a:r>
              <a:rPr lang="en-US" altLang="zh-CN" sz="2000" dirty="0">
                <a:latin typeface="Times New Roman" panose="02020603050405020304" pitchFamily="18" charset="0"/>
              </a:rPr>
              <a:t>C3</a:t>
            </a:r>
            <a:r>
              <a:rPr lang="zh-CN" altLang="en-US" sz="2000" dirty="0">
                <a:latin typeface="Times New Roman" panose="02020603050405020304" pitchFamily="18" charset="0"/>
              </a:rPr>
              <a:t>：</a:t>
            </a:r>
            <a:r>
              <a:rPr lang="pt-BR" altLang="zh-CN" sz="2000" dirty="0">
                <a:latin typeface="Times New Roman" panose="02020603050405020304" pitchFamily="18" charset="0"/>
              </a:rPr>
              <a:t>CPI</a:t>
            </a:r>
            <a:r>
              <a:rPr lang="pt-BR" altLang="zh-CN" sz="2000" baseline="-25000" dirty="0">
                <a:latin typeface="Times New Roman" panose="02020603050405020304" pitchFamily="18" charset="0"/>
              </a:rPr>
              <a:t>23</a:t>
            </a:r>
            <a:r>
              <a:rPr lang="pt-BR" altLang="zh-CN" sz="2000" dirty="0">
                <a:latin typeface="Times New Roman" panose="02020603050405020304" pitchFamily="18" charset="0"/>
              </a:rPr>
              <a:t> = 1×50% + 2×25% + 2×25%  = 1.5</a:t>
            </a:r>
            <a:endParaRPr lang="pt-BR" altLang="zh-CN" sz="1800" dirty="0">
              <a:latin typeface="Times New Roman" panose="02020603050405020304" pitchFamily="18" charset="0"/>
            </a:endParaRPr>
          </a:p>
          <a:p>
            <a:pPr marL="727075" lvl="1" indent="-457200"/>
            <a:r>
              <a:rPr lang="zh-CN" altLang="pt-BR" sz="2000" dirty="0">
                <a:latin typeface="Times New Roman" panose="02020603050405020304" pitchFamily="18" charset="0"/>
              </a:rPr>
              <a:t>若</a:t>
            </a:r>
            <a:r>
              <a:rPr lang="pt-BR" altLang="zh-CN" sz="2000" dirty="0">
                <a:latin typeface="Times New Roman" panose="02020603050405020304" pitchFamily="18" charset="0"/>
              </a:rPr>
              <a:t>I1</a:t>
            </a:r>
            <a:r>
              <a:rPr lang="zh-CN" altLang="pt-BR" sz="2000" dirty="0">
                <a:latin typeface="Times New Roman" panose="02020603050405020304" pitchFamily="18" charset="0"/>
              </a:rPr>
              <a:t>和</a:t>
            </a:r>
            <a:r>
              <a:rPr lang="pt-BR" altLang="zh-CN" sz="2000" dirty="0">
                <a:latin typeface="Times New Roman" panose="02020603050405020304" pitchFamily="18" charset="0"/>
              </a:rPr>
              <a:t>I2</a:t>
            </a:r>
            <a:r>
              <a:rPr lang="zh-CN" altLang="pt-BR" sz="2000" dirty="0">
                <a:latin typeface="Times New Roman" panose="02020603050405020304" pitchFamily="18" charset="0"/>
              </a:rPr>
              <a:t>都使用</a:t>
            </a:r>
            <a:r>
              <a:rPr lang="pt-BR" altLang="zh-CN" sz="2000" dirty="0">
                <a:latin typeface="Times New Roman" panose="02020603050405020304" pitchFamily="18" charset="0"/>
              </a:rPr>
              <a:t>C1</a:t>
            </a:r>
            <a:r>
              <a:rPr lang="zh-CN" altLang="pt-BR" sz="2000" dirty="0">
                <a:latin typeface="Times New Roman" panose="02020603050405020304" pitchFamily="18" charset="0"/>
              </a:rPr>
              <a:t>，</a:t>
            </a:r>
            <a:r>
              <a:rPr lang="pt-BR" altLang="zh-CN" sz="2000" dirty="0">
                <a:latin typeface="Times New Roman" panose="02020603050405020304" pitchFamily="18" charset="0"/>
              </a:rPr>
              <a:t>I1</a:t>
            </a:r>
            <a:r>
              <a:rPr lang="zh-CN" altLang="pt-BR" sz="2000" dirty="0">
                <a:latin typeface="Times New Roman" panose="02020603050405020304" pitchFamily="18" charset="0"/>
              </a:rPr>
              <a:t>性能</a:t>
            </a:r>
            <a:r>
              <a:rPr lang="pt-BR" altLang="zh-CN" sz="2000" dirty="0">
                <a:latin typeface="Times New Roman" panose="02020603050405020304" pitchFamily="18" charset="0"/>
              </a:rPr>
              <a:t>/I2</a:t>
            </a:r>
            <a:r>
              <a:rPr lang="zh-CN" altLang="pt-BR" sz="2000" dirty="0">
                <a:latin typeface="Times New Roman" panose="02020603050405020304" pitchFamily="18" charset="0"/>
              </a:rPr>
              <a:t>性能</a:t>
            </a:r>
            <a:r>
              <a:rPr lang="pt-BR" altLang="zh-CN" sz="2000" dirty="0">
                <a:latin typeface="Times New Roman" panose="02020603050405020304" pitchFamily="18" charset="0"/>
              </a:rPr>
              <a:t>= (1/3</a:t>
            </a:r>
            <a:r>
              <a:rPr lang="en-US" altLang="zh-CN" sz="2000" dirty="0">
                <a:latin typeface="Times New Roman" panose="02020603050405020304" pitchFamily="18" charset="0"/>
              </a:rPr>
              <a:t>×1.6×I) ÷ </a:t>
            </a:r>
            <a:r>
              <a:rPr lang="pt-BR" altLang="zh-CN" sz="2000" dirty="0">
                <a:latin typeface="Times New Roman" panose="02020603050405020304" pitchFamily="18" charset="0"/>
              </a:rPr>
              <a:t>(1/6</a:t>
            </a:r>
            <a:r>
              <a:rPr lang="en-US" altLang="zh-CN" sz="2000" dirty="0">
                <a:latin typeface="Times New Roman" panose="02020603050405020304" pitchFamily="18" charset="0"/>
              </a:rPr>
              <a:t>×3×I) </a:t>
            </a:r>
            <a:r>
              <a:rPr lang="en-US" altLang="zh-CN" sz="2000" dirty="0"/>
              <a:t>≈</a:t>
            </a:r>
            <a:r>
              <a:rPr lang="en-US" altLang="zh-CN" sz="2000" dirty="0">
                <a:latin typeface="Times New Roman" panose="02020603050405020304" pitchFamily="18" charset="0"/>
              </a:rPr>
              <a:t>1.067</a:t>
            </a:r>
            <a:r>
              <a:rPr lang="zh-CN" altLang="en-US" sz="2000" dirty="0">
                <a:latin typeface="Times New Roman" panose="02020603050405020304" pitchFamily="18" charset="0"/>
              </a:rPr>
              <a:t>，</a:t>
            </a:r>
            <a:r>
              <a:rPr lang="en-US" altLang="zh-CN" sz="2000" dirty="0">
                <a:latin typeface="Times New Roman" panose="02020603050405020304" pitchFamily="18" charset="0"/>
              </a:rPr>
              <a:t>I1</a:t>
            </a:r>
            <a:r>
              <a:rPr lang="zh-CN" altLang="en-US" sz="2000" dirty="0">
                <a:latin typeface="Times New Roman" panose="02020603050405020304" pitchFamily="18" charset="0"/>
              </a:rPr>
              <a:t>可以声称其性能是</a:t>
            </a:r>
            <a:r>
              <a:rPr lang="en-US" altLang="zh-CN" sz="2000" dirty="0">
                <a:latin typeface="Times New Roman" panose="02020603050405020304" pitchFamily="18" charset="0"/>
              </a:rPr>
              <a:t>I2</a:t>
            </a:r>
            <a:r>
              <a:rPr lang="zh-CN" altLang="en-US" sz="2000" dirty="0">
                <a:latin typeface="Times New Roman" panose="02020603050405020304" pitchFamily="18" charset="0"/>
              </a:rPr>
              <a:t>的</a:t>
            </a:r>
            <a:r>
              <a:rPr lang="en-US" altLang="zh-CN" sz="2000" dirty="0">
                <a:latin typeface="Times New Roman" panose="02020603050405020304" pitchFamily="18" charset="0"/>
              </a:rPr>
              <a:t>1.067</a:t>
            </a:r>
            <a:r>
              <a:rPr lang="zh-CN" altLang="en-US" sz="2000" dirty="0">
                <a:latin typeface="Times New Roman" panose="02020603050405020304" pitchFamily="18" charset="0"/>
              </a:rPr>
              <a:t>倍</a:t>
            </a:r>
            <a:endParaRPr lang="zh-CN" altLang="en-US" sz="2000" dirty="0">
              <a:latin typeface="Times New Roman" panose="02020603050405020304" pitchFamily="18" charset="0"/>
            </a:endParaRPr>
          </a:p>
          <a:p>
            <a:pPr marL="727075" lvl="1" indent="-457200"/>
            <a:r>
              <a:rPr lang="zh-CN" altLang="pt-BR" sz="2000" dirty="0">
                <a:latin typeface="Times New Roman" panose="02020603050405020304" pitchFamily="18" charset="0"/>
              </a:rPr>
              <a:t>若</a:t>
            </a:r>
            <a:r>
              <a:rPr lang="pt-BR" altLang="zh-CN" sz="2000" dirty="0">
                <a:latin typeface="Times New Roman" panose="02020603050405020304" pitchFamily="18" charset="0"/>
              </a:rPr>
              <a:t>I1</a:t>
            </a:r>
            <a:r>
              <a:rPr lang="zh-CN" altLang="pt-BR" sz="2000" dirty="0">
                <a:latin typeface="Times New Roman" panose="02020603050405020304" pitchFamily="18" charset="0"/>
              </a:rPr>
              <a:t>和</a:t>
            </a:r>
            <a:r>
              <a:rPr lang="pt-BR" altLang="zh-CN" sz="2000" dirty="0">
                <a:latin typeface="Times New Roman" panose="02020603050405020304" pitchFamily="18" charset="0"/>
              </a:rPr>
              <a:t>I2</a:t>
            </a:r>
            <a:r>
              <a:rPr lang="zh-CN" altLang="pt-BR" sz="2000" dirty="0">
                <a:latin typeface="Times New Roman" panose="02020603050405020304" pitchFamily="18" charset="0"/>
              </a:rPr>
              <a:t>都使用</a:t>
            </a:r>
            <a:r>
              <a:rPr lang="pt-BR" altLang="zh-CN" sz="2000" dirty="0">
                <a:latin typeface="Times New Roman" panose="02020603050405020304" pitchFamily="18" charset="0"/>
              </a:rPr>
              <a:t>C2</a:t>
            </a:r>
            <a:r>
              <a:rPr lang="zh-CN" altLang="pt-BR" sz="2000" dirty="0">
                <a:latin typeface="Times New Roman" panose="02020603050405020304" pitchFamily="18" charset="0"/>
              </a:rPr>
              <a:t>，</a:t>
            </a:r>
            <a:r>
              <a:rPr lang="pt-BR" altLang="zh-CN" sz="2000" dirty="0">
                <a:latin typeface="Times New Roman" panose="02020603050405020304" pitchFamily="18" charset="0"/>
              </a:rPr>
              <a:t>I2</a:t>
            </a:r>
            <a:r>
              <a:rPr lang="zh-CN" altLang="pt-BR" sz="2000" dirty="0">
                <a:latin typeface="Times New Roman" panose="02020603050405020304" pitchFamily="18" charset="0"/>
              </a:rPr>
              <a:t>性能</a:t>
            </a:r>
            <a:r>
              <a:rPr lang="pt-BR" altLang="zh-CN" sz="2000" dirty="0">
                <a:latin typeface="Times New Roman" panose="02020603050405020304" pitchFamily="18" charset="0"/>
              </a:rPr>
              <a:t>/I1</a:t>
            </a:r>
            <a:r>
              <a:rPr lang="zh-CN" altLang="pt-BR" sz="2000" dirty="0">
                <a:latin typeface="Times New Roman" panose="02020603050405020304" pitchFamily="18" charset="0"/>
              </a:rPr>
              <a:t>性能</a:t>
            </a:r>
            <a:r>
              <a:rPr lang="pt-BR" altLang="zh-CN" sz="2000" dirty="0">
                <a:latin typeface="Times New Roman" panose="02020603050405020304" pitchFamily="18" charset="0"/>
              </a:rPr>
              <a:t>= (1/6</a:t>
            </a:r>
            <a:r>
              <a:rPr lang="en-US" altLang="zh-CN" sz="2000" dirty="0">
                <a:latin typeface="Times New Roman" panose="02020603050405020304" pitchFamily="18" charset="0"/>
              </a:rPr>
              <a:t>×3.4×I) ÷ </a:t>
            </a:r>
            <a:r>
              <a:rPr lang="pt-BR" altLang="zh-CN" sz="2000" dirty="0">
                <a:latin typeface="Times New Roman" panose="02020603050405020304" pitchFamily="18" charset="0"/>
              </a:rPr>
              <a:t>(1/3</a:t>
            </a:r>
            <a:r>
              <a:rPr lang="en-US" altLang="zh-CN" sz="2000" dirty="0">
                <a:latin typeface="Times New Roman" panose="02020603050405020304" pitchFamily="18" charset="0"/>
              </a:rPr>
              <a:t>×1.6×I) =1.0625</a:t>
            </a:r>
            <a:r>
              <a:rPr lang="zh-CN" altLang="en-US" sz="2000" dirty="0">
                <a:latin typeface="Times New Roman" panose="02020603050405020304" pitchFamily="18" charset="0"/>
              </a:rPr>
              <a:t>，</a:t>
            </a:r>
            <a:r>
              <a:rPr lang="en-US" altLang="zh-CN" sz="2000" dirty="0">
                <a:latin typeface="Times New Roman" panose="02020603050405020304" pitchFamily="18" charset="0"/>
              </a:rPr>
              <a:t>I2</a:t>
            </a:r>
            <a:r>
              <a:rPr lang="zh-CN" altLang="en-US" sz="2000" dirty="0">
                <a:latin typeface="Times New Roman" panose="02020603050405020304" pitchFamily="18" charset="0"/>
              </a:rPr>
              <a:t>可以声称其性能是</a:t>
            </a:r>
            <a:r>
              <a:rPr lang="en-US" altLang="zh-CN" sz="2000" dirty="0">
                <a:latin typeface="Times New Roman" panose="02020603050405020304" pitchFamily="18" charset="0"/>
              </a:rPr>
              <a:t>I1</a:t>
            </a:r>
            <a:r>
              <a:rPr lang="zh-CN" altLang="en-US" sz="2000" dirty="0">
                <a:latin typeface="Times New Roman" panose="02020603050405020304" pitchFamily="18" charset="0"/>
              </a:rPr>
              <a:t>的</a:t>
            </a:r>
            <a:r>
              <a:rPr lang="en-US" altLang="zh-CN" sz="2000" dirty="0">
                <a:latin typeface="Times New Roman" panose="02020603050405020304" pitchFamily="18" charset="0"/>
              </a:rPr>
              <a:t>1.0625</a:t>
            </a:r>
            <a:r>
              <a:rPr lang="zh-CN" altLang="en-US" sz="2000" dirty="0">
                <a:latin typeface="Times New Roman" panose="02020603050405020304" pitchFamily="18" charset="0"/>
              </a:rPr>
              <a:t>倍</a:t>
            </a:r>
            <a:endParaRPr lang="zh-CN" altLang="en-US" sz="2000" dirty="0">
              <a:latin typeface="Times New Roman" panose="02020603050405020304" pitchFamily="18" charset="0"/>
            </a:endParaRPr>
          </a:p>
          <a:p>
            <a:pPr marL="727075" lvl="1" indent="-457200"/>
            <a:r>
              <a:rPr lang="zh-CN" altLang="en-US" sz="2000" dirty="0">
                <a:latin typeface="Times New Roman" panose="02020603050405020304" pitchFamily="18" charset="0"/>
              </a:rPr>
              <a:t>若购买</a:t>
            </a:r>
            <a:r>
              <a:rPr lang="en-US" altLang="zh-CN" sz="2000" dirty="0">
                <a:latin typeface="Times New Roman" panose="02020603050405020304" pitchFamily="18" charset="0"/>
              </a:rPr>
              <a:t>I1</a:t>
            </a:r>
            <a:r>
              <a:rPr lang="zh-CN" altLang="en-US" sz="2000" dirty="0">
                <a:latin typeface="Times New Roman" panose="02020603050405020304" pitchFamily="18" charset="0"/>
              </a:rPr>
              <a:t>，可选择编译器</a:t>
            </a:r>
            <a:r>
              <a:rPr lang="en-US" altLang="zh-CN" sz="2000" dirty="0">
                <a:latin typeface="Times New Roman" panose="02020603050405020304" pitchFamily="18" charset="0"/>
              </a:rPr>
              <a:t>C1</a:t>
            </a:r>
            <a:r>
              <a:rPr lang="zh-CN" altLang="en-US" sz="2000" dirty="0">
                <a:latin typeface="Times New Roman" panose="02020603050405020304" pitchFamily="18" charset="0"/>
              </a:rPr>
              <a:t>或</a:t>
            </a:r>
            <a:r>
              <a:rPr lang="en-US" altLang="zh-CN" sz="2000" dirty="0">
                <a:latin typeface="Times New Roman" panose="02020603050405020304" pitchFamily="18" charset="0"/>
              </a:rPr>
              <a:t>C3</a:t>
            </a:r>
            <a:r>
              <a:rPr lang="zh-CN" altLang="en-US" sz="2000" dirty="0">
                <a:latin typeface="Times New Roman" panose="02020603050405020304" pitchFamily="18" charset="0"/>
              </a:rPr>
              <a:t>；如果购买</a:t>
            </a:r>
            <a:r>
              <a:rPr lang="en-US" altLang="zh-CN" sz="2000" dirty="0">
                <a:latin typeface="Times New Roman" panose="02020603050405020304" pitchFamily="18" charset="0"/>
              </a:rPr>
              <a:t>I2</a:t>
            </a:r>
            <a:r>
              <a:rPr lang="zh-CN" altLang="en-US" sz="2000" dirty="0">
                <a:latin typeface="Times New Roman" panose="02020603050405020304" pitchFamily="18" charset="0"/>
              </a:rPr>
              <a:t>，可选择编译器</a:t>
            </a:r>
            <a:r>
              <a:rPr lang="en-US" altLang="zh-CN" sz="2000" dirty="0">
                <a:latin typeface="Times New Roman" panose="02020603050405020304" pitchFamily="18" charset="0"/>
              </a:rPr>
              <a:t>C3</a:t>
            </a:r>
            <a:endParaRPr lang="zh-CN" altLang="en-US" sz="2000" dirty="0">
              <a:latin typeface="Times New Roman" panose="02020603050405020304" pitchFamily="18" charset="0"/>
            </a:endParaRPr>
          </a:p>
          <a:p>
            <a:pPr marL="727075" lvl="1" indent="-457200"/>
            <a:r>
              <a:rPr lang="zh-CN" altLang="en-US" sz="2000" dirty="0">
                <a:latin typeface="Times New Roman" panose="02020603050405020304" pitchFamily="18" charset="0"/>
              </a:rPr>
              <a:t>若所有其他指标相同，就选择</a:t>
            </a:r>
            <a:r>
              <a:rPr lang="en-US" altLang="zh-CN" sz="2000" dirty="0">
                <a:latin typeface="Times New Roman" panose="02020603050405020304" pitchFamily="18" charset="0"/>
              </a:rPr>
              <a:t>I2</a:t>
            </a:r>
            <a:r>
              <a:rPr lang="zh-CN" altLang="en-US" sz="2000" dirty="0">
                <a:latin typeface="Times New Roman" panose="02020603050405020304" pitchFamily="18" charset="0"/>
              </a:rPr>
              <a:t>和</a:t>
            </a:r>
            <a:r>
              <a:rPr lang="en-US" altLang="zh-CN" sz="2000" dirty="0">
                <a:latin typeface="Times New Roman" panose="02020603050405020304" pitchFamily="18" charset="0"/>
              </a:rPr>
              <a:t>C3</a:t>
            </a:r>
            <a:r>
              <a:rPr lang="zh-CN" altLang="en-US" sz="2000" dirty="0">
                <a:latin typeface="Times New Roman" panose="02020603050405020304" pitchFamily="18" charset="0"/>
              </a:rPr>
              <a:t>。因为</a:t>
            </a:r>
            <a:r>
              <a:rPr lang="en-US" altLang="zh-CN" sz="2000" dirty="0">
                <a:latin typeface="Times New Roman" panose="02020603050405020304" pitchFamily="18" charset="0"/>
              </a:rPr>
              <a:t>I2</a:t>
            </a:r>
            <a:r>
              <a:rPr lang="zh-CN" altLang="en-US" sz="2000" dirty="0">
                <a:latin typeface="Times New Roman" panose="02020603050405020304" pitchFamily="18" charset="0"/>
              </a:rPr>
              <a:t>的</a:t>
            </a:r>
            <a:r>
              <a:rPr lang="en-US" altLang="zh-CN" sz="2000" dirty="0">
                <a:latin typeface="Times New Roman" panose="02020603050405020304" pitchFamily="18" charset="0"/>
              </a:rPr>
              <a:t>CPI</a:t>
            </a:r>
            <a:r>
              <a:rPr lang="zh-CN" altLang="en-US" sz="2000" dirty="0">
                <a:latin typeface="Times New Roman" panose="02020603050405020304" pitchFamily="18" charset="0"/>
              </a:rPr>
              <a:t>小且主频低，因此功耗小</a:t>
            </a:r>
            <a:endParaRPr lang="zh-CN" altLang="en-US" sz="2000" dirty="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idx="1"/>
          </p:nvPr>
        </p:nvSpPr>
        <p:spPr>
          <a:xfrm>
            <a:off x="500380" y="1187450"/>
            <a:ext cx="8217535" cy="5170170"/>
          </a:xfrm>
        </p:spPr>
        <p:txBody>
          <a:bodyPr vert="horz" wrap="square" lIns="91440" tIns="133200" rIns="91440" bIns="45720" anchor="t" anchorCtr="0"/>
          <a:p>
            <a:pPr marL="354330" indent="-354330" eaLnBrk="1" hangingPunct="1">
              <a:lnSpc>
                <a:spcPct val="95000"/>
              </a:lnSpc>
              <a:spcBef>
                <a:spcPts val="0"/>
              </a:spcBef>
              <a:spcAft>
                <a:spcPts val="0"/>
              </a:spcAft>
            </a:pPr>
            <a:r>
              <a:rPr lang="zh-CN" altLang="en-US" sz="2800" dirty="0">
                <a:latin typeface="Times New Roman" panose="02020603050405020304" pitchFamily="18" charset="0"/>
              </a:rPr>
              <a:t>指令设计应该考虑的因素</a:t>
            </a:r>
            <a:endParaRPr lang="en-US" altLang="zh-CN" sz="2800" dirty="0">
              <a:latin typeface="Times New Roman" panose="02020603050405020304" pitchFamily="18" charset="0"/>
            </a:endParaRPr>
          </a:p>
          <a:p>
            <a:pPr marL="624205" lvl="1" indent="-265430" eaLnBrk="1" hangingPunct="1">
              <a:lnSpc>
                <a:spcPct val="95000"/>
              </a:lnSpc>
              <a:spcBef>
                <a:spcPts val="0"/>
              </a:spcBef>
              <a:spcAft>
                <a:spcPts val="0"/>
              </a:spcAft>
            </a:pPr>
            <a:r>
              <a:rPr lang="zh-CN" altLang="en-US" sz="2400" dirty="0">
                <a:latin typeface="Times New Roman" panose="02020603050405020304" pitchFamily="18" charset="0"/>
              </a:rPr>
              <a:t>操作：操作种类，决定操作码的位数</a:t>
            </a:r>
            <a:endParaRPr lang="zh-CN" altLang="en-US" sz="2400" dirty="0">
              <a:latin typeface="Times New Roman" panose="02020603050405020304" pitchFamily="18" charset="0"/>
            </a:endParaRPr>
          </a:p>
          <a:p>
            <a:pPr marL="624205" lvl="1" indent="-265430" eaLnBrk="1" hangingPunct="1">
              <a:lnSpc>
                <a:spcPct val="95000"/>
              </a:lnSpc>
              <a:spcBef>
                <a:spcPts val="0"/>
              </a:spcBef>
              <a:spcAft>
                <a:spcPts val="0"/>
              </a:spcAft>
            </a:pPr>
            <a:r>
              <a:rPr lang="zh-CN" altLang="en-US" sz="2400" dirty="0">
                <a:latin typeface="Times New Roman" panose="02020603050405020304" pitchFamily="18" charset="0"/>
              </a:rPr>
              <a:t>操作数：</a:t>
            </a:r>
            <a:endParaRPr lang="en-US" altLang="zh-CN" sz="2400" dirty="0">
              <a:latin typeface="Times New Roman" panose="02020603050405020304" pitchFamily="18" charset="0"/>
            </a:endParaRPr>
          </a:p>
          <a:p>
            <a:pPr marL="984250" lvl="2" indent="-264795" eaLnBrk="1" hangingPunct="1">
              <a:lnSpc>
                <a:spcPct val="95000"/>
              </a:lnSpc>
              <a:spcBef>
                <a:spcPts val="0"/>
              </a:spcBef>
              <a:spcAft>
                <a:spcPts val="0"/>
              </a:spcAft>
            </a:pPr>
            <a:r>
              <a:rPr lang="zh-CN" altLang="en-US" sz="2000" dirty="0">
                <a:latin typeface="Times New Roman" panose="02020603050405020304" pitchFamily="18" charset="0"/>
              </a:rPr>
              <a:t>堆栈型、累加器型、寄存器型</a:t>
            </a:r>
            <a:endParaRPr lang="en-US" altLang="zh-CN" sz="2000" dirty="0">
              <a:latin typeface="Times New Roman" panose="02020603050405020304" pitchFamily="18" charset="0"/>
            </a:endParaRPr>
          </a:p>
          <a:p>
            <a:pPr marL="984250" lvl="2" indent="-264795" eaLnBrk="1" hangingPunct="1">
              <a:lnSpc>
                <a:spcPct val="95000"/>
              </a:lnSpc>
              <a:spcBef>
                <a:spcPts val="0"/>
              </a:spcBef>
              <a:spcAft>
                <a:spcPts val="0"/>
              </a:spcAft>
            </a:pPr>
            <a:r>
              <a:rPr lang="zh-CN" altLang="en-US" sz="2000" dirty="0">
                <a:latin typeface="Times New Roman" panose="02020603050405020304" pitchFamily="18" charset="0"/>
              </a:rPr>
              <a:t>操作数个数和类型：采用几个操作数</a:t>
            </a:r>
            <a:r>
              <a:rPr lang="en-US" altLang="zh-CN" sz="2000" dirty="0">
                <a:latin typeface="Times New Roman" panose="02020603050405020304" pitchFamily="18" charset="0"/>
              </a:rPr>
              <a:t>(</a:t>
            </a:r>
            <a:r>
              <a:rPr lang="zh-CN" altLang="en-US" sz="2000" dirty="0">
                <a:latin typeface="Times New Roman" panose="02020603050405020304" pitchFamily="18" charset="0"/>
              </a:rPr>
              <a:t>一般为</a:t>
            </a:r>
            <a:r>
              <a:rPr lang="en-US" altLang="zh-CN" sz="2000" dirty="0">
                <a:latin typeface="Times New Roman" panose="02020603050405020304" pitchFamily="18" charset="0"/>
              </a:rPr>
              <a:t>2~3</a:t>
            </a:r>
            <a:r>
              <a:rPr lang="zh-CN" altLang="en-US" sz="2000" dirty="0">
                <a:latin typeface="Times New Roman" panose="02020603050405020304" pitchFamily="18" charset="0"/>
              </a:rPr>
              <a:t>个</a:t>
            </a:r>
            <a:r>
              <a:rPr lang="en-US" altLang="zh-CN" sz="2000" dirty="0">
                <a:latin typeface="Times New Roman" panose="02020603050405020304" pitchFamily="18" charset="0"/>
              </a:rPr>
              <a:t>)</a:t>
            </a:r>
            <a:r>
              <a:rPr lang="zh-CN" altLang="en-US" sz="2000" dirty="0">
                <a:latin typeface="Times New Roman" panose="02020603050405020304" pitchFamily="18" charset="0"/>
              </a:rPr>
              <a:t>，每个操作数均包括寻址模式编码。操作数可以是隐含的</a:t>
            </a:r>
            <a:endParaRPr lang="zh-CN" altLang="en-US" sz="2000" dirty="0">
              <a:latin typeface="Times New Roman" panose="02020603050405020304" pitchFamily="18" charset="0"/>
            </a:endParaRPr>
          </a:p>
          <a:p>
            <a:pPr marL="984250" lvl="2" indent="-264795" eaLnBrk="1" hangingPunct="1">
              <a:lnSpc>
                <a:spcPct val="95000"/>
              </a:lnSpc>
              <a:spcBef>
                <a:spcPts val="0"/>
              </a:spcBef>
              <a:spcAft>
                <a:spcPts val="0"/>
              </a:spcAft>
            </a:pPr>
            <a:r>
              <a:rPr lang="zh-CN" altLang="en-US" sz="2000" dirty="0">
                <a:latin typeface="Times New Roman" panose="02020603050405020304" pitchFamily="18" charset="0"/>
              </a:rPr>
              <a:t>寻址方式：寄存器、立即数、直接、间接。寻址方式可以是隐含的</a:t>
            </a:r>
            <a:r>
              <a:rPr lang="en-US" altLang="zh-CN" sz="2000" dirty="0">
                <a:latin typeface="Times New Roman" panose="02020603050405020304" pitchFamily="18" charset="0"/>
              </a:rPr>
              <a:t>(</a:t>
            </a:r>
            <a:r>
              <a:rPr lang="zh-CN" altLang="en-US" sz="2000" dirty="0">
                <a:latin typeface="Times New Roman" panose="02020603050405020304" pitchFamily="18" charset="0"/>
              </a:rPr>
              <a:t>由操作码决定</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624205" lvl="1" indent="-265430" eaLnBrk="1" hangingPunct="1">
              <a:lnSpc>
                <a:spcPct val="95000"/>
              </a:lnSpc>
              <a:spcBef>
                <a:spcPts val="0"/>
              </a:spcBef>
              <a:spcAft>
                <a:spcPts val="0"/>
              </a:spcAft>
            </a:pPr>
            <a:r>
              <a:rPr lang="zh-CN" altLang="en-US" sz="2400" dirty="0">
                <a:latin typeface="Times New Roman" panose="02020603050405020304" pitchFamily="18" charset="0"/>
              </a:rPr>
              <a:t>指令编码：定长、变长</a:t>
            </a:r>
            <a:endParaRPr lang="en-US" altLang="zh-CN" sz="2400" dirty="0">
              <a:latin typeface="Times New Roman" panose="02020603050405020304" pitchFamily="18" charset="0"/>
            </a:endParaRPr>
          </a:p>
          <a:p>
            <a:pPr marL="624205" lvl="1" indent="-265430" eaLnBrk="1" hangingPunct="1">
              <a:lnSpc>
                <a:spcPct val="95000"/>
              </a:lnSpc>
              <a:spcBef>
                <a:spcPts val="0"/>
              </a:spcBef>
              <a:spcAft>
                <a:spcPts val="0"/>
              </a:spcAft>
            </a:pPr>
            <a:r>
              <a:rPr lang="zh-CN" altLang="en-US" sz="2400" dirty="0">
                <a:latin typeface="Times New Roman" panose="02020603050405020304" pitchFamily="18" charset="0"/>
              </a:rPr>
              <a:t>寄存器数 ：确定寄存器编码的位数</a:t>
            </a:r>
            <a:endParaRPr lang="zh-CN" altLang="en-US" sz="2400" dirty="0">
              <a:latin typeface="Times New Roman" panose="02020603050405020304" pitchFamily="18" charset="0"/>
            </a:endParaRPr>
          </a:p>
          <a:p>
            <a:pPr marL="624205" lvl="1" indent="-265430" eaLnBrk="1" hangingPunct="1">
              <a:lnSpc>
                <a:spcPct val="95000"/>
              </a:lnSpc>
              <a:spcBef>
                <a:spcPts val="0"/>
              </a:spcBef>
              <a:spcAft>
                <a:spcPts val="0"/>
              </a:spcAft>
            </a:pPr>
            <a:r>
              <a:rPr lang="zh-CN" altLang="en-US" sz="2400" dirty="0">
                <a:latin typeface="Times New Roman" panose="02020603050405020304" pitchFamily="18" charset="0"/>
              </a:rPr>
              <a:t>地址范围：存储器直接寻址很少见，但变址</a:t>
            </a:r>
            <a:r>
              <a:rPr lang="en-US" altLang="zh-CN" sz="2400" dirty="0">
                <a:latin typeface="Times New Roman" panose="02020603050405020304" pitchFamily="18" charset="0"/>
              </a:rPr>
              <a:t>(</a:t>
            </a:r>
            <a:r>
              <a:rPr lang="zh-CN" altLang="en-US" sz="2400" dirty="0">
                <a:latin typeface="Times New Roman" panose="02020603050405020304" pitchFamily="18" charset="0"/>
              </a:rPr>
              <a:t>或基址</a:t>
            </a:r>
            <a:r>
              <a:rPr lang="en-US" altLang="zh-CN" sz="2400" dirty="0">
                <a:latin typeface="Times New Roman" panose="02020603050405020304" pitchFamily="18" charset="0"/>
              </a:rPr>
              <a:t>)</a:t>
            </a:r>
            <a:r>
              <a:rPr lang="zh-CN" altLang="en-US" sz="2400" dirty="0">
                <a:latin typeface="Times New Roman" panose="02020603050405020304" pitchFamily="18" charset="0"/>
              </a:rPr>
              <a:t>寻址时，较大的寻址范围必须以较多的偏移量</a:t>
            </a:r>
            <a:r>
              <a:rPr lang="en-US" altLang="zh-CN" sz="2400" dirty="0">
                <a:latin typeface="Times New Roman" panose="02020603050405020304" pitchFamily="18" charset="0"/>
              </a:rPr>
              <a:t>(displacement)</a:t>
            </a:r>
            <a:r>
              <a:rPr lang="zh-CN" altLang="en-US" sz="2400" dirty="0">
                <a:latin typeface="Times New Roman" panose="02020603050405020304" pitchFamily="18" charset="0"/>
              </a:rPr>
              <a:t>位数为前提</a:t>
            </a:r>
            <a:endParaRPr lang="zh-CN" altLang="en-US" sz="2400" dirty="0">
              <a:latin typeface="Times New Roman" panose="02020603050405020304" pitchFamily="18" charset="0"/>
            </a:endParaRPr>
          </a:p>
          <a:p>
            <a:pPr marL="624205" lvl="1" indent="-265430" eaLnBrk="1" hangingPunct="1">
              <a:lnSpc>
                <a:spcPct val="95000"/>
              </a:lnSpc>
              <a:spcBef>
                <a:spcPts val="0"/>
              </a:spcBef>
              <a:spcAft>
                <a:spcPts val="0"/>
              </a:spcAft>
            </a:pPr>
            <a:r>
              <a:rPr lang="zh-CN" altLang="en-US" sz="2400" dirty="0">
                <a:latin typeface="Times New Roman" panose="02020603050405020304" pitchFamily="18" charset="0"/>
              </a:rPr>
              <a:t>编址粒度(</a:t>
            </a:r>
            <a:r>
              <a:rPr lang="en-US" altLang="zh-CN" sz="2400" dirty="0">
                <a:latin typeface="Times New Roman" panose="02020603050405020304" pitchFamily="18" charset="0"/>
              </a:rPr>
              <a:t>Address Granularity)：</a:t>
            </a:r>
            <a:r>
              <a:rPr lang="zh-CN" altLang="en-US" sz="2400" dirty="0">
                <a:latin typeface="Times New Roman" panose="02020603050405020304" pitchFamily="18" charset="0"/>
              </a:rPr>
              <a:t>字节编址或字编址。字节编址方便，但要以更多的地址位数为代价</a:t>
            </a:r>
            <a:endParaRPr lang="zh-CN" altLang="en-US" sz="2400" dirty="0">
              <a:latin typeface="Times New Roman" panose="02020603050405020304" pitchFamily="18" charset="0"/>
            </a:endParaRPr>
          </a:p>
        </p:txBody>
      </p:sp>
      <p:sp>
        <p:nvSpPr>
          <p:cNvPr id="4" name="Rectangle 2"/>
          <p:cNvSpPr txBox="1">
            <a:spLocks noChangeArrowheads="1"/>
          </p:cNvSpPr>
          <p:nvPr/>
        </p:nvSpPr>
        <p:spPr bwMode="auto">
          <a:xfrm>
            <a:off x="574675" y="231775"/>
            <a:ext cx="7021513" cy="676275"/>
          </a:xfrm>
          <a:prstGeom prst="rect">
            <a:avLst/>
          </a:prstGeom>
          <a:noFill/>
          <a:ln w="9525">
            <a:noFill/>
            <a:miter lim="800000"/>
          </a:ln>
        </p:spPr>
        <p:txBody>
          <a:bodyPr anchor="b"/>
          <a:lstStyle/>
          <a:p>
            <a:pPr marR="0" defTabSz="914400" eaLnBrk="1" hangingPunct="1">
              <a:buClrTx/>
              <a:buSzTx/>
              <a:buFontTx/>
              <a:buNone/>
              <a:defRPr/>
            </a:pPr>
            <a:r>
              <a:rPr kumimoji="0" lang="zh-CN" altLang="en-US" sz="3600" b="1" kern="0" cap="none" spc="0" normalizeH="0" baseline="0" noProof="0" dirty="0">
                <a:solidFill>
                  <a:schemeClr val="tx2"/>
                </a:solidFill>
                <a:latin typeface="+mj-lt"/>
                <a:ea typeface="+mj-ea"/>
                <a:cs typeface="+mj-cs"/>
              </a:rPr>
              <a:t>二、关于指令系统设计问题</a:t>
            </a:r>
            <a:endParaRPr kumimoji="0" lang="zh-CN" altLang="en-US" sz="3600" b="1" kern="0" cap="none" spc="0" normalizeH="0" baseline="0" noProof="0" dirty="0">
              <a:solidFill>
                <a:schemeClr val="tx2"/>
              </a:solidFill>
              <a:latin typeface="+mj-lt"/>
              <a:ea typeface="+mj-ea"/>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idx="1"/>
          </p:nvPr>
        </p:nvSpPr>
        <p:spPr>
          <a:xfrm>
            <a:off x="565150" y="1196975"/>
            <a:ext cx="8228013" cy="4895850"/>
          </a:xfrm>
        </p:spPr>
        <p:txBody>
          <a:bodyPr vert="horz" wrap="square" lIns="91440" tIns="133200" rIns="91440" bIns="45720" anchor="t" anchorCtr="0"/>
          <a:p>
            <a:pPr marL="363855" indent="-363855" eaLnBrk="1" hangingPunct="1"/>
            <a:r>
              <a:rPr lang="zh-CN" altLang="en-US" dirty="0">
                <a:latin typeface="Times New Roman" panose="02020603050405020304" pitchFamily="18" charset="0"/>
              </a:rPr>
              <a:t>指令编码设计首先考虑指令编码中的固定不变的部分，然后考虑可变的部分  </a:t>
            </a:r>
            <a:endParaRPr lang="zh-CN" altLang="en-US" dirty="0">
              <a:latin typeface="Times New Roman" panose="02020603050405020304" pitchFamily="18" charset="0"/>
            </a:endParaRPr>
          </a:p>
          <a:p>
            <a:pPr marL="363855" indent="-363855" eaLnBrk="1" hangingPunct="1">
              <a:lnSpc>
                <a:spcPct val="105000"/>
              </a:lnSpc>
            </a:pPr>
            <a:r>
              <a:rPr lang="zh-CN" altLang="en-US" dirty="0">
                <a:latin typeface="Times New Roman" panose="02020603050405020304" pitchFamily="18" charset="0"/>
              </a:rPr>
              <a:t>指令编码中的固定部分：指令系统方案确定后不可能发生变化的部分</a:t>
            </a:r>
            <a:endParaRPr lang="zh-CN" altLang="en-US" dirty="0">
              <a:latin typeface="Times New Roman" panose="02020603050405020304" pitchFamily="18" charset="0"/>
            </a:endParaRPr>
          </a:p>
          <a:p>
            <a:pPr marL="624205" lvl="1" indent="-265430" eaLnBrk="1" hangingPunct="1">
              <a:lnSpc>
                <a:spcPct val="105000"/>
              </a:lnSpc>
            </a:pPr>
            <a:r>
              <a:rPr lang="zh-CN" altLang="en-US" dirty="0">
                <a:latin typeface="Times New Roman" panose="02020603050405020304" pitchFamily="18" charset="0"/>
              </a:rPr>
              <a:t>操作码（数量，位数，编码）</a:t>
            </a:r>
            <a:endParaRPr lang="zh-CN" altLang="en-US" dirty="0">
              <a:latin typeface="Times New Roman" panose="02020603050405020304" pitchFamily="18" charset="0"/>
            </a:endParaRPr>
          </a:p>
          <a:p>
            <a:pPr marL="624205" lvl="1" indent="-265430" eaLnBrk="1" hangingPunct="1">
              <a:lnSpc>
                <a:spcPct val="105000"/>
              </a:lnSpc>
            </a:pPr>
            <a:r>
              <a:rPr lang="zh-CN" altLang="en-US" dirty="0">
                <a:latin typeface="Times New Roman" panose="02020603050405020304" pitchFamily="18" charset="0"/>
              </a:rPr>
              <a:t>寻址方式（数量，位数，编码）</a:t>
            </a:r>
            <a:endParaRPr lang="zh-CN" altLang="en-US" dirty="0">
              <a:latin typeface="Times New Roman" panose="02020603050405020304" pitchFamily="18" charset="0"/>
            </a:endParaRPr>
          </a:p>
          <a:p>
            <a:pPr marL="624205" lvl="1" indent="-265430" eaLnBrk="1" hangingPunct="1">
              <a:lnSpc>
                <a:spcPct val="105000"/>
              </a:lnSpc>
            </a:pPr>
            <a:r>
              <a:rPr lang="zh-CN" altLang="en-US" dirty="0">
                <a:latin typeface="Times New Roman" panose="02020603050405020304" pitchFamily="18" charset="0"/>
              </a:rPr>
              <a:t>寄存器（数量，位数，编码）</a:t>
            </a:r>
            <a:endParaRPr lang="zh-CN" altLang="en-US" dirty="0">
              <a:latin typeface="Times New Roman" panose="02020603050405020304" pitchFamily="18" charset="0"/>
            </a:endParaRPr>
          </a:p>
          <a:p>
            <a:pPr marL="624205" lvl="1" indent="-265430" eaLnBrk="1" hangingPunct="1">
              <a:lnSpc>
                <a:spcPct val="105000"/>
              </a:lnSpc>
            </a:pPr>
            <a:r>
              <a:rPr lang="zh-CN" altLang="en-US" dirty="0">
                <a:latin typeface="Times New Roman" panose="02020603050405020304" pitchFamily="18" charset="0"/>
              </a:rPr>
              <a:t>不同指令所涉及的地址数量</a:t>
            </a:r>
            <a:endParaRPr lang="zh-CN" altLang="en-US" dirty="0">
              <a:latin typeface="Times New Roman" panose="02020603050405020304" pitchFamily="18" charset="0"/>
            </a:endParaRPr>
          </a:p>
        </p:txBody>
      </p:sp>
      <p:sp>
        <p:nvSpPr>
          <p:cNvPr id="5" name="Rectangle 2"/>
          <p:cNvSpPr txBox="1">
            <a:spLocks noChangeArrowheads="1"/>
          </p:cNvSpPr>
          <p:nvPr/>
        </p:nvSpPr>
        <p:spPr bwMode="auto">
          <a:xfrm>
            <a:off x="642938" y="214313"/>
            <a:ext cx="7021513" cy="676275"/>
          </a:xfrm>
          <a:prstGeom prst="rect">
            <a:avLst/>
          </a:prstGeom>
          <a:noFill/>
          <a:ln w="9525">
            <a:noFill/>
            <a:miter lim="800000"/>
          </a:ln>
        </p:spPr>
        <p:txBody>
          <a:bodyPr anchor="b"/>
          <a:lstStyle/>
          <a:p>
            <a:pPr marR="0" defTabSz="914400" eaLnBrk="1" hangingPunct="1">
              <a:buClrTx/>
              <a:buSzTx/>
              <a:buFontTx/>
              <a:buNone/>
              <a:defRPr/>
            </a:pPr>
            <a:r>
              <a:rPr kumimoji="0" lang="zh-CN" altLang="en-US" sz="3600" b="1" kern="0" cap="none" spc="0" normalizeH="0" baseline="0" noProof="0" dirty="0">
                <a:solidFill>
                  <a:schemeClr val="tx2"/>
                </a:solidFill>
                <a:latin typeface="+mj-lt"/>
                <a:ea typeface="+mj-ea"/>
                <a:cs typeface="+mj-cs"/>
              </a:rPr>
              <a:t>二、关于指令系统设计问题</a:t>
            </a:r>
            <a:endParaRPr kumimoji="0" lang="zh-CN" altLang="en-US" sz="3600" b="1" kern="0" cap="none" spc="0" normalizeH="0" baseline="0" noProof="0" dirty="0">
              <a:solidFill>
                <a:schemeClr val="tx2"/>
              </a:solidFill>
              <a:latin typeface="+mj-lt"/>
              <a:ea typeface="+mj-ea"/>
              <a:cs typeface="+mj-cs"/>
            </a:endParaRPr>
          </a:p>
        </p:txBody>
      </p:sp>
      <p:sp>
        <p:nvSpPr>
          <p:cNvPr id="4" name="圆角矩形标注 3"/>
          <p:cNvSpPr/>
          <p:nvPr/>
        </p:nvSpPr>
        <p:spPr>
          <a:xfrm>
            <a:off x="4286250" y="4572000"/>
            <a:ext cx="4357688" cy="1643063"/>
          </a:xfrm>
          <a:prstGeom prst="wedgeRoundRectCallout">
            <a:avLst>
              <a:gd name="adj1" fmla="val -16344"/>
              <a:gd name="adj2" fmla="val -50966"/>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mn-lt"/>
                <a:ea typeface="+mn-ea"/>
                <a:cs typeface="+mn-cs"/>
              </a:rPr>
              <a:t>如果代码大小至关重要：使用可变长度指令格式</a:t>
            </a:r>
            <a:endParaRPr kumimoji="0" lang="zh-CN" altLang="en-US" sz="2400" b="1" i="0" u="none" strike="noStrike" kern="1200" cap="none" spc="0" normalizeH="0" baseline="0" noProof="0" dirty="0">
              <a:ln>
                <a:noFill/>
              </a:ln>
              <a:solidFill>
                <a:srgbClr val="0000CC"/>
              </a:solidFill>
              <a:effectLst/>
              <a:uLnTx/>
              <a:uFillTx/>
              <a:latin typeface="+mn-lt"/>
              <a:ea typeface="+mn-ea"/>
              <a:cs typeface="+mn-cs"/>
            </a:endParaRPr>
          </a:p>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mn-lt"/>
                <a:ea typeface="+mn-ea"/>
                <a:cs typeface="+mn-cs"/>
              </a:rPr>
              <a:t>如果性能至关重要：使用固定长度指令格式</a:t>
            </a:r>
            <a:endParaRPr kumimoji="0" lang="zh-CN" altLang="en-US" sz="2400" b="1" i="0" u="none" strike="noStrike" kern="1200" cap="none" spc="0" normalizeH="0" baseline="0" noProof="0" dirty="0">
              <a:ln>
                <a:noFill/>
              </a:ln>
              <a:solidFill>
                <a:srgbClr val="0000CC"/>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idx="1"/>
          </p:nvPr>
        </p:nvSpPr>
        <p:spPr>
          <a:xfrm>
            <a:off x="406400" y="1127125"/>
            <a:ext cx="8545513" cy="4965700"/>
          </a:xfrm>
        </p:spPr>
        <p:txBody>
          <a:bodyPr vert="horz" wrap="square" lIns="91440" tIns="133200" rIns="91440" bIns="45720" anchor="t" anchorCtr="0"/>
          <a:p>
            <a:pPr marL="0" indent="0" eaLnBrk="1" hangingPunct="1">
              <a:buClr>
                <a:srgbClr val="FF9999"/>
              </a:buClr>
              <a:buNone/>
            </a:pPr>
            <a:r>
              <a:rPr lang="zh-CN" altLang="en-US" dirty="0">
                <a:latin typeface="Times New Roman" panose="02020603050405020304" pitchFamily="18" charset="0"/>
              </a:rPr>
              <a:t>例：某机器字长为16位，数据总线16位，内存容量64</a:t>
            </a:r>
            <a:r>
              <a:rPr lang="en-US" altLang="zh-CN" dirty="0">
                <a:latin typeface="Times New Roman" panose="02020603050405020304" pitchFamily="18" charset="0"/>
              </a:rPr>
              <a:t>KB，8</a:t>
            </a:r>
            <a:r>
              <a:rPr lang="zh-CN" altLang="en-US" dirty="0">
                <a:latin typeface="Times New Roman" panose="02020603050405020304" pitchFamily="18" charset="0"/>
              </a:rPr>
              <a:t>个16位通用寄存器</a:t>
            </a:r>
            <a:r>
              <a:rPr lang="en-US" altLang="zh-CN" dirty="0">
                <a:latin typeface="Times New Roman" panose="02020603050405020304" pitchFamily="18" charset="0"/>
              </a:rPr>
              <a:t>R0~R7。</a:t>
            </a:r>
            <a:r>
              <a:rPr lang="zh-CN" altLang="en-US" dirty="0">
                <a:latin typeface="Times New Roman" panose="02020603050405020304" pitchFamily="18" charset="0"/>
              </a:rPr>
              <a:t>该指令系统的基本要求：</a:t>
            </a:r>
            <a:endParaRPr lang="zh-CN" altLang="en-US" dirty="0">
              <a:latin typeface="Times New Roman" panose="02020603050405020304" pitchFamily="18" charset="0"/>
            </a:endParaRPr>
          </a:p>
          <a:p>
            <a:pPr marL="668655" lvl="1" indent="-304800" eaLnBrk="1" hangingPunct="1"/>
            <a:r>
              <a:rPr lang="zh-CN" altLang="en-US" sz="3200" dirty="0">
                <a:latin typeface="Times New Roman" panose="02020603050405020304" pitchFamily="18" charset="0"/>
              </a:rPr>
              <a:t> 四种寻址方式：立即寻址，寄存器直接寻址，寄存器间接寻址，变址寻址；立即数和变址寻址时位移量均可达16位</a:t>
            </a:r>
            <a:endParaRPr lang="zh-CN" altLang="en-US" sz="3200" dirty="0">
              <a:latin typeface="Times New Roman" panose="02020603050405020304" pitchFamily="18" charset="0"/>
            </a:endParaRPr>
          </a:p>
          <a:p>
            <a:pPr marL="668655" lvl="1" indent="-304800" eaLnBrk="1" hangingPunct="1"/>
            <a:r>
              <a:rPr lang="zh-CN" altLang="en-US" sz="3200" dirty="0">
                <a:latin typeface="Times New Roman" panose="02020603050405020304" pitchFamily="18" charset="0"/>
              </a:rPr>
              <a:t> 32条双操作数指令（其中必有一操作数是寄存器直接寻址）</a:t>
            </a:r>
            <a:endParaRPr lang="zh-CN" altLang="en-US" sz="3200" dirty="0">
              <a:latin typeface="Times New Roman" panose="02020603050405020304" pitchFamily="18" charset="0"/>
            </a:endParaRPr>
          </a:p>
          <a:p>
            <a:pPr marL="668655" lvl="1" indent="-304800" eaLnBrk="1" hangingPunct="1"/>
            <a:r>
              <a:rPr lang="zh-CN" altLang="en-US" sz="3200" dirty="0">
                <a:latin typeface="Times New Roman" panose="02020603050405020304" pitchFamily="18" charset="0"/>
              </a:rPr>
              <a:t> 128条单操作数指令</a:t>
            </a:r>
            <a:endParaRPr lang="zh-CN" altLang="en-US" sz="3200" dirty="0">
              <a:latin typeface="Times New Roman" panose="02020603050405020304" pitchFamily="18" charset="0"/>
            </a:endParaRPr>
          </a:p>
        </p:txBody>
      </p:sp>
      <p:sp>
        <p:nvSpPr>
          <p:cNvPr id="16387" name="Rectangle 3"/>
          <p:cNvSpPr>
            <a:spLocks noGrp="1"/>
          </p:cNvSpPr>
          <p:nvPr>
            <p:ph type="title"/>
          </p:nvPr>
        </p:nvSpPr>
        <p:spPr>
          <a:xfrm>
            <a:off x="611188" y="215900"/>
            <a:ext cx="8101012" cy="641350"/>
          </a:xfrm>
        </p:spPr>
        <p:txBody>
          <a:bodyPr vert="horz" wrap="square" lIns="91440" tIns="45720" rIns="91440" bIns="45720" anchor="b" anchorCtr="0">
            <a:spAutoFit/>
          </a:bodyPr>
          <a:p>
            <a:r>
              <a:rPr lang="zh-CN" altLang="en-US" sz="3600" dirty="0">
                <a:latin typeface="Times New Roman" panose="02020603050405020304" pitchFamily="18" charset="0"/>
              </a:rPr>
              <a:t>指令系统设计举例</a:t>
            </a:r>
            <a:endParaRPr lang="zh-CN" altLang="en-US" sz="3600" dirty="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idx="1"/>
          </p:nvPr>
        </p:nvSpPr>
        <p:spPr>
          <a:xfrm>
            <a:off x="539750" y="1263650"/>
            <a:ext cx="8064500" cy="869950"/>
          </a:xfrm>
        </p:spPr>
        <p:txBody>
          <a:bodyPr vert="horz" wrap="square" lIns="91440" tIns="133200" rIns="91440" bIns="45720" anchor="t" anchorCtr="0"/>
          <a:p>
            <a:pPr marL="0" indent="0" eaLnBrk="1" hangingPunct="1">
              <a:lnSpc>
                <a:spcPct val="95000"/>
              </a:lnSpc>
            </a:pPr>
            <a:r>
              <a:rPr lang="zh-CN" altLang="en-US" dirty="0">
                <a:latin typeface="Times New Roman" panose="02020603050405020304" pitchFamily="18" charset="0"/>
              </a:rPr>
              <a:t>双操作数指令格式</a:t>
            </a:r>
            <a:endParaRPr lang="zh-CN" altLang="en-US" dirty="0">
              <a:latin typeface="Times New Roman" panose="02020603050405020304" pitchFamily="18" charset="0"/>
            </a:endParaRPr>
          </a:p>
        </p:txBody>
      </p:sp>
      <p:grpSp>
        <p:nvGrpSpPr>
          <p:cNvPr id="17411" name="Group 3"/>
          <p:cNvGrpSpPr/>
          <p:nvPr/>
        </p:nvGrpSpPr>
        <p:grpSpPr>
          <a:xfrm>
            <a:off x="582613" y="3482975"/>
            <a:ext cx="6989762" cy="2803525"/>
            <a:chOff x="144" y="1248"/>
            <a:chExt cx="4279" cy="1766"/>
          </a:xfrm>
        </p:grpSpPr>
        <p:sp>
          <p:nvSpPr>
            <p:cNvPr id="17433" name="Rectangle 4"/>
            <p:cNvSpPr/>
            <p:nvPr/>
          </p:nvSpPr>
          <p:spPr>
            <a:xfrm>
              <a:off x="720" y="1248"/>
              <a:ext cx="768"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5</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34" name="Rectangle 5"/>
            <p:cNvSpPr/>
            <p:nvPr/>
          </p:nvSpPr>
          <p:spPr>
            <a:xfrm>
              <a:off x="1488" y="1248"/>
              <a:ext cx="38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2</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35" name="Rectangle 6"/>
            <p:cNvSpPr/>
            <p:nvPr/>
          </p:nvSpPr>
          <p:spPr>
            <a:xfrm>
              <a:off x="1872" y="1248"/>
              <a:ext cx="48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3</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36" name="Rectangle 7"/>
            <p:cNvSpPr/>
            <p:nvPr/>
          </p:nvSpPr>
          <p:spPr>
            <a:xfrm>
              <a:off x="2352" y="1248"/>
              <a:ext cx="38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2</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37" name="Rectangle 8"/>
            <p:cNvSpPr/>
            <p:nvPr/>
          </p:nvSpPr>
          <p:spPr>
            <a:xfrm>
              <a:off x="2736" y="1248"/>
              <a:ext cx="48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3</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38" name="Rectangle 9"/>
            <p:cNvSpPr/>
            <p:nvPr/>
          </p:nvSpPr>
          <p:spPr>
            <a:xfrm>
              <a:off x="3216" y="1248"/>
              <a:ext cx="120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16</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39" name="Rectangle 11"/>
            <p:cNvSpPr/>
            <p:nvPr/>
          </p:nvSpPr>
          <p:spPr>
            <a:xfrm>
              <a:off x="720" y="1488"/>
              <a:ext cx="768" cy="24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FFFF00"/>
                  </a:solidFill>
                  <a:latin typeface="Times New Roman" panose="02020603050405020304" pitchFamily="18" charset="0"/>
                  <a:ea typeface="宋体" panose="02010600030101010101" pitchFamily="2" charset="-122"/>
                </a:rPr>
                <a:t>Opcode</a:t>
              </a:r>
              <a:endParaRPr lang="en-US" altLang="zh-CN" sz="2000" dirty="0">
                <a:solidFill>
                  <a:srgbClr val="FFFF00"/>
                </a:solidFill>
                <a:latin typeface="Times New Roman" panose="02020603050405020304" pitchFamily="18" charset="0"/>
                <a:ea typeface="宋体" panose="02010600030101010101" pitchFamily="2" charset="-122"/>
              </a:endParaRPr>
            </a:p>
          </p:txBody>
        </p:sp>
        <p:sp>
          <p:nvSpPr>
            <p:cNvPr id="17440" name="Rectangle 12"/>
            <p:cNvSpPr/>
            <p:nvPr/>
          </p:nvSpPr>
          <p:spPr>
            <a:xfrm>
              <a:off x="1488" y="1488"/>
              <a:ext cx="384" cy="240"/>
            </a:xfrm>
            <a:prstGeom prst="rect">
              <a:avLst/>
            </a:prstGeom>
            <a:solidFill>
              <a:srgbClr val="FFFF49"/>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Mod</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7441" name="Rectangle 13"/>
            <p:cNvSpPr/>
            <p:nvPr/>
          </p:nvSpPr>
          <p:spPr>
            <a:xfrm>
              <a:off x="1872" y="1488"/>
              <a:ext cx="480" cy="240"/>
            </a:xfrm>
            <a:prstGeom prst="rect">
              <a:avLst/>
            </a:prstGeom>
            <a:solidFill>
              <a:srgbClr val="FFFF49"/>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Reg</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7442" name="Rectangle 14"/>
            <p:cNvSpPr/>
            <p:nvPr/>
          </p:nvSpPr>
          <p:spPr>
            <a:xfrm>
              <a:off x="2352" y="1488"/>
              <a:ext cx="384" cy="24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Mod</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7443" name="Rectangle 15"/>
            <p:cNvSpPr/>
            <p:nvPr/>
          </p:nvSpPr>
          <p:spPr>
            <a:xfrm>
              <a:off x="2736" y="1488"/>
              <a:ext cx="480" cy="24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Reg</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7444" name="Rectangle 17"/>
            <p:cNvSpPr/>
            <p:nvPr/>
          </p:nvSpPr>
          <p:spPr>
            <a:xfrm>
              <a:off x="3223" y="1488"/>
              <a:ext cx="1200" cy="240"/>
            </a:xfrm>
            <a:prstGeom prst="rect">
              <a:avLst/>
            </a:prstGeom>
            <a:solidFill>
              <a:schemeClr val="tx2"/>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chemeClr val="bg1"/>
                  </a:solidFill>
                  <a:latin typeface="Times New Roman" panose="02020603050405020304" pitchFamily="18" charset="0"/>
                  <a:ea typeface="宋体" panose="02010600030101010101" pitchFamily="2" charset="-122"/>
                </a:rPr>
                <a:t>Imme.Data</a:t>
              </a:r>
              <a:endParaRPr lang="en-US" altLang="zh-CN" sz="2000" dirty="0">
                <a:solidFill>
                  <a:schemeClr val="bg1"/>
                </a:solidFill>
                <a:latin typeface="Times New Roman" panose="02020603050405020304" pitchFamily="18" charset="0"/>
                <a:ea typeface="宋体" panose="02010600030101010101" pitchFamily="2" charset="-122"/>
              </a:endParaRPr>
            </a:p>
          </p:txBody>
        </p:sp>
        <p:sp>
          <p:nvSpPr>
            <p:cNvPr id="17445" name="AutoShape 18"/>
            <p:cNvSpPr/>
            <p:nvPr/>
          </p:nvSpPr>
          <p:spPr>
            <a:xfrm rot="-5409252">
              <a:off x="1799" y="1471"/>
              <a:ext cx="240" cy="864"/>
            </a:xfrm>
            <a:prstGeom prst="leftBrace">
              <a:avLst>
                <a:gd name="adj1" fmla="val 30000"/>
                <a:gd name="adj2" fmla="val 50000"/>
              </a:avLst>
            </a:prstGeom>
            <a:noFill/>
            <a:ln w="12700" cap="flat" cmpd="sng">
              <a:solidFill>
                <a:schemeClr val="tx1"/>
              </a:solidFill>
              <a:prstDash val="solid"/>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17446" name="AutoShape 19"/>
            <p:cNvSpPr/>
            <p:nvPr/>
          </p:nvSpPr>
          <p:spPr>
            <a:xfrm rot="-5409252">
              <a:off x="2664" y="1464"/>
              <a:ext cx="240" cy="864"/>
            </a:xfrm>
            <a:prstGeom prst="leftBrace">
              <a:avLst>
                <a:gd name="adj1" fmla="val 30000"/>
                <a:gd name="adj2" fmla="val 50000"/>
              </a:avLst>
            </a:prstGeom>
            <a:noFill/>
            <a:ln w="12700" cap="flat" cmpd="sng">
              <a:solidFill>
                <a:schemeClr val="tx1"/>
              </a:solidFill>
              <a:prstDash val="solid"/>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17447" name="Text Box 20"/>
            <p:cNvSpPr txBox="1"/>
            <p:nvPr/>
          </p:nvSpPr>
          <p:spPr>
            <a:xfrm>
              <a:off x="1200" y="2064"/>
              <a:ext cx="1392" cy="288"/>
            </a:xfrm>
            <a:prstGeom prst="rect">
              <a:avLst/>
            </a:prstGeom>
            <a:noFill/>
            <a:ln w="12700">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50000"/>
                </a:spcBef>
                <a:buFontTx/>
                <a:buNone/>
              </a:pPr>
              <a:r>
                <a:rPr lang="zh-CN" altLang="en-US" sz="2400" dirty="0">
                  <a:solidFill>
                    <a:srgbClr val="0000FF"/>
                  </a:solidFill>
                </a:rPr>
                <a:t>源操作数</a:t>
              </a:r>
              <a:endParaRPr lang="zh-CN" altLang="en-US" sz="2400" dirty="0">
                <a:solidFill>
                  <a:srgbClr val="0000FF"/>
                </a:solidFill>
              </a:endParaRPr>
            </a:p>
          </p:txBody>
        </p:sp>
        <p:sp>
          <p:nvSpPr>
            <p:cNvPr id="17448" name="Text Box 21"/>
            <p:cNvSpPr txBox="1"/>
            <p:nvPr/>
          </p:nvSpPr>
          <p:spPr>
            <a:xfrm>
              <a:off x="2042" y="2069"/>
              <a:ext cx="1550" cy="291"/>
            </a:xfrm>
            <a:prstGeom prst="rect">
              <a:avLst/>
            </a:prstGeom>
            <a:noFill/>
            <a:ln w="12700">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400" dirty="0">
                  <a:solidFill>
                    <a:srgbClr val="FF0000"/>
                  </a:solidFill>
                </a:rPr>
                <a:t>目的操作数</a:t>
              </a:r>
              <a:endParaRPr lang="zh-CN" altLang="en-US" sz="2400" dirty="0">
                <a:solidFill>
                  <a:srgbClr val="FF0000"/>
                </a:solidFill>
              </a:endParaRPr>
            </a:p>
          </p:txBody>
        </p:sp>
        <p:sp>
          <p:nvSpPr>
            <p:cNvPr id="17449" name="Rectangle 22"/>
            <p:cNvSpPr/>
            <p:nvPr/>
          </p:nvSpPr>
          <p:spPr>
            <a:xfrm>
              <a:off x="576" y="1488"/>
              <a:ext cx="144" cy="2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ea typeface="宋体" panose="02010600030101010101" pitchFamily="2" charset="-122"/>
                </a:rPr>
                <a:t>0</a:t>
              </a:r>
              <a:endParaRPr lang="zh-CN" altLang="en-US" sz="2000" dirty="0">
                <a:solidFill>
                  <a:srgbClr val="FF3300"/>
                </a:solidFill>
                <a:ea typeface="宋体" panose="02010600030101010101" pitchFamily="2" charset="-122"/>
              </a:endParaRPr>
            </a:p>
          </p:txBody>
        </p:sp>
        <p:sp>
          <p:nvSpPr>
            <p:cNvPr id="17450" name="Rectangle 23"/>
            <p:cNvSpPr/>
            <p:nvPr/>
          </p:nvSpPr>
          <p:spPr>
            <a:xfrm>
              <a:off x="576" y="1248"/>
              <a:ext cx="14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1</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51" name="Text Box 24"/>
            <p:cNvSpPr txBox="1"/>
            <p:nvPr/>
          </p:nvSpPr>
          <p:spPr>
            <a:xfrm>
              <a:off x="144" y="2496"/>
              <a:ext cx="1440" cy="518"/>
            </a:xfrm>
            <a:prstGeom prst="rect">
              <a:avLst/>
            </a:prstGeom>
            <a:noFill/>
            <a:ln w="12700">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400" dirty="0">
                  <a:solidFill>
                    <a:srgbClr val="0000FF"/>
                  </a:solidFill>
                </a:rPr>
                <a:t>双操作数</a:t>
              </a:r>
              <a:endParaRPr lang="zh-CN" altLang="en-US" sz="2400" dirty="0">
                <a:solidFill>
                  <a:srgbClr val="0000FF"/>
                </a:solidFill>
              </a:endParaRPr>
            </a:p>
            <a:p>
              <a:pPr marL="0" lvl="0" indent="0" algn="ctr">
                <a:spcBef>
                  <a:spcPct val="0"/>
                </a:spcBef>
                <a:buFontTx/>
                <a:buNone/>
              </a:pPr>
              <a:r>
                <a:rPr lang="zh-CN" altLang="en-US" sz="2400" dirty="0">
                  <a:solidFill>
                    <a:srgbClr val="0000FF"/>
                  </a:solidFill>
                </a:rPr>
                <a:t>指令标志</a:t>
              </a:r>
              <a:endParaRPr lang="zh-CN" altLang="en-US" sz="2400" dirty="0">
                <a:solidFill>
                  <a:srgbClr val="0000FF"/>
                </a:solidFill>
              </a:endParaRPr>
            </a:p>
          </p:txBody>
        </p:sp>
        <p:sp>
          <p:nvSpPr>
            <p:cNvPr id="17452" name="Line 25"/>
            <p:cNvSpPr/>
            <p:nvPr/>
          </p:nvSpPr>
          <p:spPr>
            <a:xfrm flipV="1">
              <a:off x="624" y="1776"/>
              <a:ext cx="0" cy="768"/>
            </a:xfrm>
            <a:prstGeom prst="line">
              <a:avLst/>
            </a:prstGeom>
            <a:ln w="12700" cap="flat" cmpd="sng">
              <a:solidFill>
                <a:schemeClr val="tx1"/>
              </a:solidFill>
              <a:prstDash val="solid"/>
              <a:headEnd type="none" w="med" len="med"/>
              <a:tailEnd type="triangle" w="med" len="med"/>
            </a:ln>
          </p:spPr>
        </p:sp>
      </p:grpSp>
      <p:sp>
        <p:nvSpPr>
          <p:cNvPr id="17412" name="Rectangle 26"/>
          <p:cNvSpPr>
            <a:spLocks noGrp="1"/>
          </p:cNvSpPr>
          <p:nvPr>
            <p:ph type="title"/>
          </p:nvPr>
        </p:nvSpPr>
        <p:spPr>
          <a:xfrm>
            <a:off x="611188" y="195263"/>
            <a:ext cx="7705725" cy="641350"/>
          </a:xfrm>
        </p:spPr>
        <p:txBody>
          <a:bodyPr vert="horz" wrap="square" lIns="91440" tIns="45720" rIns="91440" bIns="45720" anchor="b" anchorCtr="0">
            <a:spAutoFit/>
          </a:bodyPr>
          <a:p>
            <a:r>
              <a:rPr lang="zh-CN" altLang="en-US" sz="3600" dirty="0">
                <a:latin typeface="Times New Roman" panose="02020603050405020304" pitchFamily="18" charset="0"/>
              </a:rPr>
              <a:t>指令系统设计举例</a:t>
            </a:r>
            <a:endParaRPr lang="zh-CN" altLang="en-US" sz="3600" dirty="0">
              <a:latin typeface="Times New Roman" panose="02020603050405020304" pitchFamily="18" charset="0"/>
            </a:endParaRPr>
          </a:p>
        </p:txBody>
      </p:sp>
      <p:grpSp>
        <p:nvGrpSpPr>
          <p:cNvPr id="17413" name="Group 3"/>
          <p:cNvGrpSpPr/>
          <p:nvPr/>
        </p:nvGrpSpPr>
        <p:grpSpPr>
          <a:xfrm>
            <a:off x="1295400" y="1928813"/>
            <a:ext cx="6272213" cy="762000"/>
            <a:chOff x="576" y="1248"/>
            <a:chExt cx="3840" cy="480"/>
          </a:xfrm>
        </p:grpSpPr>
        <p:sp>
          <p:nvSpPr>
            <p:cNvPr id="17419" name="Rectangle 4"/>
            <p:cNvSpPr/>
            <p:nvPr/>
          </p:nvSpPr>
          <p:spPr>
            <a:xfrm>
              <a:off x="720" y="1248"/>
              <a:ext cx="768"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5</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20" name="Rectangle 5"/>
            <p:cNvSpPr/>
            <p:nvPr/>
          </p:nvSpPr>
          <p:spPr>
            <a:xfrm>
              <a:off x="1488" y="1248"/>
              <a:ext cx="38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2</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21" name="Rectangle 6"/>
            <p:cNvSpPr/>
            <p:nvPr/>
          </p:nvSpPr>
          <p:spPr>
            <a:xfrm>
              <a:off x="1872" y="1248"/>
              <a:ext cx="48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3</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22" name="Rectangle 7"/>
            <p:cNvSpPr/>
            <p:nvPr/>
          </p:nvSpPr>
          <p:spPr>
            <a:xfrm>
              <a:off x="2352" y="1248"/>
              <a:ext cx="38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2</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23" name="Rectangle 8"/>
            <p:cNvSpPr/>
            <p:nvPr/>
          </p:nvSpPr>
          <p:spPr>
            <a:xfrm>
              <a:off x="2736" y="1248"/>
              <a:ext cx="48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3</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24" name="Rectangle 9"/>
            <p:cNvSpPr/>
            <p:nvPr/>
          </p:nvSpPr>
          <p:spPr>
            <a:xfrm>
              <a:off x="3216" y="1248"/>
              <a:ext cx="120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16</a:t>
              </a:r>
              <a:endParaRPr lang="zh-CN" altLang="en-US" sz="2000" dirty="0">
                <a:solidFill>
                  <a:srgbClr val="FF0000"/>
                </a:solidFill>
                <a:latin typeface="Times New Roman" panose="02020603050405020304" pitchFamily="18" charset="0"/>
                <a:ea typeface="宋体" panose="02010600030101010101" pitchFamily="2" charset="-122"/>
              </a:endParaRPr>
            </a:p>
          </p:txBody>
        </p:sp>
        <p:sp>
          <p:nvSpPr>
            <p:cNvPr id="17425" name="Rectangle 11"/>
            <p:cNvSpPr/>
            <p:nvPr/>
          </p:nvSpPr>
          <p:spPr>
            <a:xfrm>
              <a:off x="720" y="1488"/>
              <a:ext cx="768" cy="24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FFFF00"/>
                  </a:solidFill>
                  <a:latin typeface="Times New Roman" panose="02020603050405020304" pitchFamily="18" charset="0"/>
                  <a:ea typeface="宋体" panose="02010600030101010101" pitchFamily="2" charset="-122"/>
                </a:rPr>
                <a:t>Opcode</a:t>
              </a:r>
              <a:endParaRPr lang="en-US" altLang="zh-CN" sz="2000" dirty="0">
                <a:solidFill>
                  <a:srgbClr val="FFFF00"/>
                </a:solidFill>
                <a:latin typeface="Times New Roman" panose="02020603050405020304" pitchFamily="18" charset="0"/>
                <a:ea typeface="宋体" panose="02010600030101010101" pitchFamily="2" charset="-122"/>
              </a:endParaRPr>
            </a:p>
          </p:txBody>
        </p:sp>
        <p:sp>
          <p:nvSpPr>
            <p:cNvPr id="17426" name="Rectangle 12"/>
            <p:cNvSpPr/>
            <p:nvPr/>
          </p:nvSpPr>
          <p:spPr>
            <a:xfrm>
              <a:off x="1488" y="1488"/>
              <a:ext cx="384" cy="240"/>
            </a:xfrm>
            <a:prstGeom prst="rect">
              <a:avLst/>
            </a:prstGeom>
            <a:solidFill>
              <a:srgbClr val="FFFF49"/>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Mod</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7427" name="Rectangle 13"/>
            <p:cNvSpPr/>
            <p:nvPr/>
          </p:nvSpPr>
          <p:spPr>
            <a:xfrm>
              <a:off x="1872" y="1488"/>
              <a:ext cx="480" cy="240"/>
            </a:xfrm>
            <a:prstGeom prst="rect">
              <a:avLst/>
            </a:prstGeom>
            <a:solidFill>
              <a:srgbClr val="FFFF49"/>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Reg</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7428" name="Rectangle 14"/>
            <p:cNvSpPr/>
            <p:nvPr/>
          </p:nvSpPr>
          <p:spPr>
            <a:xfrm>
              <a:off x="2352" y="1488"/>
              <a:ext cx="384" cy="24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Mod</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7429" name="Rectangle 15"/>
            <p:cNvSpPr/>
            <p:nvPr/>
          </p:nvSpPr>
          <p:spPr>
            <a:xfrm>
              <a:off x="2736" y="1488"/>
              <a:ext cx="480" cy="24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Reg</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7430" name="Rectangle 16"/>
            <p:cNvSpPr/>
            <p:nvPr/>
          </p:nvSpPr>
          <p:spPr>
            <a:xfrm>
              <a:off x="3216" y="1488"/>
              <a:ext cx="1200" cy="240"/>
            </a:xfrm>
            <a:prstGeom prst="rect">
              <a:avLst/>
            </a:prstGeom>
            <a:solidFill>
              <a:srgbClr val="C0C0C0"/>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CC3300"/>
                  </a:solidFill>
                  <a:latin typeface="Times New Roman" panose="02020603050405020304" pitchFamily="18" charset="0"/>
                  <a:ea typeface="宋体" panose="02010600030101010101" pitchFamily="2" charset="-122"/>
                </a:rPr>
                <a:t>Displacement</a:t>
              </a:r>
              <a:endParaRPr lang="en-US" altLang="zh-CN" sz="2000" dirty="0">
                <a:solidFill>
                  <a:srgbClr val="CC3300"/>
                </a:solidFill>
                <a:latin typeface="Times New Roman" panose="02020603050405020304" pitchFamily="18" charset="0"/>
                <a:ea typeface="宋体" panose="02010600030101010101" pitchFamily="2" charset="-122"/>
              </a:endParaRPr>
            </a:p>
          </p:txBody>
        </p:sp>
        <p:sp>
          <p:nvSpPr>
            <p:cNvPr id="17431" name="Rectangle 22"/>
            <p:cNvSpPr/>
            <p:nvPr/>
          </p:nvSpPr>
          <p:spPr>
            <a:xfrm>
              <a:off x="576" y="1488"/>
              <a:ext cx="144" cy="2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ea typeface="宋体" panose="02010600030101010101" pitchFamily="2" charset="-122"/>
                </a:rPr>
                <a:t>0</a:t>
              </a:r>
              <a:endParaRPr lang="zh-CN" altLang="en-US" sz="2000" dirty="0">
                <a:solidFill>
                  <a:srgbClr val="FF3300"/>
                </a:solidFill>
                <a:ea typeface="宋体" panose="02010600030101010101" pitchFamily="2" charset="-122"/>
              </a:endParaRPr>
            </a:p>
          </p:txBody>
        </p:sp>
        <p:sp>
          <p:nvSpPr>
            <p:cNvPr id="17432" name="Rectangle 23"/>
            <p:cNvSpPr/>
            <p:nvPr/>
          </p:nvSpPr>
          <p:spPr>
            <a:xfrm>
              <a:off x="576" y="1248"/>
              <a:ext cx="14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0000"/>
                  </a:solidFill>
                  <a:latin typeface="Times New Roman" panose="02020603050405020304" pitchFamily="18" charset="0"/>
                  <a:ea typeface="宋体" panose="02010600030101010101" pitchFamily="2" charset="-122"/>
                </a:rPr>
                <a:t>1</a:t>
              </a:r>
              <a:endParaRPr lang="zh-CN" altLang="en-US" sz="2000" dirty="0">
                <a:solidFill>
                  <a:srgbClr val="FF0000"/>
                </a:solidFill>
                <a:latin typeface="Times New Roman" panose="02020603050405020304" pitchFamily="18" charset="0"/>
                <a:ea typeface="宋体" panose="02010600030101010101" pitchFamily="2" charset="-122"/>
              </a:endParaRPr>
            </a:p>
          </p:txBody>
        </p:sp>
      </p:grpSp>
      <p:sp>
        <p:nvSpPr>
          <p:cNvPr id="17414" name="Text Box 21"/>
          <p:cNvSpPr txBox="1"/>
          <p:nvPr/>
        </p:nvSpPr>
        <p:spPr>
          <a:xfrm>
            <a:off x="3302000" y="2824163"/>
            <a:ext cx="1566863" cy="461962"/>
          </a:xfrm>
          <a:prstGeom prst="rect">
            <a:avLst/>
          </a:prstGeom>
          <a:noFill/>
          <a:ln w="12700">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400" dirty="0">
                <a:solidFill>
                  <a:srgbClr val="FF0000"/>
                </a:solidFill>
              </a:rPr>
              <a:t>或</a:t>
            </a:r>
            <a:endParaRPr lang="zh-CN" altLang="en-US" sz="2400" dirty="0">
              <a:solidFill>
                <a:srgbClr val="FF0000"/>
              </a:solidFill>
            </a:endParaRPr>
          </a:p>
        </p:txBody>
      </p:sp>
      <p:sp>
        <p:nvSpPr>
          <p:cNvPr id="17415" name="AutoShape 19"/>
          <p:cNvSpPr/>
          <p:nvPr/>
        </p:nvSpPr>
        <p:spPr>
          <a:xfrm rot="-5409252">
            <a:off x="6416675" y="3541713"/>
            <a:ext cx="381000" cy="1928812"/>
          </a:xfrm>
          <a:prstGeom prst="leftBrace">
            <a:avLst>
              <a:gd name="adj1" fmla="val 30023"/>
              <a:gd name="adj2" fmla="val 50000"/>
            </a:avLst>
          </a:prstGeom>
          <a:noFill/>
          <a:ln w="12700" cap="flat" cmpd="sng">
            <a:solidFill>
              <a:schemeClr val="tx1"/>
            </a:solidFill>
            <a:prstDash val="solid"/>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17416" name="Text Box 21"/>
          <p:cNvSpPr txBox="1"/>
          <p:nvPr/>
        </p:nvSpPr>
        <p:spPr>
          <a:xfrm>
            <a:off x="5829300" y="4786313"/>
            <a:ext cx="1568450" cy="461962"/>
          </a:xfrm>
          <a:prstGeom prst="rect">
            <a:avLst/>
          </a:prstGeom>
          <a:noFill/>
          <a:ln w="12700">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400" dirty="0">
                <a:solidFill>
                  <a:srgbClr val="C00000"/>
                </a:solidFill>
              </a:rPr>
              <a:t>立即数</a:t>
            </a:r>
            <a:endParaRPr lang="zh-CN" altLang="en-US" sz="2400" dirty="0">
              <a:solidFill>
                <a:srgbClr val="C00000"/>
              </a:solidFill>
            </a:endParaRPr>
          </a:p>
        </p:txBody>
      </p:sp>
      <p:sp>
        <p:nvSpPr>
          <p:cNvPr id="17417" name="AutoShape 19"/>
          <p:cNvSpPr/>
          <p:nvPr/>
        </p:nvSpPr>
        <p:spPr>
          <a:xfrm rot="-5409252">
            <a:off x="6402388" y="1970088"/>
            <a:ext cx="381000" cy="1928812"/>
          </a:xfrm>
          <a:prstGeom prst="leftBrace">
            <a:avLst>
              <a:gd name="adj1" fmla="val 30023"/>
              <a:gd name="adj2" fmla="val 50000"/>
            </a:avLst>
          </a:prstGeom>
          <a:noFill/>
          <a:ln w="12700" cap="flat" cmpd="sng">
            <a:solidFill>
              <a:schemeClr val="tx1"/>
            </a:solidFill>
            <a:prstDash val="solid"/>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17418" name="Text Box 21"/>
          <p:cNvSpPr txBox="1"/>
          <p:nvPr/>
        </p:nvSpPr>
        <p:spPr>
          <a:xfrm>
            <a:off x="5846763" y="3071813"/>
            <a:ext cx="1568450" cy="461962"/>
          </a:xfrm>
          <a:prstGeom prst="rect">
            <a:avLst/>
          </a:prstGeom>
          <a:noFill/>
          <a:ln w="12700">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400" dirty="0">
                <a:solidFill>
                  <a:srgbClr val="CC0066"/>
                </a:solidFill>
              </a:rPr>
              <a:t>偏移量</a:t>
            </a:r>
            <a:endParaRPr lang="zh-CN" altLang="en-US" sz="2400" dirty="0">
              <a:solidFill>
                <a:srgbClr val="CC006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idx="1"/>
          </p:nvPr>
        </p:nvSpPr>
        <p:spPr>
          <a:xfrm>
            <a:off x="504825" y="1277938"/>
            <a:ext cx="7739063" cy="855662"/>
          </a:xfrm>
        </p:spPr>
        <p:txBody>
          <a:bodyPr vert="horz" wrap="square" lIns="91440" tIns="133200" rIns="91440" bIns="45720" anchor="t" anchorCtr="0"/>
          <a:p>
            <a:pPr marL="0" indent="0" eaLnBrk="1" hangingPunct="1">
              <a:lnSpc>
                <a:spcPct val="95000"/>
              </a:lnSpc>
            </a:pPr>
            <a:r>
              <a:rPr lang="zh-CN" altLang="en-US" dirty="0">
                <a:latin typeface="Times New Roman" panose="02020603050405020304" pitchFamily="18" charset="0"/>
              </a:rPr>
              <a:t>单操作数指令格式</a:t>
            </a:r>
            <a:endParaRPr lang="zh-CN" altLang="en-US" dirty="0">
              <a:latin typeface="Times New Roman" panose="02020603050405020304" pitchFamily="18" charset="0"/>
            </a:endParaRPr>
          </a:p>
        </p:txBody>
      </p:sp>
      <p:grpSp>
        <p:nvGrpSpPr>
          <p:cNvPr id="18435" name="Group 3"/>
          <p:cNvGrpSpPr/>
          <p:nvPr/>
        </p:nvGrpSpPr>
        <p:grpSpPr>
          <a:xfrm>
            <a:off x="1071563" y="3268663"/>
            <a:ext cx="6977062" cy="2803525"/>
            <a:chOff x="158" y="1752"/>
            <a:chExt cx="4272" cy="1766"/>
          </a:xfrm>
        </p:grpSpPr>
        <p:sp>
          <p:nvSpPr>
            <p:cNvPr id="18453" name="Rectangle 4"/>
            <p:cNvSpPr/>
            <p:nvPr/>
          </p:nvSpPr>
          <p:spPr>
            <a:xfrm>
              <a:off x="734" y="1752"/>
              <a:ext cx="768"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5</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54" name="Rectangle 5"/>
            <p:cNvSpPr/>
            <p:nvPr/>
          </p:nvSpPr>
          <p:spPr>
            <a:xfrm>
              <a:off x="1502" y="1752"/>
              <a:ext cx="38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2</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55" name="Rectangle 6"/>
            <p:cNvSpPr/>
            <p:nvPr/>
          </p:nvSpPr>
          <p:spPr>
            <a:xfrm>
              <a:off x="1886" y="1752"/>
              <a:ext cx="48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3</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56" name="Rectangle 7"/>
            <p:cNvSpPr/>
            <p:nvPr/>
          </p:nvSpPr>
          <p:spPr>
            <a:xfrm>
              <a:off x="2366" y="1752"/>
              <a:ext cx="38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2</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57" name="Rectangle 8"/>
            <p:cNvSpPr/>
            <p:nvPr/>
          </p:nvSpPr>
          <p:spPr>
            <a:xfrm>
              <a:off x="2750" y="1752"/>
              <a:ext cx="48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3</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58" name="Rectangle 9"/>
            <p:cNvSpPr/>
            <p:nvPr/>
          </p:nvSpPr>
          <p:spPr>
            <a:xfrm>
              <a:off x="3230" y="1752"/>
              <a:ext cx="120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16</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59" name="Rectangle 11"/>
            <p:cNvSpPr/>
            <p:nvPr/>
          </p:nvSpPr>
          <p:spPr>
            <a:xfrm>
              <a:off x="734" y="1992"/>
              <a:ext cx="768" cy="24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FFFF00"/>
                  </a:solidFill>
                  <a:latin typeface="Times New Roman" panose="02020603050405020304" pitchFamily="18" charset="0"/>
                  <a:ea typeface="宋体" panose="02010600030101010101" pitchFamily="2" charset="-122"/>
                </a:rPr>
                <a:t>Opcode</a:t>
              </a:r>
              <a:endParaRPr lang="en-US" altLang="zh-CN" sz="2000" dirty="0">
                <a:solidFill>
                  <a:srgbClr val="FFFF00"/>
                </a:solidFill>
                <a:latin typeface="Times New Roman" panose="02020603050405020304" pitchFamily="18" charset="0"/>
                <a:ea typeface="宋体" panose="02010600030101010101" pitchFamily="2" charset="-122"/>
              </a:endParaRPr>
            </a:p>
          </p:txBody>
        </p:sp>
        <p:sp>
          <p:nvSpPr>
            <p:cNvPr id="18460" name="Rectangle 12"/>
            <p:cNvSpPr/>
            <p:nvPr/>
          </p:nvSpPr>
          <p:spPr>
            <a:xfrm>
              <a:off x="1502" y="1992"/>
              <a:ext cx="384" cy="24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endParaRPr lang="en-US" altLang="zh-CN" sz="2000" dirty="0">
                <a:latin typeface="Times New Roman" panose="02020603050405020304" pitchFamily="18" charset="0"/>
                <a:ea typeface="宋体" panose="02010600030101010101" pitchFamily="2" charset="-122"/>
              </a:endParaRPr>
            </a:p>
          </p:txBody>
        </p:sp>
        <p:sp>
          <p:nvSpPr>
            <p:cNvPr id="18461" name="Rectangle 13"/>
            <p:cNvSpPr/>
            <p:nvPr/>
          </p:nvSpPr>
          <p:spPr>
            <a:xfrm>
              <a:off x="1886" y="1992"/>
              <a:ext cx="480" cy="240"/>
            </a:xfrm>
            <a:prstGeom prst="rect">
              <a:avLst/>
            </a:prstGeom>
            <a:solidFill>
              <a:srgbClr val="FFFF49"/>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XX</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8462" name="Rectangle 14"/>
            <p:cNvSpPr/>
            <p:nvPr/>
          </p:nvSpPr>
          <p:spPr>
            <a:xfrm>
              <a:off x="2366" y="1992"/>
              <a:ext cx="384" cy="24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Mod</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8463" name="Rectangle 15"/>
            <p:cNvSpPr/>
            <p:nvPr/>
          </p:nvSpPr>
          <p:spPr>
            <a:xfrm>
              <a:off x="2750" y="1992"/>
              <a:ext cx="480" cy="24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Reg</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8464" name="Rectangle 17"/>
            <p:cNvSpPr/>
            <p:nvPr/>
          </p:nvSpPr>
          <p:spPr>
            <a:xfrm>
              <a:off x="3228" y="1988"/>
              <a:ext cx="1200" cy="240"/>
            </a:xfrm>
            <a:prstGeom prst="rect">
              <a:avLst/>
            </a:prstGeom>
            <a:solidFill>
              <a:schemeClr val="tx2"/>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chemeClr val="bg1"/>
                  </a:solidFill>
                  <a:latin typeface="Times New Roman" panose="02020603050405020304" pitchFamily="18" charset="0"/>
                  <a:ea typeface="宋体" panose="02010600030101010101" pitchFamily="2" charset="-122"/>
                </a:rPr>
                <a:t>Imme.Data</a:t>
              </a:r>
              <a:endParaRPr lang="en-US" altLang="zh-CN" sz="2000" dirty="0">
                <a:solidFill>
                  <a:schemeClr val="bg1"/>
                </a:solidFill>
                <a:latin typeface="Times New Roman" panose="02020603050405020304" pitchFamily="18" charset="0"/>
                <a:ea typeface="宋体" panose="02010600030101010101" pitchFamily="2" charset="-122"/>
              </a:endParaRPr>
            </a:p>
          </p:txBody>
        </p:sp>
        <p:sp>
          <p:nvSpPr>
            <p:cNvPr id="18465" name="AutoShape 18"/>
            <p:cNvSpPr/>
            <p:nvPr/>
          </p:nvSpPr>
          <p:spPr>
            <a:xfrm rot="-5409252">
              <a:off x="2678" y="1968"/>
              <a:ext cx="240" cy="864"/>
            </a:xfrm>
            <a:prstGeom prst="leftBrace">
              <a:avLst>
                <a:gd name="adj1" fmla="val 30000"/>
                <a:gd name="adj2" fmla="val 50000"/>
              </a:avLst>
            </a:prstGeom>
            <a:noFill/>
            <a:ln w="12700" cap="flat" cmpd="sng">
              <a:solidFill>
                <a:schemeClr val="tx1"/>
              </a:solidFill>
              <a:prstDash val="solid"/>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18466" name="Text Box 19"/>
            <p:cNvSpPr txBox="1"/>
            <p:nvPr/>
          </p:nvSpPr>
          <p:spPr>
            <a:xfrm>
              <a:off x="2241" y="2595"/>
              <a:ext cx="1120" cy="523"/>
            </a:xfrm>
            <a:prstGeom prst="rect">
              <a:avLst/>
            </a:prstGeom>
            <a:noFill/>
            <a:ln w="12700">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400" dirty="0">
                  <a:solidFill>
                    <a:srgbClr val="FF0000"/>
                  </a:solidFill>
                </a:rPr>
                <a:t>源</a:t>
              </a:r>
              <a:r>
                <a:rPr lang="en-US" altLang="zh-CN" sz="2400" dirty="0">
                  <a:solidFill>
                    <a:srgbClr val="FF0000"/>
                  </a:solidFill>
                </a:rPr>
                <a:t>/</a:t>
              </a:r>
              <a:r>
                <a:rPr lang="zh-CN" altLang="en-US" sz="2400" dirty="0">
                  <a:solidFill>
                    <a:srgbClr val="FF0000"/>
                  </a:solidFill>
                </a:rPr>
                <a:t>目的</a:t>
              </a:r>
              <a:endParaRPr lang="zh-CN" altLang="en-US" sz="2400" dirty="0">
                <a:solidFill>
                  <a:srgbClr val="FF0000"/>
                </a:solidFill>
              </a:endParaRPr>
            </a:p>
            <a:p>
              <a:pPr marL="0" lvl="0" indent="0" algn="ctr">
                <a:spcBef>
                  <a:spcPct val="0"/>
                </a:spcBef>
                <a:buFontTx/>
                <a:buNone/>
              </a:pPr>
              <a:r>
                <a:rPr lang="zh-CN" altLang="en-US" sz="2400" dirty="0">
                  <a:solidFill>
                    <a:srgbClr val="FF0000"/>
                  </a:solidFill>
                </a:rPr>
                <a:t>操作数</a:t>
              </a:r>
              <a:endParaRPr lang="zh-CN" altLang="en-US" sz="2400" dirty="0">
                <a:solidFill>
                  <a:srgbClr val="FF0000"/>
                </a:solidFill>
              </a:endParaRPr>
            </a:p>
          </p:txBody>
        </p:sp>
        <p:sp>
          <p:nvSpPr>
            <p:cNvPr id="18467" name="Rectangle 20"/>
            <p:cNvSpPr/>
            <p:nvPr/>
          </p:nvSpPr>
          <p:spPr>
            <a:xfrm>
              <a:off x="590" y="1992"/>
              <a:ext cx="144" cy="2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FF3300"/>
                  </a:solidFill>
                  <a:ea typeface="宋体" panose="02010600030101010101" pitchFamily="2" charset="-122"/>
                </a:rPr>
                <a:t>1</a:t>
              </a:r>
              <a:endParaRPr lang="en-US" altLang="zh-CN" sz="2000" dirty="0">
                <a:solidFill>
                  <a:srgbClr val="FF3300"/>
                </a:solidFill>
                <a:ea typeface="宋体" panose="02010600030101010101" pitchFamily="2" charset="-122"/>
              </a:endParaRPr>
            </a:p>
          </p:txBody>
        </p:sp>
        <p:sp>
          <p:nvSpPr>
            <p:cNvPr id="18468" name="Rectangle 21"/>
            <p:cNvSpPr/>
            <p:nvPr/>
          </p:nvSpPr>
          <p:spPr>
            <a:xfrm>
              <a:off x="590" y="1752"/>
              <a:ext cx="14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1</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69" name="Text Box 22"/>
            <p:cNvSpPr txBox="1"/>
            <p:nvPr/>
          </p:nvSpPr>
          <p:spPr>
            <a:xfrm>
              <a:off x="158" y="3000"/>
              <a:ext cx="1440" cy="518"/>
            </a:xfrm>
            <a:prstGeom prst="rect">
              <a:avLst/>
            </a:prstGeom>
            <a:noFill/>
            <a:ln w="12700">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400" dirty="0">
                  <a:solidFill>
                    <a:srgbClr val="0000FF"/>
                  </a:solidFill>
                </a:rPr>
                <a:t>单操作数</a:t>
              </a:r>
              <a:endParaRPr lang="zh-CN" altLang="en-US" sz="2400" dirty="0">
                <a:solidFill>
                  <a:srgbClr val="0000FF"/>
                </a:solidFill>
              </a:endParaRPr>
            </a:p>
            <a:p>
              <a:pPr marL="0" lvl="0" indent="0" algn="ctr">
                <a:spcBef>
                  <a:spcPct val="0"/>
                </a:spcBef>
                <a:buFontTx/>
                <a:buNone/>
              </a:pPr>
              <a:r>
                <a:rPr lang="zh-CN" altLang="en-US" sz="2400" dirty="0">
                  <a:solidFill>
                    <a:srgbClr val="0000FF"/>
                  </a:solidFill>
                </a:rPr>
                <a:t>指令标志</a:t>
              </a:r>
              <a:endParaRPr lang="zh-CN" altLang="en-US" sz="2400" dirty="0">
                <a:solidFill>
                  <a:srgbClr val="0000FF"/>
                </a:solidFill>
              </a:endParaRPr>
            </a:p>
          </p:txBody>
        </p:sp>
        <p:sp>
          <p:nvSpPr>
            <p:cNvPr id="18470" name="Line 23"/>
            <p:cNvSpPr/>
            <p:nvPr/>
          </p:nvSpPr>
          <p:spPr>
            <a:xfrm flipV="1">
              <a:off x="638" y="2280"/>
              <a:ext cx="0" cy="768"/>
            </a:xfrm>
            <a:prstGeom prst="line">
              <a:avLst/>
            </a:prstGeom>
            <a:ln w="12700" cap="flat" cmpd="sng">
              <a:solidFill>
                <a:schemeClr val="tx1"/>
              </a:solidFill>
              <a:prstDash val="solid"/>
              <a:headEnd type="none" w="med" len="med"/>
              <a:tailEnd type="triangle" w="med" len="med"/>
            </a:ln>
          </p:spPr>
        </p:sp>
      </p:grpSp>
      <p:sp>
        <p:nvSpPr>
          <p:cNvPr id="18436" name="Rectangle 24"/>
          <p:cNvSpPr>
            <a:spLocks noGrp="1"/>
          </p:cNvSpPr>
          <p:nvPr>
            <p:ph type="title"/>
          </p:nvPr>
        </p:nvSpPr>
        <p:spPr>
          <a:xfrm>
            <a:off x="684213" y="188913"/>
            <a:ext cx="8101012" cy="641350"/>
          </a:xfrm>
        </p:spPr>
        <p:txBody>
          <a:bodyPr vert="horz" wrap="square" lIns="91440" tIns="45720" rIns="91440" bIns="45720" anchor="b" anchorCtr="0">
            <a:spAutoFit/>
          </a:bodyPr>
          <a:p>
            <a:r>
              <a:rPr lang="zh-CN" altLang="en-US" sz="3600" dirty="0">
                <a:latin typeface="Times New Roman" panose="02020603050405020304" pitchFamily="18" charset="0"/>
              </a:rPr>
              <a:t>指令系统设计举例</a:t>
            </a:r>
            <a:endParaRPr lang="zh-CN" altLang="en-US" sz="3600" dirty="0">
              <a:latin typeface="Times New Roman" panose="02020603050405020304" pitchFamily="18" charset="0"/>
            </a:endParaRPr>
          </a:p>
        </p:txBody>
      </p:sp>
      <p:grpSp>
        <p:nvGrpSpPr>
          <p:cNvPr id="18437" name="Group 3"/>
          <p:cNvGrpSpPr/>
          <p:nvPr/>
        </p:nvGrpSpPr>
        <p:grpSpPr>
          <a:xfrm>
            <a:off x="1776413" y="2071688"/>
            <a:ext cx="6272212" cy="762000"/>
            <a:chOff x="590" y="1752"/>
            <a:chExt cx="3840" cy="480"/>
          </a:xfrm>
        </p:grpSpPr>
        <p:sp>
          <p:nvSpPr>
            <p:cNvPr id="18439" name="Rectangle 4"/>
            <p:cNvSpPr/>
            <p:nvPr/>
          </p:nvSpPr>
          <p:spPr>
            <a:xfrm>
              <a:off x="734" y="1752"/>
              <a:ext cx="768"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5</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40" name="Rectangle 5"/>
            <p:cNvSpPr/>
            <p:nvPr/>
          </p:nvSpPr>
          <p:spPr>
            <a:xfrm>
              <a:off x="1502" y="1752"/>
              <a:ext cx="38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2</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41" name="Rectangle 6"/>
            <p:cNvSpPr/>
            <p:nvPr/>
          </p:nvSpPr>
          <p:spPr>
            <a:xfrm>
              <a:off x="1886" y="1752"/>
              <a:ext cx="48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3</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42" name="Rectangle 7"/>
            <p:cNvSpPr/>
            <p:nvPr/>
          </p:nvSpPr>
          <p:spPr>
            <a:xfrm>
              <a:off x="2366" y="1752"/>
              <a:ext cx="38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2</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43" name="Rectangle 8"/>
            <p:cNvSpPr/>
            <p:nvPr/>
          </p:nvSpPr>
          <p:spPr>
            <a:xfrm>
              <a:off x="2750" y="1752"/>
              <a:ext cx="48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3</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44" name="Rectangle 9"/>
            <p:cNvSpPr/>
            <p:nvPr/>
          </p:nvSpPr>
          <p:spPr>
            <a:xfrm>
              <a:off x="3230" y="1752"/>
              <a:ext cx="1200"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16</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18445" name="Rectangle 11"/>
            <p:cNvSpPr/>
            <p:nvPr/>
          </p:nvSpPr>
          <p:spPr>
            <a:xfrm>
              <a:off x="734" y="1992"/>
              <a:ext cx="768" cy="24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FFFF00"/>
                  </a:solidFill>
                  <a:latin typeface="Times New Roman" panose="02020603050405020304" pitchFamily="18" charset="0"/>
                  <a:ea typeface="宋体" panose="02010600030101010101" pitchFamily="2" charset="-122"/>
                </a:rPr>
                <a:t>Opcode</a:t>
              </a:r>
              <a:endParaRPr lang="en-US" altLang="zh-CN" sz="2000" dirty="0">
                <a:solidFill>
                  <a:srgbClr val="FFFF00"/>
                </a:solidFill>
                <a:latin typeface="Times New Roman" panose="02020603050405020304" pitchFamily="18" charset="0"/>
                <a:ea typeface="宋体" panose="02010600030101010101" pitchFamily="2" charset="-122"/>
              </a:endParaRPr>
            </a:p>
          </p:txBody>
        </p:sp>
        <p:sp>
          <p:nvSpPr>
            <p:cNvPr id="18446" name="Rectangle 12"/>
            <p:cNvSpPr/>
            <p:nvPr/>
          </p:nvSpPr>
          <p:spPr>
            <a:xfrm>
              <a:off x="1502" y="1992"/>
              <a:ext cx="384" cy="240"/>
            </a:xfrm>
            <a:prstGeom prst="rect">
              <a:avLst/>
            </a:prstGeom>
            <a:solidFill>
              <a:schemeClr val="accent2"/>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endParaRPr lang="en-US" altLang="zh-CN" sz="2000" dirty="0">
                <a:latin typeface="Times New Roman" panose="02020603050405020304" pitchFamily="18" charset="0"/>
                <a:ea typeface="宋体" panose="02010600030101010101" pitchFamily="2" charset="-122"/>
              </a:endParaRPr>
            </a:p>
          </p:txBody>
        </p:sp>
        <p:sp>
          <p:nvSpPr>
            <p:cNvPr id="18447" name="Rectangle 13"/>
            <p:cNvSpPr/>
            <p:nvPr/>
          </p:nvSpPr>
          <p:spPr>
            <a:xfrm>
              <a:off x="1886" y="1992"/>
              <a:ext cx="480" cy="240"/>
            </a:xfrm>
            <a:prstGeom prst="rect">
              <a:avLst/>
            </a:prstGeom>
            <a:solidFill>
              <a:srgbClr val="FFFF49"/>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XX</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8448" name="Rectangle 14"/>
            <p:cNvSpPr/>
            <p:nvPr/>
          </p:nvSpPr>
          <p:spPr>
            <a:xfrm>
              <a:off x="2366" y="1992"/>
              <a:ext cx="384" cy="24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Mod</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8449" name="Rectangle 15"/>
            <p:cNvSpPr/>
            <p:nvPr/>
          </p:nvSpPr>
          <p:spPr>
            <a:xfrm>
              <a:off x="2750" y="1992"/>
              <a:ext cx="480" cy="240"/>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0532C3"/>
                  </a:solidFill>
                  <a:latin typeface="Times New Roman" panose="02020603050405020304" pitchFamily="18" charset="0"/>
                  <a:ea typeface="宋体" panose="02010600030101010101" pitchFamily="2" charset="-122"/>
                </a:rPr>
                <a:t>Reg</a:t>
              </a:r>
              <a:endParaRPr lang="en-US" altLang="zh-CN" sz="2000" dirty="0">
                <a:solidFill>
                  <a:srgbClr val="0532C3"/>
                </a:solidFill>
                <a:latin typeface="Times New Roman" panose="02020603050405020304" pitchFamily="18" charset="0"/>
                <a:ea typeface="宋体" panose="02010600030101010101" pitchFamily="2" charset="-122"/>
              </a:endParaRPr>
            </a:p>
          </p:txBody>
        </p:sp>
        <p:sp>
          <p:nvSpPr>
            <p:cNvPr id="18450" name="Rectangle 16"/>
            <p:cNvSpPr/>
            <p:nvPr/>
          </p:nvSpPr>
          <p:spPr>
            <a:xfrm>
              <a:off x="3230" y="1992"/>
              <a:ext cx="1200" cy="240"/>
            </a:xfrm>
            <a:prstGeom prst="rect">
              <a:avLst/>
            </a:prstGeom>
            <a:solidFill>
              <a:srgbClr val="C0C0C0"/>
            </a:solid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CC3300"/>
                  </a:solidFill>
                  <a:latin typeface="Times New Roman" panose="02020603050405020304" pitchFamily="18" charset="0"/>
                  <a:ea typeface="宋体" panose="02010600030101010101" pitchFamily="2" charset="-122"/>
                </a:rPr>
                <a:t>Displacement</a:t>
              </a:r>
              <a:endParaRPr lang="en-US" altLang="zh-CN" sz="2000" dirty="0">
                <a:solidFill>
                  <a:srgbClr val="CC3300"/>
                </a:solidFill>
                <a:latin typeface="Times New Roman" panose="02020603050405020304" pitchFamily="18" charset="0"/>
                <a:ea typeface="宋体" panose="02010600030101010101" pitchFamily="2" charset="-122"/>
              </a:endParaRPr>
            </a:p>
          </p:txBody>
        </p:sp>
        <p:sp>
          <p:nvSpPr>
            <p:cNvPr id="18451" name="Rectangle 20"/>
            <p:cNvSpPr/>
            <p:nvPr/>
          </p:nvSpPr>
          <p:spPr>
            <a:xfrm>
              <a:off x="590" y="1992"/>
              <a:ext cx="144" cy="24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en-US" altLang="zh-CN" sz="2000" dirty="0">
                  <a:solidFill>
                    <a:srgbClr val="FF3300"/>
                  </a:solidFill>
                  <a:ea typeface="宋体" panose="02010600030101010101" pitchFamily="2" charset="-122"/>
                </a:rPr>
                <a:t>1</a:t>
              </a:r>
              <a:endParaRPr lang="en-US" altLang="zh-CN" sz="2000" dirty="0">
                <a:solidFill>
                  <a:srgbClr val="FF3300"/>
                </a:solidFill>
                <a:ea typeface="宋体" panose="02010600030101010101" pitchFamily="2" charset="-122"/>
              </a:endParaRPr>
            </a:p>
          </p:txBody>
        </p:sp>
        <p:sp>
          <p:nvSpPr>
            <p:cNvPr id="18452" name="Rectangle 21"/>
            <p:cNvSpPr/>
            <p:nvPr/>
          </p:nvSpPr>
          <p:spPr>
            <a:xfrm>
              <a:off x="590" y="1752"/>
              <a:ext cx="144" cy="240"/>
            </a:xfrm>
            <a:prstGeom prst="rect">
              <a:avLst/>
            </a:prstGeom>
            <a:noFill/>
            <a:ln w="12700">
              <a:noFill/>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000" dirty="0">
                  <a:solidFill>
                    <a:srgbClr val="FF3300"/>
                  </a:solidFill>
                  <a:latin typeface="Times New Roman" panose="02020603050405020304" pitchFamily="18" charset="0"/>
                  <a:ea typeface="宋体" panose="02010600030101010101" pitchFamily="2" charset="-122"/>
                </a:rPr>
                <a:t>1</a:t>
              </a:r>
              <a:endParaRPr lang="zh-CN" altLang="en-US" sz="2000" dirty="0">
                <a:solidFill>
                  <a:srgbClr val="FF3300"/>
                </a:solidFill>
                <a:latin typeface="Times New Roman" panose="02020603050405020304" pitchFamily="18" charset="0"/>
                <a:ea typeface="宋体" panose="02010600030101010101" pitchFamily="2" charset="-122"/>
              </a:endParaRPr>
            </a:p>
          </p:txBody>
        </p:sp>
      </p:grpSp>
      <p:sp>
        <p:nvSpPr>
          <p:cNvPr id="18438" name="Text Box 21"/>
          <p:cNvSpPr txBox="1"/>
          <p:nvPr/>
        </p:nvSpPr>
        <p:spPr>
          <a:xfrm>
            <a:off x="3646488" y="2857500"/>
            <a:ext cx="1568450" cy="461963"/>
          </a:xfrm>
          <a:prstGeom prst="rect">
            <a:avLst/>
          </a:prstGeom>
          <a:noFill/>
          <a:ln w="12700">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a:spcBef>
                <a:spcPct val="0"/>
              </a:spcBef>
              <a:buFontTx/>
              <a:buNone/>
            </a:pPr>
            <a:r>
              <a:rPr lang="zh-CN" altLang="en-US" sz="2400" dirty="0">
                <a:solidFill>
                  <a:srgbClr val="FF0000"/>
                </a:solidFill>
              </a:rPr>
              <a:t>或</a:t>
            </a:r>
            <a:endParaRPr lang="zh-CN" altLang="en-US" sz="2400"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8" name="Picture 8"/>
          <p:cNvPicPr>
            <a:picLocks noChangeAspect="1"/>
          </p:cNvPicPr>
          <p:nvPr/>
        </p:nvPicPr>
        <p:blipFill>
          <a:blip r:embed="rId1"/>
          <a:stretch>
            <a:fillRect/>
          </a:stretch>
        </p:blipFill>
        <p:spPr>
          <a:xfrm>
            <a:off x="1928813" y="2195513"/>
            <a:ext cx="6000750" cy="733425"/>
          </a:xfrm>
          <a:prstGeom prst="rect">
            <a:avLst/>
          </a:prstGeom>
          <a:noFill/>
          <a:ln w="9525">
            <a:noFill/>
          </a:ln>
        </p:spPr>
      </p:pic>
      <p:sp>
        <p:nvSpPr>
          <p:cNvPr id="19459" name="Rectangle 2"/>
          <p:cNvSpPr>
            <a:spLocks noGrp="1"/>
          </p:cNvSpPr>
          <p:nvPr>
            <p:ph type="title"/>
          </p:nvPr>
        </p:nvSpPr>
        <p:spPr>
          <a:xfrm>
            <a:off x="719138" y="188913"/>
            <a:ext cx="7021512" cy="676275"/>
          </a:xfrm>
        </p:spPr>
        <p:txBody>
          <a:bodyPr vert="horz" wrap="square" lIns="91440" tIns="45720" rIns="91440" bIns="45720" anchor="b" anchorCtr="0"/>
          <a:p>
            <a:pPr eaLnBrk="1" hangingPunct="1"/>
            <a:r>
              <a:rPr lang="zh-CN" altLang="en-US" sz="3600" dirty="0"/>
              <a:t>指令设计系统举例</a:t>
            </a:r>
            <a:endParaRPr lang="zh-CN" altLang="en-US" sz="3600" dirty="0"/>
          </a:p>
        </p:txBody>
      </p:sp>
      <p:sp>
        <p:nvSpPr>
          <p:cNvPr id="14342" name="Rectangle 6"/>
          <p:cNvSpPr>
            <a:spLocks noChangeArrowheads="1"/>
          </p:cNvSpPr>
          <p:nvPr/>
        </p:nvSpPr>
        <p:spPr bwMode="auto">
          <a:xfrm>
            <a:off x="571500" y="1357313"/>
            <a:ext cx="8286750" cy="1570038"/>
          </a:xfrm>
          <a:prstGeom prst="rect">
            <a:avLst/>
          </a:prstGeom>
          <a:noFill/>
          <a:ln w="9525">
            <a:noFill/>
            <a:miter lim="800000"/>
          </a:ln>
          <a:effec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2010</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某计算机字长为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16</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位，主存地址空间大小为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128KB</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，按字编址。采用单字长指令格式，指令各字段定义如下：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4343" name="Rectangle 7"/>
          <p:cNvSpPr>
            <a:spLocks noChangeArrowheads="1"/>
          </p:cNvSpPr>
          <p:nvPr/>
        </p:nvSpPr>
        <p:spPr bwMode="auto">
          <a:xfrm>
            <a:off x="571500" y="2786063"/>
            <a:ext cx="8358188" cy="2554288"/>
          </a:xfrm>
          <a:prstGeom prst="rect">
            <a:avLst/>
          </a:prstGeom>
          <a:noFill/>
          <a:ln w="9525">
            <a:noFill/>
            <a:miter lim="800000"/>
          </a:ln>
          <a:effectLst/>
        </p:spPr>
        <p:txBody>
          <a:bodyPr anchor="ctr">
            <a:spAutoFit/>
          </a:bodyPr>
          <a:lstStyle/>
          <a:p>
            <a:pPr marL="0" marR="0" lvl="0" indent="304800" algn="l"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Times New Roman" panose="02020603050405020304" pitchFamily="18" charset="0"/>
              </a:rPr>
              <a:t>                                              源操作数                   目的操作数</a:t>
            </a:r>
            <a:endPar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Times New Roman" panose="02020603050405020304" pitchFamily="18" charset="0"/>
              </a:rPr>
              <a:t>转移指令采用相对寻址，相对偏移量用补码表示，寻址方式定义如下：</a:t>
            </a:r>
            <a:endParaRPr kumimoji="0" lang="zh-CN" altLang="en-US" sz="24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304800" algn="l" defTabSz="914400" rtl="0" eaLnBrk="0" fontAlgn="base" latinLnBrk="0" hangingPunct="0">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0" marR="0" lvl="0" indent="304800" algn="l" defTabSz="914400" rtl="0" eaLnBrk="0" fontAlgn="base" latinLnBrk="0" hangingPunct="0">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0" marR="0" lvl="0" indent="304800" algn="l" defTabSz="914400" rtl="0" eaLnBrk="0" fontAlgn="base" latinLnBrk="0" hangingPunct="0">
              <a:lnSpc>
                <a:spcPct val="100000"/>
              </a:lnSpc>
              <a:spcBef>
                <a:spcPct val="0"/>
              </a:spcBef>
              <a:spcAft>
                <a:spcPct val="0"/>
              </a:spcAft>
              <a:buClrTx/>
              <a:buSzTx/>
              <a:buFontTx/>
              <a:buNone/>
              <a:defRPr/>
            </a:pPr>
            <a:endParaRPr kumimoji="0" lang="en-US" altLang="zh-CN" sz="24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Times New Roman" panose="02020603050405020304" pitchFamily="18" charset="0"/>
            </a:endParaRPr>
          </a:p>
          <a:p>
            <a:pPr marL="0" marR="0" lvl="0" indent="304800" algn="l" defTabSz="914400" rtl="0" eaLnBrk="0" fontAlgn="base" latinLnBrk="0" hangingPunct="0">
              <a:lnSpc>
                <a:spcPct val="100000"/>
              </a:lnSpc>
              <a:spcBef>
                <a:spcPct val="0"/>
              </a:spcBef>
              <a:spcAft>
                <a:spcPct val="0"/>
              </a:spcAft>
              <a:buClrTx/>
              <a:buSzTx/>
              <a:buFontTx/>
              <a:buNone/>
              <a:defRPr/>
            </a:pPr>
            <a:endPar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pic>
        <p:nvPicPr>
          <p:cNvPr id="19462" name="Picture 7"/>
          <p:cNvPicPr>
            <a:picLocks noChangeAspect="1"/>
          </p:cNvPicPr>
          <p:nvPr/>
        </p:nvPicPr>
        <p:blipFill>
          <a:blip r:embed="rId2"/>
          <a:stretch>
            <a:fillRect/>
          </a:stretch>
        </p:blipFill>
        <p:spPr>
          <a:xfrm>
            <a:off x="571500" y="3929063"/>
            <a:ext cx="8215313" cy="2162175"/>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719138" y="188913"/>
            <a:ext cx="7021512" cy="676275"/>
          </a:xfrm>
        </p:spPr>
        <p:txBody>
          <a:bodyPr vert="horz" wrap="square" lIns="91440" tIns="45720" rIns="91440" bIns="45720" anchor="b" anchorCtr="0"/>
          <a:p>
            <a:pPr eaLnBrk="1" hangingPunct="1"/>
            <a:r>
              <a:rPr lang="zh-CN" altLang="en-US" sz="3600" dirty="0"/>
              <a:t>指令设计系统举例</a:t>
            </a:r>
            <a:endParaRPr lang="zh-CN" altLang="en-US" sz="3600" dirty="0"/>
          </a:p>
        </p:txBody>
      </p:sp>
      <p:sp>
        <p:nvSpPr>
          <p:cNvPr id="14344" name="Rectangle 8"/>
          <p:cNvSpPr>
            <a:spLocks noChangeArrowheads="1"/>
          </p:cNvSpPr>
          <p:nvPr/>
        </p:nvSpPr>
        <p:spPr bwMode="auto">
          <a:xfrm>
            <a:off x="571500" y="1404938"/>
            <a:ext cx="8286750" cy="4754563"/>
          </a:xfrm>
          <a:prstGeom prst="rect">
            <a:avLst/>
          </a:prstGeom>
          <a:noFill/>
          <a:ln w="9525">
            <a:noFill/>
            <a:miter lim="800000"/>
          </a:ln>
          <a:effectLst/>
        </p:spPr>
        <p:txBody>
          <a:bodyPr anchor="ctr">
            <a:spAutoFit/>
          </a:bodyPr>
          <a:lstStyle/>
          <a:p>
            <a:pPr marL="363855" marR="0" lvl="0" indent="-363855" algn="l" defTabSz="914400" rtl="0" eaLnBrk="0" fontAlgn="base" latinLnBrk="0" hangingPunct="0">
              <a:lnSpc>
                <a:spcPct val="100000"/>
              </a:lnSpc>
              <a:spcBef>
                <a:spcPts val="6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请回答下列问题：</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该指令系统最多可有多少条指令</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该计算机最多有多少个通用寄存器？存储地址寄存器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(MAR)</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和存储数据寄存器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(MDR)</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至少各需要多少位？</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转移指令的目标地址范围是多少？</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100000"/>
              </a:lnSpc>
              <a:spcBef>
                <a:spcPts val="60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若操作码</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0010B</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表示加法操作</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助记符为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add)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，寄存器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R4</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R5</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的编号分别为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100B</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101B</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R4</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的内容为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1234H</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R5</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的内容为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5678H</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，存储地址</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1234H</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中的内容为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5678H</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5678H</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中的内容为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1234H</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，则汇编语言为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add  (R4)</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(R5)</a:t>
            </a:r>
            <a:r>
              <a:rPr kumimoji="0" lang="en-US" altLang="zh-CN" sz="2400" b="1" i="0" u="none" strike="noStrike" kern="1200" cap="none" spc="0" normalizeH="0" baseline="30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逗号前为源操作符，逗号后为目的操作数</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对应的机器码是什么</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用十六进制表示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该指令执行后，哪些寄存器和存储单元的内容会改变？改变后的内容是什么？</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p:txBody>
          <a:bodyPr vert="horz" wrap="square" lIns="91440" tIns="45720" rIns="91440" bIns="45720" anchor="b" anchorCtr="0"/>
          <a:p>
            <a:pPr eaLnBrk="1" hangingPunct="1"/>
            <a:r>
              <a:rPr lang="zh-CN" altLang="en-US" sz="3600" dirty="0"/>
              <a:t>指令设计系统举例</a:t>
            </a:r>
            <a:endParaRPr lang="zh-CN" altLang="en-US" sz="3600" dirty="0"/>
          </a:p>
        </p:txBody>
      </p:sp>
      <p:sp>
        <p:nvSpPr>
          <p:cNvPr id="1186819" name="Rectangle 3"/>
          <p:cNvSpPr>
            <a:spLocks noGrp="1" noChangeArrowheads="1"/>
          </p:cNvSpPr>
          <p:nvPr>
            <p:ph idx="1"/>
          </p:nvPr>
        </p:nvSpPr>
        <p:spPr>
          <a:xfrm>
            <a:off x="603250" y="1196975"/>
            <a:ext cx="8216900" cy="5256213"/>
          </a:xfrm>
        </p:spPr>
        <p:txBody>
          <a:bodyPr vert="horz" wrap="square" lIns="91440" tIns="45720" rIns="91440" bIns="45720" numCol="1" anchor="t" anchorCtr="0" compatLnSpc="1"/>
          <a:lstStyle/>
          <a:p>
            <a:pPr marL="179705" marR="0" lvl="0" indent="-179705" algn="l" defTabSz="914400" rtl="0" eaLnBrk="1" fontAlgn="base" latinLnBrk="0" hangingPunct="1">
              <a:lnSpc>
                <a:spcPct val="110000"/>
              </a:lnSpc>
              <a:spcBef>
                <a:spcPct val="100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解：</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10000"/>
              </a:lnSpc>
              <a:spcBef>
                <a:spcPct val="1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最多可有</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mn-cs"/>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16</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条指令</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10000"/>
              </a:lnSpc>
              <a:spcBef>
                <a:spcPct val="1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2</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mn-cs"/>
              </a:rPr>
              <a:t>3</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8</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个通用寄存器</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10000"/>
              </a:lnSpc>
              <a:spcBef>
                <a:spcPct val="1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MAR</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MDR</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至少需</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16</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位</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10000"/>
              </a:lnSpc>
              <a:spcBef>
                <a:spcPct val="1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转移指令的目标地址范围：－</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mn-cs"/>
              </a:rPr>
              <a:t>15</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mn-cs"/>
              </a:rPr>
              <a:t>15</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10000"/>
              </a:lnSpc>
              <a:spcBef>
                <a:spcPct val="1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汇编语言：</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mn-cs"/>
              </a:rPr>
              <a:t>add </a:t>
            </a:r>
            <a:r>
              <a:rPr kumimoji="0" lang="en-US" altLang="zh-CN" sz="2400" b="1" i="0" u="none" strike="noStrike" kern="0" cap="none" spc="0" normalizeH="0" baseline="0" noProof="0" dirty="0" smtClean="0">
                <a:ln>
                  <a:noFill/>
                </a:ln>
                <a:solidFill>
                  <a:srgbClr val="0000CC"/>
                </a:solidFill>
                <a:effectLst/>
                <a:uLnTx/>
                <a:uFillTx/>
                <a:latin typeface="Times New Roman" panose="02020603050405020304" pitchFamily="18" charset="0"/>
                <a:ea typeface="+mn-ea"/>
                <a:cs typeface="+mn-cs"/>
              </a:rPr>
              <a:t>(R4)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smtClean="0">
                <a:ln>
                  <a:noFill/>
                </a:ln>
                <a:solidFill>
                  <a:srgbClr val="7030A0"/>
                </a:solidFill>
                <a:effectLst/>
                <a:uLnTx/>
                <a:uFillTx/>
                <a:latin typeface="Times New Roman" panose="02020603050405020304" pitchFamily="18" charset="0"/>
                <a:ea typeface="+mn-ea"/>
                <a:cs typeface="+mn-cs"/>
              </a:rPr>
              <a:t>(R5)+</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441325" marR="0" lvl="0" indent="-167005" algn="l" defTabSz="914400" rtl="0" eaLnBrk="1" fontAlgn="base" latinLnBrk="0" hangingPunct="1">
              <a:lnSpc>
                <a:spcPct val="110000"/>
              </a:lnSpc>
              <a:spcBef>
                <a:spcPct val="100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所对应的机器码是： </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441325" marR="0" lvl="0" indent="-167005" algn="l" defTabSz="914400" rtl="0" eaLnBrk="1" fontAlgn="base" latinLnBrk="0" hangingPunct="1">
              <a:lnSpc>
                <a:spcPct val="110000"/>
              </a:lnSpc>
              <a:spcBef>
                <a:spcPct val="1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mn-cs"/>
              </a:rPr>
              <a:t>0010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en-US" altLang="zh-CN" sz="2400" b="1" i="0" u="none" strike="noStrike" kern="0" cap="none" spc="0" normalizeH="0" baseline="0" noProof="0" dirty="0" smtClean="0">
                <a:ln>
                  <a:noFill/>
                </a:ln>
                <a:solidFill>
                  <a:srgbClr val="0000CC"/>
                </a:solidFill>
                <a:effectLst/>
                <a:uLnTx/>
                <a:uFillTx/>
                <a:latin typeface="Times New Roman" panose="02020603050405020304" pitchFamily="18" charset="0"/>
                <a:ea typeface="+mn-ea"/>
                <a:cs typeface="+mn-cs"/>
              </a:rPr>
              <a:t>001100</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en-US" altLang="zh-CN" sz="2400" b="1" i="0" u="none" strike="noStrike" kern="0" cap="none" spc="0" normalizeH="0" baseline="0" noProof="0" dirty="0" smtClean="0">
                <a:ln>
                  <a:noFill/>
                </a:ln>
                <a:solidFill>
                  <a:srgbClr val="7030A0"/>
                </a:solidFill>
                <a:effectLst/>
                <a:uLnTx/>
                <a:uFillTx/>
                <a:latin typeface="Times New Roman" panose="02020603050405020304" pitchFamily="18" charset="0"/>
                <a:ea typeface="+mn-ea"/>
                <a:cs typeface="+mn-cs"/>
              </a:rPr>
              <a:t>010101</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B  = 2315H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441325" marR="0" lvl="0" indent="-76200" algn="l" defTabSz="914400" rtl="0" eaLnBrk="1" fontAlgn="base" latinLnBrk="0" hangingPunct="1">
              <a:lnSpc>
                <a:spcPct val="110000"/>
              </a:lnSpc>
              <a:spcBef>
                <a:spcPct val="100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该指令执行后，</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R5</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的内容改变，其值变为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5679H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；存储地址为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5678H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的存储单元内容亦改变，其值变为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68ACH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p:txBody>
      </p:sp>
      <p:sp>
        <p:nvSpPr>
          <p:cNvPr id="4" name="圆角矩形标注 3"/>
          <p:cNvSpPr/>
          <p:nvPr/>
        </p:nvSpPr>
        <p:spPr>
          <a:xfrm>
            <a:off x="4500563" y="1143000"/>
            <a:ext cx="4643438" cy="2643188"/>
          </a:xfrm>
          <a:prstGeom prst="wedgeRoundRectCallout">
            <a:avLst>
              <a:gd name="adj1" fmla="val -49648"/>
              <a:gd name="adj2" fmla="val 22048"/>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指令系统的指令总数取决于操作码的编码位数</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寄存器数取决于其编码位数</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存储地址寄存器</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(MAR)</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的位数取决于主存地址空间大小</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存储数据寄存器</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(MDR)</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取决于数据通路长度</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机器字长</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1200" cap="none" spc="0" normalizeH="0" baseline="0" noProof="0" dirty="0">
              <a:ln>
                <a:noFill/>
              </a:ln>
              <a:solidFill>
                <a:srgbClr val="0000CC"/>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86819">
                                            <p:txEl>
                                              <p:charRg st="0" end="3"/>
                                            </p:txEl>
                                          </p:spTgt>
                                        </p:tgtEl>
                                        <p:attrNameLst>
                                          <p:attrName>style.visibility</p:attrName>
                                        </p:attrNameLst>
                                      </p:cBhvr>
                                      <p:to>
                                        <p:strVal val="visible"/>
                                      </p:to>
                                    </p:set>
                                    <p:animEffect transition="in" filter="blinds(horizontal)">
                                      <p:cBhvr>
                                        <p:cTn id="7" dur="500"/>
                                        <p:tgtEl>
                                          <p:spTgt spid="1186819">
                                            <p:txEl>
                                              <p:charRg st="0" end="3"/>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86819">
                                            <p:txEl>
                                              <p:charRg st="3" end="19"/>
                                            </p:txEl>
                                          </p:spTgt>
                                        </p:tgtEl>
                                        <p:attrNameLst>
                                          <p:attrName>style.visibility</p:attrName>
                                        </p:attrNameLst>
                                      </p:cBhvr>
                                      <p:to>
                                        <p:strVal val="visible"/>
                                      </p:to>
                                    </p:set>
                                    <p:animEffect transition="in" filter="blinds(horizontal)">
                                      <p:cBhvr>
                                        <p:cTn id="11" dur="500"/>
                                        <p:tgtEl>
                                          <p:spTgt spid="1186819">
                                            <p:txEl>
                                              <p:charRg st="3" end="19"/>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186819">
                                            <p:txEl>
                                              <p:charRg st="19" end="34"/>
                                            </p:txEl>
                                          </p:spTgt>
                                        </p:tgtEl>
                                        <p:attrNameLst>
                                          <p:attrName>style.visibility</p:attrName>
                                        </p:attrNameLst>
                                      </p:cBhvr>
                                      <p:to>
                                        <p:strVal val="visible"/>
                                      </p:to>
                                    </p:set>
                                    <p:animEffect transition="in" filter="blinds(horizontal)">
                                      <p:cBhvr>
                                        <p:cTn id="15" dur="500"/>
                                        <p:tgtEl>
                                          <p:spTgt spid="1186819">
                                            <p:txEl>
                                              <p:charRg st="19" end="34"/>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186819">
                                            <p:txEl>
                                              <p:charRg st="34" end="52"/>
                                            </p:txEl>
                                          </p:spTgt>
                                        </p:tgtEl>
                                        <p:attrNameLst>
                                          <p:attrName>style.visibility</p:attrName>
                                        </p:attrNameLst>
                                      </p:cBhvr>
                                      <p:to>
                                        <p:strVal val="visible"/>
                                      </p:to>
                                    </p:set>
                                    <p:animEffect transition="in" filter="blinds(horizontal)">
                                      <p:cBhvr>
                                        <p:cTn id="19" dur="500"/>
                                        <p:tgtEl>
                                          <p:spTgt spid="1186819">
                                            <p:txEl>
                                              <p:charRg st="34" end="5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linds(horizontal)">
                                      <p:cBhvr>
                                        <p:cTn id="24"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186819">
                                            <p:txEl>
                                              <p:charRg st="52" end="81"/>
                                            </p:txEl>
                                          </p:spTgt>
                                        </p:tgtEl>
                                        <p:attrNameLst>
                                          <p:attrName>style.visibility</p:attrName>
                                        </p:attrNameLst>
                                      </p:cBhvr>
                                      <p:to>
                                        <p:strVal val="visible"/>
                                      </p:to>
                                    </p:set>
                                    <p:animEffect transition="in" filter="blinds(horizontal)">
                                      <p:cBhvr>
                                        <p:cTn id="29" dur="500"/>
                                        <p:tgtEl>
                                          <p:spTgt spid="1186819">
                                            <p:txEl>
                                              <p:charRg st="52" end="81"/>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1186819">
                                            <p:txEl>
                                              <p:charRg st="81" end="106"/>
                                            </p:txEl>
                                          </p:spTgt>
                                        </p:tgtEl>
                                        <p:attrNameLst>
                                          <p:attrName>style.visibility</p:attrName>
                                        </p:attrNameLst>
                                      </p:cBhvr>
                                      <p:to>
                                        <p:strVal val="visible"/>
                                      </p:to>
                                    </p:set>
                                    <p:animEffect transition="in" filter="blinds(horizontal)">
                                      <p:cBhvr>
                                        <p:cTn id="32" dur="500"/>
                                        <p:tgtEl>
                                          <p:spTgt spid="1186819">
                                            <p:txEl>
                                              <p:charRg st="81" end="106"/>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186819">
                                            <p:txEl>
                                              <p:charRg st="106" end="118"/>
                                            </p:txEl>
                                          </p:spTgt>
                                        </p:tgtEl>
                                        <p:attrNameLst>
                                          <p:attrName>style.visibility</p:attrName>
                                        </p:attrNameLst>
                                      </p:cBhvr>
                                      <p:to>
                                        <p:strVal val="visible"/>
                                      </p:to>
                                    </p:set>
                                    <p:animEffect transition="in" filter="blinds(horizontal)">
                                      <p:cBhvr>
                                        <p:cTn id="35" dur="500"/>
                                        <p:tgtEl>
                                          <p:spTgt spid="1186819">
                                            <p:txEl>
                                              <p:charRg st="106" end="118"/>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186819">
                                            <p:txEl>
                                              <p:charRg st="118" end="152"/>
                                            </p:txEl>
                                          </p:spTgt>
                                        </p:tgtEl>
                                        <p:attrNameLst>
                                          <p:attrName>style.visibility</p:attrName>
                                        </p:attrNameLst>
                                      </p:cBhvr>
                                      <p:to>
                                        <p:strVal val="visible"/>
                                      </p:to>
                                    </p:set>
                                    <p:animEffect transition="in" filter="blinds(horizontal)">
                                      <p:cBhvr>
                                        <p:cTn id="38" dur="500"/>
                                        <p:tgtEl>
                                          <p:spTgt spid="1186819">
                                            <p:txEl>
                                              <p:charRg st="118" end="152"/>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1186819">
                                            <p:txEl>
                                              <p:charRg st="152" end="211"/>
                                            </p:txEl>
                                          </p:spTgt>
                                        </p:tgtEl>
                                        <p:attrNameLst>
                                          <p:attrName>style.visibility</p:attrName>
                                        </p:attrNameLst>
                                      </p:cBhvr>
                                      <p:to>
                                        <p:strVal val="visible"/>
                                      </p:to>
                                    </p:set>
                                    <p:animEffect transition="in" filter="blinds(horizontal)">
                                      <p:cBhvr>
                                        <p:cTn id="41" dur="500"/>
                                        <p:tgtEl>
                                          <p:spTgt spid="1186819">
                                            <p:txEl>
                                              <p:charRg st="152" end="2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内容占位符 2"/>
          <p:cNvSpPr>
            <a:spLocks noGrp="1"/>
          </p:cNvSpPr>
          <p:nvPr>
            <p:ph idx="1"/>
          </p:nvPr>
        </p:nvSpPr>
        <p:spPr>
          <a:xfrm>
            <a:off x="500063" y="1357313"/>
            <a:ext cx="8215312" cy="4772025"/>
          </a:xfrm>
        </p:spPr>
        <p:txBody>
          <a:bodyPr vert="horz" wrap="square" lIns="91440" tIns="45720" rIns="91440" bIns="45720" anchor="t" anchorCtr="0"/>
          <a:p>
            <a:pPr marL="0" indent="0">
              <a:buNone/>
            </a:pPr>
            <a:r>
              <a:rPr lang="en-US" altLang="zh-CN" sz="2400" dirty="0">
                <a:solidFill>
                  <a:srgbClr val="FF0000"/>
                </a:solidFill>
                <a:latin typeface="Times New Roman" panose="02020603050405020304" pitchFamily="18" charset="0"/>
                <a:cs typeface="Times New Roman" panose="02020603050405020304" pitchFamily="18" charset="0"/>
              </a:rPr>
              <a:t>2014</a:t>
            </a:r>
            <a:r>
              <a:rPr lang="zh-CN" altLang="en-US" sz="2400" dirty="0">
                <a:solidFill>
                  <a:srgbClr val="FF0000"/>
                </a:solidFill>
                <a:latin typeface="Times New Roman" panose="02020603050405020304" pitchFamily="18" charset="0"/>
                <a:cs typeface="Times New Roman" panose="02020603050405020304" pitchFamily="18" charset="0"/>
              </a:rPr>
              <a:t>年考研题：</a:t>
            </a:r>
            <a:r>
              <a:rPr lang="zh-CN" altLang="en-US" sz="2400" dirty="0">
                <a:latin typeface="Times New Roman" panose="02020603050405020304" pitchFamily="18" charset="0"/>
                <a:cs typeface="Times New Roman" panose="02020603050405020304" pitchFamily="18" charset="0"/>
              </a:rPr>
              <a:t>某程序中有如下循环代码段</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for(i=0;i&lt;N;i++)sum+=A[i];</a:t>
            </a:r>
            <a:r>
              <a:rPr lang="zh-CN" altLang="en-US" sz="2400" dirty="0">
                <a:latin typeface="Times New Roman" panose="02020603050405020304" pitchFamily="18" charset="0"/>
                <a:cs typeface="Times New Roman" panose="02020603050405020304" pitchFamily="18" charset="0"/>
              </a:rPr>
              <a:t>”，假设编译时变量</a:t>
            </a:r>
            <a:r>
              <a:rPr lang="en-US" altLang="zh-CN" sz="2400" dirty="0">
                <a:latin typeface="Times New Roman" panose="02020603050405020304" pitchFamily="18" charset="0"/>
                <a:cs typeface="Times New Roman" panose="02020603050405020304" pitchFamily="18" charset="0"/>
              </a:rPr>
              <a:t>sum</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分别分配在寄存器</a:t>
            </a:r>
            <a:r>
              <a:rPr lang="en-US" altLang="zh-CN" sz="2400" dirty="0">
                <a:latin typeface="Times New Roman" panose="02020603050405020304" pitchFamily="18" charset="0"/>
                <a:cs typeface="Times New Roman" panose="02020603050405020304" pitchFamily="18" charset="0"/>
              </a:rPr>
              <a:t>R1</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R2</a:t>
            </a:r>
            <a:r>
              <a:rPr lang="zh-CN" altLang="en-US" sz="2400" dirty="0">
                <a:latin typeface="Times New Roman" panose="02020603050405020304" pitchFamily="18" charset="0"/>
                <a:cs typeface="Times New Roman" panose="02020603050405020304" pitchFamily="18" charset="0"/>
              </a:rPr>
              <a:t>中，常量</a:t>
            </a:r>
            <a:r>
              <a:rPr lang="en-US" altLang="zh-CN" sz="2400"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在寄存器</a:t>
            </a:r>
            <a:r>
              <a:rPr lang="en-US" altLang="zh-CN" sz="2400" dirty="0">
                <a:latin typeface="Times New Roman" panose="02020603050405020304" pitchFamily="18" charset="0"/>
                <a:cs typeface="Times New Roman" panose="02020603050405020304" pitchFamily="18" charset="0"/>
              </a:rPr>
              <a:t>R6</a:t>
            </a:r>
            <a:r>
              <a:rPr lang="zh-CN" altLang="en-US" sz="2400" dirty="0">
                <a:latin typeface="Times New Roman" panose="02020603050405020304" pitchFamily="18" charset="0"/>
                <a:cs typeface="Times New Roman" panose="02020603050405020304" pitchFamily="18" charset="0"/>
              </a:rPr>
              <a:t>中，数组</a:t>
            </a:r>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的首地址在寄存器</a:t>
            </a:r>
            <a:r>
              <a:rPr lang="en-US" altLang="zh-CN" sz="2400" dirty="0">
                <a:latin typeface="Times New Roman" panose="02020603050405020304" pitchFamily="18" charset="0"/>
                <a:cs typeface="Times New Roman" panose="02020603050405020304" pitchFamily="18" charset="0"/>
              </a:rPr>
              <a:t>R3</a:t>
            </a:r>
            <a:r>
              <a:rPr lang="zh-CN" altLang="en-US" sz="2400" dirty="0">
                <a:latin typeface="Times New Roman" panose="02020603050405020304" pitchFamily="18" charset="0"/>
                <a:cs typeface="Times New Roman" panose="02020603050405020304" pitchFamily="18" charset="0"/>
              </a:rPr>
              <a:t>中。程序段</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起始地址为</a:t>
            </a:r>
            <a:r>
              <a:rPr lang="en-US" altLang="zh-CN" sz="2400" dirty="0">
                <a:latin typeface="Times New Roman" panose="02020603050405020304" pitchFamily="18" charset="0"/>
                <a:cs typeface="Times New Roman" panose="02020603050405020304" pitchFamily="18" charset="0"/>
              </a:rPr>
              <a:t>0804 8100H</a:t>
            </a:r>
            <a:r>
              <a:rPr lang="zh-CN" altLang="en-US" sz="2400" dirty="0">
                <a:latin typeface="Times New Roman" panose="02020603050405020304" pitchFamily="18" charset="0"/>
                <a:cs typeface="Times New Roman" panose="02020603050405020304" pitchFamily="18" charset="0"/>
              </a:rPr>
              <a:t>，对应的汇编代码和机器代码如表所示。</a:t>
            </a:r>
            <a:endParaRPr lang="zh-CN" altLang="en-US" sz="2400" dirty="0">
              <a:latin typeface="Times New Roman" panose="02020603050405020304" pitchFamily="18" charset="0"/>
              <a:cs typeface="Times New Roman" panose="02020603050405020304" pitchFamily="18" charset="0"/>
            </a:endParaRPr>
          </a:p>
          <a:p>
            <a:pPr marL="0" indent="0">
              <a:buNone/>
            </a:pPr>
            <a:endParaRPr lang="zh-CN" altLang="en-US"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endParaRPr lang="zh-CN" altLang="en-US" sz="2400" dirty="0">
              <a:latin typeface="Times New Roman" panose="02020603050405020304" pitchFamily="18" charset="0"/>
              <a:ea typeface="Times New Roman" panose="02020603050405020304" pitchFamily="18" charset="0"/>
            </a:endParaRPr>
          </a:p>
        </p:txBody>
      </p:sp>
      <p:sp>
        <p:nvSpPr>
          <p:cNvPr id="22531" name="Rectangle 3"/>
          <p:cNvSpPr>
            <a:spLocks noGrp="1"/>
          </p:cNvSpPr>
          <p:nvPr>
            <p:ph type="title"/>
          </p:nvPr>
        </p:nvSpPr>
        <p:spPr/>
        <p:txBody>
          <a:bodyPr vert="horz" wrap="square" lIns="91440" tIns="45720" rIns="91440" bIns="45720" anchor="b" anchorCtr="0">
            <a:spAutoFit/>
          </a:bodyPr>
          <a:p>
            <a:r>
              <a:rPr lang="zh-CN" altLang="en-US" sz="3600" dirty="0">
                <a:latin typeface="Times New Roman" panose="02020603050405020304" pitchFamily="18" charset="0"/>
              </a:rPr>
              <a:t>指令系统设计举例</a:t>
            </a:r>
            <a:endParaRPr lang="zh-CN" altLang="en-US" sz="3600" dirty="0">
              <a:latin typeface="Times New Roman" panose="02020603050405020304" pitchFamily="18" charset="0"/>
            </a:endParaRPr>
          </a:p>
        </p:txBody>
      </p:sp>
      <p:pic>
        <p:nvPicPr>
          <p:cNvPr id="22532" name="Picture 5"/>
          <p:cNvPicPr>
            <a:picLocks noChangeAspect="1"/>
          </p:cNvPicPr>
          <p:nvPr/>
        </p:nvPicPr>
        <p:blipFill>
          <a:blip r:embed="rId1"/>
          <a:stretch>
            <a:fillRect/>
          </a:stretch>
        </p:blipFill>
        <p:spPr>
          <a:xfrm>
            <a:off x="500063" y="3305175"/>
            <a:ext cx="8143875" cy="2909888"/>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57188" y="1393825"/>
            <a:ext cx="8572500" cy="47720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执行上述代码的计算机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采用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位定长指令字，其中分支指令</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bne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采用如下格式：</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其中：</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OP</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为操作码；</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Rs</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Rd</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为寄存器编号；</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OFFSET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为偏移量，用补码表示。请回答下列问题，并说明理由。</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100000"/>
              </a:lnSpc>
              <a:spcBef>
                <a:spcPct val="20000"/>
              </a:spcBef>
              <a:spcAft>
                <a:spcPct val="0"/>
              </a:spcAft>
              <a:buClrTx/>
              <a:buSzTx/>
              <a:buFont typeface="+mj-ea"/>
              <a:buAutoNum type="circleNumDbPlain"/>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的存储器编址单位是什么？</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100000"/>
              </a:lnSpc>
              <a:spcBef>
                <a:spcPct val="20000"/>
              </a:spcBef>
              <a:spcAft>
                <a:spcPct val="0"/>
              </a:spcAft>
              <a:buClrTx/>
              <a:buSzTx/>
              <a:buFont typeface="+mj-ea"/>
              <a:buAutoNum type="circleNumDbPlai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已知</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sll</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指令实现左移功能，数组</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中每个元素占多少位？</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100000"/>
              </a:lnSpc>
              <a:spcBef>
                <a:spcPct val="20000"/>
              </a:spcBef>
              <a:spcAft>
                <a:spcPct val="0"/>
              </a:spcAft>
              <a:buClrTx/>
              <a:buSzTx/>
              <a:buFont typeface="+mj-ea"/>
              <a:buAutoNum type="circleNumDbPlai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表中</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bne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指令的</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OFFSET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字段的值是多少？已知</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bne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指令采用相对寻址方式，当前</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内容为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bne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指令地址，通过分析表中指令地址和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bne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指令内容，推断出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bne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指令的转移目标地址计算公式。</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3555" name="Rectangle 3"/>
          <p:cNvSpPr>
            <a:spLocks noGrp="1"/>
          </p:cNvSpPr>
          <p:nvPr>
            <p:ph type="title"/>
          </p:nvPr>
        </p:nvSpPr>
        <p:spPr/>
        <p:txBody>
          <a:bodyPr vert="horz" wrap="square" lIns="91440" tIns="45720" rIns="91440" bIns="45720" anchor="b" anchorCtr="0">
            <a:spAutoFit/>
          </a:bodyPr>
          <a:p>
            <a:r>
              <a:rPr lang="zh-CN" altLang="en-US" sz="3600" dirty="0">
                <a:latin typeface="Times New Roman" panose="02020603050405020304" pitchFamily="18" charset="0"/>
              </a:rPr>
              <a:t>指令系统设计举例</a:t>
            </a:r>
            <a:endParaRPr lang="zh-CN" altLang="en-US" sz="3600" dirty="0">
              <a:latin typeface="Times New Roman" panose="02020603050405020304" pitchFamily="18" charset="0"/>
            </a:endParaRPr>
          </a:p>
        </p:txBody>
      </p:sp>
      <p:pic>
        <p:nvPicPr>
          <p:cNvPr id="23556" name="图片 4"/>
          <p:cNvPicPr>
            <a:picLocks noChangeAspect="1"/>
          </p:cNvPicPr>
          <p:nvPr/>
        </p:nvPicPr>
        <p:blipFill>
          <a:blip r:embed="rId1"/>
          <a:stretch>
            <a:fillRect/>
          </a:stretch>
        </p:blipFill>
        <p:spPr>
          <a:xfrm>
            <a:off x="1143000" y="2257425"/>
            <a:ext cx="7072313" cy="785813"/>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p:cNvSpPr>
          <p:nvPr>
            <p:ph type="title"/>
          </p:nvPr>
        </p:nvSpPr>
        <p:spPr/>
        <p:txBody>
          <a:bodyPr vert="horz" wrap="square" lIns="91440" tIns="45720" rIns="91440" bIns="45720" anchor="b" anchorCtr="0"/>
          <a:p>
            <a:pPr eaLnBrk="1" hangingPunct="1"/>
            <a:r>
              <a:rPr lang="zh-CN" altLang="en-US" sz="3600" dirty="0"/>
              <a:t>指令设计系统举例</a:t>
            </a:r>
            <a:endParaRPr lang="zh-CN" altLang="en-US" sz="3600" dirty="0"/>
          </a:p>
        </p:txBody>
      </p:sp>
      <p:sp>
        <p:nvSpPr>
          <p:cNvPr id="1186819" name="Rectangle 3"/>
          <p:cNvSpPr>
            <a:spLocks noGrp="1" noChangeArrowheads="1"/>
          </p:cNvSpPr>
          <p:nvPr>
            <p:ph idx="1"/>
          </p:nvPr>
        </p:nvSpPr>
        <p:spPr>
          <a:xfrm>
            <a:off x="603250" y="1196975"/>
            <a:ext cx="8035290" cy="5661025"/>
          </a:xfrm>
        </p:spPr>
        <p:txBody>
          <a:bodyPr vert="horz" wrap="square" lIns="91440" tIns="45720" rIns="91440" bIns="45720" numCol="1" anchor="t" anchorCtr="0" compatLnSpc="1"/>
          <a:lstStyle/>
          <a:p>
            <a:pPr marL="179705" marR="0" lvl="0" indent="-179705" algn="l" defTabSz="914400" rtl="0" eaLnBrk="1" fontAlgn="base" latinLnBrk="0" hangingPunct="1">
              <a:lnSpc>
                <a:spcPct val="100000"/>
              </a:lnSpc>
              <a:spcBef>
                <a:spcPts val="300"/>
              </a:spcBef>
              <a:spcAft>
                <a:spcPts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解：</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1" fontAlgn="base" latinLnBrk="0" hangingPunct="1">
              <a:lnSpc>
                <a:spcPct val="100000"/>
              </a:lnSpc>
              <a:spcBef>
                <a:spcPts val="300"/>
              </a:spcBef>
              <a:spcAft>
                <a:spcPts val="0"/>
              </a:spcAft>
              <a:buClrTx/>
              <a:buSzTx/>
              <a:buFont typeface="+mj-ea"/>
              <a:buAutoNum type="circleNumDbPlain"/>
              <a:defRPr/>
            </a:pPr>
            <a:r>
              <a:rPr kumimoji="0" lang="zh-CN" altLang="en-US"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rPr>
              <a:t>字节</a:t>
            </a: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由题可知每条指令的长度为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位，占</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个字节，而从表中得知相邻的两条指令的地址相差</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个单位，所以存储器编址单位是字节。</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1" fontAlgn="base" latinLnBrk="0" hangingPunct="1">
              <a:lnSpc>
                <a:spcPct val="100000"/>
              </a:lnSpc>
              <a:spcBef>
                <a:spcPts val="300"/>
              </a:spcBef>
              <a:spcAft>
                <a:spcPts val="0"/>
              </a:spcAft>
              <a:buClrTx/>
              <a:buSzTx/>
              <a:buFont typeface="+mj-ea"/>
              <a:buAutoNum type="circleNumDbPlain"/>
              <a:defRPr/>
            </a:pPr>
            <a:r>
              <a:rPr kumimoji="0" lang="en-US" altLang="zh-CN"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Times New Roman" panose="02020603050405020304" pitchFamily="18" charset="0"/>
              </a:rPr>
              <a:t>32</a:t>
            </a:r>
            <a:r>
              <a:rPr kumimoji="0" lang="zh-CN" altLang="en-US"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Times New Roman" panose="02020603050405020304" pitchFamily="18" charset="0"/>
              </a:rPr>
              <a:t>位</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。因为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内</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存放的是数组元素的下标</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，将</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中的内容左移两位，相当于乘以</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，然后加上</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R3</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中存放的数组的首地址，得到元素所在内存的地址，然后每循环一次，</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中内容自增</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。因为存储器按字节编址，每计算一次移动</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个位置，故每个数组元素占</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个字节，即</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1" fontAlgn="base" latinLnBrk="0" hangingPunct="1">
              <a:lnSpc>
                <a:spcPct val="100000"/>
              </a:lnSpc>
              <a:spcBef>
                <a:spcPts val="300"/>
              </a:spcBef>
              <a:spcAft>
                <a:spcPts val="0"/>
              </a:spcAft>
              <a:buClrTx/>
              <a:buSzTx/>
              <a:buFont typeface="+mj-ea"/>
              <a:buAutoNum type="circleNumDbPlain"/>
              <a:defRPr/>
            </a:pPr>
            <a:r>
              <a:rPr kumimoji="0" lang="en-US" altLang="zh-CN"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Times New Roman" panose="02020603050405020304" pitchFamily="18" charset="0"/>
              </a:rPr>
              <a:t>OFFSET=FFFAH(-6)</a:t>
            </a:r>
            <a:r>
              <a:rPr kumimoji="0" lang="zh-CN" altLang="en-US" sz="2400" b="0" i="0" u="none" strike="noStrike" kern="0" cap="none" spc="0" normalizeH="0" baseline="0" noProof="0" dirty="0" smtClean="0">
                <a:ln>
                  <a:noFill/>
                </a:ln>
                <a:solidFill>
                  <a:schemeClr val="tx1"/>
                </a:solidFill>
                <a:effectLst/>
                <a:uLnTx/>
                <a:uFillTx/>
                <a:latin typeface="方正正粗黑简体" pitchFamily="2" charset="-122"/>
                <a:ea typeface="方正正粗黑简体" pitchFamily="2" charset="-122"/>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bne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所在地址为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0804 8114H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，转移目标地址为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0804 8100H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，因为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08048100H=08048114H+4+(-6)×4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。所以，指令</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bne</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的转移目标地址计算公式为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PC)+4+OFFSET×4</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86819">
                                            <p:txEl>
                                              <p:charRg st="0" end="3"/>
                                            </p:txEl>
                                          </p:spTgt>
                                        </p:tgtEl>
                                        <p:attrNameLst>
                                          <p:attrName>style.visibility</p:attrName>
                                        </p:attrNameLst>
                                      </p:cBhvr>
                                      <p:to>
                                        <p:strVal val="visible"/>
                                      </p:to>
                                    </p:set>
                                    <p:animEffect transition="in" filter="blinds(horizontal)">
                                      <p:cBhvr>
                                        <p:cTn id="7" dur="500"/>
                                        <p:tgtEl>
                                          <p:spTgt spid="1186819">
                                            <p:txEl>
                                              <p:charRg st="0"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186819">
                                            <p:txEl>
                                              <p:charRg st="3" end="65"/>
                                            </p:txEl>
                                          </p:spTgt>
                                        </p:tgtEl>
                                        <p:attrNameLst>
                                          <p:attrName>style.visibility</p:attrName>
                                        </p:attrNameLst>
                                      </p:cBhvr>
                                      <p:to>
                                        <p:strVal val="visible"/>
                                      </p:to>
                                    </p:set>
                                    <p:animEffect transition="in" filter="blinds(horizontal)">
                                      <p:cBhvr>
                                        <p:cTn id="10" dur="500"/>
                                        <p:tgtEl>
                                          <p:spTgt spid="1186819">
                                            <p:txEl>
                                              <p:charRg st="3" end="6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186819">
                                            <p:txEl>
                                              <p:charRg st="65" end="195"/>
                                            </p:txEl>
                                          </p:spTgt>
                                        </p:tgtEl>
                                        <p:attrNameLst>
                                          <p:attrName>style.visibility</p:attrName>
                                        </p:attrNameLst>
                                      </p:cBhvr>
                                      <p:to>
                                        <p:strVal val="visible"/>
                                      </p:to>
                                    </p:set>
                                    <p:animEffect transition="in" filter="blinds(horizontal)">
                                      <p:cBhvr>
                                        <p:cTn id="13" dur="500"/>
                                        <p:tgtEl>
                                          <p:spTgt spid="1186819">
                                            <p:txEl>
                                              <p:charRg st="65" end="1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p:txBody>
          <a:bodyPr vert="horz" wrap="square" lIns="91440" tIns="45720" rIns="91440" bIns="45720" anchor="b" anchorCtr="0"/>
          <a:p>
            <a:r>
              <a:rPr lang="zh-CN" altLang="en-US" dirty="0"/>
              <a:t>三、关于转移指令和跳转指令</a:t>
            </a:r>
            <a:endParaRPr lang="zh-CN" altLang="en-US" dirty="0"/>
          </a:p>
        </p:txBody>
      </p:sp>
      <p:sp>
        <p:nvSpPr>
          <p:cNvPr id="25603" name="内容占位符 2"/>
          <p:cNvSpPr>
            <a:spLocks noGrp="1"/>
          </p:cNvSpPr>
          <p:nvPr>
            <p:ph idx="1"/>
          </p:nvPr>
        </p:nvSpPr>
        <p:spPr>
          <a:xfrm>
            <a:off x="539750" y="1341438"/>
            <a:ext cx="8280400" cy="4772025"/>
          </a:xfrm>
        </p:spPr>
        <p:txBody>
          <a:bodyPr vert="horz" wrap="square" lIns="91440" tIns="45720" rIns="91440" bIns="45720" anchor="t" anchorCtr="0"/>
          <a:p>
            <a:pPr>
              <a:lnSpc>
                <a:spcPct val="110000"/>
              </a:lnSpc>
              <a:spcBef>
                <a:spcPts val="600"/>
              </a:spcBef>
              <a:spcAft>
                <a:spcPts val="0"/>
              </a:spcAft>
            </a:pPr>
            <a:r>
              <a:rPr lang="en-US" altLang="zh-CN" sz="2800" dirty="0">
                <a:latin typeface="Times New Roman" panose="02020603050405020304" pitchFamily="18" charset="0"/>
                <a:cs typeface="Times New Roman" panose="02020603050405020304" pitchFamily="18" charset="0"/>
              </a:rPr>
              <a:t>RISC-V</a:t>
            </a:r>
            <a:r>
              <a:rPr lang="zh-CN" altLang="en-US" sz="2800" dirty="0">
                <a:latin typeface="Times New Roman" panose="02020603050405020304" pitchFamily="18" charset="0"/>
                <a:cs typeface="Times New Roman" panose="02020603050405020304" pitchFamily="18" charset="0"/>
              </a:rPr>
              <a:t>中的条件转移指令</a:t>
            </a:r>
            <a:endParaRPr lang="en-US" altLang="zh-CN" sz="2800" dirty="0">
              <a:latin typeface="Times New Roman" panose="02020603050405020304" pitchFamily="18" charset="0"/>
              <a:cs typeface="Times New Roman" panose="02020603050405020304" pitchFamily="18" charset="0"/>
            </a:endParaRPr>
          </a:p>
          <a:p>
            <a:pPr marL="625475" lvl="1" indent="-266700">
              <a:lnSpc>
                <a:spcPct val="110000"/>
              </a:lnSpc>
              <a:spcBef>
                <a:spcPts val="600"/>
              </a:spcBef>
              <a:spcAft>
                <a:spcPts val="0"/>
              </a:spcAft>
            </a:pPr>
            <a:r>
              <a:rPr lang="zh-CN" altLang="en-US" sz="2400" dirty="0">
                <a:latin typeface="Times New Roman" panose="02020603050405020304" pitchFamily="18" charset="0"/>
                <a:cs typeface="Times New Roman" panose="02020603050405020304" pitchFamily="18" charset="0"/>
              </a:rPr>
              <a:t>采用</a:t>
            </a:r>
            <a:r>
              <a:rPr lang="zh-CN" altLang="en-US" sz="2400" dirty="0">
                <a:solidFill>
                  <a:srgbClr val="FF0000"/>
                </a:solidFill>
                <a:latin typeface="方正正粗黑简体" pitchFamily="2" charset="-122"/>
                <a:ea typeface="方正正粗黑简体" pitchFamily="2" charset="-122"/>
              </a:rPr>
              <a:t>相对寻址方式</a:t>
            </a:r>
            <a:r>
              <a:rPr lang="zh-CN" altLang="en-US" sz="2400" dirty="0">
                <a:latin typeface="Times New Roman" panose="02020603050405020304" pitchFamily="18" charset="0"/>
                <a:cs typeface="Times New Roman" panose="02020603050405020304" pitchFamily="18" charset="0"/>
              </a:rPr>
              <a:t>，指令中给出的</a:t>
            </a:r>
            <a:r>
              <a:rPr lang="en-US" altLang="zh-CN" sz="2400" dirty="0">
                <a:solidFill>
                  <a:srgbClr val="0000FF"/>
                </a:solidFill>
                <a:latin typeface="Times New Roman" panose="02020603050405020304" pitchFamily="18" charset="0"/>
                <a:cs typeface="Times New Roman" panose="02020603050405020304" pitchFamily="18" charset="0"/>
              </a:rPr>
              <a:t>12</a:t>
            </a:r>
            <a:r>
              <a:rPr lang="zh-CN" altLang="en-US" sz="2400" dirty="0">
                <a:solidFill>
                  <a:srgbClr val="0000FF"/>
                </a:solidFill>
                <a:latin typeface="Times New Roman" panose="02020603050405020304" pitchFamily="18" charset="0"/>
                <a:cs typeface="Times New Roman" panose="02020603050405020304" pitchFamily="18" charset="0"/>
              </a:rPr>
              <a:t>位立即数是相对于下一条指令的指令条数</a:t>
            </a:r>
            <a:r>
              <a:rPr lang="zh-CN" altLang="en-US" sz="2400" dirty="0">
                <a:latin typeface="Times New Roman" panose="02020603050405020304" pitchFamily="18" charset="0"/>
                <a:cs typeface="Times New Roman" panose="02020603050405020304" pitchFamily="18" charset="0"/>
              </a:rPr>
              <a:t>，而非相对于下条指令的存储单元地址数</a:t>
            </a:r>
            <a:endParaRPr lang="en-US" altLang="zh-CN" sz="2400" dirty="0">
              <a:latin typeface="Times New Roman" panose="02020603050405020304" pitchFamily="18" charset="0"/>
              <a:cs typeface="Times New Roman" panose="02020603050405020304" pitchFamily="18" charset="0"/>
            </a:endParaRPr>
          </a:p>
          <a:p>
            <a:pPr marL="625475" lvl="1" indent="-266700">
              <a:lnSpc>
                <a:spcPct val="110000"/>
              </a:lnSpc>
              <a:spcBef>
                <a:spcPts val="600"/>
              </a:spcBef>
              <a:spcAft>
                <a:spcPts val="0"/>
              </a:spcAft>
            </a:pPr>
            <a:r>
              <a:rPr lang="zh-CN" altLang="en-US" sz="2400" dirty="0">
                <a:latin typeface="Times New Roman" panose="02020603050405020304" pitchFamily="18" charset="0"/>
                <a:cs typeface="Times New Roman" panose="02020603050405020304" pitchFamily="18" charset="0"/>
              </a:rPr>
              <a:t>由于</a:t>
            </a:r>
            <a:r>
              <a:rPr lang="en-US" altLang="zh-CN" sz="2400" dirty="0">
                <a:latin typeface="Times New Roman" panose="02020603050405020304" pitchFamily="18" charset="0"/>
                <a:cs typeface="Times New Roman" panose="02020603050405020304" pitchFamily="18" charset="0"/>
              </a:rPr>
              <a:t>RISC-V</a:t>
            </a:r>
            <a:r>
              <a:rPr lang="zh-CN" altLang="en-US" sz="2400" dirty="0">
                <a:latin typeface="Times New Roman" panose="02020603050405020304" pitchFamily="18" charset="0"/>
                <a:cs typeface="Times New Roman" panose="02020603050405020304" pitchFamily="18" charset="0"/>
              </a:rPr>
              <a:t>考虑指令兼容性，这里的每条指令</a:t>
            </a:r>
            <a:r>
              <a:rPr lang="zh-CN" sz="2400" dirty="0">
                <a:latin typeface="Times New Roman" panose="02020603050405020304" pitchFamily="18" charset="0"/>
                <a:cs typeface="Times New Roman" panose="02020603050405020304" pitchFamily="18" charset="0"/>
              </a:rPr>
              <a:t>是</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个字节，计算转移目的地址时，需要将指令数乘以</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，再加上</a:t>
            </a:r>
            <a:r>
              <a:rPr lang="en-US" altLang="zh-CN" sz="2400" dirty="0">
                <a:latin typeface="Times New Roman" panose="02020603050405020304" pitchFamily="18" charset="0"/>
                <a:cs typeface="Times New Roman" panose="02020603050405020304" pitchFamily="18" charset="0"/>
              </a:rPr>
              <a:t>(PC+4)</a:t>
            </a:r>
            <a:r>
              <a:rPr lang="zh-CN" altLang="en-US" sz="2400" dirty="0">
                <a:latin typeface="Times New Roman" panose="02020603050405020304" pitchFamily="18" charset="0"/>
                <a:cs typeface="Times New Roman" panose="02020603050405020304" pitchFamily="18" charset="0"/>
              </a:rPr>
              <a:t>值</a:t>
            </a:r>
            <a:endParaRPr lang="en-US" altLang="zh-CN" sz="2400" dirty="0">
              <a:latin typeface="Times New Roman" panose="02020603050405020304" pitchFamily="18" charset="0"/>
              <a:cs typeface="Times New Roman" panose="02020603050405020304" pitchFamily="18" charset="0"/>
            </a:endParaRPr>
          </a:p>
          <a:p>
            <a:pPr>
              <a:lnSpc>
                <a:spcPct val="110000"/>
              </a:lnSpc>
              <a:spcBef>
                <a:spcPts val="600"/>
              </a:spcBef>
              <a:spcAft>
                <a:spcPts val="0"/>
              </a:spcAft>
            </a:pPr>
            <a:r>
              <a:rPr lang="en-US" altLang="zh-CN" sz="2800" dirty="0">
                <a:latin typeface="Times New Roman" panose="02020603050405020304" pitchFamily="18" charset="0"/>
                <a:cs typeface="Times New Roman" panose="02020603050405020304" pitchFamily="18" charset="0"/>
              </a:rPr>
              <a:t>RISC-V</a:t>
            </a:r>
            <a:r>
              <a:rPr lang="zh-CN" altLang="en-US" sz="2800" dirty="0">
                <a:latin typeface="Times New Roman" panose="02020603050405020304" pitchFamily="18" charset="0"/>
                <a:cs typeface="Times New Roman" panose="02020603050405020304" pitchFamily="18" charset="0"/>
              </a:rPr>
              <a:t>中的无条件跳转指令</a:t>
            </a:r>
            <a:endParaRPr lang="en-US" altLang="zh-CN" sz="2800" dirty="0">
              <a:latin typeface="Times New Roman" panose="02020603050405020304" pitchFamily="18" charset="0"/>
              <a:cs typeface="Times New Roman" panose="02020603050405020304" pitchFamily="18" charset="0"/>
            </a:endParaRPr>
          </a:p>
          <a:p>
            <a:pPr marL="625475" lvl="1" indent="-266700">
              <a:lnSpc>
                <a:spcPct val="110000"/>
              </a:lnSpc>
              <a:spcBef>
                <a:spcPts val="600"/>
              </a:spcBef>
              <a:spcAft>
                <a:spcPts val="0"/>
              </a:spcAft>
            </a:pPr>
            <a:r>
              <a:rPr lang="zh-CN" altLang="en-US" sz="2400" dirty="0">
                <a:latin typeface="Times New Roman" panose="02020603050405020304" pitchFamily="18" charset="0"/>
                <a:cs typeface="Times New Roman" panose="02020603050405020304" pitchFamily="18" charset="0"/>
              </a:rPr>
              <a:t>也采用</a:t>
            </a:r>
            <a:r>
              <a:rPr lang="zh-CN" altLang="en-US" sz="2400" dirty="0">
                <a:solidFill>
                  <a:srgbClr val="FF0000"/>
                </a:solidFill>
                <a:latin typeface="方正正粗黑简体" pitchFamily="2" charset="-122"/>
                <a:ea typeface="方正正粗黑简体" pitchFamily="2" charset="-122"/>
                <a:sym typeface="+mn-ea"/>
              </a:rPr>
              <a:t>相对</a:t>
            </a:r>
            <a:r>
              <a:rPr lang="zh-CN" altLang="en-US" sz="2400" dirty="0">
                <a:solidFill>
                  <a:srgbClr val="FF0000"/>
                </a:solidFill>
                <a:latin typeface="方正正粗黑简体" pitchFamily="2" charset="-122"/>
                <a:ea typeface="方正正粗黑简体" pitchFamily="2" charset="-122"/>
              </a:rPr>
              <a:t>寻址方式</a:t>
            </a:r>
            <a:r>
              <a:rPr lang="zh-CN" altLang="en-US" sz="2400" dirty="0">
                <a:latin typeface="Times New Roman" panose="02020603050405020304" pitchFamily="18" charset="0"/>
                <a:cs typeface="Times New Roman" panose="02020603050405020304" pitchFamily="18" charset="0"/>
              </a:rPr>
              <a:t>，指令中给出的</a:t>
            </a:r>
            <a:r>
              <a:rPr lang="en-US" altLang="zh-CN" sz="2400" dirty="0">
                <a:solidFill>
                  <a:srgbClr val="0000FF"/>
                </a:solidFill>
                <a:latin typeface="Times New Roman" panose="02020603050405020304" pitchFamily="18" charset="0"/>
                <a:cs typeface="Times New Roman" panose="02020603050405020304" pitchFamily="18" charset="0"/>
              </a:rPr>
              <a:t>20</a:t>
            </a:r>
            <a:r>
              <a:rPr lang="zh-CN" altLang="en-US" sz="2400" dirty="0">
                <a:solidFill>
                  <a:srgbClr val="0000FF"/>
                </a:solidFill>
                <a:latin typeface="Times New Roman" panose="02020603050405020304" pitchFamily="18" charset="0"/>
                <a:cs typeface="Times New Roman" panose="02020603050405020304" pitchFamily="18" charset="0"/>
              </a:rPr>
              <a:t>位</a:t>
            </a:r>
            <a:r>
              <a:rPr lang="zh-CN" altLang="en-US" sz="2400" dirty="0">
                <a:solidFill>
                  <a:srgbClr val="0000FF"/>
                </a:solidFill>
                <a:latin typeface="Times New Roman" panose="02020603050405020304" pitchFamily="18" charset="0"/>
                <a:cs typeface="Times New Roman" panose="02020603050405020304" pitchFamily="18" charset="0"/>
              </a:rPr>
              <a:t>立即数也</a:t>
            </a:r>
            <a:r>
              <a:rPr lang="zh-CN" altLang="en-US" sz="2400" dirty="0">
                <a:solidFill>
                  <a:srgbClr val="0000FF"/>
                </a:solidFill>
                <a:latin typeface="Times New Roman" panose="02020603050405020304" pitchFamily="18" charset="0"/>
                <a:cs typeface="Times New Roman" panose="02020603050405020304" pitchFamily="18" charset="0"/>
                <a:sym typeface="+mn-ea"/>
              </a:rPr>
              <a:t>是相对于下一条指令的指令条数</a:t>
            </a:r>
            <a:r>
              <a:rPr lang="zh-CN" altLang="en-US" sz="2400" dirty="0">
                <a:latin typeface="Times New Roman" panose="02020603050405020304" pitchFamily="18" charset="0"/>
                <a:cs typeface="Times New Roman" panose="02020603050405020304" pitchFamily="18" charset="0"/>
                <a:sym typeface="+mn-ea"/>
              </a:rPr>
              <a:t>，而非相对于下条指令的存储单元地址数</a:t>
            </a:r>
            <a:endParaRPr lang="en-US" altLang="zh-CN"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a:xfrm>
            <a:off x="571500" y="214313"/>
            <a:ext cx="8069263" cy="676275"/>
          </a:xfrm>
        </p:spPr>
        <p:txBody>
          <a:bodyPr vert="horz" wrap="square" lIns="91440" tIns="45720" rIns="91440" bIns="45720" anchor="b" anchorCtr="0"/>
          <a:p>
            <a:pPr eaLnBrk="1" hangingPunct="1"/>
            <a:r>
              <a:rPr lang="zh-CN" altLang="en-US" sz="3600" dirty="0"/>
              <a:t>转移指令和跳转指令举例</a:t>
            </a:r>
            <a:endParaRPr lang="en-US" altLang="zh-CN" sz="3600" dirty="0"/>
          </a:p>
        </p:txBody>
      </p:sp>
      <p:sp>
        <p:nvSpPr>
          <p:cNvPr id="1188867" name="Rectangle 3"/>
          <p:cNvSpPr>
            <a:spLocks noGrp="1" noChangeArrowheads="1"/>
          </p:cNvSpPr>
          <p:nvPr>
            <p:ph idx="1"/>
          </p:nvPr>
        </p:nvSpPr>
        <p:spPr>
          <a:xfrm>
            <a:off x="539750" y="1196975"/>
            <a:ext cx="8280400" cy="5661025"/>
          </a:xfrm>
        </p:spPr>
        <p:txBody>
          <a:bodyPr vert="horz" wrap="square" lIns="91440" tIns="45720" rIns="91440" bIns="45720" numCol="1" anchor="t" anchorCtr="0" compatLnSpc="1"/>
          <a:lstStyle/>
          <a:p>
            <a:pPr marL="0" marR="0" lvl="0" indent="0"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例：以下是用</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C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语言写的一个传统的</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While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语句： </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while (save[i] == k ) i += 1;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假设</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k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对应于寄存器</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$s3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$s5</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，数组</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save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的基址存放在</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$s6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中，对应的</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MIPS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汇编代码如下。假定</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loop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的开始位置在内存</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80000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处，则上述循环的</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MIPS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机器码为：</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根据上述给出的叙述，请回答下列问题：</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上述给出的</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MIPS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机器码中有一处错误，你能找出来吗</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(2)</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MIPS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内存空间的编址单位是多少</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(3)</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解释为什么指令“</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sll $t1, $s3, 2”</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能实现</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4*i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的功能</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(4)</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该循环中哪些是</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R-</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型指令</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哪些是</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型指令</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(5)$t0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$s6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的编号各为多少</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(6)</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Exit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的值是多少？要求说明其含义和计算过程。</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(7)</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指令“</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j 20000”</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的操作码是什么（用二进位表示）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(8)</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MIPS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中转移指令和跳转指令的跳转范围分别是什么</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8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(9)</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数组</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save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的每个元素占几个字节</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p:txBody>
      </p:sp>
      <p:pic>
        <p:nvPicPr>
          <p:cNvPr id="26628" name="图片 2"/>
          <p:cNvPicPr>
            <a:picLocks noChangeAspect="1"/>
          </p:cNvPicPr>
          <p:nvPr/>
        </p:nvPicPr>
        <p:blipFill>
          <a:blip r:embed="rId1"/>
          <a:stretch>
            <a:fillRect/>
          </a:stretch>
        </p:blipFill>
        <p:spPr>
          <a:xfrm>
            <a:off x="755650" y="2276475"/>
            <a:ext cx="4105275" cy="1152525"/>
          </a:xfrm>
          <a:prstGeom prst="rect">
            <a:avLst/>
          </a:prstGeom>
          <a:noFill/>
          <a:ln w="9525">
            <a:noFill/>
          </a:ln>
        </p:spPr>
      </p:pic>
      <p:pic>
        <p:nvPicPr>
          <p:cNvPr id="26629" name="图片 3"/>
          <p:cNvPicPr>
            <a:picLocks noChangeAspect="1"/>
          </p:cNvPicPr>
          <p:nvPr/>
        </p:nvPicPr>
        <p:blipFill>
          <a:blip r:embed="rId2"/>
          <a:stretch>
            <a:fillRect/>
          </a:stretch>
        </p:blipFill>
        <p:spPr>
          <a:xfrm>
            <a:off x="4835525" y="2133600"/>
            <a:ext cx="3984625" cy="1149350"/>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9891" name="Rectangle 3"/>
          <p:cNvSpPr>
            <a:spLocks noGrp="1" noChangeArrowheads="1"/>
          </p:cNvSpPr>
          <p:nvPr>
            <p:ph idx="1"/>
          </p:nvPr>
        </p:nvSpPr>
        <p:spPr>
          <a:xfrm>
            <a:off x="539750" y="1285875"/>
            <a:ext cx="8280400" cy="4772025"/>
          </a:xfrm>
        </p:spPr>
        <p:txBody>
          <a:bodyPr vert="horz" wrap="square" lIns="91440" tIns="45720" rIns="91440" bIns="45720" numCol="1" anchor="t" anchorCtr="0" compatLnSpc="1"/>
          <a:lstStyle/>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解：</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第一条指令中的倒数第二个字段值应是</a:t>
            </a:r>
            <a:r>
              <a:rPr kumimoji="0" lang="en-US" altLang="zh-CN" sz="20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rPr>
              <a:t>2</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，表示左移的位数</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262255" marR="0" lvl="0" indent="-26225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(2)MIPS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内存的编址单位是字节。从上图可看出，每条指令</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32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位，占</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4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个地址，所以一个存储地址中有</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8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位数据</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262255" marR="0" lvl="0" indent="-26225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因为是一条左移指令，左移</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位，相当于乘</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a:t>
            </a:r>
            <a:r>
              <a:rPr kumimoji="0" lang="en-US" altLang="zh-CN" sz="20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mn-cs"/>
              </a:rPr>
              <a:t>2</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=4</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262255" marR="0" lvl="0" indent="-26225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(4)</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从上图可看出，第</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1~2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条为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R-</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型，第</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3~5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条为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型。</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262255" marR="0" lvl="0" indent="-26225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(5)</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从第</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4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条指令，可看出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﹩t0</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的编号为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8</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，第</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条指令看出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﹩s6</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的编号为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22</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262255" marR="0" lvl="0" indent="-26225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(6)</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Exit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的值是</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80024</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，其含义是循环结束时跳出循环后执行的首条指令的地址，由当前条件转移指令的地址</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80012</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，加上</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4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得到下条指令的地址，然后再加上相对位移量</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2*4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得到：   </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80012+4+2*4=80024</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262255" marR="0" lvl="0" indent="-26225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(7)</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其操作码为“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000010</a:t>
            </a:r>
            <a:r>
              <a:rPr kumimoji="0" lang="en-US" altLang="zh-CN" sz="2000" b="1" i="0" u="none" strike="noStrike" kern="0" cap="none" spc="0" normalizeH="0" baseline="0" noProof="0" dirty="0" smtClean="0">
                <a:ln>
                  <a:noFill/>
                </a:ln>
                <a:solidFill>
                  <a:schemeClr val="tx1"/>
                </a:solidFill>
                <a:effectLst/>
                <a:uLnTx/>
                <a:uFillTx/>
                <a:latin typeface="+mn-ea"/>
                <a:ea typeface="+mn-ea"/>
                <a:cs typeface="+mn-cs"/>
              </a:rPr>
              <a:t>”</a:t>
            </a:r>
            <a:endParaRPr kumimoji="0" lang="zh-CN" altLang="en-US" sz="2000" b="1" i="0" u="none" strike="noStrike" kern="0" cap="none" spc="0" normalizeH="0" baseline="0" noProof="0" dirty="0" smtClean="0">
              <a:ln>
                <a:noFill/>
              </a:ln>
              <a:solidFill>
                <a:schemeClr val="tx1"/>
              </a:solidFill>
              <a:effectLst/>
              <a:uLnTx/>
              <a:uFillTx/>
              <a:latin typeface="+mn-ea"/>
              <a:ea typeface="+mn-ea"/>
              <a:cs typeface="+mn-cs"/>
            </a:endParaRPr>
          </a:p>
          <a:p>
            <a:pPr marL="262255" marR="0" lvl="0" indent="-26225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(8)</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条件转移指令的相对位移量的范围为：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a:t>
            </a:r>
            <a:r>
              <a:rPr kumimoji="0" lang="en-US" altLang="zh-CN" sz="20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mn-cs"/>
              </a:rPr>
              <a:t>15</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 +(2</a:t>
            </a:r>
            <a:r>
              <a:rPr kumimoji="0" lang="en-US" altLang="zh-CN" sz="20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mn-cs"/>
              </a:rPr>
              <a:t>15</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但是相对于转移指令的下条指令而言</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，即：往前跳，最多跳到第</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32768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条指令</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相当于</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32768×4=131072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个单元</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，往后跳，最多跳到第</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32767</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条指令</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相当于</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32767×4=131068</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个单元</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无条件跳转指令的目标地址范围为：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0 ~ 2</a:t>
            </a:r>
            <a:r>
              <a:rPr kumimoji="0" lang="en-US" altLang="zh-CN" sz="20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mn-cs"/>
              </a:rPr>
              <a:t>26</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相对于下条指令</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，即：最近就跳到下条指令，最远跳到后面的第</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a:t>
            </a:r>
            <a:r>
              <a:rPr kumimoji="0" lang="en-US" altLang="zh-CN" sz="20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mn-cs"/>
              </a:rPr>
              <a:t>26</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条指令。</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(9)</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因为每次循环取数，其下标地址都要乘以</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4</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，所以是</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4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个字节。</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p:txBody>
      </p:sp>
      <p:sp>
        <p:nvSpPr>
          <p:cNvPr id="27651" name="Rectangle 4"/>
          <p:cNvSpPr>
            <a:spLocks noGrp="1"/>
          </p:cNvSpPr>
          <p:nvPr>
            <p:ph type="title"/>
          </p:nvPr>
        </p:nvSpPr>
        <p:spPr/>
        <p:txBody>
          <a:bodyPr vert="horz" wrap="square" lIns="91440" tIns="45720" rIns="91440" bIns="45720" anchor="b" anchorCtr="0"/>
          <a:p>
            <a:pPr eaLnBrk="1" hangingPunct="1"/>
            <a:r>
              <a:rPr lang="zh-CN" altLang="en-US" sz="3600" dirty="0"/>
              <a:t>转移指令和跳转指令举例</a:t>
            </a:r>
            <a:endParaRPr lang="zh-CN" alt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89891">
                                            <p:txEl>
                                              <p:charRg st="0" end="32"/>
                                            </p:txEl>
                                          </p:spTgt>
                                        </p:tgtEl>
                                        <p:attrNameLst>
                                          <p:attrName>style.visibility</p:attrName>
                                        </p:attrNameLst>
                                      </p:cBhvr>
                                      <p:to>
                                        <p:strVal val="visible"/>
                                      </p:to>
                                    </p:set>
                                    <p:animEffect transition="in" filter="blinds(horizontal)">
                                      <p:cBhvr>
                                        <p:cTn id="7" dur="500"/>
                                        <p:tgtEl>
                                          <p:spTgt spid="1189891">
                                            <p:txEl>
                                              <p:charRg st="0"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89891">
                                            <p:txEl>
                                              <p:charRg st="32" end="90"/>
                                            </p:txEl>
                                          </p:spTgt>
                                        </p:tgtEl>
                                        <p:attrNameLst>
                                          <p:attrName>style.visibility</p:attrName>
                                        </p:attrNameLst>
                                      </p:cBhvr>
                                      <p:to>
                                        <p:strVal val="visible"/>
                                      </p:to>
                                    </p:set>
                                    <p:animEffect transition="in" filter="blinds(horizontal)">
                                      <p:cBhvr>
                                        <p:cTn id="12" dur="500"/>
                                        <p:tgtEl>
                                          <p:spTgt spid="1189891">
                                            <p:txEl>
                                              <p:charRg st="32" end="9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89891">
                                            <p:txEl>
                                              <p:charRg st="90" end="118"/>
                                            </p:txEl>
                                          </p:spTgt>
                                        </p:tgtEl>
                                        <p:attrNameLst>
                                          <p:attrName>style.visibility</p:attrName>
                                        </p:attrNameLst>
                                      </p:cBhvr>
                                      <p:to>
                                        <p:strVal val="visible"/>
                                      </p:to>
                                    </p:set>
                                    <p:animEffect transition="in" filter="blinds(horizontal)">
                                      <p:cBhvr>
                                        <p:cTn id="17" dur="500"/>
                                        <p:tgtEl>
                                          <p:spTgt spid="1189891">
                                            <p:txEl>
                                              <p:charRg st="90" end="11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89891">
                                            <p:txEl>
                                              <p:charRg st="118" end="151"/>
                                            </p:txEl>
                                          </p:spTgt>
                                        </p:tgtEl>
                                        <p:attrNameLst>
                                          <p:attrName>style.visibility</p:attrName>
                                        </p:attrNameLst>
                                      </p:cBhvr>
                                      <p:to>
                                        <p:strVal val="visible"/>
                                      </p:to>
                                    </p:set>
                                    <p:animEffect transition="in" filter="blinds(horizontal)">
                                      <p:cBhvr>
                                        <p:cTn id="22" dur="500"/>
                                        <p:tgtEl>
                                          <p:spTgt spid="1189891">
                                            <p:txEl>
                                              <p:charRg st="118" end="15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89891">
                                            <p:txEl>
                                              <p:charRg st="151" end="194"/>
                                            </p:txEl>
                                          </p:spTgt>
                                        </p:tgtEl>
                                        <p:attrNameLst>
                                          <p:attrName>style.visibility</p:attrName>
                                        </p:attrNameLst>
                                      </p:cBhvr>
                                      <p:to>
                                        <p:strVal val="visible"/>
                                      </p:to>
                                    </p:set>
                                    <p:animEffect transition="in" filter="blinds(horizontal)">
                                      <p:cBhvr>
                                        <p:cTn id="27" dur="500"/>
                                        <p:tgtEl>
                                          <p:spTgt spid="1189891">
                                            <p:txEl>
                                              <p:charRg st="151" end="19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89891">
                                            <p:txEl>
                                              <p:charRg st="194" end="308"/>
                                            </p:txEl>
                                          </p:spTgt>
                                        </p:tgtEl>
                                        <p:attrNameLst>
                                          <p:attrName>style.visibility</p:attrName>
                                        </p:attrNameLst>
                                      </p:cBhvr>
                                      <p:to>
                                        <p:strVal val="visible"/>
                                      </p:to>
                                    </p:set>
                                    <p:animEffect transition="in" filter="blinds(horizontal)">
                                      <p:cBhvr>
                                        <p:cTn id="32" dur="500"/>
                                        <p:tgtEl>
                                          <p:spTgt spid="1189891">
                                            <p:txEl>
                                              <p:charRg st="194" end="30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189891">
                                            <p:txEl>
                                              <p:charRg st="308" end="325"/>
                                            </p:txEl>
                                          </p:spTgt>
                                        </p:tgtEl>
                                        <p:attrNameLst>
                                          <p:attrName>style.visibility</p:attrName>
                                        </p:attrNameLst>
                                      </p:cBhvr>
                                      <p:to>
                                        <p:strVal val="visible"/>
                                      </p:to>
                                    </p:set>
                                    <p:animEffect transition="in" filter="blinds(horizontal)">
                                      <p:cBhvr>
                                        <p:cTn id="37" dur="500"/>
                                        <p:tgtEl>
                                          <p:spTgt spid="1189891">
                                            <p:txEl>
                                              <p:charRg st="308" end="32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189891">
                                            <p:txEl>
                                              <p:charRg st="325" end="464"/>
                                            </p:txEl>
                                          </p:spTgt>
                                        </p:tgtEl>
                                        <p:attrNameLst>
                                          <p:attrName>style.visibility</p:attrName>
                                        </p:attrNameLst>
                                      </p:cBhvr>
                                      <p:to>
                                        <p:strVal val="visible"/>
                                      </p:to>
                                    </p:set>
                                    <p:animEffect transition="in" filter="blinds(horizontal)">
                                      <p:cBhvr>
                                        <p:cTn id="42" dur="500"/>
                                        <p:tgtEl>
                                          <p:spTgt spid="1189891">
                                            <p:txEl>
                                              <p:charRg st="325" end="46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189891">
                                            <p:txEl>
                                              <p:charRg st="464" end="531"/>
                                            </p:txEl>
                                          </p:spTgt>
                                        </p:tgtEl>
                                        <p:attrNameLst>
                                          <p:attrName>style.visibility</p:attrName>
                                        </p:attrNameLst>
                                      </p:cBhvr>
                                      <p:to>
                                        <p:strVal val="visible"/>
                                      </p:to>
                                    </p:set>
                                    <p:animEffect transition="in" filter="blinds(horizontal)">
                                      <p:cBhvr>
                                        <p:cTn id="47" dur="500"/>
                                        <p:tgtEl>
                                          <p:spTgt spid="1189891">
                                            <p:txEl>
                                              <p:charRg st="464" end="53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189891">
                                            <p:txEl>
                                              <p:charRg st="531" end="564"/>
                                            </p:txEl>
                                          </p:spTgt>
                                        </p:tgtEl>
                                        <p:attrNameLst>
                                          <p:attrName>style.visibility</p:attrName>
                                        </p:attrNameLst>
                                      </p:cBhvr>
                                      <p:to>
                                        <p:strVal val="visible"/>
                                      </p:to>
                                    </p:set>
                                    <p:animEffect transition="in" filter="blinds(horizontal)">
                                      <p:cBhvr>
                                        <p:cTn id="52" dur="500"/>
                                        <p:tgtEl>
                                          <p:spTgt spid="1189891">
                                            <p:txEl>
                                              <p:charRg st="531" end="5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9891" name="Rectangle 3"/>
          <p:cNvSpPr>
            <a:spLocks noGrp="1" noChangeArrowheads="1"/>
          </p:cNvSpPr>
          <p:nvPr>
            <p:ph idx="1"/>
          </p:nvPr>
        </p:nvSpPr>
        <p:spPr>
          <a:xfrm>
            <a:off x="539750" y="1285875"/>
            <a:ext cx="8568690" cy="4772025"/>
          </a:xfrm>
        </p:spPr>
        <p:txBody>
          <a:bodyPr vert="horz" wrap="square" lIns="91440" tIns="45720" rIns="91440" bIns="45720" numCol="1" anchor="t" anchorCtr="0" compatLnSpc="1"/>
          <a:lstStyle/>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2.22 Suppose the program counter (PC) is set to 0x20000000 .</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2.22.1 [5] &lt;§2.10&gt; What range of addresses can be reached using the RISC-V</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jump-and-link ( jal ) instruction? (In other words, what is the set of possible values</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for the PC after the jump instruction executes?)</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2.22.2 [5] &lt;§2.10&gt; What range of addresses can be reached using the RISC-V</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branch if equal ( beq ) instruction? (In other words, what is the set of possible values</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for the PC after the branch instruction executes?)</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解：假设程序计数器</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(PC</a:t>
            </a:r>
            <a:r>
              <a:rPr lang="en-US" altLang="zh-CN" sz="2000" noProof="0" dirty="0" smtClean="0">
                <a:ln>
                  <a:noFill/>
                </a:ln>
                <a:effectLst/>
                <a:uLnTx/>
                <a:uFillTx/>
                <a:latin typeface="Times New Roman" panose="02020603050405020304" pitchFamily="18" charset="0"/>
                <a:sym typeface="+mn-ea"/>
              </a:rPr>
              <a:t>)</a:t>
            </a:r>
            <a:r>
              <a:rPr lang="zh-CN" altLang="en-US" sz="2000" noProof="0" dirty="0" smtClean="0">
                <a:ln>
                  <a:noFill/>
                </a:ln>
                <a:effectLst/>
                <a:uLnTx/>
                <a:uFillTx/>
                <a:latin typeface="Times New Roman" panose="02020603050405020304" pitchFamily="18" charset="0"/>
                <a:sym typeface="+mn-ea"/>
              </a:rPr>
              <a:t>的</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值是</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0x20000000</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2.22.1  RISC-V</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的跳转</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链接</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(jal)</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指令格式如下：</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lang="en-US" altLang="zh-CN" sz="2000" noProof="0" dirty="0" smtClean="0">
                <a:ln>
                  <a:noFill/>
                </a:ln>
                <a:effectLst/>
                <a:uLnTx/>
                <a:uFillTx/>
                <a:latin typeface="Times New Roman" panose="02020603050405020304" pitchFamily="18" charset="0"/>
                <a:sym typeface="+mn-ea"/>
              </a:rPr>
              <a:t>       PC= 0x20000000=0</a:t>
            </a:r>
            <a:r>
              <a:rPr lang="en-US" altLang="zh-CN" sz="2000" noProof="0" dirty="0" smtClean="0">
                <a:ln>
                  <a:noFill/>
                </a:ln>
                <a:solidFill>
                  <a:srgbClr val="FF0000"/>
                </a:solidFill>
                <a:effectLst/>
                <a:uLnTx/>
                <a:uFillTx/>
                <a:latin typeface="Times New Roman" panose="02020603050405020304" pitchFamily="18" charset="0"/>
                <a:sym typeface="+mn-ea"/>
              </a:rPr>
              <a:t>010 0000 0000 0000 0000</a:t>
            </a:r>
            <a:r>
              <a:rPr lang="en-US" altLang="zh-CN" sz="2000" noProof="0" dirty="0" smtClean="0">
                <a:ln>
                  <a:noFill/>
                </a:ln>
                <a:effectLst/>
                <a:uLnTx/>
                <a:uFillTx/>
                <a:latin typeface="Times New Roman" panose="02020603050405020304" pitchFamily="18" charset="0"/>
                <a:sym typeface="+mn-ea"/>
              </a:rPr>
              <a:t> 0000 0000 0000</a:t>
            </a:r>
            <a:endParaRPr lang="en-US" altLang="zh-CN" sz="2000" noProof="0" dirty="0" smtClean="0">
              <a:ln>
                <a:noFill/>
              </a:ln>
              <a:effectLst/>
              <a:uLnTx/>
              <a:uFillTx/>
              <a:latin typeface="Times New Roman" panose="02020603050405020304" pitchFamily="18" charset="0"/>
              <a:sym typeface="+mn-ea"/>
            </a:endParaRPr>
          </a:p>
          <a:p>
            <a:pPr marL="179705" marR="0" lvl="0" indent="-179705"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lang="en-US" altLang="zh-CN" sz="2000" baseline="-25000" dirty="0">
                <a:solidFill>
                  <a:srgbClr val="FF0000"/>
                </a:solidFill>
                <a:latin typeface="Times New Roman" panose="02020603050405020304" pitchFamily="18" charset="0"/>
                <a:cs typeface="Times New Roman" panose="02020603050405020304" pitchFamily="18" charset="0"/>
                <a:sym typeface="+mn-ea"/>
              </a:rPr>
              <a:t>          </a:t>
            </a:r>
            <a:r>
              <a:rPr lang="en-US" altLang="zh-CN" sz="2000" dirty="0">
                <a:solidFill>
                  <a:srgbClr val="0000FF"/>
                </a:solidFill>
                <a:latin typeface="Times New Roman" panose="02020603050405020304" pitchFamily="18" charset="0"/>
                <a:cs typeface="Times New Roman" panose="02020603050405020304" pitchFamily="18" charset="0"/>
                <a:sym typeface="+mn-ea"/>
              </a:rPr>
              <a:t>target=</a:t>
            </a:r>
            <a:r>
              <a:rPr lang="en-US" altLang="zh-CN" sz="2000" dirty="0" err="1">
                <a:solidFill>
                  <a:srgbClr val="0000FF"/>
                </a:solidFill>
                <a:latin typeface="Times New Roman" panose="02020603050405020304" pitchFamily="18" charset="0"/>
                <a:cs typeface="Times New Roman" panose="02020603050405020304" pitchFamily="18" charset="0"/>
                <a:sym typeface="+mn-ea"/>
              </a:rPr>
              <a:t>PC+sign-extend</a:t>
            </a:r>
            <a:r>
              <a:rPr lang="en-US" altLang="zh-CN" sz="2000" dirty="0">
                <a:solidFill>
                  <a:srgbClr val="0000FF"/>
                </a:solidFill>
                <a:latin typeface="Times New Roman" panose="02020603050405020304" pitchFamily="18" charset="0"/>
                <a:cs typeface="Times New Roman" panose="02020603050405020304" pitchFamily="18" charset="0"/>
                <a:sym typeface="+mn-ea"/>
              </a:rPr>
              <a:t>(imm</a:t>
            </a:r>
            <a:r>
              <a:rPr lang="en-US" altLang="zh-CN" sz="2000" baseline="-25000" dirty="0">
                <a:solidFill>
                  <a:srgbClr val="0000FF"/>
                </a:solidFill>
                <a:latin typeface="Times New Roman" panose="02020603050405020304" pitchFamily="18" charset="0"/>
                <a:cs typeface="Times New Roman" panose="02020603050405020304" pitchFamily="18" charset="0"/>
                <a:sym typeface="+mn-ea"/>
              </a:rPr>
              <a:t>20</a:t>
            </a:r>
            <a:r>
              <a:rPr lang="en-US" altLang="zh-CN" sz="2000" dirty="0">
                <a:solidFill>
                  <a:srgbClr val="0000FF"/>
                </a:solidFill>
                <a:latin typeface="Times New Roman" panose="02020603050405020304" pitchFamily="18" charset="0"/>
                <a:cs typeface="Times New Roman" panose="02020603050405020304" pitchFamily="18" charset="0"/>
                <a:sym typeface="+mn-ea"/>
              </a:rPr>
              <a:t>)*2=</a:t>
            </a:r>
            <a:r>
              <a:rPr lang="en-US" altLang="zh-CN" sz="2000" noProof="0" dirty="0" smtClean="0">
                <a:ln>
                  <a:noFill/>
                </a:ln>
                <a:effectLst/>
                <a:uLnTx/>
                <a:uFillTx/>
                <a:latin typeface="Times New Roman" panose="02020603050405020304" pitchFamily="18" charset="0"/>
                <a:sym typeface="+mn-ea"/>
              </a:rPr>
              <a:t>0x20000000+4+</a:t>
            </a:r>
            <a:r>
              <a:rPr lang="en-US" altLang="zh-CN" sz="2000" dirty="0" err="1">
                <a:solidFill>
                  <a:srgbClr val="0000FF"/>
                </a:solidFill>
                <a:latin typeface="Times New Roman" panose="02020603050405020304" pitchFamily="18" charset="0"/>
                <a:cs typeface="Times New Roman" panose="02020603050405020304" pitchFamily="18" charset="0"/>
                <a:sym typeface="+mn-ea"/>
              </a:rPr>
              <a:t>sign-extend</a:t>
            </a:r>
            <a:r>
              <a:rPr lang="en-US" altLang="zh-CN" sz="2000" dirty="0">
                <a:solidFill>
                  <a:srgbClr val="0000FF"/>
                </a:solidFill>
                <a:latin typeface="Times New Roman" panose="02020603050405020304" pitchFamily="18" charset="0"/>
                <a:cs typeface="Times New Roman" panose="02020603050405020304" pitchFamily="18" charset="0"/>
                <a:sym typeface="+mn-ea"/>
              </a:rPr>
              <a:t>(imm</a:t>
            </a:r>
            <a:r>
              <a:rPr lang="en-US" altLang="zh-CN" sz="2000" baseline="-25000" dirty="0">
                <a:solidFill>
                  <a:srgbClr val="0000FF"/>
                </a:solidFill>
                <a:latin typeface="Times New Roman" panose="02020603050405020304" pitchFamily="18" charset="0"/>
                <a:cs typeface="Times New Roman" panose="02020603050405020304" pitchFamily="18" charset="0"/>
                <a:sym typeface="+mn-ea"/>
              </a:rPr>
              <a:t>20</a:t>
            </a:r>
            <a:r>
              <a:rPr lang="en-US" altLang="zh-CN" sz="2000" dirty="0">
                <a:solidFill>
                  <a:srgbClr val="0000FF"/>
                </a:solidFill>
                <a:latin typeface="Times New Roman" panose="02020603050405020304" pitchFamily="18" charset="0"/>
                <a:cs typeface="Times New Roman" panose="02020603050405020304" pitchFamily="18" charset="0"/>
                <a:sym typeface="+mn-ea"/>
              </a:rPr>
              <a:t>)*2</a:t>
            </a:r>
            <a:endParaRPr lang="en-US" altLang="zh-CN" sz="2000" dirty="0">
              <a:solidFill>
                <a:srgbClr val="0000FF"/>
              </a:solidFill>
              <a:latin typeface="Times New Roman" panose="02020603050405020304" pitchFamily="18" charset="0"/>
              <a:cs typeface="Times New Roman" panose="02020603050405020304" pitchFamily="18" charset="0"/>
              <a:sym typeface="+mn-ea"/>
            </a:endParaRPr>
          </a:p>
          <a:p>
            <a:pPr marL="179705" marR="0" lvl="0" indent="-179705" algn="l" defTabSz="914400" rtl="0" eaLnBrk="1" fontAlgn="base" latinLnBrk="0" hangingPunct="1">
              <a:lnSpc>
                <a:spcPct val="150000"/>
              </a:lnSpc>
              <a:spcBef>
                <a:spcPct val="0"/>
              </a:spcBef>
              <a:spcAft>
                <a:spcPct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p:txBody>
      </p:sp>
      <p:sp>
        <p:nvSpPr>
          <p:cNvPr id="27651" name="Rectangle 4"/>
          <p:cNvSpPr>
            <a:spLocks noGrp="1"/>
          </p:cNvSpPr>
          <p:nvPr>
            <p:ph type="title"/>
          </p:nvPr>
        </p:nvSpPr>
        <p:spPr/>
        <p:txBody>
          <a:bodyPr vert="horz" wrap="square" lIns="91440" tIns="45720" rIns="91440" bIns="45720" anchor="b" anchorCtr="0"/>
          <a:p>
            <a:pPr eaLnBrk="1" hangingPunct="1"/>
            <a:r>
              <a:rPr lang="zh-CN" altLang="en-US" sz="3600" dirty="0"/>
              <a:t>转移指令和跳转指令举例</a:t>
            </a:r>
            <a:endParaRPr lang="zh-CN" altLang="en-US" sz="3600" dirty="0"/>
          </a:p>
        </p:txBody>
      </p:sp>
      <p:pic>
        <p:nvPicPr>
          <p:cNvPr id="2" name="图片 1"/>
          <p:cNvPicPr>
            <a:picLocks noChangeAspect="1"/>
          </p:cNvPicPr>
          <p:nvPr>
            <p:custDataLst>
              <p:tags r:id="rId1"/>
            </p:custDataLst>
          </p:nvPr>
        </p:nvPicPr>
        <p:blipFill>
          <a:blip r:embed="rId2"/>
          <a:stretch>
            <a:fillRect/>
          </a:stretch>
        </p:blipFill>
        <p:spPr>
          <a:xfrm>
            <a:off x="1083310" y="3994150"/>
            <a:ext cx="7392035" cy="368300"/>
          </a:xfrm>
          <a:prstGeom prst="rect">
            <a:avLst/>
          </a:prstGeom>
        </p:spPr>
      </p:pic>
      <p:grpSp>
        <p:nvGrpSpPr>
          <p:cNvPr id="10" name="组合 9"/>
          <p:cNvGrpSpPr/>
          <p:nvPr/>
        </p:nvGrpSpPr>
        <p:grpSpPr>
          <a:xfrm>
            <a:off x="1153795" y="5122545"/>
            <a:ext cx="7856728" cy="368300"/>
            <a:chOff x="752" y="9536"/>
            <a:chExt cx="19020" cy="580"/>
          </a:xfrm>
        </p:grpSpPr>
        <p:sp>
          <p:nvSpPr>
            <p:cNvPr id="3" name="文本框 2"/>
            <p:cNvSpPr txBox="1"/>
            <p:nvPr>
              <p:custDataLst>
                <p:tags r:id="rId3"/>
              </p:custDataLst>
            </p:nvPr>
          </p:nvSpPr>
          <p:spPr>
            <a:xfrm>
              <a:off x="16392" y="9536"/>
              <a:ext cx="3380" cy="580"/>
            </a:xfrm>
            <a:prstGeom prst="rect">
              <a:avLst/>
            </a:prstGeom>
            <a:noFill/>
          </p:spPr>
          <p:txBody>
            <a:bodyPr wrap="square" rtlCol="0">
              <a:spAutoFit/>
            </a:bodyPr>
            <a:p>
              <a:r>
                <a:rPr lang="en-US" altLang="zh-CN" sz="1800" dirty="0">
                  <a:latin typeface="Times New Roman" panose="02020603050405020304" pitchFamily="18" charset="0"/>
                  <a:ea typeface="华文新魏" panose="02010800040101010101" pitchFamily="2" charset="-122"/>
                  <a:cs typeface="Times New Roman" panose="02020603050405020304" pitchFamily="18" charset="0"/>
                </a:rPr>
                <a:t>J-immediate</a:t>
              </a:r>
              <a:endParaRPr lang="en-US" altLang="zh-CN" sz="1800" dirty="0">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4" name="矩形 3"/>
            <p:cNvSpPr/>
            <p:nvPr>
              <p:custDataLst>
                <p:tags r:id="rId4"/>
              </p:custDataLst>
            </p:nvPr>
          </p:nvSpPr>
          <p:spPr>
            <a:xfrm>
              <a:off x="752" y="9666"/>
              <a:ext cx="3783" cy="40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dirty="0" err="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inst</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[31]--</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5" name="矩形 4"/>
            <p:cNvSpPr/>
            <p:nvPr>
              <p:custDataLst>
                <p:tags r:id="rId5"/>
              </p:custDataLst>
            </p:nvPr>
          </p:nvSpPr>
          <p:spPr>
            <a:xfrm>
              <a:off x="12478" y="9663"/>
              <a:ext cx="3168" cy="3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err="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inst</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[24:21]</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6" name="矩形 5"/>
            <p:cNvSpPr/>
            <p:nvPr>
              <p:custDataLst>
                <p:tags r:id="rId6"/>
              </p:custDataLst>
            </p:nvPr>
          </p:nvSpPr>
          <p:spPr>
            <a:xfrm>
              <a:off x="7321" y="9660"/>
              <a:ext cx="2790" cy="3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err="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inst</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[20]</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7" name="矩形 6"/>
            <p:cNvSpPr/>
            <p:nvPr>
              <p:custDataLst>
                <p:tags r:id="rId7"/>
              </p:custDataLst>
            </p:nvPr>
          </p:nvSpPr>
          <p:spPr>
            <a:xfrm>
              <a:off x="15287" y="9661"/>
              <a:ext cx="1058" cy="39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0</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8" name="矩形 7"/>
            <p:cNvSpPr/>
            <p:nvPr>
              <p:custDataLst>
                <p:tags r:id="rId8"/>
              </p:custDataLst>
            </p:nvPr>
          </p:nvSpPr>
          <p:spPr>
            <a:xfrm>
              <a:off x="9710" y="9661"/>
              <a:ext cx="3036" cy="3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err="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inst</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[30:25]</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9" name="矩形 8"/>
            <p:cNvSpPr/>
            <p:nvPr>
              <p:custDataLst>
                <p:tags r:id="rId9"/>
              </p:custDataLst>
            </p:nvPr>
          </p:nvSpPr>
          <p:spPr>
            <a:xfrm>
              <a:off x="4525" y="9666"/>
              <a:ext cx="3102" cy="39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err="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inst</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[19:12]</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89891">
                                            <p:txEl>
                                              <p:charRg st="0" end="32"/>
                                            </p:txEl>
                                          </p:spTgt>
                                        </p:tgtEl>
                                        <p:attrNameLst>
                                          <p:attrName>style.visibility</p:attrName>
                                        </p:attrNameLst>
                                      </p:cBhvr>
                                      <p:to>
                                        <p:strVal val="visible"/>
                                      </p:to>
                                    </p:set>
                                    <p:animEffect transition="in" filter="blinds(horizontal)">
                                      <p:cBhvr>
                                        <p:cTn id="7" dur="500"/>
                                        <p:tgtEl>
                                          <p:spTgt spid="1189891">
                                            <p:txEl>
                                              <p:charRg st="0"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89891">
                                            <p:txEl>
                                              <p:charRg st="1" end="1"/>
                                            </p:txEl>
                                          </p:spTgt>
                                        </p:tgtEl>
                                        <p:attrNameLst>
                                          <p:attrName>style.visibility</p:attrName>
                                        </p:attrNameLst>
                                      </p:cBhvr>
                                      <p:to>
                                        <p:strVal val="visible"/>
                                      </p:to>
                                    </p:set>
                                    <p:animEffect transition="in" filter="blinds(horizontal)">
                                      <p:cBhvr>
                                        <p:cTn id="12" dur="500"/>
                                        <p:tgtEl>
                                          <p:spTgt spid="1189891">
                                            <p:txEl>
                                              <p:char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89891">
                                            <p:txEl>
                                              <p:charRg st="4" end="4"/>
                                            </p:txEl>
                                          </p:spTgt>
                                        </p:tgtEl>
                                        <p:attrNameLst>
                                          <p:attrName>style.visibility</p:attrName>
                                        </p:attrNameLst>
                                      </p:cBhvr>
                                      <p:to>
                                        <p:strVal val="visible"/>
                                      </p:to>
                                    </p:set>
                                    <p:animEffect transition="in" filter="blinds(horizontal)">
                                      <p:cBhvr>
                                        <p:cTn id="17" dur="500"/>
                                        <p:tgtEl>
                                          <p:spTgt spid="1189891">
                                            <p:txEl>
                                              <p:char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89891">
                                            <p:txEl>
                                              <p:charRg st="3" end="3"/>
                                            </p:txEl>
                                          </p:spTgt>
                                        </p:tgtEl>
                                        <p:attrNameLst>
                                          <p:attrName>style.visibility</p:attrName>
                                        </p:attrNameLst>
                                      </p:cBhvr>
                                      <p:to>
                                        <p:strVal val="visible"/>
                                      </p:to>
                                    </p:set>
                                    <p:animEffect transition="in" filter="blinds(horizontal)">
                                      <p:cBhvr>
                                        <p:cTn id="22" dur="500"/>
                                        <p:tgtEl>
                                          <p:spTgt spid="1189891">
                                            <p:txEl>
                                              <p:char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89891">
                                            <p:txEl>
                                              <p:charRg st="4" end="4"/>
                                            </p:txEl>
                                          </p:spTgt>
                                        </p:tgtEl>
                                        <p:attrNameLst>
                                          <p:attrName>style.visibility</p:attrName>
                                        </p:attrNameLst>
                                      </p:cBhvr>
                                      <p:to>
                                        <p:strVal val="visible"/>
                                      </p:to>
                                    </p:set>
                                    <p:animEffect transition="in" filter="blinds(horizontal)">
                                      <p:cBhvr>
                                        <p:cTn id="27" dur="500"/>
                                        <p:tgtEl>
                                          <p:spTgt spid="1189891">
                                            <p:txEl>
                                              <p:char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89891">
                                            <p:txEl>
                                              <p:charRg st="6" end="6"/>
                                            </p:txEl>
                                          </p:spTgt>
                                        </p:tgtEl>
                                        <p:attrNameLst>
                                          <p:attrName>style.visibility</p:attrName>
                                        </p:attrNameLst>
                                      </p:cBhvr>
                                      <p:to>
                                        <p:strVal val="visible"/>
                                      </p:to>
                                    </p:set>
                                    <p:animEffect transition="in" filter="blinds(horizontal)">
                                      <p:cBhvr>
                                        <p:cTn id="32" dur="500"/>
                                        <p:tgtEl>
                                          <p:spTgt spid="1189891">
                                            <p:txEl>
                                              <p:char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189891">
                                            <p:txEl>
                                              <p:charRg st="7" end="7"/>
                                            </p:txEl>
                                          </p:spTgt>
                                        </p:tgtEl>
                                        <p:attrNameLst>
                                          <p:attrName>style.visibility</p:attrName>
                                        </p:attrNameLst>
                                      </p:cBhvr>
                                      <p:to>
                                        <p:strVal val="visible"/>
                                      </p:to>
                                    </p:set>
                                    <p:animEffect transition="in" filter="blinds(horizontal)">
                                      <p:cBhvr>
                                        <p:cTn id="37" dur="500"/>
                                        <p:tgtEl>
                                          <p:spTgt spid="1189891">
                                            <p:txEl>
                                              <p:charRg st="7" end="7"/>
                                            </p:txEl>
                                          </p:spTgt>
                                        </p:tgtEl>
                                      </p:cBhvr>
                                    </p:animEffec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9891" name="Rectangle 3"/>
          <p:cNvSpPr>
            <a:spLocks noGrp="1" noChangeArrowheads="1"/>
          </p:cNvSpPr>
          <p:nvPr>
            <p:ph idx="1"/>
          </p:nvPr>
        </p:nvSpPr>
        <p:spPr>
          <a:xfrm>
            <a:off x="539750" y="1285875"/>
            <a:ext cx="8568690" cy="4772025"/>
          </a:xfrm>
        </p:spPr>
        <p:txBody>
          <a:bodyPr vert="horz" wrap="square" lIns="91440" tIns="45720" rIns="91440" bIns="45720" numCol="1" anchor="t" anchorCtr="0" compatLnSpc="1"/>
          <a:lstStyle/>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2.22 Suppose the program counter (PC) is set to 0x20000000 .</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2.22.1 [5] &lt;§2.10&gt; What range of addresses can be reached using the RISC-V</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jump-and-link ( jal ) instruction? (In other words, what is the set of possible values</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for the PC after the jump instruction executes?)</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2.22.2 [5] &lt;§2.10&gt; What range of addresses can be reached using the RISC-V</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branch if equal ( beq ) instruction? (In other words, what is the set of possible values</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for the PC after the branch instruction executes?)</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解：假设程序计数器</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(PC</a:t>
            </a:r>
            <a:r>
              <a:rPr lang="en-US" altLang="zh-CN" sz="2000" noProof="0" dirty="0" smtClean="0">
                <a:ln>
                  <a:noFill/>
                </a:ln>
                <a:effectLst/>
                <a:uLnTx/>
                <a:uFillTx/>
                <a:latin typeface="Times New Roman" panose="02020603050405020304" pitchFamily="18" charset="0"/>
                <a:sym typeface="+mn-ea"/>
              </a:rPr>
              <a:t>)</a:t>
            </a:r>
            <a:r>
              <a:rPr lang="zh-CN" altLang="en-US" sz="2000" noProof="0" dirty="0" smtClean="0">
                <a:ln>
                  <a:noFill/>
                </a:ln>
                <a:effectLst/>
                <a:uLnTx/>
                <a:uFillTx/>
                <a:latin typeface="Times New Roman" panose="02020603050405020304" pitchFamily="18" charset="0"/>
                <a:sym typeface="+mn-ea"/>
              </a:rPr>
              <a:t>的</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值是</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0x20000000</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2.22.2  RISC-V</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的</a:t>
            </a:r>
            <a:r>
              <a:rPr kumimoji="0" 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相等则分支</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(beq)</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指令格式如下：</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95000"/>
              </a:lnSpc>
              <a:spcBef>
                <a:spcPct val="0"/>
              </a:spcBef>
              <a:spcAft>
                <a:spcPct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lang="en-US" altLang="zh-CN" sz="2000" noProof="0" dirty="0" smtClean="0">
                <a:ln>
                  <a:noFill/>
                </a:ln>
                <a:effectLst/>
                <a:uLnTx/>
                <a:uFillTx/>
                <a:latin typeface="Times New Roman" panose="02020603050405020304" pitchFamily="18" charset="0"/>
                <a:sym typeface="+mn-ea"/>
              </a:rPr>
              <a:t>       PC= 0x20000000=0</a:t>
            </a:r>
            <a:r>
              <a:rPr lang="en-US" altLang="zh-CN" sz="2000" noProof="0" dirty="0" smtClean="0">
                <a:ln>
                  <a:noFill/>
                </a:ln>
                <a:solidFill>
                  <a:srgbClr val="FF0000"/>
                </a:solidFill>
                <a:effectLst/>
                <a:uLnTx/>
                <a:uFillTx/>
                <a:latin typeface="Times New Roman" panose="02020603050405020304" pitchFamily="18" charset="0"/>
                <a:sym typeface="+mn-ea"/>
              </a:rPr>
              <a:t>010 0000 0000 0000 0000</a:t>
            </a:r>
            <a:r>
              <a:rPr lang="en-US" altLang="zh-CN" sz="2000" noProof="0" dirty="0" smtClean="0">
                <a:ln>
                  <a:noFill/>
                </a:ln>
                <a:effectLst/>
                <a:uLnTx/>
                <a:uFillTx/>
                <a:latin typeface="Times New Roman" panose="02020603050405020304" pitchFamily="18" charset="0"/>
                <a:sym typeface="+mn-ea"/>
              </a:rPr>
              <a:t> 0000 0000 0000</a:t>
            </a:r>
            <a:endParaRPr lang="en-US" altLang="zh-CN" sz="2000" noProof="0" dirty="0" smtClean="0">
              <a:ln>
                <a:noFill/>
              </a:ln>
              <a:effectLst/>
              <a:uLnTx/>
              <a:uFillTx/>
              <a:latin typeface="Times New Roman" panose="02020603050405020304" pitchFamily="18" charset="0"/>
              <a:sym typeface="+mn-ea"/>
            </a:endParaRPr>
          </a:p>
          <a:p>
            <a:pPr marL="179705" marR="0" lvl="0" indent="-179705" algn="l" defTabSz="914400" rtl="0" eaLnBrk="1" fontAlgn="base" latinLnBrk="0" hangingPunct="1">
              <a:lnSpc>
                <a:spcPct val="150000"/>
              </a:lnSpc>
              <a:spcBef>
                <a:spcPct val="0"/>
              </a:spcBef>
              <a:spcAft>
                <a:spcPct val="0"/>
              </a:spcAft>
              <a:buClrTx/>
              <a:buSzTx/>
              <a:buFont typeface="Wingdings" panose="05000000000000000000" pitchFamily="2" charset="2"/>
              <a:buNone/>
              <a:defRPr/>
            </a:pPr>
            <a:r>
              <a:rPr lang="en-US" altLang="zh-CN" sz="2000" baseline="-25000" dirty="0">
                <a:solidFill>
                  <a:srgbClr val="FF0000"/>
                </a:solidFill>
                <a:latin typeface="Times New Roman" panose="02020603050405020304" pitchFamily="18" charset="0"/>
                <a:cs typeface="Times New Roman" panose="02020603050405020304" pitchFamily="18" charset="0"/>
                <a:sym typeface="+mn-ea"/>
              </a:rPr>
              <a:t>          </a:t>
            </a:r>
            <a:r>
              <a:rPr lang="en-US" altLang="zh-CN" sz="2000" dirty="0">
                <a:solidFill>
                  <a:srgbClr val="0000FF"/>
                </a:solidFill>
                <a:latin typeface="Times New Roman" panose="02020603050405020304" pitchFamily="18" charset="0"/>
                <a:cs typeface="Times New Roman" panose="02020603050405020304" pitchFamily="18" charset="0"/>
                <a:sym typeface="+mn-ea"/>
              </a:rPr>
              <a:t>target=</a:t>
            </a:r>
            <a:r>
              <a:rPr lang="en-US" altLang="zh-CN" sz="2000" dirty="0" err="1">
                <a:solidFill>
                  <a:srgbClr val="0000FF"/>
                </a:solidFill>
                <a:latin typeface="Times New Roman" panose="02020603050405020304" pitchFamily="18" charset="0"/>
                <a:cs typeface="Times New Roman" panose="02020603050405020304" pitchFamily="18" charset="0"/>
                <a:sym typeface="+mn-ea"/>
              </a:rPr>
              <a:t>PC+sign-extend</a:t>
            </a:r>
            <a:r>
              <a:rPr lang="en-US" altLang="zh-CN" sz="2000" dirty="0">
                <a:solidFill>
                  <a:srgbClr val="0000FF"/>
                </a:solidFill>
                <a:latin typeface="Times New Roman" panose="02020603050405020304" pitchFamily="18" charset="0"/>
                <a:cs typeface="Times New Roman" panose="02020603050405020304" pitchFamily="18" charset="0"/>
                <a:sym typeface="+mn-ea"/>
              </a:rPr>
              <a:t>(imm</a:t>
            </a:r>
            <a:r>
              <a:rPr lang="en-US" altLang="zh-CN" sz="2000" baseline="-25000" dirty="0">
                <a:solidFill>
                  <a:srgbClr val="0000FF"/>
                </a:solidFill>
                <a:latin typeface="Times New Roman" panose="02020603050405020304" pitchFamily="18" charset="0"/>
                <a:cs typeface="Times New Roman" panose="02020603050405020304" pitchFamily="18" charset="0"/>
                <a:sym typeface="+mn-ea"/>
              </a:rPr>
              <a:t>12</a:t>
            </a:r>
            <a:r>
              <a:rPr lang="en-US" altLang="zh-CN" sz="2000" dirty="0">
                <a:solidFill>
                  <a:srgbClr val="0000FF"/>
                </a:solidFill>
                <a:latin typeface="Times New Roman" panose="02020603050405020304" pitchFamily="18" charset="0"/>
                <a:cs typeface="Times New Roman" panose="02020603050405020304" pitchFamily="18" charset="0"/>
                <a:sym typeface="+mn-ea"/>
              </a:rPr>
              <a:t>)*2=</a:t>
            </a:r>
            <a:r>
              <a:rPr lang="en-US" altLang="zh-CN" sz="2000" noProof="0" dirty="0" smtClean="0">
                <a:ln>
                  <a:noFill/>
                </a:ln>
                <a:effectLst/>
                <a:uLnTx/>
                <a:uFillTx/>
                <a:latin typeface="Times New Roman" panose="02020603050405020304" pitchFamily="18" charset="0"/>
                <a:sym typeface="+mn-ea"/>
              </a:rPr>
              <a:t>0x20000000+4+</a:t>
            </a:r>
            <a:r>
              <a:rPr lang="en-US" altLang="zh-CN" sz="2000" dirty="0" err="1">
                <a:solidFill>
                  <a:srgbClr val="0000FF"/>
                </a:solidFill>
                <a:latin typeface="Times New Roman" panose="02020603050405020304" pitchFamily="18" charset="0"/>
                <a:cs typeface="Times New Roman" panose="02020603050405020304" pitchFamily="18" charset="0"/>
                <a:sym typeface="+mn-ea"/>
              </a:rPr>
              <a:t>sign-extend</a:t>
            </a:r>
            <a:r>
              <a:rPr lang="en-US" altLang="zh-CN" sz="2000" dirty="0">
                <a:solidFill>
                  <a:srgbClr val="0000FF"/>
                </a:solidFill>
                <a:latin typeface="Times New Roman" panose="02020603050405020304" pitchFamily="18" charset="0"/>
                <a:cs typeface="Times New Roman" panose="02020603050405020304" pitchFamily="18" charset="0"/>
                <a:sym typeface="+mn-ea"/>
              </a:rPr>
              <a:t>(imm</a:t>
            </a:r>
            <a:r>
              <a:rPr lang="en-US" altLang="zh-CN" sz="2000" baseline="-25000" dirty="0">
                <a:solidFill>
                  <a:srgbClr val="0000FF"/>
                </a:solidFill>
                <a:latin typeface="Times New Roman" panose="02020603050405020304" pitchFamily="18" charset="0"/>
                <a:cs typeface="Times New Roman" panose="02020603050405020304" pitchFamily="18" charset="0"/>
                <a:sym typeface="+mn-ea"/>
              </a:rPr>
              <a:t>12</a:t>
            </a:r>
            <a:r>
              <a:rPr lang="en-US" altLang="zh-CN" sz="2000" dirty="0">
                <a:solidFill>
                  <a:srgbClr val="0000FF"/>
                </a:solidFill>
                <a:latin typeface="Times New Roman" panose="02020603050405020304" pitchFamily="18" charset="0"/>
                <a:cs typeface="Times New Roman" panose="02020603050405020304" pitchFamily="18" charset="0"/>
                <a:sym typeface="+mn-ea"/>
              </a:rPr>
              <a:t>)*2</a:t>
            </a:r>
            <a:endParaRPr lang="en-US" altLang="zh-CN" sz="2000" dirty="0">
              <a:solidFill>
                <a:srgbClr val="0000FF"/>
              </a:solidFill>
              <a:latin typeface="Times New Roman" panose="02020603050405020304" pitchFamily="18" charset="0"/>
              <a:cs typeface="Times New Roman" panose="02020603050405020304" pitchFamily="18" charset="0"/>
              <a:sym typeface="+mn-ea"/>
            </a:endParaRPr>
          </a:p>
          <a:p>
            <a:pPr marL="179705" marR="0" lvl="0" indent="-179705" algn="l" defTabSz="914400" rtl="0" eaLnBrk="1" fontAlgn="base" latinLnBrk="0" hangingPunct="1">
              <a:lnSpc>
                <a:spcPct val="150000"/>
              </a:lnSpc>
              <a:spcBef>
                <a:spcPct val="0"/>
              </a:spcBef>
              <a:spcAft>
                <a:spcPct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p:txBody>
      </p:sp>
      <p:sp>
        <p:nvSpPr>
          <p:cNvPr id="27651" name="Rectangle 4"/>
          <p:cNvSpPr>
            <a:spLocks noGrp="1"/>
          </p:cNvSpPr>
          <p:nvPr>
            <p:ph type="title"/>
          </p:nvPr>
        </p:nvSpPr>
        <p:spPr/>
        <p:txBody>
          <a:bodyPr vert="horz" wrap="square" lIns="91440" tIns="45720" rIns="91440" bIns="45720" anchor="b" anchorCtr="0"/>
          <a:p>
            <a:pPr eaLnBrk="1" hangingPunct="1"/>
            <a:r>
              <a:rPr lang="zh-CN" altLang="en-US" sz="3600" dirty="0"/>
              <a:t>转移指令和跳转指令举例</a:t>
            </a:r>
            <a:endParaRPr lang="zh-CN" altLang="en-US" sz="3600" dirty="0"/>
          </a:p>
        </p:txBody>
      </p:sp>
      <p:pic>
        <p:nvPicPr>
          <p:cNvPr id="11" name="图片 10"/>
          <p:cNvPicPr>
            <a:picLocks noChangeAspect="1"/>
          </p:cNvPicPr>
          <p:nvPr>
            <p:custDataLst>
              <p:tags r:id="rId1"/>
            </p:custDataLst>
          </p:nvPr>
        </p:nvPicPr>
        <p:blipFill>
          <a:blip r:embed="rId2"/>
          <a:stretch>
            <a:fillRect/>
          </a:stretch>
        </p:blipFill>
        <p:spPr>
          <a:xfrm>
            <a:off x="1040130" y="3995420"/>
            <a:ext cx="7700010" cy="280035"/>
          </a:xfrm>
          <a:prstGeom prst="rect">
            <a:avLst/>
          </a:prstGeom>
        </p:spPr>
      </p:pic>
      <p:grpSp>
        <p:nvGrpSpPr>
          <p:cNvPr id="12" name="组合 11"/>
          <p:cNvGrpSpPr/>
          <p:nvPr/>
        </p:nvGrpSpPr>
        <p:grpSpPr>
          <a:xfrm>
            <a:off x="1040130" y="5196229"/>
            <a:ext cx="8448590" cy="368057"/>
            <a:chOff x="751" y="8185"/>
            <a:chExt cx="17236" cy="560"/>
          </a:xfrm>
        </p:grpSpPr>
        <p:sp>
          <p:nvSpPr>
            <p:cNvPr id="23" name="文本框 22"/>
            <p:cNvSpPr txBox="1"/>
            <p:nvPr>
              <p:custDataLst>
                <p:tags r:id="rId3"/>
              </p:custDataLst>
            </p:nvPr>
          </p:nvSpPr>
          <p:spPr>
            <a:xfrm>
              <a:off x="14355" y="8185"/>
              <a:ext cx="3632" cy="560"/>
            </a:xfrm>
            <a:prstGeom prst="rect">
              <a:avLst/>
            </a:prstGeom>
            <a:noFill/>
          </p:spPr>
          <p:txBody>
            <a:bodyPr wrap="square" rtlCol="0">
              <a:spAutoFit/>
            </a:bodyPr>
            <a:p>
              <a:r>
                <a:rPr lang="en-US" altLang="zh-CN" sz="1800" dirty="0">
                  <a:latin typeface="Times New Roman" panose="02020603050405020304" pitchFamily="18" charset="0"/>
                  <a:ea typeface="华文新魏" panose="02010800040101010101" pitchFamily="2" charset="-122"/>
                  <a:cs typeface="Times New Roman" panose="02020603050405020304" pitchFamily="18" charset="0"/>
                </a:rPr>
                <a:t>B-immediate</a:t>
              </a:r>
              <a:endParaRPr lang="en-US" altLang="zh-CN" sz="1800" dirty="0">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4" name="矩形 23"/>
            <p:cNvSpPr/>
            <p:nvPr>
              <p:custDataLst>
                <p:tags r:id="rId4"/>
              </p:custDataLst>
            </p:nvPr>
          </p:nvSpPr>
          <p:spPr>
            <a:xfrm>
              <a:off x="751" y="8293"/>
              <a:ext cx="2759" cy="40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dirty="0" err="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inst</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[31]--</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5" name="矩形 24"/>
            <p:cNvSpPr/>
            <p:nvPr>
              <p:custDataLst>
                <p:tags r:id="rId5"/>
              </p:custDataLst>
            </p:nvPr>
          </p:nvSpPr>
          <p:spPr>
            <a:xfrm>
              <a:off x="8134" y="8293"/>
              <a:ext cx="2873" cy="4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Inst[30:25]</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6" name="矩形 25"/>
            <p:cNvSpPr/>
            <p:nvPr>
              <p:custDataLst>
                <p:tags r:id="rId6"/>
              </p:custDataLst>
            </p:nvPr>
          </p:nvSpPr>
          <p:spPr>
            <a:xfrm>
              <a:off x="5359" y="8293"/>
              <a:ext cx="2781" cy="4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err="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inst</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[30:25]</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7" name="矩形 26"/>
            <p:cNvSpPr/>
            <p:nvPr>
              <p:custDataLst>
                <p:tags r:id="rId7"/>
              </p:custDataLst>
            </p:nvPr>
          </p:nvSpPr>
          <p:spPr>
            <a:xfrm>
              <a:off x="11006" y="8298"/>
              <a:ext cx="2491" cy="40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err="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inst</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[11:8]</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8" name="矩形 27"/>
            <p:cNvSpPr/>
            <p:nvPr>
              <p:custDataLst>
                <p:tags r:id="rId8"/>
              </p:custDataLst>
            </p:nvPr>
          </p:nvSpPr>
          <p:spPr>
            <a:xfrm>
              <a:off x="13452" y="8297"/>
              <a:ext cx="992" cy="40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0</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29" name="矩形 28"/>
            <p:cNvSpPr/>
            <p:nvPr>
              <p:custDataLst>
                <p:tags r:id="rId9"/>
              </p:custDataLst>
            </p:nvPr>
          </p:nvSpPr>
          <p:spPr>
            <a:xfrm>
              <a:off x="3351" y="8293"/>
              <a:ext cx="2136" cy="4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800" dirty="0" err="1">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inst</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[7]</a:t>
              </a:r>
              <a:endPar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89891">
                                            <p:txEl>
                                              <p:charRg st="0" end="32"/>
                                            </p:txEl>
                                          </p:spTgt>
                                        </p:tgtEl>
                                        <p:attrNameLst>
                                          <p:attrName>style.visibility</p:attrName>
                                        </p:attrNameLst>
                                      </p:cBhvr>
                                      <p:to>
                                        <p:strVal val="visible"/>
                                      </p:to>
                                    </p:set>
                                    <p:animEffect transition="in" filter="blinds(horizontal)">
                                      <p:cBhvr>
                                        <p:cTn id="7" dur="500"/>
                                        <p:tgtEl>
                                          <p:spTgt spid="1189891">
                                            <p:txEl>
                                              <p:charRg st="0"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89891">
                                            <p:txEl>
                                              <p:charRg st="1" end="1"/>
                                            </p:txEl>
                                          </p:spTgt>
                                        </p:tgtEl>
                                        <p:attrNameLst>
                                          <p:attrName>style.visibility</p:attrName>
                                        </p:attrNameLst>
                                      </p:cBhvr>
                                      <p:to>
                                        <p:strVal val="visible"/>
                                      </p:to>
                                    </p:set>
                                    <p:animEffect transition="in" filter="blinds(horizontal)">
                                      <p:cBhvr>
                                        <p:cTn id="12" dur="500"/>
                                        <p:tgtEl>
                                          <p:spTgt spid="1189891">
                                            <p:txEl>
                                              <p:char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89891">
                                            <p:txEl>
                                              <p:charRg st="4" end="4"/>
                                            </p:txEl>
                                          </p:spTgt>
                                        </p:tgtEl>
                                        <p:attrNameLst>
                                          <p:attrName>style.visibility</p:attrName>
                                        </p:attrNameLst>
                                      </p:cBhvr>
                                      <p:to>
                                        <p:strVal val="visible"/>
                                      </p:to>
                                    </p:set>
                                    <p:animEffect transition="in" filter="blinds(horizontal)">
                                      <p:cBhvr>
                                        <p:cTn id="17" dur="500"/>
                                        <p:tgtEl>
                                          <p:spTgt spid="1189891">
                                            <p:txEl>
                                              <p:char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89891">
                                            <p:txEl>
                                              <p:charRg st="3" end="3"/>
                                            </p:txEl>
                                          </p:spTgt>
                                        </p:tgtEl>
                                        <p:attrNameLst>
                                          <p:attrName>style.visibility</p:attrName>
                                        </p:attrNameLst>
                                      </p:cBhvr>
                                      <p:to>
                                        <p:strVal val="visible"/>
                                      </p:to>
                                    </p:set>
                                    <p:animEffect transition="in" filter="blinds(horizontal)">
                                      <p:cBhvr>
                                        <p:cTn id="22" dur="500"/>
                                        <p:tgtEl>
                                          <p:spTgt spid="1189891">
                                            <p:txEl>
                                              <p:char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89891">
                                            <p:txEl>
                                              <p:charRg st="4" end="4"/>
                                            </p:txEl>
                                          </p:spTgt>
                                        </p:tgtEl>
                                        <p:attrNameLst>
                                          <p:attrName>style.visibility</p:attrName>
                                        </p:attrNameLst>
                                      </p:cBhvr>
                                      <p:to>
                                        <p:strVal val="visible"/>
                                      </p:to>
                                    </p:set>
                                    <p:animEffect transition="in" filter="blinds(horizontal)">
                                      <p:cBhvr>
                                        <p:cTn id="27" dur="500"/>
                                        <p:tgtEl>
                                          <p:spTgt spid="1189891">
                                            <p:txEl>
                                              <p:char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89891">
                                            <p:txEl>
                                              <p:charRg st="6" end="6"/>
                                            </p:txEl>
                                          </p:spTgt>
                                        </p:tgtEl>
                                        <p:attrNameLst>
                                          <p:attrName>style.visibility</p:attrName>
                                        </p:attrNameLst>
                                      </p:cBhvr>
                                      <p:to>
                                        <p:strVal val="visible"/>
                                      </p:to>
                                    </p:set>
                                    <p:animEffect transition="in" filter="blinds(horizontal)">
                                      <p:cBhvr>
                                        <p:cTn id="32" dur="500"/>
                                        <p:tgtEl>
                                          <p:spTgt spid="1189891">
                                            <p:txEl>
                                              <p:char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189891">
                                            <p:txEl>
                                              <p:charRg st="7" end="7"/>
                                            </p:txEl>
                                          </p:spTgt>
                                        </p:tgtEl>
                                        <p:attrNameLst>
                                          <p:attrName>style.visibility</p:attrName>
                                        </p:attrNameLst>
                                      </p:cBhvr>
                                      <p:to>
                                        <p:strVal val="visible"/>
                                      </p:to>
                                    </p:set>
                                    <p:animEffect transition="in" filter="blinds(horizontal)">
                                      <p:cBhvr>
                                        <p:cTn id="37" dur="500"/>
                                        <p:tgtEl>
                                          <p:spTgt spid="1189891">
                                            <p:txEl>
                                              <p:char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type="title"/>
          </p:nvPr>
        </p:nvSpPr>
        <p:spPr/>
        <p:txBody>
          <a:bodyPr vert="horz" wrap="square" lIns="91440" tIns="45720" rIns="91440" bIns="45720" anchor="b" anchorCtr="0"/>
          <a:p>
            <a:pPr eaLnBrk="1" hangingPunct="1"/>
            <a:r>
              <a:rPr lang="zh-CN" altLang="en-US" sz="3600" dirty="0"/>
              <a:t>四、关于寻址方式问题</a:t>
            </a:r>
            <a:endParaRPr lang="zh-CN" altLang="en-US" sz="3600" dirty="0"/>
          </a:p>
        </p:txBody>
      </p:sp>
      <p:sp>
        <p:nvSpPr>
          <p:cNvPr id="22531" name="Rectangle 3"/>
          <p:cNvSpPr>
            <a:spLocks noGrp="1" noChangeArrowheads="1"/>
          </p:cNvSpPr>
          <p:nvPr>
            <p:ph idx="1"/>
          </p:nvPr>
        </p:nvSpPr>
        <p:spPr>
          <a:xfrm>
            <a:off x="323850" y="1341438"/>
            <a:ext cx="8569325" cy="4302125"/>
          </a:xfrm>
        </p:spPr>
        <p:txBody>
          <a:bodyPr vert="horz" wrap="square" lIns="91440" tIns="45720" rIns="91440" bIns="45720" numCol="1" anchor="t" anchorCtr="0" compatLnSpc="1"/>
          <a:lstStyle/>
          <a:p>
            <a:pPr marL="179705" marR="0" lvl="0" indent="-179705" algn="l" defTabSz="914400" rtl="0" eaLnBrk="0" fontAlgn="base" latinLnBrk="0" hangingPunct="0">
              <a:lnSpc>
                <a:spcPct val="120000"/>
              </a:lnSpc>
              <a:spcBef>
                <a:spcPts val="6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mn-cs"/>
              </a:rPr>
              <a:t>    方式	     算法	      主要优点	            主要缺点</a:t>
            </a:r>
            <a:endParaRPr kumimoji="0" lang="zh-CN" altLang="en-US" sz="24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mn-cs"/>
            </a:endParaRPr>
          </a:p>
          <a:p>
            <a:pPr marL="179705" marR="0" lvl="0" indent="-179705" algn="l" defTabSz="914400" rtl="0" eaLnBrk="0" fontAlgn="base" latinLnBrk="0" hangingPunct="0">
              <a:lnSpc>
                <a:spcPct val="120000"/>
              </a:lnSpc>
              <a:spcBef>
                <a:spcPts val="6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立即</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操作数=</a:t>
            </a:r>
            <a:r>
              <a:rPr kumimoji="0" lang="en-US"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指令执行速度快      操作数幅值有限</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0" fontAlgn="base" latinLnBrk="0" hangingPunct="0">
              <a:lnSpc>
                <a:spcPct val="120000"/>
              </a:lnSpc>
              <a:spcBef>
                <a:spcPts val="6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存储器直接      </a:t>
            </a:r>
            <a:r>
              <a:rPr kumimoji="0" lang="en-US"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EA=A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有效</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地址计算简单     地址范围有限</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0" fontAlgn="base" latinLnBrk="0" hangingPunct="0">
              <a:lnSpc>
                <a:spcPct val="120000"/>
              </a:lnSpc>
              <a:spcBef>
                <a:spcPts val="6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存储器间接      </a:t>
            </a:r>
            <a:r>
              <a:rPr kumimoji="0" lang="en-US"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EA=</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有效地址范围大      多次存储器访问</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0" fontAlgn="base" latinLnBrk="0" hangingPunct="0">
              <a:lnSpc>
                <a:spcPct val="120000"/>
              </a:lnSpc>
              <a:spcBef>
                <a:spcPts val="6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寄存器直接   操作数</a:t>
            </a:r>
            <a:r>
              <a:rPr kumimoji="0" lang="en-US"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R</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指令</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执行快</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指令短    地址范围有限 </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0" fontAlgn="base" latinLnBrk="0" hangingPunct="0">
              <a:lnSpc>
                <a:spcPct val="120000"/>
              </a:lnSpc>
              <a:spcBef>
                <a:spcPts val="6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寄存器间接      </a:t>
            </a:r>
            <a:r>
              <a:rPr kumimoji="0" lang="en-US"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EA=</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(R)         </a:t>
            </a:r>
            <a:r>
              <a:rPr kumimoji="0" lang="zh-CN"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地址范围大          额外存储器访问</a:t>
            </a:r>
            <a:endParaRPr kumimoji="0" lang="zh-CN"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0" fontAlgn="base" latinLnBrk="0" hangingPunct="0">
              <a:lnSpc>
                <a:spcPct val="120000"/>
              </a:lnSpc>
              <a:spcBef>
                <a:spcPts val="6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偏移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EA=A+(R)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灵活                            复杂</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0" fontAlgn="base" latinLnBrk="0" hangingPunct="0">
              <a:lnSpc>
                <a:spcPct val="120000"/>
              </a:lnSpc>
              <a:spcBef>
                <a:spcPts val="6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堆栈             </a:t>
            </a:r>
            <a:r>
              <a:rPr kumimoji="0" lang="en-US"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EA=</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栈顶           指令短                     应用有限</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363855" marR="0" lvl="0" indent="0" algn="l" defTabSz="914400" rtl="0" eaLnBrk="0" fontAlgn="base" latinLnBrk="0" hangingPunct="0">
              <a:lnSpc>
                <a:spcPct val="100000"/>
              </a:lnSpc>
              <a:spcBef>
                <a:spcPts val="6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其中：</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mn-cs"/>
              </a:rPr>
              <a:t>A</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是指令给出的</a:t>
            </a:r>
            <a:r>
              <a:rPr kumimoji="0" lang="zh-CN" altLang="en-US"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rPr>
              <a:t>形式地址</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mn-cs"/>
              </a:rPr>
              <a:t>EA</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是通过</a:t>
            </a: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寻址方式计算得到的</a:t>
            </a:r>
            <a:r>
              <a:rPr kumimoji="0" lang="zh-CN" altLang="en-US" sz="24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rPr>
              <a:t>有效地址</a:t>
            </a:r>
            <a:endParaRPr kumimoji="0" lang="zh-CN" altLang="en-US" sz="3200" b="1" i="0" u="none" strike="noStrike" kern="0" cap="none" spc="0" normalizeH="0" baseline="0" noProof="0" dirty="0" smtClean="0">
              <a:ln>
                <a:noFill/>
              </a:ln>
              <a:solidFill>
                <a:srgbClr val="FF0000"/>
              </a:solidFill>
              <a:effectLst/>
              <a:uLnTx/>
              <a:uFillTx/>
              <a:latin typeface="方正正粗黑简体" pitchFamily="2" charset="-122"/>
              <a:ea typeface="方正正粗黑简体" pitchFamily="2" charset="-122"/>
              <a:cs typeface="+mn-cs"/>
            </a:endParaRPr>
          </a:p>
        </p:txBody>
      </p:sp>
      <p:sp>
        <p:nvSpPr>
          <p:cNvPr id="32772" name="Line 4"/>
          <p:cNvSpPr/>
          <p:nvPr/>
        </p:nvSpPr>
        <p:spPr>
          <a:xfrm>
            <a:off x="539750" y="1844675"/>
            <a:ext cx="8064500" cy="0"/>
          </a:xfrm>
          <a:prstGeom prst="line">
            <a:avLst/>
          </a:prstGeom>
          <a:ln w="28575" cap="flat" cmpd="sng">
            <a:solidFill>
              <a:schemeClr val="tx1"/>
            </a:solidFill>
            <a:prstDash val="solid"/>
            <a:headEnd type="none" w="med" len="med"/>
            <a:tailEnd type="none" w="med" len="med"/>
          </a:ln>
        </p:spPr>
      </p:sp>
      <p:sp>
        <p:nvSpPr>
          <p:cNvPr id="32773" name="Line 5"/>
          <p:cNvSpPr/>
          <p:nvPr/>
        </p:nvSpPr>
        <p:spPr>
          <a:xfrm>
            <a:off x="2124075" y="1484313"/>
            <a:ext cx="0" cy="3887787"/>
          </a:xfrm>
          <a:prstGeom prst="line">
            <a:avLst/>
          </a:prstGeom>
          <a:ln w="28575" cap="flat" cmpd="sng">
            <a:solidFill>
              <a:schemeClr val="tx1"/>
            </a:solidFill>
            <a:prstDash val="solid"/>
            <a:headEnd type="none" w="med" len="med"/>
            <a:tailEnd type="none" w="med" len="me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p:txBody>
          <a:bodyPr vert="horz" wrap="square" lIns="91440" tIns="45720" rIns="91440" bIns="45720" anchor="b" anchorCtr="0"/>
          <a:p>
            <a:r>
              <a:rPr lang="zh-CN" altLang="en-US" sz="3600" dirty="0"/>
              <a:t>寻址方式举例</a:t>
            </a:r>
            <a:endParaRPr lang="zh-CN" altLang="en-US" sz="3600" dirty="0"/>
          </a:p>
        </p:txBody>
      </p:sp>
      <p:sp>
        <p:nvSpPr>
          <p:cNvPr id="3" name="内容占位符 2"/>
          <p:cNvSpPr>
            <a:spLocks noGrp="1"/>
          </p:cNvSpPr>
          <p:nvPr>
            <p:ph idx="1"/>
          </p:nvPr>
        </p:nvSpPr>
        <p:spPr>
          <a:xfrm>
            <a:off x="428625" y="1393825"/>
            <a:ext cx="8389938" cy="47720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2011</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偏移寻址通过将某个寄存器内容与一个形式地址相加而生成有效地址。下列寻址方式中，不属于偏移</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寻址方式的是</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．间接寻址</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B</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．基址寻址</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．相对寻址</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D</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．变址寻址</a:t>
            </a:r>
            <a:endPar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2013</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假设变址寄存器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的内容为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，指令中的形式地址为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2000 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；地址</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中的内容为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2000H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，地址</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2000H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中的内容为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3000H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，地址</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3000 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中的内容为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4000H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，则变址寻址方式下访问到的操作数是</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1000H         B. 2000H          C. 3000H            D. 4000 H</a:t>
            </a:r>
            <a:endPar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pic>
        <p:nvPicPr>
          <p:cNvPr id="33796" name="图片 3"/>
          <p:cNvPicPr>
            <a:picLocks noChangeAspect="1"/>
          </p:cNvPicPr>
          <p:nvPr/>
        </p:nvPicPr>
        <p:blipFill>
          <a:blip r:embed="rId1"/>
          <a:stretch>
            <a:fillRect/>
          </a:stretch>
        </p:blipFill>
        <p:spPr>
          <a:xfrm>
            <a:off x="2428875" y="5072063"/>
            <a:ext cx="4214813" cy="17145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charRg st="111" end="237"/>
                                            </p:txEl>
                                          </p:spTgt>
                                        </p:tgtEl>
                                        <p:attrNameLst>
                                          <p:attrName>style.visibility</p:attrName>
                                        </p:attrNameLst>
                                      </p:cBhvr>
                                      <p:to>
                                        <p:strVal val="visible"/>
                                      </p:to>
                                    </p:set>
                                    <p:animEffect transition="in" filter="blinds(horizontal)">
                                      <p:cBhvr>
                                        <p:cTn id="7" dur="500"/>
                                        <p:tgtEl>
                                          <p:spTgt spid="3">
                                            <p:txEl>
                                              <p:charRg st="111" end="23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charRg st="237" end="302"/>
                                            </p:txEl>
                                          </p:spTgt>
                                        </p:tgtEl>
                                        <p:attrNameLst>
                                          <p:attrName>style.visibility</p:attrName>
                                        </p:attrNameLst>
                                      </p:cBhvr>
                                      <p:to>
                                        <p:strVal val="visible"/>
                                      </p:to>
                                    </p:set>
                                    <p:animEffect transition="in" filter="blinds(horizontal)">
                                      <p:cBhvr>
                                        <p:cTn id="10" dur="500"/>
                                        <p:tgtEl>
                                          <p:spTgt spid="3">
                                            <p:txEl>
                                              <p:charRg st="237" end="30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p:txBody>
          <a:bodyPr vert="horz" wrap="square" lIns="91440" tIns="45720" rIns="91440" bIns="45720" anchor="b" anchorCtr="0"/>
          <a:p>
            <a:r>
              <a:rPr lang="zh-CN" altLang="en-US" sz="3600" dirty="0"/>
              <a:t>寻址方式举例</a:t>
            </a:r>
            <a:endParaRPr lang="zh-CN" altLang="en-US" sz="3600" dirty="0"/>
          </a:p>
        </p:txBody>
      </p:sp>
      <p:sp>
        <p:nvSpPr>
          <p:cNvPr id="3" name="内容占位符 2"/>
          <p:cNvSpPr>
            <a:spLocks noGrp="1"/>
          </p:cNvSpPr>
          <p:nvPr>
            <p:ph idx="1"/>
          </p:nvPr>
        </p:nvSpPr>
        <p:spPr>
          <a:xfrm>
            <a:off x="428625" y="1393825"/>
            <a:ext cx="8389938" cy="47720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2009</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某机器字长</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16</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位，主存按字节编址，转移指令采用相对寻址，由两个字节组成，第一字节为操作码字段，第二字节为相对位移量字段。假定取指令时，每取一个字节</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自动加</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。若某转移指令所在主存地址为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2000H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，相对位移量字段的内容为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06H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，则该转移指令成功转移后的目标地址是</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A.2006H   	  B.2007H   	 C.2008H    	D.2009H</a:t>
            </a:r>
            <a:endPar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txBox="1">
            <a:spLocks noChangeArrowheads="1"/>
          </p:cNvSpPr>
          <p:nvPr/>
        </p:nvSpPr>
        <p:spPr bwMode="auto">
          <a:xfrm>
            <a:off x="500063" y="3911600"/>
            <a:ext cx="8280400" cy="2232025"/>
          </a:xfrm>
          <a:prstGeom prst="rect">
            <a:avLst/>
          </a:prstGeom>
          <a:noFill/>
          <a:ln w="9525">
            <a:noFill/>
            <a:miter lim="800000"/>
          </a:ln>
        </p:spPr>
        <p:txBody>
          <a:bodyPr/>
          <a:lstStyle/>
          <a:p>
            <a:pPr marL="179705" marR="0" indent="-179705" defTabSz="914400" eaLnBrk="1" hangingPunct="1">
              <a:spcBef>
                <a:spcPct val="10000"/>
              </a:spcBef>
              <a:buClrTx/>
              <a:buSzTx/>
              <a:buFont typeface="Wingdings" panose="05000000000000000000" pitchFamily="2" charset="2"/>
              <a:buNone/>
              <a:defRPr/>
            </a:pPr>
            <a:r>
              <a:rPr kumimoji="0" lang="zh-CN" altLang="en-US" sz="2400" b="1" kern="0" cap="none" spc="0" normalizeH="0" baseline="0" noProof="0" dirty="0">
                <a:latin typeface="Times New Roman" panose="02020603050405020304" pitchFamily="18" charset="0"/>
                <a:ea typeface="+mn-ea"/>
                <a:cs typeface="+mn-cs"/>
              </a:rPr>
              <a:t>例：对于以下位模式：</a:t>
            </a:r>
            <a:r>
              <a:rPr lang="en-US" altLang="zh-CN" sz="2200" b="1" dirty="0">
                <a:latin typeface="Times New Roman" panose="02020603050405020304" pitchFamily="18" charset="0"/>
                <a:sym typeface="+mn-ea"/>
              </a:rPr>
              <a:t>1100 0000 0000 0001 0000 0000 1000 0011</a:t>
            </a:r>
            <a:r>
              <a:rPr kumimoji="0" lang="zh-CN" altLang="en-US" sz="2400" b="1" kern="0" cap="none" spc="0" normalizeH="0" baseline="0" noProof="0" dirty="0">
                <a:latin typeface="Times New Roman" panose="02020603050405020304" pitchFamily="18" charset="0"/>
                <a:ea typeface="+mn-ea"/>
                <a:cs typeface="+mn-cs"/>
              </a:rPr>
              <a:t>，它代表了什么？假定：</a:t>
            </a:r>
            <a:endParaRPr kumimoji="0" lang="en-US" altLang="zh-CN" sz="2400" b="1" kern="0" cap="none" spc="0" normalizeH="0" baseline="0" noProof="0" dirty="0">
              <a:latin typeface="Times New Roman" panose="02020603050405020304" pitchFamily="18" charset="0"/>
              <a:ea typeface="+mn-ea"/>
              <a:cs typeface="+mn-cs"/>
            </a:endParaRPr>
          </a:p>
          <a:p>
            <a:pPr marL="457200" marR="0" indent="-457200" defTabSz="914400" eaLnBrk="1" hangingPunct="1">
              <a:spcBef>
                <a:spcPct val="10000"/>
              </a:spcBef>
              <a:buClrTx/>
              <a:buSzTx/>
              <a:buFont typeface="+mj-lt"/>
              <a:buAutoNum type="alphaLcPeriod"/>
              <a:defRPr/>
            </a:pPr>
            <a:r>
              <a:rPr kumimoji="0" lang="zh-CN" altLang="en-US" sz="2400" b="1" kern="0" cap="none" spc="0" normalizeH="0" baseline="0" noProof="0" dirty="0">
                <a:latin typeface="Times New Roman" panose="02020603050405020304" pitchFamily="18" charset="0"/>
                <a:ea typeface="+mn-ea"/>
                <a:cs typeface="+mn-cs"/>
              </a:rPr>
              <a:t>一个二进制补码？</a:t>
            </a:r>
            <a:endParaRPr kumimoji="0" lang="en-US" altLang="zh-CN" sz="2400" b="1" kern="0" cap="none" spc="0" normalizeH="0" baseline="0" noProof="0" dirty="0">
              <a:latin typeface="Times New Roman" panose="02020603050405020304" pitchFamily="18" charset="0"/>
              <a:ea typeface="+mn-ea"/>
              <a:cs typeface="+mn-cs"/>
            </a:endParaRPr>
          </a:p>
          <a:p>
            <a:pPr marL="457200" marR="0" indent="-457200" defTabSz="914400" eaLnBrk="1" hangingPunct="1">
              <a:spcBef>
                <a:spcPct val="10000"/>
              </a:spcBef>
              <a:buClrTx/>
              <a:buSzTx/>
              <a:buFont typeface="+mj-lt"/>
              <a:buAutoNum type="alphaLcPeriod"/>
              <a:defRPr/>
            </a:pPr>
            <a:r>
              <a:rPr kumimoji="0" lang="zh-CN" altLang="en-US" sz="2400" b="1" kern="0" cap="none" spc="0" normalizeH="0" baseline="0" noProof="0" dirty="0">
                <a:latin typeface="Times New Roman" panose="02020603050405020304" pitchFamily="18" charset="0"/>
                <a:ea typeface="+mn-ea"/>
                <a:cs typeface="+mn-cs"/>
              </a:rPr>
              <a:t>一个无符号整数？</a:t>
            </a:r>
            <a:endParaRPr kumimoji="0" lang="en-US" altLang="zh-CN" sz="2400" b="1" kern="0" cap="none" spc="0" normalizeH="0" baseline="0" noProof="0" dirty="0">
              <a:latin typeface="Times New Roman" panose="02020603050405020304" pitchFamily="18" charset="0"/>
              <a:ea typeface="+mn-ea"/>
              <a:cs typeface="+mn-cs"/>
            </a:endParaRPr>
          </a:p>
          <a:p>
            <a:pPr marL="457200" marR="0" indent="-457200" defTabSz="914400" eaLnBrk="1" hangingPunct="1">
              <a:spcBef>
                <a:spcPct val="10000"/>
              </a:spcBef>
              <a:buClrTx/>
              <a:buSzTx/>
              <a:buFont typeface="+mj-lt"/>
              <a:buAutoNum type="alphaLcPeriod"/>
              <a:defRPr/>
            </a:pPr>
            <a:r>
              <a:rPr kumimoji="0" lang="zh-CN" altLang="en-US" sz="2400" b="1" kern="0" cap="none" spc="0" normalizeH="0" baseline="0" noProof="0" dirty="0">
                <a:latin typeface="Times New Roman" panose="02020603050405020304" pitchFamily="18" charset="0"/>
                <a:ea typeface="+mn-ea"/>
                <a:cs typeface="+mn-cs"/>
              </a:rPr>
              <a:t>一个单精度浮点数？</a:t>
            </a:r>
            <a:endParaRPr kumimoji="0" lang="en-US" altLang="zh-CN" sz="2400" b="1" kern="0" cap="none" spc="0" normalizeH="0" baseline="0" noProof="0" dirty="0">
              <a:latin typeface="Times New Roman" panose="02020603050405020304" pitchFamily="18" charset="0"/>
              <a:ea typeface="+mn-ea"/>
              <a:cs typeface="+mn-cs"/>
            </a:endParaRPr>
          </a:p>
          <a:p>
            <a:pPr marL="457200" marR="0" indent="-457200" defTabSz="914400" eaLnBrk="1" hangingPunct="1">
              <a:spcBef>
                <a:spcPct val="10000"/>
              </a:spcBef>
              <a:buClrTx/>
              <a:buSzTx/>
              <a:buFont typeface="+mj-lt"/>
              <a:buAutoNum type="alphaLcPeriod"/>
              <a:defRPr/>
            </a:pPr>
            <a:r>
              <a:rPr kumimoji="0" lang="zh-CN" altLang="en-US" sz="2400" b="1" kern="0" cap="none" spc="0" normalizeH="0" baseline="0" noProof="0" dirty="0">
                <a:latin typeface="Times New Roman" panose="02020603050405020304" pitchFamily="18" charset="0"/>
                <a:ea typeface="+mn-ea"/>
                <a:cs typeface="+mn-cs"/>
              </a:rPr>
              <a:t>一个</a:t>
            </a:r>
            <a:r>
              <a:rPr kumimoji="0" lang="en-US" altLang="zh-CN" sz="2400" b="1" kern="0" cap="none" spc="0" normalizeH="0" baseline="0" noProof="0" dirty="0">
                <a:latin typeface="Times New Roman" panose="02020603050405020304" pitchFamily="18" charset="0"/>
                <a:ea typeface="+mn-ea"/>
                <a:cs typeface="+mn-cs"/>
              </a:rPr>
              <a:t>RISC-V</a:t>
            </a:r>
            <a:r>
              <a:rPr kumimoji="0" lang="zh-CN" altLang="en-US" sz="2400" b="1" kern="0" cap="none" spc="0" normalizeH="0" baseline="0" noProof="0" dirty="0">
                <a:latin typeface="Times New Roman" panose="02020603050405020304" pitchFamily="18" charset="0"/>
                <a:ea typeface="+mn-ea"/>
                <a:cs typeface="+mn-cs"/>
              </a:rPr>
              <a:t>指令？</a:t>
            </a:r>
            <a:endParaRPr kumimoji="0" lang="en-US" altLang="zh-CN" sz="2400" b="1" kern="0" cap="none" spc="0" normalizeH="0" baseline="0" noProof="0" dirty="0">
              <a:latin typeface="Times New Roman" panose="02020603050405020304" pitchFamily="18" charset="0"/>
              <a:ea typeface="+mn-ea"/>
              <a:cs typeface="+mn-cs"/>
            </a:endParaRPr>
          </a:p>
          <a:p>
            <a:pPr marL="179705" marR="0" indent="-179705" defTabSz="914400" eaLnBrk="1" hangingPunct="1">
              <a:spcBef>
                <a:spcPct val="10000"/>
              </a:spcBef>
              <a:buClrTx/>
              <a:buSzTx/>
              <a:buFont typeface="Wingdings" panose="05000000000000000000" pitchFamily="2" charset="2"/>
              <a:buNone/>
              <a:defRPr/>
            </a:pPr>
            <a:r>
              <a:rPr kumimoji="0" lang="zh-CN" altLang="en-US" sz="2400" b="1" kern="0" cap="none" spc="0" normalizeH="0" baseline="0" noProof="0" dirty="0">
                <a:latin typeface="Times New Roman" panose="02020603050405020304" pitchFamily="18" charset="0"/>
                <a:ea typeface="+mn-ea"/>
                <a:cs typeface="+mn-cs"/>
              </a:rPr>
              <a:t>		</a:t>
            </a:r>
            <a:endParaRPr kumimoji="0" lang="zh-CN" altLang="en-US" sz="2400" b="1" kern="0" cap="none" spc="0" normalizeH="0" baseline="0" noProof="0" dirty="0">
              <a:latin typeface="Times New Roman" panose="02020603050405020304" pitchFamily="18" charset="0"/>
              <a:ea typeface="+mn-ea"/>
              <a:cs typeface="+mn-cs"/>
            </a:endParaRPr>
          </a:p>
        </p:txBody>
      </p:sp>
      <p:sp>
        <p:nvSpPr>
          <p:cNvPr id="6" name="Rectangle 2"/>
          <p:cNvSpPr txBox="1">
            <a:spLocks noChangeArrowheads="1"/>
          </p:cNvSpPr>
          <p:nvPr/>
        </p:nvSpPr>
        <p:spPr bwMode="auto">
          <a:xfrm>
            <a:off x="642938" y="214313"/>
            <a:ext cx="6881813" cy="676275"/>
          </a:xfrm>
          <a:prstGeom prst="rect">
            <a:avLst/>
          </a:prstGeom>
          <a:noFill/>
          <a:ln w="9525">
            <a:noFill/>
            <a:miter lim="800000"/>
          </a:ln>
        </p:spPr>
        <p:txBody>
          <a:bodyPr anchor="b"/>
          <a:lstStyle/>
          <a:p>
            <a:pPr marR="0" defTabSz="914400" eaLnBrk="1" hangingPunct="1">
              <a:buClrTx/>
              <a:buSzTx/>
              <a:buFontTx/>
              <a:buNone/>
              <a:defRPr/>
            </a:pPr>
            <a:r>
              <a:rPr kumimoji="0" lang="zh-CN" altLang="en-US" sz="4000" b="1" kern="0" cap="none" spc="0" normalizeH="0" baseline="0" noProof="0" dirty="0">
                <a:solidFill>
                  <a:schemeClr val="tx2"/>
                </a:solidFill>
                <a:latin typeface="+mj-lt"/>
                <a:ea typeface="+mj-ea"/>
                <a:cs typeface="+mj-cs"/>
              </a:rPr>
              <a:t>五、关于二进制数表示问题</a:t>
            </a:r>
            <a:endParaRPr kumimoji="0" lang="zh-CN" altLang="en-US" sz="4000" b="1" kern="0" cap="none" spc="0" normalizeH="0" baseline="0" noProof="0" dirty="0">
              <a:solidFill>
                <a:schemeClr val="tx2"/>
              </a:solidFill>
              <a:latin typeface="+mj-lt"/>
              <a:ea typeface="+mj-ea"/>
              <a:cs typeface="+mj-cs"/>
            </a:endParaRPr>
          </a:p>
        </p:txBody>
      </p:sp>
      <p:sp>
        <p:nvSpPr>
          <p:cNvPr id="8" name="矩形 7"/>
          <p:cNvSpPr/>
          <p:nvPr/>
        </p:nvSpPr>
        <p:spPr>
          <a:xfrm>
            <a:off x="500063" y="1357313"/>
            <a:ext cx="8215313" cy="2413000"/>
          </a:xfrm>
          <a:prstGeom prst="rect">
            <a:avLst/>
          </a:prstGeom>
        </p:spPr>
        <p:txBody>
          <a:bodyPr>
            <a:spAutoFit/>
          </a:bodyPr>
          <a:lstStyle/>
          <a:p>
            <a:pPr marL="358775" marR="0" lvl="0" indent="-358775" algn="l" defTabSz="914400" rtl="0" eaLnBrk="0" fontAlgn="base" latinLnBrk="0" hangingPunct="0">
              <a:lnSpc>
                <a:spcPct val="110000"/>
              </a:lnSpc>
              <a:spcBef>
                <a:spcPct val="20000"/>
              </a:spcBef>
              <a:spcAft>
                <a:spcPct val="0"/>
              </a:spcAft>
              <a:buClrTx/>
              <a:buSzTx/>
              <a:buFont typeface="Wingdings" panose="05000000000000000000" pitchFamily="2" charset="2"/>
              <a:buChar char="p"/>
              <a:defRPr/>
            </a:pPr>
            <a:r>
              <a:rPr kumimoji="0" lang="zh-CN" altLang="en-US" sz="2800" b="1" i="0" u="none" strike="noStrike" kern="0" cap="none" spc="0" normalizeH="0" baseline="0" noProof="0" dirty="0">
                <a:ln>
                  <a:noFill/>
                </a:ln>
                <a:solidFill>
                  <a:srgbClr val="000000"/>
                </a:solidFill>
                <a:effectLst/>
                <a:uLnTx/>
                <a:uFillTx/>
                <a:latin typeface="Times New Roman" panose="02020603050405020304"/>
                <a:ea typeface="华文新魏" panose="02010800040101010101" pitchFamily="2" charset="-122"/>
                <a:cs typeface="+mn-cs"/>
              </a:rPr>
              <a:t>计算机内部</a:t>
            </a:r>
            <a:r>
              <a:rPr kumimoji="0" lang="zh-CN" altLang="en-US" sz="2800" b="1" i="0" u="none" strike="noStrike" kern="0" cap="none" spc="0" normalizeH="0" baseline="0" noProof="0" dirty="0">
                <a:ln>
                  <a:noFill/>
                </a:ln>
                <a:solidFill>
                  <a:srgbClr val="FF0000"/>
                </a:solidFill>
                <a:effectLst/>
                <a:uLnTx/>
                <a:uFillTx/>
                <a:latin typeface="方正正粗黑简体" pitchFamily="2" charset="-122"/>
                <a:ea typeface="方正正粗黑简体" pitchFamily="2" charset="-122"/>
                <a:cs typeface="+mn-cs"/>
              </a:rPr>
              <a:t>所有信息</a:t>
            </a:r>
            <a:r>
              <a:rPr kumimoji="0" lang="zh-CN" altLang="en-US" sz="2800" b="1" i="0" u="none" strike="noStrike" kern="0" cap="none" spc="0" normalizeH="0" baseline="0" noProof="0" dirty="0">
                <a:ln>
                  <a:noFill/>
                </a:ln>
                <a:solidFill>
                  <a:srgbClr val="000000"/>
                </a:solidFill>
                <a:effectLst/>
                <a:uLnTx/>
                <a:uFillTx/>
                <a:latin typeface="Times New Roman" panose="02020603050405020304"/>
                <a:ea typeface="华文新魏" panose="02010800040101010101" pitchFamily="2" charset="-122"/>
                <a:cs typeface="+mn-cs"/>
              </a:rPr>
              <a:t>都采用</a:t>
            </a:r>
            <a:r>
              <a:rPr kumimoji="0" lang="zh-CN" altLang="en-US" sz="2800" b="1" i="0" u="none" strike="noStrike" kern="0" cap="none" spc="0" normalizeH="0" baseline="0" noProof="0" dirty="0">
                <a:ln>
                  <a:noFill/>
                </a:ln>
                <a:solidFill>
                  <a:srgbClr val="FF0000"/>
                </a:solidFill>
                <a:effectLst/>
                <a:uLnTx/>
                <a:uFillTx/>
                <a:latin typeface="方正正粗黑简体" pitchFamily="2" charset="-122"/>
                <a:ea typeface="方正正粗黑简体" pitchFamily="2" charset="-122"/>
                <a:cs typeface="+mn-cs"/>
              </a:rPr>
              <a:t>二进制编码表示</a:t>
            </a:r>
            <a:endParaRPr kumimoji="0" lang="en-US" altLang="zh-CN" sz="2800" b="1" i="0" u="none" strike="noStrike" kern="0" cap="none" spc="0" normalizeH="0" baseline="0" noProof="0" dirty="0">
              <a:ln>
                <a:noFill/>
              </a:ln>
              <a:solidFill>
                <a:srgbClr val="FF0000"/>
              </a:solidFill>
              <a:effectLst/>
              <a:uLnTx/>
              <a:uFillTx/>
              <a:latin typeface="方正正粗黑简体" pitchFamily="2" charset="-122"/>
              <a:ea typeface="方正正粗黑简体" pitchFamily="2" charset="-122"/>
              <a:cs typeface="+mn-cs"/>
            </a:endParaRPr>
          </a:p>
          <a:p>
            <a:pPr marL="624205" marR="0" lvl="1" indent="-265430" algn="l" defTabSz="914400" rtl="0" eaLnBrk="0" fontAlgn="base" latinLnBrk="0" hangingPunct="0">
              <a:lnSpc>
                <a:spcPct val="110000"/>
              </a:lnSpc>
              <a:spcBef>
                <a:spcPct val="20000"/>
              </a:spcBef>
              <a:spcAft>
                <a:spcPct val="0"/>
              </a:spcAft>
              <a:buClrTx/>
              <a:buSzTx/>
              <a:buFont typeface="Wingdings" panose="05000000000000000000" pitchFamily="2" charset="2"/>
              <a:buChar char="n"/>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a:ea typeface="华文新魏" panose="02010800040101010101" pitchFamily="2" charset="-122"/>
                <a:cs typeface="+mn-cs"/>
              </a:rPr>
              <a:t>制造二个稳定态的物理器件比较容易</a:t>
            </a:r>
            <a:endParaRPr kumimoji="0" lang="zh-CN" altLang="en-US" sz="2400" b="1" i="0" u="none" strike="noStrike" kern="0" cap="none" spc="0" normalizeH="0" baseline="0" noProof="0" dirty="0">
              <a:ln>
                <a:noFill/>
              </a:ln>
              <a:solidFill>
                <a:srgbClr val="000000"/>
              </a:solidFill>
              <a:effectLst/>
              <a:uLnTx/>
              <a:uFillTx/>
              <a:latin typeface="Times New Roman" panose="02020603050405020304"/>
              <a:ea typeface="华文新魏" panose="02010800040101010101" pitchFamily="2" charset="-122"/>
              <a:cs typeface="+mn-cs"/>
            </a:endParaRPr>
          </a:p>
          <a:p>
            <a:pPr marL="624205" marR="0" lvl="1" indent="-265430" algn="l" defTabSz="914400" rtl="0" eaLnBrk="0" fontAlgn="base" latinLnBrk="0" hangingPunct="0">
              <a:lnSpc>
                <a:spcPct val="110000"/>
              </a:lnSpc>
              <a:spcBef>
                <a:spcPct val="20000"/>
              </a:spcBef>
              <a:spcAft>
                <a:spcPct val="0"/>
              </a:spcAft>
              <a:buClrTx/>
              <a:buSzTx/>
              <a:buFont typeface="Wingdings" panose="05000000000000000000" pitchFamily="2" charset="2"/>
              <a:buChar char="n"/>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a:ea typeface="华文新魏" panose="02010800040101010101" pitchFamily="2" charset="-122"/>
                <a:cs typeface="+mn-cs"/>
              </a:rPr>
              <a:t>二进制的编码、计数、运算规则简单</a:t>
            </a:r>
            <a:endParaRPr kumimoji="0" lang="zh-CN" altLang="en-US" sz="2400" b="1" i="0" u="none" strike="noStrike" kern="0" cap="none" spc="0" normalizeH="0" baseline="0" noProof="0" dirty="0">
              <a:ln>
                <a:noFill/>
              </a:ln>
              <a:solidFill>
                <a:srgbClr val="000000"/>
              </a:solidFill>
              <a:effectLst/>
              <a:uLnTx/>
              <a:uFillTx/>
              <a:latin typeface="Times New Roman" panose="02020603050405020304"/>
              <a:ea typeface="华文新魏" panose="02010800040101010101" pitchFamily="2" charset="-122"/>
              <a:cs typeface="+mn-cs"/>
            </a:endParaRPr>
          </a:p>
          <a:p>
            <a:pPr marL="624205" marR="0" lvl="1" indent="-265430" algn="l" defTabSz="914400" rtl="0" eaLnBrk="0" fontAlgn="base" latinLnBrk="0" hangingPunct="0">
              <a:lnSpc>
                <a:spcPct val="110000"/>
              </a:lnSpc>
              <a:spcBef>
                <a:spcPct val="20000"/>
              </a:spcBef>
              <a:spcAft>
                <a:spcPct val="0"/>
              </a:spcAft>
              <a:buClrTx/>
              <a:buSzTx/>
              <a:buFont typeface="Wingdings" panose="05000000000000000000" pitchFamily="2" charset="2"/>
              <a:buChar char="n"/>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a:ea typeface="华文新魏" panose="02010800040101010101" pitchFamily="2" charset="-122"/>
                <a:cs typeface="+mn-cs"/>
              </a:rPr>
              <a:t>与逻辑命题对应，便于逻辑运算，并能方便地用逻辑电路实现算术运算</a:t>
            </a:r>
            <a:endParaRPr kumimoji="0" lang="zh-CN" altLang="en-US" sz="2400" b="1" i="0" u="none" strike="noStrike" kern="0" cap="none" spc="0" normalizeH="0" baseline="0" noProof="0" dirty="0">
              <a:ln>
                <a:noFill/>
              </a:ln>
              <a:solidFill>
                <a:srgbClr val="000000"/>
              </a:solidFill>
              <a:effectLst/>
              <a:uLnTx/>
              <a:uFillTx/>
              <a:latin typeface="Times New Roman" panose="02020603050405020304"/>
              <a:ea typeface="华文新魏" panose="02010800040101010101" pitchFamily="2" charset="-122"/>
              <a:cs typeface="+mn-cs"/>
            </a:endParaRPr>
          </a:p>
        </p:txBody>
      </p:sp>
      <p:graphicFrame>
        <p:nvGraphicFramePr>
          <p:cNvPr id="2" name="对象 1"/>
          <p:cNvGraphicFramePr/>
          <p:nvPr/>
        </p:nvGraphicFramePr>
        <p:xfrm>
          <a:off x="3693160" y="4992370"/>
          <a:ext cx="5140960" cy="1223010"/>
        </p:xfrm>
        <a:graphic>
          <a:graphicData uri="http://schemas.openxmlformats.org/presentationml/2006/ole">
            <mc:AlternateContent xmlns:mc="http://schemas.openxmlformats.org/markup-compatibility/2006">
              <mc:Choice xmlns:v="urn:schemas-microsoft-com:vml" Requires="v">
                <p:oleObj spid="_x0000_s3" name="" r:id="rId1" imgW="4834255" imgH="1066800" progId="Paint.Picture">
                  <p:embed/>
                </p:oleObj>
              </mc:Choice>
              <mc:Fallback>
                <p:oleObj name="" r:id="rId1" imgW="4834255" imgH="1066800" progId="Paint.Picture">
                  <p:embed/>
                  <p:pic>
                    <p:nvPicPr>
                      <p:cNvPr id="0" name="图片 2"/>
                      <p:cNvPicPr/>
                      <p:nvPr/>
                    </p:nvPicPr>
                    <p:blipFill>
                      <a:blip r:embed="rId2"/>
                      <a:stretch>
                        <a:fillRect/>
                      </a:stretch>
                    </p:blipFill>
                    <p:spPr>
                      <a:xfrm>
                        <a:off x="3693160" y="4992370"/>
                        <a:ext cx="5140960" cy="122301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a:xfrm>
            <a:off x="646113" y="231775"/>
            <a:ext cx="7021512" cy="676275"/>
          </a:xfrm>
        </p:spPr>
        <p:txBody>
          <a:bodyPr vert="horz" wrap="square" lIns="91440" tIns="45720" rIns="91440" bIns="45720" anchor="b" anchorCtr="0"/>
          <a:p>
            <a:pPr eaLnBrk="1" hangingPunct="1"/>
            <a:r>
              <a:rPr lang="zh-CN" altLang="en-US" sz="3600" dirty="0"/>
              <a:t>二进制数表示举例</a:t>
            </a:r>
            <a:endParaRPr lang="zh-CN" altLang="en-US" sz="3600" dirty="0"/>
          </a:p>
        </p:txBody>
      </p:sp>
      <p:sp>
        <p:nvSpPr>
          <p:cNvPr id="1221635" name="Rectangle 3"/>
          <p:cNvSpPr>
            <a:spLocks noGrp="1"/>
          </p:cNvSpPr>
          <p:nvPr>
            <p:ph idx="1"/>
          </p:nvPr>
        </p:nvSpPr>
        <p:spPr>
          <a:xfrm>
            <a:off x="408305" y="1196975"/>
            <a:ext cx="8411845" cy="5111750"/>
          </a:xfrm>
        </p:spPr>
        <p:txBody>
          <a:bodyPr vert="horz" wrap="square" lIns="91440" tIns="45720" rIns="91440" bIns="45720" anchor="t" anchorCtr="0"/>
          <a:p>
            <a:pPr eaLnBrk="1" hangingPunct="1">
              <a:lnSpc>
                <a:spcPct val="95000"/>
              </a:lnSpc>
              <a:spcBef>
                <a:spcPts val="0"/>
              </a:spcBef>
              <a:spcAft>
                <a:spcPts val="0"/>
              </a:spcAft>
              <a:buNone/>
            </a:pPr>
            <a:r>
              <a:rPr lang="en-US" altLang="zh-CN" sz="2200" dirty="0">
                <a:latin typeface="Times New Roman" panose="02020603050405020304" pitchFamily="18" charset="0"/>
              </a:rPr>
              <a:t>a.  </a:t>
            </a:r>
            <a:r>
              <a:rPr lang="zh-CN" altLang="en-US" sz="2200" dirty="0">
                <a:latin typeface="Times New Roman" panose="02020603050405020304" pitchFamily="18" charset="0"/>
              </a:rPr>
              <a:t>若是二进制补码：</a:t>
            </a:r>
            <a:endParaRPr lang="zh-CN" altLang="en-US" sz="2200" dirty="0">
              <a:latin typeface="Times New Roman" panose="02020603050405020304" pitchFamily="18" charset="0"/>
            </a:endParaRPr>
          </a:p>
          <a:p>
            <a:pPr eaLnBrk="1" hangingPunct="1">
              <a:lnSpc>
                <a:spcPct val="95000"/>
              </a:lnSpc>
              <a:spcBef>
                <a:spcPts val="0"/>
              </a:spcBef>
              <a:spcAft>
                <a:spcPts val="0"/>
              </a:spcAft>
              <a:buNone/>
            </a:pPr>
            <a:r>
              <a:rPr lang="zh-CN" altLang="en-US" sz="2200" dirty="0">
                <a:latin typeface="Times New Roman" panose="02020603050405020304" pitchFamily="18" charset="0"/>
              </a:rPr>
              <a:t>		补码 </a:t>
            </a:r>
            <a:r>
              <a:rPr lang="en-US" altLang="zh-CN" sz="2200" dirty="0">
                <a:latin typeface="Times New Roman" panose="02020603050405020304" pitchFamily="18" charset="0"/>
              </a:rPr>
              <a:t>= </a:t>
            </a:r>
            <a:r>
              <a:rPr lang="en-US" altLang="zh-CN" sz="2200" dirty="0">
                <a:latin typeface="Times New Roman" panose="02020603050405020304" pitchFamily="18" charset="0"/>
                <a:sym typeface="+mn-ea"/>
              </a:rPr>
              <a:t>1100 0000 0000 0001 0</a:t>
            </a:r>
            <a:r>
              <a:rPr lang="en-US" altLang="zh-CN" sz="2200" dirty="0">
                <a:solidFill>
                  <a:schemeClr val="tx1"/>
                </a:solidFill>
                <a:latin typeface="Times New Roman" panose="02020603050405020304" pitchFamily="18" charset="0"/>
                <a:sym typeface="+mn-ea"/>
              </a:rPr>
              <a:t>000 0000 1000 0011</a:t>
            </a:r>
            <a:endParaRPr lang="en-US" altLang="zh-CN" sz="2200" dirty="0">
              <a:latin typeface="Times New Roman" panose="02020603050405020304" pitchFamily="18" charset="0"/>
            </a:endParaRPr>
          </a:p>
          <a:p>
            <a:pPr eaLnBrk="1" hangingPunct="1">
              <a:lnSpc>
                <a:spcPct val="95000"/>
              </a:lnSpc>
              <a:spcBef>
                <a:spcPts val="0"/>
              </a:spcBef>
              <a:spcAft>
                <a:spcPts val="0"/>
              </a:spcAft>
              <a:buNone/>
            </a:pPr>
            <a:r>
              <a:rPr lang="zh-CN" altLang="en-US" sz="2200" dirty="0">
                <a:latin typeface="Times New Roman" panose="02020603050405020304" pitchFamily="18" charset="0"/>
              </a:rPr>
              <a:t>		原码 </a:t>
            </a:r>
            <a:r>
              <a:rPr lang="en-US" altLang="zh-CN" sz="2200" dirty="0">
                <a:latin typeface="Times New Roman" panose="02020603050405020304" pitchFamily="18" charset="0"/>
              </a:rPr>
              <a:t>= 1011 1111 1111 1110 1111 1111 0111 1101</a:t>
            </a:r>
            <a:endParaRPr lang="en-US" altLang="zh-CN" sz="2200" dirty="0">
              <a:latin typeface="Times New Roman" panose="02020603050405020304" pitchFamily="18" charset="0"/>
            </a:endParaRPr>
          </a:p>
          <a:p>
            <a:pPr eaLnBrk="1" hangingPunct="1">
              <a:lnSpc>
                <a:spcPct val="95000"/>
              </a:lnSpc>
              <a:spcBef>
                <a:spcPts val="0"/>
              </a:spcBef>
              <a:spcAft>
                <a:spcPts val="0"/>
              </a:spcAft>
              <a:buNone/>
            </a:pPr>
            <a:r>
              <a:rPr lang="zh-CN" altLang="en-US" sz="2200" dirty="0">
                <a:latin typeface="Times New Roman" panose="02020603050405020304" pitchFamily="18" charset="0"/>
              </a:rPr>
              <a:t>		真值 </a:t>
            </a:r>
            <a:r>
              <a:rPr lang="en-US" altLang="zh-CN" sz="2200" dirty="0">
                <a:latin typeface="Times New Roman" panose="02020603050405020304" pitchFamily="18" charset="0"/>
              </a:rPr>
              <a:t>= -2,147,417,981</a:t>
            </a:r>
            <a:endParaRPr lang="en-US" altLang="zh-CN" sz="2200" dirty="0">
              <a:latin typeface="Times New Roman" panose="02020603050405020304" pitchFamily="18" charset="0"/>
            </a:endParaRPr>
          </a:p>
          <a:p>
            <a:pPr eaLnBrk="1" hangingPunct="1">
              <a:lnSpc>
                <a:spcPct val="95000"/>
              </a:lnSpc>
              <a:spcBef>
                <a:spcPts val="0"/>
              </a:spcBef>
              <a:spcAft>
                <a:spcPts val="0"/>
              </a:spcAft>
              <a:buNone/>
            </a:pPr>
            <a:r>
              <a:rPr lang="en-US" altLang="zh-CN" sz="2200" dirty="0">
                <a:latin typeface="Times New Roman" panose="02020603050405020304" pitchFamily="18" charset="0"/>
              </a:rPr>
              <a:t>b. </a:t>
            </a:r>
            <a:r>
              <a:rPr lang="zh-CN" altLang="en-US" sz="2200" dirty="0">
                <a:latin typeface="Times New Roman" panose="02020603050405020304" pitchFamily="18" charset="0"/>
              </a:rPr>
              <a:t>若是无符号整数：</a:t>
            </a:r>
            <a:endParaRPr lang="zh-CN" altLang="en-US" sz="2200" dirty="0">
              <a:latin typeface="Times New Roman" panose="02020603050405020304" pitchFamily="18" charset="0"/>
            </a:endParaRPr>
          </a:p>
          <a:p>
            <a:pPr eaLnBrk="1" hangingPunct="1">
              <a:lnSpc>
                <a:spcPct val="95000"/>
              </a:lnSpc>
              <a:spcBef>
                <a:spcPts val="0"/>
              </a:spcBef>
              <a:spcAft>
                <a:spcPts val="0"/>
              </a:spcAft>
              <a:buNone/>
            </a:pPr>
            <a:r>
              <a:rPr lang="zh-CN" altLang="en-US" sz="2200" dirty="0">
                <a:latin typeface="Times New Roman" panose="02020603050405020304" pitchFamily="18" charset="0"/>
              </a:rPr>
              <a:t>		真值 </a:t>
            </a:r>
            <a:r>
              <a:rPr lang="en-US" altLang="zh-CN" sz="2200" dirty="0">
                <a:latin typeface="Times New Roman" panose="02020603050405020304" pitchFamily="18" charset="0"/>
              </a:rPr>
              <a:t>= 2,147,549,315</a:t>
            </a:r>
            <a:endParaRPr lang="en-US" altLang="zh-CN" sz="2200" dirty="0">
              <a:latin typeface="Times New Roman" panose="02020603050405020304" pitchFamily="18" charset="0"/>
            </a:endParaRPr>
          </a:p>
          <a:p>
            <a:pPr eaLnBrk="1" hangingPunct="1">
              <a:lnSpc>
                <a:spcPct val="95000"/>
              </a:lnSpc>
              <a:spcBef>
                <a:spcPts val="0"/>
              </a:spcBef>
              <a:spcAft>
                <a:spcPts val="0"/>
              </a:spcAft>
              <a:buNone/>
            </a:pPr>
            <a:r>
              <a:rPr lang="en-US" altLang="zh-CN" sz="2200" dirty="0">
                <a:latin typeface="Times New Roman" panose="02020603050405020304" pitchFamily="18" charset="0"/>
              </a:rPr>
              <a:t>c. </a:t>
            </a:r>
            <a:r>
              <a:rPr lang="zh-CN" altLang="en-US" sz="2200" dirty="0">
                <a:latin typeface="Times New Roman" panose="02020603050405020304" pitchFamily="18" charset="0"/>
              </a:rPr>
              <a:t>若是单精度浮点数：</a:t>
            </a:r>
            <a:endParaRPr lang="zh-CN" altLang="en-US" sz="2200" dirty="0">
              <a:latin typeface="Times New Roman" panose="02020603050405020304" pitchFamily="18" charset="0"/>
            </a:endParaRPr>
          </a:p>
          <a:p>
            <a:pPr eaLnBrk="1" hangingPunct="1">
              <a:lnSpc>
                <a:spcPct val="95000"/>
              </a:lnSpc>
              <a:spcBef>
                <a:spcPts val="0"/>
              </a:spcBef>
              <a:spcAft>
                <a:spcPts val="0"/>
              </a:spcAft>
              <a:buNone/>
            </a:pPr>
            <a:r>
              <a:rPr lang="zh-CN" altLang="en-US" sz="2200" dirty="0">
                <a:latin typeface="Times New Roman" panose="02020603050405020304" pitchFamily="18" charset="0"/>
              </a:rPr>
              <a:t>		阶码</a:t>
            </a:r>
            <a:r>
              <a:rPr lang="en-US" altLang="zh-CN" sz="2200" dirty="0">
                <a:latin typeface="Times New Roman" panose="02020603050405020304" pitchFamily="18" charset="0"/>
              </a:rPr>
              <a:t>=10000000−127= 1</a:t>
            </a:r>
            <a:endParaRPr lang="en-US" altLang="zh-CN" sz="2200" dirty="0">
              <a:latin typeface="Times New Roman" panose="02020603050405020304" pitchFamily="18" charset="0"/>
            </a:endParaRPr>
          </a:p>
          <a:p>
            <a:pPr eaLnBrk="1" hangingPunct="1">
              <a:lnSpc>
                <a:spcPct val="95000"/>
              </a:lnSpc>
              <a:spcBef>
                <a:spcPts val="0"/>
              </a:spcBef>
              <a:spcAft>
                <a:spcPts val="0"/>
              </a:spcAft>
              <a:buNone/>
            </a:pPr>
            <a:r>
              <a:rPr lang="zh-CN" altLang="en-US" sz="2200" dirty="0">
                <a:latin typeface="Times New Roman" panose="02020603050405020304" pitchFamily="18" charset="0"/>
              </a:rPr>
              <a:t>		尾数</a:t>
            </a:r>
            <a:r>
              <a:rPr lang="en-US" altLang="zh-CN" sz="2200" dirty="0">
                <a:latin typeface="Times New Roman" panose="02020603050405020304" pitchFamily="18" charset="0"/>
              </a:rPr>
              <a:t>= 1 </a:t>
            </a:r>
            <a:r>
              <a:rPr lang="en-US" altLang="zh-CN" sz="2200" dirty="0">
                <a:solidFill>
                  <a:schemeClr val="tx1"/>
                </a:solidFill>
                <a:latin typeface="Times New Roman" panose="02020603050405020304" pitchFamily="18" charset="0"/>
                <a:sym typeface="+mn-ea"/>
              </a:rPr>
              <a:t>000 0001 0000 0000 1000 0011</a:t>
            </a:r>
            <a:endParaRPr lang="en-US" altLang="zh-CN" sz="2200" dirty="0">
              <a:latin typeface="Times New Roman" panose="02020603050405020304" pitchFamily="18" charset="0"/>
            </a:endParaRPr>
          </a:p>
          <a:p>
            <a:pPr eaLnBrk="1" hangingPunct="1">
              <a:lnSpc>
                <a:spcPct val="95000"/>
              </a:lnSpc>
              <a:spcBef>
                <a:spcPts val="0"/>
              </a:spcBef>
              <a:spcAft>
                <a:spcPts val="0"/>
              </a:spcAft>
              <a:buNone/>
            </a:pPr>
            <a:r>
              <a:rPr lang="en-US" altLang="zh-CN" sz="2200" dirty="0">
                <a:latin typeface="Times New Roman" panose="02020603050405020304" pitchFamily="18" charset="0"/>
              </a:rPr>
              <a:t>                    = −(1+2</a:t>
            </a:r>
            <a:r>
              <a:rPr lang="en-US" altLang="zh-CN" sz="2200" baseline="30000" dirty="0">
                <a:latin typeface="Times New Roman" panose="02020603050405020304" pitchFamily="18" charset="0"/>
                <a:sym typeface="+mn-ea"/>
              </a:rPr>
              <a:t>-7</a:t>
            </a:r>
            <a:r>
              <a:rPr lang="en-US" altLang="zh-CN" sz="2200" dirty="0">
                <a:latin typeface="Times New Roman" panose="02020603050405020304" pitchFamily="18" charset="0"/>
                <a:sym typeface="+mn-ea"/>
              </a:rPr>
              <a:t>+2</a:t>
            </a:r>
            <a:r>
              <a:rPr lang="en-US" altLang="zh-CN" sz="2200" baseline="30000" dirty="0">
                <a:latin typeface="Times New Roman" panose="02020603050405020304" pitchFamily="18" charset="0"/>
                <a:sym typeface="+mn-ea"/>
              </a:rPr>
              <a:t>-16</a:t>
            </a:r>
            <a:r>
              <a:rPr lang="en-US" altLang="zh-CN" sz="2200" dirty="0">
                <a:latin typeface="Times New Roman" panose="02020603050405020304" pitchFamily="18" charset="0"/>
              </a:rPr>
              <a:t>+2</a:t>
            </a:r>
            <a:r>
              <a:rPr lang="en-US" altLang="zh-CN" sz="2200" baseline="30000" dirty="0">
                <a:latin typeface="Times New Roman" panose="02020603050405020304" pitchFamily="18" charset="0"/>
              </a:rPr>
              <a:t>-22</a:t>
            </a:r>
            <a:r>
              <a:rPr lang="en-US" altLang="zh-CN" sz="2200" dirty="0">
                <a:latin typeface="Times New Roman" panose="02020603050405020304" pitchFamily="18" charset="0"/>
                <a:sym typeface="+mn-ea"/>
              </a:rPr>
              <a:t>+2</a:t>
            </a:r>
            <a:r>
              <a:rPr lang="en-US" altLang="zh-CN" sz="2200" baseline="30000" dirty="0">
                <a:latin typeface="Times New Roman" panose="02020603050405020304" pitchFamily="18" charset="0"/>
                <a:sym typeface="+mn-ea"/>
              </a:rPr>
              <a:t>-23</a:t>
            </a:r>
            <a:r>
              <a:rPr lang="en-US" altLang="zh-CN" sz="2200" dirty="0">
                <a:latin typeface="Times New Roman" panose="02020603050405020304" pitchFamily="18" charset="0"/>
              </a:rPr>
              <a:t>)</a:t>
            </a:r>
            <a:r>
              <a:rPr lang="zh-CN" altLang="en-US" sz="2200" dirty="0">
                <a:latin typeface="Times New Roman" panose="02020603050405020304" pitchFamily="18" charset="0"/>
              </a:rPr>
              <a:t> ≈ </a:t>
            </a:r>
            <a:r>
              <a:rPr lang="en-US" altLang="zh-CN" sz="2200" dirty="0">
                <a:latin typeface="Times New Roman" panose="02020603050405020304" pitchFamily="18" charset="0"/>
              </a:rPr>
              <a:t>− 1.0078125</a:t>
            </a:r>
            <a:endParaRPr lang="en-US" altLang="zh-CN" sz="2200" dirty="0">
              <a:latin typeface="Times New Roman" panose="02020603050405020304" pitchFamily="18" charset="0"/>
            </a:endParaRPr>
          </a:p>
          <a:p>
            <a:pPr eaLnBrk="1" hangingPunct="1">
              <a:lnSpc>
                <a:spcPct val="95000"/>
              </a:lnSpc>
              <a:spcBef>
                <a:spcPts val="0"/>
              </a:spcBef>
              <a:spcAft>
                <a:spcPts val="0"/>
              </a:spcAft>
              <a:buNone/>
            </a:pPr>
            <a:r>
              <a:rPr lang="zh-CN" altLang="en-US" sz="2200" dirty="0">
                <a:latin typeface="Times New Roman" panose="02020603050405020304" pitchFamily="18" charset="0"/>
              </a:rPr>
              <a:t>		真值 ≈</a:t>
            </a:r>
            <a:r>
              <a:rPr lang="en-US" altLang="zh-CN" sz="2200" dirty="0">
                <a:latin typeface="Times New Roman" panose="02020603050405020304" pitchFamily="18" charset="0"/>
              </a:rPr>
              <a:t> −1.0078125×2</a:t>
            </a:r>
            <a:r>
              <a:rPr lang="en-US" altLang="zh-CN" sz="2200" baseline="30000" dirty="0">
                <a:latin typeface="Times New Roman" panose="02020603050405020304" pitchFamily="18" charset="0"/>
              </a:rPr>
              <a:t>1</a:t>
            </a:r>
            <a:endParaRPr lang="en-US" altLang="zh-CN" sz="2200" baseline="30000" dirty="0">
              <a:latin typeface="Times New Roman" panose="02020603050405020304" pitchFamily="18" charset="0"/>
            </a:endParaRPr>
          </a:p>
          <a:p>
            <a:pPr eaLnBrk="1" hangingPunct="1">
              <a:lnSpc>
                <a:spcPct val="95000"/>
              </a:lnSpc>
              <a:spcBef>
                <a:spcPts val="0"/>
              </a:spcBef>
              <a:spcAft>
                <a:spcPts val="0"/>
              </a:spcAft>
              <a:buNone/>
            </a:pPr>
            <a:r>
              <a:rPr lang="en-US" altLang="zh-CN" sz="2200" dirty="0">
                <a:latin typeface="Times New Roman" panose="02020603050405020304" pitchFamily="18" charset="0"/>
              </a:rPr>
              <a:t>	d. </a:t>
            </a:r>
            <a:r>
              <a:rPr lang="zh-CN" altLang="en-US" sz="2200" dirty="0">
                <a:latin typeface="Times New Roman" panose="02020603050405020304" pitchFamily="18" charset="0"/>
              </a:rPr>
              <a:t>若是</a:t>
            </a:r>
            <a:r>
              <a:rPr lang="en-US" altLang="zh-CN" sz="2200" dirty="0">
                <a:latin typeface="Times New Roman" panose="02020603050405020304" pitchFamily="18" charset="0"/>
              </a:rPr>
              <a:t>RISC-V</a:t>
            </a:r>
            <a:r>
              <a:rPr lang="zh-CN" altLang="en-US" sz="2200" dirty="0">
                <a:latin typeface="Times New Roman" panose="02020603050405020304" pitchFamily="18" charset="0"/>
              </a:rPr>
              <a:t>指令，</a:t>
            </a:r>
            <a:r>
              <a:rPr lang="en-US" altLang="zh-CN" sz="2200" dirty="0">
                <a:latin typeface="Times New Roman" panose="02020603050405020304" pitchFamily="18" charset="0"/>
                <a:sym typeface="+mn-ea"/>
              </a:rPr>
              <a:t> 1100 0000 0000</a:t>
            </a:r>
            <a:r>
              <a:rPr lang="en-US" altLang="zh-CN" sz="2200" dirty="0">
                <a:solidFill>
                  <a:srgbClr val="00B050"/>
                </a:solidFill>
                <a:latin typeface="Times New Roman" panose="02020603050405020304" pitchFamily="18" charset="0"/>
                <a:sym typeface="+mn-ea"/>
              </a:rPr>
              <a:t> 0001 0</a:t>
            </a:r>
            <a:r>
              <a:rPr lang="en-US" altLang="zh-CN" sz="2200" dirty="0">
                <a:solidFill>
                  <a:srgbClr val="7030A0"/>
                </a:solidFill>
                <a:latin typeface="Times New Roman" panose="02020603050405020304" pitchFamily="18" charset="0"/>
                <a:sym typeface="+mn-ea"/>
              </a:rPr>
              <a:t>000</a:t>
            </a:r>
            <a:r>
              <a:rPr lang="en-US" altLang="zh-CN" sz="2200" dirty="0">
                <a:latin typeface="Times New Roman" panose="02020603050405020304" pitchFamily="18" charset="0"/>
                <a:sym typeface="+mn-ea"/>
              </a:rPr>
              <a:t> </a:t>
            </a:r>
            <a:r>
              <a:rPr lang="en-US" altLang="zh-CN" sz="2200" dirty="0">
                <a:solidFill>
                  <a:srgbClr val="0000CC"/>
                </a:solidFill>
                <a:latin typeface="Times New Roman" panose="02020603050405020304" pitchFamily="18" charset="0"/>
                <a:sym typeface="+mn-ea"/>
              </a:rPr>
              <a:t>0000 1</a:t>
            </a:r>
            <a:r>
              <a:rPr lang="en-US" altLang="zh-CN" sz="2200" dirty="0">
                <a:solidFill>
                  <a:srgbClr val="FF0000"/>
                </a:solidFill>
                <a:latin typeface="Times New Roman" panose="02020603050405020304" pitchFamily="18" charset="0"/>
                <a:sym typeface="+mn-ea"/>
              </a:rPr>
              <a:t>000 0011</a:t>
            </a:r>
            <a:r>
              <a:rPr lang="zh-CN" altLang="en-US" sz="2200" dirty="0">
                <a:latin typeface="Times New Roman" panose="02020603050405020304" pitchFamily="18" charset="0"/>
                <a:sym typeface="+mn-ea"/>
              </a:rPr>
              <a:t>。</a:t>
            </a:r>
            <a:endParaRPr lang="zh-CN" altLang="en-US" sz="2200" dirty="0">
              <a:latin typeface="Times New Roman" panose="02020603050405020304" pitchFamily="18" charset="0"/>
            </a:endParaRPr>
          </a:p>
          <a:p>
            <a:pPr eaLnBrk="1" hangingPunct="1">
              <a:lnSpc>
                <a:spcPct val="95000"/>
              </a:lnSpc>
              <a:spcBef>
                <a:spcPts val="0"/>
              </a:spcBef>
              <a:spcAft>
                <a:spcPts val="0"/>
              </a:spcAft>
              <a:buNone/>
            </a:pPr>
            <a:r>
              <a:rPr lang="zh-CN" altLang="en-US" sz="2200" dirty="0">
                <a:latin typeface="Times New Roman" panose="02020603050405020304" pitchFamily="18" charset="0"/>
              </a:rPr>
              <a:t>其汇编语句是：</a:t>
            </a:r>
            <a:r>
              <a:rPr lang="en-US" altLang="zh-CN" sz="2200" dirty="0">
                <a:latin typeface="Times New Roman" panose="02020603050405020304" pitchFamily="18" charset="0"/>
              </a:rPr>
              <a:t>lb</a:t>
            </a:r>
            <a:r>
              <a:rPr lang="en-US" altLang="zh-CN" sz="2200" dirty="0">
                <a:latin typeface="Times New Roman" panose="02020603050405020304" pitchFamily="18" charset="0"/>
              </a:rPr>
              <a:t>  $1, 0xc00($2)</a:t>
            </a:r>
            <a:endParaRPr lang="zh-CN" altLang="en-US" sz="2200" dirty="0">
              <a:latin typeface="Times New Roman" panose="02020603050405020304" pitchFamily="18" charset="0"/>
            </a:endParaRPr>
          </a:p>
        </p:txBody>
      </p:sp>
      <p:graphicFrame>
        <p:nvGraphicFramePr>
          <p:cNvPr id="4" name="对象 3"/>
          <p:cNvGraphicFramePr/>
          <p:nvPr/>
        </p:nvGraphicFramePr>
        <p:xfrm>
          <a:off x="1043305" y="5589270"/>
          <a:ext cx="7682865" cy="1186180"/>
        </p:xfrm>
        <a:graphic>
          <a:graphicData uri="http://schemas.openxmlformats.org/presentationml/2006/ole">
            <mc:AlternateContent xmlns:mc="http://schemas.openxmlformats.org/markup-compatibility/2006">
              <mc:Choice xmlns:v="urn:schemas-microsoft-com:vml" Requires="v">
                <p:oleObj spid="_x0000_s6" name="" r:id="rId1" imgW="8957945" imgH="1938655" progId="Paint.Picture">
                  <p:embed/>
                </p:oleObj>
              </mc:Choice>
              <mc:Fallback>
                <p:oleObj name="" r:id="rId1" imgW="8957945" imgH="1938655" progId="Paint.Picture">
                  <p:embed/>
                  <p:pic>
                    <p:nvPicPr>
                      <p:cNvPr id="0" name="图片 5"/>
                      <p:cNvPicPr/>
                      <p:nvPr/>
                    </p:nvPicPr>
                    <p:blipFill>
                      <a:blip r:embed="rId2"/>
                      <a:stretch>
                        <a:fillRect/>
                      </a:stretch>
                    </p:blipFill>
                    <p:spPr>
                      <a:xfrm>
                        <a:off x="1043305" y="5589270"/>
                        <a:ext cx="7682865" cy="118618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1635">
                                            <p:txEl>
                                              <p:charRg st="0" end="13"/>
                                            </p:txEl>
                                          </p:spTgt>
                                        </p:tgtEl>
                                        <p:attrNameLst>
                                          <p:attrName>style.visibility</p:attrName>
                                        </p:attrNameLst>
                                      </p:cBhvr>
                                      <p:to>
                                        <p:strVal val="visible"/>
                                      </p:to>
                                    </p:set>
                                    <p:animEffect transition="in" filter="blinds(horizontal)">
                                      <p:cBhvr>
                                        <p:cTn id="7" dur="500"/>
                                        <p:tgtEl>
                                          <p:spTgt spid="1221635">
                                            <p:txEl>
                                              <p:charRg st="0" end="13"/>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221635">
                                            <p:txEl>
                                              <p:charRg st="13" end="60"/>
                                            </p:txEl>
                                          </p:spTgt>
                                        </p:tgtEl>
                                        <p:attrNameLst>
                                          <p:attrName>style.visibility</p:attrName>
                                        </p:attrNameLst>
                                      </p:cBhvr>
                                      <p:to>
                                        <p:strVal val="visible"/>
                                      </p:to>
                                    </p:set>
                                    <p:animEffect transition="in" filter="blinds(horizontal)">
                                      <p:cBhvr>
                                        <p:cTn id="11" dur="500"/>
                                        <p:tgtEl>
                                          <p:spTgt spid="1221635">
                                            <p:txEl>
                                              <p:charRg st="13" end="60"/>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221635">
                                            <p:txEl>
                                              <p:charRg st="60" end="107"/>
                                            </p:txEl>
                                          </p:spTgt>
                                        </p:tgtEl>
                                        <p:attrNameLst>
                                          <p:attrName>style.visibility</p:attrName>
                                        </p:attrNameLst>
                                      </p:cBhvr>
                                      <p:to>
                                        <p:strVal val="visible"/>
                                      </p:to>
                                    </p:set>
                                    <p:animEffect transition="in" filter="blinds(horizontal)">
                                      <p:cBhvr>
                                        <p:cTn id="15" dur="500"/>
                                        <p:tgtEl>
                                          <p:spTgt spid="1221635">
                                            <p:txEl>
                                              <p:charRg st="60" end="107"/>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221635">
                                            <p:txEl>
                                              <p:charRg st="107" end="126"/>
                                            </p:txEl>
                                          </p:spTgt>
                                        </p:tgtEl>
                                        <p:attrNameLst>
                                          <p:attrName>style.visibility</p:attrName>
                                        </p:attrNameLst>
                                      </p:cBhvr>
                                      <p:to>
                                        <p:strVal val="visible"/>
                                      </p:to>
                                    </p:set>
                                    <p:animEffect transition="in" filter="blinds(horizontal)">
                                      <p:cBhvr>
                                        <p:cTn id="19" dur="500"/>
                                        <p:tgtEl>
                                          <p:spTgt spid="1221635">
                                            <p:txEl>
                                              <p:charRg st="107" end="12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221635">
                                            <p:txEl>
                                              <p:charRg st="126" end="138"/>
                                            </p:txEl>
                                          </p:spTgt>
                                        </p:tgtEl>
                                        <p:attrNameLst>
                                          <p:attrName>style.visibility</p:attrName>
                                        </p:attrNameLst>
                                      </p:cBhvr>
                                      <p:to>
                                        <p:strVal val="visible"/>
                                      </p:to>
                                    </p:set>
                                    <p:animEffect transition="in" filter="blinds(horizontal)">
                                      <p:cBhvr>
                                        <p:cTn id="24" dur="500"/>
                                        <p:tgtEl>
                                          <p:spTgt spid="1221635">
                                            <p:txEl>
                                              <p:charRg st="126" end="138"/>
                                            </p:txEl>
                                          </p:spTgt>
                                        </p:tgtEl>
                                      </p:cBhvr>
                                    </p:animEffect>
                                  </p:childTnLst>
                                </p:cTn>
                              </p:par>
                            </p:childTnLst>
                          </p:cTn>
                        </p:par>
                        <p:par>
                          <p:cTn id="25" fill="hold">
                            <p:stCondLst>
                              <p:cond delay="500"/>
                            </p:stCondLst>
                            <p:childTnLst>
                              <p:par>
                                <p:cTn id="26" presetID="3" presetClass="entr" presetSubtype="10" fill="hold" nodeType="afterEffect">
                                  <p:stCondLst>
                                    <p:cond delay="0"/>
                                  </p:stCondLst>
                                  <p:childTnLst>
                                    <p:set>
                                      <p:cBhvr>
                                        <p:cTn id="27" dur="1" fill="hold">
                                          <p:stCondLst>
                                            <p:cond delay="0"/>
                                          </p:stCondLst>
                                        </p:cTn>
                                        <p:tgtEl>
                                          <p:spTgt spid="1221635">
                                            <p:txEl>
                                              <p:charRg st="138" end="156"/>
                                            </p:txEl>
                                          </p:spTgt>
                                        </p:tgtEl>
                                        <p:attrNameLst>
                                          <p:attrName>style.visibility</p:attrName>
                                        </p:attrNameLst>
                                      </p:cBhvr>
                                      <p:to>
                                        <p:strVal val="visible"/>
                                      </p:to>
                                    </p:set>
                                    <p:animEffect transition="in" filter="blinds(horizontal)">
                                      <p:cBhvr>
                                        <p:cTn id="28" dur="500"/>
                                        <p:tgtEl>
                                          <p:spTgt spid="1221635">
                                            <p:txEl>
                                              <p:charRg st="138" end="15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221635">
                                            <p:txEl>
                                              <p:charRg st="156" end="169"/>
                                            </p:txEl>
                                          </p:spTgt>
                                        </p:tgtEl>
                                        <p:attrNameLst>
                                          <p:attrName>style.visibility</p:attrName>
                                        </p:attrNameLst>
                                      </p:cBhvr>
                                      <p:to>
                                        <p:strVal val="visible"/>
                                      </p:to>
                                    </p:set>
                                    <p:animEffect transition="in" filter="blinds(horizontal)">
                                      <p:cBhvr>
                                        <p:cTn id="33" dur="500"/>
                                        <p:tgtEl>
                                          <p:spTgt spid="1221635">
                                            <p:txEl>
                                              <p:charRg st="156" end="169"/>
                                            </p:txEl>
                                          </p:spTgt>
                                        </p:tgtEl>
                                      </p:cBhvr>
                                    </p:animEffect>
                                  </p:childTnLst>
                                </p:cTn>
                              </p:par>
                            </p:childTnLst>
                          </p:cTn>
                        </p:par>
                        <p:par>
                          <p:cTn id="34" fill="hold">
                            <p:stCondLst>
                              <p:cond delay="500"/>
                            </p:stCondLst>
                            <p:childTnLst>
                              <p:par>
                                <p:cTn id="35" presetID="3" presetClass="entr" presetSubtype="10" fill="hold" nodeType="afterEffect">
                                  <p:stCondLst>
                                    <p:cond delay="0"/>
                                  </p:stCondLst>
                                  <p:childTnLst>
                                    <p:set>
                                      <p:cBhvr>
                                        <p:cTn id="36" dur="1" fill="hold">
                                          <p:stCondLst>
                                            <p:cond delay="0"/>
                                          </p:stCondLst>
                                        </p:cTn>
                                        <p:tgtEl>
                                          <p:spTgt spid="1221635">
                                            <p:txEl>
                                              <p:charRg st="169" end="194"/>
                                            </p:txEl>
                                          </p:spTgt>
                                        </p:tgtEl>
                                        <p:attrNameLst>
                                          <p:attrName>style.visibility</p:attrName>
                                        </p:attrNameLst>
                                      </p:cBhvr>
                                      <p:to>
                                        <p:strVal val="visible"/>
                                      </p:to>
                                    </p:set>
                                    <p:animEffect transition="in" filter="blinds(horizontal)">
                                      <p:cBhvr>
                                        <p:cTn id="37" dur="500"/>
                                        <p:tgtEl>
                                          <p:spTgt spid="1221635">
                                            <p:txEl>
                                              <p:charRg st="169" end="194"/>
                                            </p:txEl>
                                          </p:spTgt>
                                        </p:tgtEl>
                                      </p:cBhvr>
                                    </p:animEffect>
                                  </p:childTnLst>
                                </p:cTn>
                              </p:par>
                            </p:childTnLst>
                          </p:cTn>
                        </p:par>
                        <p:par>
                          <p:cTn id="38" fill="hold">
                            <p:stCondLst>
                              <p:cond delay="1000"/>
                            </p:stCondLst>
                            <p:childTnLst>
                              <p:par>
                                <p:cTn id="39" presetID="3" presetClass="entr" presetSubtype="10" fill="hold" nodeType="afterEffect">
                                  <p:stCondLst>
                                    <p:cond delay="0"/>
                                  </p:stCondLst>
                                  <p:childTnLst>
                                    <p:set>
                                      <p:cBhvr>
                                        <p:cTn id="40" dur="1" fill="hold">
                                          <p:stCondLst>
                                            <p:cond delay="0"/>
                                          </p:stCondLst>
                                        </p:cTn>
                                        <p:tgtEl>
                                          <p:spTgt spid="1221635">
                                            <p:txEl>
                                              <p:charRg st="194" end="248"/>
                                            </p:txEl>
                                          </p:spTgt>
                                        </p:tgtEl>
                                        <p:attrNameLst>
                                          <p:attrName>style.visibility</p:attrName>
                                        </p:attrNameLst>
                                      </p:cBhvr>
                                      <p:to>
                                        <p:strVal val="visible"/>
                                      </p:to>
                                    </p:set>
                                    <p:animEffect transition="in" filter="blinds(horizontal)">
                                      <p:cBhvr>
                                        <p:cTn id="41" dur="500"/>
                                        <p:tgtEl>
                                          <p:spTgt spid="1221635">
                                            <p:txEl>
                                              <p:charRg st="194" end="248"/>
                                            </p:txEl>
                                          </p:spTgt>
                                        </p:tgtEl>
                                      </p:cBhvr>
                                    </p:animEffect>
                                  </p:childTnLst>
                                </p:cTn>
                              </p:par>
                            </p:childTnLst>
                          </p:cTn>
                        </p:par>
                        <p:par>
                          <p:cTn id="42" fill="hold">
                            <p:stCondLst>
                              <p:cond delay="1500"/>
                            </p:stCondLst>
                            <p:childTnLst>
                              <p:par>
                                <p:cTn id="43" presetID="3" presetClass="entr" presetSubtype="10" fill="hold" nodeType="afterEffect">
                                  <p:stCondLst>
                                    <p:cond delay="0"/>
                                  </p:stCondLst>
                                  <p:childTnLst>
                                    <p:set>
                                      <p:cBhvr>
                                        <p:cTn id="44" dur="1" fill="hold">
                                          <p:stCondLst>
                                            <p:cond delay="0"/>
                                          </p:stCondLst>
                                        </p:cTn>
                                        <p:tgtEl>
                                          <p:spTgt spid="1221635">
                                            <p:txEl>
                                              <p:charRg st="9" end="9"/>
                                            </p:txEl>
                                          </p:spTgt>
                                        </p:tgtEl>
                                        <p:attrNameLst>
                                          <p:attrName>style.visibility</p:attrName>
                                        </p:attrNameLst>
                                      </p:cBhvr>
                                      <p:to>
                                        <p:strVal val="visible"/>
                                      </p:to>
                                    </p:set>
                                    <p:animEffect transition="in" filter="blinds(horizontal)">
                                      <p:cBhvr>
                                        <p:cTn id="45" dur="500"/>
                                        <p:tgtEl>
                                          <p:spTgt spid="1221635">
                                            <p:txEl>
                                              <p:charRg st="9" end="9"/>
                                            </p:txEl>
                                          </p:spTgt>
                                        </p:tgtEl>
                                      </p:cBhvr>
                                    </p:animEffect>
                                  </p:childTnLst>
                                </p:cTn>
                              </p:par>
                            </p:childTnLst>
                          </p:cTn>
                        </p:par>
                        <p:par>
                          <p:cTn id="46" fill="hold">
                            <p:stCondLst>
                              <p:cond delay="2000"/>
                            </p:stCondLst>
                            <p:childTnLst>
                              <p:par>
                                <p:cTn id="47" presetID="3" presetClass="entr" presetSubtype="10" fill="hold" nodeType="afterEffect">
                                  <p:stCondLst>
                                    <p:cond delay="0"/>
                                  </p:stCondLst>
                                  <p:childTnLst>
                                    <p:set>
                                      <p:cBhvr>
                                        <p:cTn id="48" dur="1" fill="hold">
                                          <p:stCondLst>
                                            <p:cond delay="0"/>
                                          </p:stCondLst>
                                        </p:cTn>
                                        <p:tgtEl>
                                          <p:spTgt spid="1221635">
                                            <p:txEl>
                                              <p:charRg st="273" end="292"/>
                                            </p:txEl>
                                          </p:spTgt>
                                        </p:tgtEl>
                                        <p:attrNameLst>
                                          <p:attrName>style.visibility</p:attrName>
                                        </p:attrNameLst>
                                      </p:cBhvr>
                                      <p:to>
                                        <p:strVal val="visible"/>
                                      </p:to>
                                    </p:set>
                                    <p:animEffect transition="in" filter="blinds(horizontal)">
                                      <p:cBhvr>
                                        <p:cTn id="49" dur="500"/>
                                        <p:tgtEl>
                                          <p:spTgt spid="1221635">
                                            <p:txEl>
                                              <p:charRg st="273" end="29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221635">
                                            <p:txEl>
                                              <p:charRg st="292" end="328"/>
                                            </p:txEl>
                                          </p:spTgt>
                                        </p:tgtEl>
                                        <p:attrNameLst>
                                          <p:attrName>style.visibility</p:attrName>
                                        </p:attrNameLst>
                                      </p:cBhvr>
                                      <p:to>
                                        <p:strVal val="visible"/>
                                      </p:to>
                                    </p:set>
                                    <p:animEffect transition="in" filter="blinds(horizontal)">
                                      <p:cBhvr>
                                        <p:cTn id="54" dur="500"/>
                                        <p:tgtEl>
                                          <p:spTgt spid="1221635">
                                            <p:txEl>
                                              <p:charRg st="292" end="32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221635">
                                            <p:txEl>
                                              <p:charRg st="12" end="12"/>
                                            </p:txEl>
                                          </p:spTgt>
                                        </p:tgtEl>
                                        <p:attrNameLst>
                                          <p:attrName>style.visibility</p:attrName>
                                        </p:attrNameLst>
                                      </p:cBhvr>
                                      <p:to>
                                        <p:strVal val="visible"/>
                                      </p:to>
                                    </p:set>
                                    <p:animEffect transition="in" filter="blinds(horizontal)">
                                      <p:cBhvr>
                                        <p:cTn id="59" dur="500"/>
                                        <p:tgtEl>
                                          <p:spTgt spid="1221635">
                                            <p:txEl>
                                              <p:char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
          </p:nvPr>
        </p:nvSpPr>
        <p:spPr/>
        <p:txBody>
          <a:bodyPr vert="horz" wrap="square" lIns="91440" tIns="45720" rIns="91440" bIns="45720" numCol="1" anchor="t" anchorCtr="0" compatLnSpc="1"/>
          <a:lstStyle/>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2012</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假设编译器规定</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short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类型长度分别为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16</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位，若有下列</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语言语句：</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unsigned short x=65530;</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unsigned int y=x;</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得到</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的机器数为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0000 7FFAH    			B.  0000 FFFAH</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  FFFF 7FFAH    		D.  FFFF FFFAH</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9939" name="Rectangle 5"/>
          <p:cNvSpPr/>
          <p:nvPr/>
        </p:nvSpPr>
        <p:spPr>
          <a:xfrm>
            <a:off x="0" y="0"/>
            <a:ext cx="9144000" cy="0"/>
          </a:xfrm>
          <a:prstGeom prst="rect">
            <a:avLst/>
          </a:prstGeom>
          <a:noFill/>
          <a:ln w="9525">
            <a:noFill/>
          </a:ln>
        </p:spPr>
        <p:txBody>
          <a:bodyPr wrap="none" anchor="ctr" anchorCtr="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39940" name="Rectangle 7"/>
          <p:cNvSpPr/>
          <p:nvPr/>
        </p:nvSpPr>
        <p:spPr>
          <a:xfrm>
            <a:off x="0" y="0"/>
            <a:ext cx="9144000" cy="0"/>
          </a:xfrm>
          <a:prstGeom prst="rect">
            <a:avLst/>
          </a:prstGeom>
          <a:noFill/>
          <a:ln w="9525">
            <a:noFill/>
          </a:ln>
        </p:spPr>
        <p:txBody>
          <a:bodyPr wrap="none" anchor="ctr" anchorCtr="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9" name="圆角矩形标注 8"/>
          <p:cNvSpPr/>
          <p:nvPr/>
        </p:nvSpPr>
        <p:spPr>
          <a:xfrm>
            <a:off x="3571875" y="4429125"/>
            <a:ext cx="4572000" cy="1785938"/>
          </a:xfrm>
          <a:prstGeom prst="wedgeRoundRectCallout">
            <a:avLst>
              <a:gd name="adj1" fmla="val -52579"/>
              <a:gd name="adj2" fmla="val -106651"/>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考察短数据扩展为长数据</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624205" marR="0" lvl="1" indent="-260350" algn="l" defTabSz="914400" rtl="0" eaLnBrk="1" fontAlgn="base" latinLnBrk="0" hangingPunct="1">
              <a:lnSpc>
                <a:spcPct val="100000"/>
              </a:lnSpc>
              <a:spcBef>
                <a:spcPct val="0"/>
              </a:spcBef>
              <a:spcAft>
                <a:spcPct val="0"/>
              </a:spcAft>
              <a:buClrTx/>
              <a:buSzTx/>
              <a:buFont typeface="Wingdings" panose="05000000000000000000" pitchFamily="2" charset="2"/>
              <a:buChar char="ü"/>
              <a:defRPr/>
            </a:pPr>
            <a:r>
              <a:rPr kumimoji="0" lang="zh-CN" altLang="en-US"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无符号数扩展，高</a:t>
            </a:r>
            <a:r>
              <a:rPr kumimoji="0" lang="en-US" altLang="zh-CN"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16</a:t>
            </a:r>
            <a:r>
              <a:rPr kumimoji="0" lang="zh-CN" altLang="en-US"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位需要做零扩展，即高</a:t>
            </a:r>
            <a:r>
              <a:rPr kumimoji="0" lang="en-US" altLang="zh-CN"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16</a:t>
            </a:r>
            <a:r>
              <a:rPr kumimoji="0" lang="zh-CN" altLang="en-US"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位补</a:t>
            </a:r>
            <a:r>
              <a:rPr kumimoji="0" lang="en-US" altLang="zh-CN"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0</a:t>
            </a:r>
            <a:endParaRPr kumimoji="0" lang="en-US" altLang="zh-CN"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624205" marR="0" lvl="1" indent="-260350" algn="l" defTabSz="914400" rtl="0" eaLnBrk="1" fontAlgn="base" latinLnBrk="0" hangingPunct="1">
              <a:lnSpc>
                <a:spcPct val="100000"/>
              </a:lnSpc>
              <a:spcBef>
                <a:spcPct val="0"/>
              </a:spcBef>
              <a:spcAft>
                <a:spcPct val="0"/>
              </a:spcAft>
              <a:buClrTx/>
              <a:buSzTx/>
              <a:buFont typeface="Wingdings" panose="05000000000000000000" pitchFamily="2" charset="2"/>
              <a:buChar char="ü"/>
              <a:defRPr/>
            </a:pPr>
            <a:r>
              <a:rPr kumimoji="0" lang="zh-CN" altLang="en-US"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有符号数扩展，高</a:t>
            </a:r>
            <a:r>
              <a:rPr kumimoji="0" lang="en-US" altLang="zh-CN"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16</a:t>
            </a:r>
            <a:r>
              <a:rPr kumimoji="0" lang="zh-CN" altLang="en-US"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位需要做符号扩展，即高</a:t>
            </a:r>
            <a:r>
              <a:rPr kumimoji="0" lang="en-US" altLang="zh-CN"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16</a:t>
            </a:r>
            <a:r>
              <a:rPr kumimoji="0" lang="zh-CN" altLang="en-US"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位补符号位</a:t>
            </a:r>
            <a:endParaRPr kumimoji="0" lang="zh-CN" altLang="en-US" sz="20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2"/>
          <p:cNvSpPr txBox="1">
            <a:spLocks noChangeArrowheads="1"/>
          </p:cNvSpPr>
          <p:nvPr/>
        </p:nvSpPr>
        <p:spPr bwMode="auto">
          <a:xfrm>
            <a:off x="619125" y="214313"/>
            <a:ext cx="6881813" cy="676275"/>
          </a:xfrm>
          <a:prstGeom prst="rect">
            <a:avLst/>
          </a:prstGeom>
          <a:noFill/>
          <a:ln w="9525">
            <a:noFill/>
            <a:miter lim="800000"/>
          </a:ln>
        </p:spPr>
        <p:txBody>
          <a:bodyPr anchor="b"/>
          <a:lstStyle/>
          <a:p>
            <a:pPr marR="0" defTabSz="914400" eaLnBrk="1" hangingPunct="1">
              <a:buClrTx/>
              <a:buSzTx/>
              <a:buFontTx/>
              <a:buNone/>
              <a:defRPr/>
            </a:pPr>
            <a:r>
              <a:rPr kumimoji="0" lang="zh-CN" altLang="en-US" sz="3600" b="1" kern="0" cap="none" spc="0" normalizeH="0" baseline="0" noProof="0">
                <a:solidFill>
                  <a:schemeClr val="tx2"/>
                </a:solidFill>
                <a:latin typeface="+mj-lt"/>
                <a:ea typeface="+mj-ea"/>
                <a:cs typeface="+mj-cs"/>
              </a:rPr>
              <a:t>二进制数表示举例</a:t>
            </a:r>
            <a:endParaRPr kumimoji="0" lang="zh-CN" altLang="en-US" sz="3600" b="1" kern="0" cap="none" spc="0" normalizeH="0" baseline="0" noProof="0" dirty="0">
              <a:solidFill>
                <a:schemeClr val="tx2"/>
              </a:solidFill>
              <a:latin typeface="+mj-lt"/>
              <a:ea typeface="+mj-ea"/>
              <a:cs typeface="+mj-cs"/>
            </a:endParaRPr>
          </a:p>
        </p:txBody>
      </p:sp>
      <p:sp>
        <p:nvSpPr>
          <p:cNvPr id="7" name="云形标注 6"/>
          <p:cNvSpPr/>
          <p:nvPr/>
        </p:nvSpPr>
        <p:spPr>
          <a:xfrm>
            <a:off x="4286250" y="2286000"/>
            <a:ext cx="4000500" cy="1143000"/>
          </a:xfrm>
          <a:prstGeom prst="cloudCallout">
            <a:avLst>
              <a:gd name="adj1" fmla="val -76874"/>
              <a:gd name="adj2" fmla="val 6627"/>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ts val="60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若改为：</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int y=x;</a:t>
            </a:r>
            <a:endPar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Tx/>
              <a:buSzTx/>
              <a:buFontTx/>
              <a:buNone/>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则</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y</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的机器数是</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zh-CN" altLang="en-US" sz="24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
          </p:nvPr>
        </p:nvSpPr>
        <p:spPr>
          <a:xfrm>
            <a:off x="539750" y="1285875"/>
            <a:ext cx="8001000" cy="47720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2013</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某数采用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IEEE 754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单精度浮点数格式表示为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C640 0000H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，则该数的值是</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AutoNum type="alphaUcPeriod"/>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-1.5</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13</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B. -1.5</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12</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C. -0.5</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13</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D. -0.5</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12</a:t>
            </a:r>
            <a:endPar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2014</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float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型数据通常采用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IEEE 754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单精度浮点格式表示。假定两个</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float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型变量</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分别存放在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位寄存器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中，若</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(f1)=CC90 0000H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(f2)=B0C0 0000H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之间的关系为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x&lt;y</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且符号相同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B</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x&lt;y</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且符号不同</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x&gt;y</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且符号相同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D</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x&gt;y</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且符号不同</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1987" name="Rectangle 5"/>
          <p:cNvSpPr/>
          <p:nvPr/>
        </p:nvSpPr>
        <p:spPr>
          <a:xfrm>
            <a:off x="0" y="0"/>
            <a:ext cx="9144000" cy="0"/>
          </a:xfrm>
          <a:prstGeom prst="rect">
            <a:avLst/>
          </a:prstGeom>
          <a:noFill/>
          <a:ln w="9525">
            <a:noFill/>
          </a:ln>
        </p:spPr>
        <p:txBody>
          <a:bodyPr wrap="none" anchor="ctr" anchorCtr="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41988" name="Rectangle 7"/>
          <p:cNvSpPr/>
          <p:nvPr/>
        </p:nvSpPr>
        <p:spPr>
          <a:xfrm>
            <a:off x="0" y="0"/>
            <a:ext cx="9144000" cy="0"/>
          </a:xfrm>
          <a:prstGeom prst="rect">
            <a:avLst/>
          </a:prstGeom>
          <a:noFill/>
          <a:ln w="9525">
            <a:noFill/>
          </a:ln>
        </p:spPr>
        <p:txBody>
          <a:bodyPr wrap="none" anchor="ctr" anchorCtr="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10" name="圆角矩形标注 9"/>
          <p:cNvSpPr/>
          <p:nvPr/>
        </p:nvSpPr>
        <p:spPr>
          <a:xfrm>
            <a:off x="2286000" y="6215063"/>
            <a:ext cx="4929188" cy="642938"/>
          </a:xfrm>
          <a:prstGeom prst="wedgeRoundRectCallout">
            <a:avLst>
              <a:gd name="adj1" fmla="val -26725"/>
              <a:gd name="adj2" fmla="val -49831"/>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考察</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IEEE754</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单精度浮点数表示</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2"/>
          <p:cNvSpPr txBox="1">
            <a:spLocks noChangeArrowheads="1"/>
          </p:cNvSpPr>
          <p:nvPr/>
        </p:nvSpPr>
        <p:spPr bwMode="auto">
          <a:xfrm>
            <a:off x="619125" y="214313"/>
            <a:ext cx="6881813" cy="676275"/>
          </a:xfrm>
          <a:prstGeom prst="rect">
            <a:avLst/>
          </a:prstGeom>
          <a:noFill/>
          <a:ln w="9525">
            <a:noFill/>
            <a:miter lim="800000"/>
          </a:ln>
        </p:spPr>
        <p:txBody>
          <a:bodyPr anchor="b"/>
          <a:lstStyle/>
          <a:p>
            <a:pPr marR="0" defTabSz="914400" eaLnBrk="1" hangingPunct="1">
              <a:buClrTx/>
              <a:buSzTx/>
              <a:buFontTx/>
              <a:buNone/>
              <a:defRPr/>
            </a:pPr>
            <a:r>
              <a:rPr kumimoji="0" lang="zh-CN" altLang="en-US" sz="3600" b="1" kern="0" cap="none" spc="0" normalizeH="0" baseline="0" noProof="0">
                <a:solidFill>
                  <a:schemeClr val="tx2"/>
                </a:solidFill>
                <a:latin typeface="+mj-lt"/>
                <a:ea typeface="+mj-ea"/>
                <a:cs typeface="+mj-cs"/>
              </a:rPr>
              <a:t>二进制数表示举例</a:t>
            </a:r>
            <a:endParaRPr kumimoji="0" lang="zh-CN" altLang="en-US" sz="3600" b="1" kern="0" cap="none" spc="0" normalizeH="0" baseline="0" noProof="0" dirty="0">
              <a:solidFill>
                <a:schemeClr val="tx2"/>
              </a:solidFill>
              <a:latin typeface="+mj-lt"/>
              <a:ea typeface="+mj-ea"/>
              <a:cs typeface="+mj-cs"/>
            </a:endParaRPr>
          </a:p>
        </p:txBody>
      </p:sp>
      <p:graphicFrame>
        <p:nvGraphicFramePr>
          <p:cNvPr id="9" name="表格 8"/>
          <p:cNvGraphicFramePr>
            <a:graphicFrameLocks noGrp="1"/>
          </p:cNvGraphicFramePr>
          <p:nvPr/>
        </p:nvGraphicFramePr>
        <p:xfrm>
          <a:off x="881063" y="2657475"/>
          <a:ext cx="7119938" cy="914400"/>
        </p:xfrm>
        <a:graphic>
          <a:graphicData uri="http://schemas.openxmlformats.org/drawingml/2006/table">
            <a:tbl>
              <a:tblPr firstRow="1" bandRow="1">
                <a:tableStyleId>{5C22544A-7EE6-4342-B048-85BDC9FD1C3A}</a:tableStyleId>
              </a:tblPr>
              <a:tblGrid>
                <a:gridCol w="639661"/>
                <a:gridCol w="1752184"/>
                <a:gridCol w="4728092"/>
              </a:tblGrid>
              <a:tr h="370840">
                <a:tc>
                  <a:txBody>
                    <a:bodyPr/>
                    <a:lstStyle/>
                    <a:p>
                      <a:pPr algn="ctr"/>
                      <a:r>
                        <a:rPr lang="en-US" altLang="zh-CN" sz="2400" b="1" dirty="0" smtClean="0">
                          <a:solidFill>
                            <a:schemeClr val="tx1"/>
                          </a:solidFill>
                          <a:latin typeface="Times New Roman" panose="02020603050405020304" pitchFamily="18" charset="0"/>
                          <a:ea typeface="+mn-ea"/>
                          <a:cs typeface="Times New Roman" panose="02020603050405020304" pitchFamily="18" charset="0"/>
                        </a:rPr>
                        <a:t>S</a:t>
                      </a:r>
                      <a:endParaRPr lang="zh-CN" altLang="en-US" sz="2400" b="1"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zh-CN" altLang="en-US" sz="2400" b="1" dirty="0" smtClean="0">
                          <a:solidFill>
                            <a:schemeClr val="tx1"/>
                          </a:solidFill>
                          <a:latin typeface="Times New Roman" panose="02020603050405020304" pitchFamily="18" charset="0"/>
                          <a:ea typeface="+mn-ea"/>
                          <a:cs typeface="Times New Roman" panose="02020603050405020304" pitchFamily="18" charset="0"/>
                        </a:rPr>
                        <a:t>阶码</a:t>
                      </a:r>
                      <a:endParaRPr lang="zh-CN" altLang="en-US" sz="2400" b="1"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zh-CN" altLang="en-US" sz="2400" b="1" dirty="0" smtClean="0">
                          <a:solidFill>
                            <a:schemeClr val="tx1"/>
                          </a:solidFill>
                          <a:latin typeface="Times New Roman" panose="02020603050405020304" pitchFamily="18" charset="0"/>
                          <a:ea typeface="+mn-ea"/>
                          <a:cs typeface="Times New Roman" panose="02020603050405020304" pitchFamily="18" charset="0"/>
                        </a:rPr>
                        <a:t>尾数</a:t>
                      </a:r>
                      <a:endParaRPr lang="zh-CN" altLang="en-US" sz="2400" b="1" dirty="0">
                        <a:solidFill>
                          <a:schemeClr val="tx1"/>
                        </a:solidFill>
                        <a:latin typeface="Times New Roman" panose="02020603050405020304" pitchFamily="18" charset="0"/>
                        <a:ea typeface="+mn-ea"/>
                        <a:cs typeface="Times New Roman" panose="02020603050405020304" pitchFamily="18" charset="0"/>
                      </a:endParaRPr>
                    </a:p>
                  </a:txBody>
                  <a:tcPr/>
                </a:tc>
              </a:tr>
              <a:tr h="370840">
                <a:tc>
                  <a:txBody>
                    <a:bodyPr/>
                    <a:lstStyle/>
                    <a:p>
                      <a:pPr algn="ctr"/>
                      <a:r>
                        <a:rPr lang="en-US" altLang="zh-CN" sz="2400" b="1" dirty="0" smtClean="0">
                          <a:solidFill>
                            <a:schemeClr val="tx1"/>
                          </a:solidFill>
                          <a:latin typeface="Times New Roman" panose="02020603050405020304" pitchFamily="18" charset="0"/>
                          <a:ea typeface="+mn-ea"/>
                          <a:cs typeface="Times New Roman" panose="02020603050405020304" pitchFamily="18" charset="0"/>
                        </a:rPr>
                        <a:t>1</a:t>
                      </a:r>
                      <a:endParaRPr lang="zh-CN" altLang="en-US" sz="2400" b="1"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400" b="1" dirty="0" smtClean="0">
                          <a:solidFill>
                            <a:schemeClr val="tx1"/>
                          </a:solidFill>
                          <a:latin typeface="Times New Roman" panose="02020603050405020304" pitchFamily="18" charset="0"/>
                          <a:ea typeface="+mn-ea"/>
                          <a:cs typeface="Times New Roman" panose="02020603050405020304" pitchFamily="18" charset="0"/>
                        </a:rPr>
                        <a:t>1000 1100</a:t>
                      </a:r>
                      <a:endParaRPr lang="zh-CN" altLang="en-US" sz="2400" b="1" dirty="0">
                        <a:solidFill>
                          <a:schemeClr val="tx1"/>
                        </a:solidFill>
                        <a:latin typeface="Times New Roman" panose="02020603050405020304" pitchFamily="18" charset="0"/>
                        <a:ea typeface="+mn-ea"/>
                        <a:cs typeface="Times New Roman" panose="02020603050405020304" pitchFamily="18" charset="0"/>
                      </a:endParaRPr>
                    </a:p>
                  </a:txBody>
                  <a:tcPr/>
                </a:tc>
                <a:tc>
                  <a:txBody>
                    <a:bodyPr/>
                    <a:lstStyle/>
                    <a:p>
                      <a:pPr algn="ctr"/>
                      <a:r>
                        <a:rPr lang="en-US" altLang="zh-CN" sz="2400" b="1" dirty="0" smtClean="0">
                          <a:solidFill>
                            <a:schemeClr val="tx1"/>
                          </a:solidFill>
                          <a:latin typeface="Times New Roman" panose="02020603050405020304" pitchFamily="18" charset="0"/>
                          <a:ea typeface="+mn-ea"/>
                          <a:cs typeface="Times New Roman" panose="02020603050405020304" pitchFamily="18" charset="0"/>
                        </a:rPr>
                        <a:t>100 0000 0000 0000 0000 0000</a:t>
                      </a:r>
                      <a:endParaRPr lang="zh-CN" altLang="en-US" sz="2400" b="1" dirty="0">
                        <a:solidFill>
                          <a:schemeClr val="tx1"/>
                        </a:solidFill>
                        <a:latin typeface="Times New Roman" panose="02020603050405020304" pitchFamily="18" charset="0"/>
                        <a:ea typeface="+mn-ea"/>
                        <a:cs typeface="Times New Roman" panose="02020603050405020304" pitchFamily="18" charset="0"/>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charRg st="121" end="246"/>
                                            </p:txEl>
                                          </p:spTgt>
                                        </p:tgtEl>
                                        <p:attrNameLst>
                                          <p:attrName>style.visibility</p:attrName>
                                        </p:attrNameLst>
                                      </p:cBhvr>
                                      <p:to>
                                        <p:strVal val="visible"/>
                                      </p:to>
                                    </p:set>
                                    <p:animEffect transition="in" filter="blinds(horizontal)">
                                      <p:cBhvr>
                                        <p:cTn id="7" dur="500"/>
                                        <p:tgtEl>
                                          <p:spTgt spid="4">
                                            <p:txEl>
                                              <p:charRg st="121" end="246"/>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
                                            <p:txEl>
                                              <p:charRg st="246" end="286"/>
                                            </p:txEl>
                                          </p:spTgt>
                                        </p:tgtEl>
                                        <p:attrNameLst>
                                          <p:attrName>style.visibility</p:attrName>
                                        </p:attrNameLst>
                                      </p:cBhvr>
                                      <p:to>
                                        <p:strVal val="visible"/>
                                      </p:to>
                                    </p:set>
                                    <p:animEffect transition="in" filter="blinds(horizontal)">
                                      <p:cBhvr>
                                        <p:cTn id="11" dur="500"/>
                                        <p:tgtEl>
                                          <p:spTgt spid="4">
                                            <p:txEl>
                                              <p:charRg st="246" end="286"/>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4">
                                            <p:txEl>
                                              <p:charRg st="286" end="326"/>
                                            </p:txEl>
                                          </p:spTgt>
                                        </p:tgtEl>
                                        <p:attrNameLst>
                                          <p:attrName>style.visibility</p:attrName>
                                        </p:attrNameLst>
                                      </p:cBhvr>
                                      <p:to>
                                        <p:strVal val="visible"/>
                                      </p:to>
                                    </p:set>
                                    <p:animEffect transition="in" filter="blinds(horizontal)">
                                      <p:cBhvr>
                                        <p:cTn id="15" dur="500"/>
                                        <p:tgtEl>
                                          <p:spTgt spid="4">
                                            <p:txEl>
                                              <p:charRg st="286" end="32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a:spLocks noGrp="1"/>
          </p:cNvSpPr>
          <p:nvPr>
            <p:ph idx="1"/>
          </p:nvPr>
        </p:nvSpPr>
        <p:spPr>
          <a:xfrm>
            <a:off x="539750" y="1393825"/>
            <a:ext cx="8104188" cy="47720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2015</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由</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5</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”组成的</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8</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位二进制补码，能表示的最小整数是</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-126 	  B</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-125 	  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-32 	D</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2012</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float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类型</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即</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IEEE754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单精度浮点数格式</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能表示的最大整数是</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AutoNum type="alphaUcPeriod"/>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126</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103 </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B. 2</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127</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104</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C. 2</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127</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103</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D. 2</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128</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104 </a:t>
            </a:r>
            <a:endParaRPr kumimoji="0" lang="en-US"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en-US" altLang="zh-CN" sz="24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2011</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 </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float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型数据通常用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IEEE754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单精度浮点数格式表示。若编译器将</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float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型变量</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分配在一个</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位浮点寄存器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FR1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中，且</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x=-8.25</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FR1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的内容是</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C104 0000H       	B</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C242 0000H</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C184 0000H        	D</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C1C2 0000H</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825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4035" name="Rectangle 5"/>
          <p:cNvSpPr/>
          <p:nvPr/>
        </p:nvSpPr>
        <p:spPr>
          <a:xfrm>
            <a:off x="0" y="0"/>
            <a:ext cx="9144000" cy="0"/>
          </a:xfrm>
          <a:prstGeom prst="rect">
            <a:avLst/>
          </a:prstGeom>
          <a:noFill/>
          <a:ln w="9525">
            <a:noFill/>
          </a:ln>
        </p:spPr>
        <p:txBody>
          <a:bodyPr wrap="none" anchor="ctr" anchorCtr="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44036" name="Rectangle 7"/>
          <p:cNvSpPr/>
          <p:nvPr/>
        </p:nvSpPr>
        <p:spPr>
          <a:xfrm>
            <a:off x="0" y="0"/>
            <a:ext cx="9144000" cy="0"/>
          </a:xfrm>
          <a:prstGeom prst="rect">
            <a:avLst/>
          </a:prstGeom>
          <a:noFill/>
          <a:ln w="9525">
            <a:noFill/>
          </a:ln>
        </p:spPr>
        <p:txBody>
          <a:bodyPr wrap="none" anchor="ctr" anchorCtr="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b="0" dirty="0">
              <a:ea typeface="宋体" panose="02010600030101010101" pitchFamily="2" charset="-122"/>
            </a:endParaRPr>
          </a:p>
        </p:txBody>
      </p:sp>
      <p:sp>
        <p:nvSpPr>
          <p:cNvPr id="11" name="Rectangle 2"/>
          <p:cNvSpPr txBox="1">
            <a:spLocks noChangeArrowheads="1"/>
          </p:cNvSpPr>
          <p:nvPr/>
        </p:nvSpPr>
        <p:spPr bwMode="auto">
          <a:xfrm>
            <a:off x="619125" y="214313"/>
            <a:ext cx="6881813" cy="676275"/>
          </a:xfrm>
          <a:prstGeom prst="rect">
            <a:avLst/>
          </a:prstGeom>
          <a:noFill/>
          <a:ln w="9525">
            <a:noFill/>
            <a:miter lim="800000"/>
          </a:ln>
        </p:spPr>
        <p:txBody>
          <a:bodyPr anchor="b"/>
          <a:lstStyle/>
          <a:p>
            <a:pPr marR="0" defTabSz="914400" eaLnBrk="1" hangingPunct="1">
              <a:buClrTx/>
              <a:buSzTx/>
              <a:buFontTx/>
              <a:buNone/>
              <a:defRPr/>
            </a:pPr>
            <a:r>
              <a:rPr kumimoji="0" lang="zh-CN" altLang="en-US" sz="3600" b="1" kern="0" cap="none" spc="0" normalizeH="0" baseline="0" noProof="0">
                <a:solidFill>
                  <a:schemeClr val="tx2"/>
                </a:solidFill>
                <a:latin typeface="+mj-lt"/>
                <a:ea typeface="+mj-ea"/>
                <a:cs typeface="+mj-cs"/>
              </a:rPr>
              <a:t>二进制数表示举例</a:t>
            </a:r>
            <a:endParaRPr kumimoji="0" lang="zh-CN" altLang="en-US" sz="3600" b="1" kern="0" cap="none" spc="0" normalizeH="0" baseline="0" noProof="0" dirty="0">
              <a:solidFill>
                <a:schemeClr val="tx2"/>
              </a:solidFill>
              <a:latin typeface="+mj-lt"/>
              <a:ea typeface="+mj-ea"/>
              <a:cs typeface="+mj-cs"/>
            </a:endParaRPr>
          </a:p>
        </p:txBody>
      </p:sp>
      <p:sp>
        <p:nvSpPr>
          <p:cNvPr id="9" name="圆角矩形标注 8"/>
          <p:cNvSpPr/>
          <p:nvPr/>
        </p:nvSpPr>
        <p:spPr>
          <a:xfrm>
            <a:off x="3929063" y="2428875"/>
            <a:ext cx="4714875" cy="714375"/>
          </a:xfrm>
          <a:prstGeom prst="wedgeRoundRectCallout">
            <a:avLst>
              <a:gd name="adj1" fmla="val -46930"/>
              <a:gd name="adj2" fmla="val -106134"/>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0000CC"/>
                </a:solidFill>
                <a:effectLst/>
                <a:uLnTx/>
                <a:uFillTx/>
                <a:latin typeface="+mn-lt"/>
                <a:ea typeface="+mn-ea"/>
                <a:cs typeface="+mn-cs"/>
              </a:rPr>
              <a:t>计算机中整数表示通常采用补码</a:t>
            </a:r>
            <a:endParaRPr kumimoji="0" lang="zh-CN" altLang="en-US" sz="2400" b="1" i="0" u="none" strike="noStrike" kern="1200" cap="none" spc="0" normalizeH="0" baseline="0" noProof="0" dirty="0">
              <a:ln>
                <a:noFill/>
              </a:ln>
              <a:solidFill>
                <a:srgbClr val="0000CC"/>
              </a:solidFill>
              <a:effectLst/>
              <a:uLnTx/>
              <a:uFillTx/>
              <a:latin typeface="+mn-lt"/>
              <a:ea typeface="+mn-ea"/>
              <a:cs typeface="+mn-cs"/>
            </a:endParaRPr>
          </a:p>
        </p:txBody>
      </p:sp>
      <p:sp>
        <p:nvSpPr>
          <p:cNvPr id="12" name="圆角矩形标注 11"/>
          <p:cNvSpPr/>
          <p:nvPr/>
        </p:nvSpPr>
        <p:spPr>
          <a:xfrm>
            <a:off x="4143693" y="3785553"/>
            <a:ext cx="4429125" cy="642938"/>
          </a:xfrm>
          <a:prstGeom prst="wedgeRoundRectCallout">
            <a:avLst>
              <a:gd name="adj1" fmla="val -50624"/>
              <a:gd name="adj2" fmla="val -118494"/>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IEEE754 </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阶码范围： </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-126~127</a:t>
            </a:r>
            <a:endPar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charRg st="76" end="120"/>
                                            </p:txEl>
                                          </p:spTgt>
                                        </p:tgtEl>
                                        <p:attrNameLst>
                                          <p:attrName>style.visibility</p:attrName>
                                        </p:attrNameLst>
                                      </p:cBhvr>
                                      <p:to>
                                        <p:strVal val="visible"/>
                                      </p:to>
                                    </p:set>
                                    <p:animEffect transition="in" filter="blinds(horizontal)">
                                      <p:cBhvr>
                                        <p:cTn id="12" dur="500"/>
                                        <p:tgtEl>
                                          <p:spTgt spid="4">
                                            <p:txEl>
                                              <p:charRg st="76" end="12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
                                            <p:txEl>
                                              <p:charRg st="120" end="184"/>
                                            </p:txEl>
                                          </p:spTgt>
                                        </p:tgtEl>
                                        <p:attrNameLst>
                                          <p:attrName>style.visibility</p:attrName>
                                        </p:attrNameLst>
                                      </p:cBhvr>
                                      <p:to>
                                        <p:strVal val="visible"/>
                                      </p:to>
                                    </p:set>
                                    <p:animEffect transition="in" filter="blinds(horizontal)">
                                      <p:cBhvr>
                                        <p:cTn id="15" dur="500"/>
                                        <p:tgtEl>
                                          <p:spTgt spid="4">
                                            <p:txEl>
                                              <p:charRg st="120" end="18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linds(horizontal)">
                                      <p:cBhvr>
                                        <p:cTn id="20"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
                                            <p:txEl>
                                              <p:charRg st="185" end="274"/>
                                            </p:txEl>
                                          </p:spTgt>
                                        </p:tgtEl>
                                        <p:attrNameLst>
                                          <p:attrName>style.visibility</p:attrName>
                                        </p:attrNameLst>
                                      </p:cBhvr>
                                      <p:to>
                                        <p:strVal val="visible"/>
                                      </p:to>
                                    </p:set>
                                    <p:animEffect transition="in" filter="blinds(horizontal)">
                                      <p:cBhvr>
                                        <p:cTn id="25" dur="500"/>
                                        <p:tgtEl>
                                          <p:spTgt spid="4">
                                            <p:txEl>
                                              <p:charRg st="185" end="274"/>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4">
                                            <p:txEl>
                                              <p:charRg st="274" end="307"/>
                                            </p:txEl>
                                          </p:spTgt>
                                        </p:tgtEl>
                                        <p:attrNameLst>
                                          <p:attrName>style.visibility</p:attrName>
                                        </p:attrNameLst>
                                      </p:cBhvr>
                                      <p:to>
                                        <p:strVal val="visible"/>
                                      </p:to>
                                    </p:set>
                                    <p:animEffect transition="in" filter="blinds(horizontal)">
                                      <p:cBhvr>
                                        <p:cTn id="28" dur="500"/>
                                        <p:tgtEl>
                                          <p:spTgt spid="4">
                                            <p:txEl>
                                              <p:charRg st="274" end="307"/>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4">
                                            <p:txEl>
                                              <p:charRg st="307" end="341"/>
                                            </p:txEl>
                                          </p:spTgt>
                                        </p:tgtEl>
                                        <p:attrNameLst>
                                          <p:attrName>style.visibility</p:attrName>
                                        </p:attrNameLst>
                                      </p:cBhvr>
                                      <p:to>
                                        <p:strVal val="visible"/>
                                      </p:to>
                                    </p:set>
                                    <p:animEffect transition="in" filter="blinds(horizontal)">
                                      <p:cBhvr>
                                        <p:cTn id="31" dur="500"/>
                                        <p:tgtEl>
                                          <p:spTgt spid="4">
                                            <p:txEl>
                                              <p:charRg st="307" end="3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25500" y="2185353"/>
            <a:ext cx="8104188" cy="3786188"/>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例：假设寄存器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$t1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保存存储器地址的值为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0x1000 0000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，寄存器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保存存储器地址的值</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0x1000 0010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。若采用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MIPS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体系结构的大端方式</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big endian</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存储数据。</a:t>
            </a:r>
            <a:endPar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buClrTx/>
              <a:buSzTx/>
              <a:buFont typeface="Wingdings" panose="05000000000000000000" pitchFamily="2" charset="2"/>
              <a:buNone/>
              <a:defRPr/>
            </a:pP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buClrTx/>
              <a:buSzTx/>
              <a:buFont typeface="Wingdings" panose="05000000000000000000" pitchFamily="2" charset="2"/>
              <a:buNone/>
              <a:defRPr/>
            </a:pP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50000"/>
              </a:lnSpc>
              <a:spcBef>
                <a:spcPts val="0"/>
              </a:spcBef>
              <a:spcAft>
                <a:spcPts val="0"/>
              </a:spcAft>
              <a:buClrTx/>
              <a:buSzTx/>
              <a:buFont typeface="Wingdings" panose="05000000000000000000" pitchFamily="2" charset="2"/>
              <a:buNone/>
              <a:defRPr/>
            </a:pP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0"/>
              </a:spcBef>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数据以十六进制形式存放在存储器地址</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0x1000 0000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处：</a:t>
            </a:r>
            <a:endPar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60000"/>
              </a:lnSpc>
              <a:spcBef>
                <a:spcPts val="0"/>
              </a:spcBef>
              <a:spcAft>
                <a:spcPts val="0"/>
              </a:spcAft>
              <a:buClrTx/>
              <a:buSzTx/>
              <a:buFont typeface="Wingdings" panose="05000000000000000000" pitchFamily="2" charset="2"/>
              <a:buNone/>
              <a:defRPr/>
            </a:pP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假设寄存器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指向的存储地址被初始化为：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0xFFFFFFF</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，那么</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$t2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指向的存储地址中的值是多少？</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ts val="0"/>
              </a:spcBef>
              <a:spcAft>
                <a:spcPts val="600"/>
              </a:spcAft>
              <a:buClrTx/>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6083" name="Rectangle 2"/>
          <p:cNvSpPr>
            <a:spLocks noGrp="1"/>
          </p:cNvSpPr>
          <p:nvPr>
            <p:ph type="title"/>
          </p:nvPr>
        </p:nvSpPr>
        <p:spPr>
          <a:xfrm>
            <a:off x="642938" y="214313"/>
            <a:ext cx="7164387" cy="676275"/>
          </a:xfrm>
        </p:spPr>
        <p:txBody>
          <a:bodyPr vert="horz" wrap="square" lIns="91440" tIns="45720" rIns="91440" bIns="45720" anchor="b" anchorCtr="0"/>
          <a:p>
            <a:pPr eaLnBrk="1" hangingPunct="1"/>
            <a:r>
              <a:rPr lang="zh-CN" altLang="en-US" dirty="0"/>
              <a:t>六、关于数据的存储方式问题</a:t>
            </a:r>
            <a:endParaRPr lang="zh-CN" altLang="en-US" dirty="0"/>
          </a:p>
        </p:txBody>
      </p:sp>
      <p:pic>
        <p:nvPicPr>
          <p:cNvPr id="46084" name="Picture 4"/>
          <p:cNvPicPr>
            <a:picLocks noChangeAspect="1"/>
          </p:cNvPicPr>
          <p:nvPr/>
        </p:nvPicPr>
        <p:blipFill>
          <a:blip r:embed="rId1"/>
          <a:stretch>
            <a:fillRect/>
          </a:stretch>
        </p:blipFill>
        <p:spPr>
          <a:xfrm>
            <a:off x="899160" y="4940618"/>
            <a:ext cx="7786688" cy="619125"/>
          </a:xfrm>
          <a:prstGeom prst="rect">
            <a:avLst/>
          </a:prstGeom>
          <a:noFill/>
          <a:ln w="9525">
            <a:noFill/>
          </a:ln>
        </p:spPr>
      </p:pic>
      <p:pic>
        <p:nvPicPr>
          <p:cNvPr id="46085" name="Picture 7"/>
          <p:cNvPicPr>
            <a:picLocks noChangeAspect="1"/>
          </p:cNvPicPr>
          <p:nvPr/>
        </p:nvPicPr>
        <p:blipFill>
          <a:blip r:embed="rId2"/>
          <a:stretch>
            <a:fillRect/>
          </a:stretch>
        </p:blipFill>
        <p:spPr>
          <a:xfrm>
            <a:off x="1785938" y="3355340"/>
            <a:ext cx="5643562" cy="1285875"/>
          </a:xfrm>
          <a:prstGeom prst="rect">
            <a:avLst/>
          </a:prstGeom>
          <a:noFill/>
          <a:ln w="9525">
            <a:noFill/>
          </a:ln>
        </p:spPr>
      </p:pic>
      <p:sp>
        <p:nvSpPr>
          <p:cNvPr id="8" name="矩形 7"/>
          <p:cNvSpPr/>
          <p:nvPr/>
        </p:nvSpPr>
        <p:spPr>
          <a:xfrm>
            <a:off x="463550" y="1243965"/>
            <a:ext cx="8394700" cy="969963"/>
          </a:xfrm>
          <a:prstGeom prst="rect">
            <a:avLst/>
          </a:prstGeom>
        </p:spPr>
        <p:txBody>
          <a:bodyPr>
            <a:spAutoFit/>
          </a:bodyPr>
          <a:lstStyle/>
          <a:p>
            <a:pPr marL="363855" marR="0" lvl="1" indent="-363855" algn="l" defTabSz="914400" rtl="0" eaLnBrk="0" fontAlgn="base" latinLnBrk="0" hangingPunct="0">
              <a:lnSpc>
                <a:spcPct val="100000"/>
              </a:lnSpc>
              <a:spcBef>
                <a:spcPts val="600"/>
              </a:spcBef>
              <a:spcAft>
                <a:spcPct val="0"/>
              </a:spcAft>
              <a:buClr>
                <a:srgbClr val="000000"/>
              </a:buClr>
              <a:buSzTx/>
              <a:buFont typeface="Wingdings" panose="05000000000000000000" pitchFamily="2" charset="2"/>
              <a:buChar char="p"/>
              <a:defRPr/>
            </a:pPr>
            <a:r>
              <a:rPr kumimoji="0" lang="zh-CN" altLang="en-US" sz="2600" b="1" i="0" u="none" strike="noStrike" kern="0" cap="none" spc="0" normalizeH="0" baseline="0" noProof="0" dirty="0">
                <a:ln>
                  <a:noFill/>
                </a:ln>
                <a:solidFill>
                  <a:srgbClr val="FF0000"/>
                </a:solidFill>
                <a:effectLst/>
                <a:uLnTx/>
                <a:uFillTx/>
                <a:latin typeface="Times New Roman" panose="02020603050405020304"/>
                <a:ea typeface="华文新魏" panose="02010800040101010101" pitchFamily="2" charset="-122"/>
                <a:cs typeface="+mn-cs"/>
              </a:rPr>
              <a:t>如何从存储器地址中取到一个</a:t>
            </a:r>
            <a:r>
              <a:rPr kumimoji="0" lang="en-US" altLang="zh-CN" sz="2600" b="1" i="0" u="none" strike="noStrike" kern="0" cap="none" spc="0" normalizeH="0" baseline="0" noProof="0" dirty="0">
                <a:ln>
                  <a:noFill/>
                </a:ln>
                <a:solidFill>
                  <a:srgbClr val="FF0000"/>
                </a:solidFill>
                <a:effectLst/>
                <a:uLnTx/>
                <a:uFillTx/>
                <a:latin typeface="Times New Roman" panose="02020603050405020304"/>
                <a:ea typeface="华文新魏" panose="02010800040101010101" pitchFamily="2" charset="-122"/>
                <a:cs typeface="+mn-cs"/>
              </a:rPr>
              <a:t>32</a:t>
            </a:r>
            <a:r>
              <a:rPr kumimoji="0" lang="zh-CN" altLang="en-US" sz="2600" b="1" i="0" u="none" strike="noStrike" kern="0" cap="none" spc="0" normalizeH="0" baseline="0" noProof="0" dirty="0">
                <a:ln>
                  <a:noFill/>
                </a:ln>
                <a:solidFill>
                  <a:srgbClr val="FF0000"/>
                </a:solidFill>
                <a:effectLst/>
                <a:uLnTx/>
                <a:uFillTx/>
                <a:latin typeface="Times New Roman" panose="02020603050405020304"/>
                <a:ea typeface="华文新魏" panose="02010800040101010101" pitchFamily="2" charset="-122"/>
                <a:cs typeface="+mn-cs"/>
              </a:rPr>
              <a:t>位的字或一个字节？</a:t>
            </a:r>
            <a:endParaRPr kumimoji="0" lang="zh-CN" altLang="en-US" sz="2600" b="1" i="0" u="none" strike="noStrike" kern="0" cap="none" spc="0" normalizeH="0" baseline="0" noProof="0" dirty="0">
              <a:ln>
                <a:noFill/>
              </a:ln>
              <a:solidFill>
                <a:srgbClr val="FF0000"/>
              </a:solidFill>
              <a:effectLst/>
              <a:uLnTx/>
              <a:uFillTx/>
              <a:latin typeface="Times New Roman" panose="02020603050405020304"/>
              <a:ea typeface="华文新魏" panose="02010800040101010101" pitchFamily="2" charset="-122"/>
              <a:cs typeface="+mn-cs"/>
            </a:endParaRPr>
          </a:p>
          <a:p>
            <a:pPr marL="363855" marR="0" lvl="1" indent="-5080" algn="l" defTabSz="914400" rtl="0" eaLnBrk="0" fontAlgn="base" latinLnBrk="0" hangingPunct="0">
              <a:lnSpc>
                <a:spcPct val="100000"/>
              </a:lnSpc>
              <a:spcBef>
                <a:spcPts val="600"/>
              </a:spcBef>
              <a:spcAft>
                <a:spcPct val="0"/>
              </a:spcAft>
              <a:buClrTx/>
              <a:buSzTx/>
              <a:buFontTx/>
              <a:buNone/>
              <a:defRPr/>
            </a:pPr>
            <a:r>
              <a:rPr kumimoji="0" lang="en-US" altLang="zh-CN" sz="2600" b="1" i="0" u="none" strike="noStrike" kern="0" cap="none" spc="0" normalizeH="0" baseline="0" noProof="0" dirty="0">
                <a:ln>
                  <a:noFill/>
                </a:ln>
                <a:solidFill>
                  <a:srgbClr val="0000FF"/>
                </a:solidFill>
                <a:effectLst/>
                <a:uLnTx/>
                <a:uFillTx/>
                <a:latin typeface="Times New Roman" panose="02020603050405020304"/>
                <a:ea typeface="华文新魏" panose="02010800040101010101" pitchFamily="2" charset="-122"/>
                <a:cs typeface="+mn-cs"/>
              </a:rPr>
              <a:t>—— </a:t>
            </a:r>
            <a:r>
              <a:rPr kumimoji="0" lang="zh-CN" altLang="en-US" sz="2600" b="1" i="0" u="none" strike="noStrike" kern="0" cap="none" spc="0" normalizeH="0" baseline="0" noProof="0" dirty="0">
                <a:ln>
                  <a:noFill/>
                </a:ln>
                <a:solidFill>
                  <a:srgbClr val="0000FF"/>
                </a:solidFill>
                <a:effectLst/>
                <a:uLnTx/>
                <a:uFillTx/>
                <a:latin typeface="Times New Roman" panose="02020603050405020304"/>
                <a:ea typeface="华文新魏" panose="02010800040101010101" pitchFamily="2" charset="-122"/>
                <a:cs typeface="+mn-cs"/>
              </a:rPr>
              <a:t>数据的存放问题</a:t>
            </a:r>
            <a:endParaRPr kumimoji="0" lang="zh-CN" altLang="en-US" sz="2600" b="1" i="0" u="none" strike="noStrike" kern="0" cap="none" spc="0" normalizeH="0" baseline="0" noProof="0" dirty="0">
              <a:ln>
                <a:noFill/>
              </a:ln>
              <a:solidFill>
                <a:srgbClr val="0000FF"/>
              </a:solidFill>
              <a:effectLst/>
              <a:uLnTx/>
              <a:uFillTx/>
              <a:latin typeface="Times New Roman" panose="02020603050405020304"/>
              <a:ea typeface="华文新魏"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charRg st="0" end="96"/>
                                            </p:txEl>
                                          </p:spTgt>
                                        </p:tgtEl>
                                        <p:attrNameLst>
                                          <p:attrName>style.visibility</p:attrName>
                                        </p:attrNameLst>
                                      </p:cBhvr>
                                      <p:to>
                                        <p:strVal val="visible"/>
                                      </p:to>
                                    </p:set>
                                    <p:animEffect transition="in" filter="blinds(horizontal)">
                                      <p:cBhvr>
                                        <p:cTn id="7" dur="500"/>
                                        <p:tgtEl>
                                          <p:spTgt spid="3">
                                            <p:txEl>
                                              <p:charRg st="0" end="96"/>
                                            </p:txEl>
                                          </p:spTgt>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
                                            <p:txEl>
                                              <p:charRg st="130" end="183"/>
                                            </p:txEl>
                                          </p:spTgt>
                                        </p:tgtEl>
                                        <p:attrNameLst>
                                          <p:attrName>style.visibility</p:attrName>
                                        </p:attrNameLst>
                                      </p:cBhvr>
                                      <p:to>
                                        <p:strVal val="visible"/>
                                      </p:to>
                                    </p:set>
                                    <p:animEffect transition="in" filter="blinds(horizontal)">
                                      <p:cBhvr>
                                        <p:cTn id="11" dur="500"/>
                                        <p:tgtEl>
                                          <p:spTgt spid="3">
                                            <p:txEl>
                                              <p:charRg st="130" end="1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5"/>
          <p:cNvGrpSpPr>
            <a:grpSpLocks noGrp="1"/>
          </p:cNvGrpSpPr>
          <p:nvPr/>
        </p:nvGrpSpPr>
        <p:grpSpPr>
          <a:xfrm>
            <a:off x="715963" y="2463800"/>
            <a:ext cx="7893050" cy="1936750"/>
            <a:chOff x="878" y="2003"/>
            <a:chExt cx="4662" cy="1090"/>
          </a:xfrm>
        </p:grpSpPr>
        <p:grpSp>
          <p:nvGrpSpPr>
            <p:cNvPr id="48136" name="Group 6"/>
            <p:cNvGrpSpPr/>
            <p:nvPr/>
          </p:nvGrpSpPr>
          <p:grpSpPr>
            <a:xfrm>
              <a:off x="878" y="2003"/>
              <a:ext cx="4662" cy="1090"/>
              <a:chOff x="690" y="2057"/>
              <a:chExt cx="4662" cy="1090"/>
            </a:xfrm>
          </p:grpSpPr>
          <p:sp>
            <p:nvSpPr>
              <p:cNvPr id="48138" name="Rectangle 7"/>
              <p:cNvSpPr/>
              <p:nvPr/>
            </p:nvSpPr>
            <p:spPr>
              <a:xfrm>
                <a:off x="1252" y="2057"/>
                <a:ext cx="2180" cy="99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dirty="0">
                  <a:latin typeface="Times New Roman" panose="02020603050405020304" pitchFamily="18" charset="0"/>
                  <a:ea typeface="宋体" panose="02010600030101010101" pitchFamily="2" charset="-122"/>
                </a:endParaRPr>
              </a:p>
            </p:txBody>
          </p:sp>
          <p:sp>
            <p:nvSpPr>
              <p:cNvPr id="48139" name="Rectangle 8"/>
              <p:cNvSpPr/>
              <p:nvPr/>
            </p:nvSpPr>
            <p:spPr>
              <a:xfrm>
                <a:off x="1252" y="2524"/>
                <a:ext cx="2180" cy="280"/>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endParaRPr lang="zh-CN" altLang="en-US" sz="2000" dirty="0">
                  <a:latin typeface="Times New Roman" panose="02020603050405020304" pitchFamily="18" charset="0"/>
                  <a:ea typeface="宋体" panose="02010600030101010101" pitchFamily="2" charset="-122"/>
                </a:endParaRPr>
              </a:p>
            </p:txBody>
          </p:sp>
          <p:sp>
            <p:nvSpPr>
              <p:cNvPr id="48140" name="Line 9"/>
              <p:cNvSpPr/>
              <p:nvPr/>
            </p:nvSpPr>
            <p:spPr>
              <a:xfrm>
                <a:off x="2335" y="2524"/>
                <a:ext cx="0" cy="280"/>
              </a:xfrm>
              <a:prstGeom prst="line">
                <a:avLst/>
              </a:prstGeom>
              <a:ln w="12700" cap="flat" cmpd="sng">
                <a:solidFill>
                  <a:schemeClr val="tx1"/>
                </a:solidFill>
                <a:prstDash val="solid"/>
                <a:headEnd type="none" w="med" len="med"/>
                <a:tailEnd type="none" w="med" len="med"/>
              </a:ln>
            </p:spPr>
          </p:sp>
          <p:sp>
            <p:nvSpPr>
              <p:cNvPr id="48141" name="Line 10"/>
              <p:cNvSpPr/>
              <p:nvPr/>
            </p:nvSpPr>
            <p:spPr>
              <a:xfrm>
                <a:off x="1786" y="2524"/>
                <a:ext cx="0" cy="280"/>
              </a:xfrm>
              <a:prstGeom prst="line">
                <a:avLst/>
              </a:prstGeom>
              <a:ln w="12700" cap="flat" cmpd="sng">
                <a:solidFill>
                  <a:schemeClr val="tx1"/>
                </a:solidFill>
                <a:prstDash val="solid"/>
                <a:headEnd type="none" w="med" len="med"/>
                <a:tailEnd type="none" w="med" len="med"/>
              </a:ln>
            </p:spPr>
          </p:sp>
          <p:sp>
            <p:nvSpPr>
              <p:cNvPr id="48142" name="Line 11"/>
              <p:cNvSpPr/>
              <p:nvPr/>
            </p:nvSpPr>
            <p:spPr>
              <a:xfrm>
                <a:off x="2883" y="2524"/>
                <a:ext cx="0" cy="280"/>
              </a:xfrm>
              <a:prstGeom prst="line">
                <a:avLst/>
              </a:prstGeom>
              <a:ln w="12700" cap="flat" cmpd="sng">
                <a:solidFill>
                  <a:schemeClr val="tx1"/>
                </a:solidFill>
                <a:prstDash val="solid"/>
                <a:headEnd type="none" w="med" len="med"/>
                <a:tailEnd type="none" w="med" len="med"/>
              </a:ln>
            </p:spPr>
          </p:sp>
          <p:sp>
            <p:nvSpPr>
              <p:cNvPr id="48143" name="Rectangle 12"/>
              <p:cNvSpPr/>
              <p:nvPr/>
            </p:nvSpPr>
            <p:spPr>
              <a:xfrm>
                <a:off x="1307" y="2568"/>
                <a:ext cx="437" cy="169"/>
              </a:xfrm>
              <a:prstGeom prst="rect">
                <a:avLst/>
              </a:prstGeom>
              <a:noFill/>
              <a:ln w="12700">
                <a:noFill/>
              </a:ln>
            </p:spPr>
            <p:txBody>
              <a:bodyPr wrap="none" lIns="63500" tIns="25400" rIns="63500" bIns="2540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85000"/>
                  </a:lnSpc>
                  <a:spcBef>
                    <a:spcPct val="0"/>
                  </a:spcBef>
                  <a:buFontTx/>
                  <a:buNone/>
                </a:pPr>
                <a:r>
                  <a:rPr lang="en-US" altLang="zh-CN" sz="2200" dirty="0">
                    <a:solidFill>
                      <a:srgbClr val="FF0000"/>
                    </a:solidFill>
                    <a:latin typeface="Times New Roman" panose="02020603050405020304" pitchFamily="18" charset="0"/>
                    <a:ea typeface="宋体" panose="02010600030101010101" pitchFamily="2" charset="-122"/>
                  </a:rPr>
                  <a:t>MSB</a:t>
                </a:r>
                <a:endParaRPr lang="en-US" altLang="zh-CN" sz="2200" dirty="0">
                  <a:solidFill>
                    <a:srgbClr val="FF0000"/>
                  </a:solidFill>
                  <a:latin typeface="Times New Roman" panose="02020603050405020304" pitchFamily="18" charset="0"/>
                  <a:ea typeface="宋体" panose="02010600030101010101" pitchFamily="2" charset="-122"/>
                </a:endParaRPr>
              </a:p>
            </p:txBody>
          </p:sp>
          <p:sp>
            <p:nvSpPr>
              <p:cNvPr id="48144" name="Rectangle 13"/>
              <p:cNvSpPr/>
              <p:nvPr/>
            </p:nvSpPr>
            <p:spPr>
              <a:xfrm>
                <a:off x="2983" y="2560"/>
                <a:ext cx="390" cy="169"/>
              </a:xfrm>
              <a:prstGeom prst="rect">
                <a:avLst/>
              </a:prstGeom>
              <a:noFill/>
              <a:ln w="12700">
                <a:noFill/>
              </a:ln>
            </p:spPr>
            <p:txBody>
              <a:bodyPr wrap="none" lIns="63500" tIns="25400" rIns="63500" bIns="2540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85000"/>
                  </a:lnSpc>
                  <a:spcBef>
                    <a:spcPct val="0"/>
                  </a:spcBef>
                  <a:buFontTx/>
                  <a:buNone/>
                </a:pPr>
                <a:r>
                  <a:rPr lang="en-US" altLang="zh-CN" sz="2200" dirty="0">
                    <a:solidFill>
                      <a:srgbClr val="FF0000"/>
                    </a:solidFill>
                    <a:latin typeface="Times New Roman" panose="02020603050405020304" pitchFamily="18" charset="0"/>
                    <a:ea typeface="宋体" panose="02010600030101010101" pitchFamily="2" charset="-122"/>
                  </a:rPr>
                  <a:t>LSB</a:t>
                </a:r>
                <a:endParaRPr lang="en-US" altLang="zh-CN" sz="2200" dirty="0">
                  <a:solidFill>
                    <a:srgbClr val="FF0000"/>
                  </a:solidFill>
                  <a:latin typeface="Times New Roman" panose="02020603050405020304" pitchFamily="18" charset="0"/>
                  <a:ea typeface="宋体" panose="02010600030101010101" pitchFamily="2" charset="-122"/>
                </a:endParaRPr>
              </a:p>
            </p:txBody>
          </p:sp>
          <p:sp>
            <p:nvSpPr>
              <p:cNvPr id="48145" name="Rectangle 14"/>
              <p:cNvSpPr/>
              <p:nvPr/>
            </p:nvSpPr>
            <p:spPr>
              <a:xfrm>
                <a:off x="1244" y="2319"/>
                <a:ext cx="2197" cy="147"/>
              </a:xfrm>
              <a:prstGeom prst="rect">
                <a:avLst/>
              </a:prstGeom>
              <a:noFill/>
              <a:ln w="12700">
                <a:noFill/>
              </a:ln>
            </p:spPr>
            <p:txBody>
              <a:bodyPr wrap="none" lIns="63500" tIns="25400" rIns="63500" bIns="2540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85000"/>
                  </a:lnSpc>
                  <a:spcBef>
                    <a:spcPct val="0"/>
                  </a:spcBef>
                  <a:buFontTx/>
                  <a:buNone/>
                </a:pPr>
                <a:r>
                  <a:rPr lang="en-US" altLang="zh-CN" sz="1600" dirty="0">
                    <a:latin typeface="Times New Roman" panose="02020603050405020304" pitchFamily="18" charset="0"/>
                    <a:ea typeface="宋体" panose="02010600030101010101" pitchFamily="2" charset="-122"/>
                  </a:rPr>
                  <a:t>10000003  10000002  10000001  10000000</a:t>
                </a:r>
                <a:endParaRPr lang="en-US" altLang="zh-CN" sz="1600" dirty="0">
                  <a:latin typeface="Times New Roman" panose="02020603050405020304" pitchFamily="18" charset="0"/>
                  <a:ea typeface="宋体" panose="02010600030101010101" pitchFamily="2" charset="-122"/>
                </a:endParaRPr>
              </a:p>
            </p:txBody>
          </p:sp>
          <p:sp>
            <p:nvSpPr>
              <p:cNvPr id="48146" name="Rectangle 15"/>
              <p:cNvSpPr/>
              <p:nvPr/>
            </p:nvSpPr>
            <p:spPr>
              <a:xfrm>
                <a:off x="3489" y="2282"/>
                <a:ext cx="1863" cy="323"/>
              </a:xfrm>
              <a:prstGeom prst="rect">
                <a:avLst/>
              </a:prstGeom>
              <a:noFill/>
              <a:ln w="12700">
                <a:noFill/>
              </a:ln>
            </p:spPr>
            <p:txBody>
              <a:bodyPr wrap="none" lIns="63500" tIns="25400" rIns="63500" bIns="2540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85000"/>
                  </a:lnSpc>
                  <a:spcBef>
                    <a:spcPct val="0"/>
                  </a:spcBef>
                  <a:buFontTx/>
                  <a:buNone/>
                </a:pPr>
                <a:r>
                  <a:rPr lang="en-US" altLang="zh-CN" sz="2000" dirty="0">
                    <a:latin typeface="Times New Roman" panose="02020603050405020304" pitchFamily="18" charset="0"/>
                    <a:ea typeface="宋体" panose="02010600030101010101" pitchFamily="2" charset="-122"/>
                  </a:rPr>
                  <a:t>little endian word 10000000</a:t>
                </a:r>
                <a:endParaRPr lang="en-US" altLang="zh-CN" sz="2000" dirty="0">
                  <a:latin typeface="Times New Roman" panose="02020603050405020304" pitchFamily="18" charset="0"/>
                  <a:ea typeface="宋体" panose="02010600030101010101" pitchFamily="2" charset="-122"/>
                </a:endParaRPr>
              </a:p>
              <a:p>
                <a:pPr marL="0" lvl="0" indent="0">
                  <a:lnSpc>
                    <a:spcPct val="85000"/>
                  </a:lnSpc>
                  <a:spcBef>
                    <a:spcPct val="0"/>
                  </a:spcBef>
                  <a:buFontTx/>
                  <a:buNone/>
                </a:pPr>
                <a:r>
                  <a:rPr lang="zh-CN" altLang="en-US" sz="2000" dirty="0">
                    <a:latin typeface="Times New Roman" panose="02020603050405020304" pitchFamily="18" charset="0"/>
                    <a:ea typeface="宋体" panose="02010600030101010101" pitchFamily="2" charset="-122"/>
                  </a:rPr>
                  <a:t> </a:t>
                </a:r>
                <a:endParaRPr lang="en-US" altLang="zh-CN" sz="2000" dirty="0">
                  <a:latin typeface="Times New Roman" panose="02020603050405020304" pitchFamily="18" charset="0"/>
                  <a:ea typeface="宋体" panose="02010600030101010101" pitchFamily="2" charset="-122"/>
                </a:endParaRPr>
              </a:p>
            </p:txBody>
          </p:sp>
          <p:sp>
            <p:nvSpPr>
              <p:cNvPr id="48147" name="Rectangle 16"/>
              <p:cNvSpPr/>
              <p:nvPr/>
            </p:nvSpPr>
            <p:spPr>
              <a:xfrm>
                <a:off x="1247" y="2841"/>
                <a:ext cx="2257" cy="147"/>
              </a:xfrm>
              <a:prstGeom prst="rect">
                <a:avLst/>
              </a:prstGeom>
              <a:noFill/>
              <a:ln w="12700">
                <a:noFill/>
              </a:ln>
            </p:spPr>
            <p:txBody>
              <a:bodyPr wrap="none" lIns="63500" tIns="25400" rIns="63500" bIns="2540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85000"/>
                  </a:lnSpc>
                  <a:spcBef>
                    <a:spcPct val="0"/>
                  </a:spcBef>
                  <a:buFontTx/>
                  <a:buNone/>
                </a:pPr>
                <a:r>
                  <a:rPr lang="en-US" altLang="zh-CN" sz="1600" dirty="0">
                    <a:latin typeface="Times New Roman" panose="02020603050405020304" pitchFamily="18" charset="0"/>
                    <a:ea typeface="宋体" panose="02010600030101010101" pitchFamily="2" charset="-122"/>
                  </a:rPr>
                  <a:t>10000000  10000001  10000002  10000003</a:t>
                </a:r>
                <a:endParaRPr lang="en-US" altLang="zh-CN" sz="1600" dirty="0">
                  <a:latin typeface="Times New Roman" panose="02020603050405020304" pitchFamily="18" charset="0"/>
                  <a:ea typeface="宋体" panose="02010600030101010101" pitchFamily="2" charset="-122"/>
                </a:endParaRPr>
              </a:p>
            </p:txBody>
          </p:sp>
          <p:sp>
            <p:nvSpPr>
              <p:cNvPr id="48148" name="Rectangle 17"/>
              <p:cNvSpPr/>
              <p:nvPr/>
            </p:nvSpPr>
            <p:spPr>
              <a:xfrm>
                <a:off x="3472" y="2824"/>
                <a:ext cx="1772" cy="323"/>
              </a:xfrm>
              <a:prstGeom prst="rect">
                <a:avLst/>
              </a:prstGeom>
              <a:noFill/>
              <a:ln w="12700">
                <a:noFill/>
              </a:ln>
            </p:spPr>
            <p:txBody>
              <a:bodyPr wrap="none" lIns="63500" tIns="25400" rIns="63500" bIns="2540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85000"/>
                  </a:lnSpc>
                  <a:spcBef>
                    <a:spcPct val="0"/>
                  </a:spcBef>
                  <a:buFontTx/>
                  <a:buNone/>
                </a:pPr>
                <a:r>
                  <a:rPr lang="en-US" altLang="zh-CN" sz="2000" dirty="0">
                    <a:latin typeface="Times New Roman" panose="02020603050405020304" pitchFamily="18" charset="0"/>
                    <a:ea typeface="宋体" panose="02010600030101010101" pitchFamily="2" charset="-122"/>
                  </a:rPr>
                  <a:t>big endian word 10000000</a:t>
                </a:r>
                <a:endParaRPr lang="en-US" altLang="zh-CN" sz="2000" dirty="0">
                  <a:latin typeface="Times New Roman" panose="02020603050405020304" pitchFamily="18" charset="0"/>
                  <a:ea typeface="宋体" panose="02010600030101010101" pitchFamily="2" charset="-122"/>
                </a:endParaRPr>
              </a:p>
              <a:p>
                <a:pPr marL="0" lvl="0" indent="0">
                  <a:lnSpc>
                    <a:spcPct val="85000"/>
                  </a:lnSpc>
                  <a:spcBef>
                    <a:spcPct val="0"/>
                  </a:spcBef>
                  <a:buFontTx/>
                  <a:buNone/>
                </a:pPr>
                <a:r>
                  <a:rPr lang="zh-CN" altLang="en-US" sz="2000" dirty="0">
                    <a:latin typeface="Times New Roman" panose="02020603050405020304" pitchFamily="18" charset="0"/>
                    <a:ea typeface="宋体" panose="02010600030101010101" pitchFamily="2" charset="-122"/>
                  </a:rPr>
                  <a:t> </a:t>
                </a:r>
                <a:endParaRPr lang="en-US" altLang="zh-CN" sz="2000" dirty="0">
                  <a:latin typeface="Times New Roman" panose="02020603050405020304" pitchFamily="18" charset="0"/>
                  <a:ea typeface="宋体" panose="02010600030101010101" pitchFamily="2" charset="-122"/>
                </a:endParaRPr>
              </a:p>
            </p:txBody>
          </p:sp>
          <p:sp>
            <p:nvSpPr>
              <p:cNvPr id="48149" name="Text Box 18"/>
              <p:cNvSpPr txBox="1"/>
              <p:nvPr/>
            </p:nvSpPr>
            <p:spPr>
              <a:xfrm>
                <a:off x="690" y="2553"/>
                <a:ext cx="632" cy="208"/>
              </a:xfrm>
              <a:prstGeom prst="rect">
                <a:avLst/>
              </a:prstGeom>
              <a:noFill/>
              <a:ln w="12700">
                <a:noFill/>
              </a:ln>
            </p:spPr>
            <p:txBody>
              <a:bodyPr wrap="none">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nSpc>
                    <a:spcPct val="90000"/>
                  </a:lnSpc>
                  <a:spcBef>
                    <a:spcPct val="0"/>
                  </a:spcBef>
                  <a:buFontTx/>
                  <a:buNone/>
                </a:pPr>
                <a:r>
                  <a:rPr lang="en-US" altLang="zh-CN" sz="2000" dirty="0">
                    <a:latin typeface="Times New Roman" panose="02020603050405020304" pitchFamily="18" charset="0"/>
                    <a:ea typeface="宋体" panose="02010600030101010101" pitchFamily="2" charset="-122"/>
                  </a:rPr>
                  <a:t>Word</a:t>
                </a:r>
                <a:r>
                  <a:rPr lang="zh-CN" altLang="en-US"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p:txBody>
          </p:sp>
        </p:grpSp>
        <p:sp>
          <p:nvSpPr>
            <p:cNvPr id="48137" name="Text Box 19"/>
            <p:cNvSpPr txBox="1"/>
            <p:nvPr/>
          </p:nvSpPr>
          <p:spPr>
            <a:xfrm>
              <a:off x="1437" y="2003"/>
              <a:ext cx="2209" cy="237"/>
            </a:xfrm>
            <a:prstGeom prst="rect">
              <a:avLst/>
            </a:prstGeom>
            <a:noFill/>
            <a:ln w="12700">
              <a:noFill/>
            </a:ln>
          </p:spPr>
          <p:txBody>
            <a:bodyPr lIns="63500" tIns="25400" rIns="63500" bIns="2540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spcBef>
                  <a:spcPct val="50000"/>
                </a:spcBef>
                <a:buFontTx/>
                <a:buNone/>
              </a:pPr>
              <a:r>
                <a:rPr lang="en-US" altLang="zh-CN" sz="2400" dirty="0">
                  <a:solidFill>
                    <a:schemeClr val="accent2"/>
                  </a:solidFill>
                  <a:latin typeface="Times New Roman" panose="02020603050405020304" pitchFamily="18" charset="0"/>
                  <a:ea typeface="宋体" panose="02010600030101010101" pitchFamily="2" charset="-122"/>
                </a:rPr>
                <a:t>   </a:t>
              </a:r>
              <a:r>
                <a:rPr lang="en-US" altLang="zh-CN" sz="2400" dirty="0">
                  <a:solidFill>
                    <a:srgbClr val="0000FF"/>
                  </a:solidFill>
                  <a:latin typeface="Times New Roman" panose="02020603050405020304" pitchFamily="18" charset="0"/>
                  <a:ea typeface="宋体" panose="02010600030101010101" pitchFamily="2" charset="-122"/>
                </a:rPr>
                <a:t>12        34        56      </a:t>
              </a:r>
              <a:r>
                <a:rPr lang="zh-CN" altLang="en-US" sz="2400" dirty="0">
                  <a:solidFill>
                    <a:srgbClr val="0000FF"/>
                  </a:solidFill>
                  <a:latin typeface="Times New Roman" panose="02020603050405020304" pitchFamily="18" charset="0"/>
                  <a:ea typeface="宋体" panose="02010600030101010101" pitchFamily="2" charset="-122"/>
                </a:rPr>
                <a:t>  </a:t>
              </a:r>
              <a:r>
                <a:rPr lang="en-US" altLang="zh-CN" sz="2400" dirty="0">
                  <a:solidFill>
                    <a:srgbClr val="0000FF"/>
                  </a:solidFill>
                  <a:latin typeface="Times New Roman" panose="02020603050405020304" pitchFamily="18" charset="0"/>
                  <a:ea typeface="宋体" panose="02010600030101010101" pitchFamily="2" charset="-122"/>
                </a:rPr>
                <a:t>78</a:t>
              </a:r>
              <a:endParaRPr lang="en-US" altLang="zh-CN" sz="2400" dirty="0">
                <a:solidFill>
                  <a:srgbClr val="0000FF"/>
                </a:solidFill>
                <a:latin typeface="Times New Roman" panose="02020603050405020304" pitchFamily="18" charset="0"/>
                <a:ea typeface="宋体" panose="02010600030101010101" pitchFamily="2" charset="-122"/>
              </a:endParaRPr>
            </a:p>
          </p:txBody>
        </p:sp>
      </p:grpSp>
      <p:sp>
        <p:nvSpPr>
          <p:cNvPr id="21" name="矩形 20"/>
          <p:cNvSpPr/>
          <p:nvPr/>
        </p:nvSpPr>
        <p:spPr>
          <a:xfrm>
            <a:off x="571500" y="4275138"/>
            <a:ext cx="8143875" cy="2382838"/>
          </a:xfrm>
          <a:prstGeom prst="rect">
            <a:avLst/>
          </a:prstGeom>
        </p:spPr>
        <p:txBody>
          <a:bodyPr>
            <a:spAutoFit/>
          </a:bodyPr>
          <a:lstStyle/>
          <a:p>
            <a:pPr marL="179705" marR="0" lvl="0" indent="-179705" algn="l" defTabSz="914400" rtl="0" eaLnBrk="0" fontAlgn="base" latinLnBrk="0" hangingPunct="0">
              <a:lnSpc>
                <a:spcPct val="120000"/>
              </a:lnSpc>
              <a:spcBef>
                <a:spcPct val="20000"/>
              </a:spcBef>
              <a:spcAft>
                <a:spcPct val="0"/>
              </a:spcAft>
              <a:buClrTx/>
              <a:buSzTx/>
              <a:buFontTx/>
              <a:buNone/>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解：               </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寄存器</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t0</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的数据：</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0x0000 0012(</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零扩展</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711200" marR="0" lvl="0" indent="-347980" algn="l" defTabSz="914400" rtl="0" eaLnBrk="0" fontAlgn="base" latinLnBrk="0" hangingPunct="0">
              <a:lnSpc>
                <a:spcPct val="100000"/>
              </a:lnSpc>
              <a:spcBef>
                <a:spcPts val="0"/>
              </a:spcBef>
              <a:spcAft>
                <a:spcPct val="0"/>
              </a:spcAft>
              <a:buClrTx/>
              <a:buSzTx/>
              <a:buFont typeface="+mj-lt"/>
              <a:buAutoNum type="alphaLcPeriod"/>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存储器数据：</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0x0000 0012 </a:t>
            </a: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711200" marR="0" lvl="0" indent="-347980" algn="l" defTabSz="914400" rtl="0" eaLnBrk="0" fontAlgn="base" latinLnBrk="0" hangingPunct="0">
              <a:lnSpc>
                <a:spcPct val="100000"/>
              </a:lnSpc>
              <a:spcBef>
                <a:spcPts val="0"/>
              </a:spcBef>
              <a:spcAft>
                <a:spcPct val="0"/>
              </a:spcAft>
              <a:buClrTx/>
              <a:buSzTx/>
              <a:buFontTx/>
              <a:buNone/>
              <a:defRPr/>
            </a:pP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存储地址</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10000010~10000013</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中的值：</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00 00 00 12</a:t>
            </a:r>
            <a:endPar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711200" marR="0" lvl="0" indent="-347980" algn="l" defTabSz="914400" rtl="0" eaLnBrk="0" fontAlgn="base" latinLnBrk="0" hangingPunct="0">
              <a:lnSpc>
                <a:spcPct val="100000"/>
              </a:lnSpc>
              <a:spcBef>
                <a:spcPts val="0"/>
              </a:spcBef>
              <a:spcAft>
                <a:spcPct val="0"/>
              </a:spcAft>
              <a:buClrTx/>
              <a:buSzTx/>
              <a:buFontTx/>
              <a:buNone/>
              <a:defRPr/>
            </a:pP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寄存器</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t0</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的数据：</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0x0000 0012(</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符号扩展</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endPar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711200" marR="0" lvl="0" indent="-349250" algn="l" defTabSz="914400" rtl="0" eaLnBrk="0" fontAlgn="base" latinLnBrk="0" hangingPunct="0">
              <a:lnSpc>
                <a:spcPct val="100000"/>
              </a:lnSpc>
              <a:spcBef>
                <a:spcPts val="0"/>
              </a:spcBef>
              <a:spcAft>
                <a:spcPct val="0"/>
              </a:spcAft>
              <a:buClrTx/>
              <a:buSzTx/>
              <a:buFont typeface="+mj-lt"/>
              <a:buAutoNum type="alphaLcPeriod" startAt="2"/>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存储器数据：</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0x 0012</a:t>
            </a:r>
            <a:endPar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711200" marR="0" lvl="0" indent="-349250" algn="l" defTabSz="914400" rtl="0" eaLnBrk="0" fontAlgn="base" latinLnBrk="0" hangingPunct="0">
              <a:lnSpc>
                <a:spcPct val="100000"/>
              </a:lnSpc>
              <a:spcBef>
                <a:spcPts val="0"/>
              </a:spcBef>
              <a:spcAft>
                <a:spcPct val="0"/>
              </a:spcAft>
              <a:buClrTx/>
              <a:buSzTx/>
              <a:buFontTx/>
              <a:buNone/>
              <a:defRPr/>
            </a:pP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存储地址</a:t>
            </a:r>
            <a:r>
              <a:rPr kumimoji="0"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10000010~10000013</a:t>
            </a: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中的值：</a:t>
            </a: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00 12 FF FF</a:t>
            </a:r>
            <a:endPar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p:txBody>
      </p:sp>
      <p:sp>
        <p:nvSpPr>
          <p:cNvPr id="48132" name="矩形 21"/>
          <p:cNvSpPr/>
          <p:nvPr/>
        </p:nvSpPr>
        <p:spPr>
          <a:xfrm>
            <a:off x="571500" y="1262063"/>
            <a:ext cx="8143875" cy="1049337"/>
          </a:xfrm>
          <a:prstGeom prst="rect">
            <a:avLst/>
          </a:prstGeom>
          <a:noFill/>
          <a:ln w="9525">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262255" lvl="0" indent="-262255" defTabSz="914400">
              <a:lnSpc>
                <a:spcPct val="110000"/>
              </a:lnSpc>
              <a:spcBef>
                <a:spcPts val="600"/>
              </a:spcBef>
              <a:buClr>
                <a:srgbClr val="000000"/>
              </a:buClr>
              <a:tabLst>
                <a:tab pos="1600200" algn="l"/>
              </a:tabLst>
            </a:pPr>
            <a:r>
              <a:rPr lang="zh-CN" altLang="en-US" sz="2600" dirty="0">
                <a:solidFill>
                  <a:srgbClr val="FF0000"/>
                </a:solidFill>
                <a:latin typeface="Times New Roman" panose="02020603050405020304" pitchFamily="18" charset="0"/>
              </a:rPr>
              <a:t>大端方式</a:t>
            </a:r>
            <a:r>
              <a:rPr lang="en-US" altLang="zh-CN" sz="2600" dirty="0">
                <a:solidFill>
                  <a:srgbClr val="FF0000"/>
                </a:solidFill>
                <a:latin typeface="Times New Roman" panose="02020603050405020304" pitchFamily="18" charset="0"/>
              </a:rPr>
              <a:t>(Big Endian)</a:t>
            </a:r>
            <a:r>
              <a:rPr lang="zh-CN" altLang="en-US" sz="2600" dirty="0">
                <a:solidFill>
                  <a:srgbClr val="FF0000"/>
                </a:solidFill>
                <a:latin typeface="Times New Roman" panose="02020603050405020304" pitchFamily="18" charset="0"/>
              </a:rPr>
              <a:t>：</a:t>
            </a:r>
            <a:r>
              <a:rPr lang="en-US" altLang="zh-CN" sz="2600" dirty="0">
                <a:solidFill>
                  <a:srgbClr val="0000FF"/>
                </a:solidFill>
                <a:latin typeface="Times New Roman" panose="02020603050405020304" pitchFamily="18" charset="0"/>
              </a:rPr>
              <a:t>MSB</a:t>
            </a:r>
            <a:r>
              <a:rPr lang="zh-CN" altLang="en-US" sz="2600" dirty="0">
                <a:solidFill>
                  <a:srgbClr val="0000FF"/>
                </a:solidFill>
                <a:latin typeface="Times New Roman" panose="02020603050405020304" pitchFamily="18" charset="0"/>
              </a:rPr>
              <a:t>所在地址是数的地址</a:t>
            </a:r>
            <a:endParaRPr lang="en-US" altLang="zh-CN" sz="2600" dirty="0">
              <a:solidFill>
                <a:srgbClr val="000000"/>
              </a:solidFill>
              <a:latin typeface="Times New Roman" panose="02020603050405020304" pitchFamily="18" charset="0"/>
            </a:endParaRPr>
          </a:p>
          <a:p>
            <a:pPr marL="262255" lvl="0" indent="-262255" defTabSz="914400">
              <a:lnSpc>
                <a:spcPct val="110000"/>
              </a:lnSpc>
              <a:spcBef>
                <a:spcPts val="600"/>
              </a:spcBef>
              <a:buClr>
                <a:srgbClr val="000000"/>
              </a:buClr>
              <a:tabLst>
                <a:tab pos="1600200" algn="l"/>
              </a:tabLst>
            </a:pPr>
            <a:r>
              <a:rPr lang="zh-CN" altLang="en-US" sz="2600" dirty="0">
                <a:solidFill>
                  <a:srgbClr val="FF0000"/>
                </a:solidFill>
                <a:latin typeface="Times New Roman" panose="02020603050405020304" pitchFamily="18" charset="0"/>
              </a:rPr>
              <a:t>小端方式</a:t>
            </a:r>
            <a:r>
              <a:rPr lang="en-US" altLang="zh-CN" sz="2600" dirty="0">
                <a:solidFill>
                  <a:srgbClr val="FF0000"/>
                </a:solidFill>
                <a:latin typeface="Times New Roman" panose="02020603050405020304" pitchFamily="18" charset="0"/>
              </a:rPr>
              <a:t>(Little Endian)</a:t>
            </a:r>
            <a:r>
              <a:rPr lang="zh-CN" altLang="en-US" sz="2600" dirty="0">
                <a:solidFill>
                  <a:srgbClr val="FF0000"/>
                </a:solidFill>
                <a:latin typeface="Times New Roman" panose="02020603050405020304" pitchFamily="18" charset="0"/>
              </a:rPr>
              <a:t>：</a:t>
            </a:r>
            <a:r>
              <a:rPr lang="en-US" altLang="zh-CN" sz="2600" dirty="0">
                <a:solidFill>
                  <a:srgbClr val="0000FF"/>
                </a:solidFill>
                <a:latin typeface="Times New Roman" panose="02020603050405020304" pitchFamily="18" charset="0"/>
              </a:rPr>
              <a:t>LSB</a:t>
            </a:r>
            <a:r>
              <a:rPr lang="zh-CN" altLang="en-US" sz="2600" dirty="0">
                <a:solidFill>
                  <a:srgbClr val="0000FF"/>
                </a:solidFill>
                <a:latin typeface="Times New Roman" panose="02020603050405020304" pitchFamily="18" charset="0"/>
              </a:rPr>
              <a:t>所在地址是数的地址</a:t>
            </a:r>
            <a:endParaRPr lang="zh-CN" altLang="en-US" sz="2600" dirty="0">
              <a:solidFill>
                <a:srgbClr val="0000FF"/>
              </a:solidFill>
              <a:latin typeface="Times New Roman" panose="02020603050405020304" pitchFamily="18" charset="0"/>
            </a:endParaRPr>
          </a:p>
        </p:txBody>
      </p:sp>
      <p:sp>
        <p:nvSpPr>
          <p:cNvPr id="22" name="Rectangle 2"/>
          <p:cNvSpPr txBox="1">
            <a:spLocks noChangeArrowheads="1"/>
          </p:cNvSpPr>
          <p:nvPr/>
        </p:nvSpPr>
        <p:spPr bwMode="auto">
          <a:xfrm>
            <a:off x="642938" y="214313"/>
            <a:ext cx="7021513" cy="676275"/>
          </a:xfrm>
          <a:prstGeom prst="rect">
            <a:avLst/>
          </a:prstGeom>
          <a:noFill/>
          <a:ln w="9525">
            <a:noFill/>
            <a:miter lim="800000"/>
          </a:ln>
        </p:spPr>
        <p:txBody>
          <a:bodyPr anchor="b"/>
          <a:lstStyle/>
          <a:p>
            <a:pPr marR="0" defTabSz="914400" eaLnBrk="1" hangingPunct="1">
              <a:buClrTx/>
              <a:buSzTx/>
              <a:buFontTx/>
              <a:buNone/>
              <a:defRPr/>
            </a:pPr>
            <a:r>
              <a:rPr kumimoji="0" lang="zh-CN" altLang="en-US" sz="3600" b="1" kern="0" cap="none" spc="0" normalizeH="0" baseline="0" noProof="0" dirty="0">
                <a:solidFill>
                  <a:schemeClr val="tx2"/>
                </a:solidFill>
                <a:latin typeface="+mj-lt"/>
                <a:ea typeface="+mj-ea"/>
                <a:cs typeface="+mj-cs"/>
              </a:rPr>
              <a:t>数据存储方式举例 </a:t>
            </a:r>
            <a:endParaRPr kumimoji="0" lang="zh-CN" altLang="en-US" sz="3600" b="1" kern="0" cap="none" spc="0" normalizeH="0" baseline="0" noProof="0" dirty="0">
              <a:solidFill>
                <a:schemeClr val="tx2"/>
              </a:solidFill>
              <a:latin typeface="+mj-lt"/>
              <a:ea typeface="+mj-ea"/>
              <a:cs typeface="+mj-cs"/>
            </a:endParaRPr>
          </a:p>
        </p:txBody>
      </p:sp>
      <p:pic>
        <p:nvPicPr>
          <p:cNvPr id="26644" name="Picture 20"/>
          <p:cNvPicPr>
            <a:picLocks noChangeAspect="1"/>
          </p:cNvPicPr>
          <p:nvPr/>
        </p:nvPicPr>
        <p:blipFill>
          <a:blip r:embed="rId1"/>
          <a:stretch>
            <a:fillRect/>
          </a:stretch>
        </p:blipFill>
        <p:spPr>
          <a:xfrm>
            <a:off x="1285875" y="4357688"/>
            <a:ext cx="1571625" cy="633412"/>
          </a:xfrm>
          <a:prstGeom prst="rect">
            <a:avLst/>
          </a:prstGeom>
          <a:noFill/>
          <a:ln w="9525">
            <a:noFill/>
          </a:ln>
        </p:spPr>
      </p:pic>
      <p:pic>
        <p:nvPicPr>
          <p:cNvPr id="26645" name="Picture 21"/>
          <p:cNvPicPr>
            <a:picLocks noChangeAspect="1"/>
          </p:cNvPicPr>
          <p:nvPr/>
        </p:nvPicPr>
        <p:blipFill>
          <a:blip r:embed="rId2"/>
          <a:stretch>
            <a:fillRect/>
          </a:stretch>
        </p:blipFill>
        <p:spPr>
          <a:xfrm>
            <a:off x="1357313" y="5500688"/>
            <a:ext cx="1500187" cy="6111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
                                            <p:txEl>
                                              <p:charRg st="0" end="53"/>
                                            </p:txEl>
                                          </p:spTgt>
                                        </p:tgtEl>
                                        <p:attrNameLst>
                                          <p:attrName>style.visibility</p:attrName>
                                        </p:attrNameLst>
                                      </p:cBhvr>
                                      <p:to>
                                        <p:strVal val="visible"/>
                                      </p:to>
                                    </p:set>
                                    <p:animEffect transition="in" filter="blinds(horizontal)">
                                      <p:cBhvr>
                                        <p:cTn id="12" dur="500"/>
                                        <p:tgtEl>
                                          <p:spTgt spid="21">
                                            <p:txEl>
                                              <p:charRg st="0" end="53"/>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26644"/>
                                        </p:tgtEl>
                                        <p:attrNameLst>
                                          <p:attrName>style.visibility</p:attrName>
                                        </p:attrNameLst>
                                      </p:cBhvr>
                                      <p:to>
                                        <p:strVal val="visible"/>
                                      </p:to>
                                    </p:set>
                                    <p:animEffect transition="in" filter="blinds(horizontal)">
                                      <p:cBhvr>
                                        <p:cTn id="16" dur="500"/>
                                        <p:tgtEl>
                                          <p:spTgt spid="26644"/>
                                        </p:tgtEl>
                                      </p:cBhvr>
                                    </p:animEffect>
                                  </p:childTnLst>
                                </p:cTn>
                              </p:par>
                            </p:childTnLst>
                          </p:cTn>
                        </p:par>
                        <p:par>
                          <p:cTn id="17" fill="hold">
                            <p:stCondLst>
                              <p:cond delay="1000"/>
                            </p:stCondLst>
                            <p:childTnLst>
                              <p:par>
                                <p:cTn id="18" presetID="3" presetClass="entr" presetSubtype="10" fill="hold" nodeType="afterEffect">
                                  <p:stCondLst>
                                    <p:cond delay="0"/>
                                  </p:stCondLst>
                                  <p:childTnLst>
                                    <p:set>
                                      <p:cBhvr>
                                        <p:cTn id="19" dur="1" fill="hold">
                                          <p:stCondLst>
                                            <p:cond delay="0"/>
                                          </p:stCondLst>
                                        </p:cTn>
                                        <p:tgtEl>
                                          <p:spTgt spid="21">
                                            <p:txEl>
                                              <p:charRg st="53" end="96"/>
                                            </p:txEl>
                                          </p:spTgt>
                                        </p:tgtEl>
                                        <p:attrNameLst>
                                          <p:attrName>style.visibility</p:attrName>
                                        </p:attrNameLst>
                                      </p:cBhvr>
                                      <p:to>
                                        <p:strVal val="visible"/>
                                      </p:to>
                                    </p:set>
                                    <p:animEffect transition="in" filter="blinds(horizontal)">
                                      <p:cBhvr>
                                        <p:cTn id="20" dur="500"/>
                                        <p:tgtEl>
                                          <p:spTgt spid="21">
                                            <p:txEl>
                                              <p:charRg st="53" end="96"/>
                                            </p:txEl>
                                          </p:spTgt>
                                        </p:tgtEl>
                                      </p:cBhvr>
                                    </p:animEffect>
                                  </p:childTnLst>
                                </p:cTn>
                              </p:par>
                            </p:childTnLst>
                          </p:cTn>
                        </p:par>
                        <p:par>
                          <p:cTn id="21" fill="hold">
                            <p:stCondLst>
                              <p:cond delay="1500"/>
                            </p:stCondLst>
                            <p:childTnLst>
                              <p:par>
                                <p:cTn id="22" presetID="3" presetClass="entr" presetSubtype="10" fill="hold" nodeType="afterEffect">
                                  <p:stCondLst>
                                    <p:cond delay="0"/>
                                  </p:stCondLst>
                                  <p:childTnLst>
                                    <p:set>
                                      <p:cBhvr>
                                        <p:cTn id="23" dur="1" fill="hold">
                                          <p:stCondLst>
                                            <p:cond delay="0"/>
                                          </p:stCondLst>
                                        </p:cTn>
                                        <p:tgtEl>
                                          <p:spTgt spid="21">
                                            <p:txEl>
                                              <p:charRg st="96" end="135"/>
                                            </p:txEl>
                                          </p:spTgt>
                                        </p:tgtEl>
                                        <p:attrNameLst>
                                          <p:attrName>style.visibility</p:attrName>
                                        </p:attrNameLst>
                                      </p:cBhvr>
                                      <p:to>
                                        <p:strVal val="visible"/>
                                      </p:to>
                                    </p:set>
                                    <p:animEffect transition="in" filter="blinds(horizontal)">
                                      <p:cBhvr>
                                        <p:cTn id="24" dur="500"/>
                                        <p:tgtEl>
                                          <p:spTgt spid="21">
                                            <p:txEl>
                                              <p:charRg st="96" end="135"/>
                                            </p:txEl>
                                          </p:spTgt>
                                        </p:tgtEl>
                                      </p:cBhvr>
                                    </p:animEffect>
                                  </p:childTnLst>
                                </p:cTn>
                              </p:par>
                            </p:childTnLst>
                          </p:cTn>
                        </p:par>
                        <p:par>
                          <p:cTn id="25" fill="hold">
                            <p:stCondLst>
                              <p:cond delay="2000"/>
                            </p:stCondLst>
                            <p:childTnLst>
                              <p:par>
                                <p:cTn id="26" presetID="3" presetClass="entr" presetSubtype="10" fill="hold" nodeType="afterEffect">
                                  <p:stCondLst>
                                    <p:cond delay="0"/>
                                  </p:stCondLst>
                                  <p:childTnLst>
                                    <p:set>
                                      <p:cBhvr>
                                        <p:cTn id="27" dur="1" fill="hold">
                                          <p:stCondLst>
                                            <p:cond delay="0"/>
                                          </p:stCondLst>
                                        </p:cTn>
                                        <p:tgtEl>
                                          <p:spTgt spid="21">
                                            <p:txEl>
                                              <p:charRg st="135" end="174"/>
                                            </p:txEl>
                                          </p:spTgt>
                                        </p:tgtEl>
                                        <p:attrNameLst>
                                          <p:attrName>style.visibility</p:attrName>
                                        </p:attrNameLst>
                                      </p:cBhvr>
                                      <p:to>
                                        <p:strVal val="visible"/>
                                      </p:to>
                                    </p:set>
                                    <p:animEffect transition="in" filter="blinds(horizontal)">
                                      <p:cBhvr>
                                        <p:cTn id="28" dur="500"/>
                                        <p:tgtEl>
                                          <p:spTgt spid="21">
                                            <p:txEl>
                                              <p:charRg st="135" end="17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6645"/>
                                        </p:tgtEl>
                                        <p:attrNameLst>
                                          <p:attrName>style.visibility</p:attrName>
                                        </p:attrNameLst>
                                      </p:cBhvr>
                                      <p:to>
                                        <p:strVal val="visible"/>
                                      </p:to>
                                    </p:set>
                                    <p:animEffect transition="in" filter="blinds(horizontal)">
                                      <p:cBhvr>
                                        <p:cTn id="33" dur="500"/>
                                        <p:tgtEl>
                                          <p:spTgt spid="26645"/>
                                        </p:tgtEl>
                                      </p:cBhvr>
                                    </p:animEffect>
                                  </p:childTnLst>
                                </p:cTn>
                              </p:par>
                            </p:childTnLst>
                          </p:cTn>
                        </p:par>
                        <p:par>
                          <p:cTn id="34" fill="hold">
                            <p:stCondLst>
                              <p:cond delay="500"/>
                            </p:stCondLst>
                            <p:childTnLst>
                              <p:par>
                                <p:cTn id="35" presetID="3" presetClass="entr" presetSubtype="10" fill="hold" nodeType="afterEffect">
                                  <p:stCondLst>
                                    <p:cond delay="0"/>
                                  </p:stCondLst>
                                  <p:childTnLst>
                                    <p:set>
                                      <p:cBhvr>
                                        <p:cTn id="36" dur="1" fill="hold">
                                          <p:stCondLst>
                                            <p:cond delay="0"/>
                                          </p:stCondLst>
                                        </p:cTn>
                                        <p:tgtEl>
                                          <p:spTgt spid="21">
                                            <p:txEl>
                                              <p:charRg st="174" end="212"/>
                                            </p:txEl>
                                          </p:spTgt>
                                        </p:tgtEl>
                                        <p:attrNameLst>
                                          <p:attrName>style.visibility</p:attrName>
                                        </p:attrNameLst>
                                      </p:cBhvr>
                                      <p:to>
                                        <p:strVal val="visible"/>
                                      </p:to>
                                    </p:set>
                                    <p:animEffect transition="in" filter="blinds(horizontal)">
                                      <p:cBhvr>
                                        <p:cTn id="37" dur="500"/>
                                        <p:tgtEl>
                                          <p:spTgt spid="21">
                                            <p:txEl>
                                              <p:charRg st="174" end="212"/>
                                            </p:txEl>
                                          </p:spTgt>
                                        </p:tgtEl>
                                      </p:cBhvr>
                                    </p:animEffect>
                                  </p:childTnLst>
                                </p:cTn>
                              </p:par>
                            </p:childTnLst>
                          </p:cTn>
                        </p:par>
                        <p:par>
                          <p:cTn id="38" fill="hold">
                            <p:stCondLst>
                              <p:cond delay="1000"/>
                            </p:stCondLst>
                            <p:childTnLst>
                              <p:par>
                                <p:cTn id="39" presetID="3" presetClass="entr" presetSubtype="10" fill="hold" nodeType="afterEffect">
                                  <p:stCondLst>
                                    <p:cond delay="0"/>
                                  </p:stCondLst>
                                  <p:childTnLst>
                                    <p:set>
                                      <p:cBhvr>
                                        <p:cTn id="40" dur="1" fill="hold">
                                          <p:stCondLst>
                                            <p:cond delay="0"/>
                                          </p:stCondLst>
                                        </p:cTn>
                                        <p:tgtEl>
                                          <p:spTgt spid="21">
                                            <p:txEl>
                                              <p:charRg st="212" end="254"/>
                                            </p:txEl>
                                          </p:spTgt>
                                        </p:tgtEl>
                                        <p:attrNameLst>
                                          <p:attrName>style.visibility</p:attrName>
                                        </p:attrNameLst>
                                      </p:cBhvr>
                                      <p:to>
                                        <p:strVal val="visible"/>
                                      </p:to>
                                    </p:set>
                                    <p:animEffect transition="in" filter="blinds(horizontal)">
                                      <p:cBhvr>
                                        <p:cTn id="41" dur="500"/>
                                        <p:tgtEl>
                                          <p:spTgt spid="21">
                                            <p:txEl>
                                              <p:charRg st="212" end="25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39750" y="1357313"/>
            <a:ext cx="8175625" cy="47720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ts val="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2012</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某计算机存储器按字节编址，采用小端方式存放数据。假定编译器规定</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型和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short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型长度分别为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16</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位，并且数据按边界对齐存储。某</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语言程序段如下：</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1200" marR="0" lvl="0" indent="-347980" algn="l" defTabSz="914400" rtl="0" eaLnBrk="0" fontAlgn="base" latinLnBrk="0" hangingPunct="0">
              <a:lnSpc>
                <a:spcPct val="100000"/>
              </a:lnSpc>
              <a:spcBef>
                <a:spcPts val="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struct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1200" marR="0" lvl="0" indent="-347980" algn="l" defTabSz="914400" rtl="0" eaLnBrk="0" fontAlgn="base" latinLnBrk="0" hangingPunct="0">
              <a:lnSpc>
                <a:spcPct val="100000"/>
              </a:lnSpc>
              <a:spcBef>
                <a:spcPts val="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1200" marR="0" lvl="0" indent="-347980" algn="l" defTabSz="914400" rtl="0" eaLnBrk="0" fontAlgn="base" latinLnBrk="0" hangingPunct="0">
              <a:lnSpc>
                <a:spcPct val="100000"/>
              </a:lnSpc>
              <a:spcBef>
                <a:spcPts val="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int a;</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1200" marR="0" lvl="0" indent="-347980" algn="l" defTabSz="914400" rtl="0" eaLnBrk="0" fontAlgn="base" latinLnBrk="0" hangingPunct="0">
              <a:lnSpc>
                <a:spcPct val="100000"/>
              </a:lnSpc>
              <a:spcBef>
                <a:spcPts val="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char b;</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1200" marR="0" lvl="0" indent="-347980" algn="l" defTabSz="914400" rtl="0" eaLnBrk="0" fontAlgn="base" latinLnBrk="0" hangingPunct="0">
              <a:lnSpc>
                <a:spcPct val="100000"/>
              </a:lnSpc>
              <a:spcBef>
                <a:spcPts val="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short c;</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1200" marR="0" lvl="0" indent="-347980" algn="l" defTabSz="914400" rtl="0" eaLnBrk="0" fontAlgn="base" latinLnBrk="0" hangingPunct="0">
              <a:lnSpc>
                <a:spcPct val="100000"/>
              </a:lnSpc>
              <a:spcBef>
                <a:spcPts val="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record;</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11200" marR="0" lvl="0" indent="-347980" algn="l" defTabSz="914400" rtl="0" eaLnBrk="0" fontAlgn="base" latinLnBrk="0" hangingPunct="0">
              <a:lnSpc>
                <a:spcPct val="100000"/>
              </a:lnSpc>
              <a:spcBef>
                <a:spcPts val="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record.a=273;</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ts val="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record</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变量的首地址为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xC008</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，则地址</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xC008</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中内容及</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record.c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的地址是</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363855" algn="l" defTabSz="914400" rtl="0" eaLnBrk="0" fontAlgn="base" latinLnBrk="0" hangingPunct="0">
              <a:lnSpc>
                <a:spcPct val="100000"/>
              </a:lnSpc>
              <a:spcBef>
                <a:spcPts val="6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0x00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0xC00D    		B. 0x00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0xC00E</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84150" algn="l" defTabSz="914400" rtl="0" eaLnBrk="0" fontAlgn="base" latinLnBrk="0" hangingPunct="0">
              <a:lnSpc>
                <a:spcPct val="100000"/>
              </a:lnSpc>
              <a:spcBef>
                <a:spcPts val="6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 0xll</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0xC00D    		D. 0xll</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0xC00E</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ts val="0"/>
              </a:spcBef>
              <a:spcAft>
                <a:spcPct val="0"/>
              </a:spcAft>
              <a:buClrTx/>
              <a:buSzTx/>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50179" name="Rectangle 2"/>
          <p:cNvSpPr>
            <a:spLocks noGrp="1"/>
          </p:cNvSpPr>
          <p:nvPr>
            <p:ph type="title"/>
          </p:nvPr>
        </p:nvSpPr>
        <p:spPr/>
        <p:txBody>
          <a:bodyPr vert="horz" wrap="square" lIns="91440" tIns="45720" rIns="91440" bIns="45720" anchor="b" anchorCtr="0"/>
          <a:p>
            <a:pPr eaLnBrk="1" hangingPunct="1"/>
            <a:r>
              <a:rPr lang="zh-CN" altLang="en-US" sz="3600" dirty="0"/>
              <a:t>数据存储方式举例</a:t>
            </a:r>
            <a:endParaRPr lang="zh-CN" altLang="en-US" sz="3600" dirty="0"/>
          </a:p>
        </p:txBody>
      </p:sp>
      <p:graphicFrame>
        <p:nvGraphicFramePr>
          <p:cNvPr id="7" name="表格 6"/>
          <p:cNvGraphicFramePr>
            <a:graphicFrameLocks noGrp="1"/>
          </p:cNvGraphicFramePr>
          <p:nvPr/>
        </p:nvGraphicFramePr>
        <p:xfrm>
          <a:off x="2547938" y="2794000"/>
          <a:ext cx="6096000" cy="1706564"/>
        </p:xfrm>
        <a:graphic>
          <a:graphicData uri="http://schemas.openxmlformats.org/drawingml/2006/table">
            <a:tbl>
              <a:tblPr firstRow="1" bandRow="1">
                <a:tableStyleId>{5C22544A-7EE6-4342-B048-85BDC9FD1C3A}</a:tableStyleId>
              </a:tblPr>
              <a:tblGrid>
                <a:gridCol w="1524000"/>
                <a:gridCol w="1524000"/>
                <a:gridCol w="1524000"/>
                <a:gridCol w="1524000"/>
              </a:tblGrid>
              <a:tr h="396163">
                <a:tc>
                  <a:txBody>
                    <a:bodyPr/>
                    <a:lstStyle/>
                    <a:p>
                      <a:pPr algn="ctr"/>
                      <a:r>
                        <a:rPr lang="en-US" altLang="zh-CN" sz="2000" dirty="0" smtClean="0">
                          <a:solidFill>
                            <a:srgbClr val="0000CC"/>
                          </a:solidFill>
                          <a:latin typeface="Times New Roman" panose="02020603050405020304" pitchFamily="18" charset="0"/>
                          <a:cs typeface="Times New Roman" panose="02020603050405020304" pitchFamily="18" charset="0"/>
                        </a:rPr>
                        <a:t>0000C00B</a:t>
                      </a:r>
                      <a:endParaRPr lang="zh-CN" altLang="en-US" sz="2000" dirty="0">
                        <a:solidFill>
                          <a:srgbClr val="0000CC"/>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000" dirty="0" smtClean="0">
                          <a:solidFill>
                            <a:srgbClr val="0000CC"/>
                          </a:solidFill>
                          <a:latin typeface="Times New Roman" panose="02020603050405020304" pitchFamily="18" charset="0"/>
                          <a:cs typeface="Times New Roman" panose="02020603050405020304" pitchFamily="18" charset="0"/>
                        </a:rPr>
                        <a:t>0000C00A</a:t>
                      </a:r>
                      <a:endParaRPr lang="zh-CN" altLang="en-US" sz="2000" dirty="0">
                        <a:solidFill>
                          <a:srgbClr val="0000CC"/>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000" dirty="0" smtClean="0">
                          <a:solidFill>
                            <a:srgbClr val="0000CC"/>
                          </a:solidFill>
                          <a:latin typeface="Times New Roman" panose="02020603050405020304" pitchFamily="18" charset="0"/>
                          <a:cs typeface="Times New Roman" panose="02020603050405020304" pitchFamily="18" charset="0"/>
                        </a:rPr>
                        <a:t>0000C009</a:t>
                      </a:r>
                      <a:endParaRPr lang="zh-CN" altLang="en-US" sz="2000" dirty="0">
                        <a:solidFill>
                          <a:srgbClr val="0000CC"/>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000" dirty="0" smtClean="0">
                          <a:solidFill>
                            <a:srgbClr val="0000CC"/>
                          </a:solidFill>
                          <a:latin typeface="Times New Roman" panose="02020603050405020304" pitchFamily="18" charset="0"/>
                          <a:cs typeface="Times New Roman" panose="02020603050405020304" pitchFamily="18" charset="0"/>
                        </a:rPr>
                        <a:t>0000C008</a:t>
                      </a:r>
                      <a:endParaRPr lang="zh-CN" altLang="en-US" sz="2000" dirty="0">
                        <a:solidFill>
                          <a:srgbClr val="0000CC"/>
                        </a:solidFill>
                        <a:latin typeface="Times New Roman" panose="02020603050405020304" pitchFamily="18" charset="0"/>
                        <a:cs typeface="Times New Roman" panose="02020603050405020304" pitchFamily="18" charset="0"/>
                      </a:endParaRPr>
                    </a:p>
                  </a:txBody>
                  <a:tcPr marT="45693" marB="45693"/>
                </a:tc>
              </a:tr>
              <a:tr h="457119">
                <a:tc>
                  <a:txBody>
                    <a:bodyPr/>
                    <a:lstStyle/>
                    <a:p>
                      <a:pPr algn="ctr"/>
                      <a:r>
                        <a:rPr lang="en-US" altLang="zh-CN" sz="2400" b="1" dirty="0" smtClean="0">
                          <a:solidFill>
                            <a:srgbClr val="FF0000"/>
                          </a:solidFill>
                          <a:latin typeface="Times New Roman" panose="02020603050405020304" pitchFamily="18" charset="0"/>
                          <a:cs typeface="Times New Roman" panose="02020603050405020304" pitchFamily="18" charset="0"/>
                        </a:rPr>
                        <a:t>00</a:t>
                      </a:r>
                      <a:endParaRPr lang="zh-CN" altLang="en-US" sz="2400" b="1" dirty="0">
                        <a:solidFill>
                          <a:srgbClr val="FF0000"/>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400" b="1" dirty="0" smtClean="0">
                          <a:solidFill>
                            <a:srgbClr val="FF0000"/>
                          </a:solidFill>
                          <a:latin typeface="Times New Roman" panose="02020603050405020304" pitchFamily="18" charset="0"/>
                          <a:cs typeface="Times New Roman" panose="02020603050405020304" pitchFamily="18" charset="0"/>
                        </a:rPr>
                        <a:t>00</a:t>
                      </a:r>
                      <a:endParaRPr lang="zh-CN" altLang="en-US" sz="2400" b="1" dirty="0">
                        <a:solidFill>
                          <a:srgbClr val="FF0000"/>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400" b="1" dirty="0" smtClean="0">
                          <a:solidFill>
                            <a:srgbClr val="FF0000"/>
                          </a:solidFill>
                          <a:latin typeface="Times New Roman" panose="02020603050405020304" pitchFamily="18" charset="0"/>
                          <a:cs typeface="Times New Roman" panose="02020603050405020304" pitchFamily="18" charset="0"/>
                        </a:rPr>
                        <a:t>01</a:t>
                      </a:r>
                      <a:endParaRPr lang="zh-CN" altLang="en-US" sz="2400" b="1" dirty="0">
                        <a:solidFill>
                          <a:srgbClr val="FF0000"/>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400" b="1" dirty="0" smtClean="0">
                          <a:solidFill>
                            <a:srgbClr val="FF0000"/>
                          </a:solidFill>
                          <a:latin typeface="Times New Roman" panose="02020603050405020304" pitchFamily="18" charset="0"/>
                          <a:cs typeface="Times New Roman" panose="02020603050405020304" pitchFamily="18" charset="0"/>
                        </a:rPr>
                        <a:t>11</a:t>
                      </a:r>
                      <a:endParaRPr lang="zh-CN" altLang="en-US" sz="2400" b="1" dirty="0">
                        <a:solidFill>
                          <a:srgbClr val="FF0000"/>
                        </a:solidFill>
                        <a:latin typeface="Times New Roman" panose="02020603050405020304" pitchFamily="18" charset="0"/>
                        <a:cs typeface="Times New Roman" panose="02020603050405020304" pitchFamily="18" charset="0"/>
                      </a:endParaRPr>
                    </a:p>
                  </a:txBody>
                  <a:tcPr marT="45693" marB="45693"/>
                </a:tc>
              </a:tr>
              <a:tr h="396163">
                <a:tc>
                  <a:txBody>
                    <a:bodyPr/>
                    <a:lstStyle/>
                    <a:p>
                      <a:pPr algn="ctr"/>
                      <a:r>
                        <a:rPr lang="en-US" altLang="zh-CN" sz="2000" b="1" dirty="0" smtClean="0">
                          <a:solidFill>
                            <a:srgbClr val="0000CC"/>
                          </a:solidFill>
                          <a:latin typeface="Times New Roman" panose="02020603050405020304" pitchFamily="18" charset="0"/>
                          <a:cs typeface="Times New Roman" panose="02020603050405020304" pitchFamily="18" charset="0"/>
                        </a:rPr>
                        <a:t>0000C00F</a:t>
                      </a:r>
                      <a:endParaRPr lang="zh-CN" altLang="en-US" sz="2000" b="1" dirty="0">
                        <a:solidFill>
                          <a:srgbClr val="0000CC"/>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000" b="1" dirty="0" smtClean="0">
                          <a:solidFill>
                            <a:srgbClr val="0000CC"/>
                          </a:solidFill>
                          <a:latin typeface="Times New Roman" panose="02020603050405020304" pitchFamily="18" charset="0"/>
                          <a:cs typeface="Times New Roman" panose="02020603050405020304" pitchFamily="18" charset="0"/>
                        </a:rPr>
                        <a:t>0000C00E</a:t>
                      </a:r>
                      <a:endParaRPr lang="zh-CN" altLang="en-US" sz="2000" b="1" dirty="0">
                        <a:solidFill>
                          <a:srgbClr val="0000CC"/>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000" b="1" dirty="0" smtClean="0">
                          <a:solidFill>
                            <a:srgbClr val="0000CC"/>
                          </a:solidFill>
                          <a:latin typeface="Times New Roman" panose="02020603050405020304" pitchFamily="18" charset="0"/>
                          <a:cs typeface="Times New Roman" panose="02020603050405020304" pitchFamily="18" charset="0"/>
                        </a:rPr>
                        <a:t>0000C00D</a:t>
                      </a:r>
                      <a:endParaRPr lang="zh-CN" altLang="en-US" sz="2000" b="1" dirty="0">
                        <a:solidFill>
                          <a:srgbClr val="0000CC"/>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000" b="1" smtClean="0">
                          <a:solidFill>
                            <a:srgbClr val="0000CC"/>
                          </a:solidFill>
                          <a:latin typeface="Times New Roman" panose="02020603050405020304" pitchFamily="18" charset="0"/>
                          <a:cs typeface="Times New Roman" panose="02020603050405020304" pitchFamily="18" charset="0"/>
                        </a:rPr>
                        <a:t>0000C00C</a:t>
                      </a:r>
                      <a:endParaRPr lang="zh-CN" altLang="en-US" sz="2000" b="1" dirty="0">
                        <a:solidFill>
                          <a:srgbClr val="0000CC"/>
                        </a:solidFill>
                        <a:latin typeface="Times New Roman" panose="02020603050405020304" pitchFamily="18" charset="0"/>
                        <a:cs typeface="Times New Roman" panose="02020603050405020304" pitchFamily="18" charset="0"/>
                      </a:endParaRPr>
                    </a:p>
                  </a:txBody>
                  <a:tcPr marT="45693" marB="45693"/>
                </a:tc>
              </a:tr>
              <a:tr h="457119">
                <a:tc>
                  <a:txBody>
                    <a:bodyPr/>
                    <a:lstStyle/>
                    <a:p>
                      <a:pPr algn="ctr"/>
                      <a:r>
                        <a:rPr lang="en-US" altLang="zh-CN" sz="2400" b="1" dirty="0" smtClean="0">
                          <a:solidFill>
                            <a:srgbClr val="FF0000"/>
                          </a:solidFill>
                          <a:latin typeface="Times New Roman" panose="02020603050405020304" pitchFamily="18" charset="0"/>
                          <a:cs typeface="Times New Roman" panose="02020603050405020304" pitchFamily="18" charset="0"/>
                        </a:rPr>
                        <a:t>c</a:t>
                      </a:r>
                      <a:endParaRPr lang="zh-CN" altLang="en-US" sz="2400" b="1" dirty="0">
                        <a:solidFill>
                          <a:srgbClr val="FF0000"/>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400" b="1" dirty="0" smtClean="0">
                          <a:solidFill>
                            <a:srgbClr val="FF0000"/>
                          </a:solidFill>
                          <a:latin typeface="Times New Roman" panose="02020603050405020304" pitchFamily="18" charset="0"/>
                          <a:cs typeface="Times New Roman" panose="02020603050405020304" pitchFamily="18" charset="0"/>
                        </a:rPr>
                        <a:t>c</a:t>
                      </a:r>
                      <a:endParaRPr lang="zh-CN" altLang="en-US" sz="2400" b="1" dirty="0">
                        <a:solidFill>
                          <a:srgbClr val="FF0000"/>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400" b="1" dirty="0" smtClean="0">
                          <a:solidFill>
                            <a:srgbClr val="FF0000"/>
                          </a:solidFill>
                          <a:latin typeface="Times New Roman" panose="02020603050405020304" pitchFamily="18" charset="0"/>
                          <a:cs typeface="Times New Roman" panose="02020603050405020304" pitchFamily="18" charset="0"/>
                        </a:rPr>
                        <a:t>0</a:t>
                      </a:r>
                      <a:endParaRPr lang="zh-CN" altLang="en-US" sz="2400" b="1" dirty="0">
                        <a:solidFill>
                          <a:srgbClr val="FF0000"/>
                        </a:solidFill>
                        <a:latin typeface="Times New Roman" panose="02020603050405020304" pitchFamily="18" charset="0"/>
                        <a:cs typeface="Times New Roman" panose="02020603050405020304" pitchFamily="18" charset="0"/>
                      </a:endParaRPr>
                    </a:p>
                  </a:txBody>
                  <a:tcPr marT="45693" marB="45693"/>
                </a:tc>
                <a:tc>
                  <a:txBody>
                    <a:bodyPr/>
                    <a:lstStyle/>
                    <a:p>
                      <a:pPr algn="ctr"/>
                      <a:r>
                        <a:rPr lang="en-US" altLang="zh-CN" sz="2400" b="1" dirty="0" smtClean="0">
                          <a:solidFill>
                            <a:srgbClr val="FF0000"/>
                          </a:solidFill>
                          <a:latin typeface="Times New Roman" panose="02020603050405020304" pitchFamily="18" charset="0"/>
                          <a:cs typeface="Times New Roman" panose="02020603050405020304" pitchFamily="18" charset="0"/>
                        </a:rPr>
                        <a:t>b</a:t>
                      </a:r>
                      <a:endParaRPr lang="zh-CN" altLang="en-US" sz="2400" b="1" dirty="0">
                        <a:solidFill>
                          <a:srgbClr val="FF0000"/>
                        </a:solidFill>
                        <a:latin typeface="Times New Roman" panose="02020603050405020304" pitchFamily="18" charset="0"/>
                        <a:cs typeface="Times New Roman" panose="02020603050405020304" pitchFamily="18" charset="0"/>
                      </a:endParaRPr>
                    </a:p>
                  </a:txBody>
                  <a:tcPr marT="45693" marB="45693"/>
                </a:tc>
              </a:tr>
            </a:tbl>
          </a:graphicData>
        </a:graphic>
      </p:graphicFrame>
      <p:sp>
        <p:nvSpPr>
          <p:cNvPr id="8" name="圆角矩形标注 7"/>
          <p:cNvSpPr/>
          <p:nvPr/>
        </p:nvSpPr>
        <p:spPr>
          <a:xfrm>
            <a:off x="4143375" y="3214688"/>
            <a:ext cx="4500563" cy="1143000"/>
          </a:xfrm>
          <a:prstGeom prst="wedgeRoundRectCallout">
            <a:avLst>
              <a:gd name="adj1" fmla="val -51713"/>
              <a:gd name="adj2" fmla="val -112281"/>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字地址：</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的倍数</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低两位为</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半字地址：</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的倍数</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低位为</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字节地址：任意</a:t>
            </a:r>
            <a:endPar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type="title"/>
          </p:nvPr>
        </p:nvSpPr>
        <p:spPr>
          <a:xfrm>
            <a:off x="611188" y="188913"/>
            <a:ext cx="8532812" cy="714375"/>
          </a:xfrm>
        </p:spPr>
        <p:txBody>
          <a:bodyPr vert="horz" wrap="square" lIns="91440" tIns="45720" rIns="91440" bIns="45720" anchor="b" anchorCtr="0"/>
          <a:p>
            <a:r>
              <a:rPr lang="zh-CN" altLang="en-US" sz="3600" dirty="0">
                <a:sym typeface="+mn-ea"/>
              </a:rPr>
              <a:t>七</a:t>
            </a:r>
            <a:r>
              <a:rPr lang="zh-CN" altLang="en-US" sz="3600" dirty="0"/>
              <a:t>、关于基本运算问题</a:t>
            </a:r>
            <a:endParaRPr lang="zh-CN" altLang="en-US" sz="3600" dirty="0"/>
          </a:p>
        </p:txBody>
      </p:sp>
      <p:sp>
        <p:nvSpPr>
          <p:cNvPr id="52227" name="Rectangle 3"/>
          <p:cNvSpPr>
            <a:spLocks noGrp="1"/>
          </p:cNvSpPr>
          <p:nvPr>
            <p:ph idx="1"/>
          </p:nvPr>
        </p:nvSpPr>
        <p:spPr>
          <a:xfrm>
            <a:off x="503238" y="1357313"/>
            <a:ext cx="8137525" cy="4954587"/>
          </a:xfrm>
        </p:spPr>
        <p:txBody>
          <a:bodyPr vert="horz" wrap="square" lIns="92075" tIns="46038" rIns="92075" bIns="46038" anchor="t" anchorCtr="0"/>
          <a:p>
            <a:pPr eaLnBrk="1" hangingPunct="1">
              <a:spcBef>
                <a:spcPct val="0"/>
              </a:spcBef>
              <a:buClr>
                <a:schemeClr val="tx2"/>
              </a:buClr>
            </a:pPr>
            <a:r>
              <a:rPr lang="zh-CN" altLang="en-US" sz="2800" dirty="0">
                <a:latin typeface="Times New Roman" panose="02020603050405020304" pitchFamily="18" charset="0"/>
              </a:rPr>
              <a:t>移位运算：</a:t>
            </a:r>
            <a:endParaRPr lang="zh-CN" altLang="en-US" sz="2800" dirty="0">
              <a:latin typeface="Times New Roman" panose="02020603050405020304" pitchFamily="18" charset="0"/>
            </a:endParaRPr>
          </a:p>
          <a:p>
            <a:pPr lvl="1" eaLnBrk="1" hangingPunct="1">
              <a:spcBef>
                <a:spcPct val="0"/>
              </a:spcBef>
              <a:buClr>
                <a:schemeClr val="tx2"/>
              </a:buClr>
            </a:pPr>
            <a:r>
              <a:rPr lang="zh-CN" altLang="en-US" sz="2400" dirty="0">
                <a:latin typeface="华文中宋" panose="02010600040101010101" pitchFamily="2" charset="-122"/>
              </a:rPr>
              <a:t>“</a:t>
            </a:r>
            <a:r>
              <a:rPr lang="zh-CN" altLang="en-US" sz="2400" dirty="0">
                <a:latin typeface="Times New Roman" panose="02020603050405020304" pitchFamily="18" charset="0"/>
              </a:rPr>
              <a:t>末端</a:t>
            </a:r>
            <a:r>
              <a:rPr lang="zh-CN" altLang="en-US" sz="2400" dirty="0">
                <a:latin typeface="华文中宋" panose="02010600040101010101" pitchFamily="2" charset="-122"/>
              </a:rPr>
              <a:t>”</a:t>
            </a:r>
            <a:r>
              <a:rPr lang="zh-CN" altLang="en-US" sz="2400" dirty="0">
                <a:latin typeface="Times New Roman" panose="02020603050405020304" pitchFamily="18" charset="0"/>
              </a:rPr>
              <a:t>触发器</a:t>
            </a:r>
            <a:endParaRPr lang="zh-CN" altLang="en-US" sz="2400" dirty="0">
              <a:latin typeface="Times New Roman" panose="02020603050405020304" pitchFamily="18" charset="0"/>
            </a:endParaRPr>
          </a:p>
          <a:p>
            <a:pPr lvl="2" eaLnBrk="1" hangingPunct="1">
              <a:spcBef>
                <a:spcPct val="0"/>
              </a:spcBef>
              <a:buClr>
                <a:schemeClr val="tx2"/>
              </a:buClr>
            </a:pPr>
            <a:r>
              <a:rPr lang="zh-CN" altLang="en-US" sz="2200" dirty="0">
                <a:latin typeface="Times New Roman" panose="02020603050405020304" pitchFamily="18" charset="0"/>
              </a:rPr>
              <a:t>右移时是指最左边那位触发器</a:t>
            </a:r>
            <a:endParaRPr lang="zh-CN" altLang="en-US" sz="2200" dirty="0">
              <a:latin typeface="Times New Roman" panose="02020603050405020304" pitchFamily="18" charset="0"/>
            </a:endParaRPr>
          </a:p>
          <a:p>
            <a:pPr lvl="2" eaLnBrk="1" hangingPunct="1">
              <a:spcBef>
                <a:spcPct val="0"/>
              </a:spcBef>
              <a:buClr>
                <a:schemeClr val="tx2"/>
              </a:buClr>
            </a:pPr>
            <a:r>
              <a:rPr lang="zh-CN" altLang="en-US" sz="2200" dirty="0">
                <a:latin typeface="Times New Roman" panose="02020603050405020304" pitchFamily="18" charset="0"/>
              </a:rPr>
              <a:t>左移时是指最右边那位触发器</a:t>
            </a:r>
            <a:endParaRPr lang="zh-CN" altLang="en-US" sz="2200" dirty="0">
              <a:latin typeface="Times New Roman" panose="02020603050405020304" pitchFamily="18" charset="0"/>
            </a:endParaRPr>
          </a:p>
          <a:p>
            <a:pPr lvl="1" eaLnBrk="1" hangingPunct="1">
              <a:spcBef>
                <a:spcPct val="0"/>
              </a:spcBef>
              <a:buClr>
                <a:schemeClr val="tx2"/>
              </a:buClr>
            </a:pPr>
            <a:endParaRPr lang="en-US" altLang="zh-CN" sz="2400" dirty="0">
              <a:latin typeface="Times New Roman" panose="02020603050405020304" pitchFamily="18" charset="0"/>
            </a:endParaRPr>
          </a:p>
          <a:p>
            <a:pPr lvl="1" eaLnBrk="1" hangingPunct="1">
              <a:spcBef>
                <a:spcPct val="0"/>
              </a:spcBef>
              <a:buClr>
                <a:schemeClr val="tx2"/>
              </a:buClr>
            </a:pPr>
            <a:r>
              <a:rPr lang="zh-CN" altLang="en-US" sz="2400" dirty="0">
                <a:latin typeface="Times New Roman" panose="02020603050405020304" pitchFamily="18" charset="0"/>
              </a:rPr>
              <a:t>移位类型</a:t>
            </a:r>
            <a:endParaRPr lang="zh-CN" altLang="en-US" sz="2400" dirty="0">
              <a:latin typeface="Times New Roman" panose="02020603050405020304" pitchFamily="18" charset="0"/>
            </a:endParaRPr>
          </a:p>
          <a:p>
            <a:pPr lvl="2" eaLnBrk="1" hangingPunct="1">
              <a:spcBef>
                <a:spcPct val="0"/>
              </a:spcBef>
              <a:buClr>
                <a:schemeClr val="tx2"/>
              </a:buClr>
            </a:pPr>
            <a:r>
              <a:rPr lang="zh-CN" altLang="en-US" sz="2200" dirty="0">
                <a:latin typeface="Times New Roman" panose="02020603050405020304" pitchFamily="18" charset="0"/>
              </a:rPr>
              <a:t>移位性质：逻辑移位、算术移位、循环移位</a:t>
            </a:r>
            <a:endParaRPr lang="zh-CN" altLang="en-US" sz="2200" dirty="0">
              <a:latin typeface="Times New Roman" panose="02020603050405020304" pitchFamily="18" charset="0"/>
            </a:endParaRPr>
          </a:p>
          <a:p>
            <a:pPr lvl="2" eaLnBrk="1" hangingPunct="1">
              <a:spcBef>
                <a:spcPct val="0"/>
              </a:spcBef>
              <a:buClr>
                <a:schemeClr val="tx2"/>
              </a:buClr>
            </a:pPr>
            <a:r>
              <a:rPr lang="zh-CN" altLang="en-US" sz="2200" dirty="0">
                <a:latin typeface="Times New Roman" panose="02020603050405020304" pitchFamily="18" charset="0"/>
              </a:rPr>
              <a:t>移位数据长度：字节、半字、字、双字、多字</a:t>
            </a:r>
            <a:endParaRPr lang="zh-CN" altLang="en-US" sz="2200" dirty="0">
              <a:latin typeface="Times New Roman" panose="02020603050405020304" pitchFamily="18" charset="0"/>
            </a:endParaRPr>
          </a:p>
          <a:p>
            <a:pPr lvl="2" eaLnBrk="1" hangingPunct="1">
              <a:spcBef>
                <a:spcPct val="0"/>
              </a:spcBef>
              <a:buClr>
                <a:schemeClr val="tx2"/>
              </a:buClr>
            </a:pPr>
            <a:r>
              <a:rPr lang="zh-CN" altLang="en-US" sz="2200" dirty="0">
                <a:latin typeface="Times New Roman" panose="02020603050405020304" pitchFamily="18" charset="0"/>
              </a:rPr>
              <a:t>移位位数：1位、2位、多位</a:t>
            </a:r>
            <a:endParaRPr lang="zh-CN" altLang="en-US" sz="2200" dirty="0">
              <a:latin typeface="Times New Roman" panose="02020603050405020304" pitchFamily="18" charset="0"/>
            </a:endParaRPr>
          </a:p>
        </p:txBody>
      </p:sp>
      <p:graphicFrame>
        <p:nvGraphicFramePr>
          <p:cNvPr id="1146884" name="Group 4"/>
          <p:cNvGraphicFramePr>
            <a:graphicFrameLocks noGrp="1"/>
          </p:cNvGraphicFramePr>
          <p:nvPr/>
        </p:nvGraphicFramePr>
        <p:xfrm>
          <a:off x="4843463" y="3043238"/>
          <a:ext cx="4038600" cy="457200"/>
        </p:xfrm>
        <a:graphic>
          <a:graphicData uri="http://schemas.openxmlformats.org/drawingml/2006/table">
            <a:tbl>
              <a:tblPr/>
              <a:tblGrid>
                <a:gridCol w="504825"/>
                <a:gridCol w="504825"/>
                <a:gridCol w="504825"/>
                <a:gridCol w="504825"/>
                <a:gridCol w="504825"/>
                <a:gridCol w="504825"/>
                <a:gridCol w="504825"/>
                <a:gridCol w="504825"/>
              </a:tblGrid>
              <a:tr h="334968">
                <a:tc>
                  <a:txBody>
                    <a:bodyPr/>
                    <a:lstStyle/>
                    <a:p>
                      <a:pPr marL="0" marR="0" lvl="0" indent="0" algn="l" defTabSz="914400" rtl="0" eaLnBrk="1" fontAlgn="base" latinLnBrk="0" hangingPunct="1">
                        <a:lnSpc>
                          <a:spcPct val="100000"/>
                        </a:lnSpc>
                        <a:spcBef>
                          <a:spcPts val="0"/>
                        </a:spcBef>
                        <a:spcAft>
                          <a:spcPct val="0"/>
                        </a:spcAft>
                        <a:buClrTx/>
                        <a:buSzTx/>
                        <a:buFont typeface="Wingdings" panose="05000000000000000000" pitchFamily="2" charset="2"/>
                        <a:buNone/>
                      </a:pPr>
                      <a:endParaRPr kumimoji="0" lang="zh-CN" altLang="en-US" sz="2400" b="1" i="0" u="none" strike="noStrike" cap="none" normalizeH="0" baseline="0" dirty="0" smtClean="0">
                        <a:ln>
                          <a:noFill/>
                        </a:ln>
                        <a:solidFill>
                          <a:srgbClr val="0000FF"/>
                        </a:solidFill>
                        <a:effectLst/>
                        <a:latin typeface="Arial" panose="020B0604020202020204" pitchFamily="34" charset="0"/>
                        <a:ea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 typeface="Wingdings" panose="05000000000000000000" pitchFamily="2" charset="2"/>
                        <a:buNone/>
                      </a:pPr>
                      <a:endParaRPr kumimoji="0" lang="zh-CN" altLang="en-US" sz="2400" b="1" i="0" u="none" strike="noStrike" cap="none" normalizeH="0" baseline="0" dirty="0" smtClean="0">
                        <a:ln>
                          <a:noFill/>
                        </a:ln>
                        <a:solidFill>
                          <a:srgbClr val="0000FF"/>
                        </a:solidFill>
                        <a:effectLst/>
                        <a:latin typeface="Arial" panose="020B0604020202020204" pitchFamily="34"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 typeface="Wingdings" panose="05000000000000000000" pitchFamily="2" charset="2"/>
                        <a:buNone/>
                      </a:pPr>
                      <a:endParaRPr kumimoji="0" lang="zh-CN" altLang="en-US" sz="2400" b="1" i="0" u="none" strike="noStrike" cap="none" normalizeH="0" baseline="0" dirty="0" smtClean="0">
                        <a:ln>
                          <a:noFill/>
                        </a:ln>
                        <a:solidFill>
                          <a:srgbClr val="0000FF"/>
                        </a:solidFill>
                        <a:effectLst/>
                        <a:latin typeface="Arial" panose="020B0604020202020204" pitchFamily="34"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 typeface="Wingdings" panose="05000000000000000000" pitchFamily="2" charset="2"/>
                        <a:buNone/>
                      </a:pPr>
                      <a:endParaRPr kumimoji="0" lang="zh-CN" altLang="en-US" sz="2400" b="1" i="0" u="none" strike="noStrike" cap="none" normalizeH="0" baseline="0" dirty="0" smtClean="0">
                        <a:ln>
                          <a:noFill/>
                        </a:ln>
                        <a:solidFill>
                          <a:srgbClr val="0000FF"/>
                        </a:solidFill>
                        <a:effectLst/>
                        <a:latin typeface="Arial" panose="020B0604020202020204" pitchFamily="34"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 typeface="Wingdings" panose="05000000000000000000" pitchFamily="2" charset="2"/>
                        <a:buNone/>
                      </a:pPr>
                      <a:endParaRPr kumimoji="0" lang="zh-CN" altLang="en-US" sz="2400" b="1" i="0" u="none" strike="noStrike" cap="none" normalizeH="0" baseline="0" dirty="0" smtClean="0">
                        <a:ln>
                          <a:noFill/>
                        </a:ln>
                        <a:solidFill>
                          <a:srgbClr val="0000FF"/>
                        </a:solidFill>
                        <a:effectLst/>
                        <a:latin typeface="Arial" panose="020B0604020202020204" pitchFamily="34"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 typeface="Wingdings" panose="05000000000000000000" pitchFamily="2" charset="2"/>
                        <a:buNone/>
                      </a:pPr>
                      <a:endParaRPr kumimoji="0" lang="zh-CN" altLang="en-US" sz="2400" b="1" i="0" u="none" strike="noStrike" cap="none" normalizeH="0" baseline="0" dirty="0" smtClean="0">
                        <a:ln>
                          <a:noFill/>
                        </a:ln>
                        <a:solidFill>
                          <a:srgbClr val="0000FF"/>
                        </a:solidFill>
                        <a:effectLst/>
                        <a:latin typeface="Arial" panose="020B0604020202020204" pitchFamily="34"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 typeface="Wingdings" panose="05000000000000000000" pitchFamily="2" charset="2"/>
                        <a:buNone/>
                      </a:pPr>
                      <a:endParaRPr kumimoji="0" lang="zh-CN" altLang="en-US" sz="2400" b="1" i="0" u="none" strike="noStrike" cap="none" normalizeH="0" baseline="0" dirty="0" smtClean="0">
                        <a:ln>
                          <a:noFill/>
                        </a:ln>
                        <a:solidFill>
                          <a:srgbClr val="0000FF"/>
                        </a:solidFill>
                        <a:effectLst/>
                        <a:latin typeface="Arial" panose="020B0604020202020204" pitchFamily="34"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 typeface="Wingdings" panose="05000000000000000000" pitchFamily="2" charset="2"/>
                        <a:buNone/>
                      </a:pPr>
                      <a:endParaRPr kumimoji="0" lang="zh-CN" altLang="en-US" sz="2400" b="1" i="0" u="none" strike="noStrike" cap="none" normalizeH="0" baseline="0" dirty="0" smtClean="0">
                        <a:ln>
                          <a:noFill/>
                        </a:ln>
                        <a:solidFill>
                          <a:srgbClr val="0000FF"/>
                        </a:solidFill>
                        <a:effectLst/>
                        <a:latin typeface="Arial" panose="020B0604020202020204" pitchFamily="34" charset="0"/>
                        <a:ea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46904" name="Text Box 24"/>
          <p:cNvSpPr txBox="1">
            <a:spLocks noChangeArrowheads="1"/>
          </p:cNvSpPr>
          <p:nvPr/>
        </p:nvSpPr>
        <p:spPr bwMode="auto">
          <a:xfrm>
            <a:off x="4778375" y="2714625"/>
            <a:ext cx="4175125" cy="400050"/>
          </a:xfrm>
          <a:prstGeom prst="rect">
            <a:avLst/>
          </a:prstGeom>
          <a:noFill/>
          <a:ln>
            <a:noFill/>
          </a:ln>
          <a:effectLst/>
        </p:spPr>
        <p:txBody>
          <a:bodyPr>
            <a:spAutoFit/>
          </a:bodyPr>
          <a:lstStyle/>
          <a:p>
            <a:pPr marR="0" defTabSz="914400" eaLnBrk="1" hangingPunct="1">
              <a:buClrTx/>
              <a:buSzTx/>
              <a:buFontTx/>
              <a:buNone/>
              <a:defRPr/>
            </a:pPr>
            <a:r>
              <a:rPr kumimoji="0" lang="zh-CN" altLang="en-US"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7                                                      0</a:t>
            </a:r>
            <a:endParaRPr kumimoji="0" lang="zh-CN" altLang="en-US" b="1"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52249" name="Text Box 25"/>
          <p:cNvSpPr txBox="1"/>
          <p:nvPr/>
        </p:nvSpPr>
        <p:spPr>
          <a:xfrm>
            <a:off x="3692525" y="3038475"/>
            <a:ext cx="1108075" cy="461963"/>
          </a:xfrm>
          <a:prstGeom prst="rect">
            <a:avLst/>
          </a:prstGeom>
          <a:noFill/>
          <a:ln w="9525">
            <a:noFill/>
          </a:ln>
        </p:spPr>
        <p:txBody>
          <a:bodyPr wrap="none">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lgn="ctr" eaLnBrk="1" hangingPunct="1">
              <a:spcBef>
                <a:spcPct val="0"/>
              </a:spcBef>
              <a:buFontTx/>
              <a:buNone/>
            </a:pPr>
            <a:r>
              <a:rPr lang="zh-CN" altLang="en-US" sz="2400" dirty="0">
                <a:solidFill>
                  <a:srgbClr val="0000FF"/>
                </a:solidFill>
                <a:latin typeface="Times New Roman" panose="02020603050405020304" pitchFamily="18" charset="0"/>
              </a:rPr>
              <a:t>寄存器</a:t>
            </a:r>
            <a:endParaRPr lang="zh-CN" altLang="en-US" sz="2400" dirty="0">
              <a:solidFill>
                <a:srgbClr val="0000FF"/>
              </a:solidFill>
              <a:latin typeface="Times New Roman" panose="02020603050405020304" pitchFamily="18" charset="0"/>
            </a:endParaRPr>
          </a:p>
        </p:txBody>
      </p:sp>
      <p:sp>
        <p:nvSpPr>
          <p:cNvPr id="7" name="矩形 6"/>
          <p:cNvSpPr/>
          <p:nvPr/>
        </p:nvSpPr>
        <p:spPr>
          <a:xfrm>
            <a:off x="557213" y="4643438"/>
            <a:ext cx="6786563" cy="1631950"/>
          </a:xfrm>
          <a:prstGeom prst="rect">
            <a:avLst/>
          </a:prstGeom>
        </p:spPr>
        <p:txBody>
          <a:bodyPr>
            <a:spAutoFit/>
          </a:bodyPr>
          <a:lstStyle/>
          <a:p>
            <a:pPr marL="179705" marR="0" lvl="0" indent="-179705" algn="l" defTabSz="914400" rtl="0" eaLnBrk="1" fontAlgn="base" latinLnBrk="0" hangingPunct="1">
              <a:lnSpc>
                <a:spcPct val="100000"/>
              </a:lnSpc>
              <a:spcBef>
                <a:spcPts val="0"/>
              </a:spcBef>
              <a:spcAft>
                <a:spcPct val="0"/>
              </a:spcAft>
              <a:buClr>
                <a:schemeClr val="tx2"/>
              </a:buClr>
              <a:buSzTx/>
              <a:buFont typeface="Wingdings" panose="05000000000000000000" pitchFamily="2" charset="2"/>
              <a:buChar char="p"/>
              <a:defRPr/>
            </a:pP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逻辑运算：</a:t>
            </a:r>
            <a:endPar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p>
            <a:pPr marL="449580" marR="0" lvl="1" indent="-90805" algn="l" defTabSz="914400" rtl="0" eaLnBrk="1" fontAlgn="base" latinLnBrk="0" hangingPunct="1">
              <a:lnSpc>
                <a:spcPct val="100000"/>
              </a:lnSpc>
              <a:spcBef>
                <a:spcPts val="0"/>
              </a:spcBef>
              <a:spcAft>
                <a:spcPct val="0"/>
              </a:spcAft>
              <a:buClr>
                <a:schemeClr val="tx2"/>
              </a:buClr>
              <a:buSzTx/>
              <a:buFont typeface="Wingdings" panose="05000000000000000000" pitchFamily="2" charset="2"/>
              <a:buChar char="n"/>
              <a:defRPr/>
            </a:pPr>
            <a:r>
              <a:rPr kumimoji="0" lang="zh-CN" altLang="en-US" sz="2400" b="1" i="0" u="none" strike="noStrike" kern="1200" cap="none" spc="0" normalizeH="0" baseline="0" noProof="0" dirty="0">
                <a:ln>
                  <a:noFill/>
                </a:ln>
                <a:solidFill>
                  <a:schemeClr val="tx1"/>
                </a:solidFill>
                <a:effectLst/>
                <a:uLnTx/>
                <a:uFillTx/>
                <a:latin typeface="华文中宋" panose="02010600040101010101" pitchFamily="2" charset="-122"/>
                <a:ea typeface="+mn-ea"/>
                <a:cs typeface="+mn-cs"/>
              </a:rPr>
              <a:t>按位逻辑与：</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and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andi</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49580" marR="0" lvl="1" indent="-90805" algn="l" defTabSz="914400" rtl="0" eaLnBrk="1" fontAlgn="base" latinLnBrk="0" hangingPunct="1">
              <a:lnSpc>
                <a:spcPct val="100000"/>
              </a:lnSpc>
              <a:spcBef>
                <a:spcPts val="0"/>
              </a:spcBef>
              <a:spcAft>
                <a:spcPct val="0"/>
              </a:spcAft>
              <a:buClr>
                <a:schemeClr val="tx2"/>
              </a:buClr>
              <a:buSzTx/>
              <a:buFont typeface="Wingdings" panose="05000000000000000000" pitchFamily="2" charset="2"/>
              <a:buChar char="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按位逻辑或：</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or</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ori</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49580" marR="0" lvl="1" indent="-90805" algn="l" defTabSz="914400" rtl="0" eaLnBrk="1" fontAlgn="base" latinLnBrk="0" hangingPunct="1">
              <a:lnSpc>
                <a:spcPct val="100000"/>
              </a:lnSpc>
              <a:spcBef>
                <a:spcPts val="0"/>
              </a:spcBef>
              <a:spcAft>
                <a:spcPct val="0"/>
              </a:spcAft>
              <a:buClr>
                <a:schemeClr val="tx2"/>
              </a:buClr>
              <a:buSzTx/>
              <a:buFont typeface="Wingdings" panose="05000000000000000000" pitchFamily="2" charset="2"/>
              <a:buChar char="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按位逻辑非：</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nor</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标题 1"/>
          <p:cNvSpPr>
            <a:spLocks noGrp="1"/>
          </p:cNvSpPr>
          <p:nvPr>
            <p:ph type="title"/>
          </p:nvPr>
        </p:nvSpPr>
        <p:spPr/>
        <p:txBody>
          <a:bodyPr vert="horz" wrap="square" lIns="91440" tIns="45720" rIns="91440" bIns="45720" anchor="b" anchorCtr="0"/>
          <a:p>
            <a:r>
              <a:rPr lang="zh-CN" altLang="en-US" dirty="0"/>
              <a:t>基本运算举例</a:t>
            </a:r>
            <a:endParaRPr lang="zh-CN" altLang="en-US" dirty="0"/>
          </a:p>
        </p:txBody>
      </p:sp>
      <p:sp>
        <p:nvSpPr>
          <p:cNvPr id="5" name="TextBox 4"/>
          <p:cNvSpPr txBox="1"/>
          <p:nvPr/>
        </p:nvSpPr>
        <p:spPr>
          <a:xfrm>
            <a:off x="500063" y="4365625"/>
            <a:ext cx="8207375" cy="2308225"/>
          </a:xfrm>
          <a:prstGeom prst="rect">
            <a:avLst/>
          </a:prstGeom>
          <a:noFill/>
        </p:spPr>
        <p:txBody>
          <a:bodyPr>
            <a:spAutoFit/>
          </a:bodyPr>
          <a:lstStyle/>
          <a:p>
            <a:pPr marR="0" defTabSz="914400" eaLnBrk="1" hangingPunct="1">
              <a:buClrTx/>
              <a:buSzTx/>
              <a:buFontTx/>
              <a:buNone/>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解：</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1. sll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指令执行后，</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$t2=0</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711200" defTabSz="914400" eaLnBrk="1" hangingPunct="1">
              <a:buClrTx/>
              <a:buSzTx/>
              <a:buFontTx/>
              <a:buNone/>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or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指令执行后，</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$t2=0x1234 5678</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defTabSz="914400" eaLnBrk="1" hangingPunct="1">
              <a:buClrTx/>
              <a:buSzTx/>
              <a:buFontTx/>
              <a:buNone/>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2. sll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指令执行后，</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$t2=0xAAAA AAA0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逻辑左移</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711200" defTabSz="914400" eaLnBrk="1" hangingPunct="1">
              <a:buClrTx/>
              <a:buSzTx/>
              <a:buFontTx/>
              <a:buNone/>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andi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指令执行后，</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$t2=0xAAAA AAA0</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449580" defTabSz="914400" eaLnBrk="1" hangingPunct="1">
              <a:buClrTx/>
              <a:buSzTx/>
              <a:buFontTx/>
              <a:buNone/>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3. srl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指令执行后，</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$t2=0x1555 5555(</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逻辑右移</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endPar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R="0" indent="711200" defTabSz="914400" eaLnBrk="1" hangingPunct="1">
              <a:buClrTx/>
              <a:buSzTx/>
              <a:buFontTx/>
              <a:buNone/>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andi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指令执行后， </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$t2=0x0000 5545</a:t>
            </a:r>
            <a:endPar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grpSp>
        <p:nvGrpSpPr>
          <p:cNvPr id="54276" name="组合 9"/>
          <p:cNvGrpSpPr/>
          <p:nvPr/>
        </p:nvGrpSpPr>
        <p:grpSpPr>
          <a:xfrm>
            <a:off x="536575" y="1285875"/>
            <a:ext cx="8321675" cy="3100388"/>
            <a:chOff x="535789" y="1285860"/>
            <a:chExt cx="8322508" cy="3099730"/>
          </a:xfrm>
        </p:grpSpPr>
        <p:sp>
          <p:nvSpPr>
            <p:cNvPr id="6" name="TextBox 5"/>
            <p:cNvSpPr txBox="1"/>
            <p:nvPr/>
          </p:nvSpPr>
          <p:spPr>
            <a:xfrm>
              <a:off x="535789" y="1285860"/>
              <a:ext cx="8322508" cy="2831499"/>
            </a:xfrm>
            <a:prstGeom prst="rect">
              <a:avLst/>
            </a:prstGeom>
            <a:noFill/>
          </p:spPr>
          <p:txBody>
            <a:bodyPr>
              <a:spAutoFit/>
            </a:bodyPr>
            <a:lstStyle/>
            <a:p>
              <a:pPr marR="0" defTabSz="914400" eaLnBrk="1" hangingPunct="1">
                <a:buClrTx/>
                <a:buSzTx/>
                <a:buFontTx/>
                <a:buNone/>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例：若寄存器</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$t0=0xAAAA AAAA</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$t1=0x1234 5678</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。若执行下列指令序列后，</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则寄存器</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$t2</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的值分别是多少？</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276225" defTabSz="914400" eaLnBrk="1" hangingPunct="1">
                <a:spcAft>
                  <a:spcPts val="600"/>
                </a:spcAft>
                <a:buClrTx/>
                <a:buSzTx/>
                <a:buFont typeface="+mj-lt"/>
                <a:buAutoNum type="arabicPeriod"/>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序列</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1</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276225" defTabSz="914400" eaLnBrk="1" hangingPunct="1">
                <a:buClrTx/>
                <a:buSzTx/>
                <a:buFont typeface="+mj-lt"/>
                <a:buAutoNum type="arabicPeriod"/>
                <a:defRPr/>
              </a:pP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276225" defTabSz="914400" eaLnBrk="1" hangingPunct="1">
                <a:spcAft>
                  <a:spcPts val="600"/>
                </a:spcAft>
                <a:buClrTx/>
                <a:buSzTx/>
                <a:buFont typeface="+mj-lt"/>
                <a:buAutoNum type="arabicPeriod"/>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序列</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276225" defTabSz="914400" eaLnBrk="1" hangingPunct="1">
                <a:buClrTx/>
                <a:buSzTx/>
                <a:buFont typeface="+mj-lt"/>
                <a:buAutoNum type="arabicPeriod"/>
                <a:defRPr/>
              </a:pP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276225" defTabSz="914400" eaLnBrk="1" hangingPunct="1">
                <a:buClrTx/>
                <a:buSzTx/>
                <a:buFont typeface="+mj-lt"/>
                <a:buAutoNum type="arabicPeriod"/>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序列</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3</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pic>
          <p:nvPicPr>
            <p:cNvPr id="54278" name="Picture 5"/>
            <p:cNvPicPr>
              <a:picLocks noChangeAspect="1"/>
            </p:cNvPicPr>
            <p:nvPr/>
          </p:nvPicPr>
          <p:blipFill>
            <a:blip r:embed="rId1"/>
            <a:stretch>
              <a:fillRect/>
            </a:stretch>
          </p:blipFill>
          <p:spPr>
            <a:xfrm>
              <a:off x="2214546" y="2086193"/>
              <a:ext cx="2714644" cy="642942"/>
            </a:xfrm>
            <a:prstGeom prst="rect">
              <a:avLst/>
            </a:prstGeom>
            <a:noFill/>
            <a:ln w="9525">
              <a:noFill/>
            </a:ln>
          </p:spPr>
        </p:pic>
        <p:pic>
          <p:nvPicPr>
            <p:cNvPr id="54279" name="Picture 6"/>
            <p:cNvPicPr>
              <a:picLocks noChangeAspect="1"/>
            </p:cNvPicPr>
            <p:nvPr/>
          </p:nvPicPr>
          <p:blipFill>
            <a:blip r:embed="rId2"/>
            <a:stretch>
              <a:fillRect/>
            </a:stretch>
          </p:blipFill>
          <p:spPr>
            <a:xfrm>
              <a:off x="2169246" y="2928934"/>
              <a:ext cx="2902820" cy="642942"/>
            </a:xfrm>
            <a:prstGeom prst="rect">
              <a:avLst/>
            </a:prstGeom>
            <a:noFill/>
            <a:ln w="9525">
              <a:noFill/>
            </a:ln>
          </p:spPr>
        </p:pic>
        <p:pic>
          <p:nvPicPr>
            <p:cNvPr id="54280" name="Picture 7"/>
            <p:cNvPicPr>
              <a:picLocks noChangeAspect="1"/>
            </p:cNvPicPr>
            <p:nvPr/>
          </p:nvPicPr>
          <p:blipFill>
            <a:blip r:embed="rId3"/>
            <a:stretch>
              <a:fillRect/>
            </a:stretch>
          </p:blipFill>
          <p:spPr>
            <a:xfrm>
              <a:off x="2243574" y="3671210"/>
              <a:ext cx="3286148" cy="714380"/>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xfrm>
            <a:off x="571500" y="188913"/>
            <a:ext cx="8393113" cy="714375"/>
          </a:xfrm>
        </p:spPr>
        <p:txBody>
          <a:bodyPr vert="horz" wrap="square" lIns="91440" tIns="45720" rIns="91440" bIns="45720" anchor="b" anchorCtr="0"/>
          <a:p>
            <a:pPr eaLnBrk="1" hangingPunct="1"/>
            <a:r>
              <a:rPr lang="zh-CN" altLang="en-US" sz="3600" dirty="0"/>
              <a:t>八、关于运算精度的问题</a:t>
            </a:r>
            <a:endParaRPr lang="zh-CN" altLang="en-US" sz="3600" dirty="0"/>
          </a:p>
        </p:txBody>
      </p:sp>
      <p:sp>
        <p:nvSpPr>
          <p:cNvPr id="55299" name="Rectangle 3"/>
          <p:cNvSpPr>
            <a:spLocks noGrp="1"/>
          </p:cNvSpPr>
          <p:nvPr>
            <p:ph idx="1"/>
          </p:nvPr>
        </p:nvSpPr>
        <p:spPr>
          <a:xfrm>
            <a:off x="539750" y="1285875"/>
            <a:ext cx="8412163" cy="4521200"/>
          </a:xfrm>
        </p:spPr>
        <p:txBody>
          <a:bodyPr vert="horz" wrap="square" lIns="91440" tIns="45720" rIns="91440" bIns="45720" anchor="t" anchorCtr="0"/>
          <a:p>
            <a:pPr eaLnBrk="1" hangingPunct="1">
              <a:lnSpc>
                <a:spcPct val="120000"/>
              </a:lnSpc>
            </a:pPr>
            <a:r>
              <a:rPr lang="en-US" altLang="zh-CN" sz="2800" dirty="0">
                <a:latin typeface="Times New Roman" panose="02020603050405020304" pitchFamily="18" charset="0"/>
              </a:rPr>
              <a:t>double </a:t>
            </a:r>
            <a:r>
              <a:rPr lang="zh-CN" altLang="en-US" sz="2800" dirty="0">
                <a:latin typeface="Times New Roman" panose="02020603050405020304" pitchFamily="18" charset="0"/>
              </a:rPr>
              <a:t>型比</a:t>
            </a:r>
            <a:r>
              <a:rPr lang="en-US" altLang="zh-CN" sz="2800" dirty="0">
                <a:latin typeface="Times New Roman" panose="02020603050405020304" pitchFamily="18" charset="0"/>
              </a:rPr>
              <a:t>int </a:t>
            </a:r>
            <a:r>
              <a:rPr lang="zh-CN" altLang="en-US" sz="2800" dirty="0">
                <a:latin typeface="Times New Roman" panose="02020603050405020304" pitchFamily="18" charset="0"/>
              </a:rPr>
              <a:t>型精度高 </a:t>
            </a:r>
            <a:endParaRPr lang="zh-CN" altLang="en-US" sz="2800" dirty="0">
              <a:latin typeface="Times New Roman" panose="02020603050405020304" pitchFamily="18" charset="0"/>
            </a:endParaRPr>
          </a:p>
          <a:p>
            <a:pPr eaLnBrk="1" hangingPunct="1">
              <a:lnSpc>
                <a:spcPct val="120000"/>
              </a:lnSpc>
            </a:pPr>
            <a:r>
              <a:rPr lang="en-US" altLang="zh-CN" sz="2800" dirty="0">
                <a:latin typeface="Times New Roman" panose="02020603050405020304" pitchFamily="18" charset="0"/>
              </a:rPr>
              <a:t>double </a:t>
            </a:r>
            <a:r>
              <a:rPr lang="zh-CN" altLang="en-US" sz="2800" dirty="0">
                <a:latin typeface="Times New Roman" panose="02020603050405020304" pitchFamily="18" charset="0"/>
              </a:rPr>
              <a:t>型比</a:t>
            </a:r>
            <a:r>
              <a:rPr lang="en-US" altLang="zh-CN" sz="2800" dirty="0">
                <a:latin typeface="Times New Roman" panose="02020603050405020304" pitchFamily="18" charset="0"/>
              </a:rPr>
              <a:t>float </a:t>
            </a:r>
            <a:r>
              <a:rPr lang="zh-CN" altLang="en-US" sz="2800" dirty="0">
                <a:latin typeface="Times New Roman" panose="02020603050405020304" pitchFamily="18" charset="0"/>
              </a:rPr>
              <a:t>型精度高 </a:t>
            </a:r>
            <a:endParaRPr lang="zh-CN" altLang="en-US" sz="2800" dirty="0">
              <a:latin typeface="Times New Roman" panose="02020603050405020304" pitchFamily="18" charset="0"/>
            </a:endParaRPr>
          </a:p>
          <a:p>
            <a:pPr eaLnBrk="1" hangingPunct="1">
              <a:lnSpc>
                <a:spcPct val="120000"/>
              </a:lnSpc>
            </a:pPr>
            <a:r>
              <a:rPr lang="en-US" altLang="zh-CN" sz="2800" dirty="0">
                <a:latin typeface="Times New Roman" panose="02020603050405020304" pitchFamily="18" charset="0"/>
              </a:rPr>
              <a:t>int </a:t>
            </a:r>
            <a:r>
              <a:rPr lang="zh-CN" altLang="en-US" sz="2800" dirty="0">
                <a:latin typeface="Times New Roman" panose="02020603050405020304" pitchFamily="18" charset="0"/>
              </a:rPr>
              <a:t>型比</a:t>
            </a:r>
            <a:r>
              <a:rPr lang="en-US" altLang="zh-CN" sz="2800" dirty="0">
                <a:latin typeface="Times New Roman" panose="02020603050405020304" pitchFamily="18" charset="0"/>
              </a:rPr>
              <a:t>float </a:t>
            </a:r>
            <a:r>
              <a:rPr lang="zh-CN" altLang="en-US" sz="2800" dirty="0">
                <a:latin typeface="Times New Roman" panose="02020603050405020304" pitchFamily="18" charset="0"/>
              </a:rPr>
              <a:t>型精度高</a:t>
            </a:r>
            <a:endParaRPr lang="zh-CN" altLang="en-US" sz="2800" dirty="0">
              <a:latin typeface="Times New Roman" panose="02020603050405020304" pitchFamily="18" charset="0"/>
            </a:endParaRPr>
          </a:p>
          <a:p>
            <a:pPr eaLnBrk="1" hangingPunct="1">
              <a:lnSpc>
                <a:spcPct val="120000"/>
              </a:lnSpc>
            </a:pPr>
            <a:r>
              <a:rPr lang="zh-CN" altLang="zh-CN" sz="2800" dirty="0">
                <a:latin typeface="Times New Roman" panose="02020603050405020304" pitchFamily="18" charset="0"/>
              </a:rPr>
              <a:t>float 型有小数部分，而int 型没有小数部分</a:t>
            </a:r>
            <a:endParaRPr lang="en-US" altLang="zh-CN" sz="2800" dirty="0">
              <a:latin typeface="Times New Roman" panose="02020603050405020304" pitchFamily="18" charset="0"/>
            </a:endParaRPr>
          </a:p>
        </p:txBody>
      </p:sp>
      <p:sp>
        <p:nvSpPr>
          <p:cNvPr id="4" name="圆角矩形标注 3"/>
          <p:cNvSpPr/>
          <p:nvPr/>
        </p:nvSpPr>
        <p:spPr>
          <a:xfrm>
            <a:off x="1000125" y="3714750"/>
            <a:ext cx="7429500" cy="2500313"/>
          </a:xfrm>
          <a:prstGeom prst="wedgeRoundRectCallout">
            <a:avLst>
              <a:gd name="adj1" fmla="val -21810"/>
              <a:gd name="adj2" fmla="val 48955"/>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76200" marR="0" lvl="0" indent="-2667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a:ea typeface="+mn-ea"/>
                <a:cs typeface="+mn-cs"/>
              </a:rPr>
              <a:t>短数转为长数</a:t>
            </a:r>
            <a:r>
              <a:rPr kumimoji="0" lang="en-US" altLang="zh-CN" sz="2400" b="1" i="0" u="none" strike="noStrike" kern="0" cap="none" spc="0" normalizeH="0" baseline="0" noProof="0" dirty="0">
                <a:ln>
                  <a:noFill/>
                </a:ln>
                <a:solidFill>
                  <a:srgbClr val="000000"/>
                </a:solidFill>
                <a:effectLst/>
                <a:uLnTx/>
                <a:uFillTx/>
                <a:latin typeface="Times New Roman" panose="02020603050405020304"/>
                <a:ea typeface="+mn-ea"/>
                <a:cs typeface="+mn-cs"/>
              </a:rPr>
              <a:t>—</a:t>
            </a:r>
            <a:r>
              <a:rPr kumimoji="0" lang="zh-CN" altLang="en-US" sz="2400" b="1" i="0" u="none" strike="noStrike" kern="0" cap="none" spc="0" normalizeH="0" baseline="0" noProof="0" dirty="0">
                <a:ln>
                  <a:noFill/>
                </a:ln>
                <a:solidFill>
                  <a:srgbClr val="FF0000"/>
                </a:solidFill>
                <a:effectLst/>
                <a:uLnTx/>
                <a:uFillTx/>
                <a:latin typeface="Times New Roman" panose="02020603050405020304"/>
                <a:ea typeface="+mn-ea"/>
                <a:cs typeface="+mn-cs"/>
              </a:rPr>
              <a:t>位扩展</a:t>
            </a:r>
            <a:endParaRPr kumimoji="0" lang="zh-CN" altLang="en-US" sz="2400" b="1" i="0" u="none" strike="noStrike" kern="0" cap="none" spc="0" normalizeH="0" baseline="0" noProof="0" dirty="0">
              <a:ln>
                <a:noFill/>
              </a:ln>
              <a:solidFill>
                <a:srgbClr val="FF0000"/>
              </a:solidFill>
              <a:effectLst/>
              <a:uLnTx/>
              <a:uFillTx/>
              <a:latin typeface="Times New Roman" panose="02020603050405020304"/>
              <a:ea typeface="+mn-ea"/>
              <a:cs typeface="+mn-cs"/>
            </a:endParaRPr>
          </a:p>
          <a:p>
            <a:pPr marL="624205" marR="0" lvl="1" indent="-260350" algn="l" defTabSz="914400" rtl="0" eaLnBrk="0" fontAlgn="base" latinLnBrk="0" hangingPunct="0">
              <a:lnSpc>
                <a:spcPct val="100000"/>
              </a:lnSpc>
              <a:spcBef>
                <a:spcPts val="0"/>
              </a:spcBef>
              <a:spcAft>
                <a:spcPct val="0"/>
              </a:spcAft>
              <a:buClr>
                <a:srgbClr val="000000"/>
              </a:buClr>
              <a:buSzPct val="80000"/>
              <a:buFont typeface="Wingdings" panose="05000000000000000000" pitchFamily="2" charset="2"/>
              <a:buChar char="ü"/>
              <a:defRPr/>
            </a:pPr>
            <a:r>
              <a:rPr kumimoji="0" lang="zh-CN" altLang="en-US" sz="2400" b="1" i="0" u="none" strike="noStrike" kern="0" cap="none" spc="0" normalizeH="0" baseline="0" noProof="0" dirty="0">
                <a:ln>
                  <a:noFill/>
                </a:ln>
                <a:solidFill>
                  <a:srgbClr val="0000CC"/>
                </a:solidFill>
                <a:effectLst/>
                <a:uLnTx/>
                <a:uFillTx/>
                <a:latin typeface="Times New Roman" panose="02020603050405020304"/>
                <a:ea typeface="+mn-ea"/>
                <a:cs typeface="+mn-cs"/>
              </a:rPr>
              <a:t>无符号数：</a:t>
            </a:r>
            <a:r>
              <a:rPr kumimoji="0" lang="en-US" altLang="zh-CN" sz="2400" b="1" i="0" u="none" strike="noStrike" kern="0" cap="none" spc="0" normalizeH="0" baseline="0" noProof="0" dirty="0">
                <a:ln>
                  <a:noFill/>
                </a:ln>
                <a:solidFill>
                  <a:srgbClr val="FF0000"/>
                </a:solidFill>
                <a:effectLst/>
                <a:uLnTx/>
                <a:uFillTx/>
                <a:latin typeface="Times New Roman" panose="02020603050405020304"/>
                <a:ea typeface="+mn-ea"/>
                <a:cs typeface="+mn-cs"/>
              </a:rPr>
              <a:t>0</a:t>
            </a:r>
            <a:r>
              <a:rPr kumimoji="0" lang="zh-CN" altLang="en-US" sz="2400" b="1" i="0" u="none" strike="noStrike" kern="0" cap="none" spc="0" normalizeH="0" baseline="0" noProof="0" dirty="0">
                <a:ln>
                  <a:noFill/>
                </a:ln>
                <a:solidFill>
                  <a:srgbClr val="FF0000"/>
                </a:solidFill>
                <a:effectLst/>
                <a:uLnTx/>
                <a:uFillTx/>
                <a:latin typeface="Times New Roman" panose="02020603050405020304"/>
                <a:ea typeface="+mn-ea"/>
                <a:cs typeface="+mn-cs"/>
              </a:rPr>
              <a:t>扩展，即：前面补</a:t>
            </a:r>
            <a:r>
              <a:rPr kumimoji="0" lang="zh-CN" altLang="en-US" sz="2400" b="1" i="0" u="none" strike="noStrike" kern="0" cap="none" spc="0" normalizeH="0" baseline="0" noProof="0" dirty="0">
                <a:ln>
                  <a:noFill/>
                </a:ln>
                <a:solidFill>
                  <a:srgbClr val="0000FF"/>
                </a:solidFill>
                <a:effectLst/>
                <a:uLnTx/>
                <a:uFillTx/>
                <a:latin typeface="Times New Roman" panose="02020603050405020304"/>
                <a:ea typeface="+mn-ea"/>
                <a:cs typeface="+mn-cs"/>
              </a:rPr>
              <a:t>“</a:t>
            </a:r>
            <a:r>
              <a:rPr kumimoji="0" lang="en-US" altLang="zh-CN" sz="2400" b="1" i="0" u="none" strike="noStrike" kern="0" cap="none" spc="0" normalizeH="0" baseline="0" noProof="0" dirty="0">
                <a:ln>
                  <a:noFill/>
                </a:ln>
                <a:solidFill>
                  <a:srgbClr val="0000FF"/>
                </a:solidFill>
                <a:effectLst/>
                <a:uLnTx/>
                <a:uFillTx/>
                <a:latin typeface="Times New Roman" panose="02020603050405020304"/>
                <a:ea typeface="+mn-ea"/>
                <a:cs typeface="+mn-cs"/>
              </a:rPr>
              <a:t>0 </a:t>
            </a:r>
            <a:r>
              <a:rPr kumimoji="0" lang="zh-CN" altLang="en-US" sz="2400" b="1" i="0" u="none" strike="noStrike" kern="0" cap="none" spc="0" normalizeH="0" baseline="0" noProof="0" dirty="0">
                <a:ln>
                  <a:noFill/>
                </a:ln>
                <a:solidFill>
                  <a:srgbClr val="0000FF"/>
                </a:solidFill>
                <a:effectLst/>
                <a:uLnTx/>
                <a:uFillTx/>
                <a:latin typeface="Times New Roman" panose="02020603050405020304"/>
                <a:ea typeface="+mn-ea"/>
                <a:cs typeface="+mn-cs"/>
              </a:rPr>
              <a:t>”</a:t>
            </a:r>
            <a:endParaRPr kumimoji="0" lang="en-US" altLang="zh-CN" sz="2400" b="1" i="0" u="none" strike="noStrike" kern="0" cap="none" spc="0" normalizeH="0" baseline="0" noProof="0" dirty="0">
              <a:ln>
                <a:noFill/>
              </a:ln>
              <a:solidFill>
                <a:srgbClr val="0000FF"/>
              </a:solidFill>
              <a:effectLst/>
              <a:uLnTx/>
              <a:uFillTx/>
              <a:latin typeface="Times New Roman" panose="02020603050405020304"/>
              <a:ea typeface="+mn-ea"/>
              <a:cs typeface="+mn-cs"/>
            </a:endParaRPr>
          </a:p>
          <a:p>
            <a:pPr marL="624205" marR="0" lvl="1" indent="-260350" algn="l" defTabSz="914400" rtl="0" eaLnBrk="0" fontAlgn="base" latinLnBrk="0" hangingPunct="0">
              <a:lnSpc>
                <a:spcPct val="100000"/>
              </a:lnSpc>
              <a:spcBef>
                <a:spcPts val="0"/>
              </a:spcBef>
              <a:spcAft>
                <a:spcPct val="0"/>
              </a:spcAft>
              <a:buClr>
                <a:srgbClr val="000000"/>
              </a:buClr>
              <a:buSzPct val="80000"/>
              <a:buFont typeface="Wingdings" panose="05000000000000000000" pitchFamily="2" charset="2"/>
              <a:buChar char="ü"/>
              <a:defRPr/>
            </a:pPr>
            <a:r>
              <a:rPr kumimoji="0" lang="zh-CN" altLang="en-US" sz="2400" b="1" i="0" u="none" strike="noStrike" kern="0" cap="none" spc="0" normalizeH="0" baseline="0" noProof="0" dirty="0">
                <a:ln>
                  <a:noFill/>
                </a:ln>
                <a:solidFill>
                  <a:srgbClr val="0000CC"/>
                </a:solidFill>
                <a:effectLst/>
                <a:uLnTx/>
                <a:uFillTx/>
                <a:latin typeface="Times New Roman" panose="02020603050405020304"/>
                <a:ea typeface="+mn-ea"/>
                <a:cs typeface="+mn-cs"/>
              </a:rPr>
              <a:t>有符号整数：</a:t>
            </a:r>
            <a:r>
              <a:rPr kumimoji="0" lang="zh-CN" altLang="en-US" sz="2400" b="1" i="0" u="none" strike="noStrike" kern="0" cap="none" spc="0" normalizeH="0" baseline="0" noProof="0" dirty="0">
                <a:ln>
                  <a:noFill/>
                </a:ln>
                <a:solidFill>
                  <a:srgbClr val="FF0000"/>
                </a:solidFill>
                <a:effectLst/>
                <a:uLnTx/>
                <a:uFillTx/>
                <a:latin typeface="Times New Roman" panose="02020603050405020304"/>
                <a:ea typeface="+mn-ea"/>
                <a:cs typeface="+mn-cs"/>
              </a:rPr>
              <a:t>符号扩展，即：前面补</a:t>
            </a:r>
            <a:r>
              <a:rPr kumimoji="0" lang="zh-CN" altLang="en-US" sz="2400" b="1" i="0" u="none" strike="noStrike" kern="0" cap="none" spc="0" normalizeH="0" baseline="0" noProof="0" dirty="0">
                <a:ln>
                  <a:noFill/>
                </a:ln>
                <a:solidFill>
                  <a:srgbClr val="0000FF"/>
                </a:solidFill>
                <a:effectLst/>
                <a:uLnTx/>
                <a:uFillTx/>
                <a:latin typeface="Times New Roman" panose="02020603050405020304"/>
                <a:ea typeface="+mn-ea"/>
                <a:cs typeface="+mn-cs"/>
              </a:rPr>
              <a:t>“数符”</a:t>
            </a:r>
            <a:endParaRPr kumimoji="0" lang="zh-CN" altLang="en-US" sz="2400" b="1" i="0" u="none" strike="noStrike" kern="0" cap="none" spc="0" normalizeH="0" baseline="0" noProof="0" dirty="0">
              <a:ln>
                <a:noFill/>
              </a:ln>
              <a:solidFill>
                <a:srgbClr val="0000FF"/>
              </a:solidFill>
              <a:effectLst/>
              <a:uLnTx/>
              <a:uFillTx/>
              <a:latin typeface="Times New Roman" panose="02020603050405020304"/>
              <a:ea typeface="+mn-ea"/>
              <a:cs typeface="+mn-cs"/>
            </a:endParaRPr>
          </a:p>
          <a:p>
            <a:pPr marL="76200" marR="0" lvl="0" indent="-2667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a:ea typeface="+mn-ea"/>
                <a:cs typeface="+mn-cs"/>
              </a:rPr>
              <a:t>长数转为短数</a:t>
            </a:r>
            <a:r>
              <a:rPr kumimoji="0" lang="en-US" altLang="zh-CN" sz="2400" b="1" i="0" u="none" strike="noStrike" kern="0" cap="none" spc="0" normalizeH="0" baseline="0" noProof="0" dirty="0">
                <a:ln>
                  <a:noFill/>
                </a:ln>
                <a:solidFill>
                  <a:srgbClr val="000000"/>
                </a:solidFill>
                <a:effectLst/>
                <a:uLnTx/>
                <a:uFillTx/>
                <a:latin typeface="Times New Roman" panose="02020603050405020304"/>
                <a:ea typeface="+mn-ea"/>
                <a:cs typeface="+mn-cs"/>
              </a:rPr>
              <a:t>—</a:t>
            </a:r>
            <a:r>
              <a:rPr kumimoji="0" lang="zh-CN" altLang="en-US" sz="2400" b="1" i="0" u="none" strike="noStrike" kern="0" cap="none" spc="0" normalizeH="0" baseline="0" noProof="0" dirty="0">
                <a:ln>
                  <a:noFill/>
                </a:ln>
                <a:solidFill>
                  <a:srgbClr val="FF0000"/>
                </a:solidFill>
                <a:effectLst/>
                <a:uLnTx/>
                <a:uFillTx/>
                <a:latin typeface="Times New Roman" panose="02020603050405020304"/>
                <a:ea typeface="+mn-ea"/>
                <a:cs typeface="+mn-cs"/>
              </a:rPr>
              <a:t>位截断</a:t>
            </a:r>
            <a:endParaRPr kumimoji="0" lang="zh-CN" altLang="en-US" sz="2400" b="1" i="0" u="none" strike="noStrike" kern="0" cap="none" spc="0" normalizeH="0" baseline="0" noProof="0" dirty="0">
              <a:ln>
                <a:noFill/>
              </a:ln>
              <a:solidFill>
                <a:srgbClr val="000000"/>
              </a:solidFill>
              <a:effectLst/>
              <a:uLnTx/>
              <a:uFillTx/>
              <a:latin typeface="Times New Roman" panose="02020603050405020304"/>
              <a:ea typeface="+mn-ea"/>
              <a:cs typeface="+mn-cs"/>
            </a:endParaRPr>
          </a:p>
          <a:p>
            <a:pPr marL="624205" marR="0" lvl="1" indent="-260350" algn="l" defTabSz="914400" rtl="0" eaLnBrk="0" fontAlgn="base" latinLnBrk="0" hangingPunct="0">
              <a:lnSpc>
                <a:spcPct val="100000"/>
              </a:lnSpc>
              <a:spcBef>
                <a:spcPts val="0"/>
              </a:spcBef>
              <a:spcAft>
                <a:spcPct val="0"/>
              </a:spcAft>
              <a:buClr>
                <a:srgbClr val="000000"/>
              </a:buClr>
              <a:buSzPct val="80000"/>
              <a:buFont typeface="Wingdings" panose="05000000000000000000" pitchFamily="2" charset="2"/>
              <a:buChar char="ü"/>
              <a:defRPr/>
            </a:pPr>
            <a:r>
              <a:rPr kumimoji="0" lang="zh-CN" altLang="en-US" sz="2400" b="1" i="0" u="none" strike="noStrike" kern="0" cap="none" spc="0" normalizeH="0" baseline="0" noProof="0" dirty="0">
                <a:ln>
                  <a:noFill/>
                </a:ln>
                <a:solidFill>
                  <a:srgbClr val="0000CC"/>
                </a:solidFill>
                <a:effectLst/>
                <a:uLnTx/>
                <a:uFillTx/>
                <a:latin typeface="Times New Roman" panose="02020603050405020304"/>
                <a:ea typeface="+mn-ea"/>
                <a:cs typeface="+mn-cs"/>
              </a:rPr>
              <a:t>强行将一个长数的高位丢弃</a:t>
            </a:r>
            <a:endParaRPr kumimoji="0" lang="en-US" altLang="zh-CN" sz="2400" b="1" i="0" u="none" strike="noStrike" kern="0" cap="none" spc="0" normalizeH="0" baseline="0" noProof="0" dirty="0">
              <a:ln>
                <a:noFill/>
              </a:ln>
              <a:solidFill>
                <a:srgbClr val="0000CC"/>
              </a:solidFill>
              <a:effectLst/>
              <a:uLnTx/>
              <a:uFillTx/>
              <a:latin typeface="Times New Roman" panose="02020603050405020304"/>
              <a:ea typeface="+mn-ea"/>
              <a:cs typeface="+mn-cs"/>
            </a:endParaRPr>
          </a:p>
          <a:p>
            <a:pPr marL="624205" marR="0" lvl="1" indent="-260350" algn="l" defTabSz="914400" rtl="0" eaLnBrk="0" fontAlgn="base" latinLnBrk="0" hangingPunct="0">
              <a:lnSpc>
                <a:spcPct val="100000"/>
              </a:lnSpc>
              <a:spcBef>
                <a:spcPts val="0"/>
              </a:spcBef>
              <a:spcAft>
                <a:spcPct val="0"/>
              </a:spcAft>
              <a:buClr>
                <a:srgbClr val="000000"/>
              </a:buClr>
              <a:buSzPct val="80000"/>
              <a:buFont typeface="Wingdings" panose="05000000000000000000" pitchFamily="2" charset="2"/>
              <a:buChar char="ü"/>
              <a:defRPr/>
            </a:pPr>
            <a:r>
              <a:rPr kumimoji="0" lang="zh-CN" altLang="en-US" sz="2400" b="1" i="0" u="none" strike="noStrike" kern="0" cap="none" spc="0" normalizeH="0" baseline="0" noProof="0" dirty="0">
                <a:ln>
                  <a:noFill/>
                </a:ln>
                <a:solidFill>
                  <a:srgbClr val="0000CC"/>
                </a:solidFill>
                <a:effectLst/>
                <a:uLnTx/>
                <a:uFillTx/>
                <a:latin typeface="Times New Roman" panose="02020603050405020304"/>
                <a:ea typeface="+mn-ea"/>
                <a:cs typeface="+mn-cs"/>
              </a:rPr>
              <a:t>可能会发生数据“溢出”或 数据不正确</a:t>
            </a:r>
            <a:endParaRPr kumimoji="0" lang="zh-CN" altLang="en-US" sz="2000" b="0"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p:txBody>
          <a:bodyPr vert="horz" wrap="square" lIns="91440" tIns="45720" rIns="91440" bIns="45720" anchor="b" anchorCtr="0"/>
          <a:p>
            <a:pPr eaLnBrk="1" hangingPunct="1"/>
            <a:r>
              <a:rPr lang="zh-CN" altLang="en-US" sz="3600" dirty="0"/>
              <a:t>运算精度举例</a:t>
            </a:r>
            <a:endParaRPr lang="en-US" altLang="zh-CN" sz="3600" dirty="0"/>
          </a:p>
        </p:txBody>
      </p:sp>
      <p:sp>
        <p:nvSpPr>
          <p:cNvPr id="30723" name="Rectangle 3"/>
          <p:cNvSpPr>
            <a:spLocks noGrp="1" noChangeArrowheads="1"/>
          </p:cNvSpPr>
          <p:nvPr>
            <p:ph idx="1"/>
          </p:nvPr>
        </p:nvSpPr>
        <p:spPr>
          <a:xfrm>
            <a:off x="539750" y="1125538"/>
            <a:ext cx="8353425" cy="2395538"/>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假定变量</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是一个</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32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位的</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int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型整数，</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f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d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分别为</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float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型</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(32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位</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double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型</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(64</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位</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实数。</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x</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y</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z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是</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float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型</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(32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位</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或</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double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型</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(64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位</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实数。分析下列各布尔表达式，说明结果是否在任何情况下都是“</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true”</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1) i == (int) ((double) i)</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2) f == (float) ((int) f)</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 f == (float) ((double) f)</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4) d == (double) ((float) d) </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p:txBody>
      </p:sp>
      <p:sp>
        <p:nvSpPr>
          <p:cNvPr id="1223684" name="Rectangle 4"/>
          <p:cNvSpPr/>
          <p:nvPr/>
        </p:nvSpPr>
        <p:spPr>
          <a:xfrm>
            <a:off x="539750" y="3860800"/>
            <a:ext cx="8424863" cy="2771775"/>
          </a:xfrm>
          <a:prstGeom prst="rect">
            <a:avLst/>
          </a:prstGeom>
          <a:noFill/>
          <a:ln w="9525">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r>
              <a:rPr lang="zh-CN" altLang="en-US" sz="2200" dirty="0">
                <a:latin typeface="Times New Roman" panose="02020603050405020304" pitchFamily="18" charset="0"/>
              </a:rPr>
              <a:t>解：</a:t>
            </a:r>
            <a:r>
              <a:rPr lang="en-US" altLang="zh-CN" sz="2200" dirty="0">
                <a:latin typeface="Times New Roman" panose="02020603050405020304" pitchFamily="18" charset="0"/>
              </a:rPr>
              <a:t>1) </a:t>
            </a:r>
            <a:r>
              <a:rPr lang="zh-CN" altLang="en-US" sz="2200" dirty="0">
                <a:latin typeface="Times New Roman" panose="02020603050405020304" pitchFamily="18" charset="0"/>
              </a:rPr>
              <a:t>是。因为</a:t>
            </a:r>
            <a:r>
              <a:rPr lang="en-US" altLang="zh-CN" sz="2200" dirty="0">
                <a:latin typeface="Times New Roman" panose="02020603050405020304" pitchFamily="18" charset="0"/>
              </a:rPr>
              <a:t>double </a:t>
            </a:r>
            <a:r>
              <a:rPr lang="zh-CN" altLang="en-US" sz="2200" dirty="0">
                <a:latin typeface="Times New Roman" panose="02020603050405020304" pitchFamily="18" charset="0"/>
              </a:rPr>
              <a:t>型比</a:t>
            </a:r>
            <a:r>
              <a:rPr lang="en-US" altLang="zh-CN" sz="2200" dirty="0">
                <a:latin typeface="Times New Roman" panose="02020603050405020304" pitchFamily="18" charset="0"/>
              </a:rPr>
              <a:t>int </a:t>
            </a:r>
            <a:r>
              <a:rPr lang="zh-CN" altLang="en-US" sz="2200" dirty="0">
                <a:latin typeface="Times New Roman" panose="02020603050405020304" pitchFamily="18" charset="0"/>
              </a:rPr>
              <a:t>型精度高，所以</a:t>
            </a:r>
            <a:r>
              <a:rPr lang="en-US" altLang="zh-CN" sz="2200" dirty="0">
                <a:latin typeface="Times New Roman" panose="02020603050405020304" pitchFamily="18" charset="0"/>
              </a:rPr>
              <a:t>int </a:t>
            </a:r>
            <a:r>
              <a:rPr lang="zh-CN" altLang="en-US" sz="2200" dirty="0">
                <a:latin typeface="Times New Roman" panose="02020603050405020304" pitchFamily="18" charset="0"/>
              </a:rPr>
              <a:t>型变量转换为</a:t>
            </a:r>
            <a:r>
              <a:rPr lang="en-US" altLang="zh-CN" sz="2200" dirty="0">
                <a:latin typeface="Times New Roman" panose="02020603050405020304" pitchFamily="18" charset="0"/>
              </a:rPr>
              <a:t>double </a:t>
            </a:r>
            <a:r>
              <a:rPr lang="zh-CN" altLang="en-US" sz="2200" dirty="0">
                <a:latin typeface="Times New Roman" panose="02020603050405020304" pitchFamily="18" charset="0"/>
              </a:rPr>
              <a:t>时不会有精度损失。</a:t>
            </a:r>
            <a:endParaRPr lang="zh-CN" altLang="en-US" sz="2200" dirty="0">
              <a:latin typeface="Times New Roman" panose="02020603050405020304" pitchFamily="18" charset="0"/>
            </a:endParaRPr>
          </a:p>
          <a:p>
            <a:pPr marL="0" lvl="0" indent="0" eaLnBrk="1" hangingPunct="1">
              <a:spcBef>
                <a:spcPct val="0"/>
              </a:spcBef>
              <a:buFontTx/>
              <a:buNone/>
            </a:pPr>
            <a:r>
              <a:rPr lang="en-US" altLang="zh-CN" sz="2200" dirty="0">
                <a:latin typeface="Times New Roman" panose="02020603050405020304" pitchFamily="18" charset="0"/>
              </a:rPr>
              <a:t>2) </a:t>
            </a:r>
            <a:r>
              <a:rPr lang="zh-CN" altLang="en-US" sz="2200" dirty="0">
                <a:latin typeface="Times New Roman" panose="02020603050405020304" pitchFamily="18" charset="0"/>
              </a:rPr>
              <a:t>不是。因为</a:t>
            </a:r>
            <a:r>
              <a:rPr lang="en-US" altLang="zh-CN" sz="2200" dirty="0">
                <a:latin typeface="Times New Roman" panose="02020603050405020304" pitchFamily="18" charset="0"/>
              </a:rPr>
              <a:t>float </a:t>
            </a:r>
            <a:r>
              <a:rPr lang="zh-CN" altLang="en-US" sz="2200" dirty="0">
                <a:latin typeface="Times New Roman" panose="02020603050405020304" pitchFamily="18" charset="0"/>
              </a:rPr>
              <a:t>型有小数部分，而</a:t>
            </a:r>
            <a:r>
              <a:rPr lang="en-US" altLang="zh-CN" sz="2200" dirty="0">
                <a:latin typeface="Times New Roman" panose="02020603050405020304" pitchFamily="18" charset="0"/>
              </a:rPr>
              <a:t>int </a:t>
            </a:r>
            <a:r>
              <a:rPr lang="zh-CN" altLang="en-US" sz="2200" dirty="0">
                <a:latin typeface="Times New Roman" panose="02020603050405020304" pitchFamily="18" charset="0"/>
              </a:rPr>
              <a:t>型没有小数部分，所以把</a:t>
            </a:r>
            <a:r>
              <a:rPr lang="en-US" altLang="zh-CN" sz="2200" dirty="0">
                <a:latin typeface="Times New Roman" panose="02020603050405020304" pitchFamily="18" charset="0"/>
              </a:rPr>
              <a:t>float </a:t>
            </a:r>
            <a:r>
              <a:rPr lang="zh-CN" altLang="en-US" sz="2200" dirty="0">
                <a:latin typeface="Times New Roman" panose="02020603050405020304" pitchFamily="18" charset="0"/>
              </a:rPr>
              <a:t>型变量转换为</a:t>
            </a:r>
            <a:r>
              <a:rPr lang="en-US" altLang="zh-CN" sz="2200" dirty="0">
                <a:latin typeface="Times New Roman" panose="02020603050405020304" pitchFamily="18" charset="0"/>
              </a:rPr>
              <a:t>int</a:t>
            </a:r>
            <a:r>
              <a:rPr lang="zh-CN" altLang="en-US" sz="2200" dirty="0">
                <a:latin typeface="Times New Roman" panose="02020603050405020304" pitchFamily="18" charset="0"/>
              </a:rPr>
              <a:t>型时，可能会丢失小数部分。</a:t>
            </a:r>
            <a:endParaRPr lang="zh-CN" altLang="en-US" sz="2200" dirty="0">
              <a:latin typeface="Times New Roman" panose="02020603050405020304" pitchFamily="18" charset="0"/>
            </a:endParaRPr>
          </a:p>
          <a:p>
            <a:pPr marL="0" lvl="0" indent="0" eaLnBrk="1" hangingPunct="1">
              <a:spcBef>
                <a:spcPct val="0"/>
              </a:spcBef>
              <a:buFontTx/>
              <a:buNone/>
            </a:pPr>
            <a:r>
              <a:rPr lang="en-US" altLang="zh-CN" sz="2200" dirty="0">
                <a:latin typeface="Times New Roman" panose="02020603050405020304" pitchFamily="18" charset="0"/>
              </a:rPr>
              <a:t>3) </a:t>
            </a:r>
            <a:r>
              <a:rPr lang="zh-CN" altLang="en-US" sz="2200" dirty="0">
                <a:latin typeface="Times New Roman" panose="02020603050405020304" pitchFamily="18" charset="0"/>
              </a:rPr>
              <a:t>是。因为</a:t>
            </a:r>
            <a:r>
              <a:rPr lang="en-US" altLang="zh-CN" sz="2200" dirty="0">
                <a:latin typeface="Times New Roman" panose="02020603050405020304" pitchFamily="18" charset="0"/>
              </a:rPr>
              <a:t>double </a:t>
            </a:r>
            <a:r>
              <a:rPr lang="zh-CN" altLang="en-US" sz="2200" dirty="0">
                <a:latin typeface="Times New Roman" panose="02020603050405020304" pitchFamily="18" charset="0"/>
              </a:rPr>
              <a:t>型比</a:t>
            </a:r>
            <a:r>
              <a:rPr lang="en-US" altLang="zh-CN" sz="2200" dirty="0">
                <a:latin typeface="Times New Roman" panose="02020603050405020304" pitchFamily="18" charset="0"/>
              </a:rPr>
              <a:t>float </a:t>
            </a:r>
            <a:r>
              <a:rPr lang="zh-CN" altLang="en-US" sz="2200" dirty="0">
                <a:latin typeface="Times New Roman" panose="02020603050405020304" pitchFamily="18" charset="0"/>
              </a:rPr>
              <a:t>型精度高，所以</a:t>
            </a:r>
            <a:r>
              <a:rPr lang="en-US" altLang="zh-CN" sz="2200" dirty="0">
                <a:latin typeface="Times New Roman" panose="02020603050405020304" pitchFamily="18" charset="0"/>
              </a:rPr>
              <a:t>float </a:t>
            </a:r>
            <a:r>
              <a:rPr lang="zh-CN" altLang="en-US" sz="2200" dirty="0">
                <a:latin typeface="Times New Roman" panose="02020603050405020304" pitchFamily="18" charset="0"/>
              </a:rPr>
              <a:t>型变量转换为</a:t>
            </a:r>
            <a:r>
              <a:rPr lang="en-US" altLang="zh-CN" sz="2200" dirty="0">
                <a:latin typeface="Times New Roman" panose="02020603050405020304" pitchFamily="18" charset="0"/>
              </a:rPr>
              <a:t>double </a:t>
            </a:r>
            <a:r>
              <a:rPr lang="zh-CN" altLang="en-US" sz="2200" dirty="0">
                <a:latin typeface="Times New Roman" panose="02020603050405020304" pitchFamily="18" charset="0"/>
              </a:rPr>
              <a:t>时不会有精度损失。</a:t>
            </a:r>
            <a:endParaRPr lang="zh-CN" altLang="en-US" sz="2200" dirty="0">
              <a:latin typeface="Times New Roman" panose="02020603050405020304" pitchFamily="18" charset="0"/>
            </a:endParaRPr>
          </a:p>
          <a:p>
            <a:pPr marL="0" lvl="0" indent="0" eaLnBrk="1" hangingPunct="1">
              <a:spcBef>
                <a:spcPct val="0"/>
              </a:spcBef>
              <a:buFontTx/>
              <a:buNone/>
            </a:pPr>
            <a:r>
              <a:rPr lang="en-US" altLang="zh-CN" sz="2200" dirty="0">
                <a:latin typeface="Times New Roman" panose="02020603050405020304" pitchFamily="18" charset="0"/>
              </a:rPr>
              <a:t>4) </a:t>
            </a:r>
            <a:r>
              <a:rPr lang="zh-CN" altLang="en-US" sz="2200" dirty="0">
                <a:latin typeface="Times New Roman" panose="02020603050405020304" pitchFamily="18" charset="0"/>
              </a:rPr>
              <a:t>不是。因为</a:t>
            </a:r>
            <a:r>
              <a:rPr lang="en-US" altLang="zh-CN" sz="2200" dirty="0">
                <a:latin typeface="Times New Roman" panose="02020603050405020304" pitchFamily="18" charset="0"/>
              </a:rPr>
              <a:t>float </a:t>
            </a:r>
            <a:r>
              <a:rPr lang="zh-CN" altLang="en-US" sz="2200" dirty="0">
                <a:latin typeface="Times New Roman" panose="02020603050405020304" pitchFamily="18" charset="0"/>
              </a:rPr>
              <a:t>型比</a:t>
            </a:r>
            <a:r>
              <a:rPr lang="en-US" altLang="zh-CN" sz="2200" dirty="0">
                <a:latin typeface="Times New Roman" panose="02020603050405020304" pitchFamily="18" charset="0"/>
              </a:rPr>
              <a:t>double </a:t>
            </a:r>
            <a:r>
              <a:rPr lang="zh-CN" altLang="en-US" sz="2200" dirty="0">
                <a:latin typeface="Times New Roman" panose="02020603050405020304" pitchFamily="18" charset="0"/>
              </a:rPr>
              <a:t>型有效位数少，所以</a:t>
            </a:r>
            <a:r>
              <a:rPr lang="en-US" altLang="zh-CN" sz="2200" dirty="0">
                <a:latin typeface="Times New Roman" panose="02020603050405020304" pitchFamily="18" charset="0"/>
              </a:rPr>
              <a:t>double </a:t>
            </a:r>
            <a:r>
              <a:rPr lang="zh-CN" altLang="en-US" sz="2200" dirty="0">
                <a:latin typeface="Times New Roman" panose="02020603050405020304" pitchFamily="18" charset="0"/>
              </a:rPr>
              <a:t>型变量转换为</a:t>
            </a:r>
            <a:r>
              <a:rPr lang="en-US" altLang="zh-CN" sz="2200" dirty="0">
                <a:latin typeface="Times New Roman" panose="02020603050405020304" pitchFamily="18" charset="0"/>
              </a:rPr>
              <a:t>float </a:t>
            </a:r>
            <a:r>
              <a:rPr lang="zh-CN" altLang="en-US" sz="2200" dirty="0">
                <a:latin typeface="Times New Roman" panose="02020603050405020304" pitchFamily="18" charset="0"/>
              </a:rPr>
              <a:t>时会有精度损失。</a:t>
            </a:r>
            <a:endParaRPr lang="zh-CN" altLang="en-US" sz="22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3684">
                                            <p:txEl>
                                              <p:charRg st="0" end="56"/>
                                            </p:txEl>
                                          </p:spTgt>
                                        </p:tgtEl>
                                        <p:attrNameLst>
                                          <p:attrName>style.visibility</p:attrName>
                                        </p:attrNameLst>
                                      </p:cBhvr>
                                      <p:to>
                                        <p:strVal val="visible"/>
                                      </p:to>
                                    </p:set>
                                    <p:animEffect transition="in" filter="blinds(horizontal)">
                                      <p:cBhvr>
                                        <p:cTn id="7" dur="500"/>
                                        <p:tgtEl>
                                          <p:spTgt spid="1223684">
                                            <p:txEl>
                                              <p:charRg st="0" end="5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23684">
                                            <p:txEl>
                                              <p:charRg st="56" end="122"/>
                                            </p:txEl>
                                          </p:spTgt>
                                        </p:tgtEl>
                                        <p:attrNameLst>
                                          <p:attrName>style.visibility</p:attrName>
                                        </p:attrNameLst>
                                      </p:cBhvr>
                                      <p:to>
                                        <p:strVal val="visible"/>
                                      </p:to>
                                    </p:set>
                                    <p:animEffect transition="in" filter="blinds(horizontal)">
                                      <p:cBhvr>
                                        <p:cTn id="12" dur="500"/>
                                        <p:tgtEl>
                                          <p:spTgt spid="1223684">
                                            <p:txEl>
                                              <p:charRg st="56" end="1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23684">
                                            <p:txEl>
                                              <p:charRg st="122" end="180"/>
                                            </p:txEl>
                                          </p:spTgt>
                                        </p:tgtEl>
                                        <p:attrNameLst>
                                          <p:attrName>style.visibility</p:attrName>
                                        </p:attrNameLst>
                                      </p:cBhvr>
                                      <p:to>
                                        <p:strVal val="visible"/>
                                      </p:to>
                                    </p:set>
                                    <p:animEffect transition="in" filter="blinds(horizontal)">
                                      <p:cBhvr>
                                        <p:cTn id="17" dur="500"/>
                                        <p:tgtEl>
                                          <p:spTgt spid="1223684">
                                            <p:txEl>
                                              <p:charRg st="122" end="18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23684">
                                            <p:txEl>
                                              <p:charRg st="180" end="240"/>
                                            </p:txEl>
                                          </p:spTgt>
                                        </p:tgtEl>
                                        <p:attrNameLst>
                                          <p:attrName>style.visibility</p:attrName>
                                        </p:attrNameLst>
                                      </p:cBhvr>
                                      <p:to>
                                        <p:strVal val="visible"/>
                                      </p:to>
                                    </p:set>
                                    <p:animEffect transition="in" filter="blinds(horizontal)">
                                      <p:cBhvr>
                                        <p:cTn id="22" dur="500"/>
                                        <p:tgtEl>
                                          <p:spTgt spid="1223684">
                                            <p:txEl>
                                              <p:charRg st="180" end="24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p:txBody>
          <a:bodyPr vert="horz" wrap="square" lIns="91440" tIns="45720" rIns="91440" bIns="45720" anchor="b" anchorCtr="0"/>
          <a:p>
            <a:pPr eaLnBrk="1" hangingPunct="1"/>
            <a:r>
              <a:rPr lang="zh-CN" altLang="en-US" sz="3600" dirty="0"/>
              <a:t>运算精度举例</a:t>
            </a:r>
            <a:endParaRPr lang="en-US" altLang="zh-CN" sz="3600" dirty="0"/>
          </a:p>
        </p:txBody>
      </p:sp>
      <p:sp>
        <p:nvSpPr>
          <p:cNvPr id="30723" name="Rectangle 3"/>
          <p:cNvSpPr>
            <a:spLocks noGrp="1" noChangeArrowheads="1"/>
          </p:cNvSpPr>
          <p:nvPr>
            <p:ph idx="1"/>
          </p:nvPr>
        </p:nvSpPr>
        <p:spPr>
          <a:xfrm>
            <a:off x="539750" y="1196658"/>
            <a:ext cx="8208963" cy="3160713"/>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ts val="60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mn-cs"/>
              </a:rPr>
              <a:t>2010</a:t>
            </a:r>
            <a:r>
              <a:rPr kumimoji="0" lang="zh-CN" altLang="en-US" sz="22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mn-cs"/>
              </a:rPr>
              <a:t>年考研题：</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假定变量</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f</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d</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数据类型分别为</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int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float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double(int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用补码表示，</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float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double</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用</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IEEE754</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单精度和双精度浮点数据格式表示</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，已知</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i=785</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f=1.5678e3</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d=1.5e100</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，若在</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32</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位机器中执行下列关系表达式，则结果为真的是</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ts val="60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(I) i==(int)(float)I		(II)f==(float)(int)f</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0" marR="0" lvl="0" indent="0" algn="l" defTabSz="914400" rtl="0" eaLnBrk="1" fontAlgn="base" latinLnBrk="0" hangingPunct="1">
              <a:lnSpc>
                <a:spcPct val="100000"/>
              </a:lnSpc>
              <a:spcBef>
                <a:spcPts val="60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(III)f==(float)(double)f	(IV)(d+f)-d==f</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0" marR="0" lvl="0" indent="174625" algn="l" defTabSz="914400" rtl="0" eaLnBrk="1" fontAlgn="base" latinLnBrk="0" hangingPunct="1">
              <a:lnSpc>
                <a:spcPct val="100000"/>
              </a:lnSpc>
              <a:spcBef>
                <a:spcPts val="60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仅</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II .     B.</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仅</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III	C.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仅</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II</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III. 	D.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仅</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III</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和</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IV</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a:p>
            <a:pPr marL="179705" marR="0" lvl="0" indent="-179705" algn="l" defTabSz="914400" rtl="0" eaLnBrk="1" fontAlgn="base" latinLnBrk="0" hangingPunct="1">
              <a:lnSpc>
                <a:spcPct val="100000"/>
              </a:lnSpc>
              <a:spcBef>
                <a:spcPts val="600"/>
              </a:spcBef>
              <a:spcAft>
                <a:spcPct val="0"/>
              </a:spcAft>
              <a:buClrTx/>
              <a:buSzTx/>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endParaRPr>
          </a:p>
        </p:txBody>
      </p:sp>
      <p:sp>
        <p:nvSpPr>
          <p:cNvPr id="1223684" name="Rectangle 4"/>
          <p:cNvSpPr>
            <a:spLocks noChangeArrowheads="1"/>
          </p:cNvSpPr>
          <p:nvPr/>
        </p:nvSpPr>
        <p:spPr bwMode="auto">
          <a:xfrm>
            <a:off x="468313" y="3853498"/>
            <a:ext cx="8280400" cy="246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3855" indent="-363855">
              <a:spcBef>
                <a:spcPct val="20000"/>
              </a:spcBef>
              <a:buFont typeface="Wingdings" panose="05000000000000000000" pitchFamily="2" charset="2"/>
              <a:buChar char="p"/>
              <a:defRPr sz="3200" b="1">
                <a:solidFill>
                  <a:schemeClr val="tx1"/>
                </a:solidFill>
                <a:latin typeface="Arial" panose="020B0604020202020204" pitchFamily="34" charset="0"/>
                <a:ea typeface="华文新魏" panose="02010800040101010101" pitchFamily="2" charset="-122"/>
              </a:defRPr>
            </a:lvl1pPr>
            <a:lvl2pPr marL="742950" indent="-285750">
              <a:spcBef>
                <a:spcPct val="20000"/>
              </a:spcBef>
              <a:buFont typeface="Wingdings" panose="05000000000000000000" pitchFamily="2" charset="2"/>
              <a:buChar char="n"/>
              <a:defRPr sz="2800" b="1">
                <a:solidFill>
                  <a:schemeClr val="tx1"/>
                </a:solidFill>
                <a:latin typeface="Arial" panose="020B0604020202020204" pitchFamily="34" charset="0"/>
                <a:ea typeface="华文新魏" panose="02010800040101010101" pitchFamily="2" charset="-122"/>
              </a:defRPr>
            </a:lvl2pPr>
            <a:lvl3pPr marL="1143000" indent="-228600">
              <a:spcBef>
                <a:spcPct val="20000"/>
              </a:spcBef>
              <a:buSzPct val="80000"/>
              <a:buFont typeface="Wingdings" panose="05000000000000000000" pitchFamily="2" charset="2"/>
              <a:buChar char="l"/>
              <a:defRPr sz="2400" b="1">
                <a:solidFill>
                  <a:schemeClr val="tx1"/>
                </a:solidFill>
                <a:latin typeface="Arial" panose="020B0604020202020204" pitchFamily="34" charset="0"/>
                <a:ea typeface="华文新魏" panose="02010800040101010101" pitchFamily="2" charset="-122"/>
              </a:defRPr>
            </a:lvl3pPr>
            <a:lvl4pPr marL="1600200" indent="-228600">
              <a:spcBef>
                <a:spcPct val="20000"/>
              </a:spcBef>
              <a:buSzPct val="60000"/>
              <a:buFont typeface="Wingdings" panose="05000000000000000000" pitchFamily="2" charset="2"/>
              <a:buChar char="n"/>
              <a:defRPr sz="2000" b="1">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894080" marR="0" lvl="0" indent="-894080" algn="l" defTabSz="914400" rtl="0" eaLnBrk="1" fontAlgn="base"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解：</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1)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是。因为</a:t>
            </a:r>
            <a:r>
              <a:rPr kumimoji="0" lang="en-US" altLang="zh-CN" sz="2200" b="1" i="0" u="none" strike="noStrike" kern="1200" cap="none" spc="0" normalizeH="0" baseline="0" noProof="0" dirty="0" err="1" smtClean="0">
                <a:ln>
                  <a:noFill/>
                </a:ln>
                <a:solidFill>
                  <a:schemeClr val="tx1"/>
                </a:solidFill>
                <a:effectLst/>
                <a:uLnTx/>
                <a:uFillTx/>
                <a:latin typeface="Times New Roman" panose="02020603050405020304" pitchFamily="18" charset="0"/>
                <a:ea typeface="华文新魏" panose="02010800040101010101" pitchFamily="2" charset="-122"/>
                <a:cs typeface="+mn-cs"/>
              </a:rPr>
              <a:t>int</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型比</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float</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型精度高，所以</a:t>
            </a:r>
            <a:r>
              <a:rPr kumimoji="0" lang="en-US" altLang="zh-CN" sz="2200" b="1" i="0" u="none" strike="noStrike" kern="1200" cap="none" spc="0" normalizeH="0" baseline="0" noProof="0" dirty="0" err="1" smtClean="0">
                <a:ln>
                  <a:noFill/>
                </a:ln>
                <a:solidFill>
                  <a:schemeClr val="tx1"/>
                </a:solidFill>
                <a:effectLst/>
                <a:uLnTx/>
                <a:uFillTx/>
                <a:latin typeface="Times New Roman" panose="02020603050405020304" pitchFamily="18" charset="0"/>
                <a:ea typeface="华文新魏" panose="02010800040101010101" pitchFamily="2" charset="-122"/>
                <a:cs typeface="+mn-cs"/>
              </a:rPr>
              <a:t>int</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型变量转换为</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float</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时不会有精度损失。</a:t>
            </a:r>
            <a:endPar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894080" marR="0" lvl="0" indent="-351155" algn="l" defTabSz="914400" rtl="0" eaLnBrk="1" fontAlgn="base"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2)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不是。因为</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float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型有小数部分，而</a:t>
            </a:r>
            <a:r>
              <a:rPr kumimoji="0" lang="en-US" altLang="zh-CN" sz="2200" b="1" i="0" u="none" strike="noStrike" kern="1200" cap="none" spc="0" normalizeH="0" baseline="0" noProof="0" dirty="0" err="1" smtClean="0">
                <a:ln>
                  <a:noFill/>
                </a:ln>
                <a:solidFill>
                  <a:schemeClr val="tx1"/>
                </a:solidFill>
                <a:effectLst/>
                <a:uLnTx/>
                <a:uFillTx/>
                <a:latin typeface="Times New Roman" panose="02020603050405020304" pitchFamily="18" charset="0"/>
                <a:ea typeface="华文新魏" panose="02010800040101010101" pitchFamily="2" charset="-122"/>
                <a:cs typeface="+mn-cs"/>
              </a:rPr>
              <a:t>int</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型没有小数部分，所以把</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float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型变量转换为</a:t>
            </a:r>
            <a:r>
              <a:rPr kumimoji="0" lang="en-US" altLang="zh-CN" sz="2200" b="1" i="0" u="none" strike="noStrike" kern="1200" cap="none" spc="0" normalizeH="0" baseline="0" noProof="0" dirty="0" err="1" smtClean="0">
                <a:ln>
                  <a:noFill/>
                </a:ln>
                <a:solidFill>
                  <a:schemeClr val="tx1"/>
                </a:solidFill>
                <a:effectLst/>
                <a:uLnTx/>
                <a:uFillTx/>
                <a:latin typeface="Times New Roman" panose="02020603050405020304" pitchFamily="18" charset="0"/>
                <a:ea typeface="华文新魏" panose="02010800040101010101" pitchFamily="2" charset="-122"/>
                <a:cs typeface="+mn-cs"/>
              </a:rPr>
              <a:t>int</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型时，可能会丢失小数部分。</a:t>
            </a:r>
            <a:endPar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894080" marR="0" lvl="0" indent="-351155" algn="l" defTabSz="914400" rtl="0" eaLnBrk="1" fontAlgn="base"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3)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是。因为</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double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型比</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float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型精度高，所以</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float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型变量转换为</a:t>
            </a: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double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时不会有精度损失。</a:t>
            </a:r>
            <a:endPar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a:p>
            <a:pPr marL="894080" marR="0" lvl="0" indent="-351155" algn="l" defTabSz="914400" rtl="0" eaLnBrk="1" fontAlgn="base" latinLnBrk="0" hangingPunct="1">
              <a:lnSpc>
                <a:spcPct val="100000"/>
              </a:lnSpc>
              <a:spcBef>
                <a:spcPts val="0"/>
              </a:spcBef>
              <a:spcAft>
                <a:spcPts val="0"/>
              </a:spcAft>
              <a:buClrTx/>
              <a:buSzTx/>
              <a:buFontTx/>
              <a:buNone/>
              <a:defRPr/>
            </a:pPr>
            <a:r>
              <a:rPr kumimoji="0" lang="en-US" altLang="zh-CN"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4) </a:t>
            </a:r>
            <a:r>
              <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rPr>
              <a:t>不是。因为浮点数加法不满足结合律</a:t>
            </a:r>
            <a:endParaRPr kumimoji="0" lang="zh-CN" altLang="en-US" sz="2200" b="1" i="0" u="none" strike="noStrike" kern="1200" cap="none" spc="0" normalizeH="0" baseline="0" noProof="0" dirty="0" smtClean="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3684">
                                            <p:txEl>
                                              <p:charRg st="0" end="52"/>
                                            </p:txEl>
                                          </p:spTgt>
                                        </p:tgtEl>
                                        <p:attrNameLst>
                                          <p:attrName>style.visibility</p:attrName>
                                        </p:attrNameLst>
                                      </p:cBhvr>
                                      <p:to>
                                        <p:strVal val="visible"/>
                                      </p:to>
                                    </p:set>
                                    <p:animEffect transition="in" filter="blinds(horizontal)">
                                      <p:cBhvr>
                                        <p:cTn id="7" dur="500"/>
                                        <p:tgtEl>
                                          <p:spTgt spid="1223684">
                                            <p:txEl>
                                              <p:charRg st="0" end="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23684">
                                            <p:txEl>
                                              <p:charRg st="52" end="118"/>
                                            </p:txEl>
                                          </p:spTgt>
                                        </p:tgtEl>
                                        <p:attrNameLst>
                                          <p:attrName>style.visibility</p:attrName>
                                        </p:attrNameLst>
                                      </p:cBhvr>
                                      <p:to>
                                        <p:strVal val="visible"/>
                                      </p:to>
                                    </p:set>
                                    <p:animEffect transition="in" filter="blinds(horizontal)">
                                      <p:cBhvr>
                                        <p:cTn id="12" dur="500"/>
                                        <p:tgtEl>
                                          <p:spTgt spid="1223684">
                                            <p:txEl>
                                              <p:charRg st="52" end="11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23684">
                                            <p:txEl>
                                              <p:charRg st="118" end="176"/>
                                            </p:txEl>
                                          </p:spTgt>
                                        </p:tgtEl>
                                        <p:attrNameLst>
                                          <p:attrName>style.visibility</p:attrName>
                                        </p:attrNameLst>
                                      </p:cBhvr>
                                      <p:to>
                                        <p:strVal val="visible"/>
                                      </p:to>
                                    </p:set>
                                    <p:animEffect transition="in" filter="blinds(horizontal)">
                                      <p:cBhvr>
                                        <p:cTn id="17" dur="500"/>
                                        <p:tgtEl>
                                          <p:spTgt spid="1223684">
                                            <p:txEl>
                                              <p:charRg st="118" end="17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23684">
                                            <p:txEl>
                                              <p:charRg st="176" end="196"/>
                                            </p:txEl>
                                          </p:spTgt>
                                        </p:tgtEl>
                                        <p:attrNameLst>
                                          <p:attrName>style.visibility</p:attrName>
                                        </p:attrNameLst>
                                      </p:cBhvr>
                                      <p:to>
                                        <p:strVal val="visible"/>
                                      </p:to>
                                    </p:set>
                                    <p:animEffect transition="in" filter="blinds(horizontal)">
                                      <p:cBhvr>
                                        <p:cTn id="22" dur="500"/>
                                        <p:tgtEl>
                                          <p:spTgt spid="1223684">
                                            <p:txEl>
                                              <p:charRg st="176" end="1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txBox="1"/>
          <p:nvPr/>
        </p:nvSpPr>
        <p:spPr bwMode="auto">
          <a:xfrm>
            <a:off x="574675" y="231775"/>
            <a:ext cx="7021513" cy="676275"/>
          </a:xfrm>
          <a:prstGeom prst="rect">
            <a:avLst/>
          </a:prstGeom>
          <a:noFill/>
          <a:ln w="9525">
            <a:noFill/>
            <a:miter lim="800000"/>
          </a:ln>
        </p:spPr>
        <p:txBody>
          <a:bodyPr anchor="b"/>
          <a:lstStyle/>
          <a:p>
            <a:pPr marR="0" defTabSz="914400" eaLnBrk="1" hangingPunct="1">
              <a:buClrTx/>
              <a:buSzTx/>
              <a:buFontTx/>
              <a:buNone/>
              <a:defRPr/>
            </a:pPr>
            <a:r>
              <a:rPr kumimoji="0" lang="zh-CN" altLang="en-US" sz="3600" b="1" kern="0" cap="none" spc="0" normalizeH="0" baseline="0" noProof="0" dirty="0">
                <a:solidFill>
                  <a:schemeClr val="tx2"/>
                </a:solidFill>
                <a:latin typeface="+mj-lt"/>
                <a:ea typeface="+mj-ea"/>
                <a:cs typeface="+mj-cs"/>
              </a:rPr>
              <a:t>浮点精度举例</a:t>
            </a:r>
            <a:endParaRPr kumimoji="0" lang="zh-CN" altLang="en-US" sz="3600" b="1" kern="0" cap="none" spc="0" normalizeH="0" baseline="0" noProof="0" dirty="0">
              <a:solidFill>
                <a:schemeClr val="tx2"/>
              </a:solidFill>
              <a:latin typeface="+mj-lt"/>
              <a:ea typeface="+mj-ea"/>
              <a:cs typeface="+mj-cs"/>
            </a:endParaRPr>
          </a:p>
        </p:txBody>
      </p:sp>
      <p:sp>
        <p:nvSpPr>
          <p:cNvPr id="60419" name="Rectangle 3"/>
          <p:cNvSpPr>
            <a:spLocks noGrp="1"/>
          </p:cNvSpPr>
          <p:nvPr/>
        </p:nvSpPr>
        <p:spPr>
          <a:xfrm>
            <a:off x="665163" y="1246188"/>
            <a:ext cx="7978775" cy="1968500"/>
          </a:xfrm>
          <a:prstGeom prst="rect">
            <a:avLst/>
          </a:prstGeom>
          <a:noFill/>
          <a:ln w="9525">
            <a:noFill/>
          </a:ln>
        </p:spPr>
        <p:txBody>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179705" lvl="0" indent="-179705" algn="just" eaLnBrk="1" hangingPunct="1">
              <a:lnSpc>
                <a:spcPct val="120000"/>
              </a:lnSpc>
              <a:spcBef>
                <a:spcPts val="600"/>
              </a:spcBef>
            </a:pPr>
            <a:r>
              <a:rPr lang="zh-CN" altLang="en-US" sz="2800" dirty="0"/>
              <a:t>浮点数的精度：</a:t>
            </a:r>
            <a:endParaRPr lang="en-US" altLang="zh-CN" sz="2800" dirty="0"/>
          </a:p>
          <a:p>
            <a:pPr marL="449580" lvl="1" indent="-90805" algn="just" eaLnBrk="1" hangingPunct="1">
              <a:lnSpc>
                <a:spcPct val="120000"/>
              </a:lnSpc>
              <a:spcBef>
                <a:spcPts val="600"/>
              </a:spcBef>
            </a:pPr>
            <a:r>
              <a:rPr lang="zh-CN" altLang="en-US" sz="2400" dirty="0"/>
              <a:t>单精度可以保证</a:t>
            </a:r>
            <a:r>
              <a:rPr lang="en-US" altLang="zh-CN" sz="2400" dirty="0">
                <a:solidFill>
                  <a:srgbClr val="FF0000"/>
                </a:solidFill>
                <a:latin typeface="Times New Roman" panose="02020603050405020304" pitchFamily="18" charset="0"/>
                <a:cs typeface="Times New Roman" panose="02020603050405020304" pitchFamily="18" charset="0"/>
              </a:rPr>
              <a:t>7</a:t>
            </a:r>
            <a:r>
              <a:rPr lang="zh-CN" altLang="en-US" sz="2400" dirty="0"/>
              <a:t>位十进制有效数字：</a:t>
            </a:r>
            <a:r>
              <a:rPr lang="en-US" altLang="zh-CN" sz="2400" dirty="0">
                <a:latin typeface="Times New Roman" panose="02020603050405020304" pitchFamily="18" charset="0"/>
              </a:rPr>
              <a:t>log2</a:t>
            </a:r>
            <a:r>
              <a:rPr lang="en-US" altLang="zh-CN" sz="2400" baseline="30000" dirty="0">
                <a:latin typeface="Times New Roman" panose="02020603050405020304" pitchFamily="18" charset="0"/>
              </a:rPr>
              <a:t>24</a:t>
            </a:r>
            <a:r>
              <a:rPr lang="en-US" altLang="zh-CN" sz="2400" dirty="0">
                <a:latin typeface="Times New Roman" panose="02020603050405020304" pitchFamily="18" charset="0"/>
              </a:rPr>
              <a:t>=7.22</a:t>
            </a:r>
            <a:endParaRPr lang="en-US" altLang="zh-CN" sz="2400" dirty="0">
              <a:latin typeface="Times New Roman" panose="02020603050405020304" pitchFamily="18" charset="0"/>
            </a:endParaRPr>
          </a:p>
          <a:p>
            <a:pPr marL="449580" lvl="1" indent="-90805" algn="just" eaLnBrk="1" hangingPunct="1">
              <a:lnSpc>
                <a:spcPct val="120000"/>
              </a:lnSpc>
              <a:spcBef>
                <a:spcPts val="600"/>
              </a:spcBef>
            </a:pPr>
            <a:r>
              <a:rPr lang="zh-CN" altLang="en-US" sz="2400" dirty="0"/>
              <a:t>双精度可以保证</a:t>
            </a:r>
            <a:r>
              <a:rPr lang="en-US" altLang="zh-CN" sz="2400" dirty="0">
                <a:solidFill>
                  <a:srgbClr val="FF0000"/>
                </a:solidFill>
                <a:latin typeface="Times New Roman" panose="02020603050405020304" pitchFamily="18" charset="0"/>
              </a:rPr>
              <a:t>15</a:t>
            </a:r>
            <a:r>
              <a:rPr lang="zh-CN" altLang="en-US" sz="2400" dirty="0"/>
              <a:t>位十进制有效数字：</a:t>
            </a:r>
            <a:r>
              <a:rPr lang="en-US" altLang="zh-CN" sz="2400" dirty="0">
                <a:latin typeface="Times New Roman" panose="02020603050405020304" pitchFamily="18" charset="0"/>
              </a:rPr>
              <a:t> log2</a:t>
            </a:r>
            <a:r>
              <a:rPr lang="en-US" altLang="zh-CN" sz="2400" baseline="30000" dirty="0">
                <a:latin typeface="Times New Roman" panose="02020603050405020304" pitchFamily="18" charset="0"/>
              </a:rPr>
              <a:t>53</a:t>
            </a:r>
            <a:r>
              <a:rPr lang="en-US" altLang="zh-CN" sz="2400" dirty="0">
                <a:latin typeface="Times New Roman" panose="02020603050405020304" pitchFamily="18" charset="0"/>
              </a:rPr>
              <a:t>=15.95</a:t>
            </a:r>
            <a:endParaRPr lang="en-US" altLang="zh-CN" sz="2400" dirty="0"/>
          </a:p>
          <a:p>
            <a:pPr marL="179705" lvl="0" indent="-179705" algn="just" eaLnBrk="1" hangingPunct="1">
              <a:lnSpc>
                <a:spcPct val="120000"/>
              </a:lnSpc>
              <a:spcBef>
                <a:spcPts val="600"/>
              </a:spcBef>
              <a:buNone/>
            </a:pPr>
            <a:endParaRPr lang="zh-CN" altLang="en-US" sz="2400" dirty="0"/>
          </a:p>
        </p:txBody>
      </p:sp>
      <p:sp>
        <p:nvSpPr>
          <p:cNvPr id="7" name="TextBox 6"/>
          <p:cNvSpPr txBox="1"/>
          <p:nvPr/>
        </p:nvSpPr>
        <p:spPr>
          <a:xfrm>
            <a:off x="500063" y="3538538"/>
            <a:ext cx="8072437" cy="461962"/>
          </a:xfrm>
          <a:prstGeom prst="rect">
            <a:avLst/>
          </a:prstGeom>
          <a:noFill/>
          <a:ln w="9525">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r>
              <a:rPr lang="zh-CN" altLang="en-US" sz="2400" dirty="0"/>
              <a:t>解：</a:t>
            </a:r>
            <a:r>
              <a:rPr lang="en-US" altLang="zh-CN" sz="2400" dirty="0">
                <a:latin typeface="Times New Roman" panose="02020603050405020304" pitchFamily="18" charset="0"/>
                <a:cs typeface="Times New Roman" panose="02020603050405020304" pitchFamily="18" charset="0"/>
              </a:rPr>
              <a:t>-1/4</a:t>
            </a:r>
            <a:r>
              <a:rPr lang="zh-CN" altLang="en-US" sz="2400" dirty="0">
                <a:latin typeface="Times New Roman" panose="02020603050405020304" pitchFamily="18" charset="0"/>
                <a:cs typeface="Times New Roman" panose="02020603050405020304" pitchFamily="18" charset="0"/>
              </a:rPr>
              <a:t>能够精确表示，</a:t>
            </a:r>
            <a:r>
              <a:rPr lang="zh-CN" altLang="en-US" sz="2400" dirty="0"/>
              <a:t>精确表示为：</a:t>
            </a:r>
            <a:endParaRPr lang="zh-CN" altLang="en-US" sz="2400" dirty="0"/>
          </a:p>
        </p:txBody>
      </p:sp>
      <p:graphicFrame>
        <p:nvGraphicFramePr>
          <p:cNvPr id="8" name="表格 7"/>
          <p:cNvGraphicFramePr>
            <a:graphicFrameLocks noGrp="1"/>
          </p:cNvGraphicFramePr>
          <p:nvPr/>
        </p:nvGraphicFramePr>
        <p:xfrm>
          <a:off x="1547813" y="4075113"/>
          <a:ext cx="6215063" cy="457200"/>
        </p:xfrm>
        <a:graphic>
          <a:graphicData uri="http://schemas.openxmlformats.org/drawingml/2006/table">
            <a:tbl>
              <a:tblPr firstRow="1" bandRow="1">
                <a:tableStyleId>{5C22544A-7EE6-4342-B048-85BDC9FD1C3A}</a:tableStyleId>
              </a:tblPr>
              <a:tblGrid>
                <a:gridCol w="414362"/>
                <a:gridCol w="1548289"/>
                <a:gridCol w="4252411"/>
              </a:tblGrid>
              <a:tr h="370840">
                <a:tc>
                  <a:txBody>
                    <a:bodyPr/>
                    <a:lstStyle/>
                    <a:p>
                      <a:pPr algn="ctr"/>
                      <a:r>
                        <a:rPr lang="en-US" altLang="zh-CN" sz="2400" dirty="0" smtClean="0">
                          <a:solidFill>
                            <a:srgbClr val="FF0000"/>
                          </a:solidFill>
                          <a:latin typeface="Times New Roman" panose="02020603050405020304" pitchFamily="18" charset="0"/>
                          <a:cs typeface="Times New Roman" panose="02020603050405020304" pitchFamily="18" charset="0"/>
                        </a:rPr>
                        <a:t>1</a:t>
                      </a:r>
                      <a:endParaRPr lang="zh-CN" altLang="en-US" sz="2400" dirty="0">
                        <a:solidFill>
                          <a:srgbClr val="FF0000"/>
                        </a:solidFill>
                        <a:latin typeface="Times New Roman" panose="02020603050405020304" pitchFamily="18" charset="0"/>
                        <a:cs typeface="Times New Roman" panose="02020603050405020304" pitchFamily="18" charset="0"/>
                      </a:endParaRPr>
                    </a:p>
                  </a:txBody>
                  <a:tcPr marL="91439" marR="91439"/>
                </a:tc>
                <a:tc>
                  <a:txBody>
                    <a:bodyPr/>
                    <a:lstStyle/>
                    <a:p>
                      <a:pPr algn="ctr"/>
                      <a:r>
                        <a:rPr lang="en-US" altLang="zh-CN" sz="2400" dirty="0" smtClean="0">
                          <a:solidFill>
                            <a:srgbClr val="FF0000"/>
                          </a:solidFill>
                          <a:latin typeface="Times New Roman" panose="02020603050405020304" pitchFamily="18" charset="0"/>
                          <a:cs typeface="Times New Roman" panose="02020603050405020304" pitchFamily="18" charset="0"/>
                        </a:rPr>
                        <a:t>01111101</a:t>
                      </a:r>
                      <a:endParaRPr lang="zh-CN" altLang="en-US" sz="2400" dirty="0">
                        <a:solidFill>
                          <a:srgbClr val="FF0000"/>
                        </a:solidFill>
                        <a:latin typeface="Times New Roman" panose="02020603050405020304" pitchFamily="18" charset="0"/>
                        <a:cs typeface="Times New Roman" panose="02020603050405020304" pitchFamily="18" charset="0"/>
                      </a:endParaRPr>
                    </a:p>
                  </a:txBody>
                  <a:tcPr marL="91439" marR="91439"/>
                </a:tc>
                <a:tc>
                  <a:txBody>
                    <a:bodyPr/>
                    <a:lstStyle/>
                    <a:p>
                      <a:pPr algn="ctr"/>
                      <a:r>
                        <a:rPr lang="en-US" altLang="zh-CN" sz="2400" dirty="0" smtClean="0">
                          <a:solidFill>
                            <a:srgbClr val="FF0000"/>
                          </a:solidFill>
                          <a:latin typeface="Times New Roman" panose="02020603050405020304" pitchFamily="18" charset="0"/>
                          <a:cs typeface="Times New Roman" panose="02020603050405020304" pitchFamily="18" charset="0"/>
                        </a:rPr>
                        <a:t>00000000000000000000000</a:t>
                      </a:r>
                      <a:endParaRPr lang="zh-CN" altLang="en-US" sz="2400" dirty="0">
                        <a:solidFill>
                          <a:srgbClr val="FF0000"/>
                        </a:solidFill>
                        <a:latin typeface="Times New Roman" panose="02020603050405020304" pitchFamily="18" charset="0"/>
                        <a:cs typeface="Times New Roman" panose="02020603050405020304" pitchFamily="18" charset="0"/>
                      </a:endParaRPr>
                    </a:p>
                  </a:txBody>
                  <a:tcPr marL="91439" marR="91439"/>
                </a:tc>
              </a:tr>
            </a:tbl>
          </a:graphicData>
        </a:graphic>
      </p:graphicFrame>
      <p:sp>
        <p:nvSpPr>
          <p:cNvPr id="9" name="TextBox 8"/>
          <p:cNvSpPr txBox="1"/>
          <p:nvPr/>
        </p:nvSpPr>
        <p:spPr>
          <a:xfrm>
            <a:off x="514350" y="5143500"/>
            <a:ext cx="8072438" cy="461963"/>
          </a:xfrm>
          <a:prstGeom prst="rect">
            <a:avLst/>
          </a:prstGeom>
          <a:noFill/>
          <a:ln w="9525">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r>
              <a:rPr lang="zh-CN" altLang="en-US" sz="2400" dirty="0"/>
              <a:t>解：</a:t>
            </a:r>
            <a:r>
              <a:rPr lang="en-US" altLang="zh-CN" sz="2400" dirty="0">
                <a:latin typeface="Times New Roman" panose="02020603050405020304" pitchFamily="18" charset="0"/>
                <a:cs typeface="Times New Roman" panose="02020603050405020304" pitchFamily="18" charset="0"/>
              </a:rPr>
              <a:t>1/3</a:t>
            </a:r>
            <a:r>
              <a:rPr lang="zh-CN" altLang="en-US" sz="2400" dirty="0"/>
              <a:t>不能精确表示，可近似为：</a:t>
            </a:r>
            <a:endParaRPr lang="zh-CN" altLang="en-US" sz="2400" dirty="0"/>
          </a:p>
        </p:txBody>
      </p:sp>
      <p:graphicFrame>
        <p:nvGraphicFramePr>
          <p:cNvPr id="10" name="表格 9"/>
          <p:cNvGraphicFramePr>
            <a:graphicFrameLocks noGrp="1"/>
          </p:cNvGraphicFramePr>
          <p:nvPr/>
        </p:nvGraphicFramePr>
        <p:xfrm>
          <a:off x="1547813" y="5686425"/>
          <a:ext cx="6215063" cy="457200"/>
        </p:xfrm>
        <a:graphic>
          <a:graphicData uri="http://schemas.openxmlformats.org/drawingml/2006/table">
            <a:tbl>
              <a:tblPr firstRow="1" bandRow="1">
                <a:tableStyleId>{5C22544A-7EE6-4342-B048-85BDC9FD1C3A}</a:tableStyleId>
              </a:tblPr>
              <a:tblGrid>
                <a:gridCol w="464473"/>
                <a:gridCol w="1526123"/>
                <a:gridCol w="4224466"/>
              </a:tblGrid>
              <a:tr h="370840">
                <a:tc>
                  <a:txBody>
                    <a:bodyPr/>
                    <a:lstStyle/>
                    <a:p>
                      <a:pPr algn="ctr"/>
                      <a:r>
                        <a:rPr lang="en-US" altLang="zh-CN" sz="2400" dirty="0" smtClean="0">
                          <a:solidFill>
                            <a:srgbClr val="FF0000"/>
                          </a:solidFill>
                          <a:latin typeface="Times New Roman" panose="02020603050405020304" pitchFamily="18" charset="0"/>
                          <a:cs typeface="Times New Roman" panose="02020603050405020304" pitchFamily="18" charset="0"/>
                        </a:rPr>
                        <a:t>0</a:t>
                      </a:r>
                      <a:endParaRPr lang="zh-CN" altLang="en-US" sz="2400" dirty="0">
                        <a:solidFill>
                          <a:srgbClr val="FF0000"/>
                        </a:solidFill>
                        <a:latin typeface="Times New Roman" panose="02020603050405020304" pitchFamily="18" charset="0"/>
                        <a:cs typeface="Times New Roman" panose="02020603050405020304" pitchFamily="18" charset="0"/>
                      </a:endParaRPr>
                    </a:p>
                  </a:txBody>
                  <a:tcPr marL="91439" marR="91439"/>
                </a:tc>
                <a:tc>
                  <a:txBody>
                    <a:bodyPr/>
                    <a:lstStyle/>
                    <a:p>
                      <a:pPr algn="ctr"/>
                      <a:r>
                        <a:rPr lang="en-US" altLang="zh-CN" sz="2400" dirty="0" smtClean="0">
                          <a:solidFill>
                            <a:srgbClr val="FF0000"/>
                          </a:solidFill>
                          <a:latin typeface="Times New Roman" panose="02020603050405020304" pitchFamily="18" charset="0"/>
                          <a:cs typeface="Times New Roman" panose="02020603050405020304" pitchFamily="18" charset="0"/>
                        </a:rPr>
                        <a:t>01111101</a:t>
                      </a:r>
                      <a:endParaRPr lang="zh-CN" altLang="en-US" sz="2400" dirty="0">
                        <a:solidFill>
                          <a:srgbClr val="FF0000"/>
                        </a:solidFill>
                        <a:latin typeface="Times New Roman" panose="02020603050405020304" pitchFamily="18" charset="0"/>
                        <a:cs typeface="Times New Roman" panose="02020603050405020304" pitchFamily="18" charset="0"/>
                      </a:endParaRPr>
                    </a:p>
                  </a:txBody>
                  <a:tcPr marL="91439" marR="91439"/>
                </a:tc>
                <a:tc>
                  <a:txBody>
                    <a:bodyPr/>
                    <a:lstStyle/>
                    <a:p>
                      <a:pPr algn="ctr"/>
                      <a:r>
                        <a:rPr lang="en-US" altLang="zh-CN" sz="2400" dirty="0" smtClean="0">
                          <a:solidFill>
                            <a:srgbClr val="FF0000"/>
                          </a:solidFill>
                          <a:latin typeface="Times New Roman" panose="02020603050405020304" pitchFamily="18" charset="0"/>
                          <a:cs typeface="Times New Roman" panose="02020603050405020304" pitchFamily="18" charset="0"/>
                        </a:rPr>
                        <a:t>01010101010101010101010</a:t>
                      </a:r>
                      <a:endParaRPr lang="zh-CN" altLang="en-US" sz="2400" dirty="0">
                        <a:solidFill>
                          <a:srgbClr val="FF0000"/>
                        </a:solidFill>
                        <a:latin typeface="Times New Roman" panose="02020603050405020304" pitchFamily="18" charset="0"/>
                        <a:cs typeface="Times New Roman" panose="02020603050405020304" pitchFamily="18" charset="0"/>
                      </a:endParaRPr>
                    </a:p>
                  </a:txBody>
                  <a:tcPr marL="91439" marR="91439"/>
                </a:tc>
              </a:tr>
            </a:tbl>
          </a:graphicData>
        </a:graphic>
      </p:graphicFrame>
      <p:sp>
        <p:nvSpPr>
          <p:cNvPr id="11" name="TextBox 10"/>
          <p:cNvSpPr txBox="1"/>
          <p:nvPr/>
        </p:nvSpPr>
        <p:spPr>
          <a:xfrm>
            <a:off x="511175" y="3038475"/>
            <a:ext cx="8515350" cy="461963"/>
          </a:xfrm>
          <a:prstGeom prst="rect">
            <a:avLst/>
          </a:prstGeom>
          <a:noFill/>
        </p:spPr>
        <p:txBody>
          <a:bodyPr wrap="none">
            <a:spAutoFit/>
          </a:bodyPr>
          <a:lstStyle/>
          <a:p>
            <a:pPr marR="0" defTabSz="914400" eaLnBrk="1" hangingPunct="1">
              <a:buClrTx/>
              <a:buSzTx/>
              <a:buFontTx/>
              <a:buNone/>
              <a:defRPr/>
            </a:pP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例</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1</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：采用</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IEEE754</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单精度格式表示</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−1/4</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。它能够精确表示吗？</a:t>
            </a:r>
            <a:endPar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endParaRPr>
          </a:p>
        </p:txBody>
      </p:sp>
      <p:sp>
        <p:nvSpPr>
          <p:cNvPr id="60443" name="矩形 11"/>
          <p:cNvSpPr/>
          <p:nvPr/>
        </p:nvSpPr>
        <p:spPr>
          <a:xfrm>
            <a:off x="512763" y="4695825"/>
            <a:ext cx="8286750" cy="461963"/>
          </a:xfrm>
          <a:prstGeom prst="rect">
            <a:avLst/>
          </a:prstGeom>
          <a:noFill/>
          <a:ln w="9525">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r>
              <a:rPr lang="zh-CN" altLang="en-US" sz="2400" dirty="0">
                <a:solidFill>
                  <a:srgbClr val="000000"/>
                </a:solidFill>
                <a:latin typeface="Times New Roman" panose="02020603050405020304" pitchFamily="18" charset="0"/>
                <a:cs typeface="Times New Roman" panose="02020603050405020304" pitchFamily="18" charset="0"/>
              </a:rPr>
              <a:t>例</a:t>
            </a:r>
            <a:r>
              <a:rPr lang="en-US" altLang="zh-CN" sz="2400" dirty="0">
                <a:solidFill>
                  <a:srgbClr val="000000"/>
                </a:solidFill>
                <a:latin typeface="Times New Roman" panose="02020603050405020304" pitchFamily="18" charset="0"/>
                <a:cs typeface="Times New Roman" panose="02020603050405020304" pitchFamily="18" charset="0"/>
              </a:rPr>
              <a:t>2</a:t>
            </a:r>
            <a:r>
              <a:rPr lang="zh-CN" altLang="en-US" sz="2400" dirty="0">
                <a:solidFill>
                  <a:srgbClr val="000000"/>
                </a:solidFill>
                <a:latin typeface="Times New Roman" panose="02020603050405020304" pitchFamily="18" charset="0"/>
                <a:cs typeface="Times New Roman" panose="02020603050405020304" pitchFamily="18" charset="0"/>
              </a:rPr>
              <a:t>：采用</a:t>
            </a:r>
            <a:r>
              <a:rPr lang="en-US" altLang="zh-CN" sz="2400" dirty="0">
                <a:solidFill>
                  <a:srgbClr val="000000"/>
                </a:solidFill>
                <a:latin typeface="Times New Roman" panose="02020603050405020304" pitchFamily="18" charset="0"/>
                <a:cs typeface="Times New Roman" panose="02020603050405020304" pitchFamily="18" charset="0"/>
              </a:rPr>
              <a:t>IEEE754</a:t>
            </a:r>
            <a:r>
              <a:rPr lang="zh-CN" altLang="en-US" sz="2400" dirty="0">
                <a:solidFill>
                  <a:srgbClr val="000000"/>
                </a:solidFill>
                <a:latin typeface="Times New Roman" panose="02020603050405020304" pitchFamily="18" charset="0"/>
                <a:cs typeface="Times New Roman" panose="02020603050405020304" pitchFamily="18" charset="0"/>
              </a:rPr>
              <a:t>单精度格式表示</a:t>
            </a:r>
            <a:r>
              <a:rPr lang="en-US" altLang="zh-CN" sz="2400" dirty="0">
                <a:solidFill>
                  <a:srgbClr val="000000"/>
                </a:solidFill>
                <a:latin typeface="Times New Roman" panose="02020603050405020304" pitchFamily="18" charset="0"/>
                <a:cs typeface="Times New Roman" panose="02020603050405020304" pitchFamily="18" charset="0"/>
              </a:rPr>
              <a:t>1/3</a:t>
            </a:r>
            <a:r>
              <a:rPr lang="zh-CN" altLang="en-US" sz="2400" dirty="0">
                <a:solidFill>
                  <a:srgbClr val="000000"/>
                </a:solidFill>
                <a:latin typeface="Times New Roman" panose="02020603050405020304" pitchFamily="18" charset="0"/>
                <a:cs typeface="Times New Roman" panose="02020603050405020304" pitchFamily="18" charset="0"/>
              </a:rPr>
              <a:t>。它能够精确表示吗</a:t>
            </a:r>
            <a:r>
              <a:rPr lang="en-US" altLang="zh-CN" sz="2400" dirty="0">
                <a:solidFill>
                  <a:srgbClr val="000000"/>
                </a:solidFill>
                <a:latin typeface="Times New Roman" panose="02020603050405020304" pitchFamily="18" charset="0"/>
                <a:cs typeface="Times New Roman" panose="02020603050405020304" pitchFamily="18" charset="0"/>
              </a:rPr>
              <a:t>?</a:t>
            </a:r>
            <a:endParaRPr lang="zh-CN" altLang="en-US" sz="2000" b="0" dirty="0">
              <a:ea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23" name="Rectangle 7"/>
          <p:cNvSpPr>
            <a:spLocks noChangeArrowheads="1"/>
          </p:cNvSpPr>
          <p:nvPr/>
        </p:nvSpPr>
        <p:spPr bwMode="auto">
          <a:xfrm>
            <a:off x="539750" y="5065713"/>
            <a:ext cx="8353425" cy="1939925"/>
          </a:xfrm>
          <a:prstGeom prst="rect">
            <a:avLst/>
          </a:prstGeom>
          <a:noFill/>
          <a:ln w="9525">
            <a:noFill/>
            <a:miter lim="800000"/>
          </a:ln>
          <a:effectLst/>
        </p:spPr>
        <p:txBody>
          <a:bodyPr anchor="ct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2011</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某机器有一个标志寄存器，其中有进位</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借位标志</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CF</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、零标志</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ZF</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、符号标志</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SF</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和溢出标志</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OF</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，条件转移指令</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bgt(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无符号整数比较大于时转移</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的转移条件是</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CF+OF=1</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B</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61443" name="标题 1"/>
          <p:cNvSpPr>
            <a:spLocks noGrp="1"/>
          </p:cNvSpPr>
          <p:nvPr>
            <p:ph type="title"/>
          </p:nvPr>
        </p:nvSpPr>
        <p:spPr>
          <a:xfrm>
            <a:off x="574675" y="304800"/>
            <a:ext cx="7021513" cy="676275"/>
          </a:xfrm>
        </p:spPr>
        <p:txBody>
          <a:bodyPr vert="horz" wrap="square" lIns="91440" tIns="45720" rIns="91440" bIns="45720" anchor="b" anchorCtr="0"/>
          <a:p>
            <a:pPr eaLnBrk="1" hangingPunct="1"/>
            <a:r>
              <a:rPr lang="zh-CN" altLang="en-US" dirty="0">
                <a:sym typeface="+mn-ea"/>
              </a:rPr>
              <a:t>九</a:t>
            </a:r>
            <a:r>
              <a:rPr lang="zh-CN" altLang="en-US" dirty="0"/>
              <a:t>、关于定点数运算问题</a:t>
            </a:r>
            <a:endParaRPr lang="zh-CN" altLang="en-US" dirty="0"/>
          </a:p>
        </p:txBody>
      </p:sp>
      <p:sp>
        <p:nvSpPr>
          <p:cNvPr id="61444" name="内容占位符 2"/>
          <p:cNvSpPr>
            <a:spLocks noGrp="1"/>
          </p:cNvSpPr>
          <p:nvPr>
            <p:ph idx="1"/>
          </p:nvPr>
        </p:nvSpPr>
        <p:spPr>
          <a:xfrm>
            <a:off x="468313" y="1214438"/>
            <a:ext cx="8424862" cy="3929062"/>
          </a:xfrm>
        </p:spPr>
        <p:txBody>
          <a:bodyPr vert="horz" wrap="square" lIns="91440" tIns="45720" rIns="91440" bIns="45720" anchor="t" anchorCtr="0"/>
          <a:p>
            <a:pPr marL="355600" indent="-355600" eaLnBrk="1" hangingPunct="1">
              <a:spcBef>
                <a:spcPts val="600"/>
              </a:spcBef>
            </a:pPr>
            <a:r>
              <a:rPr lang="zh-CN" altLang="en-US" sz="2800" dirty="0">
                <a:latin typeface="Times New Roman" panose="02020603050405020304" pitchFamily="18" charset="0"/>
                <a:cs typeface="Times New Roman" panose="02020603050405020304" pitchFamily="18" charset="0"/>
              </a:rPr>
              <a:t>注意：溢出和进</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借位标志的区别</a:t>
            </a:r>
            <a:endParaRPr lang="zh-CN" altLang="en-US" sz="2800" dirty="0">
              <a:latin typeface="Times New Roman" panose="02020603050405020304" pitchFamily="18" charset="0"/>
              <a:cs typeface="Times New Roman" panose="02020603050405020304" pitchFamily="18" charset="0"/>
            </a:endParaRPr>
          </a:p>
          <a:p>
            <a:pPr marL="624205" lvl="1" indent="-265430" eaLnBrk="1" hangingPunct="1">
              <a:spcBef>
                <a:spcPts val="600"/>
              </a:spcBef>
            </a:pPr>
            <a:r>
              <a:rPr lang="zh-CN" altLang="en-US" sz="2400" dirty="0">
                <a:solidFill>
                  <a:srgbClr val="FF0000"/>
                </a:solidFill>
                <a:latin typeface="方正正粗黑简体" pitchFamily="2" charset="-122"/>
                <a:ea typeface="方正正粗黑简体" pitchFamily="2" charset="-122"/>
              </a:rPr>
              <a:t>进</a:t>
            </a:r>
            <a:r>
              <a:rPr lang="en-US" altLang="zh-CN" sz="2400" dirty="0">
                <a:solidFill>
                  <a:srgbClr val="FF0000"/>
                </a:solidFill>
                <a:latin typeface="方正正粗黑简体" pitchFamily="2" charset="-122"/>
                <a:ea typeface="方正正粗黑简体" pitchFamily="2" charset="-122"/>
              </a:rPr>
              <a:t>/</a:t>
            </a:r>
            <a:r>
              <a:rPr lang="zh-CN" altLang="en-US" sz="2400" dirty="0">
                <a:solidFill>
                  <a:srgbClr val="FF0000"/>
                </a:solidFill>
                <a:latin typeface="方正正粗黑简体" pitchFamily="2" charset="-122"/>
                <a:ea typeface="方正正粗黑简体" pitchFamily="2" charset="-122"/>
              </a:rPr>
              <a:t>借位标志</a:t>
            </a:r>
            <a:r>
              <a:rPr lang="en-US" altLang="zh-CN" sz="2400" dirty="0">
                <a:solidFill>
                  <a:srgbClr val="FF0000"/>
                </a:solidFill>
                <a:latin typeface="方正正粗黑简体" pitchFamily="2" charset="-122"/>
                <a:ea typeface="方正正粗黑简体" pitchFamily="2" charset="-122"/>
              </a:rPr>
              <a:t>(CF)</a:t>
            </a:r>
            <a:r>
              <a:rPr lang="zh-CN" altLang="en-US" sz="2400" dirty="0">
                <a:latin typeface="Times New Roman" panose="02020603050405020304" pitchFamily="18" charset="0"/>
                <a:cs typeface="Times New Roman" panose="02020603050405020304" pitchFamily="18" charset="0"/>
              </a:rPr>
              <a:t>表示</a:t>
            </a:r>
            <a:r>
              <a:rPr lang="zh-CN" altLang="en-US" sz="2400" dirty="0">
                <a:solidFill>
                  <a:srgbClr val="FF0000"/>
                </a:solidFill>
                <a:latin typeface="方正正粗黑简体" pitchFamily="2" charset="-122"/>
                <a:ea typeface="方正正粗黑简体" pitchFamily="2" charset="-122"/>
              </a:rPr>
              <a:t>无符号数</a:t>
            </a:r>
            <a:r>
              <a:rPr lang="zh-CN" altLang="en-US" sz="2400" dirty="0">
                <a:latin typeface="Times New Roman" panose="02020603050405020304" pitchFamily="18" charset="0"/>
                <a:cs typeface="Times New Roman" panose="02020603050405020304" pitchFamily="18" charset="0"/>
              </a:rPr>
              <a:t>的运算结果是否超出范围。对于无符号数运算而言，若保存进位或借位，即使超出范围，运算结果仍视为正确</a:t>
            </a:r>
            <a:endParaRPr lang="zh-CN" altLang="en-US" sz="2400" dirty="0">
              <a:latin typeface="Times New Roman" panose="02020603050405020304" pitchFamily="18" charset="0"/>
              <a:cs typeface="Times New Roman" panose="02020603050405020304" pitchFamily="18" charset="0"/>
            </a:endParaRPr>
          </a:p>
          <a:p>
            <a:pPr marL="624205" lvl="1" indent="-265430" eaLnBrk="1" hangingPunct="1">
              <a:spcBef>
                <a:spcPts val="600"/>
              </a:spcBef>
            </a:pPr>
            <a:r>
              <a:rPr lang="zh-CN" altLang="en-US" sz="2400" dirty="0">
                <a:solidFill>
                  <a:srgbClr val="FF0000"/>
                </a:solidFill>
                <a:latin typeface="方正正粗黑简体" pitchFamily="2" charset="-122"/>
                <a:ea typeface="方正正粗黑简体" pitchFamily="2" charset="-122"/>
              </a:rPr>
              <a:t>溢出标志</a:t>
            </a:r>
            <a:r>
              <a:rPr lang="en-US" altLang="zh-CN" sz="2400" dirty="0">
                <a:solidFill>
                  <a:srgbClr val="FF0000"/>
                </a:solidFill>
                <a:latin typeface="方正正粗黑简体" pitchFamily="2" charset="-122"/>
                <a:ea typeface="方正正粗黑简体" pitchFamily="2" charset="-122"/>
              </a:rPr>
              <a:t>(OF)</a:t>
            </a:r>
            <a:r>
              <a:rPr lang="zh-CN" altLang="en-US" sz="2400" dirty="0">
                <a:latin typeface="Times New Roman" panose="02020603050405020304" pitchFamily="18" charset="0"/>
                <a:cs typeface="Times New Roman" panose="02020603050405020304" pitchFamily="18" charset="0"/>
              </a:rPr>
              <a:t>表示</a:t>
            </a:r>
            <a:r>
              <a:rPr lang="zh-CN" altLang="en-US" sz="2400" dirty="0">
                <a:solidFill>
                  <a:srgbClr val="FF0000"/>
                </a:solidFill>
                <a:latin typeface="方正正粗黑简体" pitchFamily="2" charset="-122"/>
                <a:ea typeface="方正正粗黑简体" pitchFamily="2" charset="-122"/>
              </a:rPr>
              <a:t>有符号数</a:t>
            </a:r>
            <a:r>
              <a:rPr lang="zh-CN" altLang="en-US" sz="2400" dirty="0">
                <a:latin typeface="Times New Roman" panose="02020603050405020304" pitchFamily="18" charset="0"/>
                <a:cs typeface="Times New Roman" panose="02020603050405020304" pitchFamily="18" charset="0"/>
              </a:rPr>
              <a:t>的运算结果是否超出范围。若超出范围，则运算结果不正确，硬件报“溢出”中断</a:t>
            </a:r>
            <a:endParaRPr lang="zh-CN" altLang="en-US" sz="2400" dirty="0">
              <a:latin typeface="Times New Roman" panose="02020603050405020304" pitchFamily="18" charset="0"/>
              <a:cs typeface="Times New Roman" panose="02020603050405020304" pitchFamily="18" charset="0"/>
            </a:endParaRPr>
          </a:p>
          <a:p>
            <a:pPr marL="355600" indent="-355600" eaLnBrk="1" hangingPunct="1">
              <a:spcBef>
                <a:spcPts val="600"/>
              </a:spcBef>
            </a:pPr>
            <a:r>
              <a:rPr lang="zh-CN" altLang="en-US" sz="2800" dirty="0">
                <a:latin typeface="Times New Roman" panose="02020603050405020304" pitchFamily="18" charset="0"/>
                <a:cs typeface="Times New Roman" panose="02020603050405020304" pitchFamily="18" charset="0"/>
              </a:rPr>
              <a:t>处理器根据算术运算的结果设置</a:t>
            </a:r>
            <a:r>
              <a:rPr lang="en-US" altLang="zh-CN" sz="2800" dirty="0">
                <a:latin typeface="Times New Roman" panose="02020603050405020304" pitchFamily="18" charset="0"/>
                <a:cs typeface="Times New Roman" panose="02020603050405020304" pitchFamily="18" charset="0"/>
              </a:rPr>
              <a:t>CF</a:t>
            </a:r>
            <a:r>
              <a:rPr lang="zh-CN" altLang="en-US" sz="2800" dirty="0">
                <a:latin typeface="Times New Roman" panose="02020603050405020304" pitchFamily="18" charset="0"/>
                <a:cs typeface="Times New Roman" panose="02020603050405020304" pitchFamily="18" charset="0"/>
              </a:rPr>
              <a:t>与</a:t>
            </a:r>
            <a:r>
              <a:rPr lang="en-US" altLang="zh-CN" sz="2800" dirty="0">
                <a:latin typeface="Times New Roman" panose="02020603050405020304" pitchFamily="18" charset="0"/>
                <a:cs typeface="Times New Roman" panose="02020603050405020304" pitchFamily="18" charset="0"/>
              </a:rPr>
              <a:t>OF</a:t>
            </a:r>
            <a:r>
              <a:rPr lang="zh-CN" altLang="en-US" sz="2800" dirty="0">
                <a:latin typeface="Times New Roman" panose="02020603050405020304" pitchFamily="18" charset="0"/>
                <a:cs typeface="Times New Roman" panose="02020603050405020304" pitchFamily="18" charset="0"/>
              </a:rPr>
              <a:t>标志：</a:t>
            </a:r>
            <a:endParaRPr lang="zh-CN" altLang="en-US" sz="2800" dirty="0">
              <a:latin typeface="Times New Roman" panose="02020603050405020304" pitchFamily="18" charset="0"/>
              <a:cs typeface="Times New Roman" panose="02020603050405020304" pitchFamily="18" charset="0"/>
            </a:endParaRPr>
          </a:p>
          <a:p>
            <a:pPr marL="624205" lvl="1" indent="-265430" eaLnBrk="1" hangingPunct="1">
              <a:spcBef>
                <a:spcPts val="600"/>
              </a:spcBef>
            </a:pPr>
            <a:r>
              <a:rPr lang="zh-CN" altLang="en-US" sz="2400" dirty="0">
                <a:latin typeface="Times New Roman" panose="02020603050405020304" pitchFamily="18" charset="0"/>
                <a:cs typeface="Times New Roman" panose="02020603050405020304" pitchFamily="18" charset="0"/>
              </a:rPr>
              <a:t>设置</a:t>
            </a:r>
            <a:r>
              <a:rPr lang="en-US" altLang="zh-CN" sz="2400" dirty="0">
                <a:solidFill>
                  <a:srgbClr val="FF0000"/>
                </a:solidFill>
                <a:latin typeface="Times New Roman" panose="02020603050405020304" pitchFamily="18" charset="0"/>
                <a:cs typeface="Times New Roman" panose="02020603050405020304" pitchFamily="18" charset="0"/>
              </a:rPr>
              <a:t>CF</a:t>
            </a:r>
            <a:r>
              <a:rPr lang="zh-CN" altLang="en-US" sz="2400" dirty="0">
                <a:solidFill>
                  <a:srgbClr val="FF0000"/>
                </a:solidFill>
                <a:latin typeface="Times New Roman" panose="02020603050405020304" pitchFamily="18" charset="0"/>
                <a:cs typeface="Times New Roman" panose="02020603050405020304" pitchFamily="18" charset="0"/>
              </a:rPr>
              <a:t>标志</a:t>
            </a:r>
            <a:r>
              <a:rPr lang="zh-CN" altLang="en-US" sz="2400" dirty="0">
                <a:latin typeface="Times New Roman" panose="02020603050405020304" pitchFamily="18" charset="0"/>
                <a:cs typeface="Times New Roman" panose="02020603050405020304" pitchFamily="18" charset="0"/>
              </a:rPr>
              <a:t>时，运算结果被视为</a:t>
            </a:r>
            <a:r>
              <a:rPr lang="zh-CN" altLang="en-US" sz="2400" dirty="0">
                <a:solidFill>
                  <a:srgbClr val="FF0000"/>
                </a:solidFill>
                <a:latin typeface="Times New Roman" panose="02020603050405020304" pitchFamily="18" charset="0"/>
                <a:cs typeface="Times New Roman" panose="02020603050405020304" pitchFamily="18" charset="0"/>
              </a:rPr>
              <a:t>无符号数</a:t>
            </a:r>
            <a:endParaRPr lang="zh-CN" altLang="en-US" sz="2400" dirty="0">
              <a:latin typeface="Times New Roman" panose="02020603050405020304" pitchFamily="18" charset="0"/>
              <a:cs typeface="Times New Roman" panose="02020603050405020304" pitchFamily="18" charset="0"/>
            </a:endParaRPr>
          </a:p>
          <a:p>
            <a:pPr marL="624205" lvl="1" indent="-265430" eaLnBrk="1" hangingPunct="1">
              <a:spcBef>
                <a:spcPts val="600"/>
              </a:spcBef>
            </a:pPr>
            <a:r>
              <a:rPr lang="zh-CN" altLang="en-US" sz="2400" dirty="0">
                <a:latin typeface="Times New Roman" panose="02020603050405020304" pitchFamily="18" charset="0"/>
                <a:cs typeface="Times New Roman" panose="02020603050405020304" pitchFamily="18" charset="0"/>
              </a:rPr>
              <a:t>设置</a:t>
            </a:r>
            <a:r>
              <a:rPr lang="en-US" altLang="zh-CN" sz="2400" dirty="0">
                <a:solidFill>
                  <a:srgbClr val="FF0000"/>
                </a:solidFill>
                <a:latin typeface="Times New Roman" panose="02020603050405020304" pitchFamily="18" charset="0"/>
                <a:cs typeface="Times New Roman" panose="02020603050405020304" pitchFamily="18" charset="0"/>
              </a:rPr>
              <a:t>OF</a:t>
            </a:r>
            <a:r>
              <a:rPr lang="zh-CN" altLang="en-US" sz="2400" dirty="0">
                <a:solidFill>
                  <a:srgbClr val="FF0000"/>
                </a:solidFill>
                <a:latin typeface="Times New Roman" panose="02020603050405020304" pitchFamily="18" charset="0"/>
                <a:cs typeface="Times New Roman" panose="02020603050405020304" pitchFamily="18" charset="0"/>
              </a:rPr>
              <a:t>标志</a:t>
            </a:r>
            <a:r>
              <a:rPr lang="zh-CN" altLang="en-US" sz="2400" dirty="0">
                <a:latin typeface="Times New Roman" panose="02020603050405020304" pitchFamily="18" charset="0"/>
                <a:cs typeface="Times New Roman" panose="02020603050405020304" pitchFamily="18" charset="0"/>
              </a:rPr>
              <a:t>时，运算结果被视为</a:t>
            </a:r>
            <a:r>
              <a:rPr lang="zh-CN" altLang="en-US" sz="2400" dirty="0">
                <a:solidFill>
                  <a:srgbClr val="FF0000"/>
                </a:solidFill>
                <a:latin typeface="Times New Roman" panose="02020603050405020304" pitchFamily="18" charset="0"/>
                <a:cs typeface="Times New Roman" panose="02020603050405020304" pitchFamily="18" charset="0"/>
              </a:rPr>
              <a:t>有符号数</a:t>
            </a:r>
            <a:endParaRPr lang="zh-CN" altLang="en-US" dirty="0">
              <a:latin typeface="Times New Roman" panose="02020603050405020304" pitchFamily="18" charset="0"/>
              <a:ea typeface="Times New Roman" panose="02020603050405020304" pitchFamily="18" charset="0"/>
            </a:endParaRPr>
          </a:p>
        </p:txBody>
      </p:sp>
      <p:pic>
        <p:nvPicPr>
          <p:cNvPr id="34821" name="Picture 5"/>
          <p:cNvPicPr>
            <a:picLocks noChangeAspect="1"/>
          </p:cNvPicPr>
          <p:nvPr/>
        </p:nvPicPr>
        <p:blipFill>
          <a:blip r:embed="rId1">
            <a:clrChange>
              <a:clrFrom>
                <a:srgbClr val="FFFFFF"/>
              </a:clrFrom>
              <a:clrTo>
                <a:srgbClr val="FFFFFF">
                  <a:alpha val="0"/>
                </a:srgbClr>
              </a:clrTo>
            </a:clrChange>
          </a:blip>
          <a:stretch>
            <a:fillRect/>
          </a:stretch>
        </p:blipFill>
        <p:spPr>
          <a:xfrm>
            <a:off x="4962525" y="6237288"/>
            <a:ext cx="1481138" cy="336550"/>
          </a:xfrm>
          <a:prstGeom prst="rect">
            <a:avLst/>
          </a:prstGeom>
          <a:noFill/>
          <a:ln w="9525">
            <a:noFill/>
          </a:ln>
        </p:spPr>
      </p:pic>
      <p:pic>
        <p:nvPicPr>
          <p:cNvPr id="34820" name="Picture 4"/>
          <p:cNvPicPr>
            <a:picLocks noChangeAspect="1"/>
          </p:cNvPicPr>
          <p:nvPr/>
        </p:nvPicPr>
        <p:blipFill>
          <a:blip r:embed="rId2">
            <a:clrChange>
              <a:clrFrom>
                <a:srgbClr val="FFFFFF"/>
              </a:clrFrom>
              <a:clrTo>
                <a:srgbClr val="FFFFFF">
                  <a:alpha val="0"/>
                </a:srgbClr>
              </a:clrTo>
            </a:clrChange>
          </a:blip>
          <a:stretch>
            <a:fillRect/>
          </a:stretch>
        </p:blipFill>
        <p:spPr>
          <a:xfrm>
            <a:off x="7102475" y="6237288"/>
            <a:ext cx="1384300" cy="336550"/>
          </a:xfrm>
          <a:prstGeom prst="rect">
            <a:avLst/>
          </a:prstGeom>
          <a:noFill/>
          <a:ln w="9525">
            <a:noFill/>
          </a:ln>
        </p:spPr>
      </p:pic>
      <p:grpSp>
        <p:nvGrpSpPr>
          <p:cNvPr id="2" name="组合 10"/>
          <p:cNvGrpSpPr/>
          <p:nvPr/>
        </p:nvGrpSpPr>
        <p:grpSpPr>
          <a:xfrm>
            <a:off x="3089275" y="6199188"/>
            <a:ext cx="1423988" cy="387350"/>
            <a:chOff x="3509964" y="6181618"/>
            <a:chExt cx="849327" cy="221630"/>
          </a:xfrm>
        </p:grpSpPr>
        <p:pic>
          <p:nvPicPr>
            <p:cNvPr id="61449" name="Picture 6"/>
            <p:cNvPicPr>
              <a:picLocks noChangeAspect="1"/>
            </p:cNvPicPr>
            <p:nvPr/>
          </p:nvPicPr>
          <p:blipFill>
            <a:blip r:embed="rId3">
              <a:clrChange>
                <a:clrFrom>
                  <a:srgbClr val="FFFFFF"/>
                </a:clrFrom>
                <a:clrTo>
                  <a:srgbClr val="FFFFFF">
                    <a:alpha val="0"/>
                  </a:srgbClr>
                </a:clrTo>
              </a:clrChange>
            </a:blip>
            <a:stretch>
              <a:fillRect/>
            </a:stretch>
          </p:blipFill>
          <p:spPr>
            <a:xfrm>
              <a:off x="3509964" y="6202932"/>
              <a:ext cx="193098" cy="193097"/>
            </a:xfrm>
            <a:prstGeom prst="rect">
              <a:avLst/>
            </a:prstGeom>
            <a:noFill/>
            <a:ln w="9525">
              <a:noFill/>
            </a:ln>
          </p:spPr>
        </p:pic>
        <p:sp>
          <p:nvSpPr>
            <p:cNvPr id="61450" name="Rectangle 8"/>
            <p:cNvSpPr/>
            <p:nvPr/>
          </p:nvSpPr>
          <p:spPr>
            <a:xfrm>
              <a:off x="3683447" y="6181618"/>
              <a:ext cx="675844" cy="221630"/>
            </a:xfrm>
            <a:prstGeom prst="rect">
              <a:avLst/>
            </a:prstGeom>
            <a:noFill/>
            <a:ln w="9525">
              <a:noFill/>
            </a:ln>
          </p:spPr>
          <p:txBody>
            <a:bodyPr anchor="ctr" anchorCtr="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spcBef>
                  <a:spcPct val="0"/>
                </a:spcBef>
                <a:buFontTx/>
                <a:buNone/>
              </a:pPr>
              <a:r>
                <a:rPr lang="en-US" altLang="zh-CN" sz="2000" dirty="0">
                  <a:latin typeface="Times New Roman" panose="02020603050405020304" pitchFamily="18" charset="0"/>
                  <a:ea typeface="宋体" panose="02010600030101010101" pitchFamily="2" charset="-122"/>
                </a:rPr>
                <a:t>+ZF=1</a:t>
              </a:r>
              <a:endParaRPr lang="en-US" altLang="zh-CN" sz="2000" dirty="0">
                <a:latin typeface="Times New Roman" panose="02020603050405020304" pitchFamily="18" charset="0"/>
                <a:ea typeface="宋体" panose="02010600030101010101" pitchFamily="2" charset="-122"/>
              </a:endParaRPr>
            </a:p>
          </p:txBody>
        </p:sp>
      </p:grpSp>
      <p:sp>
        <p:nvSpPr>
          <p:cNvPr id="61448" name="Rectangle 10"/>
          <p:cNvSpPr/>
          <p:nvPr/>
        </p:nvSpPr>
        <p:spPr>
          <a:xfrm>
            <a:off x="0" y="1000125"/>
            <a:ext cx="9144000" cy="0"/>
          </a:xfrm>
          <a:prstGeom prst="rect">
            <a:avLst/>
          </a:prstGeom>
          <a:noFill/>
          <a:ln w="9525">
            <a:noFill/>
          </a:ln>
        </p:spPr>
        <p:txBody>
          <a:bodyPr wrap="none" anchor="ctr" anchorCtr="0">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a:spcBef>
                <a:spcPct val="0"/>
              </a:spcBef>
              <a:buFontTx/>
              <a:buNone/>
            </a:pPr>
            <a:r>
              <a:rPr lang="en-US" altLang="zh-CN" sz="1100" b="0" dirty="0">
                <a:ea typeface="宋体" panose="02010600030101010101" pitchFamily="2" charset="-122"/>
              </a:rPr>
              <a:t> </a:t>
            </a:r>
            <a:endParaRPr lang="en-US" altLang="zh-CN" sz="2000" b="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23"/>
                                        </p:tgtEl>
                                        <p:attrNameLst>
                                          <p:attrName>style.visibility</p:attrName>
                                        </p:attrNameLst>
                                      </p:cBhvr>
                                      <p:to>
                                        <p:strVal val="visible"/>
                                      </p:to>
                                    </p:set>
                                    <p:animEffect transition="in" filter="blinds(horizontal)">
                                      <p:cBhvr>
                                        <p:cTn id="7" dur="500"/>
                                        <p:tgtEl>
                                          <p:spTgt spid="34823"/>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4821"/>
                                        </p:tgtEl>
                                        <p:attrNameLst>
                                          <p:attrName>style.visibility</p:attrName>
                                        </p:attrNameLst>
                                      </p:cBhvr>
                                      <p:to>
                                        <p:strVal val="visible"/>
                                      </p:to>
                                    </p:set>
                                    <p:animEffect transition="in" filter="blinds(horizontal)">
                                      <p:cBhvr>
                                        <p:cTn id="11" dur="500"/>
                                        <p:tgtEl>
                                          <p:spTgt spid="34821"/>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34820"/>
                                        </p:tgtEl>
                                        <p:attrNameLst>
                                          <p:attrName>style.visibility</p:attrName>
                                        </p:attrNameLst>
                                      </p:cBhvr>
                                      <p:to>
                                        <p:strVal val="visible"/>
                                      </p:to>
                                    </p:set>
                                    <p:animEffect transition="in" filter="blinds(horizontal)">
                                      <p:cBhvr>
                                        <p:cTn id="15" dur="500"/>
                                        <p:tgtEl>
                                          <p:spTgt spid="34820"/>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p:cNvSpPr>
          <p:nvPr>
            <p:ph type="title"/>
          </p:nvPr>
        </p:nvSpPr>
        <p:spPr>
          <a:xfrm>
            <a:off x="574675" y="304800"/>
            <a:ext cx="7021513" cy="676275"/>
          </a:xfrm>
        </p:spPr>
        <p:txBody>
          <a:bodyPr vert="horz" wrap="square" lIns="91440" tIns="45720" rIns="91440" bIns="45720" anchor="b" anchorCtr="0"/>
          <a:p>
            <a:pPr eaLnBrk="1" hangingPunct="1"/>
            <a:r>
              <a:rPr lang="zh-CN" altLang="en-US" sz="3600" dirty="0"/>
              <a:t>定点数运算举例</a:t>
            </a:r>
            <a:endParaRPr lang="zh-CN" altLang="en-US" sz="3600" dirty="0"/>
          </a:p>
        </p:txBody>
      </p:sp>
      <p:sp>
        <p:nvSpPr>
          <p:cNvPr id="3" name="内容占位符 2"/>
          <p:cNvSpPr>
            <a:spLocks noGrp="1"/>
          </p:cNvSpPr>
          <p:nvPr>
            <p:ph idx="1"/>
          </p:nvPr>
        </p:nvSpPr>
        <p:spPr>
          <a:xfrm>
            <a:off x="468313" y="1357313"/>
            <a:ext cx="8424863" cy="487997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2013</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某字长为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8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位的计算机中，已知整型变量</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x</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的机器数分别为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4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 1110100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[y]</a:t>
            </a:r>
            <a:r>
              <a:rPr kumimoji="0" lang="zh-CN" altLang="en-US" sz="24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 0110000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。若整型变量</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z=2*x+y/2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的机器数为</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31825" marR="0" lvl="0" indent="-457200" algn="l" defTabSz="914400" rtl="0" eaLnBrk="0" fontAlgn="base" latinLnBrk="0" hangingPunct="0">
              <a:lnSpc>
                <a:spcPct val="100000"/>
              </a:lnSpc>
              <a:spcBef>
                <a:spcPct val="20000"/>
              </a:spcBef>
              <a:spcAft>
                <a:spcPct val="0"/>
              </a:spcAft>
              <a:buClrTx/>
              <a:buSzTx/>
              <a:buFont typeface="Wingdings" panose="05000000000000000000" pitchFamily="2" charset="2"/>
              <a:buAutoNum type="alphaUcPeriod"/>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 1000000        B. 0 0100100        C. 1 0101010          D.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溢出</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88975" marR="0" lvl="0" indent="-514350" algn="l" defTabSz="914400" rtl="0" eaLnBrk="0" fontAlgn="base" latinLnBrk="0" hangingPunct="0">
              <a:lnSpc>
                <a:spcPct val="100000"/>
              </a:lnSpc>
              <a:spcBef>
                <a:spcPct val="20000"/>
              </a:spcBef>
              <a:spcAft>
                <a:spcPct val="0"/>
              </a:spcAft>
              <a:buClrTx/>
              <a:buSzTx/>
              <a:buFont typeface="Wingdings" panose="05000000000000000000" pitchFamily="2" charset="2"/>
              <a:buAutoNum type="alphaUcPeriod"/>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2010</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假定有</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个整数用</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8</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位补码分别表示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r1=FEH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r2=F2H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r3=90H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r4=F8H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，若将运算结果存放在一个</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8</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位寄存器中，则下列运算会发生溢出的是</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508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r1 * r2        </a:t>
            </a:r>
            <a:r>
              <a:rPr kumimoji="0" lang="en-US"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B. r2 * r3	      C. r1 *r4          D. r2 * r4</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88975" marR="0" lvl="0" indent="-5143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charRg st="161" end="245"/>
                                            </p:txEl>
                                          </p:spTgt>
                                        </p:tgtEl>
                                        <p:attrNameLst>
                                          <p:attrName>style.visibility</p:attrName>
                                        </p:attrNameLst>
                                      </p:cBhvr>
                                      <p:to>
                                        <p:strVal val="visible"/>
                                      </p:to>
                                    </p:set>
                                    <p:animEffect transition="in" filter="blinds(horizontal)">
                                      <p:cBhvr>
                                        <p:cTn id="7" dur="500"/>
                                        <p:tgtEl>
                                          <p:spTgt spid="3">
                                            <p:txEl>
                                              <p:charRg st="161" end="24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charRg st="245" end="312"/>
                                            </p:txEl>
                                          </p:spTgt>
                                        </p:tgtEl>
                                        <p:attrNameLst>
                                          <p:attrName>style.visibility</p:attrName>
                                        </p:attrNameLst>
                                      </p:cBhvr>
                                      <p:to>
                                        <p:strVal val="visible"/>
                                      </p:to>
                                    </p:set>
                                    <p:animEffect transition="in" filter="blinds(horizontal)">
                                      <p:cBhvr>
                                        <p:cTn id="10" dur="500"/>
                                        <p:tgtEl>
                                          <p:spTgt spid="3">
                                            <p:txEl>
                                              <p:charRg st="245" end="3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p:cNvSpPr>
          <p:nvPr>
            <p:ph type="title"/>
          </p:nvPr>
        </p:nvSpPr>
        <p:spPr>
          <a:xfrm>
            <a:off x="574675" y="304800"/>
            <a:ext cx="7021513" cy="676275"/>
          </a:xfrm>
        </p:spPr>
        <p:txBody>
          <a:bodyPr vert="horz" wrap="square" lIns="91440" tIns="45720" rIns="91440" bIns="45720" anchor="b" anchorCtr="0"/>
          <a:p>
            <a:pPr eaLnBrk="1" hangingPunct="1"/>
            <a:r>
              <a:rPr lang="zh-CN" altLang="en-US" sz="3600" dirty="0"/>
              <a:t>定点加法运算举例</a:t>
            </a:r>
            <a:endParaRPr lang="zh-CN" altLang="en-US" sz="3600" dirty="0"/>
          </a:p>
        </p:txBody>
      </p:sp>
      <p:sp>
        <p:nvSpPr>
          <p:cNvPr id="3" name="内容占位符 2"/>
          <p:cNvSpPr>
            <a:spLocks noGrp="1"/>
          </p:cNvSpPr>
          <p:nvPr>
            <p:ph idx="1"/>
          </p:nvPr>
        </p:nvSpPr>
        <p:spPr>
          <a:xfrm>
            <a:off x="468313" y="1357313"/>
            <a:ext cx="8424863" cy="487997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2009</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一个</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语言程序在一台</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位机器上运行。程序中定义了三个变量</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xyz</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，其中</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是</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int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型，</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short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型。当</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x=127</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y=-9</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时，执行赋值语句</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z=x+y</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后，</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的值分别是</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508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X=0000007FH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y=FFF9H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z=00000076H</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508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X=0000007FH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y=FFF9H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z=FFFF0076H</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508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X=0000007FH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y=FFF7H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z=FFFF0076H</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508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D</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X=0000007FH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y=FFF7H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z=00000076H</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88975" marR="0" lvl="0" indent="-51435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圆角矩形标注 3"/>
          <p:cNvSpPr/>
          <p:nvPr/>
        </p:nvSpPr>
        <p:spPr>
          <a:xfrm>
            <a:off x="574675" y="4437063"/>
            <a:ext cx="8032750" cy="1571625"/>
          </a:xfrm>
          <a:prstGeom prst="wedgeRoundRectCallout">
            <a:avLst>
              <a:gd name="adj1" fmla="val -21668"/>
              <a:gd name="adj2" fmla="val 51418"/>
              <a:gd name="adj3" fmla="val 16667"/>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ALU</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数据通路宽度是由机器字长决定的。对于</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位机器而言，其字长</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位，参与</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ALU</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运算的数据都是</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位</a:t>
            </a:r>
            <a:endPar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a:p>
            <a:pPr marL="262255" marR="0" lvl="0" indent="-262255" algn="l" defTabSz="914400" rtl="0" eaLnBrk="1" fontAlgn="base" latinLnBrk="0" hangingPunct="1">
              <a:lnSpc>
                <a:spcPct val="100000"/>
              </a:lnSpc>
              <a:spcBef>
                <a:spcPct val="0"/>
              </a:spcBef>
              <a:spcAft>
                <a:spcPct val="0"/>
              </a:spcAft>
              <a:buClrTx/>
              <a:buSzTx/>
              <a:buFont typeface="Wingdings" panose="05000000000000000000" pitchFamily="2" charset="2"/>
              <a:buChar char="Ø"/>
              <a:defRPr/>
            </a:pP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要将</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y</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的</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16</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位短整变为</a:t>
            </a:r>
            <a:r>
              <a:rPr kumimoji="0"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32</a:t>
            </a:r>
            <a:r>
              <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rPr>
              <a:t>位整数，做符号位扩展</a:t>
            </a:r>
            <a:endParaRPr kumimoji="0"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1"/>
          <p:cNvSpPr>
            <a:spLocks noGrp="1"/>
          </p:cNvSpPr>
          <p:nvPr>
            <p:ph type="title"/>
          </p:nvPr>
        </p:nvSpPr>
        <p:spPr/>
        <p:txBody>
          <a:bodyPr vert="horz" wrap="square" lIns="91440" tIns="45720" rIns="91440" bIns="45720" anchor="b" anchorCtr="0"/>
          <a:p>
            <a:r>
              <a:rPr lang="zh-CN" altLang="en-US" sz="3600" dirty="0"/>
              <a:t>定点加法运算举例</a:t>
            </a:r>
            <a:endParaRPr lang="zh-CN" altLang="en-US" sz="3600" dirty="0"/>
          </a:p>
        </p:txBody>
      </p:sp>
      <p:sp>
        <p:nvSpPr>
          <p:cNvPr id="3" name="内容占位符 2"/>
          <p:cNvSpPr>
            <a:spLocks noGrp="1"/>
          </p:cNvSpPr>
          <p:nvPr>
            <p:ph idx="1"/>
          </p:nvPr>
        </p:nvSpPr>
        <p:spPr>
          <a:xfrm>
            <a:off x="501650" y="3862388"/>
            <a:ext cx="8102600" cy="2879725"/>
          </a:xfrm>
        </p:spPr>
        <p:txBody>
          <a:bodyPr vert="horz" wrap="square" lIns="91440" tIns="45720" rIns="91440" bIns="45720" anchor="t" anchorCtr="0"/>
          <a:p>
            <a:pPr>
              <a:spcBef>
                <a:spcPts val="300"/>
              </a:spcBef>
              <a:buNone/>
            </a:pPr>
            <a:r>
              <a:rPr lang="zh-CN" altLang="en-US" sz="2400" dirty="0">
                <a:latin typeface="Times New Roman" panose="02020603050405020304" pitchFamily="18" charset="0"/>
                <a:cs typeface="Times New Roman" panose="02020603050405020304" pitchFamily="18" charset="0"/>
              </a:rPr>
              <a:t>解：</a:t>
            </a:r>
            <a:r>
              <a:rPr lang="en-US" altLang="zh-CN" sz="2400" dirty="0">
                <a:latin typeface="Times New Roman" panose="02020603050405020304" pitchFamily="18" charset="0"/>
                <a:cs typeface="Times New Roman" panose="02020603050405020304" pitchFamily="18" charset="0"/>
              </a:rPr>
              <a:t>1. A=151=97H </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B=214=D6H</a:t>
            </a:r>
            <a:r>
              <a:rPr lang="zh-CN" altLang="en-US" sz="2400" dirty="0">
                <a:latin typeface="Times New Roman" panose="02020603050405020304" pitchFamily="18" charset="0"/>
                <a:cs typeface="Times New Roman" panose="02020603050405020304" pitchFamily="18" charset="0"/>
              </a:rPr>
              <a:t>，若表示成二进制补码：</a:t>
            </a:r>
            <a:endParaRPr lang="en-US" altLang="zh-CN" sz="2400" dirty="0">
              <a:latin typeface="Times New Roman" panose="02020603050405020304" pitchFamily="18" charset="0"/>
              <a:cs typeface="Times New Roman" panose="02020603050405020304" pitchFamily="18" charset="0"/>
            </a:endParaRPr>
          </a:p>
          <a:p>
            <a:pPr>
              <a:spcBef>
                <a:spcPts val="300"/>
              </a:spcBef>
              <a:buNone/>
            </a:pPr>
            <a:r>
              <a:rPr lang="en-US" altLang="zh-CN" sz="2400" dirty="0">
                <a:latin typeface="Times New Roman" panose="02020603050405020304" pitchFamily="18" charset="0"/>
                <a:cs typeface="Times New Roman" panose="02020603050405020304" pitchFamily="18" charset="0"/>
              </a:rPr>
              <a:t>            A+B=97H+D6H=6DH</a:t>
            </a:r>
            <a:r>
              <a:rPr lang="zh-CN" altLang="en-US" sz="2400" dirty="0">
                <a:latin typeface="Times New Roman" panose="02020603050405020304" pitchFamily="18" charset="0"/>
                <a:cs typeface="Times New Roman" panose="02020603050405020304" pitchFamily="18" charset="0"/>
              </a:rPr>
              <a:t>；</a:t>
            </a:r>
            <a:r>
              <a:rPr lang="en-US" altLang="zh-CN" sz="2400" dirty="0">
                <a:solidFill>
                  <a:srgbClr val="FF0000"/>
                </a:solidFill>
                <a:latin typeface="方正正粗黑简体" pitchFamily="2" charset="-122"/>
                <a:ea typeface="方正正粗黑简体" pitchFamily="2" charset="-122"/>
              </a:rPr>
              <a:t>OF=1</a:t>
            </a:r>
            <a:r>
              <a:rPr lang="zh-CN" altLang="en-US" sz="2400" dirty="0">
                <a:solidFill>
                  <a:srgbClr val="FF0000"/>
                </a:solidFill>
                <a:latin typeface="方正正粗黑简体" pitchFamily="2" charset="-122"/>
                <a:ea typeface="方正正粗黑简体" pitchFamily="2" charset="-122"/>
              </a:rPr>
              <a:t>，有符号数溢出</a:t>
            </a:r>
            <a:endParaRPr lang="en-US" altLang="zh-CN" sz="2400" dirty="0">
              <a:solidFill>
                <a:srgbClr val="FF0000"/>
              </a:solidFill>
              <a:latin typeface="方正正粗黑简体" pitchFamily="2" charset="-122"/>
              <a:ea typeface="方正正粗黑简体" pitchFamily="2" charset="-122"/>
            </a:endParaRPr>
          </a:p>
          <a:p>
            <a:pPr>
              <a:spcBef>
                <a:spcPts val="300"/>
              </a:spcBef>
              <a:buNone/>
            </a:pPr>
            <a:r>
              <a:rPr lang="en-US" altLang="zh-CN" sz="2400" dirty="0">
                <a:latin typeface="Times New Roman" panose="02020603050405020304" pitchFamily="18" charset="0"/>
                <a:cs typeface="Times New Roman" panose="02020603050405020304" pitchFamily="18" charset="0"/>
              </a:rPr>
              <a:t>        2. A=151=97H </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B=214=D6H</a:t>
            </a:r>
            <a:r>
              <a:rPr lang="zh-CN" altLang="en-US" sz="2400" dirty="0">
                <a:latin typeface="Times New Roman" panose="02020603050405020304" pitchFamily="18" charset="0"/>
                <a:cs typeface="Times New Roman" panose="02020603050405020304" pitchFamily="18" charset="0"/>
              </a:rPr>
              <a:t>，若表示成二进制补码：</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a:spcBef>
                <a:spcPts val="300"/>
              </a:spcBef>
              <a:buNone/>
            </a:pPr>
            <a:r>
              <a:rPr lang="en-US" altLang="zh-CN" sz="2400" dirty="0">
                <a:latin typeface="Times New Roman" panose="02020603050405020304" pitchFamily="18" charset="0"/>
                <a:cs typeface="Times New Roman" panose="02020603050405020304" pitchFamily="18" charset="0"/>
              </a:rPr>
              <a:t>            A−B=97H−D6H=97H+2AH=C1H</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OF=0</a:t>
            </a:r>
            <a:r>
              <a:rPr lang="zh-CN" altLang="en-US" sz="2400" dirty="0">
                <a:latin typeface="Times New Roman" panose="02020603050405020304" pitchFamily="18" charset="0"/>
                <a:cs typeface="Times New Roman" panose="02020603050405020304" pitchFamily="18" charset="0"/>
              </a:rPr>
              <a:t>，无溢出</a:t>
            </a:r>
            <a:endParaRPr lang="en-US" altLang="zh-CN" sz="2400" dirty="0">
              <a:latin typeface="Times New Roman" panose="02020603050405020304" pitchFamily="18" charset="0"/>
              <a:cs typeface="Times New Roman" panose="02020603050405020304" pitchFamily="18" charset="0"/>
            </a:endParaRPr>
          </a:p>
          <a:p>
            <a:pPr>
              <a:spcBef>
                <a:spcPts val="300"/>
              </a:spcBef>
              <a:buNone/>
            </a:pPr>
            <a:r>
              <a:rPr lang="en-US" altLang="zh-CN" sz="2400" dirty="0">
                <a:latin typeface="Times New Roman" panose="02020603050405020304" pitchFamily="18" charset="0"/>
                <a:cs typeface="Times New Roman" panose="02020603050405020304" pitchFamily="18" charset="0"/>
              </a:rPr>
              <a:t>        3. A=151=97H </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B=214=D6H</a:t>
            </a:r>
            <a:r>
              <a:rPr lang="zh-CN" altLang="en-US" sz="2400" dirty="0">
                <a:latin typeface="Times New Roman" panose="02020603050405020304" pitchFamily="18" charset="0"/>
                <a:cs typeface="Times New Roman" panose="02020603050405020304" pitchFamily="18" charset="0"/>
              </a:rPr>
              <a:t>，若表示成无符号数：</a:t>
            </a:r>
            <a:endParaRPr lang="en-US" altLang="zh-CN" sz="2400" dirty="0">
              <a:latin typeface="Times New Roman" panose="02020603050405020304" pitchFamily="18" charset="0"/>
              <a:cs typeface="Times New Roman" panose="02020603050405020304" pitchFamily="18" charset="0"/>
            </a:endParaRPr>
          </a:p>
          <a:p>
            <a:pPr>
              <a:spcBef>
                <a:spcPts val="300"/>
              </a:spcBef>
              <a:buNone/>
            </a:pPr>
            <a:r>
              <a:rPr lang="en-US" altLang="zh-CN" sz="2400" dirty="0">
                <a:latin typeface="Times New Roman" panose="02020603050405020304" pitchFamily="18" charset="0"/>
                <a:cs typeface="Times New Roman" panose="02020603050405020304" pitchFamily="18" charset="0"/>
              </a:rPr>
              <a:t>            A+B=97H+D6H=6DH</a:t>
            </a:r>
            <a:r>
              <a:rPr lang="zh-CN" altLang="en-US" sz="2400" dirty="0">
                <a:latin typeface="Times New Roman" panose="02020603050405020304" pitchFamily="18" charset="0"/>
                <a:cs typeface="Times New Roman" panose="02020603050405020304" pitchFamily="18" charset="0"/>
              </a:rPr>
              <a:t>；</a:t>
            </a:r>
            <a:r>
              <a:rPr lang="en-US" altLang="zh-CN" sz="2400" dirty="0">
                <a:solidFill>
                  <a:srgbClr val="FF0000"/>
                </a:solidFill>
                <a:latin typeface="方正正粗黑简体" pitchFamily="2" charset="-122"/>
                <a:ea typeface="方正正粗黑简体" pitchFamily="2" charset="-122"/>
              </a:rPr>
              <a:t>CF=1</a:t>
            </a:r>
            <a:r>
              <a:rPr lang="zh-CN" altLang="en-US" sz="2400" dirty="0">
                <a:solidFill>
                  <a:srgbClr val="FF0000"/>
                </a:solidFill>
                <a:latin typeface="方正正粗黑简体" pitchFamily="2" charset="-122"/>
                <a:ea typeface="方正正粗黑简体" pitchFamily="2" charset="-122"/>
              </a:rPr>
              <a:t>，无符号数溢出</a:t>
            </a:r>
            <a:endParaRPr lang="en-US" altLang="zh-CN" sz="2400" dirty="0">
              <a:latin typeface="方正正粗黑简体" pitchFamily="2" charset="-122"/>
              <a:ea typeface="方正正粗黑简体" pitchFamily="2" charset="-122"/>
            </a:endParaRPr>
          </a:p>
          <a:p>
            <a:pPr>
              <a:spcBef>
                <a:spcPts val="300"/>
              </a:spcBef>
              <a:buNone/>
            </a:pPr>
            <a:endParaRPr lang="en-US" altLang="zh-CN" sz="2400" dirty="0">
              <a:latin typeface="Times New Roman" panose="02020603050405020304" pitchFamily="18" charset="0"/>
              <a:cs typeface="Times New Roman" panose="02020603050405020304" pitchFamily="18" charset="0"/>
            </a:endParaRPr>
          </a:p>
          <a:p>
            <a:pPr>
              <a:spcBef>
                <a:spcPts val="300"/>
              </a:spcBef>
              <a:buNone/>
            </a:pPr>
            <a:endParaRPr lang="en-US" altLang="zh-CN" sz="2400" dirty="0">
              <a:latin typeface="Times New Roman" panose="02020603050405020304" pitchFamily="18" charset="0"/>
              <a:cs typeface="Times New Roman" panose="02020603050405020304" pitchFamily="18" charset="0"/>
            </a:endParaRPr>
          </a:p>
          <a:p>
            <a:pPr>
              <a:spcBef>
                <a:spcPts val="300"/>
              </a:spcBef>
              <a:buNone/>
            </a:pP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ea typeface="Times New Roman" panose="02020603050405020304" pitchFamily="18" charset="0"/>
            </a:endParaRPr>
          </a:p>
        </p:txBody>
      </p:sp>
      <p:pic>
        <p:nvPicPr>
          <p:cNvPr id="67588" name="Picture 2"/>
          <p:cNvPicPr>
            <a:picLocks noChangeAspect="1"/>
          </p:cNvPicPr>
          <p:nvPr/>
        </p:nvPicPr>
        <p:blipFill>
          <a:blip r:embed="rId1"/>
          <a:stretch>
            <a:fillRect/>
          </a:stretch>
        </p:blipFill>
        <p:spPr>
          <a:xfrm>
            <a:off x="4567238" y="3424238"/>
            <a:ext cx="9525" cy="9525"/>
          </a:xfrm>
          <a:prstGeom prst="rect">
            <a:avLst/>
          </a:prstGeom>
          <a:noFill/>
          <a:ln w="9525">
            <a:noFill/>
          </a:ln>
        </p:spPr>
      </p:pic>
      <p:sp>
        <p:nvSpPr>
          <p:cNvPr id="6" name="TextBox 5"/>
          <p:cNvSpPr txBox="1"/>
          <p:nvPr/>
        </p:nvSpPr>
        <p:spPr>
          <a:xfrm>
            <a:off x="428625" y="1214438"/>
            <a:ext cx="8572500" cy="2678113"/>
          </a:xfrm>
          <a:prstGeom prst="rect">
            <a:avLst/>
          </a:prstGeom>
          <a:noFill/>
        </p:spPr>
        <p:txBody>
          <a:bodyPr>
            <a:spAutoFit/>
          </a:bodyPr>
          <a:lstStyle/>
          <a:p>
            <a:pPr marR="0" defTabSz="914400" eaLnBrk="1" hangingPunct="1">
              <a:buClrTx/>
              <a:buSzTx/>
              <a:buFontTx/>
              <a:buNone/>
              <a:defRPr/>
            </a:pP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例：假设</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2</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个</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8</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位十进制数</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151</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和</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214</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为有符号整数，以二进制补码形式存储。用饱和算法计算下列算式，并以十进制形式写出运算结果。</a:t>
            </a:r>
            <a:endPar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endParaRPr>
          </a:p>
          <a:p>
            <a:pPr marL="536575" marR="0" indent="-361950" defTabSz="914400" eaLnBrk="1" hangingPunct="1">
              <a:buClrTx/>
              <a:buSzTx/>
              <a:buFont typeface="+mj-lt"/>
              <a:buAutoNum type="arabicPeriod"/>
              <a:defRPr/>
            </a:pP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151+214=</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a:t>
            </a:r>
            <a:endPar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endParaRPr>
          </a:p>
          <a:p>
            <a:pPr marL="536575" marR="0" indent="-361950" defTabSz="914400" eaLnBrk="1" hangingPunct="1">
              <a:buClrTx/>
              <a:buSzTx/>
              <a:buFont typeface="+mj-lt"/>
              <a:buAutoNum type="arabicPeriod"/>
              <a:defRPr/>
            </a:pP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151−214=</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a:t>
            </a:r>
            <a:endPar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endParaRPr>
          </a:p>
          <a:p>
            <a:pPr marL="536575" marR="0" indent="-361950" defTabSz="914400" eaLnBrk="1" hangingPunct="1">
              <a:buClrTx/>
              <a:buSzTx/>
              <a:buFont typeface="+mj-lt"/>
              <a:buAutoNum type="arabicPeriod"/>
              <a:defRPr/>
            </a:pP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若上述</a:t>
            </a:r>
            <a:r>
              <a:rPr kumimoji="0" lang="en-US" altLang="zh-CN" sz="2400" b="1" kern="1200" cap="none" spc="0" normalizeH="0" baseline="0" noProof="0" dirty="0">
                <a:latin typeface="Times New Roman" panose="02020603050405020304" pitchFamily="18" charset="0"/>
                <a:ea typeface="+mn-ea"/>
                <a:cs typeface="Times New Roman" panose="02020603050405020304" pitchFamily="18" charset="0"/>
              </a:rPr>
              <a:t>2</a:t>
            </a:r>
            <a:r>
              <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rPr>
              <a:t>个十进制数是无符号整数，则</a:t>
            </a:r>
            <a:r>
              <a:rPr kumimoji="0" lang="zh-CN" altLang="en-US" sz="2400" b="1" kern="1200" cap="none" spc="0" normalizeH="0" baseline="0" noProof="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用饱和算法计算</a:t>
            </a:r>
            <a:r>
              <a:rPr kumimoji="0" lang="en-US" altLang="zh-CN" sz="2400" b="1" kern="1200" cap="none" spc="0" normalizeH="0" baseline="0" noProof="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151+214</a:t>
            </a:r>
            <a:r>
              <a:rPr kumimoji="0" lang="zh-CN" altLang="en-US" sz="2400" b="1" kern="1200" cap="none" spc="0" normalizeH="0" baseline="0" noProof="0" dirty="0">
                <a:solidFill>
                  <a:srgbClr val="000000"/>
                </a:solidFill>
                <a:latin typeface="Times New Roman" panose="02020603050405020304" pitchFamily="18" charset="0"/>
                <a:ea typeface="华文新魏" panose="02010800040101010101" pitchFamily="2" charset="-122"/>
                <a:cs typeface="Times New Roman" panose="02020603050405020304" pitchFamily="18" charset="0"/>
              </a:rPr>
              <a:t>的值又是多少呢？</a:t>
            </a:r>
            <a:endParaRPr kumimoji="0" lang="zh-CN" altLang="en-US" sz="2400" b="1" kern="1200" cap="none" spc="0" normalizeH="0" baseline="0" noProof="0" dirty="0">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charRg st="0" end="37"/>
                                            </p:txEl>
                                          </p:spTgt>
                                        </p:tgtEl>
                                        <p:attrNameLst>
                                          <p:attrName>style.visibility</p:attrName>
                                        </p:attrNameLst>
                                      </p:cBhvr>
                                      <p:to>
                                        <p:strVal val="visible"/>
                                      </p:to>
                                    </p:set>
                                    <p:animEffect transition="in" filter="blinds(horizontal)">
                                      <p:cBhvr>
                                        <p:cTn id="7" dur="500"/>
                                        <p:tgtEl>
                                          <p:spTgt spid="3">
                                            <p:txEl>
                                              <p:charRg st="0" end="3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charRg st="37" end="77"/>
                                            </p:txEl>
                                          </p:spTgt>
                                        </p:tgtEl>
                                        <p:attrNameLst>
                                          <p:attrName>style.visibility</p:attrName>
                                        </p:attrNameLst>
                                      </p:cBhvr>
                                      <p:to>
                                        <p:strVal val="visible"/>
                                      </p:to>
                                    </p:set>
                                    <p:animEffect transition="in" filter="blinds(horizontal)">
                                      <p:cBhvr>
                                        <p:cTn id="12" dur="500"/>
                                        <p:tgtEl>
                                          <p:spTgt spid="3">
                                            <p:txEl>
                                              <p:charRg st="37" end="7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charRg st="77" end="134"/>
                                            </p:txEl>
                                          </p:spTgt>
                                        </p:tgtEl>
                                        <p:attrNameLst>
                                          <p:attrName>style.visibility</p:attrName>
                                        </p:attrNameLst>
                                      </p:cBhvr>
                                      <p:to>
                                        <p:strVal val="visible"/>
                                      </p:to>
                                    </p:set>
                                    <p:animEffect transition="in" filter="blinds(horizontal)">
                                      <p:cBhvr>
                                        <p:cTn id="17" dur="500"/>
                                        <p:tgtEl>
                                          <p:spTgt spid="3">
                                            <p:txEl>
                                              <p:charRg st="77" end="13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charRg st="134" end="179"/>
                                            </p:txEl>
                                          </p:spTgt>
                                        </p:tgtEl>
                                        <p:attrNameLst>
                                          <p:attrName>style.visibility</p:attrName>
                                        </p:attrNameLst>
                                      </p:cBhvr>
                                      <p:to>
                                        <p:strVal val="visible"/>
                                      </p:to>
                                    </p:set>
                                    <p:animEffect transition="in" filter="blinds(horizontal)">
                                      <p:cBhvr>
                                        <p:cTn id="22" dur="500"/>
                                        <p:tgtEl>
                                          <p:spTgt spid="3">
                                            <p:txEl>
                                              <p:charRg st="134" end="17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charRg st="179" end="221"/>
                                            </p:txEl>
                                          </p:spTgt>
                                        </p:tgtEl>
                                        <p:attrNameLst>
                                          <p:attrName>style.visibility</p:attrName>
                                        </p:attrNameLst>
                                      </p:cBhvr>
                                      <p:to>
                                        <p:strVal val="visible"/>
                                      </p:to>
                                    </p:set>
                                    <p:animEffect transition="in" filter="blinds(horizontal)">
                                      <p:cBhvr>
                                        <p:cTn id="27" dur="500"/>
                                        <p:tgtEl>
                                          <p:spTgt spid="3">
                                            <p:txEl>
                                              <p:charRg st="179" end="22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charRg st="221" end="261"/>
                                            </p:txEl>
                                          </p:spTgt>
                                        </p:tgtEl>
                                        <p:attrNameLst>
                                          <p:attrName>style.visibility</p:attrName>
                                        </p:attrNameLst>
                                      </p:cBhvr>
                                      <p:to>
                                        <p:strVal val="visible"/>
                                      </p:to>
                                    </p:set>
                                    <p:animEffect transition="in" filter="blinds(horizontal)">
                                      <p:cBhvr>
                                        <p:cTn id="32" dur="500"/>
                                        <p:tgtEl>
                                          <p:spTgt spid="3">
                                            <p:txEl>
                                              <p:charRg st="221" end="26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charRg st="263" end="280"/>
                                            </p:txEl>
                                          </p:spTgt>
                                        </p:tgtEl>
                                        <p:attrNameLst>
                                          <p:attrName>style.visibility</p:attrName>
                                        </p:attrNameLst>
                                      </p:cBhvr>
                                      <p:to>
                                        <p:strVal val="visible"/>
                                      </p:to>
                                    </p:set>
                                    <p:animEffect transition="in" filter="blinds(horizontal)">
                                      <p:cBhvr>
                                        <p:cTn id="37" dur="500"/>
                                        <p:tgtEl>
                                          <p:spTgt spid="3">
                                            <p:txEl>
                                              <p:charRg st="263" end="2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1"/>
          <p:cNvSpPr>
            <a:spLocks noGrp="1"/>
          </p:cNvSpPr>
          <p:nvPr>
            <p:ph type="title"/>
          </p:nvPr>
        </p:nvSpPr>
        <p:spPr/>
        <p:txBody>
          <a:bodyPr vert="horz" wrap="square" lIns="91440" tIns="45720" rIns="91440" bIns="45720" anchor="b" anchorCtr="0"/>
          <a:p>
            <a:r>
              <a:rPr lang="zh-CN" altLang="en-US" sz="3600" dirty="0"/>
              <a:t>定点加法运算举例</a:t>
            </a:r>
            <a:endParaRPr lang="zh-CN" altLang="en-US" sz="3600" dirty="0"/>
          </a:p>
        </p:txBody>
      </p:sp>
      <p:sp>
        <p:nvSpPr>
          <p:cNvPr id="36867" name="Rectangle 3"/>
          <p:cNvSpPr>
            <a:spLocks noGrp="1" noChangeArrowheads="1"/>
          </p:cNvSpPr>
          <p:nvPr>
            <p:ph idx="1"/>
          </p:nvPr>
        </p:nvSpPr>
        <p:spPr>
          <a:xfrm>
            <a:off x="539750" y="1214438"/>
            <a:ext cx="8389938" cy="4772025"/>
          </a:xfrm>
        </p:spPr>
        <p:txBody>
          <a:bodyPr vert="horz" wrap="square" lIns="0" tIns="45720" rIns="0" bIns="45720" numCol="1" anchor="t" anchorCtr="0" compatLnSpc="1"/>
          <a:lstStyle/>
          <a:p>
            <a:pPr marL="533400" marR="0" lvl="0" indent="-533400"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2011</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假定在一个</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8</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位字长的计算机中运行如下类</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程序段：</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3400" marR="0" lvl="0" indent="-533400"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unsigned int  x=134;</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3400" marR="0" lvl="0" indent="-533400"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unsigned int  y=246;</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3400" marR="0" lvl="0" indent="-533400"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int  m=x;</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3400" marR="0" lvl="0" indent="-533400"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int  n=y;</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3400" marR="0" lvl="0" indent="-533400"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unsigned int  z1=x-y;</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3400" marR="0" lvl="0" indent="-533400"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unsigned int  z2=x+y;</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3400" marR="0" lvl="0" indent="-533400"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int  k1=m-n;</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3400" marR="0" lvl="0" indent="-533400"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int  k2=m+n;</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3400" marR="0" lvl="0" indent="-352425"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若编译时，将</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8</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8</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位寄存器</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R1</a:t>
            </a:r>
            <a:r>
              <a:rPr kumimoji="0" lang="en-US"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R8</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分别分配给变量</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3400" marR="0" lvl="0" indent="-352425" algn="l" defTabSz="914400" rtl="0" eaLnBrk="0" fontAlgn="base" latinLnBrk="0" hangingPunct="0">
              <a:lnSpc>
                <a:spcPct val="90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z2</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k1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k2</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。请回答下列问题：</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提示带符号整数用补码表示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0" indent="-361950" algn="l" defTabSz="914400" rtl="0" eaLnBrk="0" fontAlgn="base" latinLnBrk="0" hangingPunct="0">
              <a:lnSpc>
                <a:spcPct val="90000"/>
              </a:lnSpc>
              <a:spcBef>
                <a:spcPct val="0"/>
              </a:spcBef>
              <a:spcAft>
                <a:spcPct val="0"/>
              </a:spcAft>
              <a:buClrTx/>
              <a:buSzTx/>
              <a:buFont typeface="Wingdings" panose="05000000000000000000" pitchFamily="2" charset="2"/>
              <a:buAutoNum type="arabicParenBoth"/>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执行上述程序段后，寄存器</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R5</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R6</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的内容分别是什么？</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用十六进制表示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0" indent="-361950" algn="l" defTabSz="914400" rtl="0" eaLnBrk="0" fontAlgn="base" latinLnBrk="0" hangingPunct="0">
              <a:lnSpc>
                <a:spcPct val="90000"/>
              </a:lnSpc>
              <a:spcBef>
                <a:spcPct val="0"/>
              </a:spcBef>
              <a:spcAft>
                <a:spcPct val="0"/>
              </a:spcAft>
              <a:buClrTx/>
              <a:buSzTx/>
              <a:buFont typeface="Wingdings" panose="05000000000000000000" pitchFamily="2" charset="2"/>
              <a:buAutoNum type="arabicParenBoth"/>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执行执行上述程序段后，变量</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k1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的值分别是多少？</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用十进制表示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0" indent="-361950" algn="l" defTabSz="914400" rtl="0" eaLnBrk="0" fontAlgn="base" latinLnBrk="0" hangingPunct="0">
              <a:lnSpc>
                <a:spcPct val="90000"/>
              </a:lnSpc>
              <a:spcBef>
                <a:spcPct val="0"/>
              </a:spcBef>
              <a:spcAft>
                <a:spcPct val="0"/>
              </a:spcAft>
              <a:buClrTx/>
              <a:buSzTx/>
              <a:buFont typeface="Wingdings" panose="05000000000000000000" pitchFamily="2" charset="2"/>
              <a:buAutoNum type="arabicParenBoth"/>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上述程序段涉及带符号整数加</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减、无符号整数加</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减运算，这四种运算能否利用同一加法器及辅助电路实现？简述理由。</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536575" marR="0" lvl="0" indent="-361950" algn="l" defTabSz="914400" rtl="0" eaLnBrk="0" fontAlgn="base" latinLnBrk="0" hangingPunct="0">
              <a:lnSpc>
                <a:spcPct val="90000"/>
              </a:lnSpc>
              <a:spcBef>
                <a:spcPct val="0"/>
              </a:spcBef>
              <a:spcAft>
                <a:spcPct val="0"/>
              </a:spcAft>
              <a:buClrTx/>
              <a:buSzTx/>
              <a:buFont typeface="Wingdings" panose="05000000000000000000" pitchFamily="2" charset="2"/>
              <a:buAutoNum type="arabicParenBoth"/>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计算机内部如何判断带符号整数加</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减运算结果是否发生溢出？上述程序段中，哪些带符号整数运算语句执行结果发生溢出？</a:t>
            </a: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p:txBody>
          <a:bodyPr vert="horz" wrap="square" lIns="91440" tIns="45720" rIns="91440" bIns="45720" anchor="b" anchorCtr="0"/>
          <a:p>
            <a:r>
              <a:rPr lang="zh-CN" altLang="en-US" sz="3600" dirty="0"/>
              <a:t>定点加法运算举例</a:t>
            </a:r>
            <a:endParaRPr lang="zh-CN" altLang="en-US" sz="3600" dirty="0"/>
          </a:p>
        </p:txBody>
      </p:sp>
      <p:sp>
        <p:nvSpPr>
          <p:cNvPr id="4" name="Rectangle 3"/>
          <p:cNvSpPr>
            <a:spLocks noGrp="1" noChangeArrowheads="1"/>
          </p:cNvSpPr>
          <p:nvPr>
            <p:ph idx="1"/>
          </p:nvPr>
        </p:nvSpPr>
        <p:spPr>
          <a:xfrm>
            <a:off x="428625" y="1228725"/>
            <a:ext cx="8501063" cy="4772025"/>
          </a:xfrm>
        </p:spPr>
        <p:txBody>
          <a:bodyPr vert="horz" wrap="square" lIns="0" tIns="45720" rIns="0" bIns="45720" numCol="1" anchor="t" anchorCtr="0" compatLnSpc="1"/>
          <a:lstStyle>
            <a:lvl1pPr marL="179705" indent="-179705" algn="l" rtl="0" eaLnBrk="0" fontAlgn="base" hangingPunct="0">
              <a:lnSpc>
                <a:spcPct val="110000"/>
              </a:lnSpc>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lnSpc>
                <a:spcPct val="110000"/>
              </a:lnSpc>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lnSpc>
                <a:spcPct val="110000"/>
              </a:lnSpc>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
              <a:defRPr sz="2000" b="1">
                <a:solidFill>
                  <a:schemeClr val="tx1"/>
                </a:solidFill>
                <a:latin typeface="+mj-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j-lt"/>
                <a:ea typeface="宋体" panose="02010600030101010101" pitchFamily="2" charset="-122"/>
              </a:defRPr>
            </a:lvl5pPr>
            <a:lvl6pPr marL="3073400" indent="-228600" algn="l" rtl="0" fontAlgn="base">
              <a:spcBef>
                <a:spcPct val="20000"/>
              </a:spcBef>
              <a:spcAft>
                <a:spcPct val="0"/>
              </a:spcAft>
              <a:buChar char="»"/>
              <a:defRPr sz="2000">
                <a:solidFill>
                  <a:schemeClr val="tx1"/>
                </a:solidFill>
                <a:latin typeface="+mj-lt"/>
                <a:ea typeface="宋体" panose="02010600030101010101" pitchFamily="2" charset="-122"/>
              </a:defRPr>
            </a:lvl6pPr>
            <a:lvl7pPr marL="3530600" indent="-228600" algn="l" rtl="0" fontAlgn="base">
              <a:spcBef>
                <a:spcPct val="20000"/>
              </a:spcBef>
              <a:spcAft>
                <a:spcPct val="0"/>
              </a:spcAft>
              <a:buChar char="»"/>
              <a:defRPr sz="2000">
                <a:solidFill>
                  <a:schemeClr val="tx1"/>
                </a:solidFill>
                <a:latin typeface="+mj-lt"/>
                <a:ea typeface="宋体" panose="02010600030101010101" pitchFamily="2" charset="-122"/>
              </a:defRPr>
            </a:lvl7pPr>
            <a:lvl8pPr marL="3987800" indent="-228600" algn="l" rtl="0" fontAlgn="base">
              <a:spcBef>
                <a:spcPct val="20000"/>
              </a:spcBef>
              <a:spcAft>
                <a:spcPct val="0"/>
              </a:spcAft>
              <a:buChar char="»"/>
              <a:defRPr sz="2000">
                <a:solidFill>
                  <a:schemeClr val="tx1"/>
                </a:solidFill>
                <a:latin typeface="+mj-lt"/>
                <a:ea typeface="宋体" panose="02010600030101010101" pitchFamily="2" charset="-122"/>
              </a:defRPr>
            </a:lvl8pPr>
            <a:lvl9pPr marL="4445000" indent="-228600" algn="l" rtl="0" fontAlgn="base">
              <a:spcBef>
                <a:spcPct val="20000"/>
              </a:spcBef>
              <a:spcAft>
                <a:spcPct val="0"/>
              </a:spcAft>
              <a:buChar char="»"/>
              <a:defRPr sz="2000">
                <a:solidFill>
                  <a:schemeClr val="tx1"/>
                </a:solidFill>
                <a:latin typeface="+mj-lt"/>
                <a:ea typeface="宋体" panose="02010600030101010101" pitchFamily="2" charset="-122"/>
              </a:defRPr>
            </a:lvl9pPr>
          </a:lstStyle>
          <a:p>
            <a:pPr marL="533400" marR="0" lvl="0" indent="-533400" algn="l" defTabSz="914400" rtl="0" eaLnBrk="0" fontAlgn="base" latinLnBrk="0" hangingPunct="0">
              <a:lnSpc>
                <a:spcPct val="95000"/>
              </a:lnSpc>
              <a:spcBef>
                <a:spcPct val="0"/>
              </a:spcBef>
              <a:spcAft>
                <a:spcPct val="0"/>
              </a:spcAft>
              <a:buClrTx/>
              <a:buSzTx/>
              <a:buFont typeface="Wingdings" panose="05000000000000000000" pitchFamily="2" charset="2"/>
              <a:buNone/>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解</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(1) </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执行上述程序段后，寄存器</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R5</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R6</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的内容分别是：</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0" algn="l" defTabSz="914400" rtl="0" eaLnBrk="0" fontAlgn="base" latinLnBrk="0" hangingPunct="0">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x=134=10000110B=86H</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y=246=11110110B=F6H</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R1= 86H</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0" algn="l" defTabSz="914400" rtl="0" eaLnBrk="0" fontAlgn="base" latinLnBrk="0" hangingPunct="0">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z1=x-y=86H-F6H=10010000B</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R5=90H</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0" algn="l" defTabSz="914400" rtl="0" eaLnBrk="0" fontAlgn="base" latinLnBrk="0" hangingPunct="0">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z2=x+y=86H+F6H=1 01111100B</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R6=7CH</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，产生进位，故无符号整数加溢出，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ALU</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置</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CF=1</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MIPS</a:t>
            </a: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处理器忽略该错，程序继续执行。</a:t>
            </a:r>
            <a:endParaRPr kumimoji="0" lang="en-US" altLang="zh-CN"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ct val="0"/>
              </a:spcAft>
              <a:buClrTx/>
              <a:buSzTx/>
              <a:buFont typeface="Wingdings" panose="05000000000000000000" pitchFamily="2" charset="2"/>
              <a:buAutoNum type="arabicParenBoth" startAt="2"/>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执行执行上述程序段后，变量</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k1</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的值分别是：</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m = 86H = -122</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k1 = m-n = 86H-F6H = 1001000B = -112  </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ct val="0"/>
              </a:spcAft>
              <a:buClrTx/>
              <a:buSzTx/>
              <a:buFont typeface="Wingdings" panose="05000000000000000000" pitchFamily="2" charset="2"/>
              <a:buAutoNum type="arabicParenBoth" startAt="3"/>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因为无符号整数加</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减运算：</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A+B</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或者</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A-B=A+[B]</a:t>
            </a:r>
            <a:r>
              <a:rPr kumimoji="0" lang="zh-CN" altLang="en-US" sz="20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；带符号整数加</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减：</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0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0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或者</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0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0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0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0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故均可用同一加法器及辅助电路实现，如：</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ct val="0"/>
              </a:spcAft>
              <a:buClrTx/>
              <a:buSzTx/>
              <a:buFont typeface="Wingdings" panose="05000000000000000000" pitchFamily="2" charset="2"/>
              <a:buAutoNum type="arabicParenBoth" startAt="3"/>
              <a:defRPr/>
            </a:pP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ct val="0"/>
              </a:spcAft>
              <a:buClrTx/>
              <a:buSzTx/>
              <a:buFont typeface="Wingdings" panose="05000000000000000000" pitchFamily="2" charset="2"/>
              <a:buAutoNum type="arabicParenBoth" startAt="3"/>
              <a:defRPr/>
            </a:pP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ct val="0"/>
              </a:spcAft>
              <a:buClrTx/>
              <a:buSzTx/>
              <a:buFont typeface="Wingdings" panose="05000000000000000000" pitchFamily="2" charset="2"/>
              <a:buAutoNum type="arabicParenBoth" startAt="3"/>
              <a:defRPr/>
            </a:pP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ct val="0"/>
              </a:spcAft>
              <a:buClrTx/>
              <a:buSzTx/>
              <a:buFont typeface="Wingdings" panose="05000000000000000000" pitchFamily="2" charset="2"/>
              <a:buNone/>
              <a:defRPr/>
            </a:pPr>
            <a:endPar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ct val="0"/>
              </a:spcAft>
              <a:buClrTx/>
              <a:buSzTx/>
              <a:buFont typeface="Wingdings" panose="05000000000000000000" pitchFamily="2" charset="2"/>
              <a:buAutoNum type="arabicParenBoth" startAt="4"/>
              <a:defRPr/>
            </a:pP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计算机内部如何判断带符号整数加</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减运算结果是否发生溢出？上述程序段中，带符号整数运算语句执行结果发生溢出的是：</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95000"/>
              </a:lnSpc>
              <a:spcBef>
                <a:spcPct val="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k2=m+n=86H+F6H=1 </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0</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1111100B</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，两个负数相加，结果为正数，故带符号整数加溢出，</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ALU</a:t>
            </a:r>
            <a:r>
              <a:rPr kumimoji="0" lang="zh-CN" altLang="en-US"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置</a:t>
            </a:r>
            <a:r>
              <a:rPr kumimoji="0" lang="en-US" altLang="zh-CN"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OF=1</a:t>
            </a:r>
            <a:r>
              <a:rPr kumimoji="0" lang="zh-CN" altLang="en-US" sz="20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en-US" altLang="zh-CN"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 MIPS</a:t>
            </a:r>
            <a:r>
              <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处理器报溢出，程序停止运行。</a:t>
            </a:r>
            <a:endParaRPr kumimoji="0" lang="zh-CN" altLang="en-US" sz="20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endParaRPr>
          </a:p>
        </p:txBody>
      </p:sp>
      <p:pic>
        <p:nvPicPr>
          <p:cNvPr id="69636" name="Picture 2"/>
          <p:cNvPicPr>
            <a:picLocks noChangeAspect="1"/>
          </p:cNvPicPr>
          <p:nvPr/>
        </p:nvPicPr>
        <p:blipFill>
          <a:blip r:embed="rId1"/>
          <a:stretch>
            <a:fillRect/>
          </a:stretch>
        </p:blipFill>
        <p:spPr>
          <a:xfrm>
            <a:off x="2357438" y="4176713"/>
            <a:ext cx="3687762" cy="1352550"/>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39750" y="1371600"/>
            <a:ext cx="8247063" cy="47720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ts val="6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2013</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某计算机采用</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16</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位定长指令字格式，其</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CPU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中有一个标志寄存器，其中包含进位</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借位标志</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CF</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、零标志</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ZF</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和符号标志</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NF</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。假定为该机设计了条件转移指令，其格式如下：</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ts val="600"/>
              </a:spcBef>
              <a:spcAft>
                <a:spcPct val="0"/>
              </a:spcAft>
              <a:buClrTx/>
              <a:buSzTx/>
              <a:buFont typeface="Wingdings" panose="05000000000000000000" pitchFamily="2" charset="2"/>
              <a:buNone/>
              <a:defRPr/>
            </a:pP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其中，</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00000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为操作码</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OP</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分别为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CF</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ZF</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NF</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的对应检测位，某检测位为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时表示需检测对应标志，需检测的标志位中只要有一个为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就转移，否则不转移，例如，若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，则需检测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CF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NF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的值，当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CF=1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或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NF=1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时发生转移；</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OFFSET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是相对偏移量，用补码表示。转移执行时，转移目标地址为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(PC)+2+2×OFFSET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；顺序执行时，下条指令地址为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(PC)+2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。请回答下列问题：</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ts val="600"/>
              </a:spcBef>
              <a:spcAft>
                <a:spcPct val="0"/>
              </a:spcAft>
              <a:buClrTx/>
              <a:buSzTx/>
              <a:buFont typeface="Wingdings" panose="05000000000000000000" pitchFamily="2" charset="2"/>
              <a:buChar char="p"/>
              <a:defRPr/>
            </a:pPr>
            <a:endParaRPr kumimoji="0" lang="zh-CN" altLang="en-US" sz="3600" b="1" i="0" u="none" strike="noStrike" kern="0" cap="none" spc="0" normalizeH="0" baseline="0" noProof="0" dirty="0">
              <a:ln>
                <a:noFill/>
              </a:ln>
              <a:solidFill>
                <a:schemeClr val="tx1"/>
              </a:solidFill>
              <a:effectLst/>
              <a:uLnTx/>
              <a:uFillTx/>
              <a:latin typeface="+mn-lt"/>
              <a:ea typeface="+mn-ea"/>
              <a:cs typeface="+mn-cs"/>
            </a:endParaRPr>
          </a:p>
        </p:txBody>
      </p:sp>
      <p:sp>
        <p:nvSpPr>
          <p:cNvPr id="70659" name="标题 1"/>
          <p:cNvSpPr>
            <a:spLocks noGrp="1"/>
          </p:cNvSpPr>
          <p:nvPr>
            <p:ph type="title"/>
          </p:nvPr>
        </p:nvSpPr>
        <p:spPr/>
        <p:txBody>
          <a:bodyPr vert="horz" wrap="square" lIns="91440" tIns="45720" rIns="91440" bIns="45720" anchor="b" anchorCtr="0"/>
          <a:p>
            <a:r>
              <a:rPr lang="zh-CN" altLang="en-US" sz="3600" dirty="0"/>
              <a:t>定点加法运算举例</a:t>
            </a:r>
            <a:endParaRPr lang="zh-CN" altLang="en-US" sz="3600" dirty="0"/>
          </a:p>
        </p:txBody>
      </p:sp>
      <p:pic>
        <p:nvPicPr>
          <p:cNvPr id="70660" name="图片 4"/>
          <p:cNvPicPr>
            <a:picLocks noChangeAspect="1"/>
          </p:cNvPicPr>
          <p:nvPr/>
        </p:nvPicPr>
        <p:blipFill>
          <a:blip r:embed="rId1"/>
          <a:stretch>
            <a:fillRect/>
          </a:stretch>
        </p:blipFill>
        <p:spPr>
          <a:xfrm>
            <a:off x="1714500" y="2500313"/>
            <a:ext cx="5505450" cy="1000125"/>
          </a:xfrm>
          <a:prstGeom prst="rect">
            <a:avLst/>
          </a:prstGeom>
          <a:noFill/>
          <a:ln w="9525">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39750" y="1443038"/>
            <a:ext cx="8247063" cy="4772025"/>
          </a:xfrm>
        </p:spPr>
        <p:txBody>
          <a:bodyPr vert="horz" wrap="square" lIns="91440" tIns="45720" rIns="91440" bIns="45720" numCol="1" anchor="t" anchorCtr="0" compatLnSpc="1"/>
          <a:lstStyle/>
          <a:p>
            <a:pPr marL="363855" marR="0" lvl="0" indent="-276225" algn="l" defTabSz="914400" rtl="0" eaLnBrk="0" fontAlgn="base" latinLnBrk="0" hangingPunct="0">
              <a:lnSpc>
                <a:spcPct val="100000"/>
              </a:lnSpc>
              <a:spcBef>
                <a:spcPct val="20000"/>
              </a:spcBef>
              <a:spcAft>
                <a:spcPct val="0"/>
              </a:spcAft>
              <a:buClrTx/>
              <a:buSzTx/>
              <a:buFont typeface="+mj-lt"/>
              <a:buAutoNum type="arabicPeriod"/>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该计算机存储器按字节编址还是按字编址？该条件转移指令向后</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反向</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最多可跳转多少条指令？</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276225" algn="l" defTabSz="914400" rtl="0" eaLnBrk="0" fontAlgn="base" latinLnBrk="0" hangingPunct="0">
              <a:lnSpc>
                <a:spcPct val="100000"/>
              </a:lnSpc>
              <a:spcBef>
                <a:spcPct val="20000"/>
              </a:spcBef>
              <a:spcAft>
                <a:spcPct val="0"/>
              </a:spcAft>
              <a:buClrTx/>
              <a:buSzTx/>
              <a:buFont typeface="+mj-lt"/>
              <a:buAutoNum type="arabicPeriod"/>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某条件转移指令的地址为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200CH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，指令内容如下图所示，若该指令执行时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CF=0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ZF=0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NF=1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，则该指令执行后</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的值是多少？若该指令执行时</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CF=1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ZF=0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NF=0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，则该指令执行后</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的值又是多少？请给出计算过程。</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27622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15       11   10     9     8     7                                       0</a:t>
            </a:r>
            <a:endPar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276225" algn="l" defTabSz="914400" rtl="0" eaLnBrk="0" fontAlgn="base" latinLnBrk="0" hangingPunct="0">
              <a:lnSpc>
                <a:spcPct val="100000"/>
              </a:lnSpc>
              <a:spcBef>
                <a:spcPct val="20000"/>
              </a:spcBef>
              <a:spcAft>
                <a:spcPct val="0"/>
              </a:spcAft>
              <a:buClrTx/>
              <a:buSzTx/>
              <a:buFont typeface="+mj-lt"/>
              <a:buAutoNum type="arabicPeriod"/>
              <a:defRPr/>
            </a:pP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276225" algn="l" defTabSz="914400" rtl="0" eaLnBrk="0" fontAlgn="base" latinLnBrk="0" hangingPunct="0">
              <a:lnSpc>
                <a:spcPct val="100000"/>
              </a:lnSpc>
              <a:spcBef>
                <a:spcPts val="1200"/>
              </a:spcBef>
              <a:spcAft>
                <a:spcPct val="0"/>
              </a:spcAft>
              <a:buClrTx/>
              <a:buSzTx/>
              <a:buFont typeface="+mj-lt"/>
              <a:buAutoNum type="arabicPeriod" startAt="3"/>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实现“无符号数比较小于等于时转移”功能的指令中，</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应各是什么？</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3600" b="1" i="0" u="none" strike="noStrike" kern="0" cap="none" spc="0" normalizeH="0" baseline="0" noProof="0" dirty="0">
              <a:ln>
                <a:noFill/>
              </a:ln>
              <a:solidFill>
                <a:schemeClr val="tx1"/>
              </a:solidFill>
              <a:effectLst/>
              <a:uLnTx/>
              <a:uFillTx/>
              <a:latin typeface="+mn-lt"/>
              <a:ea typeface="+mn-ea"/>
              <a:cs typeface="+mn-cs"/>
            </a:endParaRPr>
          </a:p>
        </p:txBody>
      </p:sp>
      <p:sp>
        <p:nvSpPr>
          <p:cNvPr id="71683" name="标题 1"/>
          <p:cNvSpPr>
            <a:spLocks noGrp="1"/>
          </p:cNvSpPr>
          <p:nvPr>
            <p:ph type="title"/>
          </p:nvPr>
        </p:nvSpPr>
        <p:spPr/>
        <p:txBody>
          <a:bodyPr vert="horz" wrap="square" lIns="91440" tIns="45720" rIns="91440" bIns="45720" anchor="b" anchorCtr="0"/>
          <a:p>
            <a:r>
              <a:rPr lang="zh-CN" altLang="en-US" sz="3600" dirty="0"/>
              <a:t>定点加法运算举例</a:t>
            </a:r>
            <a:endParaRPr lang="zh-CN" altLang="en-US" sz="3600" dirty="0"/>
          </a:p>
        </p:txBody>
      </p:sp>
      <p:graphicFrame>
        <p:nvGraphicFramePr>
          <p:cNvPr id="7" name="表格 6"/>
          <p:cNvGraphicFramePr>
            <a:graphicFrameLocks noGrp="1"/>
          </p:cNvGraphicFramePr>
          <p:nvPr/>
        </p:nvGraphicFramePr>
        <p:xfrm>
          <a:off x="2286000" y="4186238"/>
          <a:ext cx="5429250" cy="457200"/>
        </p:xfrm>
        <a:graphic>
          <a:graphicData uri="http://schemas.openxmlformats.org/drawingml/2006/table">
            <a:tbl>
              <a:tblPr firstRow="1" bandRow="1">
                <a:tableStyleId>{5C22544A-7EE6-4342-B048-85BDC9FD1C3A}</a:tableStyleId>
              </a:tblPr>
              <a:tblGrid>
                <a:gridCol w="1017992"/>
                <a:gridCol w="508996"/>
                <a:gridCol w="508996"/>
                <a:gridCol w="508996"/>
                <a:gridCol w="2884270"/>
              </a:tblGrid>
              <a:tr h="370840">
                <a:tc>
                  <a:txBody>
                    <a:bodyPr/>
                    <a:lstStyle/>
                    <a:p>
                      <a:pPr algn="ctr"/>
                      <a:r>
                        <a:rPr lang="en-US" altLang="zh-CN" sz="2400" dirty="0" smtClean="0">
                          <a:solidFill>
                            <a:schemeClr val="tx1"/>
                          </a:solidFill>
                          <a:latin typeface="Times New Roman" panose="02020603050405020304" pitchFamily="18" charset="0"/>
                          <a:cs typeface="Times New Roman" panose="02020603050405020304" pitchFamily="18" charset="0"/>
                        </a:rPr>
                        <a:t>0000</a:t>
                      </a:r>
                      <a:endParaRPr lang="zh-CN" altLang="en-US" sz="2400" dirty="0">
                        <a:solidFill>
                          <a:schemeClr val="tx1"/>
                        </a:solidFill>
                        <a:latin typeface="Times New Roman" panose="02020603050405020304" pitchFamily="18" charset="0"/>
                        <a:cs typeface="Times New Roman" panose="02020603050405020304" pitchFamily="18" charset="0"/>
                      </a:endParaRPr>
                    </a:p>
                  </a:txBody>
                  <a:tcPr marL="91439" marR="91439"/>
                </a:tc>
                <a:tc>
                  <a:txBody>
                    <a:bodyPr/>
                    <a:lstStyle/>
                    <a:p>
                      <a:pPr algn="ctr"/>
                      <a:r>
                        <a:rPr lang="en-US" altLang="zh-CN" sz="2400" dirty="0" smtClean="0">
                          <a:solidFill>
                            <a:schemeClr val="tx1"/>
                          </a:solidFill>
                          <a:latin typeface="Times New Roman" panose="02020603050405020304" pitchFamily="18" charset="0"/>
                          <a:cs typeface="Times New Roman" panose="02020603050405020304" pitchFamily="18" charset="0"/>
                        </a:rPr>
                        <a:t>0</a:t>
                      </a:r>
                      <a:endParaRPr lang="zh-CN" altLang="en-US" sz="2400" dirty="0">
                        <a:solidFill>
                          <a:schemeClr val="tx1"/>
                        </a:solidFill>
                        <a:latin typeface="Times New Roman" panose="02020603050405020304" pitchFamily="18" charset="0"/>
                        <a:cs typeface="Times New Roman" panose="02020603050405020304" pitchFamily="18" charset="0"/>
                      </a:endParaRPr>
                    </a:p>
                  </a:txBody>
                  <a:tcPr marL="91439" marR="91439"/>
                </a:tc>
                <a:tc>
                  <a:txBody>
                    <a:bodyPr/>
                    <a:lstStyle/>
                    <a:p>
                      <a:pPr algn="ctr"/>
                      <a:r>
                        <a:rPr lang="en-US" altLang="zh-CN" sz="2400" dirty="0" smtClean="0">
                          <a:solidFill>
                            <a:schemeClr val="tx1"/>
                          </a:solidFill>
                          <a:latin typeface="Times New Roman" panose="02020603050405020304" pitchFamily="18" charset="0"/>
                          <a:cs typeface="Times New Roman" panose="02020603050405020304" pitchFamily="18" charset="0"/>
                        </a:rPr>
                        <a:t>1</a:t>
                      </a:r>
                      <a:endParaRPr lang="zh-CN" altLang="en-US" sz="2400" dirty="0">
                        <a:solidFill>
                          <a:schemeClr val="tx1"/>
                        </a:solidFill>
                        <a:latin typeface="Times New Roman" panose="02020603050405020304" pitchFamily="18" charset="0"/>
                        <a:cs typeface="Times New Roman" panose="02020603050405020304" pitchFamily="18" charset="0"/>
                      </a:endParaRPr>
                    </a:p>
                  </a:txBody>
                  <a:tcPr marL="91439" marR="91439"/>
                </a:tc>
                <a:tc>
                  <a:txBody>
                    <a:bodyPr/>
                    <a:lstStyle/>
                    <a:p>
                      <a:pPr algn="ctr"/>
                      <a:r>
                        <a:rPr lang="en-US" altLang="zh-CN" sz="2400" dirty="0" smtClean="0">
                          <a:solidFill>
                            <a:schemeClr val="tx1"/>
                          </a:solidFill>
                          <a:latin typeface="Times New Roman" panose="02020603050405020304" pitchFamily="18" charset="0"/>
                          <a:cs typeface="Times New Roman" panose="02020603050405020304" pitchFamily="18" charset="0"/>
                        </a:rPr>
                        <a:t>1</a:t>
                      </a:r>
                      <a:endParaRPr lang="zh-CN" altLang="en-US" sz="2400" dirty="0">
                        <a:solidFill>
                          <a:schemeClr val="tx1"/>
                        </a:solidFill>
                        <a:latin typeface="Times New Roman" panose="02020603050405020304" pitchFamily="18" charset="0"/>
                        <a:cs typeface="Times New Roman" panose="02020603050405020304" pitchFamily="18" charset="0"/>
                      </a:endParaRPr>
                    </a:p>
                  </a:txBody>
                  <a:tcPr marL="91439" marR="91439"/>
                </a:tc>
                <a:tc>
                  <a:txBody>
                    <a:bodyPr/>
                    <a:lstStyle/>
                    <a:p>
                      <a:pPr algn="ctr"/>
                      <a:r>
                        <a:rPr lang="en-US" altLang="zh-CN" sz="2400" dirty="0" smtClean="0">
                          <a:solidFill>
                            <a:schemeClr val="tx1"/>
                          </a:solidFill>
                          <a:latin typeface="Times New Roman" panose="02020603050405020304" pitchFamily="18" charset="0"/>
                          <a:cs typeface="Times New Roman" panose="02020603050405020304" pitchFamily="18" charset="0"/>
                        </a:rPr>
                        <a:t>11100011</a:t>
                      </a:r>
                      <a:endParaRPr lang="zh-CN" altLang="en-US" sz="2400" dirty="0">
                        <a:solidFill>
                          <a:schemeClr val="tx1"/>
                        </a:solidFill>
                        <a:latin typeface="Times New Roman" panose="02020603050405020304" pitchFamily="18" charset="0"/>
                        <a:cs typeface="Times New Roman" panose="02020603050405020304" pitchFamily="18" charset="0"/>
                      </a:endParaRPr>
                    </a:p>
                  </a:txBody>
                  <a:tcPr marL="91439" marR="91439"/>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39750" y="1285875"/>
            <a:ext cx="8247063" cy="4772025"/>
          </a:xfrm>
        </p:spPr>
        <p:txBody>
          <a:bodyPr vert="horz" wrap="square" lIns="91440" tIns="45720" rIns="91440" bIns="45720" numCol="1" anchor="t" anchorCtr="0" compatLnSpc="1"/>
          <a:lstStyle/>
          <a:p>
            <a:pPr marL="449580" marR="0" lvl="0" indent="-361950" algn="l" defTabSz="914400" rtl="0" eaLnBrk="0" fontAlgn="base" latinLnBrk="0" hangingPunct="0">
              <a:lnSpc>
                <a:spcPct val="100000"/>
              </a:lnSpc>
              <a:spcBef>
                <a:spcPct val="20000"/>
              </a:spcBef>
              <a:spcAft>
                <a:spcPct val="0"/>
              </a:spcAft>
              <a:buClrTx/>
              <a:buSzTx/>
              <a:buFont typeface="+mj-lt"/>
              <a:buAutoNum type="arabicPeriod" startAt="4"/>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以下是该指令对应的数据通路示意图，要求给出图中部件①</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~③</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的名称或功能说明。</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Char char="p"/>
              <a:defRPr/>
            </a:pPr>
            <a:endParaRPr kumimoji="0" lang="zh-CN" altLang="en-US" sz="3600" b="1" i="0" u="none" strike="noStrike" kern="0" cap="none" spc="0" normalizeH="0" baseline="0" noProof="0" dirty="0">
              <a:ln>
                <a:noFill/>
              </a:ln>
              <a:solidFill>
                <a:schemeClr val="tx1"/>
              </a:solidFill>
              <a:effectLst/>
              <a:uLnTx/>
              <a:uFillTx/>
              <a:latin typeface="+mn-lt"/>
              <a:ea typeface="+mn-ea"/>
              <a:cs typeface="+mn-cs"/>
            </a:endParaRPr>
          </a:p>
        </p:txBody>
      </p:sp>
      <p:sp>
        <p:nvSpPr>
          <p:cNvPr id="72707" name="标题 1"/>
          <p:cNvSpPr>
            <a:spLocks noGrp="1"/>
          </p:cNvSpPr>
          <p:nvPr>
            <p:ph type="title"/>
          </p:nvPr>
        </p:nvSpPr>
        <p:spPr/>
        <p:txBody>
          <a:bodyPr vert="horz" wrap="square" lIns="91440" tIns="45720" rIns="91440" bIns="45720" anchor="b" anchorCtr="0"/>
          <a:p>
            <a:r>
              <a:rPr lang="zh-CN" altLang="en-US" sz="3600" dirty="0"/>
              <a:t>定点加法运算举例</a:t>
            </a:r>
            <a:endParaRPr lang="zh-CN" altLang="en-US" sz="3600" dirty="0"/>
          </a:p>
        </p:txBody>
      </p:sp>
      <p:pic>
        <p:nvPicPr>
          <p:cNvPr id="72708" name="图片 4"/>
          <p:cNvPicPr>
            <a:picLocks noChangeAspect="1"/>
          </p:cNvPicPr>
          <p:nvPr/>
        </p:nvPicPr>
        <p:blipFill>
          <a:blip r:embed="rId1"/>
          <a:stretch>
            <a:fillRect/>
          </a:stretch>
        </p:blipFill>
        <p:spPr>
          <a:xfrm>
            <a:off x="1357313" y="2295525"/>
            <a:ext cx="6572250" cy="3776663"/>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8625" y="1214438"/>
            <a:ext cx="8389938" cy="4772025"/>
          </a:xfrm>
        </p:spPr>
        <p:txBody>
          <a:bodyPr vert="horz" wrap="square" lIns="91440" tIns="45720" rIns="91440" bIns="45720" numCol="1" anchor="t" anchorCtr="0" compatLnSpc="1"/>
          <a:lstStyle/>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解：</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100000"/>
              </a:lnSpc>
              <a:spcBef>
                <a:spcPct val="20000"/>
              </a:spcBef>
              <a:spcAft>
                <a:spcPct val="0"/>
              </a:spcAft>
              <a:buClrTx/>
              <a:buSzTx/>
              <a:buFont typeface="+mj-lt"/>
              <a:buAutoNum type="arabicPeriod"/>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因为指令长度为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16</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位，且下条指令地址为</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PC</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，故编址单位是字节。偏移</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OFFSET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8</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位补码，范围为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-128~127</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，故相对于当前条件转移指令，向后最多可跳转</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127</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条指令。</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100000"/>
              </a:lnSpc>
              <a:spcBef>
                <a:spcPct val="20000"/>
              </a:spcBef>
              <a:spcAft>
                <a:spcPct val="0"/>
              </a:spcAft>
              <a:buClrTx/>
              <a:buSzTx/>
              <a:buFont typeface="+mj-lt"/>
              <a:buAutoNum type="arabicPeriod"/>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指令中</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 = 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 = 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 = 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，故应根据</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ZF</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NF</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的值来判断是否转移。当</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CF=0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ZF=0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NF=1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时，需转移。已知指令中偏移量为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1110 0011B=E3H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，符号扩展后为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FFE3 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，左移一位</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乘</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后为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FFC6 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，故</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PC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的值</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即转移目标地址</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200CH+2+FFC6H=1FD4H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。当</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CF = 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ZF = 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NF = 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时不转移。</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PC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的值为：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200CH+2=200EH</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100000"/>
              </a:lnSpc>
              <a:spcBef>
                <a:spcPct val="20000"/>
              </a:spcBef>
              <a:spcAft>
                <a:spcPct val="0"/>
              </a:spcAft>
              <a:buClrTx/>
              <a:buSzTx/>
              <a:buFont typeface="+mj-lt"/>
              <a:buAutoNum type="arabicPeriod"/>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指令中的</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应分别设置为</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C=Z=1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N=0</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63855" marR="0" lvl="0" indent="-363855" algn="l" defTabSz="914400" rtl="0" eaLnBrk="0" fontAlgn="base" latinLnBrk="0" hangingPunct="0">
              <a:lnSpc>
                <a:spcPct val="100000"/>
              </a:lnSpc>
              <a:spcBef>
                <a:spcPct val="20000"/>
              </a:spcBef>
              <a:spcAft>
                <a:spcPct val="0"/>
              </a:spcAft>
              <a:buClrTx/>
              <a:buSzTx/>
              <a:buFont typeface="+mj-lt"/>
              <a:buAutoNum type="arabicPeriod"/>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部件①：指令寄存器</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用于存放当前指令</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；部件②：移位寄存器</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用于左移一位</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；部件③：加法器</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地址相加</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ct val="20000"/>
              </a:spcBef>
              <a:spcAft>
                <a:spcPct val="0"/>
              </a:spcAft>
              <a:buClrTx/>
              <a:buSzTx/>
              <a:buFont typeface="Wingdings" panose="05000000000000000000" pitchFamily="2" charset="2"/>
              <a:buChar char="p"/>
              <a:defRPr/>
            </a:pPr>
            <a:endParaRPr kumimoji="0" lang="zh-CN" altLang="en-US" sz="36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73731" name="标题 1"/>
          <p:cNvSpPr>
            <a:spLocks noGrp="1"/>
          </p:cNvSpPr>
          <p:nvPr>
            <p:ph type="title"/>
          </p:nvPr>
        </p:nvSpPr>
        <p:spPr/>
        <p:txBody>
          <a:bodyPr vert="horz" wrap="square" lIns="91440" tIns="45720" rIns="91440" bIns="45720" anchor="b" anchorCtr="0"/>
          <a:p>
            <a:r>
              <a:rPr lang="zh-CN" altLang="en-US" sz="3600" dirty="0"/>
              <a:t>定点加法运算举例</a:t>
            </a:r>
            <a:endParaRPr lang="zh-CN" alt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charRg st="92" end="292"/>
                                            </p:txEl>
                                          </p:spTgt>
                                        </p:tgtEl>
                                        <p:attrNameLst>
                                          <p:attrName>style.visibility</p:attrName>
                                        </p:attrNameLst>
                                      </p:cBhvr>
                                      <p:to>
                                        <p:strVal val="visible"/>
                                      </p:to>
                                    </p:set>
                                    <p:animEffect transition="in" filter="blinds(horizontal)">
                                      <p:cBhvr>
                                        <p:cTn id="7" dur="500"/>
                                        <p:tgtEl>
                                          <p:spTgt spid="3">
                                            <p:txEl>
                                              <p:charRg st="92" end="29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charRg st="292" end="318"/>
                                            </p:txEl>
                                          </p:spTgt>
                                        </p:tgtEl>
                                        <p:attrNameLst>
                                          <p:attrName>style.visibility</p:attrName>
                                        </p:attrNameLst>
                                      </p:cBhvr>
                                      <p:to>
                                        <p:strVal val="visible"/>
                                      </p:to>
                                    </p:set>
                                    <p:animEffect transition="in" filter="blinds(horizontal)">
                                      <p:cBhvr>
                                        <p:cTn id="12" dur="500"/>
                                        <p:tgtEl>
                                          <p:spTgt spid="3">
                                            <p:txEl>
                                              <p:charRg st="292" end="31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charRg st="318" end="371"/>
                                            </p:txEl>
                                          </p:spTgt>
                                        </p:tgtEl>
                                        <p:attrNameLst>
                                          <p:attrName>style.visibility</p:attrName>
                                        </p:attrNameLst>
                                      </p:cBhvr>
                                      <p:to>
                                        <p:strVal val="visible"/>
                                      </p:to>
                                    </p:set>
                                    <p:animEffect transition="in" filter="blinds(horizontal)">
                                      <p:cBhvr>
                                        <p:cTn id="17" dur="500"/>
                                        <p:tgtEl>
                                          <p:spTgt spid="3">
                                            <p:txEl>
                                              <p:charRg st="318" end="37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标题 1"/>
          <p:cNvSpPr>
            <a:spLocks noGrp="1"/>
          </p:cNvSpPr>
          <p:nvPr>
            <p:ph type="title"/>
          </p:nvPr>
        </p:nvSpPr>
        <p:spPr/>
        <p:txBody>
          <a:bodyPr vert="horz" wrap="square" lIns="91440" tIns="45720" rIns="91440" bIns="45720" anchor="b" anchorCtr="0"/>
          <a:p>
            <a:pPr eaLnBrk="1" hangingPunct="1"/>
            <a:r>
              <a:rPr lang="zh-CN" altLang="en-US" dirty="0"/>
              <a:t>十、关于加法器设计问题</a:t>
            </a:r>
            <a:endParaRPr lang="zh-CN" altLang="en-US" dirty="0"/>
          </a:p>
        </p:txBody>
      </p:sp>
      <p:sp>
        <p:nvSpPr>
          <p:cNvPr id="8195" name="内容占位符 2"/>
          <p:cNvSpPr>
            <a:spLocks noGrp="1"/>
          </p:cNvSpPr>
          <p:nvPr>
            <p:ph idx="1"/>
          </p:nvPr>
        </p:nvSpPr>
        <p:spPr>
          <a:xfrm>
            <a:off x="539750" y="1249363"/>
            <a:ext cx="8177213" cy="47720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Tx/>
              <a:buSzTx/>
              <a:buFont typeface="Wingdings" panose="05000000000000000000" pitchFamily="2" charset="2"/>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、已知</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SN74181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SN74182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芯片分别是</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ALU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部件和</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BCLA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部件，用它们构成</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64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位快速</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ALU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时，所需的</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SN74181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SN74182 </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的芯片数分别是 </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1" fontAlgn="base" latinLnBrk="0" hangingPunct="1">
              <a:lnSpc>
                <a:spcPct val="120000"/>
              </a:lnSpc>
              <a:spcBef>
                <a:spcPct val="20000"/>
              </a:spcBef>
              <a:spcAft>
                <a:spcPct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 8, 2 		B. 8, 3 		C. 16, 4 	D. 16, 5</a:t>
            </a:r>
            <a:endPar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1" fontAlgn="base" latinLnBrk="0" hangingPunct="1">
              <a:lnSpc>
                <a:spcPct val="120000"/>
              </a:lnSpc>
              <a:spcBef>
                <a:spcPct val="20000"/>
              </a:spcBef>
              <a:spcAft>
                <a:spcPct val="0"/>
              </a:spcAft>
              <a:buClr>
                <a:schemeClr val="tx2"/>
              </a:buClr>
              <a:buSzTx/>
              <a:buFont typeface="Wingdings" panose="05000000000000000000" pitchFamily="2" charset="2"/>
              <a:buChar char="p"/>
              <a:defRPr/>
            </a:pPr>
            <a:r>
              <a:rPr kumimoji="0" lang="en-US" altLang="zh-CN" sz="28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64 </a:t>
            </a:r>
            <a:r>
              <a:rPr kumimoji="0" lang="zh-CN" altLang="en-US" sz="28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位快速</a:t>
            </a:r>
            <a:r>
              <a:rPr kumimoji="0" lang="en-US" altLang="zh-CN" sz="28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ALU</a:t>
            </a:r>
            <a:r>
              <a:rPr kumimoji="0" lang="zh-CN" altLang="en-US" sz="28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rPr>
              <a:t>需分三级实现：</a:t>
            </a:r>
            <a:endParaRPr kumimoji="0" lang="en-US" altLang="zh-CN" sz="2800" b="1" i="0" u="none" strike="noStrike" kern="0" cap="none" spc="0" normalizeH="0" baseline="0" noProof="0" dirty="0" smtClean="0">
              <a:ln>
                <a:noFill/>
              </a:ln>
              <a:solidFill>
                <a:srgbClr val="0000FF"/>
              </a:solidFill>
              <a:effectLst/>
              <a:uLnTx/>
              <a:uFillTx/>
              <a:latin typeface="Times New Roman" panose="02020603050405020304" pitchFamily="18" charset="0"/>
              <a:ea typeface="+mn-ea"/>
              <a:cs typeface="Times New Roman" panose="02020603050405020304" pitchFamily="18" charset="0"/>
            </a:endParaRPr>
          </a:p>
          <a:p>
            <a:pPr marL="627380" marR="0" lvl="1" indent="-268605" algn="l" defTabSz="914400" rtl="0" eaLnBrk="1" fontAlgn="base" latinLnBrk="0" hangingPunct="1">
              <a:lnSpc>
                <a:spcPct val="120000"/>
              </a:lnSpc>
              <a:spcBef>
                <a:spcPct val="20000"/>
              </a:spcBef>
              <a:spcAft>
                <a:spcPct val="0"/>
              </a:spcAft>
              <a:buClrTx/>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第一级由一片</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SN74181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构成一个</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4</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位先行进位</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ALU</a:t>
            </a:r>
            <a:endPar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627380" marR="0" lvl="1" indent="-268605" algn="l" defTabSz="914400" rtl="0" eaLnBrk="1" fontAlgn="base" latinLnBrk="0" hangingPunct="1">
              <a:lnSpc>
                <a:spcPct val="120000"/>
              </a:lnSpc>
              <a:spcBef>
                <a:spcPct val="20000"/>
              </a:spcBef>
              <a:spcAft>
                <a:spcPct val="0"/>
              </a:spcAft>
              <a:buClrTx/>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第二级由</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4</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位先行进位</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ALU</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包含</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片</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SN74181)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与一片</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SN74182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构成一个</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16</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位先行进位</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ALU</a:t>
            </a:r>
            <a:endPar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endParaRPr>
          </a:p>
          <a:p>
            <a:pPr marL="627380" marR="0" lvl="1" indent="-268605" algn="l" defTabSz="914400" rtl="0" eaLnBrk="1" fontAlgn="base" latinLnBrk="0" hangingPunct="1">
              <a:lnSpc>
                <a:spcPct val="120000"/>
              </a:lnSpc>
              <a:spcBef>
                <a:spcPct val="20000"/>
              </a:spcBef>
              <a:spcAft>
                <a:spcPct val="0"/>
              </a:spcAft>
              <a:buClrTx/>
              <a:buSzTx/>
              <a:buFont typeface="Wingdings" panose="05000000000000000000" pitchFamily="2" charset="2"/>
              <a:buChar char="n"/>
              <a:defRPr/>
            </a:pP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第三级由</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个</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16</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位先行进位</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ALU</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包含</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16</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片</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SN74181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和四片</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SN74182)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与一片</a:t>
            </a: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SN74182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构成一个</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64</a:t>
            </a:r>
            <a:r>
              <a:rPr kumimoji="0" lang="zh-CN" altLang="en-US"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位先行进位</a:t>
            </a:r>
            <a:r>
              <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rPr>
              <a:t>ALU</a:t>
            </a:r>
            <a:endParaRPr kumimoji="0" lang="en-US" altLang="zh-CN" sz="24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charRg st="135" end="15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xEl>
                                              <p:charRg st="152" end="17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5">
                                            <p:txEl>
                                              <p:charRg st="179" end="23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charRg st="232" end="29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2"/>
          <p:cNvSpPr>
            <a:spLocks noGrp="1"/>
          </p:cNvSpPr>
          <p:nvPr>
            <p:ph type="title"/>
          </p:nvPr>
        </p:nvSpPr>
        <p:spPr>
          <a:xfrm>
            <a:off x="684213" y="485775"/>
            <a:ext cx="8374062" cy="422275"/>
          </a:xfrm>
        </p:spPr>
        <p:txBody>
          <a:bodyPr vert="horz" wrap="square" lIns="91440" tIns="45720" rIns="91440" bIns="45720" anchor="b" anchorCtr="0"/>
          <a:p>
            <a:r>
              <a:rPr lang="en-US" altLang="zh-CN" sz="2800" dirty="0"/>
              <a:t>SN74181</a:t>
            </a:r>
            <a:r>
              <a:rPr lang="zh-CN" altLang="en-US" sz="2800" dirty="0"/>
              <a:t>和</a:t>
            </a:r>
            <a:r>
              <a:rPr lang="en-US" altLang="zh-CN" sz="2800" dirty="0"/>
              <a:t>SN74182</a:t>
            </a:r>
            <a:r>
              <a:rPr lang="zh-CN" altLang="en-US" sz="2800" dirty="0"/>
              <a:t>组成16位先行进位</a:t>
            </a:r>
            <a:r>
              <a:rPr lang="en-US" altLang="zh-CN" sz="2800" dirty="0"/>
              <a:t>ALU</a:t>
            </a:r>
            <a:endParaRPr lang="en-US" altLang="zh-CN" sz="2800" dirty="0"/>
          </a:p>
        </p:txBody>
      </p:sp>
      <p:pic>
        <p:nvPicPr>
          <p:cNvPr id="76803" name="Picture 10"/>
          <p:cNvPicPr>
            <a:picLocks noChangeAspect="1"/>
          </p:cNvPicPr>
          <p:nvPr/>
        </p:nvPicPr>
        <p:blipFill>
          <a:blip r:embed="rId1"/>
          <a:stretch>
            <a:fillRect/>
          </a:stretch>
        </p:blipFill>
        <p:spPr>
          <a:xfrm>
            <a:off x="611188" y="1366838"/>
            <a:ext cx="8107362" cy="4705350"/>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xfrm>
            <a:off x="574675" y="231775"/>
            <a:ext cx="8569325" cy="676275"/>
          </a:xfrm>
        </p:spPr>
        <p:txBody>
          <a:bodyPr vert="horz" wrap="square" lIns="91440" tIns="45720" rIns="91440" bIns="45720" anchor="b" anchorCtr="0"/>
          <a:p>
            <a:r>
              <a:rPr lang="en-US" altLang="zh-CN" sz="2800" dirty="0"/>
              <a:t>SN74181</a:t>
            </a:r>
            <a:r>
              <a:rPr lang="zh-CN" altLang="en-US" sz="2800" dirty="0"/>
              <a:t>和</a:t>
            </a:r>
            <a:r>
              <a:rPr lang="en-US" altLang="zh-CN" sz="2800" dirty="0"/>
              <a:t>SN74182</a:t>
            </a:r>
            <a:r>
              <a:rPr lang="zh-CN" altLang="en-US" sz="2800" dirty="0"/>
              <a:t>组成6</a:t>
            </a:r>
            <a:r>
              <a:rPr lang="en-US" altLang="zh-CN" sz="2800" dirty="0"/>
              <a:t>4</a:t>
            </a:r>
            <a:r>
              <a:rPr lang="zh-CN" altLang="en-US" sz="2800" dirty="0"/>
              <a:t>位先行进位</a:t>
            </a:r>
            <a:r>
              <a:rPr lang="en-US" altLang="zh-CN" sz="2800" dirty="0"/>
              <a:t>ALU</a:t>
            </a:r>
            <a:endParaRPr lang="en-US" altLang="zh-CN" sz="2800" dirty="0"/>
          </a:p>
        </p:txBody>
      </p:sp>
      <p:pic>
        <p:nvPicPr>
          <p:cNvPr id="77827" name="Picture 4"/>
          <p:cNvPicPr>
            <a:picLocks noChangeAspect="1"/>
          </p:cNvPicPr>
          <p:nvPr/>
        </p:nvPicPr>
        <p:blipFill>
          <a:blip r:embed="rId1"/>
          <a:stretch>
            <a:fillRect/>
          </a:stretch>
        </p:blipFill>
        <p:spPr>
          <a:xfrm>
            <a:off x="574675" y="1338263"/>
            <a:ext cx="8174038" cy="4733925"/>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1"/>
          <p:cNvSpPr>
            <a:spLocks noGrp="1"/>
          </p:cNvSpPr>
          <p:nvPr>
            <p:ph type="title"/>
          </p:nvPr>
        </p:nvSpPr>
        <p:spPr/>
        <p:txBody>
          <a:bodyPr vert="horz" wrap="square" lIns="91440" tIns="45720" rIns="91440" bIns="45720" anchor="b" anchorCtr="0"/>
          <a:p>
            <a:r>
              <a:rPr lang="zh-CN" altLang="en-US" dirty="0"/>
              <a:t>十一、关于浮点数运算问题</a:t>
            </a:r>
            <a:endParaRPr lang="zh-CN" altLang="en-US" dirty="0"/>
          </a:p>
        </p:txBody>
      </p:sp>
      <p:sp>
        <p:nvSpPr>
          <p:cNvPr id="3" name="内容占位符 2"/>
          <p:cNvSpPr>
            <a:spLocks noGrp="1"/>
          </p:cNvSpPr>
          <p:nvPr>
            <p:ph idx="1"/>
          </p:nvPr>
        </p:nvSpPr>
        <p:spPr>
          <a:xfrm>
            <a:off x="428625" y="1371600"/>
            <a:ext cx="8358188" cy="4772025"/>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2009</a:t>
            </a:r>
            <a:r>
              <a:rPr kumimoji="0" lang="zh-CN" altLang="en-US" sz="22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浮点数加减运算过程一般包括对阶、尾数运算、规格化、舍入和判溢出等步骤。设浮点数的阶码和尾数均采用补码表示，且位数分别为</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5</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位和</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7</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均含</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位符号位</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。若有两个数</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X=2</a:t>
            </a:r>
            <a:r>
              <a:rPr kumimoji="0" lang="en-US" sz="22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7</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29/32</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Y=2</a:t>
            </a:r>
            <a:r>
              <a:rPr kumimoji="0" lang="en-US" sz="2200" b="1" i="0" u="none" strike="noStrike" kern="0" cap="none" spc="0" normalizeH="0" baseline="3000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5</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5/8</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，则用浮点加法计算</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X+Y</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的最终结果是</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4625" marR="0" lvl="0" indent="0"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00111 1100010       B.00111 0100010</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4625" marR="0" lvl="0" indent="0"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01000 0010001      D.</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发生溢出</a:t>
            </a:r>
            <a:endParaRPr kumimoji="0" lang="en-US" altLang="zh-CN" sz="22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2015</a:t>
            </a:r>
            <a:r>
              <a:rPr kumimoji="0" lang="zh-CN" altLang="en-US" sz="2200" b="1" i="0" u="none" strike="noStrike" kern="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年考研题：</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下列有关浮点数加减运算的叙述中，正确的是</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905"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Ⅰ</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对阶操作不会引起阶码上溢或下溢</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905"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Ⅱ</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右规和尾数舍入都可能引起阶码上溢</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905"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Ⅲ</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左规时可能引起阶码下溢</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905"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Ⅳ</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尾数溢出时结果不一定溢出</a:t>
            </a:r>
            <a:endPar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5080"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．仅</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Ⅱ</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Ⅲ			</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．仅</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Ⅰ</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Ⅱ</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Ⅳ</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5080"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．仅</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Ⅰ</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Ⅲ</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Ⅳ</a:t>
            </a:r>
            <a:r>
              <a:rPr kumimoji="0" 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 		D</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Ⅰ</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Ⅱ</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Ⅲ</a:t>
            </a:r>
            <a:r>
              <a:rPr kumimoji="0" lang="zh-CN" altLang="en-US"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rPr>
              <a:t>Ⅳ</a:t>
            </a:r>
            <a:endParaRPr kumimoji="0" lang="en-US" altLang="zh-CN" sz="22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79705" marR="0" lvl="0" indent="-179705" algn="l" defTabSz="914400" rtl="0" eaLnBrk="0" fontAlgn="base" latinLnBrk="0" hangingPunct="0">
              <a:lnSpc>
                <a:spcPct val="100000"/>
              </a:lnSpc>
              <a:spcBef>
                <a:spcPts val="300"/>
              </a:spcBef>
              <a:spcAft>
                <a:spcPct val="0"/>
              </a:spcAft>
              <a:buClrTx/>
              <a:buSzTx/>
              <a:buFont typeface="Wingdings" panose="05000000000000000000" pitchFamily="2" charset="2"/>
              <a:buNone/>
              <a:defRPr/>
            </a:pPr>
            <a:endParaRPr kumimoji="0" lang="zh-CN" altLang="en-US" sz="2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charRg st="192" end="222"/>
                                            </p:txEl>
                                          </p:spTgt>
                                        </p:tgtEl>
                                        <p:attrNameLst>
                                          <p:attrName>style.visibility</p:attrName>
                                        </p:attrNameLst>
                                      </p:cBhvr>
                                      <p:to>
                                        <p:strVal val="visible"/>
                                      </p:to>
                                    </p:set>
                                    <p:animEffect transition="in" filter="blinds(horizontal)">
                                      <p:cBhvr>
                                        <p:cTn id="7" dur="500"/>
                                        <p:tgtEl>
                                          <p:spTgt spid="3">
                                            <p:txEl>
                                              <p:charRg st="192" end="22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charRg st="222" end="241"/>
                                            </p:txEl>
                                          </p:spTgt>
                                        </p:tgtEl>
                                        <p:attrNameLst>
                                          <p:attrName>style.visibility</p:attrName>
                                        </p:attrNameLst>
                                      </p:cBhvr>
                                      <p:to>
                                        <p:strVal val="visible"/>
                                      </p:to>
                                    </p:set>
                                    <p:animEffect transition="in" filter="blinds(horizontal)">
                                      <p:cBhvr>
                                        <p:cTn id="10" dur="500"/>
                                        <p:tgtEl>
                                          <p:spTgt spid="3">
                                            <p:txEl>
                                              <p:charRg st="222" end="24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charRg st="241" end="261"/>
                                            </p:txEl>
                                          </p:spTgt>
                                        </p:tgtEl>
                                        <p:attrNameLst>
                                          <p:attrName>style.visibility</p:attrName>
                                        </p:attrNameLst>
                                      </p:cBhvr>
                                      <p:to>
                                        <p:strVal val="visible"/>
                                      </p:to>
                                    </p:set>
                                    <p:animEffect transition="in" filter="blinds(horizontal)">
                                      <p:cBhvr>
                                        <p:cTn id="13" dur="500"/>
                                        <p:tgtEl>
                                          <p:spTgt spid="3">
                                            <p:txEl>
                                              <p:charRg st="241" end="261"/>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charRg st="261" end="276"/>
                                            </p:txEl>
                                          </p:spTgt>
                                        </p:tgtEl>
                                        <p:attrNameLst>
                                          <p:attrName>style.visibility</p:attrName>
                                        </p:attrNameLst>
                                      </p:cBhvr>
                                      <p:to>
                                        <p:strVal val="visible"/>
                                      </p:to>
                                    </p:set>
                                    <p:animEffect transition="in" filter="blinds(horizontal)">
                                      <p:cBhvr>
                                        <p:cTn id="16" dur="500"/>
                                        <p:tgtEl>
                                          <p:spTgt spid="3">
                                            <p:txEl>
                                              <p:charRg st="261" end="27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
                                            <p:txEl>
                                              <p:charRg st="276" end="292"/>
                                            </p:txEl>
                                          </p:spTgt>
                                        </p:tgtEl>
                                        <p:attrNameLst>
                                          <p:attrName>style.visibility</p:attrName>
                                        </p:attrNameLst>
                                      </p:cBhvr>
                                      <p:to>
                                        <p:strVal val="visible"/>
                                      </p:to>
                                    </p:set>
                                    <p:animEffect transition="in" filter="blinds(horizontal)">
                                      <p:cBhvr>
                                        <p:cTn id="19" dur="500"/>
                                        <p:tgtEl>
                                          <p:spTgt spid="3">
                                            <p:txEl>
                                              <p:charRg st="276" end="292"/>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
                                            <p:txEl>
                                              <p:charRg st="292" end="311"/>
                                            </p:txEl>
                                          </p:spTgt>
                                        </p:tgtEl>
                                        <p:attrNameLst>
                                          <p:attrName>style.visibility</p:attrName>
                                        </p:attrNameLst>
                                      </p:cBhvr>
                                      <p:to>
                                        <p:strVal val="visible"/>
                                      </p:to>
                                    </p:set>
                                    <p:animEffect transition="in" filter="blinds(horizontal)">
                                      <p:cBhvr>
                                        <p:cTn id="22" dur="500"/>
                                        <p:tgtEl>
                                          <p:spTgt spid="3">
                                            <p:txEl>
                                              <p:charRg st="292" end="311"/>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charRg st="311" end="332"/>
                                            </p:txEl>
                                          </p:spTgt>
                                        </p:tgtEl>
                                        <p:attrNameLst>
                                          <p:attrName>style.visibility</p:attrName>
                                        </p:attrNameLst>
                                      </p:cBhvr>
                                      <p:to>
                                        <p:strVal val="visible"/>
                                      </p:to>
                                    </p:set>
                                    <p:animEffect transition="in" filter="blinds(horizontal)">
                                      <p:cBhvr>
                                        <p:cTn id="25" dur="500"/>
                                        <p:tgtEl>
                                          <p:spTgt spid="3">
                                            <p:txEl>
                                              <p:charRg st="311" end="3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42900" y="2782888"/>
            <a:ext cx="8821738" cy="4094162"/>
          </a:xfrm>
        </p:spPr>
        <p:txBody>
          <a:bodyPr vert="horz" wrap="square" lIns="91440" tIns="45720" rIns="91440" bIns="45720" anchor="t" anchorCtr="0"/>
          <a:p>
            <a:pPr>
              <a:spcBef>
                <a:spcPct val="0"/>
              </a:spcBef>
              <a:buNone/>
            </a:pPr>
            <a:r>
              <a:rPr lang="zh-CN" altLang="en-US" sz="2400" dirty="0">
                <a:latin typeface="Times New Roman" panose="02020603050405020304" pitchFamily="18" charset="0"/>
                <a:cs typeface="Times New Roman" panose="02020603050405020304" pitchFamily="18" charset="0"/>
              </a:rPr>
              <a:t>解</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:(1)</a:t>
            </a:r>
            <a:r>
              <a:rPr lang="zh-CN" altLang="en-US" sz="2400" dirty="0">
                <a:latin typeface="Times New Roman" panose="02020603050405020304" pitchFamily="18" charset="0"/>
                <a:cs typeface="Times New Roman" panose="02020603050405020304" pitchFamily="18" charset="0"/>
                <a:sym typeface="Wingdings" panose="05000000000000000000" pitchFamily="2" charset="2"/>
              </a:rPr>
              <a:t>对阶：</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A=2.6125×10</a:t>
            </a:r>
            <a:r>
              <a:rPr lang="en-US" altLang="zh-CN" sz="2400" baseline="30000" dirty="0">
                <a:latin typeface="Times New Roman" panose="02020603050405020304" pitchFamily="18" charset="0"/>
                <a:cs typeface="Times New Roman" panose="02020603050405020304" pitchFamily="18" charset="0"/>
                <a:sym typeface="Wingdings" panose="05000000000000000000" pitchFamily="2" charset="2"/>
              </a:rPr>
              <a:t>1</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=26.125=11010.001</a:t>
            </a:r>
            <a:r>
              <a:rPr lang="en-US" altLang="zh-CN" sz="2400" baseline="-25000" dirty="0">
                <a:latin typeface="Times New Roman" panose="02020603050405020304" pitchFamily="18" charset="0"/>
                <a:cs typeface="Times New Roman" panose="02020603050405020304" pitchFamily="18" charset="0"/>
                <a:sym typeface="Wingdings" panose="05000000000000000000" pitchFamily="2" charset="2"/>
              </a:rPr>
              <a:t>2</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=1.1010001×2</a:t>
            </a:r>
            <a:r>
              <a:rPr lang="en-US" altLang="zh-CN" sz="2400" baseline="30000" dirty="0">
                <a:latin typeface="Times New Roman" panose="02020603050405020304" pitchFamily="18" charset="0"/>
                <a:cs typeface="Times New Roman" panose="02020603050405020304" pitchFamily="18" charset="0"/>
                <a:sym typeface="Wingdings" panose="05000000000000000000" pitchFamily="2" charset="2"/>
              </a:rPr>
              <a:t>4</a:t>
            </a:r>
            <a:endParaRPr lang="en-US" altLang="zh-CN" sz="2400" baseline="30000" dirty="0">
              <a:latin typeface="Times New Roman" panose="02020603050405020304" pitchFamily="18" charset="0"/>
              <a:cs typeface="Times New Roman" panose="02020603050405020304" pitchFamily="18" charset="0"/>
              <a:sym typeface="Wingdings" panose="05000000000000000000" pitchFamily="2" charset="2"/>
            </a:endParaRPr>
          </a:p>
          <a:p>
            <a:pPr>
              <a:spcBef>
                <a:spcPct val="0"/>
              </a:spcBef>
              <a:buNone/>
            </a:pP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		          B=4.150390625×10</a:t>
            </a:r>
            <a:r>
              <a:rPr lang="en-US" altLang="zh-CN" sz="2400" baseline="30000" dirty="0">
                <a:latin typeface="Times New Roman" panose="02020603050405020304" pitchFamily="18" charset="0"/>
                <a:cs typeface="Times New Roman" panose="02020603050405020304" pitchFamily="18" charset="0"/>
                <a:sym typeface="Wingdings" panose="05000000000000000000" pitchFamily="2" charset="2"/>
              </a:rPr>
              <a:t>-1</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=0.4150390625 =0.0110101001</a:t>
            </a:r>
            <a:r>
              <a:rPr lang="en-US" altLang="zh-CN" sz="2400" baseline="-25000" dirty="0">
                <a:latin typeface="Times New Roman" panose="02020603050405020304" pitchFamily="18" charset="0"/>
                <a:cs typeface="Times New Roman" panose="02020603050405020304" pitchFamily="18" charset="0"/>
                <a:sym typeface="Wingdings" panose="05000000000000000000" pitchFamily="2" charset="2"/>
              </a:rPr>
              <a:t>2</a:t>
            </a:r>
            <a:endParaRPr lang="en-US" altLang="zh-CN" sz="2400" dirty="0">
              <a:latin typeface="Times New Roman" panose="02020603050405020304" pitchFamily="18" charset="0"/>
              <a:cs typeface="Times New Roman" panose="02020603050405020304" pitchFamily="18" charset="0"/>
              <a:sym typeface="Wingdings" panose="05000000000000000000" pitchFamily="2" charset="2"/>
            </a:endParaRPr>
          </a:p>
          <a:p>
            <a:pPr>
              <a:spcBef>
                <a:spcPct val="0"/>
              </a:spcBef>
              <a:buNone/>
            </a:pP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			 =1.10101001×2</a:t>
            </a:r>
            <a:r>
              <a:rPr lang="en-US" altLang="zh-CN" sz="2400" baseline="30000" dirty="0">
                <a:latin typeface="Times New Roman" panose="02020603050405020304" pitchFamily="18" charset="0"/>
                <a:cs typeface="Times New Roman" panose="02020603050405020304" pitchFamily="18" charset="0"/>
                <a:sym typeface="Wingdings" panose="05000000000000000000" pitchFamily="2" charset="2"/>
              </a:rPr>
              <a:t>-2</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 =0.0000011010</a:t>
            </a:r>
            <a:r>
              <a:rPr lang="en-US" altLang="zh-CN" sz="2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100</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×2</a:t>
            </a:r>
            <a:r>
              <a:rPr lang="en-US" altLang="zh-CN" sz="2400" baseline="30000" dirty="0">
                <a:latin typeface="Times New Roman" panose="02020603050405020304" pitchFamily="18" charset="0"/>
                <a:cs typeface="Times New Roman" panose="02020603050405020304" pitchFamily="18" charset="0"/>
                <a:sym typeface="Wingdings" panose="05000000000000000000" pitchFamily="2" charset="2"/>
              </a:rPr>
              <a:t>4</a:t>
            </a:r>
            <a:endParaRPr lang="en-US" altLang="zh-CN" sz="2400" baseline="30000" dirty="0">
              <a:latin typeface="Times New Roman" panose="02020603050405020304" pitchFamily="18" charset="0"/>
              <a:cs typeface="Times New Roman" panose="02020603050405020304" pitchFamily="18" charset="0"/>
              <a:sym typeface="Wingdings" panose="05000000000000000000" pitchFamily="2" charset="2"/>
            </a:endParaRPr>
          </a:p>
          <a:p>
            <a:pPr>
              <a:spcBef>
                <a:spcPct val="0"/>
              </a:spcBef>
              <a:buNone/>
            </a:pP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尾数求和：</a:t>
            </a:r>
            <a:r>
              <a:rPr lang="en-US" altLang="zh-CN" sz="2400" dirty="0">
                <a:latin typeface="Times New Roman" panose="02020603050405020304" pitchFamily="18" charset="0"/>
                <a:cs typeface="Times New Roman" panose="02020603050405020304" pitchFamily="18" charset="0"/>
              </a:rPr>
              <a:t>1.1010001000+0.0000011010</a:t>
            </a:r>
            <a:r>
              <a:rPr lang="en-US" altLang="zh-CN" sz="2400" dirty="0">
                <a:solidFill>
                  <a:srgbClr val="FF0000"/>
                </a:solidFill>
                <a:latin typeface="Times New Roman" panose="02020603050405020304" pitchFamily="18" charset="0"/>
                <a:cs typeface="Times New Roman" panose="02020603050405020304" pitchFamily="18" charset="0"/>
              </a:rPr>
              <a:t>100</a:t>
            </a:r>
            <a:r>
              <a:rPr lang="en-US" altLang="zh-CN" sz="2400" dirty="0">
                <a:latin typeface="Times New Roman" panose="02020603050405020304" pitchFamily="18" charset="0"/>
                <a:cs typeface="Times New Roman" panose="02020603050405020304" pitchFamily="18" charset="0"/>
              </a:rPr>
              <a:t>=1.1010100010</a:t>
            </a:r>
            <a:r>
              <a:rPr lang="en-US" altLang="zh-CN" sz="2400" dirty="0">
                <a:solidFill>
                  <a:srgbClr val="FF0000"/>
                </a:solidFill>
                <a:latin typeface="Times New Roman" panose="02020603050405020304" pitchFamily="18" charset="0"/>
                <a:cs typeface="Times New Roman" panose="02020603050405020304" pitchFamily="18" charset="0"/>
              </a:rPr>
              <a:t>100</a:t>
            </a:r>
            <a:endParaRPr lang="en-US" altLang="zh-CN" sz="2400" dirty="0">
              <a:solidFill>
                <a:srgbClr val="FF0000"/>
              </a:solidFill>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规格化：无需规格化</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舍入：尾数和舍入为：</a:t>
            </a:r>
            <a:r>
              <a:rPr lang="en-US" altLang="zh-CN" sz="2400" dirty="0">
                <a:latin typeface="Times New Roman" panose="02020603050405020304" pitchFamily="18" charset="0"/>
                <a:cs typeface="Times New Roman" panose="02020603050405020304" pitchFamily="18" charset="0"/>
              </a:rPr>
              <a:t>1.1010100010</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判溢出：没有溢出</a:t>
            </a:r>
            <a:endParaRPr lang="en-US" altLang="zh-CN" sz="2400" dirty="0">
              <a:latin typeface="Times New Roman" panose="02020603050405020304" pitchFamily="18" charset="0"/>
              <a:cs typeface="Times New Roman" panose="02020603050405020304" pitchFamily="18" charset="0"/>
            </a:endParaRPr>
          </a:p>
          <a:p>
            <a:pPr>
              <a:spcBef>
                <a:spcPct val="0"/>
              </a:spcBef>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因此浮点加的结果：</a:t>
            </a:r>
            <a:r>
              <a:rPr lang="en-US" altLang="zh-CN" sz="2400" dirty="0">
                <a:latin typeface="Times New Roman" panose="02020603050405020304" pitchFamily="18" charset="0"/>
                <a:cs typeface="Times New Roman" panose="02020603050405020304" pitchFamily="18" charset="0"/>
              </a:rPr>
              <a:t>A+B=1.1010100010×2</a:t>
            </a:r>
            <a:r>
              <a:rPr lang="en-US" altLang="zh-CN" sz="2400" baseline="300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，可表示为：</a:t>
            </a:r>
            <a:endParaRPr lang="en-US" altLang="zh-CN" sz="2400" dirty="0">
              <a:latin typeface="Times New Roman" panose="02020603050405020304" pitchFamily="18" charset="0"/>
              <a:cs typeface="Times New Roman" panose="02020603050405020304" pitchFamily="18" charset="0"/>
            </a:endParaRPr>
          </a:p>
          <a:p>
            <a:pPr>
              <a:spcBef>
                <a:spcPct val="0"/>
              </a:spcBef>
              <a:buNone/>
            </a:pPr>
            <a:endParaRPr lang="zh-CN" altLang="en-US" sz="2400" baseline="30000" dirty="0">
              <a:latin typeface="Times New Roman" panose="02020603050405020304" pitchFamily="18" charset="0"/>
              <a:ea typeface="Times New Roman" panose="02020603050405020304" pitchFamily="18" charset="0"/>
            </a:endParaRPr>
          </a:p>
        </p:txBody>
      </p:sp>
      <p:sp>
        <p:nvSpPr>
          <p:cNvPr id="80899" name="标题 1"/>
          <p:cNvSpPr>
            <a:spLocks noGrp="1"/>
          </p:cNvSpPr>
          <p:nvPr>
            <p:ph type="title"/>
          </p:nvPr>
        </p:nvSpPr>
        <p:spPr/>
        <p:txBody>
          <a:bodyPr vert="horz" wrap="square" lIns="91440" tIns="45720" rIns="91440" bIns="45720" anchor="b" anchorCtr="0"/>
          <a:p>
            <a:pPr eaLnBrk="1" hangingPunct="1"/>
            <a:r>
              <a:rPr lang="zh-CN" altLang="en-US" dirty="0"/>
              <a:t>关于浮点数运算问题</a:t>
            </a:r>
            <a:endParaRPr lang="zh-CN" altLang="en-US" dirty="0"/>
          </a:p>
        </p:txBody>
      </p:sp>
      <p:graphicFrame>
        <p:nvGraphicFramePr>
          <p:cNvPr id="7" name="表格 6"/>
          <p:cNvGraphicFramePr>
            <a:graphicFrameLocks noGrp="1"/>
          </p:cNvGraphicFramePr>
          <p:nvPr/>
        </p:nvGraphicFramePr>
        <p:xfrm>
          <a:off x="1500188" y="5750243"/>
          <a:ext cx="4929188" cy="457200"/>
        </p:xfrm>
        <a:graphic>
          <a:graphicData uri="http://schemas.openxmlformats.org/drawingml/2006/table">
            <a:tbl>
              <a:tblPr firstRow="1" bandRow="1">
                <a:tableStyleId>{5C22544A-7EE6-4342-B048-85BDC9FD1C3A}</a:tableStyleId>
              </a:tblPr>
              <a:tblGrid>
                <a:gridCol w="789428"/>
                <a:gridCol w="1213485"/>
                <a:gridCol w="2926274"/>
              </a:tblGrid>
              <a:tr h="370840">
                <a:tc>
                  <a:txBody>
                    <a:bodyPr/>
                    <a:lstStyle/>
                    <a:p>
                      <a:pPr algn="ctr"/>
                      <a:r>
                        <a:rPr lang="en-US" altLang="zh-CN" sz="2400" dirty="0" smtClean="0">
                          <a:solidFill>
                            <a:srgbClr val="FF0000"/>
                          </a:solidFill>
                          <a:latin typeface="Times New Roman" panose="02020603050405020304" pitchFamily="18" charset="0"/>
                          <a:cs typeface="Times New Roman" panose="02020603050405020304" pitchFamily="18" charset="0"/>
                        </a:rPr>
                        <a:t>0</a:t>
                      </a:r>
                      <a:endParaRPr lang="zh-CN" altLang="en-US" sz="2400" dirty="0">
                        <a:solidFill>
                          <a:srgbClr val="FF0000"/>
                        </a:solidFill>
                        <a:latin typeface="Times New Roman" panose="02020603050405020304" pitchFamily="18" charset="0"/>
                        <a:cs typeface="Times New Roman" panose="02020603050405020304" pitchFamily="18" charset="0"/>
                      </a:endParaRPr>
                    </a:p>
                  </a:txBody>
                  <a:tcPr marL="91439" marR="91439"/>
                </a:tc>
                <a:tc>
                  <a:txBody>
                    <a:bodyPr/>
                    <a:lstStyle/>
                    <a:p>
                      <a:pPr algn="ctr"/>
                      <a:r>
                        <a:rPr lang="en-US" altLang="zh-CN" sz="2400" dirty="0" smtClean="0">
                          <a:solidFill>
                            <a:srgbClr val="FF0000"/>
                          </a:solidFill>
                          <a:latin typeface="Times New Roman" panose="02020603050405020304" pitchFamily="18" charset="0"/>
                          <a:cs typeface="Times New Roman" panose="02020603050405020304" pitchFamily="18" charset="0"/>
                        </a:rPr>
                        <a:t>10011</a:t>
                      </a:r>
                      <a:endParaRPr lang="zh-CN" altLang="en-US" sz="2400" dirty="0">
                        <a:solidFill>
                          <a:srgbClr val="FF0000"/>
                        </a:solidFill>
                        <a:latin typeface="Times New Roman" panose="02020603050405020304" pitchFamily="18" charset="0"/>
                        <a:cs typeface="Times New Roman" panose="02020603050405020304" pitchFamily="18" charset="0"/>
                      </a:endParaRPr>
                    </a:p>
                  </a:txBody>
                  <a:tcPr marL="91439" marR="91439"/>
                </a:tc>
                <a:tc>
                  <a:txBody>
                    <a:bodyPr/>
                    <a:lstStyle/>
                    <a:p>
                      <a:pPr algn="ctr"/>
                      <a:r>
                        <a:rPr lang="en-US" altLang="zh-CN" sz="2400" dirty="0" smtClean="0">
                          <a:solidFill>
                            <a:srgbClr val="FF0000"/>
                          </a:solidFill>
                          <a:latin typeface="Times New Roman" panose="02020603050405020304" pitchFamily="18" charset="0"/>
                          <a:cs typeface="Times New Roman" panose="02020603050405020304" pitchFamily="18" charset="0"/>
                        </a:rPr>
                        <a:t>1010100010</a:t>
                      </a:r>
                      <a:endParaRPr lang="zh-CN" altLang="en-US" sz="2400" dirty="0">
                        <a:solidFill>
                          <a:srgbClr val="FF0000"/>
                        </a:solidFill>
                        <a:latin typeface="Times New Roman" panose="02020603050405020304" pitchFamily="18" charset="0"/>
                        <a:cs typeface="Times New Roman" panose="02020603050405020304" pitchFamily="18" charset="0"/>
                      </a:endParaRPr>
                    </a:p>
                  </a:txBody>
                  <a:tcPr marL="91439" marR="91439"/>
                </a:tc>
              </a:tr>
            </a:tbl>
          </a:graphicData>
        </a:graphic>
      </p:graphicFrame>
      <p:sp>
        <p:nvSpPr>
          <p:cNvPr id="80910" name="TextBox 5"/>
          <p:cNvSpPr txBox="1"/>
          <p:nvPr/>
        </p:nvSpPr>
        <p:spPr>
          <a:xfrm>
            <a:off x="357188" y="1285875"/>
            <a:ext cx="8501062" cy="1568450"/>
          </a:xfrm>
          <a:prstGeom prst="rect">
            <a:avLst/>
          </a:prstGeom>
          <a:noFill/>
          <a:ln w="9525">
            <a:noFill/>
          </a:ln>
        </p:spPr>
        <p:txBody>
          <a:bodyPr>
            <a:spAutoFit/>
          </a:bodyPr>
          <a:lstStyle>
            <a:lvl1pPr marL="179705" indent="-179705" algn="l" rtl="0" eaLnBrk="0" fontAlgn="base" hangingPunct="0">
              <a:spcBef>
                <a:spcPct val="20000"/>
              </a:spcBef>
              <a:spcAft>
                <a:spcPct val="0"/>
              </a:spcAft>
              <a:buFont typeface="Wingdings" panose="05000000000000000000" pitchFamily="2" charset="2"/>
              <a:buChar char="p"/>
              <a:defRPr sz="3200" b="1">
                <a:solidFill>
                  <a:schemeClr val="tx1"/>
                </a:solidFill>
                <a:latin typeface="+mn-lt"/>
                <a:ea typeface="+mn-ea"/>
                <a:cs typeface="+mn-cs"/>
              </a:defRPr>
            </a:lvl1pPr>
            <a:lvl2pPr marL="449580" indent="-90805" algn="l" rtl="0" eaLnBrk="0" fontAlgn="base" hangingPunct="0">
              <a:spcBef>
                <a:spcPct val="20000"/>
              </a:spcBef>
              <a:spcAft>
                <a:spcPct val="0"/>
              </a:spcAft>
              <a:buFont typeface="Wingdings" panose="05000000000000000000" pitchFamily="2" charset="2"/>
              <a:buChar char="n"/>
              <a:defRPr sz="2800" b="1">
                <a:solidFill>
                  <a:schemeClr val="tx1"/>
                </a:solidFill>
                <a:latin typeface="+mn-lt"/>
                <a:ea typeface="+mn-ea"/>
              </a:defRPr>
            </a:lvl2pPr>
            <a:lvl3pPr marL="809625" indent="-179705" algn="l" rtl="0" eaLnBrk="0" fontAlgn="base" hangingPunct="0">
              <a:spcBef>
                <a:spcPct val="20000"/>
              </a:spcBef>
              <a:spcAft>
                <a:spcPct val="0"/>
              </a:spcAft>
              <a:buSzPct val="80000"/>
              <a:buFont typeface="Wingdings" panose="05000000000000000000" pitchFamily="2" charset="2"/>
              <a:buChar char="l"/>
              <a:defRPr sz="2400" b="1">
                <a:solidFill>
                  <a:schemeClr val="tx1"/>
                </a:solidFill>
                <a:latin typeface="+mn-lt"/>
                <a:ea typeface="+mn-ea"/>
              </a:defRPr>
            </a:lvl3pPr>
            <a:lvl4pPr marL="2208530" indent="-228600" algn="l" rtl="0" eaLnBrk="0" fontAlgn="base" hangingPunct="0">
              <a:spcBef>
                <a:spcPct val="20000"/>
              </a:spcBef>
              <a:spcAft>
                <a:spcPct val="0"/>
              </a:spcAft>
              <a:buSzPct val="60000"/>
              <a:buFont typeface="Wingdings" panose="05000000000000000000" pitchFamily="2" charset="2"/>
              <a:buChar char="n"/>
              <a:defRPr sz="2000" b="1">
                <a:solidFill>
                  <a:schemeClr val="tx1"/>
                </a:solidFill>
                <a:latin typeface="+mn-lt"/>
                <a:ea typeface="华文中宋" panose="02010600040101010101" pitchFamily="2" charset="-122"/>
              </a:defRPr>
            </a:lvl4pPr>
            <a:lvl5pPr marL="261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stStyle>
          <a:p>
            <a:pPr marL="0" lvl="0" indent="0" eaLnBrk="1" hangingPunct="1">
              <a:spcBef>
                <a:spcPct val="0"/>
              </a:spcBef>
              <a:buFontTx/>
              <a:buNone/>
            </a:pPr>
            <a:r>
              <a:rPr lang="zh-CN" altLang="en-US" sz="2400" dirty="0">
                <a:latin typeface="Times New Roman" panose="02020603050405020304" pitchFamily="18" charset="0"/>
                <a:cs typeface="Times New Roman" panose="02020603050405020304" pitchFamily="18" charset="0"/>
              </a:rPr>
              <a:t>例：计算</a:t>
            </a:r>
            <a:r>
              <a:rPr lang="en-US" altLang="zh-CN" sz="2400" dirty="0">
                <a:latin typeface="Times New Roman" panose="02020603050405020304" pitchFamily="18" charset="0"/>
                <a:cs typeface="Times New Roman" panose="02020603050405020304" pitchFamily="18" charset="0"/>
              </a:rPr>
              <a:t>2.6125×10</a:t>
            </a:r>
            <a:r>
              <a:rPr lang="en-US" altLang="zh-CN" sz="2400" baseline="300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4.150390625×10</a:t>
            </a:r>
            <a:r>
              <a:rPr lang="en-US" altLang="zh-CN" sz="2400" baseline="300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，假设</a:t>
            </a:r>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以</a:t>
            </a:r>
            <a:r>
              <a:rPr lang="en-US" altLang="zh-CN" sz="2400" dirty="0">
                <a:latin typeface="Times New Roman" panose="02020603050405020304" pitchFamily="18" charset="0"/>
                <a:cs typeface="Times New Roman" panose="02020603050405020304" pitchFamily="18" charset="0"/>
              </a:rPr>
              <a:t>IEEE754-2008</a:t>
            </a:r>
            <a:r>
              <a:rPr lang="zh-CN" altLang="en-US" sz="2400" dirty="0">
                <a:latin typeface="Times New Roman" panose="02020603050405020304" pitchFamily="18" charset="0"/>
                <a:cs typeface="Times New Roman" panose="02020603050405020304" pitchFamily="18" charset="0"/>
              </a:rPr>
              <a:t>的</a:t>
            </a:r>
            <a:r>
              <a:rPr lang="en-US" altLang="zh-CN" sz="2400" dirty="0">
                <a:latin typeface="Times New Roman" panose="02020603050405020304" pitchFamily="18" charset="0"/>
                <a:cs typeface="Times New Roman" panose="02020603050405020304" pitchFamily="18" charset="0"/>
              </a:rPr>
              <a:t>16</a:t>
            </a:r>
            <a:r>
              <a:rPr lang="zh-CN" altLang="en-US" sz="2400" dirty="0">
                <a:latin typeface="Times New Roman" panose="02020603050405020304" pitchFamily="18" charset="0"/>
                <a:cs typeface="Times New Roman" panose="02020603050405020304" pitchFamily="18" charset="0"/>
              </a:rPr>
              <a:t>位半精度浮点数存储。其中</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位符号位，</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位阶码，偏置常数为</a:t>
            </a:r>
            <a:r>
              <a:rPr lang="en-US" altLang="zh-CN" sz="2400" dirty="0">
                <a:latin typeface="Times New Roman" panose="02020603050405020304" pitchFamily="18" charset="0"/>
                <a:cs typeface="Times New Roman" panose="02020603050405020304" pitchFamily="18" charset="0"/>
              </a:rPr>
              <a:t>15</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10</a:t>
            </a:r>
            <a:r>
              <a:rPr lang="zh-CN" altLang="en-US" sz="2400" dirty="0">
                <a:latin typeface="Times New Roman" panose="02020603050405020304" pitchFamily="18" charset="0"/>
                <a:cs typeface="Times New Roman" panose="02020603050405020304" pitchFamily="18" charset="0"/>
              </a:rPr>
              <a:t>位尾数，另有</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位保护位，</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位舍入位和</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位粘位，采用最近舍入偶数法。要求写出所有计算步骤。</a:t>
            </a:r>
            <a:endParaRPr lang="zh-CN" altLang="en-US" sz="2400" dirty="0">
              <a:latin typeface="Times New Roman" panose="02020603050405020304" pitchFamily="18" charset="0"/>
              <a:ea typeface="Times New Roman" panose="02020603050405020304" pitchFamily="18" charset="0"/>
            </a:endParaRPr>
          </a:p>
        </p:txBody>
      </p:sp>
      <p:sp>
        <p:nvSpPr>
          <p:cNvPr id="2" name="文本框 1"/>
          <p:cNvSpPr txBox="1"/>
          <p:nvPr/>
        </p:nvSpPr>
        <p:spPr>
          <a:xfrm>
            <a:off x="6654800" y="5762625"/>
            <a:ext cx="3048000" cy="460375"/>
          </a:xfrm>
          <a:prstGeom prst="rect">
            <a:avLst/>
          </a:prstGeom>
          <a:noFill/>
        </p:spPr>
        <p:txBody>
          <a:bodyPr wrap="square" rtlCol="0">
            <a:spAutoFit/>
          </a:bodyPr>
          <a:p>
            <a:r>
              <a:rPr lang="en-US" altLang="zh-CN" sz="2400" b="1">
                <a:latin typeface="Times New Roman" panose="02020603050405020304" pitchFamily="18" charset="0"/>
                <a:cs typeface="Times New Roman" panose="02020603050405020304" pitchFamily="18" charset="0"/>
              </a:rPr>
              <a:t>4EA2H</a:t>
            </a:r>
            <a:endParaRPr lang="en-US" altLang="zh-CN" sz="2400" b="1">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charRg st="0" end="52"/>
                                            </p:txEl>
                                          </p:spTgt>
                                        </p:tgtEl>
                                        <p:attrNameLst>
                                          <p:attrName>style.visibility</p:attrName>
                                        </p:attrNameLst>
                                      </p:cBhvr>
                                      <p:to>
                                        <p:strVal val="visible"/>
                                      </p:to>
                                    </p:set>
                                    <p:animEffect transition="in" filter="blinds(horizontal)">
                                      <p:cBhvr>
                                        <p:cTn id="7" dur="500"/>
                                        <p:tgtEl>
                                          <p:spTgt spid="3">
                                            <p:txEl>
                                              <p:charRg st="0" end="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charRg st="52" end="111"/>
                                            </p:txEl>
                                          </p:spTgt>
                                        </p:tgtEl>
                                        <p:attrNameLst>
                                          <p:attrName>style.visibility</p:attrName>
                                        </p:attrNameLst>
                                      </p:cBhvr>
                                      <p:to>
                                        <p:strVal val="visible"/>
                                      </p:to>
                                    </p:set>
                                    <p:animEffect transition="in" filter="blinds(horizontal)">
                                      <p:cBhvr>
                                        <p:cTn id="12" dur="500"/>
                                        <p:tgtEl>
                                          <p:spTgt spid="3">
                                            <p:txEl>
                                              <p:charRg st="52" end="1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charRg st="111" end="151"/>
                                            </p:txEl>
                                          </p:spTgt>
                                        </p:tgtEl>
                                        <p:attrNameLst>
                                          <p:attrName>style.visibility</p:attrName>
                                        </p:attrNameLst>
                                      </p:cBhvr>
                                      <p:to>
                                        <p:strVal val="visible"/>
                                      </p:to>
                                    </p:set>
                                    <p:animEffect transition="in" filter="blinds(horizontal)">
                                      <p:cBhvr>
                                        <p:cTn id="17" dur="500"/>
                                        <p:tgtEl>
                                          <p:spTgt spid="3">
                                            <p:txEl>
                                              <p:charRg st="111" end="15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charRg st="151" end="204"/>
                                            </p:txEl>
                                          </p:spTgt>
                                        </p:tgtEl>
                                        <p:attrNameLst>
                                          <p:attrName>style.visibility</p:attrName>
                                        </p:attrNameLst>
                                      </p:cBhvr>
                                      <p:to>
                                        <p:strVal val="visible"/>
                                      </p:to>
                                    </p:set>
                                    <p:animEffect transition="in" filter="blinds(horizontal)">
                                      <p:cBhvr>
                                        <p:cTn id="22" dur="500"/>
                                        <p:tgtEl>
                                          <p:spTgt spid="3">
                                            <p:txEl>
                                              <p:charRg st="151" end="20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charRg st="204" end="217"/>
                                            </p:txEl>
                                          </p:spTgt>
                                        </p:tgtEl>
                                        <p:attrNameLst>
                                          <p:attrName>style.visibility</p:attrName>
                                        </p:attrNameLst>
                                      </p:cBhvr>
                                      <p:to>
                                        <p:strVal val="visible"/>
                                      </p:to>
                                    </p:set>
                                    <p:animEffect transition="in" filter="blinds(horizontal)">
                                      <p:cBhvr>
                                        <p:cTn id="27" dur="500"/>
                                        <p:tgtEl>
                                          <p:spTgt spid="3">
                                            <p:txEl>
                                              <p:charRg st="204" end="21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charRg st="217" end="243"/>
                                            </p:txEl>
                                          </p:spTgt>
                                        </p:tgtEl>
                                        <p:attrNameLst>
                                          <p:attrName>style.visibility</p:attrName>
                                        </p:attrNameLst>
                                      </p:cBhvr>
                                      <p:to>
                                        <p:strVal val="visible"/>
                                      </p:to>
                                    </p:set>
                                    <p:animEffect transition="in" filter="blinds(horizontal)">
                                      <p:cBhvr>
                                        <p:cTn id="32" dur="500"/>
                                        <p:tgtEl>
                                          <p:spTgt spid="3">
                                            <p:txEl>
                                              <p:charRg st="217" end="24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charRg st="243" end="255"/>
                                            </p:txEl>
                                          </p:spTgt>
                                        </p:tgtEl>
                                        <p:attrNameLst>
                                          <p:attrName>style.visibility</p:attrName>
                                        </p:attrNameLst>
                                      </p:cBhvr>
                                      <p:to>
                                        <p:strVal val="visible"/>
                                      </p:to>
                                    </p:set>
                                    <p:animEffect transition="in" filter="blinds(horizontal)">
                                      <p:cBhvr>
                                        <p:cTn id="37" dur="500"/>
                                        <p:tgtEl>
                                          <p:spTgt spid="3">
                                            <p:txEl>
                                              <p:charRg st="243" end="25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charRg st="255" end="285"/>
                                            </p:txEl>
                                          </p:spTgt>
                                        </p:tgtEl>
                                        <p:attrNameLst>
                                          <p:attrName>style.visibility</p:attrName>
                                        </p:attrNameLst>
                                      </p:cBhvr>
                                      <p:to>
                                        <p:strVal val="visible"/>
                                      </p:to>
                                    </p:set>
                                    <p:animEffect transition="in" filter="blinds(horizontal)">
                                      <p:cBhvr>
                                        <p:cTn id="42" dur="500"/>
                                        <p:tgtEl>
                                          <p:spTgt spid="3">
                                            <p:txEl>
                                              <p:charRg st="255" end="285"/>
                                            </p:txEl>
                                          </p:spTgt>
                                        </p:tgtEl>
                                      </p:cBhvr>
                                    </p:animEffect>
                                  </p:childTnLst>
                                </p:cTn>
                              </p:par>
                            </p:childTnLst>
                          </p:cTn>
                        </p:par>
                        <p:par>
                          <p:cTn id="43" fill="hold">
                            <p:stCondLst>
                              <p:cond delay="500"/>
                            </p:stCondLst>
                            <p:childTnLst>
                              <p:par>
                                <p:cTn id="44" presetID="3" presetClass="entr" presetSubtype="10" fill="hold"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blinds(horizontal)">
                                      <p:cBhvr>
                                        <p:cTn id="4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标题 1"/>
          <p:cNvSpPr>
            <a:spLocks noGrp="1"/>
          </p:cNvSpPr>
          <p:nvPr>
            <p:ph type="title"/>
          </p:nvPr>
        </p:nvSpPr>
        <p:spPr/>
        <p:txBody>
          <a:bodyPr vert="horz" wrap="square" lIns="91440" tIns="45720" rIns="91440" bIns="45720" anchor="b" anchorCtr="0"/>
          <a:p>
            <a:pPr eaLnBrk="1" hangingPunct="1"/>
            <a:r>
              <a:rPr lang="zh-CN" altLang="en-US" dirty="0"/>
              <a:t>关于浮点数运算问题</a:t>
            </a:r>
            <a:endParaRPr lang="zh-CN" altLang="en-US" dirty="0"/>
          </a:p>
        </p:txBody>
      </p:sp>
      <p:sp>
        <p:nvSpPr>
          <p:cNvPr id="8195" name="内容占位符 3"/>
          <p:cNvSpPr txBox="1"/>
          <p:nvPr/>
        </p:nvSpPr>
        <p:spPr bwMode="auto">
          <a:xfrm>
            <a:off x="536575" y="3138488"/>
            <a:ext cx="8393113" cy="3290888"/>
          </a:xfrm>
          <a:prstGeom prst="rect">
            <a:avLst/>
          </a:prstGeom>
          <a:noFill/>
          <a:ln w="9525">
            <a:noFill/>
            <a:miter lim="800000"/>
          </a:ln>
        </p:spPr>
        <p:txBody>
          <a:bodyPr/>
          <a:lstStyle/>
          <a:p>
            <a:pPr marL="457200" marR="0" indent="-457200" defTabSz="914400" eaLnBrk="1" hangingPunct="1">
              <a:buClrTx/>
              <a:buSzTx/>
              <a:buFontTx/>
              <a:buNone/>
              <a:defRPr/>
            </a:pPr>
            <a:r>
              <a:rPr kumimoji="0" lang="zh-CN" altLang="en-US" sz="2400" b="1" kern="1200" cap="none" spc="0" normalizeH="0" baseline="0" noProof="0" dirty="0">
                <a:latin typeface="Arial" panose="020B0604020202020204" pitchFamily="34" charset="0"/>
                <a:ea typeface="华文新魏" panose="02010800040101010101" pitchFamily="2" charset="-122"/>
                <a:cs typeface="+mn-cs"/>
              </a:rPr>
              <a:t>解：</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457200" marR="0" indent="-282575" defTabSz="914400" eaLnBrk="1" hangingPunct="1">
              <a:buClrTx/>
              <a:buSzTx/>
              <a:buFont typeface="+mj-lt"/>
              <a:buAutoNum type="alphaLcPeriod"/>
              <a:defRPr/>
            </a:pPr>
            <a:r>
              <a:rPr kumimoji="0" lang="en-US" altLang="zh-CN" b="1" kern="1200" cap="none" spc="0" normalizeH="0" baseline="0" noProof="0" dirty="0">
                <a:latin typeface="Times New Roman" panose="02020603050405020304" pitchFamily="18" charset="0"/>
                <a:ea typeface="华文新魏" panose="02010800040101010101" pitchFamily="2" charset="-122"/>
                <a:cs typeface="+mn-cs"/>
              </a:rPr>
              <a:t> (1)</a:t>
            </a:r>
            <a:r>
              <a:rPr kumimoji="0" lang="zh-CN" altLang="en-US" b="1" kern="1200" cap="none" spc="0" normalizeH="0" baseline="0" noProof="0" dirty="0">
                <a:latin typeface="Times New Roman" panose="02020603050405020304" pitchFamily="18" charset="0"/>
                <a:ea typeface="华文新魏" panose="02010800040101010101" pitchFamily="2" charset="-122"/>
                <a:cs typeface="+mn-cs"/>
              </a:rPr>
              <a:t>对阶：</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Xe=(1000 1101)</a:t>
            </a:r>
            <a:r>
              <a:rPr kumimoji="0" lang="zh-CN" altLang="en-US" b="1" kern="1200" cap="none" spc="0" normalizeH="0" baseline="-25000" noProof="0" dirty="0">
                <a:latin typeface="Times New Roman" panose="02020603050405020304" pitchFamily="18" charset="0"/>
                <a:ea typeface="宋体" panose="02010600030101010101" pitchFamily="2" charset="-122"/>
                <a:cs typeface="+mn-cs"/>
              </a:rPr>
              <a:t>移</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-127=14</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Ye=(0111 1101)</a:t>
            </a:r>
            <a:r>
              <a:rPr kumimoji="0" lang="zh-CN" altLang="en-US" b="1" kern="1200" cap="none" spc="0" normalizeH="0" baseline="-25000" noProof="0" dirty="0">
                <a:latin typeface="Times New Roman" panose="02020603050405020304" pitchFamily="18" charset="0"/>
                <a:ea typeface="宋体" panose="02010600030101010101" pitchFamily="2" charset="-122"/>
                <a:cs typeface="+mn-cs"/>
              </a:rPr>
              <a:t>移</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-127= </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2</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e=16</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381000" marR="0" indent="-381000" defTabSz="914400" eaLnBrk="1" hangingPunct="1">
              <a:buClrTx/>
              <a:buSzTx/>
              <a:buFontTx/>
              <a:buNone/>
              <a:defRPr/>
            </a:pPr>
            <a:r>
              <a:rPr kumimoji="0" lang="en-US" altLang="zh-CN" b="1" kern="1200" cap="none" spc="0" normalizeH="0" baseline="0" noProof="0" dirty="0">
                <a:latin typeface="Times New Roman" panose="02020603050405020304" pitchFamily="18" charset="0"/>
                <a:ea typeface="宋体" panose="02010600030101010101" pitchFamily="2" charset="-122"/>
                <a:cs typeface="+mn-cs"/>
              </a:rPr>
              <a:t>	  	X</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1.1011×2</a:t>
            </a:r>
            <a:r>
              <a:rPr kumimoji="0" lang="en-US" altLang="zh-CN" b="1" kern="1200" cap="none" spc="0" normalizeH="0" baseline="30000" noProof="0" dirty="0">
                <a:latin typeface="Times New Roman" panose="02020603050405020304" pitchFamily="18" charset="0"/>
                <a:ea typeface="宋体" panose="02010600030101010101" pitchFamily="2" charset="-122"/>
                <a:cs typeface="+mn-cs"/>
              </a:rPr>
              <a:t>14</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Y</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-1.11×2</a:t>
            </a:r>
            <a:r>
              <a:rPr kumimoji="0" lang="en-US" altLang="zh-CN" b="1" kern="1200" cap="none" spc="0" normalizeH="0" baseline="30000" noProof="0" dirty="0">
                <a:latin typeface="Times New Roman" panose="02020603050405020304" pitchFamily="18" charset="0"/>
                <a:ea typeface="宋体" panose="02010600030101010101" pitchFamily="2" charset="-122"/>
                <a:cs typeface="+mn-cs"/>
              </a:rPr>
              <a:t>-2</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0.0000 0000 0000 0001 11×2</a:t>
            </a:r>
            <a:r>
              <a:rPr kumimoji="0" lang="en-US" altLang="zh-CN" b="1" kern="1200" cap="none" spc="0" normalizeH="0" baseline="30000" noProof="0" dirty="0">
                <a:latin typeface="Times New Roman" panose="02020603050405020304" pitchFamily="18" charset="0"/>
                <a:ea typeface="宋体" panose="02010600030101010101" pitchFamily="2" charset="-122"/>
                <a:cs typeface="+mn-cs"/>
              </a:rPr>
              <a:t>14</a:t>
            </a:r>
            <a:endParaRPr kumimoji="0" lang="en-US" altLang="zh-CN" b="1" kern="1200" cap="none" spc="0" normalizeH="0" baseline="30000" noProof="0" dirty="0">
              <a:latin typeface="Times New Roman" panose="02020603050405020304" pitchFamily="18" charset="0"/>
              <a:ea typeface="宋体" panose="02010600030101010101" pitchFamily="2" charset="-122"/>
              <a:cs typeface="+mn-cs"/>
            </a:endParaRPr>
          </a:p>
          <a:p>
            <a:pPr marL="381000" marR="0" indent="-381000" defTabSz="914400" eaLnBrk="1" hangingPunct="1">
              <a:buClrTx/>
              <a:buSzTx/>
              <a:buFontTx/>
              <a:buNone/>
              <a:defRPr/>
            </a:pPr>
            <a:r>
              <a:rPr kumimoji="0" lang="en-US" altLang="zh-CN" b="1"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b="1" kern="1200" cap="none" spc="0" normalizeH="0" baseline="0" noProof="0" dirty="0">
                <a:latin typeface="Times New Roman" panose="02020603050405020304" pitchFamily="18" charset="0"/>
                <a:ea typeface="华文新魏" panose="02010800040101010101" pitchFamily="2" charset="-122"/>
                <a:cs typeface="+mn-cs"/>
              </a:rPr>
              <a:t>(2)</a:t>
            </a:r>
            <a:r>
              <a:rPr kumimoji="0" lang="zh-CN" altLang="en-US" b="1" kern="1200" cap="none" spc="0" normalizeH="0" baseline="0" noProof="0" dirty="0">
                <a:latin typeface="Times New Roman" panose="02020603050405020304" pitchFamily="18" charset="0"/>
                <a:ea typeface="华文新魏" panose="02010800040101010101" pitchFamily="2" charset="-122"/>
                <a:cs typeface="+mn-cs"/>
              </a:rPr>
              <a:t>尾数相加：</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Xm+Ym</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1.1010 1111 1111 1110 01</a:t>
            </a:r>
            <a:endParaRPr kumimoji="0" lang="en-US" altLang="zh-CN" b="1" kern="1200" cap="none" spc="0" normalizeH="0" baseline="30000" noProof="0" dirty="0">
              <a:latin typeface="Times New Roman" panose="02020603050405020304" pitchFamily="18" charset="0"/>
              <a:ea typeface="宋体" panose="02010600030101010101" pitchFamily="2" charset="-122"/>
              <a:cs typeface="+mn-cs"/>
            </a:endParaRPr>
          </a:p>
          <a:p>
            <a:pPr marL="381000" marR="0" indent="-381000" defTabSz="914400" eaLnBrk="1" hangingPunct="1">
              <a:buClrTx/>
              <a:buSzTx/>
              <a:buFontTx/>
              <a:buNone/>
              <a:defRPr/>
            </a:pPr>
            <a:r>
              <a:rPr kumimoji="0" lang="en-US" altLang="zh-CN" b="1" kern="1200" cap="none" spc="0" normalizeH="0" baseline="0" noProof="0" dirty="0">
                <a:latin typeface="Times New Roman" panose="02020603050405020304" pitchFamily="18" charset="0"/>
                <a:ea typeface="宋体" panose="02010600030101010101" pitchFamily="2" charset="-122"/>
                <a:cs typeface="+mn-cs"/>
              </a:rPr>
              <a:t>       (3)</a:t>
            </a:r>
            <a:r>
              <a:rPr kumimoji="0" lang="zh-CN" altLang="en-US" b="1" kern="1200" cap="none" spc="0" normalizeH="0" baseline="0" noProof="0" dirty="0">
                <a:latin typeface="Times New Roman" panose="02020603050405020304" pitchFamily="18" charset="0"/>
                <a:ea typeface="华文新魏" panose="02010800040101010101" pitchFamily="2" charset="-122"/>
                <a:cs typeface="+mn-cs"/>
              </a:rPr>
              <a:t>结果：</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X+Y</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0100 0110 1101 0111 1111 1111 0010 0000</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457200" marR="0" indent="-282575" defTabSz="914400" eaLnBrk="1" hangingPunct="1">
              <a:buClrTx/>
              <a:buSzTx/>
              <a:buFont typeface="+mj-lt"/>
              <a:buAutoNum type="alphaLcPeriod" startAt="2"/>
              <a:defRPr/>
            </a:pP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a:t>
            </a:r>
            <a:r>
              <a:rPr kumimoji="0" lang="zh-CN" altLang="en-US" b="1" kern="1200" cap="none" spc="0" normalizeH="0" baseline="0" noProof="0" dirty="0">
                <a:latin typeface="Times New Roman" panose="02020603050405020304" pitchFamily="18" charset="0"/>
                <a:ea typeface="华文新魏" panose="02010800040101010101" pitchFamily="2" charset="-122"/>
                <a:cs typeface="+mn-cs"/>
              </a:rPr>
              <a:t>阶码相加：</a:t>
            </a:r>
            <a:r>
              <a:rPr kumimoji="0" lang="en-US" altLang="zh-CN" b="1" kern="1200" cap="none" spc="0" normalizeH="0" baseline="0" noProof="0" dirty="0">
                <a:latin typeface="Times New Roman" panose="02020603050405020304" pitchFamily="18" charset="0"/>
                <a:ea typeface="华文新魏" panose="02010800040101010101" pitchFamily="2" charset="-122"/>
                <a:cs typeface="+mn-cs"/>
              </a:rPr>
              <a:t>Xe+Ye=14-2=12</a:t>
            </a:r>
            <a:endParaRPr kumimoji="0" lang="en-US" altLang="zh-CN" b="1" kern="1200" cap="none" spc="0" normalizeH="0" baseline="0" noProof="0" dirty="0">
              <a:latin typeface="Times New Roman" panose="02020603050405020304" pitchFamily="18" charset="0"/>
              <a:ea typeface="华文新魏" panose="02010800040101010101" pitchFamily="2" charset="-122"/>
              <a:cs typeface="+mn-cs"/>
            </a:endParaRPr>
          </a:p>
          <a:p>
            <a:pPr marL="381000" marR="0" indent="-381000" defTabSz="914400" eaLnBrk="1" hangingPunct="1">
              <a:buClrTx/>
              <a:buSzTx/>
              <a:buFontTx/>
              <a:buNone/>
              <a:defRPr/>
            </a:pPr>
            <a:r>
              <a:rPr kumimoji="0" lang="zh-CN" altLang="en-US" b="1"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(2)</a:t>
            </a:r>
            <a:r>
              <a:rPr kumimoji="0" lang="zh-CN" altLang="en-US" b="1" kern="1200" cap="none" spc="0" normalizeH="0" baseline="0" noProof="0" dirty="0">
                <a:latin typeface="Times New Roman" panose="02020603050405020304" pitchFamily="18" charset="0"/>
                <a:ea typeface="华文新魏" panose="02010800040101010101" pitchFamily="2" charset="-122"/>
                <a:cs typeface="+mn-cs"/>
              </a:rPr>
              <a:t>尾数相乘：</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Xm </a:t>
            </a:r>
            <a:r>
              <a:rPr kumimoji="0" lang="en-US" altLang="zh-CN" b="1"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 </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Ym</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10.111101</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381000" marR="0" indent="-381000" defTabSz="914400" eaLnBrk="1" hangingPunct="1">
              <a:buClrTx/>
              <a:buSzTx/>
              <a:buFontTx/>
              <a:buNone/>
              <a:defRPr/>
            </a:pPr>
            <a:r>
              <a:rPr kumimoji="0" lang="en-US" altLang="zh-CN" b="1" kern="1200" cap="none" spc="0" normalizeH="0" baseline="0" noProof="0" dirty="0">
                <a:latin typeface="Times New Roman" panose="02020603050405020304" pitchFamily="18" charset="0"/>
                <a:ea typeface="宋体" panose="02010600030101010101" pitchFamily="2" charset="-122"/>
                <a:cs typeface="+mn-cs"/>
              </a:rPr>
              <a:t>                                   X</a:t>
            </a:r>
            <a:r>
              <a:rPr kumimoji="0" lang="en-US" altLang="zh-CN" b="1"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  </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Y</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10.111101 ×2</a:t>
            </a:r>
            <a:r>
              <a:rPr kumimoji="0" lang="en-US" altLang="zh-CN" b="1" kern="1200" cap="none" spc="0" normalizeH="0" baseline="30000" noProof="0" dirty="0">
                <a:latin typeface="Times New Roman" panose="02020603050405020304" pitchFamily="18" charset="0"/>
                <a:ea typeface="宋体" panose="02010600030101010101" pitchFamily="2" charset="-122"/>
                <a:cs typeface="+mn-cs"/>
              </a:rPr>
              <a:t>12</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381000" marR="0" indent="-381000" defTabSz="914400" eaLnBrk="1" hangingPunct="1">
              <a:buClrTx/>
              <a:buSzTx/>
              <a:buFontTx/>
              <a:buNone/>
              <a:defRPr/>
            </a:pPr>
            <a:r>
              <a:rPr kumimoji="0" lang="en-US" altLang="zh-CN" b="1" kern="1200" cap="none" spc="0" normalizeH="0" baseline="0" noProof="0" dirty="0">
                <a:latin typeface="Times New Roman" panose="02020603050405020304" pitchFamily="18" charset="0"/>
                <a:ea typeface="宋体" panose="02010600030101010101" pitchFamily="2" charset="-122"/>
                <a:cs typeface="+mn-cs"/>
              </a:rPr>
              <a:t>       (3)</a:t>
            </a:r>
            <a:r>
              <a:rPr kumimoji="0" lang="zh-CN" altLang="en-US" b="1" kern="1200" cap="none" spc="0" normalizeH="0" baseline="0" noProof="0" dirty="0">
                <a:latin typeface="Times New Roman" panose="02020603050405020304" pitchFamily="18" charset="0"/>
                <a:ea typeface="华文新魏" panose="02010800040101010101" pitchFamily="2" charset="-122"/>
                <a:cs typeface="+mn-cs"/>
              </a:rPr>
              <a:t>规格化：</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X</a:t>
            </a:r>
            <a:r>
              <a:rPr kumimoji="0" lang="en-US" altLang="zh-CN" b="1" kern="1200" cap="none" spc="0" normalizeH="0" baseline="0" noProof="0" dirty="0">
                <a:latin typeface="Times New Roman" panose="02020603050405020304" pitchFamily="18" charset="0"/>
                <a:ea typeface="宋体" panose="02010600030101010101" pitchFamily="2" charset="-122"/>
                <a:cs typeface="+mn-cs"/>
                <a:sym typeface="Symbol" panose="05050102010706020507" pitchFamily="18" charset="2"/>
              </a:rPr>
              <a:t>  </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Y</a:t>
            </a:r>
            <a:r>
              <a:rPr kumimoji="0" lang="zh-CN" altLang="en-US" b="1" kern="1200" cap="none" spc="0" normalizeH="0" baseline="0" noProof="0" dirty="0">
                <a:latin typeface="Times New Roman" panose="02020603050405020304" pitchFamily="18" charset="0"/>
                <a:ea typeface="宋体" panose="02010600030101010101" pitchFamily="2" charset="-122"/>
                <a:cs typeface="+mn-cs"/>
              </a:rPr>
              <a:t>＝</a:t>
            </a:r>
            <a:r>
              <a:rPr kumimoji="0" lang="zh-CN" altLang="en-US"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1.0111101 ×2</a:t>
            </a:r>
            <a:r>
              <a:rPr kumimoji="0" lang="en-US" altLang="zh-CN" b="1" kern="1200" cap="none" spc="0" normalizeH="0" baseline="30000" noProof="0" dirty="0">
                <a:latin typeface="Times New Roman" panose="02020603050405020304" pitchFamily="18" charset="0"/>
                <a:ea typeface="宋体" panose="02010600030101010101" pitchFamily="2" charset="-122"/>
                <a:cs typeface="+mn-cs"/>
              </a:rPr>
              <a:t>13</a:t>
            </a:r>
            <a:endParaRPr kumimoji="0" lang="en-US" altLang="zh-CN" b="1" kern="1200" cap="none" spc="0" normalizeH="0" baseline="0" noProof="0" dirty="0">
              <a:latin typeface="Times New Roman" panose="02020603050405020304" pitchFamily="18" charset="0"/>
              <a:ea typeface="宋体" panose="02010600030101010101" pitchFamily="2" charset="-122"/>
              <a:cs typeface="+mn-cs"/>
            </a:endParaRPr>
          </a:p>
          <a:p>
            <a:pPr marL="381000" marR="0" indent="-381000" defTabSz="914400" eaLnBrk="1" hangingPunct="1">
              <a:buClrTx/>
              <a:buSzTx/>
              <a:buFontTx/>
              <a:buNone/>
              <a:defRPr/>
            </a:pPr>
            <a:r>
              <a:rPr kumimoji="0" lang="zh-CN" altLang="en-US" b="1" kern="1200" cap="none" spc="0" normalizeH="0" baseline="0" noProof="0" dirty="0">
                <a:latin typeface="Times New Roman" panose="02020603050405020304" pitchFamily="18" charset="0"/>
                <a:ea typeface="宋体" panose="02010600030101010101" pitchFamily="2" charset="-122"/>
                <a:cs typeface="+mn-cs"/>
              </a:rPr>
              <a:t>                                      ＝</a:t>
            </a:r>
            <a:r>
              <a:rPr kumimoji="0" lang="en-US" altLang="zh-CN" b="1" kern="1200" cap="none" spc="0" normalizeH="0" baseline="0" noProof="0" dirty="0">
                <a:latin typeface="Times New Roman" panose="02020603050405020304" pitchFamily="18" charset="0"/>
                <a:ea typeface="宋体" panose="02010600030101010101" pitchFamily="2" charset="-122"/>
                <a:cs typeface="+mn-cs"/>
              </a:rPr>
              <a:t>1100 0110 0011 1101 0000 0000 0000 0000</a:t>
            </a:r>
            <a:endParaRPr kumimoji="0" lang="zh-CN" altLang="en-US" b="1" kern="1200" cap="none" spc="0" normalizeH="0" baseline="0" noProof="0" dirty="0">
              <a:latin typeface="Times New Roman" panose="02020603050405020304" pitchFamily="18" charset="0"/>
              <a:ea typeface="宋体" panose="02010600030101010101" pitchFamily="2" charset="-122"/>
              <a:cs typeface="+mn-cs"/>
            </a:endParaRPr>
          </a:p>
        </p:txBody>
      </p:sp>
      <p:sp>
        <p:nvSpPr>
          <p:cNvPr id="8198" name="TextBox 4"/>
          <p:cNvSpPr txBox="1">
            <a:spLocks noChangeArrowheads="1"/>
          </p:cNvSpPr>
          <p:nvPr/>
        </p:nvSpPr>
        <p:spPr bwMode="auto">
          <a:xfrm>
            <a:off x="500063" y="1276350"/>
            <a:ext cx="8286750" cy="1938338"/>
          </a:xfrm>
          <a:prstGeom prst="rect">
            <a:avLst/>
          </a:prstGeom>
          <a:solidFill>
            <a:schemeClr val="bg1"/>
          </a:solidFill>
          <a:ln w="9525">
            <a:noFill/>
            <a:miter lim="800000"/>
          </a:ln>
        </p:spPr>
        <p:txBody>
          <a:bodyPr>
            <a:spAutoFit/>
          </a:bodyPr>
          <a:lstStyle/>
          <a:p>
            <a:pPr marR="0" defTabSz="914400" eaLnBrk="1" hangingPunct="1">
              <a:buClrTx/>
              <a:buSzTx/>
              <a:buFontTx/>
              <a:buNone/>
              <a:defRPr/>
            </a:pP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例：假设</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x=0100 0110 1101 1000 0000 0000 0000 0000</a:t>
            </a:r>
            <a:r>
              <a:rPr kumimoji="0" lang="en-US" altLang="zh-CN" sz="2400" b="1" kern="1200" cap="none" spc="0" normalizeH="0" baseline="-25000" noProof="0" dirty="0">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y=1011 1110 1110 0000 0000 0000 0000 0000</a:t>
            </a:r>
            <a:r>
              <a:rPr kumimoji="0" lang="en-US" altLang="zh-CN" sz="2400" b="1" kern="1200" cap="none" spc="0" normalizeH="0" baseline="-25000" noProof="0" dirty="0">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 ，均用</a:t>
            </a: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IEEE754</a:t>
            </a:r>
            <a:r>
              <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单精度表示。若按照如下操作执行，运行结果如何？</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282575" defTabSz="914400" eaLnBrk="1" hangingPunct="1">
              <a:buClrTx/>
              <a:buSzTx/>
              <a:buFont typeface="+mj-lt"/>
              <a:buAutoNum type="alphaLcPeriod"/>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x+y</a:t>
            </a:r>
            <a:endPar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a:p>
            <a:pPr marL="457200" marR="0" indent="-282575" defTabSz="914400" eaLnBrk="1" hangingPunct="1">
              <a:buClrTx/>
              <a:buSzTx/>
              <a:buFont typeface="+mj-lt"/>
              <a:buAutoNum type="alphaLcPeriod"/>
              <a:defRPr/>
            </a:pPr>
            <a:r>
              <a:rPr kumimoji="0" lang="en-US" altLang="zh-CN"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rPr>
              <a:t>x*y</a:t>
            </a:r>
            <a:endParaRPr kumimoji="0" lang="zh-CN" altLang="en-US" sz="2400" b="1" kern="1200" cap="none" spc="0" normalizeH="0" baseline="0" noProof="0" dirty="0">
              <a:latin typeface="Times New Roman" panose="02020603050405020304" pitchFamily="18" charset="0"/>
              <a:ea typeface="华文新魏" panose="02010800040101010101" pitchFamily="2" charset="-122"/>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标题 1"/>
          <p:cNvSpPr>
            <a:spLocks noGrp="1"/>
          </p:cNvSpPr>
          <p:nvPr>
            <p:ph type="title"/>
          </p:nvPr>
        </p:nvSpPr>
        <p:spPr/>
        <p:txBody>
          <a:bodyPr vert="horz" wrap="square" lIns="91440" tIns="45720" rIns="91440" bIns="45720" anchor="b" anchorCtr="0"/>
          <a:p>
            <a:pPr eaLnBrk="1" hangingPunct="1"/>
            <a:r>
              <a:rPr lang="zh-CN" altLang="en-US" dirty="0"/>
              <a:t>关于浮点数运算问题</a:t>
            </a:r>
            <a:endParaRPr lang="zh-CN" altLang="en-US" dirty="0"/>
          </a:p>
        </p:txBody>
      </p:sp>
      <p:sp>
        <p:nvSpPr>
          <p:cNvPr id="8195" name="内容占位符 3"/>
          <p:cNvSpPr>
            <a:spLocks noGrp="1"/>
          </p:cNvSpPr>
          <p:nvPr>
            <p:ph idx="1"/>
          </p:nvPr>
        </p:nvSpPr>
        <p:spPr>
          <a:xfrm>
            <a:off x="357188" y="3834765"/>
            <a:ext cx="8751888" cy="2451100"/>
          </a:xfrm>
        </p:spPr>
        <p:txBody>
          <a:bodyPr vert="horz" wrap="square" lIns="91440" tIns="45720" rIns="91440" bIns="45720" numCol="1" anchor="t" anchorCtr="0" compatLnSpc="1"/>
          <a:lstStyle/>
          <a:p>
            <a:pPr marL="179705" marR="0" lvl="0" indent="-179705" algn="l" defTabSz="914400" rtl="0" eaLnBrk="0" fontAlgn="base" latinLnBrk="0" hangingPunct="0">
              <a:lnSpc>
                <a:spcPct val="100000"/>
              </a:lnSpc>
              <a:spcBef>
                <a:spcPts val="0"/>
              </a:spcBef>
              <a:spcAft>
                <a:spcPts val="0"/>
              </a:spcAft>
              <a:buClrTx/>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tx1"/>
                </a:solidFill>
                <a:effectLst/>
                <a:uLnTx/>
                <a:uFillTx/>
                <a:latin typeface="+mn-lt"/>
                <a:ea typeface="+mn-ea"/>
                <a:cs typeface="+mn-cs"/>
              </a:rPr>
              <a:t>解：</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rPr>
              <a:t>a.</a:t>
            </a:r>
            <a:r>
              <a:rPr kumimoji="0"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对阶：</a:t>
            </a:r>
            <a:r>
              <a:rPr kumimoji="0" lang="zh-CN" altLang="en-US" sz="2000" b="1" i="0" u="none" strike="noStrike" kern="0" cap="none" spc="0" normalizeH="0" baseline="0" noProof="0" dirty="0" smtClean="0">
                <a:ln>
                  <a:noFill/>
                </a:ln>
                <a:solidFill>
                  <a:schemeClr val="tx1"/>
                </a:solidFill>
                <a:effectLst/>
                <a:uLnTx/>
                <a:uFillTx/>
                <a:latin typeface="+mn-lt"/>
                <a:ea typeface="+mn-ea"/>
                <a:cs typeface="Times New Roman" panose="02020603050405020304" pitchFamily="18" charset="0"/>
              </a:rPr>
              <a:t> </a:t>
            </a:r>
            <a:r>
              <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Xe=(1011 1111</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a:t>
            </a:r>
            <a:r>
              <a:rPr kumimoji="0" lang="zh-CN" altLang="en-US" sz="20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mn-cs"/>
              </a:rPr>
              <a:t>移</a:t>
            </a:r>
            <a:r>
              <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-127=64</a:t>
            </a:r>
            <a:r>
              <a:rPr kumimoji="0" lang="zh-CN" altLang="en-US" sz="20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Ye=(0111 1111</a:t>
            </a:r>
            <a:r>
              <a:rPr kumimoji="0" lang="en-US" altLang="zh-CN" sz="20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a:t>
            </a:r>
            <a:r>
              <a:rPr kumimoji="0" lang="zh-CN" altLang="en-US" sz="2000" b="1" i="0" u="none" strike="noStrike" kern="0" cap="none" spc="0" normalizeH="0" baseline="-25000" noProof="0" dirty="0" smtClean="0">
                <a:ln>
                  <a:noFill/>
                </a:ln>
                <a:solidFill>
                  <a:schemeClr val="tx1"/>
                </a:solidFill>
                <a:effectLst/>
                <a:uLnTx/>
                <a:uFillTx/>
                <a:latin typeface="Times New Roman" panose="02020603050405020304" pitchFamily="18" charset="0"/>
                <a:ea typeface="+mn-ea"/>
                <a:cs typeface="+mn-cs"/>
              </a:rPr>
              <a:t>移</a:t>
            </a:r>
            <a:r>
              <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-127=0</a:t>
            </a:r>
            <a:r>
              <a:rPr kumimoji="0" lang="zh-CN" altLang="en-US"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a:t>
            </a:r>
            <a:r>
              <a:rPr kumimoji="0" lang="zh-CN" altLang="en-US" sz="20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e=64</a:t>
            </a:r>
            <a:endPar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endParaRPr>
          </a:p>
          <a:p>
            <a:pPr marL="179705" marR="0" lvl="0" indent="-179705" algn="just" defTabSz="914400" rtl="0" eaLnBrk="0" fontAlgn="base" latinLnBrk="0" hangingPunct="0">
              <a:lnSpc>
                <a:spcPct val="100000"/>
              </a:lnSpc>
              <a:spcBef>
                <a:spcPts val="0"/>
              </a:spcBef>
              <a:spcAft>
                <a:spcPts val="0"/>
              </a:spcAft>
              <a:buClrTx/>
              <a:buSzTx/>
              <a:buFont typeface="Wingdings" panose="05000000000000000000" pitchFamily="2" charset="2"/>
              <a:buNone/>
              <a:defRPr/>
            </a:pPr>
            <a:r>
              <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	      x</a:t>
            </a:r>
            <a:r>
              <a:rPr kumimoji="0" lang="zh-CN" altLang="en-US" sz="20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1.011111001×2</a:t>
            </a:r>
            <a:r>
              <a:rPr kumimoji="0" lang="en-US" altLang="zh-CN" sz="2000" b="1" i="0" u="none" strike="noStrike" kern="0" cap="none" spc="0" normalizeH="0" baseline="30000" noProof="0" dirty="0" smtClean="0">
                <a:ln>
                  <a:noFill/>
                </a:ln>
                <a:solidFill>
                  <a:srgbClr val="000000"/>
                </a:solidFill>
                <a:effectLst/>
                <a:uLnTx/>
                <a:uFillTx/>
                <a:latin typeface="Times New Roman" panose="02020603050405020304" pitchFamily="18" charset="0"/>
                <a:ea typeface="+mn-ea"/>
                <a:cs typeface="+mn-cs"/>
              </a:rPr>
              <a:t>64</a:t>
            </a:r>
            <a:r>
              <a:rPr kumimoji="0" lang="zh-CN" altLang="en-US" sz="20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zh-CN" altLang="en-US"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 </a:t>
            </a:r>
            <a:r>
              <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y</a:t>
            </a:r>
            <a:r>
              <a:rPr kumimoji="0" lang="zh-CN" altLang="en-US" sz="20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1.1111×2</a:t>
            </a:r>
            <a:r>
              <a:rPr kumimoji="0" lang="en-US" altLang="zh-CN" sz="2000" b="1" i="0" u="none" strike="noStrike" kern="0" cap="none" spc="0" normalizeH="0" baseline="30000" noProof="0" dirty="0" smtClean="0">
                <a:ln>
                  <a:noFill/>
                </a:ln>
                <a:solidFill>
                  <a:srgbClr val="000000"/>
                </a:solidFill>
                <a:effectLst/>
                <a:uLnTx/>
                <a:uFillTx/>
                <a:latin typeface="Times New Roman" panose="02020603050405020304" pitchFamily="18" charset="0"/>
                <a:ea typeface="+mn-ea"/>
                <a:cs typeface="+mn-cs"/>
              </a:rPr>
              <a:t>0 </a:t>
            </a:r>
            <a:r>
              <a:rPr kumimoji="0" lang="zh-CN" altLang="en-US" sz="20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对阶后</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Y</a:t>
            </a:r>
            <a:r>
              <a:rPr kumimoji="0" lang="en-US" altLang="zh-CN" sz="2200" b="1" i="0" u="none" strike="noStrike" kern="0" cap="none" spc="0" normalizeH="0" baseline="-2500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m</a:t>
            </a:r>
            <a:r>
              <a:rPr kumimoji="0" lang="zh-CN" altLang="en-US" sz="2200" b="1" i="0" u="none" strike="noStrike" kern="0" cap="none" spc="0" normalizeH="0" baseline="0" noProof="0" dirty="0" smtClean="0">
                <a:ln>
                  <a:noFill/>
                </a:ln>
                <a:solidFill>
                  <a:srgbClr val="000000"/>
                </a:solidFill>
                <a:effectLst/>
                <a:uLnTx/>
                <a:uFillTx/>
                <a:latin typeface="华文新魏" panose="02010800040101010101" pitchFamily="2" charset="-122"/>
                <a:ea typeface="+mn-ea"/>
                <a:cs typeface="Times New Roman" panose="02020603050405020304" pitchFamily="18" charset="0"/>
              </a:rPr>
              <a:t>太小，下溢作</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0</a:t>
            </a:r>
            <a:r>
              <a:rPr kumimoji="0"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处理</a:t>
            </a:r>
            <a:endParaRPr kumimoji="0" lang="en-US" altLang="zh-CN" sz="2200" b="1" i="0" u="none" strike="noStrike" kern="0" cap="none" spc="0" normalizeH="0" baseline="30000" noProof="0" dirty="0" smtClean="0">
              <a:ln>
                <a:noFill/>
              </a:ln>
              <a:solidFill>
                <a:srgbClr val="000000"/>
              </a:solidFill>
              <a:effectLst/>
              <a:uLnTx/>
              <a:uFillTx/>
              <a:latin typeface="Times New Roman" panose="02020603050405020304" pitchFamily="18" charset="0"/>
              <a:ea typeface="+mn-ea"/>
              <a:cs typeface="+mn-cs"/>
            </a:endParaRPr>
          </a:p>
          <a:p>
            <a:pPr marL="179705" marR="0" lvl="0" indent="-179705" algn="just" defTabSz="914400" rtl="0" eaLnBrk="0" fontAlgn="base" latinLnBrk="0" hangingPunct="0">
              <a:lnSpc>
                <a:spcPct val="100000"/>
              </a:lnSpc>
              <a:spcBef>
                <a:spcPts val="0"/>
              </a:spcBef>
              <a:spcAft>
                <a:spcPts val="0"/>
              </a:spcAft>
              <a:buClrTx/>
              <a:buSzTx/>
              <a:buFont typeface="Wingdings" panose="05000000000000000000" pitchFamily="2" charset="2"/>
              <a:buNone/>
              <a:defRPr/>
            </a:pPr>
            <a:r>
              <a:rPr kumimoji="0" lang="en-US" altLang="zh-CN" sz="2200" b="1" i="0" u="none" strike="noStrike" kern="0" cap="none" spc="0" normalizeH="0" baseline="30000" noProof="0" dirty="0" smtClean="0">
                <a:ln>
                  <a:noFill/>
                </a:ln>
                <a:solidFill>
                  <a:srgbClr val="000000"/>
                </a:solidFill>
                <a:effectLst/>
                <a:uLnTx/>
                <a:uFillTx/>
                <a:latin typeface="Times New Roman" panose="02020603050405020304" pitchFamily="18" charset="0"/>
                <a:ea typeface="+mn-ea"/>
                <a:cs typeface="+mn-cs"/>
              </a:rPr>
              <a:t>	         </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x+y</a:t>
            </a:r>
            <a:r>
              <a:rPr kumimoji="0" lang="zh-CN" altLang="en-US" sz="22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 x</a:t>
            </a:r>
            <a:r>
              <a:rPr kumimoji="0" lang="en-US" altLang="zh-CN" sz="22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r>
              <a:rPr kumimoji="0" lang="zh-CN" altLang="en-US" sz="22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0101 1111 1011 1110 0100 0000 0000 0000</a:t>
            </a:r>
            <a:endPar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endParaRPr>
          </a:p>
          <a:p>
            <a:pPr marL="179705" marR="0" lvl="0" indent="-179705" algn="just" defTabSz="914400" rtl="0" eaLnBrk="0" fontAlgn="base" latinLnBrk="0" hangingPunct="0">
              <a:lnSpc>
                <a:spcPct val="100000"/>
              </a:lnSpc>
              <a:spcBef>
                <a:spcPts val="0"/>
              </a:spcBef>
              <a:spcAft>
                <a:spcPts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   b.   z= </a:t>
            </a:r>
            <a:r>
              <a:rPr kumimoji="0" lang="en-US" altLang="zh-CN" sz="22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1.011111001×2</a:t>
            </a:r>
            <a:r>
              <a:rPr kumimoji="0" lang="en-US" altLang="zh-CN" sz="2200" b="1" i="0" u="none" strike="noStrike" kern="0" cap="none" spc="0" normalizeH="0" baseline="30000" noProof="0" dirty="0" smtClean="0">
                <a:ln>
                  <a:noFill/>
                </a:ln>
                <a:solidFill>
                  <a:srgbClr val="000000"/>
                </a:solidFill>
                <a:effectLst/>
                <a:uLnTx/>
                <a:uFillTx/>
                <a:latin typeface="Times New Roman" panose="02020603050405020304" pitchFamily="18" charset="0"/>
                <a:ea typeface="+mn-ea"/>
                <a:cs typeface="+mn-cs"/>
              </a:rPr>
              <a:t>64</a:t>
            </a:r>
            <a:endPar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endParaRPr>
          </a:p>
          <a:p>
            <a:pPr marL="179705" marR="0" lvl="0" indent="-179705" algn="just" defTabSz="914400" rtl="0" eaLnBrk="0" fontAlgn="base" latinLnBrk="0" hangingPunct="0">
              <a:lnSpc>
                <a:spcPct val="100000"/>
              </a:lnSpc>
              <a:spcBef>
                <a:spcPts val="0"/>
              </a:spcBef>
              <a:spcAft>
                <a:spcPts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         (result of a)+z</a:t>
            </a:r>
            <a:r>
              <a:rPr kumimoji="0" lang="zh-CN" altLang="en-US" sz="22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x+z=</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1.011111001×2</a:t>
            </a:r>
            <a:r>
              <a:rPr kumimoji="0" lang="en-US" altLang="zh-CN" sz="2200" b="1" i="0" u="none" strike="noStrike" kern="0" cap="none" spc="0" normalizeH="0" baseline="30000" noProof="0" dirty="0" smtClean="0">
                <a:ln>
                  <a:noFill/>
                </a:ln>
                <a:solidFill>
                  <a:srgbClr val="000000"/>
                </a:solidFill>
                <a:effectLst/>
                <a:uLnTx/>
                <a:uFillTx/>
                <a:latin typeface="Times New Roman" panose="02020603050405020304" pitchFamily="18" charset="0"/>
                <a:ea typeface="+mn-ea"/>
                <a:cs typeface="+mn-cs"/>
              </a:rPr>
              <a:t>64 </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 (</a:t>
            </a:r>
            <a:r>
              <a:rPr kumimoji="0" lang="en-US" altLang="zh-CN" sz="22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1.011111001×2</a:t>
            </a:r>
            <a:r>
              <a:rPr kumimoji="0" lang="en-US" altLang="zh-CN" sz="2200" b="1" i="0" u="none" strike="noStrike" kern="0" cap="none" spc="0" normalizeH="0" baseline="30000" noProof="0" dirty="0" smtClean="0">
                <a:ln>
                  <a:noFill/>
                </a:ln>
                <a:solidFill>
                  <a:srgbClr val="000000"/>
                </a:solidFill>
                <a:effectLst/>
                <a:uLnTx/>
                <a:uFillTx/>
                <a:latin typeface="Times New Roman" panose="02020603050405020304" pitchFamily="18" charset="0"/>
                <a:ea typeface="+mn-ea"/>
                <a:cs typeface="+mn-cs"/>
              </a:rPr>
              <a:t>64 </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a:t>
            </a:r>
            <a:r>
              <a:rPr kumimoji="0" lang="zh-CN" altLang="en-US" sz="22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rPr>
              <a:t>0</a:t>
            </a:r>
            <a:endPar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mn-cs"/>
            </a:endParaRPr>
          </a:p>
          <a:p>
            <a:pPr marL="536575" marR="0" lvl="0" indent="-536575" algn="just" defTabSz="914400" rtl="0" eaLnBrk="0" fontAlgn="base" latinLnBrk="0" hangingPunct="0">
              <a:lnSpc>
                <a:spcPct val="100000"/>
              </a:lnSpc>
              <a:spcBef>
                <a:spcPts val="0"/>
              </a:spcBef>
              <a:spcAft>
                <a:spcPts val="0"/>
              </a:spcAft>
              <a:buClrTx/>
              <a:buSzTx/>
              <a:buFont typeface="Wingdings" panose="05000000000000000000" pitchFamily="2" charset="2"/>
              <a:buNone/>
              <a:defRPr/>
            </a:pP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c.  </a:t>
            </a:r>
            <a:r>
              <a:rPr kumimoji="0" lang="zh-CN" altLang="en-US" sz="2200" b="1" i="0" u="none" strike="noStrike" kern="0" cap="none" spc="0" normalizeH="0" baseline="0" noProof="0" dirty="0" smtClean="0">
                <a:ln>
                  <a:noFill/>
                </a:ln>
                <a:solidFill>
                  <a:srgbClr val="000000"/>
                </a:solidFill>
                <a:effectLst/>
                <a:uLnTx/>
                <a:uFillTx/>
                <a:latin typeface="华文新魏" panose="02010800040101010101" pitchFamily="2" charset="-122"/>
                <a:ea typeface="+mn-ea"/>
                <a:cs typeface="Times New Roman" panose="02020603050405020304" pitchFamily="18" charset="0"/>
              </a:rPr>
              <a:t>因为</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z = </a:t>
            </a:r>
            <a:r>
              <a:rPr kumimoji="0" lang="en-US" altLang="zh-CN" sz="2200" b="0"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x</a:t>
            </a:r>
            <a:r>
              <a:rPr kumimoji="0"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y </a:t>
            </a:r>
            <a:r>
              <a:rPr kumimoji="0" lang="en-US"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0</a:t>
            </a:r>
            <a:r>
              <a:rPr kumimoji="0"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，所以</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(x+y)+z = (x+y)−x = y </a:t>
            </a:r>
            <a:r>
              <a:rPr kumimoji="0" lang="en-US"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 </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0</a:t>
            </a:r>
            <a:r>
              <a:rPr kumimoji="0"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。而</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b</a:t>
            </a:r>
            <a:r>
              <a:rPr kumimoji="0"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的计算结果为</a:t>
            </a:r>
            <a:r>
              <a:rPr kumimoji="0" lang="en-US" altLang="zh-CN"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0</a:t>
            </a:r>
            <a:r>
              <a:rPr kumimoji="0"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rPr>
              <a:t>，故浮点加法不满足结合律。</a:t>
            </a:r>
            <a:endParaRPr kumimoji="0" lang="zh-CN" altLang="en-US" sz="2200" b="1" i="0" u="none" strike="noStrike" kern="0" cap="none" spc="0" normalizeH="0" baseline="0" noProof="0" dirty="0" smtClean="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 name="矩形 6"/>
          <p:cNvSpPr/>
          <p:nvPr/>
        </p:nvSpPr>
        <p:spPr>
          <a:xfrm>
            <a:off x="463550" y="1285875"/>
            <a:ext cx="8394700" cy="26781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例：假设</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x=0101 1111 1011 1110 0100 0000 0000 0000</a:t>
            </a:r>
            <a:r>
              <a:rPr kumimoji="0" lang="en-US" altLang="zh-CN" sz="2400" b="1" i="0" u="none" strike="noStrike" kern="1200" cap="none" spc="0" normalizeH="0" baseline="-2500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y=0011 1111 1111 1000 0000 0000 0000 0000</a:t>
            </a:r>
            <a:r>
              <a:rPr kumimoji="0" lang="en-US" altLang="zh-CN" sz="2400" b="1" i="0" u="none" strike="noStrike" kern="1200" cap="none" spc="0" normalizeH="0" baseline="-2500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z=1101 1111 1011 1110 0100 0000 0000 0000</a:t>
            </a:r>
            <a:r>
              <a:rPr kumimoji="0" lang="en-US" altLang="zh-CN" sz="2400" b="1" i="0" u="none" strike="noStrike" kern="1200" cap="none" spc="0" normalizeH="0" baseline="-2500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 ，均用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IEEE754</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单精度表示。若执行如下操作，运行结果如何？</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457200" marR="0" lvl="0" indent="-282575" algn="l" defTabSz="914400" rtl="0" eaLnBrk="1" fontAlgn="base" latinLnBrk="0" hangingPunct="1">
              <a:lnSpc>
                <a:spcPct val="100000"/>
              </a:lnSpc>
              <a:spcBef>
                <a:spcPct val="0"/>
              </a:spcBef>
              <a:spcAft>
                <a:spcPct val="0"/>
              </a:spcAft>
              <a:buClrTx/>
              <a:buSzTx/>
              <a:buFont typeface="+mj-lt"/>
              <a:buAutoNum type="alphaLcPeriod"/>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x+y</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457200" marR="0" lvl="0" indent="-282575" algn="l" defTabSz="914400" rtl="0" eaLnBrk="1" fontAlgn="base" latinLnBrk="0" hangingPunct="1">
              <a:lnSpc>
                <a:spcPct val="100000"/>
              </a:lnSpc>
              <a:spcBef>
                <a:spcPct val="0"/>
              </a:spcBef>
              <a:spcAft>
                <a:spcPct val="0"/>
              </a:spcAft>
              <a:buClrTx/>
              <a:buSzTx/>
              <a:buFont typeface="+mj-lt"/>
              <a:buAutoNum type="alphaLcPeriod"/>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(a</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的结果</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)+z</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a:p>
            <a:pPr marL="457200" marR="0" lvl="0" indent="-282575" algn="l" defTabSz="914400" rtl="0" eaLnBrk="1" fontAlgn="base" latinLnBrk="0" hangingPunct="1">
              <a:lnSpc>
                <a:spcPct val="100000"/>
              </a:lnSpc>
              <a:spcBef>
                <a:spcPct val="0"/>
              </a:spcBef>
              <a:spcAft>
                <a:spcPct val="0"/>
              </a:spcAft>
              <a:buClrTx/>
              <a:buSzTx/>
              <a:buFont typeface="+mj-lt"/>
              <a:buAutoNum type="alphaL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rPr>
              <a:t>为什么结果不满足结合律？</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华文新魏" panose="02010800040101010101" pitchFamily="2" charset="-122"/>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3"/>
          <p:cNvSpPr>
            <a:spLocks noGrp="1"/>
          </p:cNvSpPr>
          <p:nvPr>
            <p:ph type="body"/>
          </p:nvPr>
        </p:nvSpPr>
        <p:spPr>
          <a:xfrm>
            <a:off x="539750" y="2687638"/>
            <a:ext cx="8001000" cy="3478212"/>
          </a:xfrm>
        </p:spPr>
        <p:txBody>
          <a:bodyPr vert="horz" wrap="square" lIns="91440" tIns="45720" rIns="91440" bIns="45720" anchor="t" anchorCtr="0"/>
          <a:p>
            <a:pPr algn="ctr" eaLnBrk="1" hangingPunct="1">
              <a:buNone/>
            </a:pPr>
            <a:r>
              <a:rPr lang="zh-CN" altLang="en-US" sz="8000" dirty="0">
                <a:solidFill>
                  <a:srgbClr val="FF3300"/>
                </a:solidFill>
              </a:rPr>
              <a:t>请提问</a:t>
            </a:r>
            <a:endParaRPr lang="zh-CN" altLang="en-US" sz="8000" dirty="0">
              <a:solidFill>
                <a:srgbClr val="FF3300"/>
              </a:solidFill>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PP_MARK_KEY" val="dd810893-2925-4b41-bd00-e2197b4836dd"/>
  <p:tag name="COMMONDATA" val="eyJoZGlkIjoiMTc3NzFjOGIwNzlkOWNiOWFkMzZmOTMyMDMwZjAzZGEifQ=="/>
</p:tagLst>
</file>

<file path=ppt/theme/theme1.xml><?xml version="1.0" encoding="utf-8"?>
<a:theme xmlns:a="http://schemas.openxmlformats.org/drawingml/2006/main" name="课件模板">
  <a:themeElements>
    <a:clrScheme name="课件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课件模板">
      <a:majorFont>
        <a:latin typeface="Arial"/>
        <a:ea typeface="隶书"/>
        <a:cs typeface=""/>
      </a:majorFont>
      <a:minorFont>
        <a:latin typeface="Arial"/>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课件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课件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课件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课件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课件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课件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课件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课件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课件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课件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课件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课件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0</TotalTime>
  <Words>18833</Words>
  <Application>WPS 演示</Application>
  <PresentationFormat>全屏显示(4:3)</PresentationFormat>
  <Paragraphs>1025</Paragraphs>
  <Slides>59</Slides>
  <Notes>19</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5</vt:i4>
      </vt:variant>
      <vt:variant>
        <vt:lpstr>幻灯片标题</vt:lpstr>
      </vt:variant>
      <vt:variant>
        <vt:i4>59</vt:i4>
      </vt:variant>
    </vt:vector>
  </HeadingPairs>
  <TitlesOfParts>
    <vt:vector size="80" baseType="lpstr">
      <vt:lpstr>Arial</vt:lpstr>
      <vt:lpstr>宋体</vt:lpstr>
      <vt:lpstr>Wingdings</vt:lpstr>
      <vt:lpstr>Times New Roman</vt:lpstr>
      <vt:lpstr>隶书</vt:lpstr>
      <vt:lpstr>华文中宋</vt:lpstr>
      <vt:lpstr>方正正粗黑简体</vt:lpstr>
      <vt:lpstr>黑体</vt:lpstr>
      <vt:lpstr>Tahoma</vt:lpstr>
      <vt:lpstr>华文新魏</vt:lpstr>
      <vt:lpstr>微软雅黑</vt:lpstr>
      <vt:lpstr>Arial Unicode MS</vt:lpstr>
      <vt:lpstr>Times New Roman</vt:lpstr>
      <vt:lpstr>Symbol</vt:lpstr>
      <vt:lpstr>Calibri</vt:lpstr>
      <vt:lpstr>课件模板</vt:lpstr>
      <vt:lpstr>Paint.Picture</vt:lpstr>
      <vt:lpstr>Paint.Picture</vt:lpstr>
      <vt:lpstr>Paint.Picture</vt:lpstr>
      <vt:lpstr>Paint.Picture</vt:lpstr>
      <vt:lpstr>Paint.Picture</vt:lpstr>
      <vt:lpstr>计算机原理</vt:lpstr>
      <vt:lpstr>主要内容</vt:lpstr>
      <vt:lpstr>一、关于计算机性能问题</vt:lpstr>
      <vt:lpstr>计算机性能举例</vt:lpstr>
      <vt:lpstr>计算机性能举例</vt:lpstr>
      <vt:lpstr>计算机性能举例</vt:lpstr>
      <vt:lpstr>计算机性能举例</vt:lpstr>
      <vt:lpstr>计算机性能举例</vt:lpstr>
      <vt:lpstr>PowerPoint 演示文稿</vt:lpstr>
      <vt:lpstr>PowerPoint 演示文稿</vt:lpstr>
      <vt:lpstr>指令系统设计举例</vt:lpstr>
      <vt:lpstr>指令系统设计举例</vt:lpstr>
      <vt:lpstr>指令系统设计举例</vt:lpstr>
      <vt:lpstr>指令设计系统举例</vt:lpstr>
      <vt:lpstr>指令设计系统举例</vt:lpstr>
      <vt:lpstr>指令设计系统举例</vt:lpstr>
      <vt:lpstr>指令系统设计举例</vt:lpstr>
      <vt:lpstr>指令系统设计举例</vt:lpstr>
      <vt:lpstr>指令设计系统举例</vt:lpstr>
      <vt:lpstr>三、关于转移指令和跳转指令</vt:lpstr>
      <vt:lpstr>转移指令和跳转指令举例</vt:lpstr>
      <vt:lpstr>转移指令和跳转指令举例</vt:lpstr>
      <vt:lpstr>转移指令和跳转指令举例</vt:lpstr>
      <vt:lpstr>转移指令和跳转指令举例</vt:lpstr>
      <vt:lpstr>四、关于寻址方式问题</vt:lpstr>
      <vt:lpstr>寻址方式举例</vt:lpstr>
      <vt:lpstr>寻址方式举例</vt:lpstr>
      <vt:lpstr>PowerPoint 演示文稿</vt:lpstr>
      <vt:lpstr>二进制数表示举例</vt:lpstr>
      <vt:lpstr>PowerPoint 演示文稿</vt:lpstr>
      <vt:lpstr>PowerPoint 演示文稿</vt:lpstr>
      <vt:lpstr>PowerPoint 演示文稿</vt:lpstr>
      <vt:lpstr>六、关于数据的存储方式问题</vt:lpstr>
      <vt:lpstr>PowerPoint 演示文稿</vt:lpstr>
      <vt:lpstr>数据存储方式举例</vt:lpstr>
      <vt:lpstr>七、关于基本运算问题</vt:lpstr>
      <vt:lpstr>基本运算举例</vt:lpstr>
      <vt:lpstr>八、关于运算精度的问题</vt:lpstr>
      <vt:lpstr>运算精度举例</vt:lpstr>
      <vt:lpstr>运算精度举例</vt:lpstr>
      <vt:lpstr>PowerPoint 演示文稿</vt:lpstr>
      <vt:lpstr>九、关于定点数运算问题</vt:lpstr>
      <vt:lpstr>定点数运算举例</vt:lpstr>
      <vt:lpstr>定点加法运算举例</vt:lpstr>
      <vt:lpstr>定点加法运算举例</vt:lpstr>
      <vt:lpstr>定点加法运算举例</vt:lpstr>
      <vt:lpstr>定点加法运算举例</vt:lpstr>
      <vt:lpstr>定点加法运算举例</vt:lpstr>
      <vt:lpstr>定点加法运算举例</vt:lpstr>
      <vt:lpstr>定点加法运算举例</vt:lpstr>
      <vt:lpstr>定点加法运算举例</vt:lpstr>
      <vt:lpstr>十、关于加法器设计问题</vt:lpstr>
      <vt:lpstr>SN74181和SN74182组成16位先行进位ALU</vt:lpstr>
      <vt:lpstr>SN74181和SN74182组成64位先行进位ALU</vt:lpstr>
      <vt:lpstr>十一、关于浮点数运算问题</vt:lpstr>
      <vt:lpstr>关于浮点数运算问题</vt:lpstr>
      <vt:lpstr>关于浮点数运算问题</vt:lpstr>
      <vt:lpstr>关于浮点数运算问题</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计算机原理</dc:title>
  <dc:creator/>
  <cp:lastModifiedBy>春蚕</cp:lastModifiedBy>
  <cp:revision>1571</cp:revision>
  <dcterms:created xsi:type="dcterms:W3CDTF">2007-08-12T05:23:00Z</dcterms:created>
  <dcterms:modified xsi:type="dcterms:W3CDTF">2023-06-15T00:55:48Z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3AFDCE807F6D4F309A099ACADB8EBC10</vt:lpwstr>
  </property>
  <property fmtid="{D5CDD505-2E9C-101B-9397-08002B2CF9AE}" pid="3" name="KSOProductBuildVer">
    <vt:lpwstr>2052-11.1.0.14036</vt:lpwstr>
  </property>
</Properties>
</file>