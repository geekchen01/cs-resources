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7"/>
  </p:notesMasterIdLst>
  <p:handoutMasterIdLst>
    <p:handoutMasterId r:id="rId50"/>
  </p:handoutMasterIdLst>
  <p:sldIdLst>
    <p:sldId id="256" r:id="rId4"/>
    <p:sldId id="560" r:id="rId5"/>
    <p:sldId id="597" r:id="rId6"/>
    <p:sldId id="637" r:id="rId8"/>
    <p:sldId id="600" r:id="rId9"/>
    <p:sldId id="601" r:id="rId10"/>
    <p:sldId id="653" r:id="rId11"/>
    <p:sldId id="618" r:id="rId12"/>
    <p:sldId id="665" r:id="rId13"/>
    <p:sldId id="652" r:id="rId14"/>
    <p:sldId id="602" r:id="rId15"/>
    <p:sldId id="634" r:id="rId16"/>
    <p:sldId id="603" r:id="rId17"/>
    <p:sldId id="606" r:id="rId18"/>
    <p:sldId id="636" r:id="rId19"/>
    <p:sldId id="635" r:id="rId20"/>
    <p:sldId id="604" r:id="rId21"/>
    <p:sldId id="605" r:id="rId22"/>
    <p:sldId id="607" r:id="rId23"/>
    <p:sldId id="608" r:id="rId24"/>
    <p:sldId id="646" r:id="rId25"/>
    <p:sldId id="701" r:id="rId26"/>
    <p:sldId id="609" r:id="rId27"/>
    <p:sldId id="610" r:id="rId28"/>
    <p:sldId id="654" r:id="rId29"/>
    <p:sldId id="666" r:id="rId30"/>
    <p:sldId id="667" r:id="rId31"/>
    <p:sldId id="664" r:id="rId32"/>
    <p:sldId id="658" r:id="rId33"/>
    <p:sldId id="659" r:id="rId34"/>
    <p:sldId id="660" r:id="rId35"/>
    <p:sldId id="661" r:id="rId36"/>
    <p:sldId id="662" r:id="rId37"/>
    <p:sldId id="663" r:id="rId38"/>
    <p:sldId id="642" r:id="rId39"/>
    <p:sldId id="638" r:id="rId40"/>
    <p:sldId id="643" r:id="rId41"/>
    <p:sldId id="648" r:id="rId42"/>
    <p:sldId id="649" r:id="rId43"/>
    <p:sldId id="657" r:id="rId44"/>
    <p:sldId id="650" r:id="rId45"/>
    <p:sldId id="651" r:id="rId46"/>
    <p:sldId id="655" r:id="rId47"/>
    <p:sldId id="656" r:id="rId48"/>
    <p:sldId id="559" r:id="rId49"/>
  </p:sldIdLst>
  <p:sldSz cx="9144000" cy="6858000" type="screen4x3"/>
  <p:notesSz cx="6858000" cy="9144000"/>
  <p:custDataLst>
    <p:tags r:id="rId54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CC"/>
    <a:srgbClr val="00CC00"/>
    <a:srgbClr val="009900"/>
    <a:srgbClr val="008000"/>
    <a:srgbClr val="FF3300"/>
    <a:srgbClr val="CC33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666"/>
    <p:restoredTop sz="81474"/>
  </p:normalViewPr>
  <p:slideViewPr>
    <p:cSldViewPr showGuides="1">
      <p:cViewPr varScale="1">
        <p:scale>
          <a:sx n="57" d="100"/>
          <a:sy n="57" d="100"/>
        </p:scale>
        <p:origin x="1620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32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4" Type="http://schemas.openxmlformats.org/officeDocument/2006/relationships/tags" Target="tags/tag7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093EEB-3754-4070-BE90-E35CC7B4A1B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sz="1400" b="1" dirty="0">
                <a:ea typeface="宋体" panose="02010600030101010101" pitchFamily="2" charset="-122"/>
              </a:rPr>
              <a:t>B</a:t>
            </a:r>
            <a:r>
              <a:rPr lang="zh-CN" altLang="en-US" sz="1400" b="1" dirty="0">
                <a:ea typeface="宋体" panose="02010600030101010101" pitchFamily="2" charset="-122"/>
              </a:rPr>
              <a:t>比</a:t>
            </a:r>
            <a:r>
              <a:rPr lang="en-US" altLang="zh-CN" sz="1400" b="1" dirty="0">
                <a:ea typeface="宋体" panose="02010600030101010101" pitchFamily="2" charset="-122"/>
              </a:rPr>
              <a:t>A</a:t>
            </a:r>
            <a:r>
              <a:rPr lang="zh-CN" altLang="en-US" sz="1400" b="1" dirty="0">
                <a:ea typeface="宋体" panose="02010600030101010101" pitchFamily="2" charset="-122"/>
              </a:rPr>
              <a:t>访问性能高！</a:t>
            </a:r>
            <a:endParaRPr lang="en-US" altLang="zh-CN" sz="1400" b="1" dirty="0">
              <a:ea typeface="宋体" panose="02010600030101010101" pitchFamily="2" charset="-122"/>
            </a:endParaRPr>
          </a:p>
          <a:p>
            <a:pPr lvl="0"/>
            <a:endParaRPr lang="en-US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sz="1400" b="1" dirty="0">
                <a:ea typeface="宋体" panose="02010600030101010101" pitchFamily="2" charset="-122"/>
              </a:rPr>
              <a:t>B</a:t>
            </a:r>
            <a:r>
              <a:rPr lang="zh-CN" altLang="en-US" sz="1400" b="1" dirty="0">
                <a:ea typeface="宋体" panose="02010600030101010101" pitchFamily="2" charset="-122"/>
              </a:rPr>
              <a:t>比</a:t>
            </a:r>
            <a:r>
              <a:rPr lang="en-US" altLang="zh-CN" sz="1400" b="1" dirty="0">
                <a:ea typeface="宋体" panose="02010600030101010101" pitchFamily="2" charset="-122"/>
              </a:rPr>
              <a:t>A</a:t>
            </a:r>
            <a:r>
              <a:rPr lang="zh-CN" altLang="en-US" sz="1400" b="1" dirty="0">
                <a:ea typeface="宋体" panose="02010600030101010101" pitchFamily="2" charset="-122"/>
              </a:rPr>
              <a:t>访问性能高！</a:t>
            </a:r>
            <a:endParaRPr lang="en-US" altLang="zh-CN" sz="1400" b="1" dirty="0">
              <a:ea typeface="宋体" panose="02010600030101010101" pitchFamily="2" charset="-122"/>
            </a:endParaRPr>
          </a:p>
          <a:p>
            <a:pPr lvl="0"/>
            <a:endParaRPr lang="en-US" altLang="zh-CN" sz="1400" b="1" dirty="0">
              <a:ea typeface="宋体" panose="02010600030101010101" pitchFamily="2" charset="-122"/>
            </a:endParaRPr>
          </a:p>
        </p:txBody>
      </p:sp>
      <p:sp>
        <p:nvSpPr>
          <p:cNvPr id="92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dirty="0">
                <a:ea typeface="宋体" panose="02010600030101010101" pitchFamily="2" charset="-122"/>
              </a:rPr>
              <a:t>B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/>
            <a:r>
              <a:rPr lang="en-US" altLang="zh-CN" dirty="0">
                <a:ea typeface="宋体" panose="02010600030101010101" pitchFamily="2" charset="-122"/>
              </a:rPr>
              <a:t>B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33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dirty="0">
                <a:ea typeface="宋体" panose="02010600030101010101" pitchFamily="2" charset="-122"/>
              </a:rPr>
              <a:t>B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74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4579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6627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pt-BR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A B D G H I J K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dirty="0">
                <a:ea typeface="宋体" panose="02010600030101010101" pitchFamily="2" charset="-122"/>
              </a:rPr>
              <a:t>A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/>
            <a:r>
              <a:rPr lang="en-US" altLang="zh-CN" dirty="0">
                <a:ea typeface="宋体" panose="02010600030101010101" pitchFamily="2" charset="-122"/>
              </a:rPr>
              <a:t>A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27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dirty="0">
                <a:ea typeface="宋体" panose="02010600030101010101" pitchFamily="2" charset="-122"/>
              </a:rPr>
              <a:t>D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/>
            <a:r>
              <a:rPr lang="en-US" altLang="zh-CN" dirty="0">
                <a:ea typeface="宋体" panose="02010600030101010101" pitchFamily="2" charset="-122"/>
                <a:sym typeface="+mn-ea"/>
              </a:rPr>
              <a:t>B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/>
            <a:r>
              <a:rPr lang="en-US" altLang="zh-CN" dirty="0">
                <a:ea typeface="宋体" panose="02010600030101010101" pitchFamily="2" charset="-122"/>
              </a:rPr>
              <a:t>A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/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27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68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dirty="0">
                <a:ea typeface="宋体" panose="02010600030101010101" pitchFamily="2" charset="-122"/>
              </a:rPr>
              <a:t>D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/>
            <a:r>
              <a:rPr lang="en-US" altLang="zh-CN" dirty="0">
                <a:ea typeface="宋体" panose="02010600030101010101" pitchFamily="2" charset="-122"/>
              </a:rPr>
              <a:t>C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68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09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301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30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505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50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71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>
                <a:ea typeface="宋体" panose="02010600030101010101" pitchFamily="2" charset="-122"/>
              </a:rPr>
              <a:t>注意片选信号用的</a:t>
            </a:r>
            <a:r>
              <a:rPr lang="en-US" altLang="zh-CN" dirty="0">
                <a:ea typeface="宋体" panose="02010600030101010101" pitchFamily="2" charset="-122"/>
              </a:rPr>
              <a:t>Y6</a:t>
            </a:r>
            <a:r>
              <a:rPr lang="zh-CN" altLang="en-US" dirty="0">
                <a:ea typeface="宋体" panose="02010600030101010101" pitchFamily="2" charset="-122"/>
              </a:rPr>
              <a:t>，故需要译码输入值为</a:t>
            </a:r>
            <a:r>
              <a:rPr lang="en-US" altLang="zh-CN" dirty="0">
                <a:ea typeface="宋体" panose="02010600030101010101" pitchFamily="2" charset="-122"/>
              </a:rPr>
              <a:t>110</a:t>
            </a:r>
            <a:endParaRPr lang="zh-CN" altLang="en-US" dirty="0">
              <a:ea typeface="宋体" panose="02010600030101010101" pitchFamily="2" charset="-122"/>
            </a:endParaRPr>
          </a:p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91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zh-CN" altLang="en-US" dirty="0">
                <a:ea typeface="宋体" panose="02010600030101010101" pitchFamily="2" charset="-122"/>
              </a:rPr>
              <a:t> </a:t>
            </a:r>
            <a:endParaRPr lang="zh-CN" altLang="en-US" dirty="0">
              <a:ea typeface="宋体" panose="02010600030101010101" pitchFamily="2" charset="-122"/>
            </a:endParaRPr>
          </a:p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120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marL="342900" lvl="0" indent="-342900">
              <a:buFontTx/>
              <a:buAutoNum type="circleNumDbPlain"/>
            </a:pPr>
            <a:r>
              <a:rPr lang="zh-CN" altLang="en-US" sz="1400" b="1" dirty="0">
                <a:ea typeface="宋体" panose="02010600030101010101" pitchFamily="2" charset="-122"/>
              </a:rPr>
              <a:t>至少</a:t>
            </a:r>
            <a:r>
              <a:rPr lang="en-US" altLang="zh-CN" sz="1400" b="1" dirty="0">
                <a:ea typeface="宋体" panose="02010600030101010101" pitchFamily="2" charset="-122"/>
              </a:rPr>
              <a:t>4</a:t>
            </a:r>
            <a:r>
              <a:rPr lang="zh-CN" altLang="en-US" sz="1400" b="1" dirty="0">
                <a:ea typeface="宋体" panose="02010600030101010101" pitchFamily="2" charset="-122"/>
              </a:rPr>
              <a:t>个端口</a:t>
            </a:r>
            <a:endParaRPr lang="en-US" altLang="zh-CN" sz="1400" b="1" dirty="0">
              <a:ea typeface="宋体" panose="02010600030101010101" pitchFamily="2" charset="-122"/>
            </a:endParaRPr>
          </a:p>
          <a:p>
            <a:pPr marL="342900" lvl="0" indent="-342900">
              <a:buFontTx/>
              <a:buAutoNum type="circleNumDbPlain"/>
            </a:pPr>
            <a:r>
              <a:rPr lang="zh-CN" altLang="en-US" sz="1400" b="1" dirty="0">
                <a:ea typeface="宋体" panose="02010600030101010101" pitchFamily="2" charset="-122"/>
              </a:rPr>
              <a:t>每个端口地址是：</a:t>
            </a:r>
            <a:r>
              <a:rPr lang="en-US" altLang="zh-CN" sz="1400" b="1" dirty="0">
                <a:ea typeface="宋体" panose="02010600030101010101" pitchFamily="2" charset="-122"/>
              </a:rPr>
              <a:t>0D0H</a:t>
            </a:r>
            <a:r>
              <a:rPr lang="zh-CN" altLang="en-US" sz="1400" b="1" dirty="0">
                <a:ea typeface="宋体" panose="02010600030101010101" pitchFamily="2" charset="-122"/>
              </a:rPr>
              <a:t>、</a:t>
            </a:r>
            <a:r>
              <a:rPr lang="en-US" altLang="zh-CN" sz="1400" b="1" dirty="0">
                <a:ea typeface="宋体" panose="02010600030101010101" pitchFamily="2" charset="-122"/>
              </a:rPr>
              <a:t>0D1H</a:t>
            </a:r>
            <a:r>
              <a:rPr lang="zh-CN" altLang="en-US" sz="1400" b="1" dirty="0">
                <a:ea typeface="宋体" panose="02010600030101010101" pitchFamily="2" charset="-122"/>
              </a:rPr>
              <a:t>、</a:t>
            </a:r>
            <a:r>
              <a:rPr lang="en-US" altLang="zh-CN" sz="1400" b="1" dirty="0">
                <a:ea typeface="宋体" panose="02010600030101010101" pitchFamily="2" charset="-122"/>
              </a:rPr>
              <a:t>0D2H</a:t>
            </a:r>
            <a:r>
              <a:rPr lang="zh-CN" altLang="en-US" sz="1400" b="1" dirty="0">
                <a:ea typeface="宋体" panose="02010600030101010101" pitchFamily="2" charset="-122"/>
              </a:rPr>
              <a:t>、</a:t>
            </a:r>
            <a:r>
              <a:rPr lang="en-US" altLang="zh-CN" sz="1400" b="1" dirty="0">
                <a:ea typeface="宋体" panose="02010600030101010101" pitchFamily="2" charset="-122"/>
              </a:rPr>
              <a:t>0D3H</a:t>
            </a:r>
            <a:endParaRPr lang="zh-CN" altLang="en-US" sz="1400" b="1" dirty="0">
              <a:ea typeface="宋体" panose="02010600030101010101" pitchFamily="2" charset="-122"/>
            </a:endParaRPr>
          </a:p>
        </p:txBody>
      </p:sp>
      <p:sp>
        <p:nvSpPr>
          <p:cNvPr id="532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dirty="0">
                <a:ea typeface="宋体" panose="02010600030101010101" pitchFamily="2" charset="-122"/>
              </a:rPr>
              <a:t>B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/>
            <a:r>
              <a:rPr lang="en-US" altLang="zh-CN" dirty="0">
                <a:ea typeface="宋体" panose="02010600030101010101" pitchFamily="2" charset="-122"/>
              </a:rPr>
              <a:t>D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/>
            <a:r>
              <a:rPr lang="en-US" altLang="zh-CN" dirty="0">
                <a:ea typeface="宋体" panose="02010600030101010101" pitchFamily="2" charset="-122"/>
              </a:rPr>
              <a:t>C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73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939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dirty="0">
                <a:ea typeface="宋体" panose="02010600030101010101" pitchFamily="2" charset="-122"/>
              </a:rPr>
              <a:t>D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/>
            <a:r>
              <a:rPr lang="en-US" altLang="zh-CN" dirty="0">
                <a:ea typeface="宋体" panose="02010600030101010101" pitchFamily="2" charset="-122"/>
              </a:rPr>
              <a:t>C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939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dirty="0">
                <a:ea typeface="宋体" panose="02010600030101010101" pitchFamily="2" charset="-122"/>
              </a:rPr>
              <a:t>D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/>
            <a:r>
              <a:rPr lang="en-US" altLang="zh-CN" dirty="0">
                <a:ea typeface="宋体" panose="02010600030101010101" pitchFamily="2" charset="-122"/>
              </a:rPr>
              <a:t>D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/>
            <a:r>
              <a:rPr lang="en-US" altLang="zh-CN" dirty="0">
                <a:ea typeface="宋体" panose="02010600030101010101" pitchFamily="2" charset="-122"/>
              </a:rPr>
              <a:t>C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14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349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r>
              <a:rPr lang="en-US" altLang="zh-CN" dirty="0">
                <a:ea typeface="宋体" panose="02010600030101010101" pitchFamily="2" charset="-122"/>
              </a:rPr>
              <a:t>C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/>
            <a:r>
              <a:rPr lang="en-US" altLang="zh-CN" dirty="0">
                <a:ea typeface="宋体" panose="02010600030101010101" pitchFamily="2" charset="-122"/>
              </a:rPr>
              <a:t>C</a:t>
            </a:r>
            <a:endParaRPr lang="en-US" altLang="zh-CN" dirty="0">
              <a:ea typeface="宋体" panose="02010600030101010101" pitchFamily="2" charset="-122"/>
            </a:endParaRPr>
          </a:p>
          <a:p>
            <a:pPr lvl="0"/>
            <a:r>
              <a:rPr lang="en-US" altLang="zh-CN" dirty="0">
                <a:ea typeface="宋体" panose="02010600030101010101" pitchFamily="2" charset="-122"/>
              </a:rPr>
              <a:t>D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34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image" Target="../media/image1.wmf"/><Relationship Id="rId3" Type="http://schemas.openxmlformats.org/officeDocument/2006/relationships/oleObject" Target="../embeddings/oleObject1.bin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image" Target="../media/image1.wmf"/><Relationship Id="rId3" Type="http://schemas.openxmlformats.org/officeDocument/2006/relationships/oleObject" Target="../embeddings/oleObject2.bin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image" Target="../media/image1.wmf"/><Relationship Id="rId3" Type="http://schemas.openxmlformats.org/officeDocument/2006/relationships/oleObject" Target="../embeddings/oleObject3.bin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image" Target="../media/image1.wmf"/><Relationship Id="rId3" Type="http://schemas.openxmlformats.org/officeDocument/2006/relationships/oleObject" Target="../embeddings/oleObject4.bin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5.vml"/><Relationship Id="rId4" Type="http://schemas.openxmlformats.org/officeDocument/2006/relationships/image" Target="../media/image1.wmf"/><Relationship Id="rId3" Type="http://schemas.openxmlformats.org/officeDocument/2006/relationships/oleObject" Target="../embeddings/oleObject5.bin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.vml"/><Relationship Id="rId4" Type="http://schemas.openxmlformats.org/officeDocument/2006/relationships/image" Target="../media/image1.wmf"/><Relationship Id="rId3" Type="http://schemas.openxmlformats.org/officeDocument/2006/relationships/oleObject" Target="../embeddings/oleObject6.bin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4"/>
          <p:cNvSpPr/>
          <p:nvPr/>
        </p:nvSpPr>
        <p:spPr>
          <a:xfrm>
            <a:off x="685800" y="2393950"/>
            <a:ext cx="7772400" cy="714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00FF">
              <a:alpha val="100000"/>
            </a:srgbClr>
          </a:solidFill>
          <a:ln w="9525" cap="flat" cmpd="sng">
            <a:solidFill>
              <a:srgbClr val="0000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84438" y="3429000"/>
            <a:ext cx="5973762" cy="2376488"/>
          </a:xfrm>
        </p:spPr>
        <p:txBody>
          <a:bodyPr/>
          <a:lstStyle>
            <a:lvl1pPr marL="0" indent="0" algn="ctr">
              <a:spcBef>
                <a:spcPct val="40000"/>
              </a:spcBef>
              <a:buFont typeface="Wingdings" panose="05000000000000000000" pitchFamily="2" charset="2"/>
              <a:buNone/>
              <a:defRPr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graphicFrame>
        <p:nvGraphicFramePr>
          <p:cNvPr id="4" name="对象 3"/>
          <p:cNvGraphicFramePr/>
          <p:nvPr userDrawn="1">
            <p:custDataLst>
              <p:tags r:id="rId2"/>
            </p:custDataLst>
          </p:nvPr>
        </p:nvGraphicFramePr>
        <p:xfrm>
          <a:off x="8108950" y="182245"/>
          <a:ext cx="788670" cy="814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770255" imgH="774700" progId="Paint.Picture">
                  <p:embed/>
                </p:oleObj>
              </mc:Choice>
              <mc:Fallback>
                <p:oleObj name="" r:id="rId3" imgW="770255" imgH="77470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08950" y="182245"/>
                        <a:ext cx="788670" cy="8147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9750" y="1393825"/>
            <a:ext cx="3924300" cy="4772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6450" y="1393825"/>
            <a:ext cx="3924300" cy="4772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/>
          <p:nvPr userDrawn="1">
            <p:custDataLst>
              <p:tags r:id="rId2"/>
            </p:custDataLst>
          </p:nvPr>
        </p:nvGraphicFramePr>
        <p:xfrm>
          <a:off x="8100060" y="130175"/>
          <a:ext cx="812165" cy="833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770255" imgH="774700" progId="Paint.Picture">
                  <p:embed/>
                </p:oleObj>
              </mc:Choice>
              <mc:Fallback>
                <p:oleObj name="" r:id="rId3" imgW="770255" imgH="774700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00060" y="130175"/>
                        <a:ext cx="812165" cy="8337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0500" y="231775"/>
            <a:ext cx="2000250" cy="59340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9750" y="231775"/>
            <a:ext cx="5848350" cy="59340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231775"/>
            <a:ext cx="7021513" cy="6762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9750" y="1393825"/>
            <a:ext cx="3924300" cy="47720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16450" y="1393825"/>
            <a:ext cx="3924300" cy="23098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16450" y="3856038"/>
            <a:ext cx="3924300" cy="230981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231775"/>
            <a:ext cx="7021513" cy="6762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9750" y="1393825"/>
            <a:ext cx="3924300" cy="47720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6450" y="1393825"/>
            <a:ext cx="3924300" cy="47720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graphicFrame>
        <p:nvGraphicFramePr>
          <p:cNvPr id="5" name="对象 4"/>
          <p:cNvGraphicFramePr/>
          <p:nvPr userDrawn="1">
            <p:custDataLst>
              <p:tags r:id="rId2"/>
            </p:custDataLst>
          </p:nvPr>
        </p:nvGraphicFramePr>
        <p:xfrm>
          <a:off x="8086725" y="166370"/>
          <a:ext cx="813435" cy="799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3" imgW="770255" imgH="774700" progId="Paint.Picture">
                  <p:embed/>
                </p:oleObj>
              </mc:Choice>
              <mc:Fallback>
                <p:oleObj name="" r:id="rId3" imgW="770255" imgH="77470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86725" y="166370"/>
                        <a:ext cx="813435" cy="7994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4"/>
          <p:cNvSpPr/>
          <p:nvPr/>
        </p:nvSpPr>
        <p:spPr>
          <a:xfrm>
            <a:off x="685800" y="2393950"/>
            <a:ext cx="7772400" cy="714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00FF">
              <a:alpha val="100000"/>
            </a:srgbClr>
          </a:solidFill>
          <a:ln w="9525" cap="flat" cmpd="sng">
            <a:solidFill>
              <a:srgbClr val="0000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84438" y="3429000"/>
            <a:ext cx="5973762" cy="2376488"/>
          </a:xfrm>
        </p:spPr>
        <p:txBody>
          <a:bodyPr/>
          <a:lstStyle>
            <a:lvl1pPr marL="0" indent="0" algn="ctr">
              <a:spcBef>
                <a:spcPct val="40000"/>
              </a:spcBef>
              <a:buFont typeface="Wingdings" panose="05000000000000000000" pitchFamily="2" charset="2"/>
              <a:buNone/>
              <a:defRPr>
                <a:ea typeface="隶书" panose="02010509060101010101" pitchFamily="49" charset="-122"/>
              </a:defRPr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graphicFrame>
        <p:nvGraphicFramePr>
          <p:cNvPr id="4" name="对象 3"/>
          <p:cNvGraphicFramePr/>
          <p:nvPr userDrawn="1">
            <p:custDataLst>
              <p:tags r:id="rId2"/>
            </p:custDataLst>
          </p:nvPr>
        </p:nvGraphicFramePr>
        <p:xfrm>
          <a:off x="8108950" y="182245"/>
          <a:ext cx="788670" cy="814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3" imgW="770255" imgH="774700" progId="Paint.Picture">
                  <p:embed/>
                </p:oleObj>
              </mc:Choice>
              <mc:Fallback>
                <p:oleObj name="" r:id="rId3" imgW="770255" imgH="77470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08950" y="182245"/>
                        <a:ext cx="788670" cy="8147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9750" y="1393825"/>
            <a:ext cx="3924300" cy="4772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6450" y="1393825"/>
            <a:ext cx="3924300" cy="4772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/>
          <p:nvPr userDrawn="1">
            <p:custDataLst>
              <p:tags r:id="rId2"/>
            </p:custDataLst>
          </p:nvPr>
        </p:nvGraphicFramePr>
        <p:xfrm>
          <a:off x="8100060" y="130175"/>
          <a:ext cx="812165" cy="833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770255" imgH="774700" progId="Paint.Picture">
                  <p:embed/>
                </p:oleObj>
              </mc:Choice>
              <mc:Fallback>
                <p:oleObj name="" r:id="rId3" imgW="770255" imgH="774700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00060" y="130175"/>
                        <a:ext cx="812165" cy="8337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0500" y="231775"/>
            <a:ext cx="2000250" cy="59340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9750" y="231775"/>
            <a:ext cx="5848350" cy="59340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231775"/>
            <a:ext cx="7021513" cy="6762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9750" y="1393825"/>
            <a:ext cx="3924300" cy="47720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16450" y="1393825"/>
            <a:ext cx="3924300" cy="23098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16450" y="3856038"/>
            <a:ext cx="3924300" cy="230981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231775"/>
            <a:ext cx="7021513" cy="6762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9750" y="1393825"/>
            <a:ext cx="3924300" cy="47720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6450" y="1393825"/>
            <a:ext cx="3924300" cy="47720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graphicFrame>
        <p:nvGraphicFramePr>
          <p:cNvPr id="5" name="对象 4"/>
          <p:cNvGraphicFramePr/>
          <p:nvPr userDrawn="1">
            <p:custDataLst>
              <p:tags r:id="rId2"/>
            </p:custDataLst>
          </p:nvPr>
        </p:nvGraphicFramePr>
        <p:xfrm>
          <a:off x="8086725" y="166370"/>
          <a:ext cx="813435" cy="799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3" imgW="770255" imgH="774700" progId="Paint.Picture">
                  <p:embed/>
                </p:oleObj>
              </mc:Choice>
              <mc:Fallback>
                <p:oleObj name="" r:id="rId3" imgW="770255" imgH="77470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86725" y="166370"/>
                        <a:ext cx="813435" cy="7994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5" Type="http://schemas.openxmlformats.org/officeDocument/2006/relationships/theme" Target="../theme/theme2.xml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574675" y="231775"/>
            <a:ext cx="7021513" cy="6762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AutoShape 3"/>
          <p:cNvSpPr/>
          <p:nvPr/>
        </p:nvSpPr>
        <p:spPr>
          <a:xfrm>
            <a:off x="609600" y="1087438"/>
            <a:ext cx="7958138" cy="539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pathLst>
              <a:path w="1000" h="1000" stroke="0">
                <a:moveTo>
                  <a:pt x="0" y="0"/>
                </a:moveTo>
                <a:lnTo>
                  <a:pt x="587" y="0"/>
                </a:lnTo>
                <a:lnTo>
                  <a:pt x="587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00FF">
              <a:alpha val="100000"/>
            </a:srgbClr>
          </a:solidFill>
          <a:ln w="6350" cap="flat" cmpd="sng">
            <a:solidFill>
              <a:srgbClr val="0000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28" name="Line 4"/>
          <p:cNvSpPr/>
          <p:nvPr/>
        </p:nvSpPr>
        <p:spPr>
          <a:xfrm flipV="1">
            <a:off x="539750" y="6237288"/>
            <a:ext cx="7994650" cy="0"/>
          </a:xfrm>
          <a:prstGeom prst="line">
            <a:avLst/>
          </a:prstGeom>
          <a:ln w="3175" cap="flat" cmpd="sng">
            <a:solidFill>
              <a:srgbClr val="0000CC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1029" name="Picture 6" descr="TITLE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</a:blip>
          <a:srcRect b="-1291"/>
          <a:stretch>
            <a:fillRect/>
          </a:stretch>
        </p:blipFill>
        <p:spPr>
          <a:xfrm>
            <a:off x="8101013" y="188913"/>
            <a:ext cx="801687" cy="792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0" name="Rectangle 7"/>
          <p:cNvSpPr>
            <a:spLocks noChangeArrowheads="1"/>
          </p:cNvSpPr>
          <p:nvPr/>
        </p:nvSpPr>
        <p:spPr bwMode="auto">
          <a:xfrm>
            <a:off x="7970838" y="6351588"/>
            <a:ext cx="457200" cy="2746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556A07B-EAE7-434A-B01B-5513C41221FE}" type="slidenum">
              <a:rPr kumimoji="1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8"/>
          <p:cNvSpPr>
            <a:spLocks noGrp="1"/>
          </p:cNvSpPr>
          <p:nvPr>
            <p:ph type="body" idx="1"/>
          </p:nvPr>
        </p:nvSpPr>
        <p:spPr>
          <a:xfrm>
            <a:off x="539750" y="1393825"/>
            <a:ext cx="8001000" cy="47720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9pPr>
    </p:titleStyle>
    <p:bodyStyle>
      <a:lvl1pPr marL="179705" indent="-179705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449580" indent="-90805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2pPr>
      <a:lvl3pPr marL="809625" indent="-179705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l"/>
        <a:defRPr sz="2400" b="1">
          <a:solidFill>
            <a:schemeClr val="tx1"/>
          </a:solidFill>
          <a:latin typeface="+mn-lt"/>
          <a:ea typeface="+mn-ea"/>
        </a:defRPr>
      </a:lvl3pPr>
      <a:lvl4pPr marL="2208530" indent="-228600" algn="l" rtl="0" eaLnBrk="0" fontAlgn="base" hangingPunct="0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华文中宋" panose="02010600040101010101" pitchFamily="2" charset="-122"/>
        </a:defRPr>
      </a:lvl4pPr>
      <a:lvl5pPr marL="261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3073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3530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987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4445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574675" y="231775"/>
            <a:ext cx="7021513" cy="676275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AutoShape 3"/>
          <p:cNvSpPr/>
          <p:nvPr/>
        </p:nvSpPr>
        <p:spPr>
          <a:xfrm>
            <a:off x="609600" y="1087438"/>
            <a:ext cx="7958138" cy="539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pathLst>
              <a:path w="1000" h="1000" stroke="0">
                <a:moveTo>
                  <a:pt x="0" y="0"/>
                </a:moveTo>
                <a:lnTo>
                  <a:pt x="587" y="0"/>
                </a:lnTo>
                <a:lnTo>
                  <a:pt x="587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00FF">
              <a:alpha val="100000"/>
            </a:srgbClr>
          </a:solidFill>
          <a:ln w="6350" cap="flat" cmpd="sng">
            <a:solidFill>
              <a:srgbClr val="0000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28" name="Line 4"/>
          <p:cNvSpPr/>
          <p:nvPr/>
        </p:nvSpPr>
        <p:spPr>
          <a:xfrm flipV="1">
            <a:off x="539750" y="6237288"/>
            <a:ext cx="7994650" cy="0"/>
          </a:xfrm>
          <a:prstGeom prst="line">
            <a:avLst/>
          </a:prstGeom>
          <a:ln w="3175" cap="flat" cmpd="sng">
            <a:solidFill>
              <a:srgbClr val="0000CC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1029" name="Picture 6" descr="TITLE"/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</a:blip>
          <a:srcRect b="-1291"/>
          <a:stretch>
            <a:fillRect/>
          </a:stretch>
        </p:blipFill>
        <p:spPr>
          <a:xfrm>
            <a:off x="8101013" y="188913"/>
            <a:ext cx="801687" cy="792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0" name="Rectangle 7"/>
          <p:cNvSpPr>
            <a:spLocks noChangeArrowheads="1"/>
          </p:cNvSpPr>
          <p:nvPr/>
        </p:nvSpPr>
        <p:spPr bwMode="auto">
          <a:xfrm>
            <a:off x="7970838" y="6351588"/>
            <a:ext cx="457200" cy="2746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556A07B-EAE7-434A-B01B-5513C41221FE}" type="slidenum">
              <a:rPr kumimoji="1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8"/>
          <p:cNvSpPr>
            <a:spLocks noGrp="1"/>
          </p:cNvSpPr>
          <p:nvPr>
            <p:ph type="body" idx="1"/>
          </p:nvPr>
        </p:nvSpPr>
        <p:spPr>
          <a:xfrm>
            <a:off x="539750" y="1393825"/>
            <a:ext cx="8001000" cy="47720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隶书" panose="02010509060101010101" pitchFamily="49" charset="-122"/>
        </a:defRPr>
      </a:lvl9pPr>
    </p:titleStyle>
    <p:bodyStyle>
      <a:lvl1pPr marL="179705" indent="-179705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449580" indent="-90805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</a:defRPr>
      </a:lvl2pPr>
      <a:lvl3pPr marL="809625" indent="-179705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anose="05000000000000000000" pitchFamily="2" charset="2"/>
        <a:buChar char="l"/>
        <a:defRPr sz="2400" b="1">
          <a:solidFill>
            <a:schemeClr val="tx1"/>
          </a:solidFill>
          <a:latin typeface="+mn-lt"/>
          <a:ea typeface="+mn-ea"/>
        </a:defRPr>
      </a:lvl3pPr>
      <a:lvl4pPr marL="2208530" indent="-228600" algn="l" rtl="0" eaLnBrk="0" fontAlgn="base" hangingPunct="0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华文中宋" panose="02010600040101010101" pitchFamily="2" charset="-122"/>
        </a:defRPr>
      </a:lvl4pPr>
      <a:lvl5pPr marL="261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3073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3530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987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4445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6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 anchorCtr="0"/>
          <a:p>
            <a:pPr eaLnBrk="1" hangingPunct="1">
              <a:buClrTx/>
              <a:buSzTx/>
              <a:buFontTx/>
            </a:pPr>
            <a:r>
              <a:rPr lang="zh-CN" altLang="en-US" dirty="0">
                <a:latin typeface="+mj-lt"/>
                <a:ea typeface="+mj-ea"/>
                <a:cs typeface="+mj-cs"/>
              </a:rPr>
              <a:t>计算机原理</a:t>
            </a:r>
            <a:endParaRPr lang="zh-CN" altLang="en-US" dirty="0">
              <a:latin typeface="+mj-lt"/>
              <a:ea typeface="+mj-ea"/>
              <a:cs typeface="+mj-cs"/>
            </a:endParaRPr>
          </a:p>
        </p:txBody>
      </p:sp>
      <p:sp>
        <p:nvSpPr>
          <p:cNvPr id="4099" name="Rectangle 8"/>
          <p:cNvSpPr>
            <a:spLocks noGrp="1"/>
          </p:cNvSpPr>
          <p:nvPr>
            <p:ph type="subTitle" idx="1"/>
          </p:nvPr>
        </p:nvSpPr>
        <p:spPr>
          <a:xfrm>
            <a:off x="2987675" y="3213100"/>
            <a:ext cx="5616575" cy="1223963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buClrTx/>
              <a:buSzTx/>
            </a:pPr>
            <a:r>
              <a:rPr lang="zh-CN" altLang="en-US" sz="4800" dirty="0">
                <a:latin typeface="+mn-lt"/>
                <a:ea typeface="隶书" panose="02010509060101010101" pitchFamily="49" charset="-122"/>
                <a:cs typeface="+mn-cs"/>
              </a:rPr>
              <a:t>习题课四</a:t>
            </a:r>
            <a:endParaRPr lang="en-US" altLang="zh-CN" sz="4800" dirty="0">
              <a:latin typeface="+mn-lt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684213" y="188913"/>
            <a:ext cx="8089900" cy="71437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主要内容</a:t>
            </a:r>
            <a:endParaRPr lang="zh-CN" altLang="en-US" dirty="0"/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611188" y="1243013"/>
            <a:ext cx="8101012" cy="5043487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2800" dirty="0"/>
              <a:t>一、关于</a:t>
            </a:r>
            <a:r>
              <a:rPr lang="zh-CN" altLang="en-US" sz="2800" dirty="0">
                <a:latin typeface="Times New Roman" panose="02020603050405020304" pitchFamily="18" charset="0"/>
              </a:rPr>
              <a:t>磁盘</a:t>
            </a:r>
            <a:r>
              <a:rPr lang="zh-CN" altLang="en-US" sz="2800" dirty="0"/>
              <a:t> 性能 </a:t>
            </a:r>
            <a:endParaRPr lang="zh-CN" altLang="en-US" sz="2800" dirty="0"/>
          </a:p>
          <a:p>
            <a:pPr algn="just" eaLnBrk="1" hangingPunct="1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2800" dirty="0"/>
              <a:t>二、关于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</a:t>
            </a:r>
            <a:r>
              <a:rPr lang="zh-CN" altLang="en-US" sz="2800" dirty="0"/>
              <a:t>盘阵</a:t>
            </a:r>
            <a:endParaRPr lang="en-US" altLang="zh-CN" sz="2800" dirty="0"/>
          </a:p>
          <a:p>
            <a:pPr algn="just" eaLnBrk="1" hangingPunct="1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三、</a:t>
            </a:r>
            <a:r>
              <a:rPr lang="zh-CN" altLang="en-US" sz="2800" dirty="0">
                <a:latin typeface="Times New Roman" panose="02020603050405020304" pitchFamily="18" charset="0"/>
              </a:rPr>
              <a:t>关于</a:t>
            </a:r>
            <a:r>
              <a:rPr lang="en-US" altLang="zh-CN" sz="2800" dirty="0">
                <a:latin typeface="Times New Roman" panose="02020603050405020304" pitchFamily="18" charset="0"/>
              </a:rPr>
              <a:t>I/O</a:t>
            </a:r>
            <a:r>
              <a:rPr lang="zh-CN" altLang="en-US" sz="2800" dirty="0">
                <a:latin typeface="Times New Roman" panose="02020603050405020304" pitchFamily="18" charset="0"/>
              </a:rPr>
              <a:t>控制方式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四、关于</a:t>
            </a:r>
            <a:r>
              <a:rPr lang="en-US" altLang="zh-CN" sz="2800" dirty="0">
                <a:latin typeface="Times New Roman" panose="02020603050405020304" pitchFamily="18" charset="0"/>
              </a:rPr>
              <a:t>I/O</a:t>
            </a:r>
            <a:r>
              <a:rPr lang="zh-CN" altLang="en-US" sz="2800" dirty="0">
                <a:latin typeface="Times New Roman" panose="02020603050405020304" pitchFamily="18" charset="0"/>
              </a:rPr>
              <a:t>端口译码设计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五、关于总线问题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spcBef>
                <a:spcPts val="600"/>
              </a:spcBef>
              <a:buNone/>
            </a:pPr>
            <a:endParaRPr lang="en-US" altLang="zh-CN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一、关于</a:t>
            </a:r>
            <a:r>
              <a:rPr lang="zh-CN" altLang="en-US" dirty="0">
                <a:latin typeface="Times New Roman" panose="02020603050405020304" pitchFamily="18" charset="0"/>
              </a:rPr>
              <a:t>磁盘性能</a:t>
            </a:r>
            <a:endParaRPr lang="zh-CN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11188" y="1412875"/>
            <a:ext cx="7993063" cy="47704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66700" marR="0" indent="-266700" defTabSz="914400">
              <a:lnSpc>
                <a:spcPct val="150000"/>
              </a:lnSpc>
              <a:spcBef>
                <a:spcPts val="600"/>
              </a:spcBef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800" b="1" kern="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华文新魏" panose="02010800040101010101" pitchFamily="2" charset="-122"/>
                <a:cs typeface="+mn-cs"/>
              </a:rPr>
              <a:t>高级接口</a:t>
            </a:r>
            <a:r>
              <a:rPr kumimoji="0" lang="en-US" altLang="zh-CN" sz="2800" b="1" kern="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华文新魏" panose="02010800040101010101" pitchFamily="2" charset="-122"/>
                <a:cs typeface="+mn-cs"/>
              </a:rPr>
              <a:t>(</a:t>
            </a:r>
            <a:r>
              <a:rPr kumimoji="0" lang="zh-CN" altLang="en-US" sz="2800" b="1" kern="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华文新魏" panose="02010800040101010101" pitchFamily="2" charset="-122"/>
                <a:cs typeface="+mn-cs"/>
              </a:rPr>
              <a:t>如</a:t>
            </a:r>
            <a:r>
              <a:rPr kumimoji="0" lang="en-US" altLang="zh-CN" sz="2800" b="1" kern="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华文新魏" panose="02010800040101010101" pitchFamily="2" charset="-122"/>
                <a:cs typeface="+mn-cs"/>
              </a:rPr>
              <a:t>SCSI)</a:t>
            </a:r>
            <a:r>
              <a:rPr kumimoji="0" lang="zh-CN" altLang="en-US" sz="2800" b="1" kern="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华文新魏" panose="02010800040101010101" pitchFamily="2" charset="-122"/>
                <a:cs typeface="+mn-cs"/>
              </a:rPr>
              <a:t>向操作系统提供逻辑块地址，</a:t>
            </a:r>
            <a:r>
              <a:rPr kumimoji="0" lang="en-US" altLang="zh-CN" sz="2800" b="1" kern="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华文新魏" panose="02010800040101010101" pitchFamily="2" charset="-122"/>
                <a:cs typeface="+mn-cs"/>
              </a:rPr>
              <a:t>OS</a:t>
            </a:r>
            <a:r>
              <a:rPr kumimoji="0" lang="zh-CN" altLang="en-US" sz="2800" b="1" kern="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华文新魏" panose="02010800040101010101" pitchFamily="2" charset="-122"/>
                <a:cs typeface="+mn-cs"/>
              </a:rPr>
              <a:t>可将这些逻辑块地址进行排序来提高性能</a:t>
            </a:r>
            <a:endParaRPr kumimoji="0" lang="en-US" altLang="zh-CN" sz="2800" b="1" kern="0" cap="none" spc="0" normalizeH="0" baseline="0" noProof="0" dirty="0">
              <a:solidFill>
                <a:srgbClr val="000000"/>
              </a:solidFill>
              <a:latin typeface="Times New Roman" panose="02020603050405020304"/>
              <a:ea typeface="华文新魏" panose="02010800040101010101" pitchFamily="2" charset="-122"/>
              <a:cs typeface="+mn-cs"/>
            </a:endParaRPr>
          </a:p>
          <a:p>
            <a:pPr marL="266700" marR="0" indent="-266700" defTabSz="914400">
              <a:lnSpc>
                <a:spcPct val="150000"/>
              </a:lnSpc>
              <a:spcBef>
                <a:spcPts val="600"/>
              </a:spcBef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800" b="1" kern="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华文新魏" panose="02010800040101010101" pitchFamily="2" charset="-122"/>
                <a:cs typeface="+mn-cs"/>
              </a:rPr>
              <a:t>磁盘知道逻辑块地址和实际的物理扇区、柱面等之间的映射，可以自己进行重排序以缩减旋转和寻道的延迟</a:t>
            </a:r>
            <a:endParaRPr kumimoji="0" lang="en-US" altLang="zh-CN" sz="2800" b="1" kern="0" cap="none" spc="0" normalizeH="0" baseline="0" noProof="0" dirty="0">
              <a:solidFill>
                <a:srgbClr val="000000"/>
              </a:solidFill>
              <a:latin typeface="Times New Roman" panose="02020603050405020304"/>
              <a:ea typeface="华文新魏" panose="02010800040101010101" pitchFamily="2" charset="-122"/>
              <a:cs typeface="+mn-cs"/>
            </a:endParaRPr>
          </a:p>
          <a:p>
            <a:pPr marL="266700" marR="0" indent="-266700" defTabSz="914400">
              <a:lnSpc>
                <a:spcPct val="150000"/>
              </a:lnSpc>
              <a:spcBef>
                <a:spcPts val="600"/>
              </a:spcBef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800" b="1" kern="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华文新魏" panose="02010800040101010101" pitchFamily="2" charset="-122"/>
                <a:cs typeface="+mn-cs"/>
              </a:rPr>
              <a:t>依赖于数据在磁盘上的分布情况，重排序可能会使性能变差</a:t>
            </a:r>
            <a:endParaRPr kumimoji="0" lang="zh-CN" altLang="en-US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>
                <a:latin typeface="Times New Roman" panose="02020603050405020304" pitchFamily="18" charset="0"/>
              </a:rPr>
              <a:t>磁盘调度实例</a:t>
            </a:r>
            <a:endParaRPr lang="zh-CN" altLang="en-US" dirty="0"/>
          </a:p>
        </p:txBody>
      </p:sp>
      <p:sp>
        <p:nvSpPr>
          <p:cNvPr id="8195" name="Text Box 5"/>
          <p:cNvSpPr txBox="1"/>
          <p:nvPr/>
        </p:nvSpPr>
        <p:spPr>
          <a:xfrm>
            <a:off x="2606675" y="5732463"/>
            <a:ext cx="407988" cy="463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6" name="Text Box 6"/>
          <p:cNvSpPr txBox="1"/>
          <p:nvPr/>
        </p:nvSpPr>
        <p:spPr>
          <a:xfrm>
            <a:off x="6156325" y="5738813"/>
            <a:ext cx="388938" cy="463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sz="240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819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188" y="1370013"/>
            <a:ext cx="8066087" cy="4362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>
                <a:latin typeface="Times New Roman" panose="02020603050405020304" pitchFamily="18" charset="0"/>
              </a:rPr>
              <a:t>磁盘性能</a:t>
            </a:r>
            <a:r>
              <a:rPr lang="zh-CN" altLang="en-US" dirty="0"/>
              <a:t>实例</a:t>
            </a:r>
            <a:endParaRPr lang="zh-CN" altLang="en-US" dirty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466725" y="1249363"/>
            <a:ext cx="8208963" cy="49879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：磁盘机的盘组由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11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个盘片组成，其中专设一个盘面为伺服面，其他盘面为记录数据的盘面。盘存储区域内直径为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14.3cm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，外直径为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30.3cm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，道密度为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80TPM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，每道分为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96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个扇区，每个扇区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4KBit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，磁盘转速为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3600RPM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。试计算：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79705" marR="0" lvl="0" indent="31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(1)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盘组容量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</a:t>
            </a:r>
            <a:r>
              <a:rPr kumimoji="0" lang="en-US" altLang="zh-CN" sz="2400" b="1" i="0" u="none" strike="noStrike" kern="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是多少字节？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79705" marR="0" lvl="0" indent="31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(2)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平均等待时间是多少？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79705" marR="0" lvl="0" indent="31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(3)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数据传输率是多少？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解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(1) m=11×2-1=21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n=(30.3-14.3)/2×10×80+1=6401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  <a:sym typeface="Wingdings" panose="05000000000000000000" pitchFamily="2" charset="2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               C</a:t>
            </a:r>
            <a:r>
              <a:rPr kumimoji="0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=B</a:t>
            </a:r>
            <a:r>
              <a:rPr kumimoji="0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s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S</a:t>
            </a:r>
            <a:r>
              <a:rPr kumimoji="0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t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mn=4KBit×96×21×6401/8≈1.2GB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  <a:sym typeface="Wingdings" panose="05000000000000000000" pitchFamily="2" charset="2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        (2) t=(60/3600+0)/2=8.33ms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  <a:sym typeface="Wingdings" panose="05000000000000000000" pitchFamily="2" charset="2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        (3) 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f</a:t>
            </a:r>
            <a:r>
              <a:rPr kumimoji="0" lang="en-US" altLang="zh-CN" sz="2400" b="1" i="0" u="none" strike="noStrike" kern="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f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=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C</a:t>
            </a:r>
            <a:r>
              <a:rPr kumimoji="0" lang="en-US" altLang="zh-CN" sz="2400" b="1" i="0" u="none" strike="noStrike" kern="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tf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/t=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B</a:t>
            </a:r>
            <a:r>
              <a:rPr kumimoji="0" lang="en-US" altLang="zh-CN" sz="2400" b="1" i="0" u="none" strike="noStrike" kern="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s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S</a:t>
            </a:r>
            <a:r>
              <a:rPr kumimoji="0" lang="en-US" altLang="zh-CN" sz="2400" b="1" i="0" u="none" strike="noStrike" kern="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t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/t</a:t>
            </a:r>
            <a:r>
              <a:rPr kumimoji="0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=23592960B/s= 22.5MB/s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>
                <a:latin typeface="Times New Roman" panose="02020603050405020304" pitchFamily="18" charset="0"/>
              </a:rPr>
              <a:t>磁盘性能</a:t>
            </a:r>
            <a:r>
              <a:rPr lang="zh-CN" altLang="en-US" dirty="0"/>
              <a:t>实例</a:t>
            </a:r>
            <a:endParaRPr lang="zh-CN" altLang="en-US" dirty="0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196975"/>
            <a:ext cx="8208963" cy="47720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例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：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磁盘机盘组由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4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个盘片组成，其中专设一个盘面为伺服面，其他盘面为记录数据的盘面。盘存储区域内直径为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4.3cm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，外直径为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8.9cm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，道密度为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100TPM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，位密度为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5000bpm 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，磁盘转速为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7200RPM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。试计算：</a:t>
            </a:r>
            <a:endParaRPr kumimoji="0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79705" marR="0" lvl="0" indent="31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(1)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数据盘面数和柱面数是多少？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79705" marR="0" lvl="0" indent="31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(2)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盘组容量</a:t>
            </a:r>
            <a:r>
              <a:rPr kumimoji="0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</a:t>
            </a:r>
            <a:r>
              <a:rPr kumimoji="0" lang="en-US" altLang="zh-CN" sz="2000" b="1" i="0" u="none" strike="noStrike" kern="0" cap="none" spc="0" normalizeH="0" baseline="-2500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是多少字节？</a:t>
            </a:r>
            <a:endParaRPr kumimoji="0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79705" marR="0" lvl="0" indent="31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(3)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数据传输率是多少？</a:t>
            </a:r>
            <a:endParaRPr kumimoji="0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41325" marR="0" lvl="0" indent="-25908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(4)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假定系统配置上述磁盘机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台，每个磁道分成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64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个扇区，试为该磁盘系统设计一个地址方案。</a:t>
            </a:r>
            <a:endParaRPr kumimoji="0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解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：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(1) m=4×2-1=7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，	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n=(8.9-4.3)/2×10×100+1=2301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  <a:sym typeface="Wingdings" panose="05000000000000000000" pitchFamily="2" charset="2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         (2) C</a:t>
            </a:r>
            <a:r>
              <a:rPr kumimoji="0" lang="en-US" altLang="zh-CN" sz="20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n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=D</a:t>
            </a:r>
            <a:r>
              <a:rPr kumimoji="0" lang="en-US" altLang="zh-CN" sz="20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n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/>
              </a:rPr>
              <a:t>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D</a:t>
            </a:r>
            <a:r>
              <a:rPr kumimoji="0" lang="en-US" altLang="zh-CN" sz="20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min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mn=5000×3×4.3×10×7×2301/8≈1.2GB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  <a:sym typeface="Wingdings" panose="05000000000000000000" pitchFamily="2" charset="2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         (3) t=60/7200=1/120s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  <a:sym typeface="Wingdings" panose="05000000000000000000" pitchFamily="2" charset="2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              fn=C</a:t>
            </a:r>
            <a:r>
              <a:rPr kumimoji="0" lang="en-US" altLang="zh-CN" sz="20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tn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/t=D</a:t>
            </a:r>
            <a:r>
              <a:rPr kumimoji="0" lang="en-US" altLang="zh-CN" sz="20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b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Symbol" panose="05050102010706020507"/>
              </a:rPr>
              <a:t>  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D</a:t>
            </a:r>
            <a:r>
              <a:rPr kumimoji="0" lang="en-US" altLang="zh-CN" sz="20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min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/t</a:t>
            </a:r>
            <a:r>
              <a:rPr kumimoji="0" lang="en-US" altLang="zh-CN" sz="20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=9675000B/s≈ 9.23MB/s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  <a:sym typeface="Wingdings" panose="05000000000000000000" pitchFamily="2" charset="2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        (4) 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磁盘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地址方案：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75838" name="Group 62"/>
          <p:cNvGraphicFramePr>
            <a:graphicFrameLocks noGrp="1"/>
          </p:cNvGraphicFramePr>
          <p:nvPr>
            <p:ph sz="half" idx="1"/>
          </p:nvPr>
        </p:nvGraphicFramePr>
        <p:xfrm>
          <a:off x="3276600" y="5445125"/>
          <a:ext cx="5184775" cy="762000"/>
        </p:xfrm>
        <a:graphic>
          <a:graphicData uri="http://schemas.openxmlformats.org/drawingml/2006/table">
            <a:tbl>
              <a:tblPr/>
              <a:tblGrid>
                <a:gridCol w="1008063"/>
                <a:gridCol w="1944687"/>
                <a:gridCol w="1008063"/>
                <a:gridCol w="1223962"/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24      21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20                        9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8          6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5              0</a:t>
                      </a:r>
                      <a:endParaRPr kumimoji="0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台号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柱面号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盘面号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扇区号</a:t>
                      </a:r>
                      <a:endParaRPr kumimoji="0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磁盘性能</a:t>
            </a:r>
            <a:r>
              <a:rPr lang="zh-CN" altLang="en-US" dirty="0">
                <a:latin typeface="Times New Roman" panose="02020603050405020304" pitchFamily="18" charset="0"/>
              </a:rPr>
              <a:t>实</a:t>
            </a:r>
            <a:r>
              <a:rPr lang="zh-CN" altLang="en-US" dirty="0"/>
              <a:t>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9750" y="1393825"/>
            <a:ext cx="8318500" cy="47720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>
                <a:tab pos="447675" algn="l"/>
              </a:tabLst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(2013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年考研题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某磁盘的转速为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10 000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转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分，平均寻道时间是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 ms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，磁盘传输速率是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20 MB/s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，磁盘控制器延迟为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0.2 ms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，读取一个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 KB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的扇区所需的平均时间约为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    )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A. 9 ms	B. 9.4 ms         C. 12 ms            D. 12.4 ms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(2015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年考研题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若磁盘转速为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7200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转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分，平均寻道时间为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8ms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，每个磁道包含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1000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个扇区，则访问一个扇区的平均存取时间大约是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    )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8.1ms 	B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12.2ms 	C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16.3ms 	D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20.5ms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"/>
          <p:cNvSpPr>
            <a:spLocks noGrp="1"/>
          </p:cNvSpPr>
          <p:nvPr>
            <p:ph type="title"/>
          </p:nvPr>
        </p:nvSpPr>
        <p:spPr>
          <a:xfrm>
            <a:off x="574675" y="231775"/>
            <a:ext cx="8029575" cy="676275"/>
          </a:xfrm>
        </p:spPr>
        <p:txBody>
          <a:bodyPr vert="horz" wrap="square" lIns="91440" tIns="45720" rIns="91440" bIns="45720" anchor="b" anchorCtr="0"/>
          <a:p>
            <a:r>
              <a:rPr lang="zh-CN" altLang="en-US" dirty="0"/>
              <a:t>二、关于</a:t>
            </a:r>
            <a:r>
              <a:rPr lang="en-US" altLang="zh-CN" dirty="0"/>
              <a:t>RAID</a:t>
            </a:r>
            <a:r>
              <a:rPr lang="zh-CN" altLang="en-US" dirty="0"/>
              <a:t>盘阵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93700" y="1285875"/>
            <a:ext cx="8535988" cy="47720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266700" marR="0" lvl="1" indent="-2667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廉价磁盘冗余阵列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(RAID)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技术是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个磁盘控制器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控制多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个磁盘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的相互连接，把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几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个磁盘的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存储空间整合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起来，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形成一个大的单一连续的存储空间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，使多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个磁盘的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读写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同步。是一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种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减少错误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增加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效率和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可靠性的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技术 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6700" marR="0" lvl="0" indent="-2667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RAID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特性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25475" marR="0" lvl="1" indent="-2667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1)RAID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盘阵是一组物理盘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，操作系统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将其视为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单个逻辑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盘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25475" marR="0" lvl="1" indent="-2667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(2)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数据分布在不同的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物理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磁盘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上 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25475" marR="0" lvl="1" indent="-2667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(3)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冗余磁盘用于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存储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校验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信息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，保证磁盘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损坏时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能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有效恢复数据</a:t>
            </a:r>
            <a:endParaRPr kumimoji="0" lang="en-US" altLang="zh-CN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计算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RAID3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校验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时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，须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将所有未写数据盘的原数据全部读出，再与写入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盘的新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数据异或形成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新校验数据，并将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其写入校验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盘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计算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RAID4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校验时：对小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块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写，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只须将要写数据盘和校验盘的原数据读出，再与写入盘的新数据异或形成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新校验数据，并将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其写入校验盘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14467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1285875"/>
            <a:ext cx="8326438" cy="50006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58775" marR="0" lvl="0" indent="-358775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条带化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24205" marR="0" lvl="1" indent="-249555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把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数据分散到多个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磁盘上，称之为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条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带化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24205" marR="0" lvl="1" indent="-249555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一组磁盘上进行条带化使得这一组磁盘对于软件来说是一个大磁盘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，操作系统把一个访问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分到几个磁盘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上，从而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简化了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存储管理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24205" marR="0" lvl="1" indent="-249555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划分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方式：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075055" marR="0" lvl="1" indent="-363855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大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条区交叉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分布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以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块交叉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方式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时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，若两个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请求访问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不同磁盘上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的数据，则可并行发送。减少了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排队时间。具有较快的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响应能力。如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RAID4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RAID5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RAID6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RAID5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被广泛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使用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075055" marR="0" lvl="1" indent="-363855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(2)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小条区交叉分布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以字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/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字节交叉方式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时，同一个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请求有可能并行传送其不同的数据块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条区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，可获得较高的数据传输率。如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RAID2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RAID3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RAID3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用于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大数据集应用的场合，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如：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图像处理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93113" cy="720725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ea"/>
                <a:ea typeface="+mj-ea"/>
                <a:cs typeface="+mj-cs"/>
              </a:rPr>
              <a:t>回顾－磁盘阵列</a:t>
            </a:r>
            <a:r>
              <a:rPr kumimoji="0" lang="en-US" altLang="zh-CN" sz="4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RAID</a:t>
            </a:r>
            <a:endParaRPr kumimoji="0" lang="zh-CN" altLang="en-US" sz="40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467">
                                            <p:txEl>
                                              <p:charRg st="4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4467">
                                            <p:txEl>
                                              <p:charRg st="4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467">
                                            <p:txEl>
                                              <p:charRg st="23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14467">
                                            <p:txEl>
                                              <p:charRg st="23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467">
                                            <p:txEl>
                                              <p:charRg st="81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14467">
                                            <p:txEl>
                                              <p:charRg st="81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467">
                                            <p:txEl>
                                              <p:charRg st="87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14467">
                                            <p:txEl>
                                              <p:charRg st="87" end="1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467">
                                            <p:txEl>
                                              <p:charRg st="187" end="2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14467">
                                            <p:txEl>
                                              <p:charRg st="187" end="2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RAID</a:t>
            </a:r>
            <a:r>
              <a:rPr lang="zh-CN" altLang="en-US" dirty="0"/>
              <a:t>盘阵</a:t>
            </a:r>
            <a:r>
              <a:rPr lang="zh-CN" altLang="en-US" dirty="0">
                <a:latin typeface="Times New Roman" panose="02020603050405020304" pitchFamily="18" charset="0"/>
              </a:rPr>
              <a:t>实</a:t>
            </a:r>
            <a:r>
              <a:rPr lang="zh-CN" altLang="en-US" dirty="0"/>
              <a:t>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9750" y="1393825"/>
            <a:ext cx="8247063" cy="47720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(2013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年考研题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下列选项中，用于提高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RAID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可靠性的措施有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    )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2255" marR="0" lvl="0" indent="-262255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AutoNum type="romanUcPeriod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磁盘镜像 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II.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条带化   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III.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奇偶校验     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IV.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增加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Cache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机制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A.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仅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II           	B.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仅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III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C.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仅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III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IV     	D.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仅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II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III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IV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三、关于</a:t>
            </a:r>
            <a:r>
              <a:rPr lang="en-US" altLang="zh-CN" dirty="0"/>
              <a:t>I/O</a:t>
            </a:r>
            <a:r>
              <a:rPr lang="zh-CN" altLang="en-US" dirty="0"/>
              <a:t>控制方式 </a:t>
            </a:r>
            <a:endParaRPr lang="zh-CN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11188" y="1196975"/>
            <a:ext cx="8208963" cy="5829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66700" marR="0" indent="-266700" defTabSz="914400">
              <a:lnSpc>
                <a:spcPct val="105000"/>
              </a:lnSpc>
              <a:buClr>
                <a:schemeClr val="tx2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kern="0" cap="none" spc="0" normalizeH="0" baseline="0" noProof="0" dirty="0">
                <a:solidFill>
                  <a:srgbClr val="FF0000"/>
                </a:solidFill>
                <a:latin typeface="Times New Roman" panose="02020603050405020304"/>
                <a:ea typeface="华文新魏" panose="02010800040101010101" pitchFamily="2" charset="-122"/>
                <a:cs typeface="+mn-cs"/>
              </a:rPr>
              <a:t>程序轮询方式：</a:t>
            </a:r>
            <a:r>
              <a:rPr kumimoji="0" lang="en-US" altLang="zh-CN" sz="2400" b="1" kern="0" cap="none" spc="0" normalizeH="0" baseline="0" noProof="0" dirty="0">
                <a:solidFill>
                  <a:srgbClr val="CC0000"/>
                </a:solidFill>
                <a:latin typeface="Times New Roman" panose="02020603050405020304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zh-CN" altLang="en-US" sz="2400" b="1" kern="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华文新魏" panose="02010800040101010101" pitchFamily="2" charset="-122"/>
                <a:cs typeface="+mn-cs"/>
              </a:rPr>
              <a:t>最简单的</a:t>
            </a:r>
            <a:r>
              <a:rPr kumimoji="0" lang="en-US" altLang="zh-CN" sz="2400" b="1" kern="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华文新魏" panose="02010800040101010101" pitchFamily="2" charset="-122"/>
                <a:cs typeface="+mn-cs"/>
              </a:rPr>
              <a:t>I/O</a:t>
            </a:r>
            <a:r>
              <a:rPr kumimoji="0" lang="zh-CN" altLang="en-US" sz="2400" b="1" kern="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华文新魏" panose="02010800040101010101" pitchFamily="2" charset="-122"/>
                <a:cs typeface="+mn-cs"/>
              </a:rPr>
              <a:t>方式</a:t>
            </a:r>
            <a:endParaRPr kumimoji="0" lang="en-US" altLang="zh-CN" sz="2400" b="1" kern="0" cap="none" spc="0" normalizeH="0" baseline="0" noProof="0" dirty="0">
              <a:solidFill>
                <a:srgbClr val="CC0000"/>
              </a:solidFill>
              <a:latin typeface="Times New Roman" panose="02020603050405020304"/>
              <a:ea typeface="华文新魏" panose="02010800040101010101" pitchFamily="2" charset="-122"/>
              <a:cs typeface="+mn-cs"/>
            </a:endParaRPr>
          </a:p>
          <a:p>
            <a:pPr marL="625475" marR="0" lvl="1" indent="-266700" algn="l" defTabSz="914400" rtl="0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I/O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设备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(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包括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I/O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接口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)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将自己的状态放到一个状态寄存器中 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华文新魏" panose="02010800040101010101" pitchFamily="2" charset="-122"/>
              <a:cs typeface="+mn-cs"/>
            </a:endParaRPr>
          </a:p>
          <a:p>
            <a:pPr marL="625475" marR="0" lvl="1" indent="-266700" algn="l" defTabSz="914400" rtl="0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OS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阶段性查询状态寄存器中的特定状态，决定下一步的动作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华文新魏" panose="02010800040101010101" pitchFamily="2" charset="-122"/>
              <a:cs typeface="+mn-cs"/>
            </a:endParaRPr>
          </a:p>
          <a:p>
            <a:pPr marL="625475" marR="0" lvl="1" indent="-266700" algn="l" defTabSz="914400" rtl="0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OS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主动查询，也称为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程序查询方式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或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程序直接控制方式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/>
              <a:ea typeface="华文新魏" panose="02010800040101010101" pitchFamily="2" charset="-122"/>
              <a:cs typeface="+mn-cs"/>
            </a:endParaRPr>
          </a:p>
          <a:p>
            <a:pPr marL="266700" marR="0" indent="-266700" defTabSz="914400">
              <a:lnSpc>
                <a:spcPct val="105000"/>
              </a:lnSpc>
              <a:buClr>
                <a:schemeClr val="tx2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kern="0" cap="none" spc="0" normalizeH="0" baseline="0" noProof="0" dirty="0">
                <a:solidFill>
                  <a:srgbClr val="FF0000"/>
                </a:solidFill>
                <a:latin typeface="Times New Roman" panose="02020603050405020304"/>
                <a:ea typeface="华文新魏" panose="02010800040101010101" pitchFamily="2" charset="-122"/>
                <a:cs typeface="+mn-cs"/>
              </a:rPr>
              <a:t>中断驱动方式：</a:t>
            </a:r>
            <a:r>
              <a:rPr kumimoji="0" lang="zh-CN" altLang="en-US" sz="2400" b="1" kern="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华文新魏" panose="02010800040101010101" pitchFamily="2" charset="-122"/>
                <a:cs typeface="+mn-cs"/>
              </a:rPr>
              <a:t>大多数系统支持中断</a:t>
            </a:r>
            <a:r>
              <a:rPr kumimoji="0" lang="en-US" altLang="zh-CN" sz="2400" b="1" kern="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华文新魏" panose="02010800040101010101" pitchFamily="2" charset="-122"/>
                <a:cs typeface="+mn-cs"/>
              </a:rPr>
              <a:t>I/O</a:t>
            </a:r>
            <a:r>
              <a:rPr kumimoji="0" lang="zh-CN" altLang="en-US" sz="2400" b="1" kern="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华文新魏" panose="02010800040101010101" pitchFamily="2" charset="-122"/>
                <a:cs typeface="+mn-cs"/>
              </a:rPr>
              <a:t>方式</a:t>
            </a:r>
            <a:endParaRPr kumimoji="0" lang="zh-CN" altLang="en-US" sz="2400" b="1" kern="0" cap="none" spc="0" normalizeH="0" baseline="0" noProof="0" dirty="0">
              <a:solidFill>
                <a:srgbClr val="000000"/>
              </a:solidFill>
              <a:latin typeface="Times New Roman" panose="02020603050405020304"/>
              <a:ea typeface="华文新魏" panose="02010800040101010101" pitchFamily="2" charset="-122"/>
              <a:cs typeface="+mn-cs"/>
            </a:endParaRPr>
          </a:p>
          <a:p>
            <a:pPr marL="625475" marR="0" lvl="1" indent="-266700" algn="l" defTabSz="914400" rtl="0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若一个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I/O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设备需要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CPU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干预，就通过中断请求通知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CPU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华文新魏" panose="02010800040101010101" pitchFamily="2" charset="-122"/>
              <a:cs typeface="+mn-cs"/>
            </a:endParaRPr>
          </a:p>
          <a:p>
            <a:pPr marL="625475" marR="0" lvl="1" indent="-266700" algn="l" defTabSz="914400" rtl="0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CPU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中止当前程序的执行，调出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OS(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中断处理程序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)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来执行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华文新魏" panose="02010800040101010101" pitchFamily="2" charset="-122"/>
              <a:cs typeface="+mn-cs"/>
            </a:endParaRPr>
          </a:p>
          <a:p>
            <a:pPr marL="625475" marR="0" lvl="1" indent="-266700" algn="l" defTabSz="914400" rtl="0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处理结束后，再返回到被中止的程序继续执行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华文新魏" panose="02010800040101010101" pitchFamily="2" charset="-122"/>
              <a:cs typeface="+mn-cs"/>
            </a:endParaRPr>
          </a:p>
          <a:p>
            <a:pPr marL="625475" marR="0" lvl="1" indent="-266700" algn="l" defTabSz="914400" rtl="0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OS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被动调出，也称为中断驱动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I/O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方式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华文新魏" panose="02010800040101010101" pitchFamily="2" charset="-122"/>
              <a:cs typeface="+mn-cs"/>
            </a:endParaRPr>
          </a:p>
          <a:p>
            <a:pPr marL="266700" marR="0" indent="-266700" defTabSz="914400">
              <a:lnSpc>
                <a:spcPct val="105000"/>
              </a:lnSpc>
              <a:buClr>
                <a:schemeClr val="tx2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2400" b="1" kern="0" cap="none" spc="0" normalizeH="0" baseline="0" noProof="0" dirty="0">
                <a:solidFill>
                  <a:srgbClr val="FF0000"/>
                </a:solidFill>
                <a:latin typeface="Times New Roman" panose="02020603050405020304"/>
                <a:ea typeface="华文新魏" panose="02010800040101010101" pitchFamily="2" charset="-122"/>
                <a:cs typeface="+mn-cs"/>
              </a:rPr>
              <a:t>DMA</a:t>
            </a:r>
            <a:r>
              <a:rPr kumimoji="0" lang="zh-CN" altLang="en-US" sz="2400" b="1" kern="0" cap="none" spc="0" normalizeH="0" baseline="0" noProof="0" dirty="0">
                <a:solidFill>
                  <a:srgbClr val="FF0000"/>
                </a:solidFill>
                <a:latin typeface="Times New Roman" panose="02020603050405020304"/>
                <a:ea typeface="华文新魏" panose="02010800040101010101" pitchFamily="2" charset="-122"/>
                <a:cs typeface="+mn-cs"/>
              </a:rPr>
              <a:t>方式：</a:t>
            </a:r>
            <a:r>
              <a:rPr kumimoji="0" lang="en-US" altLang="zh-CN" sz="2400" b="1" kern="0" cap="none" spc="0" normalizeH="0" baseline="0" noProof="0" dirty="0">
                <a:solidFill>
                  <a:srgbClr val="D1390F"/>
                </a:solidFill>
                <a:latin typeface="Times New Roman" panose="02020603050405020304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zh-CN" altLang="en-US" sz="2400" b="1" kern="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华文新魏" panose="02010800040101010101" pitchFamily="2" charset="-122"/>
                <a:cs typeface="+mn-cs"/>
              </a:rPr>
              <a:t>磁盘等高速外设特有的</a:t>
            </a:r>
            <a:r>
              <a:rPr kumimoji="0" lang="en-US" altLang="zh-CN" sz="2400" b="1" kern="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华文新魏" panose="02010800040101010101" pitchFamily="2" charset="-122"/>
                <a:cs typeface="+mn-cs"/>
              </a:rPr>
              <a:t>I/O</a:t>
            </a:r>
            <a:r>
              <a:rPr kumimoji="0" lang="zh-CN" altLang="en-US" sz="2400" b="1" kern="0" cap="none" spc="0" normalizeH="0" baseline="0" noProof="0" dirty="0">
                <a:solidFill>
                  <a:srgbClr val="000000"/>
                </a:solidFill>
                <a:latin typeface="Times New Roman" panose="02020603050405020304"/>
                <a:ea typeface="华文新魏" panose="02010800040101010101" pitchFamily="2" charset="-122"/>
                <a:cs typeface="+mn-cs"/>
              </a:rPr>
              <a:t>方式</a:t>
            </a:r>
            <a:endParaRPr kumimoji="0" lang="zh-CN" altLang="en-US" sz="2400" b="1" kern="0" cap="none" spc="0" normalizeH="0" baseline="0" noProof="0" dirty="0">
              <a:solidFill>
                <a:srgbClr val="000000"/>
              </a:solidFill>
              <a:latin typeface="Times New Roman" panose="02020603050405020304"/>
              <a:ea typeface="华文新魏" panose="02010800040101010101" pitchFamily="2" charset="-122"/>
              <a:cs typeface="+mn-cs"/>
            </a:endParaRPr>
          </a:p>
          <a:p>
            <a:pPr marL="625475" marR="0" lvl="1" indent="-266700" algn="l" defTabSz="914400" rtl="0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磁盘等高速外设成批地直接和主存进行数据交换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华文新魏" panose="02010800040101010101" pitchFamily="2" charset="-122"/>
              <a:cs typeface="+mn-cs"/>
            </a:endParaRPr>
          </a:p>
          <a:p>
            <a:pPr marL="625475" marR="0" lvl="1" indent="-266700" algn="l" defTabSz="914400" rtl="0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需要专门的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DMA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控制器控制总线，完成数据传送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华文新魏" panose="02010800040101010101" pitchFamily="2" charset="-122"/>
              <a:cs typeface="+mn-cs"/>
            </a:endParaRPr>
          </a:p>
          <a:p>
            <a:pPr marL="625475" marR="0" lvl="1" indent="-266700" algn="l" defTabSz="914400" rtl="0" eaLnBrk="0" fontAlgn="base" latinLnBrk="0" hangingPunct="0">
              <a:lnSpc>
                <a:spcPct val="10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当外设准备好数据后，向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DMA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控制器发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DMA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请求信号，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DMA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控制器再向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CPU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发总线请求，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CPU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让出总线后，由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DMA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控制器控制总线进行传输，无需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CPU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  <a:cs typeface="+mn-cs"/>
              </a:rPr>
              <a:t>干涉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华文新魏" panose="02010800040101010101" pitchFamily="2" charset="-122"/>
              <a:cs typeface="+mn-cs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endParaRPr kumimoji="0" lang="zh-CN" altLang="en-US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I/O</a:t>
            </a:r>
            <a:r>
              <a:rPr lang="zh-CN" altLang="en-US" dirty="0"/>
              <a:t>轮询方式实例</a:t>
            </a:r>
            <a:endParaRPr lang="zh-CN" altLang="en-US" dirty="0"/>
          </a:p>
        </p:txBody>
      </p:sp>
      <p:grpSp>
        <p:nvGrpSpPr>
          <p:cNvPr id="19459" name="Group 7"/>
          <p:cNvGrpSpPr/>
          <p:nvPr/>
        </p:nvGrpSpPr>
        <p:grpSpPr>
          <a:xfrm>
            <a:off x="611188" y="1339850"/>
            <a:ext cx="8208962" cy="4610100"/>
            <a:chOff x="385" y="754"/>
            <a:chExt cx="5035" cy="2857"/>
          </a:xfrm>
        </p:grpSpPr>
        <p:pic>
          <p:nvPicPr>
            <p:cNvPr id="19460" name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754"/>
              <a:ext cx="5035" cy="190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9461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1" y="2704"/>
              <a:ext cx="4853" cy="907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I/O</a:t>
            </a:r>
            <a:r>
              <a:rPr lang="zh-CN" altLang="en-US" dirty="0"/>
              <a:t>轮询方式实例</a:t>
            </a:r>
            <a:endParaRPr lang="zh-CN" altLang="en-US" dirty="0"/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285750" y="1285875"/>
            <a:ext cx="8675688" cy="5257800"/>
          </a:xfrm>
        </p:spPr>
        <p:txBody>
          <a:bodyPr vert="horz" wrap="square" lIns="91440" tIns="45720" rIns="91440" bIns="45720" anchor="t" anchorCtr="0"/>
          <a:p>
            <a:pPr marL="363855" indent="-363855">
              <a:lnSpc>
                <a:spcPct val="110000"/>
              </a:lnSpc>
              <a:spcBef>
                <a:spcPts val="60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解：</a:t>
            </a:r>
            <a:r>
              <a:rPr lang="en-US" altLang="zh-CN" sz="2400" dirty="0">
                <a:latin typeface="Times New Roman" panose="02020603050405020304" pitchFamily="18" charset="0"/>
              </a:rPr>
              <a:t>(1)</a:t>
            </a:r>
            <a:r>
              <a:rPr lang="zh-CN" altLang="en-US" sz="2400" dirty="0">
                <a:latin typeface="Times New Roman" panose="02020603050405020304" pitchFamily="18" charset="0"/>
              </a:rPr>
              <a:t>鼠标：</a:t>
            </a:r>
            <a:r>
              <a:rPr lang="zh-CN" altLang="zh-CN" sz="2400" dirty="0">
                <a:latin typeface="Times New Roman" panose="02020603050405020304" pitchFamily="18" charset="0"/>
              </a:rPr>
              <a:t>每秒钟用于</a:t>
            </a:r>
            <a:r>
              <a:rPr lang="zh-CN" altLang="en-US" sz="2400" dirty="0"/>
              <a:t>轮询</a:t>
            </a:r>
            <a:r>
              <a:rPr lang="zh-CN" altLang="zh-CN" sz="2400" dirty="0">
                <a:latin typeface="Times New Roman" panose="02020603050405020304" pitchFamily="18" charset="0"/>
              </a:rPr>
              <a:t>周期数为</a:t>
            </a:r>
            <a:r>
              <a:rPr lang="zh-CN" altLang="en-US" sz="2400" dirty="0"/>
              <a:t>：</a:t>
            </a:r>
            <a:r>
              <a:rPr lang="en-US" altLang="zh-CN" sz="2400" dirty="0">
                <a:latin typeface="Times New Roman" panose="02020603050405020304" pitchFamily="18" charset="0"/>
              </a:rPr>
              <a:t>30</a:t>
            </a:r>
            <a:r>
              <a:rPr lang="en-US" altLang="zh-CN" sz="2400" dirty="0"/>
              <a:t>×</a:t>
            </a:r>
            <a:r>
              <a:rPr lang="en-US" altLang="zh-CN" sz="2400" dirty="0">
                <a:latin typeface="Times New Roman" panose="02020603050405020304" pitchFamily="18" charset="0"/>
              </a:rPr>
              <a:t>400=12K</a:t>
            </a:r>
            <a:r>
              <a:rPr lang="zh-CN" altLang="en-US" sz="2400" dirty="0">
                <a:latin typeface="Times New Roman" panose="02020603050405020304" pitchFamily="18" charset="0"/>
              </a:rPr>
              <a:t>个周期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marL="363855" indent="-363855">
              <a:lnSpc>
                <a:spcPct val="110000"/>
              </a:lnSpc>
              <a:spcBef>
                <a:spcPts val="60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	一次传输中所消耗的处理器时间的百分比为：	</a:t>
            </a:r>
            <a:r>
              <a:rPr lang="en-US" altLang="zh-CN" sz="2400" dirty="0">
                <a:latin typeface="Times New Roman" panose="02020603050405020304" pitchFamily="18" charset="0"/>
              </a:rPr>
              <a:t>12</a:t>
            </a:r>
            <a:r>
              <a:rPr lang="en-US" altLang="zh-CN" sz="2400" dirty="0"/>
              <a:t>×</a:t>
            </a:r>
            <a:r>
              <a:rPr lang="en-US" altLang="zh-CN" sz="2400" dirty="0">
                <a:latin typeface="Times New Roman" panose="02020603050405020304" pitchFamily="18" charset="0"/>
              </a:rPr>
              <a:t>10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</a:rPr>
              <a:t>/(500</a:t>
            </a:r>
            <a:r>
              <a:rPr lang="en-US" altLang="zh-CN" sz="2400" dirty="0"/>
              <a:t>×</a:t>
            </a:r>
            <a:r>
              <a:rPr lang="en-US" altLang="zh-CN" sz="2400" dirty="0">
                <a:latin typeface="Times New Roman" panose="02020603050405020304" pitchFamily="18" charset="0"/>
              </a:rPr>
              <a:t>10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6</a:t>
            </a:r>
            <a:r>
              <a:rPr lang="en-US" altLang="zh-CN" sz="2400" dirty="0">
                <a:latin typeface="Times New Roman" panose="02020603050405020304" pitchFamily="18" charset="0"/>
              </a:rPr>
              <a:t>)=0.002%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363855" indent="-363855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	(2)</a:t>
            </a:r>
            <a:r>
              <a:rPr lang="zh-CN" altLang="en-US" sz="2400" dirty="0">
                <a:latin typeface="Times New Roman" panose="02020603050405020304" pitchFamily="18" charset="0"/>
              </a:rPr>
              <a:t>软盘：</a:t>
            </a:r>
            <a:r>
              <a:rPr lang="zh-CN" altLang="zh-CN" sz="2400" dirty="0">
                <a:latin typeface="Times New Roman" panose="02020603050405020304" pitchFamily="18" charset="0"/>
              </a:rPr>
              <a:t>每秒钟</a:t>
            </a:r>
            <a:r>
              <a:rPr lang="zh-CN" altLang="en-US" sz="2400" dirty="0">
                <a:latin typeface="Times New Roman" panose="02020603050405020304" pitchFamily="18" charset="0"/>
              </a:rPr>
              <a:t>的软盘</a:t>
            </a:r>
            <a:r>
              <a:rPr lang="zh-CN" altLang="en-US" sz="2400" dirty="0"/>
              <a:t>轮询</a:t>
            </a:r>
            <a:r>
              <a:rPr lang="zh-CN" altLang="en-US" sz="2400" dirty="0">
                <a:latin typeface="Times New Roman" panose="02020603050405020304" pitchFamily="18" charset="0"/>
              </a:rPr>
              <a:t>操作次数</a:t>
            </a:r>
            <a:r>
              <a:rPr lang="zh-CN" altLang="zh-CN" sz="2400" dirty="0">
                <a:latin typeface="Times New Roman" panose="02020603050405020304" pitchFamily="18" charset="0"/>
              </a:rPr>
              <a:t>为</a:t>
            </a:r>
            <a:r>
              <a:rPr lang="zh-CN" altLang="en-US" sz="2400" dirty="0"/>
              <a:t>：</a:t>
            </a:r>
            <a:r>
              <a:rPr lang="en-US" altLang="zh-CN" sz="2400" dirty="0">
                <a:latin typeface="Times New Roman" panose="02020603050405020304" pitchFamily="18" charset="0"/>
              </a:rPr>
              <a:t>50KB/2B=25K</a:t>
            </a:r>
            <a:r>
              <a:rPr lang="zh-CN" altLang="en-US" sz="2400" dirty="0">
                <a:latin typeface="Times New Roman" panose="02020603050405020304" pitchFamily="18" charset="0"/>
              </a:rPr>
              <a:t>次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marL="363855" indent="-363855">
              <a:lnSpc>
                <a:spcPct val="110000"/>
              </a:lnSpc>
              <a:spcBef>
                <a:spcPts val="60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	</a:t>
            </a:r>
            <a:r>
              <a:rPr lang="zh-CN" altLang="zh-CN" sz="2400" dirty="0">
                <a:latin typeface="Times New Roman" panose="02020603050405020304" pitchFamily="18" charset="0"/>
              </a:rPr>
              <a:t>每秒钟用于</a:t>
            </a:r>
            <a:r>
              <a:rPr lang="zh-CN" altLang="en-US" sz="2400" dirty="0"/>
              <a:t>轮询</a:t>
            </a:r>
            <a:r>
              <a:rPr lang="zh-CN" altLang="zh-CN" sz="2400" dirty="0">
                <a:latin typeface="Times New Roman" panose="02020603050405020304" pitchFamily="18" charset="0"/>
              </a:rPr>
              <a:t>的周期数为</a:t>
            </a:r>
            <a:r>
              <a:rPr lang="zh-CN" altLang="en-US" sz="2400" dirty="0">
                <a:latin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</a:rPr>
              <a:t>25K</a:t>
            </a:r>
            <a:r>
              <a:rPr lang="en-US" altLang="zh-CN" sz="2400" dirty="0"/>
              <a:t>×</a:t>
            </a:r>
            <a:r>
              <a:rPr lang="en-US" altLang="zh-CN" sz="2400" dirty="0">
                <a:latin typeface="Times New Roman" panose="02020603050405020304" pitchFamily="18" charset="0"/>
              </a:rPr>
              <a:t>400=10M</a:t>
            </a:r>
            <a:r>
              <a:rPr lang="zh-CN" altLang="en-US" sz="2400" dirty="0">
                <a:latin typeface="Times New Roman" panose="02020603050405020304" pitchFamily="18" charset="0"/>
              </a:rPr>
              <a:t>个周期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marL="363855" indent="-363855">
              <a:lnSpc>
                <a:spcPct val="110000"/>
              </a:lnSpc>
              <a:spcBef>
                <a:spcPts val="60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	一次传输中所消耗的处理器时间的百分比为：			</a:t>
            </a:r>
            <a:r>
              <a:rPr lang="en-US" altLang="zh-CN" sz="2400" dirty="0">
                <a:latin typeface="Times New Roman" panose="02020603050405020304" pitchFamily="18" charset="0"/>
              </a:rPr>
              <a:t>10</a:t>
            </a:r>
            <a:r>
              <a:rPr lang="en-US" altLang="zh-CN" sz="2400" dirty="0"/>
              <a:t>×</a:t>
            </a:r>
            <a:r>
              <a:rPr lang="en-US" altLang="zh-CN" sz="2400" dirty="0">
                <a:latin typeface="Times New Roman" panose="02020603050405020304" pitchFamily="18" charset="0"/>
              </a:rPr>
              <a:t>10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6</a:t>
            </a:r>
            <a:r>
              <a:rPr lang="en-US" altLang="zh-CN" sz="2400" dirty="0">
                <a:latin typeface="Times New Roman" panose="02020603050405020304" pitchFamily="18" charset="0"/>
              </a:rPr>
              <a:t>/(500</a:t>
            </a:r>
            <a:r>
              <a:rPr lang="en-US" altLang="zh-CN" sz="2400" dirty="0"/>
              <a:t>×</a:t>
            </a:r>
            <a:r>
              <a:rPr lang="en-US" altLang="zh-CN" sz="2400" dirty="0">
                <a:latin typeface="Times New Roman" panose="02020603050405020304" pitchFamily="18" charset="0"/>
              </a:rPr>
              <a:t>10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6</a:t>
            </a:r>
            <a:r>
              <a:rPr lang="en-US" altLang="zh-CN" sz="2400" dirty="0">
                <a:latin typeface="Times New Roman" panose="02020603050405020304" pitchFamily="18" charset="0"/>
              </a:rPr>
              <a:t>)=2%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363855" indent="-363855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	(3)</a:t>
            </a:r>
            <a:r>
              <a:rPr lang="zh-CN" altLang="en-US" sz="2400" dirty="0">
                <a:latin typeface="Times New Roman" panose="02020603050405020304" pitchFamily="18" charset="0"/>
              </a:rPr>
              <a:t>硬盘：</a:t>
            </a:r>
            <a:r>
              <a:rPr lang="zh-CN" altLang="zh-CN" sz="2400" dirty="0">
                <a:latin typeface="Times New Roman" panose="02020603050405020304" pitchFamily="18" charset="0"/>
              </a:rPr>
              <a:t>每秒钟</a:t>
            </a:r>
            <a:r>
              <a:rPr lang="zh-CN" altLang="en-US" sz="2400" dirty="0">
                <a:latin typeface="Times New Roman" panose="02020603050405020304" pitchFamily="18" charset="0"/>
              </a:rPr>
              <a:t>的硬盘</a:t>
            </a:r>
            <a:r>
              <a:rPr lang="zh-CN" altLang="en-US" sz="2400" dirty="0"/>
              <a:t>轮询</a:t>
            </a:r>
            <a:r>
              <a:rPr lang="zh-CN" altLang="en-US" sz="2400" dirty="0">
                <a:latin typeface="Times New Roman" panose="02020603050405020304" pitchFamily="18" charset="0"/>
              </a:rPr>
              <a:t>操作次数</a:t>
            </a:r>
            <a:r>
              <a:rPr lang="zh-CN" altLang="zh-CN" sz="2400" dirty="0">
                <a:latin typeface="Times New Roman" panose="02020603050405020304" pitchFamily="18" charset="0"/>
              </a:rPr>
              <a:t>为</a:t>
            </a:r>
            <a:r>
              <a:rPr lang="zh-CN" altLang="en-US" sz="2400" dirty="0"/>
              <a:t>：</a:t>
            </a:r>
            <a:r>
              <a:rPr lang="en-US" altLang="zh-CN" sz="2400" dirty="0">
                <a:latin typeface="Times New Roman" panose="02020603050405020304" pitchFamily="18" charset="0"/>
              </a:rPr>
              <a:t>4MB/16B=250K</a:t>
            </a:r>
            <a:r>
              <a:rPr lang="zh-CN" altLang="en-US" sz="2400" dirty="0">
                <a:latin typeface="Times New Roman" panose="02020603050405020304" pitchFamily="18" charset="0"/>
              </a:rPr>
              <a:t>次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marL="363855" indent="-363855">
              <a:lnSpc>
                <a:spcPct val="110000"/>
              </a:lnSpc>
              <a:spcBef>
                <a:spcPts val="60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	</a:t>
            </a:r>
            <a:r>
              <a:rPr lang="zh-CN" altLang="zh-CN" sz="2400" dirty="0">
                <a:latin typeface="Times New Roman" panose="02020603050405020304" pitchFamily="18" charset="0"/>
              </a:rPr>
              <a:t>每秒钟用于</a:t>
            </a:r>
            <a:r>
              <a:rPr lang="zh-CN" altLang="en-US" sz="2400" dirty="0"/>
              <a:t>轮询</a:t>
            </a:r>
            <a:r>
              <a:rPr lang="zh-CN" altLang="zh-CN" sz="2400" dirty="0">
                <a:latin typeface="Times New Roman" panose="02020603050405020304" pitchFamily="18" charset="0"/>
              </a:rPr>
              <a:t>的周期数为</a:t>
            </a:r>
            <a:r>
              <a:rPr lang="zh-CN" altLang="en-US" sz="2400" dirty="0">
                <a:latin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</a:rPr>
              <a:t>250K</a:t>
            </a:r>
            <a:r>
              <a:rPr lang="en-US" altLang="zh-CN" sz="2400" dirty="0"/>
              <a:t>×</a:t>
            </a:r>
            <a:r>
              <a:rPr lang="en-US" altLang="zh-CN" sz="2400" dirty="0">
                <a:latin typeface="Times New Roman" panose="02020603050405020304" pitchFamily="18" charset="0"/>
              </a:rPr>
              <a:t>400=100M</a:t>
            </a:r>
            <a:r>
              <a:rPr lang="zh-CN" altLang="en-US" sz="2400" dirty="0">
                <a:latin typeface="Times New Roman" panose="02020603050405020304" pitchFamily="18" charset="0"/>
              </a:rPr>
              <a:t>个周期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marL="363855" indent="-363855">
              <a:lnSpc>
                <a:spcPct val="110000"/>
              </a:lnSpc>
              <a:spcBef>
                <a:spcPts val="60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	一次传输中所消耗的处理器时间的百分比为：			</a:t>
            </a:r>
            <a:r>
              <a:rPr lang="en-US" altLang="zh-CN" sz="2400" dirty="0">
                <a:latin typeface="Times New Roman" panose="02020603050405020304" pitchFamily="18" charset="0"/>
              </a:rPr>
              <a:t>100</a:t>
            </a:r>
            <a:r>
              <a:rPr lang="en-US" altLang="zh-CN" sz="2400" dirty="0"/>
              <a:t>×</a:t>
            </a:r>
            <a:r>
              <a:rPr lang="en-US" altLang="zh-CN" sz="2400" dirty="0">
                <a:latin typeface="Times New Roman" panose="02020603050405020304" pitchFamily="18" charset="0"/>
              </a:rPr>
              <a:t>10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6</a:t>
            </a:r>
            <a:r>
              <a:rPr lang="en-US" altLang="zh-CN" sz="2400" dirty="0">
                <a:latin typeface="Times New Roman" panose="02020603050405020304" pitchFamily="18" charset="0"/>
              </a:rPr>
              <a:t>/(500</a:t>
            </a:r>
            <a:r>
              <a:rPr lang="en-US" altLang="zh-CN" sz="2400" dirty="0"/>
              <a:t>×</a:t>
            </a:r>
            <a:r>
              <a:rPr lang="en-US" altLang="zh-CN" sz="2400" dirty="0">
                <a:latin typeface="Times New Roman" panose="02020603050405020304" pitchFamily="18" charset="0"/>
              </a:rPr>
              <a:t>10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6</a:t>
            </a:r>
            <a:r>
              <a:rPr lang="en-US" altLang="zh-CN" sz="2400" dirty="0">
                <a:latin typeface="Times New Roman" panose="02020603050405020304" pitchFamily="18" charset="0"/>
              </a:rPr>
              <a:t>)=20%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>
                <a:latin typeface="Times New Roman" panose="02020603050405020304" pitchFamily="18" charset="0"/>
              </a:rPr>
              <a:t>关于中断问题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285750" y="1268413"/>
            <a:ext cx="8675688" cy="48244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58775" marR="0" lvl="0" indent="-358775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中断过程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17550" marR="0" lvl="1" indent="-26035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</a:rPr>
              <a:t>中断响应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(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硬件实现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17550" marR="0" lvl="1" indent="-26035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n-lt"/>
                <a:ea typeface="+mn-ea"/>
              </a:rPr>
              <a:t>中断处理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(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软件实现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)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358775" marR="0" lvl="0" indent="-358775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中断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响应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指主机检测出外部中断请求，中止现行程序的执行，到调出中断服务程序的这一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过程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711200" marR="0" lvl="1" indent="-25400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中断响应的条件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262380" marR="0" lvl="2" indent="-34798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Pct val="80000"/>
              <a:buFontTx/>
              <a:buAutoNum type="circleNumDbPlain"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处于开中断状态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262380" marR="0" lvl="2" indent="-34798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Pct val="80000"/>
              <a:buFontTx/>
              <a:buAutoNum type="circleNumDbPlain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在一条指令执行完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262380" marR="0" lvl="2" indent="-34798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Pct val="80000"/>
              <a:buFontTx/>
              <a:buAutoNum type="circleNumDbPlain" startAt="2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至少要有一个未被屏蔽的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中断请求</a:t>
            </a:r>
            <a:endParaRPr kumimoji="0" lang="en-US" altLang="zh-CN" sz="2200" b="1" i="0" u="none" strike="noStrike" kern="0" cap="none" spc="0" normalizeH="0" baseline="0" noProof="0" dirty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711200" marR="0" lvl="1" indent="-25400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执行中断隐指令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262380" marR="0" lvl="2" indent="-34798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tx2"/>
              </a:buClr>
              <a:buSzPct val="80000"/>
              <a:buFontTx/>
              <a:buAutoNum type="circleNumDbPlain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关中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断：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=&gt;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中断允许触发器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CIEN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262380" marR="0" lvl="2" indent="-34798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tx2"/>
              </a:buClr>
              <a:buSzPct val="80000"/>
              <a:buFontTx/>
              <a:buAutoNum type="circleNumDbPlain" startAt="2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保护断点和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程序状态：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PC=&gt;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堆栈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或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EPC)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 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PSW=&gt;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堆栈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262380" marR="0" lvl="2" indent="-34798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tx2"/>
              </a:buClr>
              <a:buSzPct val="80000"/>
              <a:buFontTx/>
              <a:buAutoNum type="circleNumDbPlain" startAt="3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识别中断源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071245" marR="0" lvl="2" indent="-25400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l"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>
                <a:latin typeface="Times New Roman" panose="02020603050405020304" pitchFamily="18" charset="0"/>
              </a:rPr>
              <a:t>关于中断问题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268413"/>
            <a:ext cx="8281988" cy="47529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58775" marR="0" lvl="0" indent="-358775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中断处理：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+mn-cs"/>
              </a:rPr>
              <a:t>是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+mn-cs"/>
              </a:rPr>
              <a:t>指执行相应中断服务程序的过程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+mn-ea"/>
              <a:cs typeface="+mn-cs"/>
            </a:endParaRPr>
          </a:p>
          <a:p>
            <a:pPr marL="625475" marR="0" lvl="1" indent="-26670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+mn-ea"/>
              </a:rPr>
              <a:t>典型的中断服务程序分为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+mn-ea"/>
              </a:rPr>
              <a:t>三个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+mn-ea"/>
              </a:rPr>
              <a:t>阶段：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+mn-ea"/>
            </a:endParaRPr>
          </a:p>
          <a:p>
            <a:pPr marL="984250" marR="0" lvl="2" indent="-26670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Pct val="80000"/>
              <a:buFont typeface="+mj-ea"/>
              <a:buAutoNum type="circleNumDbPlain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+mn-ea"/>
              </a:rPr>
              <a:t>中断准备阶段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+mn-ea"/>
            </a:endParaRPr>
          </a:p>
          <a:p>
            <a:pPr marL="1327150" marR="0" lvl="3" indent="-250825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</a:rPr>
              <a:t>保护现场及旧屏蔽字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/>
              <a:ea typeface="华文新魏" panose="02010800040101010101" pitchFamily="2" charset="-122"/>
            </a:endParaRPr>
          </a:p>
          <a:p>
            <a:pPr marL="1327150" marR="0" lvl="3" indent="-250825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</a:rPr>
              <a:t>查明中断原因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</a:rPr>
              <a:t>(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</a:rPr>
              <a:t>软件识别中断时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</a:rPr>
              <a:t>)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华文新魏" panose="02010800040101010101" pitchFamily="2" charset="-122"/>
            </a:endParaRPr>
          </a:p>
          <a:p>
            <a:pPr marL="1327150" marR="0" lvl="3" indent="-250825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</a:rPr>
              <a:t>设置新屏蔽字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</a:rPr>
              <a:t>(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</a:rPr>
              <a:t>用于修改中断处理优先级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</a:rPr>
              <a:t>)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华文新魏" panose="02010800040101010101" pitchFamily="2" charset="-122"/>
            </a:endParaRPr>
          </a:p>
          <a:p>
            <a:pPr marL="1327150" marR="0" lvl="3" indent="-250825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</a:rPr>
              <a:t>开中断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/>
              <a:ea typeface="华文新魏" panose="02010800040101010101" pitchFamily="2" charset="-122"/>
            </a:endParaRPr>
          </a:p>
          <a:p>
            <a:pPr marL="984250" marR="0" lvl="2" indent="-26670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+mj-ea"/>
              <a:buAutoNum type="circleNumDbPlain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+mn-ea"/>
              </a:rPr>
              <a:t>中断处理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+mn-ea"/>
              </a:rPr>
              <a:t>阶段：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不同中断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源所对应的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中断服务程序的处理不同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+mn-ea"/>
            </a:endParaRPr>
          </a:p>
          <a:p>
            <a:pPr marL="984250" marR="0" lvl="2" indent="-26670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Pct val="80000"/>
              <a:buFont typeface="+mj-ea"/>
              <a:buAutoNum type="circleNumDbPlain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/>
                <a:ea typeface="+mn-ea"/>
              </a:rPr>
              <a:t>中断恢复阶段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+mn-ea"/>
            </a:endParaRPr>
          </a:p>
          <a:p>
            <a:pPr marL="1327150" marR="0" lvl="3" indent="-250825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</a:rPr>
              <a:t>关中断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/>
              <a:ea typeface="华文新魏" panose="02010800040101010101" pitchFamily="2" charset="-122"/>
            </a:endParaRPr>
          </a:p>
          <a:p>
            <a:pPr marL="1327150" marR="0" lvl="3" indent="-250825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</a:rPr>
              <a:t>恢复现场及旧屏蔽字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/>
              <a:ea typeface="华文新魏" panose="02010800040101010101" pitchFamily="2" charset="-122"/>
            </a:endParaRPr>
          </a:p>
          <a:p>
            <a:pPr marL="1327150" marR="0" lvl="3" indent="-250825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</a:rPr>
              <a:t>清“中断请求”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/>
              <a:ea typeface="华文新魏" panose="02010800040101010101" pitchFamily="2" charset="-122"/>
            </a:endParaRPr>
          </a:p>
          <a:p>
            <a:pPr marL="1327150" marR="0" lvl="3" indent="-250825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</a:rPr>
              <a:t>开中断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/>
              <a:ea typeface="华文新魏" panose="02010800040101010101" pitchFamily="2" charset="-122"/>
            </a:endParaRPr>
          </a:p>
          <a:p>
            <a:pPr marL="1327150" marR="0" lvl="3" indent="-250825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/>
                <a:ea typeface="华文新魏" panose="02010800040101010101" pitchFamily="2" charset="-122"/>
              </a:rPr>
              <a:t>中断返回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/>
              <a:ea typeface="华文新魏" panose="02010800040101010101" pitchFamily="2" charset="-122"/>
            </a:endParaRPr>
          </a:p>
          <a:p>
            <a:pPr marL="1071245" marR="0" lvl="2" indent="-254000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l"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>
                <a:latin typeface="Times New Roman" panose="02020603050405020304" pitchFamily="18" charset="0"/>
              </a:rPr>
              <a:t>中断请求实例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268413"/>
            <a:ext cx="8066088" cy="48244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：计算机系统发生异常事件或外设完成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I/O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任务时，一般都通过中断方式请求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CPU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执行相应的中断服务程序来处理。在以下给出的情况中，哪些是可能的中断请求？ 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     )</a:t>
            </a: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	A.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键盘缓冲满 		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	B.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一个字符打印完</a:t>
            </a: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	C.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运算结果为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0 			D.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页面失效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(miss)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	E. TLB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失效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(miss) 		F.  Cache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失效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(miss)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	G.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访问内存超时 		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H.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地址越界</a:t>
            </a: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	I</a:t>
            </a:r>
            <a:r>
              <a:rPr kumimoji="0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.   DMA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传送结束 		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J. 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非法操作码</a:t>
            </a:r>
            <a:endParaRPr kumimoji="0" lang="zh-CN" altLang="en-US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	K. 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保护违例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zh-CN" altLang="en-US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内存访问类型不符</a:t>
            </a:r>
            <a:r>
              <a:rPr kumimoji="0" lang="en-US" altLang="zh-CN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 </a:t>
            </a:r>
            <a:endParaRPr kumimoji="0" lang="en-US" altLang="zh-CN" sz="2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>
                <a:latin typeface="Times New Roman" panose="02020603050405020304" pitchFamily="18" charset="0"/>
              </a:rPr>
              <a:t>中断优先级实例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268413"/>
            <a:ext cx="8064500" cy="26654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例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．假设某台机器有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4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级中断，其硬件排队优先次序为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1&gt;2&gt;3&gt;4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，中断处理优先次序为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3&gt;1&gt;2&gt;4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，要求：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16280" marR="0" lvl="0" indent="-35115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(1)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给出每级中断的中断屏蔽码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假设“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1”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表示屏蔽，“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0”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表示允许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716280" marR="0" lvl="0" indent="-35115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(2)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假设在执行主程序时，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4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级中断同时有请求，请画出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CPU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执行程序的轨迹。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7652" name="Rectangle 8"/>
          <p:cNvSpPr/>
          <p:nvPr/>
        </p:nvSpPr>
        <p:spPr>
          <a:xfrm>
            <a:off x="806450" y="3476625"/>
            <a:ext cx="4197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解：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1)</a:t>
            </a:r>
            <a:r>
              <a:rPr lang="zh-CN" altLang="en-US" sz="2400" dirty="0">
                <a:latin typeface="Times New Roman" panose="02020603050405020304" pitchFamily="18" charset="0"/>
              </a:rPr>
              <a:t>每级中断的中断屏蔽码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47149" name="Group 45"/>
          <p:cNvGraphicFramePr>
            <a:graphicFrameLocks noGrp="1"/>
          </p:cNvGraphicFramePr>
          <p:nvPr>
            <p:ph sz="half" idx="1"/>
          </p:nvPr>
        </p:nvGraphicFramePr>
        <p:xfrm>
          <a:off x="1835150" y="3933825"/>
          <a:ext cx="5905500" cy="2286000"/>
        </p:xfrm>
        <a:graphic>
          <a:graphicData uri="http://schemas.openxmlformats.org/drawingml/2006/table">
            <a:tbl>
              <a:tblPr/>
              <a:tblGrid>
                <a:gridCol w="2233613"/>
                <a:gridCol w="3671887"/>
              </a:tblGrid>
              <a:tr h="2889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中断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屏蔽字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(1~4)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1101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2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0101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3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1111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新魏" panose="0201080004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新魏" panose="02010800040101010101" pitchFamily="2" charset="-122"/>
                        </a:rPr>
                        <a:t>0001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新魏" panose="020108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>
                <a:latin typeface="Times New Roman" panose="02020603050405020304" pitchFamily="18" charset="0"/>
              </a:rPr>
              <a:t>中断优先级实例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8675" name="Rectangle 3"/>
          <p:cNvSpPr>
            <a:spLocks noGrp="1"/>
          </p:cNvSpPr>
          <p:nvPr>
            <p:ph idx="1"/>
          </p:nvPr>
        </p:nvSpPr>
        <p:spPr>
          <a:xfrm>
            <a:off x="609600" y="1268413"/>
            <a:ext cx="8066088" cy="5184775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(2)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8676" name="Rectangle 5"/>
          <p:cNvSpPr/>
          <p:nvPr/>
        </p:nvSpPr>
        <p:spPr>
          <a:xfrm>
            <a:off x="0" y="19526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endParaRPr lang="zh-CN" altLang="en-US" sz="2000" b="0" dirty="0">
              <a:ea typeface="宋体" panose="02010600030101010101" pitchFamily="2" charset="-122"/>
            </a:endParaRPr>
          </a:p>
        </p:txBody>
      </p:sp>
      <p:pic>
        <p:nvPicPr>
          <p:cNvPr id="28677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913" y="1341438"/>
            <a:ext cx="7127875" cy="48244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>
                <a:latin typeface="Times New Roman" panose="02020603050405020304" pitchFamily="18" charset="0"/>
              </a:rPr>
              <a:t>轮询方式和中断</a:t>
            </a:r>
            <a:r>
              <a:rPr lang="en-US" altLang="zh-CN" dirty="0"/>
              <a:t>I/O</a:t>
            </a:r>
            <a:r>
              <a:rPr lang="zh-CN" altLang="en-US" dirty="0">
                <a:latin typeface="Times New Roman" panose="02020603050405020304" pitchFamily="18" charset="0"/>
              </a:rPr>
              <a:t>实例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29699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163" y="1268413"/>
            <a:ext cx="8137525" cy="3889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>
          <a:xfrm>
            <a:off x="413385" y="1226820"/>
            <a:ext cx="8586470" cy="49879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4955" marR="0" lvl="0" indent="-274955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解：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(1)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I/O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设备传输一个字节需要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0.02ms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，相当于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20000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周期。若处理器采用轮询方式，则所需的周期数是：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4955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(20000</a:t>
            </a:r>
            <a:r>
              <a:rPr lang="en-US" altLang="zh-CN" sz="2400" noProof="0" dirty="0" smtClean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－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1000) = 19000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个周期，轮询次数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=19000/60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≈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317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次，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4955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用于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轮询</a:t>
            </a:r>
            <a:r>
              <a:rPr kumimoji="0" lang="zh-CN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的周期数为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317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×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60=19020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个周期。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4955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每次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CPU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传输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1B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需要的时间是：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19020+1000=20020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个周期，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4955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整个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I/O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操作所需时间是：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1000B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×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20020=20,020,000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个周期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4955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(2)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采用中断方式，每次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CPU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传输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1B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数据所花费的周期是：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200+1000=1200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个周期，整个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I/O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操作所需时间是：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1000B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×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12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00=1,200,000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个周期。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74955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而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20000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－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1200=18,800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个周期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CPU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用于执行其他任务，在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I/O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传输期间，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CPU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花在其它任务的时间是：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1000B</a:t>
            </a:r>
            <a:r>
              <a:rPr kumimoji="0" lang="en-US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×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18,800= 18,800,000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个周期。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0723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>
                <a:latin typeface="Times New Roman" panose="02020603050405020304" pitchFamily="18" charset="0"/>
              </a:rPr>
              <a:t>轮询方式和中断</a:t>
            </a:r>
            <a:r>
              <a:rPr lang="en-US" altLang="zh-CN" dirty="0"/>
              <a:t>I/O</a:t>
            </a:r>
            <a:r>
              <a:rPr lang="zh-CN" altLang="en-US" dirty="0">
                <a:latin typeface="Times New Roman" panose="02020603050405020304" pitchFamily="18" charset="0"/>
              </a:rPr>
              <a:t>实例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中断</a:t>
            </a:r>
            <a:r>
              <a:rPr lang="zh-CN" altLang="en-US" dirty="0">
                <a:latin typeface="Times New Roman" panose="02020603050405020304" pitchFamily="18" charset="0"/>
              </a:rPr>
              <a:t>实</a:t>
            </a:r>
            <a:r>
              <a:rPr lang="zh-CN" altLang="en-US" dirty="0"/>
              <a:t>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88" y="1126173"/>
            <a:ext cx="8643938" cy="52863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(2010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年考研题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单级中断系统中，中断服务程序执行顺序是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    )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保护现场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II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开中断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III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关中断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IV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保存断点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中断事件处理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VI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恢复现场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VII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中断返回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I-&gt;V-&gt;VI-&gt;II-&gt;VII      	 B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III-&gt;I-&gt;V-&gt;VII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III-&gt;IV-&gt;V-&gt;VI-&gt;VII     D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IV-&gt;I-&gt;V-&gt;VI-&gt;VII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多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级中断系统中，中断服务程序的执行顺序是</a:t>
            </a:r>
            <a:r>
              <a:rPr lang="en-US" altLang="zh-CN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     )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保护现场和旧屏蔽字</a:t>
            </a:r>
            <a:r>
              <a:rPr lang="en-US" altLang="zh-CN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II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开中断</a:t>
            </a:r>
            <a:r>
              <a:rPr lang="en-US" altLang="zh-CN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III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设置新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屏蔽字</a:t>
            </a:r>
            <a:r>
              <a:rPr lang="en-US" altLang="zh-CN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endParaRPr lang="en-US" altLang="zh-CN" sz="2400" noProof="0" dirty="0" smtClean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IV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保存断点</a:t>
            </a:r>
            <a:r>
              <a:rPr lang="en-US" altLang="zh-CN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中断事件处理</a:t>
            </a:r>
            <a:r>
              <a:rPr 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VI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恢复现场和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旧屏蔽字</a:t>
            </a:r>
            <a:r>
              <a:rPr 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endParaRPr lang="en-US" sz="2400" noProof="0" dirty="0" smtClean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VII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关中断</a:t>
            </a:r>
            <a:r>
              <a:rPr lang="en-US" altLang="zh-CN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Ⅷ中断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返回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I-&gt;</a:t>
            </a:r>
            <a:r>
              <a:rPr 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III-&gt;II</a:t>
            </a:r>
            <a:r>
              <a:rPr 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-&gt;V-&gt;VII</a:t>
            </a:r>
            <a:r>
              <a:rPr 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-&gt;VI-&gt;II-&gt;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Ⅷ</a:t>
            </a:r>
            <a:endParaRPr lang="zh-CN" altLang="en-US" sz="2400" noProof="0" dirty="0" smtClean="0">
              <a:ln>
                <a:noFill/>
              </a:ln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I-&gt;III-&gt;II-&gt;V-&gt;VII-&gt;VI-&gt;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Ⅷ</a:t>
            </a:r>
            <a:endParaRPr lang="zh-CN" altLang="en-US" sz="2400" noProof="0" dirty="0" smtClean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IV-&gt;I-&gt;III-&gt;II-&gt;V-&gt;VII-&gt;VI-&gt;II-&gt;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Ⅷ</a:t>
            </a:r>
            <a:r>
              <a:rPr 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endParaRPr lang="en-US" sz="2400" noProof="0" dirty="0" smtClean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、</a:t>
            </a:r>
            <a:r>
              <a:rPr 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IV-&gt;I</a:t>
            </a:r>
            <a:r>
              <a:rPr 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-&gt;III</a:t>
            </a:r>
            <a:r>
              <a:rPr 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-&gt;V-&gt;VI-&gt;II</a:t>
            </a:r>
            <a:r>
              <a:rPr 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-&gt;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Ⅷ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中断</a:t>
            </a:r>
            <a:r>
              <a:rPr lang="zh-CN" altLang="en-US" dirty="0">
                <a:latin typeface="Times New Roman" panose="02020603050405020304" pitchFamily="18" charset="0"/>
              </a:rPr>
              <a:t>实</a:t>
            </a:r>
            <a:r>
              <a:rPr lang="zh-CN" altLang="en-US" dirty="0"/>
              <a:t>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88" y="1197928"/>
            <a:ext cx="8643938" cy="52863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(2011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年考研题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某计算机有五级中断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～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，中断屏蔽字为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kumimoji="0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kumimoji="0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kumimoji="0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kumimoji="0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kumimoji="0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kumimoji="0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=1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≤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≤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表示对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级中断进行屏蔽。若中断响应优先级从高到低的顺序是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kumimoji="0" lang="zh-CN" altLang="en-US" sz="24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，且要求中断处理优先级从高到低的顺序是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zh-CN" altLang="en-US" sz="24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→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，则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</a:t>
            </a:r>
            <a:r>
              <a:rPr kumimoji="0" lang="en-US" altLang="zh-CN" sz="2400" b="1" i="0" u="none" strike="noStrike" kern="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中断处理程序中设置的中断屏蔽字是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    )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11110     	B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01101     	C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00011     	D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01010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(2020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年考研题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外部中断含不可屏蔽中断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(NMI)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和可屏蔽中断。下列关于外部中断的叙述中，错误的是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    )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A. CPU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处于关中断状态时，也能响应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NMI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请求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B.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一旦可屏蔽中断请求信号有效，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将立即响应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C.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不可屏蔽中断的优先级比可屏蔽中断的优先级高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D.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可通过中断屏蔽字改变可屏蔽中断的处理优先级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sz="24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(2015</a:t>
            </a:r>
            <a:r>
              <a:rPr lang="zh-CN" altLang="en-US" sz="24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年考研题</a:t>
            </a:r>
            <a:r>
              <a:rPr lang="en-US" altLang="zh-CN" sz="24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采用中断</a:t>
            </a:r>
            <a:r>
              <a:rPr lang="en-US" altLang="zh-CN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方式控制打印输出的情况下，</a:t>
            </a:r>
            <a:r>
              <a:rPr lang="en-US" altLang="zh-CN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CPU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和打印控制接口中的</a:t>
            </a:r>
            <a:r>
              <a:rPr lang="en-US" altLang="zh-CN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I/O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端口之间交换的信息，不可能的是</a:t>
            </a:r>
            <a:r>
              <a:rPr lang="en-US" altLang="zh-CN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     )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．打印字符</a:t>
            </a:r>
            <a:r>
              <a:rPr lang="en-US" altLang="zh-CN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    B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．主存地址     </a:t>
            </a:r>
            <a:r>
              <a:rPr lang="en-US" altLang="zh-CN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．设备状态    </a:t>
            </a:r>
            <a:r>
              <a:rPr lang="en-US" altLang="zh-CN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</a:t>
            </a:r>
            <a:r>
              <a:rPr lang="zh-CN" altLang="en-US" sz="2400" noProof="0" dirty="0" smtClean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．控制命令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2"/>
          <p:cNvSpPr>
            <a:spLocks noGrp="1"/>
          </p:cNvSpPr>
          <p:nvPr>
            <p:ph type="title"/>
          </p:nvPr>
        </p:nvSpPr>
        <p:spPr>
          <a:xfrm>
            <a:off x="684213" y="231775"/>
            <a:ext cx="7021512" cy="676275"/>
          </a:xfrm>
        </p:spPr>
        <p:txBody>
          <a:bodyPr vert="horz" wrap="square" lIns="91440" tIns="45720" rIns="91440" bIns="45720" anchor="b" anchorCtr="0"/>
          <a:p>
            <a:r>
              <a:rPr lang="en-US" altLang="zh-CN" dirty="0"/>
              <a:t>DMA</a:t>
            </a:r>
            <a:r>
              <a:rPr lang="zh-CN" altLang="en-US" dirty="0"/>
              <a:t>方式和中断</a:t>
            </a:r>
            <a:r>
              <a:rPr lang="en-US" altLang="zh-CN" dirty="0"/>
              <a:t>I/O</a:t>
            </a:r>
            <a:r>
              <a:rPr lang="zh-CN" altLang="en-US" dirty="0">
                <a:latin typeface="Times New Roman" panose="02020603050405020304" pitchFamily="18" charset="0"/>
              </a:rPr>
              <a:t>实例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196975"/>
            <a:ext cx="8280400" cy="51847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例：若某计算机系统的处理器时钟频率为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2GHz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，所配磁盘驱动器中有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4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个磁头，每个盘面有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5000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个磁道，每个磁道有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1000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个扇区，每个扇区的数据容量是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512B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，磁盘转速为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6000RPM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，平均寻道时间为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5ms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。假定在一个相当长的时间内磁盘一直在进行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I/O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操作，并采用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DMA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方式进行，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DMA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传送的平均长度为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8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个扇区，每次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DMA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传送时处理器为初始化和后处理共花费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1000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个时钟周期。请问：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33400" marR="0" lvl="0" indent="-351155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(1)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该磁盘驱动器的容量约为多少？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单位用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GB)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33400" marR="0" lvl="0" indent="-351155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(2)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该磁盘驱动器的平均存取时间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是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多少？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不考虑数据传输时间，单位用</a:t>
            </a:r>
            <a:r>
              <a:rPr kumimoji="0" lang="en-US" altLang="zh-CN" sz="24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ms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33400" marR="0" lvl="0" indent="-351155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(3)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处理器用于磁盘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I/O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的时间占整个处理器时间的百分比是多少？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33400" marR="0" lvl="0" indent="-351155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(4)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如果有人提出采用中断方式进行磁盘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I/O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，磁盘每准备好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64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位数据申请一次中断，每次磁盘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I/O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中断处理器所花费时间约为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500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个时钟周期。你认为这种做法行的通吗？通过计算证明你的结论。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285750" y="1196975"/>
            <a:ext cx="8607425" cy="50403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63855" marR="0" lvl="0" indent="-363855" algn="just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解：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(1) 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容量为：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4×5000×1000×512B = 10240×10</a:t>
            </a:r>
            <a:r>
              <a:rPr kumimoji="0" lang="en-US" altLang="zh-CN" sz="22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 ≈ 10GB</a:t>
            </a:r>
            <a:endParaRPr kumimoji="0" lang="en-US" altLang="zh-CN" sz="2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63855" marR="0" lvl="0" indent="0" algn="just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(2)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平均存取时间为：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5ms +(60×1000/6000×2) = 10ms  </a:t>
            </a:r>
            <a:endParaRPr kumimoji="0" lang="en-US" altLang="zh-CN" sz="2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63855" marR="0" lvl="0" indent="0" algn="just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(3) DMA 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方式：  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63855" marR="0" lvl="0" indent="0" algn="just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数据传输率为：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1000×512B×6000/60 = 512×10</a:t>
            </a:r>
            <a:r>
              <a:rPr kumimoji="0" lang="en-US" altLang="zh-CN" sz="22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Bps ≈ 51.2MBps</a:t>
            </a:r>
            <a:endParaRPr kumimoji="0" lang="en-US" altLang="zh-CN" sz="2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63855" marR="0" lvl="0" indent="0" algn="just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每次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DMA 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传送将花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8×512B/(512×10</a:t>
            </a:r>
            <a:r>
              <a:rPr kumimoji="0" lang="en-US" altLang="zh-CN" sz="22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Bps)=8×10</a:t>
            </a:r>
            <a:r>
              <a:rPr kumimoji="0" lang="en-US" altLang="zh-CN" sz="22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-5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秒，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63855" marR="0" lvl="0" indent="0" algn="just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一秒钟内有：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1/(8×10</a:t>
            </a:r>
            <a:r>
              <a:rPr kumimoji="0" lang="en-US" altLang="zh-CN" sz="22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-5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)=12500 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次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DMA 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传送；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63855" marR="0" lvl="0" indent="0" algn="just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如果磁盘一直在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传送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数据的话，处理器必须每秒钟花费：</a:t>
            </a:r>
            <a:endParaRPr kumimoji="0" lang="en-US" altLang="zh-CN" sz="2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63855" marR="0" lvl="0" indent="0" algn="just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1000×12500=1.25×10</a:t>
            </a:r>
            <a:r>
              <a:rPr kumimoji="0" lang="en-US" altLang="zh-CN" sz="22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个时钟周期为磁盘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 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操作服务；在磁盘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 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操作上，处理器花费的时间占：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1.25×10</a:t>
            </a:r>
            <a:r>
              <a:rPr kumimoji="0" lang="en-US" altLang="zh-CN" sz="22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/2×10</a:t>
            </a:r>
            <a:r>
              <a:rPr kumimoji="0" lang="en-US" altLang="zh-CN" sz="22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9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=0.625%</a:t>
            </a:r>
            <a:endParaRPr kumimoji="0" lang="en-US" altLang="zh-CN" sz="2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63855" marR="0" lvl="0" indent="0" algn="just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(4) 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中断方式：  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63855" marR="0" lvl="0" indent="0" algn="just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磁盘准备好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64 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位数据所花时间为：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8B/(512×10</a:t>
            </a:r>
            <a:r>
              <a:rPr kumimoji="0" lang="en-US" altLang="zh-CN" sz="22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Bps)=2</a:t>
            </a:r>
            <a:r>
              <a:rPr kumimoji="0" lang="en-US" altLang="zh-CN" sz="22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-6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×10</a:t>
            </a:r>
            <a:r>
              <a:rPr kumimoji="0" lang="en-US" altLang="zh-CN" sz="22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-5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秒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63855" marR="0" lvl="0" indent="0" algn="just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所以，每隔 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en-US" altLang="zh-CN" sz="22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-6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×10</a:t>
            </a:r>
            <a:r>
              <a:rPr kumimoji="0" lang="en-US" altLang="zh-CN" sz="22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-5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秒就要进行一次中断，</a:t>
            </a:r>
            <a:endParaRPr kumimoji="0" lang="en-US" altLang="zh-CN" sz="2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63855" marR="0" lvl="0" indent="0" algn="just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一秒钟内有：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1/(2</a:t>
            </a:r>
            <a:r>
              <a:rPr kumimoji="0" lang="en-US" altLang="zh-CN" sz="22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-6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×10</a:t>
            </a:r>
            <a:r>
              <a:rPr kumimoji="0" lang="en-US" altLang="zh-CN" sz="22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-5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)= 64×10</a:t>
            </a:r>
            <a:r>
              <a:rPr kumimoji="0" lang="en-US" altLang="zh-CN" sz="22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次中断；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63855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如果磁盘一直在传送数据的话，处理器必须每秒钟花费： 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500×64×10</a:t>
            </a:r>
            <a:r>
              <a:rPr kumimoji="0" lang="en-US" altLang="zh-CN" sz="22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=3.2×10</a:t>
            </a:r>
            <a:r>
              <a:rPr kumimoji="0" lang="en-US" altLang="zh-CN" sz="22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9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个时钟周期为磁盘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 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操作服务；而处理器的主频为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2GHz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，也就是说，处理器整个都为磁盘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 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中断服务都来不及处理。所以，采用中断方式处理磁盘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 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是行不通的。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4819" name="Rectangle 4"/>
          <p:cNvSpPr>
            <a:spLocks noGrp="1"/>
          </p:cNvSpPr>
          <p:nvPr>
            <p:ph type="title"/>
          </p:nvPr>
        </p:nvSpPr>
        <p:spPr>
          <a:xfrm>
            <a:off x="719138" y="188913"/>
            <a:ext cx="7021512" cy="676275"/>
          </a:xfrm>
        </p:spPr>
        <p:txBody>
          <a:bodyPr vert="horz" wrap="square" lIns="91440" tIns="45720" rIns="91440" bIns="45720" anchor="b" anchorCtr="0"/>
          <a:p>
            <a:r>
              <a:rPr lang="en-US" altLang="zh-CN" dirty="0"/>
              <a:t>DMA</a:t>
            </a:r>
            <a:r>
              <a:rPr lang="zh-CN" altLang="en-US" dirty="0"/>
              <a:t>方式和中断</a:t>
            </a:r>
            <a:r>
              <a:rPr lang="en-US" altLang="zh-CN" dirty="0"/>
              <a:t>I/O</a:t>
            </a:r>
            <a:r>
              <a:rPr lang="zh-CN" altLang="en-US" dirty="0">
                <a:latin typeface="Times New Roman" panose="02020603050405020304" pitchFamily="18" charset="0"/>
              </a:rPr>
              <a:t>实例</a:t>
            </a:r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I/O</a:t>
            </a:r>
            <a:r>
              <a:rPr lang="zh-CN" altLang="en-US" dirty="0"/>
              <a:t>和</a:t>
            </a:r>
            <a:r>
              <a:rPr lang="en-US" altLang="zh-CN" dirty="0"/>
              <a:t>DMA</a:t>
            </a:r>
            <a:r>
              <a:rPr lang="zh-CN" altLang="en-US" dirty="0">
                <a:latin typeface="Times New Roman" panose="02020603050405020304" pitchFamily="18" charset="0"/>
              </a:rPr>
              <a:t>实</a:t>
            </a:r>
            <a:r>
              <a:rPr lang="zh-CN" altLang="en-US" dirty="0"/>
              <a:t>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341438"/>
            <a:ext cx="8424863" cy="47720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(2013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年考研题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下列关于中断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方式和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DMA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方式比较的叙述中，错误的是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    ) 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63855" marR="0" lvl="0" indent="-363855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A. 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方式请求的是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处理时间，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DMA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方式请求的是总线使用权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63855" marR="0" lvl="0" indent="-363855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B. 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中断响应发生在一条指令执行结束后，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DMA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响应发生在一个总线事务完成后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63855" marR="0" lvl="0" indent="-363855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C. 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方式下数据传送通过软件完成，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DMA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方式下数据传送由硬件完成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63855" marR="0" lvl="0" indent="-363855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D. 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方式适用于所有外部设备，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DMA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方式仅适用于快速外部设备</a:t>
            </a:r>
            <a:endParaRPr kumimoji="0" lang="en-US" altLang="zh-CN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(2011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年考研题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某处理器主频为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50MHz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，采用定时查询方式控制设备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，查询程序运行一次所用的时钟周期至少为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500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。在设备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工作期间，为保证数据不丢失，每秒需对其查询至少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200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次，则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用于设备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时间占整个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时间的百分比至少是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   )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0.02%     	B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0.05%     	C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0.20%     	D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0.50%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63855" marR="0" lvl="0" indent="-363855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5844" name="Line 63"/>
          <p:cNvSpPr/>
          <p:nvPr/>
        </p:nvSpPr>
        <p:spPr>
          <a:xfrm>
            <a:off x="2798763" y="3427413"/>
            <a:ext cx="511175" cy="158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1285875"/>
            <a:ext cx="8175625" cy="47720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(2009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年考研题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某计算机的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主频为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500MHz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CPI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即执行每条指令平均需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个时钟周期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。假定某外设的数据传输率为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0.5MB/s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，采用中断方式与主机进行数据传送，以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32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位为传输单位，对应的中断服务程序包含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18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条指令，中断服务的其他开销相当于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条指令的执行时间。请回答下列问题，要求给出计算过程。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2255" marR="0" lvl="0" indent="-26225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在中断方式下，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用于该外设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的时间占整个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时间的百分比是多少？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2255" marR="0" lvl="0" indent="-26225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当该外设的数据传输率达到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5MB/s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时，改用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DMA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方式传送数据。假设每次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DMA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传送大小为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5000B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，且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DMA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预处理和后处理的总开销为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500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个时钟周期，则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用于该外设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的时间占整个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时间的百分比是多少？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假设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DMA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与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之间没有访存冲突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7891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defTabSz="914400">
              <a:tabLst>
                <a:tab pos="87630" algn="l"/>
              </a:tabLst>
            </a:pPr>
            <a:r>
              <a:rPr lang="en-US" altLang="zh-CN" dirty="0"/>
              <a:t>I/O</a:t>
            </a:r>
            <a:r>
              <a:rPr lang="zh-CN" altLang="en-US" dirty="0">
                <a:latin typeface="Times New Roman" panose="02020603050405020304" pitchFamily="18" charset="0"/>
              </a:rPr>
              <a:t>控制方式实例</a:t>
            </a: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63" y="1300163"/>
            <a:ext cx="8358188" cy="47720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63855" marR="0" lvl="0" indent="-36385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外设要求每次中断以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32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位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(4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字节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进行传送，为了保证外设没有任何数据传输被错过，数据传送应达到每秒：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0.5MB/4B=12500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次的中断速度。每次中断处理的时钟周期数为：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5×(18+2)=100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。每秒钟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用于中断处理的周期数为：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12500×100=1.25×10</a:t>
            </a:r>
            <a:r>
              <a:rPr kumimoji="0" lang="en-US" altLang="zh-CN" sz="2400" b="1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。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63855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在外设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操作上，所消耗的处理器时间的百分比为：	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1.25×10</a:t>
            </a:r>
            <a:r>
              <a:rPr kumimoji="0" lang="en-US" altLang="zh-CN" sz="2400" b="1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/(500×10</a:t>
            </a:r>
            <a:r>
              <a:rPr kumimoji="0" lang="en-US" altLang="zh-CN" sz="2400" b="1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)=2.5%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63855" marR="0" lvl="0" indent="-363855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ea"/>
              <a:buAutoNum type="circleNumDbPlain" startAt="2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每个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DMA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传送将花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5000B/(5MB/s)=1</a:t>
            </a:r>
            <a:r>
              <a:rPr kumimoji="0" lang="en-US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×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</a:t>
            </a:r>
            <a:r>
              <a:rPr kumimoji="0" lang="en-US" altLang="zh-CN" sz="2400" b="1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-3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秒，一秒钟内有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1/(1</a:t>
            </a:r>
            <a:r>
              <a:rPr kumimoji="0" lang="en-US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×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</a:t>
            </a:r>
            <a:r>
              <a:rPr kumimoji="0" lang="en-US" altLang="zh-CN" sz="2400" b="1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-3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)=1000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次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DMA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传送。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63855" marR="0" lvl="1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如果外设一直在传送数据的话，则处理器必须每秒钟花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500</a:t>
            </a:r>
            <a:r>
              <a:rPr kumimoji="0" lang="en-US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×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1000=5</a:t>
            </a:r>
            <a:r>
              <a:rPr kumimoji="0" lang="en-US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×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</a:t>
            </a:r>
            <a:r>
              <a:rPr kumimoji="0" lang="en-US" altLang="zh-CN" sz="2400" b="1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个时钟周期为外设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服务，在外设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操作上，处理器花费的时间占：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63855" marR="0" lvl="0" indent="-36385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kumimoji="0" lang="en-US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×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</a:t>
            </a:r>
            <a:r>
              <a:rPr kumimoji="0" lang="en-US" altLang="zh-CN" sz="2400" b="1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/500</a:t>
            </a:r>
            <a:r>
              <a:rPr kumimoji="0" lang="en-US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×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</a:t>
            </a:r>
            <a:r>
              <a:rPr kumimoji="0" lang="en-US" altLang="zh-CN" sz="2400" b="1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=1</a:t>
            </a:r>
            <a:r>
              <a:rPr kumimoji="0" lang="en-US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×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</a:t>
            </a:r>
            <a:r>
              <a:rPr kumimoji="0" lang="en-US" altLang="zh-CN" sz="2400" b="1" i="0" u="none" strike="noStrike" kern="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-3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=0.1%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891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I/O</a:t>
            </a:r>
            <a:r>
              <a:rPr lang="zh-CN" altLang="en-US" dirty="0">
                <a:latin typeface="Times New Roman" panose="02020603050405020304" pitchFamily="18" charset="0"/>
              </a:rPr>
              <a:t>控制方式实例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90" end="2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190" end="2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49" end="3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charRg st="249" end="3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23" end="3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charRg st="323" end="3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Text Box 2"/>
          <p:cNvSpPr txBox="1"/>
          <p:nvPr/>
        </p:nvSpPr>
        <p:spPr>
          <a:xfrm>
            <a:off x="652463" y="217488"/>
            <a:ext cx="1831975" cy="64611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endParaRPr lang="en-US" altLang="zh-CN" dirty="0">
              <a:solidFill>
                <a:srgbClr val="006699"/>
              </a:solidFill>
              <a:ea typeface="幼圆" panose="02010509060101010101" pitchFamily="49" charset="-122"/>
            </a:endParaRPr>
          </a:p>
        </p:txBody>
      </p:sp>
      <p:sp>
        <p:nvSpPr>
          <p:cNvPr id="75" name="标题 1"/>
          <p:cNvSpPr txBox="1"/>
          <p:nvPr/>
        </p:nvSpPr>
        <p:spPr>
          <a:xfrm>
            <a:off x="574675" y="231775"/>
            <a:ext cx="7021513" cy="676275"/>
          </a:xfrm>
          <a:prstGeom prst="rect">
            <a:avLst/>
          </a:prstGeom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+mj-cs"/>
              </a:rPr>
              <a:t>四、关于</a:t>
            </a:r>
            <a:r>
              <a:rPr kumimoji="0" lang="en-US" altLang="zh-CN" sz="4000" b="1" kern="120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I/O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+mj-cs"/>
              </a:rPr>
              <a:t>端口译码设计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7" name="Text Box 4"/>
          <p:cNvSpPr txBox="1">
            <a:spLocks noChangeArrowheads="1"/>
          </p:cNvSpPr>
          <p:nvPr/>
        </p:nvSpPr>
        <p:spPr bwMode="auto">
          <a:xfrm>
            <a:off x="500063" y="1268413"/>
            <a:ext cx="8247063" cy="51323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358775" marR="0" indent="-358775" defTabSz="914400" eaLnBrk="1" hangingPunct="1">
              <a:spcBef>
                <a:spcPts val="300"/>
              </a:spcBef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28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8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端口</a:t>
            </a:r>
            <a:endParaRPr kumimoji="0" lang="en-US" altLang="zh-CN" sz="2800" b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24205" marR="0" lvl="1" indent="-26543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是供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直接存取访问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接口中的</a:t>
            </a:r>
            <a:r>
              <a:rPr kumimoji="0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寄存器或电路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接口中的命令口、状态口和数据口均为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端口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24205" marR="0" lvl="1" indent="-26543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端口地址：是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对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接口中的不同寄存器或电路的编号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，该编号加上该接口的基地址称为该端口的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端口地址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24205" marR="0" lvl="1" indent="-26543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通过向命令端口发命令对设备进行控制。访问设备实际上是访问相关的端口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24205" marR="0" lvl="1" indent="-26543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命令、接口与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端口关系：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一个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接口中有多个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端口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一个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端口可接受多种命令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，对应多个寄存器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624205" marR="0" lvl="1" indent="-265430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编址方式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L="987425" marR="0" lvl="2" indent="-276225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u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统一编址：存储器和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统一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编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址，采用统一指令访问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987425" marR="0" lvl="2" indent="-276225" algn="l" defTabSz="9144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u"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独立编址：存储器和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I/O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各自编址，采用专门的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I/O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指令访问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I/O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rPr>
              <a:t>端口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Text Box 71"/>
          <p:cNvSpPr txBox="1"/>
          <p:nvPr/>
        </p:nvSpPr>
        <p:spPr>
          <a:xfrm>
            <a:off x="5357813" y="2178050"/>
            <a:ext cx="1947862" cy="38084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ts val="300"/>
              </a:spcBef>
              <a:buFontTx/>
              <a:buNone/>
            </a:pP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  00~1FH</a:t>
            </a:r>
            <a:endParaRPr lang="en-US" altLang="zh-CN" sz="28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ts val="300"/>
              </a:spcBef>
              <a:buFontTx/>
              <a:buNone/>
            </a:pP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  40~5FH</a:t>
            </a:r>
            <a:endParaRPr lang="en-US" altLang="zh-CN" sz="28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ts val="300"/>
              </a:spcBef>
              <a:buFontTx/>
              <a:buNone/>
            </a:pPr>
            <a:r>
              <a:rPr lang="en-US" altLang="zh-CN" sz="2800" dirty="0">
                <a:latin typeface="Calibri" panose="020F0502020204030204" pitchFamily="34" charset="0"/>
                <a:ea typeface="宋体" panose="02010600030101010101" pitchFamily="2" charset="-122"/>
              </a:rPr>
              <a:t>  80~9FH</a:t>
            </a:r>
            <a:endParaRPr lang="en-US" altLang="zh-CN" sz="28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ts val="300"/>
              </a:spcBef>
              <a:buFontTx/>
              <a:buNone/>
            </a:pPr>
            <a:r>
              <a:rPr lang="en-US" altLang="zh-CN" sz="2800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______</a:t>
            </a:r>
            <a:r>
              <a:rPr lang="en-US" altLang="zh-CN" sz="2800" dirty="0">
                <a:solidFill>
                  <a:srgbClr val="FF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__</a:t>
            </a:r>
            <a:r>
              <a:rPr lang="en-US" altLang="zh-CN" sz="2800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    </a:t>
            </a:r>
            <a:endParaRPr lang="en-US" altLang="zh-CN" sz="280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ts val="300"/>
              </a:spcBef>
              <a:buFontTx/>
              <a:buNone/>
            </a:pPr>
            <a:r>
              <a:rPr lang="en-US" altLang="zh-CN" sz="2800" dirty="0">
                <a:solidFill>
                  <a:srgbClr val="FF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100~11FH</a:t>
            </a:r>
            <a:endParaRPr lang="en-US" altLang="zh-CN" sz="2800" dirty="0">
              <a:solidFill>
                <a:srgbClr val="FF33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ts val="300"/>
              </a:spcBef>
              <a:buFontTx/>
              <a:buNone/>
            </a:pPr>
            <a:r>
              <a:rPr lang="en-US" altLang="zh-CN" sz="2800" dirty="0">
                <a:solidFill>
                  <a:srgbClr val="FF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________</a:t>
            </a:r>
            <a:endParaRPr lang="en-US" altLang="zh-CN" sz="2800" dirty="0">
              <a:solidFill>
                <a:srgbClr val="FF33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ts val="300"/>
              </a:spcBef>
              <a:buFontTx/>
              <a:buNone/>
            </a:pPr>
            <a:r>
              <a:rPr lang="en-US" altLang="zh-CN" sz="2800" dirty="0">
                <a:solidFill>
                  <a:srgbClr val="FF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________</a:t>
            </a:r>
            <a:endParaRPr lang="en-US" altLang="zh-CN" sz="2800" dirty="0">
              <a:solidFill>
                <a:srgbClr val="FF33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lvl="0" indent="0" eaLnBrk="1" hangingPunct="1">
              <a:spcBef>
                <a:spcPts val="300"/>
              </a:spcBef>
              <a:buFontTx/>
              <a:buNone/>
            </a:pPr>
            <a:r>
              <a:rPr lang="en-US" altLang="zh-CN" sz="2800" dirty="0">
                <a:solidFill>
                  <a:srgbClr val="FF330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________</a:t>
            </a:r>
            <a:endParaRPr lang="en-US" altLang="zh-CN" sz="2800" dirty="0">
              <a:solidFill>
                <a:srgbClr val="FF3300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41987" name="Text Box 2"/>
          <p:cNvSpPr txBox="1"/>
          <p:nvPr/>
        </p:nvSpPr>
        <p:spPr>
          <a:xfrm>
            <a:off x="652463" y="217488"/>
            <a:ext cx="1831975" cy="64611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endParaRPr lang="en-US" altLang="zh-CN" dirty="0">
              <a:solidFill>
                <a:srgbClr val="006699"/>
              </a:solidFill>
              <a:ea typeface="幼圆" panose="02010509060101010101" pitchFamily="49" charset="-122"/>
            </a:endParaRPr>
          </a:p>
        </p:txBody>
      </p:sp>
      <p:sp>
        <p:nvSpPr>
          <p:cNvPr id="41988" name="Rectangle 3"/>
          <p:cNvSpPr/>
          <p:nvPr/>
        </p:nvSpPr>
        <p:spPr>
          <a:xfrm>
            <a:off x="2709863" y="2268538"/>
            <a:ext cx="2019300" cy="3919537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41989" name="Line 4"/>
          <p:cNvSpPr/>
          <p:nvPr/>
        </p:nvSpPr>
        <p:spPr>
          <a:xfrm>
            <a:off x="2198688" y="2624138"/>
            <a:ext cx="511175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90" name="Line 5"/>
          <p:cNvSpPr/>
          <p:nvPr/>
        </p:nvSpPr>
        <p:spPr>
          <a:xfrm>
            <a:off x="2198688" y="3100388"/>
            <a:ext cx="511175" cy="158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91" name="Line 6"/>
          <p:cNvSpPr/>
          <p:nvPr/>
        </p:nvSpPr>
        <p:spPr>
          <a:xfrm>
            <a:off x="2198688" y="3575050"/>
            <a:ext cx="511175" cy="158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1992" name="Group 7"/>
          <p:cNvGrpSpPr/>
          <p:nvPr/>
        </p:nvGrpSpPr>
        <p:grpSpPr>
          <a:xfrm>
            <a:off x="4729163" y="2505075"/>
            <a:ext cx="539750" cy="119063"/>
            <a:chOff x="3216" y="2688"/>
            <a:chExt cx="253" cy="48"/>
          </a:xfrm>
        </p:grpSpPr>
        <p:sp>
          <p:nvSpPr>
            <p:cNvPr id="42058" name="Oval 8"/>
            <p:cNvSpPr/>
            <p:nvPr/>
          </p:nvSpPr>
          <p:spPr>
            <a:xfrm>
              <a:off x="3216" y="2688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42059" name="Line 9"/>
            <p:cNvSpPr/>
            <p:nvPr/>
          </p:nvSpPr>
          <p:spPr>
            <a:xfrm>
              <a:off x="3277" y="2714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1993" name="Group 10"/>
          <p:cNvGrpSpPr/>
          <p:nvPr/>
        </p:nvGrpSpPr>
        <p:grpSpPr>
          <a:xfrm>
            <a:off x="4729163" y="2981325"/>
            <a:ext cx="539750" cy="119063"/>
            <a:chOff x="3216" y="2688"/>
            <a:chExt cx="253" cy="48"/>
          </a:xfrm>
        </p:grpSpPr>
        <p:sp>
          <p:nvSpPr>
            <p:cNvPr id="42056" name="Oval 11"/>
            <p:cNvSpPr/>
            <p:nvPr/>
          </p:nvSpPr>
          <p:spPr>
            <a:xfrm>
              <a:off x="3216" y="2688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42057" name="Line 12"/>
            <p:cNvSpPr/>
            <p:nvPr/>
          </p:nvSpPr>
          <p:spPr>
            <a:xfrm>
              <a:off x="3277" y="2714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1994" name="Group 13"/>
          <p:cNvGrpSpPr/>
          <p:nvPr/>
        </p:nvGrpSpPr>
        <p:grpSpPr>
          <a:xfrm>
            <a:off x="4729163" y="3455988"/>
            <a:ext cx="539750" cy="119062"/>
            <a:chOff x="3216" y="2688"/>
            <a:chExt cx="253" cy="48"/>
          </a:xfrm>
        </p:grpSpPr>
        <p:sp>
          <p:nvSpPr>
            <p:cNvPr id="42054" name="Oval 14"/>
            <p:cNvSpPr/>
            <p:nvPr/>
          </p:nvSpPr>
          <p:spPr>
            <a:xfrm>
              <a:off x="3216" y="2688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42055" name="Line 15"/>
            <p:cNvSpPr/>
            <p:nvPr/>
          </p:nvSpPr>
          <p:spPr>
            <a:xfrm>
              <a:off x="3277" y="2714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1995" name="Group 16"/>
          <p:cNvGrpSpPr/>
          <p:nvPr/>
        </p:nvGrpSpPr>
        <p:grpSpPr>
          <a:xfrm>
            <a:off x="4729163" y="3930650"/>
            <a:ext cx="539750" cy="119063"/>
            <a:chOff x="3216" y="2688"/>
            <a:chExt cx="253" cy="48"/>
          </a:xfrm>
        </p:grpSpPr>
        <p:sp>
          <p:nvSpPr>
            <p:cNvPr id="42052" name="Oval 17"/>
            <p:cNvSpPr/>
            <p:nvPr/>
          </p:nvSpPr>
          <p:spPr>
            <a:xfrm>
              <a:off x="3216" y="2688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42053" name="Line 18"/>
            <p:cNvSpPr/>
            <p:nvPr/>
          </p:nvSpPr>
          <p:spPr>
            <a:xfrm>
              <a:off x="3277" y="2714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1996" name="Group 19"/>
          <p:cNvGrpSpPr/>
          <p:nvPr/>
        </p:nvGrpSpPr>
        <p:grpSpPr>
          <a:xfrm>
            <a:off x="4729163" y="4406900"/>
            <a:ext cx="539750" cy="117475"/>
            <a:chOff x="3216" y="2688"/>
            <a:chExt cx="253" cy="48"/>
          </a:xfrm>
        </p:grpSpPr>
        <p:sp>
          <p:nvSpPr>
            <p:cNvPr id="42050" name="Oval 20"/>
            <p:cNvSpPr/>
            <p:nvPr/>
          </p:nvSpPr>
          <p:spPr>
            <a:xfrm>
              <a:off x="3216" y="2688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42051" name="Line 21"/>
            <p:cNvSpPr/>
            <p:nvPr/>
          </p:nvSpPr>
          <p:spPr>
            <a:xfrm>
              <a:off x="3277" y="2714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1997" name="Group 22"/>
          <p:cNvGrpSpPr/>
          <p:nvPr/>
        </p:nvGrpSpPr>
        <p:grpSpPr>
          <a:xfrm>
            <a:off x="4729163" y="4881563"/>
            <a:ext cx="539750" cy="119062"/>
            <a:chOff x="3216" y="2688"/>
            <a:chExt cx="253" cy="48"/>
          </a:xfrm>
        </p:grpSpPr>
        <p:sp>
          <p:nvSpPr>
            <p:cNvPr id="42048" name="Oval 23"/>
            <p:cNvSpPr/>
            <p:nvPr/>
          </p:nvSpPr>
          <p:spPr>
            <a:xfrm>
              <a:off x="3216" y="2688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42049" name="Line 24"/>
            <p:cNvSpPr/>
            <p:nvPr/>
          </p:nvSpPr>
          <p:spPr>
            <a:xfrm>
              <a:off x="3277" y="2714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1998" name="Group 25"/>
          <p:cNvGrpSpPr/>
          <p:nvPr/>
        </p:nvGrpSpPr>
        <p:grpSpPr>
          <a:xfrm>
            <a:off x="4729163" y="5356225"/>
            <a:ext cx="539750" cy="119063"/>
            <a:chOff x="3216" y="2688"/>
            <a:chExt cx="253" cy="48"/>
          </a:xfrm>
        </p:grpSpPr>
        <p:sp>
          <p:nvSpPr>
            <p:cNvPr id="42046" name="Oval 26"/>
            <p:cNvSpPr/>
            <p:nvPr/>
          </p:nvSpPr>
          <p:spPr>
            <a:xfrm>
              <a:off x="3216" y="2688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42047" name="Line 27"/>
            <p:cNvSpPr/>
            <p:nvPr/>
          </p:nvSpPr>
          <p:spPr>
            <a:xfrm>
              <a:off x="3277" y="2714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1999" name="Group 28"/>
          <p:cNvGrpSpPr/>
          <p:nvPr/>
        </p:nvGrpSpPr>
        <p:grpSpPr>
          <a:xfrm>
            <a:off x="4729163" y="5832475"/>
            <a:ext cx="539750" cy="117475"/>
            <a:chOff x="3216" y="2688"/>
            <a:chExt cx="253" cy="48"/>
          </a:xfrm>
        </p:grpSpPr>
        <p:sp>
          <p:nvSpPr>
            <p:cNvPr id="42044" name="Oval 29"/>
            <p:cNvSpPr/>
            <p:nvPr/>
          </p:nvSpPr>
          <p:spPr>
            <a:xfrm>
              <a:off x="3216" y="2688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42045" name="Line 30"/>
            <p:cNvSpPr/>
            <p:nvPr/>
          </p:nvSpPr>
          <p:spPr>
            <a:xfrm>
              <a:off x="3277" y="2714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2000" name="Text Box 31"/>
          <p:cNvSpPr txBox="1"/>
          <p:nvPr/>
        </p:nvSpPr>
        <p:spPr>
          <a:xfrm>
            <a:off x="4217988" y="2249488"/>
            <a:ext cx="423862" cy="369887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Y</a:t>
            </a:r>
            <a:r>
              <a:rPr lang="en-US" altLang="zh-CN" sz="2000" baseline="-18000" dirty="0">
                <a:ea typeface="宋体" panose="02010600030101010101" pitchFamily="2" charset="-122"/>
              </a:rPr>
              <a:t>0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42001" name="Text Box 32"/>
          <p:cNvSpPr txBox="1"/>
          <p:nvPr/>
        </p:nvSpPr>
        <p:spPr>
          <a:xfrm>
            <a:off x="4217988" y="5602288"/>
            <a:ext cx="423862" cy="369887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Y</a:t>
            </a:r>
            <a:r>
              <a:rPr lang="en-US" altLang="zh-CN" sz="2000" baseline="-18000" dirty="0">
                <a:ea typeface="宋体" panose="02010600030101010101" pitchFamily="2" charset="-122"/>
              </a:rPr>
              <a:t>7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42002" name="Text Box 33"/>
          <p:cNvSpPr txBox="1"/>
          <p:nvPr/>
        </p:nvSpPr>
        <p:spPr>
          <a:xfrm>
            <a:off x="2813050" y="2325688"/>
            <a:ext cx="352425" cy="369887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A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42003" name="Text Box 34"/>
          <p:cNvSpPr txBox="1"/>
          <p:nvPr/>
        </p:nvSpPr>
        <p:spPr>
          <a:xfrm>
            <a:off x="2813050" y="2859088"/>
            <a:ext cx="352425" cy="369887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B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42004" name="Text Box 35"/>
          <p:cNvSpPr txBox="1"/>
          <p:nvPr/>
        </p:nvSpPr>
        <p:spPr>
          <a:xfrm>
            <a:off x="2794000" y="3316288"/>
            <a:ext cx="352425" cy="369887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C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grpSp>
        <p:nvGrpSpPr>
          <p:cNvPr id="42005" name="Group 36"/>
          <p:cNvGrpSpPr/>
          <p:nvPr/>
        </p:nvGrpSpPr>
        <p:grpSpPr>
          <a:xfrm>
            <a:off x="2198688" y="4406900"/>
            <a:ext cx="511175" cy="117475"/>
            <a:chOff x="2928" y="3168"/>
            <a:chExt cx="240" cy="48"/>
          </a:xfrm>
        </p:grpSpPr>
        <p:sp>
          <p:nvSpPr>
            <p:cNvPr id="42042" name="Oval 37"/>
            <p:cNvSpPr/>
            <p:nvPr/>
          </p:nvSpPr>
          <p:spPr>
            <a:xfrm>
              <a:off x="3120" y="3168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42043" name="Line 38"/>
            <p:cNvSpPr/>
            <p:nvPr/>
          </p:nvSpPr>
          <p:spPr>
            <a:xfrm flipH="1">
              <a:off x="2928" y="3190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2006" name="Group 39"/>
          <p:cNvGrpSpPr/>
          <p:nvPr/>
        </p:nvGrpSpPr>
        <p:grpSpPr>
          <a:xfrm>
            <a:off x="2198688" y="4881563"/>
            <a:ext cx="511175" cy="119062"/>
            <a:chOff x="2928" y="3168"/>
            <a:chExt cx="240" cy="48"/>
          </a:xfrm>
        </p:grpSpPr>
        <p:sp>
          <p:nvSpPr>
            <p:cNvPr id="42040" name="Oval 40"/>
            <p:cNvSpPr/>
            <p:nvPr/>
          </p:nvSpPr>
          <p:spPr>
            <a:xfrm>
              <a:off x="3120" y="3168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42041" name="Line 41"/>
            <p:cNvSpPr/>
            <p:nvPr/>
          </p:nvSpPr>
          <p:spPr>
            <a:xfrm flipH="1">
              <a:off x="2928" y="3190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2007" name="Group 42"/>
          <p:cNvGrpSpPr/>
          <p:nvPr/>
        </p:nvGrpSpPr>
        <p:grpSpPr>
          <a:xfrm>
            <a:off x="2709863" y="4141788"/>
            <a:ext cx="558800" cy="368300"/>
            <a:chOff x="3633" y="3696"/>
            <a:chExt cx="262" cy="149"/>
          </a:xfrm>
        </p:grpSpPr>
        <p:sp>
          <p:nvSpPr>
            <p:cNvPr id="42038" name="Text Box 43"/>
            <p:cNvSpPr txBox="1"/>
            <p:nvPr/>
          </p:nvSpPr>
          <p:spPr>
            <a:xfrm>
              <a:off x="3633" y="3696"/>
              <a:ext cx="262" cy="14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G</a:t>
              </a:r>
              <a:r>
                <a:rPr lang="en-US" altLang="zh-CN" sz="2000" baseline="-18000" dirty="0">
                  <a:ea typeface="宋体" panose="02010600030101010101" pitchFamily="2" charset="-122"/>
                </a:rPr>
                <a:t>2</a:t>
              </a:r>
              <a:r>
                <a:rPr lang="en-US" altLang="zh-CN" sz="2000" baseline="-20000" dirty="0">
                  <a:ea typeface="宋体" panose="02010600030101010101" pitchFamily="2" charset="-122"/>
                </a:rPr>
                <a:t>B</a:t>
              </a:r>
              <a:endParaRPr lang="en-US" altLang="zh-CN" sz="2000" baseline="-20000" dirty="0">
                <a:ea typeface="宋体" panose="02010600030101010101" pitchFamily="2" charset="-122"/>
              </a:endParaRPr>
            </a:p>
          </p:txBody>
        </p:sp>
        <p:sp>
          <p:nvSpPr>
            <p:cNvPr id="42039" name="Line 44"/>
            <p:cNvSpPr/>
            <p:nvPr/>
          </p:nvSpPr>
          <p:spPr>
            <a:xfrm>
              <a:off x="3696" y="3744"/>
              <a:ext cx="192" cy="0"/>
            </a:xfrm>
            <a:prstGeom prst="line">
              <a:avLst/>
            </a:prstGeom>
            <a:ln w="28575">
              <a:noFill/>
            </a:ln>
          </p:spPr>
        </p:sp>
      </p:grpSp>
      <p:grpSp>
        <p:nvGrpSpPr>
          <p:cNvPr id="42008" name="Group 45"/>
          <p:cNvGrpSpPr/>
          <p:nvPr/>
        </p:nvGrpSpPr>
        <p:grpSpPr>
          <a:xfrm>
            <a:off x="2709863" y="4616450"/>
            <a:ext cx="560387" cy="368300"/>
            <a:chOff x="3633" y="3696"/>
            <a:chExt cx="262" cy="149"/>
          </a:xfrm>
        </p:grpSpPr>
        <p:sp>
          <p:nvSpPr>
            <p:cNvPr id="42036" name="Text Box 46"/>
            <p:cNvSpPr txBox="1"/>
            <p:nvPr/>
          </p:nvSpPr>
          <p:spPr>
            <a:xfrm>
              <a:off x="3633" y="3696"/>
              <a:ext cx="262" cy="14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G</a:t>
              </a:r>
              <a:r>
                <a:rPr lang="en-US" altLang="zh-CN" sz="2000" baseline="-18000" dirty="0">
                  <a:ea typeface="宋体" panose="02010600030101010101" pitchFamily="2" charset="-122"/>
                </a:rPr>
                <a:t>2</a:t>
              </a:r>
              <a:r>
                <a:rPr lang="en-US" altLang="zh-CN" sz="2000" baseline="-20000" dirty="0">
                  <a:ea typeface="宋体" panose="02010600030101010101" pitchFamily="2" charset="-122"/>
                </a:rPr>
                <a:t>A</a:t>
              </a:r>
              <a:endParaRPr lang="en-US" altLang="zh-CN" sz="2000" baseline="-20000" dirty="0">
                <a:ea typeface="宋体" panose="02010600030101010101" pitchFamily="2" charset="-122"/>
              </a:endParaRPr>
            </a:p>
          </p:txBody>
        </p:sp>
        <p:sp>
          <p:nvSpPr>
            <p:cNvPr id="42037" name="Line 47"/>
            <p:cNvSpPr/>
            <p:nvPr/>
          </p:nvSpPr>
          <p:spPr>
            <a:xfrm>
              <a:off x="3696" y="3744"/>
              <a:ext cx="192" cy="0"/>
            </a:xfrm>
            <a:prstGeom prst="line">
              <a:avLst/>
            </a:prstGeom>
            <a:ln w="28575">
              <a:noFill/>
            </a:ln>
          </p:spPr>
        </p:sp>
      </p:grpSp>
      <p:sp>
        <p:nvSpPr>
          <p:cNvPr id="42009" name="Text Box 48"/>
          <p:cNvSpPr txBox="1"/>
          <p:nvPr/>
        </p:nvSpPr>
        <p:spPr>
          <a:xfrm>
            <a:off x="2787650" y="5022850"/>
            <a:ext cx="449263" cy="369888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G</a:t>
            </a:r>
            <a:r>
              <a:rPr lang="en-US" altLang="zh-CN" sz="2000" baseline="-20000" dirty="0">
                <a:ea typeface="宋体" panose="02010600030101010101" pitchFamily="2" charset="-122"/>
              </a:rPr>
              <a:t>1</a:t>
            </a:r>
            <a:endParaRPr lang="en-US" altLang="zh-CN" sz="2000" baseline="-20000" dirty="0">
              <a:ea typeface="宋体" panose="02010600030101010101" pitchFamily="2" charset="-122"/>
            </a:endParaRPr>
          </a:p>
        </p:txBody>
      </p:sp>
      <p:sp>
        <p:nvSpPr>
          <p:cNvPr id="42010" name="Line 49"/>
          <p:cNvSpPr/>
          <p:nvPr/>
        </p:nvSpPr>
        <p:spPr>
          <a:xfrm>
            <a:off x="2198688" y="5356225"/>
            <a:ext cx="511175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2011" name="Text Box 50"/>
          <p:cNvSpPr txBox="1"/>
          <p:nvPr/>
        </p:nvSpPr>
        <p:spPr>
          <a:xfrm>
            <a:off x="4756150" y="2027238"/>
            <a:ext cx="441325" cy="369887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15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42012" name="Text Box 51"/>
          <p:cNvSpPr txBox="1"/>
          <p:nvPr/>
        </p:nvSpPr>
        <p:spPr>
          <a:xfrm>
            <a:off x="4756150" y="2501900"/>
            <a:ext cx="441325" cy="369888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14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42013" name="Text Box 52"/>
          <p:cNvSpPr txBox="1"/>
          <p:nvPr/>
        </p:nvSpPr>
        <p:spPr>
          <a:xfrm>
            <a:off x="4756150" y="2978150"/>
            <a:ext cx="441325" cy="369888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13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42014" name="Text Box 53"/>
          <p:cNvSpPr txBox="1"/>
          <p:nvPr/>
        </p:nvSpPr>
        <p:spPr>
          <a:xfrm>
            <a:off x="4756150" y="3452813"/>
            <a:ext cx="441325" cy="369887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12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42015" name="Text Box 54"/>
          <p:cNvSpPr txBox="1"/>
          <p:nvPr/>
        </p:nvSpPr>
        <p:spPr>
          <a:xfrm>
            <a:off x="4756150" y="3927475"/>
            <a:ext cx="428625" cy="369888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11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42016" name="Text Box 55"/>
          <p:cNvSpPr txBox="1"/>
          <p:nvPr/>
        </p:nvSpPr>
        <p:spPr>
          <a:xfrm>
            <a:off x="4756150" y="4402138"/>
            <a:ext cx="441325" cy="369887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10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42017" name="Text Box 56"/>
          <p:cNvSpPr txBox="1"/>
          <p:nvPr/>
        </p:nvSpPr>
        <p:spPr>
          <a:xfrm>
            <a:off x="4859338" y="4878388"/>
            <a:ext cx="312737" cy="369887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9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42018" name="Text Box 57"/>
          <p:cNvSpPr txBox="1"/>
          <p:nvPr/>
        </p:nvSpPr>
        <p:spPr>
          <a:xfrm>
            <a:off x="4859338" y="5353050"/>
            <a:ext cx="312737" cy="369888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7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42019" name="Text Box 58"/>
          <p:cNvSpPr txBox="1"/>
          <p:nvPr/>
        </p:nvSpPr>
        <p:spPr>
          <a:xfrm>
            <a:off x="2227263" y="2146300"/>
            <a:ext cx="312737" cy="369888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1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42020" name="Text Box 59"/>
          <p:cNvSpPr txBox="1"/>
          <p:nvPr/>
        </p:nvSpPr>
        <p:spPr>
          <a:xfrm>
            <a:off x="2227263" y="2620963"/>
            <a:ext cx="312737" cy="369887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2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42021" name="Text Box 60"/>
          <p:cNvSpPr txBox="1"/>
          <p:nvPr/>
        </p:nvSpPr>
        <p:spPr>
          <a:xfrm>
            <a:off x="2227263" y="3095625"/>
            <a:ext cx="312737" cy="369888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3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42022" name="Text Box 61"/>
          <p:cNvSpPr txBox="1"/>
          <p:nvPr/>
        </p:nvSpPr>
        <p:spPr>
          <a:xfrm>
            <a:off x="2227263" y="4586288"/>
            <a:ext cx="312737" cy="369887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4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42023" name="Text Box 62"/>
          <p:cNvSpPr txBox="1"/>
          <p:nvPr/>
        </p:nvSpPr>
        <p:spPr>
          <a:xfrm>
            <a:off x="2227263" y="4086225"/>
            <a:ext cx="312737" cy="369888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5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42024" name="Text Box 63"/>
          <p:cNvSpPr txBox="1"/>
          <p:nvPr/>
        </p:nvSpPr>
        <p:spPr>
          <a:xfrm>
            <a:off x="2227263" y="5014913"/>
            <a:ext cx="312737" cy="369887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6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42025" name="Text Box 64"/>
          <p:cNvSpPr txBox="1"/>
          <p:nvPr/>
        </p:nvSpPr>
        <p:spPr>
          <a:xfrm>
            <a:off x="3059113" y="3616325"/>
            <a:ext cx="1435100" cy="46196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CC"/>
                </a:solidFill>
                <a:ea typeface="宋体" panose="02010600030101010101" pitchFamily="2" charset="-122"/>
              </a:rPr>
              <a:t>74LS138</a:t>
            </a:r>
            <a:endParaRPr lang="en-US" altLang="zh-CN" sz="2400" baseline="-18000" dirty="0">
              <a:solidFill>
                <a:srgbClr val="0000CC"/>
              </a:solidFill>
              <a:ea typeface="宋体" panose="02010600030101010101" pitchFamily="2" charset="-122"/>
            </a:endParaRPr>
          </a:p>
        </p:txBody>
      </p:sp>
      <p:sp>
        <p:nvSpPr>
          <p:cNvPr id="42026" name="Text Box 65"/>
          <p:cNvSpPr txBox="1"/>
          <p:nvPr/>
        </p:nvSpPr>
        <p:spPr>
          <a:xfrm>
            <a:off x="1550988" y="2227263"/>
            <a:ext cx="639762" cy="58420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3300"/>
                </a:solidFill>
                <a:ea typeface="宋体" panose="02010600030101010101" pitchFamily="2" charset="-122"/>
              </a:rPr>
              <a:t>__</a:t>
            </a:r>
            <a:endParaRPr lang="en-US" altLang="zh-CN" baseline="-20000" dirty="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42027" name="Text Box 66"/>
          <p:cNvSpPr txBox="1"/>
          <p:nvPr/>
        </p:nvSpPr>
        <p:spPr>
          <a:xfrm>
            <a:off x="1584325" y="2684463"/>
            <a:ext cx="639763" cy="58420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3300"/>
                </a:solidFill>
                <a:ea typeface="宋体" panose="02010600030101010101" pitchFamily="2" charset="-122"/>
              </a:rPr>
              <a:t>__</a:t>
            </a:r>
            <a:endParaRPr lang="en-US" altLang="zh-CN" baseline="-20000" dirty="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42028" name="Text Box 67"/>
          <p:cNvSpPr txBox="1"/>
          <p:nvPr/>
        </p:nvSpPr>
        <p:spPr>
          <a:xfrm>
            <a:off x="1584325" y="3173413"/>
            <a:ext cx="639763" cy="58420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3300"/>
                </a:solidFill>
                <a:ea typeface="宋体" panose="02010600030101010101" pitchFamily="2" charset="-122"/>
              </a:rPr>
              <a:t>__</a:t>
            </a:r>
            <a:endParaRPr lang="en-US" altLang="zh-CN" baseline="-20000" dirty="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42029" name="Text Box 68"/>
          <p:cNvSpPr txBox="1"/>
          <p:nvPr/>
        </p:nvSpPr>
        <p:spPr>
          <a:xfrm>
            <a:off x="1584325" y="4056063"/>
            <a:ext cx="639763" cy="58420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3300"/>
                </a:solidFill>
                <a:ea typeface="宋体" panose="02010600030101010101" pitchFamily="2" charset="-122"/>
              </a:rPr>
              <a:t>__</a:t>
            </a:r>
            <a:endParaRPr lang="en-US" altLang="zh-CN" baseline="-20000" dirty="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42030" name="Text Box 69"/>
          <p:cNvSpPr txBox="1"/>
          <p:nvPr/>
        </p:nvSpPr>
        <p:spPr>
          <a:xfrm>
            <a:off x="1584325" y="4513263"/>
            <a:ext cx="639763" cy="58420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3300"/>
                </a:solidFill>
                <a:ea typeface="宋体" panose="02010600030101010101" pitchFamily="2" charset="-122"/>
              </a:rPr>
              <a:t>__</a:t>
            </a:r>
            <a:endParaRPr lang="en-US" altLang="zh-CN" baseline="-20000" dirty="0">
              <a:solidFill>
                <a:srgbClr val="FF3300"/>
              </a:solidFill>
              <a:ea typeface="宋体" panose="02010600030101010101" pitchFamily="2" charset="-122"/>
            </a:endParaRPr>
          </a:p>
        </p:txBody>
      </p:sp>
      <p:sp>
        <p:nvSpPr>
          <p:cNvPr id="42031" name="Text Box 70"/>
          <p:cNvSpPr txBox="1"/>
          <p:nvPr/>
        </p:nvSpPr>
        <p:spPr>
          <a:xfrm>
            <a:off x="1316038" y="5137150"/>
            <a:ext cx="800100" cy="369888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AEN#</a:t>
            </a:r>
            <a:endParaRPr lang="en-US" altLang="zh-CN" sz="2000" baseline="-20000" dirty="0">
              <a:ea typeface="宋体" panose="02010600030101010101" pitchFamily="2" charset="-122"/>
            </a:endParaRPr>
          </a:p>
        </p:txBody>
      </p:sp>
      <p:sp>
        <p:nvSpPr>
          <p:cNvPr id="31792" name="Text Box 72"/>
          <p:cNvSpPr txBox="1">
            <a:spLocks noChangeArrowheads="1"/>
          </p:cNvSpPr>
          <p:nvPr/>
        </p:nvSpPr>
        <p:spPr bwMode="auto">
          <a:xfrm>
            <a:off x="500063" y="1497013"/>
            <a:ext cx="8501063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：已知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9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~A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共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</a:t>
            </a: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根线参与地址译码，请完成填空。</a:t>
            </a:r>
            <a:endParaRPr kumimoji="0" lang="zh-CN" altLang="en-US" sz="2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2033" name="Line 73"/>
          <p:cNvSpPr/>
          <p:nvPr/>
        </p:nvSpPr>
        <p:spPr>
          <a:xfrm>
            <a:off x="2817813" y="4168775"/>
            <a:ext cx="471487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2034" name="Line 74"/>
          <p:cNvSpPr/>
          <p:nvPr/>
        </p:nvSpPr>
        <p:spPr>
          <a:xfrm>
            <a:off x="2789238" y="4654550"/>
            <a:ext cx="471487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5" name="标题 1"/>
          <p:cNvSpPr txBox="1"/>
          <p:nvPr/>
        </p:nvSpPr>
        <p:spPr>
          <a:xfrm>
            <a:off x="574675" y="231775"/>
            <a:ext cx="7021513" cy="676275"/>
          </a:xfrm>
          <a:prstGeom prst="rect">
            <a:avLst/>
          </a:prstGeom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120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I/O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+mj-cs"/>
              </a:rPr>
              <a:t>端口译码设计实例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3"/>
          <p:cNvGrpSpPr/>
          <p:nvPr/>
        </p:nvGrpSpPr>
        <p:grpSpPr>
          <a:xfrm>
            <a:off x="1774825" y="3100388"/>
            <a:ext cx="582613" cy="2614612"/>
            <a:chOff x="633" y="817"/>
            <a:chExt cx="367" cy="1774"/>
          </a:xfrm>
        </p:grpSpPr>
        <p:sp>
          <p:nvSpPr>
            <p:cNvPr id="451588" name="Text Box 4"/>
            <p:cNvSpPr txBox="1">
              <a:spLocks noChangeArrowheads="1"/>
            </p:cNvSpPr>
            <p:nvPr/>
          </p:nvSpPr>
          <p:spPr bwMode="auto">
            <a:xfrm>
              <a:off x="633" y="817"/>
              <a:ext cx="346" cy="33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0" lang="en-US" altLang="zh-CN" sz="2600" b="1" kern="1200" cap="none" spc="0" normalizeH="0" baseline="0" noProof="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2600" b="1" kern="1200" cap="none" spc="0" normalizeH="0" baseline="-20000" noProof="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6</a:t>
              </a:r>
              <a:endParaRPr kumimoji="0" lang="en-US" altLang="zh-CN" sz="2600" b="1" kern="1200" cap="none" spc="0" normalizeH="0" baseline="-20000" noProof="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589" name="Text Box 5"/>
            <p:cNvSpPr txBox="1">
              <a:spLocks noChangeArrowheads="1"/>
            </p:cNvSpPr>
            <p:nvPr/>
          </p:nvSpPr>
          <p:spPr bwMode="auto">
            <a:xfrm>
              <a:off x="654" y="1105"/>
              <a:ext cx="346" cy="33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0" lang="en-US" altLang="zh-CN" sz="2600" b="1" kern="1200" cap="none" spc="0" normalizeH="0" baseline="0" noProof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2600" b="1" kern="1200" cap="none" spc="0" normalizeH="0" baseline="-20000" noProof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7</a:t>
              </a:r>
              <a:endParaRPr kumimoji="0" lang="en-US" altLang="zh-CN" sz="2600" b="1" kern="1200" cap="none" spc="0" normalizeH="0" baseline="-20000" noProof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590" name="Text Box 6"/>
            <p:cNvSpPr txBox="1">
              <a:spLocks noChangeArrowheads="1"/>
            </p:cNvSpPr>
            <p:nvPr/>
          </p:nvSpPr>
          <p:spPr bwMode="auto">
            <a:xfrm>
              <a:off x="654" y="1413"/>
              <a:ext cx="346" cy="33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0" lang="en-US" altLang="zh-CN" sz="2600" b="1" kern="1200" cap="none" spc="0" normalizeH="0" baseline="0" noProof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2600" b="1" kern="1200" cap="none" spc="0" normalizeH="0" baseline="-20000" noProof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8</a:t>
              </a:r>
              <a:endParaRPr kumimoji="0" lang="en-US" altLang="zh-CN" sz="2600" b="1" kern="1200" cap="none" spc="0" normalizeH="0" baseline="-20000" noProof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591" name="Text Box 7"/>
            <p:cNvSpPr txBox="1">
              <a:spLocks noChangeArrowheads="1"/>
            </p:cNvSpPr>
            <p:nvPr/>
          </p:nvSpPr>
          <p:spPr bwMode="auto">
            <a:xfrm>
              <a:off x="654" y="1970"/>
              <a:ext cx="346" cy="33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0" lang="en-US" altLang="zh-CN" sz="2600" b="1" kern="1200" cap="none" spc="0" normalizeH="0" baseline="0" noProof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2600" b="1" kern="1200" cap="none" spc="0" normalizeH="0" baseline="-20000" noProof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5</a:t>
              </a:r>
              <a:endParaRPr kumimoji="0" lang="en-US" altLang="zh-CN" sz="2600" b="1" kern="1200" cap="none" spc="0" normalizeH="0" baseline="-20000" noProof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592" name="Text Box 8"/>
            <p:cNvSpPr txBox="1">
              <a:spLocks noChangeArrowheads="1"/>
            </p:cNvSpPr>
            <p:nvPr/>
          </p:nvSpPr>
          <p:spPr bwMode="auto">
            <a:xfrm>
              <a:off x="654" y="2257"/>
              <a:ext cx="346" cy="33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0" lang="en-US" altLang="zh-CN" sz="2600" b="1" kern="1200" cap="none" spc="0" normalizeH="0" baseline="0" noProof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2600" b="1" kern="1200" cap="none" spc="0" normalizeH="0" baseline="-20000" noProof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9</a:t>
              </a:r>
              <a:endParaRPr kumimoji="0" lang="en-US" altLang="zh-CN" sz="2600" b="1" kern="1200" cap="none" spc="0" normalizeH="0" baseline="-20000" noProof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4035" name="Line 73"/>
          <p:cNvSpPr/>
          <p:nvPr/>
        </p:nvSpPr>
        <p:spPr>
          <a:xfrm>
            <a:off x="1381125" y="5726113"/>
            <a:ext cx="544513" cy="14287"/>
          </a:xfrm>
          <a:prstGeom prst="line">
            <a:avLst/>
          </a:prstGeom>
          <a:ln w="28575" cap="flat" cmpd="sng">
            <a:solidFill>
              <a:srgbClr val="F0F8FE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1658" name="Text Box 74"/>
          <p:cNvSpPr txBox="1">
            <a:spLocks noChangeArrowheads="1"/>
          </p:cNvSpPr>
          <p:nvPr/>
        </p:nvSpPr>
        <p:spPr bwMode="auto">
          <a:xfrm>
            <a:off x="5430838" y="3052763"/>
            <a:ext cx="2381250" cy="35623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kumimoji="0" lang="en-US" altLang="zh-CN" sz="2600" b="1" kern="1200" cap="none" spc="0" normalizeH="0" baseline="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6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00~1FH</a:t>
            </a:r>
            <a:endParaRPr kumimoji="0" lang="en-US" altLang="zh-CN" sz="2600" b="1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kumimoji="0" lang="en-US" altLang="zh-CN" sz="26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40~5FH</a:t>
            </a:r>
            <a:endParaRPr kumimoji="0" lang="en-US" altLang="zh-CN" sz="2600" b="1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kumimoji="0" lang="en-US" altLang="zh-CN" sz="26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80~9FH</a:t>
            </a:r>
            <a:endParaRPr kumimoji="0" lang="en-US" altLang="zh-CN" sz="2600" b="1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ts val="300"/>
              </a:spcBef>
              <a:buClrTx/>
              <a:buSzTx/>
              <a:buFontTx/>
              <a:buNone/>
              <a:defRPr/>
            </a:pPr>
            <a:endParaRPr kumimoji="0" lang="en-US" altLang="zh-CN" sz="2600" b="1" kern="1200" cap="none" spc="0" normalizeH="0" baseline="0" noProof="0" dirty="0">
              <a:solidFill>
                <a:srgbClr val="FF3300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kumimoji="0" lang="en-US" altLang="zh-CN" sz="2600" b="1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100~11FH</a:t>
            </a:r>
            <a:endParaRPr kumimoji="0" lang="en-US" altLang="zh-CN" sz="2600" b="1" kern="1200" cap="none" spc="0" normalizeH="0" baseline="0" noProof="0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ts val="300"/>
              </a:spcBef>
              <a:buClrTx/>
              <a:buSzTx/>
              <a:buFontTx/>
              <a:buNone/>
              <a:defRPr/>
            </a:pPr>
            <a:endParaRPr kumimoji="0" lang="en-US" altLang="zh-CN" sz="2600" b="1" kern="1200" cap="none" spc="0" normalizeH="0" baseline="0" noProof="0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ts val="300"/>
              </a:spcBef>
              <a:buClrTx/>
              <a:buSzTx/>
              <a:buFontTx/>
              <a:buNone/>
              <a:defRPr/>
            </a:pPr>
            <a:endParaRPr kumimoji="0" lang="en-US" altLang="zh-CN" sz="2600" b="1" kern="1200" cap="none" spc="0" normalizeH="0" baseline="0" noProof="0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R="0" defTabSz="914400" eaLnBrk="1" hangingPunct="1">
              <a:spcBef>
                <a:spcPts val="300"/>
              </a:spcBef>
              <a:buClrTx/>
              <a:buSzTx/>
              <a:buFontTx/>
              <a:buNone/>
              <a:defRPr/>
            </a:pPr>
            <a:endParaRPr kumimoji="0" lang="en-US" altLang="zh-CN" sz="2600" b="1" kern="1200" cap="none" spc="0" normalizeH="0" baseline="0" noProof="0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" name="Group 77"/>
          <p:cNvGrpSpPr/>
          <p:nvPr/>
        </p:nvGrpSpPr>
        <p:grpSpPr>
          <a:xfrm>
            <a:off x="5410200" y="4354513"/>
            <a:ext cx="1874838" cy="2260600"/>
            <a:chOff x="2946" y="1753"/>
            <a:chExt cx="943" cy="1535"/>
          </a:xfrm>
        </p:grpSpPr>
        <p:sp>
          <p:nvSpPr>
            <p:cNvPr id="451662" name="Rectangle 78"/>
            <p:cNvSpPr>
              <a:spLocks noChangeArrowheads="1"/>
            </p:cNvSpPr>
            <p:nvPr/>
          </p:nvSpPr>
          <p:spPr bwMode="auto">
            <a:xfrm>
              <a:off x="2992" y="1753"/>
              <a:ext cx="749" cy="33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C0~DFH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663" name="Rectangle 79"/>
            <p:cNvSpPr>
              <a:spLocks noChangeArrowheads="1"/>
            </p:cNvSpPr>
            <p:nvPr/>
          </p:nvSpPr>
          <p:spPr bwMode="auto">
            <a:xfrm>
              <a:off x="2957" y="2346"/>
              <a:ext cx="900" cy="33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140~15HH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664" name="Rectangle 80"/>
            <p:cNvSpPr>
              <a:spLocks noChangeArrowheads="1"/>
            </p:cNvSpPr>
            <p:nvPr/>
          </p:nvSpPr>
          <p:spPr bwMode="auto">
            <a:xfrm>
              <a:off x="2946" y="2666"/>
              <a:ext cx="881" cy="33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180~19FH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665" name="Rectangle 81"/>
            <p:cNvSpPr>
              <a:spLocks noChangeArrowheads="1"/>
            </p:cNvSpPr>
            <p:nvPr/>
          </p:nvSpPr>
          <p:spPr bwMode="auto">
            <a:xfrm>
              <a:off x="2953" y="2954"/>
              <a:ext cx="936" cy="33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600" b="1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1C0~1DFH</a:t>
              </a:r>
              <a:endPara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2775" name="Text Box 82"/>
          <p:cNvSpPr txBox="1">
            <a:spLocks noChangeArrowheads="1"/>
          </p:cNvSpPr>
          <p:nvPr/>
        </p:nvSpPr>
        <p:spPr bwMode="auto">
          <a:xfrm>
            <a:off x="1789113" y="1082675"/>
            <a:ext cx="3970338" cy="49212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9 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 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 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  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 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6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endParaRPr kumimoji="0" lang="en-US" altLang="zh-CN" sz="2600" b="1" i="0" u="none" strike="noStrike" kern="1200" cap="none" spc="0" normalizeH="0" baseline="-2500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51667" name="Text Box 83"/>
          <p:cNvSpPr txBox="1">
            <a:spLocks noChangeArrowheads="1"/>
          </p:cNvSpPr>
          <p:nvPr/>
        </p:nvSpPr>
        <p:spPr bwMode="auto">
          <a:xfrm>
            <a:off x="684213" y="1500188"/>
            <a:ext cx="6453188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第一步   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?  ?   ?   ?  ?  × × ×××</a:t>
            </a:r>
            <a:endParaRPr kumimoji="0" lang="en-US" altLang="zh-CN" sz="2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777" name="Line 84"/>
          <p:cNvSpPr>
            <a:spLocks noChangeShapeType="1"/>
          </p:cNvSpPr>
          <p:nvPr/>
        </p:nvSpPr>
        <p:spPr bwMode="auto">
          <a:xfrm>
            <a:off x="3786188" y="1193800"/>
            <a:ext cx="0" cy="1795463"/>
          </a:xfrm>
          <a:prstGeom prst="line">
            <a:avLst/>
          </a:prstGeom>
          <a:noFill/>
          <a:ln w="38100" cap="rnd">
            <a:solidFill>
              <a:srgbClr val="FF3300"/>
            </a:solidFill>
            <a:prstDash val="dash"/>
            <a:miter lim="800000"/>
          </a:ln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51670" name="Text Box 86"/>
          <p:cNvSpPr txBox="1">
            <a:spLocks noChangeArrowheads="1"/>
          </p:cNvSpPr>
          <p:nvPr/>
        </p:nvSpPr>
        <p:spPr bwMode="auto">
          <a:xfrm>
            <a:off x="709613" y="1970088"/>
            <a:ext cx="5824538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第二步  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   ?   ?   ?  0  × × ×××</a:t>
            </a:r>
            <a:endParaRPr kumimoji="0" lang="en-US" altLang="zh-CN" sz="2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51671" name="Text Box 87"/>
          <p:cNvSpPr txBox="1">
            <a:spLocks noChangeArrowheads="1"/>
          </p:cNvSpPr>
          <p:nvPr/>
        </p:nvSpPr>
        <p:spPr bwMode="auto">
          <a:xfrm>
            <a:off x="684213" y="2478088"/>
            <a:ext cx="5389563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第三步   </a:t>
            </a:r>
            <a:r>
              <a:rPr kumimoji="0" lang="en-US" altLang="zh-CN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  C  B  A  0  × × ×××</a:t>
            </a:r>
            <a:endParaRPr kumimoji="0" lang="en-US" altLang="zh-CN" sz="2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44043" name="Group 90"/>
          <p:cNvGrpSpPr/>
          <p:nvPr/>
        </p:nvGrpSpPr>
        <p:grpSpPr>
          <a:xfrm>
            <a:off x="1211263" y="2879725"/>
            <a:ext cx="4192587" cy="3862388"/>
            <a:chOff x="358" y="1443"/>
            <a:chExt cx="2641" cy="2621"/>
          </a:xfrm>
        </p:grpSpPr>
        <p:sp>
          <p:nvSpPr>
            <p:cNvPr id="44045" name="Rectangle 10"/>
            <p:cNvSpPr/>
            <p:nvPr/>
          </p:nvSpPr>
          <p:spPr>
            <a:xfrm>
              <a:off x="1387" y="1595"/>
              <a:ext cx="1272" cy="2469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44046" name="Line 11"/>
            <p:cNvSpPr/>
            <p:nvPr/>
          </p:nvSpPr>
          <p:spPr>
            <a:xfrm>
              <a:off x="1065" y="1819"/>
              <a:ext cx="322" cy="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47" name="Line 12"/>
            <p:cNvSpPr/>
            <p:nvPr/>
          </p:nvSpPr>
          <p:spPr>
            <a:xfrm>
              <a:off x="1065" y="2119"/>
              <a:ext cx="322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48" name="Line 13"/>
            <p:cNvSpPr/>
            <p:nvPr/>
          </p:nvSpPr>
          <p:spPr>
            <a:xfrm>
              <a:off x="1065" y="2418"/>
              <a:ext cx="322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4049" name="Group 14"/>
            <p:cNvGrpSpPr/>
            <p:nvPr/>
          </p:nvGrpSpPr>
          <p:grpSpPr>
            <a:xfrm>
              <a:off x="2659" y="1744"/>
              <a:ext cx="340" cy="75"/>
              <a:chOff x="3216" y="2688"/>
              <a:chExt cx="253" cy="48"/>
            </a:xfrm>
          </p:grpSpPr>
          <p:sp>
            <p:nvSpPr>
              <p:cNvPr id="44108" name="Oval 15"/>
              <p:cNvSpPr/>
              <p:nvPr/>
            </p:nvSpPr>
            <p:spPr>
              <a:xfrm>
                <a:off x="3216" y="2688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17970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49580" indent="-908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80962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80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2208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华文中宋" panose="02010600040101010101" pitchFamily="2" charset="-122"/>
                  </a:defRPr>
                </a:lvl4pPr>
                <a:lvl5pPr marL="261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44109" name="Line 16"/>
              <p:cNvSpPr/>
              <p:nvPr/>
            </p:nvSpPr>
            <p:spPr>
              <a:xfrm>
                <a:off x="3277" y="2714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4050" name="Group 17"/>
            <p:cNvGrpSpPr/>
            <p:nvPr/>
          </p:nvGrpSpPr>
          <p:grpSpPr>
            <a:xfrm>
              <a:off x="2659" y="2044"/>
              <a:ext cx="340" cy="75"/>
              <a:chOff x="3216" y="2688"/>
              <a:chExt cx="253" cy="48"/>
            </a:xfrm>
          </p:grpSpPr>
          <p:sp>
            <p:nvSpPr>
              <p:cNvPr id="44106" name="Oval 18"/>
              <p:cNvSpPr/>
              <p:nvPr/>
            </p:nvSpPr>
            <p:spPr>
              <a:xfrm>
                <a:off x="3216" y="2688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17970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49580" indent="-908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80962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80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2208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华文中宋" panose="02010600040101010101" pitchFamily="2" charset="-122"/>
                  </a:defRPr>
                </a:lvl4pPr>
                <a:lvl5pPr marL="261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44107" name="Line 19"/>
              <p:cNvSpPr/>
              <p:nvPr/>
            </p:nvSpPr>
            <p:spPr>
              <a:xfrm>
                <a:off x="3277" y="2714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4051" name="Group 20"/>
            <p:cNvGrpSpPr/>
            <p:nvPr/>
          </p:nvGrpSpPr>
          <p:grpSpPr>
            <a:xfrm>
              <a:off x="2659" y="2343"/>
              <a:ext cx="340" cy="75"/>
              <a:chOff x="3216" y="2688"/>
              <a:chExt cx="253" cy="48"/>
            </a:xfrm>
          </p:grpSpPr>
          <p:sp>
            <p:nvSpPr>
              <p:cNvPr id="44104" name="Oval 21"/>
              <p:cNvSpPr/>
              <p:nvPr/>
            </p:nvSpPr>
            <p:spPr>
              <a:xfrm>
                <a:off x="3216" y="2688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17970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49580" indent="-908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80962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80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2208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华文中宋" panose="02010600040101010101" pitchFamily="2" charset="-122"/>
                  </a:defRPr>
                </a:lvl4pPr>
                <a:lvl5pPr marL="261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44105" name="Line 22"/>
              <p:cNvSpPr/>
              <p:nvPr/>
            </p:nvSpPr>
            <p:spPr>
              <a:xfrm>
                <a:off x="3277" y="2714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4052" name="Group 23"/>
            <p:cNvGrpSpPr/>
            <p:nvPr/>
          </p:nvGrpSpPr>
          <p:grpSpPr>
            <a:xfrm>
              <a:off x="2659" y="2642"/>
              <a:ext cx="340" cy="75"/>
              <a:chOff x="3216" y="2688"/>
              <a:chExt cx="253" cy="48"/>
            </a:xfrm>
          </p:grpSpPr>
          <p:sp>
            <p:nvSpPr>
              <p:cNvPr id="44102" name="Oval 24"/>
              <p:cNvSpPr/>
              <p:nvPr/>
            </p:nvSpPr>
            <p:spPr>
              <a:xfrm>
                <a:off x="3216" y="2688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17970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49580" indent="-908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80962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80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2208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华文中宋" panose="02010600040101010101" pitchFamily="2" charset="-122"/>
                  </a:defRPr>
                </a:lvl4pPr>
                <a:lvl5pPr marL="261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44103" name="Line 25"/>
              <p:cNvSpPr/>
              <p:nvPr/>
            </p:nvSpPr>
            <p:spPr>
              <a:xfrm>
                <a:off x="3277" y="2714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4053" name="Group 26"/>
            <p:cNvGrpSpPr/>
            <p:nvPr/>
          </p:nvGrpSpPr>
          <p:grpSpPr>
            <a:xfrm>
              <a:off x="2659" y="2942"/>
              <a:ext cx="340" cy="74"/>
              <a:chOff x="3216" y="2688"/>
              <a:chExt cx="253" cy="48"/>
            </a:xfrm>
          </p:grpSpPr>
          <p:sp>
            <p:nvSpPr>
              <p:cNvPr id="44100" name="Oval 27"/>
              <p:cNvSpPr/>
              <p:nvPr/>
            </p:nvSpPr>
            <p:spPr>
              <a:xfrm>
                <a:off x="3216" y="2688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17970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49580" indent="-908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80962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80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2208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华文中宋" panose="02010600040101010101" pitchFamily="2" charset="-122"/>
                  </a:defRPr>
                </a:lvl4pPr>
                <a:lvl5pPr marL="261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44101" name="Line 28"/>
              <p:cNvSpPr/>
              <p:nvPr/>
            </p:nvSpPr>
            <p:spPr>
              <a:xfrm>
                <a:off x="3277" y="2714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4054" name="Group 29"/>
            <p:cNvGrpSpPr/>
            <p:nvPr/>
          </p:nvGrpSpPr>
          <p:grpSpPr>
            <a:xfrm>
              <a:off x="2659" y="3241"/>
              <a:ext cx="340" cy="75"/>
              <a:chOff x="3216" y="2688"/>
              <a:chExt cx="253" cy="48"/>
            </a:xfrm>
          </p:grpSpPr>
          <p:sp>
            <p:nvSpPr>
              <p:cNvPr id="44098" name="Oval 30"/>
              <p:cNvSpPr/>
              <p:nvPr/>
            </p:nvSpPr>
            <p:spPr>
              <a:xfrm>
                <a:off x="3216" y="2688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17970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49580" indent="-908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80962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80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2208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华文中宋" panose="02010600040101010101" pitchFamily="2" charset="-122"/>
                  </a:defRPr>
                </a:lvl4pPr>
                <a:lvl5pPr marL="261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44099" name="Line 31"/>
              <p:cNvSpPr/>
              <p:nvPr/>
            </p:nvSpPr>
            <p:spPr>
              <a:xfrm>
                <a:off x="3277" y="2714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4055" name="Group 32"/>
            <p:cNvGrpSpPr/>
            <p:nvPr/>
          </p:nvGrpSpPr>
          <p:grpSpPr>
            <a:xfrm>
              <a:off x="2659" y="3540"/>
              <a:ext cx="340" cy="75"/>
              <a:chOff x="3216" y="2688"/>
              <a:chExt cx="253" cy="48"/>
            </a:xfrm>
          </p:grpSpPr>
          <p:sp>
            <p:nvSpPr>
              <p:cNvPr id="44096" name="Oval 33"/>
              <p:cNvSpPr/>
              <p:nvPr/>
            </p:nvSpPr>
            <p:spPr>
              <a:xfrm>
                <a:off x="3216" y="2688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17970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49580" indent="-908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80962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80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2208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华文中宋" panose="02010600040101010101" pitchFamily="2" charset="-122"/>
                  </a:defRPr>
                </a:lvl4pPr>
                <a:lvl5pPr marL="261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44097" name="Line 34"/>
              <p:cNvSpPr/>
              <p:nvPr/>
            </p:nvSpPr>
            <p:spPr>
              <a:xfrm>
                <a:off x="3277" y="2714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4056" name="Group 35"/>
            <p:cNvGrpSpPr/>
            <p:nvPr/>
          </p:nvGrpSpPr>
          <p:grpSpPr>
            <a:xfrm>
              <a:off x="2659" y="3840"/>
              <a:ext cx="340" cy="74"/>
              <a:chOff x="3216" y="2688"/>
              <a:chExt cx="253" cy="48"/>
            </a:xfrm>
          </p:grpSpPr>
          <p:sp>
            <p:nvSpPr>
              <p:cNvPr id="44094" name="Oval 36"/>
              <p:cNvSpPr/>
              <p:nvPr/>
            </p:nvSpPr>
            <p:spPr>
              <a:xfrm>
                <a:off x="3216" y="2688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17970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49580" indent="-908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80962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80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2208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华文中宋" panose="02010600040101010101" pitchFamily="2" charset="-122"/>
                  </a:defRPr>
                </a:lvl4pPr>
                <a:lvl5pPr marL="261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44095" name="Line 37"/>
              <p:cNvSpPr/>
              <p:nvPr/>
            </p:nvSpPr>
            <p:spPr>
              <a:xfrm>
                <a:off x="3277" y="2714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4057" name="Text Box 38"/>
            <p:cNvSpPr txBox="1"/>
            <p:nvPr/>
          </p:nvSpPr>
          <p:spPr>
            <a:xfrm>
              <a:off x="2337" y="1583"/>
              <a:ext cx="267" cy="23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Y</a:t>
              </a:r>
              <a:r>
                <a:rPr lang="en-US" altLang="zh-CN" sz="2000" baseline="-18000" dirty="0">
                  <a:ea typeface="宋体" panose="02010600030101010101" pitchFamily="2" charset="-122"/>
                </a:rPr>
                <a:t>0</a:t>
              </a:r>
              <a:endParaRPr lang="en-US" altLang="zh-CN" sz="2000" baseline="-18000" dirty="0">
                <a:ea typeface="宋体" panose="02010600030101010101" pitchFamily="2" charset="-122"/>
              </a:endParaRPr>
            </a:p>
          </p:txBody>
        </p:sp>
        <p:sp>
          <p:nvSpPr>
            <p:cNvPr id="451623" name="Text Box 39"/>
            <p:cNvSpPr txBox="1">
              <a:spLocks noChangeArrowheads="1"/>
            </p:cNvSpPr>
            <p:nvPr/>
          </p:nvSpPr>
          <p:spPr bwMode="auto">
            <a:xfrm>
              <a:off x="2337" y="3694"/>
              <a:ext cx="267" cy="23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0" lang="en-US" altLang="zh-CN" b="1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Y</a:t>
              </a:r>
              <a:r>
                <a:rPr kumimoji="0" lang="en-US" altLang="zh-CN" b="1" kern="1200" cap="none" spc="0" normalizeH="0" baseline="-1800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7</a:t>
              </a:r>
              <a:endParaRPr kumimoji="0" lang="en-US" altLang="zh-CN" b="1" kern="1200" cap="none" spc="0" normalizeH="0" baseline="-18000" noProof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59" name="Text Box 40"/>
            <p:cNvSpPr txBox="1"/>
            <p:nvPr/>
          </p:nvSpPr>
          <p:spPr>
            <a:xfrm>
              <a:off x="1452" y="1631"/>
              <a:ext cx="221" cy="23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A</a:t>
              </a:r>
              <a:endParaRPr lang="en-US" altLang="zh-CN" sz="2000" baseline="-18000" dirty="0">
                <a:ea typeface="宋体" panose="02010600030101010101" pitchFamily="2" charset="-122"/>
              </a:endParaRPr>
            </a:p>
          </p:txBody>
        </p:sp>
        <p:sp>
          <p:nvSpPr>
            <p:cNvPr id="44060" name="Text Box 41"/>
            <p:cNvSpPr txBox="1"/>
            <p:nvPr/>
          </p:nvSpPr>
          <p:spPr>
            <a:xfrm>
              <a:off x="1452" y="1967"/>
              <a:ext cx="221" cy="23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B</a:t>
              </a:r>
              <a:endParaRPr lang="en-US" altLang="zh-CN" sz="2000" baseline="-18000" dirty="0">
                <a:ea typeface="宋体" panose="02010600030101010101" pitchFamily="2" charset="-122"/>
              </a:endParaRPr>
            </a:p>
          </p:txBody>
        </p:sp>
        <p:sp>
          <p:nvSpPr>
            <p:cNvPr id="44061" name="Text Box 42"/>
            <p:cNvSpPr txBox="1"/>
            <p:nvPr/>
          </p:nvSpPr>
          <p:spPr>
            <a:xfrm>
              <a:off x="1440" y="2255"/>
              <a:ext cx="221" cy="23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C</a:t>
              </a:r>
              <a:endParaRPr lang="en-US" altLang="zh-CN" sz="2000" baseline="-18000" dirty="0">
                <a:ea typeface="宋体" panose="02010600030101010101" pitchFamily="2" charset="-122"/>
              </a:endParaRPr>
            </a:p>
          </p:txBody>
        </p:sp>
        <p:grpSp>
          <p:nvGrpSpPr>
            <p:cNvPr id="44062" name="Group 43"/>
            <p:cNvGrpSpPr/>
            <p:nvPr/>
          </p:nvGrpSpPr>
          <p:grpSpPr>
            <a:xfrm>
              <a:off x="1065" y="2942"/>
              <a:ext cx="322" cy="74"/>
              <a:chOff x="2928" y="3168"/>
              <a:chExt cx="240" cy="48"/>
            </a:xfrm>
          </p:grpSpPr>
          <p:sp>
            <p:nvSpPr>
              <p:cNvPr id="44092" name="Oval 44"/>
              <p:cNvSpPr/>
              <p:nvPr/>
            </p:nvSpPr>
            <p:spPr>
              <a:xfrm>
                <a:off x="3120" y="3168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17970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49580" indent="-908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80962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80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2208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华文中宋" panose="02010600040101010101" pitchFamily="2" charset="-122"/>
                  </a:defRPr>
                </a:lvl4pPr>
                <a:lvl5pPr marL="261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44093" name="Line 45"/>
              <p:cNvSpPr/>
              <p:nvPr/>
            </p:nvSpPr>
            <p:spPr>
              <a:xfrm flipH="1">
                <a:off x="2928" y="3190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4063" name="Group 46"/>
            <p:cNvGrpSpPr/>
            <p:nvPr/>
          </p:nvGrpSpPr>
          <p:grpSpPr>
            <a:xfrm>
              <a:off x="1065" y="3241"/>
              <a:ext cx="322" cy="75"/>
              <a:chOff x="2928" y="3168"/>
              <a:chExt cx="240" cy="48"/>
            </a:xfrm>
          </p:grpSpPr>
          <p:sp>
            <p:nvSpPr>
              <p:cNvPr id="44090" name="Oval 47"/>
              <p:cNvSpPr/>
              <p:nvPr/>
            </p:nvSpPr>
            <p:spPr>
              <a:xfrm>
                <a:off x="3120" y="3168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17970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49580" indent="-908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80962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80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2208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华文中宋" panose="02010600040101010101" pitchFamily="2" charset="-122"/>
                  </a:defRPr>
                </a:lvl4pPr>
                <a:lvl5pPr marL="261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44091" name="Line 48"/>
              <p:cNvSpPr/>
              <p:nvPr/>
            </p:nvSpPr>
            <p:spPr>
              <a:xfrm flipH="1">
                <a:off x="2928" y="3190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4064" name="Group 49"/>
            <p:cNvGrpSpPr/>
            <p:nvPr/>
          </p:nvGrpSpPr>
          <p:grpSpPr>
            <a:xfrm>
              <a:off x="1385" y="2765"/>
              <a:ext cx="352" cy="232"/>
              <a:chOff x="3633" y="3696"/>
              <a:chExt cx="262" cy="149"/>
            </a:xfrm>
          </p:grpSpPr>
          <p:sp>
            <p:nvSpPr>
              <p:cNvPr id="44088" name="Text Box 50"/>
              <p:cNvSpPr txBox="1"/>
              <p:nvPr/>
            </p:nvSpPr>
            <p:spPr>
              <a:xfrm>
                <a:off x="3633" y="3696"/>
                <a:ext cx="262" cy="14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lstStyle>
                <a:lvl1pPr marL="17970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49580" indent="-908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80962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80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2208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华文中宋" panose="02010600040101010101" pitchFamily="2" charset="-122"/>
                  </a:defRPr>
                </a:lvl4pPr>
                <a:lvl5pPr marL="261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dirty="0">
                    <a:ea typeface="宋体" panose="02010600030101010101" pitchFamily="2" charset="-122"/>
                  </a:rPr>
                  <a:t>G</a:t>
                </a:r>
                <a:r>
                  <a:rPr lang="en-US" altLang="zh-CN" sz="2000" baseline="-18000" dirty="0">
                    <a:ea typeface="宋体" panose="02010600030101010101" pitchFamily="2" charset="-122"/>
                  </a:rPr>
                  <a:t>2</a:t>
                </a:r>
                <a:r>
                  <a:rPr lang="en-US" altLang="zh-CN" sz="2000" baseline="-20000" dirty="0">
                    <a:ea typeface="宋体" panose="02010600030101010101" pitchFamily="2" charset="-122"/>
                  </a:rPr>
                  <a:t>B</a:t>
                </a:r>
                <a:endParaRPr lang="en-US" altLang="zh-CN" sz="2000" baseline="-20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44089" name="Line 51"/>
              <p:cNvSpPr/>
              <p:nvPr/>
            </p:nvSpPr>
            <p:spPr>
              <a:xfrm>
                <a:off x="3696" y="3744"/>
                <a:ext cx="192" cy="0"/>
              </a:xfrm>
              <a:prstGeom prst="line">
                <a:avLst/>
              </a:prstGeom>
              <a:ln w="28575">
                <a:noFill/>
              </a:ln>
            </p:spPr>
          </p:sp>
        </p:grpSp>
        <p:grpSp>
          <p:nvGrpSpPr>
            <p:cNvPr id="44065" name="Group 52"/>
            <p:cNvGrpSpPr/>
            <p:nvPr/>
          </p:nvGrpSpPr>
          <p:grpSpPr>
            <a:xfrm>
              <a:off x="1381" y="3064"/>
              <a:ext cx="352" cy="232"/>
              <a:chOff x="3633" y="3696"/>
              <a:chExt cx="262" cy="149"/>
            </a:xfrm>
          </p:grpSpPr>
          <p:sp>
            <p:nvSpPr>
              <p:cNvPr id="44086" name="Text Box 53"/>
              <p:cNvSpPr txBox="1"/>
              <p:nvPr/>
            </p:nvSpPr>
            <p:spPr>
              <a:xfrm>
                <a:off x="3633" y="3696"/>
                <a:ext cx="262" cy="14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lstStyle>
                <a:lvl1pPr marL="17970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49580" indent="-908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80962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80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2208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华文中宋" panose="02010600040101010101" pitchFamily="2" charset="-122"/>
                  </a:defRPr>
                </a:lvl4pPr>
                <a:lvl5pPr marL="261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dirty="0">
                    <a:ea typeface="宋体" panose="02010600030101010101" pitchFamily="2" charset="-122"/>
                  </a:rPr>
                  <a:t>G</a:t>
                </a:r>
                <a:r>
                  <a:rPr lang="en-US" altLang="zh-CN" sz="2000" baseline="-18000" dirty="0">
                    <a:ea typeface="宋体" panose="02010600030101010101" pitchFamily="2" charset="-122"/>
                  </a:rPr>
                  <a:t>2</a:t>
                </a:r>
                <a:r>
                  <a:rPr lang="en-US" altLang="zh-CN" sz="2000" baseline="-20000" dirty="0">
                    <a:ea typeface="宋体" panose="02010600030101010101" pitchFamily="2" charset="-122"/>
                  </a:rPr>
                  <a:t>A</a:t>
                </a:r>
                <a:endParaRPr lang="en-US" altLang="zh-CN" sz="2000" baseline="-20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44087" name="Line 54"/>
              <p:cNvSpPr/>
              <p:nvPr/>
            </p:nvSpPr>
            <p:spPr>
              <a:xfrm>
                <a:off x="3696" y="3744"/>
                <a:ext cx="192" cy="0"/>
              </a:xfrm>
              <a:prstGeom prst="line">
                <a:avLst/>
              </a:prstGeom>
              <a:ln w="28575">
                <a:noFill/>
              </a:ln>
            </p:spPr>
          </p:sp>
        </p:grpSp>
        <p:sp>
          <p:nvSpPr>
            <p:cNvPr id="44066" name="Text Box 55"/>
            <p:cNvSpPr txBox="1"/>
            <p:nvPr/>
          </p:nvSpPr>
          <p:spPr>
            <a:xfrm>
              <a:off x="1436" y="3330"/>
              <a:ext cx="283" cy="23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G</a:t>
              </a:r>
              <a:r>
                <a:rPr lang="en-US" altLang="zh-CN" sz="2000" baseline="-20000" dirty="0">
                  <a:ea typeface="宋体" panose="02010600030101010101" pitchFamily="2" charset="-122"/>
                </a:rPr>
                <a:t>1</a:t>
              </a:r>
              <a:endParaRPr lang="en-US" altLang="zh-CN" sz="2000" baseline="-20000" dirty="0">
                <a:ea typeface="宋体" panose="02010600030101010101" pitchFamily="2" charset="-122"/>
              </a:endParaRPr>
            </a:p>
          </p:txBody>
        </p:sp>
        <p:sp>
          <p:nvSpPr>
            <p:cNvPr id="44067" name="Line 56"/>
            <p:cNvSpPr/>
            <p:nvPr/>
          </p:nvSpPr>
          <p:spPr>
            <a:xfrm>
              <a:off x="1065" y="3540"/>
              <a:ext cx="322" cy="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8" name="Text Box 57"/>
            <p:cNvSpPr txBox="1"/>
            <p:nvPr/>
          </p:nvSpPr>
          <p:spPr>
            <a:xfrm>
              <a:off x="2676" y="1443"/>
              <a:ext cx="278" cy="23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15</a:t>
              </a:r>
              <a:endParaRPr lang="en-US" altLang="zh-CN" sz="2000" baseline="-18000" dirty="0">
                <a:ea typeface="宋体" panose="02010600030101010101" pitchFamily="2" charset="-122"/>
              </a:endParaRPr>
            </a:p>
          </p:txBody>
        </p:sp>
        <p:sp>
          <p:nvSpPr>
            <p:cNvPr id="44069" name="Text Box 58"/>
            <p:cNvSpPr txBox="1"/>
            <p:nvPr/>
          </p:nvSpPr>
          <p:spPr>
            <a:xfrm>
              <a:off x="2676" y="1742"/>
              <a:ext cx="278" cy="23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14</a:t>
              </a:r>
              <a:endParaRPr lang="en-US" altLang="zh-CN" sz="2000" baseline="-18000" dirty="0">
                <a:ea typeface="宋体" panose="02010600030101010101" pitchFamily="2" charset="-122"/>
              </a:endParaRPr>
            </a:p>
          </p:txBody>
        </p:sp>
        <p:sp>
          <p:nvSpPr>
            <p:cNvPr id="44070" name="Text Box 59"/>
            <p:cNvSpPr txBox="1"/>
            <p:nvPr/>
          </p:nvSpPr>
          <p:spPr>
            <a:xfrm>
              <a:off x="2676" y="2042"/>
              <a:ext cx="278" cy="23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13</a:t>
              </a:r>
              <a:endParaRPr lang="en-US" altLang="zh-CN" sz="2000" baseline="-18000" dirty="0">
                <a:ea typeface="宋体" panose="02010600030101010101" pitchFamily="2" charset="-122"/>
              </a:endParaRPr>
            </a:p>
          </p:txBody>
        </p:sp>
        <p:sp>
          <p:nvSpPr>
            <p:cNvPr id="44071" name="Text Box 60"/>
            <p:cNvSpPr txBox="1"/>
            <p:nvPr/>
          </p:nvSpPr>
          <p:spPr>
            <a:xfrm>
              <a:off x="2676" y="2341"/>
              <a:ext cx="278" cy="23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12</a:t>
              </a:r>
              <a:endParaRPr lang="en-US" altLang="zh-CN" sz="2000" baseline="-18000" dirty="0">
                <a:ea typeface="宋体" panose="02010600030101010101" pitchFamily="2" charset="-122"/>
              </a:endParaRPr>
            </a:p>
          </p:txBody>
        </p:sp>
        <p:sp>
          <p:nvSpPr>
            <p:cNvPr id="44072" name="Text Box 61"/>
            <p:cNvSpPr txBox="1"/>
            <p:nvPr/>
          </p:nvSpPr>
          <p:spPr>
            <a:xfrm>
              <a:off x="2676" y="2640"/>
              <a:ext cx="270" cy="23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11</a:t>
              </a:r>
              <a:endParaRPr lang="en-US" altLang="zh-CN" sz="2000" baseline="-18000" dirty="0">
                <a:ea typeface="宋体" panose="02010600030101010101" pitchFamily="2" charset="-122"/>
              </a:endParaRPr>
            </a:p>
          </p:txBody>
        </p:sp>
        <p:sp>
          <p:nvSpPr>
            <p:cNvPr id="44073" name="Text Box 62"/>
            <p:cNvSpPr txBox="1"/>
            <p:nvPr/>
          </p:nvSpPr>
          <p:spPr>
            <a:xfrm>
              <a:off x="2676" y="2939"/>
              <a:ext cx="278" cy="23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10</a:t>
              </a:r>
              <a:endParaRPr lang="en-US" altLang="zh-CN" sz="2000" baseline="-18000" dirty="0">
                <a:ea typeface="宋体" panose="02010600030101010101" pitchFamily="2" charset="-122"/>
              </a:endParaRPr>
            </a:p>
          </p:txBody>
        </p:sp>
        <p:sp>
          <p:nvSpPr>
            <p:cNvPr id="44074" name="Text Box 63"/>
            <p:cNvSpPr txBox="1"/>
            <p:nvPr/>
          </p:nvSpPr>
          <p:spPr>
            <a:xfrm>
              <a:off x="2741" y="3239"/>
              <a:ext cx="197" cy="23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9</a:t>
              </a:r>
              <a:endParaRPr lang="en-US" altLang="zh-CN" sz="2000" baseline="-18000" dirty="0">
                <a:ea typeface="宋体" panose="02010600030101010101" pitchFamily="2" charset="-122"/>
              </a:endParaRPr>
            </a:p>
          </p:txBody>
        </p:sp>
        <p:sp>
          <p:nvSpPr>
            <p:cNvPr id="44075" name="Text Box 64"/>
            <p:cNvSpPr txBox="1"/>
            <p:nvPr/>
          </p:nvSpPr>
          <p:spPr>
            <a:xfrm>
              <a:off x="2741" y="3538"/>
              <a:ext cx="197" cy="23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7</a:t>
              </a:r>
              <a:endParaRPr lang="en-US" altLang="zh-CN" sz="2000" baseline="-18000" dirty="0">
                <a:ea typeface="宋体" panose="02010600030101010101" pitchFamily="2" charset="-122"/>
              </a:endParaRPr>
            </a:p>
          </p:txBody>
        </p:sp>
        <p:sp>
          <p:nvSpPr>
            <p:cNvPr id="451649" name="Text Box 65"/>
            <p:cNvSpPr txBox="1">
              <a:spLocks noChangeArrowheads="1"/>
            </p:cNvSpPr>
            <p:nvPr/>
          </p:nvSpPr>
          <p:spPr bwMode="auto">
            <a:xfrm>
              <a:off x="1083" y="1518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0" lang="en-US" altLang="zh-CN" b="1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b="1" kern="1200" cap="none" spc="0" normalizeH="0" baseline="-18000" noProof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650" name="Text Box 66"/>
            <p:cNvSpPr txBox="1">
              <a:spLocks noChangeArrowheads="1"/>
            </p:cNvSpPr>
            <p:nvPr/>
          </p:nvSpPr>
          <p:spPr bwMode="auto">
            <a:xfrm>
              <a:off x="1083" y="1817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0" lang="en-US" altLang="zh-CN" b="1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b="1" kern="1200" cap="none" spc="0" normalizeH="0" baseline="-18000" noProof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651" name="Text Box 67"/>
            <p:cNvSpPr txBox="1">
              <a:spLocks noChangeArrowheads="1"/>
            </p:cNvSpPr>
            <p:nvPr/>
          </p:nvSpPr>
          <p:spPr bwMode="auto">
            <a:xfrm>
              <a:off x="1083" y="2116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0" lang="en-US" altLang="zh-CN" b="1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en-US" altLang="zh-CN" b="1" kern="1200" cap="none" spc="0" normalizeH="0" baseline="-18000" noProof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652" name="Text Box 68"/>
            <p:cNvSpPr txBox="1">
              <a:spLocks noChangeArrowheads="1"/>
            </p:cNvSpPr>
            <p:nvPr/>
          </p:nvSpPr>
          <p:spPr bwMode="auto">
            <a:xfrm>
              <a:off x="1083" y="2939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0" lang="en-US" altLang="zh-CN" b="1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4</a:t>
              </a:r>
              <a:endParaRPr kumimoji="0" lang="en-US" altLang="zh-CN" b="1" kern="1200" cap="none" spc="0" normalizeH="0" baseline="-18000" noProof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653" name="Text Box 69"/>
            <p:cNvSpPr txBox="1">
              <a:spLocks noChangeArrowheads="1"/>
            </p:cNvSpPr>
            <p:nvPr/>
          </p:nvSpPr>
          <p:spPr bwMode="auto">
            <a:xfrm>
              <a:off x="1083" y="2640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0" lang="en-US" altLang="zh-CN" b="1" kern="1200" cap="none" spc="0" normalizeH="0" baseline="0" noProof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5</a:t>
              </a:r>
              <a:endParaRPr kumimoji="0" lang="en-US" altLang="zh-CN" b="1" kern="1200" cap="none" spc="0" normalizeH="0" baseline="-18000" noProof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654" name="Text Box 70"/>
            <p:cNvSpPr txBox="1">
              <a:spLocks noChangeArrowheads="1"/>
            </p:cNvSpPr>
            <p:nvPr/>
          </p:nvSpPr>
          <p:spPr bwMode="auto">
            <a:xfrm>
              <a:off x="1083" y="3317"/>
              <a:ext cx="197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0" lang="en-US" altLang="zh-CN" b="1" kern="1200" cap="none" spc="0" normalizeH="0" baseline="0" noProof="0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6</a:t>
              </a:r>
              <a:endParaRPr kumimoji="0" lang="en-US" altLang="zh-CN" b="1" kern="1200" cap="none" spc="0" normalizeH="0" baseline="-18000" noProof="0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82" name="Text Box 71"/>
            <p:cNvSpPr txBox="1"/>
            <p:nvPr/>
          </p:nvSpPr>
          <p:spPr>
            <a:xfrm>
              <a:off x="1557" y="2473"/>
              <a:ext cx="904" cy="31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solidFill>
                    <a:srgbClr val="0000CC"/>
                  </a:solidFill>
                  <a:ea typeface="宋体" panose="02010600030101010101" pitchFamily="2" charset="-122"/>
                </a:rPr>
                <a:t>74LS138</a:t>
              </a:r>
              <a:endParaRPr lang="en-US" altLang="zh-CN" sz="2400" baseline="-18000" dirty="0">
                <a:solidFill>
                  <a:srgbClr val="0000CC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83" name="Text Box 72"/>
            <p:cNvSpPr txBox="1"/>
            <p:nvPr/>
          </p:nvSpPr>
          <p:spPr>
            <a:xfrm>
              <a:off x="358" y="3385"/>
              <a:ext cx="677" cy="33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600" dirty="0">
                  <a:ea typeface="宋体" panose="02010600030101010101" pitchFamily="2" charset="-122"/>
                </a:rPr>
                <a:t>AEN#</a:t>
              </a:r>
              <a:endParaRPr lang="en-US" altLang="zh-CN" sz="2600" baseline="-20000" dirty="0">
                <a:ea typeface="宋体" panose="02010600030101010101" pitchFamily="2" charset="-122"/>
              </a:endParaRPr>
            </a:p>
          </p:txBody>
        </p:sp>
        <p:sp>
          <p:nvSpPr>
            <p:cNvPr id="44084" name="Text Box 88"/>
            <p:cNvSpPr txBox="1"/>
            <p:nvPr/>
          </p:nvSpPr>
          <p:spPr>
            <a:xfrm>
              <a:off x="1710" y="2778"/>
              <a:ext cx="197" cy="233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#</a:t>
              </a:r>
              <a:endParaRPr lang="en-US" altLang="zh-CN" sz="2000" dirty="0">
                <a:ea typeface="宋体" panose="02010600030101010101" pitchFamily="2" charset="-122"/>
              </a:endParaRPr>
            </a:p>
          </p:txBody>
        </p:sp>
        <p:sp>
          <p:nvSpPr>
            <p:cNvPr id="44085" name="Text Box 89"/>
            <p:cNvSpPr txBox="1"/>
            <p:nvPr/>
          </p:nvSpPr>
          <p:spPr>
            <a:xfrm>
              <a:off x="1710" y="3114"/>
              <a:ext cx="197" cy="233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#</a:t>
              </a:r>
              <a:endParaRPr lang="en-US" altLang="zh-CN" sz="2000" dirty="0">
                <a:ea typeface="宋体" panose="02010600030101010101" pitchFamily="2" charset="-122"/>
              </a:endParaRPr>
            </a:p>
          </p:txBody>
        </p:sp>
      </p:grpSp>
      <p:sp>
        <p:nvSpPr>
          <p:cNvPr id="88" name="标题 1"/>
          <p:cNvSpPr txBox="1"/>
          <p:nvPr/>
        </p:nvSpPr>
        <p:spPr>
          <a:xfrm>
            <a:off x="574675" y="231775"/>
            <a:ext cx="7021513" cy="676275"/>
          </a:xfrm>
          <a:prstGeom prst="rect">
            <a:avLst/>
          </a:prstGeom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120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I/O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+mj-cs"/>
              </a:rPr>
              <a:t>端口译码设计</a:t>
            </a:r>
            <a:r>
              <a:rPr kumimoji="0" lang="zh-CN" altLang="en-US" sz="4000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实例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667" grpId="0"/>
      <p:bldP spid="451670" grpId="0"/>
      <p:bldP spid="45167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2660" name="Text Box 52"/>
          <p:cNvSpPr txBox="1">
            <a:spLocks noChangeArrowheads="1"/>
          </p:cNvSpPr>
          <p:nvPr/>
        </p:nvSpPr>
        <p:spPr bwMode="auto">
          <a:xfrm>
            <a:off x="571500" y="1285875"/>
            <a:ext cx="8078788" cy="13843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28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zh-CN" altLang="en-US" sz="28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：若接口芯片的端口地址范围为</a:t>
            </a:r>
            <a:r>
              <a:rPr kumimoji="0" lang="en-US" altLang="zh-CN" sz="28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260H</a:t>
            </a:r>
            <a:r>
              <a:rPr kumimoji="0" lang="zh-CN" altLang="en-US" sz="28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8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262H</a:t>
            </a:r>
            <a:r>
              <a:rPr kumimoji="0" lang="zh-CN" altLang="en-US" sz="28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8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264H</a:t>
            </a:r>
            <a:r>
              <a:rPr kumimoji="0" lang="zh-CN" altLang="en-US" sz="28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8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266H</a:t>
            </a:r>
            <a:r>
              <a:rPr kumimoji="0" lang="zh-CN" altLang="en-US" sz="28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8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268H</a:t>
            </a:r>
            <a:r>
              <a:rPr kumimoji="0" lang="zh-CN" altLang="en-US" sz="28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8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26AH</a:t>
            </a:r>
            <a:r>
              <a:rPr kumimoji="0" lang="zh-CN" altLang="en-US" sz="28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8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26CH</a:t>
            </a:r>
            <a:r>
              <a:rPr kumimoji="0" lang="zh-CN" altLang="en-US" sz="28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8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26EH</a:t>
            </a:r>
            <a:r>
              <a:rPr kumimoji="0" lang="zh-CN" altLang="en-US" sz="28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，请问</a:t>
            </a:r>
            <a:r>
              <a:rPr kumimoji="0" lang="en-US" altLang="zh-CN" sz="28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sz="2800" b="1" kern="1200" cap="none" spc="0" normalizeH="0" baseline="-2500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kumimoji="0" lang="en-US" altLang="zh-CN" sz="28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~A</a:t>
            </a:r>
            <a:r>
              <a:rPr kumimoji="0" lang="en-US" altLang="zh-CN" sz="2800" b="1" kern="1200" cap="none" spc="0" normalizeH="0" baseline="-2500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9</a:t>
            </a:r>
            <a:r>
              <a:rPr kumimoji="0" lang="zh-CN" altLang="en-US" sz="28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这</a:t>
            </a:r>
            <a:r>
              <a:rPr kumimoji="0" lang="en-US" altLang="zh-CN" sz="28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</a:t>
            </a:r>
            <a:r>
              <a:rPr kumimoji="0" lang="zh-CN" altLang="en-US" sz="2800" b="1" kern="120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根线如何连接？</a:t>
            </a:r>
            <a:endParaRPr kumimoji="0" lang="zh-CN" altLang="en-US" sz="2800" b="1" kern="1200" cap="none" spc="0" normalizeH="0" baseline="0" noProof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46083" name="Group 89"/>
          <p:cNvGrpSpPr/>
          <p:nvPr/>
        </p:nvGrpSpPr>
        <p:grpSpPr>
          <a:xfrm>
            <a:off x="835025" y="2786063"/>
            <a:ext cx="7523163" cy="3500437"/>
            <a:chOff x="135" y="1180"/>
            <a:chExt cx="5185" cy="2587"/>
          </a:xfrm>
        </p:grpSpPr>
        <p:sp>
          <p:nvSpPr>
            <p:cNvPr id="46085" name="Rectangle 5"/>
            <p:cNvSpPr/>
            <p:nvPr/>
          </p:nvSpPr>
          <p:spPr>
            <a:xfrm>
              <a:off x="1704" y="1180"/>
              <a:ext cx="1272" cy="2469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46086" name="Line 6"/>
            <p:cNvSpPr/>
            <p:nvPr/>
          </p:nvSpPr>
          <p:spPr>
            <a:xfrm>
              <a:off x="1358" y="1404"/>
              <a:ext cx="346" cy="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87" name="Line 7"/>
            <p:cNvSpPr/>
            <p:nvPr/>
          </p:nvSpPr>
          <p:spPr>
            <a:xfrm>
              <a:off x="1382" y="1704"/>
              <a:ext cx="322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88" name="Line 8"/>
            <p:cNvSpPr/>
            <p:nvPr/>
          </p:nvSpPr>
          <p:spPr>
            <a:xfrm>
              <a:off x="1382" y="2003"/>
              <a:ext cx="322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89" name="Oval 10"/>
            <p:cNvSpPr/>
            <p:nvPr/>
          </p:nvSpPr>
          <p:spPr>
            <a:xfrm>
              <a:off x="3920" y="2409"/>
              <a:ext cx="89" cy="8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46090" name="Line 11"/>
            <p:cNvSpPr/>
            <p:nvPr/>
          </p:nvSpPr>
          <p:spPr>
            <a:xfrm>
              <a:off x="3058" y="2458"/>
              <a:ext cx="85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1" name="Text Box 12"/>
            <p:cNvSpPr txBox="1"/>
            <p:nvPr/>
          </p:nvSpPr>
          <p:spPr>
            <a:xfrm>
              <a:off x="2661" y="2321"/>
              <a:ext cx="284" cy="25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Y</a:t>
              </a:r>
              <a:r>
                <a:rPr lang="en-US" altLang="zh-CN" sz="2000" baseline="-18000" dirty="0">
                  <a:ea typeface="宋体" panose="02010600030101010101" pitchFamily="2" charset="-122"/>
                </a:rPr>
                <a:t>6</a:t>
              </a:r>
              <a:endParaRPr lang="en-US" altLang="zh-CN" sz="2000" baseline="-18000" dirty="0">
                <a:ea typeface="宋体" panose="02010600030101010101" pitchFamily="2" charset="-122"/>
              </a:endParaRPr>
            </a:p>
          </p:txBody>
        </p:sp>
        <p:sp>
          <p:nvSpPr>
            <p:cNvPr id="46092" name="Text Box 13"/>
            <p:cNvSpPr txBox="1"/>
            <p:nvPr/>
          </p:nvSpPr>
          <p:spPr>
            <a:xfrm>
              <a:off x="1769" y="1216"/>
              <a:ext cx="233" cy="25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A</a:t>
              </a:r>
              <a:endParaRPr lang="en-US" altLang="zh-CN" sz="2000" baseline="-18000" dirty="0">
                <a:ea typeface="宋体" panose="02010600030101010101" pitchFamily="2" charset="-122"/>
              </a:endParaRPr>
            </a:p>
          </p:txBody>
        </p:sp>
        <p:sp>
          <p:nvSpPr>
            <p:cNvPr id="46093" name="Text Box 14"/>
            <p:cNvSpPr txBox="1"/>
            <p:nvPr/>
          </p:nvSpPr>
          <p:spPr>
            <a:xfrm>
              <a:off x="1769" y="1552"/>
              <a:ext cx="233" cy="25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B</a:t>
              </a:r>
              <a:endParaRPr lang="en-US" altLang="zh-CN" sz="2000" baseline="-18000" dirty="0">
                <a:ea typeface="宋体" panose="02010600030101010101" pitchFamily="2" charset="-122"/>
              </a:endParaRPr>
            </a:p>
          </p:txBody>
        </p:sp>
        <p:sp>
          <p:nvSpPr>
            <p:cNvPr id="46094" name="Text Box 15"/>
            <p:cNvSpPr txBox="1"/>
            <p:nvPr/>
          </p:nvSpPr>
          <p:spPr>
            <a:xfrm>
              <a:off x="1757" y="1840"/>
              <a:ext cx="233" cy="25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C</a:t>
              </a:r>
              <a:endParaRPr lang="en-US" altLang="zh-CN" sz="2000" baseline="-18000" dirty="0">
                <a:ea typeface="宋体" panose="02010600030101010101" pitchFamily="2" charset="-122"/>
              </a:endParaRPr>
            </a:p>
          </p:txBody>
        </p:sp>
        <p:sp>
          <p:nvSpPr>
            <p:cNvPr id="46095" name="Text Box 16"/>
            <p:cNvSpPr txBox="1"/>
            <p:nvPr/>
          </p:nvSpPr>
          <p:spPr>
            <a:xfrm>
              <a:off x="1874" y="3028"/>
              <a:ext cx="949" cy="31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solidFill>
                    <a:srgbClr val="0000CC"/>
                  </a:solidFill>
                  <a:ea typeface="宋体" panose="02010600030101010101" pitchFamily="2" charset="-122"/>
                </a:rPr>
                <a:t>74LS138</a:t>
              </a:r>
              <a:endParaRPr lang="en-US" altLang="zh-CN" sz="2400" baseline="-18000" dirty="0">
                <a:solidFill>
                  <a:srgbClr val="0000CC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6096" name="Text Box 21"/>
            <p:cNvSpPr txBox="1"/>
            <p:nvPr/>
          </p:nvSpPr>
          <p:spPr>
            <a:xfrm>
              <a:off x="1744" y="2143"/>
              <a:ext cx="301" cy="25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G</a:t>
              </a:r>
              <a:r>
                <a:rPr lang="en-US" altLang="zh-CN" sz="2000" baseline="-20000" dirty="0">
                  <a:ea typeface="宋体" panose="02010600030101010101" pitchFamily="2" charset="-122"/>
                </a:rPr>
                <a:t>1</a:t>
              </a:r>
              <a:endParaRPr lang="en-US" altLang="zh-CN" sz="2000" baseline="-20000" dirty="0">
                <a:ea typeface="宋体" panose="02010600030101010101" pitchFamily="2" charset="-122"/>
              </a:endParaRPr>
            </a:p>
          </p:txBody>
        </p:sp>
        <p:sp>
          <p:nvSpPr>
            <p:cNvPr id="46097" name="Line 22"/>
            <p:cNvSpPr/>
            <p:nvPr/>
          </p:nvSpPr>
          <p:spPr>
            <a:xfrm>
              <a:off x="1373" y="2353"/>
              <a:ext cx="322" cy="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6098" name="Group 29"/>
            <p:cNvGrpSpPr/>
            <p:nvPr/>
          </p:nvGrpSpPr>
          <p:grpSpPr>
            <a:xfrm>
              <a:off x="1373" y="2917"/>
              <a:ext cx="322" cy="75"/>
              <a:chOff x="2928" y="3168"/>
              <a:chExt cx="240" cy="48"/>
            </a:xfrm>
          </p:grpSpPr>
          <p:sp>
            <p:nvSpPr>
              <p:cNvPr id="46127" name="Oval 30"/>
              <p:cNvSpPr/>
              <p:nvPr/>
            </p:nvSpPr>
            <p:spPr>
              <a:xfrm>
                <a:off x="3120" y="3168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17970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49580" indent="-908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80962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80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2208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华文中宋" panose="02010600040101010101" pitchFamily="2" charset="-122"/>
                  </a:defRPr>
                </a:lvl4pPr>
                <a:lvl5pPr marL="261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46128" name="Line 31"/>
              <p:cNvSpPr/>
              <p:nvPr/>
            </p:nvSpPr>
            <p:spPr>
              <a:xfrm flipH="1">
                <a:off x="2928" y="3190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6099" name="Group 32"/>
            <p:cNvGrpSpPr/>
            <p:nvPr/>
          </p:nvGrpSpPr>
          <p:grpSpPr>
            <a:xfrm>
              <a:off x="1691" y="2752"/>
              <a:ext cx="494" cy="252"/>
              <a:chOff x="3629" y="3695"/>
              <a:chExt cx="367" cy="160"/>
            </a:xfrm>
          </p:grpSpPr>
          <p:sp>
            <p:nvSpPr>
              <p:cNvPr id="46125" name="Text Box 33"/>
              <p:cNvSpPr txBox="1"/>
              <p:nvPr/>
            </p:nvSpPr>
            <p:spPr>
              <a:xfrm>
                <a:off x="3629" y="3695"/>
                <a:ext cx="367" cy="16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lstStyle>
                <a:lvl1pPr marL="17970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49580" indent="-908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80962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80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2208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华文中宋" panose="02010600040101010101" pitchFamily="2" charset="-122"/>
                  </a:defRPr>
                </a:lvl4pPr>
                <a:lvl5pPr marL="261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dirty="0">
                    <a:ea typeface="宋体" panose="02010600030101010101" pitchFamily="2" charset="-122"/>
                  </a:rPr>
                  <a:t>G</a:t>
                </a:r>
                <a:r>
                  <a:rPr lang="en-US" altLang="zh-CN" sz="2000" baseline="-18000" dirty="0">
                    <a:ea typeface="宋体" panose="02010600030101010101" pitchFamily="2" charset="-122"/>
                  </a:rPr>
                  <a:t>2</a:t>
                </a:r>
                <a:r>
                  <a:rPr lang="en-US" altLang="zh-CN" sz="2000" baseline="-20000" dirty="0">
                    <a:ea typeface="宋体" panose="02010600030101010101" pitchFamily="2" charset="-122"/>
                  </a:rPr>
                  <a:t>A </a:t>
                </a:r>
                <a:r>
                  <a:rPr lang="en-US" altLang="zh-CN" sz="2000" dirty="0">
                    <a:ea typeface="宋体" panose="02010600030101010101" pitchFamily="2" charset="-122"/>
                  </a:rPr>
                  <a:t>#</a:t>
                </a:r>
                <a:endParaRPr lang="en-US" altLang="zh-CN" sz="2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46126" name="Line 34"/>
              <p:cNvSpPr/>
              <p:nvPr/>
            </p:nvSpPr>
            <p:spPr>
              <a:xfrm>
                <a:off x="3696" y="3744"/>
                <a:ext cx="192" cy="0"/>
              </a:xfrm>
              <a:prstGeom prst="line">
                <a:avLst/>
              </a:prstGeom>
              <a:ln w="28575">
                <a:noFill/>
              </a:ln>
            </p:spPr>
          </p:sp>
        </p:grpSp>
        <p:sp>
          <p:nvSpPr>
            <p:cNvPr id="46100" name="Line 35"/>
            <p:cNvSpPr/>
            <p:nvPr/>
          </p:nvSpPr>
          <p:spPr>
            <a:xfrm>
              <a:off x="1727" y="2765"/>
              <a:ext cx="297" cy="0"/>
            </a:xfrm>
            <a:prstGeom prst="line">
              <a:avLst/>
            </a:prstGeom>
            <a:ln w="19050" cap="flat" cmpd="sng">
              <a:solidFill>
                <a:srgbClr val="F0F8FE"/>
              </a:solidFill>
              <a:prstDash val="solid"/>
              <a:miter/>
              <a:headEnd type="none" w="med" len="med"/>
              <a:tailEnd type="none" w="med" len="med"/>
            </a:ln>
          </p:spPr>
        </p:sp>
        <p:grpSp>
          <p:nvGrpSpPr>
            <p:cNvPr id="46101" name="Group 38"/>
            <p:cNvGrpSpPr/>
            <p:nvPr/>
          </p:nvGrpSpPr>
          <p:grpSpPr>
            <a:xfrm>
              <a:off x="1373" y="3475"/>
              <a:ext cx="322" cy="74"/>
              <a:chOff x="2928" y="3168"/>
              <a:chExt cx="240" cy="48"/>
            </a:xfrm>
          </p:grpSpPr>
          <p:sp>
            <p:nvSpPr>
              <p:cNvPr id="46123" name="Oval 39"/>
              <p:cNvSpPr/>
              <p:nvPr/>
            </p:nvSpPr>
            <p:spPr>
              <a:xfrm>
                <a:off x="3120" y="3168"/>
                <a:ext cx="48" cy="48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17970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49580" indent="-908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80962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80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2208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华文中宋" panose="02010600040101010101" pitchFamily="2" charset="-122"/>
                  </a:defRPr>
                </a:lvl4pPr>
                <a:lvl5pPr marL="261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46124" name="Line 40"/>
              <p:cNvSpPr/>
              <p:nvPr/>
            </p:nvSpPr>
            <p:spPr>
              <a:xfrm flipH="1">
                <a:off x="2928" y="3190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6102" name="Group 41"/>
            <p:cNvGrpSpPr/>
            <p:nvPr/>
          </p:nvGrpSpPr>
          <p:grpSpPr>
            <a:xfrm>
              <a:off x="1698" y="3302"/>
              <a:ext cx="499" cy="252"/>
              <a:chOff x="3635" y="3702"/>
              <a:chExt cx="371" cy="162"/>
            </a:xfrm>
          </p:grpSpPr>
          <p:sp>
            <p:nvSpPr>
              <p:cNvPr id="46121" name="Text Box 42"/>
              <p:cNvSpPr txBox="1"/>
              <p:nvPr/>
            </p:nvSpPr>
            <p:spPr>
              <a:xfrm>
                <a:off x="3635" y="3702"/>
                <a:ext cx="371" cy="162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lstStyle>
                <a:lvl1pPr marL="17970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49580" indent="-908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80962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80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2208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华文中宋" panose="02010600040101010101" pitchFamily="2" charset="-122"/>
                  </a:defRPr>
                </a:lvl4pPr>
                <a:lvl5pPr marL="261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dirty="0">
                    <a:ea typeface="宋体" panose="02010600030101010101" pitchFamily="2" charset="-122"/>
                  </a:rPr>
                  <a:t>G</a:t>
                </a:r>
                <a:r>
                  <a:rPr lang="en-US" altLang="zh-CN" sz="2000" baseline="-18000" dirty="0">
                    <a:ea typeface="宋体" panose="02010600030101010101" pitchFamily="2" charset="-122"/>
                  </a:rPr>
                  <a:t>2</a:t>
                </a:r>
                <a:r>
                  <a:rPr lang="en-US" altLang="zh-CN" sz="2000" baseline="-20000" dirty="0">
                    <a:ea typeface="宋体" panose="02010600030101010101" pitchFamily="2" charset="-122"/>
                  </a:rPr>
                  <a:t>B </a:t>
                </a:r>
                <a:r>
                  <a:rPr lang="en-US" altLang="zh-CN" sz="2000" dirty="0">
                    <a:ea typeface="宋体" panose="02010600030101010101" pitchFamily="2" charset="-122"/>
                  </a:rPr>
                  <a:t>#</a:t>
                </a:r>
                <a:endParaRPr lang="en-US" altLang="zh-CN" sz="2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46122" name="Line 43"/>
              <p:cNvSpPr/>
              <p:nvPr/>
            </p:nvSpPr>
            <p:spPr>
              <a:xfrm>
                <a:off x="3696" y="3744"/>
                <a:ext cx="192" cy="0"/>
              </a:xfrm>
              <a:prstGeom prst="line">
                <a:avLst/>
              </a:prstGeom>
              <a:ln w="28575">
                <a:noFill/>
              </a:ln>
            </p:spPr>
          </p:sp>
        </p:grpSp>
        <p:sp>
          <p:nvSpPr>
            <p:cNvPr id="46103" name="Line 44"/>
            <p:cNvSpPr/>
            <p:nvPr/>
          </p:nvSpPr>
          <p:spPr>
            <a:xfrm>
              <a:off x="1763" y="3325"/>
              <a:ext cx="297" cy="0"/>
            </a:xfrm>
            <a:prstGeom prst="line">
              <a:avLst/>
            </a:prstGeom>
            <a:ln w="19050" cap="flat" cmpd="sng">
              <a:solidFill>
                <a:srgbClr val="F0F8FE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6104" name="Rectangle 53"/>
            <p:cNvSpPr/>
            <p:nvPr/>
          </p:nvSpPr>
          <p:spPr>
            <a:xfrm>
              <a:off x="4016" y="1552"/>
              <a:ext cx="1304" cy="207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46105" name="Oval 56"/>
            <p:cNvSpPr/>
            <p:nvPr/>
          </p:nvSpPr>
          <p:spPr>
            <a:xfrm>
              <a:off x="2976" y="2417"/>
              <a:ext cx="89" cy="8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46106" name="Line 57"/>
            <p:cNvSpPr/>
            <p:nvPr/>
          </p:nvSpPr>
          <p:spPr>
            <a:xfrm>
              <a:off x="3864" y="2936"/>
              <a:ext cx="15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6107" name="Line 58"/>
            <p:cNvSpPr/>
            <p:nvPr/>
          </p:nvSpPr>
          <p:spPr>
            <a:xfrm>
              <a:off x="3872" y="3168"/>
              <a:ext cx="15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6108" name="Line 59"/>
            <p:cNvSpPr/>
            <p:nvPr/>
          </p:nvSpPr>
          <p:spPr>
            <a:xfrm>
              <a:off x="3872" y="3424"/>
              <a:ext cx="15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6109" name="Text Box 60"/>
            <p:cNvSpPr txBox="1"/>
            <p:nvPr/>
          </p:nvSpPr>
          <p:spPr>
            <a:xfrm>
              <a:off x="4025" y="3248"/>
              <a:ext cx="293" cy="25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A</a:t>
              </a:r>
              <a:r>
                <a:rPr lang="en-US" altLang="zh-CN" sz="2000" baseline="-25000" dirty="0">
                  <a:ea typeface="宋体" panose="02010600030101010101" pitchFamily="2" charset="-122"/>
                </a:rPr>
                <a:t>0</a:t>
              </a:r>
              <a:endParaRPr lang="en-US" altLang="zh-CN" sz="20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6110" name="Text Box 61"/>
            <p:cNvSpPr txBox="1"/>
            <p:nvPr/>
          </p:nvSpPr>
          <p:spPr>
            <a:xfrm>
              <a:off x="4025" y="2992"/>
              <a:ext cx="293" cy="25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A</a:t>
              </a:r>
              <a:r>
                <a:rPr lang="en-US" altLang="zh-CN" sz="2000" baseline="-25000" dirty="0">
                  <a:ea typeface="宋体" panose="02010600030101010101" pitchFamily="2" charset="-122"/>
                </a:rPr>
                <a:t>1</a:t>
              </a:r>
              <a:endParaRPr lang="en-US" altLang="zh-CN" sz="20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6111" name="Text Box 62"/>
            <p:cNvSpPr txBox="1"/>
            <p:nvPr/>
          </p:nvSpPr>
          <p:spPr>
            <a:xfrm>
              <a:off x="4033" y="2328"/>
              <a:ext cx="431" cy="25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CS#</a:t>
              </a:r>
              <a:endParaRPr lang="en-US" altLang="zh-CN" sz="20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6112" name="Text Box 66"/>
            <p:cNvSpPr txBox="1"/>
            <p:nvPr/>
          </p:nvSpPr>
          <p:spPr>
            <a:xfrm>
              <a:off x="4009" y="2768"/>
              <a:ext cx="293" cy="25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A</a:t>
              </a:r>
              <a:r>
                <a:rPr lang="en-US" altLang="zh-CN" sz="2000" baseline="-25000" dirty="0">
                  <a:ea typeface="宋体" panose="02010600030101010101" pitchFamily="2" charset="-122"/>
                </a:rPr>
                <a:t>2</a:t>
              </a:r>
              <a:endParaRPr lang="en-US" altLang="zh-CN" sz="20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6113" name="Text Box 67"/>
            <p:cNvSpPr txBox="1"/>
            <p:nvPr/>
          </p:nvSpPr>
          <p:spPr>
            <a:xfrm>
              <a:off x="4116" y="1706"/>
              <a:ext cx="1145" cy="31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dirty="0">
                  <a:solidFill>
                    <a:srgbClr val="0000CC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某接口芯片</a:t>
              </a:r>
              <a:endParaRPr lang="zh-CN" altLang="en-US" sz="2400" baseline="-180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46114" name="Text Box 82"/>
            <p:cNvSpPr txBox="1"/>
            <p:nvPr/>
          </p:nvSpPr>
          <p:spPr>
            <a:xfrm>
              <a:off x="1057" y="3339"/>
              <a:ext cx="317" cy="368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ea typeface="宋体" panose="02010600030101010101" pitchFamily="2" charset="-122"/>
                </a:rPr>
                <a:t>&amp;</a:t>
              </a:r>
              <a:endParaRPr lang="en-US" altLang="zh-CN" dirty="0">
                <a:ea typeface="宋体" panose="02010600030101010101" pitchFamily="2" charset="-122"/>
              </a:endParaRPr>
            </a:p>
          </p:txBody>
        </p:sp>
        <p:sp>
          <p:nvSpPr>
            <p:cNvPr id="46115" name="Line 83"/>
            <p:cNvSpPr/>
            <p:nvPr/>
          </p:nvSpPr>
          <p:spPr>
            <a:xfrm flipH="1">
              <a:off x="665" y="3414"/>
              <a:ext cx="3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6116" name="Line 84"/>
            <p:cNvSpPr/>
            <p:nvPr/>
          </p:nvSpPr>
          <p:spPr>
            <a:xfrm flipH="1">
              <a:off x="665" y="3630"/>
              <a:ext cx="3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6117" name="Text Box 85"/>
            <p:cNvSpPr txBox="1"/>
            <p:nvPr/>
          </p:nvSpPr>
          <p:spPr>
            <a:xfrm>
              <a:off x="144" y="3251"/>
              <a:ext cx="569" cy="29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ea typeface="宋体" panose="02010600030101010101" pitchFamily="2" charset="-122"/>
                </a:rPr>
                <a:t>IOR#</a:t>
              </a:r>
              <a:endParaRPr lang="en-US" altLang="zh-CN" sz="2400" baseline="-18000" dirty="0">
                <a:ea typeface="宋体" panose="02010600030101010101" pitchFamily="2" charset="-122"/>
              </a:endParaRPr>
            </a:p>
          </p:txBody>
        </p:sp>
        <p:sp>
          <p:nvSpPr>
            <p:cNvPr id="46118" name="Text Box 86"/>
            <p:cNvSpPr txBox="1"/>
            <p:nvPr/>
          </p:nvSpPr>
          <p:spPr>
            <a:xfrm>
              <a:off x="135" y="3476"/>
              <a:ext cx="611" cy="29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ea typeface="宋体" panose="02010600030101010101" pitchFamily="2" charset="-122"/>
                </a:rPr>
                <a:t>IOW#</a:t>
              </a:r>
              <a:endParaRPr lang="en-US" altLang="zh-CN" sz="2400" baseline="-18000" dirty="0">
                <a:ea typeface="宋体" panose="02010600030101010101" pitchFamily="2" charset="-122"/>
              </a:endParaRPr>
            </a:p>
          </p:txBody>
        </p:sp>
        <p:sp>
          <p:nvSpPr>
            <p:cNvPr id="46119" name="Line 87"/>
            <p:cNvSpPr/>
            <p:nvPr/>
          </p:nvSpPr>
          <p:spPr>
            <a:xfrm>
              <a:off x="233" y="3270"/>
              <a:ext cx="297" cy="0"/>
            </a:xfrm>
            <a:prstGeom prst="line">
              <a:avLst/>
            </a:prstGeom>
            <a:ln w="19050" cap="flat" cmpd="sng">
              <a:solidFill>
                <a:srgbClr val="F0F8FE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46120" name="Line 88"/>
            <p:cNvSpPr/>
            <p:nvPr/>
          </p:nvSpPr>
          <p:spPr>
            <a:xfrm>
              <a:off x="206" y="3513"/>
              <a:ext cx="297" cy="0"/>
            </a:xfrm>
            <a:prstGeom prst="line">
              <a:avLst/>
            </a:prstGeom>
            <a:ln w="19050" cap="flat" cmpd="sng">
              <a:solidFill>
                <a:srgbClr val="F0F8FE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49" name="标题 1"/>
          <p:cNvSpPr txBox="1"/>
          <p:nvPr/>
        </p:nvSpPr>
        <p:spPr>
          <a:xfrm>
            <a:off x="574675" y="231775"/>
            <a:ext cx="7021513" cy="676275"/>
          </a:xfrm>
          <a:prstGeom prst="rect">
            <a:avLst/>
          </a:prstGeom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120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I/O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+mj-cs"/>
              </a:rPr>
              <a:t>端口译码设计</a:t>
            </a:r>
            <a:r>
              <a:rPr kumimoji="0" lang="zh-CN" altLang="en-US" sz="4000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实例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Text Box 52"/>
          <p:cNvSpPr txBox="1"/>
          <p:nvPr/>
        </p:nvSpPr>
        <p:spPr>
          <a:xfrm>
            <a:off x="1619250" y="1336675"/>
            <a:ext cx="45053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9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8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7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6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5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4  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800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3685" name="Text Box 53"/>
          <p:cNvSpPr txBox="1"/>
          <p:nvPr/>
        </p:nvSpPr>
        <p:spPr>
          <a:xfrm>
            <a:off x="1624013" y="1855788"/>
            <a:ext cx="2582862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1   0   0  1  1  0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32" name="Line 55"/>
          <p:cNvSpPr/>
          <p:nvPr/>
        </p:nvSpPr>
        <p:spPr>
          <a:xfrm>
            <a:off x="6084888" y="1268413"/>
            <a:ext cx="0" cy="1371600"/>
          </a:xfrm>
          <a:prstGeom prst="line">
            <a:avLst/>
          </a:prstGeom>
          <a:ln w="38100" cap="flat" cmpd="sng">
            <a:solidFill>
              <a:srgbClr val="FF3300"/>
            </a:solidFill>
            <a:prstDash val="dash"/>
            <a:miter/>
            <a:headEnd type="none" w="med" len="med"/>
            <a:tailEnd type="none" w="med" len="med"/>
          </a:ln>
        </p:spPr>
      </p:sp>
      <p:sp>
        <p:nvSpPr>
          <p:cNvPr id="48133" name="Line 56"/>
          <p:cNvSpPr/>
          <p:nvPr/>
        </p:nvSpPr>
        <p:spPr>
          <a:xfrm>
            <a:off x="4281488" y="1239838"/>
            <a:ext cx="0" cy="1371600"/>
          </a:xfrm>
          <a:prstGeom prst="line">
            <a:avLst/>
          </a:prstGeom>
          <a:ln w="38100" cap="flat" cmpd="sng">
            <a:solidFill>
              <a:srgbClr val="FF3300"/>
            </a:solidFill>
            <a:prstDash val="dash"/>
            <a:miter/>
            <a:headEnd type="none" w="med" len="med"/>
            <a:tailEnd type="none" w="med" len="med"/>
          </a:ln>
        </p:spPr>
      </p:sp>
      <p:sp>
        <p:nvSpPr>
          <p:cNvPr id="48134" name="Line 57"/>
          <p:cNvSpPr/>
          <p:nvPr/>
        </p:nvSpPr>
        <p:spPr>
          <a:xfrm>
            <a:off x="2524125" y="1296988"/>
            <a:ext cx="0" cy="1371600"/>
          </a:xfrm>
          <a:prstGeom prst="line">
            <a:avLst/>
          </a:prstGeom>
          <a:ln w="38100" cap="flat" cmpd="sng">
            <a:solidFill>
              <a:srgbClr val="FF3300"/>
            </a:solidFill>
            <a:prstDash val="dash"/>
            <a:miter/>
            <a:headEnd type="none" w="med" len="med"/>
            <a:tailEnd type="none" w="med" len="med"/>
          </a:ln>
        </p:spPr>
      </p:sp>
      <p:sp>
        <p:nvSpPr>
          <p:cNvPr id="48135" name="Rectangle 61"/>
          <p:cNvSpPr/>
          <p:nvPr/>
        </p:nvSpPr>
        <p:spPr>
          <a:xfrm>
            <a:off x="3306763" y="2874963"/>
            <a:ext cx="1747837" cy="33401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2000" b="0" dirty="0">
              <a:ea typeface="宋体" panose="02010600030101010101" pitchFamily="2" charset="-122"/>
            </a:endParaRPr>
          </a:p>
        </p:txBody>
      </p:sp>
      <p:sp>
        <p:nvSpPr>
          <p:cNvPr id="48136" name="Line 63"/>
          <p:cNvSpPr/>
          <p:nvPr/>
        </p:nvSpPr>
        <p:spPr>
          <a:xfrm>
            <a:off x="2798763" y="3427413"/>
            <a:ext cx="511175" cy="158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37" name="Line 64"/>
          <p:cNvSpPr/>
          <p:nvPr/>
        </p:nvSpPr>
        <p:spPr>
          <a:xfrm>
            <a:off x="2787650" y="3789363"/>
            <a:ext cx="511175" cy="158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38" name="Oval 65"/>
          <p:cNvSpPr/>
          <p:nvPr/>
        </p:nvSpPr>
        <p:spPr>
          <a:xfrm>
            <a:off x="6553200" y="4246563"/>
            <a:ext cx="141288" cy="131762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2000" b="0" dirty="0">
              <a:ea typeface="宋体" panose="02010600030101010101" pitchFamily="2" charset="-122"/>
            </a:endParaRPr>
          </a:p>
        </p:txBody>
      </p:sp>
      <p:sp>
        <p:nvSpPr>
          <p:cNvPr id="48139" name="Line 66"/>
          <p:cNvSpPr/>
          <p:nvPr/>
        </p:nvSpPr>
        <p:spPr>
          <a:xfrm>
            <a:off x="5184775" y="4324350"/>
            <a:ext cx="136207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40" name="Text Box 67"/>
          <p:cNvSpPr txBox="1"/>
          <p:nvPr/>
        </p:nvSpPr>
        <p:spPr>
          <a:xfrm>
            <a:off x="4587875" y="4105275"/>
            <a:ext cx="450850" cy="40005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Y</a:t>
            </a:r>
            <a:r>
              <a:rPr lang="en-US" altLang="zh-CN" sz="2000" baseline="-18000" dirty="0">
                <a:ea typeface="宋体" panose="02010600030101010101" pitchFamily="2" charset="-122"/>
              </a:rPr>
              <a:t>6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48141" name="Text Box 68"/>
          <p:cNvSpPr txBox="1"/>
          <p:nvPr/>
        </p:nvSpPr>
        <p:spPr>
          <a:xfrm>
            <a:off x="3309938" y="2916238"/>
            <a:ext cx="371475" cy="40005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A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48142" name="Text Box 69"/>
          <p:cNvSpPr txBox="1"/>
          <p:nvPr/>
        </p:nvSpPr>
        <p:spPr>
          <a:xfrm>
            <a:off x="3305175" y="3244850"/>
            <a:ext cx="371475" cy="40005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B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48143" name="Text Box 70"/>
          <p:cNvSpPr txBox="1"/>
          <p:nvPr/>
        </p:nvSpPr>
        <p:spPr>
          <a:xfrm>
            <a:off x="3306763" y="3560763"/>
            <a:ext cx="371475" cy="40005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C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48144" name="Text Box 71"/>
          <p:cNvSpPr txBox="1"/>
          <p:nvPr/>
        </p:nvSpPr>
        <p:spPr>
          <a:xfrm>
            <a:off x="3494088" y="5267325"/>
            <a:ext cx="1435100" cy="46196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CC"/>
                </a:solidFill>
                <a:ea typeface="宋体" panose="02010600030101010101" pitchFamily="2" charset="-122"/>
              </a:rPr>
              <a:t>74LS138</a:t>
            </a:r>
            <a:endParaRPr lang="en-US" altLang="zh-CN" sz="2400" baseline="-18000" dirty="0">
              <a:solidFill>
                <a:srgbClr val="0000CC"/>
              </a:solidFill>
              <a:ea typeface="宋体" panose="02010600030101010101" pitchFamily="2" charset="-122"/>
            </a:endParaRPr>
          </a:p>
        </p:txBody>
      </p:sp>
      <p:sp>
        <p:nvSpPr>
          <p:cNvPr id="48145" name="Text Box 72"/>
          <p:cNvSpPr txBox="1"/>
          <p:nvPr/>
        </p:nvSpPr>
        <p:spPr>
          <a:xfrm>
            <a:off x="3297238" y="4230688"/>
            <a:ext cx="479425" cy="40005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G</a:t>
            </a:r>
            <a:r>
              <a:rPr lang="en-US" altLang="zh-CN" sz="2000" baseline="-20000" dirty="0">
                <a:ea typeface="宋体" panose="02010600030101010101" pitchFamily="2" charset="-122"/>
              </a:rPr>
              <a:t>1</a:t>
            </a:r>
            <a:endParaRPr lang="en-US" altLang="zh-CN" sz="2000" baseline="-20000" dirty="0">
              <a:ea typeface="宋体" panose="02010600030101010101" pitchFamily="2" charset="-122"/>
            </a:endParaRPr>
          </a:p>
        </p:txBody>
      </p:sp>
      <p:sp>
        <p:nvSpPr>
          <p:cNvPr id="48146" name="Line 73"/>
          <p:cNvSpPr/>
          <p:nvPr/>
        </p:nvSpPr>
        <p:spPr>
          <a:xfrm>
            <a:off x="2776538" y="4425950"/>
            <a:ext cx="511175" cy="31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8147" name="Group 74"/>
          <p:cNvGrpSpPr/>
          <p:nvPr/>
        </p:nvGrpSpPr>
        <p:grpSpPr>
          <a:xfrm>
            <a:off x="2784475" y="5038725"/>
            <a:ext cx="511175" cy="119063"/>
            <a:chOff x="2928" y="3168"/>
            <a:chExt cx="240" cy="48"/>
          </a:xfrm>
        </p:grpSpPr>
        <p:sp>
          <p:nvSpPr>
            <p:cNvPr id="48194" name="Oval 75"/>
            <p:cNvSpPr/>
            <p:nvPr/>
          </p:nvSpPr>
          <p:spPr>
            <a:xfrm>
              <a:off x="3120" y="3168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2000" b="0" dirty="0">
                <a:ea typeface="宋体" panose="02010600030101010101" pitchFamily="2" charset="-122"/>
              </a:endParaRPr>
            </a:p>
          </p:txBody>
        </p:sp>
        <p:sp>
          <p:nvSpPr>
            <p:cNvPr id="48195" name="Line 76"/>
            <p:cNvSpPr/>
            <p:nvPr/>
          </p:nvSpPr>
          <p:spPr>
            <a:xfrm flipH="1">
              <a:off x="2928" y="3190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8148" name="Group 77"/>
          <p:cNvGrpSpPr/>
          <p:nvPr/>
        </p:nvGrpSpPr>
        <p:grpSpPr>
          <a:xfrm>
            <a:off x="3279775" y="4891088"/>
            <a:ext cx="785813" cy="398462"/>
            <a:chOff x="3633" y="3696"/>
            <a:chExt cx="368" cy="160"/>
          </a:xfrm>
        </p:grpSpPr>
        <p:sp>
          <p:nvSpPr>
            <p:cNvPr id="48192" name="Text Box 78"/>
            <p:cNvSpPr txBox="1"/>
            <p:nvPr/>
          </p:nvSpPr>
          <p:spPr>
            <a:xfrm>
              <a:off x="3633" y="3696"/>
              <a:ext cx="368" cy="16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G</a:t>
              </a:r>
              <a:r>
                <a:rPr lang="en-US" altLang="zh-CN" sz="2000" baseline="-18000" dirty="0">
                  <a:ea typeface="宋体" panose="02010600030101010101" pitchFamily="2" charset="-122"/>
                </a:rPr>
                <a:t>2</a:t>
              </a:r>
              <a:r>
                <a:rPr lang="en-US" altLang="zh-CN" sz="2000" baseline="-20000" dirty="0">
                  <a:ea typeface="宋体" panose="02010600030101010101" pitchFamily="2" charset="-122"/>
                </a:rPr>
                <a:t>A </a:t>
              </a:r>
              <a:r>
                <a:rPr lang="en-US" altLang="zh-CN" sz="2000" dirty="0">
                  <a:ea typeface="宋体" panose="02010600030101010101" pitchFamily="2" charset="-122"/>
                </a:rPr>
                <a:t>#</a:t>
              </a:r>
              <a:endParaRPr lang="en-US" altLang="zh-CN" sz="2000" dirty="0">
                <a:ea typeface="宋体" panose="02010600030101010101" pitchFamily="2" charset="-122"/>
              </a:endParaRPr>
            </a:p>
          </p:txBody>
        </p:sp>
        <p:sp>
          <p:nvSpPr>
            <p:cNvPr id="48193" name="Line 79"/>
            <p:cNvSpPr/>
            <p:nvPr/>
          </p:nvSpPr>
          <p:spPr>
            <a:xfrm>
              <a:off x="3696" y="3744"/>
              <a:ext cx="192" cy="0"/>
            </a:xfrm>
            <a:prstGeom prst="line">
              <a:avLst/>
            </a:prstGeom>
            <a:ln w="28575">
              <a:noFill/>
            </a:ln>
          </p:spPr>
        </p:sp>
      </p:grpSp>
      <p:grpSp>
        <p:nvGrpSpPr>
          <p:cNvPr id="48149" name="Group 81"/>
          <p:cNvGrpSpPr/>
          <p:nvPr/>
        </p:nvGrpSpPr>
        <p:grpSpPr>
          <a:xfrm>
            <a:off x="2784475" y="5800725"/>
            <a:ext cx="511175" cy="117475"/>
            <a:chOff x="2928" y="3168"/>
            <a:chExt cx="240" cy="48"/>
          </a:xfrm>
        </p:grpSpPr>
        <p:sp>
          <p:nvSpPr>
            <p:cNvPr id="48190" name="Oval 82"/>
            <p:cNvSpPr/>
            <p:nvPr/>
          </p:nvSpPr>
          <p:spPr>
            <a:xfrm>
              <a:off x="3120" y="3168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2000" b="0" dirty="0">
                <a:ea typeface="宋体" panose="02010600030101010101" pitchFamily="2" charset="-122"/>
              </a:endParaRPr>
            </a:p>
          </p:txBody>
        </p:sp>
        <p:sp>
          <p:nvSpPr>
            <p:cNvPr id="48191" name="Line 83"/>
            <p:cNvSpPr/>
            <p:nvPr/>
          </p:nvSpPr>
          <p:spPr>
            <a:xfrm flipH="1">
              <a:off x="2928" y="3190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8150" name="Group 84"/>
          <p:cNvGrpSpPr/>
          <p:nvPr/>
        </p:nvGrpSpPr>
        <p:grpSpPr>
          <a:xfrm>
            <a:off x="3276600" y="5673725"/>
            <a:ext cx="790575" cy="401638"/>
            <a:chOff x="3633" y="3696"/>
            <a:chExt cx="371" cy="162"/>
          </a:xfrm>
        </p:grpSpPr>
        <p:sp>
          <p:nvSpPr>
            <p:cNvPr id="48188" name="Text Box 85"/>
            <p:cNvSpPr txBox="1"/>
            <p:nvPr/>
          </p:nvSpPr>
          <p:spPr>
            <a:xfrm>
              <a:off x="3633" y="3696"/>
              <a:ext cx="371" cy="16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G</a:t>
              </a:r>
              <a:r>
                <a:rPr lang="en-US" altLang="zh-CN" sz="2000" baseline="-18000" dirty="0">
                  <a:ea typeface="宋体" panose="02010600030101010101" pitchFamily="2" charset="-122"/>
                </a:rPr>
                <a:t>2</a:t>
              </a:r>
              <a:r>
                <a:rPr lang="en-US" altLang="zh-CN" sz="2000" baseline="-20000" dirty="0">
                  <a:ea typeface="宋体" panose="02010600030101010101" pitchFamily="2" charset="-122"/>
                </a:rPr>
                <a:t>B </a:t>
              </a:r>
              <a:r>
                <a:rPr lang="en-US" altLang="zh-CN" sz="2000" dirty="0">
                  <a:ea typeface="宋体" panose="02010600030101010101" pitchFamily="2" charset="-122"/>
                </a:rPr>
                <a:t>#</a:t>
              </a:r>
              <a:endParaRPr lang="en-US" altLang="zh-CN" sz="2000" dirty="0">
                <a:ea typeface="宋体" panose="02010600030101010101" pitchFamily="2" charset="-122"/>
              </a:endParaRPr>
            </a:p>
          </p:txBody>
        </p:sp>
        <p:sp>
          <p:nvSpPr>
            <p:cNvPr id="48189" name="Line 86"/>
            <p:cNvSpPr/>
            <p:nvPr/>
          </p:nvSpPr>
          <p:spPr>
            <a:xfrm>
              <a:off x="3696" y="3744"/>
              <a:ext cx="192" cy="0"/>
            </a:xfrm>
            <a:prstGeom prst="line">
              <a:avLst/>
            </a:prstGeom>
            <a:ln w="28575">
              <a:noFill/>
            </a:ln>
          </p:spPr>
        </p:sp>
      </p:grpSp>
      <p:sp>
        <p:nvSpPr>
          <p:cNvPr id="48151" name="Line 87"/>
          <p:cNvSpPr/>
          <p:nvPr/>
        </p:nvSpPr>
        <p:spPr>
          <a:xfrm>
            <a:off x="3316288" y="5700713"/>
            <a:ext cx="471487" cy="0"/>
          </a:xfrm>
          <a:prstGeom prst="line">
            <a:avLst/>
          </a:prstGeom>
          <a:ln w="19050" cap="flat" cmpd="sng">
            <a:solidFill>
              <a:srgbClr val="F0F8F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8152" name="Rectangle 95"/>
          <p:cNvSpPr/>
          <p:nvPr/>
        </p:nvSpPr>
        <p:spPr>
          <a:xfrm>
            <a:off x="6705600" y="2874963"/>
            <a:ext cx="1790700" cy="3300412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2000" b="0" dirty="0">
              <a:ea typeface="宋体" panose="02010600030101010101" pitchFamily="2" charset="-122"/>
            </a:endParaRPr>
          </a:p>
        </p:txBody>
      </p:sp>
      <p:sp>
        <p:nvSpPr>
          <p:cNvPr id="48153" name="Oval 96"/>
          <p:cNvSpPr/>
          <p:nvPr/>
        </p:nvSpPr>
        <p:spPr>
          <a:xfrm>
            <a:off x="5054600" y="4259263"/>
            <a:ext cx="141288" cy="131762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2000" b="0" dirty="0">
              <a:ea typeface="宋体" panose="02010600030101010101" pitchFamily="2" charset="-122"/>
            </a:endParaRPr>
          </a:p>
        </p:txBody>
      </p:sp>
      <p:sp>
        <p:nvSpPr>
          <p:cNvPr id="48154" name="Line 97"/>
          <p:cNvSpPr/>
          <p:nvPr/>
        </p:nvSpPr>
        <p:spPr>
          <a:xfrm>
            <a:off x="6464300" y="5083175"/>
            <a:ext cx="2413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8155" name="Line 98"/>
          <p:cNvSpPr/>
          <p:nvPr/>
        </p:nvSpPr>
        <p:spPr>
          <a:xfrm>
            <a:off x="6477000" y="5451475"/>
            <a:ext cx="2413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8156" name="Line 99"/>
          <p:cNvSpPr/>
          <p:nvPr/>
        </p:nvSpPr>
        <p:spPr>
          <a:xfrm>
            <a:off x="6477000" y="5857875"/>
            <a:ext cx="2413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8157" name="Text Box 100"/>
          <p:cNvSpPr txBox="1"/>
          <p:nvPr/>
        </p:nvSpPr>
        <p:spPr>
          <a:xfrm>
            <a:off x="6719888" y="5578475"/>
            <a:ext cx="465137" cy="40005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A</a:t>
            </a:r>
            <a:r>
              <a:rPr lang="en-US" altLang="zh-CN" sz="2000" baseline="-25000" dirty="0">
                <a:ea typeface="宋体" panose="02010600030101010101" pitchFamily="2" charset="-122"/>
              </a:rPr>
              <a:t>0</a:t>
            </a:r>
            <a:endParaRPr lang="en-US" altLang="zh-CN" sz="2000" baseline="-25000" dirty="0">
              <a:ea typeface="宋体" panose="02010600030101010101" pitchFamily="2" charset="-122"/>
            </a:endParaRPr>
          </a:p>
        </p:txBody>
      </p:sp>
      <p:sp>
        <p:nvSpPr>
          <p:cNvPr id="48158" name="Text Box 101"/>
          <p:cNvSpPr txBox="1"/>
          <p:nvPr/>
        </p:nvSpPr>
        <p:spPr>
          <a:xfrm>
            <a:off x="6719888" y="5172075"/>
            <a:ext cx="465137" cy="40005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A</a:t>
            </a:r>
            <a:r>
              <a:rPr lang="en-US" altLang="zh-CN" sz="2000" baseline="-25000" dirty="0">
                <a:ea typeface="宋体" panose="02010600030101010101" pitchFamily="2" charset="-122"/>
              </a:rPr>
              <a:t>1</a:t>
            </a:r>
            <a:endParaRPr lang="en-US" altLang="zh-CN" sz="2000" baseline="-25000" dirty="0">
              <a:ea typeface="宋体" panose="02010600030101010101" pitchFamily="2" charset="-122"/>
            </a:endParaRPr>
          </a:p>
        </p:txBody>
      </p:sp>
      <p:sp>
        <p:nvSpPr>
          <p:cNvPr id="48159" name="Text Box 102"/>
          <p:cNvSpPr txBox="1"/>
          <p:nvPr/>
        </p:nvSpPr>
        <p:spPr>
          <a:xfrm>
            <a:off x="6697663" y="4117975"/>
            <a:ext cx="684212" cy="40005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CS#</a:t>
            </a:r>
            <a:endParaRPr lang="en-US" altLang="zh-CN" sz="2000" baseline="-25000" dirty="0">
              <a:ea typeface="宋体" panose="02010600030101010101" pitchFamily="2" charset="-122"/>
            </a:endParaRPr>
          </a:p>
        </p:txBody>
      </p:sp>
      <p:sp>
        <p:nvSpPr>
          <p:cNvPr id="48160" name="Text Box 106"/>
          <p:cNvSpPr txBox="1"/>
          <p:nvPr/>
        </p:nvSpPr>
        <p:spPr>
          <a:xfrm>
            <a:off x="6694488" y="4816475"/>
            <a:ext cx="465137" cy="40005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A</a:t>
            </a:r>
            <a:r>
              <a:rPr lang="en-US" altLang="zh-CN" sz="2000" baseline="-25000" dirty="0">
                <a:ea typeface="宋体" panose="02010600030101010101" pitchFamily="2" charset="-122"/>
              </a:rPr>
              <a:t>2</a:t>
            </a:r>
            <a:endParaRPr lang="en-US" altLang="zh-CN" sz="2000" baseline="-25000" dirty="0">
              <a:ea typeface="宋体" panose="02010600030101010101" pitchFamily="2" charset="-122"/>
            </a:endParaRPr>
          </a:p>
        </p:txBody>
      </p:sp>
      <p:sp>
        <p:nvSpPr>
          <p:cNvPr id="48161" name="Text Box 107"/>
          <p:cNvSpPr txBox="1"/>
          <p:nvPr/>
        </p:nvSpPr>
        <p:spPr>
          <a:xfrm>
            <a:off x="6740525" y="3149600"/>
            <a:ext cx="1731963" cy="46196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某接口芯片</a:t>
            </a:r>
            <a:endParaRPr lang="zh-CN" altLang="en-US" sz="2400" baseline="-18000" dirty="0">
              <a:solidFill>
                <a:srgbClr val="0000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8162" name="Text Box 88"/>
          <p:cNvSpPr txBox="1"/>
          <p:nvPr/>
        </p:nvSpPr>
        <p:spPr>
          <a:xfrm>
            <a:off x="2282825" y="5572125"/>
            <a:ext cx="503238" cy="531813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800" b="0" dirty="0">
                <a:ea typeface="宋体" panose="02010600030101010101" pitchFamily="2" charset="-122"/>
              </a:rPr>
              <a:t>&amp;</a:t>
            </a:r>
            <a:endParaRPr lang="en-US" altLang="zh-CN" sz="2800" b="0" dirty="0">
              <a:ea typeface="宋体" panose="02010600030101010101" pitchFamily="2" charset="-122"/>
            </a:endParaRPr>
          </a:p>
        </p:txBody>
      </p:sp>
      <p:sp>
        <p:nvSpPr>
          <p:cNvPr id="48163" name="Line 89"/>
          <p:cNvSpPr/>
          <p:nvPr/>
        </p:nvSpPr>
        <p:spPr>
          <a:xfrm flipH="1">
            <a:off x="1651000" y="5680075"/>
            <a:ext cx="6286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8164" name="Line 90"/>
          <p:cNvSpPr/>
          <p:nvPr/>
        </p:nvSpPr>
        <p:spPr>
          <a:xfrm flipH="1">
            <a:off x="1651000" y="6022975"/>
            <a:ext cx="6286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8165" name="Text Box 91"/>
          <p:cNvSpPr txBox="1"/>
          <p:nvPr/>
        </p:nvSpPr>
        <p:spPr>
          <a:xfrm>
            <a:off x="823913" y="5421313"/>
            <a:ext cx="782637" cy="401637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IOR#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48166" name="Text Box 92"/>
          <p:cNvSpPr txBox="1"/>
          <p:nvPr/>
        </p:nvSpPr>
        <p:spPr>
          <a:xfrm>
            <a:off x="809625" y="5778500"/>
            <a:ext cx="838200" cy="401638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IOW#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48167" name="Line 94"/>
          <p:cNvSpPr/>
          <p:nvPr/>
        </p:nvSpPr>
        <p:spPr>
          <a:xfrm>
            <a:off x="922338" y="5837238"/>
            <a:ext cx="471487" cy="0"/>
          </a:xfrm>
          <a:prstGeom prst="line">
            <a:avLst/>
          </a:prstGeom>
          <a:ln w="19050" cap="flat" cmpd="sng">
            <a:solidFill>
              <a:srgbClr val="F0F8FE"/>
            </a:solidFill>
            <a:prstDash val="solid"/>
            <a:miter/>
            <a:headEnd type="none" w="med" len="med"/>
            <a:tailEnd type="none" w="med" len="med"/>
          </a:ln>
        </p:spPr>
      </p:sp>
      <p:grpSp>
        <p:nvGrpSpPr>
          <p:cNvPr id="6" name="Group 133"/>
          <p:cNvGrpSpPr/>
          <p:nvPr/>
        </p:nvGrpSpPr>
        <p:grpSpPr>
          <a:xfrm>
            <a:off x="6034088" y="4840288"/>
            <a:ext cx="465137" cy="1162050"/>
            <a:chOff x="3801" y="3064"/>
            <a:chExt cx="293" cy="732"/>
          </a:xfrm>
        </p:grpSpPr>
        <p:sp>
          <p:nvSpPr>
            <p:cNvPr id="48185" name="Text Box 103"/>
            <p:cNvSpPr txBox="1"/>
            <p:nvPr/>
          </p:nvSpPr>
          <p:spPr>
            <a:xfrm>
              <a:off x="3801" y="3544"/>
              <a:ext cx="293" cy="25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A</a:t>
              </a:r>
              <a:r>
                <a:rPr lang="en-US" altLang="zh-CN" sz="2000" baseline="-25000" dirty="0">
                  <a:ea typeface="宋体" panose="02010600030101010101" pitchFamily="2" charset="-122"/>
                </a:rPr>
                <a:t>1</a:t>
              </a:r>
              <a:endParaRPr lang="en-US" altLang="zh-CN" sz="20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8186" name="Text Box 104"/>
            <p:cNvSpPr txBox="1"/>
            <p:nvPr/>
          </p:nvSpPr>
          <p:spPr>
            <a:xfrm>
              <a:off x="3801" y="3288"/>
              <a:ext cx="293" cy="25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A</a:t>
              </a:r>
              <a:r>
                <a:rPr lang="en-US" altLang="zh-CN" sz="2000" baseline="-25000" dirty="0">
                  <a:ea typeface="宋体" panose="02010600030101010101" pitchFamily="2" charset="-122"/>
                </a:rPr>
                <a:t>2</a:t>
              </a:r>
              <a:endParaRPr lang="en-US" altLang="zh-CN" sz="20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8187" name="Text Box 105"/>
            <p:cNvSpPr txBox="1"/>
            <p:nvPr/>
          </p:nvSpPr>
          <p:spPr>
            <a:xfrm>
              <a:off x="3801" y="3064"/>
              <a:ext cx="293" cy="25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A</a:t>
              </a:r>
              <a:r>
                <a:rPr lang="en-US" altLang="zh-CN" sz="2000" baseline="-25000" dirty="0">
                  <a:ea typeface="宋体" panose="02010600030101010101" pitchFamily="2" charset="-122"/>
                </a:rPr>
                <a:t>3</a:t>
              </a:r>
              <a:endParaRPr lang="en-US" altLang="zh-CN" sz="2000" baseline="-25000" dirty="0">
                <a:ea typeface="宋体" panose="02010600030101010101" pitchFamily="2" charset="-122"/>
              </a:endParaRPr>
            </a:p>
          </p:txBody>
        </p:sp>
      </p:grpSp>
      <p:grpSp>
        <p:nvGrpSpPr>
          <p:cNvPr id="7" name="Group 134"/>
          <p:cNvGrpSpPr/>
          <p:nvPr/>
        </p:nvGrpSpPr>
        <p:grpSpPr>
          <a:xfrm>
            <a:off x="2266950" y="2832100"/>
            <a:ext cx="465138" cy="1233488"/>
            <a:chOff x="1273" y="1560"/>
            <a:chExt cx="293" cy="777"/>
          </a:xfrm>
        </p:grpSpPr>
        <p:sp>
          <p:nvSpPr>
            <p:cNvPr id="48182" name="Text Box 115"/>
            <p:cNvSpPr txBox="1"/>
            <p:nvPr/>
          </p:nvSpPr>
          <p:spPr>
            <a:xfrm>
              <a:off x="1273" y="2104"/>
              <a:ext cx="293" cy="23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A</a:t>
              </a:r>
              <a:r>
                <a:rPr lang="en-US" altLang="zh-CN" sz="2000" baseline="-25000" dirty="0">
                  <a:ea typeface="宋体" panose="02010600030101010101" pitchFamily="2" charset="-122"/>
                </a:rPr>
                <a:t>6</a:t>
              </a:r>
              <a:endParaRPr lang="en-US" altLang="zh-CN" sz="20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8183" name="Text Box 116"/>
            <p:cNvSpPr txBox="1"/>
            <p:nvPr/>
          </p:nvSpPr>
          <p:spPr>
            <a:xfrm>
              <a:off x="1273" y="1816"/>
              <a:ext cx="293" cy="23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A</a:t>
              </a:r>
              <a:r>
                <a:rPr lang="en-US" altLang="zh-CN" sz="2000" baseline="-25000" dirty="0">
                  <a:ea typeface="宋体" panose="02010600030101010101" pitchFamily="2" charset="-122"/>
                </a:rPr>
                <a:t>5</a:t>
              </a:r>
              <a:endParaRPr lang="en-US" altLang="zh-CN" sz="20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48184" name="Text Box 117"/>
            <p:cNvSpPr txBox="1"/>
            <p:nvPr/>
          </p:nvSpPr>
          <p:spPr>
            <a:xfrm>
              <a:off x="1273" y="1560"/>
              <a:ext cx="293" cy="23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A</a:t>
              </a:r>
              <a:r>
                <a:rPr lang="en-US" altLang="zh-CN" sz="2000" baseline="-25000" dirty="0">
                  <a:ea typeface="宋体" panose="02010600030101010101" pitchFamily="2" charset="-122"/>
                </a:rPr>
                <a:t>4</a:t>
              </a:r>
              <a:endParaRPr lang="en-US" altLang="zh-CN" sz="2000" baseline="-25000" dirty="0">
                <a:ea typeface="宋体" panose="02010600030101010101" pitchFamily="2" charset="-122"/>
              </a:endParaRPr>
            </a:p>
          </p:txBody>
        </p:sp>
      </p:grpSp>
      <p:sp>
        <p:nvSpPr>
          <p:cNvPr id="453755" name="AutoShape 123"/>
          <p:cNvSpPr/>
          <p:nvPr/>
        </p:nvSpPr>
        <p:spPr>
          <a:xfrm>
            <a:off x="2978150" y="1368425"/>
            <a:ext cx="1282700" cy="965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00099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8" name="Group 132"/>
          <p:cNvGrpSpPr/>
          <p:nvPr/>
        </p:nvGrpSpPr>
        <p:grpSpPr>
          <a:xfrm>
            <a:off x="4230688" y="1189038"/>
            <a:ext cx="4570412" cy="1663700"/>
            <a:chOff x="2389" y="319"/>
            <a:chExt cx="2879" cy="1048"/>
          </a:xfrm>
        </p:grpSpPr>
        <p:sp>
          <p:nvSpPr>
            <p:cNvPr id="48175" name="Text Box 128"/>
            <p:cNvSpPr txBox="1"/>
            <p:nvPr/>
          </p:nvSpPr>
          <p:spPr>
            <a:xfrm>
              <a:off x="4190" y="369"/>
              <a:ext cx="516" cy="989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0000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0010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0100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0110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76" name="Line 54"/>
            <p:cNvSpPr/>
            <p:nvPr/>
          </p:nvSpPr>
          <p:spPr>
            <a:xfrm flipH="1">
              <a:off x="4716" y="319"/>
              <a:ext cx="8" cy="1048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miter/>
              <a:headEnd type="none" w="med" len="med"/>
              <a:tailEnd type="none" w="med" len="med"/>
            </a:ln>
          </p:spPr>
        </p:sp>
        <p:sp>
          <p:nvSpPr>
            <p:cNvPr id="48177" name="AutoShape 125"/>
            <p:cNvSpPr/>
            <p:nvPr/>
          </p:nvSpPr>
          <p:spPr>
            <a:xfrm rot="-5400000">
              <a:off x="2908" y="640"/>
              <a:ext cx="158" cy="897"/>
            </a:xfrm>
            <a:prstGeom prst="leftBrace">
              <a:avLst>
                <a:gd name="adj1" fmla="val 47310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78" name="Line 126"/>
            <p:cNvSpPr/>
            <p:nvPr/>
          </p:nvSpPr>
          <p:spPr>
            <a:xfrm>
              <a:off x="2992" y="1168"/>
              <a:ext cx="103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48179" name="AutoShape 127"/>
            <p:cNvSpPr/>
            <p:nvPr/>
          </p:nvSpPr>
          <p:spPr>
            <a:xfrm>
              <a:off x="4041" y="415"/>
              <a:ext cx="182" cy="893"/>
            </a:xfrm>
            <a:prstGeom prst="leftBrace">
              <a:avLst>
                <a:gd name="adj1" fmla="val 46203"/>
                <a:gd name="adj2" fmla="val 83333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80" name="Text Box 129"/>
            <p:cNvSpPr txBox="1"/>
            <p:nvPr/>
          </p:nvSpPr>
          <p:spPr>
            <a:xfrm>
              <a:off x="4736" y="369"/>
              <a:ext cx="532" cy="989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1000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1010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1100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1110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181" name="Rectangle 131"/>
            <p:cNvSpPr/>
            <p:nvPr/>
          </p:nvSpPr>
          <p:spPr>
            <a:xfrm>
              <a:off x="2389" y="704"/>
              <a:ext cx="1127" cy="327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× × ×  0</a:t>
              </a:r>
              <a:endPara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53768" name="Text Box 136" descr="深色木质"/>
          <p:cNvSpPr txBox="1">
            <a:spLocks noChangeArrowheads="1"/>
          </p:cNvSpPr>
          <p:nvPr/>
        </p:nvSpPr>
        <p:spPr bwMode="auto">
          <a:xfrm>
            <a:off x="546100" y="1428750"/>
            <a:ext cx="954088" cy="3316288"/>
          </a:xfrm>
          <a:prstGeom prst="rect">
            <a:avLst/>
          </a:prstGeom>
          <a:blipFill dpi="0" rotWithShape="1">
            <a:blip r:embed="rId1"/>
            <a:srcRect/>
            <a:tile tx="0" ty="0" sx="100000" sy="100000" flip="none" algn="tl"/>
          </a:blip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96633"/>
            </a:extrusionClr>
          </a:sp3d>
        </p:spPr>
        <p:txBody>
          <a:bodyPr wrap="none">
            <a:spAutoFit/>
            <a:flatTx/>
          </a:bodyPr>
          <a:lstStyle/>
          <a:p>
            <a:pPr marR="0" defTabSz="914400" eaLnBrk="1" hangingPunct="1"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260H</a:t>
            </a:r>
            <a:endParaRPr kumimoji="0" lang="en-US" altLang="zh-CN" sz="2400" b="1" kern="1200" cap="none" spc="0" normalizeH="0" baseline="0" noProof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defTabSz="914400" eaLnBrk="1" hangingPunct="1"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262H</a:t>
            </a:r>
            <a:endParaRPr kumimoji="0" lang="en-US" altLang="zh-CN" sz="2400" b="1" kern="1200" cap="none" spc="0" normalizeH="0" baseline="0" noProof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defTabSz="914400" eaLnBrk="1" hangingPunct="1"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264H</a:t>
            </a:r>
            <a:endParaRPr kumimoji="0" lang="en-US" altLang="zh-CN" sz="2400" b="1" kern="1200" cap="none" spc="0" normalizeH="0" baseline="0" noProof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defTabSz="914400" eaLnBrk="1" hangingPunct="1"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266H</a:t>
            </a:r>
            <a:endParaRPr kumimoji="0" lang="en-US" altLang="zh-CN" sz="2400" b="1" kern="1200" cap="none" spc="0" normalizeH="0" baseline="0" noProof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defTabSz="914400" eaLnBrk="1" hangingPunct="1"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268H</a:t>
            </a:r>
            <a:endParaRPr kumimoji="0" lang="en-US" altLang="zh-CN" sz="2400" b="1" kern="1200" cap="none" spc="0" normalizeH="0" baseline="0" noProof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defTabSz="914400" eaLnBrk="1" hangingPunct="1"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26AH</a:t>
            </a:r>
            <a:endParaRPr kumimoji="0" lang="en-US" altLang="zh-CN" sz="2400" b="1" kern="1200" cap="none" spc="0" normalizeH="0" baseline="0" noProof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defTabSz="914400" eaLnBrk="1" hangingPunct="1"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26CH</a:t>
            </a:r>
            <a:endParaRPr kumimoji="0" lang="en-US" altLang="zh-CN" sz="2400" b="1" kern="1200" cap="none" spc="0" normalizeH="0" baseline="0" noProof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defTabSz="914400" eaLnBrk="1" hangingPunct="1">
              <a:spcBef>
                <a:spcPts val="300"/>
              </a:spcBef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26EH</a:t>
            </a:r>
            <a:endParaRPr kumimoji="0" lang="en-US" altLang="zh-CN" sz="2400" b="1" kern="1200" cap="none" spc="0" normalizeH="0" baseline="0" noProof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8" name="标题 1"/>
          <p:cNvSpPr txBox="1"/>
          <p:nvPr/>
        </p:nvSpPr>
        <p:spPr>
          <a:xfrm>
            <a:off x="574675" y="231775"/>
            <a:ext cx="7021513" cy="676275"/>
          </a:xfrm>
          <a:prstGeom prst="rect">
            <a:avLst/>
          </a:prstGeom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120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I/O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+mj-cs"/>
              </a:rPr>
              <a:t>端口译码设计实例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8174" name="Line 63"/>
          <p:cNvSpPr/>
          <p:nvPr/>
        </p:nvSpPr>
        <p:spPr>
          <a:xfrm>
            <a:off x="2800350" y="3071813"/>
            <a:ext cx="511175" cy="158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685" grpId="0"/>
      <p:bldP spid="45375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Text Box 52"/>
          <p:cNvSpPr txBox="1"/>
          <p:nvPr/>
        </p:nvSpPr>
        <p:spPr>
          <a:xfrm>
            <a:off x="1684338" y="1258888"/>
            <a:ext cx="4516437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9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8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7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6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5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4  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800" baseline="-25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179" name="Text Box 53"/>
          <p:cNvSpPr txBox="1"/>
          <p:nvPr/>
        </p:nvSpPr>
        <p:spPr>
          <a:xfrm>
            <a:off x="1689100" y="1778000"/>
            <a:ext cx="2582863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1   0   0  1   1   0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180" name="Line 55"/>
          <p:cNvSpPr/>
          <p:nvPr/>
        </p:nvSpPr>
        <p:spPr>
          <a:xfrm>
            <a:off x="6156325" y="1190625"/>
            <a:ext cx="0" cy="1371600"/>
          </a:xfrm>
          <a:prstGeom prst="line">
            <a:avLst/>
          </a:prstGeom>
          <a:ln w="38100" cap="flat" cmpd="sng">
            <a:solidFill>
              <a:srgbClr val="FF3300"/>
            </a:solidFill>
            <a:prstDash val="dash"/>
            <a:miter/>
            <a:headEnd type="none" w="med" len="med"/>
            <a:tailEnd type="none" w="med" len="med"/>
          </a:ln>
        </p:spPr>
      </p:sp>
      <p:sp>
        <p:nvSpPr>
          <p:cNvPr id="50181" name="Line 56"/>
          <p:cNvSpPr/>
          <p:nvPr/>
        </p:nvSpPr>
        <p:spPr>
          <a:xfrm>
            <a:off x="4346575" y="1162050"/>
            <a:ext cx="0" cy="1371600"/>
          </a:xfrm>
          <a:prstGeom prst="line">
            <a:avLst/>
          </a:prstGeom>
          <a:ln w="38100" cap="flat" cmpd="sng">
            <a:solidFill>
              <a:srgbClr val="FF3300"/>
            </a:solidFill>
            <a:prstDash val="dash"/>
            <a:miter/>
            <a:headEnd type="none" w="med" len="med"/>
            <a:tailEnd type="none" w="med" len="med"/>
          </a:ln>
        </p:spPr>
      </p:sp>
      <p:sp>
        <p:nvSpPr>
          <p:cNvPr id="50182" name="Line 57"/>
          <p:cNvSpPr/>
          <p:nvPr/>
        </p:nvSpPr>
        <p:spPr>
          <a:xfrm>
            <a:off x="2589213" y="1219200"/>
            <a:ext cx="0" cy="1371600"/>
          </a:xfrm>
          <a:prstGeom prst="line">
            <a:avLst/>
          </a:prstGeom>
          <a:ln w="38100" cap="flat" cmpd="sng">
            <a:solidFill>
              <a:srgbClr val="FF3300"/>
            </a:solidFill>
            <a:prstDash val="dash"/>
            <a:miter/>
            <a:headEnd type="none" w="med" len="med"/>
            <a:tailEnd type="none" w="med" len="med"/>
          </a:ln>
        </p:spPr>
      </p:sp>
      <p:sp>
        <p:nvSpPr>
          <p:cNvPr id="50183" name="Line 94"/>
          <p:cNvSpPr/>
          <p:nvPr/>
        </p:nvSpPr>
        <p:spPr>
          <a:xfrm>
            <a:off x="657225" y="5986463"/>
            <a:ext cx="471488" cy="0"/>
          </a:xfrm>
          <a:prstGeom prst="line">
            <a:avLst/>
          </a:prstGeom>
          <a:ln w="19050" cap="flat" cmpd="sng">
            <a:solidFill>
              <a:srgbClr val="F0F8FE"/>
            </a:solidFill>
            <a:prstDash val="solid"/>
            <a:miter/>
            <a:headEnd type="none" w="med" len="med"/>
            <a:tailEnd type="none" w="med" len="med"/>
          </a:ln>
        </p:spPr>
      </p:sp>
      <p:grpSp>
        <p:nvGrpSpPr>
          <p:cNvPr id="2" name="组合 81"/>
          <p:cNvGrpSpPr/>
          <p:nvPr/>
        </p:nvGrpSpPr>
        <p:grpSpPr>
          <a:xfrm>
            <a:off x="962025" y="4329113"/>
            <a:ext cx="1824038" cy="1219200"/>
            <a:chOff x="700088" y="4382909"/>
            <a:chExt cx="1824038" cy="1217791"/>
          </a:xfrm>
        </p:grpSpPr>
        <p:sp>
          <p:nvSpPr>
            <p:cNvPr id="50247" name="Line 93"/>
            <p:cNvSpPr/>
            <p:nvPr/>
          </p:nvSpPr>
          <p:spPr>
            <a:xfrm>
              <a:off x="700088" y="5600700"/>
              <a:ext cx="471488" cy="0"/>
            </a:xfrm>
            <a:prstGeom prst="line">
              <a:avLst/>
            </a:prstGeom>
            <a:ln w="19050" cap="flat" cmpd="sng">
              <a:solidFill>
                <a:srgbClr val="F0F8FE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0248" name="Text Box 108"/>
            <p:cNvSpPr txBox="1"/>
            <p:nvPr/>
          </p:nvSpPr>
          <p:spPr>
            <a:xfrm>
              <a:off x="1868488" y="4567238"/>
              <a:ext cx="655638" cy="830997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fontAlgn="ctr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Arial Unicode MS" pitchFamily="34" charset="-122"/>
                  <a:ea typeface="Arial Unicode MS" pitchFamily="34" charset="-122"/>
                </a:rPr>
                <a:t>≥1</a:t>
              </a:r>
              <a:endParaRPr lang="en-US" altLang="zh-CN" sz="2400" dirty="0">
                <a:latin typeface="Arial Unicode MS" pitchFamily="34" charset="-122"/>
                <a:ea typeface="Arial Unicode MS" pitchFamily="34" charset="-122"/>
              </a:endParaRPr>
            </a:p>
            <a:p>
              <a:pPr marL="0" lvl="0" indent="0" eaLnBrk="1" fontAlgn="ctr" hangingPunct="1">
                <a:spcBef>
                  <a:spcPct val="0"/>
                </a:spcBef>
                <a:buFontTx/>
                <a:buNone/>
              </a:pPr>
              <a:endParaRPr lang="en-US" altLang="zh-CN" sz="2400" dirty="0">
                <a:latin typeface="Arial Unicode MS" pitchFamily="34" charset="-122"/>
                <a:ea typeface="Arial Unicode MS" pitchFamily="34" charset="-122"/>
              </a:endParaRPr>
            </a:p>
          </p:txBody>
        </p:sp>
        <p:sp>
          <p:nvSpPr>
            <p:cNvPr id="50249" name="Line 109"/>
            <p:cNvSpPr/>
            <p:nvPr/>
          </p:nvSpPr>
          <p:spPr>
            <a:xfrm flipH="1">
              <a:off x="1409038" y="4991100"/>
              <a:ext cx="47625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0250" name="Line 110"/>
            <p:cNvSpPr/>
            <p:nvPr/>
          </p:nvSpPr>
          <p:spPr>
            <a:xfrm flipH="1">
              <a:off x="1385888" y="5283200"/>
              <a:ext cx="48895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0251" name="Text Box 112"/>
            <p:cNvSpPr txBox="1"/>
            <p:nvPr/>
          </p:nvSpPr>
          <p:spPr>
            <a:xfrm>
              <a:off x="913865" y="5038725"/>
              <a:ext cx="455574" cy="40011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Arial Unicode MS" pitchFamily="34" charset="-122"/>
                  <a:ea typeface="Arial Unicode MS" pitchFamily="34" charset="-122"/>
                </a:rPr>
                <a:t>A</a:t>
              </a:r>
              <a:r>
                <a:rPr lang="en-US" altLang="zh-CN" sz="2000" baseline="-25000" dirty="0">
                  <a:latin typeface="Arial Unicode MS" pitchFamily="34" charset="-122"/>
                  <a:ea typeface="Arial Unicode MS" pitchFamily="34" charset="-122"/>
                </a:rPr>
                <a:t>0</a:t>
              </a:r>
              <a:endParaRPr lang="en-US" altLang="zh-CN" sz="2000" baseline="-25000" dirty="0">
                <a:latin typeface="Arial Unicode MS" pitchFamily="34" charset="-122"/>
                <a:ea typeface="Arial Unicode MS" pitchFamily="34" charset="-122"/>
              </a:endParaRPr>
            </a:p>
          </p:txBody>
        </p:sp>
        <p:sp>
          <p:nvSpPr>
            <p:cNvPr id="50252" name="Line 113"/>
            <p:cNvSpPr/>
            <p:nvPr/>
          </p:nvSpPr>
          <p:spPr>
            <a:xfrm>
              <a:off x="897951" y="4795838"/>
              <a:ext cx="4714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0253" name="Line 114"/>
            <p:cNvSpPr/>
            <p:nvPr/>
          </p:nvSpPr>
          <p:spPr>
            <a:xfrm>
              <a:off x="909526" y="5107913"/>
              <a:ext cx="4714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0254" name="Text Box 118"/>
            <p:cNvSpPr txBox="1"/>
            <p:nvPr/>
          </p:nvSpPr>
          <p:spPr>
            <a:xfrm>
              <a:off x="913865" y="4719638"/>
              <a:ext cx="455574" cy="40011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Arial Unicode MS" pitchFamily="34" charset="-122"/>
                  <a:ea typeface="Arial Unicode MS" pitchFamily="34" charset="-122"/>
                </a:rPr>
                <a:t>A</a:t>
              </a:r>
              <a:r>
                <a:rPr lang="en-US" altLang="zh-CN" sz="2000" baseline="-25000" dirty="0">
                  <a:latin typeface="Arial Unicode MS" pitchFamily="34" charset="-122"/>
                  <a:ea typeface="Arial Unicode MS" pitchFamily="34" charset="-122"/>
                </a:rPr>
                <a:t>7</a:t>
              </a:r>
              <a:endParaRPr lang="en-US" altLang="zh-CN" sz="2000" baseline="-25000" dirty="0">
                <a:latin typeface="Arial Unicode MS" pitchFamily="34" charset="-122"/>
                <a:ea typeface="Arial Unicode MS" pitchFamily="34" charset="-122"/>
              </a:endParaRPr>
            </a:p>
          </p:txBody>
        </p:sp>
        <p:sp>
          <p:nvSpPr>
            <p:cNvPr id="50255" name="Line 119"/>
            <p:cNvSpPr/>
            <p:nvPr/>
          </p:nvSpPr>
          <p:spPr>
            <a:xfrm flipH="1">
              <a:off x="1397463" y="4682925"/>
              <a:ext cx="47625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0256" name="Line 120"/>
            <p:cNvSpPr/>
            <p:nvPr/>
          </p:nvSpPr>
          <p:spPr>
            <a:xfrm>
              <a:off x="897951" y="4453134"/>
              <a:ext cx="47148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0257" name="Text Box 121"/>
            <p:cNvSpPr txBox="1"/>
            <p:nvPr/>
          </p:nvSpPr>
          <p:spPr>
            <a:xfrm>
              <a:off x="913865" y="4382909"/>
              <a:ext cx="455574" cy="40011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Arial Unicode MS" pitchFamily="34" charset="-122"/>
                  <a:ea typeface="Arial Unicode MS" pitchFamily="34" charset="-122"/>
                </a:rPr>
                <a:t>A</a:t>
              </a:r>
              <a:r>
                <a:rPr lang="en-US" altLang="zh-CN" sz="2000" baseline="-25000" dirty="0">
                  <a:latin typeface="Arial Unicode MS" pitchFamily="34" charset="-122"/>
                  <a:ea typeface="Arial Unicode MS" pitchFamily="34" charset="-122"/>
                </a:rPr>
                <a:t>8</a:t>
              </a:r>
              <a:endParaRPr lang="en-US" altLang="zh-CN" sz="2000" baseline="-25000" dirty="0">
                <a:latin typeface="Arial Unicode MS" pitchFamily="34" charset="-122"/>
                <a:ea typeface="Arial Unicode MS" pitchFamily="34" charset="-122"/>
              </a:endParaRPr>
            </a:p>
          </p:txBody>
        </p:sp>
      </p:grpSp>
      <p:sp>
        <p:nvSpPr>
          <p:cNvPr id="50185" name="AutoShape 123"/>
          <p:cNvSpPr/>
          <p:nvPr/>
        </p:nvSpPr>
        <p:spPr>
          <a:xfrm>
            <a:off x="3043238" y="1290638"/>
            <a:ext cx="1282700" cy="965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00099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endParaRPr lang="zh-CN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0186" name="Group 132"/>
          <p:cNvGrpSpPr/>
          <p:nvPr/>
        </p:nvGrpSpPr>
        <p:grpSpPr>
          <a:xfrm>
            <a:off x="4295775" y="1116013"/>
            <a:ext cx="4576763" cy="1663700"/>
            <a:chOff x="2389" y="322"/>
            <a:chExt cx="2883" cy="1048"/>
          </a:xfrm>
        </p:grpSpPr>
        <p:sp>
          <p:nvSpPr>
            <p:cNvPr id="50240" name="Text Box 128"/>
            <p:cNvSpPr txBox="1"/>
            <p:nvPr/>
          </p:nvSpPr>
          <p:spPr>
            <a:xfrm>
              <a:off x="4190" y="338"/>
              <a:ext cx="516" cy="989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0000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0010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0100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0110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241" name="Line 54"/>
            <p:cNvSpPr/>
            <p:nvPr/>
          </p:nvSpPr>
          <p:spPr>
            <a:xfrm flipH="1">
              <a:off x="4716" y="322"/>
              <a:ext cx="8" cy="1048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dash"/>
              <a:miter/>
              <a:headEnd type="none" w="med" len="med"/>
              <a:tailEnd type="none" w="med" len="med"/>
            </a:ln>
          </p:spPr>
        </p:sp>
        <p:sp>
          <p:nvSpPr>
            <p:cNvPr id="50242" name="AutoShape 125"/>
            <p:cNvSpPr/>
            <p:nvPr/>
          </p:nvSpPr>
          <p:spPr>
            <a:xfrm rot="-5400000">
              <a:off x="2908" y="640"/>
              <a:ext cx="158" cy="897"/>
            </a:xfrm>
            <a:prstGeom prst="leftBrace">
              <a:avLst>
                <a:gd name="adj1" fmla="val 47310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243" name="Line 126"/>
            <p:cNvSpPr/>
            <p:nvPr/>
          </p:nvSpPr>
          <p:spPr>
            <a:xfrm>
              <a:off x="2992" y="1168"/>
              <a:ext cx="103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50244" name="AutoShape 127"/>
            <p:cNvSpPr/>
            <p:nvPr/>
          </p:nvSpPr>
          <p:spPr>
            <a:xfrm>
              <a:off x="4041" y="362"/>
              <a:ext cx="182" cy="956"/>
            </a:xfrm>
            <a:prstGeom prst="leftBrace">
              <a:avLst>
                <a:gd name="adj1" fmla="val 46204"/>
                <a:gd name="adj2" fmla="val 83333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245" name="Text Box 129"/>
            <p:cNvSpPr txBox="1"/>
            <p:nvPr/>
          </p:nvSpPr>
          <p:spPr>
            <a:xfrm>
              <a:off x="4740" y="327"/>
              <a:ext cx="532" cy="989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1000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1010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1100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1110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246" name="Rectangle 131"/>
            <p:cNvSpPr/>
            <p:nvPr/>
          </p:nvSpPr>
          <p:spPr>
            <a:xfrm>
              <a:off x="2389" y="704"/>
              <a:ext cx="1172" cy="33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× × ×  0</a:t>
              </a:r>
              <a:endPara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53768" name="Text Box 136" descr="深色木质"/>
          <p:cNvSpPr txBox="1">
            <a:spLocks noChangeArrowheads="1"/>
          </p:cNvSpPr>
          <p:nvPr/>
        </p:nvSpPr>
        <p:spPr bwMode="auto">
          <a:xfrm>
            <a:off x="501650" y="1319213"/>
            <a:ext cx="974725" cy="3046413"/>
          </a:xfrm>
          <a:prstGeom prst="rect">
            <a:avLst/>
          </a:prstGeom>
          <a:blipFill dpi="0" rotWithShape="1">
            <a:blip r:embed="rId1"/>
            <a:srcRect/>
            <a:tile tx="0" ty="0" sx="100000" sy="100000" flip="none" algn="tl"/>
          </a:blip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96633"/>
            </a:extrusionClr>
          </a:sp3d>
        </p:spPr>
        <p:txBody>
          <a:bodyPr wrap="none">
            <a:spAutoFit/>
            <a:flatTx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260H</a:t>
            </a:r>
            <a:endParaRPr kumimoji="0" lang="en-US" altLang="zh-CN" sz="2400" b="1" kern="1200" cap="none" spc="0" normalizeH="0" baseline="0" noProof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262H</a:t>
            </a:r>
            <a:endParaRPr kumimoji="0" lang="en-US" altLang="zh-CN" sz="2400" b="1" kern="1200" cap="none" spc="0" normalizeH="0" baseline="0" noProof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264H</a:t>
            </a:r>
            <a:endParaRPr kumimoji="0" lang="en-US" altLang="zh-CN" sz="2400" b="1" kern="1200" cap="none" spc="0" normalizeH="0" baseline="0" noProof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266H</a:t>
            </a:r>
            <a:endParaRPr kumimoji="0" lang="en-US" altLang="zh-CN" sz="2400" b="1" kern="1200" cap="none" spc="0" normalizeH="0" baseline="0" noProof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268H</a:t>
            </a:r>
            <a:endParaRPr kumimoji="0" lang="en-US" altLang="zh-CN" sz="2400" b="1" kern="1200" cap="none" spc="0" normalizeH="0" baseline="0" noProof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26AH</a:t>
            </a:r>
            <a:endParaRPr kumimoji="0" lang="en-US" altLang="zh-CN" sz="2400" b="1" kern="1200" cap="none" spc="0" normalizeH="0" baseline="0" noProof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26CH</a:t>
            </a:r>
            <a:endParaRPr kumimoji="0" lang="en-US" altLang="zh-CN" sz="2400" b="1" kern="1200" cap="none" spc="0" normalizeH="0" baseline="0" noProof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b="1" kern="1200" cap="none" spc="0" normalizeH="0" baseline="0" noProof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26EH</a:t>
            </a:r>
            <a:endParaRPr kumimoji="0" lang="en-US" altLang="zh-CN" sz="2400" b="1" kern="1200" cap="none" spc="0" normalizeH="0" baseline="0" noProof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188" name="Rectangle 61"/>
          <p:cNvSpPr/>
          <p:nvPr/>
        </p:nvSpPr>
        <p:spPr>
          <a:xfrm>
            <a:off x="3306763" y="2824163"/>
            <a:ext cx="1747837" cy="33401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2000" b="0" dirty="0">
              <a:ea typeface="宋体" panose="02010600030101010101" pitchFamily="2" charset="-122"/>
            </a:endParaRPr>
          </a:p>
        </p:txBody>
      </p:sp>
      <p:sp>
        <p:nvSpPr>
          <p:cNvPr id="50189" name="Line 63"/>
          <p:cNvSpPr/>
          <p:nvPr/>
        </p:nvSpPr>
        <p:spPr>
          <a:xfrm>
            <a:off x="2798763" y="3368675"/>
            <a:ext cx="511175" cy="158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190" name="Line 64"/>
          <p:cNvSpPr/>
          <p:nvPr/>
        </p:nvSpPr>
        <p:spPr>
          <a:xfrm>
            <a:off x="2798763" y="3679825"/>
            <a:ext cx="511175" cy="158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191" name="Oval 65"/>
          <p:cNvSpPr/>
          <p:nvPr/>
        </p:nvSpPr>
        <p:spPr>
          <a:xfrm>
            <a:off x="6553200" y="4195763"/>
            <a:ext cx="141288" cy="131762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2000" b="0" dirty="0">
              <a:ea typeface="宋体" panose="02010600030101010101" pitchFamily="2" charset="-122"/>
            </a:endParaRPr>
          </a:p>
        </p:txBody>
      </p:sp>
      <p:sp>
        <p:nvSpPr>
          <p:cNvPr id="50192" name="Line 66"/>
          <p:cNvSpPr/>
          <p:nvPr/>
        </p:nvSpPr>
        <p:spPr>
          <a:xfrm>
            <a:off x="5184775" y="4273550"/>
            <a:ext cx="136207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193" name="Text Box 67"/>
          <p:cNvSpPr txBox="1"/>
          <p:nvPr/>
        </p:nvSpPr>
        <p:spPr>
          <a:xfrm>
            <a:off x="4587875" y="4054475"/>
            <a:ext cx="450850" cy="40005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Y</a:t>
            </a:r>
            <a:r>
              <a:rPr lang="en-US" altLang="zh-CN" sz="2000" baseline="-18000" dirty="0">
                <a:ea typeface="宋体" panose="02010600030101010101" pitchFamily="2" charset="-122"/>
              </a:rPr>
              <a:t>6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50194" name="Text Box 68"/>
          <p:cNvSpPr txBox="1"/>
          <p:nvPr/>
        </p:nvSpPr>
        <p:spPr>
          <a:xfrm>
            <a:off x="3309938" y="2863850"/>
            <a:ext cx="371475" cy="40005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A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50195" name="Text Box 69"/>
          <p:cNvSpPr txBox="1"/>
          <p:nvPr/>
        </p:nvSpPr>
        <p:spPr>
          <a:xfrm>
            <a:off x="3305175" y="3194050"/>
            <a:ext cx="371475" cy="40005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B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50196" name="Text Box 70"/>
          <p:cNvSpPr txBox="1"/>
          <p:nvPr/>
        </p:nvSpPr>
        <p:spPr>
          <a:xfrm>
            <a:off x="3306763" y="3509963"/>
            <a:ext cx="371475" cy="40005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C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50197" name="Text Box 71"/>
          <p:cNvSpPr txBox="1"/>
          <p:nvPr/>
        </p:nvSpPr>
        <p:spPr>
          <a:xfrm>
            <a:off x="3457575" y="5138738"/>
            <a:ext cx="1435100" cy="461962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>
                <a:solidFill>
                  <a:srgbClr val="0000CC"/>
                </a:solidFill>
                <a:ea typeface="宋体" panose="02010600030101010101" pitchFamily="2" charset="-122"/>
              </a:rPr>
              <a:t>74LS138</a:t>
            </a:r>
            <a:endParaRPr lang="en-US" altLang="zh-CN" sz="2400" baseline="-18000" dirty="0">
              <a:solidFill>
                <a:srgbClr val="0000CC"/>
              </a:solidFill>
              <a:ea typeface="宋体" panose="02010600030101010101" pitchFamily="2" charset="-122"/>
            </a:endParaRPr>
          </a:p>
        </p:txBody>
      </p:sp>
      <p:sp>
        <p:nvSpPr>
          <p:cNvPr id="50198" name="Text Box 72"/>
          <p:cNvSpPr txBox="1"/>
          <p:nvPr/>
        </p:nvSpPr>
        <p:spPr>
          <a:xfrm>
            <a:off x="3286125" y="4100513"/>
            <a:ext cx="479425" cy="40005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G</a:t>
            </a:r>
            <a:r>
              <a:rPr lang="en-US" altLang="zh-CN" sz="2000" baseline="-20000" dirty="0">
                <a:ea typeface="宋体" panose="02010600030101010101" pitchFamily="2" charset="-122"/>
              </a:rPr>
              <a:t>1</a:t>
            </a:r>
            <a:endParaRPr lang="en-US" altLang="zh-CN" sz="2000" baseline="-20000" dirty="0">
              <a:ea typeface="宋体" panose="02010600030101010101" pitchFamily="2" charset="-122"/>
            </a:endParaRPr>
          </a:p>
        </p:txBody>
      </p:sp>
      <p:sp>
        <p:nvSpPr>
          <p:cNvPr id="50199" name="Line 73"/>
          <p:cNvSpPr/>
          <p:nvPr/>
        </p:nvSpPr>
        <p:spPr>
          <a:xfrm>
            <a:off x="2798763" y="4286250"/>
            <a:ext cx="500062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50200" name="Group 74"/>
          <p:cNvGrpSpPr/>
          <p:nvPr/>
        </p:nvGrpSpPr>
        <p:grpSpPr>
          <a:xfrm>
            <a:off x="2784475" y="4862513"/>
            <a:ext cx="511175" cy="119062"/>
            <a:chOff x="2928" y="3168"/>
            <a:chExt cx="240" cy="48"/>
          </a:xfrm>
        </p:grpSpPr>
        <p:sp>
          <p:nvSpPr>
            <p:cNvPr id="50238" name="Oval 75"/>
            <p:cNvSpPr/>
            <p:nvPr/>
          </p:nvSpPr>
          <p:spPr>
            <a:xfrm>
              <a:off x="3120" y="3168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2000" b="0" dirty="0">
                <a:ea typeface="宋体" panose="02010600030101010101" pitchFamily="2" charset="-122"/>
              </a:endParaRPr>
            </a:p>
          </p:txBody>
        </p:sp>
        <p:sp>
          <p:nvSpPr>
            <p:cNvPr id="50239" name="Line 76"/>
            <p:cNvSpPr/>
            <p:nvPr/>
          </p:nvSpPr>
          <p:spPr>
            <a:xfrm flipH="1">
              <a:off x="2928" y="3190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0201" name="Group 77"/>
          <p:cNvGrpSpPr/>
          <p:nvPr/>
        </p:nvGrpSpPr>
        <p:grpSpPr>
          <a:xfrm>
            <a:off x="3279775" y="4735513"/>
            <a:ext cx="785813" cy="400050"/>
            <a:chOff x="3633" y="3696"/>
            <a:chExt cx="368" cy="160"/>
          </a:xfrm>
        </p:grpSpPr>
        <p:sp>
          <p:nvSpPr>
            <p:cNvPr id="50236" name="Text Box 78"/>
            <p:cNvSpPr txBox="1"/>
            <p:nvPr/>
          </p:nvSpPr>
          <p:spPr>
            <a:xfrm>
              <a:off x="3633" y="3696"/>
              <a:ext cx="368" cy="16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G</a:t>
              </a:r>
              <a:r>
                <a:rPr lang="en-US" altLang="zh-CN" sz="2000" baseline="-18000" dirty="0">
                  <a:ea typeface="宋体" panose="02010600030101010101" pitchFamily="2" charset="-122"/>
                </a:rPr>
                <a:t>2</a:t>
              </a:r>
              <a:r>
                <a:rPr lang="en-US" altLang="zh-CN" sz="2000" baseline="-20000" dirty="0">
                  <a:ea typeface="宋体" panose="02010600030101010101" pitchFamily="2" charset="-122"/>
                </a:rPr>
                <a:t>A </a:t>
              </a:r>
              <a:r>
                <a:rPr lang="en-US" altLang="zh-CN" sz="2000" dirty="0">
                  <a:ea typeface="宋体" panose="02010600030101010101" pitchFamily="2" charset="-122"/>
                </a:rPr>
                <a:t>#</a:t>
              </a:r>
              <a:endParaRPr lang="en-US" altLang="zh-CN" sz="2000" dirty="0">
                <a:ea typeface="宋体" panose="02010600030101010101" pitchFamily="2" charset="-122"/>
              </a:endParaRPr>
            </a:p>
          </p:txBody>
        </p:sp>
        <p:sp>
          <p:nvSpPr>
            <p:cNvPr id="50237" name="Line 79"/>
            <p:cNvSpPr/>
            <p:nvPr/>
          </p:nvSpPr>
          <p:spPr>
            <a:xfrm>
              <a:off x="3696" y="3744"/>
              <a:ext cx="192" cy="0"/>
            </a:xfrm>
            <a:prstGeom prst="line">
              <a:avLst/>
            </a:prstGeom>
            <a:ln w="28575">
              <a:noFill/>
            </a:ln>
          </p:spPr>
        </p:sp>
      </p:grpSp>
      <p:grpSp>
        <p:nvGrpSpPr>
          <p:cNvPr id="50202" name="Group 81"/>
          <p:cNvGrpSpPr/>
          <p:nvPr/>
        </p:nvGrpSpPr>
        <p:grpSpPr>
          <a:xfrm>
            <a:off x="2784475" y="5748338"/>
            <a:ext cx="511175" cy="117475"/>
            <a:chOff x="2928" y="3168"/>
            <a:chExt cx="240" cy="48"/>
          </a:xfrm>
        </p:grpSpPr>
        <p:sp>
          <p:nvSpPr>
            <p:cNvPr id="50234" name="Oval 82"/>
            <p:cNvSpPr/>
            <p:nvPr/>
          </p:nvSpPr>
          <p:spPr>
            <a:xfrm>
              <a:off x="3120" y="3168"/>
              <a:ext cx="48" cy="48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2000" b="0" dirty="0">
                <a:ea typeface="宋体" panose="02010600030101010101" pitchFamily="2" charset="-122"/>
              </a:endParaRPr>
            </a:p>
          </p:txBody>
        </p:sp>
        <p:sp>
          <p:nvSpPr>
            <p:cNvPr id="50235" name="Line 83"/>
            <p:cNvSpPr/>
            <p:nvPr/>
          </p:nvSpPr>
          <p:spPr>
            <a:xfrm flipH="1">
              <a:off x="2928" y="3190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0203" name="Group 84"/>
          <p:cNvGrpSpPr/>
          <p:nvPr/>
        </p:nvGrpSpPr>
        <p:grpSpPr>
          <a:xfrm>
            <a:off x="3276600" y="5622925"/>
            <a:ext cx="790575" cy="401638"/>
            <a:chOff x="3633" y="3696"/>
            <a:chExt cx="371" cy="162"/>
          </a:xfrm>
        </p:grpSpPr>
        <p:sp>
          <p:nvSpPr>
            <p:cNvPr id="50232" name="Text Box 85"/>
            <p:cNvSpPr txBox="1"/>
            <p:nvPr/>
          </p:nvSpPr>
          <p:spPr>
            <a:xfrm>
              <a:off x="3633" y="3696"/>
              <a:ext cx="371" cy="16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G</a:t>
              </a:r>
              <a:r>
                <a:rPr lang="en-US" altLang="zh-CN" sz="2000" baseline="-18000" dirty="0">
                  <a:ea typeface="宋体" panose="02010600030101010101" pitchFamily="2" charset="-122"/>
                </a:rPr>
                <a:t>2</a:t>
              </a:r>
              <a:r>
                <a:rPr lang="en-US" altLang="zh-CN" sz="2000" baseline="-20000" dirty="0">
                  <a:ea typeface="宋体" panose="02010600030101010101" pitchFamily="2" charset="-122"/>
                </a:rPr>
                <a:t>B </a:t>
              </a:r>
              <a:r>
                <a:rPr lang="en-US" altLang="zh-CN" sz="2000" dirty="0">
                  <a:ea typeface="宋体" panose="02010600030101010101" pitchFamily="2" charset="-122"/>
                </a:rPr>
                <a:t>#</a:t>
              </a:r>
              <a:endParaRPr lang="en-US" altLang="zh-CN" sz="2000" dirty="0">
                <a:ea typeface="宋体" panose="02010600030101010101" pitchFamily="2" charset="-122"/>
              </a:endParaRPr>
            </a:p>
          </p:txBody>
        </p:sp>
        <p:sp>
          <p:nvSpPr>
            <p:cNvPr id="50233" name="Line 86"/>
            <p:cNvSpPr/>
            <p:nvPr/>
          </p:nvSpPr>
          <p:spPr>
            <a:xfrm>
              <a:off x="3696" y="3744"/>
              <a:ext cx="192" cy="0"/>
            </a:xfrm>
            <a:prstGeom prst="line">
              <a:avLst/>
            </a:prstGeom>
            <a:ln w="28575">
              <a:noFill/>
            </a:ln>
          </p:spPr>
        </p:sp>
      </p:grpSp>
      <p:sp>
        <p:nvSpPr>
          <p:cNvPr id="50204" name="Line 87"/>
          <p:cNvSpPr/>
          <p:nvPr/>
        </p:nvSpPr>
        <p:spPr>
          <a:xfrm>
            <a:off x="3316288" y="5649913"/>
            <a:ext cx="471487" cy="0"/>
          </a:xfrm>
          <a:prstGeom prst="line">
            <a:avLst/>
          </a:prstGeom>
          <a:ln w="19050" cap="flat" cmpd="sng">
            <a:solidFill>
              <a:srgbClr val="F0F8F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0205" name="Rectangle 95"/>
          <p:cNvSpPr/>
          <p:nvPr/>
        </p:nvSpPr>
        <p:spPr>
          <a:xfrm>
            <a:off x="6705600" y="2824163"/>
            <a:ext cx="1790700" cy="3300412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2000" b="0" dirty="0">
              <a:ea typeface="宋体" panose="02010600030101010101" pitchFamily="2" charset="-122"/>
            </a:endParaRPr>
          </a:p>
        </p:txBody>
      </p:sp>
      <p:sp>
        <p:nvSpPr>
          <p:cNvPr id="50206" name="Oval 96"/>
          <p:cNvSpPr/>
          <p:nvPr/>
        </p:nvSpPr>
        <p:spPr>
          <a:xfrm>
            <a:off x="5054600" y="4208463"/>
            <a:ext cx="141288" cy="131762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endParaRPr lang="zh-CN" altLang="en-US" sz="2000" b="0" dirty="0">
              <a:ea typeface="宋体" panose="02010600030101010101" pitchFamily="2" charset="-122"/>
            </a:endParaRPr>
          </a:p>
        </p:txBody>
      </p:sp>
      <p:sp>
        <p:nvSpPr>
          <p:cNvPr id="50207" name="Line 97"/>
          <p:cNvSpPr/>
          <p:nvPr/>
        </p:nvSpPr>
        <p:spPr>
          <a:xfrm>
            <a:off x="6464300" y="5032375"/>
            <a:ext cx="2413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0208" name="Line 98"/>
          <p:cNvSpPr/>
          <p:nvPr/>
        </p:nvSpPr>
        <p:spPr>
          <a:xfrm>
            <a:off x="6477000" y="5400675"/>
            <a:ext cx="2413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0209" name="Line 99"/>
          <p:cNvSpPr/>
          <p:nvPr/>
        </p:nvSpPr>
        <p:spPr>
          <a:xfrm>
            <a:off x="6477000" y="5807075"/>
            <a:ext cx="2413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0210" name="Text Box 100"/>
          <p:cNvSpPr txBox="1"/>
          <p:nvPr/>
        </p:nvSpPr>
        <p:spPr>
          <a:xfrm>
            <a:off x="6719888" y="5527675"/>
            <a:ext cx="465137" cy="40005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A</a:t>
            </a:r>
            <a:r>
              <a:rPr lang="en-US" altLang="zh-CN" sz="2000" baseline="-25000" dirty="0">
                <a:ea typeface="宋体" panose="02010600030101010101" pitchFamily="2" charset="-122"/>
              </a:rPr>
              <a:t>0</a:t>
            </a:r>
            <a:endParaRPr lang="en-US" altLang="zh-CN" sz="2000" baseline="-25000" dirty="0">
              <a:ea typeface="宋体" panose="02010600030101010101" pitchFamily="2" charset="-122"/>
            </a:endParaRPr>
          </a:p>
        </p:txBody>
      </p:sp>
      <p:sp>
        <p:nvSpPr>
          <p:cNvPr id="50211" name="Text Box 101"/>
          <p:cNvSpPr txBox="1"/>
          <p:nvPr/>
        </p:nvSpPr>
        <p:spPr>
          <a:xfrm>
            <a:off x="6719888" y="5121275"/>
            <a:ext cx="465137" cy="40005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A</a:t>
            </a:r>
            <a:r>
              <a:rPr lang="en-US" altLang="zh-CN" sz="2000" baseline="-25000" dirty="0">
                <a:ea typeface="宋体" panose="02010600030101010101" pitchFamily="2" charset="-122"/>
              </a:rPr>
              <a:t>1</a:t>
            </a:r>
            <a:endParaRPr lang="en-US" altLang="zh-CN" sz="2000" baseline="-25000" dirty="0">
              <a:ea typeface="宋体" panose="02010600030101010101" pitchFamily="2" charset="-122"/>
            </a:endParaRPr>
          </a:p>
        </p:txBody>
      </p:sp>
      <p:sp>
        <p:nvSpPr>
          <p:cNvPr id="50212" name="Text Box 102"/>
          <p:cNvSpPr txBox="1"/>
          <p:nvPr/>
        </p:nvSpPr>
        <p:spPr>
          <a:xfrm>
            <a:off x="6697663" y="4067175"/>
            <a:ext cx="684212" cy="40005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CS#</a:t>
            </a:r>
            <a:endParaRPr lang="en-US" altLang="zh-CN" sz="2000" baseline="-25000" dirty="0">
              <a:ea typeface="宋体" panose="02010600030101010101" pitchFamily="2" charset="-122"/>
            </a:endParaRPr>
          </a:p>
        </p:txBody>
      </p:sp>
      <p:sp>
        <p:nvSpPr>
          <p:cNvPr id="50213" name="Text Box 106"/>
          <p:cNvSpPr txBox="1"/>
          <p:nvPr/>
        </p:nvSpPr>
        <p:spPr>
          <a:xfrm>
            <a:off x="6694488" y="4765675"/>
            <a:ext cx="465137" cy="40005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A</a:t>
            </a:r>
            <a:r>
              <a:rPr lang="en-US" altLang="zh-CN" sz="2000" baseline="-25000" dirty="0">
                <a:ea typeface="宋体" panose="02010600030101010101" pitchFamily="2" charset="-122"/>
              </a:rPr>
              <a:t>2</a:t>
            </a:r>
            <a:endParaRPr lang="en-US" altLang="zh-CN" sz="2000" baseline="-25000" dirty="0">
              <a:ea typeface="宋体" panose="02010600030101010101" pitchFamily="2" charset="-122"/>
            </a:endParaRPr>
          </a:p>
        </p:txBody>
      </p:sp>
      <p:sp>
        <p:nvSpPr>
          <p:cNvPr id="50214" name="Text Box 107"/>
          <p:cNvSpPr txBox="1"/>
          <p:nvPr/>
        </p:nvSpPr>
        <p:spPr>
          <a:xfrm>
            <a:off x="6740525" y="3098800"/>
            <a:ext cx="1731963" cy="461963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某接口芯片</a:t>
            </a:r>
            <a:endParaRPr lang="zh-CN" altLang="en-US" sz="2400" baseline="-18000" dirty="0">
              <a:solidFill>
                <a:srgbClr val="0000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0215" name="Text Box 88"/>
          <p:cNvSpPr txBox="1"/>
          <p:nvPr/>
        </p:nvSpPr>
        <p:spPr>
          <a:xfrm>
            <a:off x="2282825" y="5519738"/>
            <a:ext cx="503238" cy="531812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800" b="0" dirty="0">
                <a:ea typeface="宋体" panose="02010600030101010101" pitchFamily="2" charset="-122"/>
              </a:rPr>
              <a:t>&amp;</a:t>
            </a:r>
            <a:endParaRPr lang="en-US" altLang="zh-CN" sz="2800" b="0" dirty="0">
              <a:ea typeface="宋体" panose="02010600030101010101" pitchFamily="2" charset="-122"/>
            </a:endParaRPr>
          </a:p>
        </p:txBody>
      </p:sp>
      <p:sp>
        <p:nvSpPr>
          <p:cNvPr id="50216" name="Line 89"/>
          <p:cNvSpPr/>
          <p:nvPr/>
        </p:nvSpPr>
        <p:spPr>
          <a:xfrm flipH="1">
            <a:off x="1657350" y="5661025"/>
            <a:ext cx="6286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0217" name="Line 90"/>
          <p:cNvSpPr/>
          <p:nvPr/>
        </p:nvSpPr>
        <p:spPr>
          <a:xfrm flipH="1">
            <a:off x="1651000" y="5972175"/>
            <a:ext cx="6286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0218" name="Text Box 91"/>
          <p:cNvSpPr txBox="1"/>
          <p:nvPr/>
        </p:nvSpPr>
        <p:spPr>
          <a:xfrm>
            <a:off x="862013" y="5427663"/>
            <a:ext cx="782637" cy="40005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IOR#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50219" name="Text Box 92"/>
          <p:cNvSpPr txBox="1"/>
          <p:nvPr/>
        </p:nvSpPr>
        <p:spPr>
          <a:xfrm>
            <a:off x="852488" y="5837238"/>
            <a:ext cx="839787" cy="40005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IOW#</a:t>
            </a:r>
            <a:endParaRPr lang="en-US" altLang="zh-CN" sz="2000" baseline="-18000" dirty="0">
              <a:ea typeface="宋体" panose="02010600030101010101" pitchFamily="2" charset="-122"/>
            </a:endParaRPr>
          </a:p>
        </p:txBody>
      </p:sp>
      <p:sp>
        <p:nvSpPr>
          <p:cNvPr id="50220" name="Line 94"/>
          <p:cNvSpPr/>
          <p:nvPr/>
        </p:nvSpPr>
        <p:spPr>
          <a:xfrm>
            <a:off x="922338" y="5786438"/>
            <a:ext cx="471487" cy="0"/>
          </a:xfrm>
          <a:prstGeom prst="line">
            <a:avLst/>
          </a:prstGeom>
          <a:ln w="19050" cap="flat" cmpd="sng">
            <a:solidFill>
              <a:srgbClr val="F0F8FE"/>
            </a:solidFill>
            <a:prstDash val="solid"/>
            <a:miter/>
            <a:headEnd type="none" w="med" len="med"/>
            <a:tailEnd type="none" w="med" len="med"/>
          </a:ln>
        </p:spPr>
      </p:sp>
      <p:grpSp>
        <p:nvGrpSpPr>
          <p:cNvPr id="8" name="Group 133"/>
          <p:cNvGrpSpPr/>
          <p:nvPr/>
        </p:nvGrpSpPr>
        <p:grpSpPr>
          <a:xfrm>
            <a:off x="6034088" y="4787900"/>
            <a:ext cx="465137" cy="1162050"/>
            <a:chOff x="3801" y="3064"/>
            <a:chExt cx="293" cy="732"/>
          </a:xfrm>
        </p:grpSpPr>
        <p:sp>
          <p:nvSpPr>
            <p:cNvPr id="50229" name="Text Box 103"/>
            <p:cNvSpPr txBox="1"/>
            <p:nvPr/>
          </p:nvSpPr>
          <p:spPr>
            <a:xfrm>
              <a:off x="3801" y="3544"/>
              <a:ext cx="293" cy="25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A</a:t>
              </a:r>
              <a:r>
                <a:rPr lang="en-US" altLang="zh-CN" sz="2000" baseline="-25000" dirty="0">
                  <a:ea typeface="宋体" panose="02010600030101010101" pitchFamily="2" charset="-122"/>
                </a:rPr>
                <a:t>1</a:t>
              </a:r>
              <a:endParaRPr lang="en-US" altLang="zh-CN" sz="20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50230" name="Text Box 104"/>
            <p:cNvSpPr txBox="1"/>
            <p:nvPr/>
          </p:nvSpPr>
          <p:spPr>
            <a:xfrm>
              <a:off x="3801" y="3288"/>
              <a:ext cx="293" cy="25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A</a:t>
              </a:r>
              <a:r>
                <a:rPr lang="en-US" altLang="zh-CN" sz="2000" baseline="-25000" dirty="0">
                  <a:ea typeface="宋体" panose="02010600030101010101" pitchFamily="2" charset="-122"/>
                </a:rPr>
                <a:t>2</a:t>
              </a:r>
              <a:endParaRPr lang="en-US" altLang="zh-CN" sz="20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50231" name="Text Box 105"/>
            <p:cNvSpPr txBox="1"/>
            <p:nvPr/>
          </p:nvSpPr>
          <p:spPr>
            <a:xfrm>
              <a:off x="3801" y="3064"/>
              <a:ext cx="293" cy="25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A</a:t>
              </a:r>
              <a:r>
                <a:rPr lang="en-US" altLang="zh-CN" sz="2000" baseline="-25000" dirty="0">
                  <a:ea typeface="宋体" panose="02010600030101010101" pitchFamily="2" charset="-122"/>
                </a:rPr>
                <a:t>3</a:t>
              </a:r>
              <a:endParaRPr lang="en-US" altLang="zh-CN" sz="2000" baseline="-25000" dirty="0"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134"/>
          <p:cNvGrpSpPr/>
          <p:nvPr/>
        </p:nvGrpSpPr>
        <p:grpSpPr>
          <a:xfrm>
            <a:off x="2312988" y="2830513"/>
            <a:ext cx="465137" cy="1081087"/>
            <a:chOff x="1273" y="1560"/>
            <a:chExt cx="293" cy="681"/>
          </a:xfrm>
        </p:grpSpPr>
        <p:sp>
          <p:nvSpPr>
            <p:cNvPr id="50226" name="Text Box 115"/>
            <p:cNvSpPr txBox="1"/>
            <p:nvPr/>
          </p:nvSpPr>
          <p:spPr>
            <a:xfrm>
              <a:off x="1273" y="2028"/>
              <a:ext cx="293" cy="21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A</a:t>
              </a:r>
              <a:r>
                <a:rPr lang="en-US" altLang="zh-CN" sz="2000" baseline="-25000" dirty="0">
                  <a:ea typeface="宋体" panose="02010600030101010101" pitchFamily="2" charset="-122"/>
                </a:rPr>
                <a:t>6</a:t>
              </a:r>
              <a:endParaRPr lang="en-US" altLang="zh-CN" sz="20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50227" name="Text Box 116"/>
            <p:cNvSpPr txBox="1"/>
            <p:nvPr/>
          </p:nvSpPr>
          <p:spPr>
            <a:xfrm>
              <a:off x="1273" y="1801"/>
              <a:ext cx="293" cy="21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A</a:t>
              </a:r>
              <a:r>
                <a:rPr lang="en-US" altLang="zh-CN" sz="2000" baseline="-25000" dirty="0">
                  <a:ea typeface="宋体" panose="02010600030101010101" pitchFamily="2" charset="-122"/>
                </a:rPr>
                <a:t>5</a:t>
              </a:r>
              <a:endParaRPr lang="en-US" altLang="zh-CN" sz="2000" baseline="-25000" dirty="0">
                <a:ea typeface="宋体" panose="02010600030101010101" pitchFamily="2" charset="-122"/>
              </a:endParaRPr>
            </a:p>
          </p:txBody>
        </p:sp>
        <p:sp>
          <p:nvSpPr>
            <p:cNvPr id="50228" name="Text Box 117"/>
            <p:cNvSpPr txBox="1"/>
            <p:nvPr/>
          </p:nvSpPr>
          <p:spPr>
            <a:xfrm>
              <a:off x="1273" y="1560"/>
              <a:ext cx="293" cy="21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A</a:t>
              </a:r>
              <a:r>
                <a:rPr lang="en-US" altLang="zh-CN" sz="2000" baseline="-25000" dirty="0">
                  <a:ea typeface="宋体" panose="02010600030101010101" pitchFamily="2" charset="-122"/>
                </a:rPr>
                <a:t>4</a:t>
              </a:r>
              <a:endParaRPr lang="en-US" altLang="zh-CN" sz="2000" baseline="-25000" dirty="0">
                <a:ea typeface="宋体" panose="02010600030101010101" pitchFamily="2" charset="-122"/>
              </a:endParaRPr>
            </a:p>
          </p:txBody>
        </p:sp>
      </p:grpSp>
      <p:sp>
        <p:nvSpPr>
          <p:cNvPr id="133" name="Text Box 115"/>
          <p:cNvSpPr txBox="1"/>
          <p:nvPr/>
        </p:nvSpPr>
        <p:spPr>
          <a:xfrm>
            <a:off x="2319338" y="4090988"/>
            <a:ext cx="466725" cy="338137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>
            <a:lvl1pPr marL="17970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9580" indent="-9080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179705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22085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华文中宋" panose="02010600040101010101" pitchFamily="2" charset="-122"/>
              </a:defRPr>
            </a:lvl4pPr>
            <a:lvl5pPr marL="261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A</a:t>
            </a:r>
            <a:r>
              <a:rPr lang="en-US" altLang="zh-CN" sz="2000" baseline="-25000" dirty="0">
                <a:ea typeface="宋体" panose="02010600030101010101" pitchFamily="2" charset="-122"/>
              </a:rPr>
              <a:t>9</a:t>
            </a:r>
            <a:endParaRPr lang="en-US" altLang="zh-CN" sz="2000" baseline="-25000" dirty="0">
              <a:ea typeface="宋体" panose="02010600030101010101" pitchFamily="2" charset="-122"/>
            </a:endParaRPr>
          </a:p>
        </p:txBody>
      </p:sp>
      <p:sp>
        <p:nvSpPr>
          <p:cNvPr id="82" name="标题 1"/>
          <p:cNvSpPr txBox="1"/>
          <p:nvPr/>
        </p:nvSpPr>
        <p:spPr>
          <a:xfrm>
            <a:off x="574675" y="231775"/>
            <a:ext cx="7021513" cy="676275"/>
          </a:xfrm>
          <a:prstGeom prst="rect">
            <a:avLst/>
          </a:prstGeom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120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I/O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+mj-cs"/>
              </a:rPr>
              <a:t>端口译码设计实例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0225" name="Line 63"/>
          <p:cNvSpPr/>
          <p:nvPr/>
        </p:nvSpPr>
        <p:spPr>
          <a:xfrm>
            <a:off x="2800350" y="3055938"/>
            <a:ext cx="511175" cy="158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2226" name="Group 3"/>
          <p:cNvGrpSpPr/>
          <p:nvPr/>
        </p:nvGrpSpPr>
        <p:grpSpPr>
          <a:xfrm>
            <a:off x="576263" y="2500313"/>
            <a:ext cx="8099425" cy="3833812"/>
            <a:chOff x="264" y="644"/>
            <a:chExt cx="5328" cy="2623"/>
          </a:xfrm>
        </p:grpSpPr>
        <p:sp>
          <p:nvSpPr>
            <p:cNvPr id="52229" name="Rectangle 4"/>
            <p:cNvSpPr/>
            <p:nvPr/>
          </p:nvSpPr>
          <p:spPr>
            <a:xfrm>
              <a:off x="1808" y="660"/>
              <a:ext cx="1272" cy="2469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52230" name="Line 5"/>
            <p:cNvSpPr/>
            <p:nvPr/>
          </p:nvSpPr>
          <p:spPr>
            <a:xfrm>
              <a:off x="1462" y="884"/>
              <a:ext cx="346" cy="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31" name="Line 6"/>
            <p:cNvSpPr/>
            <p:nvPr/>
          </p:nvSpPr>
          <p:spPr>
            <a:xfrm>
              <a:off x="1486" y="1184"/>
              <a:ext cx="322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32" name="Line 7"/>
            <p:cNvSpPr/>
            <p:nvPr/>
          </p:nvSpPr>
          <p:spPr>
            <a:xfrm>
              <a:off x="1486" y="1483"/>
              <a:ext cx="322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33" name="Oval 8"/>
            <p:cNvSpPr/>
            <p:nvPr/>
          </p:nvSpPr>
          <p:spPr>
            <a:xfrm>
              <a:off x="3080" y="1905"/>
              <a:ext cx="65" cy="75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52234" name="Line 9"/>
            <p:cNvSpPr/>
            <p:nvPr/>
          </p:nvSpPr>
          <p:spPr>
            <a:xfrm>
              <a:off x="3154" y="1946"/>
              <a:ext cx="109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35" name="Text Box 10"/>
            <p:cNvSpPr txBox="1"/>
            <p:nvPr/>
          </p:nvSpPr>
          <p:spPr>
            <a:xfrm>
              <a:off x="2752" y="1800"/>
              <a:ext cx="296" cy="27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Y</a:t>
              </a:r>
              <a:r>
                <a:rPr lang="en-US" altLang="zh-CN" sz="2000" baseline="-18000" dirty="0">
                  <a:ea typeface="宋体" panose="02010600030101010101" pitchFamily="2" charset="-122"/>
                </a:rPr>
                <a:t>2</a:t>
              </a:r>
              <a:endParaRPr lang="en-US" altLang="zh-CN" sz="2000" baseline="-18000" dirty="0">
                <a:ea typeface="宋体" panose="02010600030101010101" pitchFamily="2" charset="-122"/>
              </a:endParaRPr>
            </a:p>
          </p:txBody>
        </p:sp>
        <p:sp>
          <p:nvSpPr>
            <p:cNvPr id="52236" name="Text Box 11"/>
            <p:cNvSpPr txBox="1"/>
            <p:nvPr/>
          </p:nvSpPr>
          <p:spPr>
            <a:xfrm>
              <a:off x="1873" y="696"/>
              <a:ext cx="244" cy="27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A</a:t>
              </a:r>
              <a:endParaRPr lang="en-US" altLang="zh-CN" sz="2000" baseline="-18000" dirty="0">
                <a:ea typeface="宋体" panose="02010600030101010101" pitchFamily="2" charset="-122"/>
              </a:endParaRPr>
            </a:p>
          </p:txBody>
        </p:sp>
        <p:sp>
          <p:nvSpPr>
            <p:cNvPr id="52237" name="Text Box 12"/>
            <p:cNvSpPr txBox="1"/>
            <p:nvPr/>
          </p:nvSpPr>
          <p:spPr>
            <a:xfrm>
              <a:off x="1873" y="1032"/>
              <a:ext cx="244" cy="27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B</a:t>
              </a:r>
              <a:endParaRPr lang="en-US" altLang="zh-CN" sz="2000" baseline="-18000" dirty="0">
                <a:ea typeface="宋体" panose="02010600030101010101" pitchFamily="2" charset="-122"/>
              </a:endParaRPr>
            </a:p>
          </p:txBody>
        </p:sp>
        <p:sp>
          <p:nvSpPr>
            <p:cNvPr id="52238" name="Text Box 13"/>
            <p:cNvSpPr txBox="1"/>
            <p:nvPr/>
          </p:nvSpPr>
          <p:spPr>
            <a:xfrm>
              <a:off x="1861" y="1320"/>
              <a:ext cx="244" cy="27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C</a:t>
              </a:r>
              <a:endParaRPr lang="en-US" altLang="zh-CN" sz="2000" baseline="-18000" dirty="0">
                <a:ea typeface="宋体" panose="02010600030101010101" pitchFamily="2" charset="-122"/>
              </a:endParaRPr>
            </a:p>
          </p:txBody>
        </p:sp>
        <p:sp>
          <p:nvSpPr>
            <p:cNvPr id="52239" name="Text Box 14"/>
            <p:cNvSpPr txBox="1"/>
            <p:nvPr/>
          </p:nvSpPr>
          <p:spPr>
            <a:xfrm>
              <a:off x="1995" y="2489"/>
              <a:ext cx="944" cy="316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solidFill>
                    <a:srgbClr val="0000CC"/>
                  </a:solidFill>
                  <a:ea typeface="宋体" panose="02010600030101010101" pitchFamily="2" charset="-122"/>
                </a:rPr>
                <a:t>74LS138</a:t>
              </a:r>
              <a:endParaRPr lang="en-US" altLang="zh-CN" sz="2400" baseline="-18000" dirty="0">
                <a:solidFill>
                  <a:srgbClr val="0000CC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2240" name="Text Box 15"/>
            <p:cNvSpPr txBox="1"/>
            <p:nvPr/>
          </p:nvSpPr>
          <p:spPr>
            <a:xfrm>
              <a:off x="1107" y="749"/>
              <a:ext cx="381" cy="316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ea typeface="宋体" panose="02010600030101010101" pitchFamily="2" charset="-122"/>
                </a:rPr>
                <a:t>A3</a:t>
              </a:r>
              <a:endParaRPr lang="en-US" altLang="zh-CN" sz="2400" baseline="-18000" dirty="0">
                <a:ea typeface="宋体" panose="02010600030101010101" pitchFamily="2" charset="-122"/>
              </a:endParaRPr>
            </a:p>
          </p:txBody>
        </p:sp>
        <p:sp>
          <p:nvSpPr>
            <p:cNvPr id="52241" name="Text Box 16"/>
            <p:cNvSpPr txBox="1"/>
            <p:nvPr/>
          </p:nvSpPr>
          <p:spPr>
            <a:xfrm>
              <a:off x="1107" y="1067"/>
              <a:ext cx="381" cy="316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ea typeface="宋体" panose="02010600030101010101" pitchFamily="2" charset="-122"/>
                </a:rPr>
                <a:t>A4</a:t>
              </a:r>
              <a:endParaRPr lang="en-US" altLang="zh-CN" sz="2400" baseline="-18000" dirty="0">
                <a:ea typeface="宋体" panose="02010600030101010101" pitchFamily="2" charset="-122"/>
              </a:endParaRPr>
            </a:p>
          </p:txBody>
        </p:sp>
        <p:sp>
          <p:nvSpPr>
            <p:cNvPr id="52242" name="Text Box 17"/>
            <p:cNvSpPr txBox="1"/>
            <p:nvPr/>
          </p:nvSpPr>
          <p:spPr>
            <a:xfrm>
              <a:off x="1107" y="1355"/>
              <a:ext cx="381" cy="316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ea typeface="宋体" panose="02010600030101010101" pitchFamily="2" charset="-122"/>
                </a:rPr>
                <a:t>A5</a:t>
              </a:r>
              <a:endParaRPr lang="en-US" altLang="zh-CN" sz="2400" baseline="-18000" dirty="0">
                <a:ea typeface="宋体" panose="02010600030101010101" pitchFamily="2" charset="-122"/>
              </a:endParaRPr>
            </a:p>
          </p:txBody>
        </p:sp>
        <p:grpSp>
          <p:nvGrpSpPr>
            <p:cNvPr id="52243" name="Group 18"/>
            <p:cNvGrpSpPr/>
            <p:nvPr/>
          </p:nvGrpSpPr>
          <p:grpSpPr>
            <a:xfrm>
              <a:off x="269" y="1723"/>
              <a:ext cx="1893" cy="501"/>
              <a:chOff x="1084" y="2629"/>
              <a:chExt cx="1893" cy="501"/>
            </a:xfrm>
          </p:grpSpPr>
          <p:sp>
            <p:nvSpPr>
              <p:cNvPr id="52282" name="Text Box 19"/>
              <p:cNvSpPr txBox="1"/>
              <p:nvPr/>
            </p:nvSpPr>
            <p:spPr>
              <a:xfrm>
                <a:off x="2663" y="2689"/>
                <a:ext cx="314" cy="27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lstStyle>
                <a:lvl1pPr marL="17970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49580" indent="-908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80962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80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2208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华文中宋" panose="02010600040101010101" pitchFamily="2" charset="-122"/>
                  </a:defRPr>
                </a:lvl4pPr>
                <a:lvl5pPr marL="261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dirty="0">
                    <a:ea typeface="宋体" panose="02010600030101010101" pitchFamily="2" charset="-122"/>
                  </a:rPr>
                  <a:t>G</a:t>
                </a:r>
                <a:r>
                  <a:rPr lang="en-US" altLang="zh-CN" sz="2000" baseline="-20000" dirty="0">
                    <a:ea typeface="宋体" panose="02010600030101010101" pitchFamily="2" charset="-122"/>
                  </a:rPr>
                  <a:t>1</a:t>
                </a:r>
                <a:endParaRPr lang="en-US" altLang="zh-CN" sz="2000" baseline="-20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52283" name="Line 20"/>
              <p:cNvSpPr/>
              <p:nvPr/>
            </p:nvSpPr>
            <p:spPr>
              <a:xfrm>
                <a:off x="2292" y="2899"/>
                <a:ext cx="322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2284" name="Text Box 21"/>
              <p:cNvSpPr txBox="1"/>
              <p:nvPr/>
            </p:nvSpPr>
            <p:spPr>
              <a:xfrm>
                <a:off x="1832" y="2715"/>
                <a:ext cx="461" cy="335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17970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49580" indent="-908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80962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80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2208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华文中宋" panose="02010600040101010101" pitchFamily="2" charset="-122"/>
                  </a:defRPr>
                </a:lvl4pPr>
                <a:lvl5pPr marL="261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dirty="0">
                    <a:ea typeface="宋体" panose="02010600030101010101" pitchFamily="2" charset="-122"/>
                  </a:rPr>
                  <a:t>&amp;</a:t>
                </a:r>
                <a:endParaRPr lang="en-US" altLang="zh-CN" sz="28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52285" name="Line 22"/>
              <p:cNvSpPr/>
              <p:nvPr/>
            </p:nvSpPr>
            <p:spPr>
              <a:xfrm flipH="1">
                <a:off x="1440" y="2781"/>
                <a:ext cx="3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2286" name="Line 23"/>
              <p:cNvSpPr/>
              <p:nvPr/>
            </p:nvSpPr>
            <p:spPr>
              <a:xfrm flipH="1">
                <a:off x="1440" y="2997"/>
                <a:ext cx="3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2287" name="Text Box 24"/>
              <p:cNvSpPr txBox="1"/>
              <p:nvPr/>
            </p:nvSpPr>
            <p:spPr>
              <a:xfrm>
                <a:off x="1084" y="2629"/>
                <a:ext cx="338" cy="27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lstStyle>
                <a:lvl1pPr marL="17970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49580" indent="-908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80962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80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2208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华文中宋" panose="02010600040101010101" pitchFamily="2" charset="-122"/>
                  </a:defRPr>
                </a:lvl4pPr>
                <a:lvl5pPr marL="261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dirty="0">
                    <a:ea typeface="宋体" panose="02010600030101010101" pitchFamily="2" charset="-122"/>
                  </a:rPr>
                  <a:t>A6</a:t>
                </a:r>
                <a:endParaRPr lang="en-US" altLang="zh-CN" sz="2000" baseline="-18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52288" name="Text Box 25"/>
              <p:cNvSpPr txBox="1"/>
              <p:nvPr/>
            </p:nvSpPr>
            <p:spPr>
              <a:xfrm>
                <a:off x="1084" y="2856"/>
                <a:ext cx="338" cy="27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lstStyle>
                <a:lvl1pPr marL="17970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49580" indent="-908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80962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80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2208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华文中宋" panose="02010600040101010101" pitchFamily="2" charset="-122"/>
                  </a:defRPr>
                </a:lvl4pPr>
                <a:lvl5pPr marL="261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dirty="0">
                    <a:ea typeface="宋体" panose="02010600030101010101" pitchFamily="2" charset="-122"/>
                  </a:rPr>
                  <a:t>A7</a:t>
                </a:r>
                <a:endParaRPr lang="en-US" altLang="zh-CN" sz="2000" baseline="-18000" dirty="0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2244" name="Group 26"/>
            <p:cNvGrpSpPr/>
            <p:nvPr/>
          </p:nvGrpSpPr>
          <p:grpSpPr>
            <a:xfrm>
              <a:off x="264" y="2768"/>
              <a:ext cx="2044" cy="499"/>
              <a:chOff x="1097" y="1748"/>
              <a:chExt cx="2044" cy="499"/>
            </a:xfrm>
          </p:grpSpPr>
          <p:grpSp>
            <p:nvGrpSpPr>
              <p:cNvPr id="52270" name="Group 27"/>
              <p:cNvGrpSpPr/>
              <p:nvPr/>
            </p:nvGrpSpPr>
            <p:grpSpPr>
              <a:xfrm>
                <a:off x="2310" y="1959"/>
                <a:ext cx="322" cy="74"/>
                <a:chOff x="2928" y="3168"/>
                <a:chExt cx="240" cy="48"/>
              </a:xfrm>
            </p:grpSpPr>
            <p:sp>
              <p:nvSpPr>
                <p:cNvPr id="52280" name="Oval 28"/>
                <p:cNvSpPr/>
                <p:nvPr/>
              </p:nvSpPr>
              <p:spPr>
                <a:xfrm>
                  <a:off x="3120" y="3168"/>
                  <a:ext cx="48" cy="48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179705" indent="-17970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p"/>
                    <a:defRPr sz="32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49580" indent="-9080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809625" indent="-17970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80000"/>
                    <a:buFont typeface="Wingdings" panose="05000000000000000000" pitchFamily="2" charset="2"/>
                    <a:buChar char="l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220853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华文中宋" panose="02010600040101010101" pitchFamily="2" charset="-122"/>
                    </a:defRPr>
                  </a:lvl4pPr>
                  <a:lvl5pPr marL="261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000" dirty="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281" name="Line 29"/>
                <p:cNvSpPr/>
                <p:nvPr/>
              </p:nvSpPr>
              <p:spPr>
                <a:xfrm flipH="1">
                  <a:off x="2928" y="3190"/>
                  <a:ext cx="192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2271" name="Group 30"/>
              <p:cNvGrpSpPr/>
              <p:nvPr/>
            </p:nvGrpSpPr>
            <p:grpSpPr>
              <a:xfrm>
                <a:off x="2620" y="1782"/>
                <a:ext cx="521" cy="274"/>
                <a:chOff x="3630" y="3697"/>
                <a:chExt cx="388" cy="176"/>
              </a:xfrm>
            </p:grpSpPr>
            <p:sp>
              <p:nvSpPr>
                <p:cNvPr id="52278" name="Text Box 31"/>
                <p:cNvSpPr txBox="1"/>
                <p:nvPr/>
              </p:nvSpPr>
              <p:spPr>
                <a:xfrm>
                  <a:off x="3630" y="3697"/>
                  <a:ext cx="388" cy="176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>
                  <a:spAutoFit/>
                </a:bodyPr>
                <a:lstStyle>
                  <a:lvl1pPr marL="179705" indent="-17970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p"/>
                    <a:defRPr sz="32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49580" indent="-9080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809625" indent="-17970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80000"/>
                    <a:buFont typeface="Wingdings" panose="05000000000000000000" pitchFamily="2" charset="2"/>
                    <a:buChar char="l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220853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华文中宋" panose="02010600040101010101" pitchFamily="2" charset="-122"/>
                    </a:defRPr>
                  </a:lvl4pPr>
                  <a:lvl5pPr marL="261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 dirty="0">
                      <a:ea typeface="宋体" panose="02010600030101010101" pitchFamily="2" charset="-122"/>
                    </a:rPr>
                    <a:t>G</a:t>
                  </a:r>
                  <a:r>
                    <a:rPr lang="en-US" altLang="zh-CN" sz="2000" baseline="-18000" dirty="0">
                      <a:ea typeface="宋体" panose="02010600030101010101" pitchFamily="2" charset="-122"/>
                    </a:rPr>
                    <a:t>2</a:t>
                  </a:r>
                  <a:r>
                    <a:rPr lang="en-US" altLang="zh-CN" sz="2000" baseline="-20000" dirty="0">
                      <a:ea typeface="宋体" panose="02010600030101010101" pitchFamily="2" charset="-122"/>
                    </a:rPr>
                    <a:t>B </a:t>
                  </a:r>
                  <a:r>
                    <a:rPr lang="en-US" altLang="zh-CN" sz="2000" dirty="0">
                      <a:ea typeface="宋体" panose="02010600030101010101" pitchFamily="2" charset="-122"/>
                    </a:rPr>
                    <a:t>#</a:t>
                  </a:r>
                  <a:endParaRPr lang="en-US" altLang="zh-CN" sz="2000" dirty="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279" name="Line 32"/>
                <p:cNvSpPr/>
                <p:nvPr/>
              </p:nvSpPr>
              <p:spPr>
                <a:xfrm>
                  <a:off x="3696" y="3744"/>
                  <a:ext cx="192" cy="0"/>
                </a:xfrm>
                <a:prstGeom prst="line">
                  <a:avLst/>
                </a:prstGeom>
                <a:ln w="28575">
                  <a:noFill/>
                </a:ln>
              </p:spPr>
            </p:sp>
          </p:grpSp>
          <p:sp>
            <p:nvSpPr>
              <p:cNvPr id="52272" name="Line 33"/>
              <p:cNvSpPr/>
              <p:nvPr/>
            </p:nvSpPr>
            <p:spPr>
              <a:xfrm>
                <a:off x="2700" y="1809"/>
                <a:ext cx="297" cy="0"/>
              </a:xfrm>
              <a:prstGeom prst="line">
                <a:avLst/>
              </a:prstGeom>
              <a:ln w="19050" cap="flat" cmpd="sng">
                <a:solidFill>
                  <a:srgbClr val="F0F8FE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2273" name="Text Box 34"/>
              <p:cNvSpPr txBox="1"/>
              <p:nvPr/>
            </p:nvSpPr>
            <p:spPr>
              <a:xfrm>
                <a:off x="1994" y="1815"/>
                <a:ext cx="317" cy="335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17970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49580" indent="-908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80962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80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2208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华文中宋" panose="02010600040101010101" pitchFamily="2" charset="-122"/>
                  </a:defRPr>
                </a:lvl4pPr>
                <a:lvl5pPr marL="261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dirty="0">
                    <a:ea typeface="宋体" panose="02010600030101010101" pitchFamily="2" charset="-122"/>
                  </a:rPr>
                  <a:t>&amp;</a:t>
                </a:r>
                <a:endParaRPr lang="en-US" altLang="zh-CN" sz="28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52274" name="Line 35"/>
              <p:cNvSpPr/>
              <p:nvPr/>
            </p:nvSpPr>
            <p:spPr>
              <a:xfrm flipH="1">
                <a:off x="1602" y="1890"/>
                <a:ext cx="3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2275" name="Line 36"/>
              <p:cNvSpPr/>
              <p:nvPr/>
            </p:nvSpPr>
            <p:spPr>
              <a:xfrm flipH="1">
                <a:off x="1602" y="2106"/>
                <a:ext cx="39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2276" name="Text Box 37"/>
              <p:cNvSpPr txBox="1"/>
              <p:nvPr/>
            </p:nvSpPr>
            <p:spPr>
              <a:xfrm>
                <a:off x="1106" y="1748"/>
                <a:ext cx="515" cy="27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lstStyle>
                <a:lvl1pPr marL="17970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49580" indent="-908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80962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80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2208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华文中宋" panose="02010600040101010101" pitchFamily="2" charset="-122"/>
                  </a:defRPr>
                </a:lvl4pPr>
                <a:lvl5pPr marL="261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dirty="0">
                    <a:ea typeface="宋体" panose="02010600030101010101" pitchFamily="2" charset="-122"/>
                  </a:rPr>
                  <a:t>IOR#</a:t>
                </a:r>
                <a:endParaRPr lang="en-US" altLang="zh-CN" sz="2000" baseline="-18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52277" name="Text Box 38"/>
              <p:cNvSpPr txBox="1"/>
              <p:nvPr/>
            </p:nvSpPr>
            <p:spPr>
              <a:xfrm>
                <a:off x="1097" y="1973"/>
                <a:ext cx="552" cy="27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lstStyle>
                <a:lvl1pPr marL="17970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49580" indent="-908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80962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80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2208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华文中宋" panose="02010600040101010101" pitchFamily="2" charset="-122"/>
                  </a:defRPr>
                </a:lvl4pPr>
                <a:lvl5pPr marL="261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dirty="0">
                    <a:ea typeface="宋体" panose="02010600030101010101" pitchFamily="2" charset="-122"/>
                  </a:rPr>
                  <a:t>IOW#</a:t>
                </a:r>
                <a:endParaRPr lang="en-US" altLang="zh-CN" sz="2000" baseline="-18000" dirty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2245" name="Rectangle 41"/>
            <p:cNvSpPr/>
            <p:nvPr/>
          </p:nvSpPr>
          <p:spPr>
            <a:xfrm>
              <a:off x="4320" y="644"/>
              <a:ext cx="1272" cy="2469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sp>
          <p:nvSpPr>
            <p:cNvPr id="52246" name="Text Box 42"/>
            <p:cNvSpPr txBox="1"/>
            <p:nvPr/>
          </p:nvSpPr>
          <p:spPr>
            <a:xfrm>
              <a:off x="4396" y="986"/>
              <a:ext cx="1139" cy="316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dirty="0">
                  <a:solidFill>
                    <a:srgbClr val="0000CC"/>
                  </a:solidFill>
                  <a:ea typeface="华文中宋" panose="02010600040101010101" pitchFamily="2" charset="-122"/>
                </a:rPr>
                <a:t>某接口芯片</a:t>
              </a:r>
              <a:endParaRPr lang="zh-CN" altLang="en-US" sz="2400" baseline="-18000" dirty="0">
                <a:solidFill>
                  <a:srgbClr val="0000CC"/>
                </a:solidFill>
                <a:ea typeface="华文中宋" panose="02010600040101010101" pitchFamily="2" charset="-122"/>
              </a:endParaRPr>
            </a:p>
          </p:txBody>
        </p:sp>
        <p:sp>
          <p:nvSpPr>
            <p:cNvPr id="52247" name="Oval 43"/>
            <p:cNvSpPr/>
            <p:nvPr/>
          </p:nvSpPr>
          <p:spPr>
            <a:xfrm>
              <a:off x="4248" y="1905"/>
              <a:ext cx="65" cy="75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endParaRPr lang="zh-CN" altLang="en-US" sz="2000" dirty="0">
                <a:ea typeface="宋体" panose="02010600030101010101" pitchFamily="2" charset="-122"/>
              </a:endParaRPr>
            </a:p>
          </p:txBody>
        </p:sp>
        <p:grpSp>
          <p:nvGrpSpPr>
            <p:cNvPr id="52248" name="Group 44"/>
            <p:cNvGrpSpPr/>
            <p:nvPr/>
          </p:nvGrpSpPr>
          <p:grpSpPr>
            <a:xfrm>
              <a:off x="4302" y="1800"/>
              <a:ext cx="450" cy="274"/>
              <a:chOff x="4606" y="1904"/>
              <a:chExt cx="450" cy="274"/>
            </a:xfrm>
          </p:grpSpPr>
          <p:sp>
            <p:nvSpPr>
              <p:cNvPr id="52268" name="Text Box 45"/>
              <p:cNvSpPr txBox="1"/>
              <p:nvPr/>
            </p:nvSpPr>
            <p:spPr>
              <a:xfrm>
                <a:off x="4606" y="1904"/>
                <a:ext cx="450" cy="27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lstStyle>
                <a:lvl1pPr marL="17970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49580" indent="-908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80962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80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2208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华文中宋" panose="02010600040101010101" pitchFamily="2" charset="-122"/>
                  </a:defRPr>
                </a:lvl4pPr>
                <a:lvl5pPr marL="261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dirty="0">
                    <a:ea typeface="宋体" panose="02010600030101010101" pitchFamily="2" charset="-122"/>
                  </a:rPr>
                  <a:t>CS#</a:t>
                </a:r>
                <a:endParaRPr lang="en-US" altLang="zh-CN" sz="2000" baseline="-18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52269" name="Line 46"/>
              <p:cNvSpPr/>
              <p:nvPr/>
            </p:nvSpPr>
            <p:spPr>
              <a:xfrm>
                <a:off x="4656" y="1928"/>
                <a:ext cx="216" cy="0"/>
              </a:xfrm>
              <a:prstGeom prst="line">
                <a:avLst/>
              </a:prstGeom>
              <a:ln w="19050" cap="flat" cmpd="sng">
                <a:solidFill>
                  <a:srgbClr val="C9EA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sp>
          <p:nvSpPr>
            <p:cNvPr id="52249" name="Text Box 47"/>
            <p:cNvSpPr txBox="1"/>
            <p:nvPr/>
          </p:nvSpPr>
          <p:spPr>
            <a:xfrm>
              <a:off x="4326" y="2344"/>
              <a:ext cx="306" cy="27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A</a:t>
              </a:r>
              <a:r>
                <a:rPr lang="en-US" altLang="zh-CN" sz="2000" baseline="-18000" dirty="0">
                  <a:ea typeface="宋体" panose="02010600030101010101" pitchFamily="2" charset="-122"/>
                </a:rPr>
                <a:t>0</a:t>
              </a:r>
              <a:endParaRPr lang="en-US" altLang="zh-CN" sz="2000" baseline="-18000" dirty="0">
                <a:ea typeface="宋体" panose="02010600030101010101" pitchFamily="2" charset="-122"/>
              </a:endParaRPr>
            </a:p>
          </p:txBody>
        </p:sp>
        <p:sp>
          <p:nvSpPr>
            <p:cNvPr id="52250" name="Text Box 48"/>
            <p:cNvSpPr txBox="1"/>
            <p:nvPr/>
          </p:nvSpPr>
          <p:spPr>
            <a:xfrm>
              <a:off x="4334" y="2616"/>
              <a:ext cx="306" cy="27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A</a:t>
              </a:r>
              <a:r>
                <a:rPr lang="en-US" altLang="zh-CN" sz="2000" baseline="-18000" dirty="0">
                  <a:ea typeface="宋体" panose="02010600030101010101" pitchFamily="2" charset="-122"/>
                </a:rPr>
                <a:t>1</a:t>
              </a:r>
              <a:endParaRPr lang="en-US" altLang="zh-CN" sz="2000" baseline="-18000" dirty="0">
                <a:ea typeface="宋体" panose="02010600030101010101" pitchFamily="2" charset="-122"/>
              </a:endParaRPr>
            </a:p>
          </p:txBody>
        </p:sp>
        <p:sp>
          <p:nvSpPr>
            <p:cNvPr id="52251" name="Line 49"/>
            <p:cNvSpPr/>
            <p:nvPr/>
          </p:nvSpPr>
          <p:spPr>
            <a:xfrm flipH="1">
              <a:off x="3952" y="2480"/>
              <a:ext cx="35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2252" name="Line 50"/>
            <p:cNvSpPr/>
            <p:nvPr/>
          </p:nvSpPr>
          <p:spPr>
            <a:xfrm flipH="1">
              <a:off x="3952" y="2776"/>
              <a:ext cx="35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52253" name="Text Box 51"/>
            <p:cNvSpPr txBox="1"/>
            <p:nvPr/>
          </p:nvSpPr>
          <p:spPr>
            <a:xfrm>
              <a:off x="3598" y="2328"/>
              <a:ext cx="306" cy="27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A</a:t>
              </a:r>
              <a:r>
                <a:rPr lang="en-US" altLang="zh-CN" sz="2000" baseline="-18000" dirty="0">
                  <a:ea typeface="宋体" panose="02010600030101010101" pitchFamily="2" charset="-122"/>
                </a:rPr>
                <a:t>0</a:t>
              </a:r>
              <a:endParaRPr lang="en-US" altLang="zh-CN" sz="2000" baseline="-18000" dirty="0">
                <a:ea typeface="宋体" panose="02010600030101010101" pitchFamily="2" charset="-122"/>
              </a:endParaRPr>
            </a:p>
          </p:txBody>
        </p:sp>
        <p:sp>
          <p:nvSpPr>
            <p:cNvPr id="52254" name="Text Box 52"/>
            <p:cNvSpPr txBox="1"/>
            <p:nvPr/>
          </p:nvSpPr>
          <p:spPr>
            <a:xfrm>
              <a:off x="3598" y="2640"/>
              <a:ext cx="306" cy="27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>
              <a:lvl1pPr marL="17970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p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49580" indent="-90805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809625" indent="-179705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80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22085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+mn-lt"/>
                  <a:ea typeface="华文中宋" panose="02010600040101010101" pitchFamily="2" charset="-122"/>
                </a:defRPr>
              </a:lvl4pPr>
              <a:lvl5pPr marL="261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宋体" panose="0201060003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ea typeface="宋体" panose="02010600030101010101" pitchFamily="2" charset="-122"/>
                </a:rPr>
                <a:t>A</a:t>
              </a:r>
              <a:r>
                <a:rPr lang="en-US" altLang="zh-CN" sz="2000" baseline="-18000" dirty="0">
                  <a:ea typeface="宋体" panose="02010600030101010101" pitchFamily="2" charset="-122"/>
                </a:rPr>
                <a:t>1</a:t>
              </a:r>
              <a:endParaRPr lang="en-US" altLang="zh-CN" sz="2000" baseline="-18000" dirty="0">
                <a:ea typeface="宋体" panose="02010600030101010101" pitchFamily="2" charset="-122"/>
              </a:endParaRPr>
            </a:p>
          </p:txBody>
        </p:sp>
        <p:grpSp>
          <p:nvGrpSpPr>
            <p:cNvPr id="52255" name="Group 53"/>
            <p:cNvGrpSpPr/>
            <p:nvPr/>
          </p:nvGrpSpPr>
          <p:grpSpPr>
            <a:xfrm>
              <a:off x="269" y="2177"/>
              <a:ext cx="2053" cy="501"/>
              <a:chOff x="269" y="2177"/>
              <a:chExt cx="2053" cy="501"/>
            </a:xfrm>
          </p:grpSpPr>
          <p:grpSp>
            <p:nvGrpSpPr>
              <p:cNvPr id="52256" name="Group 54"/>
              <p:cNvGrpSpPr/>
              <p:nvPr/>
            </p:nvGrpSpPr>
            <p:grpSpPr>
              <a:xfrm>
                <a:off x="1477" y="2389"/>
                <a:ext cx="322" cy="75"/>
                <a:chOff x="2928" y="3168"/>
                <a:chExt cx="240" cy="48"/>
              </a:xfrm>
            </p:grpSpPr>
            <p:sp>
              <p:nvSpPr>
                <p:cNvPr id="52266" name="Oval 55"/>
                <p:cNvSpPr/>
                <p:nvPr/>
              </p:nvSpPr>
              <p:spPr>
                <a:xfrm>
                  <a:off x="3120" y="3168"/>
                  <a:ext cx="48" cy="48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179705" indent="-17970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p"/>
                    <a:defRPr sz="32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49580" indent="-9080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809625" indent="-17970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80000"/>
                    <a:buFont typeface="Wingdings" panose="05000000000000000000" pitchFamily="2" charset="2"/>
                    <a:buChar char="l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220853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华文中宋" panose="02010600040101010101" pitchFamily="2" charset="-122"/>
                    </a:defRPr>
                  </a:lvl4pPr>
                  <a:lvl5pPr marL="261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000" dirty="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267" name="Line 56"/>
                <p:cNvSpPr/>
                <p:nvPr/>
              </p:nvSpPr>
              <p:spPr>
                <a:xfrm flipH="1">
                  <a:off x="2928" y="3190"/>
                  <a:ext cx="192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2257" name="Group 57"/>
              <p:cNvGrpSpPr/>
              <p:nvPr/>
            </p:nvGrpSpPr>
            <p:grpSpPr>
              <a:xfrm>
                <a:off x="1805" y="2212"/>
                <a:ext cx="517" cy="274"/>
                <a:chOff x="3636" y="3697"/>
                <a:chExt cx="384" cy="176"/>
              </a:xfrm>
            </p:grpSpPr>
            <p:sp>
              <p:nvSpPr>
                <p:cNvPr id="52264" name="Text Box 58"/>
                <p:cNvSpPr txBox="1"/>
                <p:nvPr/>
              </p:nvSpPr>
              <p:spPr>
                <a:xfrm>
                  <a:off x="3636" y="3697"/>
                  <a:ext cx="384" cy="176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>
                  <a:spAutoFit/>
                </a:bodyPr>
                <a:lstStyle>
                  <a:lvl1pPr marL="179705" indent="-17970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p"/>
                    <a:defRPr sz="3200" b="1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49580" indent="-9080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Wingdings" panose="05000000000000000000" pitchFamily="2" charset="2"/>
                    <a:buChar char="n"/>
                    <a:defRPr sz="28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809625" indent="-17970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80000"/>
                    <a:buFont typeface="Wingdings" panose="05000000000000000000" pitchFamily="2" charset="2"/>
                    <a:buChar char="l"/>
                    <a:defRPr sz="2400" b="1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220853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60000"/>
                    <a:buFont typeface="Wingdings" panose="05000000000000000000" pitchFamily="2" charset="2"/>
                    <a:buChar char="n"/>
                    <a:defRPr sz="2000" b="1">
                      <a:solidFill>
                        <a:schemeClr val="tx1"/>
                      </a:solidFill>
                      <a:latin typeface="+mn-lt"/>
                      <a:ea typeface="华文中宋" panose="02010600040101010101" pitchFamily="2" charset="-122"/>
                    </a:defRPr>
                  </a:lvl4pPr>
                  <a:lvl5pPr marL="261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+mn-lt"/>
                      <a:ea typeface="宋体" panose="02010600030101010101" pitchFamily="2" charset="-122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000" dirty="0">
                      <a:ea typeface="宋体" panose="02010600030101010101" pitchFamily="2" charset="-122"/>
                    </a:rPr>
                    <a:t>G</a:t>
                  </a:r>
                  <a:r>
                    <a:rPr lang="en-US" altLang="zh-CN" sz="2000" baseline="-18000" dirty="0">
                      <a:ea typeface="宋体" panose="02010600030101010101" pitchFamily="2" charset="-122"/>
                    </a:rPr>
                    <a:t>2</a:t>
                  </a:r>
                  <a:r>
                    <a:rPr lang="en-US" altLang="zh-CN" sz="2000" baseline="-20000" dirty="0">
                      <a:ea typeface="宋体" panose="02010600030101010101" pitchFamily="2" charset="-122"/>
                    </a:rPr>
                    <a:t>A </a:t>
                  </a:r>
                  <a:r>
                    <a:rPr lang="en-US" altLang="zh-CN" sz="2000" dirty="0">
                      <a:ea typeface="宋体" panose="02010600030101010101" pitchFamily="2" charset="-122"/>
                    </a:rPr>
                    <a:t>#</a:t>
                  </a:r>
                  <a:endParaRPr lang="en-US" altLang="zh-CN" sz="2000" dirty="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2265" name="Line 59"/>
                <p:cNvSpPr/>
                <p:nvPr/>
              </p:nvSpPr>
              <p:spPr>
                <a:xfrm>
                  <a:off x="3696" y="3744"/>
                  <a:ext cx="192" cy="0"/>
                </a:xfrm>
                <a:prstGeom prst="line">
                  <a:avLst/>
                </a:prstGeom>
                <a:ln w="28575">
                  <a:noFill/>
                </a:ln>
              </p:spPr>
            </p:sp>
          </p:grpSp>
          <p:sp>
            <p:nvSpPr>
              <p:cNvPr id="52258" name="Line 60"/>
              <p:cNvSpPr/>
              <p:nvPr/>
            </p:nvSpPr>
            <p:spPr>
              <a:xfrm>
                <a:off x="1831" y="2237"/>
                <a:ext cx="297" cy="0"/>
              </a:xfrm>
              <a:prstGeom prst="line">
                <a:avLst/>
              </a:prstGeom>
              <a:ln w="19050" cap="flat" cmpd="sng">
                <a:solidFill>
                  <a:srgbClr val="C9EA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2259" name="Text Box 61"/>
              <p:cNvSpPr txBox="1"/>
              <p:nvPr/>
            </p:nvSpPr>
            <p:spPr>
              <a:xfrm>
                <a:off x="269" y="2177"/>
                <a:ext cx="338" cy="27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lstStyle>
                <a:lvl1pPr marL="17970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49580" indent="-908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80962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80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2208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华文中宋" panose="02010600040101010101" pitchFamily="2" charset="-122"/>
                  </a:defRPr>
                </a:lvl4pPr>
                <a:lvl5pPr marL="261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dirty="0">
                    <a:ea typeface="宋体" panose="02010600030101010101" pitchFamily="2" charset="-122"/>
                  </a:rPr>
                  <a:t>A8</a:t>
                </a:r>
                <a:endParaRPr lang="en-US" altLang="zh-CN" sz="2000" baseline="-18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52260" name="Text Box 62"/>
              <p:cNvSpPr txBox="1"/>
              <p:nvPr/>
            </p:nvSpPr>
            <p:spPr>
              <a:xfrm>
                <a:off x="269" y="2404"/>
                <a:ext cx="338" cy="27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lstStyle>
                <a:lvl1pPr marL="17970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49580" indent="-908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80962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80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2208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华文中宋" panose="02010600040101010101" pitchFamily="2" charset="-122"/>
                  </a:defRPr>
                </a:lvl4pPr>
                <a:lvl5pPr marL="261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000" dirty="0">
                    <a:ea typeface="宋体" panose="02010600030101010101" pitchFamily="2" charset="-122"/>
                  </a:rPr>
                  <a:t>A9</a:t>
                </a:r>
                <a:endParaRPr lang="en-US" altLang="zh-CN" sz="2000" baseline="-180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52261" name="Text Box 63"/>
              <p:cNvSpPr txBox="1"/>
              <p:nvPr/>
            </p:nvSpPr>
            <p:spPr>
              <a:xfrm>
                <a:off x="1022" y="2266"/>
                <a:ext cx="450" cy="358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>
                <a:spAutoFit/>
              </a:bodyPr>
              <a:lstStyle>
                <a:lvl1pPr marL="17970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p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49580" indent="-908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809625" indent="-1797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80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220853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60000"/>
                  <a:buFont typeface="Wingdings" panose="05000000000000000000" pitchFamily="2" charset="2"/>
                  <a:buChar char="n"/>
                  <a:defRPr sz="2000" b="1">
                    <a:solidFill>
                      <a:schemeClr val="tx1"/>
                    </a:solidFill>
                    <a:latin typeface="+mn-lt"/>
                    <a:ea typeface="华文中宋" panose="02010600040101010101" pitchFamily="2" charset="-122"/>
                  </a:defRPr>
                </a:lvl4pPr>
                <a:lvl5pPr marL="261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宋体" panose="0201060003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dirty="0">
                    <a:ea typeface="宋体" panose="02010600030101010101" pitchFamily="2" charset="-122"/>
                  </a:rPr>
                  <a:t>≥1</a:t>
                </a:r>
                <a:endParaRPr lang="en-US" altLang="zh-CN" sz="2800" dirty="0">
                  <a:ea typeface="宋体" panose="02010600030101010101" pitchFamily="2" charset="-122"/>
                </a:endParaRPr>
              </a:p>
            </p:txBody>
          </p:sp>
          <p:sp>
            <p:nvSpPr>
              <p:cNvPr id="52262" name="Line 64"/>
              <p:cNvSpPr/>
              <p:nvPr/>
            </p:nvSpPr>
            <p:spPr>
              <a:xfrm flipH="1">
                <a:off x="608" y="2336"/>
                <a:ext cx="408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2263" name="Line 65"/>
              <p:cNvSpPr/>
              <p:nvPr/>
            </p:nvSpPr>
            <p:spPr>
              <a:xfrm flipH="1">
                <a:off x="600" y="2552"/>
                <a:ext cx="408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</p:grpSp>
      <p:sp>
        <p:nvSpPr>
          <p:cNvPr id="36868" name="Text Box 66"/>
          <p:cNvSpPr txBox="1">
            <a:spLocks noChangeArrowheads="1"/>
          </p:cNvSpPr>
          <p:nvPr/>
        </p:nvSpPr>
        <p:spPr bwMode="auto">
          <a:xfrm>
            <a:off x="603250" y="1293813"/>
            <a:ext cx="8040688" cy="1127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例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：按图所示的连接方法，该接口芯片共有几个端口？每个端口的地址分别是多少？</a:t>
            </a:r>
            <a:endParaRPr kumimoji="0" lang="zh-CN" altLang="en-US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65" name="标题 1"/>
          <p:cNvSpPr txBox="1"/>
          <p:nvPr/>
        </p:nvSpPr>
        <p:spPr>
          <a:xfrm>
            <a:off x="574675" y="231775"/>
            <a:ext cx="7021513" cy="676275"/>
          </a:xfrm>
          <a:prstGeom prst="rect">
            <a:avLst/>
          </a:prstGeom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120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I/O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+mj-cs"/>
              </a:rPr>
              <a:t>端口译码设计实例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>
                <a:latin typeface="Times New Roman" panose="02020603050405020304" pitchFamily="18" charset="0"/>
              </a:rPr>
              <a:t>五、关于总线问题</a:t>
            </a:r>
            <a:endParaRPr lang="zh-CN" altLang="en-US" dirty="0"/>
          </a:p>
        </p:txBody>
      </p:sp>
      <p:sp>
        <p:nvSpPr>
          <p:cNvPr id="54275" name="内容占位符 2"/>
          <p:cNvSpPr>
            <a:spLocks noGrp="1"/>
          </p:cNvSpPr>
          <p:nvPr>
            <p:ph idx="1"/>
          </p:nvPr>
        </p:nvSpPr>
        <p:spPr>
          <a:xfrm>
            <a:off x="539750" y="1285875"/>
            <a:ext cx="8318500" cy="4772025"/>
          </a:xfrm>
        </p:spPr>
        <p:txBody>
          <a:bodyPr vert="horz" wrap="square" lIns="91440" tIns="45720" rIns="91440" bIns="45720" anchor="t" anchorCtr="0"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同步总线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marL="711200" lvl="1" indent="-352425">
              <a:lnSpc>
                <a:spcPct val="110000"/>
              </a:lnSpc>
              <a:spcBef>
                <a:spcPts val="6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特点：各个部件采用统一时钟信号进行同步，协议简单，速度快，接口逻辑少。由于时钟偏移问题，同步总线不能很长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marL="711200" lvl="1" indent="-352425">
              <a:lnSpc>
                <a:spcPct val="110000"/>
              </a:lnSpc>
              <a:spcBef>
                <a:spcPts val="6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用途：用于部件之间距离短、存取速度较一致的场合。如</a:t>
            </a:r>
            <a:r>
              <a:rPr lang="en-US" altLang="zh-CN" sz="2400" dirty="0">
                <a:latin typeface="Times New Roman" panose="02020603050405020304" pitchFamily="18" charset="0"/>
              </a:rPr>
              <a:t>CPU</a:t>
            </a:r>
            <a:r>
              <a:rPr lang="zh-CN" altLang="en-US" sz="2400" dirty="0">
                <a:latin typeface="Times New Roman" panose="02020603050405020304" pitchFamily="18" charset="0"/>
              </a:rPr>
              <a:t>内部总线、处理器局部总线等采用同步总线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异步总线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marL="711200" lvl="1" indent="-352425">
              <a:lnSpc>
                <a:spcPct val="110000"/>
              </a:lnSpc>
              <a:spcBef>
                <a:spcPts val="6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特点：各个部件采用应答方式进行通信，允许各个部件之间的速度有较大的差异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marL="711200" lvl="1" indent="-352425">
              <a:lnSpc>
                <a:spcPct val="110000"/>
              </a:lnSpc>
              <a:spcBef>
                <a:spcPts val="6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用途：用于具有不同存取速度的设备之间进行通信。如连接外设或者其他机器的通信总线采用异步总线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>
                <a:latin typeface="Times New Roman" panose="02020603050405020304" pitchFamily="18" charset="0"/>
              </a:rPr>
              <a:t>总线实例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625" y="1300163"/>
            <a:ext cx="8429625" cy="47720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例：假定在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和主存之间有一个同步总线相连，其时钟周期为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50ns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，单独设有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32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位地址线和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32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位数据线。主存读传输时，首先要花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个时钟周期发送地址和读命令，最终从总线取数要花一个时钟周期，存储器的取数时间为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230ns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；主存写操作时，先花一个时钟周期送地址、数据和写命令，在随后的两个时钟周期内写入数据。要求分别求出该存储器进行连续读和写操作时的总线带宽。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解：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(1)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发送地址和读命令到存储器：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50ns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；存储器读数据：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230ns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，取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250ns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；传送数据到设备：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50ns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。所以总时间为：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350ns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，最大总线带宽为：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4B/350ns=13.3MB/s 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2095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(2)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发送地址、数据和写命令到存储器：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50ns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；存储器写数据：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100ns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。所以总时间为：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150ns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，最大总线带宽为：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4B/150ns=26.7MB/s 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82" end="2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182" end="2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79" end="3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charRg st="279" end="3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1500" y="1357630"/>
            <a:ext cx="8295640" cy="47720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(2009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年考研题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假设某系统总线在一个总线周期中并行传输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字节信息，一个总线周期占用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个时钟周期，总线时钟频率为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10MHz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，则总线带宽是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   )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10MB/s      B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20MB/S     C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40MB/S     D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80MB/S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(2010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年考研题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下列选项中的英文缩写均为总线标准的是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   )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PCI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CRT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USB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EISA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ISA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CPI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VESA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EISA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ISA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SCSI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RAM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MIPS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ISA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EISA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PCI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PCI-Express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(2011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年考研题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在系统总线的数据线上，不可能传输的是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   )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．指令    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．操作数     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．握手信号	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．中断类型号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632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>
                <a:latin typeface="Times New Roman" panose="02020603050405020304" pitchFamily="18" charset="0"/>
              </a:rPr>
              <a:t>总线实例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25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125" end="1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61" end="1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charRg st="161" end="1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80" end="2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charRg st="180" end="2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00" end="2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charRg st="200" end="2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20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charRg st="220" end="2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47" end="2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charRg st="247" end="2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82" end="3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charRg st="282" end="3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1371600"/>
            <a:ext cx="8247063" cy="47720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(2010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年考研题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假定一台计算机的显示存储器用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DRAM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芯片实现，若要求显示分辨率为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1600*1200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，颜色深度为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24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位，帧频为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85Hz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，现实总带宽的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50%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用来刷新屏幕，则所需显存总带宽至少约为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   )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245Mbps 	   		B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979Mbps     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1958Mbps     		D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7834Mbps</a:t>
            </a:r>
            <a:endParaRPr kumimoji="0" lang="en-US" altLang="zh-CN" sz="24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(2012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年考研题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某同步总线的时钟频率为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100MHz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，宽度为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32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位，地址线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数据线复用，每传输一个地址或数据占用一个时钟周期。若该总线支持突发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猝发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传输方式，则一次“主存写”总线事务传输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128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位数据所需要的时间至少是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   )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20ns    	B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40ns    	C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50ns    	D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80ns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642938" y="252413"/>
            <a:ext cx="7021513" cy="6762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+mj-cs"/>
              </a:rPr>
              <a:t>总线</a:t>
            </a:r>
            <a:r>
              <a:rPr kumimoji="0" lang="zh-CN" altLang="en-US" sz="4000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j-cs"/>
              </a:rPr>
              <a:t>实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+mj-cs"/>
              </a:rPr>
              <a:t>例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64" end="2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164" end="2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81" end="3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charRg st="281" end="3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1285875"/>
            <a:ext cx="8247063" cy="47720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(2012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年考研题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下列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USB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总线特性的描述中，错误的是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   )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、可实现外设的即插即用和热插拔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、可通过级联方式连接多台外设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、是一种通信总线，可连接不同外设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、同时可传输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位数据，数据传输率高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(2012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年考研题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下列选项中，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总线数据线上传输的信息包括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   )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接口中的命令字  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II. I/O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接口中的状态字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III.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中断类型号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、仅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II    	B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、仅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III	 C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、仅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II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III      D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II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III</a:t>
            </a:r>
            <a:endParaRPr kumimoji="0" lang="en-US" altLang="zh-CN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(2015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年考研题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下列有关总线定时的叙述中，错误的是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   )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．异步通信方式中，全互锁协议最慢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．异步通信方式中，非互锁协议的可靠性最差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．同步通信方式中，同步时钟信号可由多设备提供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．半同步通信方式中，握手信号的采样由同步时钟控制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altLang="zh-CN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642938" y="252413"/>
            <a:ext cx="7021513" cy="6762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+mj-cs"/>
              </a:rPr>
              <a:t>总线</a:t>
            </a:r>
            <a:r>
              <a:rPr kumimoji="0" lang="zh-CN" altLang="en-US" sz="4000" b="1" kern="0" cap="none" spc="0" normalizeH="0" baseline="0" noProof="0" dirty="0">
                <a:solidFill>
                  <a:srgbClr val="00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+mj-cs"/>
              </a:rPr>
              <a:t>实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+mj-cs"/>
              </a:rPr>
              <a:t>例</a:t>
            </a:r>
            <a:endParaRPr kumimoji="0" lang="zh-CN" altLang="en-US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05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105" end="1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44" end="1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charRg st="144" end="1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74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charRg st="174" end="1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84" end="2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charRg st="184" end="2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32" end="2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charRg st="232" end="2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66" end="2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charRg st="266" end="2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84" end="3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charRg st="284" end="3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06" end="3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charRg st="306" end="3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30" end="3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charRg st="330" end="3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>
                <a:latin typeface="Times New Roman" panose="02020603050405020304" pitchFamily="18" charset="0"/>
              </a:rPr>
              <a:t>总线实例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1285875"/>
            <a:ext cx="8318500" cy="53578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(2014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年考研题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某同步总线采用数据总线和地址总线复用方式，其中地址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数据线有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32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根，总线时钟频率为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66MHz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，每个时钟周期传送两次数据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上升沿和下降沿各传送一次数据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，该总线的最大数据传输率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总线带宽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是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   )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132 MB/s      B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264 MB/s       C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528 MB/s      D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1056 MB/s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(2014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年考研题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一次总线事务中，主设备只需给出一个首地址，从设备就能从首地址开始的若干连续单元读出或写入多个数据。这种总线事务方式称为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   )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．并行传输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	   B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．串行传输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C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．突发传输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D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．同步传输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(2014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年考研题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下列有关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接口的叙述中，错误的是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   )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．状态端口和控制端口可以合用同一个寄存器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接口中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可访问的寄存器称为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端口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．用独立编址方式时，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端口地址和主存地址可能相同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．采用统一编址方式时，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不能用访存指令访问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端口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72" end="2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172" end="2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48" end="2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charRg st="248" end="2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92" end="3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charRg st="292" end="3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27" end="3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charRg st="327" end="3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49" end="3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charRg st="349" end="3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75" end="4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charRg st="375" end="4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03" end="4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charRg st="403" end="4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综合</a:t>
            </a:r>
            <a:r>
              <a:rPr lang="zh-CN" altLang="en-US" dirty="0">
                <a:latin typeface="Times New Roman" panose="02020603050405020304" pitchFamily="18" charset="0"/>
              </a:rPr>
              <a:t>实</a:t>
            </a:r>
            <a:r>
              <a:rPr lang="zh-CN" altLang="en-US" dirty="0"/>
              <a:t>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063" y="1320800"/>
            <a:ext cx="8286750" cy="47720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(2012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年考研题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某计算机的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主频为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80MHz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CPI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，平均每条指令访存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1.5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次，主存与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Cache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之间交换的块大小为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16B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Cache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的命中率为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99%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，存储器总线的宽度为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32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位。请回答以下问题：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2255" marR="0" lvl="0" indent="-262255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(1)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该计算机的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MIPS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数是多少？平均每秒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Cache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缺失的次数是多少？在不考虑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DMA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传送的情况下，主存带宽至少达到多少才能满足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的访存要求？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2255" marR="0" lvl="0" indent="-262255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(2)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假定在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Cache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缺失的情况下访问主存时，存在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0.0005%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的缺页率，则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平均每秒产生多少次缺页异常？若页面大小为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4KB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，每次缺页都需要访问磁盘，访问磁盘时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DMA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传送采用周期挪用的方式，磁盘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接口的数据缓冲寄存器为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32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位，则磁盘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接口平均每秒发出的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DMA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请求次数至少是多少？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2255" marR="0" lvl="0" indent="-262255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(3)CPU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DMA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控制器同时要求使用总线传输数据时，哪个优先级更高？为什么？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2255" marR="0" lvl="0" indent="-262255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(4)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为了提高性能，主存采用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体交叉存储模式，工作时每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1/4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个存储周期启动一个体。若每个体的存储周期为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50ns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，则该主存能够提供的最大带宽是多少？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综合</a:t>
            </a:r>
            <a:r>
              <a:rPr lang="zh-CN" altLang="en-US" dirty="0">
                <a:latin typeface="Times New Roman" panose="02020603050405020304" pitchFamily="18" charset="0"/>
              </a:rPr>
              <a:t>实</a:t>
            </a:r>
            <a:r>
              <a:rPr lang="zh-CN" altLang="en-US" dirty="0"/>
              <a:t>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320800"/>
            <a:ext cx="8572500" cy="47720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262255" marR="0" lvl="0" indent="-262255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平均每秒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执行的指令数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=80M/4=20M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，故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MIPS=20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2255" marR="0" lvl="0" indent="0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平均每秒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Cache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缺失的次数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=20M×1.5×(1−99%)=300K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2255" marR="0" lvl="0" indent="0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当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Cache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缺失时，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访问主存，主存与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Cache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之间以块为单位传送数据，此时主存带宽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=16B×300K/s=4.8MB/s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2255" marR="0" lvl="0" indent="0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在不考虑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DMA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传送的情况下，主存带宽至少达到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4.8MB/s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才能满足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的访存要求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2255" marR="0" lvl="0" indent="-262255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+mj-ea"/>
              <a:buAutoNum type="circleNumDbPlain" startAt="2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平均每秒“缺页”异常次数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=300K×0.0005%=1.5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次；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2255" marR="0" lvl="0" indent="0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由于存储器总线带宽为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32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位，所以每传送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32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位数据，磁盘控制器发出一次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DMA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请求，这样平均每秒磁盘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DMA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请求的次数至少为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1.5×4KB/4B=1.5K=1536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2255" marR="0" lvl="0" indent="-262255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+mj-ea"/>
              <a:buAutoNum type="circleNumDbPlain" startAt="3"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DMA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控制器同时要求使用存储器总线时，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DMA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请求优先级更高。因为若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DMA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请求得不到及时响应，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I/O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传输数据可能会丢失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2255" marR="0" lvl="0" indent="-262255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+mj-ea"/>
              <a:buAutoNum type="circleNumDbPlain" startAt="3"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体交叉存储器模式能提供的最大带宽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=4×4B/50ns=320MB/s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179705" marR="0" lvl="0" indent="-179705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78" end="2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178" end="2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10" end="2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charRg st="210" end="2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90" end="3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charRg st="290" end="3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53" end="3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charRg st="353" end="3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综合</a:t>
            </a:r>
            <a:r>
              <a:rPr lang="zh-CN" altLang="en-US" dirty="0">
                <a:latin typeface="Times New Roman" panose="02020603050405020304" pitchFamily="18" charset="0"/>
              </a:rPr>
              <a:t>实</a:t>
            </a:r>
            <a:r>
              <a:rPr lang="zh-CN" altLang="en-US" dirty="0"/>
              <a:t>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1214438"/>
            <a:ext cx="8247063" cy="47720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(2013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年考研题</a:t>
            </a:r>
            <a:r>
              <a:rPr kumimoji="0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某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32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位计算机，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主频为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800MHz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Cache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命中时的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CPI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为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Cache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块大小为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32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字节；主存采用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体交叉存储方式，每个体的存储字长为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32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位、存储周期为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40 ns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；存储器总线宽度为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32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位，总线时钟频率为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200 MHz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，支持突发传送总线事务。每次读突发传送总线事务的过程包括：送首地址和命令、存储器准备数据、传送数据。每次突发传送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32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字节，传送地址或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32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位数据均需要一个总线时钟周期。请回答下列问题，要求给出理由或计算过程。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2255" marR="0" lvl="0" indent="-26225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和总线的时钟周期各为多少？总线带宽为多少？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2255" marR="0" lvl="0" indent="-26225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Cache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缺失时，需要用几个读突发传送总线事务来完成一个主存块的读取？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2255" marR="0" lvl="0" indent="-26225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存储器总线完成一次读突发传送总线事务所需的时间是多少？</a:t>
            </a:r>
            <a:endParaRPr kumimoji="0" lang="zh-CN" altLang="en-US" sz="22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2255" marR="0" lvl="0" indent="-262255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若程序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BP 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执行过程中，共执行了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100 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条指令，平均每条指令需进行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1.2 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次访存，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Cache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缺失率为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5%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，不考虑替换等开销，则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BP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0" 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</a:t>
            </a:r>
            <a:r>
              <a:rPr kumimoji="0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执行时间是多少？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综合</a:t>
            </a:r>
            <a:r>
              <a:rPr lang="zh-CN" altLang="en-US" dirty="0">
                <a:latin typeface="Times New Roman" panose="02020603050405020304" pitchFamily="18" charset="0"/>
              </a:rPr>
              <a:t>实</a:t>
            </a:r>
            <a:r>
              <a:rPr lang="zh-CN" altLang="en-US" dirty="0"/>
              <a:t>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625" y="1286510"/>
            <a:ext cx="8429625" cy="47720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262255" marR="0" lvl="0" indent="-262255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的时钟周期为：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1/800 MHz = 1.25 ns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，总线的时钟周期为：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1/200 MHz = 5 ns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，总线带宽为：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 B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×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200 MHz = 800 MB/s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或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 B/5 ns = 800 MB/s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2255" marR="0" lvl="0" indent="-262255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Cache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块大小是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32 B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，因此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Cache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缺失时需要一个读突发传送总线事务读取一个主存块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2255" marR="0" lvl="0" indent="-262255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一次读突发传送总线事务包括一次地址传送和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32 B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数据传送：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个总线时钟周期传输地址；每隔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40 ns/8 = 5 ns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启动一个体工作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各进行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次存取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，第一个体读数据花费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40 ns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，之后数据存取与数据传输重叠，用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个总线时钟周期传输数据。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2255" marR="0" lvl="0" indent="0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读突发传送总线事务时间：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 ns + 40 ns + 8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×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 ns = 85 ns</a:t>
            </a:r>
            <a:endParaRPr kumimoji="0" 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62255" marR="0" lvl="0" indent="-262255" algn="l" defTabSz="914400" rtl="0" eaLnBrk="0" fontAlgn="base" latinLnBrk="0" hangingPunc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 startAt="4"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BP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执行时间包括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Cache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命中时的指令执行时间和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Cache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缺失时带来的额外开销。命中时的指令执行时间：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100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×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×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1.25 ns = 500 ns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。指令执行过程中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Cache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缺失时的额外开销：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1.2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×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100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×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5%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×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85 ns = 510 ns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BP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CPU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执行时间：</a:t>
            </a: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500 ns+510 ns=1 010 ns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Rectangle 3"/>
          <p:cNvSpPr>
            <a:spLocks noGrp="1"/>
          </p:cNvSpPr>
          <p:nvPr>
            <p:ph type="body"/>
          </p:nvPr>
        </p:nvSpPr>
        <p:spPr>
          <a:xfrm>
            <a:off x="539750" y="2687638"/>
            <a:ext cx="8001000" cy="1241425"/>
          </a:xfrm>
        </p:spPr>
        <p:txBody>
          <a:bodyPr vert="horz" wrap="square" lIns="91440" tIns="45720" rIns="91440" bIns="45720" anchor="t" anchorCtr="0"/>
          <a:p>
            <a:pPr algn="ctr" eaLnBrk="1" hangingPunct="1">
              <a:buNone/>
            </a:pPr>
            <a:r>
              <a:rPr lang="zh-CN" altLang="en-US" sz="8000" dirty="0">
                <a:solidFill>
                  <a:srgbClr val="FF3300"/>
                </a:solidFill>
              </a:rPr>
              <a:t>请提问 </a:t>
            </a:r>
            <a:endParaRPr lang="zh-CN" altLang="en-US" sz="8000" dirty="0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PP_MARK_KEY" val="ddedc7b1-3512-4621-af5d-699df7ec5a81"/>
  <p:tag name="COMMONDATA" val="eyJoZGlkIjoiMTc3NzFjOGIwNzlkOWNiOWFkMzZmOTMyMDMwZjAzZGEifQ=="/>
</p:tagLst>
</file>

<file path=ppt/theme/theme1.xml><?xml version="1.0" encoding="utf-8"?>
<a:theme xmlns:a="http://schemas.openxmlformats.org/drawingml/2006/main" name="课件模板">
  <a:themeElements>
    <a:clrScheme name="课件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课件模板">
      <a:majorFont>
        <a:latin typeface="Arial"/>
        <a:ea typeface="隶书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课件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课件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课件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课件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课件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课件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课件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课件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课件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课件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课件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课件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课件模板">
  <a:themeElements>
    <a:clrScheme name="课件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课件模板">
      <a:majorFont>
        <a:latin typeface="Arial"/>
        <a:ea typeface="隶书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课件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课件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课件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课件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课件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课件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课件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课件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课件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课件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课件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课件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课件模板</Template>
  <TotalTime>0</TotalTime>
  <Words>11755</Words>
  <Application>WPS 演示</Application>
  <PresentationFormat>全屏显示(4:3)</PresentationFormat>
  <Paragraphs>832</Paragraphs>
  <Slides>45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45</vt:i4>
      </vt:variant>
    </vt:vector>
  </HeadingPairs>
  <TitlesOfParts>
    <vt:vector size="67" baseType="lpstr">
      <vt:lpstr>Arial</vt:lpstr>
      <vt:lpstr>宋体</vt:lpstr>
      <vt:lpstr>Wingdings</vt:lpstr>
      <vt:lpstr>Times New Roman</vt:lpstr>
      <vt:lpstr>隶书</vt:lpstr>
      <vt:lpstr>华文中宋</vt:lpstr>
      <vt:lpstr>Times New Roman</vt:lpstr>
      <vt:lpstr>华文新魏</vt:lpstr>
      <vt:lpstr>Symbol</vt:lpstr>
      <vt:lpstr>微软雅黑</vt:lpstr>
      <vt:lpstr>Arial Unicode MS</vt:lpstr>
      <vt:lpstr>幼圆</vt:lpstr>
      <vt:lpstr>Calibri</vt:lpstr>
      <vt:lpstr>Arial Unicode MS</vt:lpstr>
      <vt:lpstr>课件模板</vt:lpstr>
      <vt:lpstr>1_课件模板</vt:lpstr>
      <vt:lpstr>Paint.Picture</vt:lpstr>
      <vt:lpstr>Paint.Picture</vt:lpstr>
      <vt:lpstr>Paint.Picture</vt:lpstr>
      <vt:lpstr>Paint.Picture</vt:lpstr>
      <vt:lpstr>Paint.Picture</vt:lpstr>
      <vt:lpstr>Paint.Picture</vt:lpstr>
      <vt:lpstr>计算机原理</vt:lpstr>
      <vt:lpstr>主要内容</vt:lpstr>
      <vt:lpstr>一、关于磁盘性能</vt:lpstr>
      <vt:lpstr>磁盘调度实例</vt:lpstr>
      <vt:lpstr>磁盘性能实例</vt:lpstr>
      <vt:lpstr>磁盘性能实例</vt:lpstr>
      <vt:lpstr>磁盘性能实例</vt:lpstr>
      <vt:lpstr>二、关于RAID盘阵</vt:lpstr>
      <vt:lpstr>回顾－磁盘阵列RAID</vt:lpstr>
      <vt:lpstr>RAID盘阵实例</vt:lpstr>
      <vt:lpstr>三、关于I/O控制方式 </vt:lpstr>
      <vt:lpstr>I/O轮询方式实例</vt:lpstr>
      <vt:lpstr>I/O轮询方式实例</vt:lpstr>
      <vt:lpstr>关于中断问题</vt:lpstr>
      <vt:lpstr>关于中断问题</vt:lpstr>
      <vt:lpstr>中断请求实例</vt:lpstr>
      <vt:lpstr>中断优先级实例</vt:lpstr>
      <vt:lpstr>中断优先级实例</vt:lpstr>
      <vt:lpstr>轮询方式和中断I/O实例</vt:lpstr>
      <vt:lpstr>轮询方式和中断I/O实例</vt:lpstr>
      <vt:lpstr>中断实例</vt:lpstr>
      <vt:lpstr>中断实例</vt:lpstr>
      <vt:lpstr>DMA方式和中断I/O实例</vt:lpstr>
      <vt:lpstr>DMA方式和中断I/O实例</vt:lpstr>
      <vt:lpstr>I/O和DMA实例</vt:lpstr>
      <vt:lpstr>I/O控制方式实例</vt:lpstr>
      <vt:lpstr>I/O控制方式实例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五、关于总线问题</vt:lpstr>
      <vt:lpstr>总线实例</vt:lpstr>
      <vt:lpstr>总线实例</vt:lpstr>
      <vt:lpstr>PowerPoint 演示文稿</vt:lpstr>
      <vt:lpstr>PowerPoint 演示文稿</vt:lpstr>
      <vt:lpstr>总线实例</vt:lpstr>
      <vt:lpstr>综合实例</vt:lpstr>
      <vt:lpstr>综合实例</vt:lpstr>
      <vt:lpstr>综合实例</vt:lpstr>
      <vt:lpstr>综合实例</vt:lpstr>
      <vt:lpstr>PowerPoint 演示文稿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计算机原理</dc:title>
  <dc:creator/>
  <cp:lastModifiedBy>春蚕</cp:lastModifiedBy>
  <cp:revision>1822</cp:revision>
  <dcterms:created xsi:type="dcterms:W3CDTF">2007-08-12T05:23:00Z</dcterms:created>
  <dcterms:modified xsi:type="dcterms:W3CDTF">2023-06-17T02:52:28Z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9BE9D7785557464394174032D1680357_12</vt:lpwstr>
  </property>
  <property fmtid="{D5CDD505-2E9C-101B-9397-08002B2CF9AE}" pid="3" name="KSOProductBuildVer">
    <vt:lpwstr>2052-11.1.0.14036</vt:lpwstr>
  </property>
</Properties>
</file>