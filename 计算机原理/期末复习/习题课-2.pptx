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bmp" ContentType="image/bmp"/>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560" r:id="rId4"/>
    <p:sldId id="561" r:id="rId5"/>
    <p:sldId id="585" r:id="rId6"/>
    <p:sldId id="584" r:id="rId8"/>
    <p:sldId id="562" r:id="rId9"/>
    <p:sldId id="563" r:id="rId10"/>
    <p:sldId id="564" r:id="rId11"/>
    <p:sldId id="565" r:id="rId12"/>
    <p:sldId id="626" r:id="rId13"/>
    <p:sldId id="627" r:id="rId14"/>
    <p:sldId id="566" r:id="rId15"/>
    <p:sldId id="567" r:id="rId16"/>
    <p:sldId id="568" r:id="rId17"/>
    <p:sldId id="569" r:id="rId18"/>
    <p:sldId id="598" r:id="rId19"/>
    <p:sldId id="628" r:id="rId20"/>
    <p:sldId id="629" r:id="rId21"/>
    <p:sldId id="588" r:id="rId22"/>
    <p:sldId id="586" r:id="rId23"/>
    <p:sldId id="587" r:id="rId24"/>
    <p:sldId id="590" r:id="rId25"/>
    <p:sldId id="591" r:id="rId26"/>
    <p:sldId id="592" r:id="rId27"/>
    <p:sldId id="570" r:id="rId28"/>
    <p:sldId id="571" r:id="rId29"/>
    <p:sldId id="572" r:id="rId30"/>
    <p:sldId id="573" r:id="rId31"/>
    <p:sldId id="574" r:id="rId32"/>
    <p:sldId id="575" r:id="rId33"/>
    <p:sldId id="576" r:id="rId34"/>
    <p:sldId id="577" r:id="rId35"/>
    <p:sldId id="578" r:id="rId36"/>
    <p:sldId id="589" r:id="rId37"/>
    <p:sldId id="593" r:id="rId38"/>
    <p:sldId id="594" r:id="rId39"/>
    <p:sldId id="595" r:id="rId40"/>
    <p:sldId id="630" r:id="rId41"/>
    <p:sldId id="632" r:id="rId42"/>
    <p:sldId id="631" r:id="rId43"/>
    <p:sldId id="633" r:id="rId44"/>
    <p:sldId id="599" r:id="rId45"/>
    <p:sldId id="600" r:id="rId46"/>
    <p:sldId id="596" r:id="rId47"/>
    <p:sldId id="580" r:id="rId48"/>
    <p:sldId id="581" r:id="rId49"/>
    <p:sldId id="582" r:id="rId50"/>
    <p:sldId id="583" r:id="rId51"/>
    <p:sldId id="559" r:id="rId52"/>
  </p:sldIdLst>
  <p:sldSz cx="9144000" cy="6858000" type="screen4x3"/>
  <p:notesSz cx="6858000" cy="9144000"/>
  <p:custDataLst>
    <p:tags r:id="rId56"/>
  </p:custDataLst>
  <p:defaultTextStyle>
    <a:defPPr>
      <a:defRPr lang="en-US"/>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7" userDrawn="1">
          <p15:clr>
            <a:srgbClr val="A4A3A4"/>
          </p15:clr>
        </p15:guide>
        <p15:guide id="2" pos="29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CC0066"/>
    <a:srgbClr val="009900"/>
    <a:srgbClr val="00CC00"/>
    <a:srgbClr val="000099"/>
    <a:srgbClr val="008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383"/>
    <p:restoredTop sz="90723"/>
  </p:normalViewPr>
  <p:slideViewPr>
    <p:cSldViewPr showGuides="1">
      <p:cViewPr>
        <p:scale>
          <a:sx n="66" d="100"/>
          <a:sy n="66" d="100"/>
        </p:scale>
        <p:origin x="-642" y="-24"/>
      </p:cViewPr>
      <p:guideLst>
        <p:guide orient="horz" pos="2187"/>
        <p:guide pos="2914"/>
      </p:guideLst>
    </p:cSldViewPr>
  </p:slideViewPr>
  <p:notesTextViewPr>
    <p:cViewPr>
      <p:scale>
        <a:sx n="100" d="100"/>
        <a:sy n="100" d="100"/>
      </p:scale>
      <p:origin x="0" y="0"/>
    </p:cViewPr>
  </p:notesTextViewPr>
  <p:sorterViewPr showFormatting="0">
    <p:cViewPr>
      <p:scale>
        <a:sx n="66" d="100"/>
        <a:sy n="66" d="100"/>
      </p:scale>
      <p:origin x="0" y="519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6" Type="http://schemas.openxmlformats.org/officeDocument/2006/relationships/tags" Target="tags/tag118.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29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9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08"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229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229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9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C</a:t>
            </a:r>
            <a:endParaRPr lang="en-US" altLang="zh-CN" dirty="0">
              <a:ea typeface="宋体" panose="02010600030101010101" pitchFamily="2" charset="-122"/>
            </a:endParaRPr>
          </a:p>
          <a:p>
            <a:pPr lvl="0"/>
            <a:r>
              <a:rPr lang="en-US" altLang="zh-CN" dirty="0">
                <a:ea typeface="宋体" panose="02010600030101010101" pitchFamily="2" charset="-122"/>
              </a:rPr>
              <a:t>B</a:t>
            </a:r>
            <a:endParaRPr lang="zh-CN" altLang="en-US" dirty="0">
              <a:ea typeface="宋体" panose="02010600030101010101" pitchFamily="2" charset="-122"/>
            </a:endParaRPr>
          </a:p>
        </p:txBody>
      </p:sp>
      <p:sp>
        <p:nvSpPr>
          <p:cNvPr id="481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p:txBody>
          <a:bodyPr wrap="square" lIns="91440" tIns="45720" rIns="91440" bIns="45720" anchor="t" anchorCtr="0"/>
          <a:p>
            <a:pPr lvl="0"/>
            <a:endParaRPr lang="zh-CN" altLang="en-US" dirty="0">
              <a:ea typeface="宋体" panose="02010600030101010101" pitchFamily="2" charset="-122"/>
            </a:endParaRPr>
          </a:p>
        </p:txBody>
      </p:sp>
      <p:sp>
        <p:nvSpPr>
          <p:cNvPr id="49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50179" name="Rectangle 2"/>
          <p:cNvSpPr>
            <a:spLocks noGrp="1"/>
          </p:cNvSpPr>
          <p:nvPr>
            <p:ph type="body" idx="1"/>
          </p:nvPr>
        </p:nvSpPr>
        <p:spPr>
          <a:xfrm>
            <a:off x="515938" y="4156075"/>
            <a:ext cx="5910262" cy="4302125"/>
          </a:xfrm>
        </p:spPr>
        <p:txBody>
          <a:bodyPr wrap="square" lIns="92566" tIns="45471" rIns="92566" bIns="45471" anchor="t" anchorCtr="0"/>
          <a:p>
            <a:pPr lvl="0"/>
            <a:endParaRPr lang="en-US" altLang="zh-CN" dirty="0">
              <a:ea typeface="宋体" panose="02010600030101010101" pitchFamily="2" charset="-122"/>
            </a:endParaRPr>
          </a:p>
        </p:txBody>
      </p:sp>
      <p:sp>
        <p:nvSpPr>
          <p:cNvPr id="50180" name="Rectangle 3"/>
          <p:cNvSpPr>
            <a:spLocks noRot="1" noTextEdit="1"/>
          </p:cNvSpPr>
          <p:nvPr>
            <p:ph type="sldImg"/>
          </p:nvPr>
        </p:nvSpPr>
        <p:spPr>
          <a:xfrm>
            <a:off x="1144588" y="576263"/>
            <a:ext cx="4586287" cy="3440112"/>
          </a:xfrm>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51203" name="Rectangle 2"/>
          <p:cNvSpPr>
            <a:spLocks noGrp="1"/>
          </p:cNvSpPr>
          <p:nvPr>
            <p:ph type="body" idx="1"/>
          </p:nvPr>
        </p:nvSpPr>
        <p:spPr>
          <a:xfrm>
            <a:off x="515938" y="4156075"/>
            <a:ext cx="5910262" cy="4302125"/>
          </a:xfrm>
        </p:spPr>
        <p:txBody>
          <a:bodyPr wrap="square" lIns="92566" tIns="45471" rIns="92566" bIns="45471" anchor="t" anchorCtr="0"/>
          <a:p>
            <a:pPr lvl="0"/>
            <a:endParaRPr lang="en-US" altLang="zh-CN" dirty="0">
              <a:ea typeface="宋体" panose="02010600030101010101" pitchFamily="2" charset="-122"/>
            </a:endParaRPr>
          </a:p>
        </p:txBody>
      </p:sp>
      <p:sp>
        <p:nvSpPr>
          <p:cNvPr id="51204" name="Rectangle 3"/>
          <p:cNvSpPr>
            <a:spLocks noRot="1" noTextEdit="1"/>
          </p:cNvSpPr>
          <p:nvPr>
            <p:ph type="sldImg"/>
          </p:nvPr>
        </p:nvSpPr>
        <p:spPr>
          <a:xfrm>
            <a:off x="1144588" y="576263"/>
            <a:ext cx="4586287" cy="3440112"/>
          </a:xfrm>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1.w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1.wmf"/><Relationship Id="rId3" Type="http://schemas.openxmlformats.org/officeDocument/2006/relationships/oleObject" Target="../embeddings/oleObject2.bin"/><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 name="AutoShape 4"/>
          <p:cNvSpPr>
            <a:spLocks noChangeArrowheads="1"/>
          </p:cNvSpPr>
          <p:nvPr/>
        </p:nvSpPr>
        <p:spPr bwMode="auto">
          <a:xfrm>
            <a:off x="685800" y="2393950"/>
            <a:ext cx="7772400" cy="71438"/>
          </a:xfrm>
          <a:custGeom>
            <a:avLst/>
            <a:gdLst>
              <a:gd name="T0" fmla="*/ 0 w 1000"/>
              <a:gd name="T1" fmla="*/ 0 h 1000"/>
              <a:gd name="T2" fmla="*/ 2147483647 w 1000"/>
              <a:gd name="T3" fmla="*/ 0 h 1000"/>
              <a:gd name="T4" fmla="*/ 2147483647 w 1000"/>
              <a:gd name="T5" fmla="*/ 364575832 h 1000"/>
              <a:gd name="T6" fmla="*/ 0 w 1000"/>
              <a:gd name="T7" fmla="*/ 364575832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0000FF"/>
          </a:solidFill>
          <a:ln w="9525">
            <a:solidFill>
              <a:srgbClr val="0000FF"/>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2" name="Rectangle 2"/>
          <p:cNvSpPr>
            <a:spLocks noGrp="1" noChangeArrowheads="1"/>
          </p:cNvSpPr>
          <p:nvPr>
            <p:ph type="ctrTitle"/>
          </p:nvPr>
        </p:nvSpPr>
        <p:spPr>
          <a:xfrm>
            <a:off x="685800" y="990600"/>
            <a:ext cx="7772400" cy="1371600"/>
          </a:xfrm>
        </p:spPr>
        <p:txBody>
          <a:bodyPr/>
          <a:lstStyle>
            <a:lvl1pPr>
              <a:defRPr sz="5400"/>
            </a:lvl1pPr>
          </a:lstStyle>
          <a:p>
            <a:pPr lvl="0"/>
            <a:r>
              <a:rPr lang="zh-CN" altLang="en-US" noProof="0" smtClean="0"/>
              <a:t>单击此处编辑母版标题样式</a:t>
            </a:r>
            <a:endParaRPr lang="zh-CN" altLang="en-US" noProof="0" smtClean="0"/>
          </a:p>
        </p:txBody>
      </p:sp>
      <p:sp>
        <p:nvSpPr>
          <p:cNvPr id="5123" name="Rectangle 3"/>
          <p:cNvSpPr>
            <a:spLocks noGrp="1" noChangeArrowheads="1"/>
          </p:cNvSpPr>
          <p:nvPr>
            <p:ph type="subTitle" idx="1"/>
          </p:nvPr>
        </p:nvSpPr>
        <p:spPr>
          <a:xfrm>
            <a:off x="2484438" y="3429000"/>
            <a:ext cx="5973762" cy="2376488"/>
          </a:xfrm>
        </p:spPr>
        <p:txBody>
          <a:bodyPr/>
          <a:lstStyle>
            <a:lvl1pPr marL="0" indent="0" algn="ctr">
              <a:spcBef>
                <a:spcPct val="40000"/>
              </a:spcBef>
              <a:buFont typeface="Wingdings" panose="05000000000000000000" pitchFamily="2" charset="2"/>
              <a:buNone/>
              <a:defRPr>
                <a:ea typeface="隶书" panose="02010509060101010101" pitchFamily="49" charset="-122"/>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graphicFrame>
        <p:nvGraphicFramePr>
          <p:cNvPr id="4" name="对象 3"/>
          <p:cNvGraphicFramePr/>
          <p:nvPr userDrawn="1">
            <p:custDataLst>
              <p:tags r:id="rId2"/>
            </p:custDataLst>
          </p:nvPr>
        </p:nvGraphicFramePr>
        <p:xfrm>
          <a:off x="8100060" y="116840"/>
          <a:ext cx="833755" cy="840105"/>
        </p:xfrm>
        <a:graphic>
          <a:graphicData uri="http://schemas.openxmlformats.org/presentationml/2006/ole">
            <mc:AlternateContent xmlns:mc="http://schemas.openxmlformats.org/markup-compatibility/2006">
              <mc:Choice xmlns:v="urn:schemas-microsoft-com:vml" Requires="v">
                <p:oleObj spid="_x0000_s5" name="" r:id="rId3" imgW="770255" imgH="774700" progId="Paint.Picture">
                  <p:embed/>
                </p:oleObj>
              </mc:Choice>
              <mc:Fallback>
                <p:oleObj name="" r:id="rId3" imgW="770255" imgH="774700" progId="Paint.Picture">
                  <p:embed/>
                  <p:pic>
                    <p:nvPicPr>
                      <p:cNvPr id="0" name="图片 4"/>
                      <p:cNvPicPr/>
                      <p:nvPr/>
                    </p:nvPicPr>
                    <p:blipFill>
                      <a:blip r:embed="rId4"/>
                      <a:stretch>
                        <a:fillRect/>
                      </a:stretch>
                    </p:blipFill>
                    <p:spPr>
                      <a:xfrm>
                        <a:off x="8100060" y="116840"/>
                        <a:ext cx="833755" cy="840105"/>
                      </a:xfrm>
                      <a:prstGeom prst="rect">
                        <a:avLst/>
                      </a:prstGeom>
                    </p:spPr>
                  </p:pic>
                </p:oleObj>
              </mc:Fallback>
            </mc:AlternateContent>
          </a:graphicData>
        </a:graphic>
      </p:graphicFrame>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9750" y="1393825"/>
            <a:ext cx="3924300" cy="4772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6450" y="1393825"/>
            <a:ext cx="3924300" cy="4772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aphicFrame>
        <p:nvGraphicFramePr>
          <p:cNvPr id="2" name="对象 1"/>
          <p:cNvGraphicFramePr/>
          <p:nvPr userDrawn="1">
            <p:custDataLst>
              <p:tags r:id="rId2"/>
            </p:custDataLst>
          </p:nvPr>
        </p:nvGraphicFramePr>
        <p:xfrm>
          <a:off x="8082280" y="148590"/>
          <a:ext cx="815975" cy="820420"/>
        </p:xfrm>
        <a:graphic>
          <a:graphicData uri="http://schemas.openxmlformats.org/presentationml/2006/ole">
            <mc:AlternateContent xmlns:mc="http://schemas.openxmlformats.org/markup-compatibility/2006">
              <mc:Choice xmlns:v="urn:schemas-microsoft-com:vml" Requires="v">
                <p:oleObj spid="_x0000_s3" name="" r:id="rId3" imgW="770255" imgH="774700" progId="Paint.Picture">
                  <p:embed/>
                </p:oleObj>
              </mc:Choice>
              <mc:Fallback>
                <p:oleObj name="" r:id="rId3" imgW="770255" imgH="774700" progId="Paint.Picture">
                  <p:embed/>
                  <p:pic>
                    <p:nvPicPr>
                      <p:cNvPr id="0" name="图片 2"/>
                      <p:cNvPicPr/>
                      <p:nvPr/>
                    </p:nvPicPr>
                    <p:blipFill>
                      <a:blip r:embed="rId4"/>
                      <a:stretch>
                        <a:fillRect/>
                      </a:stretch>
                    </p:blipFill>
                    <p:spPr>
                      <a:xfrm>
                        <a:off x="8082280" y="148590"/>
                        <a:ext cx="815975" cy="820420"/>
                      </a:xfrm>
                      <a:prstGeom prst="rect">
                        <a:avLst/>
                      </a:prstGeom>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0500" y="231775"/>
            <a:ext cx="2000250" cy="59340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39750" y="231775"/>
            <a:ext cx="5848350" cy="59340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231775"/>
            <a:ext cx="7021513" cy="67627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539750" y="1393825"/>
            <a:ext cx="8001000" cy="4772025"/>
          </a:xfrm>
        </p:spPr>
        <p:txBody>
          <a:bodyPr vert="horz" wrap="square" lIns="91440" tIns="45720" rIns="91440" bIns="45720" numCol="1" anchor="t" anchorCtr="0" compatLnSpc="1"/>
          <a:lstStyle/>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Char char="p"/>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231775"/>
            <a:ext cx="7021513" cy="6762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9750" y="1393825"/>
            <a:ext cx="3924300" cy="47720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16450" y="1393825"/>
            <a:ext cx="3924300" cy="23098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16450" y="3856038"/>
            <a:ext cx="3924300" cy="23098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74675" y="231775"/>
            <a:ext cx="7021513" cy="676275"/>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AutoShape 3"/>
          <p:cNvSpPr>
            <a:spLocks noChangeArrowheads="1"/>
          </p:cNvSpPr>
          <p:nvPr/>
        </p:nvSpPr>
        <p:spPr bwMode="auto">
          <a:xfrm>
            <a:off x="609600" y="1087438"/>
            <a:ext cx="7958138" cy="53975"/>
          </a:xfrm>
          <a:custGeom>
            <a:avLst/>
            <a:gdLst>
              <a:gd name="T0" fmla="*/ 0 w 1000"/>
              <a:gd name="T1" fmla="*/ 0 h 1000"/>
              <a:gd name="T2" fmla="*/ 2147483647 w 1000"/>
              <a:gd name="T3" fmla="*/ 0 h 1000"/>
              <a:gd name="T4" fmla="*/ 2147483647 w 1000"/>
              <a:gd name="T5" fmla="*/ 157245421 h 1000"/>
              <a:gd name="T6" fmla="*/ 0 w 1000"/>
              <a:gd name="T7" fmla="*/ 157245421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7" y="0"/>
                </a:lnTo>
                <a:lnTo>
                  <a:pt x="587" y="1000"/>
                </a:lnTo>
                <a:lnTo>
                  <a:pt x="0" y="1000"/>
                </a:lnTo>
                <a:lnTo>
                  <a:pt x="0" y="0"/>
                </a:lnTo>
                <a:close/>
              </a:path>
              <a:path w="1000" h="1000">
                <a:moveTo>
                  <a:pt x="0" y="0"/>
                </a:moveTo>
                <a:lnTo>
                  <a:pt x="1000" y="0"/>
                </a:lnTo>
              </a:path>
            </a:pathLst>
          </a:custGeom>
          <a:solidFill>
            <a:srgbClr val="0000FF"/>
          </a:solidFill>
          <a:ln w="6350">
            <a:solidFill>
              <a:srgbClr val="0000CC"/>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Line 4"/>
          <p:cNvSpPr>
            <a:spLocks noChangeShapeType="1"/>
          </p:cNvSpPr>
          <p:nvPr/>
        </p:nvSpPr>
        <p:spPr bwMode="auto">
          <a:xfrm flipV="1">
            <a:off x="539750" y="6237288"/>
            <a:ext cx="7994650" cy="0"/>
          </a:xfrm>
          <a:prstGeom prst="line">
            <a:avLst/>
          </a:prstGeom>
          <a:noFill/>
          <a:ln w="3175">
            <a:solidFill>
              <a:srgbClr val="0000CC"/>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029" name="Picture 6" descr="TITLE"/>
          <p:cNvPicPr>
            <a:picLocks noChangeAspect="1"/>
          </p:cNvPicPr>
          <p:nvPr/>
        </p:nvPicPr>
        <p:blipFill>
          <a:blip r:embed="rId14">
            <a:clrChange>
              <a:clrFrom>
                <a:srgbClr val="FFFFFE"/>
              </a:clrFrom>
              <a:clrTo>
                <a:srgbClr val="FFFFFE">
                  <a:alpha val="0"/>
                </a:srgbClr>
              </a:clrTo>
            </a:clrChange>
          </a:blip>
          <a:srcRect b="-1291"/>
          <a:stretch>
            <a:fillRect/>
          </a:stretch>
        </p:blipFill>
        <p:spPr>
          <a:xfrm>
            <a:off x="8101013" y="188913"/>
            <a:ext cx="801687" cy="792162"/>
          </a:xfrm>
          <a:prstGeom prst="rect">
            <a:avLst/>
          </a:prstGeom>
          <a:noFill/>
          <a:ln w="9525">
            <a:noFill/>
          </a:ln>
        </p:spPr>
      </p:pic>
      <p:sp>
        <p:nvSpPr>
          <p:cNvPr id="1030" name="Rectangle 7"/>
          <p:cNvSpPr>
            <a:spLocks noChangeArrowheads="1"/>
          </p:cNvSpPr>
          <p:nvPr/>
        </p:nvSpPr>
        <p:spPr bwMode="auto">
          <a:xfrm>
            <a:off x="7970838" y="6351588"/>
            <a:ext cx="457200" cy="274638"/>
          </a:xfrm>
          <a:prstGeom prst="rect">
            <a:avLst/>
          </a:prstGeom>
          <a:noFill/>
          <a:ln w="9525">
            <a:noFill/>
            <a:miter lim="800000"/>
          </a:ln>
          <a:effectLst/>
        </p:spPr>
        <p:txBody>
          <a:bodyPr lIns="92075" tIns="46038" rIns="92075" bIns="46038">
            <a:spAutoFit/>
          </a:bodyPr>
          <a:p>
            <a:pPr lvl="0" eaLnBrk="0" hangingPunct="0">
              <a:buNone/>
            </a:pPr>
            <a:fld id="{9A0DB2DC-4C9A-4742-B13C-FB6460FD3503}" type="slidenum">
              <a:rPr lang="en-US" altLang="zh-CN" sz="1200" b="1" dirty="0">
                <a:solidFill>
                  <a:schemeClr val="accent2"/>
                </a:solidFill>
                <a:latin typeface="Times New Roman" panose="02020603050405020304" pitchFamily="18" charset="0"/>
              </a:rPr>
            </a:fld>
            <a:endParaRPr lang="en-US" altLang="zh-CN" sz="1200" b="1" dirty="0">
              <a:solidFill>
                <a:schemeClr val="accent2"/>
              </a:solidFill>
              <a:latin typeface="Times New Roman" panose="02020603050405020304" pitchFamily="18" charset="0"/>
            </a:endParaRPr>
          </a:p>
        </p:txBody>
      </p:sp>
      <p:sp>
        <p:nvSpPr>
          <p:cNvPr id="1031" name="Rectangle 8"/>
          <p:cNvSpPr>
            <a:spLocks noGrp="1"/>
          </p:cNvSpPr>
          <p:nvPr>
            <p:ph type="body" idx="1"/>
          </p:nvPr>
        </p:nvSpPr>
        <p:spPr>
          <a:xfrm>
            <a:off x="539750" y="1393825"/>
            <a:ext cx="8001000" cy="47720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4000" b="1">
          <a:solidFill>
            <a:schemeClr val="tx2"/>
          </a:solidFill>
          <a:latin typeface="+mj-lt"/>
          <a:ea typeface="+mj-ea"/>
          <a:cs typeface="+mj-cs"/>
        </a:defRPr>
      </a:lvl1pPr>
      <a:lvl2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p:titleStyle>
    <p:body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3073400" indent="-228600" algn="l" rtl="0" fontAlgn="base">
        <a:spcBef>
          <a:spcPct val="20000"/>
        </a:spcBef>
        <a:spcAft>
          <a:spcPct val="0"/>
        </a:spcAft>
        <a:buChar char="»"/>
        <a:defRPr sz="2000">
          <a:solidFill>
            <a:schemeClr val="tx1"/>
          </a:solidFill>
          <a:latin typeface="+mn-lt"/>
          <a:ea typeface="宋体" panose="02010600030101010101" pitchFamily="2" charset="-122"/>
        </a:defRPr>
      </a:lvl6pPr>
      <a:lvl7pPr marL="3530600" indent="-228600" algn="l" rtl="0" fontAlgn="base">
        <a:spcBef>
          <a:spcPct val="20000"/>
        </a:spcBef>
        <a:spcAft>
          <a:spcPct val="0"/>
        </a:spcAft>
        <a:buChar char="»"/>
        <a:defRPr sz="2000">
          <a:solidFill>
            <a:schemeClr val="tx1"/>
          </a:solidFill>
          <a:latin typeface="+mn-lt"/>
          <a:ea typeface="宋体" panose="02010600030101010101" pitchFamily="2" charset="-122"/>
        </a:defRPr>
      </a:lvl7pPr>
      <a:lvl8pPr marL="3987800" indent="-228600" algn="l" rtl="0" fontAlgn="base">
        <a:spcBef>
          <a:spcPct val="20000"/>
        </a:spcBef>
        <a:spcAft>
          <a:spcPct val="0"/>
        </a:spcAft>
        <a:buChar char="»"/>
        <a:defRPr sz="2000">
          <a:solidFill>
            <a:schemeClr val="tx1"/>
          </a:solidFill>
          <a:latin typeface="+mn-lt"/>
          <a:ea typeface="宋体" panose="02010600030101010101" pitchFamily="2" charset="-122"/>
        </a:defRPr>
      </a:lvl8pPr>
      <a:lvl9pPr marL="4445000" indent="-228600" algn="l" rtl="0" fontAlgn="base">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99" Type="http://schemas.openxmlformats.org/officeDocument/2006/relationships/tags" Target="../tags/tag103.xml"/><Relationship Id="rId98" Type="http://schemas.openxmlformats.org/officeDocument/2006/relationships/tags" Target="../tags/tag102.xml"/><Relationship Id="rId97" Type="http://schemas.openxmlformats.org/officeDocument/2006/relationships/tags" Target="../tags/tag101.xml"/><Relationship Id="rId96" Type="http://schemas.openxmlformats.org/officeDocument/2006/relationships/tags" Target="../tags/tag100.xml"/><Relationship Id="rId95" Type="http://schemas.openxmlformats.org/officeDocument/2006/relationships/tags" Target="../tags/tag99.xml"/><Relationship Id="rId94" Type="http://schemas.openxmlformats.org/officeDocument/2006/relationships/tags" Target="../tags/tag98.xml"/><Relationship Id="rId93" Type="http://schemas.openxmlformats.org/officeDocument/2006/relationships/tags" Target="../tags/tag97.xml"/><Relationship Id="rId92" Type="http://schemas.openxmlformats.org/officeDocument/2006/relationships/tags" Target="../tags/tag96.xml"/><Relationship Id="rId91" Type="http://schemas.openxmlformats.org/officeDocument/2006/relationships/tags" Target="../tags/tag95.xml"/><Relationship Id="rId90" Type="http://schemas.openxmlformats.org/officeDocument/2006/relationships/tags" Target="../tags/tag94.xml"/><Relationship Id="rId9" Type="http://schemas.openxmlformats.org/officeDocument/2006/relationships/tags" Target="../tags/tag13.xml"/><Relationship Id="rId89" Type="http://schemas.openxmlformats.org/officeDocument/2006/relationships/tags" Target="../tags/tag93.xml"/><Relationship Id="rId88" Type="http://schemas.openxmlformats.org/officeDocument/2006/relationships/tags" Target="../tags/tag92.xml"/><Relationship Id="rId87" Type="http://schemas.openxmlformats.org/officeDocument/2006/relationships/tags" Target="../tags/tag91.xml"/><Relationship Id="rId86" Type="http://schemas.openxmlformats.org/officeDocument/2006/relationships/tags" Target="../tags/tag90.xml"/><Relationship Id="rId85" Type="http://schemas.openxmlformats.org/officeDocument/2006/relationships/tags" Target="../tags/tag89.xml"/><Relationship Id="rId84" Type="http://schemas.openxmlformats.org/officeDocument/2006/relationships/tags" Target="../tags/tag88.xml"/><Relationship Id="rId83" Type="http://schemas.openxmlformats.org/officeDocument/2006/relationships/tags" Target="../tags/tag87.xml"/><Relationship Id="rId82" Type="http://schemas.openxmlformats.org/officeDocument/2006/relationships/tags" Target="../tags/tag86.xml"/><Relationship Id="rId81" Type="http://schemas.openxmlformats.org/officeDocument/2006/relationships/tags" Target="../tags/tag85.xml"/><Relationship Id="rId80" Type="http://schemas.openxmlformats.org/officeDocument/2006/relationships/tags" Target="../tags/tag84.xml"/><Relationship Id="rId8" Type="http://schemas.openxmlformats.org/officeDocument/2006/relationships/tags" Target="../tags/tag12.xml"/><Relationship Id="rId79" Type="http://schemas.openxmlformats.org/officeDocument/2006/relationships/tags" Target="../tags/tag83.xml"/><Relationship Id="rId78" Type="http://schemas.openxmlformats.org/officeDocument/2006/relationships/tags" Target="../tags/tag82.xml"/><Relationship Id="rId77" Type="http://schemas.openxmlformats.org/officeDocument/2006/relationships/tags" Target="../tags/tag81.xml"/><Relationship Id="rId76" Type="http://schemas.openxmlformats.org/officeDocument/2006/relationships/tags" Target="../tags/tag80.xml"/><Relationship Id="rId75" Type="http://schemas.openxmlformats.org/officeDocument/2006/relationships/tags" Target="../tags/tag79.xml"/><Relationship Id="rId74" Type="http://schemas.openxmlformats.org/officeDocument/2006/relationships/tags" Target="../tags/tag78.xml"/><Relationship Id="rId73" Type="http://schemas.openxmlformats.org/officeDocument/2006/relationships/tags" Target="../tags/tag77.xml"/><Relationship Id="rId72" Type="http://schemas.openxmlformats.org/officeDocument/2006/relationships/tags" Target="../tags/tag76.xml"/><Relationship Id="rId71" Type="http://schemas.openxmlformats.org/officeDocument/2006/relationships/tags" Target="../tags/tag75.xml"/><Relationship Id="rId70" Type="http://schemas.openxmlformats.org/officeDocument/2006/relationships/tags" Target="../tags/tag74.xml"/><Relationship Id="rId7" Type="http://schemas.openxmlformats.org/officeDocument/2006/relationships/tags" Target="../tags/tag11.xml"/><Relationship Id="rId69" Type="http://schemas.openxmlformats.org/officeDocument/2006/relationships/tags" Target="../tags/tag73.xml"/><Relationship Id="rId68" Type="http://schemas.openxmlformats.org/officeDocument/2006/relationships/tags" Target="../tags/tag72.xml"/><Relationship Id="rId67" Type="http://schemas.openxmlformats.org/officeDocument/2006/relationships/tags" Target="../tags/tag71.xml"/><Relationship Id="rId66" Type="http://schemas.openxmlformats.org/officeDocument/2006/relationships/tags" Target="../tags/tag70.xml"/><Relationship Id="rId65" Type="http://schemas.openxmlformats.org/officeDocument/2006/relationships/tags" Target="../tags/tag69.xml"/><Relationship Id="rId64" Type="http://schemas.openxmlformats.org/officeDocument/2006/relationships/tags" Target="../tags/tag68.xml"/><Relationship Id="rId63" Type="http://schemas.openxmlformats.org/officeDocument/2006/relationships/tags" Target="../tags/tag67.xml"/><Relationship Id="rId62" Type="http://schemas.openxmlformats.org/officeDocument/2006/relationships/tags" Target="../tags/tag66.xml"/><Relationship Id="rId61" Type="http://schemas.openxmlformats.org/officeDocument/2006/relationships/tags" Target="../tags/tag65.xml"/><Relationship Id="rId60" Type="http://schemas.openxmlformats.org/officeDocument/2006/relationships/tags" Target="../tags/tag64.xml"/><Relationship Id="rId6" Type="http://schemas.openxmlformats.org/officeDocument/2006/relationships/tags" Target="../tags/tag10.xml"/><Relationship Id="rId59" Type="http://schemas.openxmlformats.org/officeDocument/2006/relationships/tags" Target="../tags/tag63.xml"/><Relationship Id="rId58" Type="http://schemas.openxmlformats.org/officeDocument/2006/relationships/tags" Target="../tags/tag62.xml"/><Relationship Id="rId57" Type="http://schemas.openxmlformats.org/officeDocument/2006/relationships/tags" Target="../tags/tag61.xml"/><Relationship Id="rId56" Type="http://schemas.openxmlformats.org/officeDocument/2006/relationships/tags" Target="../tags/tag60.xml"/><Relationship Id="rId55" Type="http://schemas.openxmlformats.org/officeDocument/2006/relationships/tags" Target="../tags/tag59.xml"/><Relationship Id="rId54" Type="http://schemas.openxmlformats.org/officeDocument/2006/relationships/tags" Target="../tags/tag58.xml"/><Relationship Id="rId53" Type="http://schemas.openxmlformats.org/officeDocument/2006/relationships/tags" Target="../tags/tag57.xml"/><Relationship Id="rId52" Type="http://schemas.openxmlformats.org/officeDocument/2006/relationships/tags" Target="../tags/tag56.xml"/><Relationship Id="rId51" Type="http://schemas.openxmlformats.org/officeDocument/2006/relationships/tags" Target="../tags/tag55.xml"/><Relationship Id="rId50" Type="http://schemas.openxmlformats.org/officeDocument/2006/relationships/tags" Target="../tags/tag54.xml"/><Relationship Id="rId5" Type="http://schemas.openxmlformats.org/officeDocument/2006/relationships/tags" Target="../tags/tag9.xml"/><Relationship Id="rId49" Type="http://schemas.openxmlformats.org/officeDocument/2006/relationships/tags" Target="../tags/tag53.xml"/><Relationship Id="rId48" Type="http://schemas.openxmlformats.org/officeDocument/2006/relationships/tags" Target="../tags/tag52.xml"/><Relationship Id="rId47" Type="http://schemas.openxmlformats.org/officeDocument/2006/relationships/tags" Target="../tags/tag51.xml"/><Relationship Id="rId46" Type="http://schemas.openxmlformats.org/officeDocument/2006/relationships/tags" Target="../tags/tag50.xml"/><Relationship Id="rId45" Type="http://schemas.openxmlformats.org/officeDocument/2006/relationships/tags" Target="../tags/tag49.xml"/><Relationship Id="rId44" Type="http://schemas.openxmlformats.org/officeDocument/2006/relationships/tags" Target="../tags/tag48.xml"/><Relationship Id="rId43" Type="http://schemas.openxmlformats.org/officeDocument/2006/relationships/tags" Target="../tags/tag47.xml"/><Relationship Id="rId42" Type="http://schemas.openxmlformats.org/officeDocument/2006/relationships/tags" Target="../tags/tag46.xml"/><Relationship Id="rId41" Type="http://schemas.openxmlformats.org/officeDocument/2006/relationships/tags" Target="../tags/tag45.xml"/><Relationship Id="rId40" Type="http://schemas.openxmlformats.org/officeDocument/2006/relationships/tags" Target="../tags/tag44.xml"/><Relationship Id="rId4" Type="http://schemas.openxmlformats.org/officeDocument/2006/relationships/tags" Target="../tags/tag8.xml"/><Relationship Id="rId39" Type="http://schemas.openxmlformats.org/officeDocument/2006/relationships/tags" Target="../tags/tag43.xml"/><Relationship Id="rId38" Type="http://schemas.openxmlformats.org/officeDocument/2006/relationships/tags" Target="../tags/tag42.xml"/><Relationship Id="rId37" Type="http://schemas.openxmlformats.org/officeDocument/2006/relationships/tags" Target="../tags/tag41.xml"/><Relationship Id="rId36" Type="http://schemas.openxmlformats.org/officeDocument/2006/relationships/tags" Target="../tags/tag40.xml"/><Relationship Id="rId35" Type="http://schemas.openxmlformats.org/officeDocument/2006/relationships/tags" Target="../tags/tag39.xml"/><Relationship Id="rId34" Type="http://schemas.openxmlformats.org/officeDocument/2006/relationships/tags" Target="../tags/tag38.xml"/><Relationship Id="rId33" Type="http://schemas.openxmlformats.org/officeDocument/2006/relationships/tags" Target="../tags/tag37.xml"/><Relationship Id="rId32" Type="http://schemas.openxmlformats.org/officeDocument/2006/relationships/tags" Target="../tags/tag36.xml"/><Relationship Id="rId31" Type="http://schemas.openxmlformats.org/officeDocument/2006/relationships/tags" Target="../tags/tag35.xml"/><Relationship Id="rId30" Type="http://schemas.openxmlformats.org/officeDocument/2006/relationships/tags" Target="../tags/tag34.xml"/><Relationship Id="rId3" Type="http://schemas.openxmlformats.org/officeDocument/2006/relationships/tags" Target="../tags/tag7.xml"/><Relationship Id="rId29" Type="http://schemas.openxmlformats.org/officeDocument/2006/relationships/tags" Target="../tags/tag33.xml"/><Relationship Id="rId28" Type="http://schemas.openxmlformats.org/officeDocument/2006/relationships/tags" Target="../tags/tag32.xml"/><Relationship Id="rId27" Type="http://schemas.openxmlformats.org/officeDocument/2006/relationships/tags" Target="../tags/tag31.xml"/><Relationship Id="rId26" Type="http://schemas.openxmlformats.org/officeDocument/2006/relationships/tags" Target="../tags/tag30.xml"/><Relationship Id="rId25" Type="http://schemas.openxmlformats.org/officeDocument/2006/relationships/tags" Target="../tags/tag29.xml"/><Relationship Id="rId24" Type="http://schemas.openxmlformats.org/officeDocument/2006/relationships/tags" Target="../tags/tag28.xml"/><Relationship Id="rId23" Type="http://schemas.openxmlformats.org/officeDocument/2006/relationships/tags" Target="../tags/tag27.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tags" Target="../tags/tag6.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8" Type="http://schemas.openxmlformats.org/officeDocument/2006/relationships/notesSlide" Target="../notesSlides/notesSlide3.xml"/><Relationship Id="rId107" Type="http://schemas.openxmlformats.org/officeDocument/2006/relationships/slideLayout" Target="../slideLayouts/slideLayout2.xml"/><Relationship Id="rId106" Type="http://schemas.openxmlformats.org/officeDocument/2006/relationships/tags" Target="../tags/tag110.xml"/><Relationship Id="rId105" Type="http://schemas.openxmlformats.org/officeDocument/2006/relationships/tags" Target="../tags/tag109.xml"/><Relationship Id="rId104" Type="http://schemas.openxmlformats.org/officeDocument/2006/relationships/tags" Target="../tags/tag108.xml"/><Relationship Id="rId103" Type="http://schemas.openxmlformats.org/officeDocument/2006/relationships/tags" Target="../tags/tag107.xml"/><Relationship Id="rId102" Type="http://schemas.openxmlformats.org/officeDocument/2006/relationships/tags" Target="../tags/tag106.xml"/><Relationship Id="rId101" Type="http://schemas.openxmlformats.org/officeDocument/2006/relationships/tags" Target="../tags/tag105.xml"/><Relationship Id="rId100" Type="http://schemas.openxmlformats.org/officeDocument/2006/relationships/tags" Target="../tags/tag104.xml"/><Relationship Id="rId10" Type="http://schemas.openxmlformats.org/officeDocument/2006/relationships/tags" Target="../tags/tag14.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image" Target="../media/image7.png"/><Relationship Id="rId1" Type="http://schemas.openxmlformats.org/officeDocument/2006/relationships/image" Target="../media/image6.bm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22.wmf"/><Relationship Id="rId2" Type="http://schemas.openxmlformats.org/officeDocument/2006/relationships/oleObject" Target="../embeddings/oleObject5.bin"/><Relationship Id="rId1" Type="http://schemas.openxmlformats.org/officeDocument/2006/relationships/tags" Target="../tags/tag1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24.wmf"/><Relationship Id="rId2" Type="http://schemas.openxmlformats.org/officeDocument/2006/relationships/oleObject" Target="../embeddings/oleObject6.bin"/><Relationship Id="rId1" Type="http://schemas.openxmlformats.org/officeDocument/2006/relationships/tags" Target="../tags/tag11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41.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24.wmf"/><Relationship Id="rId2" Type="http://schemas.openxmlformats.org/officeDocument/2006/relationships/oleObject" Target="../embeddings/oleObject7.bin"/><Relationship Id="rId1" Type="http://schemas.openxmlformats.org/officeDocument/2006/relationships/tags" Target="../tags/tag1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6"/>
          <p:cNvSpPr>
            <a:spLocks noGrp="1"/>
          </p:cNvSpPr>
          <p:nvPr>
            <p:ph type="ctrTitle"/>
          </p:nvPr>
        </p:nvSpPr>
        <p:spPr/>
        <p:txBody>
          <a:bodyPr vert="horz" wrap="square" lIns="91440" tIns="45720" rIns="91440" bIns="45720" anchor="b" anchorCtr="0"/>
          <a:p>
            <a:pPr eaLnBrk="1" hangingPunct="1">
              <a:buClrTx/>
              <a:buSzTx/>
              <a:buFontTx/>
            </a:pPr>
            <a:r>
              <a:rPr lang="zh-CN" altLang="en-US" dirty="0">
                <a:latin typeface="+mj-lt"/>
                <a:ea typeface="+mj-ea"/>
                <a:cs typeface="+mj-cs"/>
              </a:rPr>
              <a:t>计算机原理</a:t>
            </a:r>
            <a:endParaRPr lang="zh-CN" altLang="en-US" dirty="0">
              <a:latin typeface="+mj-lt"/>
              <a:ea typeface="+mj-ea"/>
              <a:cs typeface="+mj-cs"/>
            </a:endParaRPr>
          </a:p>
        </p:txBody>
      </p:sp>
      <p:sp>
        <p:nvSpPr>
          <p:cNvPr id="3075" name="Rectangle 8"/>
          <p:cNvSpPr>
            <a:spLocks noGrp="1"/>
          </p:cNvSpPr>
          <p:nvPr>
            <p:ph type="subTitle" idx="1"/>
          </p:nvPr>
        </p:nvSpPr>
        <p:spPr>
          <a:xfrm>
            <a:off x="2987675" y="3276600"/>
            <a:ext cx="5616575" cy="1223963"/>
          </a:xfrm>
        </p:spPr>
        <p:txBody>
          <a:bodyPr vert="horz" wrap="square" lIns="91440" tIns="45720" rIns="91440" bIns="45720" anchor="t" anchorCtr="0"/>
          <a:p>
            <a:pPr algn="just" eaLnBrk="1" hangingPunct="1">
              <a:buClrTx/>
              <a:buSzTx/>
            </a:pPr>
            <a:r>
              <a:rPr lang="zh-CN" altLang="en-US" sz="4800" dirty="0">
                <a:latin typeface="+mn-lt"/>
                <a:ea typeface="隶书" panose="02010509060101010101" pitchFamily="49" charset="-122"/>
                <a:cs typeface="+mn-cs"/>
              </a:rPr>
              <a:t>习题课二</a:t>
            </a:r>
            <a:endParaRPr lang="en-US" altLang="zh-CN" sz="4800" dirty="0">
              <a:latin typeface="+mn-lt"/>
              <a:ea typeface="隶书" panose="02010509060101010101" pitchFamily="49"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xfrm>
            <a:off x="684213" y="188913"/>
            <a:ext cx="8089900" cy="714375"/>
          </a:xfrm>
        </p:spPr>
        <p:txBody>
          <a:bodyPr vert="horz" wrap="square" lIns="91440" tIns="45720" rIns="91440" bIns="45720" anchor="b" anchorCtr="0"/>
          <a:p>
            <a:pPr eaLnBrk="1" hangingPunct="1"/>
            <a:r>
              <a:rPr lang="zh-CN" altLang="en-US" dirty="0"/>
              <a:t>主要内容</a:t>
            </a:r>
            <a:endParaRPr lang="zh-CN" altLang="en-US" dirty="0"/>
          </a:p>
        </p:txBody>
      </p:sp>
      <p:sp>
        <p:nvSpPr>
          <p:cNvPr id="4099" name="Rectangle 3"/>
          <p:cNvSpPr>
            <a:spLocks noGrp="1"/>
          </p:cNvSpPr>
          <p:nvPr>
            <p:ph idx="1"/>
          </p:nvPr>
        </p:nvSpPr>
        <p:spPr>
          <a:xfrm>
            <a:off x="665163" y="1347788"/>
            <a:ext cx="7813675" cy="4867275"/>
          </a:xfrm>
        </p:spPr>
        <p:txBody>
          <a:bodyPr vert="horz" wrap="square" lIns="91440" tIns="45720" rIns="91440" bIns="45720" anchor="t" anchorCtr="0"/>
          <a:p>
            <a:pPr algn="just" eaLnBrk="1" hangingPunct="1">
              <a:lnSpc>
                <a:spcPct val="120000"/>
              </a:lnSpc>
              <a:spcBef>
                <a:spcPts val="600"/>
              </a:spcBef>
              <a:spcAft>
                <a:spcPts val="600"/>
              </a:spcAft>
              <a:buNone/>
            </a:pPr>
            <a:r>
              <a:rPr lang="zh-CN" altLang="en-US" sz="2800" dirty="0"/>
              <a:t>一、关于控制器的基本概念</a:t>
            </a:r>
            <a:endParaRPr lang="en-US" altLang="zh-CN" sz="2800" dirty="0"/>
          </a:p>
          <a:p>
            <a:pPr algn="just" eaLnBrk="1" hangingPunct="1">
              <a:lnSpc>
                <a:spcPct val="120000"/>
              </a:lnSpc>
              <a:spcBef>
                <a:spcPts val="600"/>
              </a:spcBef>
              <a:spcAft>
                <a:spcPts val="600"/>
              </a:spcAft>
              <a:buNone/>
            </a:pPr>
            <a:r>
              <a:rPr lang="zh-CN" altLang="en-US" sz="2800" dirty="0"/>
              <a:t>二、关于数据通路设计</a:t>
            </a:r>
            <a:endParaRPr lang="zh-CN" altLang="en-US" sz="2800" dirty="0"/>
          </a:p>
          <a:p>
            <a:pPr algn="just" eaLnBrk="1" hangingPunct="1">
              <a:lnSpc>
                <a:spcPct val="120000"/>
              </a:lnSpc>
              <a:spcBef>
                <a:spcPts val="600"/>
              </a:spcBef>
              <a:spcAft>
                <a:spcPts val="600"/>
              </a:spcAft>
              <a:buNone/>
            </a:pPr>
            <a:r>
              <a:rPr lang="zh-CN" altLang="en-US" sz="2800" dirty="0"/>
              <a:t>三、关于单周期控制器设计</a:t>
            </a:r>
            <a:endParaRPr lang="zh-CN" altLang="en-US" sz="2800" dirty="0"/>
          </a:p>
          <a:p>
            <a:pPr algn="just" eaLnBrk="1" hangingPunct="1">
              <a:lnSpc>
                <a:spcPct val="120000"/>
              </a:lnSpc>
              <a:spcBef>
                <a:spcPts val="600"/>
              </a:spcBef>
              <a:spcAft>
                <a:spcPts val="600"/>
              </a:spcAft>
              <a:buNone/>
            </a:pPr>
            <a:r>
              <a:rPr lang="zh-CN" altLang="en-US" sz="2800" dirty="0"/>
              <a:t>四、关于多周期控制器设计</a:t>
            </a:r>
            <a:endParaRPr lang="en-US" altLang="zh-CN" sz="2800" dirty="0"/>
          </a:p>
          <a:p>
            <a:pPr algn="just" eaLnBrk="1" hangingPunct="1">
              <a:lnSpc>
                <a:spcPct val="120000"/>
              </a:lnSpc>
              <a:spcBef>
                <a:spcPts val="600"/>
              </a:spcBef>
              <a:spcAft>
                <a:spcPts val="600"/>
              </a:spcAft>
              <a:buNone/>
            </a:pPr>
            <a:r>
              <a:rPr lang="zh-CN" altLang="en-US" sz="2800" dirty="0"/>
              <a:t>五、关于流水线问题</a:t>
            </a:r>
            <a:endParaRPr lang="en-US" altLang="zh-CN" sz="2800" dirty="0"/>
          </a:p>
          <a:p>
            <a:pPr algn="just" eaLnBrk="1" hangingPunct="1">
              <a:lnSpc>
                <a:spcPct val="120000"/>
              </a:lnSpc>
              <a:spcBef>
                <a:spcPts val="600"/>
              </a:spcBef>
              <a:spcAft>
                <a:spcPts val="600"/>
              </a:spcAft>
              <a:buNone/>
            </a:pPr>
            <a:r>
              <a:rPr lang="zh-CN" altLang="en-US" sz="2800" dirty="0"/>
              <a:t>六、关于异常处理问题</a:t>
            </a:r>
            <a:endParaRPr lang="zh-CN" altLang="en-US" sz="2800" dirty="0"/>
          </a:p>
          <a:p>
            <a:pPr algn="just" eaLnBrk="1" hangingPunct="1">
              <a:lnSpc>
                <a:spcPct val="120000"/>
              </a:lnSpc>
              <a:spcBef>
                <a:spcPts val="600"/>
              </a:spcBef>
              <a:spcAft>
                <a:spcPts val="600"/>
              </a:spcAft>
              <a:buNone/>
            </a:pPr>
            <a:endParaRPr lang="zh-CN" altLang="en-US" sz="2800" dirty="0"/>
          </a:p>
        </p:txBody>
      </p:sp>
    </p:spTree>
  </p:cSld>
  <p:clrMapOvr>
    <a:masterClrMapping/>
  </p:clrMapOvr>
  <p:transition spd="slow">
    <p:pull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1"/>
          <p:cNvSpPr>
            <a:spLocks noGrp="1"/>
          </p:cNvSpPr>
          <p:nvPr>
            <p:ph type="title"/>
          </p:nvPr>
        </p:nvSpPr>
        <p:spPr/>
        <p:txBody>
          <a:bodyPr vert="horz" wrap="square" lIns="91440" tIns="45720" rIns="91440" bIns="45720" anchor="b" anchorCtr="0"/>
          <a:p>
            <a:r>
              <a:rPr lang="zh-CN" altLang="en-US" dirty="0"/>
              <a:t>一、</a:t>
            </a:r>
            <a:r>
              <a:rPr lang="zh-CN" altLang="en-US" dirty="0">
                <a:latin typeface="Times New Roman" panose="02020603050405020304" pitchFamily="18" charset="0"/>
              </a:rPr>
              <a:t>关于控制器基本概念</a:t>
            </a:r>
            <a:endParaRPr lang="zh-CN" altLang="en-US" dirty="0"/>
          </a:p>
        </p:txBody>
      </p:sp>
      <p:sp>
        <p:nvSpPr>
          <p:cNvPr id="5124" name="内容占位符 2"/>
          <p:cNvSpPr>
            <a:spLocks noGrp="1"/>
          </p:cNvSpPr>
          <p:nvPr>
            <p:ph idx="1"/>
          </p:nvPr>
        </p:nvSpPr>
        <p:spPr>
          <a:xfrm>
            <a:off x="603250" y="1357313"/>
            <a:ext cx="8145463" cy="2660650"/>
          </a:xfrm>
        </p:spPr>
        <p:txBody>
          <a:bodyPr vert="horz" wrap="square" lIns="91440" tIns="45720" rIns="91440" bIns="45720" numCol="1" anchor="t" anchorCtr="0" compatLnSpc="1"/>
          <a:lstStyle/>
          <a:p>
            <a:pPr marL="179705" marR="0" lvl="0" indent="-179705" algn="l" defTabSz="914400" rtl="0" eaLnBrk="0" fontAlgn="base" latinLnBrk="0" hangingPunct="0">
              <a:lnSpc>
                <a:spcPct val="100000"/>
              </a:lnSpc>
              <a:spcBef>
                <a:spcPts val="600"/>
              </a:spcBef>
              <a:spcAft>
                <a:spcPct val="0"/>
              </a:spcAft>
              <a:buClr>
                <a:schemeClr val="tx2"/>
              </a:buClr>
              <a:buSzTx/>
              <a:buFont typeface="Wingdings" panose="05000000000000000000" pitchFamily="2" charset="2"/>
              <a:buChar char="p"/>
              <a:defRPr/>
            </a:pPr>
            <a:r>
              <a:rPr kumimoji="0" lang="zh-CN" altLang="en-US" sz="32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控制器</a:t>
            </a:r>
            <a:r>
              <a:rPr kumimoji="0" lang="en-US" altLang="zh-CN" sz="32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(Control)</a:t>
            </a:r>
            <a:endParaRPr kumimoji="0" lang="zh-CN" altLang="en-US" sz="32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622300" marR="0" lvl="1" indent="-263525"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对指令进行译码，生成指令对应的控制信号，控制数据通路的动作，能对指令的执行部件发出控制信号，是</a:t>
            </a:r>
            <a:r>
              <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指令的控制部件 </a:t>
            </a: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52425" marR="0" lvl="0" indent="-263525" algn="l" defTabSz="914400" rtl="0" eaLnBrk="0" fontAlgn="base" latinLnBrk="0" hangingPunct="0">
              <a:lnSpc>
                <a:spcPct val="100000"/>
              </a:lnSpc>
              <a:spcBef>
                <a:spcPts val="600"/>
              </a:spcBef>
              <a:spcAft>
                <a:spcPct val="0"/>
              </a:spcAft>
              <a:buClrTx/>
              <a:buSzTx/>
              <a:buFont typeface="Wingdings" panose="05000000000000000000" pitchFamily="2" charset="2"/>
              <a:buChar char="p"/>
              <a:defRPr/>
            </a:pP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指令周期</a:t>
            </a: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2300" marR="0" lvl="1" indent="-263525"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指令从取指开始到执行完成所需的时间</a:t>
            </a:r>
            <a:endParaRPr kumimoji="0" lang="en-US" altLang="zh-CN"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622300" marR="0" lvl="1" indent="-263525"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指令周期主要由</a:t>
            </a:r>
            <a:r>
              <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取指阶段</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执行阶段</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组成</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82345" marR="0" lvl="2" indent="-263525" algn="l" defTabSz="914400" rtl="0" eaLnBrk="0" fontAlgn="base" latinLnBrk="0" hangingPunct="0">
              <a:lnSpc>
                <a:spcPct val="100000"/>
              </a:lnSpc>
              <a:spcBef>
                <a:spcPts val="600"/>
              </a:spcBef>
              <a:spcAft>
                <a:spcPct val="0"/>
              </a:spcAft>
              <a:buClrTx/>
              <a:buSzPct val="80000"/>
              <a:buFont typeface="Wingdings" panose="05000000000000000000" pitchFamily="2" charset="2"/>
              <a:buChar char="l"/>
              <a:defRPr/>
            </a:pPr>
            <a:r>
              <a:rPr kumimoji="0" lang="zh-CN" altLang="en-US" sz="2400" b="1" i="0" u="none" strike="noStrike" kern="0" cap="none" spc="0" normalizeH="0" baseline="0" noProof="0" dirty="0" smtClean="0">
                <a:ln>
                  <a:noFill/>
                </a:ln>
                <a:solidFill>
                  <a:srgbClr val="0000CC"/>
                </a:solidFill>
                <a:effectLst/>
                <a:uLnTx/>
                <a:uFillTx/>
                <a:latin typeface="Times New Roman" panose="02020603050405020304" pitchFamily="18" charset="0"/>
                <a:ea typeface="+mn-ea"/>
                <a:cs typeface="Times New Roman" panose="02020603050405020304" pitchFamily="18" charset="0"/>
              </a:rPr>
              <a:t>取指阶段</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完成从指令存储器取指操作，并将取出的指令存储在指令寄存器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IR</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82345" marR="0" lvl="2" indent="-263525" algn="l" defTabSz="914400" rtl="0" eaLnBrk="0" fontAlgn="base" latinLnBrk="0" hangingPunct="0">
              <a:lnSpc>
                <a:spcPct val="100000"/>
              </a:lnSpc>
              <a:spcBef>
                <a:spcPts val="600"/>
              </a:spcBef>
              <a:spcAft>
                <a:spcPct val="0"/>
              </a:spcAft>
              <a:buClrTx/>
              <a:buSzPct val="80000"/>
              <a:buFont typeface="Wingdings" panose="05000000000000000000" pitchFamily="2" charset="2"/>
              <a:buChar char="l"/>
              <a:defRPr/>
            </a:pPr>
            <a:r>
              <a:rPr kumimoji="0" lang="zh-CN" altLang="en-US" sz="2400" b="1" i="0" u="none" strike="noStrike" kern="0" cap="none" spc="0" normalizeH="0" baseline="0" noProof="0" dirty="0" smtClean="0">
                <a:ln>
                  <a:noFill/>
                </a:ln>
                <a:solidFill>
                  <a:srgbClr val="0000CC"/>
                </a:solidFill>
                <a:effectLst/>
                <a:uLnTx/>
                <a:uFillTx/>
                <a:latin typeface="Times New Roman" panose="02020603050405020304" pitchFamily="18" charset="0"/>
                <a:ea typeface="+mn-ea"/>
                <a:cs typeface="Times New Roman" panose="02020603050405020304" pitchFamily="18" charset="0"/>
              </a:rPr>
              <a:t>执行阶段</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完成指令译码、执行等操作</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91440" tIns="45720" rIns="91440" bIns="45720" anchor="b" anchorCtr="0"/>
          <a:p>
            <a:r>
              <a:rPr lang="zh-CN" altLang="en-US" dirty="0"/>
              <a:t>一、</a:t>
            </a:r>
            <a:r>
              <a:rPr lang="zh-CN" altLang="en-US" dirty="0">
                <a:latin typeface="Times New Roman" panose="02020603050405020304" pitchFamily="18" charset="0"/>
              </a:rPr>
              <a:t>关于控制器基本概念</a:t>
            </a:r>
            <a:endParaRPr lang="zh-CN" altLang="en-US" dirty="0"/>
          </a:p>
        </p:txBody>
      </p:sp>
      <p:sp>
        <p:nvSpPr>
          <p:cNvPr id="5126" name="Rectangle 6"/>
          <p:cNvSpPr>
            <a:spLocks noChangeArrowheads="1"/>
          </p:cNvSpPr>
          <p:nvPr/>
        </p:nvSpPr>
        <p:spPr bwMode="auto">
          <a:xfrm>
            <a:off x="571500" y="1490663"/>
            <a:ext cx="8286750" cy="1724025"/>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(2009</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冯</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诺依曼计算机中指令和数据均以二进制形式存放在存储器中，</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区分它们的依据是</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17462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指令操作码的译码结果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B.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指令和数据的寻址方式</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17462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指令周期的不同阶段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D.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指令和数据所在的存储单元</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59393" name="Rectangle 1"/>
          <p:cNvSpPr>
            <a:spLocks noChangeArrowheads="1"/>
          </p:cNvSpPr>
          <p:nvPr/>
        </p:nvSpPr>
        <p:spPr bwMode="auto">
          <a:xfrm>
            <a:off x="571500" y="3717925"/>
            <a:ext cx="8286750" cy="1354138"/>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(2010</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下列寄存器中，反汇编语言程序员可见的是</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17462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存储器地址寄存器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(MAR)     B.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程序计数器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(PC)</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17462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存储器数据寄存器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(MDR)     D.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指令寄存器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(IR)</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393"/>
                                        </p:tgtEl>
                                        <p:attrNameLst>
                                          <p:attrName>style.visibility</p:attrName>
                                        </p:attrNameLst>
                                      </p:cBhvr>
                                      <p:to>
                                        <p:strVal val="visible"/>
                                      </p:to>
                                    </p:set>
                                    <p:animEffect transition="in" filter="blinds(horizontal)">
                                      <p:cBhvr>
                                        <p:cTn id="7" dur="500"/>
                                        <p:tgtEl>
                                          <p:spTgt spid="59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4"/>
          <p:cNvPicPr>
            <a:picLocks noChangeAspect="1"/>
          </p:cNvPicPr>
          <p:nvPr/>
        </p:nvPicPr>
        <p:blipFill>
          <a:blip r:embed="rId1"/>
          <a:stretch>
            <a:fillRect/>
          </a:stretch>
        </p:blipFill>
        <p:spPr>
          <a:xfrm>
            <a:off x="1285875" y="2071688"/>
            <a:ext cx="7178675" cy="4741862"/>
          </a:xfrm>
          <a:prstGeom prst="rect">
            <a:avLst/>
          </a:prstGeom>
          <a:noFill/>
          <a:ln w="9525">
            <a:noFill/>
          </a:ln>
        </p:spPr>
      </p:pic>
      <p:sp>
        <p:nvSpPr>
          <p:cNvPr id="7171" name="标题 1"/>
          <p:cNvSpPr>
            <a:spLocks noGrp="1"/>
          </p:cNvSpPr>
          <p:nvPr>
            <p:ph type="title"/>
          </p:nvPr>
        </p:nvSpPr>
        <p:spPr/>
        <p:txBody>
          <a:bodyPr vert="horz" wrap="square" lIns="91440" tIns="45720" rIns="91440" bIns="45720" anchor="b" anchorCtr="0"/>
          <a:p>
            <a:r>
              <a:rPr lang="zh-CN" altLang="en-US" dirty="0"/>
              <a:t>二、</a:t>
            </a:r>
            <a:r>
              <a:rPr lang="zh-CN" altLang="en-US" dirty="0">
                <a:latin typeface="Times New Roman" panose="02020603050405020304" pitchFamily="18" charset="0"/>
              </a:rPr>
              <a:t>关于数据通路</a:t>
            </a:r>
            <a:r>
              <a:rPr lang="zh-CN" altLang="en-US" dirty="0"/>
              <a:t>设计 </a:t>
            </a:r>
            <a:endParaRPr lang="zh-CN" altLang="en-US" dirty="0"/>
          </a:p>
        </p:txBody>
      </p:sp>
      <p:sp>
        <p:nvSpPr>
          <p:cNvPr id="7172" name="内容占位符 2"/>
          <p:cNvSpPr>
            <a:spLocks noGrp="1"/>
          </p:cNvSpPr>
          <p:nvPr>
            <p:ph idx="1"/>
          </p:nvPr>
        </p:nvSpPr>
        <p:spPr>
          <a:xfrm>
            <a:off x="571500" y="1214438"/>
            <a:ext cx="8326438" cy="4772025"/>
          </a:xfrm>
        </p:spPr>
        <p:txBody>
          <a:bodyPr vert="horz" wrap="square" lIns="91440" tIns="45720" rIns="91440" bIns="45720" anchor="t" anchorCtr="0"/>
          <a:p>
            <a:pPr>
              <a:spcBef>
                <a:spcPts val="1800"/>
              </a:spcBef>
              <a:buClr>
                <a:schemeClr val="tx2"/>
              </a:buClr>
            </a:pPr>
            <a:r>
              <a:rPr lang="zh-CN" altLang="en-US" sz="2400" dirty="0">
                <a:solidFill>
                  <a:srgbClr val="FF0000"/>
                </a:solidFill>
                <a:latin typeface="Times New Roman" panose="02020603050405020304" pitchFamily="18" charset="0"/>
                <a:cs typeface="Times New Roman" panose="02020603050405020304" pitchFamily="18" charset="0"/>
              </a:rPr>
              <a:t>数据通路</a:t>
            </a:r>
            <a:r>
              <a:rPr lang="en-US" altLang="zh-CN" sz="2400" dirty="0">
                <a:solidFill>
                  <a:srgbClr val="FF0000"/>
                </a:solidFill>
                <a:latin typeface="Times New Roman" panose="02020603050405020304" pitchFamily="18" charset="0"/>
                <a:cs typeface="Times New Roman" panose="02020603050405020304" pitchFamily="18" charset="0"/>
              </a:rPr>
              <a:t>(DataPath)</a:t>
            </a:r>
            <a:endParaRPr lang="en-US" altLang="zh-CN" sz="2400" dirty="0">
              <a:solidFill>
                <a:srgbClr val="FF0000"/>
              </a:solidFill>
              <a:latin typeface="Times New Roman" panose="02020603050405020304" pitchFamily="18" charset="0"/>
              <a:cs typeface="Times New Roman" panose="02020603050405020304" pitchFamily="18" charset="0"/>
            </a:endParaRPr>
          </a:p>
          <a:p>
            <a:pPr marL="622300" lvl="1" indent="-263525">
              <a:spcBef>
                <a:spcPct val="0"/>
              </a:spcBef>
            </a:pPr>
            <a:r>
              <a:rPr lang="zh-CN" altLang="en-US" sz="2200" dirty="0">
                <a:latin typeface="Times New Roman" panose="02020603050405020304" pitchFamily="18" charset="0"/>
                <a:cs typeface="Times New Roman" panose="02020603050405020304" pitchFamily="18" charset="0"/>
              </a:rPr>
              <a:t>指令执行过程中，数据所经过的所有路径</a:t>
            </a:r>
            <a:r>
              <a:rPr lang="en-US" altLang="zh-CN" sz="2200" dirty="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包括路径中的部件</a:t>
            </a:r>
            <a:r>
              <a:rPr lang="en-US" altLang="zh-CN" sz="2200" dirty="0">
                <a:latin typeface="Times New Roman" panose="02020603050405020304" pitchFamily="18" charset="0"/>
                <a:cs typeface="Times New Roman" panose="02020603050405020304" pitchFamily="18" charset="0"/>
              </a:rPr>
              <a:t>)</a:t>
            </a:r>
            <a:endParaRPr lang="en-US" altLang="zh-CN" sz="2200" dirty="0">
              <a:latin typeface="Times New Roman" panose="02020603050405020304" pitchFamily="18" charset="0"/>
              <a:cs typeface="Times New Roman" panose="02020603050405020304" pitchFamily="18" charset="0"/>
            </a:endParaRPr>
          </a:p>
          <a:p>
            <a:pPr marL="622300" lvl="1" indent="-263525">
              <a:spcBef>
                <a:spcPct val="0"/>
              </a:spcBef>
            </a:pPr>
            <a:r>
              <a:rPr lang="zh-CN" altLang="en-US" sz="2200" dirty="0">
                <a:latin typeface="Times New Roman" panose="02020603050405020304" pitchFamily="18" charset="0"/>
                <a:cs typeface="Times New Roman" panose="02020603050405020304" pitchFamily="18" charset="0"/>
              </a:rPr>
              <a:t>是</a:t>
            </a:r>
            <a:r>
              <a:rPr lang="zh-CN" altLang="en-US" sz="2200" dirty="0">
                <a:solidFill>
                  <a:srgbClr val="FF0000"/>
                </a:solidFill>
                <a:latin typeface="Times New Roman" panose="02020603050405020304" pitchFamily="18" charset="0"/>
                <a:cs typeface="Times New Roman" panose="02020603050405020304" pitchFamily="18" charset="0"/>
              </a:rPr>
              <a:t>指令的执行部件 </a:t>
            </a:r>
            <a:endParaRPr lang="zh-CN" altLang="en-US" sz="2200" dirty="0">
              <a:solidFill>
                <a:srgbClr val="FF0000"/>
              </a:solidFill>
              <a:latin typeface="Times New Roman" panose="02020603050405020304" pitchFamily="18" charset="0"/>
              <a:ea typeface="Times New Roman" panose="02020603050405020304" pitchFamily="18" charset="0"/>
            </a:endParaRPr>
          </a:p>
        </p:txBody>
      </p:sp>
      <p:sp>
        <p:nvSpPr>
          <p:cNvPr id="7173" name="矩形 4"/>
          <p:cNvSpPr/>
          <p:nvPr/>
        </p:nvSpPr>
        <p:spPr>
          <a:xfrm>
            <a:off x="1287463" y="5672138"/>
            <a:ext cx="2028825" cy="398780"/>
          </a:xfrm>
          <a:prstGeom prst="rect">
            <a:avLst/>
          </a:prstGeom>
          <a:noFill/>
          <a:ln w="9525">
            <a:noFill/>
          </a:ln>
        </p:spPr>
        <p:txBody>
          <a:bodyPr wrap="none">
            <a:spAutoFit/>
          </a:bodyPr>
          <a:p>
            <a:pPr>
              <a:buNone/>
            </a:pPr>
            <a:r>
              <a:rPr lang="en-US" altLang="zh-CN" b="1" dirty="0">
                <a:solidFill>
                  <a:srgbClr val="0000FF"/>
                </a:solidFill>
                <a:latin typeface="Times New Roman" panose="02020603050405020304" pitchFamily="18" charset="0"/>
                <a:ea typeface="华文新魏" panose="02010800040101010101" pitchFamily="2" charset="-122"/>
              </a:rPr>
              <a:t> </a:t>
            </a:r>
            <a:r>
              <a:rPr lang="zh-CN" altLang="en-US" b="1" dirty="0">
                <a:solidFill>
                  <a:srgbClr val="0000FF"/>
                </a:solidFill>
                <a:latin typeface="Times New Roman" panose="02020603050405020304" pitchFamily="18" charset="0"/>
                <a:ea typeface="华文新魏" panose="02010800040101010101" pitchFamily="2" charset="-122"/>
              </a:rPr>
              <a:t>单周期数据通路</a:t>
            </a:r>
            <a:endParaRPr lang="zh-CN" altLang="en-US" dirty="0">
              <a:solidFill>
                <a:srgbClr val="0000FF"/>
              </a:solidFill>
              <a:latin typeface="Arial" panose="020B0604020202020204" pitchFamily="34"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173"/>
                                        </p:tgtEl>
                                        <p:attrNameLst>
                                          <p:attrName>style.visibility</p:attrName>
                                        </p:attrNameLst>
                                      </p:cBhvr>
                                      <p:to>
                                        <p:strVal val="visible"/>
                                      </p:to>
                                    </p:set>
                                    <p:animEffect transition="in" filter="blinds(horizontal)">
                                      <p:cBhvr>
                                        <p:cTn id="11"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a:xfrm>
            <a:off x="684213" y="188913"/>
            <a:ext cx="7021512" cy="676275"/>
          </a:xfrm>
        </p:spPr>
        <p:txBody>
          <a:bodyPr vert="horz" wrap="square" lIns="91440" tIns="45720" rIns="91440" bIns="45720" anchor="b" anchorCtr="0"/>
          <a:p>
            <a:pPr eaLnBrk="1" hangingPunct="1"/>
            <a:r>
              <a:rPr lang="zh-CN" altLang="en-US" dirty="0"/>
              <a:t>数据通路设计实例</a:t>
            </a:r>
            <a:endParaRPr lang="zh-CN" altLang="en-US" dirty="0"/>
          </a:p>
        </p:txBody>
      </p:sp>
      <p:sp>
        <p:nvSpPr>
          <p:cNvPr id="12292" name="TextBox 9"/>
          <p:cNvSpPr txBox="1"/>
          <p:nvPr/>
        </p:nvSpPr>
        <p:spPr>
          <a:xfrm>
            <a:off x="571500" y="3822065"/>
            <a:ext cx="8286750" cy="2799715"/>
          </a:xfrm>
          <a:prstGeom prst="rect">
            <a:avLst/>
          </a:prstGeom>
          <a:noFill/>
          <a:ln w="9525">
            <a:noFill/>
          </a:ln>
        </p:spPr>
        <p:txBody>
          <a:bodyPr>
            <a:spAutoFit/>
          </a:bodyPr>
          <a:p>
            <a:pPr marL="262255" indent="-262255">
              <a:buNone/>
            </a:pPr>
            <a:r>
              <a:rPr lang="zh-CN" altLang="en-US" sz="2200" b="1" dirty="0">
                <a:latin typeface="Times New Roman" panose="02020603050405020304" pitchFamily="18" charset="0"/>
                <a:ea typeface="华文新魏" panose="02010800040101010101" pitchFamily="2" charset="-122"/>
              </a:rPr>
              <a:t>解：</a:t>
            </a:r>
            <a:r>
              <a:rPr lang="en-US" altLang="zh-CN" sz="2200" b="1" dirty="0">
                <a:latin typeface="Times New Roman" panose="02020603050405020304" pitchFamily="18" charset="0"/>
                <a:ea typeface="华文新魏" panose="02010800040101010101" pitchFamily="2" charset="-122"/>
              </a:rPr>
              <a:t>4.1.1</a:t>
            </a:r>
            <a:r>
              <a:rPr lang="zh-CN" altLang="en-US" sz="2200" b="1" dirty="0">
                <a:latin typeface="Times New Roman" panose="02020603050405020304" pitchFamily="18" charset="0"/>
                <a:ea typeface="华文新魏" panose="02010800040101010101" pitchFamily="2" charset="-122"/>
              </a:rPr>
              <a:t>、</a:t>
            </a:r>
            <a:r>
              <a:rPr lang="en-US" altLang="zh-CN" sz="2200" b="1" dirty="0">
                <a:solidFill>
                  <a:srgbClr val="FF0000"/>
                </a:solidFill>
                <a:latin typeface="Times New Roman" panose="02020603050405020304" pitchFamily="18" charset="0"/>
                <a:ea typeface="华文新魏" panose="02010800040101010101" pitchFamily="2" charset="-122"/>
              </a:rPr>
              <a:t>ALU operation</a:t>
            </a:r>
            <a:r>
              <a:rPr lang="zh-CN" altLang="en-US" sz="2200" b="1" dirty="0">
                <a:latin typeface="Times New Roman" panose="02020603050405020304" pitchFamily="18" charset="0"/>
                <a:ea typeface="华文新魏" panose="02010800040101010101" pitchFamily="2" charset="-122"/>
              </a:rPr>
              <a:t>控制信号组内增加一个“</a:t>
            </a:r>
            <a:r>
              <a:rPr lang="en-US" altLang="zh-CN" sz="2200" b="1" dirty="0">
                <a:solidFill>
                  <a:srgbClr val="FF0000"/>
                </a:solidFill>
                <a:latin typeface="Times New Roman" panose="02020603050405020304" pitchFamily="18" charset="0"/>
                <a:ea typeface="华文新魏" panose="02010800040101010101" pitchFamily="2" charset="-122"/>
              </a:rPr>
              <a:t>and</a:t>
            </a:r>
            <a:r>
              <a:rPr lang="zh-CN" altLang="en-US" sz="2200" b="1" dirty="0">
                <a:latin typeface="Times New Roman" panose="02020603050405020304" pitchFamily="18" charset="0"/>
                <a:ea typeface="华文新魏" panose="02010800040101010101" pitchFamily="2" charset="-122"/>
              </a:rPr>
              <a:t>”</a:t>
            </a:r>
            <a:r>
              <a:rPr lang="en-US" altLang="zh-CN" sz="2200" b="1" dirty="0">
                <a:solidFill>
                  <a:srgbClr val="FF0000"/>
                </a:solidFill>
                <a:latin typeface="Times New Roman" panose="02020603050405020304" pitchFamily="18" charset="0"/>
                <a:ea typeface="华文新魏" panose="02010800040101010101" pitchFamily="2" charset="-122"/>
              </a:rPr>
              <a:t> </a:t>
            </a:r>
            <a:r>
              <a:rPr lang="zh-CN" altLang="en-US" sz="2200" b="1" dirty="0">
                <a:latin typeface="Times New Roman" panose="02020603050405020304" pitchFamily="18" charset="0"/>
                <a:ea typeface="华文新魏" panose="02010800040101010101" pitchFamily="2" charset="-122"/>
              </a:rPr>
              <a:t>操作信号。</a:t>
            </a:r>
            <a:r>
              <a:rPr lang="en-US" altLang="zh-CN" sz="2200" b="1" dirty="0">
                <a:latin typeface="Times New Roman" panose="02020603050405020304" pitchFamily="18" charset="0"/>
                <a:ea typeface="华文新魏" panose="02010800040101010101" pitchFamily="2" charset="-122"/>
              </a:rPr>
              <a:t>ALUSrc=0, MemWrite=0, MemRead=0, MemtoReg=0, RegWirte=1</a:t>
            </a:r>
            <a:endParaRPr lang="en-US" altLang="zh-CN" sz="2200" b="1" dirty="0">
              <a:latin typeface="Times New Roman" panose="02020603050405020304" pitchFamily="18" charset="0"/>
              <a:ea typeface="华文新魏" panose="02010800040101010101" pitchFamily="2" charset="-122"/>
            </a:endParaRPr>
          </a:p>
          <a:p>
            <a:pPr marL="262255" indent="-262255">
              <a:buNone/>
            </a:pPr>
            <a:r>
              <a:rPr lang="en-US" altLang="zh-CN" sz="2200" b="1" dirty="0">
                <a:latin typeface="Times New Roman" panose="02020603050405020304" pitchFamily="18" charset="0"/>
                <a:ea typeface="华文新魏" panose="02010800040101010101" pitchFamily="2" charset="-122"/>
              </a:rPr>
              <a:t>4.1.2</a:t>
            </a:r>
            <a:r>
              <a:rPr lang="zh-CN" altLang="en-US" sz="2200" b="1" dirty="0">
                <a:latin typeface="Times New Roman" panose="02020603050405020304" pitchFamily="18" charset="0"/>
                <a:ea typeface="华文新魏" panose="02010800040101010101" pitchFamily="2" charset="-122"/>
              </a:rPr>
              <a:t>、用到图中的功能单元：</a:t>
            </a:r>
            <a:r>
              <a:rPr lang="en-US" altLang="zh-CN" sz="2200" b="1" dirty="0">
                <a:latin typeface="Times New Roman" panose="02020603050405020304" pitchFamily="18" charset="0"/>
                <a:ea typeface="华文新魏" panose="02010800040101010101" pitchFamily="2" charset="-122"/>
              </a:rPr>
              <a:t> Registers </a:t>
            </a:r>
            <a:r>
              <a:rPr lang="zh-CN" altLang="en-US" sz="2200" b="1" dirty="0">
                <a:latin typeface="Times New Roman" panose="02020603050405020304" pitchFamily="18" charset="0"/>
                <a:ea typeface="华文新魏" panose="02010800040101010101" pitchFamily="2" charset="-122"/>
              </a:rPr>
              <a:t>、</a:t>
            </a:r>
            <a:r>
              <a:rPr lang="en-US" altLang="zh-CN" sz="2200" b="1" dirty="0">
                <a:latin typeface="Times New Roman" panose="02020603050405020304" pitchFamily="18" charset="0"/>
                <a:ea typeface="华文新魏" panose="02010800040101010101" pitchFamily="2" charset="-122"/>
              </a:rPr>
              <a:t>ALU</a:t>
            </a:r>
            <a:r>
              <a:rPr lang="zh-CN" altLang="en-US" sz="2200" b="1" dirty="0">
                <a:latin typeface="Times New Roman" panose="02020603050405020304" pitchFamily="18" charset="0"/>
                <a:ea typeface="华文新魏" panose="02010800040101010101" pitchFamily="2" charset="-122"/>
              </a:rPr>
              <a:t>和</a:t>
            </a:r>
            <a:r>
              <a:rPr lang="en-US" altLang="zh-CN" sz="2200" b="1" dirty="0">
                <a:latin typeface="Times New Roman" panose="02020603050405020304" pitchFamily="18" charset="0"/>
                <a:ea typeface="华文新魏" panose="02010800040101010101" pitchFamily="2" charset="-122"/>
              </a:rPr>
              <a:t>2</a:t>
            </a:r>
            <a:r>
              <a:rPr lang="zh-CN" altLang="en-US" sz="2200" b="1" dirty="0">
                <a:latin typeface="Times New Roman" panose="02020603050405020304" pitchFamily="18" charset="0"/>
                <a:ea typeface="华文新魏" panose="02010800040101010101" pitchFamily="2" charset="-122"/>
              </a:rPr>
              <a:t>个</a:t>
            </a:r>
            <a:r>
              <a:rPr lang="en-US" altLang="zh-CN" sz="2200" b="1" dirty="0">
                <a:latin typeface="Times New Roman" panose="02020603050405020304" pitchFamily="18" charset="0"/>
                <a:ea typeface="华文新魏" panose="02010800040101010101" pitchFamily="2" charset="-122"/>
              </a:rPr>
              <a:t>MUX</a:t>
            </a:r>
            <a:r>
              <a:rPr lang="zh-CN" altLang="en-US" sz="2200" b="1" dirty="0">
                <a:latin typeface="Times New Roman" panose="02020603050405020304" pitchFamily="18" charset="0"/>
                <a:ea typeface="华文新魏" panose="02010800040101010101" pitchFamily="2" charset="-122"/>
              </a:rPr>
              <a:t>，以及</a:t>
            </a:r>
            <a:r>
              <a:rPr lang="en-US" altLang="zh-CN" sz="2200" b="1" dirty="0">
                <a:latin typeface="Times New Roman" panose="02020603050405020304" pitchFamily="18" charset="0"/>
                <a:ea typeface="华文新魏" panose="02010800040101010101" pitchFamily="2" charset="-122"/>
              </a:rPr>
              <a:t>ALU</a:t>
            </a:r>
            <a:r>
              <a:rPr lang="zh-CN" altLang="en-US" sz="2200" b="1" dirty="0">
                <a:latin typeface="Times New Roman" panose="02020603050405020304" pitchFamily="18" charset="0"/>
                <a:ea typeface="华文新魏" panose="02010800040101010101" pitchFamily="2" charset="-122"/>
              </a:rPr>
              <a:t>控制单元产生的</a:t>
            </a:r>
            <a:r>
              <a:rPr lang="en-US" altLang="zh-CN" sz="2200" b="1" dirty="0">
                <a:latin typeface="Times New Roman" panose="02020603050405020304" pitchFamily="18" charset="0"/>
                <a:ea typeface="华文新魏" panose="02010800040101010101" pitchFamily="2" charset="-122"/>
                <a:sym typeface="+mn-ea"/>
              </a:rPr>
              <a:t>RegWirte</a:t>
            </a:r>
            <a:r>
              <a:rPr lang="zh-CN" altLang="en-US" sz="2200" b="1" dirty="0">
                <a:latin typeface="Times New Roman" panose="02020603050405020304" pitchFamily="18" charset="0"/>
                <a:ea typeface="华文新魏" panose="02010800040101010101" pitchFamily="2" charset="-122"/>
              </a:rPr>
              <a:t>信号、</a:t>
            </a:r>
            <a:r>
              <a:rPr lang="en-US" altLang="zh-CN" sz="2200" b="1" dirty="0">
                <a:latin typeface="Times New Roman" panose="02020603050405020304" pitchFamily="18" charset="0"/>
                <a:ea typeface="华文新魏" panose="02010800040101010101" pitchFamily="2" charset="-122"/>
              </a:rPr>
              <a:t>2</a:t>
            </a:r>
            <a:r>
              <a:rPr lang="zh-CN" altLang="en-US" sz="2200" b="1" dirty="0">
                <a:latin typeface="Times New Roman" panose="02020603050405020304" pitchFamily="18" charset="0"/>
                <a:ea typeface="华文新魏" panose="02010800040101010101" pitchFamily="2" charset="-122"/>
              </a:rPr>
              <a:t>个</a:t>
            </a:r>
            <a:r>
              <a:rPr lang="en-US" altLang="zh-CN" sz="2200" b="1" dirty="0">
                <a:latin typeface="Times New Roman" panose="02020603050405020304" pitchFamily="18" charset="0"/>
                <a:ea typeface="华文新魏" panose="02010800040101010101" pitchFamily="2" charset="-122"/>
              </a:rPr>
              <a:t>MUX</a:t>
            </a:r>
            <a:r>
              <a:rPr lang="zh-CN" altLang="en-US" sz="2200" b="1" dirty="0">
                <a:latin typeface="Times New Roman" panose="02020603050405020304" pitchFamily="18" charset="0"/>
                <a:ea typeface="华文新魏" panose="02010800040101010101" pitchFamily="2" charset="-122"/>
              </a:rPr>
              <a:t>的</a:t>
            </a:r>
            <a:r>
              <a:rPr lang="en-US" altLang="zh-CN" sz="2200" b="1" dirty="0">
                <a:latin typeface="Times New Roman" panose="02020603050405020304" pitchFamily="18" charset="0"/>
                <a:ea typeface="华文新魏" panose="02010800040101010101" pitchFamily="2" charset="-122"/>
                <a:sym typeface="+mn-ea"/>
              </a:rPr>
              <a:t>ALUSrc</a:t>
            </a:r>
            <a:r>
              <a:rPr lang="zh-CN" altLang="en-US" sz="2200" b="1" dirty="0">
                <a:latin typeface="Times New Roman" panose="02020603050405020304" pitchFamily="18" charset="0"/>
                <a:ea typeface="华文新魏" panose="02010800040101010101" pitchFamily="2" charset="-122"/>
                <a:sym typeface="+mn-ea"/>
              </a:rPr>
              <a:t>和</a:t>
            </a:r>
            <a:r>
              <a:rPr lang="en-US" altLang="zh-CN" sz="2200" b="1" dirty="0">
                <a:latin typeface="Times New Roman" panose="02020603050405020304" pitchFamily="18" charset="0"/>
                <a:ea typeface="华文新魏" panose="02010800040101010101" pitchFamily="2" charset="-122"/>
                <a:sym typeface="+mn-ea"/>
              </a:rPr>
              <a:t>MemtoReg</a:t>
            </a:r>
            <a:r>
              <a:rPr lang="zh-CN" altLang="en-US" sz="2200" b="1" dirty="0">
                <a:latin typeface="Times New Roman" panose="02020603050405020304" pitchFamily="18" charset="0"/>
                <a:ea typeface="华文新魏" panose="02010800040101010101" pitchFamily="2" charset="-122"/>
              </a:rPr>
              <a:t>信号、</a:t>
            </a:r>
            <a:r>
              <a:rPr lang="en-US" altLang="zh-CN" sz="2200" b="1" dirty="0">
                <a:latin typeface="Times New Roman" panose="02020603050405020304" pitchFamily="18" charset="0"/>
                <a:ea typeface="华文新魏" panose="02010800040101010101" pitchFamily="2" charset="-122"/>
              </a:rPr>
              <a:t>ALU</a:t>
            </a:r>
            <a:r>
              <a:rPr lang="zh-CN" altLang="en-US" sz="2200" b="1" dirty="0">
                <a:latin typeface="Times New Roman" panose="02020603050405020304" pitchFamily="18" charset="0"/>
                <a:ea typeface="华文新魏" panose="02010800040101010101" pitchFamily="2" charset="-122"/>
              </a:rPr>
              <a:t>的操作控制“</a:t>
            </a:r>
            <a:r>
              <a:rPr lang="en-US" altLang="zh-CN" sz="2200" b="1" dirty="0">
                <a:latin typeface="Times New Roman" panose="02020603050405020304" pitchFamily="18" charset="0"/>
                <a:ea typeface="华文新魏" panose="02010800040101010101" pitchFamily="2" charset="-122"/>
              </a:rPr>
              <a:t>and</a:t>
            </a:r>
            <a:r>
              <a:rPr lang="zh-CN" altLang="en-US" sz="2200" b="1" dirty="0">
                <a:latin typeface="Times New Roman" panose="02020603050405020304" pitchFamily="18" charset="0"/>
                <a:ea typeface="华文新魏" panose="02010800040101010101" pitchFamily="2" charset="-122"/>
              </a:rPr>
              <a:t>”信号</a:t>
            </a:r>
            <a:endParaRPr lang="en-US" altLang="zh-CN" sz="2200" b="1" dirty="0">
              <a:latin typeface="Times New Roman" panose="02020603050405020304" pitchFamily="18" charset="0"/>
              <a:ea typeface="华文新魏" panose="02010800040101010101" pitchFamily="2" charset="-122"/>
            </a:endParaRPr>
          </a:p>
          <a:p>
            <a:pPr marL="262255" indent="-262255">
              <a:buNone/>
            </a:pPr>
            <a:r>
              <a:rPr lang="en-US" altLang="zh-CN" sz="2200" b="1" dirty="0">
                <a:latin typeface="Times New Roman" panose="02020603050405020304" pitchFamily="18" charset="0"/>
                <a:ea typeface="华文新魏" panose="02010800040101010101" pitchFamily="2" charset="-122"/>
              </a:rPr>
              <a:t>4.1.3</a:t>
            </a:r>
            <a:r>
              <a:rPr lang="zh-CN" altLang="en-US" sz="2200" b="1" dirty="0">
                <a:latin typeface="Times New Roman" panose="02020603050405020304" pitchFamily="18" charset="0"/>
                <a:ea typeface="华文新魏" panose="02010800040101010101" pitchFamily="2" charset="-122"/>
              </a:rPr>
              <a:t>、</a:t>
            </a:r>
            <a:r>
              <a:rPr lang="zh-CN" altLang="en-US" sz="2200" b="1" dirty="0">
                <a:latin typeface="Times New Roman" panose="02020603050405020304" pitchFamily="18" charset="0"/>
                <a:ea typeface="华文新魏" panose="02010800040101010101" pitchFamily="2" charset="-122"/>
                <a:sym typeface="+mn-ea"/>
              </a:rPr>
              <a:t>数据存储器没有产生任何输出；</a:t>
            </a:r>
            <a:r>
              <a:rPr lang="en-US" altLang="zh-CN" sz="2200" b="1" dirty="0">
                <a:latin typeface="Times New Roman" panose="02020603050405020304" pitchFamily="18" charset="0"/>
                <a:ea typeface="华文新魏" panose="02010800040101010101" pitchFamily="2" charset="-122"/>
              </a:rPr>
              <a:t>ALU</a:t>
            </a:r>
            <a:r>
              <a:rPr lang="zh-CN" altLang="en-US" sz="2200" b="1" dirty="0">
                <a:latin typeface="Times New Roman" panose="02020603050405020304" pitchFamily="18" charset="0"/>
                <a:ea typeface="华文新魏" panose="02010800040101010101" pitchFamily="2" charset="-122"/>
              </a:rPr>
              <a:t>进行按位与操作，并产生“与”结果，随之产生的</a:t>
            </a:r>
            <a:r>
              <a:rPr lang="en-US" altLang="zh-CN" sz="2200" b="1" dirty="0">
                <a:latin typeface="Times New Roman" panose="02020603050405020304" pitchFamily="18" charset="0"/>
                <a:ea typeface="华文新魏" panose="02010800040101010101" pitchFamily="2" charset="-122"/>
              </a:rPr>
              <a:t>Zero</a:t>
            </a:r>
            <a:r>
              <a:rPr lang="zh-CN" altLang="en-US" sz="2200" b="1" dirty="0">
                <a:latin typeface="Times New Roman" panose="02020603050405020304" pitchFamily="18" charset="0"/>
                <a:ea typeface="华文新魏" panose="02010800040101010101" pitchFamily="2" charset="-122"/>
              </a:rPr>
              <a:t>未被使用。</a:t>
            </a:r>
            <a:endParaRPr lang="zh-CN" altLang="en-US" sz="2200" b="1" dirty="0">
              <a:latin typeface="Times New Roman" panose="02020603050405020304" pitchFamily="18" charset="0"/>
              <a:ea typeface="华文新魏" panose="02010800040101010101" pitchFamily="2" charset="-122"/>
            </a:endParaRPr>
          </a:p>
        </p:txBody>
      </p:sp>
      <p:sp>
        <p:nvSpPr>
          <p:cNvPr id="5" name="TextBox 4"/>
          <p:cNvSpPr txBox="1"/>
          <p:nvPr/>
        </p:nvSpPr>
        <p:spPr>
          <a:xfrm>
            <a:off x="642938" y="1214438"/>
            <a:ext cx="7929563" cy="2676525"/>
          </a:xfrm>
          <a:prstGeom prst="rect">
            <a:avLst/>
          </a:prstGeom>
          <a:noFill/>
        </p:spPr>
        <p:txBody>
          <a:bodyPr>
            <a:spAutoFit/>
          </a:bodyPr>
          <a:lstStyle/>
          <a:p>
            <a:pPr marR="0" defTabSz="914400">
              <a:buClrTx/>
              <a:buSzTx/>
              <a:buFontTx/>
              <a:buNone/>
              <a:defRPr/>
            </a:pPr>
            <a:r>
              <a:rPr kumimoji="0" 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：考虑如下指令：</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AND  Rd,Rs1,Rs2</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，含义是：</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Reg[Rs1] AND Reg[Rs2] →Reg[Rd]</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 typeface="+mj-ea"/>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4.1.1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对于上述指令，图</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4-10</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所示的单周期数据通路中的控制信号各是什么数值？</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 typeface="+mj-ea"/>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4.1.2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对于上述指令，需要用到哪些功能单元？</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 typeface="+mj-ea"/>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4.1.3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对于上述指令，哪些功能单元不</a:t>
            </a:r>
            <a:r>
              <a:rPr lang="zh-CN" altLang="en-US"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产生任何输出？哪些功能单元的</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输出不会被用到？</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linds(horizontal)">
                                      <p:cBhvr>
                                        <p:cTn id="7"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xfrm>
            <a:off x="684213" y="188913"/>
            <a:ext cx="7021512" cy="676275"/>
          </a:xfrm>
        </p:spPr>
        <p:txBody>
          <a:bodyPr vert="horz" wrap="square" lIns="91440" tIns="45720" rIns="91440" bIns="45720" anchor="b" anchorCtr="0"/>
          <a:p>
            <a:pPr eaLnBrk="1" hangingPunct="1"/>
            <a:r>
              <a:rPr lang="zh-CN" altLang="en-US" dirty="0"/>
              <a:t>数据通路设计实例</a:t>
            </a:r>
            <a:endParaRPr lang="zh-CN" altLang="en-US" dirty="0"/>
          </a:p>
        </p:txBody>
      </p:sp>
      <p:graphicFrame>
        <p:nvGraphicFramePr>
          <p:cNvPr id="2" name="对象 1"/>
          <p:cNvGraphicFramePr/>
          <p:nvPr>
            <p:custDataLst>
              <p:tags r:id="rId1"/>
            </p:custDataLst>
          </p:nvPr>
        </p:nvGraphicFramePr>
        <p:xfrm>
          <a:off x="568325" y="1340485"/>
          <a:ext cx="8020050" cy="4345940"/>
        </p:xfrm>
        <a:graphic>
          <a:graphicData uri="http://schemas.openxmlformats.org/presentationml/2006/ole">
            <mc:AlternateContent xmlns:mc="http://schemas.openxmlformats.org/markup-compatibility/2006">
              <mc:Choice xmlns:v="urn:schemas-microsoft-com:vml" Requires="v">
                <p:oleObj spid="_x0000_s3" name="" r:id="rId2" imgW="7255510" imgH="3725545" progId="Paint.Picture">
                  <p:embed/>
                </p:oleObj>
              </mc:Choice>
              <mc:Fallback>
                <p:oleObj name="" r:id="rId2" imgW="7255510" imgH="3725545" progId="Paint.Picture">
                  <p:embed/>
                  <p:pic>
                    <p:nvPicPr>
                      <p:cNvPr id="0" name="图片 2"/>
                      <p:cNvPicPr/>
                      <p:nvPr/>
                    </p:nvPicPr>
                    <p:blipFill>
                      <a:blip r:embed="rId3"/>
                      <a:stretch>
                        <a:fillRect/>
                      </a:stretch>
                    </p:blipFill>
                    <p:spPr>
                      <a:xfrm>
                        <a:off x="568325" y="1340485"/>
                        <a:ext cx="8020050" cy="4345940"/>
                      </a:xfrm>
                      <a:prstGeom prst="rect">
                        <a:avLst/>
                      </a:prstGeom>
                    </p:spPr>
                  </p:pic>
                </p:oleObj>
              </mc:Fallback>
            </mc:AlternateContent>
          </a:graphicData>
        </a:graphic>
      </p:graphicFrame>
      <p:sp>
        <p:nvSpPr>
          <p:cNvPr id="5" name="文本框 4"/>
          <p:cNvSpPr txBox="1"/>
          <p:nvPr/>
        </p:nvSpPr>
        <p:spPr>
          <a:xfrm>
            <a:off x="2159000" y="5638800"/>
            <a:ext cx="5968365" cy="460375"/>
          </a:xfrm>
          <a:prstGeom prst="rect">
            <a:avLst/>
          </a:prstGeom>
          <a:noFill/>
        </p:spPr>
        <p:txBody>
          <a:bodyPr wrap="square" rtlCol="0">
            <a:spAutoFit/>
          </a:bodyPr>
          <a:p>
            <a:r>
              <a:rPr lang="zh-CN" altLang="en-US"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图</a:t>
            </a:r>
            <a:r>
              <a:rPr lang="en-US" altLang="zh-CN"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4-10 </a:t>
            </a:r>
            <a:r>
              <a:rPr lang="zh-CN" altLang="en-US"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存储类指令和</a:t>
            </a:r>
            <a:r>
              <a:rPr lang="en-US" altLang="zh-CN"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型指令的数据通路</a:t>
            </a:r>
            <a:endParaRPr lang="zh-CN" altLang="en-US"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b" anchorCtr="0"/>
          <a:p>
            <a:pPr eaLnBrk="1" hangingPunct="1"/>
            <a:r>
              <a:rPr lang="zh-CN" altLang="en-US" dirty="0"/>
              <a:t>数据通路设计实例 </a:t>
            </a:r>
            <a:endParaRPr lang="zh-CN" altLang="en-US" dirty="0"/>
          </a:p>
        </p:txBody>
      </p:sp>
      <p:sp>
        <p:nvSpPr>
          <p:cNvPr id="6" name="TextBox 5"/>
          <p:cNvSpPr txBox="1"/>
          <p:nvPr/>
        </p:nvSpPr>
        <p:spPr>
          <a:xfrm>
            <a:off x="500063" y="3906838"/>
            <a:ext cx="8358188" cy="2308225"/>
          </a:xfrm>
          <a:prstGeom prst="rect">
            <a:avLst/>
          </a:prstGeom>
          <a:noFill/>
        </p:spPr>
        <p:txBody>
          <a:bodyPr>
            <a:spAutoFit/>
          </a:bodyPr>
          <a:lstStyle/>
          <a:p>
            <a:pPr marL="262255" marR="0" indent="-262255" defTabSz="914400">
              <a:buClrTx/>
              <a:buSzTx/>
              <a:buFontTx/>
              <a:buNone/>
              <a:defRPr/>
            </a:pP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解：</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、用到的模块：</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PC</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IM</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Registers</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MUX</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ALU</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DM</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Add</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Control</a:t>
            </a:r>
            <a:endPar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endParaRPr>
          </a:p>
          <a:p>
            <a:pPr marL="262255" marR="0" indent="-262255" defTabSz="914400">
              <a:buClrTx/>
              <a:buSzTx/>
              <a:buFontTx/>
              <a:buNone/>
              <a:defRPr/>
            </a:pP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、需要在</a:t>
            </a:r>
            <a:r>
              <a:rPr kumimoji="0" lang="en-US" altLang="zh-CN" sz="24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Registers</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模块前增加</a:t>
            </a:r>
            <a:r>
              <a:rPr kumimoji="0" lang="en-US" altLang="zh-CN" sz="24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个地址选择</a:t>
            </a:r>
            <a:r>
              <a:rPr kumimoji="0" lang="en-US" altLang="zh-CN" sz="24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MUX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模块</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兰色标记</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262255" marR="0" indent="-262255" defTabSz="914400">
              <a:buClrTx/>
              <a:buSzTx/>
              <a:buFontTx/>
              <a:buNone/>
              <a:defRPr/>
            </a:pP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3</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、对增加的</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MUX </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模块需要提供选择控制信号</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SRegDst(</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红色标记</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a:t>
            </a:r>
            <a:endPar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5" name="TextBox 4"/>
          <p:cNvSpPr txBox="1"/>
          <p:nvPr/>
        </p:nvSpPr>
        <p:spPr>
          <a:xfrm>
            <a:off x="571500" y="1214438"/>
            <a:ext cx="8286750" cy="2676525"/>
          </a:xfrm>
          <a:prstGeom prst="rect">
            <a:avLst/>
          </a:prstGeom>
          <a:noFill/>
        </p:spPr>
        <p:txBody>
          <a:bodyPr>
            <a:spAutoFit/>
          </a:bodyPr>
          <a:lstStyle/>
          <a:p>
            <a:pPr marR="0" defTabSz="914400">
              <a:buClrTx/>
              <a:buSzTx/>
              <a:buFontTx/>
              <a:buNone/>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例</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：在基本单周期</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MIPS</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数据通路上，考虑增加如下指令：</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LWI  Rt, Rd(Rs)</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，含义是：</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Mem[Reg[Rs] +Reg[Rd]] →Reg[Rt]</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若实现上述指令，在下图所示的</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单周期数据通路中，用到什么模块？</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为了执行该指令，需要增加什么功能模块？</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控制部件设计还需要增加什么新的控制信号？</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b" anchorCtr="0"/>
          <a:p>
            <a:pPr eaLnBrk="1" hangingPunct="1"/>
            <a:r>
              <a:rPr lang="zh-CN" altLang="en-US" dirty="0"/>
              <a:t>数据通路设计实例</a:t>
            </a:r>
            <a:endParaRPr lang="zh-CN" altLang="en-US" dirty="0"/>
          </a:p>
        </p:txBody>
      </p:sp>
      <p:grpSp>
        <p:nvGrpSpPr>
          <p:cNvPr id="11267" name="Group 25"/>
          <p:cNvGrpSpPr/>
          <p:nvPr/>
        </p:nvGrpSpPr>
        <p:grpSpPr>
          <a:xfrm>
            <a:off x="4929188" y="3436938"/>
            <a:ext cx="457200" cy="1135062"/>
            <a:chOff x="3168" y="2365"/>
            <a:chExt cx="288" cy="715"/>
          </a:xfrm>
        </p:grpSpPr>
        <p:sp>
          <p:nvSpPr>
            <p:cNvPr id="11403" name="Line 26"/>
            <p:cNvSpPr/>
            <p:nvPr/>
          </p:nvSpPr>
          <p:spPr>
            <a:xfrm>
              <a:off x="3168" y="2365"/>
              <a:ext cx="0" cy="166"/>
            </a:xfrm>
            <a:prstGeom prst="line">
              <a:avLst/>
            </a:prstGeom>
            <a:ln w="25400" cap="flat" cmpd="sng">
              <a:solidFill>
                <a:schemeClr val="tx1"/>
              </a:solidFill>
              <a:prstDash val="solid"/>
              <a:headEnd type="none" w="med" len="med"/>
              <a:tailEnd type="none" w="med" len="med"/>
            </a:ln>
          </p:spPr>
        </p:sp>
        <p:sp>
          <p:nvSpPr>
            <p:cNvPr id="11404" name="Line 27"/>
            <p:cNvSpPr/>
            <p:nvPr/>
          </p:nvSpPr>
          <p:spPr>
            <a:xfrm>
              <a:off x="3176" y="2379"/>
              <a:ext cx="272" cy="166"/>
            </a:xfrm>
            <a:prstGeom prst="line">
              <a:avLst/>
            </a:prstGeom>
            <a:ln w="25400" cap="flat" cmpd="sng">
              <a:solidFill>
                <a:schemeClr val="tx1"/>
              </a:solidFill>
              <a:prstDash val="solid"/>
              <a:headEnd type="none" w="med" len="med"/>
              <a:tailEnd type="none" w="med" len="med"/>
            </a:ln>
          </p:spPr>
        </p:sp>
        <p:sp>
          <p:nvSpPr>
            <p:cNvPr id="11405" name="Line 28"/>
            <p:cNvSpPr/>
            <p:nvPr/>
          </p:nvSpPr>
          <p:spPr>
            <a:xfrm>
              <a:off x="3176" y="2547"/>
              <a:ext cx="128" cy="76"/>
            </a:xfrm>
            <a:prstGeom prst="line">
              <a:avLst/>
            </a:prstGeom>
            <a:ln w="25400" cap="flat" cmpd="sng">
              <a:solidFill>
                <a:schemeClr val="tx1"/>
              </a:solidFill>
              <a:prstDash val="solid"/>
              <a:headEnd type="none" w="med" len="med"/>
              <a:tailEnd type="none" w="med" len="med"/>
            </a:ln>
          </p:spPr>
        </p:sp>
        <p:sp>
          <p:nvSpPr>
            <p:cNvPr id="11406" name="Line 29"/>
            <p:cNvSpPr/>
            <p:nvPr/>
          </p:nvSpPr>
          <p:spPr>
            <a:xfrm>
              <a:off x="3312" y="2639"/>
              <a:ext cx="0" cy="166"/>
            </a:xfrm>
            <a:prstGeom prst="line">
              <a:avLst/>
            </a:prstGeom>
            <a:ln w="25400" cap="flat" cmpd="sng">
              <a:solidFill>
                <a:schemeClr val="tx1"/>
              </a:solidFill>
              <a:prstDash val="solid"/>
              <a:headEnd type="none" w="med" len="med"/>
              <a:tailEnd type="none" w="med" len="med"/>
            </a:ln>
          </p:spPr>
        </p:sp>
        <p:sp>
          <p:nvSpPr>
            <p:cNvPr id="11407" name="Line 30"/>
            <p:cNvSpPr/>
            <p:nvPr/>
          </p:nvSpPr>
          <p:spPr>
            <a:xfrm>
              <a:off x="3456" y="2547"/>
              <a:ext cx="0" cy="349"/>
            </a:xfrm>
            <a:prstGeom prst="line">
              <a:avLst/>
            </a:prstGeom>
            <a:ln w="25400" cap="flat" cmpd="sng">
              <a:solidFill>
                <a:schemeClr val="tx1"/>
              </a:solidFill>
              <a:prstDash val="solid"/>
              <a:headEnd type="none" w="med" len="med"/>
              <a:tailEnd type="none" w="med" len="med"/>
            </a:ln>
          </p:spPr>
        </p:sp>
        <p:sp>
          <p:nvSpPr>
            <p:cNvPr id="11408" name="Line 31"/>
            <p:cNvSpPr/>
            <p:nvPr/>
          </p:nvSpPr>
          <p:spPr>
            <a:xfrm flipV="1">
              <a:off x="3176" y="2805"/>
              <a:ext cx="128" cy="107"/>
            </a:xfrm>
            <a:prstGeom prst="line">
              <a:avLst/>
            </a:prstGeom>
            <a:ln w="25400" cap="flat" cmpd="sng">
              <a:solidFill>
                <a:schemeClr val="tx1"/>
              </a:solidFill>
              <a:prstDash val="solid"/>
              <a:headEnd type="none" w="med" len="med"/>
              <a:tailEnd type="none" w="med" len="med"/>
            </a:ln>
          </p:spPr>
        </p:sp>
        <p:sp>
          <p:nvSpPr>
            <p:cNvPr id="11409" name="Line 32"/>
            <p:cNvSpPr/>
            <p:nvPr/>
          </p:nvSpPr>
          <p:spPr>
            <a:xfrm>
              <a:off x="3168" y="2912"/>
              <a:ext cx="0" cy="166"/>
            </a:xfrm>
            <a:prstGeom prst="line">
              <a:avLst/>
            </a:prstGeom>
            <a:ln w="25400" cap="flat" cmpd="sng">
              <a:solidFill>
                <a:schemeClr val="tx1"/>
              </a:solidFill>
              <a:prstDash val="solid"/>
              <a:headEnd type="none" w="med" len="med"/>
              <a:tailEnd type="none" w="med" len="med"/>
            </a:ln>
          </p:spPr>
        </p:sp>
        <p:sp>
          <p:nvSpPr>
            <p:cNvPr id="11410" name="Line 33"/>
            <p:cNvSpPr/>
            <p:nvPr/>
          </p:nvSpPr>
          <p:spPr>
            <a:xfrm flipV="1">
              <a:off x="3176" y="2882"/>
              <a:ext cx="272" cy="198"/>
            </a:xfrm>
            <a:prstGeom prst="line">
              <a:avLst/>
            </a:prstGeom>
            <a:ln w="25400" cap="flat" cmpd="sng">
              <a:solidFill>
                <a:schemeClr val="tx1"/>
              </a:solidFill>
              <a:prstDash val="solid"/>
              <a:headEnd type="none" w="med" len="med"/>
              <a:tailEnd type="none" w="med" len="med"/>
            </a:ln>
          </p:spPr>
        </p:sp>
      </p:grpSp>
      <p:sp>
        <p:nvSpPr>
          <p:cNvPr id="11268" name="Line 34"/>
          <p:cNvSpPr/>
          <p:nvPr/>
        </p:nvSpPr>
        <p:spPr>
          <a:xfrm flipH="1">
            <a:off x="5373688" y="3965575"/>
            <a:ext cx="2311400" cy="0"/>
          </a:xfrm>
          <a:prstGeom prst="line">
            <a:avLst/>
          </a:prstGeom>
          <a:ln w="25400" cap="flat" cmpd="sng">
            <a:solidFill>
              <a:schemeClr val="tx1"/>
            </a:solidFill>
            <a:prstDash val="solid"/>
            <a:headEnd type="triangle" w="med" len="med"/>
            <a:tailEnd type="none" w="med" len="med"/>
          </a:ln>
        </p:spPr>
      </p:sp>
      <p:sp>
        <p:nvSpPr>
          <p:cNvPr id="11269" name="Line 35"/>
          <p:cNvSpPr/>
          <p:nvPr/>
        </p:nvSpPr>
        <p:spPr>
          <a:xfrm flipH="1">
            <a:off x="5807075" y="3902075"/>
            <a:ext cx="88900" cy="131763"/>
          </a:xfrm>
          <a:prstGeom prst="line">
            <a:avLst/>
          </a:prstGeom>
          <a:ln w="12700" cap="flat" cmpd="sng">
            <a:solidFill>
              <a:schemeClr val="tx1"/>
            </a:solidFill>
            <a:prstDash val="solid"/>
            <a:headEnd type="none" w="med" len="med"/>
            <a:tailEnd type="none" w="med" len="med"/>
          </a:ln>
        </p:spPr>
      </p:sp>
      <p:sp>
        <p:nvSpPr>
          <p:cNvPr id="11270" name="Rectangle 36"/>
          <p:cNvSpPr/>
          <p:nvPr/>
        </p:nvSpPr>
        <p:spPr>
          <a:xfrm>
            <a:off x="5781675" y="3897313"/>
            <a:ext cx="414338" cy="366712"/>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32</a:t>
            </a:r>
            <a:endParaRPr lang="zh-CN" altLang="en-US" b="1" dirty="0">
              <a:latin typeface="Times New Roman" panose="02020603050405020304" pitchFamily="18" charset="0"/>
            </a:endParaRPr>
          </a:p>
        </p:txBody>
      </p:sp>
      <p:sp>
        <p:nvSpPr>
          <p:cNvPr id="11271" name="Line 37"/>
          <p:cNvSpPr/>
          <p:nvPr/>
        </p:nvSpPr>
        <p:spPr>
          <a:xfrm>
            <a:off x="5157788" y="3148013"/>
            <a:ext cx="0" cy="407987"/>
          </a:xfrm>
          <a:prstGeom prst="line">
            <a:avLst/>
          </a:prstGeom>
          <a:ln w="25400" cap="flat" cmpd="sng">
            <a:solidFill>
              <a:schemeClr val="tx1"/>
            </a:solidFill>
            <a:prstDash val="solid"/>
            <a:headEnd type="none" w="med" len="med"/>
            <a:tailEnd type="triangle" w="med" len="med"/>
          </a:ln>
        </p:spPr>
      </p:sp>
      <p:sp>
        <p:nvSpPr>
          <p:cNvPr id="11272" name="Rectangle 38"/>
          <p:cNvSpPr/>
          <p:nvPr/>
        </p:nvSpPr>
        <p:spPr>
          <a:xfrm>
            <a:off x="4572000" y="2827338"/>
            <a:ext cx="1162050" cy="396875"/>
          </a:xfrm>
          <a:prstGeom prst="rect">
            <a:avLst/>
          </a:prstGeom>
          <a:noFill/>
          <a:ln w="12700">
            <a:noFill/>
          </a:ln>
        </p:spPr>
        <p:txBody>
          <a:bodyPr lIns="90488" tIns="44450" rIns="90488" bIns="44450">
            <a:spAutoFit/>
          </a:bodyPr>
          <a:p>
            <a:pPr eaLnBrk="0" hangingPunct="0"/>
            <a:r>
              <a:rPr lang="en-US" altLang="zh-CN" b="1" dirty="0">
                <a:solidFill>
                  <a:srgbClr val="A50021"/>
                </a:solidFill>
                <a:latin typeface="Times New Roman" panose="02020603050405020304" pitchFamily="18" charset="0"/>
              </a:rPr>
              <a:t>ALUctr</a:t>
            </a:r>
            <a:endParaRPr lang="en-US" altLang="zh-CN" b="1" dirty="0">
              <a:solidFill>
                <a:srgbClr val="A50021"/>
              </a:solidFill>
              <a:latin typeface="Times New Roman" panose="02020603050405020304" pitchFamily="18" charset="0"/>
            </a:endParaRPr>
          </a:p>
        </p:txBody>
      </p:sp>
      <p:sp>
        <p:nvSpPr>
          <p:cNvPr id="11273" name="Rectangle 39"/>
          <p:cNvSpPr/>
          <p:nvPr/>
        </p:nvSpPr>
        <p:spPr>
          <a:xfrm>
            <a:off x="900113" y="4051300"/>
            <a:ext cx="541337" cy="366713"/>
          </a:xfrm>
          <a:prstGeom prst="rect">
            <a:avLst/>
          </a:prstGeom>
          <a:noFill/>
          <a:ln w="12700">
            <a:noFill/>
          </a:ln>
        </p:spPr>
        <p:txBody>
          <a:bodyPr wrap="none" lIns="90488" tIns="44450" rIns="90488" bIns="44450">
            <a:spAutoFit/>
          </a:bodyPr>
          <a:p>
            <a:pPr eaLnBrk="0" hangingPunct="0"/>
            <a:r>
              <a:rPr lang="en-US" altLang="zh-CN" b="1" dirty="0">
                <a:solidFill>
                  <a:srgbClr val="3333FF"/>
                </a:solidFill>
                <a:latin typeface="Times New Roman" panose="02020603050405020304" pitchFamily="18" charset="0"/>
              </a:rPr>
              <a:t>Clk</a:t>
            </a:r>
            <a:endParaRPr lang="en-US" altLang="zh-CN" b="1" dirty="0">
              <a:solidFill>
                <a:srgbClr val="3333FF"/>
              </a:solidFill>
              <a:latin typeface="Times New Roman" panose="02020603050405020304" pitchFamily="18" charset="0"/>
            </a:endParaRPr>
          </a:p>
        </p:txBody>
      </p:sp>
      <p:sp>
        <p:nvSpPr>
          <p:cNvPr id="11274" name="Rectangle 40"/>
          <p:cNvSpPr/>
          <p:nvPr/>
        </p:nvSpPr>
        <p:spPr>
          <a:xfrm>
            <a:off x="571500" y="3567113"/>
            <a:ext cx="760413" cy="366712"/>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busW</a:t>
            </a:r>
            <a:endParaRPr lang="en-US" altLang="zh-CN" b="1" dirty="0">
              <a:latin typeface="Times New Roman" panose="02020603050405020304" pitchFamily="18" charset="0"/>
            </a:endParaRPr>
          </a:p>
        </p:txBody>
      </p:sp>
      <p:sp>
        <p:nvSpPr>
          <p:cNvPr id="11275" name="Rectangle 41"/>
          <p:cNvSpPr/>
          <p:nvPr/>
        </p:nvSpPr>
        <p:spPr>
          <a:xfrm>
            <a:off x="1655763" y="3436938"/>
            <a:ext cx="1431925" cy="1150937"/>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b="1" dirty="0">
              <a:latin typeface="Arial" panose="020B0604020202020204" pitchFamily="34" charset="0"/>
            </a:endParaRPr>
          </a:p>
        </p:txBody>
      </p:sp>
      <p:sp>
        <p:nvSpPr>
          <p:cNvPr id="11276" name="Line 42"/>
          <p:cNvSpPr/>
          <p:nvPr/>
        </p:nvSpPr>
        <p:spPr>
          <a:xfrm>
            <a:off x="1647825" y="4346575"/>
            <a:ext cx="171450" cy="87313"/>
          </a:xfrm>
          <a:prstGeom prst="line">
            <a:avLst/>
          </a:prstGeom>
          <a:ln w="25400" cap="flat" cmpd="sng">
            <a:solidFill>
              <a:schemeClr val="tx1"/>
            </a:solidFill>
            <a:prstDash val="solid"/>
            <a:headEnd type="none" w="med" len="med"/>
            <a:tailEnd type="none" w="med" len="med"/>
          </a:ln>
        </p:spPr>
      </p:sp>
      <p:sp>
        <p:nvSpPr>
          <p:cNvPr id="11277" name="Line 43"/>
          <p:cNvSpPr/>
          <p:nvPr/>
        </p:nvSpPr>
        <p:spPr>
          <a:xfrm flipH="1">
            <a:off x="1668463" y="4437063"/>
            <a:ext cx="150812" cy="101600"/>
          </a:xfrm>
          <a:prstGeom prst="line">
            <a:avLst/>
          </a:prstGeom>
          <a:ln w="25400" cap="flat" cmpd="sng">
            <a:solidFill>
              <a:schemeClr val="tx1"/>
            </a:solidFill>
            <a:prstDash val="solid"/>
            <a:headEnd type="none" w="med" len="med"/>
            <a:tailEnd type="none" w="med" len="med"/>
          </a:ln>
        </p:spPr>
      </p:sp>
      <p:sp>
        <p:nvSpPr>
          <p:cNvPr id="11278" name="Oval 44"/>
          <p:cNvSpPr/>
          <p:nvPr/>
        </p:nvSpPr>
        <p:spPr>
          <a:xfrm>
            <a:off x="1503363" y="4364038"/>
            <a:ext cx="127000" cy="119062"/>
          </a:xfrm>
          <a:prstGeom prst="ellipse">
            <a:avLst/>
          </a:prstGeom>
          <a:noFill/>
          <a:ln w="25400" cap="flat" cmpd="sng">
            <a:solidFill>
              <a:schemeClr val="tx1"/>
            </a:solidFill>
            <a:prstDash val="solid"/>
            <a:headEnd type="none" w="med" len="med"/>
            <a:tailEnd type="none" w="med" len="med"/>
          </a:ln>
        </p:spPr>
        <p:txBody>
          <a:bodyPr wrap="none" anchor="ctr" anchorCtr="0"/>
          <a:p>
            <a:endParaRPr lang="zh-CN" altLang="en-US" b="1" dirty="0">
              <a:latin typeface="Arial" panose="020B0604020202020204" pitchFamily="34" charset="0"/>
            </a:endParaRPr>
          </a:p>
        </p:txBody>
      </p:sp>
      <p:sp>
        <p:nvSpPr>
          <p:cNvPr id="11279" name="Rectangle 45"/>
          <p:cNvSpPr/>
          <p:nvPr/>
        </p:nvSpPr>
        <p:spPr>
          <a:xfrm>
            <a:off x="1042988" y="2865438"/>
            <a:ext cx="976312" cy="396875"/>
          </a:xfrm>
          <a:prstGeom prst="rect">
            <a:avLst/>
          </a:prstGeom>
          <a:noFill/>
          <a:ln w="12700">
            <a:noFill/>
          </a:ln>
        </p:spPr>
        <p:txBody>
          <a:bodyPr wrap="none" lIns="90488" tIns="44450" rIns="90488" bIns="44450">
            <a:spAutoFit/>
          </a:bodyPr>
          <a:p>
            <a:pPr eaLnBrk="0" hangingPunct="0"/>
            <a:r>
              <a:rPr lang="en-US" altLang="zh-CN" b="1" dirty="0">
                <a:solidFill>
                  <a:srgbClr val="A50021"/>
                </a:solidFill>
                <a:latin typeface="Times New Roman" panose="02020603050405020304" pitchFamily="18" charset="0"/>
              </a:rPr>
              <a:t>RegWr</a:t>
            </a:r>
            <a:endParaRPr lang="en-US" altLang="zh-CN" b="1" dirty="0">
              <a:solidFill>
                <a:srgbClr val="A50021"/>
              </a:solidFill>
              <a:latin typeface="Times New Roman" panose="02020603050405020304" pitchFamily="18" charset="0"/>
            </a:endParaRPr>
          </a:p>
        </p:txBody>
      </p:sp>
      <p:sp>
        <p:nvSpPr>
          <p:cNvPr id="11280" name="Line 46"/>
          <p:cNvSpPr/>
          <p:nvPr/>
        </p:nvSpPr>
        <p:spPr>
          <a:xfrm flipH="1">
            <a:off x="649288" y="3930650"/>
            <a:ext cx="1016000" cy="0"/>
          </a:xfrm>
          <a:prstGeom prst="line">
            <a:avLst/>
          </a:prstGeom>
          <a:ln w="25400" cap="flat" cmpd="sng">
            <a:solidFill>
              <a:schemeClr val="tx1"/>
            </a:solidFill>
            <a:prstDash val="solid"/>
            <a:headEnd type="triangle" w="med" len="med"/>
            <a:tailEnd type="none" w="med" len="med"/>
          </a:ln>
        </p:spPr>
      </p:sp>
      <p:sp>
        <p:nvSpPr>
          <p:cNvPr id="11281" name="Line 47"/>
          <p:cNvSpPr/>
          <p:nvPr/>
        </p:nvSpPr>
        <p:spPr>
          <a:xfrm flipH="1">
            <a:off x="1189038" y="3865563"/>
            <a:ext cx="88900" cy="131762"/>
          </a:xfrm>
          <a:prstGeom prst="line">
            <a:avLst/>
          </a:prstGeom>
          <a:ln w="12700" cap="flat" cmpd="sng">
            <a:solidFill>
              <a:schemeClr val="tx1"/>
            </a:solidFill>
            <a:prstDash val="solid"/>
            <a:headEnd type="none" w="med" len="med"/>
            <a:tailEnd type="none" w="med" len="med"/>
          </a:ln>
        </p:spPr>
      </p:sp>
      <p:sp>
        <p:nvSpPr>
          <p:cNvPr id="11282" name="Rectangle 48"/>
          <p:cNvSpPr/>
          <p:nvPr/>
        </p:nvSpPr>
        <p:spPr>
          <a:xfrm>
            <a:off x="1149350" y="3871913"/>
            <a:ext cx="414338" cy="366712"/>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32</a:t>
            </a:r>
            <a:endParaRPr lang="zh-CN" altLang="en-US" b="1" dirty="0">
              <a:latin typeface="Times New Roman" panose="02020603050405020304" pitchFamily="18" charset="0"/>
            </a:endParaRPr>
          </a:p>
        </p:txBody>
      </p:sp>
      <p:sp>
        <p:nvSpPr>
          <p:cNvPr id="11283" name="Line 49"/>
          <p:cNvSpPr/>
          <p:nvPr/>
        </p:nvSpPr>
        <p:spPr>
          <a:xfrm>
            <a:off x="3113088" y="3568700"/>
            <a:ext cx="1803400" cy="0"/>
          </a:xfrm>
          <a:prstGeom prst="line">
            <a:avLst/>
          </a:prstGeom>
          <a:ln w="25400" cap="flat" cmpd="sng">
            <a:solidFill>
              <a:schemeClr val="tx1"/>
            </a:solidFill>
            <a:prstDash val="solid"/>
            <a:headEnd type="none" w="med" len="med"/>
            <a:tailEnd type="triangle" w="med" len="med"/>
          </a:ln>
        </p:spPr>
      </p:sp>
      <p:sp>
        <p:nvSpPr>
          <p:cNvPr id="11284" name="Line 50"/>
          <p:cNvSpPr/>
          <p:nvPr/>
        </p:nvSpPr>
        <p:spPr>
          <a:xfrm flipH="1">
            <a:off x="4084638" y="3503613"/>
            <a:ext cx="88900" cy="131762"/>
          </a:xfrm>
          <a:prstGeom prst="line">
            <a:avLst/>
          </a:prstGeom>
          <a:ln w="12700" cap="flat" cmpd="sng">
            <a:solidFill>
              <a:schemeClr val="tx1"/>
            </a:solidFill>
            <a:prstDash val="solid"/>
            <a:headEnd type="none" w="med" len="med"/>
            <a:tailEnd type="none" w="med" len="med"/>
          </a:ln>
        </p:spPr>
      </p:sp>
      <p:sp>
        <p:nvSpPr>
          <p:cNvPr id="11285" name="Rectangle 51"/>
          <p:cNvSpPr/>
          <p:nvPr/>
        </p:nvSpPr>
        <p:spPr>
          <a:xfrm>
            <a:off x="4067175" y="3500438"/>
            <a:ext cx="414338" cy="366712"/>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32</a:t>
            </a:r>
            <a:endParaRPr lang="zh-CN" altLang="en-US" b="1" dirty="0">
              <a:latin typeface="Times New Roman" panose="02020603050405020304" pitchFamily="18" charset="0"/>
            </a:endParaRPr>
          </a:p>
        </p:txBody>
      </p:sp>
      <p:sp>
        <p:nvSpPr>
          <p:cNvPr id="11286" name="Rectangle 52"/>
          <p:cNvSpPr/>
          <p:nvPr/>
        </p:nvSpPr>
        <p:spPr>
          <a:xfrm>
            <a:off x="3132138" y="3187700"/>
            <a:ext cx="695325"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busA</a:t>
            </a:r>
            <a:endParaRPr lang="en-US" altLang="zh-CN" b="1" dirty="0">
              <a:latin typeface="Times New Roman" panose="02020603050405020304" pitchFamily="18" charset="0"/>
            </a:endParaRPr>
          </a:p>
        </p:txBody>
      </p:sp>
      <p:sp>
        <p:nvSpPr>
          <p:cNvPr id="11287" name="Line 53"/>
          <p:cNvSpPr/>
          <p:nvPr/>
        </p:nvSpPr>
        <p:spPr>
          <a:xfrm flipV="1">
            <a:off x="1804988" y="3194050"/>
            <a:ext cx="0" cy="242888"/>
          </a:xfrm>
          <a:prstGeom prst="line">
            <a:avLst/>
          </a:prstGeom>
          <a:ln w="25400" cap="flat" cmpd="sng">
            <a:solidFill>
              <a:schemeClr val="tx1"/>
            </a:solidFill>
            <a:prstDash val="solid"/>
            <a:headEnd type="none" w="med" len="med"/>
            <a:tailEnd type="none" w="med" len="med"/>
          </a:ln>
        </p:spPr>
      </p:sp>
      <p:sp>
        <p:nvSpPr>
          <p:cNvPr id="11288" name="Line 54"/>
          <p:cNvSpPr/>
          <p:nvPr/>
        </p:nvSpPr>
        <p:spPr>
          <a:xfrm>
            <a:off x="3113088" y="4437063"/>
            <a:ext cx="965200" cy="0"/>
          </a:xfrm>
          <a:prstGeom prst="line">
            <a:avLst/>
          </a:prstGeom>
          <a:ln w="25400" cap="flat" cmpd="sng">
            <a:solidFill>
              <a:schemeClr val="tx1"/>
            </a:solidFill>
            <a:prstDash val="solid"/>
            <a:headEnd type="none" w="med" len="med"/>
            <a:tailEnd type="triangle" w="med" len="med"/>
          </a:ln>
        </p:spPr>
      </p:sp>
      <p:sp>
        <p:nvSpPr>
          <p:cNvPr id="11289" name="Line 55"/>
          <p:cNvSpPr/>
          <p:nvPr/>
        </p:nvSpPr>
        <p:spPr>
          <a:xfrm flipH="1">
            <a:off x="3627438" y="4371975"/>
            <a:ext cx="88900" cy="131763"/>
          </a:xfrm>
          <a:prstGeom prst="line">
            <a:avLst/>
          </a:prstGeom>
          <a:ln w="12700" cap="flat" cmpd="sng">
            <a:solidFill>
              <a:schemeClr val="tx1"/>
            </a:solidFill>
            <a:prstDash val="solid"/>
            <a:headEnd type="none" w="med" len="med"/>
            <a:tailEnd type="none" w="med" len="med"/>
          </a:ln>
        </p:spPr>
      </p:sp>
      <p:sp>
        <p:nvSpPr>
          <p:cNvPr id="11290" name="Rectangle 56"/>
          <p:cNvSpPr/>
          <p:nvPr/>
        </p:nvSpPr>
        <p:spPr>
          <a:xfrm>
            <a:off x="3586163" y="4365625"/>
            <a:ext cx="414337" cy="366713"/>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32</a:t>
            </a:r>
            <a:endParaRPr lang="zh-CN" altLang="en-US" b="1" dirty="0">
              <a:latin typeface="Times New Roman" panose="02020603050405020304" pitchFamily="18" charset="0"/>
            </a:endParaRPr>
          </a:p>
        </p:txBody>
      </p:sp>
      <p:sp>
        <p:nvSpPr>
          <p:cNvPr id="11291" name="Rectangle 57"/>
          <p:cNvSpPr/>
          <p:nvPr/>
        </p:nvSpPr>
        <p:spPr>
          <a:xfrm>
            <a:off x="3132138" y="4089400"/>
            <a:ext cx="682625"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busB</a:t>
            </a:r>
            <a:endParaRPr lang="en-US" altLang="zh-CN" b="1" dirty="0">
              <a:latin typeface="Times New Roman" panose="02020603050405020304" pitchFamily="18" charset="0"/>
            </a:endParaRPr>
          </a:p>
        </p:txBody>
      </p:sp>
      <p:sp>
        <p:nvSpPr>
          <p:cNvPr id="11292" name="Line 59"/>
          <p:cNvSpPr/>
          <p:nvPr/>
        </p:nvSpPr>
        <p:spPr>
          <a:xfrm>
            <a:off x="2109788" y="2786063"/>
            <a:ext cx="0" cy="625475"/>
          </a:xfrm>
          <a:prstGeom prst="line">
            <a:avLst/>
          </a:prstGeom>
          <a:ln w="25400" cap="flat" cmpd="sng">
            <a:solidFill>
              <a:schemeClr val="tx1"/>
            </a:solidFill>
            <a:prstDash val="solid"/>
            <a:headEnd type="none" w="med" len="med"/>
            <a:tailEnd type="none" w="med" len="med"/>
          </a:ln>
        </p:spPr>
      </p:sp>
      <p:sp>
        <p:nvSpPr>
          <p:cNvPr id="11293" name="Line 60"/>
          <p:cNvSpPr/>
          <p:nvPr/>
        </p:nvSpPr>
        <p:spPr>
          <a:xfrm flipV="1">
            <a:off x="2039938" y="3128963"/>
            <a:ext cx="139700" cy="157162"/>
          </a:xfrm>
          <a:prstGeom prst="line">
            <a:avLst/>
          </a:prstGeom>
          <a:ln w="12700" cap="flat" cmpd="sng">
            <a:solidFill>
              <a:schemeClr val="tx1"/>
            </a:solidFill>
            <a:prstDash val="solid"/>
            <a:headEnd type="none" w="med" len="med"/>
            <a:tailEnd type="none" w="med" len="med"/>
          </a:ln>
        </p:spPr>
      </p:sp>
      <p:sp>
        <p:nvSpPr>
          <p:cNvPr id="11294" name="Rectangle 61"/>
          <p:cNvSpPr/>
          <p:nvPr/>
        </p:nvSpPr>
        <p:spPr>
          <a:xfrm>
            <a:off x="1866900" y="2987675"/>
            <a:ext cx="298450" cy="366713"/>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5</a:t>
            </a:r>
            <a:endParaRPr lang="zh-CN" altLang="en-US" b="1" dirty="0">
              <a:latin typeface="Times New Roman" panose="02020603050405020304" pitchFamily="18" charset="0"/>
            </a:endParaRPr>
          </a:p>
        </p:txBody>
      </p:sp>
      <p:sp>
        <p:nvSpPr>
          <p:cNvPr id="11295" name="Line 62"/>
          <p:cNvSpPr/>
          <p:nvPr/>
        </p:nvSpPr>
        <p:spPr>
          <a:xfrm>
            <a:off x="2560638" y="3003550"/>
            <a:ext cx="0" cy="407988"/>
          </a:xfrm>
          <a:prstGeom prst="line">
            <a:avLst/>
          </a:prstGeom>
          <a:ln w="25400" cap="flat" cmpd="sng">
            <a:solidFill>
              <a:schemeClr val="tx1"/>
            </a:solidFill>
            <a:prstDash val="solid"/>
            <a:headEnd type="none" w="med" len="med"/>
            <a:tailEnd type="none" w="med" len="med"/>
          </a:ln>
        </p:spPr>
      </p:sp>
      <p:sp>
        <p:nvSpPr>
          <p:cNvPr id="11296" name="Line 63"/>
          <p:cNvSpPr/>
          <p:nvPr/>
        </p:nvSpPr>
        <p:spPr>
          <a:xfrm flipV="1">
            <a:off x="2478088" y="3128963"/>
            <a:ext cx="139700" cy="157162"/>
          </a:xfrm>
          <a:prstGeom prst="line">
            <a:avLst/>
          </a:prstGeom>
          <a:ln w="12700" cap="flat" cmpd="sng">
            <a:solidFill>
              <a:schemeClr val="tx1"/>
            </a:solidFill>
            <a:prstDash val="solid"/>
            <a:headEnd type="none" w="med" len="med"/>
            <a:tailEnd type="none" w="med" len="med"/>
          </a:ln>
        </p:spPr>
      </p:sp>
      <p:sp>
        <p:nvSpPr>
          <p:cNvPr id="11297" name="Rectangle 64"/>
          <p:cNvSpPr/>
          <p:nvPr/>
        </p:nvSpPr>
        <p:spPr>
          <a:xfrm>
            <a:off x="2317750" y="2974975"/>
            <a:ext cx="298450" cy="366713"/>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5</a:t>
            </a:r>
            <a:endParaRPr lang="zh-CN" altLang="en-US" b="1" dirty="0">
              <a:latin typeface="Times New Roman" panose="02020603050405020304" pitchFamily="18" charset="0"/>
            </a:endParaRPr>
          </a:p>
        </p:txBody>
      </p:sp>
      <p:sp>
        <p:nvSpPr>
          <p:cNvPr id="11298" name="Line 65"/>
          <p:cNvSpPr/>
          <p:nvPr/>
        </p:nvSpPr>
        <p:spPr>
          <a:xfrm>
            <a:off x="2947988" y="3003550"/>
            <a:ext cx="0" cy="407988"/>
          </a:xfrm>
          <a:prstGeom prst="line">
            <a:avLst/>
          </a:prstGeom>
          <a:ln w="25400" cap="flat" cmpd="sng">
            <a:solidFill>
              <a:schemeClr val="tx1"/>
            </a:solidFill>
            <a:prstDash val="solid"/>
            <a:headEnd type="none" w="med" len="med"/>
            <a:tailEnd type="none" w="med" len="med"/>
          </a:ln>
        </p:spPr>
      </p:sp>
      <p:sp>
        <p:nvSpPr>
          <p:cNvPr id="11299" name="Line 66"/>
          <p:cNvSpPr/>
          <p:nvPr/>
        </p:nvSpPr>
        <p:spPr>
          <a:xfrm flipV="1">
            <a:off x="2878138" y="3128963"/>
            <a:ext cx="139700" cy="157162"/>
          </a:xfrm>
          <a:prstGeom prst="line">
            <a:avLst/>
          </a:prstGeom>
          <a:ln w="12700" cap="flat" cmpd="sng">
            <a:solidFill>
              <a:schemeClr val="tx1"/>
            </a:solidFill>
            <a:prstDash val="solid"/>
            <a:headEnd type="none" w="med" len="med"/>
            <a:tailEnd type="none" w="med" len="med"/>
          </a:ln>
        </p:spPr>
      </p:sp>
      <p:sp>
        <p:nvSpPr>
          <p:cNvPr id="11300" name="Rectangle 67"/>
          <p:cNvSpPr/>
          <p:nvPr/>
        </p:nvSpPr>
        <p:spPr>
          <a:xfrm>
            <a:off x="2705100" y="2987675"/>
            <a:ext cx="298450" cy="366713"/>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5</a:t>
            </a:r>
            <a:endParaRPr lang="zh-CN" altLang="en-US" b="1" dirty="0">
              <a:latin typeface="Times New Roman" panose="02020603050405020304" pitchFamily="18" charset="0"/>
            </a:endParaRPr>
          </a:p>
        </p:txBody>
      </p:sp>
      <p:sp>
        <p:nvSpPr>
          <p:cNvPr id="11301" name="Rectangle 68"/>
          <p:cNvSpPr/>
          <p:nvPr/>
        </p:nvSpPr>
        <p:spPr>
          <a:xfrm>
            <a:off x="1785938" y="3422650"/>
            <a:ext cx="515937"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Rw</a:t>
            </a:r>
            <a:endParaRPr lang="en-US" altLang="zh-CN" b="1" dirty="0">
              <a:latin typeface="Times New Roman" panose="02020603050405020304" pitchFamily="18" charset="0"/>
            </a:endParaRPr>
          </a:p>
        </p:txBody>
      </p:sp>
      <p:sp>
        <p:nvSpPr>
          <p:cNvPr id="11302" name="Rectangle 69"/>
          <p:cNvSpPr/>
          <p:nvPr/>
        </p:nvSpPr>
        <p:spPr>
          <a:xfrm>
            <a:off x="2214563" y="3422650"/>
            <a:ext cx="465137"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Ra</a:t>
            </a:r>
            <a:endParaRPr lang="en-US" altLang="zh-CN" b="1" dirty="0">
              <a:latin typeface="Times New Roman" panose="02020603050405020304" pitchFamily="18" charset="0"/>
            </a:endParaRPr>
          </a:p>
        </p:txBody>
      </p:sp>
      <p:sp>
        <p:nvSpPr>
          <p:cNvPr id="11303" name="Rectangle 70"/>
          <p:cNvSpPr/>
          <p:nvPr/>
        </p:nvSpPr>
        <p:spPr>
          <a:xfrm>
            <a:off x="2643188" y="3422650"/>
            <a:ext cx="477837"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Rb</a:t>
            </a:r>
            <a:endParaRPr lang="en-US" altLang="zh-CN" b="1" dirty="0">
              <a:latin typeface="Times New Roman" panose="02020603050405020304" pitchFamily="18" charset="0"/>
            </a:endParaRPr>
          </a:p>
        </p:txBody>
      </p:sp>
      <p:sp>
        <p:nvSpPr>
          <p:cNvPr id="11304" name="Rectangle 71"/>
          <p:cNvSpPr/>
          <p:nvPr/>
        </p:nvSpPr>
        <p:spPr>
          <a:xfrm>
            <a:off x="1785938" y="3768725"/>
            <a:ext cx="1093787" cy="588963"/>
          </a:xfrm>
          <a:prstGeom prst="rect">
            <a:avLst/>
          </a:prstGeom>
          <a:noFill/>
          <a:ln w="12700">
            <a:noFill/>
          </a:ln>
        </p:spPr>
        <p:txBody>
          <a:bodyPr wrap="none" lIns="90488" tIns="44450" rIns="90488" bIns="44450">
            <a:spAutoFit/>
          </a:bodyPr>
          <a:p>
            <a:pPr eaLnBrk="0" hangingPunct="0">
              <a:lnSpc>
                <a:spcPct val="90000"/>
              </a:lnSpc>
            </a:pPr>
            <a:r>
              <a:rPr lang="zh-CN" altLang="en-US" b="1" dirty="0">
                <a:latin typeface="Times New Roman" panose="02020603050405020304" pitchFamily="18" charset="0"/>
              </a:rPr>
              <a:t>32 32-</a:t>
            </a:r>
            <a:r>
              <a:rPr lang="en-US" altLang="zh-CN" b="1" dirty="0">
                <a:latin typeface="Times New Roman" panose="02020603050405020304" pitchFamily="18" charset="0"/>
              </a:rPr>
              <a:t>bit</a:t>
            </a:r>
            <a:endParaRPr lang="en-US" altLang="zh-CN" b="1" dirty="0">
              <a:latin typeface="Times New Roman" panose="02020603050405020304" pitchFamily="18" charset="0"/>
            </a:endParaRPr>
          </a:p>
          <a:p>
            <a:pPr eaLnBrk="0" hangingPunct="0">
              <a:lnSpc>
                <a:spcPct val="90000"/>
              </a:lnSpc>
            </a:pPr>
            <a:r>
              <a:rPr lang="en-US" altLang="zh-CN" b="1" dirty="0">
                <a:latin typeface="Times New Roman" panose="02020603050405020304" pitchFamily="18" charset="0"/>
              </a:rPr>
              <a:t>Registers</a:t>
            </a:r>
            <a:endParaRPr lang="en-US" altLang="zh-CN" b="1" dirty="0">
              <a:latin typeface="Times New Roman" panose="02020603050405020304" pitchFamily="18" charset="0"/>
            </a:endParaRPr>
          </a:p>
        </p:txBody>
      </p:sp>
      <p:sp>
        <p:nvSpPr>
          <p:cNvPr id="11305" name="Line 72"/>
          <p:cNvSpPr/>
          <p:nvPr/>
        </p:nvSpPr>
        <p:spPr>
          <a:xfrm flipH="1">
            <a:off x="649288" y="6029325"/>
            <a:ext cx="7797800" cy="0"/>
          </a:xfrm>
          <a:prstGeom prst="line">
            <a:avLst/>
          </a:prstGeom>
          <a:ln w="25400" cap="flat" cmpd="sng">
            <a:solidFill>
              <a:schemeClr val="tx1"/>
            </a:solidFill>
            <a:prstDash val="solid"/>
            <a:headEnd type="none" w="med" len="med"/>
            <a:tailEnd type="none" w="med" len="med"/>
          </a:ln>
        </p:spPr>
      </p:sp>
      <p:sp>
        <p:nvSpPr>
          <p:cNvPr id="11306" name="Line 73"/>
          <p:cNvSpPr/>
          <p:nvPr/>
        </p:nvSpPr>
        <p:spPr>
          <a:xfrm flipV="1">
            <a:off x="661988" y="3917950"/>
            <a:ext cx="0" cy="2124075"/>
          </a:xfrm>
          <a:prstGeom prst="line">
            <a:avLst/>
          </a:prstGeom>
          <a:ln w="25400" cap="flat" cmpd="sng">
            <a:solidFill>
              <a:schemeClr val="tx1"/>
            </a:solidFill>
            <a:prstDash val="solid"/>
            <a:headEnd type="none" w="med" len="med"/>
            <a:tailEnd type="none" w="med" len="med"/>
          </a:ln>
        </p:spPr>
      </p:sp>
      <p:sp>
        <p:nvSpPr>
          <p:cNvPr id="11307" name="Rectangle 74"/>
          <p:cNvSpPr/>
          <p:nvPr/>
        </p:nvSpPr>
        <p:spPr>
          <a:xfrm>
            <a:off x="2519363" y="2778125"/>
            <a:ext cx="439737"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Rs</a:t>
            </a:r>
            <a:endParaRPr lang="en-US" altLang="zh-CN" b="1" dirty="0">
              <a:latin typeface="Times New Roman" panose="02020603050405020304" pitchFamily="18" charset="0"/>
            </a:endParaRPr>
          </a:p>
        </p:txBody>
      </p:sp>
      <p:sp>
        <p:nvSpPr>
          <p:cNvPr id="11308" name="Rectangle 75"/>
          <p:cNvSpPr/>
          <p:nvPr/>
        </p:nvSpPr>
        <p:spPr>
          <a:xfrm>
            <a:off x="2249488" y="1895475"/>
            <a:ext cx="427037"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Rt</a:t>
            </a:r>
            <a:endParaRPr lang="en-US" altLang="zh-CN" b="1" dirty="0">
              <a:latin typeface="Times New Roman" panose="02020603050405020304" pitchFamily="18" charset="0"/>
            </a:endParaRPr>
          </a:p>
        </p:txBody>
      </p:sp>
      <p:grpSp>
        <p:nvGrpSpPr>
          <p:cNvPr id="11309" name="Group 76"/>
          <p:cNvGrpSpPr/>
          <p:nvPr/>
        </p:nvGrpSpPr>
        <p:grpSpPr>
          <a:xfrm>
            <a:off x="4062413" y="4160838"/>
            <a:ext cx="304800" cy="1084262"/>
            <a:chOff x="2640" y="2821"/>
            <a:chExt cx="192" cy="683"/>
          </a:xfrm>
        </p:grpSpPr>
        <p:sp>
          <p:nvSpPr>
            <p:cNvPr id="11399" name="Line 77"/>
            <p:cNvSpPr/>
            <p:nvPr/>
          </p:nvSpPr>
          <p:spPr>
            <a:xfrm>
              <a:off x="2640" y="2821"/>
              <a:ext cx="0" cy="667"/>
            </a:xfrm>
            <a:prstGeom prst="line">
              <a:avLst/>
            </a:prstGeom>
            <a:ln w="25400" cap="flat" cmpd="sng">
              <a:solidFill>
                <a:schemeClr val="tx1"/>
              </a:solidFill>
              <a:prstDash val="solid"/>
              <a:headEnd type="none" w="med" len="med"/>
              <a:tailEnd type="none" w="med" len="med"/>
            </a:ln>
          </p:spPr>
        </p:sp>
        <p:sp>
          <p:nvSpPr>
            <p:cNvPr id="11400" name="Line 78"/>
            <p:cNvSpPr/>
            <p:nvPr/>
          </p:nvSpPr>
          <p:spPr>
            <a:xfrm>
              <a:off x="2648" y="2821"/>
              <a:ext cx="176" cy="75"/>
            </a:xfrm>
            <a:prstGeom prst="line">
              <a:avLst/>
            </a:prstGeom>
            <a:ln w="25400" cap="flat" cmpd="sng">
              <a:solidFill>
                <a:schemeClr val="tx1"/>
              </a:solidFill>
              <a:prstDash val="solid"/>
              <a:headEnd type="none" w="med" len="med"/>
              <a:tailEnd type="none" w="med" len="med"/>
            </a:ln>
          </p:spPr>
        </p:sp>
        <p:sp>
          <p:nvSpPr>
            <p:cNvPr id="11401" name="Line 79"/>
            <p:cNvSpPr/>
            <p:nvPr/>
          </p:nvSpPr>
          <p:spPr>
            <a:xfrm flipV="1">
              <a:off x="2648" y="3397"/>
              <a:ext cx="176" cy="107"/>
            </a:xfrm>
            <a:prstGeom prst="line">
              <a:avLst/>
            </a:prstGeom>
            <a:ln w="25400" cap="flat" cmpd="sng">
              <a:solidFill>
                <a:schemeClr val="tx1"/>
              </a:solidFill>
              <a:prstDash val="solid"/>
              <a:headEnd type="none" w="med" len="med"/>
              <a:tailEnd type="none" w="med" len="med"/>
            </a:ln>
          </p:spPr>
        </p:sp>
        <p:sp>
          <p:nvSpPr>
            <p:cNvPr id="11402" name="Line 80"/>
            <p:cNvSpPr/>
            <p:nvPr/>
          </p:nvSpPr>
          <p:spPr>
            <a:xfrm>
              <a:off x="2832" y="2912"/>
              <a:ext cx="0" cy="485"/>
            </a:xfrm>
            <a:prstGeom prst="line">
              <a:avLst/>
            </a:prstGeom>
            <a:ln w="25400" cap="flat" cmpd="sng">
              <a:solidFill>
                <a:schemeClr val="tx1"/>
              </a:solidFill>
              <a:prstDash val="solid"/>
              <a:headEnd type="none" w="med" len="med"/>
              <a:tailEnd type="none" w="med" len="med"/>
            </a:ln>
          </p:spPr>
        </p:sp>
      </p:grpSp>
      <p:grpSp>
        <p:nvGrpSpPr>
          <p:cNvPr id="11310" name="Group 81"/>
          <p:cNvGrpSpPr/>
          <p:nvPr/>
        </p:nvGrpSpPr>
        <p:grpSpPr>
          <a:xfrm>
            <a:off x="1547813" y="2466975"/>
            <a:ext cx="1168400" cy="288925"/>
            <a:chOff x="928" y="1788"/>
            <a:chExt cx="736" cy="182"/>
          </a:xfrm>
        </p:grpSpPr>
        <p:sp>
          <p:nvSpPr>
            <p:cNvPr id="11395" name="Line 82"/>
            <p:cNvSpPr/>
            <p:nvPr/>
          </p:nvSpPr>
          <p:spPr>
            <a:xfrm flipH="1">
              <a:off x="928" y="1788"/>
              <a:ext cx="736" cy="0"/>
            </a:xfrm>
            <a:prstGeom prst="line">
              <a:avLst/>
            </a:prstGeom>
            <a:ln w="25400" cap="flat" cmpd="sng">
              <a:solidFill>
                <a:schemeClr val="tx1"/>
              </a:solidFill>
              <a:prstDash val="solid"/>
              <a:headEnd type="none" w="med" len="med"/>
              <a:tailEnd type="none" w="med" len="med"/>
            </a:ln>
          </p:spPr>
        </p:sp>
        <p:sp>
          <p:nvSpPr>
            <p:cNvPr id="11396" name="Line 83"/>
            <p:cNvSpPr/>
            <p:nvPr/>
          </p:nvSpPr>
          <p:spPr>
            <a:xfrm flipH="1">
              <a:off x="1552" y="1796"/>
              <a:ext cx="112" cy="166"/>
            </a:xfrm>
            <a:prstGeom prst="line">
              <a:avLst/>
            </a:prstGeom>
            <a:ln w="25400" cap="flat" cmpd="sng">
              <a:solidFill>
                <a:schemeClr val="tx1"/>
              </a:solidFill>
              <a:prstDash val="solid"/>
              <a:headEnd type="none" w="med" len="med"/>
              <a:tailEnd type="none" w="med" len="med"/>
            </a:ln>
          </p:spPr>
        </p:sp>
        <p:sp>
          <p:nvSpPr>
            <p:cNvPr id="11397" name="Line 84"/>
            <p:cNvSpPr/>
            <p:nvPr/>
          </p:nvSpPr>
          <p:spPr>
            <a:xfrm>
              <a:off x="944" y="1796"/>
              <a:ext cx="80" cy="166"/>
            </a:xfrm>
            <a:prstGeom prst="line">
              <a:avLst/>
            </a:prstGeom>
            <a:ln w="25400" cap="flat" cmpd="sng">
              <a:solidFill>
                <a:schemeClr val="tx1"/>
              </a:solidFill>
              <a:prstDash val="solid"/>
              <a:headEnd type="none" w="med" len="med"/>
              <a:tailEnd type="none" w="med" len="med"/>
            </a:ln>
          </p:spPr>
        </p:sp>
        <p:sp>
          <p:nvSpPr>
            <p:cNvPr id="11398" name="Line 85"/>
            <p:cNvSpPr/>
            <p:nvPr/>
          </p:nvSpPr>
          <p:spPr>
            <a:xfrm flipH="1">
              <a:off x="1024" y="1970"/>
              <a:ext cx="544" cy="0"/>
            </a:xfrm>
            <a:prstGeom prst="line">
              <a:avLst/>
            </a:prstGeom>
            <a:ln w="25400" cap="flat" cmpd="sng">
              <a:solidFill>
                <a:schemeClr val="tx1"/>
              </a:solidFill>
              <a:prstDash val="solid"/>
              <a:headEnd type="none" w="med" len="med"/>
              <a:tailEnd type="none" w="med" len="med"/>
            </a:ln>
          </p:spPr>
        </p:sp>
      </p:grpSp>
      <p:sp>
        <p:nvSpPr>
          <p:cNvPr id="11311" name="Line 87"/>
          <p:cNvSpPr/>
          <p:nvPr/>
        </p:nvSpPr>
        <p:spPr>
          <a:xfrm>
            <a:off x="2436813" y="2225675"/>
            <a:ext cx="0" cy="236538"/>
          </a:xfrm>
          <a:prstGeom prst="line">
            <a:avLst/>
          </a:prstGeom>
          <a:ln w="25400" cap="flat" cmpd="sng">
            <a:solidFill>
              <a:schemeClr val="tx1"/>
            </a:solidFill>
            <a:prstDash val="solid"/>
            <a:headEnd type="none" w="med" len="med"/>
            <a:tailEnd type="none" w="med" len="med"/>
          </a:ln>
        </p:spPr>
      </p:sp>
      <p:sp>
        <p:nvSpPr>
          <p:cNvPr id="11312" name="Line 88"/>
          <p:cNvSpPr/>
          <p:nvPr/>
        </p:nvSpPr>
        <p:spPr>
          <a:xfrm flipH="1">
            <a:off x="1812925" y="2211388"/>
            <a:ext cx="0" cy="265112"/>
          </a:xfrm>
          <a:prstGeom prst="line">
            <a:avLst/>
          </a:prstGeom>
          <a:ln w="25400" cap="flat" cmpd="sng">
            <a:solidFill>
              <a:schemeClr val="tx1"/>
            </a:solidFill>
            <a:prstDash val="solid"/>
            <a:headEnd type="none" w="med" len="med"/>
            <a:tailEnd type="none" w="med" len="med"/>
          </a:ln>
        </p:spPr>
      </p:sp>
      <p:sp>
        <p:nvSpPr>
          <p:cNvPr id="11313" name="Rectangle 89"/>
          <p:cNvSpPr/>
          <p:nvPr/>
        </p:nvSpPr>
        <p:spPr>
          <a:xfrm>
            <a:off x="1601788" y="1906588"/>
            <a:ext cx="477837" cy="366712"/>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Rd</a:t>
            </a:r>
            <a:endParaRPr lang="en-US" altLang="zh-CN" b="1" dirty="0">
              <a:latin typeface="Times New Roman" panose="02020603050405020304" pitchFamily="18" charset="0"/>
            </a:endParaRPr>
          </a:p>
        </p:txBody>
      </p:sp>
      <p:sp>
        <p:nvSpPr>
          <p:cNvPr id="11314" name="Line 90"/>
          <p:cNvSpPr/>
          <p:nvPr/>
        </p:nvSpPr>
        <p:spPr>
          <a:xfrm flipH="1">
            <a:off x="688975" y="2611438"/>
            <a:ext cx="939800" cy="0"/>
          </a:xfrm>
          <a:prstGeom prst="line">
            <a:avLst/>
          </a:prstGeom>
          <a:ln w="25400" cap="flat" cmpd="sng">
            <a:solidFill>
              <a:schemeClr val="tx1"/>
            </a:solidFill>
            <a:prstDash val="solid"/>
            <a:headEnd type="triangle" w="med" len="med"/>
            <a:tailEnd type="none" w="med" len="med"/>
          </a:ln>
        </p:spPr>
      </p:sp>
      <p:sp>
        <p:nvSpPr>
          <p:cNvPr id="11315" name="Rectangle 91"/>
          <p:cNvSpPr/>
          <p:nvPr/>
        </p:nvSpPr>
        <p:spPr>
          <a:xfrm>
            <a:off x="468313" y="2217738"/>
            <a:ext cx="981075" cy="396875"/>
          </a:xfrm>
          <a:prstGeom prst="rect">
            <a:avLst/>
          </a:prstGeom>
          <a:noFill/>
          <a:ln w="12700">
            <a:noFill/>
          </a:ln>
        </p:spPr>
        <p:txBody>
          <a:bodyPr wrap="none" lIns="90488" tIns="44450" rIns="90488" bIns="44450">
            <a:spAutoFit/>
          </a:bodyPr>
          <a:p>
            <a:pPr eaLnBrk="0" hangingPunct="0"/>
            <a:r>
              <a:rPr lang="en-US" altLang="zh-CN" b="1" dirty="0">
                <a:solidFill>
                  <a:srgbClr val="A50021"/>
                </a:solidFill>
                <a:latin typeface="Times New Roman" panose="02020603050405020304" pitchFamily="18" charset="0"/>
              </a:rPr>
              <a:t>RegDst</a:t>
            </a:r>
            <a:endParaRPr lang="en-US" altLang="zh-CN" b="1" dirty="0">
              <a:solidFill>
                <a:srgbClr val="A50021"/>
              </a:solidFill>
              <a:latin typeface="Times New Roman" panose="02020603050405020304" pitchFamily="18" charset="0"/>
            </a:endParaRPr>
          </a:p>
        </p:txBody>
      </p:sp>
      <p:sp>
        <p:nvSpPr>
          <p:cNvPr id="11316" name="Rectangle 92"/>
          <p:cNvSpPr/>
          <p:nvPr/>
        </p:nvSpPr>
        <p:spPr>
          <a:xfrm>
            <a:off x="3071813" y="4652963"/>
            <a:ext cx="320675" cy="1054100"/>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b="1" dirty="0">
              <a:latin typeface="Arial" panose="020B0604020202020204" pitchFamily="34" charset="0"/>
            </a:endParaRPr>
          </a:p>
        </p:txBody>
      </p:sp>
      <p:sp>
        <p:nvSpPr>
          <p:cNvPr id="11317" name="Rectangle 93"/>
          <p:cNvSpPr/>
          <p:nvPr/>
        </p:nvSpPr>
        <p:spPr>
          <a:xfrm rot="5400000">
            <a:off x="3875088" y="4546600"/>
            <a:ext cx="644525" cy="368300"/>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Mux</a:t>
            </a:r>
            <a:endParaRPr lang="en-US" altLang="zh-CN" b="1" dirty="0">
              <a:latin typeface="Times New Roman" panose="02020603050405020304" pitchFamily="18" charset="0"/>
            </a:endParaRPr>
          </a:p>
        </p:txBody>
      </p:sp>
      <p:sp>
        <p:nvSpPr>
          <p:cNvPr id="11318" name="Rectangle 94"/>
          <p:cNvSpPr/>
          <p:nvPr/>
        </p:nvSpPr>
        <p:spPr>
          <a:xfrm>
            <a:off x="1851025" y="2463800"/>
            <a:ext cx="644525"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Mux</a:t>
            </a:r>
            <a:endParaRPr lang="en-US" altLang="zh-CN" b="1" dirty="0">
              <a:latin typeface="Times New Roman" panose="02020603050405020304" pitchFamily="18" charset="0"/>
            </a:endParaRPr>
          </a:p>
        </p:txBody>
      </p:sp>
      <p:sp>
        <p:nvSpPr>
          <p:cNvPr id="11319" name="Line 95"/>
          <p:cNvSpPr/>
          <p:nvPr/>
        </p:nvSpPr>
        <p:spPr>
          <a:xfrm>
            <a:off x="3417888" y="5087938"/>
            <a:ext cx="660400" cy="0"/>
          </a:xfrm>
          <a:prstGeom prst="line">
            <a:avLst/>
          </a:prstGeom>
          <a:ln w="25400" cap="flat" cmpd="sng">
            <a:solidFill>
              <a:schemeClr val="tx1"/>
            </a:solidFill>
            <a:prstDash val="solid"/>
            <a:headEnd type="none" w="med" len="med"/>
            <a:tailEnd type="triangle" w="med" len="med"/>
          </a:ln>
        </p:spPr>
      </p:sp>
      <p:sp>
        <p:nvSpPr>
          <p:cNvPr id="11320" name="Rectangle 96"/>
          <p:cNvSpPr/>
          <p:nvPr/>
        </p:nvSpPr>
        <p:spPr>
          <a:xfrm>
            <a:off x="3657600" y="5024438"/>
            <a:ext cx="414338" cy="366712"/>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32</a:t>
            </a:r>
            <a:endParaRPr lang="zh-CN" altLang="en-US" b="1" dirty="0">
              <a:latin typeface="Times New Roman" panose="02020603050405020304" pitchFamily="18" charset="0"/>
            </a:endParaRPr>
          </a:p>
        </p:txBody>
      </p:sp>
      <p:sp>
        <p:nvSpPr>
          <p:cNvPr id="11321" name="Line 97"/>
          <p:cNvSpPr/>
          <p:nvPr/>
        </p:nvSpPr>
        <p:spPr>
          <a:xfrm flipH="1">
            <a:off x="3703638" y="5022850"/>
            <a:ext cx="88900" cy="131763"/>
          </a:xfrm>
          <a:prstGeom prst="line">
            <a:avLst/>
          </a:prstGeom>
          <a:ln w="12700" cap="flat" cmpd="sng">
            <a:solidFill>
              <a:schemeClr val="tx1"/>
            </a:solidFill>
            <a:prstDash val="solid"/>
            <a:headEnd type="none" w="med" len="med"/>
            <a:tailEnd type="none" w="med" len="med"/>
          </a:ln>
        </p:spPr>
      </p:sp>
      <p:sp>
        <p:nvSpPr>
          <p:cNvPr id="11322" name="Line 98"/>
          <p:cNvSpPr/>
          <p:nvPr/>
        </p:nvSpPr>
        <p:spPr>
          <a:xfrm>
            <a:off x="2084388" y="5153025"/>
            <a:ext cx="965200" cy="0"/>
          </a:xfrm>
          <a:prstGeom prst="line">
            <a:avLst/>
          </a:prstGeom>
          <a:ln w="25400" cap="flat" cmpd="sng">
            <a:solidFill>
              <a:schemeClr val="tx1"/>
            </a:solidFill>
            <a:prstDash val="solid"/>
            <a:headEnd type="none" w="med" len="med"/>
            <a:tailEnd type="triangle" w="med" len="med"/>
          </a:ln>
        </p:spPr>
      </p:sp>
      <p:sp>
        <p:nvSpPr>
          <p:cNvPr id="11323" name="Line 99"/>
          <p:cNvSpPr/>
          <p:nvPr/>
        </p:nvSpPr>
        <p:spPr>
          <a:xfrm flipH="1">
            <a:off x="2522538" y="5086350"/>
            <a:ext cx="88900" cy="133350"/>
          </a:xfrm>
          <a:prstGeom prst="line">
            <a:avLst/>
          </a:prstGeom>
          <a:ln w="12700" cap="flat" cmpd="sng">
            <a:solidFill>
              <a:schemeClr val="tx1"/>
            </a:solidFill>
            <a:prstDash val="solid"/>
            <a:headEnd type="none" w="med" len="med"/>
            <a:tailEnd type="none" w="med" len="med"/>
          </a:ln>
        </p:spPr>
      </p:sp>
      <p:sp>
        <p:nvSpPr>
          <p:cNvPr id="11324" name="Rectangle 100"/>
          <p:cNvSpPr/>
          <p:nvPr/>
        </p:nvSpPr>
        <p:spPr>
          <a:xfrm>
            <a:off x="2482850" y="5087938"/>
            <a:ext cx="414338" cy="366712"/>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16</a:t>
            </a:r>
            <a:endParaRPr lang="zh-CN" altLang="en-US" b="1" dirty="0">
              <a:latin typeface="Times New Roman" panose="02020603050405020304" pitchFamily="18" charset="0"/>
            </a:endParaRPr>
          </a:p>
        </p:txBody>
      </p:sp>
      <p:sp>
        <p:nvSpPr>
          <p:cNvPr id="11325" name="Rectangle 101"/>
          <p:cNvSpPr/>
          <p:nvPr/>
        </p:nvSpPr>
        <p:spPr>
          <a:xfrm>
            <a:off x="1306513" y="4983163"/>
            <a:ext cx="862012" cy="366712"/>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imm16</a:t>
            </a:r>
            <a:endParaRPr lang="en-US" altLang="zh-CN" b="1" dirty="0">
              <a:latin typeface="Times New Roman" panose="02020603050405020304" pitchFamily="18" charset="0"/>
            </a:endParaRPr>
          </a:p>
        </p:txBody>
      </p:sp>
      <p:sp>
        <p:nvSpPr>
          <p:cNvPr id="11326" name="Line 102"/>
          <p:cNvSpPr/>
          <p:nvPr/>
        </p:nvSpPr>
        <p:spPr>
          <a:xfrm>
            <a:off x="4243388" y="5143500"/>
            <a:ext cx="0" cy="420688"/>
          </a:xfrm>
          <a:prstGeom prst="line">
            <a:avLst/>
          </a:prstGeom>
          <a:ln w="28575" cap="flat" cmpd="sng">
            <a:solidFill>
              <a:schemeClr val="tx1"/>
            </a:solidFill>
            <a:prstDash val="solid"/>
            <a:headEnd type="triangle" w="med" len="med"/>
            <a:tailEnd type="none" w="med" len="med"/>
          </a:ln>
        </p:spPr>
      </p:sp>
      <p:sp>
        <p:nvSpPr>
          <p:cNvPr id="11327" name="Rectangle 103"/>
          <p:cNvSpPr/>
          <p:nvPr/>
        </p:nvSpPr>
        <p:spPr>
          <a:xfrm>
            <a:off x="3994150" y="5487988"/>
            <a:ext cx="1092200" cy="396875"/>
          </a:xfrm>
          <a:prstGeom prst="rect">
            <a:avLst/>
          </a:prstGeom>
          <a:noFill/>
          <a:ln w="12700">
            <a:noFill/>
          </a:ln>
        </p:spPr>
        <p:txBody>
          <a:bodyPr wrap="none" lIns="90488" tIns="44450" rIns="90488" bIns="44450">
            <a:spAutoFit/>
          </a:bodyPr>
          <a:p>
            <a:pPr eaLnBrk="0" hangingPunct="0"/>
            <a:r>
              <a:rPr lang="en-US" altLang="zh-CN" b="1" dirty="0">
                <a:solidFill>
                  <a:srgbClr val="A50021"/>
                </a:solidFill>
                <a:latin typeface="Times New Roman" panose="02020603050405020304" pitchFamily="18" charset="0"/>
              </a:rPr>
              <a:t>ALUSrc</a:t>
            </a:r>
            <a:endParaRPr lang="en-US" altLang="zh-CN" b="1" dirty="0">
              <a:solidFill>
                <a:srgbClr val="A50021"/>
              </a:solidFill>
              <a:latin typeface="Times New Roman" panose="02020603050405020304" pitchFamily="18" charset="0"/>
            </a:endParaRPr>
          </a:p>
        </p:txBody>
      </p:sp>
      <p:sp>
        <p:nvSpPr>
          <p:cNvPr id="11328" name="Line 104"/>
          <p:cNvSpPr/>
          <p:nvPr/>
        </p:nvSpPr>
        <p:spPr>
          <a:xfrm>
            <a:off x="4408488" y="4437063"/>
            <a:ext cx="508000" cy="0"/>
          </a:xfrm>
          <a:prstGeom prst="line">
            <a:avLst/>
          </a:prstGeom>
          <a:ln w="25400" cap="flat" cmpd="sng">
            <a:solidFill>
              <a:schemeClr val="tx1"/>
            </a:solidFill>
            <a:prstDash val="solid"/>
            <a:headEnd type="none" w="med" len="med"/>
            <a:tailEnd type="triangle" w="med" len="med"/>
          </a:ln>
        </p:spPr>
      </p:sp>
      <p:sp>
        <p:nvSpPr>
          <p:cNvPr id="11329" name="Rectangle 106"/>
          <p:cNvSpPr/>
          <p:nvPr/>
        </p:nvSpPr>
        <p:spPr>
          <a:xfrm rot="5400000">
            <a:off x="4930775" y="3800475"/>
            <a:ext cx="671513" cy="368300"/>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ALU</a:t>
            </a:r>
            <a:endParaRPr lang="en-US" altLang="zh-CN" b="1" dirty="0">
              <a:latin typeface="Times New Roman" panose="02020603050405020304" pitchFamily="18" charset="0"/>
            </a:endParaRPr>
          </a:p>
        </p:txBody>
      </p:sp>
      <p:grpSp>
        <p:nvGrpSpPr>
          <p:cNvPr id="5" name="Group 107"/>
          <p:cNvGrpSpPr/>
          <p:nvPr/>
        </p:nvGrpSpPr>
        <p:grpSpPr>
          <a:xfrm>
            <a:off x="3051175" y="2957513"/>
            <a:ext cx="5484813" cy="3109912"/>
            <a:chOff x="1985" y="2066"/>
            <a:chExt cx="3455" cy="2067"/>
          </a:xfrm>
        </p:grpSpPr>
        <p:sp>
          <p:nvSpPr>
            <p:cNvPr id="11361" name="Rectangle 108"/>
            <p:cNvSpPr/>
            <p:nvPr/>
          </p:nvSpPr>
          <p:spPr>
            <a:xfrm rot="5400000">
              <a:off x="1725" y="3429"/>
              <a:ext cx="760" cy="241"/>
            </a:xfrm>
            <a:prstGeom prst="rect">
              <a:avLst/>
            </a:prstGeom>
            <a:noFill/>
            <a:ln w="12700">
              <a:noFill/>
            </a:ln>
          </p:spPr>
          <p:txBody>
            <a:bodyPr wrap="none" lIns="90488" tIns="44450" rIns="90488" bIns="44450">
              <a:spAutoFit/>
            </a:bodyPr>
            <a:p>
              <a:pPr eaLnBrk="0" hangingPunct="0"/>
              <a:r>
                <a:rPr lang="en-US" altLang="zh-CN" sz="1900" b="1" dirty="0">
                  <a:latin typeface="Times New Roman" panose="02020603050405020304" pitchFamily="18" charset="0"/>
                </a:rPr>
                <a:t>Extender</a:t>
              </a:r>
              <a:endParaRPr lang="en-US" altLang="zh-CN" sz="1900" b="1" dirty="0">
                <a:latin typeface="Times New Roman" panose="02020603050405020304" pitchFamily="18" charset="0"/>
              </a:endParaRPr>
            </a:p>
          </p:txBody>
        </p:sp>
        <p:sp>
          <p:nvSpPr>
            <p:cNvPr id="11362" name="Line 109"/>
            <p:cNvSpPr/>
            <p:nvPr/>
          </p:nvSpPr>
          <p:spPr>
            <a:xfrm>
              <a:off x="2088" y="3894"/>
              <a:ext cx="0" cy="118"/>
            </a:xfrm>
            <a:prstGeom prst="line">
              <a:avLst/>
            </a:prstGeom>
            <a:ln w="28575" cap="flat" cmpd="sng">
              <a:solidFill>
                <a:srgbClr val="0000FF"/>
              </a:solidFill>
              <a:prstDash val="solid"/>
              <a:headEnd type="triangle" w="med" len="med"/>
              <a:tailEnd type="none" w="med" len="med"/>
            </a:ln>
          </p:spPr>
        </p:sp>
        <p:sp>
          <p:nvSpPr>
            <p:cNvPr id="11363" name="Rectangle 110"/>
            <p:cNvSpPr/>
            <p:nvPr/>
          </p:nvSpPr>
          <p:spPr>
            <a:xfrm>
              <a:off x="2077" y="3869"/>
              <a:ext cx="573" cy="264"/>
            </a:xfrm>
            <a:prstGeom prst="rect">
              <a:avLst/>
            </a:prstGeom>
            <a:noFill/>
            <a:ln w="12700">
              <a:noFill/>
            </a:ln>
          </p:spPr>
          <p:txBody>
            <a:bodyPr wrap="none" lIns="90488" tIns="44450" rIns="90488" bIns="44450">
              <a:spAutoFit/>
            </a:bodyPr>
            <a:p>
              <a:pPr eaLnBrk="0" hangingPunct="0"/>
              <a:r>
                <a:rPr lang="en-US" altLang="zh-CN" b="1" dirty="0">
                  <a:solidFill>
                    <a:srgbClr val="A50021"/>
                  </a:solidFill>
                  <a:latin typeface="Times New Roman" panose="02020603050405020304" pitchFamily="18" charset="0"/>
                </a:rPr>
                <a:t>ExtOp</a:t>
              </a:r>
              <a:endParaRPr lang="en-US" altLang="zh-CN" b="1" dirty="0">
                <a:solidFill>
                  <a:srgbClr val="A50021"/>
                </a:solidFill>
                <a:latin typeface="Times New Roman" panose="02020603050405020304" pitchFamily="18" charset="0"/>
              </a:endParaRPr>
            </a:p>
          </p:txBody>
        </p:sp>
        <p:grpSp>
          <p:nvGrpSpPr>
            <p:cNvPr id="11364" name="Group 111"/>
            <p:cNvGrpSpPr/>
            <p:nvPr/>
          </p:nvGrpSpPr>
          <p:grpSpPr>
            <a:xfrm>
              <a:off x="3147" y="2066"/>
              <a:ext cx="2293" cy="1844"/>
              <a:chOff x="3147" y="2066"/>
              <a:chExt cx="2293" cy="1844"/>
            </a:xfrm>
          </p:grpSpPr>
          <p:grpSp>
            <p:nvGrpSpPr>
              <p:cNvPr id="11365" name="Group 112"/>
              <p:cNvGrpSpPr/>
              <p:nvPr/>
            </p:nvGrpSpPr>
            <p:grpSpPr>
              <a:xfrm>
                <a:off x="4896" y="2547"/>
                <a:ext cx="192" cy="684"/>
                <a:chOff x="4896" y="2547"/>
                <a:chExt cx="192" cy="684"/>
              </a:xfrm>
            </p:grpSpPr>
            <p:sp>
              <p:nvSpPr>
                <p:cNvPr id="11391" name="Line 113"/>
                <p:cNvSpPr/>
                <p:nvPr/>
              </p:nvSpPr>
              <p:spPr>
                <a:xfrm>
                  <a:off x="4896" y="2563"/>
                  <a:ext cx="0" cy="668"/>
                </a:xfrm>
                <a:prstGeom prst="line">
                  <a:avLst/>
                </a:prstGeom>
                <a:ln w="25400" cap="flat" cmpd="sng">
                  <a:solidFill>
                    <a:schemeClr val="tx1"/>
                  </a:solidFill>
                  <a:prstDash val="solid"/>
                  <a:headEnd type="none" w="med" len="med"/>
                  <a:tailEnd type="none" w="med" len="med"/>
                </a:ln>
              </p:spPr>
            </p:sp>
            <p:sp>
              <p:nvSpPr>
                <p:cNvPr id="11392" name="Line 114"/>
                <p:cNvSpPr/>
                <p:nvPr/>
              </p:nvSpPr>
              <p:spPr>
                <a:xfrm>
                  <a:off x="4904" y="2547"/>
                  <a:ext cx="176" cy="76"/>
                </a:xfrm>
                <a:prstGeom prst="line">
                  <a:avLst/>
                </a:prstGeom>
                <a:ln w="25400" cap="flat" cmpd="sng">
                  <a:solidFill>
                    <a:schemeClr val="tx1"/>
                  </a:solidFill>
                  <a:prstDash val="solid"/>
                  <a:headEnd type="none" w="med" len="med"/>
                  <a:tailEnd type="none" w="med" len="med"/>
                </a:ln>
              </p:spPr>
            </p:sp>
            <p:sp>
              <p:nvSpPr>
                <p:cNvPr id="11393" name="Line 115"/>
                <p:cNvSpPr/>
                <p:nvPr/>
              </p:nvSpPr>
              <p:spPr>
                <a:xfrm flipV="1">
                  <a:off x="4904" y="3124"/>
                  <a:ext cx="176" cy="107"/>
                </a:xfrm>
                <a:prstGeom prst="line">
                  <a:avLst/>
                </a:prstGeom>
                <a:ln w="25400" cap="flat" cmpd="sng">
                  <a:solidFill>
                    <a:schemeClr val="tx1"/>
                  </a:solidFill>
                  <a:prstDash val="solid"/>
                  <a:headEnd type="none" w="med" len="med"/>
                  <a:tailEnd type="none" w="med" len="med"/>
                </a:ln>
              </p:spPr>
            </p:sp>
            <p:sp>
              <p:nvSpPr>
                <p:cNvPr id="11394" name="Line 116"/>
                <p:cNvSpPr/>
                <p:nvPr/>
              </p:nvSpPr>
              <p:spPr>
                <a:xfrm>
                  <a:off x="5088" y="2639"/>
                  <a:ext cx="0" cy="485"/>
                </a:xfrm>
                <a:prstGeom prst="line">
                  <a:avLst/>
                </a:prstGeom>
                <a:ln w="25400" cap="flat" cmpd="sng">
                  <a:solidFill>
                    <a:schemeClr val="tx1"/>
                  </a:solidFill>
                  <a:prstDash val="solid"/>
                  <a:headEnd type="none" w="med" len="med"/>
                  <a:tailEnd type="none" w="med" len="med"/>
                </a:ln>
              </p:spPr>
            </p:sp>
          </p:grpSp>
          <p:sp>
            <p:nvSpPr>
              <p:cNvPr id="11366" name="Rectangle 117"/>
              <p:cNvSpPr/>
              <p:nvPr/>
            </p:nvSpPr>
            <p:spPr>
              <a:xfrm rot="5400000">
                <a:off x="4777" y="2762"/>
                <a:ext cx="428" cy="231"/>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Mux</a:t>
                </a:r>
                <a:endParaRPr lang="en-US" altLang="zh-CN" b="1" dirty="0">
                  <a:latin typeface="Times New Roman" panose="02020603050405020304" pitchFamily="18" charset="0"/>
                </a:endParaRPr>
              </a:p>
            </p:txBody>
          </p:sp>
          <p:sp>
            <p:nvSpPr>
              <p:cNvPr id="11367" name="Line 118"/>
              <p:cNvSpPr/>
              <p:nvPr/>
            </p:nvSpPr>
            <p:spPr>
              <a:xfrm flipV="1">
                <a:off x="4992" y="2304"/>
                <a:ext cx="0" cy="289"/>
              </a:xfrm>
              <a:prstGeom prst="line">
                <a:avLst/>
              </a:prstGeom>
              <a:ln w="25400" cap="flat" cmpd="sng">
                <a:solidFill>
                  <a:srgbClr val="0000FF"/>
                </a:solidFill>
                <a:prstDash val="solid"/>
                <a:headEnd type="triangle" w="med" len="med"/>
                <a:tailEnd type="none" w="med" len="med"/>
              </a:ln>
            </p:spPr>
          </p:sp>
          <p:sp>
            <p:nvSpPr>
              <p:cNvPr id="11368" name="Rectangle 119"/>
              <p:cNvSpPr/>
              <p:nvPr/>
            </p:nvSpPr>
            <p:spPr>
              <a:xfrm>
                <a:off x="4563" y="2066"/>
                <a:ext cx="877" cy="264"/>
              </a:xfrm>
              <a:prstGeom prst="rect">
                <a:avLst/>
              </a:prstGeom>
              <a:noFill/>
              <a:ln w="12700">
                <a:noFill/>
              </a:ln>
            </p:spPr>
            <p:txBody>
              <a:bodyPr wrap="none" lIns="90488" tIns="44450" rIns="90488" bIns="44450">
                <a:spAutoFit/>
              </a:bodyPr>
              <a:p>
                <a:pPr eaLnBrk="0" hangingPunct="0"/>
                <a:r>
                  <a:rPr lang="en-US" altLang="zh-CN" b="1" dirty="0">
                    <a:solidFill>
                      <a:srgbClr val="A50021"/>
                    </a:solidFill>
                    <a:latin typeface="Times New Roman" panose="02020603050405020304" pitchFamily="18" charset="0"/>
                  </a:rPr>
                  <a:t>MemtoReg</a:t>
                </a:r>
                <a:endParaRPr lang="en-US" altLang="zh-CN" b="1" dirty="0">
                  <a:solidFill>
                    <a:srgbClr val="A50021"/>
                  </a:solidFill>
                  <a:latin typeface="Times New Roman" panose="02020603050405020304" pitchFamily="18" charset="0"/>
                </a:endParaRPr>
              </a:p>
            </p:txBody>
          </p:sp>
          <p:sp>
            <p:nvSpPr>
              <p:cNvPr id="11369" name="Line 120"/>
              <p:cNvSpPr/>
              <p:nvPr/>
            </p:nvSpPr>
            <p:spPr>
              <a:xfrm>
                <a:off x="5096" y="2904"/>
                <a:ext cx="272" cy="0"/>
              </a:xfrm>
              <a:prstGeom prst="line">
                <a:avLst/>
              </a:prstGeom>
              <a:ln w="25400" cap="flat" cmpd="sng">
                <a:solidFill>
                  <a:schemeClr val="tx1"/>
                </a:solidFill>
                <a:prstDash val="solid"/>
                <a:headEnd type="none" w="med" len="med"/>
                <a:tailEnd type="none" w="med" len="med"/>
              </a:ln>
            </p:spPr>
          </p:sp>
          <p:sp>
            <p:nvSpPr>
              <p:cNvPr id="11370" name="Rectangle 121"/>
              <p:cNvSpPr/>
              <p:nvPr/>
            </p:nvSpPr>
            <p:spPr>
              <a:xfrm>
                <a:off x="3794" y="3185"/>
                <a:ext cx="710" cy="725"/>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b="1" dirty="0">
                  <a:latin typeface="Arial" panose="020B0604020202020204" pitchFamily="34" charset="0"/>
                </a:endParaRPr>
              </a:p>
            </p:txBody>
          </p:sp>
          <p:sp>
            <p:nvSpPr>
              <p:cNvPr id="11371" name="Line 122"/>
              <p:cNvSpPr/>
              <p:nvPr/>
            </p:nvSpPr>
            <p:spPr>
              <a:xfrm flipH="1">
                <a:off x="3400" y="3815"/>
                <a:ext cx="304" cy="0"/>
              </a:xfrm>
              <a:prstGeom prst="line">
                <a:avLst/>
              </a:prstGeom>
              <a:ln w="25400" cap="flat" cmpd="sng">
                <a:solidFill>
                  <a:srgbClr val="0000FF"/>
                </a:solidFill>
                <a:prstDash val="solid"/>
                <a:headEnd type="none" w="med" len="med"/>
                <a:tailEnd type="none" w="med" len="med"/>
              </a:ln>
            </p:spPr>
          </p:sp>
          <p:sp>
            <p:nvSpPr>
              <p:cNvPr id="11372" name="Rectangle 123"/>
              <p:cNvSpPr/>
              <p:nvPr/>
            </p:nvSpPr>
            <p:spPr>
              <a:xfrm>
                <a:off x="3321" y="3605"/>
                <a:ext cx="341" cy="244"/>
              </a:xfrm>
              <a:prstGeom prst="rect">
                <a:avLst/>
              </a:prstGeom>
              <a:noFill/>
              <a:ln w="12700">
                <a:noFill/>
              </a:ln>
            </p:spPr>
            <p:txBody>
              <a:bodyPr wrap="none" lIns="90488" tIns="44450" rIns="90488" bIns="44450">
                <a:spAutoFit/>
              </a:bodyPr>
              <a:p>
                <a:pPr eaLnBrk="0" hangingPunct="0"/>
                <a:r>
                  <a:rPr lang="en-US" altLang="zh-CN" b="1" dirty="0">
                    <a:solidFill>
                      <a:srgbClr val="3333FF"/>
                    </a:solidFill>
                    <a:latin typeface="Times New Roman" panose="02020603050405020304" pitchFamily="18" charset="0"/>
                  </a:rPr>
                  <a:t>Clk</a:t>
                </a:r>
                <a:endParaRPr lang="en-US" altLang="zh-CN" b="1" dirty="0">
                  <a:solidFill>
                    <a:srgbClr val="3333FF"/>
                  </a:solidFill>
                  <a:latin typeface="Times New Roman" panose="02020603050405020304" pitchFamily="18" charset="0"/>
                </a:endParaRPr>
              </a:p>
            </p:txBody>
          </p:sp>
          <p:sp>
            <p:nvSpPr>
              <p:cNvPr id="11373" name="Rectangle 124"/>
              <p:cNvSpPr/>
              <p:nvPr/>
            </p:nvSpPr>
            <p:spPr>
              <a:xfrm>
                <a:off x="3147" y="3262"/>
                <a:ext cx="588" cy="244"/>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Data In</a:t>
                </a:r>
                <a:endParaRPr lang="en-US" altLang="zh-CN" b="1" dirty="0">
                  <a:latin typeface="Times New Roman" panose="02020603050405020304" pitchFamily="18" charset="0"/>
                </a:endParaRPr>
              </a:p>
            </p:txBody>
          </p:sp>
          <p:sp>
            <p:nvSpPr>
              <p:cNvPr id="11374" name="Line 125"/>
              <p:cNvSpPr/>
              <p:nvPr/>
            </p:nvSpPr>
            <p:spPr>
              <a:xfrm>
                <a:off x="3790" y="3758"/>
                <a:ext cx="93" cy="68"/>
              </a:xfrm>
              <a:prstGeom prst="line">
                <a:avLst/>
              </a:prstGeom>
              <a:ln w="25400" cap="flat" cmpd="sng">
                <a:solidFill>
                  <a:srgbClr val="0000FF"/>
                </a:solidFill>
                <a:prstDash val="solid"/>
                <a:headEnd type="none" w="med" len="med"/>
                <a:tailEnd type="none" w="med" len="med"/>
              </a:ln>
            </p:spPr>
          </p:sp>
          <p:sp>
            <p:nvSpPr>
              <p:cNvPr id="11375" name="Line 126"/>
              <p:cNvSpPr/>
              <p:nvPr/>
            </p:nvSpPr>
            <p:spPr>
              <a:xfrm flipH="1">
                <a:off x="3802" y="3826"/>
                <a:ext cx="93" cy="61"/>
              </a:xfrm>
              <a:prstGeom prst="line">
                <a:avLst/>
              </a:prstGeom>
              <a:ln w="25400" cap="flat" cmpd="sng">
                <a:solidFill>
                  <a:srgbClr val="0000FF"/>
                </a:solidFill>
                <a:prstDash val="solid"/>
                <a:headEnd type="none" w="med" len="med"/>
                <a:tailEnd type="none" w="med" len="med"/>
              </a:ln>
            </p:spPr>
          </p:sp>
          <p:sp>
            <p:nvSpPr>
              <p:cNvPr id="11376" name="Oval 127"/>
              <p:cNvSpPr/>
              <p:nvPr/>
            </p:nvSpPr>
            <p:spPr>
              <a:xfrm>
                <a:off x="3698" y="3789"/>
                <a:ext cx="80" cy="75"/>
              </a:xfrm>
              <a:prstGeom prst="ellipse">
                <a:avLst/>
              </a:prstGeom>
              <a:noFill/>
              <a:ln w="25400" cap="flat" cmpd="sng">
                <a:solidFill>
                  <a:srgbClr val="0000FF"/>
                </a:solidFill>
                <a:prstDash val="solid"/>
                <a:headEnd type="none" w="med" len="med"/>
                <a:tailEnd type="none" w="med" len="med"/>
              </a:ln>
            </p:spPr>
            <p:txBody>
              <a:bodyPr wrap="none" anchor="ctr" anchorCtr="0"/>
              <a:p>
                <a:endParaRPr lang="zh-CN" altLang="en-US" b="1" dirty="0">
                  <a:latin typeface="Arial" panose="020B0604020202020204" pitchFamily="34" charset="0"/>
                </a:endParaRPr>
              </a:p>
            </p:txBody>
          </p:sp>
          <p:sp>
            <p:nvSpPr>
              <p:cNvPr id="11377" name="Rectangle 128"/>
              <p:cNvSpPr/>
              <p:nvPr/>
            </p:nvSpPr>
            <p:spPr>
              <a:xfrm>
                <a:off x="3782" y="3175"/>
                <a:ext cx="500" cy="244"/>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WrEn</a:t>
                </a:r>
                <a:endParaRPr lang="en-US" altLang="zh-CN" b="1" dirty="0">
                  <a:latin typeface="Times New Roman" panose="02020603050405020304" pitchFamily="18" charset="0"/>
                </a:endParaRPr>
              </a:p>
            </p:txBody>
          </p:sp>
          <p:sp>
            <p:nvSpPr>
              <p:cNvPr id="11378" name="Line 129"/>
              <p:cNvSpPr/>
              <p:nvPr/>
            </p:nvSpPr>
            <p:spPr>
              <a:xfrm flipH="1">
                <a:off x="3160" y="3496"/>
                <a:ext cx="640" cy="0"/>
              </a:xfrm>
              <a:prstGeom prst="line">
                <a:avLst/>
              </a:prstGeom>
              <a:ln w="25400" cap="flat" cmpd="sng">
                <a:solidFill>
                  <a:srgbClr val="0000FF"/>
                </a:solidFill>
                <a:prstDash val="solid"/>
                <a:headEnd type="triangle" w="med" len="med"/>
                <a:tailEnd type="none" w="med" len="med"/>
              </a:ln>
            </p:spPr>
          </p:sp>
          <p:sp>
            <p:nvSpPr>
              <p:cNvPr id="11379" name="Line 130"/>
              <p:cNvSpPr/>
              <p:nvPr/>
            </p:nvSpPr>
            <p:spPr>
              <a:xfrm flipH="1">
                <a:off x="3500" y="3455"/>
                <a:ext cx="56" cy="83"/>
              </a:xfrm>
              <a:prstGeom prst="line">
                <a:avLst/>
              </a:prstGeom>
              <a:ln w="12700" cap="flat" cmpd="sng">
                <a:solidFill>
                  <a:srgbClr val="0000FF"/>
                </a:solidFill>
                <a:prstDash val="solid"/>
                <a:headEnd type="none" w="med" len="med"/>
                <a:tailEnd type="none" w="med" len="med"/>
              </a:ln>
            </p:spPr>
          </p:sp>
          <p:sp>
            <p:nvSpPr>
              <p:cNvPr id="11380" name="Rectangle 131"/>
              <p:cNvSpPr/>
              <p:nvPr/>
            </p:nvSpPr>
            <p:spPr>
              <a:xfrm>
                <a:off x="3477" y="3462"/>
                <a:ext cx="261" cy="244"/>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32</a:t>
                </a:r>
                <a:endParaRPr lang="zh-CN" altLang="en-US" b="1" dirty="0">
                  <a:latin typeface="Times New Roman" panose="02020603050405020304" pitchFamily="18" charset="0"/>
                </a:endParaRPr>
              </a:p>
            </p:txBody>
          </p:sp>
          <p:sp>
            <p:nvSpPr>
              <p:cNvPr id="11381" name="Line 132"/>
              <p:cNvSpPr/>
              <p:nvPr/>
            </p:nvSpPr>
            <p:spPr>
              <a:xfrm flipV="1">
                <a:off x="3984" y="3033"/>
                <a:ext cx="0" cy="152"/>
              </a:xfrm>
              <a:prstGeom prst="line">
                <a:avLst/>
              </a:prstGeom>
              <a:ln w="25400" cap="flat" cmpd="sng">
                <a:solidFill>
                  <a:srgbClr val="0000FF"/>
                </a:solidFill>
                <a:prstDash val="solid"/>
                <a:headEnd type="none" w="med" len="med"/>
                <a:tailEnd type="none" w="med" len="med"/>
              </a:ln>
            </p:spPr>
          </p:sp>
          <p:sp>
            <p:nvSpPr>
              <p:cNvPr id="11382" name="Line 133"/>
              <p:cNvSpPr/>
              <p:nvPr/>
            </p:nvSpPr>
            <p:spPr>
              <a:xfrm>
                <a:off x="4320" y="2743"/>
                <a:ext cx="0" cy="439"/>
              </a:xfrm>
              <a:prstGeom prst="line">
                <a:avLst/>
              </a:prstGeom>
              <a:ln w="25400" cap="flat" cmpd="sng">
                <a:solidFill>
                  <a:srgbClr val="0000FF"/>
                </a:solidFill>
                <a:prstDash val="solid"/>
                <a:headEnd type="oval" w="med" len="med"/>
                <a:tailEnd type="triangle" w="med" len="med"/>
              </a:ln>
            </p:spPr>
          </p:sp>
          <p:sp>
            <p:nvSpPr>
              <p:cNvPr id="11383" name="Rectangle 134"/>
              <p:cNvSpPr/>
              <p:nvPr/>
            </p:nvSpPr>
            <p:spPr>
              <a:xfrm>
                <a:off x="4167" y="3176"/>
                <a:ext cx="366" cy="244"/>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Adr</a:t>
                </a:r>
                <a:endParaRPr lang="en-US" altLang="zh-CN" b="1" dirty="0">
                  <a:latin typeface="Times New Roman" panose="02020603050405020304" pitchFamily="18" charset="0"/>
                </a:endParaRPr>
              </a:p>
            </p:txBody>
          </p:sp>
          <p:sp>
            <p:nvSpPr>
              <p:cNvPr id="11384" name="Rectangle 135"/>
              <p:cNvSpPr/>
              <p:nvPr/>
            </p:nvSpPr>
            <p:spPr>
              <a:xfrm>
                <a:off x="3772" y="3404"/>
                <a:ext cx="648" cy="391"/>
              </a:xfrm>
              <a:prstGeom prst="rect">
                <a:avLst/>
              </a:prstGeom>
              <a:noFill/>
              <a:ln w="12700">
                <a:noFill/>
              </a:ln>
            </p:spPr>
            <p:txBody>
              <a:bodyPr wrap="none" lIns="90488" tIns="44450" rIns="90488" bIns="44450">
                <a:spAutoFit/>
              </a:bodyPr>
              <a:p>
                <a:pPr algn="ctr" eaLnBrk="0" hangingPunct="0">
                  <a:lnSpc>
                    <a:spcPct val="90000"/>
                  </a:lnSpc>
                </a:pPr>
                <a:r>
                  <a:rPr lang="en-US" altLang="zh-CN" b="1" dirty="0">
                    <a:latin typeface="Times New Roman" panose="02020603050405020304" pitchFamily="18" charset="0"/>
                  </a:rPr>
                  <a:t>Data</a:t>
                </a:r>
                <a:endParaRPr lang="en-US" altLang="zh-CN" b="1" dirty="0">
                  <a:latin typeface="Times New Roman" panose="02020603050405020304" pitchFamily="18" charset="0"/>
                </a:endParaRPr>
              </a:p>
              <a:p>
                <a:pPr algn="ctr" eaLnBrk="0" hangingPunct="0">
                  <a:lnSpc>
                    <a:spcPct val="90000"/>
                  </a:lnSpc>
                </a:pPr>
                <a:r>
                  <a:rPr lang="en-US" altLang="zh-CN" b="1" dirty="0">
                    <a:latin typeface="Times New Roman" panose="02020603050405020304" pitchFamily="18" charset="0"/>
                  </a:rPr>
                  <a:t>Memory</a:t>
                </a:r>
                <a:endParaRPr lang="en-US" altLang="zh-CN" b="1" dirty="0">
                  <a:latin typeface="Times New Roman" panose="02020603050405020304" pitchFamily="18" charset="0"/>
                </a:endParaRPr>
              </a:p>
            </p:txBody>
          </p:sp>
          <p:sp>
            <p:nvSpPr>
              <p:cNvPr id="11385" name="Line 136"/>
              <p:cNvSpPr/>
              <p:nvPr/>
            </p:nvSpPr>
            <p:spPr>
              <a:xfrm>
                <a:off x="4616" y="3065"/>
                <a:ext cx="272" cy="0"/>
              </a:xfrm>
              <a:prstGeom prst="line">
                <a:avLst/>
              </a:prstGeom>
              <a:ln w="25400" cap="flat" cmpd="sng">
                <a:solidFill>
                  <a:srgbClr val="0000FF"/>
                </a:solidFill>
                <a:prstDash val="solid"/>
                <a:headEnd type="none" w="med" len="med"/>
                <a:tailEnd type="triangle" w="med" len="med"/>
              </a:ln>
            </p:spPr>
          </p:sp>
          <p:sp>
            <p:nvSpPr>
              <p:cNvPr id="11386" name="Line 137"/>
              <p:cNvSpPr/>
              <p:nvPr/>
            </p:nvSpPr>
            <p:spPr>
              <a:xfrm>
                <a:off x="4608" y="3049"/>
                <a:ext cx="0" cy="485"/>
              </a:xfrm>
              <a:prstGeom prst="line">
                <a:avLst/>
              </a:prstGeom>
              <a:ln w="25400" cap="flat" cmpd="sng">
                <a:solidFill>
                  <a:srgbClr val="0000FF"/>
                </a:solidFill>
                <a:prstDash val="solid"/>
                <a:headEnd type="none" w="med" len="med"/>
                <a:tailEnd type="none" w="med" len="med"/>
              </a:ln>
            </p:spPr>
          </p:sp>
          <p:sp>
            <p:nvSpPr>
              <p:cNvPr id="11387" name="Line 138"/>
              <p:cNvSpPr/>
              <p:nvPr/>
            </p:nvSpPr>
            <p:spPr>
              <a:xfrm flipH="1">
                <a:off x="4504" y="3542"/>
                <a:ext cx="112" cy="0"/>
              </a:xfrm>
              <a:prstGeom prst="line">
                <a:avLst/>
              </a:prstGeom>
              <a:ln w="25400" cap="flat" cmpd="sng">
                <a:solidFill>
                  <a:srgbClr val="0000FF"/>
                </a:solidFill>
                <a:prstDash val="solid"/>
                <a:headEnd type="none" w="med" len="med"/>
                <a:tailEnd type="none" w="med" len="med"/>
              </a:ln>
            </p:spPr>
          </p:sp>
          <p:sp>
            <p:nvSpPr>
              <p:cNvPr id="11388" name="Line 139"/>
              <p:cNvSpPr/>
              <p:nvPr/>
            </p:nvSpPr>
            <p:spPr>
              <a:xfrm flipH="1">
                <a:off x="4666" y="3023"/>
                <a:ext cx="56" cy="83"/>
              </a:xfrm>
              <a:prstGeom prst="line">
                <a:avLst/>
              </a:prstGeom>
              <a:ln w="12700" cap="flat" cmpd="sng">
                <a:solidFill>
                  <a:srgbClr val="0000FF"/>
                </a:solidFill>
                <a:prstDash val="solid"/>
                <a:headEnd type="none" w="med" len="med"/>
                <a:tailEnd type="none" w="med" len="med"/>
              </a:ln>
            </p:spPr>
          </p:sp>
          <p:sp>
            <p:nvSpPr>
              <p:cNvPr id="11389" name="Rectangle 140"/>
              <p:cNvSpPr/>
              <p:nvPr/>
            </p:nvSpPr>
            <p:spPr>
              <a:xfrm>
                <a:off x="4652" y="3023"/>
                <a:ext cx="261" cy="244"/>
              </a:xfrm>
              <a:prstGeom prst="rect">
                <a:avLst/>
              </a:prstGeom>
              <a:noFill/>
              <a:ln w="12700">
                <a:noFill/>
              </a:ln>
            </p:spPr>
            <p:txBody>
              <a:bodyPr wrap="none" lIns="90488" tIns="44450" rIns="90488" bIns="44450">
                <a:spAutoFit/>
              </a:bodyPr>
              <a:p>
                <a:pPr eaLnBrk="0" hangingPunct="0"/>
                <a:r>
                  <a:rPr lang="zh-CN" altLang="en-US" b="1" dirty="0">
                    <a:latin typeface="Times New Roman" panose="02020603050405020304" pitchFamily="18" charset="0"/>
                  </a:rPr>
                  <a:t>32</a:t>
                </a:r>
                <a:endParaRPr lang="zh-CN" altLang="en-US" b="1" dirty="0">
                  <a:latin typeface="Times New Roman" panose="02020603050405020304" pitchFamily="18" charset="0"/>
                </a:endParaRPr>
              </a:p>
            </p:txBody>
          </p:sp>
          <p:sp>
            <p:nvSpPr>
              <p:cNvPr id="11390" name="Rectangle 141"/>
              <p:cNvSpPr/>
              <p:nvPr/>
            </p:nvSpPr>
            <p:spPr>
              <a:xfrm>
                <a:off x="3543" y="2857"/>
                <a:ext cx="704" cy="264"/>
              </a:xfrm>
              <a:prstGeom prst="rect">
                <a:avLst/>
              </a:prstGeom>
              <a:noFill/>
              <a:ln w="12700">
                <a:noFill/>
              </a:ln>
            </p:spPr>
            <p:txBody>
              <a:bodyPr wrap="none" lIns="90488" tIns="44450" rIns="90488" bIns="44450">
                <a:spAutoFit/>
              </a:bodyPr>
              <a:p>
                <a:pPr eaLnBrk="0" hangingPunct="0"/>
                <a:r>
                  <a:rPr lang="en-US" altLang="zh-CN" b="1" dirty="0">
                    <a:solidFill>
                      <a:srgbClr val="A50021"/>
                    </a:solidFill>
                    <a:latin typeface="Times New Roman" panose="02020603050405020304" pitchFamily="18" charset="0"/>
                  </a:rPr>
                  <a:t>MemWr</a:t>
                </a:r>
                <a:endParaRPr lang="en-US" altLang="zh-CN" b="1" dirty="0">
                  <a:solidFill>
                    <a:srgbClr val="A50021"/>
                  </a:solidFill>
                  <a:latin typeface="Times New Roman" panose="02020603050405020304" pitchFamily="18" charset="0"/>
                </a:endParaRPr>
              </a:p>
            </p:txBody>
          </p:sp>
        </p:grpSp>
      </p:grpSp>
      <p:grpSp>
        <p:nvGrpSpPr>
          <p:cNvPr id="11331" name="Group 146"/>
          <p:cNvGrpSpPr/>
          <p:nvPr/>
        </p:nvGrpSpPr>
        <p:grpSpPr>
          <a:xfrm>
            <a:off x="1697038" y="2366963"/>
            <a:ext cx="804862" cy="409575"/>
            <a:chOff x="1625" y="1725"/>
            <a:chExt cx="507" cy="258"/>
          </a:xfrm>
        </p:grpSpPr>
        <p:sp>
          <p:nvSpPr>
            <p:cNvPr id="11359" name="Text Box 147"/>
            <p:cNvSpPr txBox="1"/>
            <p:nvPr/>
          </p:nvSpPr>
          <p:spPr>
            <a:xfrm>
              <a:off x="1625" y="1752"/>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0</a:t>
              </a:r>
              <a:endParaRPr lang="en-US" altLang="zh-CN" b="1" dirty="0">
                <a:solidFill>
                  <a:schemeClr val="accent2"/>
                </a:solidFill>
                <a:latin typeface="Times New Roman" panose="02020603050405020304" pitchFamily="18" charset="0"/>
              </a:endParaRPr>
            </a:p>
          </p:txBody>
        </p:sp>
        <p:sp>
          <p:nvSpPr>
            <p:cNvPr id="11360" name="Text Box 148"/>
            <p:cNvSpPr txBox="1"/>
            <p:nvPr/>
          </p:nvSpPr>
          <p:spPr>
            <a:xfrm>
              <a:off x="2004" y="1725"/>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1</a:t>
              </a:r>
              <a:endParaRPr lang="en-US" altLang="zh-CN" b="1" dirty="0">
                <a:solidFill>
                  <a:schemeClr val="accent2"/>
                </a:solidFill>
                <a:latin typeface="Times New Roman" panose="02020603050405020304" pitchFamily="18" charset="0"/>
              </a:endParaRPr>
            </a:p>
          </p:txBody>
        </p:sp>
      </p:grpSp>
      <p:grpSp>
        <p:nvGrpSpPr>
          <p:cNvPr id="11332" name="Group 149"/>
          <p:cNvGrpSpPr/>
          <p:nvPr/>
        </p:nvGrpSpPr>
        <p:grpSpPr>
          <a:xfrm>
            <a:off x="7612063" y="3657600"/>
            <a:ext cx="214312" cy="1022350"/>
            <a:chOff x="3040" y="2765"/>
            <a:chExt cx="135" cy="644"/>
          </a:xfrm>
        </p:grpSpPr>
        <p:sp>
          <p:nvSpPr>
            <p:cNvPr id="11357" name="Text Box 150"/>
            <p:cNvSpPr txBox="1"/>
            <p:nvPr/>
          </p:nvSpPr>
          <p:spPr>
            <a:xfrm>
              <a:off x="3040" y="2765"/>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0</a:t>
              </a:r>
              <a:endParaRPr lang="en-US" altLang="zh-CN" b="1" dirty="0">
                <a:solidFill>
                  <a:schemeClr val="accent2"/>
                </a:solidFill>
                <a:latin typeface="Times New Roman" panose="02020603050405020304" pitchFamily="18" charset="0"/>
              </a:endParaRPr>
            </a:p>
          </p:txBody>
        </p:sp>
        <p:sp>
          <p:nvSpPr>
            <p:cNvPr id="11358" name="Text Box 151"/>
            <p:cNvSpPr txBox="1"/>
            <p:nvPr/>
          </p:nvSpPr>
          <p:spPr>
            <a:xfrm>
              <a:off x="3047" y="3178"/>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1</a:t>
              </a:r>
              <a:endParaRPr lang="en-US" altLang="zh-CN" b="1" dirty="0">
                <a:solidFill>
                  <a:schemeClr val="accent2"/>
                </a:solidFill>
                <a:latin typeface="Times New Roman" panose="02020603050405020304" pitchFamily="18" charset="0"/>
              </a:endParaRPr>
            </a:p>
          </p:txBody>
        </p:sp>
      </p:grpSp>
      <p:sp>
        <p:nvSpPr>
          <p:cNvPr id="145" name="Text Box 153"/>
          <p:cNvSpPr txBox="1"/>
          <p:nvPr/>
        </p:nvSpPr>
        <p:spPr>
          <a:xfrm>
            <a:off x="1187450" y="5248275"/>
            <a:ext cx="1785938" cy="769938"/>
          </a:xfrm>
          <a:prstGeom prst="rect">
            <a:avLst/>
          </a:prstGeom>
          <a:noFill/>
          <a:ln w="50800">
            <a:noFill/>
          </a:ln>
        </p:spPr>
        <p:txBody>
          <a:bodyPr>
            <a:spAutoFit/>
          </a:bodyPr>
          <a:p>
            <a:pPr eaLnBrk="0" hangingPunct="0"/>
            <a:r>
              <a:rPr lang="en-US" altLang="zh-CN" sz="2200" b="1" dirty="0">
                <a:solidFill>
                  <a:srgbClr val="0000FF"/>
                </a:solidFill>
                <a:latin typeface="Times New Roman" panose="02020603050405020304" pitchFamily="18" charset="0"/>
                <a:ea typeface="华文新魏" panose="02010800040101010101" pitchFamily="2" charset="-122"/>
              </a:rPr>
              <a:t>0</a:t>
            </a:r>
            <a:r>
              <a:rPr lang="zh-CN" altLang="en-US" sz="2200" b="1" dirty="0">
                <a:solidFill>
                  <a:srgbClr val="0000FF"/>
                </a:solidFill>
                <a:latin typeface="Times New Roman" panose="02020603050405020304" pitchFamily="18" charset="0"/>
                <a:ea typeface="华文新魏" panose="02010800040101010101" pitchFamily="2" charset="-122"/>
              </a:rPr>
              <a:t>：零扩展，</a:t>
            </a:r>
            <a:endParaRPr lang="en-US" altLang="zh-CN" sz="2200" b="1" dirty="0">
              <a:solidFill>
                <a:srgbClr val="0000FF"/>
              </a:solidFill>
              <a:latin typeface="Times New Roman" panose="02020603050405020304" pitchFamily="18" charset="0"/>
              <a:ea typeface="华文新魏" panose="02010800040101010101" pitchFamily="2" charset="-122"/>
            </a:endParaRPr>
          </a:p>
          <a:p>
            <a:pPr eaLnBrk="0" hangingPunct="0"/>
            <a:r>
              <a:rPr lang="en-US" altLang="zh-CN" sz="2200" b="1" dirty="0">
                <a:solidFill>
                  <a:srgbClr val="FF0000"/>
                </a:solidFill>
                <a:latin typeface="Times New Roman" panose="02020603050405020304" pitchFamily="18" charset="0"/>
                <a:ea typeface="华文新魏" panose="02010800040101010101" pitchFamily="2" charset="-122"/>
              </a:rPr>
              <a:t>1</a:t>
            </a:r>
            <a:r>
              <a:rPr lang="zh-CN" altLang="en-US" sz="2200" b="1" dirty="0">
                <a:solidFill>
                  <a:srgbClr val="FF0000"/>
                </a:solidFill>
                <a:latin typeface="Times New Roman" panose="02020603050405020304" pitchFamily="18" charset="0"/>
                <a:ea typeface="华文新魏" panose="02010800040101010101" pitchFamily="2" charset="-122"/>
              </a:rPr>
              <a:t>：符号扩展</a:t>
            </a:r>
            <a:endParaRPr lang="zh-CN" altLang="en-US" sz="2200" b="1" dirty="0">
              <a:solidFill>
                <a:srgbClr val="FF0000"/>
              </a:solidFill>
              <a:latin typeface="Times New Roman" panose="02020603050405020304" pitchFamily="18" charset="0"/>
              <a:ea typeface="华文新魏" panose="02010800040101010101" pitchFamily="2" charset="-122"/>
            </a:endParaRPr>
          </a:p>
        </p:txBody>
      </p:sp>
      <p:grpSp>
        <p:nvGrpSpPr>
          <p:cNvPr id="11334" name="Group 154"/>
          <p:cNvGrpSpPr/>
          <p:nvPr/>
        </p:nvGrpSpPr>
        <p:grpSpPr>
          <a:xfrm>
            <a:off x="4011613" y="4206875"/>
            <a:ext cx="214312" cy="1022350"/>
            <a:chOff x="3040" y="2828"/>
            <a:chExt cx="135" cy="644"/>
          </a:xfrm>
        </p:grpSpPr>
        <p:sp>
          <p:nvSpPr>
            <p:cNvPr id="11355" name="Text Box 155"/>
            <p:cNvSpPr txBox="1"/>
            <p:nvPr/>
          </p:nvSpPr>
          <p:spPr>
            <a:xfrm>
              <a:off x="3047" y="2828"/>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0</a:t>
              </a:r>
              <a:endParaRPr lang="en-US" altLang="zh-CN" b="1" dirty="0">
                <a:solidFill>
                  <a:schemeClr val="accent2"/>
                </a:solidFill>
                <a:latin typeface="Times New Roman" panose="02020603050405020304" pitchFamily="18" charset="0"/>
              </a:endParaRPr>
            </a:p>
          </p:txBody>
        </p:sp>
        <p:sp>
          <p:nvSpPr>
            <p:cNvPr id="11356" name="Text Box 156"/>
            <p:cNvSpPr txBox="1"/>
            <p:nvPr/>
          </p:nvSpPr>
          <p:spPr>
            <a:xfrm>
              <a:off x="3040" y="3241"/>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1</a:t>
              </a:r>
              <a:endParaRPr lang="en-US" altLang="zh-CN" b="1" dirty="0">
                <a:solidFill>
                  <a:schemeClr val="accent2"/>
                </a:solidFill>
                <a:latin typeface="Times New Roman" panose="02020603050405020304" pitchFamily="18" charset="0"/>
              </a:endParaRPr>
            </a:p>
          </p:txBody>
        </p:sp>
      </p:grpSp>
      <p:sp>
        <p:nvSpPr>
          <p:cNvPr id="11335" name="Line 157"/>
          <p:cNvSpPr/>
          <p:nvPr/>
        </p:nvSpPr>
        <p:spPr>
          <a:xfrm>
            <a:off x="971550" y="4411663"/>
            <a:ext cx="576263" cy="0"/>
          </a:xfrm>
          <a:prstGeom prst="line">
            <a:avLst/>
          </a:prstGeom>
          <a:ln w="28575" cap="flat" cmpd="sng">
            <a:solidFill>
              <a:schemeClr val="tx1"/>
            </a:solidFill>
            <a:prstDash val="solid"/>
            <a:headEnd type="none" w="med" len="med"/>
            <a:tailEnd type="none" w="med" len="med"/>
          </a:ln>
        </p:spPr>
      </p:sp>
      <p:cxnSp>
        <p:nvCxnSpPr>
          <p:cNvPr id="150" name="直接连接符 149"/>
          <p:cNvCxnSpPr>
            <a:endCxn id="11305" idx="0"/>
          </p:cNvCxnSpPr>
          <p:nvPr/>
        </p:nvCxnSpPr>
        <p:spPr>
          <a:xfrm rot="16200000" flipH="1">
            <a:off x="7529513" y="5111750"/>
            <a:ext cx="1809750" cy="2540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571500" y="1252538"/>
            <a:ext cx="6350000" cy="46196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p"/>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rPr>
              <a:t>LWI</a:t>
            </a:r>
            <a:r>
              <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rPr>
              <a:t>指令功能：</a:t>
            </a:r>
            <a:r>
              <a:rPr kumimoji="0" lang="en-US" altLang="zh-CN" sz="24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R[rt] </a:t>
            </a:r>
            <a:r>
              <a:rPr kumimoji="0" lang="en-US" altLang="zh-CN" sz="24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Arial" panose="020B0604020202020204" pitchFamily="34" charset="0"/>
                <a:sym typeface="Wingdings" panose="05000000000000000000" pitchFamily="2" charset="2"/>
              </a:rPr>
              <a:t>←</a:t>
            </a:r>
            <a:r>
              <a:rPr kumimoji="0" lang="en-US" altLang="zh-CN" sz="24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 M[ </a:t>
            </a:r>
            <a:r>
              <a:rPr kumimoji="0" lang="en-US" altLang="zh-CN" sz="2400" b="1" i="0" u="none" strike="noStrike" kern="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R[rs] + R[rd]</a:t>
            </a:r>
            <a:r>
              <a:rPr kumimoji="0" lang="en-US" altLang="zh-CN" sz="24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 ] </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38" name="Rectangle 75"/>
          <p:cNvSpPr/>
          <p:nvPr/>
        </p:nvSpPr>
        <p:spPr>
          <a:xfrm>
            <a:off x="3605213" y="1900238"/>
            <a:ext cx="427037" cy="366712"/>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Rt</a:t>
            </a:r>
            <a:endParaRPr lang="en-US" altLang="zh-CN" b="1" dirty="0">
              <a:latin typeface="Times New Roman" panose="02020603050405020304" pitchFamily="18" charset="0"/>
            </a:endParaRPr>
          </a:p>
        </p:txBody>
      </p:sp>
      <p:grpSp>
        <p:nvGrpSpPr>
          <p:cNvPr id="11339" name="Group 81"/>
          <p:cNvGrpSpPr/>
          <p:nvPr/>
        </p:nvGrpSpPr>
        <p:grpSpPr>
          <a:xfrm>
            <a:off x="2903538" y="2471738"/>
            <a:ext cx="1168400" cy="288925"/>
            <a:chOff x="928" y="1788"/>
            <a:chExt cx="736" cy="182"/>
          </a:xfrm>
        </p:grpSpPr>
        <p:sp>
          <p:nvSpPr>
            <p:cNvPr id="11351" name="Line 82"/>
            <p:cNvSpPr/>
            <p:nvPr/>
          </p:nvSpPr>
          <p:spPr>
            <a:xfrm flipH="1">
              <a:off x="928" y="1788"/>
              <a:ext cx="736" cy="0"/>
            </a:xfrm>
            <a:prstGeom prst="line">
              <a:avLst/>
            </a:prstGeom>
            <a:ln w="25400" cap="flat" cmpd="sng">
              <a:solidFill>
                <a:srgbClr val="0000FF"/>
              </a:solidFill>
              <a:prstDash val="solid"/>
              <a:headEnd type="none" w="med" len="med"/>
              <a:tailEnd type="none" w="med" len="med"/>
            </a:ln>
          </p:spPr>
        </p:sp>
        <p:sp>
          <p:nvSpPr>
            <p:cNvPr id="11352" name="Line 83"/>
            <p:cNvSpPr/>
            <p:nvPr/>
          </p:nvSpPr>
          <p:spPr>
            <a:xfrm flipH="1">
              <a:off x="1552" y="1796"/>
              <a:ext cx="112" cy="166"/>
            </a:xfrm>
            <a:prstGeom prst="line">
              <a:avLst/>
            </a:prstGeom>
            <a:ln w="25400" cap="flat" cmpd="sng">
              <a:solidFill>
                <a:srgbClr val="0000FF"/>
              </a:solidFill>
              <a:prstDash val="solid"/>
              <a:headEnd type="none" w="med" len="med"/>
              <a:tailEnd type="none" w="med" len="med"/>
            </a:ln>
          </p:spPr>
        </p:sp>
        <p:sp>
          <p:nvSpPr>
            <p:cNvPr id="11353" name="Line 84"/>
            <p:cNvSpPr/>
            <p:nvPr/>
          </p:nvSpPr>
          <p:spPr>
            <a:xfrm>
              <a:off x="944" y="1796"/>
              <a:ext cx="80" cy="166"/>
            </a:xfrm>
            <a:prstGeom prst="line">
              <a:avLst/>
            </a:prstGeom>
            <a:ln w="25400" cap="flat" cmpd="sng">
              <a:solidFill>
                <a:srgbClr val="0000FF"/>
              </a:solidFill>
              <a:prstDash val="solid"/>
              <a:headEnd type="none" w="med" len="med"/>
              <a:tailEnd type="none" w="med" len="med"/>
            </a:ln>
          </p:spPr>
        </p:sp>
        <p:sp>
          <p:nvSpPr>
            <p:cNvPr id="11354" name="Line 85"/>
            <p:cNvSpPr/>
            <p:nvPr/>
          </p:nvSpPr>
          <p:spPr>
            <a:xfrm flipH="1">
              <a:off x="1024" y="1970"/>
              <a:ext cx="544" cy="0"/>
            </a:xfrm>
            <a:prstGeom prst="line">
              <a:avLst/>
            </a:prstGeom>
            <a:ln w="25400" cap="flat" cmpd="sng">
              <a:solidFill>
                <a:srgbClr val="0000FF"/>
              </a:solidFill>
              <a:prstDash val="solid"/>
              <a:headEnd type="none" w="med" len="med"/>
              <a:tailEnd type="none" w="med" len="med"/>
            </a:ln>
          </p:spPr>
        </p:sp>
      </p:grpSp>
      <p:sp>
        <p:nvSpPr>
          <p:cNvPr id="11340" name="Line 87"/>
          <p:cNvSpPr/>
          <p:nvPr/>
        </p:nvSpPr>
        <p:spPr>
          <a:xfrm>
            <a:off x="3792538" y="2230438"/>
            <a:ext cx="0" cy="236537"/>
          </a:xfrm>
          <a:prstGeom prst="line">
            <a:avLst/>
          </a:prstGeom>
          <a:ln w="25400" cap="flat" cmpd="sng">
            <a:solidFill>
              <a:schemeClr val="tx1"/>
            </a:solidFill>
            <a:prstDash val="solid"/>
            <a:headEnd type="none" w="med" len="med"/>
            <a:tailEnd type="none" w="med" len="med"/>
          </a:ln>
        </p:spPr>
      </p:sp>
      <p:sp>
        <p:nvSpPr>
          <p:cNvPr id="11341" name="Line 88"/>
          <p:cNvSpPr/>
          <p:nvPr/>
        </p:nvSpPr>
        <p:spPr>
          <a:xfrm flipH="1">
            <a:off x="3168650" y="2216150"/>
            <a:ext cx="0" cy="265113"/>
          </a:xfrm>
          <a:prstGeom prst="line">
            <a:avLst/>
          </a:prstGeom>
          <a:ln w="25400" cap="flat" cmpd="sng">
            <a:solidFill>
              <a:schemeClr val="tx1"/>
            </a:solidFill>
            <a:prstDash val="solid"/>
            <a:headEnd type="none" w="med" len="med"/>
            <a:tailEnd type="none" w="med" len="med"/>
          </a:ln>
        </p:spPr>
      </p:sp>
      <p:sp>
        <p:nvSpPr>
          <p:cNvPr id="11342" name="Rectangle 89"/>
          <p:cNvSpPr/>
          <p:nvPr/>
        </p:nvSpPr>
        <p:spPr>
          <a:xfrm>
            <a:off x="2957513" y="1911350"/>
            <a:ext cx="477837" cy="366713"/>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Rd</a:t>
            </a:r>
            <a:endParaRPr lang="en-US" altLang="zh-CN" b="1" dirty="0">
              <a:latin typeface="Times New Roman" panose="02020603050405020304" pitchFamily="18" charset="0"/>
            </a:endParaRPr>
          </a:p>
        </p:txBody>
      </p:sp>
      <p:sp>
        <p:nvSpPr>
          <p:cNvPr id="11343" name="Line 90"/>
          <p:cNvSpPr/>
          <p:nvPr/>
        </p:nvSpPr>
        <p:spPr>
          <a:xfrm flipH="1">
            <a:off x="3989388" y="2616200"/>
            <a:ext cx="939800" cy="0"/>
          </a:xfrm>
          <a:prstGeom prst="line">
            <a:avLst/>
          </a:prstGeom>
          <a:ln w="25400" cap="flat" cmpd="sng">
            <a:solidFill>
              <a:schemeClr val="tx1"/>
            </a:solidFill>
            <a:prstDash val="solid"/>
            <a:headEnd type="none" w="med" len="med"/>
            <a:tailEnd type="triangle" w="med" len="med"/>
          </a:ln>
        </p:spPr>
      </p:sp>
      <p:sp>
        <p:nvSpPr>
          <p:cNvPr id="11344" name="Rectangle 91"/>
          <p:cNvSpPr/>
          <p:nvPr/>
        </p:nvSpPr>
        <p:spPr>
          <a:xfrm>
            <a:off x="4090988" y="2222500"/>
            <a:ext cx="1123950" cy="398463"/>
          </a:xfrm>
          <a:prstGeom prst="rect">
            <a:avLst/>
          </a:prstGeom>
          <a:noFill/>
          <a:ln w="12700">
            <a:noFill/>
          </a:ln>
        </p:spPr>
        <p:txBody>
          <a:bodyPr wrap="none" lIns="90488" tIns="44450" rIns="90488" bIns="44450">
            <a:spAutoFit/>
          </a:bodyPr>
          <a:p>
            <a:pPr eaLnBrk="0" hangingPunct="0"/>
            <a:r>
              <a:rPr lang="en-US" altLang="zh-CN" b="1" dirty="0">
                <a:solidFill>
                  <a:srgbClr val="FF0000"/>
                </a:solidFill>
                <a:latin typeface="Times New Roman" panose="02020603050405020304" pitchFamily="18" charset="0"/>
              </a:rPr>
              <a:t>SRegDst</a:t>
            </a:r>
            <a:endParaRPr lang="en-US" altLang="zh-CN" b="1" dirty="0">
              <a:solidFill>
                <a:srgbClr val="FF0000"/>
              </a:solidFill>
              <a:latin typeface="Times New Roman" panose="02020603050405020304" pitchFamily="18" charset="0"/>
            </a:endParaRPr>
          </a:p>
        </p:txBody>
      </p:sp>
      <p:sp>
        <p:nvSpPr>
          <p:cNvPr id="11345" name="Rectangle 94"/>
          <p:cNvSpPr/>
          <p:nvPr/>
        </p:nvSpPr>
        <p:spPr>
          <a:xfrm>
            <a:off x="3148013" y="2443163"/>
            <a:ext cx="644525" cy="366712"/>
          </a:xfrm>
          <a:prstGeom prst="rect">
            <a:avLst/>
          </a:prstGeom>
          <a:noFill/>
          <a:ln w="12700">
            <a:noFill/>
          </a:ln>
        </p:spPr>
        <p:txBody>
          <a:bodyPr wrap="none" lIns="90488" tIns="44450" rIns="90488" bIns="44450">
            <a:spAutoFit/>
          </a:bodyPr>
          <a:p>
            <a:pPr eaLnBrk="0" hangingPunct="0"/>
            <a:r>
              <a:rPr lang="en-US" altLang="zh-CN" b="1" dirty="0">
                <a:latin typeface="Times New Roman" panose="02020603050405020304" pitchFamily="18" charset="0"/>
              </a:rPr>
              <a:t>Mux</a:t>
            </a:r>
            <a:endParaRPr lang="en-US" altLang="zh-CN" b="1" dirty="0">
              <a:latin typeface="Times New Roman" panose="02020603050405020304" pitchFamily="18" charset="0"/>
            </a:endParaRPr>
          </a:p>
        </p:txBody>
      </p:sp>
      <p:grpSp>
        <p:nvGrpSpPr>
          <p:cNvPr id="11346" name="Group 146"/>
          <p:cNvGrpSpPr/>
          <p:nvPr/>
        </p:nvGrpSpPr>
        <p:grpSpPr>
          <a:xfrm>
            <a:off x="3024188" y="2357438"/>
            <a:ext cx="833437" cy="381000"/>
            <a:chOff x="1607" y="1716"/>
            <a:chExt cx="525" cy="240"/>
          </a:xfrm>
        </p:grpSpPr>
        <p:sp>
          <p:nvSpPr>
            <p:cNvPr id="11349" name="Text Box 147"/>
            <p:cNvSpPr txBox="1"/>
            <p:nvPr/>
          </p:nvSpPr>
          <p:spPr>
            <a:xfrm>
              <a:off x="1607" y="1725"/>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0</a:t>
              </a:r>
              <a:endParaRPr lang="en-US" altLang="zh-CN" b="1" dirty="0">
                <a:solidFill>
                  <a:schemeClr val="accent2"/>
                </a:solidFill>
                <a:latin typeface="Times New Roman" panose="02020603050405020304" pitchFamily="18" charset="0"/>
              </a:endParaRPr>
            </a:p>
          </p:txBody>
        </p:sp>
        <p:sp>
          <p:nvSpPr>
            <p:cNvPr id="11350" name="Text Box 148"/>
            <p:cNvSpPr txBox="1"/>
            <p:nvPr/>
          </p:nvSpPr>
          <p:spPr>
            <a:xfrm>
              <a:off x="2004" y="1716"/>
              <a:ext cx="128" cy="231"/>
            </a:xfrm>
            <a:prstGeom prst="rect">
              <a:avLst/>
            </a:prstGeom>
            <a:noFill/>
            <a:ln w="50800">
              <a:noFill/>
            </a:ln>
          </p:spPr>
          <p:txBody>
            <a:bodyPr>
              <a:spAutoFit/>
            </a:bodyPr>
            <a:p>
              <a:pPr eaLnBrk="0" hangingPunct="0">
                <a:spcBef>
                  <a:spcPct val="50000"/>
                </a:spcBef>
              </a:pPr>
              <a:r>
                <a:rPr lang="en-US" altLang="zh-CN" b="1" dirty="0">
                  <a:solidFill>
                    <a:schemeClr val="accent2"/>
                  </a:solidFill>
                  <a:latin typeface="Times New Roman" panose="02020603050405020304" pitchFamily="18" charset="0"/>
                </a:rPr>
                <a:t>1</a:t>
              </a:r>
              <a:endParaRPr lang="en-US" altLang="zh-CN" b="1" dirty="0">
                <a:solidFill>
                  <a:schemeClr val="accent2"/>
                </a:solidFill>
                <a:latin typeface="Times New Roman" panose="02020603050405020304" pitchFamily="18" charset="0"/>
              </a:endParaRPr>
            </a:p>
          </p:txBody>
        </p:sp>
      </p:grpSp>
      <p:cxnSp>
        <p:nvCxnSpPr>
          <p:cNvPr id="168" name="直接连接符 167"/>
          <p:cNvCxnSpPr/>
          <p:nvPr/>
        </p:nvCxnSpPr>
        <p:spPr>
          <a:xfrm flipV="1">
            <a:off x="2959100" y="3000375"/>
            <a:ext cx="54133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rot="5400000">
            <a:off x="3356769" y="2856706"/>
            <a:ext cx="28575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blinds(horizontal)">
                                      <p:cBhvr>
                                        <p:cTn id="12"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b" anchorCtr="0"/>
          <a:p>
            <a:pPr eaLnBrk="1" hangingPunct="1"/>
            <a:r>
              <a:rPr lang="zh-CN" altLang="en-US" dirty="0"/>
              <a:t>数据通路设计实例 </a:t>
            </a:r>
            <a:endParaRPr lang="zh-CN" altLang="en-US" dirty="0"/>
          </a:p>
        </p:txBody>
      </p:sp>
      <p:sp>
        <p:nvSpPr>
          <p:cNvPr id="5" name="TextBox 4"/>
          <p:cNvSpPr txBox="1"/>
          <p:nvPr/>
        </p:nvSpPr>
        <p:spPr>
          <a:xfrm>
            <a:off x="571500" y="1214438"/>
            <a:ext cx="8286750" cy="2707005"/>
          </a:xfrm>
          <a:prstGeom prst="rect">
            <a:avLst/>
          </a:prstGeom>
          <a:noFill/>
        </p:spPr>
        <p:txBody>
          <a:bodyPr>
            <a:spAutoFit/>
          </a:bodyPr>
          <a:lstStyle/>
          <a:p>
            <a:pPr marR="0" defTabSz="914400">
              <a:buClrTx/>
              <a:buSzTx/>
              <a:buFontTx/>
              <a:buNone/>
              <a:defRPr/>
            </a:pP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a:t>
            </a:r>
            <a:r>
              <a:rPr kumimoji="0" lang="en-US" altLang="zh-CN"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3</a:t>
            </a: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Consider the following instruction mix:</a:t>
            </a:r>
            <a:endPar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endPar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endPar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lnSpc>
                <a:spcPct val="100000"/>
              </a:lnSpc>
              <a:spcBef>
                <a:spcPts val="1200"/>
              </a:spcBef>
              <a:spcAft>
                <a:spcPts val="0"/>
              </a:spcAft>
              <a:buClrTx/>
              <a:buSzTx/>
              <a:buFontTx/>
              <a:buNone/>
              <a:defRPr/>
            </a:pP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4.3.1 [5] &lt;§4.4&gt; What fraction of all instructions use data memory?</a:t>
            </a:r>
            <a:endPar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4.3.2 [5] &lt;§4.4&gt; What fraction of all instructions use instruction memory?</a:t>
            </a:r>
            <a:endPar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4.3.3 [5] &lt;§4.4&gt; What fraction of all instructions use the sign extend?</a:t>
            </a:r>
            <a:endPar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4.3.4 [5] &lt;§4.4&gt; What is the sign extend doing during cycles in which its output</a:t>
            </a:r>
            <a:r>
              <a:rPr kumimoji="0" 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is not needed?</a:t>
            </a:r>
            <a:endParaRPr kumimoji="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10" name="表格 9"/>
          <p:cNvGraphicFramePr/>
          <p:nvPr>
            <p:custDataLst>
              <p:tags r:id="rId1"/>
            </p:custDataLst>
          </p:nvPr>
        </p:nvGraphicFramePr>
        <p:xfrm>
          <a:off x="1012825" y="1541145"/>
          <a:ext cx="7482205" cy="762000"/>
        </p:xfrm>
        <a:graphic>
          <a:graphicData uri="http://schemas.openxmlformats.org/drawingml/2006/table">
            <a:tbl>
              <a:tblPr firstRow="1" bandRow="1">
                <a:tableStyleId>{5C22544A-7EE6-4342-B048-85BDC9FD1C3A}</a:tableStyleId>
              </a:tblPr>
              <a:tblGrid>
                <a:gridCol w="1158875"/>
                <a:gridCol w="2019935"/>
                <a:gridCol w="1122045"/>
                <a:gridCol w="960120"/>
                <a:gridCol w="1165860"/>
                <a:gridCol w="1055370"/>
              </a:tblGrid>
              <a:tr h="271780">
                <a:tc>
                  <a:txBody>
                    <a:bodyPr/>
                    <a:p>
                      <a:pPr algn="ctr">
                        <a:buNone/>
                      </a:pPr>
                      <a:r>
                        <a:rPr sz="180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R-type</a:t>
                      </a:r>
                      <a:endParaRPr kumimoji="0" lang="zh-CN" altLang="en-US" sz="1800" b="1" kern="1200" cap="none" spc="0" normalizeH="0" baseline="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 I-type (non-ld)</a:t>
                      </a:r>
                      <a:endParaRPr kumimoji="0" lang="zh-CN" altLang="en-US" sz="1800" b="1" kern="1200" cap="none" spc="0" normalizeH="0" baseline="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 Load</a:t>
                      </a:r>
                      <a:endParaRPr kumimoji="0" lang="zh-CN" altLang="en-US" sz="1800" b="1" kern="1200" cap="none" spc="0" normalizeH="0" baseline="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Store</a:t>
                      </a:r>
                      <a:endParaRPr kumimoji="0" lang="zh-CN" altLang="en-US" sz="1800" b="1" kern="1200" cap="none" spc="0" normalizeH="0" baseline="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Branch</a:t>
                      </a:r>
                      <a:endParaRPr kumimoji="0" lang="zh-CN" altLang="en-US" sz="1800" b="1" kern="1200" cap="none" spc="0" normalizeH="0" baseline="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Jump</a:t>
                      </a:r>
                      <a:endParaRPr kumimoji="0" lang="zh-CN" altLang="en-US" sz="1800" b="1" kern="1200" cap="none" spc="0" normalizeH="0" baseline="0"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r>
              <a:tr h="365760">
                <a:tc>
                  <a:txBody>
                    <a:bodyPr/>
                    <a:p>
                      <a:pPr algn="ctr">
                        <a:buNone/>
                      </a:pPr>
                      <a:r>
                        <a:rPr sz="18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24%</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28% </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25%</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10%</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11%</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c>
                  <a:txBody>
                    <a:bodyPr/>
                    <a:p>
                      <a:pPr algn="ctr">
                        <a:buNone/>
                      </a:pPr>
                      <a:r>
                        <a:rPr sz="18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2%</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txBody>
                  <a:tcPr/>
                </a:tc>
              </a:tr>
            </a:tbl>
          </a:graphicData>
        </a:graphic>
      </p:graphicFrame>
      <p:sp>
        <p:nvSpPr>
          <p:cNvPr id="11" name="文本框 10"/>
          <p:cNvSpPr txBox="1"/>
          <p:nvPr/>
        </p:nvSpPr>
        <p:spPr>
          <a:xfrm>
            <a:off x="602615" y="3913505"/>
            <a:ext cx="8047355" cy="2676525"/>
          </a:xfrm>
          <a:prstGeom prst="rect">
            <a:avLst/>
          </a:prstGeom>
          <a:noFill/>
        </p:spPr>
        <p:txBody>
          <a:bodyPr wrap="square" rtlCol="0">
            <a:spAutoFit/>
          </a:bodyPr>
          <a:p>
            <a:r>
              <a:rPr lang="zh-CN" altLang="en-US" sz="2400" b="1">
                <a:latin typeface="Times New Roman" panose="02020603050405020304" pitchFamily="18" charset="0"/>
                <a:ea typeface="华文新魏" panose="02010800040101010101" pitchFamily="2" charset="-122"/>
              </a:rPr>
              <a:t>解：</a:t>
            </a:r>
            <a:r>
              <a:rPr lang="en-US" altLang="zh-CN" sz="2400" b="1">
                <a:latin typeface="Times New Roman" panose="02020603050405020304" pitchFamily="18" charset="0"/>
                <a:ea typeface="华文新魏" panose="02010800040101010101" pitchFamily="2" charset="-122"/>
              </a:rPr>
              <a:t>4.3.1 </a:t>
            </a:r>
            <a:r>
              <a:rPr lang="zh-CN" altLang="en-US" sz="2400" b="1">
                <a:latin typeface="Times New Roman" panose="02020603050405020304" pitchFamily="18" charset="0"/>
                <a:ea typeface="华文新魏" panose="02010800040101010101" pitchFamily="2" charset="-122"/>
              </a:rPr>
              <a:t>发生数据访存的指令所占比例：</a:t>
            </a:r>
            <a:r>
              <a:rPr lang="en-US" altLang="zh-CN" sz="2400" b="1">
                <a:latin typeface="Times New Roman" panose="02020603050405020304" pitchFamily="18" charset="0"/>
                <a:ea typeface="华文新魏" panose="02010800040101010101" pitchFamily="2" charset="-122"/>
              </a:rPr>
              <a:t>25%+10%=35%</a:t>
            </a:r>
            <a:endParaRPr lang="en-US" altLang="zh-CN" sz="2400" b="1">
              <a:latin typeface="Times New Roman" panose="02020603050405020304" pitchFamily="18" charset="0"/>
              <a:ea typeface="华文新魏" panose="02010800040101010101" pitchFamily="2" charset="-122"/>
            </a:endParaRPr>
          </a:p>
          <a:p>
            <a:r>
              <a:rPr lang="en-US" altLang="zh-CN" sz="2400" b="1">
                <a:latin typeface="Times New Roman" panose="02020603050405020304" pitchFamily="18" charset="0"/>
                <a:ea typeface="华文新魏" panose="02010800040101010101" pitchFamily="2" charset="-122"/>
              </a:rPr>
              <a:t>        4.3.2 </a:t>
            </a:r>
            <a:r>
              <a:rPr lang="zh-CN" altLang="en-US" sz="2400" b="1">
                <a:latin typeface="Times New Roman" panose="02020603050405020304" pitchFamily="18" charset="0"/>
                <a:ea typeface="华文新魏" panose="02010800040101010101" pitchFamily="2" charset="-122"/>
              </a:rPr>
              <a:t>发生指令访存的指令所占比例：</a:t>
            </a:r>
            <a:r>
              <a:rPr lang="en-US" altLang="zh-CN" sz="2400" b="1">
                <a:latin typeface="Times New Roman" panose="02020603050405020304" pitchFamily="18" charset="0"/>
                <a:ea typeface="华文新魏" panose="02010800040101010101" pitchFamily="2" charset="-122"/>
              </a:rPr>
              <a:t>100%</a:t>
            </a:r>
            <a:endParaRPr lang="en-US" altLang="zh-CN" sz="2400" b="1">
              <a:latin typeface="Times New Roman" panose="02020603050405020304" pitchFamily="18" charset="0"/>
              <a:ea typeface="华文新魏" panose="02010800040101010101" pitchFamily="2" charset="-122"/>
            </a:endParaRPr>
          </a:p>
          <a:p>
            <a:r>
              <a:rPr lang="en-US" altLang="zh-CN" sz="2400" b="1">
                <a:latin typeface="Times New Roman" panose="02020603050405020304" pitchFamily="18" charset="0"/>
                <a:ea typeface="华文新魏" panose="02010800040101010101" pitchFamily="2" charset="-122"/>
              </a:rPr>
              <a:t>        4.3.3 </a:t>
            </a:r>
            <a:r>
              <a:rPr lang="zh-CN" altLang="en-US" sz="2400" b="1">
                <a:latin typeface="Times New Roman" panose="02020603050405020304" pitchFamily="18" charset="0"/>
                <a:ea typeface="华文新魏" panose="02010800040101010101" pitchFamily="2" charset="-122"/>
              </a:rPr>
              <a:t>使用符号扩展单元的指令所占比例：</a:t>
            </a:r>
            <a:endParaRPr lang="zh-CN" altLang="en-US" sz="2400" b="1">
              <a:latin typeface="Times New Roman" panose="02020603050405020304" pitchFamily="18" charset="0"/>
              <a:ea typeface="华文新魏" panose="02010800040101010101" pitchFamily="2" charset="-122"/>
            </a:endParaRPr>
          </a:p>
          <a:p>
            <a:r>
              <a:rPr lang="zh-CN" altLang="en-US" sz="2400" b="1">
                <a:latin typeface="Times New Roman" panose="02020603050405020304" pitchFamily="18" charset="0"/>
                <a:ea typeface="华文新魏" panose="02010800040101010101" pitchFamily="2" charset="-122"/>
              </a:rPr>
              <a:t> </a:t>
            </a:r>
            <a:r>
              <a:rPr lang="en-US" altLang="zh-CN" sz="2400" b="1">
                <a:latin typeface="Times New Roman" panose="02020603050405020304" pitchFamily="18" charset="0"/>
                <a:ea typeface="华文新魏" panose="02010800040101010101" pitchFamily="2" charset="-122"/>
              </a:rPr>
              <a:t>                                 28%+25%+10%+11%+2%=76%</a:t>
            </a:r>
            <a:endParaRPr lang="en-US" altLang="zh-CN" sz="2400" b="1">
              <a:latin typeface="Times New Roman" panose="02020603050405020304" pitchFamily="18" charset="0"/>
              <a:ea typeface="华文新魏" panose="02010800040101010101" pitchFamily="2" charset="-122"/>
            </a:endParaRPr>
          </a:p>
          <a:p>
            <a:r>
              <a:rPr lang="en-US" altLang="zh-CN" sz="2400" b="1">
                <a:latin typeface="Times New Roman" panose="02020603050405020304" pitchFamily="18" charset="0"/>
                <a:ea typeface="华文新魏" panose="02010800040101010101" pitchFamily="2" charset="-122"/>
              </a:rPr>
              <a:t>        4.3.4 </a:t>
            </a:r>
            <a:r>
              <a:rPr lang="zh-CN" altLang="en-US" sz="2400" b="1">
                <a:latin typeface="Times New Roman" panose="02020603050405020304" pitchFamily="18" charset="0"/>
                <a:ea typeface="华文新魏" panose="02010800040101010101" pitchFamily="2" charset="-122"/>
              </a:rPr>
              <a:t>当不需要符号扩展结果时，符号扩展单元的行</a:t>
            </a:r>
            <a:endParaRPr lang="zh-CN" altLang="en-US" sz="2400" b="1">
              <a:latin typeface="Times New Roman" panose="02020603050405020304" pitchFamily="18" charset="0"/>
              <a:ea typeface="华文新魏" panose="02010800040101010101" pitchFamily="2" charset="-122"/>
            </a:endParaRPr>
          </a:p>
          <a:p>
            <a:r>
              <a:rPr lang="zh-CN" altLang="en-US" sz="2400" b="1">
                <a:latin typeface="Times New Roman" panose="02020603050405020304" pitchFamily="18" charset="0"/>
                <a:ea typeface="华文新魏" panose="02010800040101010101" pitchFamily="2" charset="-122"/>
              </a:rPr>
              <a:t> </a:t>
            </a:r>
            <a:r>
              <a:rPr lang="en-US" altLang="zh-CN" sz="2400" b="1">
                <a:latin typeface="Times New Roman" panose="02020603050405020304" pitchFamily="18" charset="0"/>
                <a:ea typeface="华文新魏" panose="02010800040101010101" pitchFamily="2" charset="-122"/>
              </a:rPr>
              <a:t>                </a:t>
            </a:r>
            <a:r>
              <a:rPr lang="zh-CN" altLang="en-US" sz="2400" b="1">
                <a:latin typeface="Times New Roman" panose="02020603050405020304" pitchFamily="18" charset="0"/>
                <a:ea typeface="华文新魏" panose="02010800040101010101" pitchFamily="2" charset="-122"/>
              </a:rPr>
              <a:t>为就无关紧要了。</a:t>
            </a:r>
            <a:endParaRPr lang="en-US" altLang="zh-CN" sz="2400" b="1">
              <a:latin typeface="Times New Roman" panose="02020603050405020304" pitchFamily="18" charset="0"/>
              <a:ea typeface="华文新魏" panose="02010800040101010101" pitchFamily="2" charset="-122"/>
            </a:endParaRPr>
          </a:p>
          <a:p>
            <a:endParaRPr lang="en-US" altLang="zh-CN" sz="2400" b="1">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b" anchorCtr="0"/>
          <a:p>
            <a:pPr eaLnBrk="1" hangingPunct="1"/>
            <a:r>
              <a:rPr lang="zh-CN" altLang="en-US" dirty="0"/>
              <a:t>数据通路设计实例 </a:t>
            </a:r>
            <a:endParaRPr lang="zh-CN" altLang="en-US" dirty="0"/>
          </a:p>
        </p:txBody>
      </p:sp>
      <p:sp>
        <p:nvSpPr>
          <p:cNvPr id="5" name="TextBox 4"/>
          <p:cNvSpPr txBox="1"/>
          <p:nvPr/>
        </p:nvSpPr>
        <p:spPr>
          <a:xfrm>
            <a:off x="571500" y="1214438"/>
            <a:ext cx="8286750" cy="2861310"/>
          </a:xfrm>
          <a:prstGeom prst="rect">
            <a:avLst/>
          </a:prstGeom>
          <a:noFill/>
        </p:spPr>
        <p:txBody>
          <a:bodyPr>
            <a:spAutoFit/>
          </a:bodyPr>
          <a:lstStyle/>
          <a:p>
            <a:pPr marR="0" defTabSz="914400">
              <a:buClrTx/>
              <a:buSzTx/>
              <a:buFontTx/>
              <a:buNone/>
              <a:defRPr/>
            </a:pP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4.4 When silicon chips are fabricated, defects in materials (e.g., silicon) and</a:t>
            </a:r>
            <a:r>
              <a:rPr kumimoji="0" lang="en-US" altLang="zh-CN"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manufacturing errors can result in defective circuits. A very common defect is for</a:t>
            </a:r>
            <a:r>
              <a:rPr kumimoji="0" lang="en-US" altLang="zh-CN"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one signal wire to get “broken” and always register a logical 0. This is often called a“stuck-at-0” fault.</a:t>
            </a:r>
            <a:endPar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4.4.1 [5] &lt;§4.4&gt; Which instructions fail to operate correctly if the</a:t>
            </a:r>
            <a:r>
              <a:rPr kumimoji="0" lang="en-US" altLang="zh-CN"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MemToReg</a:t>
            </a:r>
            <a:r>
              <a:rPr kumimoji="0" lang="en-US" altLang="zh-CN"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wire is stuck at 0?</a:t>
            </a:r>
            <a:endPar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4.4.2 [5] &lt;§4.4&gt; Which instructions fail to operate correctly if the ALUSrc wire</a:t>
            </a:r>
            <a:r>
              <a:rPr kumimoji="0" lang="en-US" altLang="zh-CN"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is stuck at 0?</a:t>
            </a:r>
            <a:endPar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zh-CN" altLang="en-US"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9" name="组合 8"/>
          <p:cNvGrpSpPr/>
          <p:nvPr/>
        </p:nvGrpSpPr>
        <p:grpSpPr>
          <a:xfrm>
            <a:off x="525780" y="3835400"/>
            <a:ext cx="8476615" cy="2930911"/>
            <a:chOff x="602" y="5249"/>
            <a:chExt cx="13349" cy="4616"/>
          </a:xfrm>
        </p:grpSpPr>
        <p:sp>
          <p:nvSpPr>
            <p:cNvPr id="6" name="TextBox 5"/>
            <p:cNvSpPr txBox="1"/>
            <p:nvPr/>
          </p:nvSpPr>
          <p:spPr>
            <a:xfrm>
              <a:off x="602" y="5249"/>
              <a:ext cx="13349" cy="1598"/>
            </a:xfrm>
            <a:prstGeom prst="rect">
              <a:avLst/>
            </a:prstGeom>
            <a:noFill/>
          </p:spPr>
          <p:txBody>
            <a:bodyPr wrap="square">
              <a:spAutoFit/>
            </a:bodyPr>
            <a:lstStyle/>
            <a:p>
              <a:pPr marL="262255" marR="0" indent="-262255" defTabSz="914400">
                <a:buClrTx/>
                <a:buSzTx/>
                <a:buFontTx/>
                <a:buNone/>
                <a:defRPr/>
              </a:pPr>
              <a:r>
                <a:rPr kumimoji="0" lang="zh-CN" altLang="en-US" b="1" kern="1200" cap="none" spc="0" normalizeH="0" baseline="0" noProof="0" dirty="0">
                  <a:latin typeface="Times New Roman" panose="02020603050405020304" pitchFamily="18" charset="0"/>
                  <a:ea typeface="+mn-ea"/>
                  <a:cs typeface="Times New Roman" panose="02020603050405020304" pitchFamily="18" charset="0"/>
                </a:rPr>
                <a:t>解：</a:t>
              </a:r>
              <a:endParaRPr kumimoji="0" lang="zh-CN" altLang="en-US" b="1" kern="1200" cap="none" spc="0" normalizeH="0" baseline="0" noProof="0" dirty="0">
                <a:latin typeface="Times New Roman" panose="02020603050405020304" pitchFamily="18" charset="0"/>
                <a:ea typeface="+mn-ea"/>
                <a:cs typeface="Times New Roman" panose="02020603050405020304" pitchFamily="18" charset="0"/>
              </a:endParaRPr>
            </a:p>
            <a:p>
              <a:pPr marL="262255" marR="0" indent="-262255" defTabSz="914400">
                <a:buClrTx/>
                <a:buSzTx/>
                <a:buFontTx/>
                <a:buNone/>
                <a:defRPr/>
              </a:pPr>
              <a:endParaRPr kumimoji="0" lang="zh-CN" altLang="en-US" b="1" kern="1200" cap="none" spc="0" normalizeH="0" baseline="0" noProof="0" dirty="0">
                <a:latin typeface="Times New Roman" panose="02020603050405020304" pitchFamily="18" charset="0"/>
                <a:ea typeface="+mn-ea"/>
                <a:cs typeface="Times New Roman" panose="02020603050405020304" pitchFamily="18" charset="0"/>
              </a:endParaRPr>
            </a:p>
            <a:p>
              <a:pPr marL="262255" marR="0" indent="-262255" defTabSz="914400">
                <a:buClrTx/>
                <a:buSzTx/>
                <a:buFontTx/>
                <a:buNone/>
                <a:defRPr/>
              </a:pPr>
              <a:endParaRPr kumimoji="0" lang="zh-CN" altLang="en-US" b="1" kern="1200" cap="none" spc="0" normalizeH="0" baseline="0" noProof="0" dirty="0">
                <a:latin typeface="Times New Roman" panose="02020603050405020304" pitchFamily="18" charset="0"/>
                <a:ea typeface="+mn-ea"/>
                <a:cs typeface="Times New Roman" panose="02020603050405020304" pitchFamily="18" charset="0"/>
              </a:endParaRPr>
            </a:p>
          </p:txBody>
        </p:sp>
        <p:grpSp>
          <p:nvGrpSpPr>
            <p:cNvPr id="3" name="组合 2"/>
            <p:cNvGrpSpPr/>
            <p:nvPr/>
          </p:nvGrpSpPr>
          <p:grpSpPr>
            <a:xfrm>
              <a:off x="2257" y="6279"/>
              <a:ext cx="11065" cy="3586"/>
              <a:chOff x="900" y="4017"/>
              <a:chExt cx="12795" cy="5671"/>
            </a:xfrm>
          </p:grpSpPr>
          <p:grpSp>
            <p:nvGrpSpPr>
              <p:cNvPr id="11267" name="Group 25"/>
              <p:cNvGrpSpPr/>
              <p:nvPr/>
            </p:nvGrpSpPr>
            <p:grpSpPr>
              <a:xfrm>
                <a:off x="7763" y="5413"/>
                <a:ext cx="720" cy="1787"/>
                <a:chOff x="3168" y="2365"/>
                <a:chExt cx="288" cy="715"/>
              </a:xfrm>
            </p:grpSpPr>
            <p:sp>
              <p:nvSpPr>
                <p:cNvPr id="11403" name="Line 26"/>
                <p:cNvSpPr/>
                <p:nvPr>
                  <p:custDataLst>
                    <p:tags r:id="rId1"/>
                  </p:custDataLst>
                </p:nvPr>
              </p:nvSpPr>
              <p:spPr>
                <a:xfrm>
                  <a:off x="3168" y="2365"/>
                  <a:ext cx="0" cy="166"/>
                </a:xfrm>
                <a:prstGeom prst="line">
                  <a:avLst/>
                </a:prstGeom>
                <a:ln w="25400" cap="flat" cmpd="sng">
                  <a:solidFill>
                    <a:schemeClr val="tx1"/>
                  </a:solidFill>
                  <a:prstDash val="solid"/>
                  <a:headEnd type="none" w="med" len="med"/>
                  <a:tailEnd type="none" w="med" len="med"/>
                </a:ln>
              </p:spPr>
            </p:sp>
            <p:sp>
              <p:nvSpPr>
                <p:cNvPr id="11404" name="Line 27"/>
                <p:cNvSpPr/>
                <p:nvPr>
                  <p:custDataLst>
                    <p:tags r:id="rId2"/>
                  </p:custDataLst>
                </p:nvPr>
              </p:nvSpPr>
              <p:spPr>
                <a:xfrm>
                  <a:off x="3176" y="2379"/>
                  <a:ext cx="272" cy="166"/>
                </a:xfrm>
                <a:prstGeom prst="line">
                  <a:avLst/>
                </a:prstGeom>
                <a:ln w="25400" cap="flat" cmpd="sng">
                  <a:solidFill>
                    <a:schemeClr val="tx1"/>
                  </a:solidFill>
                  <a:prstDash val="solid"/>
                  <a:headEnd type="none" w="med" len="med"/>
                  <a:tailEnd type="none" w="med" len="med"/>
                </a:ln>
              </p:spPr>
            </p:sp>
            <p:sp>
              <p:nvSpPr>
                <p:cNvPr id="11405" name="Line 28"/>
                <p:cNvSpPr/>
                <p:nvPr>
                  <p:custDataLst>
                    <p:tags r:id="rId3"/>
                  </p:custDataLst>
                </p:nvPr>
              </p:nvSpPr>
              <p:spPr>
                <a:xfrm>
                  <a:off x="3176" y="2547"/>
                  <a:ext cx="128" cy="76"/>
                </a:xfrm>
                <a:prstGeom prst="line">
                  <a:avLst/>
                </a:prstGeom>
                <a:ln w="25400" cap="flat" cmpd="sng">
                  <a:solidFill>
                    <a:schemeClr val="tx1"/>
                  </a:solidFill>
                  <a:prstDash val="solid"/>
                  <a:headEnd type="none" w="med" len="med"/>
                  <a:tailEnd type="none" w="med" len="med"/>
                </a:ln>
              </p:spPr>
            </p:sp>
            <p:sp>
              <p:nvSpPr>
                <p:cNvPr id="11406" name="Line 29"/>
                <p:cNvSpPr/>
                <p:nvPr>
                  <p:custDataLst>
                    <p:tags r:id="rId4"/>
                  </p:custDataLst>
                </p:nvPr>
              </p:nvSpPr>
              <p:spPr>
                <a:xfrm>
                  <a:off x="3312" y="2639"/>
                  <a:ext cx="0" cy="166"/>
                </a:xfrm>
                <a:prstGeom prst="line">
                  <a:avLst/>
                </a:prstGeom>
                <a:ln w="25400" cap="flat" cmpd="sng">
                  <a:solidFill>
                    <a:schemeClr val="tx1"/>
                  </a:solidFill>
                  <a:prstDash val="solid"/>
                  <a:headEnd type="none" w="med" len="med"/>
                  <a:tailEnd type="none" w="med" len="med"/>
                </a:ln>
              </p:spPr>
            </p:sp>
            <p:sp>
              <p:nvSpPr>
                <p:cNvPr id="11407" name="Line 30"/>
                <p:cNvSpPr/>
                <p:nvPr>
                  <p:custDataLst>
                    <p:tags r:id="rId5"/>
                  </p:custDataLst>
                </p:nvPr>
              </p:nvSpPr>
              <p:spPr>
                <a:xfrm>
                  <a:off x="3456" y="2547"/>
                  <a:ext cx="0" cy="349"/>
                </a:xfrm>
                <a:prstGeom prst="line">
                  <a:avLst/>
                </a:prstGeom>
                <a:ln w="25400" cap="flat" cmpd="sng">
                  <a:solidFill>
                    <a:schemeClr val="tx1"/>
                  </a:solidFill>
                  <a:prstDash val="solid"/>
                  <a:headEnd type="none" w="med" len="med"/>
                  <a:tailEnd type="none" w="med" len="med"/>
                </a:ln>
              </p:spPr>
            </p:sp>
            <p:sp>
              <p:nvSpPr>
                <p:cNvPr id="11408" name="Line 31"/>
                <p:cNvSpPr/>
                <p:nvPr>
                  <p:custDataLst>
                    <p:tags r:id="rId6"/>
                  </p:custDataLst>
                </p:nvPr>
              </p:nvSpPr>
              <p:spPr>
                <a:xfrm flipV="1">
                  <a:off x="3176" y="2805"/>
                  <a:ext cx="128" cy="107"/>
                </a:xfrm>
                <a:prstGeom prst="line">
                  <a:avLst/>
                </a:prstGeom>
                <a:ln w="25400" cap="flat" cmpd="sng">
                  <a:solidFill>
                    <a:schemeClr val="tx1"/>
                  </a:solidFill>
                  <a:prstDash val="solid"/>
                  <a:headEnd type="none" w="med" len="med"/>
                  <a:tailEnd type="none" w="med" len="med"/>
                </a:ln>
              </p:spPr>
            </p:sp>
            <p:sp>
              <p:nvSpPr>
                <p:cNvPr id="11409" name="Line 32"/>
                <p:cNvSpPr/>
                <p:nvPr>
                  <p:custDataLst>
                    <p:tags r:id="rId7"/>
                  </p:custDataLst>
                </p:nvPr>
              </p:nvSpPr>
              <p:spPr>
                <a:xfrm>
                  <a:off x="3168" y="2912"/>
                  <a:ext cx="0" cy="166"/>
                </a:xfrm>
                <a:prstGeom prst="line">
                  <a:avLst/>
                </a:prstGeom>
                <a:ln w="25400" cap="flat" cmpd="sng">
                  <a:solidFill>
                    <a:schemeClr val="tx1"/>
                  </a:solidFill>
                  <a:prstDash val="solid"/>
                  <a:headEnd type="none" w="med" len="med"/>
                  <a:tailEnd type="none" w="med" len="med"/>
                </a:ln>
              </p:spPr>
            </p:sp>
            <p:sp>
              <p:nvSpPr>
                <p:cNvPr id="11410" name="Line 33"/>
                <p:cNvSpPr/>
                <p:nvPr>
                  <p:custDataLst>
                    <p:tags r:id="rId8"/>
                  </p:custDataLst>
                </p:nvPr>
              </p:nvSpPr>
              <p:spPr>
                <a:xfrm flipV="1">
                  <a:off x="3176" y="2882"/>
                  <a:ext cx="272" cy="198"/>
                </a:xfrm>
                <a:prstGeom prst="line">
                  <a:avLst/>
                </a:prstGeom>
                <a:ln w="25400" cap="flat" cmpd="sng">
                  <a:solidFill>
                    <a:schemeClr val="tx1"/>
                  </a:solidFill>
                  <a:prstDash val="solid"/>
                  <a:headEnd type="none" w="med" len="med"/>
                  <a:tailEnd type="none" w="med" len="med"/>
                </a:ln>
              </p:spPr>
            </p:sp>
          </p:grpSp>
          <p:sp>
            <p:nvSpPr>
              <p:cNvPr id="11268" name="Line 34"/>
              <p:cNvSpPr/>
              <p:nvPr>
                <p:custDataLst>
                  <p:tags r:id="rId9"/>
                </p:custDataLst>
              </p:nvPr>
            </p:nvSpPr>
            <p:spPr>
              <a:xfrm flipH="1">
                <a:off x="8463" y="6245"/>
                <a:ext cx="3640" cy="0"/>
              </a:xfrm>
              <a:prstGeom prst="line">
                <a:avLst/>
              </a:prstGeom>
              <a:ln w="25400" cap="flat" cmpd="sng">
                <a:solidFill>
                  <a:schemeClr val="tx1"/>
                </a:solidFill>
                <a:prstDash val="solid"/>
                <a:headEnd type="triangle" w="med" len="med"/>
                <a:tailEnd type="none" w="med" len="med"/>
              </a:ln>
            </p:spPr>
          </p:sp>
          <p:sp>
            <p:nvSpPr>
              <p:cNvPr id="11269" name="Line 35"/>
              <p:cNvSpPr/>
              <p:nvPr>
                <p:custDataLst>
                  <p:tags r:id="rId10"/>
                </p:custDataLst>
              </p:nvPr>
            </p:nvSpPr>
            <p:spPr>
              <a:xfrm flipH="1">
                <a:off x="9145" y="6145"/>
                <a:ext cx="140" cy="208"/>
              </a:xfrm>
              <a:prstGeom prst="line">
                <a:avLst/>
              </a:prstGeom>
              <a:ln w="12700" cap="flat" cmpd="sng">
                <a:solidFill>
                  <a:schemeClr val="tx1"/>
                </a:solidFill>
                <a:prstDash val="solid"/>
                <a:headEnd type="none" w="med" len="med"/>
                <a:tailEnd type="none" w="med" len="med"/>
              </a:ln>
            </p:spPr>
          </p:sp>
          <p:sp>
            <p:nvSpPr>
              <p:cNvPr id="11270" name="Rectangle 36"/>
              <p:cNvSpPr/>
              <p:nvPr>
                <p:custDataLst>
                  <p:tags r:id="rId11"/>
                </p:custDataLst>
              </p:nvPr>
            </p:nvSpPr>
            <p:spPr>
              <a:xfrm>
                <a:off x="8712" y="5601"/>
                <a:ext cx="653" cy="1294"/>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32</a:t>
                </a:r>
                <a:endParaRPr lang="zh-CN" altLang="en-US" sz="1400" b="1" dirty="0">
                  <a:latin typeface="Times New Roman" panose="02020603050405020304" pitchFamily="18" charset="0"/>
                </a:endParaRPr>
              </a:p>
            </p:txBody>
          </p:sp>
          <p:sp>
            <p:nvSpPr>
              <p:cNvPr id="11271" name="Line 37"/>
              <p:cNvSpPr/>
              <p:nvPr>
                <p:custDataLst>
                  <p:tags r:id="rId12"/>
                </p:custDataLst>
              </p:nvPr>
            </p:nvSpPr>
            <p:spPr>
              <a:xfrm>
                <a:off x="8123" y="4958"/>
                <a:ext cx="0" cy="642"/>
              </a:xfrm>
              <a:prstGeom prst="line">
                <a:avLst/>
              </a:prstGeom>
              <a:ln w="25400" cap="flat" cmpd="sng">
                <a:solidFill>
                  <a:schemeClr val="tx1"/>
                </a:solidFill>
                <a:prstDash val="solid"/>
                <a:headEnd type="none" w="med" len="med"/>
                <a:tailEnd type="triangle" w="med" len="med"/>
              </a:ln>
            </p:spPr>
          </p:sp>
          <p:sp>
            <p:nvSpPr>
              <p:cNvPr id="11272" name="Rectangle 38"/>
              <p:cNvSpPr/>
              <p:nvPr>
                <p:custDataLst>
                  <p:tags r:id="rId13"/>
                </p:custDataLst>
              </p:nvPr>
            </p:nvSpPr>
            <p:spPr>
              <a:xfrm>
                <a:off x="7200" y="4372"/>
                <a:ext cx="1830" cy="757"/>
              </a:xfrm>
              <a:prstGeom prst="rect">
                <a:avLst/>
              </a:prstGeom>
              <a:noFill/>
              <a:ln w="12700">
                <a:noFill/>
              </a:ln>
            </p:spPr>
            <p:txBody>
              <a:bodyPr lIns="90488" tIns="44450" rIns="90488" bIns="44450">
                <a:spAutoFit/>
              </a:bodyPr>
              <a:p>
                <a:pPr algn="ctr" eaLnBrk="0" hangingPunct="0"/>
                <a:r>
                  <a:rPr lang="en-US" altLang="zh-CN" sz="1400" b="1" dirty="0">
                    <a:solidFill>
                      <a:srgbClr val="A50021"/>
                    </a:solidFill>
                    <a:latin typeface="Times New Roman" panose="02020603050405020304" pitchFamily="18" charset="0"/>
                  </a:rPr>
                  <a:t>ALUctr</a:t>
                </a:r>
                <a:endParaRPr lang="en-US" altLang="zh-CN" sz="1400" b="1" dirty="0">
                  <a:solidFill>
                    <a:srgbClr val="A50021"/>
                  </a:solidFill>
                  <a:latin typeface="Times New Roman" panose="02020603050405020304" pitchFamily="18" charset="0"/>
                </a:endParaRPr>
              </a:p>
            </p:txBody>
          </p:sp>
          <p:sp>
            <p:nvSpPr>
              <p:cNvPr id="11273" name="Rectangle 39"/>
              <p:cNvSpPr/>
              <p:nvPr>
                <p:custDataLst>
                  <p:tags r:id="rId14"/>
                </p:custDataLst>
              </p:nvPr>
            </p:nvSpPr>
            <p:spPr>
              <a:xfrm>
                <a:off x="1418" y="6380"/>
                <a:ext cx="852" cy="1294"/>
              </a:xfrm>
              <a:prstGeom prst="rect">
                <a:avLst/>
              </a:prstGeom>
              <a:noFill/>
              <a:ln w="12700">
                <a:noFill/>
              </a:ln>
            </p:spPr>
            <p:txBody>
              <a:bodyPr wrap="square" lIns="90488" tIns="44450" rIns="90488" bIns="44450">
                <a:spAutoFit/>
              </a:bodyPr>
              <a:p>
                <a:pPr eaLnBrk="0" hangingPunct="0"/>
                <a:r>
                  <a:rPr lang="en-US" altLang="zh-CN" sz="1400" b="1" dirty="0">
                    <a:solidFill>
                      <a:srgbClr val="3333FF"/>
                    </a:solidFill>
                    <a:latin typeface="Times New Roman" panose="02020603050405020304" pitchFamily="18" charset="0"/>
                  </a:rPr>
                  <a:t>Clk</a:t>
                </a:r>
                <a:endParaRPr lang="en-US" altLang="zh-CN" sz="1400" b="1" dirty="0">
                  <a:solidFill>
                    <a:srgbClr val="3333FF"/>
                  </a:solidFill>
                  <a:latin typeface="Times New Roman" panose="02020603050405020304" pitchFamily="18" charset="0"/>
                </a:endParaRPr>
              </a:p>
            </p:txBody>
          </p:sp>
          <p:sp>
            <p:nvSpPr>
              <p:cNvPr id="11274" name="Rectangle 40"/>
              <p:cNvSpPr/>
              <p:nvPr>
                <p:custDataLst>
                  <p:tags r:id="rId15"/>
                </p:custDataLst>
              </p:nvPr>
            </p:nvSpPr>
            <p:spPr>
              <a:xfrm>
                <a:off x="900" y="5618"/>
                <a:ext cx="1198" cy="1294"/>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busW</a:t>
                </a:r>
                <a:endParaRPr lang="en-US" altLang="zh-CN" sz="1400" b="1" dirty="0">
                  <a:latin typeface="Times New Roman" panose="02020603050405020304" pitchFamily="18" charset="0"/>
                </a:endParaRPr>
              </a:p>
            </p:txBody>
          </p:sp>
          <p:sp>
            <p:nvSpPr>
              <p:cNvPr id="11275" name="Rectangle 41"/>
              <p:cNvSpPr/>
              <p:nvPr>
                <p:custDataLst>
                  <p:tags r:id="rId16"/>
                </p:custDataLst>
              </p:nvPr>
            </p:nvSpPr>
            <p:spPr>
              <a:xfrm>
                <a:off x="2608" y="5413"/>
                <a:ext cx="2255" cy="1812"/>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sz="1400" b="1" dirty="0">
                  <a:latin typeface="Arial" panose="020B0604020202020204" pitchFamily="34" charset="0"/>
                </a:endParaRPr>
              </a:p>
            </p:txBody>
          </p:sp>
          <p:sp>
            <p:nvSpPr>
              <p:cNvPr id="11276" name="Line 42"/>
              <p:cNvSpPr/>
              <p:nvPr>
                <p:custDataLst>
                  <p:tags r:id="rId17"/>
                </p:custDataLst>
              </p:nvPr>
            </p:nvSpPr>
            <p:spPr>
              <a:xfrm>
                <a:off x="2595" y="6845"/>
                <a:ext cx="270" cy="138"/>
              </a:xfrm>
              <a:prstGeom prst="line">
                <a:avLst/>
              </a:prstGeom>
              <a:ln w="25400" cap="flat" cmpd="sng">
                <a:solidFill>
                  <a:schemeClr val="tx1"/>
                </a:solidFill>
                <a:prstDash val="solid"/>
                <a:headEnd type="none" w="med" len="med"/>
                <a:tailEnd type="none" w="med" len="med"/>
              </a:ln>
            </p:spPr>
          </p:sp>
          <p:sp>
            <p:nvSpPr>
              <p:cNvPr id="11277" name="Line 43"/>
              <p:cNvSpPr/>
              <p:nvPr>
                <p:custDataLst>
                  <p:tags r:id="rId18"/>
                </p:custDataLst>
              </p:nvPr>
            </p:nvSpPr>
            <p:spPr>
              <a:xfrm flipH="1">
                <a:off x="2628" y="6988"/>
                <a:ext cx="237" cy="160"/>
              </a:xfrm>
              <a:prstGeom prst="line">
                <a:avLst/>
              </a:prstGeom>
              <a:ln w="25400" cap="flat" cmpd="sng">
                <a:solidFill>
                  <a:schemeClr val="tx1"/>
                </a:solidFill>
                <a:prstDash val="solid"/>
                <a:headEnd type="none" w="med" len="med"/>
                <a:tailEnd type="none" w="med" len="med"/>
              </a:ln>
            </p:spPr>
          </p:sp>
          <p:sp>
            <p:nvSpPr>
              <p:cNvPr id="11278" name="Oval 44"/>
              <p:cNvSpPr/>
              <p:nvPr>
                <p:custDataLst>
                  <p:tags r:id="rId19"/>
                </p:custDataLst>
              </p:nvPr>
            </p:nvSpPr>
            <p:spPr>
              <a:xfrm>
                <a:off x="2368" y="6873"/>
                <a:ext cx="200" cy="187"/>
              </a:xfrm>
              <a:prstGeom prst="ellipse">
                <a:avLst/>
              </a:prstGeom>
              <a:noFill/>
              <a:ln w="25400" cap="flat" cmpd="sng">
                <a:solidFill>
                  <a:schemeClr val="tx1"/>
                </a:solidFill>
                <a:prstDash val="solid"/>
                <a:headEnd type="none" w="med" len="med"/>
                <a:tailEnd type="none" w="med" len="med"/>
              </a:ln>
            </p:spPr>
            <p:txBody>
              <a:bodyPr wrap="none" anchor="ctr" anchorCtr="0"/>
              <a:p>
                <a:endParaRPr lang="zh-CN" altLang="en-US" sz="1400" b="1" dirty="0">
                  <a:latin typeface="Arial" panose="020B0604020202020204" pitchFamily="34" charset="0"/>
                </a:endParaRPr>
              </a:p>
            </p:txBody>
          </p:sp>
          <p:sp>
            <p:nvSpPr>
              <p:cNvPr id="11279" name="Rectangle 45"/>
              <p:cNvSpPr/>
              <p:nvPr>
                <p:custDataLst>
                  <p:tags r:id="rId20"/>
                </p:custDataLst>
              </p:nvPr>
            </p:nvSpPr>
            <p:spPr>
              <a:xfrm>
                <a:off x="1643" y="4513"/>
                <a:ext cx="1537" cy="757"/>
              </a:xfrm>
              <a:prstGeom prst="rect">
                <a:avLst/>
              </a:prstGeom>
              <a:noFill/>
              <a:ln w="12700">
                <a:noFill/>
              </a:ln>
            </p:spPr>
            <p:txBody>
              <a:bodyPr wrap="square" lIns="90488" tIns="44450" rIns="90488" bIns="44450">
                <a:spAutoFit/>
              </a:bodyPr>
              <a:p>
                <a:pPr eaLnBrk="0" hangingPunct="0"/>
                <a:r>
                  <a:rPr lang="en-US" altLang="zh-CN" sz="1400" b="1" dirty="0">
                    <a:solidFill>
                      <a:srgbClr val="A50021"/>
                    </a:solidFill>
                    <a:latin typeface="Times New Roman" panose="02020603050405020304" pitchFamily="18" charset="0"/>
                  </a:rPr>
                  <a:t>RegWr</a:t>
                </a:r>
                <a:endParaRPr lang="en-US" altLang="zh-CN" sz="1400" b="1" dirty="0">
                  <a:solidFill>
                    <a:srgbClr val="A50021"/>
                  </a:solidFill>
                  <a:latin typeface="Times New Roman" panose="02020603050405020304" pitchFamily="18" charset="0"/>
                </a:endParaRPr>
              </a:p>
            </p:txBody>
          </p:sp>
          <p:sp>
            <p:nvSpPr>
              <p:cNvPr id="11280" name="Line 46"/>
              <p:cNvSpPr/>
              <p:nvPr>
                <p:custDataLst>
                  <p:tags r:id="rId21"/>
                </p:custDataLst>
              </p:nvPr>
            </p:nvSpPr>
            <p:spPr>
              <a:xfrm flipH="1">
                <a:off x="1023" y="6190"/>
                <a:ext cx="1600" cy="0"/>
              </a:xfrm>
              <a:prstGeom prst="line">
                <a:avLst/>
              </a:prstGeom>
              <a:ln w="25400" cap="flat" cmpd="sng">
                <a:solidFill>
                  <a:schemeClr val="tx1"/>
                </a:solidFill>
                <a:prstDash val="solid"/>
                <a:headEnd type="triangle" w="med" len="med"/>
                <a:tailEnd type="none" w="med" len="med"/>
              </a:ln>
            </p:spPr>
          </p:sp>
          <p:sp>
            <p:nvSpPr>
              <p:cNvPr id="11281" name="Line 47"/>
              <p:cNvSpPr/>
              <p:nvPr>
                <p:custDataLst>
                  <p:tags r:id="rId22"/>
                </p:custDataLst>
              </p:nvPr>
            </p:nvSpPr>
            <p:spPr>
              <a:xfrm flipH="1">
                <a:off x="1873" y="6088"/>
                <a:ext cx="140" cy="207"/>
              </a:xfrm>
              <a:prstGeom prst="line">
                <a:avLst/>
              </a:prstGeom>
              <a:ln w="12700" cap="flat" cmpd="sng">
                <a:solidFill>
                  <a:schemeClr val="tx1"/>
                </a:solidFill>
                <a:prstDash val="solid"/>
                <a:headEnd type="none" w="med" len="med"/>
                <a:tailEnd type="none" w="med" len="med"/>
              </a:ln>
            </p:spPr>
          </p:sp>
          <p:sp>
            <p:nvSpPr>
              <p:cNvPr id="11282" name="Rectangle 48"/>
              <p:cNvSpPr/>
              <p:nvPr>
                <p:custDataLst>
                  <p:tags r:id="rId23"/>
                </p:custDataLst>
              </p:nvPr>
            </p:nvSpPr>
            <p:spPr>
              <a:xfrm>
                <a:off x="1810" y="6098"/>
                <a:ext cx="653" cy="1294"/>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32</a:t>
                </a:r>
                <a:endParaRPr lang="zh-CN" altLang="en-US" sz="1400" b="1" dirty="0">
                  <a:latin typeface="Times New Roman" panose="02020603050405020304" pitchFamily="18" charset="0"/>
                </a:endParaRPr>
              </a:p>
            </p:txBody>
          </p:sp>
          <p:sp>
            <p:nvSpPr>
              <p:cNvPr id="11283" name="Line 49"/>
              <p:cNvSpPr/>
              <p:nvPr>
                <p:custDataLst>
                  <p:tags r:id="rId24"/>
                </p:custDataLst>
              </p:nvPr>
            </p:nvSpPr>
            <p:spPr>
              <a:xfrm>
                <a:off x="4903" y="5620"/>
                <a:ext cx="2840" cy="0"/>
              </a:xfrm>
              <a:prstGeom prst="line">
                <a:avLst/>
              </a:prstGeom>
              <a:ln w="25400" cap="flat" cmpd="sng">
                <a:solidFill>
                  <a:schemeClr val="tx1"/>
                </a:solidFill>
                <a:prstDash val="solid"/>
                <a:headEnd type="none" w="med" len="med"/>
                <a:tailEnd type="triangle" w="med" len="med"/>
              </a:ln>
            </p:spPr>
          </p:sp>
          <p:sp>
            <p:nvSpPr>
              <p:cNvPr id="11284" name="Line 50"/>
              <p:cNvSpPr/>
              <p:nvPr>
                <p:custDataLst>
                  <p:tags r:id="rId25"/>
                </p:custDataLst>
              </p:nvPr>
            </p:nvSpPr>
            <p:spPr>
              <a:xfrm flipH="1">
                <a:off x="6433" y="5518"/>
                <a:ext cx="140" cy="207"/>
              </a:xfrm>
              <a:prstGeom prst="line">
                <a:avLst/>
              </a:prstGeom>
              <a:ln w="12700" cap="flat" cmpd="sng">
                <a:solidFill>
                  <a:schemeClr val="tx1"/>
                </a:solidFill>
                <a:prstDash val="solid"/>
                <a:headEnd type="none" w="med" len="med"/>
                <a:tailEnd type="none" w="med" len="med"/>
              </a:ln>
            </p:spPr>
          </p:sp>
          <p:sp>
            <p:nvSpPr>
              <p:cNvPr id="11285" name="Rectangle 51"/>
              <p:cNvSpPr/>
              <p:nvPr>
                <p:custDataLst>
                  <p:tags r:id="rId26"/>
                </p:custDataLst>
              </p:nvPr>
            </p:nvSpPr>
            <p:spPr>
              <a:xfrm>
                <a:off x="6405" y="5513"/>
                <a:ext cx="653" cy="1294"/>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32</a:t>
                </a:r>
                <a:endParaRPr lang="zh-CN" altLang="en-US" sz="1400" b="1" dirty="0">
                  <a:latin typeface="Times New Roman" panose="02020603050405020304" pitchFamily="18" charset="0"/>
                </a:endParaRPr>
              </a:p>
            </p:txBody>
          </p:sp>
          <p:sp>
            <p:nvSpPr>
              <p:cNvPr id="11286" name="Rectangle 52"/>
              <p:cNvSpPr/>
              <p:nvPr>
                <p:custDataLst>
                  <p:tags r:id="rId27"/>
                </p:custDataLst>
              </p:nvPr>
            </p:nvSpPr>
            <p:spPr>
              <a:xfrm>
                <a:off x="4933" y="5020"/>
                <a:ext cx="1095" cy="1294"/>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busA</a:t>
                </a:r>
                <a:endParaRPr lang="en-US" altLang="zh-CN" sz="1400" b="1" dirty="0">
                  <a:latin typeface="Times New Roman" panose="02020603050405020304" pitchFamily="18" charset="0"/>
                </a:endParaRPr>
              </a:p>
            </p:txBody>
          </p:sp>
          <p:sp>
            <p:nvSpPr>
              <p:cNvPr id="11287" name="Line 53"/>
              <p:cNvSpPr/>
              <p:nvPr>
                <p:custDataLst>
                  <p:tags r:id="rId28"/>
                </p:custDataLst>
              </p:nvPr>
            </p:nvSpPr>
            <p:spPr>
              <a:xfrm flipV="1">
                <a:off x="2843" y="5030"/>
                <a:ext cx="0" cy="383"/>
              </a:xfrm>
              <a:prstGeom prst="line">
                <a:avLst/>
              </a:prstGeom>
              <a:ln w="25400" cap="flat" cmpd="sng">
                <a:solidFill>
                  <a:schemeClr val="tx1"/>
                </a:solidFill>
                <a:prstDash val="solid"/>
                <a:headEnd type="none" w="med" len="med"/>
                <a:tailEnd type="none" w="med" len="med"/>
              </a:ln>
            </p:spPr>
          </p:sp>
          <p:sp>
            <p:nvSpPr>
              <p:cNvPr id="11288" name="Line 54"/>
              <p:cNvSpPr/>
              <p:nvPr>
                <p:custDataLst>
                  <p:tags r:id="rId29"/>
                </p:custDataLst>
              </p:nvPr>
            </p:nvSpPr>
            <p:spPr>
              <a:xfrm>
                <a:off x="4903" y="6988"/>
                <a:ext cx="1520" cy="0"/>
              </a:xfrm>
              <a:prstGeom prst="line">
                <a:avLst/>
              </a:prstGeom>
              <a:ln w="25400" cap="flat" cmpd="sng">
                <a:solidFill>
                  <a:schemeClr val="tx1"/>
                </a:solidFill>
                <a:prstDash val="solid"/>
                <a:headEnd type="none" w="med" len="med"/>
                <a:tailEnd type="triangle" w="med" len="med"/>
              </a:ln>
            </p:spPr>
          </p:sp>
          <p:sp>
            <p:nvSpPr>
              <p:cNvPr id="11289" name="Line 55"/>
              <p:cNvSpPr/>
              <p:nvPr>
                <p:custDataLst>
                  <p:tags r:id="rId30"/>
                </p:custDataLst>
              </p:nvPr>
            </p:nvSpPr>
            <p:spPr>
              <a:xfrm flipH="1">
                <a:off x="5713" y="6885"/>
                <a:ext cx="140" cy="208"/>
              </a:xfrm>
              <a:prstGeom prst="line">
                <a:avLst/>
              </a:prstGeom>
              <a:ln w="12700" cap="flat" cmpd="sng">
                <a:solidFill>
                  <a:schemeClr val="tx1"/>
                </a:solidFill>
                <a:prstDash val="solid"/>
                <a:headEnd type="none" w="med" len="med"/>
                <a:tailEnd type="none" w="med" len="med"/>
              </a:ln>
            </p:spPr>
          </p:sp>
          <p:sp>
            <p:nvSpPr>
              <p:cNvPr id="11290" name="Rectangle 56"/>
              <p:cNvSpPr/>
              <p:nvPr>
                <p:custDataLst>
                  <p:tags r:id="rId31"/>
                </p:custDataLst>
              </p:nvPr>
            </p:nvSpPr>
            <p:spPr>
              <a:xfrm>
                <a:off x="5648" y="6875"/>
                <a:ext cx="652" cy="1294"/>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32</a:t>
                </a:r>
                <a:endParaRPr lang="zh-CN" altLang="en-US" sz="1400" b="1" dirty="0">
                  <a:latin typeface="Times New Roman" panose="02020603050405020304" pitchFamily="18" charset="0"/>
                </a:endParaRPr>
              </a:p>
            </p:txBody>
          </p:sp>
          <p:sp>
            <p:nvSpPr>
              <p:cNvPr id="11291" name="Rectangle 57"/>
              <p:cNvSpPr/>
              <p:nvPr>
                <p:custDataLst>
                  <p:tags r:id="rId32"/>
                </p:custDataLst>
              </p:nvPr>
            </p:nvSpPr>
            <p:spPr>
              <a:xfrm>
                <a:off x="4933" y="6440"/>
                <a:ext cx="1075" cy="1294"/>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busB</a:t>
                </a:r>
                <a:endParaRPr lang="en-US" altLang="zh-CN" sz="1400" b="1" dirty="0">
                  <a:latin typeface="Times New Roman" panose="02020603050405020304" pitchFamily="18" charset="0"/>
                </a:endParaRPr>
              </a:p>
            </p:txBody>
          </p:sp>
          <p:sp>
            <p:nvSpPr>
              <p:cNvPr id="11292" name="Line 59"/>
              <p:cNvSpPr/>
              <p:nvPr>
                <p:custDataLst>
                  <p:tags r:id="rId33"/>
                </p:custDataLst>
              </p:nvPr>
            </p:nvSpPr>
            <p:spPr>
              <a:xfrm>
                <a:off x="3323" y="4388"/>
                <a:ext cx="0" cy="985"/>
              </a:xfrm>
              <a:prstGeom prst="line">
                <a:avLst/>
              </a:prstGeom>
              <a:ln w="25400" cap="flat" cmpd="sng">
                <a:solidFill>
                  <a:schemeClr val="tx1"/>
                </a:solidFill>
                <a:prstDash val="solid"/>
                <a:headEnd type="none" w="med" len="med"/>
                <a:tailEnd type="none" w="med" len="med"/>
              </a:ln>
            </p:spPr>
          </p:sp>
          <p:sp>
            <p:nvSpPr>
              <p:cNvPr id="11293" name="Line 60"/>
              <p:cNvSpPr/>
              <p:nvPr>
                <p:custDataLst>
                  <p:tags r:id="rId34"/>
                </p:custDataLst>
              </p:nvPr>
            </p:nvSpPr>
            <p:spPr>
              <a:xfrm flipV="1">
                <a:off x="3213" y="4928"/>
                <a:ext cx="220" cy="247"/>
              </a:xfrm>
              <a:prstGeom prst="line">
                <a:avLst/>
              </a:prstGeom>
              <a:ln w="12700" cap="flat" cmpd="sng">
                <a:solidFill>
                  <a:schemeClr val="tx1"/>
                </a:solidFill>
                <a:prstDash val="solid"/>
                <a:headEnd type="none" w="med" len="med"/>
                <a:tailEnd type="none" w="med" len="med"/>
              </a:ln>
            </p:spPr>
          </p:sp>
          <p:sp>
            <p:nvSpPr>
              <p:cNvPr id="11294" name="Rectangle 61"/>
              <p:cNvSpPr/>
              <p:nvPr>
                <p:custDataLst>
                  <p:tags r:id="rId35"/>
                </p:custDataLst>
              </p:nvPr>
            </p:nvSpPr>
            <p:spPr>
              <a:xfrm>
                <a:off x="2940" y="4705"/>
                <a:ext cx="470" cy="757"/>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5</a:t>
                </a:r>
                <a:endParaRPr lang="zh-CN" altLang="en-US" sz="1400" b="1" dirty="0">
                  <a:latin typeface="Times New Roman" panose="02020603050405020304" pitchFamily="18" charset="0"/>
                </a:endParaRPr>
              </a:p>
            </p:txBody>
          </p:sp>
          <p:sp>
            <p:nvSpPr>
              <p:cNvPr id="11295" name="Line 62"/>
              <p:cNvSpPr/>
              <p:nvPr>
                <p:custDataLst>
                  <p:tags r:id="rId36"/>
                </p:custDataLst>
              </p:nvPr>
            </p:nvSpPr>
            <p:spPr>
              <a:xfrm>
                <a:off x="4033" y="4730"/>
                <a:ext cx="0" cy="643"/>
              </a:xfrm>
              <a:prstGeom prst="line">
                <a:avLst/>
              </a:prstGeom>
              <a:ln w="25400" cap="flat" cmpd="sng">
                <a:solidFill>
                  <a:schemeClr val="tx1"/>
                </a:solidFill>
                <a:prstDash val="solid"/>
                <a:headEnd type="none" w="med" len="med"/>
                <a:tailEnd type="none" w="med" len="med"/>
              </a:ln>
            </p:spPr>
          </p:sp>
          <p:sp>
            <p:nvSpPr>
              <p:cNvPr id="11296" name="Line 63"/>
              <p:cNvSpPr/>
              <p:nvPr>
                <p:custDataLst>
                  <p:tags r:id="rId37"/>
                </p:custDataLst>
              </p:nvPr>
            </p:nvSpPr>
            <p:spPr>
              <a:xfrm flipV="1">
                <a:off x="3903" y="4928"/>
                <a:ext cx="220" cy="247"/>
              </a:xfrm>
              <a:prstGeom prst="line">
                <a:avLst/>
              </a:prstGeom>
              <a:ln w="12700" cap="flat" cmpd="sng">
                <a:solidFill>
                  <a:schemeClr val="tx1"/>
                </a:solidFill>
                <a:prstDash val="solid"/>
                <a:headEnd type="none" w="med" len="med"/>
                <a:tailEnd type="none" w="med" len="med"/>
              </a:ln>
            </p:spPr>
          </p:sp>
          <p:sp>
            <p:nvSpPr>
              <p:cNvPr id="11297" name="Rectangle 64"/>
              <p:cNvSpPr/>
              <p:nvPr>
                <p:custDataLst>
                  <p:tags r:id="rId38"/>
                </p:custDataLst>
              </p:nvPr>
            </p:nvSpPr>
            <p:spPr>
              <a:xfrm>
                <a:off x="3650" y="4685"/>
                <a:ext cx="470" cy="757"/>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5</a:t>
                </a:r>
                <a:endParaRPr lang="zh-CN" altLang="en-US" sz="1400" b="1" dirty="0">
                  <a:latin typeface="Times New Roman" panose="02020603050405020304" pitchFamily="18" charset="0"/>
                </a:endParaRPr>
              </a:p>
            </p:txBody>
          </p:sp>
          <p:sp>
            <p:nvSpPr>
              <p:cNvPr id="11298" name="Line 65"/>
              <p:cNvSpPr/>
              <p:nvPr>
                <p:custDataLst>
                  <p:tags r:id="rId39"/>
                </p:custDataLst>
              </p:nvPr>
            </p:nvSpPr>
            <p:spPr>
              <a:xfrm>
                <a:off x="4643" y="4730"/>
                <a:ext cx="0" cy="643"/>
              </a:xfrm>
              <a:prstGeom prst="line">
                <a:avLst/>
              </a:prstGeom>
              <a:ln w="25400" cap="flat" cmpd="sng">
                <a:solidFill>
                  <a:schemeClr val="tx1"/>
                </a:solidFill>
                <a:prstDash val="solid"/>
                <a:headEnd type="none" w="med" len="med"/>
                <a:tailEnd type="none" w="med" len="med"/>
              </a:ln>
            </p:spPr>
          </p:sp>
          <p:sp>
            <p:nvSpPr>
              <p:cNvPr id="11299" name="Line 66"/>
              <p:cNvSpPr/>
              <p:nvPr>
                <p:custDataLst>
                  <p:tags r:id="rId40"/>
                </p:custDataLst>
              </p:nvPr>
            </p:nvSpPr>
            <p:spPr>
              <a:xfrm flipV="1">
                <a:off x="4533" y="4928"/>
                <a:ext cx="220" cy="247"/>
              </a:xfrm>
              <a:prstGeom prst="line">
                <a:avLst/>
              </a:prstGeom>
              <a:ln w="12700" cap="flat" cmpd="sng">
                <a:solidFill>
                  <a:schemeClr val="tx1"/>
                </a:solidFill>
                <a:prstDash val="solid"/>
                <a:headEnd type="none" w="med" len="med"/>
                <a:tailEnd type="none" w="med" len="med"/>
              </a:ln>
            </p:spPr>
          </p:sp>
          <p:sp>
            <p:nvSpPr>
              <p:cNvPr id="11300" name="Rectangle 67"/>
              <p:cNvSpPr/>
              <p:nvPr>
                <p:custDataLst>
                  <p:tags r:id="rId41"/>
                </p:custDataLst>
              </p:nvPr>
            </p:nvSpPr>
            <p:spPr>
              <a:xfrm>
                <a:off x="4260" y="4705"/>
                <a:ext cx="470" cy="757"/>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5</a:t>
                </a:r>
                <a:endParaRPr lang="zh-CN" altLang="en-US" sz="1400" b="1" dirty="0">
                  <a:latin typeface="Times New Roman" panose="02020603050405020304" pitchFamily="18" charset="0"/>
                </a:endParaRPr>
              </a:p>
            </p:txBody>
          </p:sp>
          <p:sp>
            <p:nvSpPr>
              <p:cNvPr id="11301" name="Rectangle 68"/>
              <p:cNvSpPr/>
              <p:nvPr>
                <p:custDataLst>
                  <p:tags r:id="rId42"/>
                </p:custDataLst>
              </p:nvPr>
            </p:nvSpPr>
            <p:spPr>
              <a:xfrm>
                <a:off x="2813" y="5390"/>
                <a:ext cx="812" cy="1294"/>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Rw</a:t>
                </a:r>
                <a:endParaRPr lang="en-US" altLang="zh-CN" sz="1400" b="1" dirty="0">
                  <a:latin typeface="Times New Roman" panose="02020603050405020304" pitchFamily="18" charset="0"/>
                </a:endParaRPr>
              </a:p>
            </p:txBody>
          </p:sp>
          <p:sp>
            <p:nvSpPr>
              <p:cNvPr id="11302" name="Rectangle 69"/>
              <p:cNvSpPr/>
              <p:nvPr>
                <p:custDataLst>
                  <p:tags r:id="rId43"/>
                </p:custDataLst>
              </p:nvPr>
            </p:nvSpPr>
            <p:spPr>
              <a:xfrm>
                <a:off x="3488" y="5390"/>
                <a:ext cx="732" cy="1294"/>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Ra</a:t>
                </a:r>
                <a:endParaRPr lang="en-US" altLang="zh-CN" sz="1400" b="1" dirty="0">
                  <a:latin typeface="Times New Roman" panose="02020603050405020304" pitchFamily="18" charset="0"/>
                </a:endParaRPr>
              </a:p>
            </p:txBody>
          </p:sp>
          <p:sp>
            <p:nvSpPr>
              <p:cNvPr id="11303" name="Rectangle 70"/>
              <p:cNvSpPr/>
              <p:nvPr>
                <p:custDataLst>
                  <p:tags r:id="rId44"/>
                </p:custDataLst>
              </p:nvPr>
            </p:nvSpPr>
            <p:spPr>
              <a:xfrm>
                <a:off x="4163" y="5390"/>
                <a:ext cx="752" cy="1294"/>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Rb</a:t>
                </a:r>
                <a:endParaRPr lang="en-US" altLang="zh-CN" sz="1400" b="1" dirty="0">
                  <a:latin typeface="Times New Roman" panose="02020603050405020304" pitchFamily="18" charset="0"/>
                </a:endParaRPr>
              </a:p>
            </p:txBody>
          </p:sp>
          <p:sp>
            <p:nvSpPr>
              <p:cNvPr id="11304" name="Rectangle 71"/>
              <p:cNvSpPr/>
              <p:nvPr>
                <p:custDataLst>
                  <p:tags r:id="rId45"/>
                </p:custDataLst>
              </p:nvPr>
            </p:nvSpPr>
            <p:spPr>
              <a:xfrm>
                <a:off x="2813" y="5935"/>
                <a:ext cx="1722" cy="1667"/>
              </a:xfrm>
              <a:prstGeom prst="rect">
                <a:avLst/>
              </a:prstGeom>
              <a:noFill/>
              <a:ln w="12700">
                <a:noFill/>
              </a:ln>
            </p:spPr>
            <p:txBody>
              <a:bodyPr wrap="square" lIns="90488" tIns="44450" rIns="90488" bIns="44450">
                <a:spAutoFit/>
              </a:bodyPr>
              <a:p>
                <a:pPr eaLnBrk="0" hangingPunct="0">
                  <a:lnSpc>
                    <a:spcPct val="90000"/>
                  </a:lnSpc>
                </a:pPr>
                <a:r>
                  <a:rPr lang="zh-CN" altLang="en-US" sz="1400" b="1" dirty="0">
                    <a:solidFill>
                      <a:srgbClr val="0000FF"/>
                    </a:solidFill>
                    <a:latin typeface="Times New Roman" panose="02020603050405020304" pitchFamily="18" charset="0"/>
                  </a:rPr>
                  <a:t>32 32-</a:t>
                </a:r>
                <a:r>
                  <a:rPr lang="en-US" altLang="zh-CN" sz="1400" b="1" dirty="0">
                    <a:solidFill>
                      <a:srgbClr val="0000FF"/>
                    </a:solidFill>
                    <a:latin typeface="Times New Roman" panose="02020603050405020304" pitchFamily="18" charset="0"/>
                  </a:rPr>
                  <a:t>bit</a:t>
                </a:r>
                <a:endParaRPr lang="en-US" altLang="zh-CN" sz="1400" b="1" dirty="0">
                  <a:solidFill>
                    <a:srgbClr val="0000FF"/>
                  </a:solidFill>
                  <a:latin typeface="Times New Roman" panose="02020603050405020304" pitchFamily="18" charset="0"/>
                </a:endParaRPr>
              </a:p>
              <a:p>
                <a:pPr eaLnBrk="0" hangingPunct="0">
                  <a:lnSpc>
                    <a:spcPct val="90000"/>
                  </a:lnSpc>
                </a:pPr>
                <a:r>
                  <a:rPr lang="en-US" altLang="zh-CN" sz="1400" b="1" dirty="0">
                    <a:solidFill>
                      <a:srgbClr val="0000FF"/>
                    </a:solidFill>
                    <a:latin typeface="Times New Roman" panose="02020603050405020304" pitchFamily="18" charset="0"/>
                  </a:rPr>
                  <a:t>Registers</a:t>
                </a:r>
                <a:endParaRPr lang="en-US" altLang="zh-CN" sz="1400" b="1" dirty="0">
                  <a:solidFill>
                    <a:srgbClr val="0000FF"/>
                  </a:solidFill>
                  <a:latin typeface="Times New Roman" panose="02020603050405020304" pitchFamily="18" charset="0"/>
                </a:endParaRPr>
              </a:p>
            </p:txBody>
          </p:sp>
          <p:sp>
            <p:nvSpPr>
              <p:cNvPr id="11305" name="Line 72"/>
              <p:cNvSpPr/>
              <p:nvPr>
                <p:custDataLst>
                  <p:tags r:id="rId46"/>
                </p:custDataLst>
              </p:nvPr>
            </p:nvSpPr>
            <p:spPr>
              <a:xfrm flipH="1">
                <a:off x="1023" y="9495"/>
                <a:ext cx="12280" cy="0"/>
              </a:xfrm>
              <a:prstGeom prst="line">
                <a:avLst/>
              </a:prstGeom>
              <a:ln w="25400" cap="flat" cmpd="sng">
                <a:solidFill>
                  <a:schemeClr val="tx1"/>
                </a:solidFill>
                <a:prstDash val="solid"/>
                <a:headEnd type="none" w="med" len="med"/>
                <a:tailEnd type="none" w="med" len="med"/>
              </a:ln>
            </p:spPr>
          </p:sp>
          <p:sp>
            <p:nvSpPr>
              <p:cNvPr id="11306" name="Line 73"/>
              <p:cNvSpPr/>
              <p:nvPr>
                <p:custDataLst>
                  <p:tags r:id="rId47"/>
                </p:custDataLst>
              </p:nvPr>
            </p:nvSpPr>
            <p:spPr>
              <a:xfrm flipV="1">
                <a:off x="1043" y="6170"/>
                <a:ext cx="0" cy="3345"/>
              </a:xfrm>
              <a:prstGeom prst="line">
                <a:avLst/>
              </a:prstGeom>
              <a:ln w="25400" cap="flat" cmpd="sng">
                <a:solidFill>
                  <a:schemeClr val="tx1"/>
                </a:solidFill>
                <a:prstDash val="solid"/>
                <a:headEnd type="none" w="med" len="med"/>
                <a:tailEnd type="none" w="med" len="med"/>
              </a:ln>
            </p:spPr>
          </p:sp>
          <p:sp>
            <p:nvSpPr>
              <p:cNvPr id="11307" name="Rectangle 74"/>
              <p:cNvSpPr/>
              <p:nvPr>
                <p:custDataLst>
                  <p:tags r:id="rId48"/>
                </p:custDataLst>
              </p:nvPr>
            </p:nvSpPr>
            <p:spPr>
              <a:xfrm>
                <a:off x="3706" y="4017"/>
                <a:ext cx="853" cy="757"/>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Rs1</a:t>
                </a:r>
                <a:endParaRPr lang="en-US" altLang="zh-CN" sz="1400" b="1" dirty="0">
                  <a:latin typeface="Times New Roman" panose="02020603050405020304" pitchFamily="18" charset="0"/>
                </a:endParaRPr>
              </a:p>
            </p:txBody>
          </p:sp>
          <p:grpSp>
            <p:nvGrpSpPr>
              <p:cNvPr id="11309" name="Group 76"/>
              <p:cNvGrpSpPr/>
              <p:nvPr/>
            </p:nvGrpSpPr>
            <p:grpSpPr>
              <a:xfrm>
                <a:off x="6398" y="6553"/>
                <a:ext cx="480" cy="1707"/>
                <a:chOff x="2640" y="2821"/>
                <a:chExt cx="192" cy="683"/>
              </a:xfrm>
            </p:grpSpPr>
            <p:sp>
              <p:nvSpPr>
                <p:cNvPr id="11399" name="Line 77"/>
                <p:cNvSpPr/>
                <p:nvPr>
                  <p:custDataLst>
                    <p:tags r:id="rId49"/>
                  </p:custDataLst>
                </p:nvPr>
              </p:nvSpPr>
              <p:spPr>
                <a:xfrm>
                  <a:off x="2640" y="2821"/>
                  <a:ext cx="0" cy="667"/>
                </a:xfrm>
                <a:prstGeom prst="line">
                  <a:avLst/>
                </a:prstGeom>
                <a:ln w="25400" cap="flat" cmpd="sng">
                  <a:solidFill>
                    <a:schemeClr val="tx1"/>
                  </a:solidFill>
                  <a:prstDash val="solid"/>
                  <a:headEnd type="none" w="med" len="med"/>
                  <a:tailEnd type="none" w="med" len="med"/>
                </a:ln>
              </p:spPr>
            </p:sp>
            <p:sp>
              <p:nvSpPr>
                <p:cNvPr id="11400" name="Line 78"/>
                <p:cNvSpPr/>
                <p:nvPr>
                  <p:custDataLst>
                    <p:tags r:id="rId50"/>
                  </p:custDataLst>
                </p:nvPr>
              </p:nvSpPr>
              <p:spPr>
                <a:xfrm>
                  <a:off x="2648" y="2821"/>
                  <a:ext cx="176" cy="75"/>
                </a:xfrm>
                <a:prstGeom prst="line">
                  <a:avLst/>
                </a:prstGeom>
                <a:ln w="25400" cap="flat" cmpd="sng">
                  <a:solidFill>
                    <a:schemeClr val="tx1"/>
                  </a:solidFill>
                  <a:prstDash val="solid"/>
                  <a:headEnd type="none" w="med" len="med"/>
                  <a:tailEnd type="none" w="med" len="med"/>
                </a:ln>
              </p:spPr>
            </p:sp>
            <p:sp>
              <p:nvSpPr>
                <p:cNvPr id="11401" name="Line 79"/>
                <p:cNvSpPr/>
                <p:nvPr>
                  <p:custDataLst>
                    <p:tags r:id="rId51"/>
                  </p:custDataLst>
                </p:nvPr>
              </p:nvSpPr>
              <p:spPr>
                <a:xfrm flipV="1">
                  <a:off x="2648" y="3397"/>
                  <a:ext cx="176" cy="107"/>
                </a:xfrm>
                <a:prstGeom prst="line">
                  <a:avLst/>
                </a:prstGeom>
                <a:ln w="25400" cap="flat" cmpd="sng">
                  <a:solidFill>
                    <a:schemeClr val="tx1"/>
                  </a:solidFill>
                  <a:prstDash val="solid"/>
                  <a:headEnd type="none" w="med" len="med"/>
                  <a:tailEnd type="none" w="med" len="med"/>
                </a:ln>
              </p:spPr>
            </p:sp>
            <p:sp>
              <p:nvSpPr>
                <p:cNvPr id="11402" name="Line 80"/>
                <p:cNvSpPr/>
                <p:nvPr>
                  <p:custDataLst>
                    <p:tags r:id="rId52"/>
                  </p:custDataLst>
                </p:nvPr>
              </p:nvSpPr>
              <p:spPr>
                <a:xfrm>
                  <a:off x="2832" y="2912"/>
                  <a:ext cx="0" cy="485"/>
                </a:xfrm>
                <a:prstGeom prst="line">
                  <a:avLst/>
                </a:prstGeom>
                <a:ln w="25400" cap="flat" cmpd="sng">
                  <a:solidFill>
                    <a:schemeClr val="tx1"/>
                  </a:solidFill>
                  <a:prstDash val="solid"/>
                  <a:headEnd type="none" w="med" len="med"/>
                  <a:tailEnd type="none" w="med" len="med"/>
                </a:ln>
              </p:spPr>
            </p:sp>
          </p:grpSp>
          <p:sp>
            <p:nvSpPr>
              <p:cNvPr id="11316" name="Rectangle 92"/>
              <p:cNvSpPr/>
              <p:nvPr>
                <p:custDataLst>
                  <p:tags r:id="rId53"/>
                </p:custDataLst>
              </p:nvPr>
            </p:nvSpPr>
            <p:spPr>
              <a:xfrm>
                <a:off x="4838" y="7328"/>
                <a:ext cx="505" cy="1660"/>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sz="1400" b="1" dirty="0">
                  <a:latin typeface="Arial" panose="020B0604020202020204" pitchFamily="34" charset="0"/>
                </a:endParaRPr>
              </a:p>
            </p:txBody>
          </p:sp>
          <p:sp>
            <p:nvSpPr>
              <p:cNvPr id="11317" name="Rectangle 93"/>
              <p:cNvSpPr/>
              <p:nvPr>
                <p:custDataLst>
                  <p:tags r:id="rId54"/>
                </p:custDataLst>
              </p:nvPr>
            </p:nvSpPr>
            <p:spPr>
              <a:xfrm rot="5400000">
                <a:off x="5876" y="7257"/>
                <a:ext cx="1483" cy="554"/>
              </a:xfrm>
              <a:prstGeom prst="rect">
                <a:avLst/>
              </a:prstGeom>
              <a:noFill/>
              <a:ln w="12700">
                <a:noFill/>
              </a:ln>
            </p:spPr>
            <p:txBody>
              <a:bodyPr wrap="square" lIns="90488" tIns="44450" rIns="90488" bIns="44450">
                <a:spAutoFit/>
              </a:bodyPr>
              <a:p>
                <a:pPr eaLnBrk="0" hangingPunct="0"/>
                <a:r>
                  <a:rPr lang="en-US" altLang="zh-CN" sz="1400" b="1" dirty="0">
                    <a:solidFill>
                      <a:srgbClr val="0000FF"/>
                    </a:solidFill>
                    <a:latin typeface="Times New Roman" panose="02020603050405020304" pitchFamily="18" charset="0"/>
                  </a:rPr>
                  <a:t>Mux</a:t>
                </a:r>
                <a:endParaRPr lang="en-US" altLang="zh-CN" sz="1400" b="1" dirty="0">
                  <a:solidFill>
                    <a:srgbClr val="0000FF"/>
                  </a:solidFill>
                  <a:latin typeface="Times New Roman" panose="02020603050405020304" pitchFamily="18" charset="0"/>
                </a:endParaRPr>
              </a:p>
            </p:txBody>
          </p:sp>
          <p:sp>
            <p:nvSpPr>
              <p:cNvPr id="11319" name="Line 95"/>
              <p:cNvSpPr/>
              <p:nvPr>
                <p:custDataLst>
                  <p:tags r:id="rId55"/>
                </p:custDataLst>
              </p:nvPr>
            </p:nvSpPr>
            <p:spPr>
              <a:xfrm>
                <a:off x="5383" y="8013"/>
                <a:ext cx="1040" cy="0"/>
              </a:xfrm>
              <a:prstGeom prst="line">
                <a:avLst/>
              </a:prstGeom>
              <a:ln w="25400" cap="flat" cmpd="sng">
                <a:solidFill>
                  <a:schemeClr val="tx1"/>
                </a:solidFill>
                <a:prstDash val="solid"/>
                <a:headEnd type="none" w="med" len="med"/>
                <a:tailEnd type="triangle" w="med" len="med"/>
              </a:ln>
            </p:spPr>
          </p:sp>
          <p:sp>
            <p:nvSpPr>
              <p:cNvPr id="11320" name="Rectangle 96"/>
              <p:cNvSpPr/>
              <p:nvPr>
                <p:custDataLst>
                  <p:tags r:id="rId56"/>
                </p:custDataLst>
              </p:nvPr>
            </p:nvSpPr>
            <p:spPr>
              <a:xfrm>
                <a:off x="5760" y="7913"/>
                <a:ext cx="653" cy="1294"/>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32</a:t>
                </a:r>
                <a:endParaRPr lang="zh-CN" altLang="en-US" sz="1400" b="1" dirty="0">
                  <a:latin typeface="Times New Roman" panose="02020603050405020304" pitchFamily="18" charset="0"/>
                </a:endParaRPr>
              </a:p>
            </p:txBody>
          </p:sp>
          <p:sp>
            <p:nvSpPr>
              <p:cNvPr id="11321" name="Line 97"/>
              <p:cNvSpPr/>
              <p:nvPr>
                <p:custDataLst>
                  <p:tags r:id="rId57"/>
                </p:custDataLst>
              </p:nvPr>
            </p:nvSpPr>
            <p:spPr>
              <a:xfrm flipH="1">
                <a:off x="5833" y="7910"/>
                <a:ext cx="140" cy="208"/>
              </a:xfrm>
              <a:prstGeom prst="line">
                <a:avLst/>
              </a:prstGeom>
              <a:ln w="12700" cap="flat" cmpd="sng">
                <a:solidFill>
                  <a:schemeClr val="tx1"/>
                </a:solidFill>
                <a:prstDash val="solid"/>
                <a:headEnd type="none" w="med" len="med"/>
                <a:tailEnd type="none" w="med" len="med"/>
              </a:ln>
            </p:spPr>
          </p:sp>
          <p:sp>
            <p:nvSpPr>
              <p:cNvPr id="11322" name="Line 98"/>
              <p:cNvSpPr/>
              <p:nvPr>
                <p:custDataLst>
                  <p:tags r:id="rId58"/>
                </p:custDataLst>
              </p:nvPr>
            </p:nvSpPr>
            <p:spPr>
              <a:xfrm>
                <a:off x="3283" y="8115"/>
                <a:ext cx="1520" cy="0"/>
              </a:xfrm>
              <a:prstGeom prst="line">
                <a:avLst/>
              </a:prstGeom>
              <a:ln w="25400" cap="flat" cmpd="sng">
                <a:solidFill>
                  <a:schemeClr val="tx1"/>
                </a:solidFill>
                <a:prstDash val="solid"/>
                <a:headEnd type="none" w="med" len="med"/>
                <a:tailEnd type="triangle" w="med" len="med"/>
              </a:ln>
            </p:spPr>
          </p:sp>
          <p:sp>
            <p:nvSpPr>
              <p:cNvPr id="11323" name="Line 99"/>
              <p:cNvSpPr/>
              <p:nvPr>
                <p:custDataLst>
                  <p:tags r:id="rId59"/>
                </p:custDataLst>
              </p:nvPr>
            </p:nvSpPr>
            <p:spPr>
              <a:xfrm flipH="1">
                <a:off x="3973" y="8010"/>
                <a:ext cx="140" cy="210"/>
              </a:xfrm>
              <a:prstGeom prst="line">
                <a:avLst/>
              </a:prstGeom>
              <a:ln w="12700" cap="flat" cmpd="sng">
                <a:solidFill>
                  <a:schemeClr val="tx1"/>
                </a:solidFill>
                <a:prstDash val="solid"/>
                <a:headEnd type="none" w="med" len="med"/>
                <a:tailEnd type="none" w="med" len="med"/>
              </a:ln>
            </p:spPr>
          </p:sp>
          <p:sp>
            <p:nvSpPr>
              <p:cNvPr id="11324" name="Rectangle 100"/>
              <p:cNvSpPr/>
              <p:nvPr>
                <p:custDataLst>
                  <p:tags r:id="rId60"/>
                </p:custDataLst>
              </p:nvPr>
            </p:nvSpPr>
            <p:spPr>
              <a:xfrm>
                <a:off x="3910" y="8013"/>
                <a:ext cx="653" cy="757"/>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1</a:t>
                </a:r>
                <a:r>
                  <a:rPr lang="en-US" altLang="zh-CN" sz="1400" b="1" dirty="0">
                    <a:latin typeface="Times New Roman" panose="02020603050405020304" pitchFamily="18" charset="0"/>
                  </a:rPr>
                  <a:t>2</a:t>
                </a:r>
                <a:endParaRPr lang="en-US" altLang="zh-CN" sz="1400" b="1" dirty="0">
                  <a:latin typeface="Times New Roman" panose="02020603050405020304" pitchFamily="18" charset="0"/>
                </a:endParaRPr>
              </a:p>
            </p:txBody>
          </p:sp>
          <p:sp>
            <p:nvSpPr>
              <p:cNvPr id="11325" name="Rectangle 101"/>
              <p:cNvSpPr/>
              <p:nvPr>
                <p:custDataLst>
                  <p:tags r:id="rId61"/>
                </p:custDataLst>
              </p:nvPr>
            </p:nvSpPr>
            <p:spPr>
              <a:xfrm>
                <a:off x="2084" y="7669"/>
                <a:ext cx="2110" cy="757"/>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imm12</a:t>
                </a:r>
                <a:endParaRPr lang="en-US" altLang="zh-CN" sz="1400" b="1" dirty="0">
                  <a:latin typeface="Times New Roman" panose="02020603050405020304" pitchFamily="18" charset="0"/>
                </a:endParaRPr>
              </a:p>
            </p:txBody>
          </p:sp>
          <p:sp>
            <p:nvSpPr>
              <p:cNvPr id="11326" name="Line 102"/>
              <p:cNvSpPr/>
              <p:nvPr>
                <p:custDataLst>
                  <p:tags r:id="rId62"/>
                </p:custDataLst>
              </p:nvPr>
            </p:nvSpPr>
            <p:spPr>
              <a:xfrm>
                <a:off x="6683" y="8100"/>
                <a:ext cx="0" cy="663"/>
              </a:xfrm>
              <a:prstGeom prst="line">
                <a:avLst/>
              </a:prstGeom>
              <a:ln w="28575" cap="flat" cmpd="sng">
                <a:solidFill>
                  <a:schemeClr val="tx1"/>
                </a:solidFill>
                <a:prstDash val="solid"/>
                <a:headEnd type="triangle" w="med" len="med"/>
                <a:tailEnd type="none" w="med" len="med"/>
              </a:ln>
            </p:spPr>
          </p:sp>
          <p:sp>
            <p:nvSpPr>
              <p:cNvPr id="11327" name="Rectangle 103"/>
              <p:cNvSpPr/>
              <p:nvPr>
                <p:custDataLst>
                  <p:tags r:id="rId63"/>
                </p:custDataLst>
              </p:nvPr>
            </p:nvSpPr>
            <p:spPr>
              <a:xfrm>
                <a:off x="6028" y="8643"/>
                <a:ext cx="1989" cy="911"/>
              </a:xfrm>
              <a:prstGeom prst="rect">
                <a:avLst/>
              </a:prstGeom>
              <a:noFill/>
              <a:ln w="12700">
                <a:noFill/>
              </a:ln>
            </p:spPr>
            <p:txBody>
              <a:bodyPr wrap="square" lIns="90488" tIns="44450" rIns="90488" bIns="44450">
                <a:spAutoFit/>
              </a:bodyPr>
              <a:p>
                <a:pPr eaLnBrk="0" hangingPunct="0"/>
                <a:r>
                  <a:rPr lang="en-US" altLang="zh-CN" sz="1800" b="1" dirty="0">
                    <a:solidFill>
                      <a:srgbClr val="FF0000"/>
                    </a:solidFill>
                    <a:latin typeface="Times New Roman" panose="02020603050405020304" pitchFamily="18" charset="0"/>
                  </a:rPr>
                  <a:t>ALUSrc</a:t>
                </a:r>
                <a:endParaRPr lang="en-US" altLang="zh-CN" sz="1800" b="1" dirty="0">
                  <a:solidFill>
                    <a:srgbClr val="FF0000"/>
                  </a:solidFill>
                  <a:latin typeface="Times New Roman" panose="02020603050405020304" pitchFamily="18" charset="0"/>
                </a:endParaRPr>
              </a:p>
            </p:txBody>
          </p:sp>
          <p:sp>
            <p:nvSpPr>
              <p:cNvPr id="11328" name="Line 104"/>
              <p:cNvSpPr/>
              <p:nvPr>
                <p:custDataLst>
                  <p:tags r:id="rId64"/>
                </p:custDataLst>
              </p:nvPr>
            </p:nvSpPr>
            <p:spPr>
              <a:xfrm>
                <a:off x="6943" y="6988"/>
                <a:ext cx="800" cy="0"/>
              </a:xfrm>
              <a:prstGeom prst="line">
                <a:avLst/>
              </a:prstGeom>
              <a:ln w="25400" cap="flat" cmpd="sng">
                <a:solidFill>
                  <a:schemeClr val="tx1"/>
                </a:solidFill>
                <a:prstDash val="solid"/>
                <a:headEnd type="none" w="med" len="med"/>
                <a:tailEnd type="triangle" w="med" len="med"/>
              </a:ln>
            </p:spPr>
          </p:sp>
          <p:sp>
            <p:nvSpPr>
              <p:cNvPr id="11329" name="Rectangle 106"/>
              <p:cNvSpPr/>
              <p:nvPr>
                <p:custDataLst>
                  <p:tags r:id="rId65"/>
                </p:custDataLst>
              </p:nvPr>
            </p:nvSpPr>
            <p:spPr>
              <a:xfrm rot="5400000">
                <a:off x="7553" y="6004"/>
                <a:ext cx="1482" cy="554"/>
              </a:xfrm>
              <a:prstGeom prst="rect">
                <a:avLst/>
              </a:prstGeom>
              <a:noFill/>
              <a:ln w="12700">
                <a:noFill/>
              </a:ln>
            </p:spPr>
            <p:txBody>
              <a:bodyPr wrap="square" lIns="90488" tIns="44450" rIns="90488" bIns="44450">
                <a:spAutoFit/>
              </a:bodyPr>
              <a:p>
                <a:pPr eaLnBrk="0" hangingPunct="0"/>
                <a:r>
                  <a:rPr lang="en-US" altLang="zh-CN" sz="1400" b="1" dirty="0">
                    <a:solidFill>
                      <a:srgbClr val="0000FF"/>
                    </a:solidFill>
                    <a:latin typeface="Times New Roman" panose="02020603050405020304" pitchFamily="18" charset="0"/>
                  </a:rPr>
                  <a:t>ALU</a:t>
                </a:r>
                <a:endParaRPr lang="en-US" altLang="zh-CN" sz="1400" b="1" dirty="0">
                  <a:solidFill>
                    <a:srgbClr val="0000FF"/>
                  </a:solidFill>
                  <a:latin typeface="Times New Roman" panose="02020603050405020304" pitchFamily="18" charset="0"/>
                </a:endParaRPr>
              </a:p>
            </p:txBody>
          </p:sp>
          <p:grpSp>
            <p:nvGrpSpPr>
              <p:cNvPr id="2" name="Group 107"/>
              <p:cNvGrpSpPr/>
              <p:nvPr/>
            </p:nvGrpSpPr>
            <p:grpSpPr>
              <a:xfrm>
                <a:off x="4858" y="4496"/>
                <a:ext cx="8838" cy="5191"/>
                <a:chOff x="2006" y="1998"/>
                <a:chExt cx="3535" cy="2191"/>
              </a:xfrm>
            </p:grpSpPr>
            <p:sp>
              <p:nvSpPr>
                <p:cNvPr id="11361" name="Rectangle 108"/>
                <p:cNvSpPr/>
                <p:nvPr>
                  <p:custDataLst>
                    <p:tags r:id="rId66"/>
                  </p:custDataLst>
                </p:nvPr>
              </p:nvSpPr>
              <p:spPr>
                <a:xfrm rot="5400000">
                  <a:off x="1589" y="3541"/>
                  <a:ext cx="1031" cy="198"/>
                </a:xfrm>
                <a:prstGeom prst="rect">
                  <a:avLst/>
                </a:prstGeom>
                <a:noFill/>
                <a:ln w="12700">
                  <a:noFill/>
                </a:ln>
              </p:spPr>
              <p:txBody>
                <a:bodyPr wrap="square" lIns="90488" tIns="44450" rIns="90488" bIns="44450">
                  <a:spAutoFit/>
                </a:bodyPr>
                <a:p>
                  <a:pPr eaLnBrk="0" hangingPunct="0"/>
                  <a:r>
                    <a:rPr lang="en-US" altLang="zh-CN" sz="1200" b="1" dirty="0">
                      <a:solidFill>
                        <a:srgbClr val="0000FF"/>
                      </a:solidFill>
                      <a:latin typeface="Times New Roman" panose="02020603050405020304" pitchFamily="18" charset="0"/>
                    </a:rPr>
                    <a:t>Extender</a:t>
                  </a:r>
                  <a:endParaRPr lang="en-US" altLang="zh-CN" sz="1200" b="1" dirty="0">
                    <a:solidFill>
                      <a:srgbClr val="0000FF"/>
                    </a:solidFill>
                    <a:latin typeface="Times New Roman" panose="02020603050405020304" pitchFamily="18" charset="0"/>
                  </a:endParaRPr>
                </a:p>
              </p:txBody>
            </p:sp>
            <p:sp>
              <p:nvSpPr>
                <p:cNvPr id="11362" name="Line 109"/>
                <p:cNvSpPr/>
                <p:nvPr>
                  <p:custDataLst>
                    <p:tags r:id="rId67"/>
                  </p:custDataLst>
                </p:nvPr>
              </p:nvSpPr>
              <p:spPr>
                <a:xfrm>
                  <a:off x="2088" y="3894"/>
                  <a:ext cx="0" cy="118"/>
                </a:xfrm>
                <a:prstGeom prst="line">
                  <a:avLst/>
                </a:prstGeom>
                <a:ln w="28575" cap="flat" cmpd="sng">
                  <a:solidFill>
                    <a:srgbClr val="0000FF"/>
                  </a:solidFill>
                  <a:prstDash val="solid"/>
                  <a:headEnd type="triangle" w="med" len="med"/>
                  <a:tailEnd type="none" w="med" len="med"/>
                </a:ln>
              </p:spPr>
            </p:sp>
            <p:sp>
              <p:nvSpPr>
                <p:cNvPr id="11363" name="Rectangle 110"/>
                <p:cNvSpPr/>
                <p:nvPr>
                  <p:custDataLst>
                    <p:tags r:id="rId68"/>
                  </p:custDataLst>
                </p:nvPr>
              </p:nvSpPr>
              <p:spPr>
                <a:xfrm>
                  <a:off x="2062" y="3869"/>
                  <a:ext cx="585" cy="320"/>
                </a:xfrm>
                <a:prstGeom prst="rect">
                  <a:avLst/>
                </a:prstGeom>
                <a:noFill/>
                <a:ln w="12700">
                  <a:noFill/>
                </a:ln>
              </p:spPr>
              <p:txBody>
                <a:bodyPr wrap="square" lIns="90488" tIns="44450" rIns="90488" bIns="44450">
                  <a:spAutoFit/>
                </a:bodyPr>
                <a:p>
                  <a:pPr eaLnBrk="0" hangingPunct="0"/>
                  <a:r>
                    <a:rPr lang="en-US" altLang="zh-CN" sz="1400" b="1" dirty="0">
                      <a:solidFill>
                        <a:srgbClr val="A50021"/>
                      </a:solidFill>
                      <a:latin typeface="Times New Roman" panose="02020603050405020304" pitchFamily="18" charset="0"/>
                    </a:rPr>
                    <a:t>ExtOp</a:t>
                  </a:r>
                  <a:endParaRPr lang="en-US" altLang="zh-CN" sz="1400" b="1" dirty="0">
                    <a:solidFill>
                      <a:srgbClr val="A50021"/>
                    </a:solidFill>
                    <a:latin typeface="Times New Roman" panose="02020603050405020304" pitchFamily="18" charset="0"/>
                  </a:endParaRPr>
                </a:p>
              </p:txBody>
            </p:sp>
            <p:grpSp>
              <p:nvGrpSpPr>
                <p:cNvPr id="11364" name="Group 111"/>
                <p:cNvGrpSpPr/>
                <p:nvPr/>
              </p:nvGrpSpPr>
              <p:grpSpPr>
                <a:xfrm>
                  <a:off x="3024" y="1998"/>
                  <a:ext cx="2517" cy="2177"/>
                  <a:chOff x="3024" y="1998"/>
                  <a:chExt cx="2517" cy="2177"/>
                </a:xfrm>
              </p:grpSpPr>
              <p:grpSp>
                <p:nvGrpSpPr>
                  <p:cNvPr id="11365" name="Group 112"/>
                  <p:cNvGrpSpPr/>
                  <p:nvPr/>
                </p:nvGrpSpPr>
                <p:grpSpPr>
                  <a:xfrm>
                    <a:off x="4896" y="2547"/>
                    <a:ext cx="192" cy="684"/>
                    <a:chOff x="4896" y="2547"/>
                    <a:chExt cx="192" cy="684"/>
                  </a:xfrm>
                </p:grpSpPr>
                <p:sp>
                  <p:nvSpPr>
                    <p:cNvPr id="11391" name="Line 113"/>
                    <p:cNvSpPr/>
                    <p:nvPr>
                      <p:custDataLst>
                        <p:tags r:id="rId69"/>
                      </p:custDataLst>
                    </p:nvPr>
                  </p:nvSpPr>
                  <p:spPr>
                    <a:xfrm>
                      <a:off x="4896" y="2563"/>
                      <a:ext cx="0" cy="668"/>
                    </a:xfrm>
                    <a:prstGeom prst="line">
                      <a:avLst/>
                    </a:prstGeom>
                    <a:ln w="25400" cap="flat" cmpd="sng">
                      <a:solidFill>
                        <a:schemeClr val="tx1"/>
                      </a:solidFill>
                      <a:prstDash val="solid"/>
                      <a:headEnd type="none" w="med" len="med"/>
                      <a:tailEnd type="none" w="med" len="med"/>
                    </a:ln>
                  </p:spPr>
                </p:sp>
                <p:sp>
                  <p:nvSpPr>
                    <p:cNvPr id="11392" name="Line 114"/>
                    <p:cNvSpPr/>
                    <p:nvPr>
                      <p:custDataLst>
                        <p:tags r:id="rId70"/>
                      </p:custDataLst>
                    </p:nvPr>
                  </p:nvSpPr>
                  <p:spPr>
                    <a:xfrm>
                      <a:off x="4904" y="2547"/>
                      <a:ext cx="176" cy="76"/>
                    </a:xfrm>
                    <a:prstGeom prst="line">
                      <a:avLst/>
                    </a:prstGeom>
                    <a:ln w="25400" cap="flat" cmpd="sng">
                      <a:solidFill>
                        <a:schemeClr val="tx1"/>
                      </a:solidFill>
                      <a:prstDash val="solid"/>
                      <a:headEnd type="none" w="med" len="med"/>
                      <a:tailEnd type="none" w="med" len="med"/>
                    </a:ln>
                  </p:spPr>
                </p:sp>
                <p:sp>
                  <p:nvSpPr>
                    <p:cNvPr id="11393" name="Line 115"/>
                    <p:cNvSpPr/>
                    <p:nvPr>
                      <p:custDataLst>
                        <p:tags r:id="rId71"/>
                      </p:custDataLst>
                    </p:nvPr>
                  </p:nvSpPr>
                  <p:spPr>
                    <a:xfrm flipV="1">
                      <a:off x="4904" y="3124"/>
                      <a:ext cx="176" cy="107"/>
                    </a:xfrm>
                    <a:prstGeom prst="line">
                      <a:avLst/>
                    </a:prstGeom>
                    <a:ln w="25400" cap="flat" cmpd="sng">
                      <a:solidFill>
                        <a:schemeClr val="tx1"/>
                      </a:solidFill>
                      <a:prstDash val="solid"/>
                      <a:headEnd type="none" w="med" len="med"/>
                      <a:tailEnd type="none" w="med" len="med"/>
                    </a:ln>
                  </p:spPr>
                </p:sp>
                <p:sp>
                  <p:nvSpPr>
                    <p:cNvPr id="11394" name="Line 116"/>
                    <p:cNvSpPr/>
                    <p:nvPr>
                      <p:custDataLst>
                        <p:tags r:id="rId72"/>
                      </p:custDataLst>
                    </p:nvPr>
                  </p:nvSpPr>
                  <p:spPr>
                    <a:xfrm>
                      <a:off x="5088" y="2639"/>
                      <a:ext cx="0" cy="485"/>
                    </a:xfrm>
                    <a:prstGeom prst="line">
                      <a:avLst/>
                    </a:prstGeom>
                    <a:ln w="25400" cap="flat" cmpd="sng">
                      <a:solidFill>
                        <a:schemeClr val="tx1"/>
                      </a:solidFill>
                      <a:prstDash val="solid"/>
                      <a:headEnd type="none" w="med" len="med"/>
                      <a:tailEnd type="none" w="med" len="med"/>
                    </a:ln>
                  </p:spPr>
                </p:sp>
              </p:grpSp>
              <p:sp>
                <p:nvSpPr>
                  <p:cNvPr id="11366" name="Rectangle 117"/>
                  <p:cNvSpPr/>
                  <p:nvPr>
                    <p:custDataLst>
                      <p:tags r:id="rId73"/>
                    </p:custDataLst>
                  </p:nvPr>
                </p:nvSpPr>
                <p:spPr>
                  <a:xfrm rot="5400000">
                    <a:off x="4708" y="2765"/>
                    <a:ext cx="566" cy="222"/>
                  </a:xfrm>
                  <a:prstGeom prst="rect">
                    <a:avLst/>
                  </a:prstGeom>
                  <a:noFill/>
                  <a:ln w="12700">
                    <a:noFill/>
                  </a:ln>
                </p:spPr>
                <p:txBody>
                  <a:bodyPr wrap="square" lIns="90488" tIns="44450" rIns="90488" bIns="44450">
                    <a:spAutoFit/>
                  </a:bodyPr>
                  <a:p>
                    <a:pPr eaLnBrk="0" hangingPunct="0"/>
                    <a:r>
                      <a:rPr lang="en-US" altLang="zh-CN" sz="1400" b="1" dirty="0">
                        <a:solidFill>
                          <a:srgbClr val="0000FF"/>
                        </a:solidFill>
                        <a:latin typeface="Times New Roman" panose="02020603050405020304" pitchFamily="18" charset="0"/>
                      </a:rPr>
                      <a:t>Mux</a:t>
                    </a:r>
                    <a:endParaRPr lang="en-US" altLang="zh-CN" sz="1400" b="1" dirty="0">
                      <a:solidFill>
                        <a:srgbClr val="0000FF"/>
                      </a:solidFill>
                      <a:latin typeface="Times New Roman" panose="02020603050405020304" pitchFamily="18" charset="0"/>
                    </a:endParaRPr>
                  </a:p>
                </p:txBody>
              </p:sp>
              <p:sp>
                <p:nvSpPr>
                  <p:cNvPr id="11367" name="Line 118"/>
                  <p:cNvSpPr/>
                  <p:nvPr>
                    <p:custDataLst>
                      <p:tags r:id="rId74"/>
                    </p:custDataLst>
                  </p:nvPr>
                </p:nvSpPr>
                <p:spPr>
                  <a:xfrm flipV="1">
                    <a:off x="4992" y="2304"/>
                    <a:ext cx="0" cy="289"/>
                  </a:xfrm>
                  <a:prstGeom prst="line">
                    <a:avLst/>
                  </a:prstGeom>
                  <a:ln w="25400" cap="flat" cmpd="sng">
                    <a:solidFill>
                      <a:srgbClr val="0000FF"/>
                    </a:solidFill>
                    <a:prstDash val="solid"/>
                    <a:headEnd type="triangle" w="med" len="med"/>
                    <a:tailEnd type="none" w="med" len="med"/>
                  </a:ln>
                </p:spPr>
              </p:sp>
              <p:sp>
                <p:nvSpPr>
                  <p:cNvPr id="11368" name="Rectangle 119"/>
                  <p:cNvSpPr/>
                  <p:nvPr>
                    <p:custDataLst>
                      <p:tags r:id="rId75"/>
                    </p:custDataLst>
                  </p:nvPr>
                </p:nvSpPr>
                <p:spPr>
                  <a:xfrm>
                    <a:off x="4473" y="1998"/>
                    <a:ext cx="1068" cy="384"/>
                  </a:xfrm>
                  <a:prstGeom prst="rect">
                    <a:avLst/>
                  </a:prstGeom>
                  <a:noFill/>
                  <a:ln w="12700">
                    <a:noFill/>
                  </a:ln>
                </p:spPr>
                <p:txBody>
                  <a:bodyPr wrap="square" lIns="90488" tIns="44450" rIns="90488" bIns="44450">
                    <a:spAutoFit/>
                  </a:bodyPr>
                  <a:p>
                    <a:pPr algn="ctr" eaLnBrk="0" hangingPunct="0"/>
                    <a:r>
                      <a:rPr lang="en-US" altLang="zh-CN" sz="1800" b="1" dirty="0">
                        <a:solidFill>
                          <a:srgbClr val="FF0000"/>
                        </a:solidFill>
                        <a:latin typeface="Times New Roman" panose="02020603050405020304" pitchFamily="18" charset="0"/>
                      </a:rPr>
                      <a:t>MemtoReg</a:t>
                    </a:r>
                    <a:endParaRPr lang="en-US" altLang="zh-CN" sz="1800" b="1" dirty="0">
                      <a:solidFill>
                        <a:srgbClr val="FF0000"/>
                      </a:solidFill>
                      <a:latin typeface="Times New Roman" panose="02020603050405020304" pitchFamily="18" charset="0"/>
                    </a:endParaRPr>
                  </a:p>
                </p:txBody>
              </p:sp>
              <p:sp>
                <p:nvSpPr>
                  <p:cNvPr id="11369" name="Line 120"/>
                  <p:cNvSpPr/>
                  <p:nvPr>
                    <p:custDataLst>
                      <p:tags r:id="rId76"/>
                    </p:custDataLst>
                  </p:nvPr>
                </p:nvSpPr>
                <p:spPr>
                  <a:xfrm>
                    <a:off x="5096" y="2904"/>
                    <a:ext cx="272" cy="0"/>
                  </a:xfrm>
                  <a:prstGeom prst="line">
                    <a:avLst/>
                  </a:prstGeom>
                  <a:ln w="25400" cap="flat" cmpd="sng">
                    <a:solidFill>
                      <a:schemeClr val="tx1"/>
                    </a:solidFill>
                    <a:prstDash val="solid"/>
                    <a:headEnd type="none" w="med" len="med"/>
                    <a:tailEnd type="none" w="med" len="med"/>
                  </a:ln>
                </p:spPr>
              </p:sp>
              <p:sp>
                <p:nvSpPr>
                  <p:cNvPr id="11370" name="Rectangle 121"/>
                  <p:cNvSpPr/>
                  <p:nvPr>
                    <p:custDataLst>
                      <p:tags r:id="rId77"/>
                    </p:custDataLst>
                  </p:nvPr>
                </p:nvSpPr>
                <p:spPr>
                  <a:xfrm>
                    <a:off x="3794" y="3185"/>
                    <a:ext cx="710" cy="725"/>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sz="1400" b="1" dirty="0">
                      <a:latin typeface="Arial" panose="020B0604020202020204" pitchFamily="34" charset="0"/>
                    </a:endParaRPr>
                  </a:p>
                </p:txBody>
              </p:sp>
              <p:sp>
                <p:nvSpPr>
                  <p:cNvPr id="11371" name="Line 122"/>
                  <p:cNvSpPr/>
                  <p:nvPr>
                    <p:custDataLst>
                      <p:tags r:id="rId78"/>
                    </p:custDataLst>
                  </p:nvPr>
                </p:nvSpPr>
                <p:spPr>
                  <a:xfrm flipH="1">
                    <a:off x="3400" y="3815"/>
                    <a:ext cx="304" cy="0"/>
                  </a:xfrm>
                  <a:prstGeom prst="line">
                    <a:avLst/>
                  </a:prstGeom>
                  <a:ln w="25400" cap="flat" cmpd="sng">
                    <a:solidFill>
                      <a:srgbClr val="0000FF"/>
                    </a:solidFill>
                    <a:prstDash val="solid"/>
                    <a:headEnd type="none" w="med" len="med"/>
                    <a:tailEnd type="none" w="med" len="med"/>
                  </a:ln>
                </p:spPr>
              </p:sp>
              <p:sp>
                <p:nvSpPr>
                  <p:cNvPr id="11372" name="Rectangle 123"/>
                  <p:cNvSpPr/>
                  <p:nvPr>
                    <p:custDataLst>
                      <p:tags r:id="rId79"/>
                    </p:custDataLst>
                  </p:nvPr>
                </p:nvSpPr>
                <p:spPr>
                  <a:xfrm>
                    <a:off x="3116" y="3629"/>
                    <a:ext cx="341" cy="546"/>
                  </a:xfrm>
                  <a:prstGeom prst="rect">
                    <a:avLst/>
                  </a:prstGeom>
                  <a:noFill/>
                  <a:ln w="12700">
                    <a:noFill/>
                  </a:ln>
                </p:spPr>
                <p:txBody>
                  <a:bodyPr wrap="square" lIns="90488" tIns="44450" rIns="90488" bIns="44450">
                    <a:spAutoFit/>
                  </a:bodyPr>
                  <a:p>
                    <a:pPr eaLnBrk="0" hangingPunct="0"/>
                    <a:r>
                      <a:rPr lang="en-US" altLang="zh-CN" sz="1400" b="1" dirty="0">
                        <a:solidFill>
                          <a:srgbClr val="3333FF"/>
                        </a:solidFill>
                        <a:latin typeface="Times New Roman" panose="02020603050405020304" pitchFamily="18" charset="0"/>
                      </a:rPr>
                      <a:t>Clk</a:t>
                    </a:r>
                    <a:endParaRPr lang="en-US" altLang="zh-CN" sz="1400" b="1" dirty="0">
                      <a:solidFill>
                        <a:srgbClr val="3333FF"/>
                      </a:solidFill>
                      <a:latin typeface="Times New Roman" panose="02020603050405020304" pitchFamily="18" charset="0"/>
                    </a:endParaRPr>
                  </a:p>
                </p:txBody>
              </p:sp>
              <p:sp>
                <p:nvSpPr>
                  <p:cNvPr id="11373" name="Rectangle 124"/>
                  <p:cNvSpPr/>
                  <p:nvPr>
                    <p:custDataLst>
                      <p:tags r:id="rId80"/>
                    </p:custDataLst>
                  </p:nvPr>
                </p:nvSpPr>
                <p:spPr>
                  <a:xfrm>
                    <a:off x="3024" y="3231"/>
                    <a:ext cx="697" cy="320"/>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Data In</a:t>
                    </a:r>
                    <a:endParaRPr lang="en-US" altLang="zh-CN" sz="1400" b="1" dirty="0">
                      <a:latin typeface="Times New Roman" panose="02020603050405020304" pitchFamily="18" charset="0"/>
                    </a:endParaRPr>
                  </a:p>
                </p:txBody>
              </p:sp>
              <p:sp>
                <p:nvSpPr>
                  <p:cNvPr id="11374" name="Line 125"/>
                  <p:cNvSpPr/>
                  <p:nvPr>
                    <p:custDataLst>
                      <p:tags r:id="rId81"/>
                    </p:custDataLst>
                  </p:nvPr>
                </p:nvSpPr>
                <p:spPr>
                  <a:xfrm>
                    <a:off x="3790" y="3758"/>
                    <a:ext cx="93" cy="68"/>
                  </a:xfrm>
                  <a:prstGeom prst="line">
                    <a:avLst/>
                  </a:prstGeom>
                  <a:ln w="25400" cap="flat" cmpd="sng">
                    <a:solidFill>
                      <a:srgbClr val="0000FF"/>
                    </a:solidFill>
                    <a:prstDash val="solid"/>
                    <a:headEnd type="none" w="med" len="med"/>
                    <a:tailEnd type="none" w="med" len="med"/>
                  </a:ln>
                </p:spPr>
              </p:sp>
              <p:sp>
                <p:nvSpPr>
                  <p:cNvPr id="11375" name="Line 126"/>
                  <p:cNvSpPr/>
                  <p:nvPr>
                    <p:custDataLst>
                      <p:tags r:id="rId82"/>
                    </p:custDataLst>
                  </p:nvPr>
                </p:nvSpPr>
                <p:spPr>
                  <a:xfrm flipH="1">
                    <a:off x="3802" y="3826"/>
                    <a:ext cx="93" cy="61"/>
                  </a:xfrm>
                  <a:prstGeom prst="line">
                    <a:avLst/>
                  </a:prstGeom>
                  <a:ln w="25400" cap="flat" cmpd="sng">
                    <a:solidFill>
                      <a:srgbClr val="0000FF"/>
                    </a:solidFill>
                    <a:prstDash val="solid"/>
                    <a:headEnd type="none" w="med" len="med"/>
                    <a:tailEnd type="none" w="med" len="med"/>
                  </a:ln>
                </p:spPr>
              </p:sp>
              <p:sp>
                <p:nvSpPr>
                  <p:cNvPr id="11376" name="Oval 127"/>
                  <p:cNvSpPr/>
                  <p:nvPr>
                    <p:custDataLst>
                      <p:tags r:id="rId83"/>
                    </p:custDataLst>
                  </p:nvPr>
                </p:nvSpPr>
                <p:spPr>
                  <a:xfrm>
                    <a:off x="3698" y="3789"/>
                    <a:ext cx="80" cy="75"/>
                  </a:xfrm>
                  <a:prstGeom prst="ellipse">
                    <a:avLst/>
                  </a:prstGeom>
                  <a:noFill/>
                  <a:ln w="25400" cap="flat" cmpd="sng">
                    <a:solidFill>
                      <a:srgbClr val="0000FF"/>
                    </a:solidFill>
                    <a:prstDash val="solid"/>
                    <a:headEnd type="none" w="med" len="med"/>
                    <a:tailEnd type="none" w="med" len="med"/>
                  </a:ln>
                </p:spPr>
                <p:txBody>
                  <a:bodyPr wrap="none" anchor="ctr" anchorCtr="0"/>
                  <a:p>
                    <a:endParaRPr lang="zh-CN" altLang="en-US" sz="1400" b="1" dirty="0">
                      <a:latin typeface="Arial" panose="020B0604020202020204" pitchFamily="34" charset="0"/>
                    </a:endParaRPr>
                  </a:p>
                </p:txBody>
              </p:sp>
              <p:sp>
                <p:nvSpPr>
                  <p:cNvPr id="11377" name="Rectangle 128"/>
                  <p:cNvSpPr/>
                  <p:nvPr>
                    <p:custDataLst>
                      <p:tags r:id="rId84"/>
                    </p:custDataLst>
                  </p:nvPr>
                </p:nvSpPr>
                <p:spPr>
                  <a:xfrm>
                    <a:off x="3779" y="3136"/>
                    <a:ext cx="721" cy="320"/>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WrEn</a:t>
                    </a:r>
                    <a:endParaRPr lang="en-US" altLang="zh-CN" sz="1400" b="1" dirty="0">
                      <a:latin typeface="Times New Roman" panose="02020603050405020304" pitchFamily="18" charset="0"/>
                    </a:endParaRPr>
                  </a:p>
                </p:txBody>
              </p:sp>
              <p:sp>
                <p:nvSpPr>
                  <p:cNvPr id="11378" name="Line 129"/>
                  <p:cNvSpPr/>
                  <p:nvPr>
                    <p:custDataLst>
                      <p:tags r:id="rId85"/>
                    </p:custDataLst>
                  </p:nvPr>
                </p:nvSpPr>
                <p:spPr>
                  <a:xfrm flipH="1">
                    <a:off x="3160" y="3496"/>
                    <a:ext cx="640" cy="0"/>
                  </a:xfrm>
                  <a:prstGeom prst="line">
                    <a:avLst/>
                  </a:prstGeom>
                  <a:ln w="25400" cap="flat" cmpd="sng">
                    <a:solidFill>
                      <a:srgbClr val="0000FF"/>
                    </a:solidFill>
                    <a:prstDash val="solid"/>
                    <a:headEnd type="triangle" w="med" len="med"/>
                    <a:tailEnd type="none" w="med" len="med"/>
                  </a:ln>
                </p:spPr>
              </p:sp>
              <p:sp>
                <p:nvSpPr>
                  <p:cNvPr id="11379" name="Line 130"/>
                  <p:cNvSpPr/>
                  <p:nvPr>
                    <p:custDataLst>
                      <p:tags r:id="rId86"/>
                    </p:custDataLst>
                  </p:nvPr>
                </p:nvSpPr>
                <p:spPr>
                  <a:xfrm flipH="1">
                    <a:off x="3500" y="3455"/>
                    <a:ext cx="56" cy="83"/>
                  </a:xfrm>
                  <a:prstGeom prst="line">
                    <a:avLst/>
                  </a:prstGeom>
                  <a:ln w="12700" cap="flat" cmpd="sng">
                    <a:solidFill>
                      <a:srgbClr val="0000FF"/>
                    </a:solidFill>
                    <a:prstDash val="solid"/>
                    <a:headEnd type="none" w="med" len="med"/>
                    <a:tailEnd type="none" w="med" len="med"/>
                  </a:ln>
                </p:spPr>
              </p:sp>
              <p:sp>
                <p:nvSpPr>
                  <p:cNvPr id="11380" name="Rectangle 131"/>
                  <p:cNvSpPr/>
                  <p:nvPr>
                    <p:custDataLst>
                      <p:tags r:id="rId87"/>
                    </p:custDataLst>
                  </p:nvPr>
                </p:nvSpPr>
                <p:spPr>
                  <a:xfrm>
                    <a:off x="3468" y="3431"/>
                    <a:ext cx="261" cy="546"/>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32</a:t>
                    </a:r>
                    <a:endParaRPr lang="zh-CN" altLang="en-US" sz="1400" b="1" dirty="0">
                      <a:latin typeface="Times New Roman" panose="02020603050405020304" pitchFamily="18" charset="0"/>
                    </a:endParaRPr>
                  </a:p>
                </p:txBody>
              </p:sp>
              <p:sp>
                <p:nvSpPr>
                  <p:cNvPr id="11381" name="Line 132"/>
                  <p:cNvSpPr/>
                  <p:nvPr>
                    <p:custDataLst>
                      <p:tags r:id="rId88"/>
                    </p:custDataLst>
                  </p:nvPr>
                </p:nvSpPr>
                <p:spPr>
                  <a:xfrm flipV="1">
                    <a:off x="3984" y="3033"/>
                    <a:ext cx="0" cy="152"/>
                  </a:xfrm>
                  <a:prstGeom prst="line">
                    <a:avLst/>
                  </a:prstGeom>
                  <a:ln w="25400" cap="flat" cmpd="sng">
                    <a:solidFill>
                      <a:srgbClr val="0000FF"/>
                    </a:solidFill>
                    <a:prstDash val="solid"/>
                    <a:headEnd type="none" w="med" len="med"/>
                    <a:tailEnd type="none" w="med" len="med"/>
                  </a:ln>
                </p:spPr>
              </p:sp>
              <p:sp>
                <p:nvSpPr>
                  <p:cNvPr id="11382" name="Line 133"/>
                  <p:cNvSpPr/>
                  <p:nvPr>
                    <p:custDataLst>
                      <p:tags r:id="rId89"/>
                    </p:custDataLst>
                  </p:nvPr>
                </p:nvSpPr>
                <p:spPr>
                  <a:xfrm>
                    <a:off x="4320" y="2743"/>
                    <a:ext cx="0" cy="439"/>
                  </a:xfrm>
                  <a:prstGeom prst="line">
                    <a:avLst/>
                  </a:prstGeom>
                  <a:ln w="25400" cap="flat" cmpd="sng">
                    <a:solidFill>
                      <a:srgbClr val="0000FF"/>
                    </a:solidFill>
                    <a:prstDash val="solid"/>
                    <a:headEnd type="oval" w="med" len="med"/>
                    <a:tailEnd type="triangle" w="med" len="med"/>
                  </a:ln>
                </p:spPr>
              </p:sp>
              <p:sp>
                <p:nvSpPr>
                  <p:cNvPr id="11383" name="Rectangle 134"/>
                  <p:cNvSpPr/>
                  <p:nvPr>
                    <p:custDataLst>
                      <p:tags r:id="rId90"/>
                    </p:custDataLst>
                  </p:nvPr>
                </p:nvSpPr>
                <p:spPr>
                  <a:xfrm>
                    <a:off x="4159" y="3148"/>
                    <a:ext cx="459" cy="320"/>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Adr</a:t>
                    </a:r>
                    <a:endParaRPr lang="en-US" altLang="zh-CN" sz="1400" b="1" dirty="0">
                      <a:latin typeface="Times New Roman" panose="02020603050405020304" pitchFamily="18" charset="0"/>
                    </a:endParaRPr>
                  </a:p>
                </p:txBody>
              </p:sp>
              <p:sp>
                <p:nvSpPr>
                  <p:cNvPr id="11384" name="Rectangle 135"/>
                  <p:cNvSpPr/>
                  <p:nvPr>
                    <p:custDataLst>
                      <p:tags r:id="rId91"/>
                    </p:custDataLst>
                  </p:nvPr>
                </p:nvSpPr>
                <p:spPr>
                  <a:xfrm>
                    <a:off x="3829" y="3401"/>
                    <a:ext cx="696" cy="500"/>
                  </a:xfrm>
                  <a:prstGeom prst="rect">
                    <a:avLst/>
                  </a:prstGeom>
                  <a:noFill/>
                  <a:ln w="12700">
                    <a:noFill/>
                  </a:ln>
                </p:spPr>
                <p:txBody>
                  <a:bodyPr wrap="square" lIns="90488" tIns="44450" rIns="90488" bIns="44450">
                    <a:spAutoFit/>
                  </a:bodyPr>
                  <a:p>
                    <a:pPr algn="ctr" eaLnBrk="0" hangingPunct="0">
                      <a:lnSpc>
                        <a:spcPct val="90000"/>
                      </a:lnSpc>
                    </a:pPr>
                    <a:r>
                      <a:rPr lang="en-US" altLang="zh-CN" sz="1400" b="1" dirty="0">
                        <a:solidFill>
                          <a:srgbClr val="0000FF"/>
                        </a:solidFill>
                        <a:latin typeface="Times New Roman" panose="02020603050405020304" pitchFamily="18" charset="0"/>
                      </a:rPr>
                      <a:t>Data</a:t>
                    </a:r>
                    <a:endParaRPr lang="en-US" altLang="zh-CN" sz="1400" b="1" dirty="0">
                      <a:solidFill>
                        <a:srgbClr val="0000FF"/>
                      </a:solidFill>
                      <a:latin typeface="Times New Roman" panose="02020603050405020304" pitchFamily="18" charset="0"/>
                    </a:endParaRPr>
                  </a:p>
                  <a:p>
                    <a:pPr algn="ctr" eaLnBrk="0" hangingPunct="0">
                      <a:lnSpc>
                        <a:spcPct val="90000"/>
                      </a:lnSpc>
                    </a:pPr>
                    <a:r>
                      <a:rPr lang="en-US" altLang="zh-CN" sz="1400" b="1" dirty="0">
                        <a:solidFill>
                          <a:srgbClr val="0000FF"/>
                        </a:solidFill>
                        <a:latin typeface="Times New Roman" panose="02020603050405020304" pitchFamily="18" charset="0"/>
                      </a:rPr>
                      <a:t>Memory</a:t>
                    </a:r>
                    <a:endParaRPr lang="en-US" altLang="zh-CN" sz="1400" b="1" dirty="0">
                      <a:solidFill>
                        <a:srgbClr val="0000FF"/>
                      </a:solidFill>
                      <a:latin typeface="Times New Roman" panose="02020603050405020304" pitchFamily="18" charset="0"/>
                    </a:endParaRPr>
                  </a:p>
                </p:txBody>
              </p:sp>
              <p:sp>
                <p:nvSpPr>
                  <p:cNvPr id="11385" name="Line 136"/>
                  <p:cNvSpPr/>
                  <p:nvPr>
                    <p:custDataLst>
                      <p:tags r:id="rId92"/>
                    </p:custDataLst>
                  </p:nvPr>
                </p:nvSpPr>
                <p:spPr>
                  <a:xfrm>
                    <a:off x="4616" y="3065"/>
                    <a:ext cx="272" cy="0"/>
                  </a:xfrm>
                  <a:prstGeom prst="line">
                    <a:avLst/>
                  </a:prstGeom>
                  <a:ln w="25400" cap="flat" cmpd="sng">
                    <a:solidFill>
                      <a:srgbClr val="0000FF"/>
                    </a:solidFill>
                    <a:prstDash val="solid"/>
                    <a:headEnd type="none" w="med" len="med"/>
                    <a:tailEnd type="triangle" w="med" len="med"/>
                  </a:ln>
                </p:spPr>
              </p:sp>
              <p:sp>
                <p:nvSpPr>
                  <p:cNvPr id="11386" name="Line 137"/>
                  <p:cNvSpPr/>
                  <p:nvPr>
                    <p:custDataLst>
                      <p:tags r:id="rId93"/>
                    </p:custDataLst>
                  </p:nvPr>
                </p:nvSpPr>
                <p:spPr>
                  <a:xfrm>
                    <a:off x="4608" y="3049"/>
                    <a:ext cx="0" cy="485"/>
                  </a:xfrm>
                  <a:prstGeom prst="line">
                    <a:avLst/>
                  </a:prstGeom>
                  <a:ln w="25400" cap="flat" cmpd="sng">
                    <a:solidFill>
                      <a:srgbClr val="0000FF"/>
                    </a:solidFill>
                    <a:prstDash val="solid"/>
                    <a:headEnd type="none" w="med" len="med"/>
                    <a:tailEnd type="none" w="med" len="med"/>
                  </a:ln>
                </p:spPr>
              </p:sp>
              <p:sp>
                <p:nvSpPr>
                  <p:cNvPr id="11387" name="Line 138"/>
                  <p:cNvSpPr/>
                  <p:nvPr>
                    <p:custDataLst>
                      <p:tags r:id="rId94"/>
                    </p:custDataLst>
                  </p:nvPr>
                </p:nvSpPr>
                <p:spPr>
                  <a:xfrm flipH="1">
                    <a:off x="4504" y="3542"/>
                    <a:ext cx="112" cy="0"/>
                  </a:xfrm>
                  <a:prstGeom prst="line">
                    <a:avLst/>
                  </a:prstGeom>
                  <a:ln w="25400" cap="flat" cmpd="sng">
                    <a:solidFill>
                      <a:srgbClr val="0000FF"/>
                    </a:solidFill>
                    <a:prstDash val="solid"/>
                    <a:headEnd type="none" w="med" len="med"/>
                    <a:tailEnd type="none" w="med" len="med"/>
                  </a:ln>
                </p:spPr>
              </p:sp>
              <p:sp>
                <p:nvSpPr>
                  <p:cNvPr id="11388" name="Line 139"/>
                  <p:cNvSpPr/>
                  <p:nvPr>
                    <p:custDataLst>
                      <p:tags r:id="rId95"/>
                    </p:custDataLst>
                  </p:nvPr>
                </p:nvSpPr>
                <p:spPr>
                  <a:xfrm flipH="1">
                    <a:off x="4666" y="3023"/>
                    <a:ext cx="56" cy="83"/>
                  </a:xfrm>
                  <a:prstGeom prst="line">
                    <a:avLst/>
                  </a:prstGeom>
                  <a:ln w="12700" cap="flat" cmpd="sng">
                    <a:solidFill>
                      <a:srgbClr val="0000FF"/>
                    </a:solidFill>
                    <a:prstDash val="solid"/>
                    <a:headEnd type="none" w="med" len="med"/>
                    <a:tailEnd type="none" w="med" len="med"/>
                  </a:ln>
                </p:spPr>
              </p:sp>
              <p:sp>
                <p:nvSpPr>
                  <p:cNvPr id="11389" name="Rectangle 140"/>
                  <p:cNvSpPr/>
                  <p:nvPr>
                    <p:custDataLst>
                      <p:tags r:id="rId96"/>
                    </p:custDataLst>
                  </p:nvPr>
                </p:nvSpPr>
                <p:spPr>
                  <a:xfrm>
                    <a:off x="4652" y="3202"/>
                    <a:ext cx="261" cy="546"/>
                  </a:xfrm>
                  <a:prstGeom prst="rect">
                    <a:avLst/>
                  </a:prstGeom>
                  <a:noFill/>
                  <a:ln w="12700">
                    <a:noFill/>
                  </a:ln>
                </p:spPr>
                <p:txBody>
                  <a:bodyPr wrap="square" lIns="90488" tIns="44450" rIns="90488" bIns="44450">
                    <a:spAutoFit/>
                  </a:bodyPr>
                  <a:p>
                    <a:pPr eaLnBrk="0" hangingPunct="0"/>
                    <a:r>
                      <a:rPr lang="zh-CN" altLang="en-US" sz="1400" b="1" dirty="0">
                        <a:latin typeface="Times New Roman" panose="02020603050405020304" pitchFamily="18" charset="0"/>
                      </a:rPr>
                      <a:t>32</a:t>
                    </a:r>
                    <a:endParaRPr lang="zh-CN" altLang="en-US" sz="1400" b="1" dirty="0">
                      <a:latin typeface="Times New Roman" panose="02020603050405020304" pitchFamily="18" charset="0"/>
                    </a:endParaRPr>
                  </a:p>
                </p:txBody>
              </p:sp>
              <p:sp>
                <p:nvSpPr>
                  <p:cNvPr id="11390" name="Rectangle 141"/>
                  <p:cNvSpPr/>
                  <p:nvPr>
                    <p:custDataLst>
                      <p:tags r:id="rId97"/>
                    </p:custDataLst>
                  </p:nvPr>
                </p:nvSpPr>
                <p:spPr>
                  <a:xfrm>
                    <a:off x="3647" y="2818"/>
                    <a:ext cx="704" cy="320"/>
                  </a:xfrm>
                  <a:prstGeom prst="rect">
                    <a:avLst/>
                  </a:prstGeom>
                  <a:noFill/>
                  <a:ln w="12700">
                    <a:noFill/>
                  </a:ln>
                </p:spPr>
                <p:txBody>
                  <a:bodyPr wrap="square" lIns="90488" tIns="44450" rIns="90488" bIns="44450">
                    <a:spAutoFit/>
                  </a:bodyPr>
                  <a:p>
                    <a:pPr algn="ctr" eaLnBrk="0" hangingPunct="0"/>
                    <a:r>
                      <a:rPr lang="en-US" altLang="zh-CN" sz="1400" b="1" dirty="0">
                        <a:solidFill>
                          <a:srgbClr val="A50021"/>
                        </a:solidFill>
                        <a:latin typeface="Times New Roman" panose="02020603050405020304" pitchFamily="18" charset="0"/>
                      </a:rPr>
                      <a:t>MemWr</a:t>
                    </a:r>
                    <a:endParaRPr lang="en-US" altLang="zh-CN" sz="1400" b="1" dirty="0">
                      <a:solidFill>
                        <a:srgbClr val="A50021"/>
                      </a:solidFill>
                      <a:latin typeface="Times New Roman" panose="02020603050405020304" pitchFamily="18" charset="0"/>
                    </a:endParaRPr>
                  </a:p>
                </p:txBody>
              </p:sp>
            </p:grpSp>
          </p:grpSp>
          <p:grpSp>
            <p:nvGrpSpPr>
              <p:cNvPr id="11332" name="Group 149"/>
              <p:cNvGrpSpPr/>
              <p:nvPr/>
            </p:nvGrpSpPr>
            <p:grpSpPr>
              <a:xfrm>
                <a:off x="11988" y="5583"/>
                <a:ext cx="337" cy="1975"/>
                <a:chOff x="3040" y="2694"/>
                <a:chExt cx="135" cy="790"/>
              </a:xfrm>
            </p:grpSpPr>
            <p:sp>
              <p:nvSpPr>
                <p:cNvPr id="11357" name="Text Box 150"/>
                <p:cNvSpPr txBox="1"/>
                <p:nvPr>
                  <p:custDataLst>
                    <p:tags r:id="rId98"/>
                  </p:custDataLst>
                </p:nvPr>
              </p:nvSpPr>
              <p:spPr>
                <a:xfrm>
                  <a:off x="3040" y="2694"/>
                  <a:ext cx="128" cy="306"/>
                </a:xfrm>
                <a:prstGeom prst="rect">
                  <a:avLst/>
                </a:prstGeom>
                <a:noFill/>
                <a:ln w="50800">
                  <a:noFill/>
                </a:ln>
              </p:spPr>
              <p:txBody>
                <a:bodyPr>
                  <a:spAutoFit/>
                </a:bodyPr>
                <a:p>
                  <a:pPr eaLnBrk="0" hangingPunct="0">
                    <a:spcBef>
                      <a:spcPct val="50000"/>
                    </a:spcBef>
                  </a:pPr>
                  <a:r>
                    <a:rPr lang="en-US" altLang="zh-CN" sz="1400" b="1" dirty="0">
                      <a:solidFill>
                        <a:schemeClr val="accent2"/>
                      </a:solidFill>
                      <a:latin typeface="Times New Roman" panose="02020603050405020304" pitchFamily="18" charset="0"/>
                    </a:rPr>
                    <a:t>0</a:t>
                  </a:r>
                  <a:endParaRPr lang="en-US" altLang="zh-CN" sz="1400" b="1" dirty="0">
                    <a:solidFill>
                      <a:schemeClr val="accent2"/>
                    </a:solidFill>
                    <a:latin typeface="Times New Roman" panose="02020603050405020304" pitchFamily="18" charset="0"/>
                  </a:endParaRPr>
                </a:p>
              </p:txBody>
            </p:sp>
            <p:sp>
              <p:nvSpPr>
                <p:cNvPr id="11358" name="Text Box 151"/>
                <p:cNvSpPr txBox="1"/>
                <p:nvPr>
                  <p:custDataLst>
                    <p:tags r:id="rId99"/>
                  </p:custDataLst>
                </p:nvPr>
              </p:nvSpPr>
              <p:spPr>
                <a:xfrm>
                  <a:off x="3047" y="3178"/>
                  <a:ext cx="128" cy="306"/>
                </a:xfrm>
                <a:prstGeom prst="rect">
                  <a:avLst/>
                </a:prstGeom>
                <a:noFill/>
                <a:ln w="50800">
                  <a:noFill/>
                </a:ln>
              </p:spPr>
              <p:txBody>
                <a:bodyPr>
                  <a:spAutoFit/>
                </a:bodyPr>
                <a:p>
                  <a:pPr eaLnBrk="0" hangingPunct="0">
                    <a:spcBef>
                      <a:spcPct val="50000"/>
                    </a:spcBef>
                  </a:pPr>
                  <a:r>
                    <a:rPr lang="en-US" altLang="zh-CN" sz="1400" b="1" dirty="0">
                      <a:solidFill>
                        <a:schemeClr val="accent2"/>
                      </a:solidFill>
                      <a:latin typeface="Times New Roman" panose="02020603050405020304" pitchFamily="18" charset="0"/>
                    </a:rPr>
                    <a:t>1</a:t>
                  </a:r>
                  <a:endParaRPr lang="en-US" altLang="zh-CN" sz="1400" b="1" dirty="0">
                    <a:solidFill>
                      <a:schemeClr val="accent2"/>
                    </a:solidFill>
                    <a:latin typeface="Times New Roman" panose="02020603050405020304" pitchFamily="18" charset="0"/>
                  </a:endParaRPr>
                </a:p>
              </p:txBody>
            </p:sp>
          </p:grpSp>
          <p:sp>
            <p:nvSpPr>
              <p:cNvPr id="145" name="Text Box 153"/>
              <p:cNvSpPr/>
              <p:nvPr>
                <p:custDataLst>
                  <p:tags r:id="rId100"/>
                </p:custDataLst>
              </p:nvPr>
            </p:nvSpPr>
            <p:spPr>
              <a:xfrm>
                <a:off x="1870" y="8274"/>
                <a:ext cx="2813" cy="1322"/>
              </a:xfrm>
              <a:prstGeom prst="rect">
                <a:avLst/>
              </a:prstGeom>
              <a:noFill/>
              <a:ln w="12700">
                <a:noFill/>
              </a:ln>
            </p:spPr>
            <p:txBody>
              <a:bodyPr wrap="square" lIns="90488" tIns="44450" rIns="90488" bIns="44450">
                <a:spAutoFit/>
              </a:bodyPr>
              <a:p>
                <a:pPr lvl="0" algn="l" eaLnBrk="0" hangingPunct="0">
                  <a:lnSpc>
                    <a:spcPct val="90000"/>
                  </a:lnSpc>
                  <a:spcBef>
                    <a:spcPts val="0"/>
                  </a:spcBef>
                  <a:spcAft>
                    <a:spcPts val="0"/>
                  </a:spcAft>
                  <a:buClrTx/>
                  <a:buSzTx/>
                  <a:buFontTx/>
                </a:pPr>
                <a:r>
                  <a:rPr lang="en-US" altLang="zh-CN" sz="1600" b="1" dirty="0">
                    <a:solidFill>
                      <a:srgbClr val="A50021"/>
                    </a:solidFill>
                    <a:latin typeface="Times New Roman" panose="02020603050405020304" pitchFamily="18" charset="0"/>
                    <a:ea typeface="华文新魏" panose="02010800040101010101" pitchFamily="2" charset="-122"/>
                    <a:cs typeface="Times New Roman" panose="02020603050405020304" pitchFamily="18" charset="0"/>
                    <a:sym typeface="+mn-ea"/>
                  </a:rPr>
                  <a:t>0</a:t>
                </a:r>
                <a:r>
                  <a:rPr lang="en-US" altLang="zh-CN" sz="1600" b="1" dirty="0">
                    <a:solidFill>
                      <a:srgbClr val="A50021"/>
                    </a:solidFill>
                    <a:latin typeface="Times New Roman" panose="02020603050405020304" pitchFamily="18" charset="0"/>
                    <a:ea typeface="华文新魏" panose="02010800040101010101" pitchFamily="2" charset="-122"/>
                    <a:cs typeface="Times New Roman" panose="02020603050405020304" pitchFamily="18" charset="0"/>
                    <a:sym typeface="+mn-ea"/>
                  </a:rPr>
                  <a:t>：零扩展，</a:t>
                </a:r>
                <a:endParaRPr lang="en-US" altLang="zh-CN" sz="1600" b="1" dirty="0">
                  <a:solidFill>
                    <a:srgbClr val="A50021"/>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p>
                <a:pPr lvl="0" algn="l" eaLnBrk="0" hangingPunct="0">
                  <a:lnSpc>
                    <a:spcPct val="90000"/>
                  </a:lnSpc>
                  <a:spcBef>
                    <a:spcPts val="0"/>
                  </a:spcBef>
                  <a:spcAft>
                    <a:spcPts val="0"/>
                  </a:spcAft>
                  <a:buClrTx/>
                  <a:buSzTx/>
                  <a:buFontTx/>
                </a:pPr>
                <a:r>
                  <a:rPr lang="en-US" altLang="zh-CN" sz="1600" b="1" dirty="0">
                    <a:solidFill>
                      <a:srgbClr val="A50021"/>
                    </a:solidFill>
                    <a:latin typeface="Times New Roman" panose="02020603050405020304" pitchFamily="18" charset="0"/>
                    <a:ea typeface="华文新魏" panose="02010800040101010101" pitchFamily="2" charset="-122"/>
                    <a:cs typeface="Times New Roman" panose="02020603050405020304" pitchFamily="18" charset="0"/>
                    <a:sym typeface="+mn-ea"/>
                  </a:rPr>
                  <a:t>1</a:t>
                </a:r>
                <a:r>
                  <a:rPr lang="en-US" altLang="zh-CN" sz="1600" b="1" dirty="0">
                    <a:solidFill>
                      <a:srgbClr val="A50021"/>
                    </a:solidFill>
                    <a:latin typeface="Times New Roman" panose="02020603050405020304" pitchFamily="18" charset="0"/>
                    <a:ea typeface="华文新魏" panose="02010800040101010101" pitchFamily="2" charset="-122"/>
                    <a:cs typeface="Times New Roman" panose="02020603050405020304" pitchFamily="18" charset="0"/>
                    <a:sym typeface="+mn-ea"/>
                  </a:rPr>
                  <a:t>：符号扩展</a:t>
                </a:r>
                <a:endParaRPr lang="en-US" altLang="zh-CN" sz="1600" b="1" dirty="0">
                  <a:solidFill>
                    <a:srgbClr val="A50021"/>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p:txBody>
          </p:sp>
          <p:grpSp>
            <p:nvGrpSpPr>
              <p:cNvPr id="11334" name="Group 154"/>
              <p:cNvGrpSpPr/>
              <p:nvPr/>
            </p:nvGrpSpPr>
            <p:grpSpPr>
              <a:xfrm>
                <a:off x="6318" y="6560"/>
                <a:ext cx="337" cy="1863"/>
                <a:chOff x="3040" y="2802"/>
                <a:chExt cx="135" cy="745"/>
              </a:xfrm>
            </p:grpSpPr>
            <p:sp>
              <p:nvSpPr>
                <p:cNvPr id="11355" name="Text Box 155"/>
                <p:cNvSpPr txBox="1"/>
                <p:nvPr>
                  <p:custDataLst>
                    <p:tags r:id="rId101"/>
                  </p:custDataLst>
                </p:nvPr>
              </p:nvSpPr>
              <p:spPr>
                <a:xfrm>
                  <a:off x="3047" y="2802"/>
                  <a:ext cx="128" cy="306"/>
                </a:xfrm>
                <a:prstGeom prst="rect">
                  <a:avLst/>
                </a:prstGeom>
                <a:noFill/>
                <a:ln w="50800">
                  <a:noFill/>
                </a:ln>
              </p:spPr>
              <p:txBody>
                <a:bodyPr>
                  <a:spAutoFit/>
                </a:bodyPr>
                <a:p>
                  <a:pPr eaLnBrk="0" hangingPunct="0">
                    <a:spcBef>
                      <a:spcPct val="50000"/>
                    </a:spcBef>
                  </a:pPr>
                  <a:r>
                    <a:rPr lang="en-US" altLang="zh-CN" sz="1400" b="1" dirty="0">
                      <a:solidFill>
                        <a:schemeClr val="accent2"/>
                      </a:solidFill>
                      <a:latin typeface="Times New Roman" panose="02020603050405020304" pitchFamily="18" charset="0"/>
                    </a:rPr>
                    <a:t>0</a:t>
                  </a:r>
                  <a:endParaRPr lang="en-US" altLang="zh-CN" sz="1400" b="1" dirty="0">
                    <a:solidFill>
                      <a:schemeClr val="accent2"/>
                    </a:solidFill>
                    <a:latin typeface="Times New Roman" panose="02020603050405020304" pitchFamily="18" charset="0"/>
                  </a:endParaRPr>
                </a:p>
              </p:txBody>
            </p:sp>
            <p:sp>
              <p:nvSpPr>
                <p:cNvPr id="11356" name="Text Box 156"/>
                <p:cNvSpPr txBox="1"/>
                <p:nvPr>
                  <p:custDataLst>
                    <p:tags r:id="rId102"/>
                  </p:custDataLst>
                </p:nvPr>
              </p:nvSpPr>
              <p:spPr>
                <a:xfrm>
                  <a:off x="3040" y="3241"/>
                  <a:ext cx="128" cy="306"/>
                </a:xfrm>
                <a:prstGeom prst="rect">
                  <a:avLst/>
                </a:prstGeom>
                <a:noFill/>
                <a:ln w="50800">
                  <a:noFill/>
                </a:ln>
              </p:spPr>
              <p:txBody>
                <a:bodyPr>
                  <a:spAutoFit/>
                </a:bodyPr>
                <a:p>
                  <a:pPr eaLnBrk="0" hangingPunct="0">
                    <a:spcBef>
                      <a:spcPct val="50000"/>
                    </a:spcBef>
                  </a:pPr>
                  <a:r>
                    <a:rPr lang="en-US" altLang="zh-CN" sz="1400" b="1" dirty="0">
                      <a:solidFill>
                        <a:schemeClr val="accent2"/>
                      </a:solidFill>
                      <a:latin typeface="Times New Roman" panose="02020603050405020304" pitchFamily="18" charset="0"/>
                    </a:rPr>
                    <a:t>1</a:t>
                  </a:r>
                  <a:endParaRPr lang="en-US" altLang="zh-CN" sz="1400" b="1" dirty="0">
                    <a:solidFill>
                      <a:schemeClr val="accent2"/>
                    </a:solidFill>
                    <a:latin typeface="Times New Roman" panose="02020603050405020304" pitchFamily="18" charset="0"/>
                  </a:endParaRPr>
                </a:p>
              </p:txBody>
            </p:sp>
          </p:grpSp>
          <p:sp>
            <p:nvSpPr>
              <p:cNvPr id="11335" name="Line 157"/>
              <p:cNvSpPr/>
              <p:nvPr>
                <p:custDataLst>
                  <p:tags r:id="rId103"/>
                </p:custDataLst>
              </p:nvPr>
            </p:nvSpPr>
            <p:spPr>
              <a:xfrm>
                <a:off x="1530" y="6948"/>
                <a:ext cx="908" cy="0"/>
              </a:xfrm>
              <a:prstGeom prst="line">
                <a:avLst/>
              </a:prstGeom>
              <a:ln w="28575" cap="flat" cmpd="sng">
                <a:solidFill>
                  <a:schemeClr val="tx1"/>
                </a:solidFill>
                <a:prstDash val="solid"/>
                <a:headEnd type="none" w="med" len="med"/>
                <a:tailEnd type="none" w="med" len="med"/>
              </a:ln>
            </p:spPr>
          </p:sp>
          <p:cxnSp>
            <p:nvCxnSpPr>
              <p:cNvPr id="150" name="直接连接符 149"/>
              <p:cNvCxnSpPr>
                <a:endCxn id="11305" idx="0"/>
              </p:cNvCxnSpPr>
              <p:nvPr>
                <p:custDataLst>
                  <p:tags r:id="rId104"/>
                </p:custDataLst>
              </p:nvPr>
            </p:nvCxnSpPr>
            <p:spPr>
              <a:xfrm rot="16200000" flipH="1">
                <a:off x="11858" y="8050"/>
                <a:ext cx="2850" cy="4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Rectangle 74"/>
            <p:cNvSpPr/>
            <p:nvPr>
              <p:custDataLst>
                <p:tags r:id="rId105"/>
              </p:custDataLst>
            </p:nvPr>
          </p:nvSpPr>
          <p:spPr>
            <a:xfrm>
              <a:off x="5223" y="6295"/>
              <a:ext cx="738" cy="479"/>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Rs2</a:t>
              </a:r>
              <a:endParaRPr lang="en-US" altLang="zh-CN" sz="1400" b="1" dirty="0">
                <a:latin typeface="Times New Roman" panose="02020603050405020304" pitchFamily="18" charset="0"/>
              </a:endParaRPr>
            </a:p>
          </p:txBody>
        </p:sp>
        <p:sp>
          <p:nvSpPr>
            <p:cNvPr id="8" name="Rectangle 74"/>
            <p:cNvSpPr/>
            <p:nvPr>
              <p:custDataLst>
                <p:tags r:id="rId106"/>
              </p:custDataLst>
            </p:nvPr>
          </p:nvSpPr>
          <p:spPr>
            <a:xfrm>
              <a:off x="4065" y="6140"/>
              <a:ext cx="738" cy="479"/>
            </a:xfrm>
            <a:prstGeom prst="rect">
              <a:avLst/>
            </a:prstGeom>
            <a:noFill/>
            <a:ln w="12700">
              <a:noFill/>
            </a:ln>
          </p:spPr>
          <p:txBody>
            <a:bodyPr wrap="square" lIns="90488" tIns="44450" rIns="90488" bIns="44450">
              <a:spAutoFit/>
            </a:bodyPr>
            <a:p>
              <a:pPr eaLnBrk="0" hangingPunct="0"/>
              <a:r>
                <a:rPr lang="en-US" altLang="zh-CN" sz="1400" b="1" dirty="0">
                  <a:latin typeface="Times New Roman" panose="02020603050405020304" pitchFamily="18" charset="0"/>
                </a:rPr>
                <a:t>Rd</a:t>
              </a:r>
              <a:endParaRPr lang="en-US" altLang="zh-CN" sz="1400" b="1" dirty="0">
                <a:latin typeface="Times New Roman" panose="02020603050405020304" pitchFamily="18" charset="0"/>
              </a:endParaRPr>
            </a:p>
          </p:txBody>
        </p:sp>
      </p:grpSp>
      <p:sp>
        <p:nvSpPr>
          <p:cNvPr id="4" name="文本框 3"/>
          <p:cNvSpPr txBox="1"/>
          <p:nvPr/>
        </p:nvSpPr>
        <p:spPr>
          <a:xfrm>
            <a:off x="1054735" y="3803650"/>
            <a:ext cx="7694295" cy="968375"/>
          </a:xfrm>
          <a:prstGeom prst="rect">
            <a:avLst/>
          </a:prstGeom>
          <a:noFill/>
        </p:spPr>
        <p:txBody>
          <a:bodyPr wrap="square" rtlCol="0" anchor="t">
            <a:spAutoFit/>
          </a:bodyPr>
          <a:p>
            <a:pPr>
              <a:lnSpc>
                <a:spcPct val="95000"/>
              </a:lnSpc>
              <a:spcBef>
                <a:spcPts val="0"/>
              </a:spcBef>
              <a:spcAft>
                <a:spcPts val="0"/>
              </a:spcAft>
              <a:buFont typeface="+mj-lt"/>
            </a:pPr>
            <a:r>
              <a:rPr lang="en-US" altLang="zh-CN"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4.4.1 </a:t>
            </a:r>
            <a:r>
              <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若</a:t>
            </a:r>
            <a:r>
              <a:rPr lang="zh-CN" altLang="en-US"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MemToReg</a:t>
            </a:r>
            <a:r>
              <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有</a:t>
            </a:r>
            <a:r>
              <a:rPr lang="zh-CN" altLang="en-US"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固定</a:t>
            </a:r>
            <a:r>
              <a:rPr lang="en-US" altLang="zh-CN"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0</a:t>
            </a:r>
            <a:r>
              <a:rPr lang="zh-CN" altLang="en-US"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故障</a:t>
            </a:r>
            <a:r>
              <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，则取数类指令执行会出错</a:t>
            </a:r>
            <a:endPar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a:p>
            <a:pPr>
              <a:lnSpc>
                <a:spcPct val="95000"/>
              </a:lnSpc>
              <a:spcBef>
                <a:spcPts val="0"/>
              </a:spcBef>
              <a:spcAft>
                <a:spcPts val="0"/>
              </a:spcAft>
              <a:buFont typeface="+mj-lt"/>
            </a:pPr>
            <a:r>
              <a:rPr lang="en-US" altLang="zh-CN"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4.4.2 </a:t>
            </a:r>
            <a:r>
              <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若</a:t>
            </a:r>
            <a:r>
              <a:rPr lang="zh-CN" altLang="en-US"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ALUSrc</a:t>
            </a:r>
            <a:r>
              <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有</a:t>
            </a:r>
            <a:r>
              <a:rPr lang="zh-CN" altLang="en-US"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固定</a:t>
            </a:r>
            <a:r>
              <a:rPr lang="en-US" altLang="zh-CN"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0</a:t>
            </a:r>
            <a:r>
              <a:rPr lang="zh-CN" altLang="en-US" b="1" noProof="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sym typeface="+mn-ea"/>
              </a:rPr>
              <a:t>故障</a:t>
            </a:r>
            <a:r>
              <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，则立即数运算类指令和访存类指令执行会出错</a:t>
            </a:r>
            <a:endParaRPr lang="zh-CN" altLang="en-US" b="1" noProof="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b" anchorCtr="0"/>
          <a:p>
            <a:r>
              <a:rPr lang="zh-CN" altLang="en-US" dirty="0"/>
              <a:t>三、</a:t>
            </a:r>
            <a:r>
              <a:rPr lang="zh-CN" altLang="en-US" dirty="0">
                <a:latin typeface="Times New Roman" panose="02020603050405020304" pitchFamily="18" charset="0"/>
              </a:rPr>
              <a:t>关于单周期控制器</a:t>
            </a:r>
            <a:r>
              <a:rPr lang="zh-CN" altLang="en-US" dirty="0"/>
              <a:t>设计 </a:t>
            </a:r>
            <a:endParaRPr lang="zh-CN" altLang="en-US" dirty="0"/>
          </a:p>
        </p:txBody>
      </p:sp>
      <p:sp>
        <p:nvSpPr>
          <p:cNvPr id="3" name="内容占位符 2"/>
          <p:cNvSpPr>
            <a:spLocks noGrp="1"/>
          </p:cNvSpPr>
          <p:nvPr>
            <p:ph idx="1"/>
          </p:nvPr>
        </p:nvSpPr>
        <p:spPr>
          <a:xfrm>
            <a:off x="603250" y="1371600"/>
            <a:ext cx="7969250" cy="4772025"/>
          </a:xfrm>
        </p:spPr>
        <p:txBody>
          <a:bodyPr vert="horz" wrap="square" lIns="91440" tIns="45720" rIns="91440" bIns="45720" numCol="1" anchor="t" anchorCtr="0" compatLnSpc="1"/>
          <a:lstStyle/>
          <a:p>
            <a:pPr marL="266700" marR="0" lvl="0" indent="-266700" algn="l" defTabSz="914400" rtl="0" eaLnBrk="0" fontAlgn="base" latinLnBrk="0" hangingPunct="0">
              <a:lnSpc>
                <a:spcPct val="120000"/>
              </a:lnSpc>
              <a:spcBef>
                <a:spcPts val="600"/>
              </a:spcBef>
              <a:spcAft>
                <a:spcPts val="600"/>
              </a:spcAft>
              <a:buClrTx/>
              <a:buSzTx/>
              <a:buFont typeface="Wingdings" panose="05000000000000000000" pitchFamily="2" charset="2"/>
              <a:buChar char="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实现核心</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RISC-V</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指令集系统的一个子集</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66700" marR="0" lvl="0" indent="-266700" algn="l" defTabSz="914400" rtl="0" eaLnBrk="0" fontAlgn="base" latinLnBrk="0" hangingPunct="0">
              <a:lnSpc>
                <a:spcPct val="120000"/>
              </a:lnSpc>
              <a:spcBef>
                <a:spcPts val="600"/>
              </a:spcBef>
              <a:spcAft>
                <a:spcPts val="600"/>
              </a:spcAft>
              <a:buClrTx/>
              <a:buSzTx/>
              <a:buFont typeface="Wingdings" panose="05000000000000000000" pitchFamily="2" charset="2"/>
              <a:buChar char="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单周期时钟周期所有指令等长</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5475" marR="0" lvl="1" indent="-266700" algn="l" defTabSz="914400" rtl="0" eaLnBrk="0" fontAlgn="base" latinLnBrk="0" hangingPunct="0">
              <a:lnSpc>
                <a:spcPct val="120000"/>
              </a:lnSpc>
              <a:spcBef>
                <a:spcPts val="600"/>
              </a:spcBef>
              <a:spcAft>
                <a:spcPts val="60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单周期处理器时钟宽度是最复杂指令的执行时间</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5475" marR="0" lvl="1" indent="-266700" algn="l" defTabSz="914400" rtl="0" eaLnBrk="0" fontAlgn="base" latinLnBrk="0" hangingPunct="0">
              <a:lnSpc>
                <a:spcPct val="120000"/>
              </a:lnSpc>
              <a:spcBef>
                <a:spcPts val="600"/>
              </a:spcBef>
              <a:spcAft>
                <a:spcPts val="60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很多指令可在更短的时间内完成</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5475" marR="0" lvl="1" indent="-266700" algn="l" defTabSz="914400" rtl="0" eaLnBrk="0" fontAlgn="base" latinLnBrk="0" hangingPunct="0">
              <a:lnSpc>
                <a:spcPct val="120000"/>
              </a:lnSpc>
              <a:spcBef>
                <a:spcPts val="600"/>
              </a:spcBef>
              <a:spcAft>
                <a:spcPts val="60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只能改进多数指令的延迟而不能改进最差情况延迟的技术都是无用的</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1" indent="-266700" algn="l" defTabSz="914400" rtl="0" eaLnBrk="0" fontAlgn="base" latinLnBrk="0" hangingPunct="0">
              <a:lnSpc>
                <a:spcPct val="120000"/>
              </a:lnSpc>
              <a:spcBef>
                <a:spcPts val="600"/>
              </a:spcBef>
              <a:spcAft>
                <a:spcPts val="600"/>
              </a:spcAft>
              <a:buClrTx/>
              <a:buSzTx/>
              <a:buFont typeface="Wingdings" panose="05000000000000000000" pitchFamily="2" charset="2"/>
              <a:buChar char="n"/>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b" anchorCtr="0"/>
          <a:p>
            <a:pPr eaLnBrk="1" hangingPunct="1"/>
            <a:r>
              <a:rPr lang="zh-CN" altLang="en-US" dirty="0"/>
              <a:t>单周期控制器设计实例</a:t>
            </a:r>
            <a:endParaRPr lang="zh-CN" altLang="en-US" dirty="0"/>
          </a:p>
        </p:txBody>
      </p:sp>
      <p:sp>
        <p:nvSpPr>
          <p:cNvPr id="13315" name="内容占位符 3"/>
          <p:cNvSpPr>
            <a:spLocks noGrp="1"/>
          </p:cNvSpPr>
          <p:nvPr>
            <p:ph idx="1"/>
          </p:nvPr>
        </p:nvSpPr>
        <p:spPr>
          <a:xfrm>
            <a:off x="412750" y="1285875"/>
            <a:ext cx="8445500" cy="4772025"/>
          </a:xfrm>
        </p:spPr>
        <p:txBody>
          <a:bodyPr vert="horz" wrap="square" lIns="91440" tIns="45720" rIns="91440" bIns="45720" numCol="1" anchor="t" anchorCtr="0" compatLnSpc="1"/>
          <a:lstStyle/>
          <a:p>
            <a:pPr marL="179705" marR="0" lvl="0" indent="-179705" algn="l" defTabSz="914400" rtl="0" eaLnBrk="0" fontAlgn="base" latinLnBrk="0" hangingPunct="0">
              <a:lnSpc>
                <a:spcPct val="95000"/>
              </a:lnSpc>
              <a:spcBef>
                <a:spcPct val="0"/>
              </a:spcBef>
              <a:spcAft>
                <a:spcPts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例：在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MIPS</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的单周期数据通路如图</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4.24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中，处理器取出如下指令：</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10101100011000100000000000010100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。假设初始存储器数据为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，此刻</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处理器各寄存器值如下所示：</a:t>
            </a:r>
            <a:endParaRPr kumimoji="0" lang="en-US" altLang="zh-CN" sz="2400" b="1" i="0" u="none" strike="noStrike" kern="0" cap="none" spc="0" normalizeH="0" baseline="0" noProof="0" dirty="0" smtClean="0">
              <a:ln>
                <a:noFill/>
              </a:ln>
              <a:solidFill>
                <a:schemeClr val="tx1"/>
              </a:solidFill>
              <a:effectLst/>
              <a:uLnTx/>
              <a:uFillTx/>
              <a:latin typeface="+mn-lt"/>
              <a:ea typeface="+mn-ea"/>
              <a:cs typeface="+mn-cs"/>
            </a:endParaRPr>
          </a:p>
          <a:p>
            <a:pPr marL="179705" marR="0" lvl="0" indent="-179705" algn="l" defTabSz="914400" rtl="0" eaLnBrk="0" fontAlgn="base" latinLnBrk="0" hangingPunct="0">
              <a:lnSpc>
                <a:spcPct val="95000"/>
              </a:lnSpc>
              <a:spcBef>
                <a:spcPct val="0"/>
              </a:spcBef>
              <a:spcAft>
                <a:spcPts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mn-lt"/>
              <a:ea typeface="+mn-ea"/>
              <a:cs typeface="+mn-cs"/>
            </a:endParaRPr>
          </a:p>
          <a:p>
            <a:pPr marL="179705" marR="0" lvl="0" indent="-179705" algn="l" defTabSz="914400" rtl="0" eaLnBrk="0" fontAlgn="base" latinLnBrk="0" hangingPunct="0">
              <a:lnSpc>
                <a:spcPct val="95000"/>
              </a:lnSpc>
              <a:spcBef>
                <a:spcPct val="0"/>
              </a:spcBef>
              <a:spcAft>
                <a:spcPts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mn-lt"/>
              <a:ea typeface="+mn-ea"/>
              <a:cs typeface="+mn-cs"/>
            </a:endParaRPr>
          </a:p>
          <a:p>
            <a:pPr marL="363855" marR="0" lvl="0" indent="-363855" algn="l" defTabSz="914400" rtl="0" eaLnBrk="0" fontAlgn="base" latinLnBrk="0" hangingPunct="0">
              <a:lnSpc>
                <a:spcPct val="95000"/>
              </a:lnSpc>
              <a:spcBef>
                <a:spcPct val="0"/>
              </a:spcBef>
              <a:spcAft>
                <a:spcPts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当执行上述指令时，请回答下列问题：</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ts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符号扩展器和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jump</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“左移</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位”部件的输出值各是多少？</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ts val="0"/>
              </a:spcAft>
              <a:buClrTx/>
              <a:buSzTx/>
              <a:buFont typeface="+mj-ea"/>
              <a:buAutoNum type="circleNumDbPlain"/>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ALU</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控制部件的输入值是多少？</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ts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该指令执行后，新的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地址是多少？高亮生成该值所经过的路径。</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ts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对于每个</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MUX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，显示执行指令期间各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MUX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的数据输出值，以及寄存器值。</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ts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对于</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ALU</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个加法器，，它们的输入值各是多少？</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ts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对于寄存器</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部件，各输入值是多少？</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5000"/>
              </a:lnSpc>
              <a:spcBef>
                <a:spcPct val="0"/>
              </a:spcBef>
              <a:spcAft>
                <a:spcPts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mn-lt"/>
              <a:ea typeface="+mn-ea"/>
              <a:cs typeface="+mn-cs"/>
            </a:endParaRPr>
          </a:p>
          <a:p>
            <a:pPr marL="179705" marR="0" lvl="0" indent="-179705" algn="l" defTabSz="914400" rtl="0" eaLnBrk="0" fontAlgn="base" latinLnBrk="0" hangingPunct="0">
              <a:lnSpc>
                <a:spcPct val="100000"/>
              </a:lnSpc>
              <a:spcBef>
                <a:spcPts val="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mn-lt"/>
              <a:ea typeface="+mn-ea"/>
              <a:cs typeface="+mn-cs"/>
            </a:endParaRPr>
          </a:p>
        </p:txBody>
      </p:sp>
      <p:pic>
        <p:nvPicPr>
          <p:cNvPr id="13316" name="Picture 8"/>
          <p:cNvPicPr>
            <a:picLocks noChangeAspect="1"/>
          </p:cNvPicPr>
          <p:nvPr/>
        </p:nvPicPr>
        <p:blipFill>
          <a:blip r:embed="rId1"/>
          <a:stretch>
            <a:fillRect/>
          </a:stretch>
        </p:blipFill>
        <p:spPr>
          <a:xfrm>
            <a:off x="1000125" y="2343785"/>
            <a:ext cx="7155180" cy="68897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txBox="1"/>
          <p:nvPr/>
        </p:nvSpPr>
        <p:spPr bwMode="auto">
          <a:xfrm>
            <a:off x="571500" y="214313"/>
            <a:ext cx="7021513" cy="676275"/>
          </a:xfrm>
          <a:prstGeom prst="rect">
            <a:avLst/>
          </a:prstGeom>
          <a:noFill/>
          <a:ln w="9525">
            <a:noFill/>
            <a:miter lim="800000"/>
          </a:ln>
        </p:spPr>
        <p:txBody>
          <a:bodyPr anchor="b"/>
          <a:lstStyle/>
          <a:p>
            <a:pPr marR="0" defTabSz="914400">
              <a:buClrTx/>
              <a:buSzTx/>
              <a:buFontTx/>
              <a:buNone/>
              <a:defRPr/>
            </a:pPr>
            <a:r>
              <a:rPr kumimoji="0" lang="zh-CN" altLang="en-US" sz="4000" b="1" kern="0" cap="none" spc="0" normalizeH="0" baseline="0" noProof="0">
                <a:solidFill>
                  <a:schemeClr val="tx2"/>
                </a:solidFill>
                <a:latin typeface="+mj-lt"/>
                <a:ea typeface="+mj-ea"/>
                <a:cs typeface="+mj-cs"/>
              </a:rPr>
              <a:t>单周期控制器设计实例</a:t>
            </a:r>
            <a:endParaRPr kumimoji="0" lang="zh-CN" altLang="en-US" sz="4000" b="1" kern="0" cap="none" spc="0" normalizeH="0" baseline="0" noProof="0" dirty="0">
              <a:solidFill>
                <a:schemeClr val="tx2"/>
              </a:solidFill>
              <a:latin typeface="+mj-lt"/>
              <a:ea typeface="+mj-ea"/>
              <a:cs typeface="+mj-cs"/>
            </a:endParaRPr>
          </a:p>
        </p:txBody>
      </p:sp>
      <p:pic>
        <p:nvPicPr>
          <p:cNvPr id="14339" name="Picture 3"/>
          <p:cNvPicPr>
            <a:picLocks noChangeAspect="1"/>
          </p:cNvPicPr>
          <p:nvPr/>
        </p:nvPicPr>
        <p:blipFill>
          <a:blip r:embed="rId1"/>
          <a:stretch>
            <a:fillRect/>
          </a:stretch>
        </p:blipFill>
        <p:spPr>
          <a:xfrm>
            <a:off x="4567238" y="3414713"/>
            <a:ext cx="9525" cy="28575"/>
          </a:xfrm>
          <a:prstGeom prst="rect">
            <a:avLst/>
          </a:prstGeom>
          <a:noFill/>
          <a:ln w="9525">
            <a:noFill/>
          </a:ln>
        </p:spPr>
      </p:pic>
      <p:pic>
        <p:nvPicPr>
          <p:cNvPr id="14340" name="Picture 4"/>
          <p:cNvPicPr>
            <a:picLocks noGrp="1" noChangeAspect="1"/>
          </p:cNvPicPr>
          <p:nvPr>
            <p:ph idx="1"/>
          </p:nvPr>
        </p:nvPicPr>
        <p:blipFill>
          <a:blip r:embed="rId2"/>
          <a:srcRect/>
          <a:stretch>
            <a:fillRect/>
          </a:stretch>
        </p:blipFill>
        <p:spPr>
          <a:xfrm>
            <a:off x="1285875" y="1143000"/>
            <a:ext cx="7715250" cy="5537835"/>
          </a:xfrm>
        </p:spPr>
      </p:pic>
      <p:sp>
        <p:nvSpPr>
          <p:cNvPr id="7" name="右箭头 6"/>
          <p:cNvSpPr/>
          <p:nvPr/>
        </p:nvSpPr>
        <p:spPr>
          <a:xfrm>
            <a:off x="2952750" y="4115435"/>
            <a:ext cx="1333500" cy="460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8" name="右箭头 7"/>
          <p:cNvSpPr/>
          <p:nvPr/>
        </p:nvSpPr>
        <p:spPr>
          <a:xfrm>
            <a:off x="2943225" y="4458970"/>
            <a:ext cx="1343025" cy="46038"/>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9" name="右箭头 8"/>
          <p:cNvSpPr/>
          <p:nvPr/>
        </p:nvSpPr>
        <p:spPr>
          <a:xfrm>
            <a:off x="2928938" y="5825808"/>
            <a:ext cx="1714500" cy="460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0" name="右箭头 9"/>
          <p:cNvSpPr/>
          <p:nvPr/>
        </p:nvSpPr>
        <p:spPr>
          <a:xfrm>
            <a:off x="5481638" y="4266883"/>
            <a:ext cx="714375" cy="714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1" name="右箭头 10"/>
          <p:cNvSpPr/>
          <p:nvPr/>
        </p:nvSpPr>
        <p:spPr>
          <a:xfrm>
            <a:off x="5705475" y="5152708"/>
            <a:ext cx="142875" cy="4762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4" name="右箭头 13"/>
          <p:cNvSpPr/>
          <p:nvPr/>
        </p:nvSpPr>
        <p:spPr>
          <a:xfrm>
            <a:off x="6103303" y="4943158"/>
            <a:ext cx="142875" cy="460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cxnSp>
        <p:nvCxnSpPr>
          <p:cNvPr id="17" name="直接连接符 16"/>
          <p:cNvCxnSpPr/>
          <p:nvPr/>
        </p:nvCxnSpPr>
        <p:spPr>
          <a:xfrm rot="5400000">
            <a:off x="5372894" y="5523389"/>
            <a:ext cx="66675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右箭头 18"/>
          <p:cNvSpPr/>
          <p:nvPr/>
        </p:nvSpPr>
        <p:spPr>
          <a:xfrm>
            <a:off x="7015163" y="4719320"/>
            <a:ext cx="214313" cy="714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31" name="右箭头 30"/>
          <p:cNvSpPr/>
          <p:nvPr/>
        </p:nvSpPr>
        <p:spPr>
          <a:xfrm>
            <a:off x="5562600" y="5395595"/>
            <a:ext cx="1643063" cy="4603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cxnSp>
        <p:nvCxnSpPr>
          <p:cNvPr id="33" name="直接连接符 32"/>
          <p:cNvCxnSpPr/>
          <p:nvPr/>
        </p:nvCxnSpPr>
        <p:spPr>
          <a:xfrm rot="5400000">
            <a:off x="5200650" y="5114608"/>
            <a:ext cx="665163"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462588" y="4789170"/>
            <a:ext cx="71438"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276850" y="5843270"/>
            <a:ext cx="428625"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353" name="矩形 22"/>
          <p:cNvSpPr/>
          <p:nvPr/>
        </p:nvSpPr>
        <p:spPr>
          <a:xfrm>
            <a:off x="71755" y="6284595"/>
            <a:ext cx="4067810" cy="533400"/>
          </a:xfrm>
          <a:prstGeom prst="rect">
            <a:avLst/>
          </a:prstGeom>
          <a:noFill/>
          <a:ln w="9525">
            <a:noFill/>
          </a:ln>
        </p:spPr>
        <p:txBody>
          <a:bodyPr wrap="square">
            <a:spAutoFit/>
          </a:bodyPr>
          <a:p>
            <a:pPr>
              <a:lnSpc>
                <a:spcPct val="80000"/>
              </a:lnSpc>
              <a:spcBef>
                <a:spcPts val="0"/>
              </a:spcBef>
              <a:spcAft>
                <a:spcPts val="0"/>
              </a:spcAft>
            </a:pPr>
            <a:r>
              <a:rPr lang="en-US" altLang="zh-CN" sz="1800" b="1" dirty="0">
                <a:solidFill>
                  <a:srgbClr val="FF0000"/>
                </a:solidFill>
                <a:latin typeface="Times New Roman" panose="02020603050405020304" pitchFamily="18" charset="0"/>
                <a:cs typeface="Times New Roman" panose="02020603050405020304" pitchFamily="18" charset="0"/>
              </a:rPr>
              <a:t>101011 </a:t>
            </a:r>
            <a:r>
              <a:rPr lang="en-US" altLang="zh-CN" sz="1800" b="1" dirty="0">
                <a:solidFill>
                  <a:srgbClr val="0000FF"/>
                </a:solidFill>
                <a:latin typeface="Times New Roman" panose="02020603050405020304" pitchFamily="18" charset="0"/>
                <a:cs typeface="Times New Roman" panose="02020603050405020304" pitchFamily="18" charset="0"/>
              </a:rPr>
              <a:t>00011 </a:t>
            </a:r>
            <a:r>
              <a:rPr lang="en-US" altLang="zh-CN" sz="1800" b="1" dirty="0">
                <a:solidFill>
                  <a:srgbClr val="009900"/>
                </a:solidFill>
                <a:latin typeface="Times New Roman" panose="02020603050405020304" pitchFamily="18" charset="0"/>
                <a:cs typeface="Times New Roman" panose="02020603050405020304" pitchFamily="18" charset="0"/>
              </a:rPr>
              <a:t>00010 </a:t>
            </a:r>
            <a:r>
              <a:rPr lang="en-US" altLang="zh-CN" sz="1800" b="1" dirty="0">
                <a:latin typeface="Times New Roman" panose="02020603050405020304" pitchFamily="18" charset="0"/>
                <a:cs typeface="Times New Roman" panose="02020603050405020304" pitchFamily="18" charset="0"/>
              </a:rPr>
              <a:t>0000000000010100</a:t>
            </a:r>
            <a:r>
              <a:rPr lang="zh-CN" altLang="en-US"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	sw  r2,20(r3)</a:t>
            </a:r>
            <a:endParaRPr lang="en-US" altLang="zh-CN" sz="1800" b="1"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6845935" y="6146800"/>
            <a:ext cx="1108075" cy="461963"/>
          </a:xfrm>
          <a:prstGeom prst="rect">
            <a:avLst/>
          </a:prstGeom>
          <a:noFill/>
        </p:spPr>
        <p:txBody>
          <a:bodyPr wrap="none">
            <a:spAutoFit/>
          </a:bodyPr>
          <a:lstStyle/>
          <a:p>
            <a:pPr marR="0" defTabSz="914400">
              <a:buClrTx/>
              <a:buSzTx/>
              <a:buFontTx/>
              <a:buNone/>
              <a:defRPr/>
            </a:pPr>
            <a:r>
              <a:rPr kumimoji="0" lang="zh-CN" altLang="en-US" sz="2400" b="1" kern="1200" cap="none" spc="0" normalizeH="0" baseline="0" noProof="0" dirty="0">
                <a:solidFill>
                  <a:srgbClr val="0000FF"/>
                </a:solidFill>
                <a:latin typeface="Times New Roman" panose="02020603050405020304" pitchFamily="18" charset="0"/>
                <a:ea typeface="+mn-ea"/>
                <a:cs typeface="Times New Roman" panose="02020603050405020304" pitchFamily="18" charset="0"/>
              </a:rPr>
              <a:t>图</a:t>
            </a:r>
            <a:r>
              <a:rPr kumimoji="0" lang="en-US" altLang="zh-CN" sz="2400" b="1" kern="1200" cap="none" spc="0" normalizeH="0" baseline="0" noProof="0" dirty="0">
                <a:solidFill>
                  <a:srgbClr val="0000FF"/>
                </a:solidFill>
                <a:latin typeface="Times New Roman" panose="02020603050405020304" pitchFamily="18" charset="0"/>
                <a:ea typeface="+mn-ea"/>
                <a:cs typeface="Times New Roman" panose="02020603050405020304" pitchFamily="18" charset="0"/>
              </a:rPr>
              <a:t>4.24 </a:t>
            </a:r>
            <a:endParaRPr kumimoji="0" lang="en-US" altLang="zh-CN" sz="2400" b="1" kern="1200" cap="none" spc="0" normalizeH="0" baseline="0" noProof="0" dirty="0">
              <a:solidFill>
                <a:srgbClr val="0000FF"/>
              </a:solidFill>
              <a:latin typeface="Times New Roman" panose="02020603050405020304" pitchFamily="18" charset="0"/>
              <a:ea typeface="+mn-ea"/>
              <a:cs typeface="Times New Roman" panose="02020603050405020304" pitchFamily="18" charset="0"/>
            </a:endParaRPr>
          </a:p>
        </p:txBody>
      </p:sp>
      <p:graphicFrame>
        <p:nvGraphicFramePr>
          <p:cNvPr id="5" name="对象 4"/>
          <p:cNvGraphicFramePr/>
          <p:nvPr/>
        </p:nvGraphicFramePr>
        <p:xfrm>
          <a:off x="35560" y="5917565"/>
          <a:ext cx="4122420" cy="393065"/>
        </p:xfrm>
        <a:graphic>
          <a:graphicData uri="http://schemas.openxmlformats.org/presentationml/2006/ole">
            <mc:AlternateContent xmlns:mc="http://schemas.openxmlformats.org/markup-compatibility/2006">
              <mc:Choice xmlns:v="urn:schemas-microsoft-com:vml" Requires="v">
                <p:oleObj spid="_x0000_s6" name="" r:id="rId3" imgW="4826000" imgH="546100" progId="Paint.Picture">
                  <p:embed/>
                </p:oleObj>
              </mc:Choice>
              <mc:Fallback>
                <p:oleObj name="" r:id="rId3" imgW="4826000" imgH="546100" progId="Paint.Picture">
                  <p:embed/>
                  <p:pic>
                    <p:nvPicPr>
                      <p:cNvPr id="0" name="图片 5"/>
                      <p:cNvPicPr/>
                      <p:nvPr/>
                    </p:nvPicPr>
                    <p:blipFill>
                      <a:blip r:embed="rId4"/>
                      <a:stretch>
                        <a:fillRect/>
                      </a:stretch>
                    </p:blipFill>
                    <p:spPr>
                      <a:xfrm>
                        <a:off x="35560" y="5917565"/>
                        <a:ext cx="4122420" cy="39306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内容占位符 2"/>
          <p:cNvSpPr>
            <a:spLocks noGrp="1"/>
          </p:cNvSpPr>
          <p:nvPr>
            <p:ph idx="1"/>
          </p:nvPr>
        </p:nvSpPr>
        <p:spPr>
          <a:xfrm>
            <a:off x="357188" y="1285875"/>
            <a:ext cx="8572500" cy="4772025"/>
          </a:xfrm>
        </p:spPr>
        <p:txBody>
          <a:bodyPr vert="horz" wrap="square" lIns="91440" tIns="45720" rIns="91440" bIns="45720" anchor="t" anchorCtr="0"/>
          <a:p>
            <a:pPr>
              <a:spcBef>
                <a:spcPct val="0"/>
              </a:spcBef>
              <a:buNone/>
            </a:pPr>
            <a:r>
              <a:rPr lang="zh-CN" altLang="en-US" sz="2400" dirty="0">
                <a:latin typeface="Times New Roman" panose="02020603050405020304" pitchFamily="18" charset="0"/>
                <a:cs typeface="Times New Roman" panose="02020603050405020304" pitchFamily="18" charset="0"/>
              </a:rPr>
              <a:t>解：</a:t>
            </a:r>
            <a:r>
              <a:rPr lang="en-US" altLang="zh-CN" sz="2400" dirty="0">
                <a:solidFill>
                  <a:srgbClr val="FF0000"/>
                </a:solidFill>
                <a:latin typeface="Times New Roman" panose="02020603050405020304" pitchFamily="18" charset="0"/>
                <a:cs typeface="Times New Roman" panose="02020603050405020304" pitchFamily="18" charset="0"/>
              </a:rPr>
              <a:t>101011 </a:t>
            </a:r>
            <a:r>
              <a:rPr lang="en-US" altLang="zh-CN" sz="2400" dirty="0">
                <a:solidFill>
                  <a:srgbClr val="0000CC"/>
                </a:solidFill>
                <a:latin typeface="Times New Roman" panose="02020603050405020304" pitchFamily="18" charset="0"/>
                <a:cs typeface="Times New Roman" panose="02020603050405020304" pitchFamily="18" charset="0"/>
              </a:rPr>
              <a:t>00011 </a:t>
            </a:r>
            <a:r>
              <a:rPr lang="en-US" altLang="zh-CN" sz="2400" dirty="0">
                <a:solidFill>
                  <a:srgbClr val="009900"/>
                </a:solidFill>
                <a:latin typeface="Times New Roman" panose="02020603050405020304" pitchFamily="18" charset="0"/>
                <a:cs typeface="Times New Roman" panose="02020603050405020304" pitchFamily="18" charset="0"/>
              </a:rPr>
              <a:t>00010</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7030A0"/>
                </a:solidFill>
                <a:latin typeface="Times New Roman" panose="02020603050405020304" pitchFamily="18" charset="0"/>
                <a:cs typeface="Times New Roman" panose="02020603050405020304" pitchFamily="18" charset="0"/>
              </a:rPr>
              <a:t>0000000000010100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sw  r2,20(r3)</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、立即数符号扩展后为：</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7030A0"/>
                </a:solidFill>
                <a:latin typeface="Times New Roman" panose="02020603050405020304" pitchFamily="18" charset="0"/>
                <a:cs typeface="Times New Roman" panose="02020603050405020304" pitchFamily="18" charset="0"/>
              </a:rPr>
              <a:t>00000000000000000000000000010100</a:t>
            </a:r>
            <a:r>
              <a:rPr lang="en-US" altLang="zh-CN" sz="2400" dirty="0">
                <a:latin typeface="Times New Roman" panose="02020603050405020304" pitchFamily="18" charset="0"/>
                <a:cs typeface="Times New Roman" panose="02020603050405020304" pitchFamily="18" charset="0"/>
              </a:rPr>
              <a:t>(32</a:t>
            </a:r>
            <a:r>
              <a:rPr lang="zh-CN" altLang="en-US" sz="2400" dirty="0">
                <a:latin typeface="Times New Roman" panose="02020603050405020304" pitchFamily="18" charset="0"/>
                <a:cs typeface="Times New Roman" panose="02020603050405020304" pitchFamily="18" charset="0"/>
              </a:rPr>
              <a:t>位</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此刻，</a:t>
            </a:r>
            <a:r>
              <a:rPr lang="en-US" altLang="zh-CN" sz="2400" dirty="0">
                <a:latin typeface="Times New Roman" panose="02020603050405020304" pitchFamily="18" charset="0"/>
                <a:cs typeface="Times New Roman" panose="02020603050405020304" pitchFamily="18" charset="0"/>
              </a:rPr>
              <a:t> jump</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shift left 2</a:t>
            </a:r>
            <a:r>
              <a:rPr lang="zh-CN" altLang="en-US" sz="2400" dirty="0">
                <a:latin typeface="Times New Roman" panose="02020603050405020304" pitchFamily="18" charset="0"/>
                <a:cs typeface="Times New Roman" panose="02020603050405020304" pitchFamily="18" charset="0"/>
              </a:rPr>
              <a:t>”输出为：</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0001 1000 10</a:t>
            </a:r>
            <a:r>
              <a:rPr lang="en-US" altLang="zh-CN" sz="2400" dirty="0">
                <a:solidFill>
                  <a:srgbClr val="0000FF"/>
                </a:solidFill>
                <a:latin typeface="Times New Roman" panose="02020603050405020304" pitchFamily="18" charset="0"/>
                <a:cs typeface="Times New Roman" panose="02020603050405020304" pitchFamily="18" charset="0"/>
              </a:rPr>
              <a:t>00 0000 0000 0101 0000</a:t>
            </a:r>
            <a:r>
              <a:rPr lang="en-US" altLang="zh-CN" sz="2400" dirty="0">
                <a:latin typeface="Times New Roman" panose="02020603050405020304" pitchFamily="18" charset="0"/>
                <a:cs typeface="Times New Roman" panose="02020603050405020304" pitchFamily="18" charset="0"/>
              </a:rPr>
              <a:t>(28</a:t>
            </a:r>
            <a:r>
              <a:rPr lang="zh-CN" altLang="en-US" sz="2400" dirty="0">
                <a:latin typeface="Times New Roman" panose="02020603050405020304" pitchFamily="18" charset="0"/>
                <a:cs typeface="Times New Roman" panose="02020603050405020304" pitchFamily="18" charset="0"/>
              </a:rPr>
              <a:t>位</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sw</a:t>
            </a:r>
            <a:r>
              <a:rPr lang="zh-CN" altLang="en-US" sz="2400" dirty="0">
                <a:latin typeface="Times New Roman" panose="02020603050405020304" pitchFamily="18" charset="0"/>
                <a:cs typeface="Times New Roman" panose="02020603050405020304" pitchFamily="18" charset="0"/>
              </a:rPr>
              <a:t>指令执行时，</a:t>
            </a:r>
            <a:r>
              <a:rPr lang="en-US" altLang="zh-CN" sz="2400" dirty="0">
                <a:latin typeface="Times New Roman" panose="02020603050405020304" pitchFamily="18" charset="0"/>
                <a:cs typeface="Times New Roman" panose="02020603050405020304" pitchFamily="18" charset="0"/>
              </a:rPr>
              <a:t>ALU</a:t>
            </a:r>
            <a:r>
              <a:rPr lang="zh-CN" altLang="en-US" sz="2400" dirty="0">
                <a:latin typeface="Times New Roman" panose="02020603050405020304" pitchFamily="18" charset="0"/>
                <a:cs typeface="Times New Roman" panose="02020603050405020304" pitchFamily="18" charset="0"/>
              </a:rPr>
              <a:t>的两个输入分别为：</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00000000000000000000000000010100</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r3=−3</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11111111111111111111111111111101</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PC</a:t>
            </a:r>
            <a:r>
              <a:rPr lang="zh-CN" altLang="en-US" sz="2400" dirty="0">
                <a:latin typeface="Times New Roman" panose="02020603050405020304" pitchFamily="18" charset="0"/>
                <a:cs typeface="Times New Roman" panose="02020603050405020304" pitchFamily="18" charset="0"/>
              </a:rPr>
              <a:t>值为：</a:t>
            </a:r>
            <a:r>
              <a:rPr lang="en-US" altLang="zh-CN" sz="2400" dirty="0">
                <a:latin typeface="Times New Roman" panose="02020603050405020304" pitchFamily="18" charset="0"/>
                <a:cs typeface="Times New Roman" panose="02020603050405020304" pitchFamily="18" charset="0"/>
              </a:rPr>
              <a:t>PC+4</a:t>
            </a:r>
            <a:r>
              <a:rPr lang="zh-CN" altLang="en-US" sz="2400" dirty="0">
                <a:latin typeface="Times New Roman" panose="02020603050405020304" pitchFamily="18" charset="0"/>
                <a:cs typeface="Times New Roman" panose="02020603050405020304" pitchFamily="18" charset="0"/>
              </a:rPr>
              <a:t>，见图</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、从左开始的第</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个</a:t>
            </a:r>
            <a:r>
              <a:rPr lang="en-US" altLang="zh-CN" sz="2400" dirty="0">
                <a:latin typeface="Times New Roman" panose="02020603050405020304" pitchFamily="18" charset="0"/>
                <a:cs typeface="Times New Roman" panose="02020603050405020304" pitchFamily="18" charset="0"/>
              </a:rPr>
              <a:t>MUX</a:t>
            </a:r>
            <a:r>
              <a:rPr lang="zh-CN" altLang="en-US" sz="2400" dirty="0">
                <a:latin typeface="Times New Roman" panose="02020603050405020304" pitchFamily="18" charset="0"/>
                <a:cs typeface="Times New Roman" panose="02020603050405020304" pitchFamily="18" charset="0"/>
              </a:rPr>
              <a:t>值：不关心；第</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个</a:t>
            </a:r>
            <a:r>
              <a:rPr lang="en-US" altLang="zh-CN" sz="2400" dirty="0">
                <a:latin typeface="Times New Roman" panose="02020603050405020304" pitchFamily="18" charset="0"/>
                <a:cs typeface="Times New Roman" panose="02020603050405020304" pitchFamily="18" charset="0"/>
              </a:rPr>
              <a:t>MUX</a:t>
            </a:r>
            <a:r>
              <a:rPr lang="zh-CN" altLang="en-US" sz="2400" dirty="0">
                <a:latin typeface="Times New Roman" panose="02020603050405020304" pitchFamily="18" charset="0"/>
                <a:cs typeface="Times New Roman" panose="02020603050405020304" pitchFamily="18" charset="0"/>
              </a:rPr>
              <a:t>输出值为：</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00000000000000000000000000010100</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、从左开始的第</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个</a:t>
            </a:r>
            <a:r>
              <a:rPr lang="en-US" altLang="zh-CN" sz="2400" dirty="0">
                <a:latin typeface="Times New Roman" panose="02020603050405020304" pitchFamily="18" charset="0"/>
                <a:cs typeface="Times New Roman" panose="02020603050405020304" pitchFamily="18" charset="0"/>
              </a:rPr>
              <a:t>Add</a:t>
            </a:r>
            <a:r>
              <a:rPr lang="zh-CN" altLang="en-US" sz="2400" dirty="0">
                <a:latin typeface="Times New Roman" panose="02020603050405020304" pitchFamily="18" charset="0"/>
                <a:cs typeface="Times New Roman" panose="02020603050405020304" pitchFamily="18" charset="0"/>
              </a:rPr>
              <a:t>值为：</a:t>
            </a:r>
            <a:r>
              <a:rPr lang="en-US" altLang="zh-CN" sz="2400" dirty="0">
                <a:latin typeface="Times New Roman" panose="02020603050405020304" pitchFamily="18" charset="0"/>
                <a:cs typeface="Times New Roman" panose="02020603050405020304" pitchFamily="18" charset="0"/>
              </a:rPr>
              <a:t>PC+4</a:t>
            </a:r>
            <a:r>
              <a:rPr lang="zh-CN" altLang="en-US" sz="2400" dirty="0">
                <a:latin typeface="Times New Roman" panose="02020603050405020304" pitchFamily="18" charset="0"/>
                <a:cs typeface="Times New Roman" panose="02020603050405020304" pitchFamily="18" charset="0"/>
              </a:rPr>
              <a:t>，第</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个</a:t>
            </a:r>
            <a:r>
              <a:rPr lang="en-US" altLang="zh-CN" sz="2400" dirty="0">
                <a:latin typeface="Times New Roman" panose="02020603050405020304" pitchFamily="18" charset="0"/>
                <a:cs typeface="Times New Roman" panose="02020603050405020304" pitchFamily="18" charset="0"/>
              </a:rPr>
              <a:t>Add</a:t>
            </a:r>
            <a:r>
              <a:rPr lang="zh-CN" altLang="en-US" sz="2400" dirty="0">
                <a:latin typeface="Times New Roman" panose="02020603050405020304" pitchFamily="18" charset="0"/>
                <a:cs typeface="Times New Roman" panose="02020603050405020304" pitchFamily="18" charset="0"/>
              </a:rPr>
              <a:t>输出值为：</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PC+4+ 000000000000000000000000010100</a:t>
            </a:r>
            <a:r>
              <a:rPr lang="en-US" altLang="zh-CN" sz="2400" dirty="0">
                <a:solidFill>
                  <a:srgbClr val="0000FF"/>
                </a:solidFill>
                <a:latin typeface="Times New Roman" panose="02020603050405020304" pitchFamily="18" charset="0"/>
                <a:cs typeface="Times New Roman" panose="02020603050405020304" pitchFamily="18" charset="0"/>
              </a:rPr>
              <a:t>00</a:t>
            </a:r>
            <a:endParaRPr lang="en-US" altLang="zh-CN" sz="2400" dirty="0">
              <a:solidFill>
                <a:srgbClr val="0000FF"/>
              </a:solidFill>
              <a:latin typeface="Times New Roman" panose="02020603050405020304" pitchFamily="18" charset="0"/>
              <a:ea typeface="Times New Roman" panose="02020603050405020304" pitchFamily="18" charset="0"/>
            </a:endParaRPr>
          </a:p>
        </p:txBody>
      </p:sp>
      <p:sp>
        <p:nvSpPr>
          <p:cNvPr id="15363" name="标题 1"/>
          <p:cNvSpPr>
            <a:spLocks noGrp="1"/>
          </p:cNvSpPr>
          <p:nvPr>
            <p:ph type="title"/>
          </p:nvPr>
        </p:nvSpPr>
        <p:spPr/>
        <p:txBody>
          <a:bodyPr vert="horz" wrap="square" lIns="91440" tIns="45720" rIns="91440" bIns="45720" anchor="b" anchorCtr="0"/>
          <a:p>
            <a:pPr eaLnBrk="1" hangingPunct="1"/>
            <a:r>
              <a:rPr lang="zh-CN" altLang="en-US" dirty="0"/>
              <a:t>单周期控制器设计实例</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内容占位符 2"/>
          <p:cNvSpPr>
            <a:spLocks noGrp="1"/>
          </p:cNvSpPr>
          <p:nvPr>
            <p:ph idx="1"/>
          </p:nvPr>
        </p:nvSpPr>
        <p:spPr>
          <a:xfrm>
            <a:off x="357188" y="1214438"/>
            <a:ext cx="8786813" cy="4772025"/>
          </a:xfrm>
        </p:spPr>
        <p:txBody>
          <a:bodyPr vert="horz" wrap="square" lIns="91440" tIns="45720" rIns="91440" bIns="45720" numCol="1" anchor="t" anchorCtr="0" compatLnSpc="1"/>
          <a:lstStyle/>
          <a:p>
            <a:pPr marL="179705" marR="0" lvl="0" indent="-179705"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解：</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Registers</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”部件中所有的寄存器值为：</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Read register3=−3= 11111111111111111111111111111101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8415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Readregister2=2=00000000000000000000000000000010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8415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Write memory address=(r3)+20=  				   			00000000000000000000000000010001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8415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Write memorydata=(r2)=2=</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8415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00000000000000000000000000000010</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387" name="标题 1"/>
          <p:cNvSpPr>
            <a:spLocks noGrp="1"/>
          </p:cNvSpPr>
          <p:nvPr>
            <p:ph type="title"/>
          </p:nvPr>
        </p:nvSpPr>
        <p:spPr/>
        <p:txBody>
          <a:bodyPr vert="horz" wrap="square" lIns="91440" tIns="45720" rIns="91440" bIns="45720" anchor="b" anchorCtr="0"/>
          <a:p>
            <a:pPr eaLnBrk="1" hangingPunct="1"/>
            <a:r>
              <a:rPr lang="zh-CN" altLang="en-US" dirty="0"/>
              <a:t>单周期控制器设计实例</a:t>
            </a:r>
            <a:endParaRPr lang="zh-CN" altLang="en-US" dirty="0"/>
          </a:p>
        </p:txBody>
      </p:sp>
      <p:pic>
        <p:nvPicPr>
          <p:cNvPr id="16388" name="Picture 2"/>
          <p:cNvPicPr>
            <a:picLocks noChangeAspect="1"/>
          </p:cNvPicPr>
          <p:nvPr/>
        </p:nvPicPr>
        <p:blipFill>
          <a:blip r:embed="rId1"/>
          <a:stretch>
            <a:fillRect/>
          </a:stretch>
        </p:blipFill>
        <p:spPr>
          <a:xfrm>
            <a:off x="744538" y="2071688"/>
            <a:ext cx="8042275" cy="957262"/>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内容占位符 2"/>
          <p:cNvSpPr>
            <a:spLocks noGrp="1"/>
          </p:cNvSpPr>
          <p:nvPr>
            <p:ph idx="1"/>
          </p:nvPr>
        </p:nvSpPr>
        <p:spPr>
          <a:xfrm>
            <a:off x="357188" y="1214438"/>
            <a:ext cx="8786813" cy="4772025"/>
          </a:xfrm>
        </p:spPr>
        <p:txBody>
          <a:bodyPr vert="horz" wrap="square" lIns="91440" tIns="45720" rIns="91440" bIns="45720" numCol="1" anchor="t" anchorCtr="0" compatLnSpc="1"/>
          <a:lstStyle/>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 Problems in this exercise assume that the logic blocks used to implement a</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processor’s datapath have the following latencies:</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100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“Register read” is the time needed after the rising clock edge for the new register</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value to appear on the output. This value applies to the PC only. “Register setup” is</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amount of time a register’s data input must be stable before the rising edge of</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clock. This value applies to both the PC and Register File.</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4.7.1 [5] &lt;§4.4&gt; What is the latency of an R-type instruction (i.e., how long must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clock period be to ensure that this instruction works correctly)?</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4.7.2 [10] &lt;§4.4&gt; What is the latency of ld? (Check your answer carefully. Many</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students place extra muxes on the critical path.)</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4.7.3 [10] &lt;§4.4&gt; What is the latency of sd? (Check your answer carefully. Many</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students place extra muxes on the critical path.)</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4.7.4 [5] &lt;§4.4&gt; What is the latency of beq?</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4.7.5 [5] &lt;§4.4&gt; What is the latency of an I-type instruction?</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0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4.7.6 [5] &lt;§4.4&gt; What is the minimum clock period for this CPU?</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387" name="标题 1"/>
          <p:cNvSpPr>
            <a:spLocks noGrp="1"/>
          </p:cNvSpPr>
          <p:nvPr>
            <p:ph type="title"/>
          </p:nvPr>
        </p:nvSpPr>
        <p:spPr/>
        <p:txBody>
          <a:bodyPr vert="horz" wrap="square" lIns="91440" tIns="45720" rIns="91440" bIns="45720" anchor="b" anchorCtr="0"/>
          <a:p>
            <a:pPr eaLnBrk="1" hangingPunct="1"/>
            <a:r>
              <a:rPr lang="zh-CN" altLang="en-US" dirty="0"/>
              <a:t>单周期控制器设计实例</a:t>
            </a:r>
            <a:endParaRPr lang="zh-CN" altLang="en-US" dirty="0"/>
          </a:p>
        </p:txBody>
      </p:sp>
      <p:graphicFrame>
        <p:nvGraphicFramePr>
          <p:cNvPr id="2" name="表格 1"/>
          <p:cNvGraphicFramePr/>
          <p:nvPr>
            <p:custDataLst>
              <p:tags r:id="rId1"/>
            </p:custDataLst>
          </p:nvPr>
        </p:nvGraphicFramePr>
        <p:xfrm>
          <a:off x="332105" y="1819275"/>
          <a:ext cx="8572500" cy="1158240"/>
        </p:xfrm>
        <a:graphic>
          <a:graphicData uri="http://schemas.openxmlformats.org/drawingml/2006/table">
            <a:tbl>
              <a:tblPr firstRow="1" bandRow="1">
                <a:tableStyleId>{5C22544A-7EE6-4342-B048-85BDC9FD1C3A}</a:tableStyleId>
              </a:tblPr>
              <a:tblGrid>
                <a:gridCol w="961390"/>
                <a:gridCol w="1069975"/>
                <a:gridCol w="654685"/>
                <a:gridCol w="737870"/>
                <a:gridCol w="737870"/>
                <a:gridCol w="784225"/>
                <a:gridCol w="930275"/>
                <a:gridCol w="944880"/>
                <a:gridCol w="831850"/>
                <a:gridCol w="919480"/>
              </a:tblGrid>
              <a:tr h="318770">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I-Mem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D-Mem</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Register</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File</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 Mux</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ALU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Adder</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Single</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gate</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Register</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Read</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Register</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Setup</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Sign</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extend</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Control</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algn="ctr">
                        <a:buNone/>
                      </a:pP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r>
              <a:tr h="335280">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250 ps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150 ps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25 ps</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200 ps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150 ps</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5 ps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30 ps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20 ps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50 ps </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6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50 ps</a:t>
                      </a:r>
                      <a:endParaRPr kumimoji="0" lang="zh-CN" altLang="en-US" sz="1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内容占位符 2"/>
          <p:cNvSpPr>
            <a:spLocks noGrp="1"/>
          </p:cNvSpPr>
          <p:nvPr>
            <p:ph idx="1"/>
          </p:nvPr>
        </p:nvSpPr>
        <p:spPr>
          <a:xfrm>
            <a:off x="357505" y="1214755"/>
            <a:ext cx="8393430" cy="4772025"/>
          </a:xfrm>
        </p:spPr>
        <p:txBody>
          <a:bodyPr vert="horz" wrap="square" lIns="91440" tIns="45720" rIns="91440" bIns="45720" numCol="1" anchor="t" anchorCtr="0" compatLnSpc="1"/>
          <a:lstStyle/>
          <a:p>
            <a:pPr marL="179705" marR="0" lvl="0" indent="-179705" algn="l" defTabSz="914400" rtl="0" latinLnBrk="0">
              <a:lnSpc>
                <a:spcPct val="13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解：</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30000"/>
              </a:lnSpc>
              <a:spcBef>
                <a:spcPts val="0"/>
              </a:spcBef>
              <a:spcAft>
                <a:spcPts val="0"/>
              </a:spcAft>
              <a:buClrTx/>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若根据图</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4-15</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，计算下列延迟：</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9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4.7.1 R-type型指令</a:t>
            </a:r>
            <a:r>
              <a:rPr kumimoji="0" 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的延迟是：</a:t>
            </a:r>
            <a:endParaRPr kumimoji="0" 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30ps+250ps+150ps+25ps+200ps+25ps+20ps=700ps</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4.7.2 ld指令的延迟是：</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lang="en-US" altLang="zh-CN" sz="2200" noProof="0" dirty="0" smtClean="0">
                <a:ln>
                  <a:noFill/>
                </a:ln>
                <a:effectLst/>
                <a:uLnTx/>
                <a:uFillTx/>
                <a:latin typeface="Times New Roman" panose="02020603050405020304" pitchFamily="18" charset="0"/>
                <a:cs typeface="Times New Roman" panose="02020603050405020304" pitchFamily="18" charset="0"/>
                <a:sym typeface="+mn-ea"/>
              </a:rPr>
              <a:t> 30ps+250ps+150ps+25ps+200ps+250ps+25ps+20ps=950ps</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4.7.3 sd指令的延迟是：</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lang="en-US" altLang="zh-CN" sz="2200" noProof="0" dirty="0" smtClean="0">
                <a:ln>
                  <a:noFill/>
                </a:ln>
                <a:effectLst/>
                <a:uLnTx/>
                <a:uFillTx/>
                <a:latin typeface="Times New Roman" panose="02020603050405020304" pitchFamily="18" charset="0"/>
                <a:cs typeface="Times New Roman" panose="02020603050405020304" pitchFamily="18" charset="0"/>
                <a:sym typeface="+mn-ea"/>
              </a:rPr>
              <a:t>           30ps+250ps+150ps+25ps+200ps+250ps=905ps</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4.7.4 beq指令的延迟是：</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lang="en-US" altLang="zh-CN" sz="2200" noProof="0" dirty="0" smtClean="0">
                <a:ln>
                  <a:noFill/>
                </a:ln>
                <a:effectLst/>
                <a:uLnTx/>
                <a:uFillTx/>
                <a:latin typeface="Times New Roman" panose="02020603050405020304" pitchFamily="18" charset="0"/>
                <a:cs typeface="Times New Roman" panose="02020603050405020304" pitchFamily="18" charset="0"/>
                <a:sym typeface="+mn-ea"/>
              </a:rPr>
              <a:t>           30ps+250ps+150ps+25ps+200ps+25ps+5ps+20ps=705ps</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4.7.5 I-type型指令的延迟是：</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lang="en-US" altLang="zh-CN" sz="2200" noProof="0" dirty="0" smtClean="0">
                <a:ln>
                  <a:noFill/>
                </a:ln>
                <a:effectLst/>
                <a:uLnTx/>
                <a:uFillTx/>
                <a:latin typeface="Times New Roman" panose="02020603050405020304" pitchFamily="18" charset="0"/>
                <a:cs typeface="Times New Roman" panose="02020603050405020304" pitchFamily="18" charset="0"/>
                <a:sym typeface="+mn-ea"/>
              </a:rPr>
              <a:t>          30ps+250ps+150ps+25ps+200ps+25ps+20ps=700ps</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4.7.6 该CPU的最小时钟周期是所有指令花费最长的延迟，取</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ld</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latinLnBrk="0">
              <a:lnSpc>
                <a:spcPct val="100000"/>
              </a:lnSpc>
              <a:spcBef>
                <a:spcPts val="0"/>
              </a:spcBef>
              <a:spcAft>
                <a:spcPts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的延迟：</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950ps</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6387" name="标题 1"/>
          <p:cNvSpPr>
            <a:spLocks noGrp="1"/>
          </p:cNvSpPr>
          <p:nvPr>
            <p:ph type="title"/>
          </p:nvPr>
        </p:nvSpPr>
        <p:spPr/>
        <p:txBody>
          <a:bodyPr vert="horz" wrap="square" lIns="91440" tIns="45720" rIns="91440" bIns="45720" anchor="b" anchorCtr="0"/>
          <a:p>
            <a:pPr eaLnBrk="1" hangingPunct="1"/>
            <a:r>
              <a:rPr lang="zh-CN" altLang="en-US" dirty="0"/>
              <a:t>单周期控制器设计实例</a:t>
            </a:r>
            <a:endParaRPr lang="zh-CN" altLang="en-US" dirty="0"/>
          </a:p>
        </p:txBody>
      </p:sp>
      <p:graphicFrame>
        <p:nvGraphicFramePr>
          <p:cNvPr id="2" name="表格 1"/>
          <p:cNvGraphicFramePr/>
          <p:nvPr>
            <p:custDataLst>
              <p:tags r:id="rId1"/>
            </p:custDataLst>
          </p:nvPr>
        </p:nvGraphicFramePr>
        <p:xfrm>
          <a:off x="869950" y="1254125"/>
          <a:ext cx="8034655" cy="822960"/>
        </p:xfrm>
        <a:graphic>
          <a:graphicData uri="http://schemas.openxmlformats.org/drawingml/2006/table">
            <a:tbl>
              <a:tblPr firstRow="1" bandRow="1">
                <a:tableStyleId>{5C22544A-7EE6-4342-B048-85BDC9FD1C3A}</a:tableStyleId>
              </a:tblPr>
              <a:tblGrid>
                <a:gridCol w="901065"/>
                <a:gridCol w="1002665"/>
                <a:gridCol w="614045"/>
                <a:gridCol w="691515"/>
                <a:gridCol w="691515"/>
                <a:gridCol w="734695"/>
                <a:gridCol w="871855"/>
                <a:gridCol w="885825"/>
                <a:gridCol w="779780"/>
                <a:gridCol w="861695"/>
              </a:tblGrid>
              <a:tr h="518160">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I-Mem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D-Mem</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Register</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File</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 Mux</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ALU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Adder</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Single</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gate</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Register</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Read</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Register</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Setup</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Sign</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extend</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Control</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algn="ctr">
                        <a:buNone/>
                      </a:pP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tr>
              <a:tr h="304800">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250 ps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150 ps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25 ps</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200 ps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150 ps</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5 ps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30 ps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20 ps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50 ps </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c>
                  <a:txBody>
                    <a:bodyPr/>
                    <a:p>
                      <a:pPr algn="ctr">
                        <a:buNone/>
                      </a:pPr>
                      <a:r>
                        <a:rPr lang="zh-CN" altLang="en-US" sz="1400" b="1" kern="0" noProof="0" dirty="0" smtClean="0">
                          <a:ln>
                            <a:noFill/>
                          </a:ln>
                          <a:solidFill>
                            <a:schemeClr val="tx1"/>
                          </a:solidFill>
                          <a:effectLst/>
                          <a:uLnTx/>
                          <a:uFillTx/>
                          <a:latin typeface="Times New Roman" panose="02020603050405020304" pitchFamily="18" charset="0"/>
                          <a:cs typeface="Times New Roman" panose="02020603050405020304" pitchFamily="18" charset="0"/>
                          <a:sym typeface="+mn-ea"/>
                        </a:rPr>
                        <a:t>50 ps</a:t>
                      </a:r>
                      <a:endParaRPr kumimoji="0" lang="zh-CN" altLang="en-US" sz="1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b" anchorCtr="0"/>
          <a:p>
            <a:r>
              <a:rPr lang="zh-CN" altLang="en-US" dirty="0"/>
              <a:t>四、</a:t>
            </a:r>
            <a:r>
              <a:rPr lang="zh-CN" altLang="en-US" dirty="0">
                <a:latin typeface="Times New Roman" panose="02020603050405020304" pitchFamily="18" charset="0"/>
              </a:rPr>
              <a:t>关于多周期控制器</a:t>
            </a:r>
            <a:r>
              <a:rPr lang="zh-CN" altLang="en-US" dirty="0"/>
              <a:t>设计 </a:t>
            </a:r>
            <a:endParaRPr lang="zh-CN" altLang="en-US" dirty="0"/>
          </a:p>
        </p:txBody>
      </p:sp>
      <p:sp>
        <p:nvSpPr>
          <p:cNvPr id="3" name="内容占位符 2"/>
          <p:cNvSpPr>
            <a:spLocks noGrp="1"/>
          </p:cNvSpPr>
          <p:nvPr>
            <p:ph idx="1"/>
          </p:nvPr>
        </p:nvSpPr>
        <p:spPr>
          <a:xfrm>
            <a:off x="603250" y="1300163"/>
            <a:ext cx="8145463" cy="4772025"/>
          </a:xfrm>
        </p:spPr>
        <p:txBody>
          <a:bodyPr vert="horz" wrap="square" lIns="91440" tIns="45720" rIns="91440" bIns="45720" numCol="1" anchor="t" anchorCtr="0" compatLnSpc="1"/>
          <a:lstStyle/>
          <a:p>
            <a:pPr marL="266700" marR="0" lvl="0" indent="-266700" algn="l" defTabSz="914400" rtl="0" eaLnBrk="0" fontAlgn="base" latinLnBrk="0" hangingPunct="0">
              <a:lnSpc>
                <a:spcPct val="100000"/>
              </a:lnSpc>
              <a:spcBef>
                <a:spcPts val="600"/>
              </a:spcBef>
              <a:spcAft>
                <a:spcPct val="0"/>
              </a:spcAft>
              <a:buClrTx/>
              <a:buSzTx/>
              <a:buFont typeface="Wingdings" panose="05000000000000000000" pitchFamily="2" charset="2"/>
              <a:buChar char="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把指令执行分成多个阶段，各阶段在一个时钟周期内完成</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1" indent="-260350"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时钟周期以最复杂阶段所花时间为准</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1" indent="-260350"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尽量分成大致相等的若干阶段</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1" indent="-260350"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每个阶段内最多只能完成：</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次访存 或寄存器堆读</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写 或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ALU</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66700" marR="0" lvl="0" indent="-266700" algn="l" defTabSz="914400" rtl="0" eaLnBrk="0" fontAlgn="base" latinLnBrk="0" hangingPunct="0">
              <a:lnSpc>
                <a:spcPct val="100000"/>
              </a:lnSpc>
              <a:spcBef>
                <a:spcPts val="600"/>
              </a:spcBef>
              <a:spcAft>
                <a:spcPct val="0"/>
              </a:spcAft>
              <a:buClrTx/>
              <a:buSzTx/>
              <a:buFont typeface="Wingdings" panose="05000000000000000000" pitchFamily="2" charset="2"/>
              <a:buChar char="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每步都设置相应的存储元件，执行结果都在下个时钟开始保存到相应单元</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66700" marR="0" lvl="0" indent="-266700" algn="l" defTabSz="914400" rtl="0" eaLnBrk="0" fontAlgn="base" latinLnBrk="0" hangingPunct="0">
              <a:lnSpc>
                <a:spcPct val="100000"/>
              </a:lnSpc>
              <a:spcBef>
                <a:spcPts val="600"/>
              </a:spcBef>
              <a:spcAft>
                <a:spcPct val="0"/>
              </a:spcAft>
              <a:buClrTx/>
              <a:buSzTx/>
              <a:buFont typeface="Wingdings" panose="05000000000000000000" pitchFamily="2" charset="2"/>
              <a:buChar char="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不同指令所用周期数可以不同，如：</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1" indent="-260350"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Load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 cycles</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1" indent="-260350"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Jump</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 cycles</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66700" marR="0" lvl="0" indent="-266700" algn="l" defTabSz="914400" rtl="0" eaLnBrk="0" fontAlgn="base" latinLnBrk="0" hangingPunct="0">
              <a:lnSpc>
                <a:spcPct val="100000"/>
              </a:lnSpc>
              <a:spcBef>
                <a:spcPts val="600"/>
              </a:spcBef>
              <a:spcAft>
                <a:spcPct val="0"/>
              </a:spcAft>
              <a:buClrTx/>
              <a:buSzTx/>
              <a:buFont typeface="Wingdings" panose="05000000000000000000" pitchFamily="2" charset="2"/>
              <a:buChar char="p"/>
              <a:defRPr/>
            </a:pP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1" indent="-266700" algn="l" defTabSz="914400" rtl="0" eaLnBrk="0" fontAlgn="base" latinLnBrk="0" hangingPunct="0">
              <a:lnSpc>
                <a:spcPct val="100000"/>
              </a:lnSpc>
              <a:spcBef>
                <a:spcPts val="600"/>
              </a:spcBef>
              <a:spcAft>
                <a:spcPct val="0"/>
              </a:spcAft>
              <a:buClrTx/>
              <a:buSzTx/>
              <a:buFont typeface="Wingdings" panose="05000000000000000000" pitchFamily="2" charset="2"/>
              <a:buChar char="n"/>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4" name="图片 2"/>
          <p:cNvPicPr>
            <a:picLocks noChangeAspect="1"/>
          </p:cNvPicPr>
          <p:nvPr/>
        </p:nvPicPr>
        <p:blipFill>
          <a:blip r:embed="rId1"/>
          <a:stretch>
            <a:fillRect/>
          </a:stretch>
        </p:blipFill>
        <p:spPr>
          <a:xfrm>
            <a:off x="3794125" y="3214688"/>
            <a:ext cx="5278438" cy="3643312"/>
          </a:xfrm>
          <a:prstGeom prst="rect">
            <a:avLst/>
          </a:prstGeom>
          <a:noFill/>
          <a:ln w="9525">
            <a:noFill/>
          </a:ln>
        </p:spPr>
      </p:pic>
      <p:sp>
        <p:nvSpPr>
          <p:cNvPr id="18435" name="矩形 1"/>
          <p:cNvSpPr/>
          <p:nvPr/>
        </p:nvSpPr>
        <p:spPr>
          <a:xfrm>
            <a:off x="571500" y="1143000"/>
            <a:ext cx="8215313" cy="2800350"/>
          </a:xfrm>
          <a:prstGeom prst="rect">
            <a:avLst/>
          </a:prstGeom>
          <a:noFill/>
          <a:ln w="9525">
            <a:noFill/>
          </a:ln>
        </p:spPr>
        <p:txBody>
          <a:bodyPr>
            <a:spAutoFit/>
          </a:bodyPr>
          <a:p>
            <a:pPr>
              <a:buNone/>
            </a:pPr>
            <a:r>
              <a:rPr lang="en-US" altLang="zh-CN" sz="2200" b="1" dirty="0">
                <a:solidFill>
                  <a:srgbClr val="FF0000"/>
                </a:solidFill>
                <a:latin typeface="Times New Roman" panose="02020603050405020304" pitchFamily="18" charset="0"/>
                <a:ea typeface="华文新魏" panose="02010800040101010101" pitchFamily="2" charset="-122"/>
              </a:rPr>
              <a:t>(2009</a:t>
            </a:r>
            <a:r>
              <a:rPr lang="zh-CN" altLang="en-US" sz="2200" b="1" dirty="0">
                <a:solidFill>
                  <a:srgbClr val="FF0000"/>
                </a:solidFill>
                <a:latin typeface="Times New Roman" panose="02020603050405020304" pitchFamily="18" charset="0"/>
                <a:ea typeface="华文新魏" panose="02010800040101010101" pitchFamily="2" charset="-122"/>
              </a:rPr>
              <a:t>年考研题</a:t>
            </a:r>
            <a:r>
              <a:rPr lang="en-US" altLang="zh-CN" sz="2200" b="1" dirty="0">
                <a:solidFill>
                  <a:srgbClr val="FF0000"/>
                </a:solidFill>
                <a:latin typeface="Times New Roman" panose="02020603050405020304" pitchFamily="18" charset="0"/>
                <a:ea typeface="华文新魏" panose="02010800040101010101" pitchFamily="2" charset="-122"/>
              </a:rPr>
              <a:t>)</a:t>
            </a:r>
            <a:r>
              <a:rPr lang="zh-CN" altLang="en-US" sz="2200" b="1" dirty="0">
                <a:latin typeface="Times New Roman" panose="02020603050405020304" pitchFamily="18" charset="0"/>
                <a:ea typeface="华文新魏" panose="02010800040101010101" pitchFamily="2" charset="-122"/>
              </a:rPr>
              <a:t>某计算机字长</a:t>
            </a:r>
            <a:r>
              <a:rPr lang="en-US" altLang="en-US" sz="2200" b="1" dirty="0">
                <a:latin typeface="Times New Roman" panose="02020603050405020304" pitchFamily="18" charset="0"/>
                <a:ea typeface="华文新魏" panose="02010800040101010101" pitchFamily="2" charset="-122"/>
              </a:rPr>
              <a:t>16</a:t>
            </a:r>
            <a:r>
              <a:rPr lang="zh-CN" altLang="en-US" sz="2200" b="1" dirty="0">
                <a:latin typeface="Times New Roman" panose="02020603050405020304" pitchFamily="18" charset="0"/>
                <a:ea typeface="华文新魏" panose="02010800040101010101" pitchFamily="2" charset="-122"/>
              </a:rPr>
              <a:t>位，采用</a:t>
            </a:r>
            <a:r>
              <a:rPr lang="en-US" altLang="en-US" sz="2200" b="1" dirty="0">
                <a:latin typeface="Times New Roman" panose="02020603050405020304" pitchFamily="18" charset="0"/>
                <a:ea typeface="华文新魏" panose="02010800040101010101" pitchFamily="2" charset="-122"/>
              </a:rPr>
              <a:t>16</a:t>
            </a:r>
            <a:r>
              <a:rPr lang="zh-CN" altLang="en-US" sz="2200" b="1" dirty="0">
                <a:latin typeface="Times New Roman" panose="02020603050405020304" pitchFamily="18" charset="0"/>
                <a:ea typeface="华文新魏" panose="02010800040101010101" pitchFamily="2" charset="-122"/>
              </a:rPr>
              <a:t>位定长指令字结构，部分数据通路结构如图所示。图中所有控制信号为</a:t>
            </a:r>
            <a:r>
              <a:rPr lang="en-US" altLang="en-US" sz="2200" b="1" dirty="0">
                <a:latin typeface="Times New Roman" panose="02020603050405020304" pitchFamily="18" charset="0"/>
                <a:ea typeface="华文新魏" panose="02010800040101010101" pitchFamily="2" charset="-122"/>
              </a:rPr>
              <a:t>1</a:t>
            </a:r>
            <a:r>
              <a:rPr lang="zh-CN" altLang="en-US" sz="2200" b="1" dirty="0">
                <a:latin typeface="Times New Roman" panose="02020603050405020304" pitchFamily="18" charset="0"/>
                <a:ea typeface="华文新魏" panose="02010800040101010101" pitchFamily="2" charset="-122"/>
              </a:rPr>
              <a:t>时表示有效、为</a:t>
            </a:r>
            <a:r>
              <a:rPr lang="en-US" altLang="en-US" sz="2200" b="1" dirty="0">
                <a:latin typeface="Times New Roman" panose="02020603050405020304" pitchFamily="18" charset="0"/>
                <a:ea typeface="华文新魏" panose="02010800040101010101" pitchFamily="2" charset="-122"/>
              </a:rPr>
              <a:t>0</a:t>
            </a:r>
            <a:r>
              <a:rPr lang="zh-CN" altLang="en-US" sz="2200" b="1" dirty="0">
                <a:latin typeface="Times New Roman" panose="02020603050405020304" pitchFamily="18" charset="0"/>
                <a:ea typeface="华文新魏" panose="02010800040101010101" pitchFamily="2" charset="-122"/>
              </a:rPr>
              <a:t>时表示无效。例如控制信号</a:t>
            </a:r>
            <a:r>
              <a:rPr lang="en-US" altLang="en-US" sz="2200" b="1" dirty="0">
                <a:latin typeface="Times New Roman" panose="02020603050405020304" pitchFamily="18" charset="0"/>
                <a:ea typeface="华文新魏" panose="02010800040101010101" pitchFamily="2" charset="-122"/>
              </a:rPr>
              <a:t>MDRinE</a:t>
            </a:r>
            <a:r>
              <a:rPr lang="zh-CN" altLang="en-US" sz="2200" b="1" dirty="0">
                <a:latin typeface="Times New Roman" panose="02020603050405020304" pitchFamily="18" charset="0"/>
                <a:ea typeface="华文新魏" panose="02010800040101010101" pitchFamily="2" charset="-122"/>
              </a:rPr>
              <a:t>为</a:t>
            </a:r>
            <a:r>
              <a:rPr lang="en-US" altLang="en-US" sz="2200" b="1" dirty="0">
                <a:latin typeface="Times New Roman" panose="02020603050405020304" pitchFamily="18" charset="0"/>
                <a:ea typeface="华文新魏" panose="02010800040101010101" pitchFamily="2" charset="-122"/>
              </a:rPr>
              <a:t>1</a:t>
            </a:r>
            <a:r>
              <a:rPr lang="zh-CN" altLang="en-US" sz="2200" b="1" dirty="0">
                <a:latin typeface="Times New Roman" panose="02020603050405020304" pitchFamily="18" charset="0"/>
                <a:ea typeface="华文新魏" panose="02010800040101010101" pitchFamily="2" charset="-122"/>
              </a:rPr>
              <a:t>表示允许数据从</a:t>
            </a:r>
            <a:r>
              <a:rPr lang="en-US" altLang="en-US" sz="2200" b="1" dirty="0">
                <a:latin typeface="Times New Roman" panose="02020603050405020304" pitchFamily="18" charset="0"/>
                <a:ea typeface="华文新魏" panose="02010800040101010101" pitchFamily="2" charset="-122"/>
              </a:rPr>
              <a:t>DB</a:t>
            </a:r>
            <a:r>
              <a:rPr lang="zh-CN" altLang="en-US" sz="2200" b="1" dirty="0">
                <a:latin typeface="Times New Roman" panose="02020603050405020304" pitchFamily="18" charset="0"/>
                <a:ea typeface="华文新魏" panose="02010800040101010101" pitchFamily="2" charset="-122"/>
              </a:rPr>
              <a:t>打入</a:t>
            </a:r>
            <a:r>
              <a:rPr lang="en-US" altLang="en-US" sz="2200" b="1" dirty="0">
                <a:latin typeface="Times New Roman" panose="02020603050405020304" pitchFamily="18" charset="0"/>
                <a:ea typeface="华文新魏" panose="02010800040101010101" pitchFamily="2" charset="-122"/>
              </a:rPr>
              <a:t>MDR</a:t>
            </a:r>
            <a:r>
              <a:rPr lang="zh-CN" altLang="en-US"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MDRin</a:t>
            </a:r>
            <a:r>
              <a:rPr lang="zh-CN" altLang="en-US" sz="2200" b="1" dirty="0">
                <a:latin typeface="Times New Roman" panose="02020603050405020304" pitchFamily="18" charset="0"/>
                <a:ea typeface="华文新魏" panose="02010800040101010101" pitchFamily="2" charset="-122"/>
              </a:rPr>
              <a:t>为</a:t>
            </a:r>
            <a:r>
              <a:rPr lang="en-US" altLang="en-US" sz="2200" b="1" dirty="0">
                <a:latin typeface="Times New Roman" panose="02020603050405020304" pitchFamily="18" charset="0"/>
                <a:ea typeface="华文新魏" panose="02010800040101010101" pitchFamily="2" charset="-122"/>
              </a:rPr>
              <a:t>1</a:t>
            </a:r>
            <a:r>
              <a:rPr lang="zh-CN" altLang="en-US" sz="2200" b="1" dirty="0">
                <a:latin typeface="Times New Roman" panose="02020603050405020304" pitchFamily="18" charset="0"/>
                <a:ea typeface="华文新魏" panose="02010800040101010101" pitchFamily="2" charset="-122"/>
              </a:rPr>
              <a:t>表示允许数据从内总线打入</a:t>
            </a:r>
            <a:r>
              <a:rPr lang="en-US" altLang="en-US" sz="2200" b="1" dirty="0">
                <a:latin typeface="Times New Roman" panose="02020603050405020304" pitchFamily="18" charset="0"/>
                <a:ea typeface="华文新魏" panose="02010800040101010101" pitchFamily="2" charset="-122"/>
              </a:rPr>
              <a:t>MDR</a:t>
            </a:r>
            <a:r>
              <a:rPr lang="zh-CN" altLang="en-US" sz="2200" b="1" dirty="0">
                <a:latin typeface="Times New Roman" panose="02020603050405020304" pitchFamily="18" charset="0"/>
                <a:ea typeface="华文新魏" panose="02010800040101010101" pitchFamily="2" charset="-122"/>
              </a:rPr>
              <a:t>。假设</a:t>
            </a:r>
            <a:r>
              <a:rPr lang="en-US" altLang="en-US" sz="2200" b="1" dirty="0">
                <a:latin typeface="Times New Roman" panose="02020603050405020304" pitchFamily="18" charset="0"/>
                <a:ea typeface="华文新魏" panose="02010800040101010101" pitchFamily="2" charset="-122"/>
              </a:rPr>
              <a:t>MAR</a:t>
            </a:r>
            <a:r>
              <a:rPr lang="zh-CN" altLang="en-US" sz="2200" b="1" dirty="0">
                <a:latin typeface="Times New Roman" panose="02020603050405020304" pitchFamily="18" charset="0"/>
                <a:ea typeface="华文新魏" panose="02010800040101010101" pitchFamily="2" charset="-122"/>
              </a:rPr>
              <a:t>的输出一直处于使能状态。加法指令</a:t>
            </a:r>
            <a:r>
              <a:rPr lang="en-US" altLang="en-US" sz="2200" b="1" dirty="0">
                <a:latin typeface="Times New Roman" panose="02020603050405020304" pitchFamily="18" charset="0"/>
                <a:ea typeface="华文新魏" panose="02010800040101010101" pitchFamily="2" charset="-122"/>
              </a:rPr>
              <a:t>“ADD  </a:t>
            </a:r>
            <a:r>
              <a:rPr lang="en-US" altLang="zh-CN"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R1</a:t>
            </a:r>
            <a:r>
              <a:rPr lang="en-US" altLang="zh-CN" sz="2200" b="1" dirty="0">
                <a:latin typeface="Times New Roman" panose="02020603050405020304" pitchFamily="18" charset="0"/>
                <a:ea typeface="华文新魏" panose="02010800040101010101" pitchFamily="2" charset="-122"/>
              </a:rPr>
              <a:t>)</a:t>
            </a:r>
            <a:r>
              <a:rPr lang="zh-CN" altLang="en-US"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R0”</a:t>
            </a:r>
            <a:r>
              <a:rPr lang="zh-CN" altLang="en-US" sz="2200" b="1" dirty="0">
                <a:latin typeface="Times New Roman" panose="02020603050405020304" pitchFamily="18" charset="0"/>
                <a:ea typeface="华文新魏" panose="02010800040101010101" pitchFamily="2" charset="-122"/>
              </a:rPr>
              <a:t>的功能为</a:t>
            </a:r>
            <a:r>
              <a:rPr lang="en-US" altLang="zh-CN"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R0</a:t>
            </a:r>
            <a:r>
              <a:rPr lang="en-US" altLang="zh-CN"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a:t>
            </a:r>
            <a:r>
              <a:rPr lang="en-US" altLang="zh-CN"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R1</a:t>
            </a:r>
            <a:r>
              <a:rPr lang="en-US" altLang="zh-CN"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a:t>
            </a:r>
            <a:r>
              <a:rPr lang="en-US" altLang="zh-CN" sz="2200" b="1" dirty="0">
                <a:latin typeface="Times New Roman" panose="02020603050405020304" pitchFamily="18" charset="0"/>
                <a:ea typeface="华文新魏" panose="02010800040101010101" pitchFamily="2" charset="-122"/>
              </a:rPr>
              <a:t>(</a:t>
            </a:r>
            <a:r>
              <a:rPr lang="en-US" altLang="en-US" sz="2200" b="1" dirty="0">
                <a:latin typeface="Times New Roman" panose="02020603050405020304" pitchFamily="18" charset="0"/>
                <a:ea typeface="华文新魏" panose="02010800040101010101" pitchFamily="2" charset="-122"/>
              </a:rPr>
              <a:t>R1</a:t>
            </a:r>
            <a:r>
              <a:rPr lang="en-US" altLang="zh-CN" sz="2200" b="1" dirty="0">
                <a:latin typeface="Times New Roman" panose="02020603050405020304" pitchFamily="18" charset="0"/>
                <a:ea typeface="华文新魏" panose="02010800040101010101" pitchFamily="2" charset="-122"/>
              </a:rPr>
              <a:t>)</a:t>
            </a:r>
            <a:r>
              <a:rPr lang="zh-CN" altLang="en-US" sz="2200" b="1" dirty="0">
                <a:latin typeface="Times New Roman" panose="02020603050405020304" pitchFamily="18" charset="0"/>
                <a:ea typeface="华文新魏" panose="02010800040101010101" pitchFamily="2" charset="-122"/>
              </a:rPr>
              <a:t>，即将</a:t>
            </a:r>
            <a:r>
              <a:rPr lang="en-US" altLang="en-US" sz="2200" b="1" dirty="0">
                <a:latin typeface="Times New Roman" panose="02020603050405020304" pitchFamily="18" charset="0"/>
                <a:ea typeface="华文新魏" panose="02010800040101010101" pitchFamily="2" charset="-122"/>
              </a:rPr>
              <a:t>R0</a:t>
            </a:r>
            <a:r>
              <a:rPr lang="zh-CN" altLang="en-US" sz="2200" b="1" dirty="0">
                <a:latin typeface="Times New Roman" panose="02020603050405020304" pitchFamily="18" charset="0"/>
                <a:ea typeface="华文新魏" panose="02010800040101010101" pitchFamily="2" charset="-122"/>
              </a:rPr>
              <a:t>中的数据与</a:t>
            </a:r>
            <a:r>
              <a:rPr lang="en-US" altLang="en-US" sz="2200" b="1" dirty="0">
                <a:latin typeface="Times New Roman" panose="02020603050405020304" pitchFamily="18" charset="0"/>
                <a:ea typeface="华文新魏" panose="02010800040101010101" pitchFamily="2" charset="-122"/>
              </a:rPr>
              <a:t>R1</a:t>
            </a:r>
            <a:r>
              <a:rPr lang="zh-CN" altLang="en-US" sz="2200" b="1" dirty="0">
                <a:latin typeface="Times New Roman" panose="02020603050405020304" pitchFamily="18" charset="0"/>
                <a:ea typeface="华文新魏" panose="02010800040101010101" pitchFamily="2" charset="-122"/>
              </a:rPr>
              <a:t>的内容所指主存单元的数据相加，并将结果送入</a:t>
            </a:r>
            <a:r>
              <a:rPr lang="en-US" altLang="en-US" sz="2200" b="1" dirty="0">
                <a:latin typeface="Times New Roman" panose="02020603050405020304" pitchFamily="18" charset="0"/>
                <a:ea typeface="华文新魏" panose="02010800040101010101" pitchFamily="2" charset="-122"/>
              </a:rPr>
              <a:t>R1</a:t>
            </a:r>
            <a:r>
              <a:rPr lang="zh-CN" altLang="en-US" sz="2200" b="1" dirty="0">
                <a:latin typeface="Times New Roman" panose="02020603050405020304" pitchFamily="18" charset="0"/>
                <a:ea typeface="华文新魏" panose="02010800040101010101" pitchFamily="2" charset="-122"/>
              </a:rPr>
              <a:t>的</a:t>
            </a:r>
            <a:endParaRPr lang="en-US" altLang="zh-CN" sz="2200" b="1" dirty="0">
              <a:latin typeface="Times New Roman" panose="02020603050405020304" pitchFamily="18" charset="0"/>
              <a:ea typeface="华文新魏" panose="02010800040101010101" pitchFamily="2" charset="-122"/>
            </a:endParaRPr>
          </a:p>
          <a:p>
            <a:pPr>
              <a:buNone/>
            </a:pPr>
            <a:r>
              <a:rPr lang="zh-CN" altLang="en-US" sz="2200" b="1" dirty="0">
                <a:latin typeface="Times New Roman" panose="02020603050405020304" pitchFamily="18" charset="0"/>
                <a:ea typeface="华文新魏" panose="02010800040101010101" pitchFamily="2" charset="-122"/>
              </a:rPr>
              <a:t>内容所指主存单元中保存。</a:t>
            </a:r>
            <a:endParaRPr lang="zh-CN" altLang="en-US" sz="2200" b="1" dirty="0">
              <a:latin typeface="Times New Roman" panose="02020603050405020304" pitchFamily="18" charset="0"/>
              <a:ea typeface="华文新魏" panose="02010800040101010101" pitchFamily="2" charset="-122"/>
            </a:endParaRPr>
          </a:p>
        </p:txBody>
      </p:sp>
      <p:sp>
        <p:nvSpPr>
          <p:cNvPr id="18436" name="Rectangle 1"/>
          <p:cNvSpPr/>
          <p:nvPr/>
        </p:nvSpPr>
        <p:spPr>
          <a:xfrm>
            <a:off x="571500" y="3881438"/>
            <a:ext cx="3500438" cy="2462212"/>
          </a:xfrm>
          <a:prstGeom prst="rect">
            <a:avLst/>
          </a:prstGeom>
          <a:noFill/>
          <a:ln w="9525">
            <a:noFill/>
          </a:ln>
        </p:spPr>
        <p:txBody>
          <a:bodyPr anchor="ctr" anchorCtr="0">
            <a:spAutoFit/>
          </a:bodyPr>
          <a:p>
            <a:pPr eaLnBrk="0" hangingPunct="0">
              <a:buNone/>
            </a:pPr>
            <a:r>
              <a:rPr lang="zh-CN" altLang="en-US" sz="2200" b="1" dirty="0">
                <a:latin typeface="华文新魏" panose="02010800040101010101" pitchFamily="2" charset="-122"/>
                <a:ea typeface="华文新魏" panose="02010800040101010101" pitchFamily="2" charset="-122"/>
              </a:rPr>
              <a:t>下表给出了上述指令取值和译码阶段每个节拍</a:t>
            </a: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时钟周期</a:t>
            </a: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的功能和有效控制信号，请按表中描述方式用表格列出指令执行阶段每个节拍的功能和有效控制信号。</a:t>
            </a:r>
            <a:endParaRPr lang="zh-CN" altLang="en-US" sz="2200" b="1" dirty="0">
              <a:latin typeface="华文新魏" panose="02010800040101010101" pitchFamily="2" charset="-122"/>
              <a:ea typeface="华文新魏" panose="02010800040101010101" pitchFamily="2" charset="-122"/>
            </a:endParaRPr>
          </a:p>
        </p:txBody>
      </p:sp>
      <p:sp>
        <p:nvSpPr>
          <p:cNvPr id="6" name="标题 1"/>
          <p:cNvSpPr txBox="1"/>
          <p:nvPr/>
        </p:nvSpPr>
        <p:spPr bwMode="auto">
          <a:xfrm>
            <a:off x="574675" y="231775"/>
            <a:ext cx="7021513" cy="676275"/>
          </a:xfrm>
          <a:prstGeom prst="rect">
            <a:avLst/>
          </a:prstGeom>
          <a:noFill/>
          <a:ln w="9525">
            <a:noFill/>
            <a:miter lim="800000"/>
          </a:ln>
        </p:spPr>
        <p:txBody>
          <a:bodyPr anchor="b"/>
          <a:lstStyle/>
          <a:p>
            <a:pPr marR="0" defTabSz="914400">
              <a:buClrTx/>
              <a:buSzTx/>
              <a:buFontTx/>
              <a:buNone/>
              <a:defRPr/>
            </a:pPr>
            <a:r>
              <a:rPr kumimoji="0" lang="zh-CN" altLang="en-US" sz="3600" b="1" kern="0" cap="none" spc="0" normalizeH="0" baseline="0" noProof="0" dirty="0">
                <a:solidFill>
                  <a:schemeClr val="tx2"/>
                </a:solidFill>
                <a:latin typeface="+mj-lt"/>
                <a:ea typeface="+mj-ea"/>
                <a:cs typeface="+mj-cs"/>
              </a:rPr>
              <a:t>多周期控制器设计举例</a:t>
            </a:r>
            <a:endParaRPr kumimoji="0" lang="zh-CN" altLang="en-US" sz="3600" b="1" kern="0" cap="none" spc="0" normalizeH="0" baseline="0" noProof="0" dirty="0">
              <a:solidFill>
                <a:schemeClr val="tx2"/>
              </a:solidFill>
              <a:latin typeface="+mj-lt"/>
              <a:ea typeface="+mj-ea"/>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8" name="Picture 3"/>
          <p:cNvPicPr>
            <a:picLocks noChangeAspect="1"/>
          </p:cNvPicPr>
          <p:nvPr/>
        </p:nvPicPr>
        <p:blipFill>
          <a:blip r:embed="rId1"/>
          <a:stretch>
            <a:fillRect/>
          </a:stretch>
        </p:blipFill>
        <p:spPr>
          <a:xfrm>
            <a:off x="5143500" y="0"/>
            <a:ext cx="4071938" cy="3714750"/>
          </a:xfrm>
          <a:prstGeom prst="rect">
            <a:avLst/>
          </a:prstGeom>
          <a:noFill/>
          <a:ln w="9525">
            <a:noFill/>
          </a:ln>
        </p:spPr>
      </p:pic>
      <p:sp>
        <p:nvSpPr>
          <p:cNvPr id="6" name="标题 1"/>
          <p:cNvSpPr txBox="1"/>
          <p:nvPr/>
        </p:nvSpPr>
        <p:spPr bwMode="auto">
          <a:xfrm>
            <a:off x="574675" y="231775"/>
            <a:ext cx="7021513" cy="676275"/>
          </a:xfrm>
          <a:prstGeom prst="rect">
            <a:avLst/>
          </a:prstGeom>
          <a:noFill/>
          <a:ln w="9525">
            <a:noFill/>
            <a:miter lim="800000"/>
          </a:ln>
        </p:spPr>
        <p:txBody>
          <a:bodyPr anchor="b"/>
          <a:lstStyle/>
          <a:p>
            <a:pPr marR="0" defTabSz="914400">
              <a:buClrTx/>
              <a:buSzTx/>
              <a:buFontTx/>
              <a:buNone/>
              <a:defRPr/>
            </a:pPr>
            <a:r>
              <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rPr>
              <a:t>多周期控制器设计举例</a:t>
            </a:r>
            <a:endPar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endParaRPr>
          </a:p>
        </p:txBody>
      </p:sp>
      <p:graphicFrame>
        <p:nvGraphicFramePr>
          <p:cNvPr id="8" name="表格 7"/>
          <p:cNvGraphicFramePr>
            <a:graphicFrameLocks noGrp="1"/>
          </p:cNvGraphicFramePr>
          <p:nvPr/>
        </p:nvGraphicFramePr>
        <p:xfrm>
          <a:off x="642938" y="3679825"/>
          <a:ext cx="6500858" cy="2463800"/>
        </p:xfrm>
        <a:graphic>
          <a:graphicData uri="http://schemas.openxmlformats.org/drawingml/2006/table">
            <a:tbl>
              <a:tblPr firstRow="1" bandRow="1">
                <a:tableStyleId>{5C22544A-7EE6-4342-B048-85BDC9FD1C3A}</a:tableStyleId>
              </a:tblPr>
              <a:tblGrid>
                <a:gridCol w="1643074"/>
                <a:gridCol w="2428892"/>
                <a:gridCol w="2428892"/>
              </a:tblGrid>
              <a:tr h="370840">
                <a:tc>
                  <a:txBody>
                    <a:bodyPr/>
                    <a:lstStyle/>
                    <a:p>
                      <a:pPr algn="ctr">
                        <a:spcAft>
                          <a:spcPts val="0"/>
                        </a:spcAft>
                      </a:pPr>
                      <a:r>
                        <a:rPr lang="zh-CN" sz="2000" b="1" kern="100" dirty="0">
                          <a:latin typeface="Times New Roman" panose="02020603050405020304" pitchFamily="18" charset="0"/>
                          <a:ea typeface="+mn-ea"/>
                          <a:cs typeface="Times New Roman" panose="02020603050405020304" pitchFamily="18" charset="0"/>
                        </a:rPr>
                        <a:t>时钟</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zh-CN" sz="2000" b="1" kern="100" dirty="0">
                          <a:latin typeface="Times New Roman" panose="02020603050405020304" pitchFamily="18" charset="0"/>
                          <a:ea typeface="+mn-ea"/>
                          <a:cs typeface="Times New Roman" panose="02020603050405020304" pitchFamily="18" charset="0"/>
                        </a:rPr>
                        <a:t>功能</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zh-CN" sz="2000" b="1" kern="100">
                          <a:latin typeface="Times New Roman" panose="02020603050405020304" pitchFamily="18" charset="0"/>
                          <a:ea typeface="+mn-ea"/>
                          <a:cs typeface="Times New Roman" panose="02020603050405020304" pitchFamily="18" charset="0"/>
                        </a:rPr>
                        <a:t>有效控制信号</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r>
              <a:tr h="370840">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C5</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dirty="0">
                          <a:latin typeface="Times New Roman" panose="02020603050405020304" pitchFamily="18" charset="0"/>
                          <a:ea typeface="+mn-ea"/>
                          <a:cs typeface="Times New Roman" panose="02020603050405020304" pitchFamily="18" charset="0"/>
                        </a:rPr>
                        <a:t>MAR</a:t>
                      </a:r>
                      <a:r>
                        <a:rPr lang="zh-CN" sz="2000" b="1" kern="100" dirty="0">
                          <a:latin typeface="Times New Roman" panose="02020603050405020304" pitchFamily="18" charset="0"/>
                          <a:ea typeface="+mn-ea"/>
                          <a:cs typeface="Times New Roman" panose="02020603050405020304" pitchFamily="18" charset="0"/>
                        </a:rPr>
                        <a:t>←</a:t>
                      </a:r>
                      <a:r>
                        <a:rPr lang="en-US" sz="2000" b="1" kern="100" dirty="0">
                          <a:latin typeface="Times New Roman" panose="02020603050405020304" pitchFamily="18" charset="0"/>
                          <a:ea typeface="+mn-ea"/>
                          <a:cs typeface="Times New Roman" panose="02020603050405020304" pitchFamily="18" charset="0"/>
                        </a:rPr>
                        <a:t>(R1)</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R1out,MARin</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r>
              <a:tr h="370840">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C6</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dirty="0">
                          <a:latin typeface="Times New Roman" panose="02020603050405020304" pitchFamily="18" charset="0"/>
                          <a:ea typeface="+mn-ea"/>
                          <a:cs typeface="Times New Roman" panose="02020603050405020304" pitchFamily="18" charset="0"/>
                        </a:rPr>
                        <a:t>MDR</a:t>
                      </a:r>
                      <a:r>
                        <a:rPr lang="zh-CN" sz="2000" b="1" kern="100" dirty="0">
                          <a:latin typeface="Times New Roman" panose="02020603050405020304" pitchFamily="18" charset="0"/>
                          <a:ea typeface="+mn-ea"/>
                          <a:cs typeface="Times New Roman" panose="02020603050405020304" pitchFamily="18" charset="0"/>
                        </a:rPr>
                        <a:t>←</a:t>
                      </a:r>
                      <a:r>
                        <a:rPr lang="en-US" sz="2000" b="1" kern="100" dirty="0">
                          <a:latin typeface="Times New Roman" panose="02020603050405020304" pitchFamily="18" charset="0"/>
                          <a:ea typeface="+mn-ea"/>
                          <a:cs typeface="Times New Roman" panose="02020603050405020304" pitchFamily="18" charset="0"/>
                        </a:rPr>
                        <a:t>M(MAR)</a:t>
                      </a:r>
                      <a:endParaRPr lang="zh-CN" sz="2000" b="1" kern="100" dirty="0">
                        <a:latin typeface="Times New Roman" panose="02020603050405020304" pitchFamily="18" charset="0"/>
                        <a:ea typeface="+mn-ea"/>
                        <a:cs typeface="Times New Roman" panose="02020603050405020304" pitchFamily="18" charset="0"/>
                      </a:endParaRPr>
                    </a:p>
                    <a:p>
                      <a:pPr algn="ctr">
                        <a:spcAft>
                          <a:spcPts val="0"/>
                        </a:spcAft>
                      </a:pPr>
                      <a:r>
                        <a:rPr lang="en-US" sz="2000" b="1" kern="100" dirty="0">
                          <a:latin typeface="Times New Roman" panose="02020603050405020304" pitchFamily="18" charset="0"/>
                          <a:ea typeface="+mn-ea"/>
                          <a:cs typeface="Times New Roman" panose="02020603050405020304" pitchFamily="18" charset="0"/>
                        </a:rPr>
                        <a:t>A</a:t>
                      </a:r>
                      <a:r>
                        <a:rPr lang="zh-CN" sz="2000" b="1" kern="100" dirty="0">
                          <a:latin typeface="Times New Roman" panose="02020603050405020304" pitchFamily="18" charset="0"/>
                          <a:ea typeface="+mn-ea"/>
                          <a:cs typeface="Times New Roman" panose="02020603050405020304" pitchFamily="18" charset="0"/>
                        </a:rPr>
                        <a:t>←</a:t>
                      </a:r>
                      <a:r>
                        <a:rPr lang="en-US" sz="2000" b="1" kern="100" dirty="0">
                          <a:latin typeface="Times New Roman" panose="02020603050405020304" pitchFamily="18" charset="0"/>
                          <a:ea typeface="+mn-ea"/>
                          <a:cs typeface="Times New Roman" panose="02020603050405020304" pitchFamily="18" charset="0"/>
                        </a:rPr>
                        <a:t>(R0)</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dirty="0">
                          <a:latin typeface="Times New Roman" panose="02020603050405020304" pitchFamily="18" charset="0"/>
                          <a:ea typeface="+mn-ea"/>
                          <a:cs typeface="Times New Roman" panose="02020603050405020304" pitchFamily="18" charset="0"/>
                        </a:rPr>
                        <a:t>MemR,MDRinE</a:t>
                      </a:r>
                      <a:endParaRPr lang="zh-CN" sz="2000" b="1" kern="100" dirty="0">
                        <a:latin typeface="Times New Roman" panose="02020603050405020304" pitchFamily="18" charset="0"/>
                        <a:ea typeface="+mn-ea"/>
                        <a:cs typeface="Times New Roman" panose="02020603050405020304" pitchFamily="18" charset="0"/>
                      </a:endParaRPr>
                    </a:p>
                    <a:p>
                      <a:pPr algn="ctr">
                        <a:spcAft>
                          <a:spcPts val="0"/>
                        </a:spcAft>
                      </a:pPr>
                      <a:r>
                        <a:rPr lang="en-US" sz="2000" b="1" kern="100" dirty="0">
                          <a:latin typeface="Times New Roman" panose="02020603050405020304" pitchFamily="18" charset="0"/>
                          <a:ea typeface="+mn-ea"/>
                          <a:cs typeface="Times New Roman" panose="02020603050405020304" pitchFamily="18" charset="0"/>
                        </a:rPr>
                        <a:t>R0out,Ain</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r>
              <a:tr h="370840">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C7</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AC</a:t>
                      </a:r>
                      <a:r>
                        <a:rPr lang="zh-CN" sz="2000" b="1" kern="100">
                          <a:latin typeface="Times New Roman" panose="02020603050405020304" pitchFamily="18" charset="0"/>
                          <a:ea typeface="+mn-ea"/>
                          <a:cs typeface="Times New Roman" panose="02020603050405020304" pitchFamily="18" charset="0"/>
                        </a:rPr>
                        <a:t>←</a:t>
                      </a:r>
                      <a:r>
                        <a:rPr lang="en-US" sz="2000" b="1" kern="100">
                          <a:latin typeface="Times New Roman" panose="02020603050405020304" pitchFamily="18" charset="0"/>
                          <a:ea typeface="+mn-ea"/>
                          <a:cs typeface="Times New Roman" panose="02020603050405020304" pitchFamily="18" charset="0"/>
                        </a:rPr>
                        <a:t>(MDR)+(A)</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dirty="0">
                          <a:latin typeface="Times New Roman" panose="02020603050405020304" pitchFamily="18" charset="0"/>
                          <a:ea typeface="+mn-ea"/>
                          <a:cs typeface="Times New Roman" panose="02020603050405020304" pitchFamily="18" charset="0"/>
                        </a:rPr>
                        <a:t>MDRout,Add,ACin</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r>
              <a:tr h="370840">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C8</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MDR</a:t>
                      </a:r>
                      <a:r>
                        <a:rPr lang="zh-CN" sz="2000" b="1" kern="100">
                          <a:latin typeface="Times New Roman" panose="02020603050405020304" pitchFamily="18" charset="0"/>
                          <a:ea typeface="+mn-ea"/>
                          <a:cs typeface="Times New Roman" panose="02020603050405020304" pitchFamily="18" charset="0"/>
                        </a:rPr>
                        <a:t>←</a:t>
                      </a:r>
                      <a:r>
                        <a:rPr lang="en-US" sz="2000" b="1" kern="100">
                          <a:latin typeface="Times New Roman" panose="02020603050405020304" pitchFamily="18" charset="0"/>
                          <a:ea typeface="+mn-ea"/>
                          <a:cs typeface="Times New Roman" panose="02020603050405020304" pitchFamily="18" charset="0"/>
                        </a:rPr>
                        <a:t>(AC)</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dirty="0">
                          <a:latin typeface="Times New Roman" panose="02020603050405020304" pitchFamily="18" charset="0"/>
                          <a:ea typeface="+mn-ea"/>
                          <a:cs typeface="Times New Roman" panose="02020603050405020304" pitchFamily="18" charset="0"/>
                        </a:rPr>
                        <a:t>ACout,MDRin</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r>
              <a:tr h="370840">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C9</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a:latin typeface="Times New Roman" panose="02020603050405020304" pitchFamily="18" charset="0"/>
                          <a:ea typeface="+mn-ea"/>
                          <a:cs typeface="Times New Roman" panose="02020603050405020304" pitchFamily="18" charset="0"/>
                        </a:rPr>
                        <a:t>M(MAR)</a:t>
                      </a:r>
                      <a:r>
                        <a:rPr lang="zh-CN" sz="2000" b="1" kern="100">
                          <a:latin typeface="Times New Roman" panose="02020603050405020304" pitchFamily="18" charset="0"/>
                          <a:ea typeface="+mn-ea"/>
                          <a:cs typeface="Times New Roman" panose="02020603050405020304" pitchFamily="18" charset="0"/>
                        </a:rPr>
                        <a:t>←</a:t>
                      </a:r>
                      <a:r>
                        <a:rPr lang="en-US" sz="2000" b="1" kern="100">
                          <a:latin typeface="Times New Roman" panose="02020603050405020304" pitchFamily="18" charset="0"/>
                          <a:ea typeface="+mn-ea"/>
                          <a:cs typeface="Times New Roman" panose="02020603050405020304" pitchFamily="18" charset="0"/>
                        </a:rPr>
                        <a:t>(MDR)</a:t>
                      </a:r>
                      <a:endParaRPr lang="zh-CN" sz="2000" b="1" kern="100">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ctr">
                        <a:spcAft>
                          <a:spcPts val="0"/>
                        </a:spcAft>
                      </a:pPr>
                      <a:r>
                        <a:rPr lang="en-US" sz="2000" b="1" kern="100" dirty="0">
                          <a:latin typeface="Times New Roman" panose="02020603050405020304" pitchFamily="18" charset="0"/>
                          <a:ea typeface="+mn-ea"/>
                          <a:cs typeface="Times New Roman" panose="02020603050405020304" pitchFamily="18" charset="0"/>
                        </a:rPr>
                        <a:t>MDRoutE,MemW</a:t>
                      </a:r>
                      <a:endParaRPr lang="zh-CN" sz="2000" b="1" kern="100" dirty="0">
                        <a:latin typeface="Times New Roman" panose="02020603050405020304" pitchFamily="18" charset="0"/>
                        <a:ea typeface="+mn-ea"/>
                        <a:cs typeface="Times New Roman" panose="02020603050405020304" pitchFamily="18" charset="0"/>
                      </a:endParaRPr>
                    </a:p>
                  </a:txBody>
                  <a:tcPr marL="68580" marR="68580" marT="0" marB="0"/>
                </a:tc>
              </a:tr>
            </a:tbl>
          </a:graphicData>
        </a:graphic>
      </p:graphicFrame>
      <p:pic>
        <p:nvPicPr>
          <p:cNvPr id="19490" name="Picture 2"/>
          <p:cNvPicPr>
            <a:picLocks noChangeAspect="1"/>
          </p:cNvPicPr>
          <p:nvPr/>
        </p:nvPicPr>
        <p:blipFill>
          <a:blip r:embed="rId2"/>
          <a:stretch>
            <a:fillRect/>
          </a:stretch>
        </p:blipFill>
        <p:spPr>
          <a:xfrm>
            <a:off x="614363" y="1214438"/>
            <a:ext cx="4643437" cy="24288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txBox="1"/>
          <p:nvPr/>
        </p:nvSpPr>
        <p:spPr bwMode="auto">
          <a:xfrm>
            <a:off x="574675" y="231775"/>
            <a:ext cx="7021513" cy="676275"/>
          </a:xfrm>
          <a:prstGeom prst="rect">
            <a:avLst/>
          </a:prstGeom>
          <a:noFill/>
          <a:ln w="9525">
            <a:noFill/>
            <a:miter lim="800000"/>
          </a:ln>
        </p:spPr>
        <p:txBody>
          <a:bodyPr anchor="b"/>
          <a:lstStyle/>
          <a:p>
            <a:pPr marR="0" defTabSz="914400">
              <a:buClrTx/>
              <a:buSzTx/>
              <a:buFontTx/>
              <a:buNone/>
              <a:defRPr/>
            </a:pPr>
            <a:r>
              <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rPr>
              <a:t>多周期控制器设计举例</a:t>
            </a:r>
            <a:endPar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endParaRPr>
          </a:p>
        </p:txBody>
      </p:sp>
      <p:sp>
        <p:nvSpPr>
          <p:cNvPr id="7" name="矩形 6"/>
          <p:cNvSpPr/>
          <p:nvPr/>
        </p:nvSpPr>
        <p:spPr>
          <a:xfrm>
            <a:off x="571500" y="1214438"/>
            <a:ext cx="8215313" cy="51704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(2015</a:t>
            </a:r>
            <a:r>
              <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年考研题</a:t>
            </a:r>
            <a:r>
              <a:rPr kumimoji="0" lang="en-US" altLang="zh-CN" sz="2200" b="1" i="0" u="none" strike="noStrike" kern="120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某</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16</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位计算机主存按字节编址。存取单位为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16</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位；采用</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16</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位定长指令格式；</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CPU</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采用单总线结构，主要部分如下图所示。图中</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R0~R3</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为通用寄存器；</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为暂存器；</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SR</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为移位寄存器，可实现直送</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(mov)</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、左移一位</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(left)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、右移一位</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(right)3</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种操作，控制信号为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SRop</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SR</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的输出信号</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SRout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控制；</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ALU</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可实现直送</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A(mova)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加</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B(add)</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减</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B(sub)</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与</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B(and)</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或</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B(or)</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、非</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A(not)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加</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1(inc)7</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种操作，控制信号为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ALUop</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。请回答下列问题：</a:t>
            </a:r>
            <a:endPar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536575" marR="0" lvl="0" indent="-36195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图中哪些寄存器是程序员可见的？为何要设置暂存器</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 </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控制信号</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ALUop</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SRop</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的位数至少各是多少？</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 </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控制信号</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SRout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所控制部件的名称或作用是什么？</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 </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端点①</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~⑨</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中，哪些端点须连接到控制部件的输出端？</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 </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为完善单总线数据通路，需要在端点①</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~⑨</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中相应的端点之间添加必要的连线。写出连线的起点和终点，以正确表示数据的流动方向。</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 </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为什么二路选择器</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MUX</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的一个输入端是</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txBox="1"/>
          <p:nvPr/>
        </p:nvSpPr>
        <p:spPr bwMode="auto">
          <a:xfrm>
            <a:off x="574675" y="231775"/>
            <a:ext cx="7021513" cy="676275"/>
          </a:xfrm>
          <a:prstGeom prst="rect">
            <a:avLst/>
          </a:prstGeom>
          <a:noFill/>
          <a:ln w="9525">
            <a:noFill/>
            <a:miter lim="800000"/>
          </a:ln>
        </p:spPr>
        <p:txBody>
          <a:bodyPr anchor="b"/>
          <a:lstStyle/>
          <a:p>
            <a:pPr marR="0" defTabSz="914400">
              <a:buClrTx/>
              <a:buSzTx/>
              <a:buFontTx/>
              <a:buNone/>
              <a:defRPr/>
            </a:pPr>
            <a:r>
              <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rPr>
              <a:t>多周期控制器设计举例</a:t>
            </a:r>
            <a:endPar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endParaRPr>
          </a:p>
        </p:txBody>
      </p:sp>
      <p:pic>
        <p:nvPicPr>
          <p:cNvPr id="21507" name="图片 3"/>
          <p:cNvPicPr>
            <a:picLocks noChangeAspect="1"/>
          </p:cNvPicPr>
          <p:nvPr/>
        </p:nvPicPr>
        <p:blipFill>
          <a:blip r:embed="rId1"/>
          <a:stretch>
            <a:fillRect/>
          </a:stretch>
        </p:blipFill>
        <p:spPr>
          <a:xfrm>
            <a:off x="142875" y="1285875"/>
            <a:ext cx="8818245" cy="485775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txBox="1"/>
          <p:nvPr/>
        </p:nvSpPr>
        <p:spPr bwMode="auto">
          <a:xfrm>
            <a:off x="574675" y="231775"/>
            <a:ext cx="7021513" cy="676275"/>
          </a:xfrm>
          <a:prstGeom prst="rect">
            <a:avLst/>
          </a:prstGeom>
          <a:noFill/>
          <a:ln w="9525">
            <a:noFill/>
            <a:miter lim="800000"/>
          </a:ln>
        </p:spPr>
        <p:txBody>
          <a:bodyPr anchor="b"/>
          <a:lstStyle/>
          <a:p>
            <a:pPr marR="0" defTabSz="914400">
              <a:buClrTx/>
              <a:buSzTx/>
              <a:buFontTx/>
              <a:buNone/>
              <a:defRPr/>
            </a:pPr>
            <a:r>
              <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rPr>
              <a:t>多周期控制器设计举例</a:t>
            </a:r>
            <a:endParaRPr kumimoji="0" lang="zh-CN" altLang="en-US" sz="3600" b="1" kern="0" cap="none" spc="0" normalizeH="0" baseline="0" noProof="0" dirty="0">
              <a:solidFill>
                <a:srgbClr val="000000"/>
              </a:solidFill>
              <a:latin typeface="Arial" panose="020B0604020202020204"/>
              <a:ea typeface="隶书" panose="02010509060101010101" pitchFamily="49" charset="-122"/>
              <a:cs typeface="+mn-cs"/>
            </a:endParaRPr>
          </a:p>
        </p:txBody>
      </p:sp>
      <p:sp>
        <p:nvSpPr>
          <p:cNvPr id="50177" name="Rectangle 1"/>
          <p:cNvSpPr>
            <a:spLocks noChangeArrowheads="1"/>
          </p:cNvSpPr>
          <p:nvPr/>
        </p:nvSpPr>
        <p:spPr bwMode="auto">
          <a:xfrm>
            <a:off x="500063" y="1367949"/>
            <a:ext cx="8358188" cy="5001895"/>
          </a:xfrm>
          <a:prstGeom prst="rect">
            <a:avLst/>
          </a:prstGeom>
          <a:noFill/>
          <a:ln w="9525">
            <a:noFill/>
            <a:miter lim="800000"/>
          </a:ln>
          <a:effectLst/>
        </p:spPr>
        <p:txBody>
          <a:bodyPr anchor="ctr">
            <a:spAutoFit/>
          </a:bodyPr>
          <a:lstStyle/>
          <a:p>
            <a:pPr marL="449580" marR="0" lvl="0" indent="-449580" algn="l" defTabSz="914400" rtl="0" eaLnBrk="0" fontAlgn="base" latinLnBrk="0" hangingPunct="0">
              <a:lnSpc>
                <a:spcPct val="95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解：</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 </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图中程序员可见的寄存器有通用寄存器</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R0~R3</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和程序计数器</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PC</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；由于采用单总线结构，故若无暂存器</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，则</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ALU</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B</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端口会同时获得两个相同的数据，使数据通路不能正常工作</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449580" marR="0" lvl="0" indent="-274955" algn="l" defTabSz="914400" rtl="0" eaLnBrk="0" fontAlgn="base" latinLnBrk="0" hangingPunct="0">
              <a:lnSpc>
                <a:spcPct val="95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 ALU</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共有</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7</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种操作，故其操作控制信号</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ALUop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至少需要</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位；移位寄存器有</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种操作，其操作控制信号</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SRop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至少需要</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位</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49580" marR="0" lvl="0" indent="-274955" algn="l" defTabSz="914400" rtl="0" eaLnBrk="0" fontAlgn="base" latinLnBrk="0" hangingPunct="0">
              <a:lnSpc>
                <a:spcPct val="95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信号</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SRout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所控制的部件是一个三态门，用于控制移位器与总线之间数据通路的连接与断开</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49580" marR="0" lvl="0" indent="-274955" algn="l" defTabSz="914400" rtl="0" eaLnBrk="0" fontAlgn="base" latinLnBrk="0" hangingPunct="0">
              <a:lnSpc>
                <a:spcPct val="95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端口①</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②③</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⑤⑧须连接到控制部件的相应输出端</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49580" marR="0" lvl="0" indent="-274955" algn="l" defTabSz="914400" rtl="0" eaLnBrk="0" fontAlgn="base" latinLnBrk="0" hangingPunct="0">
              <a:lnSpc>
                <a:spcPct val="95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连线</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，⑥→⑨；连线</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，⑦→④</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49580" marR="0" lvl="0" indent="-274955" algn="l" defTabSz="914400" rtl="0" eaLnBrk="0" fontAlgn="base" latinLnBrk="0" hangingPunct="0">
              <a:lnSpc>
                <a:spcPct val="95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每条指令的长度为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位，按字节编址，故每条指令占用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个内存单元，顺序执行时，下条指令地址为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(PC)+2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MUX</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的一个输入端为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，便于执行</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(PC)+2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操作</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wrap="square" lIns="91440" tIns="45720" rIns="91440" bIns="45720" anchor="b" anchorCtr="0"/>
          <a:p>
            <a:r>
              <a:rPr lang="zh-CN" altLang="en-US" dirty="0"/>
              <a:t>五、关于流水线问题</a:t>
            </a:r>
            <a:endParaRPr lang="zh-CN" altLang="en-US" dirty="0"/>
          </a:p>
        </p:txBody>
      </p:sp>
      <p:sp>
        <p:nvSpPr>
          <p:cNvPr id="20483" name="内容占位符 2"/>
          <p:cNvSpPr>
            <a:spLocks noGrp="1"/>
          </p:cNvSpPr>
          <p:nvPr>
            <p:ph idx="1"/>
          </p:nvPr>
        </p:nvSpPr>
        <p:spPr>
          <a:xfrm>
            <a:off x="539750" y="1198245"/>
            <a:ext cx="8328660" cy="4772025"/>
          </a:xfrm>
        </p:spPr>
        <p:txBody>
          <a:bodyPr vert="horz" wrap="square" lIns="91440" tIns="45720" rIns="91440" bIns="45720" numCol="1" anchor="t" anchorCtr="0" compatLnSpc="1"/>
          <a:lstStyle/>
          <a:p>
            <a:pPr marL="262255" marR="0" lvl="0" indent="-262255" algn="l" defTabSz="914400" rtl="0" eaLnBrk="0" fontAlgn="base" latinLnBrk="0" hangingPunct="0">
              <a:lnSpc>
                <a:spcPct val="95000"/>
              </a:lnSpc>
              <a:spcBef>
                <a:spcPts val="0"/>
              </a:spcBef>
              <a:spcAft>
                <a:spcPts val="0"/>
              </a:spcAft>
              <a:buClr>
                <a:schemeClr val="tx2"/>
              </a:buClr>
              <a:buSzTx/>
              <a:buFont typeface="Wingdings" panose="05000000000000000000" pitchFamily="2" charset="2"/>
              <a:buChar char="p"/>
              <a:defRPr/>
            </a:pPr>
            <a:r>
              <a:rPr kumimoji="0" lang="zh-CN" altLang="en-US" sz="2400" b="1" i="0" u="none" strike="noStrike" kern="0" cap="none" spc="0" normalizeH="0" baseline="0" noProof="0" dirty="0" smtClean="0">
                <a:ln>
                  <a:noFill/>
                </a:ln>
                <a:solidFill>
                  <a:srgbClr val="FF0000"/>
                </a:solidFill>
                <a:effectLst/>
                <a:uLnTx/>
                <a:uFillTx/>
                <a:latin typeface="+mn-lt"/>
                <a:ea typeface="+mn-ea"/>
                <a:cs typeface="Arial" panose="020B0604020202020204" pitchFamily="34" charset="0"/>
              </a:rPr>
              <a:t>流水线</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是一种用于开发顺序指令流中指令间并行性的技术，即</a:t>
            </a:r>
            <a:r>
              <a:rPr kumimoji="0" lang="zh-CN" altLang="en-US" sz="2400" b="1" i="0" u="none" strike="noStrike" kern="0" cap="none" spc="0" normalizeH="0" baseline="0" noProof="0" dirty="0" smtClean="0">
                <a:ln>
                  <a:noFill/>
                </a:ln>
                <a:solidFill>
                  <a:schemeClr val="tx2"/>
                </a:solidFill>
                <a:effectLst/>
                <a:uLnTx/>
                <a:uFillTx/>
                <a:latin typeface="+mn-lt"/>
                <a:ea typeface="+mn-ea"/>
                <a:cs typeface="Arial" panose="020B0604020202020204" pitchFamily="34" charset="0"/>
              </a:rPr>
              <a:t>将多条指令的执行过程相互重叠的一种实现技巧，</a:t>
            </a:r>
            <a:r>
              <a:rPr kumimoji="0" lang="zh-CN" altLang="en-US" sz="2400" b="1" i="0" u="none" strike="noStrike" kern="0" cap="none" spc="0" normalizeH="0" baseline="0" noProof="0" dirty="0" smtClean="0">
                <a:ln>
                  <a:noFill/>
                </a:ln>
                <a:solidFill>
                  <a:schemeClr val="tx2"/>
                </a:solidFill>
                <a:effectLst/>
                <a:uLnTx/>
                <a:uFillTx/>
                <a:latin typeface="Times New Roman" panose="02020603050405020304" pitchFamily="18" charset="0"/>
                <a:ea typeface="+mn-ea"/>
                <a:cs typeface="Times New Roman" panose="02020603050405020304" pitchFamily="18" charset="0"/>
              </a:rPr>
              <a:t>使</a:t>
            </a:r>
            <a:r>
              <a:rPr kumimoji="0" lang="en-US" altLang="zh-CN" sz="2400" b="1" i="0" u="none" strike="noStrike" kern="0" cap="none" spc="0" normalizeH="0" baseline="0" noProof="0" dirty="0" smtClean="0">
                <a:ln>
                  <a:noFill/>
                </a:ln>
                <a:solidFill>
                  <a:schemeClr val="tx2"/>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0" cap="none" spc="0" normalizeH="0" baseline="0" noProof="0" dirty="0" smtClean="0">
                <a:ln>
                  <a:noFill/>
                </a:ln>
                <a:solidFill>
                  <a:schemeClr val="tx2"/>
                </a:solidFill>
                <a:effectLst/>
                <a:uLnTx/>
                <a:uFillTx/>
                <a:latin typeface="Times New Roman" panose="02020603050405020304" pitchFamily="18" charset="0"/>
                <a:ea typeface="+mn-ea"/>
                <a:cs typeface="Times New Roman" panose="02020603050405020304" pitchFamily="18" charset="0"/>
              </a:rPr>
              <a:t>可以</a:t>
            </a:r>
            <a:r>
              <a:rPr kumimoji="0" lang="zh-CN" altLang="en-US" sz="2400" b="1" i="0" u="none" strike="noStrike" kern="0" cap="none" spc="0" normalizeH="0" baseline="0" noProof="0" dirty="0" smtClean="0">
                <a:ln>
                  <a:noFill/>
                </a:ln>
                <a:solidFill>
                  <a:schemeClr val="tx2"/>
                </a:solidFill>
                <a:effectLst/>
                <a:uLnTx/>
                <a:uFillTx/>
                <a:latin typeface="+mn-lt"/>
                <a:ea typeface="+mn-ea"/>
                <a:cs typeface="Arial" panose="020B0604020202020204" pitchFamily="34" charset="0"/>
              </a:rPr>
              <a:t>并行执行多条指令来提高指令吞吐率</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0" fontAlgn="base" latinLnBrk="0" hangingPunct="0">
              <a:lnSpc>
                <a:spcPct val="95000"/>
              </a:lnSpc>
              <a:spcBef>
                <a:spcPts val="0"/>
              </a:spcBef>
              <a:spcAft>
                <a:spcPts val="0"/>
              </a:spcAft>
              <a:buClrTx/>
              <a:buSzTx/>
              <a:buFont typeface="Wingdings" panose="05000000000000000000" pitchFamily="2" charset="2"/>
              <a:buChar char="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以</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Load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指令为准，指令流水线分为五个阶段</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五级流水</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49580" marR="0" lvl="1" indent="-90805"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取指令段</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(IF)</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09625" marR="0" lvl="2" indent="-179705" algn="l" defTabSz="914400" rtl="0" eaLnBrk="0" fontAlgn="base" latinLnBrk="0" hangingPunct="0">
              <a:lnSpc>
                <a:spcPct val="95000"/>
              </a:lnSpc>
              <a:spcBef>
                <a:spcPts val="0"/>
              </a:spcBef>
              <a:spcAft>
                <a:spcPts val="0"/>
              </a:spcAft>
              <a:buClr>
                <a:schemeClr val="tx2"/>
              </a:buClr>
              <a:buSzPct val="80000"/>
              <a:buFont typeface="Wingdings" panose="05000000000000000000" pitchFamily="2" charset="2"/>
              <a:buChar char="l"/>
              <a:defRPr/>
            </a:pP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取指令、计算</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PC+4</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(IUnit</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Instruction Memory</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Adder)</a:t>
            </a:r>
            <a:endPar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449580" marR="0" lvl="1" indent="-90805"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译码</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读寄存器</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(ID/RF)</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段</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09625" marR="0" lvl="2" indent="-179705" algn="l" defTabSz="914400" rtl="0" eaLnBrk="0" fontAlgn="base" latinLnBrk="0" hangingPunct="0">
              <a:lnSpc>
                <a:spcPct val="95000"/>
              </a:lnSpc>
              <a:spcBef>
                <a:spcPts val="0"/>
              </a:spcBef>
              <a:spcAft>
                <a:spcPts val="0"/>
              </a:spcAft>
              <a:buClr>
                <a:schemeClr val="tx2"/>
              </a:buClr>
              <a:buSzPct val="80000"/>
              <a:buFont typeface="Wingdings" panose="05000000000000000000" pitchFamily="2" charset="2"/>
              <a:buChar char="l"/>
              <a:defRPr/>
            </a:pP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指令译码、读</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Rs</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和</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Rt</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寄存器读口</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endPar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449580" marR="0" lvl="1" indent="-90805"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执行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(EXE)</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段</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09625" marR="0" lvl="2" indent="-179705" algn="l" defTabSz="914400" rtl="0" eaLnBrk="0" fontAlgn="base" latinLnBrk="0" hangingPunct="0">
              <a:lnSpc>
                <a:spcPct val="95000"/>
              </a:lnSpc>
              <a:spcBef>
                <a:spcPts val="0"/>
              </a:spcBef>
              <a:spcAft>
                <a:spcPts val="0"/>
              </a:spcAft>
              <a:buClr>
                <a:schemeClr val="tx2"/>
              </a:buClr>
              <a:buSzPct val="80000"/>
              <a:buFont typeface="Wingdings" panose="05000000000000000000" pitchFamily="2" charset="2"/>
              <a:buChar char="l"/>
              <a:defRPr/>
            </a:pP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计算转移目标地址、</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ALU</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运算</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(Extender</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ALU</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Adder)</a:t>
            </a:r>
            <a:endPar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449580" marR="0" lvl="1" indent="-90805"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存储器</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(MEM)</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段</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09625" marR="0" lvl="2" indent="-179705" algn="l" defTabSz="914400" rtl="0" eaLnBrk="0" fontAlgn="base" latinLnBrk="0" hangingPunct="0">
              <a:lnSpc>
                <a:spcPct val="95000"/>
              </a:lnSpc>
              <a:spcBef>
                <a:spcPts val="0"/>
              </a:spcBef>
              <a:spcAft>
                <a:spcPts val="0"/>
              </a:spcAft>
              <a:buClr>
                <a:schemeClr val="tx2"/>
              </a:buClr>
              <a:buSzPct val="80000"/>
              <a:buFont typeface="Wingdings" panose="05000000000000000000" pitchFamily="2" charset="2"/>
              <a:buChar char="l"/>
              <a:defRPr/>
            </a:pP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读或写存储单元</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(Data Memory)</a:t>
            </a:r>
            <a:endPar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449580" marR="0" lvl="1" indent="-90805"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写寄存器</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段</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09625" marR="0" lvl="2" indent="-179705" algn="l" defTabSz="914400" rtl="0" eaLnBrk="0" fontAlgn="base" latinLnBrk="0" hangingPunct="0">
              <a:lnSpc>
                <a:spcPct val="95000"/>
              </a:lnSpc>
              <a:spcBef>
                <a:spcPts val="0"/>
              </a:spcBef>
              <a:spcAft>
                <a:spcPts val="0"/>
              </a:spcAft>
              <a:buClr>
                <a:schemeClr val="tx2"/>
              </a:buClr>
              <a:buSzPct val="80000"/>
              <a:buFont typeface="Wingdings" panose="05000000000000000000" pitchFamily="2" charset="2"/>
              <a:buChar char="l"/>
              <a:defRPr/>
            </a:pP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ALU</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结果或从</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DM</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读出数据写到寄存器</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寄存器写口</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endPar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624205" marR="0" lvl="1" indent="-265430" algn="l" defTabSz="914400" rtl="0" eaLnBrk="0" fontAlgn="base" latinLnBrk="0" hangingPunct="0">
              <a:lnSpc>
                <a:spcPct val="95000"/>
              </a:lnSpc>
              <a:spcBef>
                <a:spcPts val="0"/>
              </a:spcBef>
              <a:spcAft>
                <a:spcPts val="0"/>
              </a:spcAft>
              <a:buClr>
                <a:schemeClr val="tx2"/>
              </a:buClr>
              <a:buSzTx/>
              <a:buFont typeface="Wingdings" panose="05000000000000000000" pitchFamily="2" charset="2"/>
              <a:buChar char="n"/>
              <a:defRPr/>
            </a:pPr>
            <a:r>
              <a:rPr kumimoji="0" lang="zh-CN" altLang="en-US"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将寄存器读口和写口看成二个功能部件，且上半周期写下半周期读</a:t>
            </a:r>
            <a:endParaRPr kumimoji="0" lang="en-US" altLang="zh-CN"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p:txBody>
          <a:bodyPr vert="horz" wrap="square" lIns="91440" tIns="45720" rIns="91440" bIns="45720" anchor="b" anchorCtr="0"/>
          <a:p>
            <a:r>
              <a:rPr lang="zh-CN" altLang="en-US" dirty="0"/>
              <a:t>五、关于流水线问题</a:t>
            </a:r>
            <a:endParaRPr lang="zh-CN" altLang="en-US" dirty="0"/>
          </a:p>
        </p:txBody>
      </p:sp>
      <p:sp>
        <p:nvSpPr>
          <p:cNvPr id="2" name="内容占位符 1"/>
          <p:cNvSpPr>
            <a:spLocks noGrp="1"/>
          </p:cNvSpPr>
          <p:nvPr>
            <p:ph idx="1"/>
          </p:nvPr>
        </p:nvSpPr>
        <p:spPr>
          <a:xfrm>
            <a:off x="396875" y="1249680"/>
            <a:ext cx="8466455" cy="5069840"/>
          </a:xfrm>
        </p:spPr>
        <p:txBody>
          <a:bodyPr vert="horz" wrap="square" lIns="91440" tIns="45720" rIns="91440" bIns="45720" numCol="1" anchor="t" anchorCtr="0" compatLnSpc="1"/>
          <a:lstStyle/>
          <a:p>
            <a:pPr marL="342900" marR="0" lvl="0" indent="-254000" algn="l" defTabSz="914400" rtl="0" eaLnBrk="0" fontAlgn="base" latinLnBrk="0" hangingPunct="0">
              <a:lnSpc>
                <a:spcPct val="95000"/>
              </a:lnSpc>
              <a:spcBef>
                <a:spcPts val="0"/>
              </a:spcBef>
              <a:spcAft>
                <a:spcPts val="0"/>
              </a:spcAft>
              <a:buClr>
                <a:schemeClr val="tx2"/>
              </a:buClr>
              <a:buSzTx/>
              <a:buFont typeface="Wingdings" panose="05000000000000000000" pitchFamily="2" charset="2"/>
              <a:buChar char="p"/>
              <a:defRPr/>
            </a:pPr>
            <a:r>
              <a:rPr kumimoji="0" lang="zh-CN" altLang="en-US" sz="2400" b="1" i="0" u="none" strike="noStrike" kern="0" cap="none" spc="0" normalizeH="0" baseline="0" noProof="0" dirty="0" smtClean="0">
                <a:ln>
                  <a:noFill/>
                </a:ln>
                <a:solidFill>
                  <a:srgbClr val="FF0000"/>
                </a:solidFill>
                <a:effectLst/>
                <a:uLnTx/>
                <a:uFillTx/>
                <a:latin typeface="+mn-lt"/>
                <a:ea typeface="+mn-ea"/>
                <a:cs typeface="Arial" panose="020B0604020202020204" pitchFamily="34" charset="0"/>
              </a:rPr>
              <a:t>冒险：</a:t>
            </a:r>
            <a:r>
              <a:rPr kumimoji="0" lang="zh-CN" altLang="en-US" sz="2400" b="1" i="0" u="none" strike="noStrike" kern="0" cap="none" spc="0" normalizeH="0" baseline="0" noProof="0" dirty="0" smtClean="0">
                <a:ln>
                  <a:noFill/>
                </a:ln>
                <a:solidFill>
                  <a:schemeClr val="tx2"/>
                </a:solidFill>
                <a:effectLst/>
                <a:uLnTx/>
                <a:uFillTx/>
                <a:latin typeface="+mn-lt"/>
                <a:ea typeface="+mn-ea"/>
                <a:cs typeface="Arial" panose="020B0604020202020204" pitchFamily="34" charset="0"/>
              </a:rPr>
              <a:t>指流水线遇到无法正确执行后续指令或执行了不该执行的指令的现象。</a:t>
            </a:r>
            <a:endParaRPr kumimoji="0" lang="en-US" altLang="zh-CN" sz="2400" b="1" i="0" u="none" strike="noStrike" kern="0" cap="none" spc="0" normalizeH="0" baseline="0" noProof="0" dirty="0" smtClean="0">
              <a:ln>
                <a:noFill/>
              </a:ln>
              <a:solidFill>
                <a:schemeClr val="tx2"/>
              </a:solidFill>
              <a:effectLst/>
              <a:uLnTx/>
              <a:uFillTx/>
              <a:latin typeface="+mn-lt"/>
              <a:ea typeface="+mn-ea"/>
              <a:cs typeface="Arial" panose="020B0604020202020204" pitchFamily="34" charset="0"/>
            </a:endParaRPr>
          </a:p>
          <a:p>
            <a:pPr marL="355600" marR="0" lvl="0" indent="-266700" algn="l" defTabSz="914400" rtl="0" eaLnBrk="0" fontAlgn="base" latinLnBrk="0" hangingPunct="0">
              <a:lnSpc>
                <a:spcPct val="95000"/>
              </a:lnSpc>
              <a:spcBef>
                <a:spcPts val="0"/>
              </a:spcBef>
              <a:spcAft>
                <a:spcPts val="0"/>
              </a:spcAft>
              <a:buClr>
                <a:schemeClr val="tx2"/>
              </a:buClr>
              <a:buSzTx/>
              <a:buFont typeface="Wingdings" panose="05000000000000000000" pitchFamily="2" charset="2"/>
              <a:buChar char="p"/>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Structural hazards</a:t>
            </a:r>
            <a:r>
              <a:rPr kumimoji="0" lang="en-US" altLang="zh-CN" sz="2400" b="0"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(hardware resource conflicts)</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55600" marR="0" lvl="0" indent="3175" algn="l" defTabSz="914400" rtl="0" eaLnBrk="0" fontAlgn="base" latinLnBrk="0" hangingPunct="0">
              <a:lnSpc>
                <a:spcPct val="95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现象：</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同一个部件同时被不同指令所使用</a:t>
            </a:r>
            <a:r>
              <a:rPr kumimoji="0" lang="zh-CN" altLang="en-US" sz="2000" b="1" i="0" u="none" strike="noStrike" kern="0" cap="none" spc="0" normalizeH="0" baseline="0" noProof="0" dirty="0" smtClean="0">
                <a:ln>
                  <a:noFill/>
                </a:ln>
                <a:solidFill>
                  <a:srgbClr val="CC0000"/>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1" i="0" u="none" strike="noStrike" kern="0" cap="none" spc="0" normalizeH="0" baseline="0" noProof="0" dirty="0" smtClean="0">
              <a:ln>
                <a:noFill/>
              </a:ln>
              <a:solidFill>
                <a:srgbClr val="CC0000"/>
              </a:solidFill>
              <a:effectLst/>
              <a:uLnTx/>
              <a:uFillTx/>
              <a:latin typeface="Times New Roman" panose="02020603050405020304" pitchFamily="18" charset="0"/>
              <a:ea typeface="+mn-ea"/>
              <a:cs typeface="Times New Roman" panose="02020603050405020304" pitchFamily="18" charset="0"/>
            </a:endParaRPr>
          </a:p>
          <a:p>
            <a:pPr marL="624205" marR="0" lvl="1" indent="-266700"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约定：一个部件每条指令只能使用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次，且只能在特定周期使用</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1" indent="-266700"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硬件：设置多个功能部件，以避免资源冲突</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55600" marR="0" lvl="0" indent="-266700" algn="l" defTabSz="914400" rtl="0" eaLnBrk="0" fontAlgn="base" latinLnBrk="0" hangingPunct="0">
              <a:lnSpc>
                <a:spcPct val="95000"/>
              </a:lnSpc>
              <a:spcBef>
                <a:spcPts val="0"/>
              </a:spcBef>
              <a:spcAft>
                <a:spcPts val="0"/>
              </a:spcAft>
              <a:buClr>
                <a:schemeClr val="tx2"/>
              </a:buClr>
              <a:buSzTx/>
              <a:buFont typeface="Wingdings" panose="05000000000000000000" pitchFamily="2" charset="2"/>
              <a:buChar char="p"/>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Data hazards</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(data dependencies)</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55600" marR="0" lvl="0" indent="3175" algn="l" defTabSz="914400" rtl="0" eaLnBrk="0" fontAlgn="base" latinLnBrk="0" hangingPunct="0">
              <a:lnSpc>
                <a:spcPct val="95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现象：</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后面指令用到前面指令结果，但流水线中的结果还没有产生</a:t>
            </a:r>
            <a:endPar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624205" marR="0" lvl="1" indent="-266700"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硬件：插入气泡或者采用</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转发</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(Forwarding/Bypassing)</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技术</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00455" marR="0" lvl="2" indent="-285750" algn="l" defTabSz="914400" rtl="0" eaLnBrk="0" fontAlgn="base" latinLnBrk="0" hangingPunct="0">
              <a:lnSpc>
                <a:spcPct val="95000"/>
              </a:lnSpc>
              <a:spcBef>
                <a:spcPts val="0"/>
              </a:spcBef>
              <a:spcAft>
                <a:spcPts val="0"/>
              </a:spcAft>
              <a:buClrTx/>
              <a:buSzTx/>
              <a:buFont typeface="Wingdings" panose="05000000000000000000" charset="0"/>
              <a:buChar char="u"/>
              <a:defRPr/>
            </a:pPr>
            <a:r>
              <a:rPr kumimoji="0" lang="en-US" altLang="zh-CN" sz="171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Load-use</a:t>
            </a:r>
            <a:r>
              <a:rPr kumimoji="0" lang="zh-CN" altLang="en-US" sz="171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冒险需要一次阻塞</a:t>
            </a:r>
            <a:r>
              <a:rPr kumimoji="0" lang="en-US" altLang="zh-CN" sz="171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(stall)</a:t>
            </a:r>
            <a:endParaRPr kumimoji="0" lang="zh-CN" altLang="en-US" sz="171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4205" marR="0" lvl="1" indent="-266700"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软件：插入</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NOP</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指令或者编译优化指令顺序</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55600" marR="0" lvl="0" indent="-266700" algn="l" defTabSz="914400" rtl="0" eaLnBrk="0" fontAlgn="base" latinLnBrk="0" hangingPunct="0">
              <a:lnSpc>
                <a:spcPct val="95000"/>
              </a:lnSpc>
              <a:spcBef>
                <a:spcPts val="0"/>
              </a:spcBef>
              <a:spcAft>
                <a:spcPts val="0"/>
              </a:spcAft>
              <a:buClr>
                <a:schemeClr val="tx2"/>
              </a:buClr>
              <a:buSzTx/>
              <a:buFont typeface="Wingdings" panose="05000000000000000000" pitchFamily="2" charset="2"/>
              <a:buChar char="p"/>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Control (Branch)</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hazards</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(changes in program flow)</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55600" marR="0" lvl="0" indent="3175" algn="l" defTabSz="914400" rtl="0" eaLnBrk="0" fontAlgn="base" latinLnBrk="0" hangingPunct="0">
              <a:lnSpc>
                <a:spcPct val="95000"/>
              </a:lnSpc>
              <a:spcBef>
                <a:spcPts val="0"/>
              </a:spcBef>
              <a:spcAft>
                <a:spcPts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现象：</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当转移改变执行流程，顺序执行指令在目标地址产生前已被取出</a:t>
            </a:r>
            <a:endPar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782955" marR="0" lvl="1" indent="-228600"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硬件：</a:t>
            </a:r>
            <a:r>
              <a:rPr lang="zh-CN" altLang="en-US" sz="2000" noProof="0" dirty="0" smtClean="0">
                <a:ln>
                  <a:noFill/>
                </a:ln>
                <a:effectLst/>
                <a:uLnTx/>
                <a:uFillTx/>
                <a:latin typeface="Times New Roman" panose="02020603050405020304" pitchFamily="18" charset="0"/>
                <a:cs typeface="Times New Roman" panose="02020603050405020304" pitchFamily="18" charset="0"/>
                <a:sym typeface="+mn-ea"/>
              </a:rPr>
              <a:t>插入气泡或者</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采用静态</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动态分支预测</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82955" marR="0" lvl="1" indent="-228600" algn="l" defTabSz="914400" rtl="0" eaLnBrk="0" fontAlgn="base" latinLnBrk="0" hangingPunct="0">
              <a:lnSpc>
                <a:spcPct val="95000"/>
              </a:lnSpc>
              <a:spcBef>
                <a:spcPts val="0"/>
              </a:spcBef>
              <a:spcAft>
                <a:spcPts val="0"/>
              </a:spcAft>
              <a:buClrTx/>
              <a:buSzTx/>
              <a:buFont typeface="Wingdings" panose="05000000000000000000" pitchFamily="2" charset="2"/>
              <a:buChar char="n"/>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软件：</a:t>
            </a:r>
            <a:r>
              <a:rPr lang="zh-CN" altLang="en-US" sz="2000" noProof="0" dirty="0" smtClean="0">
                <a:ln>
                  <a:noFill/>
                </a:ln>
                <a:effectLst/>
                <a:uLnTx/>
                <a:uFillTx/>
                <a:latin typeface="Times New Roman" panose="02020603050405020304" pitchFamily="18" charset="0"/>
                <a:cs typeface="Times New Roman" panose="02020603050405020304" pitchFamily="18" charset="0"/>
                <a:sym typeface="+mn-ea"/>
              </a:rPr>
              <a:t>插入</a:t>
            </a:r>
            <a:r>
              <a:rPr lang="en-US" altLang="zh-CN" sz="2000" noProof="0" dirty="0" smtClean="0">
                <a:ln>
                  <a:noFill/>
                </a:ln>
                <a:effectLst/>
                <a:uLnTx/>
                <a:uFillTx/>
                <a:latin typeface="Times New Roman" panose="02020603050405020304" pitchFamily="18" charset="0"/>
                <a:cs typeface="Times New Roman" panose="02020603050405020304" pitchFamily="18" charset="0"/>
                <a:sym typeface="+mn-ea"/>
              </a:rPr>
              <a:t>NOP</a:t>
            </a:r>
            <a:r>
              <a:rPr lang="zh-CN" altLang="en-US" sz="2000" noProof="0" dirty="0" smtClean="0">
                <a:ln>
                  <a:noFill/>
                </a:ln>
                <a:effectLst/>
                <a:uLnTx/>
                <a:uFillTx/>
                <a:latin typeface="Times New Roman" panose="02020603050405020304" pitchFamily="18" charset="0"/>
                <a:cs typeface="Times New Roman" panose="02020603050405020304" pitchFamily="18" charset="0"/>
                <a:sym typeface="+mn-ea"/>
              </a:rPr>
              <a:t>指令或者</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编译优化指令顺序</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延迟</a:t>
            </a:r>
            <a:r>
              <a:rPr lang="zh-CN" altLang="en-US" sz="2000" noProof="0" dirty="0" smtClean="0">
                <a:ln>
                  <a:noFill/>
                </a:ln>
                <a:effectLst/>
                <a:uLnTx/>
                <a:uFillTx/>
                <a:latin typeface="Times New Roman" panose="02020603050405020304" pitchFamily="18" charset="0"/>
                <a:cs typeface="Times New Roman" panose="02020603050405020304" pitchFamily="18" charset="0"/>
                <a:sym typeface="+mn-ea"/>
              </a:rPr>
              <a:t>分支：</a:t>
            </a:r>
            <a:r>
              <a:rPr lang="zh-CN" altLang="en-US" sz="2000" dirty="0">
                <a:solidFill>
                  <a:srgbClr val="A50021"/>
                </a:solidFill>
                <a:latin typeface="华文新魏" panose="02010800040101010101" pitchFamily="2" charset="-122"/>
                <a:ea typeface="华文新魏" panose="02010800040101010101" pitchFamily="2" charset="-122"/>
                <a:cs typeface="华文新魏" panose="02010800040101010101" pitchFamily="2" charset="-122"/>
                <a:sym typeface="+mn-ea"/>
              </a:rPr>
              <a:t>分支延迟时间片的调度</a:t>
            </a:r>
            <a:r>
              <a:rPr kumimoji="0" lang="en-US" altLang="zh-CN" sz="2000" b="1" i="0" u="none" strike="noStrike" kern="0" cap="none" spc="0" normalizeH="0" baseline="0" noProof="0" dirty="0" smtClean="0">
                <a:ln>
                  <a:noFill/>
                </a:ln>
                <a:solidFill>
                  <a:schemeClr val="tx1"/>
                </a:solidFill>
                <a:effectLst/>
                <a:uLnTx/>
                <a:uFillTx/>
                <a:latin typeface="华文新魏" panose="02010800040101010101" pitchFamily="2" charset="-122"/>
                <a:ea typeface="华文新魏" panose="02010800040101010101" pitchFamily="2" charset="-122"/>
                <a:cs typeface="华文新魏" panose="02010800040101010101" pitchFamily="2" charset="-122"/>
              </a:rPr>
              <a:t>)</a:t>
            </a:r>
            <a:endPar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华文新魏" panose="0201080004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p:txBody>
          <a:bodyPr vert="horz" wrap="square" lIns="91440" tIns="45720" rIns="91440" bIns="45720" anchor="b" anchorCtr="0"/>
          <a:p>
            <a:r>
              <a:rPr lang="zh-CN" altLang="en-US" dirty="0"/>
              <a:t>数据相关性分析实例</a:t>
            </a:r>
            <a:endParaRPr lang="zh-CN" altLang="en-US" dirty="0"/>
          </a:p>
        </p:txBody>
      </p:sp>
      <p:sp>
        <p:nvSpPr>
          <p:cNvPr id="22531" name="Rectangle 3"/>
          <p:cNvSpPr>
            <a:spLocks noGrp="1"/>
          </p:cNvSpPr>
          <p:nvPr>
            <p:ph idx="1"/>
          </p:nvPr>
        </p:nvSpPr>
        <p:spPr>
          <a:xfrm>
            <a:off x="611188" y="3286125"/>
            <a:ext cx="8001000" cy="2952750"/>
          </a:xfrm>
        </p:spPr>
        <p:txBody>
          <a:bodyPr vert="horz" wrap="square" lIns="91440" tIns="45720" rIns="91440" bIns="45720" anchor="t" anchorCtr="0"/>
          <a:p>
            <a:pPr>
              <a:buNone/>
            </a:pPr>
            <a:r>
              <a:rPr lang="zh-CN" altLang="en-US" sz="2400" dirty="0"/>
              <a:t>解：四条指令都有数据相关性</a:t>
            </a:r>
            <a:endParaRPr lang="zh-CN" altLang="en-US" sz="2400" dirty="0"/>
          </a:p>
        </p:txBody>
      </p:sp>
      <p:grpSp>
        <p:nvGrpSpPr>
          <p:cNvPr id="2" name="Group 166"/>
          <p:cNvGrpSpPr/>
          <p:nvPr/>
        </p:nvGrpSpPr>
        <p:grpSpPr>
          <a:xfrm>
            <a:off x="323850" y="3770313"/>
            <a:ext cx="8599488" cy="2828925"/>
            <a:chOff x="204" y="2238"/>
            <a:chExt cx="5417" cy="1782"/>
          </a:xfrm>
        </p:grpSpPr>
        <p:sp>
          <p:nvSpPr>
            <p:cNvPr id="25607" name="Rectangle 6"/>
            <p:cNvSpPr/>
            <p:nvPr/>
          </p:nvSpPr>
          <p:spPr>
            <a:xfrm>
              <a:off x="204" y="2272"/>
              <a:ext cx="474"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Clock</a:t>
              </a:r>
              <a:endParaRPr lang="en-US" altLang="zh-CN" sz="1800" b="1" dirty="0">
                <a:latin typeface="Times New Roman" panose="02020603050405020304" pitchFamily="18" charset="0"/>
              </a:endParaRPr>
            </a:p>
          </p:txBody>
        </p:sp>
        <p:grpSp>
          <p:nvGrpSpPr>
            <p:cNvPr id="25608" name="Group 7"/>
            <p:cNvGrpSpPr/>
            <p:nvPr/>
          </p:nvGrpSpPr>
          <p:grpSpPr>
            <a:xfrm>
              <a:off x="440" y="2478"/>
              <a:ext cx="5172" cy="160"/>
              <a:chOff x="392" y="2152"/>
              <a:chExt cx="4984" cy="160"/>
            </a:xfrm>
          </p:grpSpPr>
          <p:grpSp>
            <p:nvGrpSpPr>
              <p:cNvPr id="25702" name="Group 8"/>
              <p:cNvGrpSpPr/>
              <p:nvPr/>
            </p:nvGrpSpPr>
            <p:grpSpPr>
              <a:xfrm>
                <a:off x="624" y="2152"/>
                <a:ext cx="520" cy="160"/>
                <a:chOff x="624" y="2152"/>
                <a:chExt cx="520" cy="160"/>
              </a:xfrm>
            </p:grpSpPr>
            <p:sp>
              <p:nvSpPr>
                <p:cNvPr id="25745" name="Line 9"/>
                <p:cNvSpPr/>
                <p:nvPr/>
              </p:nvSpPr>
              <p:spPr>
                <a:xfrm>
                  <a:off x="632" y="2304"/>
                  <a:ext cx="272" cy="0"/>
                </a:xfrm>
                <a:prstGeom prst="line">
                  <a:avLst/>
                </a:prstGeom>
                <a:ln w="25400" cap="flat" cmpd="sng">
                  <a:solidFill>
                    <a:schemeClr val="tx1"/>
                  </a:solidFill>
                  <a:prstDash val="solid"/>
                  <a:headEnd type="none" w="med" len="med"/>
                  <a:tailEnd type="none" w="med" len="med"/>
                </a:ln>
              </p:spPr>
            </p:sp>
            <p:sp>
              <p:nvSpPr>
                <p:cNvPr id="25746" name="Line 10"/>
                <p:cNvSpPr/>
                <p:nvPr/>
              </p:nvSpPr>
              <p:spPr>
                <a:xfrm>
                  <a:off x="624" y="2168"/>
                  <a:ext cx="0" cy="128"/>
                </a:xfrm>
                <a:prstGeom prst="line">
                  <a:avLst/>
                </a:prstGeom>
                <a:ln w="25400" cap="flat" cmpd="sng">
                  <a:solidFill>
                    <a:schemeClr val="tx1"/>
                  </a:solidFill>
                  <a:prstDash val="solid"/>
                  <a:headEnd type="none" w="med" len="med"/>
                  <a:tailEnd type="none" w="med" len="med"/>
                </a:ln>
              </p:spPr>
            </p:sp>
            <p:sp>
              <p:nvSpPr>
                <p:cNvPr id="25747" name="Line 11"/>
                <p:cNvSpPr/>
                <p:nvPr/>
              </p:nvSpPr>
              <p:spPr>
                <a:xfrm flipV="1">
                  <a:off x="912" y="2152"/>
                  <a:ext cx="0" cy="160"/>
                </a:xfrm>
                <a:prstGeom prst="line">
                  <a:avLst/>
                </a:prstGeom>
                <a:ln w="25400" cap="flat" cmpd="sng">
                  <a:solidFill>
                    <a:schemeClr val="tx1"/>
                  </a:solidFill>
                  <a:prstDash val="solid"/>
                  <a:headEnd type="none" w="med" len="med"/>
                  <a:tailEnd type="none" w="med" len="med"/>
                </a:ln>
              </p:spPr>
            </p:sp>
            <p:sp>
              <p:nvSpPr>
                <p:cNvPr id="25748" name="Line 12"/>
                <p:cNvSpPr/>
                <p:nvPr/>
              </p:nvSpPr>
              <p:spPr>
                <a:xfrm>
                  <a:off x="920" y="2160"/>
                  <a:ext cx="224" cy="0"/>
                </a:xfrm>
                <a:prstGeom prst="line">
                  <a:avLst/>
                </a:prstGeom>
                <a:ln w="25400" cap="flat" cmpd="sng">
                  <a:solidFill>
                    <a:schemeClr val="tx1"/>
                  </a:solidFill>
                  <a:prstDash val="solid"/>
                  <a:headEnd type="none" w="med" len="med"/>
                  <a:tailEnd type="none" w="med" len="med"/>
                </a:ln>
              </p:spPr>
            </p:sp>
          </p:grpSp>
          <p:grpSp>
            <p:nvGrpSpPr>
              <p:cNvPr id="25703" name="Group 13"/>
              <p:cNvGrpSpPr/>
              <p:nvPr/>
            </p:nvGrpSpPr>
            <p:grpSpPr>
              <a:xfrm>
                <a:off x="1152" y="2152"/>
                <a:ext cx="520" cy="160"/>
                <a:chOff x="1152" y="2152"/>
                <a:chExt cx="520" cy="160"/>
              </a:xfrm>
            </p:grpSpPr>
            <p:sp>
              <p:nvSpPr>
                <p:cNvPr id="25741" name="Line 14"/>
                <p:cNvSpPr/>
                <p:nvPr/>
              </p:nvSpPr>
              <p:spPr>
                <a:xfrm>
                  <a:off x="1160" y="2304"/>
                  <a:ext cx="272" cy="0"/>
                </a:xfrm>
                <a:prstGeom prst="line">
                  <a:avLst/>
                </a:prstGeom>
                <a:ln w="25400" cap="flat" cmpd="sng">
                  <a:solidFill>
                    <a:schemeClr val="tx1"/>
                  </a:solidFill>
                  <a:prstDash val="solid"/>
                  <a:headEnd type="none" w="med" len="med"/>
                  <a:tailEnd type="none" w="med" len="med"/>
                </a:ln>
              </p:spPr>
            </p:sp>
            <p:sp>
              <p:nvSpPr>
                <p:cNvPr id="25742" name="Line 15"/>
                <p:cNvSpPr/>
                <p:nvPr/>
              </p:nvSpPr>
              <p:spPr>
                <a:xfrm>
                  <a:off x="1152" y="2168"/>
                  <a:ext cx="0" cy="128"/>
                </a:xfrm>
                <a:prstGeom prst="line">
                  <a:avLst/>
                </a:prstGeom>
                <a:ln w="25400" cap="flat" cmpd="sng">
                  <a:solidFill>
                    <a:schemeClr val="tx1"/>
                  </a:solidFill>
                  <a:prstDash val="solid"/>
                  <a:headEnd type="none" w="med" len="med"/>
                  <a:tailEnd type="none" w="med" len="med"/>
                </a:ln>
              </p:spPr>
            </p:sp>
            <p:sp>
              <p:nvSpPr>
                <p:cNvPr id="25743" name="Line 16"/>
                <p:cNvSpPr/>
                <p:nvPr/>
              </p:nvSpPr>
              <p:spPr>
                <a:xfrm flipV="1">
                  <a:off x="1440" y="2152"/>
                  <a:ext cx="0" cy="160"/>
                </a:xfrm>
                <a:prstGeom prst="line">
                  <a:avLst/>
                </a:prstGeom>
                <a:ln w="25400" cap="flat" cmpd="sng">
                  <a:solidFill>
                    <a:schemeClr val="tx1"/>
                  </a:solidFill>
                  <a:prstDash val="solid"/>
                  <a:headEnd type="none" w="med" len="med"/>
                  <a:tailEnd type="none" w="med" len="med"/>
                </a:ln>
              </p:spPr>
            </p:sp>
            <p:sp>
              <p:nvSpPr>
                <p:cNvPr id="25744" name="Line 17"/>
                <p:cNvSpPr/>
                <p:nvPr/>
              </p:nvSpPr>
              <p:spPr>
                <a:xfrm>
                  <a:off x="1448" y="2160"/>
                  <a:ext cx="224" cy="0"/>
                </a:xfrm>
                <a:prstGeom prst="line">
                  <a:avLst/>
                </a:prstGeom>
                <a:ln w="25400" cap="flat" cmpd="sng">
                  <a:solidFill>
                    <a:schemeClr val="tx1"/>
                  </a:solidFill>
                  <a:prstDash val="solid"/>
                  <a:headEnd type="none" w="med" len="med"/>
                  <a:tailEnd type="none" w="med" len="med"/>
                </a:ln>
              </p:spPr>
            </p:sp>
          </p:grpSp>
          <p:grpSp>
            <p:nvGrpSpPr>
              <p:cNvPr id="25704" name="Group 18"/>
              <p:cNvGrpSpPr/>
              <p:nvPr/>
            </p:nvGrpSpPr>
            <p:grpSpPr>
              <a:xfrm>
                <a:off x="1680" y="2152"/>
                <a:ext cx="520" cy="160"/>
                <a:chOff x="1680" y="2152"/>
                <a:chExt cx="520" cy="160"/>
              </a:xfrm>
            </p:grpSpPr>
            <p:sp>
              <p:nvSpPr>
                <p:cNvPr id="25737" name="Line 19"/>
                <p:cNvSpPr/>
                <p:nvPr/>
              </p:nvSpPr>
              <p:spPr>
                <a:xfrm>
                  <a:off x="1688" y="2304"/>
                  <a:ext cx="272" cy="0"/>
                </a:xfrm>
                <a:prstGeom prst="line">
                  <a:avLst/>
                </a:prstGeom>
                <a:ln w="25400" cap="flat" cmpd="sng">
                  <a:solidFill>
                    <a:schemeClr val="tx1"/>
                  </a:solidFill>
                  <a:prstDash val="solid"/>
                  <a:headEnd type="none" w="med" len="med"/>
                  <a:tailEnd type="none" w="med" len="med"/>
                </a:ln>
              </p:spPr>
            </p:sp>
            <p:sp>
              <p:nvSpPr>
                <p:cNvPr id="25738" name="Line 20"/>
                <p:cNvSpPr/>
                <p:nvPr/>
              </p:nvSpPr>
              <p:spPr>
                <a:xfrm>
                  <a:off x="1680" y="2168"/>
                  <a:ext cx="0" cy="128"/>
                </a:xfrm>
                <a:prstGeom prst="line">
                  <a:avLst/>
                </a:prstGeom>
                <a:ln w="25400" cap="flat" cmpd="sng">
                  <a:solidFill>
                    <a:schemeClr val="tx1"/>
                  </a:solidFill>
                  <a:prstDash val="solid"/>
                  <a:headEnd type="none" w="med" len="med"/>
                  <a:tailEnd type="none" w="med" len="med"/>
                </a:ln>
              </p:spPr>
            </p:sp>
            <p:sp>
              <p:nvSpPr>
                <p:cNvPr id="25739" name="Line 21"/>
                <p:cNvSpPr/>
                <p:nvPr/>
              </p:nvSpPr>
              <p:spPr>
                <a:xfrm flipV="1">
                  <a:off x="1968" y="2152"/>
                  <a:ext cx="0" cy="160"/>
                </a:xfrm>
                <a:prstGeom prst="line">
                  <a:avLst/>
                </a:prstGeom>
                <a:ln w="25400" cap="flat" cmpd="sng">
                  <a:solidFill>
                    <a:schemeClr val="tx1"/>
                  </a:solidFill>
                  <a:prstDash val="solid"/>
                  <a:headEnd type="none" w="med" len="med"/>
                  <a:tailEnd type="none" w="med" len="med"/>
                </a:ln>
              </p:spPr>
            </p:sp>
            <p:sp>
              <p:nvSpPr>
                <p:cNvPr id="25740" name="Line 22"/>
                <p:cNvSpPr/>
                <p:nvPr/>
              </p:nvSpPr>
              <p:spPr>
                <a:xfrm>
                  <a:off x="1976" y="2160"/>
                  <a:ext cx="224" cy="0"/>
                </a:xfrm>
                <a:prstGeom prst="line">
                  <a:avLst/>
                </a:prstGeom>
                <a:ln w="25400" cap="flat" cmpd="sng">
                  <a:solidFill>
                    <a:schemeClr val="tx1"/>
                  </a:solidFill>
                  <a:prstDash val="solid"/>
                  <a:headEnd type="none" w="med" len="med"/>
                  <a:tailEnd type="none" w="med" len="med"/>
                </a:ln>
              </p:spPr>
            </p:sp>
          </p:grpSp>
          <p:grpSp>
            <p:nvGrpSpPr>
              <p:cNvPr id="25705" name="Group 23"/>
              <p:cNvGrpSpPr/>
              <p:nvPr/>
            </p:nvGrpSpPr>
            <p:grpSpPr>
              <a:xfrm>
                <a:off x="2208" y="2152"/>
                <a:ext cx="520" cy="160"/>
                <a:chOff x="2208" y="2152"/>
                <a:chExt cx="520" cy="160"/>
              </a:xfrm>
            </p:grpSpPr>
            <p:sp>
              <p:nvSpPr>
                <p:cNvPr id="25733" name="Line 24"/>
                <p:cNvSpPr/>
                <p:nvPr/>
              </p:nvSpPr>
              <p:spPr>
                <a:xfrm>
                  <a:off x="2216" y="2304"/>
                  <a:ext cx="272" cy="0"/>
                </a:xfrm>
                <a:prstGeom prst="line">
                  <a:avLst/>
                </a:prstGeom>
                <a:ln w="25400" cap="flat" cmpd="sng">
                  <a:solidFill>
                    <a:schemeClr val="tx1"/>
                  </a:solidFill>
                  <a:prstDash val="solid"/>
                  <a:headEnd type="none" w="med" len="med"/>
                  <a:tailEnd type="none" w="med" len="med"/>
                </a:ln>
              </p:spPr>
            </p:sp>
            <p:sp>
              <p:nvSpPr>
                <p:cNvPr id="25734" name="Line 25"/>
                <p:cNvSpPr/>
                <p:nvPr/>
              </p:nvSpPr>
              <p:spPr>
                <a:xfrm>
                  <a:off x="2208" y="2168"/>
                  <a:ext cx="0" cy="128"/>
                </a:xfrm>
                <a:prstGeom prst="line">
                  <a:avLst/>
                </a:prstGeom>
                <a:ln w="25400" cap="flat" cmpd="sng">
                  <a:solidFill>
                    <a:schemeClr val="tx1"/>
                  </a:solidFill>
                  <a:prstDash val="solid"/>
                  <a:headEnd type="none" w="med" len="med"/>
                  <a:tailEnd type="none" w="med" len="med"/>
                </a:ln>
              </p:spPr>
            </p:sp>
            <p:sp>
              <p:nvSpPr>
                <p:cNvPr id="25735" name="Line 26"/>
                <p:cNvSpPr/>
                <p:nvPr/>
              </p:nvSpPr>
              <p:spPr>
                <a:xfrm flipV="1">
                  <a:off x="2496" y="2152"/>
                  <a:ext cx="0" cy="160"/>
                </a:xfrm>
                <a:prstGeom prst="line">
                  <a:avLst/>
                </a:prstGeom>
                <a:ln w="25400" cap="flat" cmpd="sng">
                  <a:solidFill>
                    <a:schemeClr val="tx1"/>
                  </a:solidFill>
                  <a:prstDash val="solid"/>
                  <a:headEnd type="none" w="med" len="med"/>
                  <a:tailEnd type="none" w="med" len="med"/>
                </a:ln>
              </p:spPr>
            </p:sp>
            <p:sp>
              <p:nvSpPr>
                <p:cNvPr id="25736" name="Line 27"/>
                <p:cNvSpPr/>
                <p:nvPr/>
              </p:nvSpPr>
              <p:spPr>
                <a:xfrm>
                  <a:off x="2504" y="2160"/>
                  <a:ext cx="224" cy="0"/>
                </a:xfrm>
                <a:prstGeom prst="line">
                  <a:avLst/>
                </a:prstGeom>
                <a:ln w="25400" cap="flat" cmpd="sng">
                  <a:solidFill>
                    <a:schemeClr val="tx1"/>
                  </a:solidFill>
                  <a:prstDash val="solid"/>
                  <a:headEnd type="none" w="med" len="med"/>
                  <a:tailEnd type="none" w="med" len="med"/>
                </a:ln>
              </p:spPr>
            </p:sp>
          </p:grpSp>
          <p:grpSp>
            <p:nvGrpSpPr>
              <p:cNvPr id="25706" name="Group 28"/>
              <p:cNvGrpSpPr/>
              <p:nvPr/>
            </p:nvGrpSpPr>
            <p:grpSpPr>
              <a:xfrm>
                <a:off x="2736" y="2152"/>
                <a:ext cx="520" cy="160"/>
                <a:chOff x="2736" y="2152"/>
                <a:chExt cx="520" cy="160"/>
              </a:xfrm>
            </p:grpSpPr>
            <p:sp>
              <p:nvSpPr>
                <p:cNvPr id="25729" name="Line 29"/>
                <p:cNvSpPr/>
                <p:nvPr/>
              </p:nvSpPr>
              <p:spPr>
                <a:xfrm>
                  <a:off x="2744" y="2304"/>
                  <a:ext cx="272" cy="0"/>
                </a:xfrm>
                <a:prstGeom prst="line">
                  <a:avLst/>
                </a:prstGeom>
                <a:ln w="25400" cap="flat" cmpd="sng">
                  <a:solidFill>
                    <a:schemeClr val="tx1"/>
                  </a:solidFill>
                  <a:prstDash val="solid"/>
                  <a:headEnd type="none" w="med" len="med"/>
                  <a:tailEnd type="none" w="med" len="med"/>
                </a:ln>
              </p:spPr>
            </p:sp>
            <p:sp>
              <p:nvSpPr>
                <p:cNvPr id="25730" name="Line 30"/>
                <p:cNvSpPr/>
                <p:nvPr/>
              </p:nvSpPr>
              <p:spPr>
                <a:xfrm>
                  <a:off x="2736" y="2168"/>
                  <a:ext cx="0" cy="128"/>
                </a:xfrm>
                <a:prstGeom prst="line">
                  <a:avLst/>
                </a:prstGeom>
                <a:ln w="25400" cap="flat" cmpd="sng">
                  <a:solidFill>
                    <a:schemeClr val="tx1"/>
                  </a:solidFill>
                  <a:prstDash val="solid"/>
                  <a:headEnd type="none" w="med" len="med"/>
                  <a:tailEnd type="none" w="med" len="med"/>
                </a:ln>
              </p:spPr>
            </p:sp>
            <p:sp>
              <p:nvSpPr>
                <p:cNvPr id="25731" name="Line 31"/>
                <p:cNvSpPr/>
                <p:nvPr/>
              </p:nvSpPr>
              <p:spPr>
                <a:xfrm flipV="1">
                  <a:off x="3024" y="2152"/>
                  <a:ext cx="0" cy="160"/>
                </a:xfrm>
                <a:prstGeom prst="line">
                  <a:avLst/>
                </a:prstGeom>
                <a:ln w="25400" cap="flat" cmpd="sng">
                  <a:solidFill>
                    <a:schemeClr val="tx1"/>
                  </a:solidFill>
                  <a:prstDash val="solid"/>
                  <a:headEnd type="none" w="med" len="med"/>
                  <a:tailEnd type="none" w="med" len="med"/>
                </a:ln>
              </p:spPr>
            </p:sp>
            <p:sp>
              <p:nvSpPr>
                <p:cNvPr id="25732" name="Line 32"/>
                <p:cNvSpPr/>
                <p:nvPr/>
              </p:nvSpPr>
              <p:spPr>
                <a:xfrm>
                  <a:off x="3032" y="2160"/>
                  <a:ext cx="224" cy="0"/>
                </a:xfrm>
                <a:prstGeom prst="line">
                  <a:avLst/>
                </a:prstGeom>
                <a:ln w="25400" cap="flat" cmpd="sng">
                  <a:solidFill>
                    <a:schemeClr val="tx1"/>
                  </a:solidFill>
                  <a:prstDash val="solid"/>
                  <a:headEnd type="none" w="med" len="med"/>
                  <a:tailEnd type="none" w="med" len="med"/>
                </a:ln>
              </p:spPr>
            </p:sp>
          </p:grpSp>
          <p:grpSp>
            <p:nvGrpSpPr>
              <p:cNvPr id="25707" name="Group 33"/>
              <p:cNvGrpSpPr/>
              <p:nvPr/>
            </p:nvGrpSpPr>
            <p:grpSpPr>
              <a:xfrm>
                <a:off x="3264" y="2152"/>
                <a:ext cx="520" cy="160"/>
                <a:chOff x="3264" y="2152"/>
                <a:chExt cx="520" cy="160"/>
              </a:xfrm>
            </p:grpSpPr>
            <p:sp>
              <p:nvSpPr>
                <p:cNvPr id="25725" name="Line 34"/>
                <p:cNvSpPr/>
                <p:nvPr/>
              </p:nvSpPr>
              <p:spPr>
                <a:xfrm>
                  <a:off x="3272" y="2304"/>
                  <a:ext cx="272" cy="0"/>
                </a:xfrm>
                <a:prstGeom prst="line">
                  <a:avLst/>
                </a:prstGeom>
                <a:ln w="25400" cap="flat" cmpd="sng">
                  <a:solidFill>
                    <a:schemeClr val="tx1"/>
                  </a:solidFill>
                  <a:prstDash val="solid"/>
                  <a:headEnd type="none" w="med" len="med"/>
                  <a:tailEnd type="none" w="med" len="med"/>
                </a:ln>
              </p:spPr>
            </p:sp>
            <p:sp>
              <p:nvSpPr>
                <p:cNvPr id="25726" name="Line 35"/>
                <p:cNvSpPr/>
                <p:nvPr/>
              </p:nvSpPr>
              <p:spPr>
                <a:xfrm>
                  <a:off x="3264" y="2168"/>
                  <a:ext cx="0" cy="128"/>
                </a:xfrm>
                <a:prstGeom prst="line">
                  <a:avLst/>
                </a:prstGeom>
                <a:ln w="25400" cap="flat" cmpd="sng">
                  <a:solidFill>
                    <a:schemeClr val="tx1"/>
                  </a:solidFill>
                  <a:prstDash val="solid"/>
                  <a:headEnd type="none" w="med" len="med"/>
                  <a:tailEnd type="none" w="med" len="med"/>
                </a:ln>
              </p:spPr>
            </p:sp>
            <p:sp>
              <p:nvSpPr>
                <p:cNvPr id="25727" name="Line 36"/>
                <p:cNvSpPr/>
                <p:nvPr/>
              </p:nvSpPr>
              <p:spPr>
                <a:xfrm flipV="1">
                  <a:off x="3552" y="2152"/>
                  <a:ext cx="0" cy="160"/>
                </a:xfrm>
                <a:prstGeom prst="line">
                  <a:avLst/>
                </a:prstGeom>
                <a:ln w="25400" cap="flat" cmpd="sng">
                  <a:solidFill>
                    <a:schemeClr val="tx1"/>
                  </a:solidFill>
                  <a:prstDash val="solid"/>
                  <a:headEnd type="none" w="med" len="med"/>
                  <a:tailEnd type="none" w="med" len="med"/>
                </a:ln>
              </p:spPr>
            </p:sp>
            <p:sp>
              <p:nvSpPr>
                <p:cNvPr id="25728" name="Line 37"/>
                <p:cNvSpPr/>
                <p:nvPr/>
              </p:nvSpPr>
              <p:spPr>
                <a:xfrm>
                  <a:off x="3560" y="2160"/>
                  <a:ext cx="224" cy="0"/>
                </a:xfrm>
                <a:prstGeom prst="line">
                  <a:avLst/>
                </a:prstGeom>
                <a:ln w="25400" cap="flat" cmpd="sng">
                  <a:solidFill>
                    <a:schemeClr val="tx1"/>
                  </a:solidFill>
                  <a:prstDash val="solid"/>
                  <a:headEnd type="none" w="med" len="med"/>
                  <a:tailEnd type="none" w="med" len="med"/>
                </a:ln>
              </p:spPr>
            </p:sp>
          </p:grpSp>
          <p:grpSp>
            <p:nvGrpSpPr>
              <p:cNvPr id="25708" name="Group 38"/>
              <p:cNvGrpSpPr/>
              <p:nvPr/>
            </p:nvGrpSpPr>
            <p:grpSpPr>
              <a:xfrm>
                <a:off x="3792" y="2152"/>
                <a:ext cx="520" cy="160"/>
                <a:chOff x="3792" y="2152"/>
                <a:chExt cx="520" cy="160"/>
              </a:xfrm>
            </p:grpSpPr>
            <p:sp>
              <p:nvSpPr>
                <p:cNvPr id="25721" name="Line 39"/>
                <p:cNvSpPr/>
                <p:nvPr/>
              </p:nvSpPr>
              <p:spPr>
                <a:xfrm>
                  <a:off x="3800" y="2304"/>
                  <a:ext cx="272" cy="0"/>
                </a:xfrm>
                <a:prstGeom prst="line">
                  <a:avLst/>
                </a:prstGeom>
                <a:ln w="25400" cap="flat" cmpd="sng">
                  <a:solidFill>
                    <a:schemeClr val="tx1"/>
                  </a:solidFill>
                  <a:prstDash val="solid"/>
                  <a:headEnd type="none" w="med" len="med"/>
                  <a:tailEnd type="none" w="med" len="med"/>
                </a:ln>
              </p:spPr>
            </p:sp>
            <p:sp>
              <p:nvSpPr>
                <p:cNvPr id="25722" name="Line 40"/>
                <p:cNvSpPr/>
                <p:nvPr/>
              </p:nvSpPr>
              <p:spPr>
                <a:xfrm>
                  <a:off x="3792" y="2168"/>
                  <a:ext cx="0" cy="128"/>
                </a:xfrm>
                <a:prstGeom prst="line">
                  <a:avLst/>
                </a:prstGeom>
                <a:ln w="25400" cap="flat" cmpd="sng">
                  <a:solidFill>
                    <a:schemeClr val="tx1"/>
                  </a:solidFill>
                  <a:prstDash val="solid"/>
                  <a:headEnd type="none" w="med" len="med"/>
                  <a:tailEnd type="none" w="med" len="med"/>
                </a:ln>
              </p:spPr>
            </p:sp>
            <p:sp>
              <p:nvSpPr>
                <p:cNvPr id="25723" name="Line 41"/>
                <p:cNvSpPr/>
                <p:nvPr/>
              </p:nvSpPr>
              <p:spPr>
                <a:xfrm flipV="1">
                  <a:off x="4080" y="2152"/>
                  <a:ext cx="0" cy="160"/>
                </a:xfrm>
                <a:prstGeom prst="line">
                  <a:avLst/>
                </a:prstGeom>
                <a:ln w="25400" cap="flat" cmpd="sng">
                  <a:solidFill>
                    <a:schemeClr val="tx1"/>
                  </a:solidFill>
                  <a:prstDash val="solid"/>
                  <a:headEnd type="none" w="med" len="med"/>
                  <a:tailEnd type="none" w="med" len="med"/>
                </a:ln>
              </p:spPr>
            </p:sp>
            <p:sp>
              <p:nvSpPr>
                <p:cNvPr id="25724" name="Line 42"/>
                <p:cNvSpPr/>
                <p:nvPr/>
              </p:nvSpPr>
              <p:spPr>
                <a:xfrm>
                  <a:off x="4088" y="2160"/>
                  <a:ext cx="224" cy="0"/>
                </a:xfrm>
                <a:prstGeom prst="line">
                  <a:avLst/>
                </a:prstGeom>
                <a:ln w="25400" cap="flat" cmpd="sng">
                  <a:solidFill>
                    <a:schemeClr val="tx1"/>
                  </a:solidFill>
                  <a:prstDash val="solid"/>
                  <a:headEnd type="none" w="med" len="med"/>
                  <a:tailEnd type="none" w="med" len="med"/>
                </a:ln>
              </p:spPr>
            </p:sp>
          </p:grpSp>
          <p:grpSp>
            <p:nvGrpSpPr>
              <p:cNvPr id="25709" name="Group 43"/>
              <p:cNvGrpSpPr/>
              <p:nvPr/>
            </p:nvGrpSpPr>
            <p:grpSpPr>
              <a:xfrm>
                <a:off x="4320" y="2152"/>
                <a:ext cx="520" cy="160"/>
                <a:chOff x="4320" y="2152"/>
                <a:chExt cx="520" cy="160"/>
              </a:xfrm>
            </p:grpSpPr>
            <p:sp>
              <p:nvSpPr>
                <p:cNvPr id="25717" name="Line 44"/>
                <p:cNvSpPr/>
                <p:nvPr/>
              </p:nvSpPr>
              <p:spPr>
                <a:xfrm>
                  <a:off x="4328" y="2304"/>
                  <a:ext cx="272" cy="0"/>
                </a:xfrm>
                <a:prstGeom prst="line">
                  <a:avLst/>
                </a:prstGeom>
                <a:ln w="25400" cap="flat" cmpd="sng">
                  <a:solidFill>
                    <a:schemeClr val="tx1"/>
                  </a:solidFill>
                  <a:prstDash val="solid"/>
                  <a:headEnd type="none" w="med" len="med"/>
                  <a:tailEnd type="none" w="med" len="med"/>
                </a:ln>
              </p:spPr>
            </p:sp>
            <p:sp>
              <p:nvSpPr>
                <p:cNvPr id="25718" name="Line 45"/>
                <p:cNvSpPr/>
                <p:nvPr/>
              </p:nvSpPr>
              <p:spPr>
                <a:xfrm>
                  <a:off x="4320" y="2168"/>
                  <a:ext cx="0" cy="128"/>
                </a:xfrm>
                <a:prstGeom prst="line">
                  <a:avLst/>
                </a:prstGeom>
                <a:ln w="25400" cap="flat" cmpd="sng">
                  <a:solidFill>
                    <a:schemeClr val="tx1"/>
                  </a:solidFill>
                  <a:prstDash val="solid"/>
                  <a:headEnd type="none" w="med" len="med"/>
                  <a:tailEnd type="none" w="med" len="med"/>
                </a:ln>
              </p:spPr>
            </p:sp>
            <p:sp>
              <p:nvSpPr>
                <p:cNvPr id="25719" name="Line 46"/>
                <p:cNvSpPr/>
                <p:nvPr/>
              </p:nvSpPr>
              <p:spPr>
                <a:xfrm flipV="1">
                  <a:off x="4608" y="2152"/>
                  <a:ext cx="0" cy="160"/>
                </a:xfrm>
                <a:prstGeom prst="line">
                  <a:avLst/>
                </a:prstGeom>
                <a:ln w="25400" cap="flat" cmpd="sng">
                  <a:solidFill>
                    <a:schemeClr val="tx1"/>
                  </a:solidFill>
                  <a:prstDash val="solid"/>
                  <a:headEnd type="none" w="med" len="med"/>
                  <a:tailEnd type="none" w="med" len="med"/>
                </a:ln>
              </p:spPr>
            </p:sp>
            <p:sp>
              <p:nvSpPr>
                <p:cNvPr id="25720" name="Line 47"/>
                <p:cNvSpPr/>
                <p:nvPr/>
              </p:nvSpPr>
              <p:spPr>
                <a:xfrm>
                  <a:off x="4616" y="2160"/>
                  <a:ext cx="224" cy="0"/>
                </a:xfrm>
                <a:prstGeom prst="line">
                  <a:avLst/>
                </a:prstGeom>
                <a:ln w="25400" cap="flat" cmpd="sng">
                  <a:solidFill>
                    <a:schemeClr val="tx1"/>
                  </a:solidFill>
                  <a:prstDash val="solid"/>
                  <a:headEnd type="none" w="med" len="med"/>
                  <a:tailEnd type="none" w="med" len="med"/>
                </a:ln>
              </p:spPr>
            </p:sp>
          </p:grpSp>
          <p:sp>
            <p:nvSpPr>
              <p:cNvPr id="25710" name="Line 48"/>
              <p:cNvSpPr/>
              <p:nvPr/>
            </p:nvSpPr>
            <p:spPr>
              <a:xfrm>
                <a:off x="392" y="2160"/>
                <a:ext cx="224" cy="0"/>
              </a:xfrm>
              <a:prstGeom prst="line">
                <a:avLst/>
              </a:prstGeom>
              <a:ln w="25400" cap="flat" cmpd="sng">
                <a:solidFill>
                  <a:schemeClr val="tx1"/>
                </a:solidFill>
                <a:prstDash val="solid"/>
                <a:headEnd type="none" w="med" len="med"/>
                <a:tailEnd type="none" w="med" len="med"/>
              </a:ln>
            </p:spPr>
          </p:sp>
          <p:grpSp>
            <p:nvGrpSpPr>
              <p:cNvPr id="25711" name="Group 49"/>
              <p:cNvGrpSpPr/>
              <p:nvPr/>
            </p:nvGrpSpPr>
            <p:grpSpPr>
              <a:xfrm>
                <a:off x="4848" y="2152"/>
                <a:ext cx="520" cy="160"/>
                <a:chOff x="4848" y="2152"/>
                <a:chExt cx="520" cy="160"/>
              </a:xfrm>
            </p:grpSpPr>
            <p:sp>
              <p:nvSpPr>
                <p:cNvPr id="25713" name="Line 50"/>
                <p:cNvSpPr/>
                <p:nvPr/>
              </p:nvSpPr>
              <p:spPr>
                <a:xfrm>
                  <a:off x="4856" y="2304"/>
                  <a:ext cx="272" cy="0"/>
                </a:xfrm>
                <a:prstGeom prst="line">
                  <a:avLst/>
                </a:prstGeom>
                <a:ln w="25400" cap="flat" cmpd="sng">
                  <a:solidFill>
                    <a:schemeClr val="tx1"/>
                  </a:solidFill>
                  <a:prstDash val="solid"/>
                  <a:headEnd type="none" w="med" len="med"/>
                  <a:tailEnd type="none" w="med" len="med"/>
                </a:ln>
              </p:spPr>
            </p:sp>
            <p:sp>
              <p:nvSpPr>
                <p:cNvPr id="25714" name="Line 51"/>
                <p:cNvSpPr/>
                <p:nvPr/>
              </p:nvSpPr>
              <p:spPr>
                <a:xfrm>
                  <a:off x="4848" y="2168"/>
                  <a:ext cx="0" cy="128"/>
                </a:xfrm>
                <a:prstGeom prst="line">
                  <a:avLst/>
                </a:prstGeom>
                <a:ln w="25400" cap="flat" cmpd="sng">
                  <a:solidFill>
                    <a:schemeClr val="tx1"/>
                  </a:solidFill>
                  <a:prstDash val="solid"/>
                  <a:headEnd type="none" w="med" len="med"/>
                  <a:tailEnd type="none" w="med" len="med"/>
                </a:ln>
              </p:spPr>
            </p:sp>
            <p:sp>
              <p:nvSpPr>
                <p:cNvPr id="25715" name="Line 52"/>
                <p:cNvSpPr/>
                <p:nvPr/>
              </p:nvSpPr>
              <p:spPr>
                <a:xfrm flipV="1">
                  <a:off x="5136" y="2152"/>
                  <a:ext cx="0" cy="160"/>
                </a:xfrm>
                <a:prstGeom prst="line">
                  <a:avLst/>
                </a:prstGeom>
                <a:ln w="25400" cap="flat" cmpd="sng">
                  <a:solidFill>
                    <a:schemeClr val="tx1"/>
                  </a:solidFill>
                  <a:prstDash val="solid"/>
                  <a:headEnd type="none" w="med" len="med"/>
                  <a:tailEnd type="none" w="med" len="med"/>
                </a:ln>
              </p:spPr>
            </p:sp>
            <p:sp>
              <p:nvSpPr>
                <p:cNvPr id="25716" name="Line 53"/>
                <p:cNvSpPr/>
                <p:nvPr/>
              </p:nvSpPr>
              <p:spPr>
                <a:xfrm>
                  <a:off x="5144" y="2160"/>
                  <a:ext cx="224" cy="0"/>
                </a:xfrm>
                <a:prstGeom prst="line">
                  <a:avLst/>
                </a:prstGeom>
                <a:ln w="25400" cap="flat" cmpd="sng">
                  <a:solidFill>
                    <a:schemeClr val="tx1"/>
                  </a:solidFill>
                  <a:prstDash val="solid"/>
                  <a:headEnd type="none" w="med" len="med"/>
                  <a:tailEnd type="none" w="med" len="med"/>
                </a:ln>
              </p:spPr>
            </p:sp>
          </p:grpSp>
          <p:sp>
            <p:nvSpPr>
              <p:cNvPr id="25712" name="Line 54"/>
              <p:cNvSpPr/>
              <p:nvPr/>
            </p:nvSpPr>
            <p:spPr>
              <a:xfrm>
                <a:off x="5376" y="2168"/>
                <a:ext cx="0" cy="128"/>
              </a:xfrm>
              <a:prstGeom prst="line">
                <a:avLst/>
              </a:prstGeom>
              <a:ln w="25400" cap="flat" cmpd="sng">
                <a:solidFill>
                  <a:schemeClr val="tx1"/>
                </a:solidFill>
                <a:prstDash val="solid"/>
                <a:headEnd type="none" w="med" len="med"/>
                <a:tailEnd type="none" w="med" len="med"/>
              </a:ln>
            </p:spPr>
          </p:sp>
        </p:grpSp>
        <p:sp>
          <p:nvSpPr>
            <p:cNvPr id="25609" name="Line 55"/>
            <p:cNvSpPr/>
            <p:nvPr/>
          </p:nvSpPr>
          <p:spPr>
            <a:xfrm flipV="1">
              <a:off x="680" y="2238"/>
              <a:ext cx="0" cy="208"/>
            </a:xfrm>
            <a:prstGeom prst="line">
              <a:avLst/>
            </a:prstGeom>
            <a:ln w="25400" cap="flat" cmpd="sng">
              <a:solidFill>
                <a:schemeClr val="tx1"/>
              </a:solidFill>
              <a:prstDash val="sysDot"/>
              <a:headEnd type="none" w="med" len="med"/>
              <a:tailEnd type="none" w="med" len="med"/>
            </a:ln>
          </p:spPr>
        </p:sp>
        <p:sp>
          <p:nvSpPr>
            <p:cNvPr id="25610" name="Line 56"/>
            <p:cNvSpPr/>
            <p:nvPr/>
          </p:nvSpPr>
          <p:spPr>
            <a:xfrm flipV="1">
              <a:off x="1228" y="2238"/>
              <a:ext cx="0" cy="208"/>
            </a:xfrm>
            <a:prstGeom prst="line">
              <a:avLst/>
            </a:prstGeom>
            <a:ln w="25400" cap="flat" cmpd="sng">
              <a:solidFill>
                <a:schemeClr val="tx1"/>
              </a:solidFill>
              <a:prstDash val="sysDot"/>
              <a:headEnd type="none" w="med" len="med"/>
              <a:tailEnd type="none" w="med" len="med"/>
            </a:ln>
          </p:spPr>
        </p:sp>
        <p:sp>
          <p:nvSpPr>
            <p:cNvPr id="25611" name="Rectangle 57"/>
            <p:cNvSpPr/>
            <p:nvPr/>
          </p:nvSpPr>
          <p:spPr>
            <a:xfrm>
              <a:off x="721" y="2246"/>
              <a:ext cx="56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1</a:t>
              </a:r>
              <a:endParaRPr lang="en-US" altLang="zh-CN" sz="1800" b="1" dirty="0">
                <a:latin typeface="Times New Roman" panose="02020603050405020304" pitchFamily="18" charset="0"/>
              </a:endParaRPr>
            </a:p>
          </p:txBody>
        </p:sp>
        <p:sp>
          <p:nvSpPr>
            <p:cNvPr id="25612" name="Rectangle 58"/>
            <p:cNvSpPr/>
            <p:nvPr/>
          </p:nvSpPr>
          <p:spPr>
            <a:xfrm>
              <a:off x="1219" y="2246"/>
              <a:ext cx="567"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2</a:t>
              </a:r>
              <a:endParaRPr lang="en-US" altLang="zh-CN" sz="1800" b="1" dirty="0">
                <a:latin typeface="Times New Roman" panose="02020603050405020304" pitchFamily="18" charset="0"/>
              </a:endParaRPr>
            </a:p>
          </p:txBody>
        </p:sp>
        <p:sp>
          <p:nvSpPr>
            <p:cNvPr id="25613" name="Line 59"/>
            <p:cNvSpPr/>
            <p:nvPr/>
          </p:nvSpPr>
          <p:spPr>
            <a:xfrm flipV="1">
              <a:off x="1776" y="2238"/>
              <a:ext cx="0" cy="208"/>
            </a:xfrm>
            <a:prstGeom prst="line">
              <a:avLst/>
            </a:prstGeom>
            <a:ln w="25400" cap="flat" cmpd="sng">
              <a:solidFill>
                <a:schemeClr val="tx1"/>
              </a:solidFill>
              <a:prstDash val="sysDot"/>
              <a:headEnd type="none" w="med" len="med"/>
              <a:tailEnd type="none" w="med" len="med"/>
            </a:ln>
          </p:spPr>
        </p:sp>
        <p:sp>
          <p:nvSpPr>
            <p:cNvPr id="25614" name="Line 60"/>
            <p:cNvSpPr/>
            <p:nvPr/>
          </p:nvSpPr>
          <p:spPr>
            <a:xfrm flipV="1">
              <a:off x="2324" y="2238"/>
              <a:ext cx="0" cy="208"/>
            </a:xfrm>
            <a:prstGeom prst="line">
              <a:avLst/>
            </a:prstGeom>
            <a:ln w="25400" cap="flat" cmpd="sng">
              <a:solidFill>
                <a:schemeClr val="tx1"/>
              </a:solidFill>
              <a:prstDash val="sysDot"/>
              <a:headEnd type="none" w="med" len="med"/>
              <a:tailEnd type="none" w="med" len="med"/>
            </a:ln>
          </p:spPr>
        </p:sp>
        <p:sp>
          <p:nvSpPr>
            <p:cNvPr id="25615" name="Line 61"/>
            <p:cNvSpPr/>
            <p:nvPr/>
          </p:nvSpPr>
          <p:spPr>
            <a:xfrm flipV="1">
              <a:off x="2872" y="2238"/>
              <a:ext cx="0" cy="208"/>
            </a:xfrm>
            <a:prstGeom prst="line">
              <a:avLst/>
            </a:prstGeom>
            <a:ln w="25400" cap="flat" cmpd="sng">
              <a:solidFill>
                <a:schemeClr val="tx1"/>
              </a:solidFill>
              <a:prstDash val="sysDot"/>
              <a:headEnd type="none" w="med" len="med"/>
              <a:tailEnd type="none" w="med" len="med"/>
            </a:ln>
          </p:spPr>
        </p:sp>
        <p:sp>
          <p:nvSpPr>
            <p:cNvPr id="25616" name="Line 62"/>
            <p:cNvSpPr/>
            <p:nvPr/>
          </p:nvSpPr>
          <p:spPr>
            <a:xfrm flipV="1">
              <a:off x="3420" y="2238"/>
              <a:ext cx="0" cy="208"/>
            </a:xfrm>
            <a:prstGeom prst="line">
              <a:avLst/>
            </a:prstGeom>
            <a:ln w="25400" cap="flat" cmpd="sng">
              <a:solidFill>
                <a:schemeClr val="tx1"/>
              </a:solidFill>
              <a:prstDash val="sysDot"/>
              <a:headEnd type="none" w="med" len="med"/>
              <a:tailEnd type="none" w="med" len="med"/>
            </a:ln>
          </p:spPr>
        </p:sp>
        <p:sp>
          <p:nvSpPr>
            <p:cNvPr id="25617" name="Line 63"/>
            <p:cNvSpPr/>
            <p:nvPr/>
          </p:nvSpPr>
          <p:spPr>
            <a:xfrm flipV="1">
              <a:off x="3968" y="2238"/>
              <a:ext cx="0" cy="208"/>
            </a:xfrm>
            <a:prstGeom prst="line">
              <a:avLst/>
            </a:prstGeom>
            <a:ln w="25400" cap="flat" cmpd="sng">
              <a:solidFill>
                <a:schemeClr val="tx1"/>
              </a:solidFill>
              <a:prstDash val="sysDot"/>
              <a:headEnd type="none" w="med" len="med"/>
              <a:tailEnd type="none" w="med" len="med"/>
            </a:ln>
          </p:spPr>
        </p:sp>
        <p:sp>
          <p:nvSpPr>
            <p:cNvPr id="25618" name="Line 64"/>
            <p:cNvSpPr/>
            <p:nvPr/>
          </p:nvSpPr>
          <p:spPr>
            <a:xfrm flipV="1">
              <a:off x="4516" y="2238"/>
              <a:ext cx="0" cy="208"/>
            </a:xfrm>
            <a:prstGeom prst="line">
              <a:avLst/>
            </a:prstGeom>
            <a:ln w="25400" cap="flat" cmpd="sng">
              <a:solidFill>
                <a:schemeClr val="tx1"/>
              </a:solidFill>
              <a:prstDash val="sysDot"/>
              <a:headEnd type="none" w="med" len="med"/>
              <a:tailEnd type="none" w="med" len="med"/>
            </a:ln>
          </p:spPr>
        </p:sp>
        <p:sp>
          <p:nvSpPr>
            <p:cNvPr id="25619" name="Line 65"/>
            <p:cNvSpPr/>
            <p:nvPr/>
          </p:nvSpPr>
          <p:spPr>
            <a:xfrm flipV="1">
              <a:off x="5064" y="2238"/>
              <a:ext cx="0" cy="208"/>
            </a:xfrm>
            <a:prstGeom prst="line">
              <a:avLst/>
            </a:prstGeom>
            <a:ln w="25400" cap="flat" cmpd="sng">
              <a:solidFill>
                <a:schemeClr val="tx1"/>
              </a:solidFill>
              <a:prstDash val="sysDot"/>
              <a:headEnd type="none" w="med" len="med"/>
              <a:tailEnd type="none" w="med" len="med"/>
            </a:ln>
          </p:spPr>
        </p:sp>
        <p:sp>
          <p:nvSpPr>
            <p:cNvPr id="25620" name="Line 66"/>
            <p:cNvSpPr/>
            <p:nvPr/>
          </p:nvSpPr>
          <p:spPr>
            <a:xfrm flipV="1">
              <a:off x="5612" y="2238"/>
              <a:ext cx="0" cy="208"/>
            </a:xfrm>
            <a:prstGeom prst="line">
              <a:avLst/>
            </a:prstGeom>
            <a:ln w="25400" cap="flat" cmpd="sng">
              <a:solidFill>
                <a:schemeClr val="tx1"/>
              </a:solidFill>
              <a:prstDash val="sysDot"/>
              <a:headEnd type="none" w="med" len="med"/>
              <a:tailEnd type="none" w="med" len="med"/>
            </a:ln>
          </p:spPr>
        </p:sp>
        <p:sp>
          <p:nvSpPr>
            <p:cNvPr id="25621" name="Rectangle 67"/>
            <p:cNvSpPr/>
            <p:nvPr/>
          </p:nvSpPr>
          <p:spPr>
            <a:xfrm>
              <a:off x="1817" y="2246"/>
              <a:ext cx="56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3</a:t>
              </a:r>
              <a:endParaRPr lang="en-US" altLang="zh-CN" sz="1800" b="1" dirty="0">
                <a:latin typeface="Times New Roman" panose="02020603050405020304" pitchFamily="18" charset="0"/>
              </a:endParaRPr>
            </a:p>
          </p:txBody>
        </p:sp>
        <p:sp>
          <p:nvSpPr>
            <p:cNvPr id="25622" name="Rectangle 68"/>
            <p:cNvSpPr/>
            <p:nvPr/>
          </p:nvSpPr>
          <p:spPr>
            <a:xfrm>
              <a:off x="2315" y="2246"/>
              <a:ext cx="56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4</a:t>
              </a:r>
              <a:endParaRPr lang="en-US" altLang="zh-CN" sz="1800" b="1" dirty="0">
                <a:latin typeface="Times New Roman" panose="02020603050405020304" pitchFamily="18" charset="0"/>
              </a:endParaRPr>
            </a:p>
          </p:txBody>
        </p:sp>
        <p:sp>
          <p:nvSpPr>
            <p:cNvPr id="25623" name="Rectangle 69"/>
            <p:cNvSpPr/>
            <p:nvPr/>
          </p:nvSpPr>
          <p:spPr>
            <a:xfrm>
              <a:off x="2863" y="2246"/>
              <a:ext cx="56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5</a:t>
              </a:r>
              <a:endParaRPr lang="en-US" altLang="zh-CN" sz="1800" b="1" dirty="0">
                <a:latin typeface="Times New Roman" panose="02020603050405020304" pitchFamily="18" charset="0"/>
              </a:endParaRPr>
            </a:p>
          </p:txBody>
        </p:sp>
        <p:sp>
          <p:nvSpPr>
            <p:cNvPr id="25624" name="Rectangle 70"/>
            <p:cNvSpPr/>
            <p:nvPr/>
          </p:nvSpPr>
          <p:spPr>
            <a:xfrm>
              <a:off x="3411" y="2246"/>
              <a:ext cx="56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6</a:t>
              </a:r>
              <a:endParaRPr lang="en-US" altLang="zh-CN" sz="1800" b="1" dirty="0">
                <a:latin typeface="Times New Roman" panose="02020603050405020304" pitchFamily="18" charset="0"/>
              </a:endParaRPr>
            </a:p>
          </p:txBody>
        </p:sp>
        <p:sp>
          <p:nvSpPr>
            <p:cNvPr id="25625" name="Rectangle 71"/>
            <p:cNvSpPr/>
            <p:nvPr/>
          </p:nvSpPr>
          <p:spPr>
            <a:xfrm>
              <a:off x="3959" y="2246"/>
              <a:ext cx="56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7</a:t>
              </a:r>
              <a:endParaRPr lang="en-US" altLang="zh-CN" sz="1800" b="1" dirty="0">
                <a:latin typeface="Times New Roman" panose="02020603050405020304" pitchFamily="18" charset="0"/>
              </a:endParaRPr>
            </a:p>
          </p:txBody>
        </p:sp>
        <p:sp>
          <p:nvSpPr>
            <p:cNvPr id="25626" name="Rectangle 72"/>
            <p:cNvSpPr/>
            <p:nvPr/>
          </p:nvSpPr>
          <p:spPr>
            <a:xfrm>
              <a:off x="4506" y="2246"/>
              <a:ext cx="56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8</a:t>
              </a:r>
              <a:endParaRPr lang="en-US" altLang="zh-CN" sz="1800" b="1" dirty="0">
                <a:latin typeface="Times New Roman" panose="02020603050405020304" pitchFamily="18" charset="0"/>
              </a:endParaRPr>
            </a:p>
          </p:txBody>
        </p:sp>
        <p:sp>
          <p:nvSpPr>
            <p:cNvPr id="25627" name="Rectangle 73"/>
            <p:cNvSpPr/>
            <p:nvPr/>
          </p:nvSpPr>
          <p:spPr>
            <a:xfrm>
              <a:off x="5054" y="2246"/>
              <a:ext cx="567"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Cycle 9</a:t>
              </a:r>
              <a:endParaRPr lang="en-US" altLang="zh-CN" sz="1800" b="1" dirty="0">
                <a:latin typeface="Times New Roman" panose="02020603050405020304" pitchFamily="18" charset="0"/>
              </a:endParaRPr>
            </a:p>
          </p:txBody>
        </p:sp>
        <p:grpSp>
          <p:nvGrpSpPr>
            <p:cNvPr id="25628" name="Group 74"/>
            <p:cNvGrpSpPr/>
            <p:nvPr/>
          </p:nvGrpSpPr>
          <p:grpSpPr>
            <a:xfrm>
              <a:off x="701" y="2774"/>
              <a:ext cx="540" cy="229"/>
              <a:chOff x="644" y="2448"/>
              <a:chExt cx="521" cy="229"/>
            </a:xfrm>
          </p:grpSpPr>
          <p:sp>
            <p:nvSpPr>
              <p:cNvPr id="25700" name="Rectangle 75"/>
              <p:cNvSpPr/>
              <p:nvPr/>
            </p:nvSpPr>
            <p:spPr>
              <a:xfrm>
                <a:off x="644" y="2456"/>
                <a:ext cx="521"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701" name="Rectangle 76"/>
              <p:cNvSpPr/>
              <p:nvPr/>
            </p:nvSpPr>
            <p:spPr>
              <a:xfrm>
                <a:off x="673" y="2448"/>
                <a:ext cx="458"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Ifetch</a:t>
                </a:r>
                <a:endParaRPr lang="en-US" altLang="zh-CN" sz="1800" b="1" dirty="0">
                  <a:latin typeface="Times New Roman" panose="02020603050405020304" pitchFamily="18" charset="0"/>
                </a:endParaRPr>
              </a:p>
            </p:txBody>
          </p:sp>
        </p:grpSp>
        <p:grpSp>
          <p:nvGrpSpPr>
            <p:cNvPr id="25629" name="Group 77"/>
            <p:cNvGrpSpPr/>
            <p:nvPr/>
          </p:nvGrpSpPr>
          <p:grpSpPr>
            <a:xfrm>
              <a:off x="1214" y="2770"/>
              <a:ext cx="711" cy="229"/>
              <a:chOff x="1138" y="2444"/>
              <a:chExt cx="685" cy="229"/>
            </a:xfrm>
          </p:grpSpPr>
          <p:sp>
            <p:nvSpPr>
              <p:cNvPr id="25698" name="Rectangle 78"/>
              <p:cNvSpPr/>
              <p:nvPr/>
            </p:nvSpPr>
            <p:spPr>
              <a:xfrm>
                <a:off x="1160" y="2456"/>
                <a:ext cx="543"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99" name="Rectangle 79"/>
              <p:cNvSpPr/>
              <p:nvPr/>
            </p:nvSpPr>
            <p:spPr>
              <a:xfrm>
                <a:off x="1138" y="2444"/>
                <a:ext cx="685" cy="229"/>
              </a:xfrm>
              <a:prstGeom prst="rect">
                <a:avLst/>
              </a:prstGeom>
              <a:noFill/>
              <a:ln w="12700">
                <a:noFill/>
              </a:ln>
            </p:spPr>
            <p:txBody>
              <a:bodyPr wrap="square" lIns="90488" tIns="44450" rIns="90488" bIns="44450">
                <a:spAutoFit/>
              </a:bodyPr>
              <a:p>
                <a:pPr eaLnBrk="0" hangingPunct="0"/>
                <a:r>
                  <a:rPr lang="en-US" altLang="zh-CN" sz="1800" b="1" dirty="0">
                    <a:latin typeface="Times New Roman" panose="02020603050405020304" pitchFamily="18" charset="0"/>
                  </a:rPr>
                  <a:t>Reg/Dec</a:t>
                </a:r>
                <a:endParaRPr lang="en-US" altLang="zh-CN" sz="1800" b="1" dirty="0">
                  <a:latin typeface="Times New Roman" panose="02020603050405020304" pitchFamily="18" charset="0"/>
                </a:endParaRPr>
              </a:p>
            </p:txBody>
          </p:sp>
        </p:grpSp>
        <p:grpSp>
          <p:nvGrpSpPr>
            <p:cNvPr id="25630" name="Group 80"/>
            <p:cNvGrpSpPr/>
            <p:nvPr/>
          </p:nvGrpSpPr>
          <p:grpSpPr>
            <a:xfrm>
              <a:off x="2880" y="2774"/>
              <a:ext cx="532" cy="229"/>
              <a:chOff x="2744" y="2448"/>
              <a:chExt cx="512" cy="229"/>
            </a:xfrm>
          </p:grpSpPr>
          <p:sp>
            <p:nvSpPr>
              <p:cNvPr id="25696" name="Rectangle 81"/>
              <p:cNvSpPr/>
              <p:nvPr/>
            </p:nvSpPr>
            <p:spPr>
              <a:xfrm>
                <a:off x="2744" y="2456"/>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97" name="Rectangle 82"/>
              <p:cNvSpPr/>
              <p:nvPr/>
            </p:nvSpPr>
            <p:spPr>
              <a:xfrm>
                <a:off x="2823" y="2448"/>
                <a:ext cx="310"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Wr</a:t>
                </a:r>
                <a:endParaRPr lang="en-US" altLang="zh-CN" sz="1800" b="1" dirty="0">
                  <a:latin typeface="Times New Roman" panose="02020603050405020304" pitchFamily="18" charset="0"/>
                </a:endParaRPr>
              </a:p>
            </p:txBody>
          </p:sp>
        </p:grpSp>
        <p:sp>
          <p:nvSpPr>
            <p:cNvPr id="25631" name="Rectangle 83"/>
            <p:cNvSpPr/>
            <p:nvPr/>
          </p:nvSpPr>
          <p:spPr>
            <a:xfrm>
              <a:off x="223" y="2774"/>
              <a:ext cx="34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add</a:t>
              </a:r>
              <a:endParaRPr lang="en-US" altLang="zh-CN" sz="1800" b="1" dirty="0">
                <a:latin typeface="Times New Roman" panose="02020603050405020304" pitchFamily="18" charset="0"/>
              </a:endParaRPr>
            </a:p>
          </p:txBody>
        </p:sp>
        <p:grpSp>
          <p:nvGrpSpPr>
            <p:cNvPr id="25632" name="Group 84"/>
            <p:cNvGrpSpPr/>
            <p:nvPr/>
          </p:nvGrpSpPr>
          <p:grpSpPr>
            <a:xfrm>
              <a:off x="1222" y="3124"/>
              <a:ext cx="562" cy="229"/>
              <a:chOff x="1146" y="2736"/>
              <a:chExt cx="542" cy="229"/>
            </a:xfrm>
          </p:grpSpPr>
          <p:sp>
            <p:nvSpPr>
              <p:cNvPr id="25694" name="Rectangle 85"/>
              <p:cNvSpPr/>
              <p:nvPr/>
            </p:nvSpPr>
            <p:spPr>
              <a:xfrm>
                <a:off x="1146" y="2744"/>
                <a:ext cx="54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95" name="Rectangle 86"/>
              <p:cNvSpPr/>
              <p:nvPr/>
            </p:nvSpPr>
            <p:spPr>
              <a:xfrm>
                <a:off x="1201" y="2736"/>
                <a:ext cx="458"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Ifetch</a:t>
                </a:r>
                <a:endParaRPr lang="en-US" altLang="zh-CN" sz="1800" b="1" dirty="0">
                  <a:latin typeface="Times New Roman" panose="02020603050405020304" pitchFamily="18" charset="0"/>
                </a:endParaRPr>
              </a:p>
            </p:txBody>
          </p:sp>
        </p:grpSp>
        <p:grpSp>
          <p:nvGrpSpPr>
            <p:cNvPr id="25633" name="Group 87"/>
            <p:cNvGrpSpPr/>
            <p:nvPr/>
          </p:nvGrpSpPr>
          <p:grpSpPr>
            <a:xfrm>
              <a:off x="1767" y="3124"/>
              <a:ext cx="626" cy="229"/>
              <a:chOff x="1671" y="2736"/>
              <a:chExt cx="603" cy="229"/>
            </a:xfrm>
          </p:grpSpPr>
          <p:sp>
            <p:nvSpPr>
              <p:cNvPr id="25692" name="Rectangle 88"/>
              <p:cNvSpPr/>
              <p:nvPr/>
            </p:nvSpPr>
            <p:spPr>
              <a:xfrm>
                <a:off x="1688" y="2744"/>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93" name="Rectangle 89"/>
              <p:cNvSpPr/>
              <p:nvPr/>
            </p:nvSpPr>
            <p:spPr>
              <a:xfrm>
                <a:off x="1671" y="2736"/>
                <a:ext cx="603"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Reg/Dec</a:t>
                </a:r>
                <a:endParaRPr lang="en-US" altLang="zh-CN" sz="1800" b="1" dirty="0">
                  <a:latin typeface="Times New Roman" panose="02020603050405020304" pitchFamily="18" charset="0"/>
                </a:endParaRPr>
              </a:p>
            </p:txBody>
          </p:sp>
        </p:grpSp>
        <p:grpSp>
          <p:nvGrpSpPr>
            <p:cNvPr id="25634" name="Group 90"/>
            <p:cNvGrpSpPr/>
            <p:nvPr/>
          </p:nvGrpSpPr>
          <p:grpSpPr>
            <a:xfrm>
              <a:off x="3418" y="3124"/>
              <a:ext cx="531" cy="229"/>
              <a:chOff x="3272" y="2736"/>
              <a:chExt cx="512" cy="229"/>
            </a:xfrm>
          </p:grpSpPr>
          <p:sp>
            <p:nvSpPr>
              <p:cNvPr id="25690" name="Rectangle 91"/>
              <p:cNvSpPr/>
              <p:nvPr/>
            </p:nvSpPr>
            <p:spPr>
              <a:xfrm>
                <a:off x="3272" y="2736"/>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91" name="Rectangle 92"/>
              <p:cNvSpPr/>
              <p:nvPr/>
            </p:nvSpPr>
            <p:spPr>
              <a:xfrm>
                <a:off x="3351" y="2736"/>
                <a:ext cx="311"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Wr</a:t>
                </a:r>
                <a:endParaRPr lang="en-US" altLang="zh-CN" sz="1800" b="1" dirty="0">
                  <a:latin typeface="Times New Roman" panose="02020603050405020304" pitchFamily="18" charset="0"/>
                </a:endParaRPr>
              </a:p>
            </p:txBody>
          </p:sp>
        </p:grpSp>
        <p:sp>
          <p:nvSpPr>
            <p:cNvPr id="25635" name="Rectangle 93"/>
            <p:cNvSpPr/>
            <p:nvPr/>
          </p:nvSpPr>
          <p:spPr>
            <a:xfrm>
              <a:off x="721" y="3124"/>
              <a:ext cx="330"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sub</a:t>
              </a:r>
              <a:endParaRPr lang="en-US" altLang="zh-CN" sz="1800" b="1" dirty="0">
                <a:latin typeface="Times New Roman" panose="02020603050405020304" pitchFamily="18" charset="0"/>
              </a:endParaRPr>
            </a:p>
          </p:txBody>
        </p:sp>
        <p:grpSp>
          <p:nvGrpSpPr>
            <p:cNvPr id="25636" name="Group 94"/>
            <p:cNvGrpSpPr/>
            <p:nvPr/>
          </p:nvGrpSpPr>
          <p:grpSpPr>
            <a:xfrm>
              <a:off x="1800" y="3457"/>
              <a:ext cx="532" cy="229"/>
              <a:chOff x="1703" y="3024"/>
              <a:chExt cx="512" cy="229"/>
            </a:xfrm>
          </p:grpSpPr>
          <p:sp>
            <p:nvSpPr>
              <p:cNvPr id="25688" name="Rectangle 95"/>
              <p:cNvSpPr/>
              <p:nvPr/>
            </p:nvSpPr>
            <p:spPr>
              <a:xfrm>
                <a:off x="1703" y="3032"/>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89" name="Rectangle 96"/>
              <p:cNvSpPr/>
              <p:nvPr/>
            </p:nvSpPr>
            <p:spPr>
              <a:xfrm>
                <a:off x="1729" y="3024"/>
                <a:ext cx="458"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Ifetch</a:t>
                </a:r>
                <a:endParaRPr lang="en-US" altLang="zh-CN" sz="1800" b="1" dirty="0">
                  <a:latin typeface="Times New Roman" panose="02020603050405020304" pitchFamily="18" charset="0"/>
                </a:endParaRPr>
              </a:p>
            </p:txBody>
          </p:sp>
        </p:grpSp>
        <p:grpSp>
          <p:nvGrpSpPr>
            <p:cNvPr id="25637" name="Group 97"/>
            <p:cNvGrpSpPr/>
            <p:nvPr/>
          </p:nvGrpSpPr>
          <p:grpSpPr>
            <a:xfrm>
              <a:off x="2315" y="3457"/>
              <a:ext cx="626" cy="229"/>
              <a:chOff x="2199" y="3024"/>
              <a:chExt cx="603" cy="229"/>
            </a:xfrm>
          </p:grpSpPr>
          <p:sp>
            <p:nvSpPr>
              <p:cNvPr id="25686" name="Rectangle 98"/>
              <p:cNvSpPr/>
              <p:nvPr/>
            </p:nvSpPr>
            <p:spPr>
              <a:xfrm>
                <a:off x="2216" y="3032"/>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87" name="Rectangle 99"/>
              <p:cNvSpPr/>
              <p:nvPr/>
            </p:nvSpPr>
            <p:spPr>
              <a:xfrm>
                <a:off x="2199" y="3024"/>
                <a:ext cx="603"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Reg/Dec</a:t>
                </a:r>
                <a:endParaRPr lang="en-US" altLang="zh-CN" sz="1800" b="1" dirty="0">
                  <a:latin typeface="Times New Roman" panose="02020603050405020304" pitchFamily="18" charset="0"/>
                </a:endParaRPr>
              </a:p>
            </p:txBody>
          </p:sp>
        </p:grpSp>
        <p:grpSp>
          <p:nvGrpSpPr>
            <p:cNvPr id="25638" name="Group 100"/>
            <p:cNvGrpSpPr/>
            <p:nvPr/>
          </p:nvGrpSpPr>
          <p:grpSpPr>
            <a:xfrm>
              <a:off x="2880" y="3457"/>
              <a:ext cx="532" cy="229"/>
              <a:chOff x="2744" y="3024"/>
              <a:chExt cx="512" cy="229"/>
            </a:xfrm>
          </p:grpSpPr>
          <p:sp>
            <p:nvSpPr>
              <p:cNvPr id="25684" name="Rectangle 101"/>
              <p:cNvSpPr/>
              <p:nvPr/>
            </p:nvSpPr>
            <p:spPr>
              <a:xfrm>
                <a:off x="2744" y="3032"/>
                <a:ext cx="512" cy="176"/>
              </a:xfrm>
              <a:prstGeom prst="rect">
                <a:avLst/>
              </a:prstGeom>
              <a:noFill/>
              <a:ln w="38100"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85" name="Rectangle 102"/>
              <p:cNvSpPr/>
              <p:nvPr/>
            </p:nvSpPr>
            <p:spPr>
              <a:xfrm>
                <a:off x="2823" y="3024"/>
                <a:ext cx="395"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Exec</a:t>
                </a:r>
                <a:endParaRPr lang="en-US" altLang="zh-CN" sz="1800" b="1" dirty="0">
                  <a:latin typeface="Times New Roman" panose="02020603050405020304" pitchFamily="18" charset="0"/>
                </a:endParaRPr>
              </a:p>
            </p:txBody>
          </p:sp>
        </p:grpSp>
        <p:grpSp>
          <p:nvGrpSpPr>
            <p:cNvPr id="25639" name="Group 103"/>
            <p:cNvGrpSpPr/>
            <p:nvPr/>
          </p:nvGrpSpPr>
          <p:grpSpPr>
            <a:xfrm>
              <a:off x="3428" y="3457"/>
              <a:ext cx="532" cy="229"/>
              <a:chOff x="3272" y="3024"/>
              <a:chExt cx="512" cy="229"/>
            </a:xfrm>
          </p:grpSpPr>
          <p:sp>
            <p:nvSpPr>
              <p:cNvPr id="25682" name="Rectangle 104"/>
              <p:cNvSpPr/>
              <p:nvPr/>
            </p:nvSpPr>
            <p:spPr>
              <a:xfrm>
                <a:off x="3272" y="3032"/>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83" name="Rectangle 105"/>
              <p:cNvSpPr/>
              <p:nvPr/>
            </p:nvSpPr>
            <p:spPr>
              <a:xfrm>
                <a:off x="3351" y="3024"/>
                <a:ext cx="418"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Mem</a:t>
                </a:r>
                <a:endParaRPr lang="en-US" altLang="zh-CN" sz="1800" b="1" dirty="0">
                  <a:latin typeface="Times New Roman" panose="02020603050405020304" pitchFamily="18" charset="0"/>
                </a:endParaRPr>
              </a:p>
            </p:txBody>
          </p:sp>
        </p:grpSp>
        <p:grpSp>
          <p:nvGrpSpPr>
            <p:cNvPr id="25640" name="Group 106"/>
            <p:cNvGrpSpPr/>
            <p:nvPr/>
          </p:nvGrpSpPr>
          <p:grpSpPr>
            <a:xfrm>
              <a:off x="3948" y="3457"/>
              <a:ext cx="532" cy="229"/>
              <a:chOff x="3773" y="3024"/>
              <a:chExt cx="512" cy="229"/>
            </a:xfrm>
          </p:grpSpPr>
          <p:sp>
            <p:nvSpPr>
              <p:cNvPr id="25680" name="Rectangle 107"/>
              <p:cNvSpPr/>
              <p:nvPr/>
            </p:nvSpPr>
            <p:spPr>
              <a:xfrm>
                <a:off x="3773" y="3032"/>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81" name="Rectangle 108"/>
              <p:cNvSpPr/>
              <p:nvPr/>
            </p:nvSpPr>
            <p:spPr>
              <a:xfrm>
                <a:off x="3879" y="3024"/>
                <a:ext cx="310"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Wr</a:t>
                </a:r>
                <a:endParaRPr lang="en-US" altLang="zh-CN" sz="1800" b="1" dirty="0">
                  <a:latin typeface="Times New Roman" panose="02020603050405020304" pitchFamily="18" charset="0"/>
                </a:endParaRPr>
              </a:p>
            </p:txBody>
          </p:sp>
        </p:grpSp>
        <p:sp>
          <p:nvSpPr>
            <p:cNvPr id="25641" name="Rectangle 109"/>
            <p:cNvSpPr/>
            <p:nvPr/>
          </p:nvSpPr>
          <p:spPr>
            <a:xfrm>
              <a:off x="1278" y="3457"/>
              <a:ext cx="434"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Load</a:t>
              </a:r>
              <a:endParaRPr lang="en-US" altLang="zh-CN" sz="1800" b="1" dirty="0">
                <a:latin typeface="Times New Roman" panose="02020603050405020304" pitchFamily="18" charset="0"/>
              </a:endParaRPr>
            </a:p>
          </p:txBody>
        </p:sp>
        <p:grpSp>
          <p:nvGrpSpPr>
            <p:cNvPr id="25642" name="Group 110"/>
            <p:cNvGrpSpPr/>
            <p:nvPr/>
          </p:nvGrpSpPr>
          <p:grpSpPr>
            <a:xfrm>
              <a:off x="2332" y="3791"/>
              <a:ext cx="549" cy="229"/>
              <a:chOff x="2216" y="3312"/>
              <a:chExt cx="528" cy="229"/>
            </a:xfrm>
          </p:grpSpPr>
          <p:sp>
            <p:nvSpPr>
              <p:cNvPr id="25678" name="Rectangle 111"/>
              <p:cNvSpPr/>
              <p:nvPr/>
            </p:nvSpPr>
            <p:spPr>
              <a:xfrm>
                <a:off x="2216" y="3320"/>
                <a:ext cx="528"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79" name="Rectangle 112"/>
              <p:cNvSpPr/>
              <p:nvPr/>
            </p:nvSpPr>
            <p:spPr>
              <a:xfrm>
                <a:off x="2257" y="3312"/>
                <a:ext cx="457"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Ifetch</a:t>
                </a:r>
                <a:endParaRPr lang="en-US" altLang="zh-CN" sz="1800" b="1" dirty="0">
                  <a:latin typeface="Times New Roman" panose="02020603050405020304" pitchFamily="18" charset="0"/>
                </a:endParaRPr>
              </a:p>
            </p:txBody>
          </p:sp>
        </p:grpSp>
        <p:grpSp>
          <p:nvGrpSpPr>
            <p:cNvPr id="25643" name="Group 113"/>
            <p:cNvGrpSpPr/>
            <p:nvPr/>
          </p:nvGrpSpPr>
          <p:grpSpPr>
            <a:xfrm>
              <a:off x="2863" y="3791"/>
              <a:ext cx="626" cy="229"/>
              <a:chOff x="2727" y="3312"/>
              <a:chExt cx="604" cy="229"/>
            </a:xfrm>
          </p:grpSpPr>
          <p:sp>
            <p:nvSpPr>
              <p:cNvPr id="25676" name="Rectangle 114"/>
              <p:cNvSpPr/>
              <p:nvPr/>
            </p:nvSpPr>
            <p:spPr>
              <a:xfrm>
                <a:off x="2744" y="3320"/>
                <a:ext cx="512"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77" name="Rectangle 115"/>
              <p:cNvSpPr/>
              <p:nvPr/>
            </p:nvSpPr>
            <p:spPr>
              <a:xfrm>
                <a:off x="2727" y="3312"/>
                <a:ext cx="604"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Reg/Dec</a:t>
                </a:r>
                <a:endParaRPr lang="en-US" altLang="zh-CN" sz="1800" b="1" dirty="0">
                  <a:latin typeface="Times New Roman" panose="02020603050405020304" pitchFamily="18" charset="0"/>
                </a:endParaRPr>
              </a:p>
            </p:txBody>
          </p:sp>
        </p:grpSp>
        <p:grpSp>
          <p:nvGrpSpPr>
            <p:cNvPr id="25644" name="Group 116"/>
            <p:cNvGrpSpPr/>
            <p:nvPr/>
          </p:nvGrpSpPr>
          <p:grpSpPr>
            <a:xfrm>
              <a:off x="4499" y="3791"/>
              <a:ext cx="577" cy="229"/>
              <a:chOff x="4304" y="3312"/>
              <a:chExt cx="556" cy="229"/>
            </a:xfrm>
          </p:grpSpPr>
          <p:sp>
            <p:nvSpPr>
              <p:cNvPr id="25674" name="Rectangle 117"/>
              <p:cNvSpPr/>
              <p:nvPr/>
            </p:nvSpPr>
            <p:spPr>
              <a:xfrm>
                <a:off x="4304" y="3312"/>
                <a:ext cx="556" cy="176"/>
              </a:xfrm>
              <a:prstGeom prst="rect">
                <a:avLst/>
              </a:prstGeom>
              <a:noFill/>
              <a:ln w="254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75" name="Rectangle 118"/>
              <p:cNvSpPr/>
              <p:nvPr/>
            </p:nvSpPr>
            <p:spPr>
              <a:xfrm>
                <a:off x="4407" y="3312"/>
                <a:ext cx="310"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Wr</a:t>
                </a:r>
                <a:endParaRPr lang="en-US" altLang="zh-CN" sz="1800" b="1" dirty="0">
                  <a:latin typeface="Times New Roman" panose="02020603050405020304" pitchFamily="18" charset="0"/>
                </a:endParaRPr>
              </a:p>
            </p:txBody>
          </p:sp>
        </p:grpSp>
        <p:sp>
          <p:nvSpPr>
            <p:cNvPr id="25645" name="Rectangle 119"/>
            <p:cNvSpPr/>
            <p:nvPr/>
          </p:nvSpPr>
          <p:spPr>
            <a:xfrm>
              <a:off x="1866" y="3791"/>
              <a:ext cx="346"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add</a:t>
              </a:r>
              <a:endParaRPr lang="en-US" altLang="zh-CN" sz="1800" b="1" dirty="0">
                <a:latin typeface="Times New Roman" panose="02020603050405020304" pitchFamily="18" charset="0"/>
              </a:endParaRPr>
            </a:p>
          </p:txBody>
        </p:sp>
        <p:sp>
          <p:nvSpPr>
            <p:cNvPr id="25646" name="Line 130"/>
            <p:cNvSpPr/>
            <p:nvPr/>
          </p:nvSpPr>
          <p:spPr>
            <a:xfrm flipV="1">
              <a:off x="4516" y="2670"/>
              <a:ext cx="0" cy="640"/>
            </a:xfrm>
            <a:prstGeom prst="line">
              <a:avLst/>
            </a:prstGeom>
            <a:ln w="25400" cap="flat" cmpd="sng">
              <a:solidFill>
                <a:schemeClr val="tx1"/>
              </a:solidFill>
              <a:prstDash val="sysDot"/>
              <a:headEnd type="none" w="med" len="med"/>
              <a:tailEnd type="none" w="med" len="med"/>
            </a:ln>
          </p:spPr>
        </p:sp>
        <p:sp>
          <p:nvSpPr>
            <p:cNvPr id="25647" name="Line 131"/>
            <p:cNvSpPr/>
            <p:nvPr/>
          </p:nvSpPr>
          <p:spPr>
            <a:xfrm flipV="1">
              <a:off x="5612" y="2670"/>
              <a:ext cx="0" cy="1216"/>
            </a:xfrm>
            <a:prstGeom prst="line">
              <a:avLst/>
            </a:prstGeom>
            <a:ln w="25400" cap="flat" cmpd="sng">
              <a:solidFill>
                <a:schemeClr val="tx1"/>
              </a:solidFill>
              <a:prstDash val="sysDot"/>
              <a:headEnd type="none" w="med" len="med"/>
              <a:tailEnd type="none" w="med" len="med"/>
            </a:ln>
          </p:spPr>
        </p:sp>
        <p:sp>
          <p:nvSpPr>
            <p:cNvPr id="25648" name="Line 132"/>
            <p:cNvSpPr/>
            <p:nvPr/>
          </p:nvSpPr>
          <p:spPr>
            <a:xfrm flipV="1">
              <a:off x="3968" y="2670"/>
              <a:ext cx="0" cy="352"/>
            </a:xfrm>
            <a:prstGeom prst="line">
              <a:avLst/>
            </a:prstGeom>
            <a:ln w="25400" cap="flat" cmpd="sng">
              <a:solidFill>
                <a:schemeClr val="tx1"/>
              </a:solidFill>
              <a:prstDash val="sysDot"/>
              <a:headEnd type="none" w="med" len="med"/>
              <a:tailEnd type="none" w="med" len="med"/>
            </a:ln>
          </p:spPr>
        </p:sp>
        <p:sp>
          <p:nvSpPr>
            <p:cNvPr id="25649" name="Line 133"/>
            <p:cNvSpPr/>
            <p:nvPr/>
          </p:nvSpPr>
          <p:spPr>
            <a:xfrm flipV="1">
              <a:off x="5064" y="2670"/>
              <a:ext cx="0" cy="928"/>
            </a:xfrm>
            <a:prstGeom prst="line">
              <a:avLst/>
            </a:prstGeom>
            <a:ln w="25400" cap="flat" cmpd="sng">
              <a:solidFill>
                <a:schemeClr val="tx1"/>
              </a:solidFill>
              <a:prstDash val="sysDot"/>
              <a:headEnd type="none" w="med" len="med"/>
              <a:tailEnd type="none" w="med" len="med"/>
            </a:ln>
          </p:spPr>
        </p:sp>
        <p:grpSp>
          <p:nvGrpSpPr>
            <p:cNvPr id="25650" name="Group 134"/>
            <p:cNvGrpSpPr/>
            <p:nvPr/>
          </p:nvGrpSpPr>
          <p:grpSpPr>
            <a:xfrm>
              <a:off x="2878" y="3121"/>
              <a:ext cx="532" cy="229"/>
              <a:chOff x="3080" y="1344"/>
              <a:chExt cx="512" cy="229"/>
            </a:xfrm>
          </p:grpSpPr>
          <p:sp>
            <p:nvSpPr>
              <p:cNvPr id="25672" name="Rectangle 135"/>
              <p:cNvSpPr/>
              <p:nvPr/>
            </p:nvSpPr>
            <p:spPr>
              <a:xfrm>
                <a:off x="3080" y="1352"/>
                <a:ext cx="512" cy="176"/>
              </a:xfrm>
              <a:prstGeom prst="rect">
                <a:avLst/>
              </a:prstGeom>
              <a:noFill/>
              <a:ln w="25400"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73" name="Rectangle 136"/>
              <p:cNvSpPr/>
              <p:nvPr/>
            </p:nvSpPr>
            <p:spPr>
              <a:xfrm>
                <a:off x="3159" y="1344"/>
                <a:ext cx="418"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Mem</a:t>
                </a:r>
                <a:endParaRPr lang="en-US" altLang="zh-CN" sz="1800" b="1" dirty="0">
                  <a:latin typeface="Times New Roman" panose="02020603050405020304" pitchFamily="18" charset="0"/>
                </a:endParaRPr>
              </a:p>
            </p:txBody>
          </p:sp>
        </p:grpSp>
        <p:grpSp>
          <p:nvGrpSpPr>
            <p:cNvPr id="25651" name="Group 137"/>
            <p:cNvGrpSpPr/>
            <p:nvPr/>
          </p:nvGrpSpPr>
          <p:grpSpPr>
            <a:xfrm>
              <a:off x="3428" y="3791"/>
              <a:ext cx="532" cy="229"/>
              <a:chOff x="3272" y="3312"/>
              <a:chExt cx="512" cy="229"/>
            </a:xfrm>
          </p:grpSpPr>
          <p:sp>
            <p:nvSpPr>
              <p:cNvPr id="25670" name="Rectangle 138"/>
              <p:cNvSpPr/>
              <p:nvPr/>
            </p:nvSpPr>
            <p:spPr>
              <a:xfrm>
                <a:off x="3272" y="3320"/>
                <a:ext cx="512" cy="176"/>
              </a:xfrm>
              <a:prstGeom prst="rect">
                <a:avLst/>
              </a:prstGeom>
              <a:noFill/>
              <a:ln w="38100"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71" name="Rectangle 139"/>
              <p:cNvSpPr/>
              <p:nvPr/>
            </p:nvSpPr>
            <p:spPr>
              <a:xfrm>
                <a:off x="3354" y="3312"/>
                <a:ext cx="395"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Exec</a:t>
                </a:r>
                <a:endParaRPr lang="en-US" altLang="zh-CN" sz="1800" b="1" dirty="0">
                  <a:latin typeface="Times New Roman" panose="02020603050405020304" pitchFamily="18" charset="0"/>
                </a:endParaRPr>
              </a:p>
            </p:txBody>
          </p:sp>
        </p:grpSp>
        <p:grpSp>
          <p:nvGrpSpPr>
            <p:cNvPr id="25652" name="Group 143"/>
            <p:cNvGrpSpPr/>
            <p:nvPr/>
          </p:nvGrpSpPr>
          <p:grpSpPr>
            <a:xfrm>
              <a:off x="1784" y="2774"/>
              <a:ext cx="532" cy="229"/>
              <a:chOff x="1688" y="2448"/>
              <a:chExt cx="512" cy="229"/>
            </a:xfrm>
          </p:grpSpPr>
          <p:sp>
            <p:nvSpPr>
              <p:cNvPr id="25668" name="Rectangle 144"/>
              <p:cNvSpPr/>
              <p:nvPr/>
            </p:nvSpPr>
            <p:spPr>
              <a:xfrm>
                <a:off x="1688" y="2456"/>
                <a:ext cx="512" cy="176"/>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69" name="Rectangle 145"/>
              <p:cNvSpPr/>
              <p:nvPr/>
            </p:nvSpPr>
            <p:spPr>
              <a:xfrm>
                <a:off x="1767" y="2448"/>
                <a:ext cx="395"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Exec</a:t>
                </a:r>
                <a:endParaRPr lang="en-US" altLang="zh-CN" sz="1800" b="1" dirty="0">
                  <a:latin typeface="Times New Roman" panose="02020603050405020304" pitchFamily="18" charset="0"/>
                </a:endParaRPr>
              </a:p>
            </p:txBody>
          </p:sp>
        </p:grpSp>
        <p:grpSp>
          <p:nvGrpSpPr>
            <p:cNvPr id="25653" name="Group 146"/>
            <p:cNvGrpSpPr/>
            <p:nvPr/>
          </p:nvGrpSpPr>
          <p:grpSpPr>
            <a:xfrm>
              <a:off x="2332" y="3124"/>
              <a:ext cx="532" cy="229"/>
              <a:chOff x="2216" y="2736"/>
              <a:chExt cx="512" cy="229"/>
            </a:xfrm>
          </p:grpSpPr>
          <p:sp>
            <p:nvSpPr>
              <p:cNvPr id="25666" name="Rectangle 147"/>
              <p:cNvSpPr/>
              <p:nvPr/>
            </p:nvSpPr>
            <p:spPr>
              <a:xfrm>
                <a:off x="2216" y="2744"/>
                <a:ext cx="512" cy="176"/>
              </a:xfrm>
              <a:prstGeom prst="rect">
                <a:avLst/>
              </a:prstGeom>
              <a:noFill/>
              <a:ln w="38100"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67" name="Rectangle 148"/>
              <p:cNvSpPr/>
              <p:nvPr/>
            </p:nvSpPr>
            <p:spPr>
              <a:xfrm>
                <a:off x="2295" y="2736"/>
                <a:ext cx="395"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Exec</a:t>
                </a:r>
                <a:endParaRPr lang="en-US" altLang="zh-CN" sz="1800" b="1" dirty="0">
                  <a:latin typeface="Times New Roman" panose="02020603050405020304" pitchFamily="18" charset="0"/>
                </a:endParaRPr>
              </a:p>
            </p:txBody>
          </p:sp>
        </p:grpSp>
        <p:grpSp>
          <p:nvGrpSpPr>
            <p:cNvPr id="25654" name="Group 149"/>
            <p:cNvGrpSpPr/>
            <p:nvPr/>
          </p:nvGrpSpPr>
          <p:grpSpPr>
            <a:xfrm>
              <a:off x="2330" y="2780"/>
              <a:ext cx="532" cy="229"/>
              <a:chOff x="3080" y="1344"/>
              <a:chExt cx="512" cy="229"/>
            </a:xfrm>
          </p:grpSpPr>
          <p:sp>
            <p:nvSpPr>
              <p:cNvPr id="25664" name="Rectangle 150"/>
              <p:cNvSpPr/>
              <p:nvPr/>
            </p:nvSpPr>
            <p:spPr>
              <a:xfrm>
                <a:off x="3080" y="1352"/>
                <a:ext cx="512" cy="176"/>
              </a:xfrm>
              <a:prstGeom prst="rect">
                <a:avLst/>
              </a:prstGeom>
              <a:noFill/>
              <a:ln w="25400"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65" name="Rectangle 151"/>
              <p:cNvSpPr/>
              <p:nvPr/>
            </p:nvSpPr>
            <p:spPr>
              <a:xfrm>
                <a:off x="3159" y="1344"/>
                <a:ext cx="418" cy="229"/>
              </a:xfrm>
              <a:prstGeom prst="rect">
                <a:avLst/>
              </a:prstGeom>
              <a:noFill/>
              <a:ln w="12700">
                <a:noFill/>
              </a:ln>
            </p:spPr>
            <p:txBody>
              <a:bodyPr wrap="none" lIns="90488" tIns="44450" rIns="90488" bIns="44450">
                <a:spAutoFit/>
              </a:bodyPr>
              <a:p>
                <a:pPr eaLnBrk="0" hangingPunct="0"/>
                <a:r>
                  <a:rPr lang="en-US" altLang="zh-CN" sz="1800" b="1" dirty="0">
                    <a:latin typeface="Times New Roman" panose="02020603050405020304" pitchFamily="18" charset="0"/>
                  </a:rPr>
                  <a:t>Mem</a:t>
                </a:r>
                <a:endParaRPr lang="en-US" altLang="zh-CN" sz="1800" b="1" dirty="0">
                  <a:latin typeface="Times New Roman" panose="02020603050405020304" pitchFamily="18" charset="0"/>
                </a:endParaRPr>
              </a:p>
            </p:txBody>
          </p:sp>
        </p:grpSp>
        <p:grpSp>
          <p:nvGrpSpPr>
            <p:cNvPr id="25655" name="Group 155"/>
            <p:cNvGrpSpPr/>
            <p:nvPr/>
          </p:nvGrpSpPr>
          <p:grpSpPr>
            <a:xfrm>
              <a:off x="3972" y="3784"/>
              <a:ext cx="531" cy="230"/>
              <a:chOff x="3080" y="1344"/>
              <a:chExt cx="512" cy="230"/>
            </a:xfrm>
          </p:grpSpPr>
          <p:sp>
            <p:nvSpPr>
              <p:cNvPr id="25662" name="Rectangle 156"/>
              <p:cNvSpPr/>
              <p:nvPr/>
            </p:nvSpPr>
            <p:spPr>
              <a:xfrm>
                <a:off x="3080" y="1352"/>
                <a:ext cx="512" cy="176"/>
              </a:xfrm>
              <a:prstGeom prst="rect">
                <a:avLst/>
              </a:prstGeom>
              <a:noFill/>
              <a:ln w="25400"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63" name="Rectangle 157"/>
              <p:cNvSpPr/>
              <p:nvPr/>
            </p:nvSpPr>
            <p:spPr>
              <a:xfrm>
                <a:off x="3156" y="1344"/>
                <a:ext cx="433" cy="230"/>
              </a:xfrm>
              <a:prstGeom prst="rect">
                <a:avLst/>
              </a:prstGeom>
              <a:noFill/>
              <a:ln w="12700">
                <a:noFill/>
              </a:ln>
            </p:spPr>
            <p:txBody>
              <a:bodyPr wrap="square" lIns="90488" tIns="44450" rIns="90488" bIns="44450">
                <a:spAutoFit/>
              </a:bodyPr>
              <a:p>
                <a:pPr eaLnBrk="0" hangingPunct="0"/>
                <a:r>
                  <a:rPr lang="en-US" altLang="zh-CN" sz="1800" b="1" dirty="0">
                    <a:latin typeface="Times New Roman" panose="02020603050405020304" pitchFamily="18" charset="0"/>
                  </a:rPr>
                  <a:t>Mem</a:t>
                </a:r>
                <a:endParaRPr lang="en-US" altLang="zh-CN" sz="1800" b="1" dirty="0">
                  <a:latin typeface="Times New Roman" panose="02020603050405020304" pitchFamily="18" charset="0"/>
                </a:endParaRPr>
              </a:p>
            </p:txBody>
          </p:sp>
        </p:grpSp>
        <p:sp>
          <p:nvSpPr>
            <p:cNvPr id="25656" name="Rectangle 158"/>
            <p:cNvSpPr/>
            <p:nvPr/>
          </p:nvSpPr>
          <p:spPr>
            <a:xfrm>
              <a:off x="2319" y="2782"/>
              <a:ext cx="550" cy="174"/>
            </a:xfrm>
            <a:prstGeom prst="rect">
              <a:avLst/>
            </a:prstGeom>
            <a:noFill/>
            <a:ln w="1905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57" name="Rectangle 159"/>
            <p:cNvSpPr/>
            <p:nvPr/>
          </p:nvSpPr>
          <p:spPr>
            <a:xfrm>
              <a:off x="2871" y="3124"/>
              <a:ext cx="550" cy="174"/>
            </a:xfrm>
            <a:prstGeom prst="rect">
              <a:avLst/>
            </a:prstGeom>
            <a:noFill/>
            <a:ln w="1905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58" name="Rectangle 160"/>
            <p:cNvSpPr/>
            <p:nvPr/>
          </p:nvSpPr>
          <p:spPr>
            <a:xfrm>
              <a:off x="3969" y="3790"/>
              <a:ext cx="534" cy="181"/>
            </a:xfrm>
            <a:prstGeom prst="rect">
              <a:avLst/>
            </a:prstGeom>
            <a:noFill/>
            <a:ln w="1905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59" name="Line 162"/>
            <p:cNvSpPr/>
            <p:nvPr/>
          </p:nvSpPr>
          <p:spPr>
            <a:xfrm flipH="1">
              <a:off x="2562" y="2931"/>
              <a:ext cx="590" cy="182"/>
            </a:xfrm>
            <a:prstGeom prst="line">
              <a:avLst/>
            </a:prstGeom>
            <a:ln w="28575" cap="flat" cmpd="sng">
              <a:solidFill>
                <a:srgbClr val="FF0000"/>
              </a:solidFill>
              <a:prstDash val="solid"/>
              <a:headEnd type="none" w="med" len="med"/>
              <a:tailEnd type="triangle" w="med" len="med"/>
            </a:ln>
          </p:spPr>
        </p:sp>
        <p:sp>
          <p:nvSpPr>
            <p:cNvPr id="25660" name="Line 163"/>
            <p:cNvSpPr/>
            <p:nvPr/>
          </p:nvSpPr>
          <p:spPr>
            <a:xfrm flipH="1">
              <a:off x="3152" y="3294"/>
              <a:ext cx="454" cy="137"/>
            </a:xfrm>
            <a:prstGeom prst="line">
              <a:avLst/>
            </a:prstGeom>
            <a:ln w="28575" cap="flat" cmpd="sng">
              <a:solidFill>
                <a:srgbClr val="FF0000"/>
              </a:solidFill>
              <a:prstDash val="solid"/>
              <a:headEnd type="none" w="med" len="med"/>
              <a:tailEnd type="triangle" w="med" len="med"/>
            </a:ln>
          </p:spPr>
        </p:sp>
        <p:sp>
          <p:nvSpPr>
            <p:cNvPr id="25661" name="Line 164"/>
            <p:cNvSpPr/>
            <p:nvPr/>
          </p:nvSpPr>
          <p:spPr>
            <a:xfrm flipH="1">
              <a:off x="3696" y="3612"/>
              <a:ext cx="590" cy="181"/>
            </a:xfrm>
            <a:prstGeom prst="line">
              <a:avLst/>
            </a:prstGeom>
            <a:ln w="28575" cap="flat" cmpd="sng">
              <a:solidFill>
                <a:srgbClr val="FF0000"/>
              </a:solidFill>
              <a:prstDash val="solid"/>
              <a:headEnd type="none" w="med" len="med"/>
              <a:tailEnd type="triangle" w="med" len="med"/>
            </a:ln>
          </p:spPr>
        </p:sp>
      </p:grpSp>
      <p:sp>
        <p:nvSpPr>
          <p:cNvPr id="148" name="TextBox 147"/>
          <p:cNvSpPr txBox="1"/>
          <p:nvPr/>
        </p:nvSpPr>
        <p:spPr>
          <a:xfrm>
            <a:off x="571500" y="1300163"/>
            <a:ext cx="8108950" cy="830263"/>
          </a:xfrm>
          <a:prstGeom prst="rect">
            <a:avLst/>
          </a:prstGeom>
          <a:noFill/>
        </p:spPr>
        <p:txBody>
          <a:bodyPr>
            <a:spAutoFit/>
          </a:bodyPr>
          <a:lstStyle/>
          <a:p>
            <a:pPr marR="0" defTabSz="914400">
              <a:buClrTx/>
              <a:buSzTx/>
              <a:buFontTx/>
              <a:buNone/>
              <a:defRPr/>
            </a:pP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例</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：参照</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P299</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多周期的流水线图，分析下列四条指令执行时，是否存在数据</a:t>
            </a:r>
            <a:r>
              <a:rPr kumimoji="0" lang="zh-CN" altLang="en-US" sz="2400" b="1" kern="1200" cap="none" spc="0" normalizeH="0" baseline="0" noProof="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冒险</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？若采用转发技术，是否能消除冒险？</a:t>
            </a:r>
            <a:endPar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endParaRPr>
          </a:p>
        </p:txBody>
      </p:sp>
      <p:pic>
        <p:nvPicPr>
          <p:cNvPr id="25606" name="Picture 2"/>
          <p:cNvPicPr>
            <a:picLocks noChangeAspect="1"/>
          </p:cNvPicPr>
          <p:nvPr/>
        </p:nvPicPr>
        <p:blipFill>
          <a:blip r:embed="rId1"/>
          <a:stretch>
            <a:fillRect/>
          </a:stretch>
        </p:blipFill>
        <p:spPr>
          <a:xfrm>
            <a:off x="2500313" y="2143125"/>
            <a:ext cx="2286000" cy="10572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charRg st="0" end="14"/>
                                            </p:txEl>
                                          </p:spTgt>
                                        </p:tgtEl>
                                        <p:attrNameLst>
                                          <p:attrName>style.visibility</p:attrName>
                                        </p:attrNameLst>
                                      </p:cBhvr>
                                      <p:to>
                                        <p:strVal val="visible"/>
                                      </p:to>
                                    </p:set>
                                    <p:animEffect transition="in" filter="blinds(horizontal)">
                                      <p:cBhvr>
                                        <p:cTn id="7" dur="500"/>
                                        <p:tgtEl>
                                          <p:spTgt spid="22531">
                                            <p:txEl>
                                              <p:charRg st="0" end="1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684213" y="331788"/>
            <a:ext cx="6862762" cy="576262"/>
          </a:xfrm>
        </p:spPr>
        <p:txBody>
          <a:bodyPr vert="horz" wrap="square" lIns="91440" tIns="45720" rIns="91440" bIns="45720" anchor="b" anchorCtr="0"/>
          <a:p>
            <a:r>
              <a:rPr lang="zh-CN" altLang="en-US" dirty="0"/>
              <a:t>数据冒险的解决方法</a:t>
            </a:r>
            <a:endParaRPr lang="zh-CN" altLang="en-US" dirty="0"/>
          </a:p>
        </p:txBody>
      </p:sp>
      <p:sp>
        <p:nvSpPr>
          <p:cNvPr id="86019" name="Rectangle 3"/>
          <p:cNvSpPr>
            <a:spLocks noGrp="1"/>
          </p:cNvSpPr>
          <p:nvPr>
            <p:ph idx="1"/>
          </p:nvPr>
        </p:nvSpPr>
        <p:spPr>
          <a:xfrm>
            <a:off x="539750" y="1196975"/>
            <a:ext cx="8269605" cy="4674870"/>
          </a:xfrm>
        </p:spPr>
        <p:txBody>
          <a:bodyPr vert="horz" wrap="square" lIns="63500" tIns="25400" rIns="63500" bIns="25400" anchor="t" anchorCtr="0">
            <a:spAutoFit/>
          </a:bodyPr>
          <a:p>
            <a:pPr marL="342900" indent="-342900">
              <a:spcBef>
                <a:spcPts val="300"/>
              </a:spcBef>
            </a:pPr>
            <a:r>
              <a:rPr lang="zh-CN" altLang="en-US" sz="2800" dirty="0">
                <a:latin typeface="Times New Roman" panose="02020603050405020304" pitchFamily="18" charset="0"/>
              </a:rPr>
              <a:t>方法</a:t>
            </a:r>
            <a:r>
              <a:rPr lang="en-US" altLang="zh-CN" sz="2800" dirty="0">
                <a:latin typeface="Times New Roman" panose="02020603050405020304" pitchFamily="18" charset="0"/>
              </a:rPr>
              <a:t>1</a:t>
            </a:r>
            <a:r>
              <a:rPr lang="zh-CN" altLang="en-US" sz="2800" dirty="0">
                <a:latin typeface="Times New Roman" panose="02020603050405020304" pitchFamily="18" charset="0"/>
              </a:rPr>
              <a:t>：硬件阻塞</a:t>
            </a:r>
            <a:r>
              <a:rPr lang="en-US" altLang="zh-CN" sz="2800" dirty="0">
                <a:latin typeface="Times New Roman" panose="02020603050405020304" pitchFamily="18" charset="0"/>
              </a:rPr>
              <a:t>(stall)/</a:t>
            </a:r>
            <a:r>
              <a:rPr lang="zh-CN" altLang="en-US" sz="2800" dirty="0">
                <a:latin typeface="Times New Roman" panose="02020603050405020304" pitchFamily="18" charset="0"/>
              </a:rPr>
              <a:t>插入气泡</a:t>
            </a:r>
            <a:endParaRPr lang="zh-CN" altLang="en-US" sz="2800" dirty="0">
              <a:latin typeface="Times New Roman" panose="02020603050405020304" pitchFamily="18" charset="0"/>
            </a:endParaRPr>
          </a:p>
          <a:p>
            <a:pPr marL="342900" indent="-342900">
              <a:spcBef>
                <a:spcPts val="300"/>
              </a:spcBef>
            </a:pPr>
            <a:r>
              <a:rPr lang="zh-CN" altLang="en-US" sz="2800" dirty="0">
                <a:latin typeface="Times New Roman" panose="02020603050405020304" pitchFamily="18" charset="0"/>
              </a:rPr>
              <a:t>方法</a:t>
            </a:r>
            <a:r>
              <a:rPr lang="en-US" altLang="zh-CN" sz="2800" dirty="0">
                <a:latin typeface="Times New Roman" panose="02020603050405020304" pitchFamily="18" charset="0"/>
              </a:rPr>
              <a:t>2</a:t>
            </a:r>
            <a:r>
              <a:rPr lang="zh-CN" altLang="en-US" sz="2800" dirty="0">
                <a:latin typeface="Times New Roman" panose="02020603050405020304" pitchFamily="18" charset="0"/>
              </a:rPr>
              <a:t>：软件插入“</a:t>
            </a:r>
            <a:r>
              <a:rPr lang="en-US" altLang="zh-CN" sz="2800" dirty="0">
                <a:latin typeface="Times New Roman" panose="02020603050405020304" pitchFamily="18" charset="0"/>
              </a:rPr>
              <a:t>NOP</a:t>
            </a:r>
            <a:r>
              <a:rPr lang="en-US" altLang="zh-CN" sz="2800" dirty="0">
                <a:latin typeface="华文新魏" panose="02010800040101010101" pitchFamily="2" charset="-122"/>
                <a:ea typeface="华文新魏" panose="02010800040101010101" pitchFamily="2" charset="-122"/>
              </a:rPr>
              <a:t>”</a:t>
            </a:r>
            <a:r>
              <a:rPr lang="zh-CN" altLang="en-US" sz="2800" dirty="0">
                <a:latin typeface="Times New Roman" panose="02020603050405020304" pitchFamily="18" charset="0"/>
              </a:rPr>
              <a:t>指令</a:t>
            </a:r>
            <a:endParaRPr lang="zh-CN" altLang="en-US" sz="2800" dirty="0">
              <a:latin typeface="Times New Roman" panose="02020603050405020304" pitchFamily="18" charset="0"/>
            </a:endParaRPr>
          </a:p>
          <a:p>
            <a:pPr marL="342900" indent="-342900">
              <a:spcBef>
                <a:spcPts val="300"/>
              </a:spcBef>
            </a:pPr>
            <a:r>
              <a:rPr lang="zh-CN" altLang="en-US" sz="2800" dirty="0">
                <a:latin typeface="Times New Roman" panose="02020603050405020304" pitchFamily="18" charset="0"/>
              </a:rPr>
              <a:t>方法</a:t>
            </a:r>
            <a:r>
              <a:rPr lang="en-US" altLang="zh-CN" sz="2800" dirty="0">
                <a:latin typeface="Times New Roman" panose="02020603050405020304" pitchFamily="18" charset="0"/>
              </a:rPr>
              <a:t>3</a:t>
            </a:r>
            <a:r>
              <a:rPr lang="zh-CN" altLang="en-US" sz="2800" dirty="0">
                <a:latin typeface="Times New Roman" panose="02020603050405020304" pitchFamily="18" charset="0"/>
              </a:rPr>
              <a:t>：编译优化：调整指令顺序</a:t>
            </a:r>
            <a:endParaRPr lang="zh-CN" altLang="en-US" sz="2800" dirty="0">
              <a:latin typeface="Times New Roman" panose="02020603050405020304" pitchFamily="18" charset="0"/>
            </a:endParaRPr>
          </a:p>
          <a:p>
            <a:pPr marL="342900" indent="-342900">
              <a:spcBef>
                <a:spcPts val="300"/>
              </a:spcBef>
            </a:pPr>
            <a:r>
              <a:rPr lang="zh-CN" altLang="en-US" sz="2800" dirty="0">
                <a:latin typeface="Times New Roman" panose="02020603050405020304" pitchFamily="18" charset="0"/>
              </a:rPr>
              <a:t>方法</a:t>
            </a:r>
            <a:r>
              <a:rPr lang="en-US" altLang="zh-CN" sz="2800" dirty="0">
                <a:latin typeface="Times New Roman" panose="02020603050405020304" pitchFamily="18" charset="0"/>
              </a:rPr>
              <a:t>4</a:t>
            </a:r>
            <a:r>
              <a:rPr lang="zh-CN" altLang="en-US" sz="2800" dirty="0">
                <a:latin typeface="Times New Roman" panose="02020603050405020304" pitchFamily="18" charset="0"/>
              </a:rPr>
              <a:t>：硬件转发</a:t>
            </a:r>
            <a:r>
              <a:rPr lang="en-US" altLang="zh-CN" sz="2800" dirty="0">
                <a:latin typeface="Times New Roman" panose="02020603050405020304" pitchFamily="18" charset="0"/>
              </a:rPr>
              <a:t>(Forwarding/Bypassing</a:t>
            </a:r>
            <a:r>
              <a:rPr lang="zh-CN" altLang="en-US" sz="2800" dirty="0">
                <a:latin typeface="Times New Roman" panose="02020603050405020304" pitchFamily="18" charset="0"/>
              </a:rPr>
              <a:t>旁路</a:t>
            </a:r>
            <a:r>
              <a:rPr lang="en-US" altLang="zh-CN" sz="2800" dirty="0">
                <a:latin typeface="Times New Roman" panose="02020603050405020304" pitchFamily="18" charset="0"/>
              </a:rPr>
              <a:t>)</a:t>
            </a:r>
            <a:r>
              <a:rPr lang="zh-CN" altLang="en-US" sz="2800" dirty="0">
                <a:latin typeface="Times New Roman" panose="02020603050405020304" pitchFamily="18" charset="0"/>
              </a:rPr>
              <a:t>技术 </a:t>
            </a:r>
            <a:endParaRPr lang="zh-CN" altLang="en-US" sz="2800" dirty="0">
              <a:latin typeface="Times New Roman" panose="02020603050405020304" pitchFamily="18" charset="0"/>
            </a:endParaRPr>
          </a:p>
          <a:p>
            <a:pPr marL="654685" lvl="1" indent="-278765">
              <a:spcBef>
                <a:spcPts val="300"/>
              </a:spcBef>
            </a:pPr>
            <a:r>
              <a:rPr lang="zh-CN" altLang="en-US" sz="2450" dirty="0">
                <a:latin typeface="Times New Roman" panose="02020603050405020304" pitchFamily="18" charset="0"/>
                <a:sym typeface="+mn-ea"/>
              </a:rPr>
              <a:t>合理实现寄存器堆的读</a:t>
            </a:r>
            <a:r>
              <a:rPr lang="en-US" altLang="zh-CN" sz="2450" dirty="0">
                <a:latin typeface="Times New Roman" panose="02020603050405020304" pitchFamily="18" charset="0"/>
                <a:sym typeface="+mn-ea"/>
              </a:rPr>
              <a:t>/</a:t>
            </a:r>
            <a:r>
              <a:rPr lang="zh-CN" altLang="en-US" sz="2450" dirty="0">
                <a:latin typeface="Times New Roman" panose="02020603050405020304" pitchFamily="18" charset="0"/>
                <a:sym typeface="+mn-ea"/>
              </a:rPr>
              <a:t>写操作 </a:t>
            </a:r>
            <a:endParaRPr lang="zh-CN" altLang="en-US" sz="2450" dirty="0">
              <a:latin typeface="Times New Roman" panose="02020603050405020304" pitchFamily="18" charset="0"/>
            </a:endParaRPr>
          </a:p>
          <a:p>
            <a:pPr marL="1019175" lvl="2" indent="-278765">
              <a:spcBef>
                <a:spcPts val="300"/>
              </a:spcBef>
            </a:pPr>
            <a:r>
              <a:rPr lang="zh-CN" altLang="en-US" sz="2400" dirty="0">
                <a:latin typeface="Times New Roman" panose="02020603050405020304" pitchFamily="18" charset="0"/>
                <a:sym typeface="+mn-ea"/>
              </a:rPr>
              <a:t>前半时钟周期写，后半时钟周期读</a:t>
            </a:r>
            <a:endParaRPr lang="zh-CN" altLang="en-US" sz="2400" dirty="0">
              <a:latin typeface="Times New Roman" panose="02020603050405020304" pitchFamily="18" charset="0"/>
            </a:endParaRPr>
          </a:p>
          <a:p>
            <a:pPr marL="1019175" lvl="2" indent="-278765">
              <a:spcBef>
                <a:spcPts val="300"/>
              </a:spcBef>
            </a:pPr>
            <a:r>
              <a:rPr lang="zh-CN" altLang="en-US" sz="2400" dirty="0">
                <a:latin typeface="Times New Roman" panose="02020603050405020304" pitchFamily="18" charset="0"/>
                <a:sym typeface="+mn-ea"/>
              </a:rPr>
              <a:t>同一个时钟内前面指令写入的数据正好是后面指令所读数据，就不会发生数据冒险</a:t>
            </a:r>
            <a:endParaRPr lang="zh-CN" altLang="en-US" sz="2400" dirty="0">
              <a:latin typeface="Times New Roman" panose="02020603050405020304" pitchFamily="18" charset="0"/>
            </a:endParaRPr>
          </a:p>
          <a:p>
            <a:pPr marL="625475" lvl="1" indent="-266700">
              <a:spcBef>
                <a:spcPts val="300"/>
              </a:spcBef>
            </a:pPr>
            <a:r>
              <a:rPr lang="zh-CN" altLang="en-US" sz="2400" dirty="0">
                <a:latin typeface="Times New Roman" panose="02020603050405020304" pitchFamily="18" charset="0"/>
              </a:rPr>
              <a:t>若相关数据是</a:t>
            </a:r>
            <a:r>
              <a:rPr lang="en-US" altLang="zh-CN" sz="2400" dirty="0">
                <a:latin typeface="Times New Roman" panose="02020603050405020304" pitchFamily="18" charset="0"/>
              </a:rPr>
              <a:t>ALU</a:t>
            </a:r>
            <a:r>
              <a:rPr lang="zh-CN" altLang="en-US" sz="2400" dirty="0">
                <a:latin typeface="Times New Roman" panose="02020603050405020304" pitchFamily="18" charset="0"/>
              </a:rPr>
              <a:t>结果，</a:t>
            </a:r>
            <a:r>
              <a:rPr lang="en-US" altLang="zh-CN" sz="2400" dirty="0">
                <a:solidFill>
                  <a:srgbClr val="0000FF"/>
                </a:solidFill>
                <a:latin typeface="Times New Roman" panose="02020603050405020304" pitchFamily="18" charset="0"/>
              </a:rPr>
              <a:t> </a:t>
            </a:r>
            <a:r>
              <a:rPr lang="zh-CN" altLang="en-US" sz="2400" dirty="0">
                <a:solidFill>
                  <a:srgbClr val="0000FF"/>
                </a:solidFill>
                <a:latin typeface="Times New Roman" panose="02020603050405020304" pitchFamily="18" charset="0"/>
              </a:rPr>
              <a:t>则可以通过转发解决</a:t>
            </a:r>
            <a:endParaRPr lang="zh-CN" altLang="en-US" sz="2400" dirty="0">
              <a:solidFill>
                <a:srgbClr val="0000FF"/>
              </a:solidFill>
              <a:latin typeface="Times New Roman" panose="02020603050405020304" pitchFamily="18" charset="0"/>
            </a:endParaRPr>
          </a:p>
          <a:p>
            <a:pPr marL="625475" lvl="1" indent="-266700">
              <a:spcBef>
                <a:spcPts val="300"/>
              </a:spcBef>
            </a:pPr>
            <a:r>
              <a:rPr lang="zh-CN" altLang="en-US" sz="2400" dirty="0">
                <a:latin typeface="Times New Roman" panose="02020603050405020304" pitchFamily="18" charset="0"/>
              </a:rPr>
              <a:t>若相关数据是上个</a:t>
            </a:r>
            <a:r>
              <a:rPr lang="en-US" altLang="zh-CN" sz="2400" dirty="0">
                <a:latin typeface="Times New Roman" panose="02020603050405020304" pitchFamily="18" charset="0"/>
              </a:rPr>
              <a:t>ld</a:t>
            </a:r>
            <a:r>
              <a:rPr lang="zh-CN" altLang="en-US" sz="2400" dirty="0">
                <a:latin typeface="Times New Roman" panose="02020603050405020304" pitchFamily="18" charset="0"/>
              </a:rPr>
              <a:t>指令从</a:t>
            </a:r>
            <a:r>
              <a:rPr lang="en-US" altLang="zh-CN" sz="2400" dirty="0">
                <a:latin typeface="Times New Roman" panose="02020603050405020304" pitchFamily="18" charset="0"/>
              </a:rPr>
              <a:t>DM</a:t>
            </a:r>
            <a:r>
              <a:rPr lang="zh-CN" altLang="en-US" sz="2400" dirty="0">
                <a:latin typeface="Times New Roman" panose="02020603050405020304" pitchFamily="18" charset="0"/>
              </a:rPr>
              <a:t>读出内容，</a:t>
            </a:r>
            <a:r>
              <a:rPr lang="zh-CN" altLang="en-US" sz="2400" dirty="0">
                <a:solidFill>
                  <a:srgbClr val="0000FF"/>
                </a:solidFill>
                <a:latin typeface="Times New Roman" panose="02020603050405020304" pitchFamily="18" charset="0"/>
              </a:rPr>
              <a:t>则</a:t>
            </a:r>
            <a:r>
              <a:rPr lang="en-US" altLang="zh-CN" sz="2400" dirty="0">
                <a:solidFill>
                  <a:srgbClr val="0000FF"/>
                </a:solidFill>
                <a:latin typeface="Times New Roman" panose="02020603050405020304" pitchFamily="18" charset="0"/>
              </a:rPr>
              <a:t>不</a:t>
            </a:r>
            <a:r>
              <a:rPr lang="zh-CN" altLang="en-US" sz="2400" dirty="0">
                <a:solidFill>
                  <a:srgbClr val="0000FF"/>
                </a:solidFill>
                <a:latin typeface="Times New Roman" panose="02020603050405020304" pitchFamily="18" charset="0"/>
              </a:rPr>
              <a:t>能通过转发解决，随后指令需被阻塞一个时钟或 插入</a:t>
            </a:r>
            <a:r>
              <a:rPr lang="en-US" altLang="zh-CN" sz="2400" dirty="0">
                <a:solidFill>
                  <a:srgbClr val="0000FF"/>
                </a:solidFill>
                <a:latin typeface="Times New Roman" panose="02020603050405020304" pitchFamily="18" charset="0"/>
              </a:rPr>
              <a:t>NOP</a:t>
            </a:r>
            <a:r>
              <a:rPr lang="zh-CN" altLang="en-US" sz="2400" dirty="0">
                <a:solidFill>
                  <a:srgbClr val="0000FF"/>
                </a:solidFill>
                <a:latin typeface="Times New Roman" panose="02020603050405020304" pitchFamily="18" charset="0"/>
              </a:rPr>
              <a:t>指令。</a:t>
            </a:r>
            <a:endParaRPr lang="en-US" altLang="zh-CN" sz="2400" dirty="0">
              <a:solidFill>
                <a:srgbClr val="0000FF"/>
              </a:solidFill>
              <a:latin typeface="Times New Roman" panose="02020603050405020304" pitchFamily="18" charset="0"/>
            </a:endParaRPr>
          </a:p>
        </p:txBody>
      </p:sp>
      <p:sp>
        <p:nvSpPr>
          <p:cNvPr id="86021" name="Text Box 5"/>
          <p:cNvSpPr txBox="1"/>
          <p:nvPr/>
        </p:nvSpPr>
        <p:spPr>
          <a:xfrm>
            <a:off x="1127125" y="5840413"/>
            <a:ext cx="4033838" cy="460375"/>
          </a:xfrm>
          <a:prstGeom prst="rect">
            <a:avLst/>
          </a:prstGeom>
          <a:noFill/>
          <a:ln w="12700">
            <a:noFill/>
          </a:ln>
        </p:spPr>
        <p:txBody>
          <a:bodyPr>
            <a:spAutoFit/>
          </a:bodyPr>
          <a:p>
            <a:pPr eaLnBrk="0" hangingPunct="0">
              <a:spcBef>
                <a:spcPct val="50000"/>
              </a:spcBef>
            </a:pPr>
            <a:r>
              <a:rPr lang="zh-CN" altLang="en-US" sz="2400" b="1" dirty="0">
                <a:solidFill>
                  <a:srgbClr val="FF0000"/>
                </a:solidFill>
                <a:latin typeface="Times New Roman" panose="02020603050405020304" pitchFamily="18" charset="0"/>
                <a:ea typeface="华文新魏" panose="02010800040101010101" pitchFamily="2" charset="-122"/>
              </a:rPr>
              <a:t>称之为</a:t>
            </a:r>
            <a:r>
              <a:rPr lang="en-US" altLang="zh-CN" sz="2400" b="1" dirty="0">
                <a:solidFill>
                  <a:srgbClr val="FF0000"/>
                </a:solidFill>
                <a:latin typeface="Times New Roman" panose="02020603050405020304" pitchFamily="18" charset="0"/>
                <a:ea typeface="华文新魏" panose="02010800040101010101" pitchFamily="2" charset="-122"/>
              </a:rPr>
              <a:t>Load-use</a:t>
            </a:r>
            <a:r>
              <a:rPr lang="zh-CN" altLang="en-US" sz="2400" b="1" dirty="0">
                <a:solidFill>
                  <a:srgbClr val="FF0000"/>
                </a:solidFill>
                <a:latin typeface="Times New Roman" panose="02020603050405020304" pitchFamily="18" charset="0"/>
                <a:ea typeface="华文新魏" panose="02010800040101010101" pitchFamily="2" charset="-122"/>
              </a:rPr>
              <a:t>数据冒险！</a:t>
            </a:r>
            <a:endParaRPr lang="zh-CN" altLang="en-US" sz="2400" b="1" dirty="0">
              <a:solidFill>
                <a:srgbClr val="FF0000"/>
              </a:solidFill>
              <a:latin typeface="Times New Roman" panose="02020603050405020304" pitchFamily="18" charset="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6019">
                                            <p:txEl>
                                              <p:charRg st="0" end="16"/>
                                            </p:txEl>
                                          </p:spTgt>
                                        </p:tgtEl>
                                        <p:attrNameLst>
                                          <p:attrName>style.visibility</p:attrName>
                                        </p:attrNameLst>
                                      </p:cBhvr>
                                      <p:to>
                                        <p:strVal val="visible"/>
                                      </p:to>
                                    </p:set>
                                    <p:animEffect transition="in" filter="blinds(horizontal)">
                                      <p:cBhvr>
                                        <p:cTn id="7" dur="500"/>
                                        <p:tgtEl>
                                          <p:spTgt spid="86019">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6019">
                                            <p:txEl>
                                              <p:charRg st="16" end="32"/>
                                            </p:txEl>
                                          </p:spTgt>
                                        </p:tgtEl>
                                        <p:attrNameLst>
                                          <p:attrName>style.visibility</p:attrName>
                                        </p:attrNameLst>
                                      </p:cBhvr>
                                      <p:to>
                                        <p:strVal val="visible"/>
                                      </p:to>
                                    </p:set>
                                    <p:animEffect transition="in" filter="blinds(horizontal)">
                                      <p:cBhvr>
                                        <p:cTn id="12" dur="500"/>
                                        <p:tgtEl>
                                          <p:spTgt spid="86019">
                                            <p:txEl>
                                              <p:charRg st="16" end="3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6019">
                                            <p:txEl>
                                              <p:charRg st="32" end="48"/>
                                            </p:txEl>
                                          </p:spTgt>
                                        </p:tgtEl>
                                        <p:attrNameLst>
                                          <p:attrName>style.visibility</p:attrName>
                                        </p:attrNameLst>
                                      </p:cBhvr>
                                      <p:to>
                                        <p:strVal val="visible"/>
                                      </p:to>
                                    </p:set>
                                    <p:animEffect transition="in" filter="blinds(horizontal)">
                                      <p:cBhvr>
                                        <p:cTn id="17" dur="500"/>
                                        <p:tgtEl>
                                          <p:spTgt spid="86019">
                                            <p:txEl>
                                              <p:charRg st="32" end="4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6019">
                                            <p:txEl>
                                              <p:charRg st="122" end="157"/>
                                            </p:txEl>
                                          </p:spTgt>
                                        </p:tgtEl>
                                        <p:attrNameLst>
                                          <p:attrName>style.visibility</p:attrName>
                                        </p:attrNameLst>
                                      </p:cBhvr>
                                      <p:to>
                                        <p:strVal val="visible"/>
                                      </p:to>
                                    </p:set>
                                    <p:animEffect transition="in" filter="blinds(horizontal)">
                                      <p:cBhvr>
                                        <p:cTn id="22" dur="500"/>
                                        <p:tgtEl>
                                          <p:spTgt spid="86019">
                                            <p:txEl>
                                              <p:charRg st="122" end="15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6019">
                                            <p:txEl>
                                              <p:charRg st="157" end="178"/>
                                            </p:txEl>
                                          </p:spTgt>
                                        </p:tgtEl>
                                        <p:attrNameLst>
                                          <p:attrName>style.visibility</p:attrName>
                                        </p:attrNameLst>
                                      </p:cBhvr>
                                      <p:to>
                                        <p:strVal val="visible"/>
                                      </p:to>
                                    </p:set>
                                    <p:animEffect transition="in" filter="blinds(horizontal)">
                                      <p:cBhvr>
                                        <p:cTn id="27" dur="500"/>
                                        <p:tgtEl>
                                          <p:spTgt spid="86019">
                                            <p:txEl>
                                              <p:charRg st="157" end="17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6019">
                                            <p:txEl>
                                              <p:charRg st="8" end="8"/>
                                            </p:txEl>
                                          </p:spTgt>
                                        </p:tgtEl>
                                        <p:attrNameLst>
                                          <p:attrName>style.visibility</p:attrName>
                                        </p:attrNameLst>
                                      </p:cBhvr>
                                      <p:to>
                                        <p:strVal val="visible"/>
                                      </p:to>
                                    </p:set>
                                    <p:animEffect transition="in" filter="blinds(horizontal)">
                                      <p:cBhvr>
                                        <p:cTn id="32" dur="500"/>
                                        <p:tgtEl>
                                          <p:spTgt spid="86019">
                                            <p:txEl>
                                              <p:char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6019">
                                            <p:txEl>
                                              <p:charRg st="9" end="9"/>
                                            </p:txEl>
                                          </p:spTgt>
                                        </p:tgtEl>
                                        <p:attrNameLst>
                                          <p:attrName>style.visibility</p:attrName>
                                        </p:attrNameLst>
                                      </p:cBhvr>
                                      <p:to>
                                        <p:strVal val="visible"/>
                                      </p:to>
                                    </p:set>
                                    <p:animEffect transition="in" filter="blinds(horizontal)">
                                      <p:cBhvr>
                                        <p:cTn id="37" dur="500"/>
                                        <p:tgtEl>
                                          <p:spTgt spid="86019">
                                            <p:txEl>
                                              <p:char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6019">
                                            <p:txEl>
                                              <p:charRg st="10" end="10"/>
                                            </p:txEl>
                                          </p:spTgt>
                                        </p:tgtEl>
                                        <p:attrNameLst>
                                          <p:attrName>style.visibility</p:attrName>
                                        </p:attrNameLst>
                                      </p:cBhvr>
                                      <p:to>
                                        <p:strVal val="visible"/>
                                      </p:to>
                                    </p:set>
                                    <p:animEffect transition="in" filter="blinds(horizontal)">
                                      <p:cBhvr>
                                        <p:cTn id="42" dur="500"/>
                                        <p:tgtEl>
                                          <p:spTgt spid="86019">
                                            <p:txEl>
                                              <p:char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6019">
                                            <p:txEl>
                                              <p:charRg st="178" end="227"/>
                                            </p:txEl>
                                          </p:spTgt>
                                        </p:tgtEl>
                                        <p:attrNameLst>
                                          <p:attrName>style.visibility</p:attrName>
                                        </p:attrNameLst>
                                      </p:cBhvr>
                                      <p:to>
                                        <p:strVal val="visible"/>
                                      </p:to>
                                    </p:set>
                                    <p:animEffect transition="in" filter="blinds(horizontal)">
                                      <p:cBhvr>
                                        <p:cTn id="47" dur="500"/>
                                        <p:tgtEl>
                                          <p:spTgt spid="86019">
                                            <p:txEl>
                                              <p:charRg st="178" end="22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6021"/>
                                        </p:tgtEl>
                                        <p:attrNameLst>
                                          <p:attrName>style.visibility</p:attrName>
                                        </p:attrNameLst>
                                      </p:cBhvr>
                                      <p:to>
                                        <p:strVal val="visible"/>
                                      </p:to>
                                    </p:set>
                                    <p:animEffect transition="in" filter="blinds(horizontal)">
                                      <p:cBhvr>
                                        <p:cTn id="52" dur="500"/>
                                        <p:tgtEl>
                                          <p:spTgt spid="86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50" name="Picture 2"/>
          <p:cNvPicPr>
            <a:picLocks noChangeAspect="1"/>
          </p:cNvPicPr>
          <p:nvPr/>
        </p:nvPicPr>
        <p:blipFill>
          <a:blip r:embed="rId1"/>
          <a:stretch>
            <a:fillRect/>
          </a:stretch>
        </p:blipFill>
        <p:spPr>
          <a:xfrm>
            <a:off x="457200" y="1662113"/>
            <a:ext cx="8229600" cy="4552950"/>
          </a:xfrm>
          <a:prstGeom prst="rect">
            <a:avLst/>
          </a:prstGeom>
          <a:noFill/>
          <a:ln w="9525">
            <a:noFill/>
          </a:ln>
        </p:spPr>
      </p:pic>
      <p:sp>
        <p:nvSpPr>
          <p:cNvPr id="27651" name="Rectangle 155"/>
          <p:cNvSpPr>
            <a:spLocks noGrp="1"/>
          </p:cNvSpPr>
          <p:nvPr>
            <p:ph type="title"/>
          </p:nvPr>
        </p:nvSpPr>
        <p:spPr/>
        <p:txBody>
          <a:bodyPr vert="horz" wrap="square" lIns="91440" tIns="45720" rIns="91440" bIns="45720" anchor="b" anchorCtr="0"/>
          <a:p>
            <a:r>
              <a:rPr lang="zh-CN" altLang="en-US" dirty="0">
                <a:latin typeface="Times New Roman" panose="02020603050405020304" pitchFamily="18" charset="0"/>
              </a:rPr>
              <a:t>转发技术实例</a:t>
            </a:r>
            <a:endParaRPr lang="zh-CN" altLang="en-US" dirty="0"/>
          </a:p>
        </p:txBody>
      </p:sp>
      <p:sp>
        <p:nvSpPr>
          <p:cNvPr id="77980" name="Text Box 156"/>
          <p:cNvSpPr txBox="1"/>
          <p:nvPr/>
        </p:nvSpPr>
        <p:spPr>
          <a:xfrm>
            <a:off x="3000375" y="1125538"/>
            <a:ext cx="6180138" cy="912812"/>
          </a:xfrm>
          <a:prstGeom prst="rect">
            <a:avLst/>
          </a:prstGeom>
          <a:noFill/>
          <a:ln w="12700">
            <a:noFill/>
          </a:ln>
        </p:spPr>
        <p:txBody>
          <a:bodyPr>
            <a:spAutoFit/>
          </a:bodyPr>
          <a:p>
            <a:pPr marL="266700" indent="-266700" eaLnBrk="0" hangingPunct="0">
              <a:lnSpc>
                <a:spcPct val="80000"/>
              </a:lnSpc>
            </a:pPr>
            <a:r>
              <a:rPr lang="en-US" altLang="zh-CN" sz="2200" b="1" dirty="0">
                <a:solidFill>
                  <a:srgbClr val="FF0000"/>
                </a:solidFill>
                <a:latin typeface="Times New Roman" panose="02020603050405020304" pitchFamily="18" charset="0"/>
                <a:ea typeface="华文新魏" panose="02010800040101010101" pitchFamily="2" charset="-122"/>
              </a:rPr>
              <a:t>1. </a:t>
            </a:r>
            <a:r>
              <a:rPr lang="zh-CN" altLang="en-US" sz="2200" b="1" dirty="0">
                <a:solidFill>
                  <a:srgbClr val="FF0000"/>
                </a:solidFill>
                <a:latin typeface="Times New Roman" panose="02020603050405020304" pitchFamily="18" charset="0"/>
                <a:ea typeface="华文新魏" panose="02010800040101010101" pitchFamily="2" charset="-122"/>
              </a:rPr>
              <a:t>把数据从流水段寄存器直接取到</a:t>
            </a:r>
            <a:r>
              <a:rPr lang="en-US" altLang="zh-CN" sz="2200" b="1" dirty="0">
                <a:solidFill>
                  <a:srgbClr val="FF0000"/>
                </a:solidFill>
                <a:latin typeface="Times New Roman" panose="02020603050405020304" pitchFamily="18" charset="0"/>
                <a:ea typeface="华文新魏" panose="02010800040101010101" pitchFamily="2" charset="-122"/>
              </a:rPr>
              <a:t>ALU</a:t>
            </a:r>
            <a:r>
              <a:rPr lang="zh-CN" altLang="en-US" sz="2200" b="1" dirty="0">
                <a:solidFill>
                  <a:srgbClr val="FF0000"/>
                </a:solidFill>
                <a:latin typeface="Times New Roman" panose="02020603050405020304" pitchFamily="18" charset="0"/>
                <a:ea typeface="华文新魏" panose="02010800040101010101" pitchFamily="2" charset="-122"/>
              </a:rPr>
              <a:t>的输入端</a:t>
            </a:r>
            <a:endParaRPr lang="zh-CN" altLang="en-US" sz="2200" b="1" dirty="0">
              <a:solidFill>
                <a:srgbClr val="FF0000"/>
              </a:solidFill>
              <a:latin typeface="Times New Roman" panose="02020603050405020304" pitchFamily="18" charset="0"/>
              <a:ea typeface="华文新魏" panose="02010800040101010101" pitchFamily="2" charset="-122"/>
            </a:endParaRPr>
          </a:p>
          <a:p>
            <a:pPr marL="266700" indent="-266700" eaLnBrk="0" hangingPunct="0">
              <a:lnSpc>
                <a:spcPct val="80000"/>
              </a:lnSpc>
            </a:pPr>
            <a:r>
              <a:rPr lang="en-US" altLang="zh-CN" sz="2200" b="1" dirty="0">
                <a:solidFill>
                  <a:srgbClr val="FF0000"/>
                </a:solidFill>
                <a:latin typeface="Times New Roman" panose="02020603050405020304" pitchFamily="18" charset="0"/>
                <a:ea typeface="华文新魏" panose="02010800040101010101" pitchFamily="2" charset="-122"/>
              </a:rPr>
              <a:t>2. </a:t>
            </a:r>
            <a:r>
              <a:rPr lang="zh-CN" altLang="en-US" sz="2200" b="1" dirty="0">
                <a:solidFill>
                  <a:srgbClr val="FF0000"/>
                </a:solidFill>
                <a:latin typeface="Times New Roman" panose="02020603050405020304" pitchFamily="18" charset="0"/>
                <a:ea typeface="华文新魏" panose="02010800040101010101" pitchFamily="2" charset="-122"/>
              </a:rPr>
              <a:t>寄存器写</a:t>
            </a:r>
            <a:r>
              <a:rPr lang="en-US" altLang="zh-CN" sz="2200" b="1" dirty="0">
                <a:solidFill>
                  <a:srgbClr val="FF0000"/>
                </a:solidFill>
                <a:latin typeface="Times New Roman" panose="02020603050405020304" pitchFamily="18" charset="0"/>
                <a:ea typeface="华文新魏" panose="02010800040101010101" pitchFamily="2" charset="-122"/>
              </a:rPr>
              <a:t>/</a:t>
            </a:r>
            <a:r>
              <a:rPr lang="zh-CN" altLang="en-US" sz="2200" b="1" dirty="0">
                <a:solidFill>
                  <a:srgbClr val="FF0000"/>
                </a:solidFill>
                <a:latin typeface="Times New Roman" panose="02020603050405020304" pitchFamily="18" charset="0"/>
                <a:ea typeface="华文新魏" panose="02010800040101010101" pitchFamily="2" charset="-122"/>
              </a:rPr>
              <a:t>读口分别工作在前</a:t>
            </a:r>
            <a:r>
              <a:rPr lang="en-US" altLang="zh-CN" sz="2200" b="1" dirty="0">
                <a:solidFill>
                  <a:srgbClr val="FF0000"/>
                </a:solidFill>
                <a:latin typeface="Times New Roman" panose="02020603050405020304" pitchFamily="18" charset="0"/>
                <a:ea typeface="华文新魏" panose="02010800040101010101" pitchFamily="2" charset="-122"/>
              </a:rPr>
              <a:t>/</a:t>
            </a:r>
            <a:r>
              <a:rPr lang="zh-CN" altLang="en-US" sz="2200" b="1" dirty="0">
                <a:solidFill>
                  <a:srgbClr val="FF0000"/>
                </a:solidFill>
                <a:latin typeface="Times New Roman" panose="02020603050405020304" pitchFamily="18" charset="0"/>
                <a:ea typeface="华文新魏" panose="02010800040101010101" pitchFamily="2" charset="-122"/>
              </a:rPr>
              <a:t>后半周期，使写入后能被直接读出</a:t>
            </a:r>
            <a:endParaRPr lang="zh-CN" altLang="en-US" sz="2200" b="1" dirty="0">
              <a:solidFill>
                <a:srgbClr val="FF0000"/>
              </a:solidFill>
              <a:latin typeface="Times New Roman" panose="02020603050405020304" pitchFamily="18" charset="0"/>
              <a:ea typeface="华文新魏" panose="02010800040101010101" pitchFamily="2" charset="-122"/>
            </a:endParaRPr>
          </a:p>
        </p:txBody>
      </p:sp>
      <p:grpSp>
        <p:nvGrpSpPr>
          <p:cNvPr id="2" name="Group 160"/>
          <p:cNvGrpSpPr/>
          <p:nvPr/>
        </p:nvGrpSpPr>
        <p:grpSpPr>
          <a:xfrm>
            <a:off x="5724525" y="1844675"/>
            <a:ext cx="3146425" cy="1519238"/>
            <a:chOff x="3606" y="1162"/>
            <a:chExt cx="1982" cy="957"/>
          </a:xfrm>
        </p:grpSpPr>
        <p:sp>
          <p:nvSpPr>
            <p:cNvPr id="27655" name="Text Box 158"/>
            <p:cNvSpPr txBox="1"/>
            <p:nvPr/>
          </p:nvSpPr>
          <p:spPr>
            <a:xfrm>
              <a:off x="3969" y="1434"/>
              <a:ext cx="1619" cy="685"/>
            </a:xfrm>
            <a:prstGeom prst="rect">
              <a:avLst/>
            </a:prstGeom>
            <a:noFill/>
            <a:ln w="12700">
              <a:noFill/>
            </a:ln>
          </p:spPr>
          <p:txBody>
            <a:bodyPr wrap="square">
              <a:spAutoFit/>
            </a:bodyPr>
            <a:p>
              <a:pPr eaLnBrk="0" hangingPunct="0">
                <a:lnSpc>
                  <a:spcPct val="90000"/>
                </a:lnSpc>
                <a:buNone/>
              </a:pPr>
              <a:r>
                <a:rPr lang="zh-CN" altLang="en-US" sz="2400" b="1" dirty="0">
                  <a:solidFill>
                    <a:srgbClr val="0000FF"/>
                  </a:solidFill>
                  <a:latin typeface="Times New Roman" panose="02020603050405020304" pitchFamily="18" charset="0"/>
                  <a:ea typeface="华文新魏" panose="02010800040101010101" pitchFamily="2" charset="-122"/>
                </a:rPr>
                <a:t>称为转发</a:t>
              </a:r>
              <a:r>
                <a:rPr lang="en-US" altLang="zh-CN" sz="2400" b="1" dirty="0">
                  <a:solidFill>
                    <a:srgbClr val="0000FF"/>
                  </a:solidFill>
                  <a:latin typeface="Times New Roman" panose="02020603050405020304" pitchFamily="18" charset="0"/>
                  <a:ea typeface="华文新魏" panose="02010800040101010101" pitchFamily="2" charset="-122"/>
                </a:rPr>
                <a:t>(Forwading)/</a:t>
              </a:r>
              <a:r>
                <a:rPr lang="zh-CN" altLang="en-US" sz="2400" b="1" dirty="0">
                  <a:solidFill>
                    <a:srgbClr val="0000FF"/>
                  </a:solidFill>
                  <a:latin typeface="Times New Roman" panose="02020603050405020304" pitchFamily="18" charset="0"/>
                  <a:ea typeface="华文新魏" panose="02010800040101010101" pitchFamily="2" charset="-122"/>
                </a:rPr>
                <a:t>旁路</a:t>
              </a:r>
              <a:r>
                <a:rPr lang="en-US" altLang="zh-CN" sz="2400" b="1" dirty="0">
                  <a:solidFill>
                    <a:srgbClr val="0000FF"/>
                  </a:solidFill>
                  <a:latin typeface="Times New Roman" panose="02020603050405020304" pitchFamily="18" charset="0"/>
                  <a:ea typeface="华文新魏" panose="02010800040101010101" pitchFamily="2" charset="-122"/>
                </a:rPr>
                <a:t>(Bypassing)</a:t>
              </a:r>
              <a:r>
                <a:rPr lang="zh-CN" altLang="en-US" sz="2400" b="1" dirty="0">
                  <a:solidFill>
                    <a:srgbClr val="0000FF"/>
                  </a:solidFill>
                  <a:latin typeface="Times New Roman" panose="02020603050405020304" pitchFamily="18" charset="0"/>
                  <a:ea typeface="华文新魏" panose="02010800040101010101" pitchFamily="2" charset="-122"/>
                </a:rPr>
                <a:t>技术</a:t>
              </a:r>
              <a:endParaRPr lang="zh-CN" altLang="en-US" sz="2400" b="1" dirty="0">
                <a:solidFill>
                  <a:srgbClr val="0000FF"/>
                </a:solidFill>
                <a:latin typeface="Times New Roman" panose="02020603050405020304" pitchFamily="18" charset="0"/>
                <a:ea typeface="华文新魏" panose="02010800040101010101" pitchFamily="2" charset="-122"/>
              </a:endParaRPr>
            </a:p>
          </p:txBody>
        </p:sp>
        <p:sp>
          <p:nvSpPr>
            <p:cNvPr id="27656" name="Line 159"/>
            <p:cNvSpPr/>
            <p:nvPr/>
          </p:nvSpPr>
          <p:spPr>
            <a:xfrm flipH="1" flipV="1">
              <a:off x="3606" y="1162"/>
              <a:ext cx="423" cy="409"/>
            </a:xfrm>
            <a:prstGeom prst="line">
              <a:avLst/>
            </a:prstGeom>
            <a:ln w="38100" cap="flat" cmpd="sng">
              <a:solidFill>
                <a:srgbClr val="0000FF"/>
              </a:solidFill>
              <a:prstDash val="solid"/>
              <a:headEnd type="none" w="med" len="med"/>
              <a:tailEnd type="triangle" w="med" len="med"/>
            </a:ln>
          </p:spPr>
        </p:sp>
      </p:grpSp>
      <p:sp>
        <p:nvSpPr>
          <p:cNvPr id="27654" name="TextBox 8"/>
          <p:cNvSpPr txBox="1"/>
          <p:nvPr/>
        </p:nvSpPr>
        <p:spPr>
          <a:xfrm>
            <a:off x="714375" y="1214438"/>
            <a:ext cx="1724025" cy="461962"/>
          </a:xfrm>
          <a:prstGeom prst="rect">
            <a:avLst/>
          </a:prstGeom>
          <a:noFill/>
          <a:ln w="9525">
            <a:noFill/>
          </a:ln>
        </p:spPr>
        <p:txBody>
          <a:bodyPr wrap="none">
            <a:spAutoFit/>
          </a:bodyPr>
          <a:p>
            <a:r>
              <a:rPr lang="zh-CN" altLang="en-US" sz="2400" b="1" dirty="0">
                <a:latin typeface="华文新魏" panose="02010800040101010101" pitchFamily="2" charset="-122"/>
                <a:ea typeface="华文新魏" panose="02010800040101010101" pitchFamily="2" charset="-122"/>
              </a:rPr>
              <a:t>请看下图：</a:t>
            </a:r>
            <a:endParaRPr lang="zh-CN" altLang="en-US" sz="2400" b="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980">
                                            <p:txEl>
                                              <p:charRg st="0" end="25"/>
                                            </p:txEl>
                                          </p:spTgt>
                                        </p:tgtEl>
                                        <p:attrNameLst>
                                          <p:attrName>style.visibility</p:attrName>
                                        </p:attrNameLst>
                                      </p:cBhvr>
                                      <p:to>
                                        <p:strVal val="visible"/>
                                      </p:to>
                                    </p:set>
                                    <p:animEffect transition="in" filter="blinds(horizontal)">
                                      <p:cBhvr>
                                        <p:cTn id="7" dur="500"/>
                                        <p:tgtEl>
                                          <p:spTgt spid="77980">
                                            <p:txEl>
                                              <p:charRg st="0" end="25"/>
                                            </p:txEl>
                                          </p:spTgt>
                                        </p:tgtEl>
                                      </p:cBhvr>
                                    </p:animEffect>
                                  </p:childTnLst>
                                  <p:subTnLst>
                                    <p:animClr clrSpc="rgb" dir="cw">
                                      <p:cBhvr override="childStyle">
                                        <p:cTn dur="1" fill="hold" display="0" masterRel="nextClick" afterEffect="1"/>
                                        <p:tgtEl>
                                          <p:spTgt spid="77980">
                                            <p:txEl>
                                              <p:charRg st="0" end="25"/>
                                            </p:txEl>
                                          </p:spTgt>
                                        </p:tgtEl>
                                        <p:attrNameLst>
                                          <p:attrName>ppt_c</p:attrName>
                                        </p:attrNameLst>
                                      </p:cBhvr>
                                      <p:to>
                                        <a:srgbClr val="3399FF"/>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7980">
                                            <p:txEl>
                                              <p:charRg st="25" end="58"/>
                                            </p:txEl>
                                          </p:spTgt>
                                        </p:tgtEl>
                                        <p:attrNameLst>
                                          <p:attrName>style.visibility</p:attrName>
                                        </p:attrNameLst>
                                      </p:cBhvr>
                                      <p:to>
                                        <p:strVal val="visible"/>
                                      </p:to>
                                    </p:set>
                                    <p:animEffect transition="in" filter="blinds(horizontal)">
                                      <p:cBhvr>
                                        <p:cTn id="12" dur="500"/>
                                        <p:tgtEl>
                                          <p:spTgt spid="77980">
                                            <p:txEl>
                                              <p:charRg st="25" end="5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25603" name="内容占位符 2"/>
          <p:cNvSpPr>
            <a:spLocks noGrp="1"/>
          </p:cNvSpPr>
          <p:nvPr>
            <p:ph idx="1"/>
          </p:nvPr>
        </p:nvSpPr>
        <p:spPr>
          <a:xfrm>
            <a:off x="500063" y="1214438"/>
            <a:ext cx="8358188" cy="454025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例</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：考察基本的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RISC-V</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级流水线中，执行如下指令序列时，请回答下列问题：</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指出是否存在数据冒险？属于何类型的数据相关？</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若没有转发机制，则如何增加</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NOP</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指令来消除数据冒险？</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若有全转发机制，是否全部解决数据冒险？若没有，则如何增加</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NOP</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指令来消除数据冒险？</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ea"/>
              <a:buAutoNum type="circleNumDbPlain"/>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mn-lt"/>
              <a:ea typeface="+mn-ea"/>
              <a:cs typeface="+mn-cs"/>
            </a:endParaRPr>
          </a:p>
        </p:txBody>
      </p:sp>
      <p:pic>
        <p:nvPicPr>
          <p:cNvPr id="28676" name="Picture 7"/>
          <p:cNvPicPr>
            <a:picLocks noChangeAspect="1"/>
          </p:cNvPicPr>
          <p:nvPr/>
        </p:nvPicPr>
        <p:blipFill>
          <a:blip r:embed="rId1"/>
          <a:stretch>
            <a:fillRect/>
          </a:stretch>
        </p:blipFill>
        <p:spPr>
          <a:xfrm>
            <a:off x="1143000" y="3496310"/>
            <a:ext cx="3367405" cy="273431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29699" name="内容占位符 2"/>
          <p:cNvSpPr>
            <a:spLocks noGrp="1"/>
          </p:cNvSpPr>
          <p:nvPr>
            <p:ph idx="1"/>
          </p:nvPr>
        </p:nvSpPr>
        <p:spPr>
          <a:xfrm>
            <a:off x="539750" y="1557338"/>
            <a:ext cx="8135938" cy="1098550"/>
          </a:xfrm>
        </p:spPr>
        <p:txBody>
          <a:bodyPr vert="horz" wrap="square" lIns="91440" tIns="45720" rIns="91440" bIns="45720" anchor="t" anchorCtr="0"/>
          <a:p>
            <a:pPr marL="457200" indent="-457200">
              <a:spcBef>
                <a:spcPct val="0"/>
              </a:spcBef>
              <a:buFont typeface="隶书" panose="02010509060101010101" pitchFamily="49" charset="-122"/>
              <a:buAutoNum type="circleNumDbPlain"/>
            </a:pPr>
            <a:r>
              <a:rPr lang="zh-CN" altLang="en-US" sz="2400" dirty="0">
                <a:latin typeface="Times New Roman" panose="02020603050405020304" pitchFamily="18" charset="0"/>
                <a:cs typeface="Times New Roman" panose="02020603050405020304" pitchFamily="18" charset="0"/>
              </a:rPr>
              <a:t>指出是否存在数据冒险？属于何类型的数据相关？</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a typeface="Times New Roman" panose="02020603050405020304" pitchFamily="18" charset="0"/>
            </a:endParaRPr>
          </a:p>
        </p:txBody>
      </p:sp>
      <p:pic>
        <p:nvPicPr>
          <p:cNvPr id="29700" name="Picture 2"/>
          <p:cNvPicPr>
            <a:picLocks noChangeAspect="1"/>
          </p:cNvPicPr>
          <p:nvPr/>
        </p:nvPicPr>
        <p:blipFill>
          <a:blip r:embed="rId1"/>
          <a:stretch>
            <a:fillRect/>
          </a:stretch>
        </p:blipFill>
        <p:spPr>
          <a:xfrm>
            <a:off x="285750" y="2349500"/>
            <a:ext cx="8534400" cy="307975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3" name="TextBox 2"/>
          <p:cNvSpPr txBox="1"/>
          <p:nvPr/>
        </p:nvSpPr>
        <p:spPr>
          <a:xfrm>
            <a:off x="539750" y="4941888"/>
            <a:ext cx="8064500" cy="1292225"/>
          </a:xfrm>
          <a:prstGeom prst="rect">
            <a:avLst/>
          </a:prstGeom>
          <a:noFill/>
        </p:spPr>
        <p:txBody>
          <a:bodyPr>
            <a:spAutoFit/>
          </a:bodyPr>
          <a:lstStyle/>
          <a:p>
            <a:pPr marR="0" defTabSz="914400">
              <a:lnSpc>
                <a:spcPct val="110000"/>
              </a:lnSpc>
              <a:buClrTx/>
              <a:buSzTx/>
              <a:buFontTx/>
              <a:buNone/>
              <a:defRPr/>
            </a:pP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分析：在五级流水中，只有</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RAW</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会引起冒险，需要插入</a:t>
            </a:r>
            <a:r>
              <a:rPr kumimoji="0" lang="en-US" altLang="zh-CN" sz="2400" b="1" kern="1200" cap="none" spc="0" normalizeH="0" baseline="0" noProof="0" dirty="0" err="1">
                <a:latin typeface="Times New Roman" panose="02020603050405020304" pitchFamily="18" charset="0"/>
                <a:ea typeface="+mn-ea"/>
                <a:cs typeface="Times New Roman" panose="02020603050405020304" pitchFamily="18" charset="0"/>
              </a:rPr>
              <a:t>nop</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指令。如果约定寄存器堆操作是前半周期写，后半周期读，则只需插入</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个</a:t>
            </a:r>
            <a:r>
              <a:rPr kumimoji="0" lang="en-US" altLang="zh-CN" sz="2400" b="1" kern="1200" cap="none" spc="0" normalizeH="0" baseline="0" noProof="0" dirty="0" err="1">
                <a:latin typeface="Times New Roman" panose="02020603050405020304" pitchFamily="18" charset="0"/>
                <a:ea typeface="+mn-ea"/>
                <a:cs typeface="Times New Roman" panose="02020603050405020304" pitchFamily="18" charset="0"/>
              </a:rPr>
              <a:t>nop</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指令；否则，需要插入</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3</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个</a:t>
            </a:r>
            <a:r>
              <a:rPr kumimoji="0" lang="en-US" altLang="zh-CN" sz="2400" b="1" kern="1200" cap="none" spc="0" normalizeH="0" baseline="0" noProof="0" dirty="0" err="1">
                <a:latin typeface="Times New Roman" panose="02020603050405020304" pitchFamily="18" charset="0"/>
                <a:ea typeface="+mn-ea"/>
                <a:cs typeface="Times New Roman" panose="02020603050405020304" pitchFamily="18" charset="0"/>
              </a:rPr>
              <a:t>nop</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指令。</a:t>
            </a:r>
            <a:endPar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21508" name="矩形 6"/>
          <p:cNvSpPr>
            <a:spLocks noChangeArrowheads="1"/>
          </p:cNvSpPr>
          <p:nvPr/>
        </p:nvSpPr>
        <p:spPr bwMode="auto">
          <a:xfrm>
            <a:off x="611188" y="1255713"/>
            <a:ext cx="8183563" cy="830263"/>
          </a:xfrm>
          <a:prstGeom prst="rect">
            <a:avLst/>
          </a:prstGeom>
          <a:noFill/>
          <a:ln w="9525">
            <a:noFill/>
            <a:miter lim="800000"/>
          </a:ln>
        </p:spPr>
        <p:txBody>
          <a:bodyPr>
            <a:spAutoFit/>
          </a:bodyPr>
          <a:lstStyle/>
          <a:p>
            <a:pPr marL="457200" marR="0" lvl="0" indent="-457200" algn="l" defTabSz="914400" rtl="0" eaLnBrk="0" fontAlgn="base" latinLnBrk="0" hangingPunct="0">
              <a:lnSpc>
                <a:spcPct val="100000"/>
              </a:lnSpc>
              <a:spcBef>
                <a:spcPct val="0"/>
              </a:spcBef>
              <a:spcAft>
                <a:spcPct val="0"/>
              </a:spcAft>
              <a:buClrTx/>
              <a:buSzTx/>
              <a:buFont typeface="+mj-ea"/>
              <a:buAutoNum type="circleNumDbPlain" startAt="2"/>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若流水线没有转发机制，则如何增加</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NOP</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指令来消除数据冒险？</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2" name="组合 7"/>
          <p:cNvGrpSpPr/>
          <p:nvPr/>
        </p:nvGrpSpPr>
        <p:grpSpPr>
          <a:xfrm>
            <a:off x="903288" y="2214563"/>
            <a:ext cx="7026275" cy="2571750"/>
            <a:chOff x="755576" y="2436128"/>
            <a:chExt cx="7440930" cy="2514600"/>
          </a:xfrm>
        </p:grpSpPr>
        <p:pic>
          <p:nvPicPr>
            <p:cNvPr id="30726" name="Picture 6"/>
            <p:cNvPicPr>
              <a:picLocks noChangeAspect="1"/>
            </p:cNvPicPr>
            <p:nvPr/>
          </p:nvPicPr>
          <p:blipFill>
            <a:blip r:embed="rId1"/>
            <a:stretch>
              <a:fillRect/>
            </a:stretch>
          </p:blipFill>
          <p:spPr>
            <a:xfrm>
              <a:off x="5367581" y="2436128"/>
              <a:ext cx="2828925" cy="2514600"/>
            </a:xfrm>
            <a:prstGeom prst="rect">
              <a:avLst/>
            </a:prstGeom>
            <a:noFill/>
            <a:ln w="9525">
              <a:noFill/>
            </a:ln>
          </p:spPr>
        </p:pic>
        <p:pic>
          <p:nvPicPr>
            <p:cNvPr id="30727" name="Picture 7"/>
            <p:cNvPicPr>
              <a:picLocks noChangeAspect="1"/>
            </p:cNvPicPr>
            <p:nvPr/>
          </p:nvPicPr>
          <p:blipFill>
            <a:blip r:embed="rId2"/>
            <a:stretch>
              <a:fillRect/>
            </a:stretch>
          </p:blipFill>
          <p:spPr>
            <a:xfrm>
              <a:off x="755576" y="2444290"/>
              <a:ext cx="4276725" cy="2495550"/>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3" name="TextBox 2"/>
          <p:cNvSpPr txBox="1"/>
          <p:nvPr/>
        </p:nvSpPr>
        <p:spPr>
          <a:xfrm>
            <a:off x="539750" y="4926013"/>
            <a:ext cx="7993063" cy="1311275"/>
          </a:xfrm>
          <a:prstGeom prst="rect">
            <a:avLst/>
          </a:prstGeom>
          <a:noFill/>
        </p:spPr>
        <p:txBody>
          <a:bodyPr>
            <a:spAutoFit/>
          </a:bodyPr>
          <a:lstStyle/>
          <a:p>
            <a:pPr marR="0" defTabSz="914400">
              <a:lnSpc>
                <a:spcPct val="110000"/>
              </a:lnSpc>
              <a:buClrTx/>
              <a:buSzTx/>
              <a:buFontTx/>
              <a:buNone/>
              <a:defRPr/>
            </a:pP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分析：对于带全转发的流水线，冒险只存在于</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LOAD</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指令的后续指令的</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RAW</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冒险，而这类冒险是转发技术所不能解决的，需要插入一个</a:t>
            </a:r>
            <a:r>
              <a:rPr kumimoji="0" lang="en-US" altLang="zh-CN" sz="2400" b="1" kern="1200" cap="none" spc="0" normalizeH="0" baseline="0" noProof="0" dirty="0" err="1">
                <a:latin typeface="Times New Roman" panose="02020603050405020304" pitchFamily="18" charset="0"/>
                <a:ea typeface="+mn-ea"/>
                <a:cs typeface="Times New Roman" panose="02020603050405020304" pitchFamily="18" charset="0"/>
              </a:rPr>
              <a:t>nop</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指令。</a:t>
            </a:r>
            <a:endPar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22532" name="矩形 3"/>
          <p:cNvSpPr>
            <a:spLocks noChangeArrowheads="1"/>
          </p:cNvSpPr>
          <p:nvPr/>
        </p:nvSpPr>
        <p:spPr bwMode="auto">
          <a:xfrm>
            <a:off x="611188" y="1301750"/>
            <a:ext cx="8104188" cy="831850"/>
          </a:xfrm>
          <a:prstGeom prst="rect">
            <a:avLst/>
          </a:prstGeom>
          <a:noFill/>
          <a:ln w="9525">
            <a:noFill/>
            <a:miter lim="800000"/>
          </a:ln>
        </p:spPr>
        <p:txBody>
          <a:bodyPr>
            <a:spAutoFit/>
          </a:bodyPr>
          <a:lstStyle/>
          <a:p>
            <a:pPr marL="363855" marR="0" lvl="0" indent="-363855" algn="l" defTabSz="914400" rtl="0" eaLnBrk="0" fontAlgn="base" latinLnBrk="0" hangingPunct="0">
              <a:lnSpc>
                <a:spcPct val="100000"/>
              </a:lnSpc>
              <a:spcBef>
                <a:spcPct val="0"/>
              </a:spcBef>
              <a:spcAft>
                <a:spcPct val="0"/>
              </a:spcAft>
              <a:buClrTx/>
              <a:buSzTx/>
              <a:buFont typeface="+mj-ea"/>
              <a:buAutoNum type="circleNumDbPlain" startAt="3"/>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若流水线具有全转发机制，是否全部解决数据冒险？若没有，则如何增加</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NOP</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指令来消除数据冒险？</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pic>
        <p:nvPicPr>
          <p:cNvPr id="57346" name="Picture 2"/>
          <p:cNvPicPr>
            <a:picLocks noChangeAspect="1"/>
          </p:cNvPicPr>
          <p:nvPr/>
        </p:nvPicPr>
        <p:blipFill>
          <a:blip r:embed="rId1"/>
          <a:stretch>
            <a:fillRect/>
          </a:stretch>
        </p:blipFill>
        <p:spPr>
          <a:xfrm>
            <a:off x="2051050" y="2181225"/>
            <a:ext cx="3960813" cy="2692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22532" name="矩形 3"/>
          <p:cNvSpPr>
            <a:spLocks noChangeArrowheads="1"/>
          </p:cNvSpPr>
          <p:nvPr/>
        </p:nvSpPr>
        <p:spPr bwMode="auto">
          <a:xfrm>
            <a:off x="611188" y="1301750"/>
            <a:ext cx="8104188" cy="5062538"/>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2012</a:t>
            </a: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年考研题</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某</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16</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位计算机中，带符号整数用补码表示，数据</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Cache</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和指令</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Cache</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分离。题</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44</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给出了指令系统中部分指令格式，其中</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Rs</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和</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Rd</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表示寄存器，</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mem</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表示存储单元地址，</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(x)</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表示寄存器</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x</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或存储单元</a:t>
            </a: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x</a:t>
            </a:r>
            <a:r>
              <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的内容。</a:t>
            </a:r>
            <a:endPar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该计算机采用</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段流水方式执行指令，各流水段分别是取指</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(IF)</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、译码</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读寄存器</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(ID)</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、执行</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计算有效地址</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、访问存储器</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、结果写回寄存器</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(WB)</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，流水线采用</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按序发射，按序完成</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方式，没有采用转发技术处理数据相关，并且同一寄存器的读和写操作不能在同一个时钟周期内进行。请回答下列问题：</a:t>
            </a:r>
            <a:endPar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32772" name="图片 5"/>
          <p:cNvPicPr>
            <a:picLocks noChangeAspect="1"/>
          </p:cNvPicPr>
          <p:nvPr/>
        </p:nvPicPr>
        <p:blipFill>
          <a:blip r:embed="rId1"/>
          <a:stretch>
            <a:fillRect/>
          </a:stretch>
        </p:blipFill>
        <p:spPr>
          <a:xfrm>
            <a:off x="1571625" y="2714625"/>
            <a:ext cx="6715125" cy="1928813"/>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1"/>
          <p:cNvGraphicFramePr/>
          <p:nvPr>
            <p:custDataLst>
              <p:tags r:id="rId1"/>
            </p:custDataLst>
          </p:nvPr>
        </p:nvGraphicFramePr>
        <p:xfrm>
          <a:off x="514350" y="3681730"/>
          <a:ext cx="7487285" cy="3010535"/>
        </p:xfrm>
        <a:graphic>
          <a:graphicData uri="http://schemas.openxmlformats.org/presentationml/2006/ole">
            <mc:AlternateContent xmlns:mc="http://schemas.openxmlformats.org/markup-compatibility/2006">
              <mc:Choice xmlns:v="urn:schemas-microsoft-com:vml" Requires="v">
                <p:oleObj spid="_x0000_s3" name="" r:id="rId2" imgW="6718300" imgH="2903855" progId="Paint.Picture">
                  <p:embed/>
                </p:oleObj>
              </mc:Choice>
              <mc:Fallback>
                <p:oleObj name="" r:id="rId2" imgW="6718300" imgH="2903855" progId="Paint.Picture">
                  <p:embed/>
                  <p:pic>
                    <p:nvPicPr>
                      <p:cNvPr id="0" name="图片 2"/>
                      <p:cNvPicPr/>
                      <p:nvPr/>
                    </p:nvPicPr>
                    <p:blipFill>
                      <a:blip r:embed="rId3"/>
                      <a:stretch>
                        <a:fillRect/>
                      </a:stretch>
                    </p:blipFill>
                    <p:spPr>
                      <a:xfrm>
                        <a:off x="514350" y="3681730"/>
                        <a:ext cx="7487285" cy="3010535"/>
                      </a:xfrm>
                      <a:prstGeom prst="rect">
                        <a:avLst/>
                      </a:prstGeom>
                    </p:spPr>
                  </p:pic>
                </p:oleObj>
              </mc:Fallback>
            </mc:AlternateContent>
          </a:graphicData>
        </a:graphic>
      </p:graphicFrame>
      <p:sp>
        <p:nvSpPr>
          <p:cNvPr id="33794"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22532" name="矩形 3"/>
          <p:cNvSpPr>
            <a:spLocks noChangeArrowheads="1"/>
          </p:cNvSpPr>
          <p:nvPr/>
        </p:nvSpPr>
        <p:spPr bwMode="auto">
          <a:xfrm>
            <a:off x="428625" y="1214438"/>
            <a:ext cx="8501063" cy="279971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若</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型变量</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的值为</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−513</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，存放在寄存器</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R1</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中，则执行指令</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“SHR R1”</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后，</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R1</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的内容是多少？</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用十六进制表示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若某个时间段中，有连续</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条指令进入流水线，在其执行过程中没有发生任何指令段阻塞，则执行这</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条指令所需的时钟周期数为多少？</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高级语言程序中某赋值语句为</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x=a+b</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均为</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型变量，它们的存储单元地址分别为</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。该语句对应的指令序列及其在指令流水线中的执行过程如下表所示：</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3797" name="矩形 6"/>
          <p:cNvSpPr/>
          <p:nvPr/>
        </p:nvSpPr>
        <p:spPr>
          <a:xfrm>
            <a:off x="2684145" y="5644515"/>
            <a:ext cx="5027295" cy="835025"/>
          </a:xfrm>
          <a:prstGeom prst="rect">
            <a:avLst/>
          </a:prstGeom>
          <a:noFill/>
          <a:ln w="9525">
            <a:noFill/>
          </a:ln>
        </p:spPr>
        <p:txBody>
          <a:bodyPr wrap="square">
            <a:spAutoFit/>
          </a:bodyPr>
          <a:p>
            <a:pPr>
              <a:lnSpc>
                <a:spcPct val="110000"/>
              </a:lnSpc>
              <a:spcBef>
                <a:spcPts val="600"/>
              </a:spcBef>
              <a:spcAft>
                <a:spcPts val="0"/>
              </a:spcAft>
              <a:buNone/>
            </a:pPr>
            <a:r>
              <a:rPr lang="zh-CN" altLang="en-US" sz="2200" b="1" dirty="0">
                <a:solidFill>
                  <a:srgbClr val="000000"/>
                </a:solidFill>
                <a:latin typeface="Times New Roman" panose="02020603050405020304" pitchFamily="18" charset="0"/>
                <a:ea typeface="华文新魏" panose="02010800040101010101" pitchFamily="2" charset="-122"/>
              </a:rPr>
              <a:t>则左侧</a:t>
            </a:r>
            <a:r>
              <a:rPr lang="en-US" altLang="zh-CN" sz="2200" b="1" dirty="0">
                <a:solidFill>
                  <a:srgbClr val="000000"/>
                </a:solidFill>
                <a:latin typeface="Times New Roman" panose="02020603050405020304" pitchFamily="18" charset="0"/>
                <a:ea typeface="华文新魏" panose="02010800040101010101" pitchFamily="2" charset="-122"/>
              </a:rPr>
              <a:t>4</a:t>
            </a:r>
            <a:r>
              <a:rPr lang="zh-CN" altLang="en-US" sz="2200" b="1" dirty="0">
                <a:solidFill>
                  <a:srgbClr val="000000"/>
                </a:solidFill>
                <a:latin typeface="Times New Roman" panose="02020603050405020304" pitchFamily="18" charset="0"/>
                <a:ea typeface="华文新魏" panose="02010800040101010101" pitchFamily="2" charset="-122"/>
              </a:rPr>
              <a:t>条指令的执行过程中，</a:t>
            </a:r>
            <a:r>
              <a:rPr lang="en-US" altLang="zh-CN" sz="2200" b="1" dirty="0">
                <a:solidFill>
                  <a:srgbClr val="000000"/>
                </a:solidFill>
                <a:latin typeface="Times New Roman" panose="02020603050405020304" pitchFamily="18" charset="0"/>
                <a:ea typeface="华文新魏" panose="02010800040101010101" pitchFamily="2" charset="-122"/>
              </a:rPr>
              <a:t>I</a:t>
            </a:r>
            <a:r>
              <a:rPr lang="en-US" altLang="zh-CN" sz="2200" b="1" dirty="0">
                <a:solidFill>
                  <a:srgbClr val="000000"/>
                </a:solidFill>
                <a:latin typeface="Times New Roman" panose="02020603050405020304" pitchFamily="18" charset="0"/>
                <a:ea typeface="华文新魏" panose="02010800040101010101" pitchFamily="2" charset="-122"/>
              </a:rPr>
              <a:t>3</a:t>
            </a:r>
            <a:r>
              <a:rPr lang="zh-CN" altLang="en-US" sz="2200" b="1" dirty="0">
                <a:solidFill>
                  <a:srgbClr val="000000"/>
                </a:solidFill>
                <a:latin typeface="Times New Roman" panose="02020603050405020304" pitchFamily="18" charset="0"/>
                <a:ea typeface="华文新魏" panose="02010800040101010101" pitchFamily="2" charset="-122"/>
              </a:rPr>
              <a:t>的</a:t>
            </a:r>
            <a:r>
              <a:rPr lang="en-US" altLang="zh-CN" sz="2200" b="1" dirty="0">
                <a:solidFill>
                  <a:srgbClr val="000000"/>
                </a:solidFill>
                <a:latin typeface="Times New Roman" panose="02020603050405020304" pitchFamily="18" charset="0"/>
                <a:ea typeface="华文新魏" panose="02010800040101010101" pitchFamily="2" charset="-122"/>
              </a:rPr>
              <a:t>ID</a:t>
            </a:r>
            <a:r>
              <a:rPr lang="zh-CN" altLang="en-US" sz="2200" b="1" dirty="0">
                <a:solidFill>
                  <a:srgbClr val="000000"/>
                </a:solidFill>
                <a:latin typeface="Times New Roman" panose="02020603050405020304" pitchFamily="18" charset="0"/>
                <a:ea typeface="华文新魏" panose="02010800040101010101" pitchFamily="2" charset="-122"/>
              </a:rPr>
              <a:t>段和</a:t>
            </a:r>
            <a:r>
              <a:rPr lang="en-US" altLang="zh-CN" sz="2200" b="1" dirty="0">
                <a:solidFill>
                  <a:srgbClr val="000000"/>
                </a:solidFill>
                <a:latin typeface="Times New Roman" panose="02020603050405020304" pitchFamily="18" charset="0"/>
                <a:ea typeface="华文新魏" panose="02010800040101010101" pitchFamily="2" charset="-122"/>
              </a:rPr>
              <a:t>I</a:t>
            </a:r>
            <a:r>
              <a:rPr lang="en-US" altLang="zh-CN" sz="2200" b="1" dirty="0">
                <a:solidFill>
                  <a:srgbClr val="000000"/>
                </a:solidFill>
                <a:latin typeface="Times New Roman" panose="02020603050405020304" pitchFamily="18" charset="0"/>
                <a:ea typeface="华文新魏" panose="02010800040101010101" pitchFamily="2" charset="-122"/>
              </a:rPr>
              <a:t>4</a:t>
            </a:r>
            <a:r>
              <a:rPr lang="zh-CN" altLang="en-US" sz="2200" b="1" dirty="0">
                <a:solidFill>
                  <a:srgbClr val="000000"/>
                </a:solidFill>
                <a:latin typeface="Times New Roman" panose="02020603050405020304" pitchFamily="18" charset="0"/>
                <a:ea typeface="华文新魏" panose="02010800040101010101" pitchFamily="2" charset="-122"/>
              </a:rPr>
              <a:t>的</a:t>
            </a:r>
            <a:r>
              <a:rPr lang="en-US" altLang="zh-CN" sz="2200" b="1" dirty="0">
                <a:solidFill>
                  <a:srgbClr val="000000"/>
                </a:solidFill>
                <a:latin typeface="Times New Roman" panose="02020603050405020304" pitchFamily="18" charset="0"/>
                <a:ea typeface="华文新魏" panose="02010800040101010101" pitchFamily="2" charset="-122"/>
              </a:rPr>
              <a:t>IF</a:t>
            </a:r>
            <a:r>
              <a:rPr lang="zh-CN" altLang="en-US" sz="2200" b="1" dirty="0">
                <a:solidFill>
                  <a:srgbClr val="000000"/>
                </a:solidFill>
                <a:latin typeface="Times New Roman" panose="02020603050405020304" pitchFamily="18" charset="0"/>
                <a:ea typeface="华文新魏" panose="02010800040101010101" pitchFamily="2" charset="-122"/>
              </a:rPr>
              <a:t>段被阻塞的原因各是什么？</a:t>
            </a:r>
            <a:endParaRPr lang="zh-CN" altLang="en-US" sz="2200" b="1" dirty="0">
              <a:solidFill>
                <a:srgbClr val="000000"/>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22532" name="矩形 3"/>
          <p:cNvSpPr>
            <a:spLocks noChangeArrowheads="1"/>
          </p:cNvSpPr>
          <p:nvPr/>
        </p:nvSpPr>
        <p:spPr bwMode="auto">
          <a:xfrm>
            <a:off x="500063" y="1214438"/>
            <a:ext cx="8286750" cy="1446213"/>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若高级语言程序中某赋值语句为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x=2*x+a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均为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unsigned int</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型变量，它们的存储单元地址分别表示为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，则执行这条语句至少需要多少个时钟周期？要求模仿题</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44</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图画出这条语句对应的指令序列及其在流水线中的执行过程示意图。</a:t>
            </a:r>
            <a:endParaRPr kumimoji="0"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 name="TextBox 5"/>
          <p:cNvSpPr txBox="1"/>
          <p:nvPr/>
        </p:nvSpPr>
        <p:spPr>
          <a:xfrm>
            <a:off x="534988" y="2857500"/>
            <a:ext cx="8251825" cy="3138170"/>
          </a:xfrm>
          <a:prstGeom prst="rect">
            <a:avLst/>
          </a:prstGeom>
          <a:noFill/>
          <a:ln w="9525">
            <a:noFill/>
          </a:ln>
        </p:spPr>
        <p:txBody>
          <a:bodyPr>
            <a:spAutoFit/>
          </a:bodyPr>
          <a:p>
            <a:pPr marL="356870" indent="-356870">
              <a:buNone/>
            </a:pPr>
            <a:r>
              <a:rPr lang="zh-CN" altLang="en-US" sz="2200" b="1" dirty="0">
                <a:latin typeface="Times New Roman" panose="02020603050405020304" pitchFamily="18" charset="0"/>
                <a:ea typeface="华文新魏" panose="02010800040101010101" pitchFamily="2" charset="-122"/>
              </a:rPr>
              <a:t>解： </a:t>
            </a:r>
            <a:r>
              <a:rPr lang="en-US" altLang="zh-CN" sz="2200" b="1" dirty="0">
                <a:latin typeface="Times New Roman" panose="02020603050405020304" pitchFamily="18" charset="0"/>
                <a:ea typeface="华文新魏" panose="02010800040101010101" pitchFamily="2" charset="-122"/>
              </a:rPr>
              <a:t>(1) x</a:t>
            </a:r>
            <a:r>
              <a:rPr lang="zh-CN" altLang="en-US" sz="2200" b="1" dirty="0">
                <a:latin typeface="Times New Roman" panose="02020603050405020304" pitchFamily="18" charset="0"/>
                <a:ea typeface="华文新魏" panose="02010800040101010101" pitchFamily="2" charset="-122"/>
              </a:rPr>
              <a:t>的机器码为</a:t>
            </a:r>
            <a:r>
              <a:rPr lang="en-US" altLang="zh-CN" sz="2200" b="1" dirty="0">
                <a:latin typeface="Times New Roman" panose="02020603050405020304" pitchFamily="18" charset="0"/>
                <a:ea typeface="华文新魏" panose="02010800040101010101" pitchFamily="2" charset="-122"/>
              </a:rPr>
              <a:t>[x]</a:t>
            </a:r>
            <a:r>
              <a:rPr lang="zh-CN" altLang="en-US" sz="2200" b="1" baseline="-25000" dirty="0">
                <a:latin typeface="Times New Roman" panose="02020603050405020304" pitchFamily="18" charset="0"/>
                <a:ea typeface="华文新魏" panose="02010800040101010101" pitchFamily="2" charset="-122"/>
              </a:rPr>
              <a:t>补</a:t>
            </a:r>
            <a:r>
              <a:rPr lang="en-US" altLang="zh-CN" sz="2200" b="1" dirty="0">
                <a:latin typeface="Times New Roman" panose="02020603050405020304" pitchFamily="18" charset="0"/>
                <a:ea typeface="华文新魏" panose="02010800040101010101" pitchFamily="2" charset="-122"/>
              </a:rPr>
              <a:t>=1111 1101 1111 1111B</a:t>
            </a:r>
            <a:r>
              <a:rPr lang="zh-CN" altLang="en-US" sz="2200" b="1" dirty="0">
                <a:latin typeface="Times New Roman" panose="02020603050405020304" pitchFamily="18" charset="0"/>
                <a:ea typeface="华文新魏" panose="02010800040101010101" pitchFamily="2" charset="-122"/>
              </a:rPr>
              <a:t>，即指令执行前</a:t>
            </a:r>
            <a:r>
              <a:rPr lang="en-US" altLang="zh-CN" sz="2200" b="1" dirty="0">
                <a:latin typeface="Times New Roman" panose="02020603050405020304" pitchFamily="18" charset="0"/>
                <a:ea typeface="华文新魏" panose="02010800040101010101" pitchFamily="2" charset="-122"/>
              </a:rPr>
              <a:t>(R1)=FDFFH</a:t>
            </a:r>
            <a:r>
              <a:rPr lang="zh-CN" altLang="en-US" sz="2200" b="1" dirty="0">
                <a:latin typeface="Times New Roman" panose="02020603050405020304" pitchFamily="18" charset="0"/>
                <a:ea typeface="华文新魏" panose="02010800040101010101" pitchFamily="2" charset="-122"/>
              </a:rPr>
              <a:t>，右移</a:t>
            </a:r>
            <a:r>
              <a:rPr lang="en-US" altLang="zh-CN" sz="2200" b="1" dirty="0">
                <a:latin typeface="Times New Roman" panose="02020603050405020304" pitchFamily="18" charset="0"/>
                <a:ea typeface="华文新魏" panose="02010800040101010101" pitchFamily="2" charset="-122"/>
              </a:rPr>
              <a:t>1</a:t>
            </a:r>
            <a:r>
              <a:rPr lang="zh-CN" altLang="en-US" sz="2200" b="1" dirty="0">
                <a:latin typeface="Times New Roman" panose="02020603050405020304" pitchFamily="18" charset="0"/>
                <a:ea typeface="华文新魏" panose="02010800040101010101" pitchFamily="2" charset="-122"/>
              </a:rPr>
              <a:t>位后为</a:t>
            </a:r>
            <a:r>
              <a:rPr lang="en-US" altLang="zh-CN" sz="2200" b="1" dirty="0">
                <a:latin typeface="Times New Roman" panose="02020603050405020304" pitchFamily="18" charset="0"/>
                <a:ea typeface="华文新魏" panose="02010800040101010101" pitchFamily="2" charset="-122"/>
              </a:rPr>
              <a:t>1111 1110 1111 1111</a:t>
            </a:r>
            <a:r>
              <a:rPr lang="zh-CN" altLang="en-US" sz="2200" b="1" dirty="0">
                <a:latin typeface="Times New Roman" panose="02020603050405020304" pitchFamily="18" charset="0"/>
                <a:ea typeface="华文新魏" panose="02010800040101010101" pitchFamily="2" charset="-122"/>
              </a:rPr>
              <a:t>，即指令执行后</a:t>
            </a:r>
            <a:r>
              <a:rPr lang="en-US" altLang="zh-CN" sz="2200" b="1" dirty="0">
                <a:latin typeface="Times New Roman" panose="02020603050405020304" pitchFamily="18" charset="0"/>
                <a:ea typeface="华文新魏" panose="02010800040101010101" pitchFamily="2" charset="-122"/>
              </a:rPr>
              <a:t>(R1)=FEFFH</a:t>
            </a:r>
            <a:r>
              <a:rPr lang="zh-CN" altLang="en-US" sz="2200" b="1" dirty="0">
                <a:latin typeface="Times New Roman" panose="02020603050405020304" pitchFamily="18" charset="0"/>
                <a:ea typeface="华文新魏" panose="02010800040101010101" pitchFamily="2" charset="-122"/>
              </a:rPr>
              <a:t>。</a:t>
            </a:r>
            <a:endParaRPr lang="zh-CN" altLang="en-US" sz="2200" b="1" dirty="0">
              <a:latin typeface="Times New Roman" panose="02020603050405020304" pitchFamily="18" charset="0"/>
              <a:ea typeface="华文新魏" panose="02010800040101010101" pitchFamily="2" charset="-122"/>
            </a:endParaRPr>
          </a:p>
          <a:p>
            <a:pPr marL="356870" indent="-356870">
              <a:buNone/>
            </a:pPr>
            <a:r>
              <a:rPr lang="en-US" altLang="zh-CN" sz="2200" b="1" dirty="0">
                <a:latin typeface="Times New Roman" panose="02020603050405020304" pitchFamily="18" charset="0"/>
                <a:ea typeface="华文新魏" panose="02010800040101010101" pitchFamily="2" charset="-122"/>
              </a:rPr>
              <a:t>(2)</a:t>
            </a:r>
            <a:r>
              <a:rPr lang="zh-CN" altLang="en-US" sz="2200" b="1" dirty="0">
                <a:latin typeface="Times New Roman" panose="02020603050405020304" pitchFamily="18" charset="0"/>
                <a:ea typeface="华文新魏" panose="02010800040101010101" pitchFamily="2" charset="-122"/>
              </a:rPr>
              <a:t>至少需要</a:t>
            </a:r>
            <a:r>
              <a:rPr lang="en-US" altLang="zh-CN" sz="2200" b="1" dirty="0">
                <a:latin typeface="Times New Roman" panose="02020603050405020304" pitchFamily="18" charset="0"/>
                <a:ea typeface="华文新魏" panose="02010800040101010101" pitchFamily="2" charset="-122"/>
              </a:rPr>
              <a:t>4+(5-1)=8</a:t>
            </a:r>
            <a:r>
              <a:rPr lang="zh-CN" altLang="en-US" sz="2200" b="1" dirty="0">
                <a:latin typeface="Times New Roman" panose="02020603050405020304" pitchFamily="18" charset="0"/>
                <a:ea typeface="华文新魏" panose="02010800040101010101" pitchFamily="2" charset="-122"/>
              </a:rPr>
              <a:t>个时钟周期。</a:t>
            </a:r>
            <a:endParaRPr lang="zh-CN" altLang="en-US" sz="2200" b="1" dirty="0">
              <a:latin typeface="Times New Roman" panose="02020603050405020304" pitchFamily="18" charset="0"/>
              <a:ea typeface="华文新魏" panose="02010800040101010101" pitchFamily="2" charset="-122"/>
            </a:endParaRPr>
          </a:p>
          <a:p>
            <a:pPr marL="356870" indent="-356870">
              <a:buNone/>
            </a:pPr>
            <a:r>
              <a:rPr lang="en-US" altLang="zh-CN" sz="2200" b="1" dirty="0">
                <a:latin typeface="Times New Roman" panose="02020603050405020304" pitchFamily="18" charset="0"/>
                <a:ea typeface="华文新魏" panose="02010800040101010101" pitchFamily="2" charset="-122"/>
              </a:rPr>
              <a:t>(3)</a:t>
            </a:r>
            <a:r>
              <a:rPr lang="en-US" altLang="zh-CN" sz="2200" b="1" dirty="0">
                <a:solidFill>
                  <a:srgbClr val="0000FF"/>
                </a:solidFill>
                <a:latin typeface="Times New Roman" panose="02020603050405020304" pitchFamily="18" charset="0"/>
                <a:ea typeface="华文新魏" panose="02010800040101010101" pitchFamily="2" charset="-122"/>
              </a:rPr>
              <a:t> I3</a:t>
            </a:r>
            <a:r>
              <a:rPr lang="zh-CN" altLang="en-US" sz="2200" b="1" dirty="0">
                <a:solidFill>
                  <a:srgbClr val="0000FF"/>
                </a:solidFill>
                <a:latin typeface="Times New Roman" panose="02020603050405020304" pitchFamily="18" charset="0"/>
                <a:ea typeface="华文新魏" panose="02010800040101010101" pitchFamily="2" charset="-122"/>
              </a:rPr>
              <a:t>的</a:t>
            </a:r>
            <a:r>
              <a:rPr lang="en-US" altLang="zh-CN" sz="2200" b="1" dirty="0">
                <a:solidFill>
                  <a:srgbClr val="0000FF"/>
                </a:solidFill>
                <a:latin typeface="Times New Roman" panose="02020603050405020304" pitchFamily="18" charset="0"/>
                <a:ea typeface="华文新魏" panose="02010800040101010101" pitchFamily="2" charset="-122"/>
              </a:rPr>
              <a:t>ID</a:t>
            </a:r>
            <a:r>
              <a:rPr lang="zh-CN" altLang="en-US" sz="2200" b="1" dirty="0">
                <a:solidFill>
                  <a:srgbClr val="0000FF"/>
                </a:solidFill>
                <a:latin typeface="Times New Roman" panose="02020603050405020304" pitchFamily="18" charset="0"/>
                <a:ea typeface="华文新魏" panose="02010800040101010101" pitchFamily="2" charset="-122"/>
              </a:rPr>
              <a:t>段被阻塞的原因</a:t>
            </a:r>
            <a:r>
              <a:rPr lang="zh-CN" altLang="en-US" sz="2200" b="1" dirty="0">
                <a:latin typeface="Times New Roman" panose="02020603050405020304" pitchFamily="18" charset="0"/>
                <a:ea typeface="华文新魏" panose="02010800040101010101" pitchFamily="2" charset="-122"/>
              </a:rPr>
              <a:t>是由于</a:t>
            </a:r>
            <a:r>
              <a:rPr lang="en-US" altLang="zh-CN" sz="2200" b="1" dirty="0">
                <a:latin typeface="Times New Roman" panose="02020603050405020304" pitchFamily="18" charset="0"/>
                <a:ea typeface="华文新魏" panose="02010800040101010101" pitchFamily="2" charset="-122"/>
              </a:rPr>
              <a:t>I3</a:t>
            </a:r>
            <a:r>
              <a:rPr lang="zh-CN" altLang="en-US" sz="2200" b="1" dirty="0">
                <a:latin typeface="Times New Roman" panose="02020603050405020304" pitchFamily="18" charset="0"/>
                <a:ea typeface="华文新魏" panose="02010800040101010101" pitchFamily="2" charset="-122"/>
              </a:rPr>
              <a:t>与</a:t>
            </a:r>
            <a:r>
              <a:rPr lang="en-US" altLang="zh-CN" sz="2200" b="1" dirty="0">
                <a:latin typeface="Times New Roman" panose="02020603050405020304" pitchFamily="18" charset="0"/>
                <a:ea typeface="华文新魏" panose="02010800040101010101" pitchFamily="2" charset="-122"/>
              </a:rPr>
              <a:t>I1</a:t>
            </a:r>
            <a:r>
              <a:rPr lang="zh-CN" altLang="en-US" sz="2200" b="1" dirty="0">
                <a:latin typeface="Times New Roman" panose="02020603050405020304" pitchFamily="18" charset="0"/>
                <a:ea typeface="华文新魏" panose="02010800040101010101" pitchFamily="2" charset="-122"/>
              </a:rPr>
              <a:t>和</a:t>
            </a:r>
            <a:r>
              <a:rPr lang="en-US" altLang="zh-CN" sz="2200" b="1" dirty="0">
                <a:latin typeface="Times New Roman" panose="02020603050405020304" pitchFamily="18" charset="0"/>
                <a:ea typeface="华文新魏" panose="02010800040101010101" pitchFamily="2" charset="-122"/>
              </a:rPr>
              <a:t>I2</a:t>
            </a:r>
            <a:r>
              <a:rPr lang="zh-CN" altLang="en-US" sz="2200" b="1" dirty="0">
                <a:latin typeface="Times New Roman" panose="02020603050405020304" pitchFamily="18" charset="0"/>
                <a:ea typeface="华文新魏" panose="02010800040101010101" pitchFamily="2" charset="-122"/>
              </a:rPr>
              <a:t>都存在数据相关，需等到</a:t>
            </a:r>
            <a:r>
              <a:rPr lang="en-US" altLang="zh-CN" sz="2200" b="1" dirty="0">
                <a:latin typeface="Times New Roman" panose="02020603050405020304" pitchFamily="18" charset="0"/>
                <a:ea typeface="华文新魏" panose="02010800040101010101" pitchFamily="2" charset="-122"/>
              </a:rPr>
              <a:t>I1</a:t>
            </a:r>
            <a:r>
              <a:rPr lang="zh-CN" altLang="en-US" sz="2200" b="1" dirty="0">
                <a:latin typeface="Times New Roman" panose="02020603050405020304" pitchFamily="18" charset="0"/>
                <a:ea typeface="华文新魏" panose="02010800040101010101" pitchFamily="2" charset="-122"/>
              </a:rPr>
              <a:t>和</a:t>
            </a:r>
            <a:r>
              <a:rPr lang="en-US" altLang="zh-CN" sz="2200" b="1" dirty="0">
                <a:latin typeface="Times New Roman" panose="02020603050405020304" pitchFamily="18" charset="0"/>
                <a:ea typeface="华文新魏" panose="02010800040101010101" pitchFamily="2" charset="-122"/>
              </a:rPr>
              <a:t>I2</a:t>
            </a:r>
            <a:r>
              <a:rPr lang="zh-CN" altLang="en-US" sz="2200" b="1" dirty="0">
                <a:latin typeface="Times New Roman" panose="02020603050405020304" pitchFamily="18" charset="0"/>
                <a:ea typeface="华文新魏" panose="02010800040101010101" pitchFamily="2" charset="-122"/>
              </a:rPr>
              <a:t>将结果写回寄存器后，</a:t>
            </a:r>
            <a:r>
              <a:rPr lang="en-US" altLang="zh-CN" sz="2200" b="1" dirty="0">
                <a:latin typeface="Times New Roman" panose="02020603050405020304" pitchFamily="18" charset="0"/>
                <a:ea typeface="华文新魏" panose="02010800040101010101" pitchFamily="2" charset="-122"/>
              </a:rPr>
              <a:t>I3</a:t>
            </a:r>
            <a:r>
              <a:rPr lang="zh-CN" altLang="en-US" sz="2200" b="1" dirty="0">
                <a:latin typeface="Times New Roman" panose="02020603050405020304" pitchFamily="18" charset="0"/>
                <a:ea typeface="华文新魏" panose="02010800040101010101" pitchFamily="2" charset="-122"/>
              </a:rPr>
              <a:t>才能读寄存器内容。所以，</a:t>
            </a:r>
            <a:r>
              <a:rPr lang="en-US" altLang="zh-CN" sz="2200" b="1" dirty="0">
                <a:latin typeface="Times New Roman" panose="02020603050405020304" pitchFamily="18" charset="0"/>
                <a:ea typeface="华文新魏" panose="02010800040101010101" pitchFamily="2" charset="-122"/>
              </a:rPr>
              <a:t>I3</a:t>
            </a:r>
            <a:r>
              <a:rPr lang="zh-CN" altLang="en-US" sz="2200" b="1" dirty="0">
                <a:latin typeface="Times New Roman" panose="02020603050405020304" pitchFamily="18" charset="0"/>
                <a:ea typeface="华文新魏" panose="02010800040101010101" pitchFamily="2" charset="-122"/>
              </a:rPr>
              <a:t>在</a:t>
            </a:r>
            <a:r>
              <a:rPr lang="en-US" altLang="zh-CN" sz="2200" b="1" dirty="0">
                <a:latin typeface="Times New Roman" panose="02020603050405020304" pitchFamily="18" charset="0"/>
                <a:ea typeface="华文新魏" panose="02010800040101010101" pitchFamily="2" charset="-122"/>
              </a:rPr>
              <a:t>ID</a:t>
            </a:r>
            <a:r>
              <a:rPr lang="zh-CN" altLang="en-US" sz="2200" b="1" dirty="0">
                <a:latin typeface="Times New Roman" panose="02020603050405020304" pitchFamily="18" charset="0"/>
                <a:ea typeface="华文新魏" panose="02010800040101010101" pitchFamily="2" charset="-122"/>
              </a:rPr>
              <a:t>段被阻塞。</a:t>
            </a:r>
            <a:endParaRPr lang="zh-CN" altLang="en-US" sz="2200" b="1" dirty="0">
              <a:latin typeface="Times New Roman" panose="02020603050405020304" pitchFamily="18" charset="0"/>
              <a:ea typeface="华文新魏" panose="02010800040101010101" pitchFamily="2" charset="-122"/>
            </a:endParaRPr>
          </a:p>
          <a:p>
            <a:pPr marL="356870" indent="8890">
              <a:buNone/>
            </a:pPr>
            <a:r>
              <a:rPr lang="en-US" altLang="zh-CN" sz="2200" b="1" dirty="0">
                <a:solidFill>
                  <a:srgbClr val="0000FF"/>
                </a:solidFill>
                <a:latin typeface="Times New Roman" panose="02020603050405020304" pitchFamily="18" charset="0"/>
                <a:ea typeface="华文新魏" panose="02010800040101010101" pitchFamily="2" charset="-122"/>
              </a:rPr>
              <a:t>I4</a:t>
            </a:r>
            <a:r>
              <a:rPr lang="zh-CN" altLang="en-US" sz="2200" b="1" dirty="0">
                <a:solidFill>
                  <a:srgbClr val="0000FF"/>
                </a:solidFill>
                <a:latin typeface="Times New Roman" panose="02020603050405020304" pitchFamily="18" charset="0"/>
                <a:ea typeface="华文新魏" panose="02010800040101010101" pitchFamily="2" charset="-122"/>
              </a:rPr>
              <a:t>的</a:t>
            </a:r>
            <a:r>
              <a:rPr lang="en-US" altLang="zh-CN" sz="2200" b="1" dirty="0">
                <a:solidFill>
                  <a:srgbClr val="0000FF"/>
                </a:solidFill>
                <a:latin typeface="Times New Roman" panose="02020603050405020304" pitchFamily="18" charset="0"/>
                <a:ea typeface="华文新魏" panose="02010800040101010101" pitchFamily="2" charset="-122"/>
              </a:rPr>
              <a:t>IF</a:t>
            </a:r>
            <a:r>
              <a:rPr lang="zh-CN" altLang="en-US" sz="2200" b="1" dirty="0">
                <a:solidFill>
                  <a:srgbClr val="0000FF"/>
                </a:solidFill>
                <a:latin typeface="Times New Roman" panose="02020603050405020304" pitchFamily="18" charset="0"/>
                <a:ea typeface="华文新魏" panose="02010800040101010101" pitchFamily="2" charset="-122"/>
              </a:rPr>
              <a:t>段被阻塞的原因</a:t>
            </a:r>
            <a:r>
              <a:rPr lang="zh-CN" altLang="en-US" sz="2200" b="1" dirty="0">
                <a:latin typeface="Times New Roman" panose="02020603050405020304" pitchFamily="18" charset="0"/>
                <a:ea typeface="华文新魏" panose="02010800040101010101" pitchFamily="2" charset="-122"/>
              </a:rPr>
              <a:t>是由于</a:t>
            </a:r>
            <a:r>
              <a:rPr lang="en-US" altLang="zh-CN" sz="2200" b="1" dirty="0">
                <a:latin typeface="Times New Roman" panose="02020603050405020304" pitchFamily="18" charset="0"/>
                <a:ea typeface="华文新魏" panose="02010800040101010101" pitchFamily="2" charset="-122"/>
              </a:rPr>
              <a:t>I4</a:t>
            </a:r>
            <a:r>
              <a:rPr lang="zh-CN" altLang="en-US" sz="2200" b="1" dirty="0">
                <a:latin typeface="Times New Roman" panose="02020603050405020304" pitchFamily="18" charset="0"/>
                <a:ea typeface="华文新魏" panose="02010800040101010101" pitchFamily="2" charset="-122"/>
              </a:rPr>
              <a:t>的前一条指令</a:t>
            </a:r>
            <a:r>
              <a:rPr lang="en-US" altLang="zh-CN" sz="2200" b="1" dirty="0">
                <a:latin typeface="Times New Roman" panose="02020603050405020304" pitchFamily="18" charset="0"/>
                <a:ea typeface="华文新魏" panose="02010800040101010101" pitchFamily="2" charset="-122"/>
              </a:rPr>
              <a:t>I3</a:t>
            </a:r>
            <a:r>
              <a:rPr lang="zh-CN" altLang="en-US" sz="2200" b="1" dirty="0">
                <a:latin typeface="Times New Roman" panose="02020603050405020304" pitchFamily="18" charset="0"/>
                <a:ea typeface="华文新魏" panose="02010800040101010101" pitchFamily="2" charset="-122"/>
              </a:rPr>
              <a:t>在</a:t>
            </a:r>
            <a:r>
              <a:rPr lang="en-US" altLang="zh-CN" sz="2200" b="1" dirty="0">
                <a:latin typeface="Times New Roman" panose="02020603050405020304" pitchFamily="18" charset="0"/>
                <a:ea typeface="华文新魏" panose="02010800040101010101" pitchFamily="2" charset="-122"/>
              </a:rPr>
              <a:t>ID</a:t>
            </a:r>
            <a:r>
              <a:rPr lang="zh-CN" altLang="en-US" sz="2200" b="1" dirty="0">
                <a:latin typeface="Times New Roman" panose="02020603050405020304" pitchFamily="18" charset="0"/>
                <a:ea typeface="华文新魏" panose="02010800040101010101" pitchFamily="2" charset="-122"/>
              </a:rPr>
              <a:t>段被阻塞。所以，</a:t>
            </a:r>
            <a:r>
              <a:rPr lang="en-US" altLang="zh-CN" sz="2200" b="1" dirty="0">
                <a:latin typeface="Times New Roman" panose="02020603050405020304" pitchFamily="18" charset="0"/>
                <a:ea typeface="华文新魏" panose="02010800040101010101" pitchFamily="2" charset="-122"/>
              </a:rPr>
              <a:t>I4</a:t>
            </a:r>
            <a:r>
              <a:rPr lang="zh-CN" altLang="en-US" sz="2200" b="1" dirty="0">
                <a:latin typeface="Times New Roman" panose="02020603050405020304" pitchFamily="18" charset="0"/>
                <a:ea typeface="华文新魏" panose="02010800040101010101" pitchFamily="2" charset="-122"/>
              </a:rPr>
              <a:t>在</a:t>
            </a:r>
            <a:r>
              <a:rPr lang="en-US" altLang="zh-CN" sz="2200" b="1" dirty="0">
                <a:latin typeface="Times New Roman" panose="02020603050405020304" pitchFamily="18" charset="0"/>
                <a:ea typeface="华文新魏" panose="02010800040101010101" pitchFamily="2" charset="-122"/>
              </a:rPr>
              <a:t>IF</a:t>
            </a:r>
            <a:r>
              <a:rPr lang="zh-CN" altLang="en-US" sz="2200" b="1" dirty="0">
                <a:latin typeface="Times New Roman" panose="02020603050405020304" pitchFamily="18" charset="0"/>
                <a:ea typeface="华文新魏" panose="02010800040101010101" pitchFamily="2" charset="-122"/>
              </a:rPr>
              <a:t>段就被阻塞。</a:t>
            </a:r>
            <a:endParaRPr lang="zh-CN" altLang="en-US" sz="2200" b="1" dirty="0">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6" name="TextBox 5"/>
          <p:cNvSpPr txBox="1"/>
          <p:nvPr/>
        </p:nvSpPr>
        <p:spPr>
          <a:xfrm>
            <a:off x="500063" y="1165225"/>
            <a:ext cx="8358188" cy="3476625"/>
          </a:xfrm>
          <a:prstGeom prst="rect">
            <a:avLst/>
          </a:prstGeom>
          <a:noFill/>
        </p:spPr>
        <p:txBody>
          <a:bodyPr>
            <a:spAutoFit/>
          </a:bodyPr>
          <a:lstStyle/>
          <a:p>
            <a:pPr marL="360045" marR="0" indent="-360045" defTabSz="914400">
              <a:buClrTx/>
              <a:buSzTx/>
              <a:buFontTx/>
              <a:buNone/>
              <a:defRPr/>
            </a:pP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解：</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 </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该条指令对应的指令序列有两种情况，因为</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2*x</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操作有加法</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对应第一种</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和左移</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对应第二种</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两种方法实现。</a:t>
            </a:r>
            <a:endPar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60045" marR="0" indent="-360045"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第一种</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第二种</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60045" marR="0" indent="33655"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I1   LOAD R1</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    	I1   LOAD R1</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a:t>
            </a:r>
            <a:endPar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60045" marR="0" indent="33655"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I2   LOAD R2</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    	I2   LOAD R2</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a:t>
            </a:r>
            <a:endPar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60045" marR="0" indent="33655"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I3   ADD R1</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R1      	I3   SHL R1</a:t>
            </a:r>
            <a:endPar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60045" marR="0" indent="33655"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I4   ADD R1</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R2     	I4   ADD R1</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R2</a:t>
            </a:r>
            <a:endPar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60045" marR="0" indent="33655"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I5   STORE R2</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    	I5   STORE R2</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a:t>
            </a:r>
            <a:endPar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60045" marR="0" indent="-34290" defTabSz="914400">
              <a:buClrTx/>
              <a:buSzTx/>
              <a:buFontTx/>
              <a:buNone/>
              <a:defRPr/>
            </a:pP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对应的执行过程示意图如下：</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pic>
        <p:nvPicPr>
          <p:cNvPr id="35844" name="图片 4"/>
          <p:cNvPicPr>
            <a:picLocks noChangeAspect="1"/>
          </p:cNvPicPr>
          <p:nvPr/>
        </p:nvPicPr>
        <p:blipFill>
          <a:blip r:embed="rId1"/>
          <a:stretch>
            <a:fillRect/>
          </a:stretch>
        </p:blipFill>
        <p:spPr>
          <a:xfrm>
            <a:off x="929005" y="4214178"/>
            <a:ext cx="6215063" cy="2425700"/>
          </a:xfrm>
          <a:prstGeom prst="rect">
            <a:avLst/>
          </a:prstGeom>
          <a:noFill/>
          <a:ln w="9525">
            <a:noFill/>
          </a:ln>
        </p:spPr>
      </p:pic>
      <p:sp>
        <p:nvSpPr>
          <p:cNvPr id="7" name="矩形 6"/>
          <p:cNvSpPr/>
          <p:nvPr/>
        </p:nvSpPr>
        <p:spPr>
          <a:xfrm>
            <a:off x="7072313" y="4554538"/>
            <a:ext cx="1785938" cy="144526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综上所述，执行该语句至少需要</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17</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个时钟周期</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6" name="TextBox 5"/>
          <p:cNvSpPr txBox="1"/>
          <p:nvPr/>
        </p:nvSpPr>
        <p:spPr>
          <a:xfrm>
            <a:off x="572135" y="1236980"/>
            <a:ext cx="8129905" cy="5349240"/>
          </a:xfrm>
          <a:prstGeom prst="rect">
            <a:avLst/>
          </a:prstGeom>
          <a:noFill/>
        </p:spPr>
        <p:txBody>
          <a:bodyPr wrap="square">
            <a:spAutoFit/>
          </a:bodyPr>
          <a:lstStyle/>
          <a:p>
            <a:pPr marR="0"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Consider the fragment of RISC-V assembly below:</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sd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x29, 12(x16)</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ld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x29, 8(x16)</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sub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x17, x15, x14</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beqz x17, label</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add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x15, x11, x14</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sub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x15, x30, x14</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Suppose we modify the pipeline so that it has only one memory (that handles both</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instructions and data). In this case, there will be a structural hazard every time</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 program needs to fetch an instruction during the same cycle in which another</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instruction accesses data.</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4.22.1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Draw a pipeline diagram to show were the code above will</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stall.</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4.22.2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In general, is it possible to reduce the number of stalls/ NOP sresulting from this structural hazard by reordering code?</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4.22.3 </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Must this structural hazard be handled in hardware? We have</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seen that data hazards can be eliminated by adding NOP s to the code. Can you do</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the same with this structural hazard? If so, explain how. If not, explain why not.</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4.22.4</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Approximately how many stalls would you expect this</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lnSpc>
                <a:spcPct val="95000"/>
              </a:lnSpc>
              <a:spcBef>
                <a:spcPts val="0"/>
              </a:spcBef>
              <a:spcAft>
                <a:spcPts val="0"/>
              </a:spcAft>
              <a:buClrTx/>
              <a:buSzTx/>
              <a:buFontTx/>
              <a:buNone/>
              <a:defRPr/>
            </a:pP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structural hazard to generate in a typical program? (Use the instruction mix from</a:t>
            </a:r>
            <a:r>
              <a:rPr kumimoji="0" lang="en-US" altLang="zh-CN"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Exercise 4.8.)</a:t>
            </a:r>
            <a:endParaRPr kumimoji="0" lang="zh-CN" altLang="en-US" sz="18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2" name="对象 1"/>
          <p:cNvGraphicFramePr/>
          <p:nvPr>
            <p:custDataLst>
              <p:tags r:id="rId1"/>
            </p:custDataLst>
          </p:nvPr>
        </p:nvGraphicFramePr>
        <p:xfrm>
          <a:off x="2915920" y="6237605"/>
          <a:ext cx="3912870" cy="620395"/>
        </p:xfrm>
        <a:graphic>
          <a:graphicData uri="http://schemas.openxmlformats.org/presentationml/2006/ole">
            <mc:AlternateContent xmlns:mc="http://schemas.openxmlformats.org/markup-compatibility/2006">
              <mc:Choice xmlns:v="urn:schemas-microsoft-com:vml" Requires="v">
                <p:oleObj spid="_x0000_s3" name="" r:id="rId2" imgW="3826510" imgH="499745" progId="Paint.Picture">
                  <p:embed/>
                </p:oleObj>
              </mc:Choice>
              <mc:Fallback>
                <p:oleObj name="" r:id="rId2" imgW="3826510" imgH="499745" progId="Paint.Picture">
                  <p:embed/>
                  <p:pic>
                    <p:nvPicPr>
                      <p:cNvPr id="0" name="图片 2"/>
                      <p:cNvPicPr/>
                      <p:nvPr/>
                    </p:nvPicPr>
                    <p:blipFill>
                      <a:blip r:embed="rId3"/>
                      <a:stretch>
                        <a:fillRect/>
                      </a:stretch>
                    </p:blipFill>
                    <p:spPr>
                      <a:xfrm>
                        <a:off x="2915920" y="6237605"/>
                        <a:ext cx="3912870" cy="62039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6" name="TextBox 5"/>
          <p:cNvSpPr txBox="1"/>
          <p:nvPr/>
        </p:nvSpPr>
        <p:spPr>
          <a:xfrm>
            <a:off x="428625" y="1165225"/>
            <a:ext cx="8643620" cy="3034030"/>
          </a:xfrm>
          <a:prstGeom prst="rect">
            <a:avLst/>
          </a:prstGeom>
          <a:noFill/>
        </p:spPr>
        <p:txBody>
          <a:bodyPr wrap="square">
            <a:spAutoFit/>
          </a:bodyPr>
          <a:lstStyle/>
          <a:p>
            <a:pPr marR="0" indent="12700"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4.22.1 </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如果指令和数据共用一个存储器，则分析如下：</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12700" defTabSz="914400">
              <a:lnSpc>
                <a:spcPct val="95000"/>
              </a:lnSpc>
              <a:spcBef>
                <a:spcPts val="0"/>
              </a:spcBef>
              <a:spcAft>
                <a:spcPts val="0"/>
              </a:spcAft>
              <a:buClrTx/>
              <a:buSzTx/>
              <a:buFontTx/>
              <a:buNone/>
              <a:defRPr/>
            </a:pP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sd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x29, 12(x16)</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第</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1</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指令与第</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4</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beqz</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指令访存冲突，</a:t>
            </a:r>
            <a:endPar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p>
            <a:pPr marR="0" indent="12700"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ld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x29, 8(x16)</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第</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2</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ld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指令与第</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5</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add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指令访存冲突，</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sub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x17, x15, x14</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因此，</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第</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4</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beqz</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指令要停顿</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2</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拍。</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beqz x17, label</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若</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停</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1</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拍，它就与第</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5</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add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指令访存冲突。</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add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x15, x11, x14</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由此，</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2</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个访存指令在仅一个存储器时，</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sub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x15, x30, x14</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后续指令就至少停顿</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2</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拍。</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4" name="表格 3"/>
          <p:cNvGraphicFramePr/>
          <p:nvPr>
            <p:custDataLst>
              <p:tags r:id="rId1"/>
            </p:custDataLst>
          </p:nvPr>
        </p:nvGraphicFramePr>
        <p:xfrm>
          <a:off x="1116330" y="3573145"/>
          <a:ext cx="7232015" cy="2590165"/>
        </p:xfrm>
        <a:graphic>
          <a:graphicData uri="http://schemas.openxmlformats.org/drawingml/2006/table">
            <a:tbl>
              <a:tblPr firstRow="1" bandRow="1">
                <a:tableStyleId>{5C22544A-7EE6-4342-B048-85BDC9FD1C3A}</a:tableStyleId>
              </a:tblPr>
              <a:tblGrid>
                <a:gridCol w="781685"/>
                <a:gridCol w="556895"/>
                <a:gridCol w="669925"/>
                <a:gridCol w="643255"/>
                <a:gridCol w="772160"/>
                <a:gridCol w="634365"/>
                <a:gridCol w="635000"/>
                <a:gridCol w="635000"/>
                <a:gridCol w="634365"/>
                <a:gridCol w="635000"/>
                <a:gridCol w="634365"/>
              </a:tblGrid>
              <a:tr h="339725">
                <a:tc>
                  <a:txBody>
                    <a:bodyPr/>
                    <a:p>
                      <a:pPr indent="0" algn="ctr" fontAlgn="auto">
                        <a:lnSpc>
                          <a:spcPct val="80000"/>
                        </a:lnSpc>
                        <a:buNone/>
                      </a:pPr>
                      <a:endParaRPr lang="zh-CN" altLang="en-US">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1</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2</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3</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4</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5</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6</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7</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8</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9</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10</a:t>
                      </a:r>
                      <a:endParaRPr lang="en-US" altLang="zh-CN">
                        <a:solidFill>
                          <a:srgbClr val="0000FF"/>
                        </a:solidFill>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sd</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rgbClr val="FF0000"/>
                          </a:solidFill>
                          <a:latin typeface="Times New Roman" panose="02020603050405020304" pitchFamily="18" charset="0"/>
                          <a:cs typeface="Times New Roman" panose="02020603050405020304" pitchFamily="18" charset="0"/>
                        </a:rPr>
                        <a:t>MM</a:t>
                      </a:r>
                      <a:endParaRPr lang="en-US" altLang="zh-CN" sz="18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WB</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ld</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rgbClr val="FF0000"/>
                          </a:solidFill>
                          <a:latin typeface="Times New Roman" panose="02020603050405020304" pitchFamily="18" charset="0"/>
                          <a:cs typeface="Times New Roman" panose="02020603050405020304" pitchFamily="18" charset="0"/>
                        </a:rPr>
                        <a:t>MM</a:t>
                      </a:r>
                      <a:endParaRPr lang="en-US" altLang="zh-CN" sz="18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sub</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MM</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beqz</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rgbClr val="FF0000"/>
                          </a:solidFill>
                          <a:latin typeface="Times New Roman" panose="02020603050405020304" pitchFamily="18" charset="0"/>
                          <a:cs typeface="Times New Roman" panose="02020603050405020304" pitchFamily="18" charset="0"/>
                        </a:rPr>
                        <a:t>IF</a:t>
                      </a:r>
                      <a:endParaRPr lang="en-US" altLang="zh-CN" sz="18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MM</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WB</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add</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rgbClr val="FF0000"/>
                          </a:solidFill>
                          <a:latin typeface="Times New Roman" panose="02020603050405020304" pitchFamily="18" charset="0"/>
                          <a:cs typeface="Times New Roman" panose="02020603050405020304" pitchFamily="18" charset="0"/>
                        </a:rPr>
                        <a:t>IF</a:t>
                      </a:r>
                      <a:endParaRPr lang="en-US" altLang="zh-CN" sz="18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MM</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41211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sub</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MM</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6" name="TextBox 5"/>
          <p:cNvSpPr txBox="1"/>
          <p:nvPr/>
        </p:nvSpPr>
        <p:spPr>
          <a:xfrm>
            <a:off x="428625" y="1165225"/>
            <a:ext cx="8643620" cy="3034030"/>
          </a:xfrm>
          <a:prstGeom prst="rect">
            <a:avLst/>
          </a:prstGeom>
          <a:noFill/>
        </p:spPr>
        <p:txBody>
          <a:bodyPr wrap="square">
            <a:spAutoFit/>
          </a:bodyPr>
          <a:lstStyle/>
          <a:p>
            <a:pPr marR="0" indent="12700" defTabSz="914400">
              <a:buClrTx/>
              <a:buSzTx/>
              <a:buFontTx/>
              <a:buNone/>
              <a:defRPr/>
            </a:pP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4.22.2 </a:t>
            </a: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可以通过如下重排代码来减少因结构冒险而导致停顿的次数：</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12700" defTabSz="914400">
              <a:lnSpc>
                <a:spcPct val="95000"/>
              </a:lnSpc>
              <a:spcBef>
                <a:spcPts val="0"/>
              </a:spcBef>
              <a:spcAft>
                <a:spcPts val="0"/>
              </a:spcAft>
              <a:buClrTx/>
              <a:buSzTx/>
              <a:buFontTx/>
              <a:buNone/>
              <a:defRPr/>
            </a:pPr>
            <a:r>
              <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en-US" altLang="zh-CN"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sub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x17, x15, x14</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因为</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ld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指令与后续</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4</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条指令没有数据</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beqz x17, label</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相关性，故可将</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ld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指令重排到最后。</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add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x15, x11, x14</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sub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x15, x30, x14</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endPar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endParaRPr>
          </a:p>
          <a:p>
            <a:pPr marR="0" indent="12700" defTabSz="914400">
              <a:lnSpc>
                <a:spcPct val="95000"/>
              </a:lnSpc>
              <a:spcBef>
                <a:spcPts val="0"/>
              </a:spcBef>
              <a:spcAft>
                <a:spcPts val="0"/>
              </a:spcAft>
              <a:buClrTx/>
              <a:buSzTx/>
              <a:buFontTx/>
              <a:buNone/>
              <a:defRPr/>
            </a:pP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sd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x29, 12(x16)</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由于前面</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4</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条指令执行都无需访存，不会</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605155" defTabSz="914400">
              <a:lnSpc>
                <a:spcPct val="95000"/>
              </a:lnSpc>
              <a:spcBef>
                <a:spcPts val="0"/>
              </a:spcBef>
              <a:spcAft>
                <a:spcPts val="0"/>
              </a:spcAft>
              <a:buClrTx/>
              <a:buSzTx/>
              <a:buFontTx/>
              <a:buNone/>
              <a:defRPr/>
            </a:pP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ld </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x29, 8(x16)</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	     </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与</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sd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t>
            </a:r>
            <a:r>
              <a:rPr lang="en-US" altLang="zh-CN"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ld</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指令的取指访存冲突，</a:t>
            </a:r>
            <a:r>
              <a:rPr lang="zh-CN" altLang="en-US" sz="2200" b="1" noProof="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无需停顿</a:t>
            </a:r>
            <a:r>
              <a:rPr lang="zh-CN" altLang="en-US" sz="22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t>
            </a: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zh-CN" altLang="en-US" sz="22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8" name="表格 7"/>
          <p:cNvGraphicFramePr/>
          <p:nvPr>
            <p:custDataLst>
              <p:tags r:id="rId1"/>
            </p:custDataLst>
          </p:nvPr>
        </p:nvGraphicFramePr>
        <p:xfrm>
          <a:off x="1116330" y="3573145"/>
          <a:ext cx="7232015" cy="2590165"/>
        </p:xfrm>
        <a:graphic>
          <a:graphicData uri="http://schemas.openxmlformats.org/drawingml/2006/table">
            <a:tbl>
              <a:tblPr firstRow="1" bandRow="1">
                <a:tableStyleId>{5C22544A-7EE6-4342-B048-85BDC9FD1C3A}</a:tableStyleId>
              </a:tblPr>
              <a:tblGrid>
                <a:gridCol w="781685"/>
                <a:gridCol w="556895"/>
                <a:gridCol w="669925"/>
                <a:gridCol w="643255"/>
                <a:gridCol w="772160"/>
                <a:gridCol w="634365"/>
                <a:gridCol w="635000"/>
                <a:gridCol w="635000"/>
                <a:gridCol w="634365"/>
                <a:gridCol w="635000"/>
                <a:gridCol w="634365"/>
              </a:tblGrid>
              <a:tr h="339725">
                <a:tc>
                  <a:txBody>
                    <a:bodyPr/>
                    <a:p>
                      <a:pPr indent="0" algn="ctr" fontAlgn="auto">
                        <a:lnSpc>
                          <a:spcPct val="80000"/>
                        </a:lnSpc>
                        <a:buNone/>
                      </a:pPr>
                      <a:endParaRPr lang="zh-CN" altLang="en-US">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1</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2</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3</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4</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5</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6</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7</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8</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9</a:t>
                      </a:r>
                      <a:endParaRPr lang="en-US" altLang="zh-CN">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80000"/>
                        </a:lnSpc>
                        <a:buNone/>
                      </a:pPr>
                      <a:r>
                        <a:rPr lang="en-US" altLang="zh-CN">
                          <a:solidFill>
                            <a:srgbClr val="0000FF"/>
                          </a:solidFill>
                          <a:latin typeface="Times New Roman" panose="02020603050405020304" pitchFamily="18" charset="0"/>
                          <a:cs typeface="Times New Roman" panose="02020603050405020304" pitchFamily="18" charset="0"/>
                        </a:rPr>
                        <a:t>10</a:t>
                      </a:r>
                      <a:endParaRPr lang="en-US" altLang="zh-CN">
                        <a:solidFill>
                          <a:srgbClr val="0000FF"/>
                        </a:solidFill>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sub</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chemeClr val="tx1"/>
                          </a:solidFill>
                          <a:latin typeface="Times New Roman" panose="02020603050405020304" pitchFamily="18" charset="0"/>
                          <a:cs typeface="Times New Roman" panose="02020603050405020304" pitchFamily="18" charset="0"/>
                        </a:rPr>
                        <a:t>MM</a:t>
                      </a:r>
                      <a:endParaRPr lang="en-US" altLang="zh-CN" sz="1800" b="1">
                        <a:solidFill>
                          <a:schemeClr val="tx1"/>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WB</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beqz</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chemeClr val="tx1"/>
                          </a:solidFill>
                          <a:latin typeface="Times New Roman" panose="02020603050405020304" pitchFamily="18" charset="0"/>
                          <a:cs typeface="Times New Roman" panose="02020603050405020304" pitchFamily="18" charset="0"/>
                        </a:rPr>
                        <a:t>EX</a:t>
                      </a:r>
                      <a:endParaRPr lang="en-US" altLang="zh-CN" sz="1800" b="1">
                        <a:solidFill>
                          <a:schemeClr val="tx1"/>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chemeClr val="tx1"/>
                          </a:solidFill>
                          <a:latin typeface="Times New Roman" panose="02020603050405020304" pitchFamily="18" charset="0"/>
                          <a:cs typeface="Times New Roman" panose="02020603050405020304" pitchFamily="18" charset="0"/>
                        </a:rPr>
                        <a:t>MM</a:t>
                      </a:r>
                      <a:endParaRPr lang="en-US" altLang="zh-CN" sz="1800" b="1">
                        <a:solidFill>
                          <a:schemeClr val="tx1"/>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add</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MM</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sub</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chemeClr val="tx1"/>
                          </a:solidFill>
                          <a:latin typeface="Times New Roman" panose="02020603050405020304" pitchFamily="18" charset="0"/>
                          <a:cs typeface="Times New Roman" panose="02020603050405020304" pitchFamily="18" charset="0"/>
                        </a:rPr>
                        <a:t>IF</a:t>
                      </a:r>
                      <a:endParaRPr lang="en-US" altLang="zh-CN" sz="1800" b="1">
                        <a:solidFill>
                          <a:schemeClr val="tx1"/>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MM</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WB</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36766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sd</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chemeClr val="tx1"/>
                          </a:solidFill>
                          <a:latin typeface="Times New Roman" panose="02020603050405020304" pitchFamily="18" charset="0"/>
                          <a:cs typeface="Times New Roman" panose="02020603050405020304" pitchFamily="18" charset="0"/>
                        </a:rPr>
                        <a:t>IF</a:t>
                      </a:r>
                      <a:endParaRPr lang="en-US" altLang="zh-CN" sz="1800" b="1">
                        <a:solidFill>
                          <a:schemeClr val="tx1"/>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rgbClr val="0000FF"/>
                          </a:solidFill>
                          <a:latin typeface="Times New Roman" panose="02020603050405020304" pitchFamily="18" charset="0"/>
                          <a:cs typeface="Times New Roman" panose="02020603050405020304" pitchFamily="18" charset="0"/>
                        </a:rPr>
                        <a:t>MM</a:t>
                      </a:r>
                      <a:endParaRPr lang="en-US" altLang="zh-CN" sz="1800" b="1">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r>
              <a:tr h="412115">
                <a:tc>
                  <a:txBody>
                    <a:bodyPr/>
                    <a:p>
                      <a:pPr indent="0" fontAlgn="auto">
                        <a:lnSpc>
                          <a:spcPct val="95000"/>
                        </a:lnSpc>
                        <a:buNone/>
                      </a:pPr>
                      <a:r>
                        <a:rPr lang="en-US" altLang="zh-CN" sz="2000" b="1">
                          <a:solidFill>
                            <a:srgbClr val="FF0000"/>
                          </a:solidFill>
                          <a:latin typeface="Times New Roman" panose="02020603050405020304" pitchFamily="18" charset="0"/>
                          <a:cs typeface="Times New Roman" panose="02020603050405020304" pitchFamily="18" charset="0"/>
                        </a:rPr>
                        <a:t>ld</a:t>
                      </a:r>
                      <a:endParaRPr lang="en-US" altLang="zh-CN" sz="2000" b="1">
                        <a:solidFill>
                          <a:srgbClr val="FF0000"/>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endParaRPr lang="zh-CN" altLang="en-US"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IF</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ID</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rPr>
                        <a:t>EX</a:t>
                      </a:r>
                      <a:endParaRPr lang="en-US" altLang="zh-CN" sz="1800" b="1">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solidFill>
                            <a:srgbClr val="0000FF"/>
                          </a:solidFill>
                          <a:latin typeface="Times New Roman" panose="02020603050405020304" pitchFamily="18" charset="0"/>
                          <a:cs typeface="Times New Roman" panose="02020603050405020304" pitchFamily="18" charset="0"/>
                        </a:rPr>
                        <a:t>MM</a:t>
                      </a:r>
                      <a:endParaRPr lang="en-US" altLang="zh-CN" sz="1800" b="1">
                        <a:solidFill>
                          <a:srgbClr val="0000FF"/>
                        </a:solidFill>
                        <a:latin typeface="Times New Roman" panose="02020603050405020304" pitchFamily="18" charset="0"/>
                        <a:cs typeface="Times New Roman" panose="02020603050405020304" pitchFamily="18" charset="0"/>
                      </a:endParaRPr>
                    </a:p>
                  </a:txBody>
                  <a:tcPr/>
                </a:tc>
                <a:tc>
                  <a:txBody>
                    <a:bodyPr/>
                    <a:p>
                      <a:pPr indent="0" algn="ctr" fontAlgn="auto">
                        <a:lnSpc>
                          <a:spcPct val="95000"/>
                        </a:lnSpc>
                        <a:buNone/>
                      </a:pPr>
                      <a:r>
                        <a:rPr lang="en-US" altLang="zh-CN" sz="1800" b="1">
                          <a:latin typeface="Times New Roman" panose="02020603050405020304" pitchFamily="18" charset="0"/>
                          <a:cs typeface="Times New Roman" panose="02020603050405020304" pitchFamily="18" charset="0"/>
                          <a:sym typeface="+mn-ea"/>
                        </a:rPr>
                        <a:t>WB</a:t>
                      </a:r>
                      <a:endParaRPr lang="en-US" altLang="zh-CN" sz="1800" b="1">
                        <a:latin typeface="Times New Roman" panose="02020603050405020304" pitchFamily="18" charset="0"/>
                        <a:cs typeface="Times New Roman" panose="02020603050405020304" pitchFamily="18" charset="0"/>
                        <a:sym typeface="+mn-ea"/>
                      </a:endParaRPr>
                    </a:p>
                  </a:txBody>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b" anchorCtr="0"/>
          <a:p>
            <a:r>
              <a:rPr lang="zh-CN" altLang="en-US" dirty="0"/>
              <a:t>流水线数据相关性分析实例</a:t>
            </a:r>
            <a:endParaRPr lang="zh-CN" altLang="en-US" dirty="0"/>
          </a:p>
        </p:txBody>
      </p:sp>
      <p:sp>
        <p:nvSpPr>
          <p:cNvPr id="6" name="TextBox 5"/>
          <p:cNvSpPr txBox="1"/>
          <p:nvPr/>
        </p:nvSpPr>
        <p:spPr>
          <a:xfrm>
            <a:off x="428625" y="1236980"/>
            <a:ext cx="8346440" cy="5415915"/>
          </a:xfrm>
          <a:prstGeom prst="rect">
            <a:avLst/>
          </a:prstGeom>
          <a:noFill/>
        </p:spPr>
        <p:txBody>
          <a:bodyPr wrap="square">
            <a:spAutoFit/>
          </a:bodyPr>
          <a:lstStyle/>
          <a:p>
            <a:pPr marL="383540" marR="0" indent="-370840" defTabSz="914400">
              <a:lnSpc>
                <a:spcPct val="100000"/>
              </a:lnSpc>
              <a:spcBef>
                <a:spcPts val="600"/>
              </a:spcBef>
              <a:spcAft>
                <a:spcPts val="0"/>
              </a:spcAft>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4.22.3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若系统共享单一存储器引起的</a:t>
            </a:r>
            <a:r>
              <a:rPr kumimoji="0" 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结构冒险是必须通过硬件来解决。虽然我们可以通过在代码中插入</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NOP</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指令来消除数据冒险，但对该类结构冒险没有办法做出相同处理。由于</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NOP</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指令也需经过取指阶段从存储器中取出执行，它与后续指令的</a:t>
            </a:r>
            <a:r>
              <a:rPr lang="zh-CN" altLang="en-US"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取指或取数操作会</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存在</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无法避免的访存冲突。</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83540" marR="0" indent="-370840" defTabSz="914400">
              <a:lnSpc>
                <a:spcPct val="100000"/>
              </a:lnSpc>
              <a:spcBef>
                <a:spcPts val="600"/>
              </a:spcBef>
              <a:spcAft>
                <a:spcPts val="0"/>
              </a:spcAft>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4.22.4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在一个典型程序中，基于习题</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4.8</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中的指令分布：</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83540" marR="0" indent="-370840" defTabSz="914400">
              <a:lnSpc>
                <a:spcPct val="100000"/>
              </a:lnSpc>
              <a:spcBef>
                <a:spcPts val="0"/>
              </a:spcBef>
              <a:spcAft>
                <a:spcPts val="0"/>
              </a:spcAft>
              <a:buClrTx/>
              <a:buSzTx/>
              <a:buFontTx/>
              <a:buNone/>
              <a:defRPr/>
            </a:pP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83540" marR="0" indent="-370840" defTabSz="914400">
              <a:lnSpc>
                <a:spcPct val="100000"/>
              </a:lnSpc>
              <a:spcBef>
                <a:spcPts val="0"/>
              </a:spcBef>
              <a:spcAft>
                <a:spcPts val="0"/>
              </a:spcAft>
              <a:buClrTx/>
              <a:buSzTx/>
              <a:buFontTx/>
              <a:buNone/>
              <a:defRPr/>
            </a:pP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383540" marR="0" indent="-19050" defTabSz="914400">
              <a:lnSpc>
                <a:spcPct val="100000"/>
              </a:lnSpc>
              <a:spcBef>
                <a:spcPts val="600"/>
              </a:spcBef>
              <a:spcAft>
                <a:spcPts val="0"/>
              </a:spcAft>
              <a:buClrTx/>
              <a:buSzTx/>
              <a:buFontTx/>
              <a:buNone/>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当</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25%</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的</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ld</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指令和</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的</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sd</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指令执行到</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MM</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阶段</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即流水线第</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4</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阶段</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时，都会与后续指令执行于取指阶段</a:t>
            </a:r>
            <a:r>
              <a:rPr lang="en-US" altLang="zh-CN"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t>
            </a:r>
            <a:r>
              <a:rPr lang="zh-CN" altLang="en-US"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即流水线第</a:t>
            </a:r>
            <a:r>
              <a:rPr lang="en-US" altLang="zh-CN"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1</a:t>
            </a:r>
            <a:r>
              <a:rPr lang="zh-CN" altLang="en-US"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阶段</a:t>
            </a:r>
            <a:r>
              <a:rPr lang="en-US" altLang="zh-CN"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a:t>
            </a:r>
            <a:r>
              <a:rPr lang="zh-CN" altLang="en-US" sz="2400" b="1" noProof="0" dirty="0">
                <a:latin typeface="Times New Roman" panose="02020603050405020304" pitchFamily="18" charset="0"/>
                <a:ea typeface="华文新魏" panose="02010800040101010101" pitchFamily="2" charset="-122"/>
                <a:cs typeface="Times New Roman" panose="02020603050405020304" pitchFamily="18" charset="0"/>
                <a:sym typeface="+mn-ea"/>
              </a:rPr>
              <a:t>发生</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访存冲突。故每执行一个</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ld</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或者</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sd</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指令时，在其后续的指令适当时机至少停顿</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拍，即</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个周期。因此，在典型程序</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比如</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100</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条指令</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执行时，其</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36%</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访存指令的执行共计需要至少停顿</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36</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拍。</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2" name="对象 1"/>
          <p:cNvGraphicFramePr/>
          <p:nvPr>
            <p:custDataLst>
              <p:tags r:id="rId1"/>
            </p:custDataLst>
          </p:nvPr>
        </p:nvGraphicFramePr>
        <p:xfrm>
          <a:off x="1412875" y="3571875"/>
          <a:ext cx="5920105" cy="772795"/>
        </p:xfrm>
        <a:graphic>
          <a:graphicData uri="http://schemas.openxmlformats.org/presentationml/2006/ole">
            <mc:AlternateContent xmlns:mc="http://schemas.openxmlformats.org/markup-compatibility/2006">
              <mc:Choice xmlns:v="urn:schemas-microsoft-com:vml" Requires="v">
                <p:oleObj spid="_x0000_s3" name="" r:id="rId2" imgW="3826510" imgH="499745" progId="Paint.Picture">
                  <p:embed/>
                </p:oleObj>
              </mc:Choice>
              <mc:Fallback>
                <p:oleObj name="" r:id="rId2" imgW="3826510" imgH="499745" progId="Paint.Picture">
                  <p:embed/>
                  <p:pic>
                    <p:nvPicPr>
                      <p:cNvPr id="0" name="图片 2"/>
                      <p:cNvPicPr/>
                      <p:nvPr/>
                    </p:nvPicPr>
                    <p:blipFill>
                      <a:blip r:embed="rId3"/>
                      <a:stretch>
                        <a:fillRect/>
                      </a:stretch>
                    </p:blipFill>
                    <p:spPr>
                      <a:xfrm>
                        <a:off x="1412875" y="3571875"/>
                        <a:ext cx="5920105" cy="77279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411" name="Rectangle 188"/>
          <p:cNvSpPr>
            <a:spLocks noChangeArrowheads="1"/>
          </p:cNvSpPr>
          <p:nvPr/>
        </p:nvSpPr>
        <p:spPr bwMode="auto">
          <a:xfrm>
            <a:off x="642938" y="1476375"/>
            <a:ext cx="8143875" cy="4523105"/>
          </a:xfrm>
          <a:prstGeom prst="rect">
            <a:avLst/>
          </a:prstGeom>
          <a:noFill/>
          <a:ln w="12700">
            <a:noFill/>
            <a:miter lim="800000"/>
          </a:ln>
        </p:spPr>
        <p:txBody>
          <a:bodyPr>
            <a:spAutoFit/>
          </a:bodyPr>
          <a:lstStyle/>
          <a:p>
            <a:pPr marL="0" marR="0" lvl="0" indent="0" algn="l" defTabSz="914400" rtl="0" eaLnBrk="0" fontAlgn="base" latinLnBrk="0" hangingPunct="0">
              <a:lnSpc>
                <a:spcPct val="100000"/>
              </a:lnSpc>
              <a:spcBef>
                <a:spcPts val="1200"/>
              </a:spcBef>
              <a:spcAft>
                <a:spcPct val="0"/>
              </a:spcAft>
              <a:buClr>
                <a:schemeClr val="tx2"/>
              </a:buClr>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例：假定相关功能单元的延迟如下：</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1" indent="-347980" algn="l" defTabSz="914400" rtl="0" eaLnBrk="0" fontAlgn="base" latinLnBrk="0" hangingPunct="0">
              <a:lnSpc>
                <a:spcPct val="100000"/>
              </a:lnSpc>
              <a:spcBef>
                <a:spcPct val="0"/>
              </a:spcBef>
              <a:spcAft>
                <a:spcPct val="0"/>
              </a:spcAft>
              <a:buClr>
                <a:schemeClr val="tx2"/>
              </a:buClr>
              <a:buSzPct val="80000"/>
              <a:buFont typeface="Wingdings" panose="05000000000000000000" charset="0"/>
              <a:buChar char="l"/>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访存时间为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200ps</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1" indent="-347980" algn="l" defTabSz="914400" rtl="0" eaLnBrk="0" fontAlgn="base" latinLnBrk="0" hangingPunct="0">
              <a:lnSpc>
                <a:spcPct val="100000"/>
              </a:lnSpc>
              <a:spcBef>
                <a:spcPct val="0"/>
              </a:spcBef>
              <a:spcAft>
                <a:spcPct val="0"/>
              </a:spcAft>
              <a:buClr>
                <a:schemeClr val="tx2"/>
              </a:buClr>
              <a:buSzPct val="80000"/>
              <a:buFont typeface="Wingdings" panose="05000000000000000000" charset="0"/>
              <a:buChar char="l"/>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ALU</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操作时间为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100ps</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1" indent="-347980" algn="l" defTabSz="914400" rtl="0" eaLnBrk="0" fontAlgn="base" latinLnBrk="0" hangingPunct="0">
              <a:lnSpc>
                <a:spcPct val="100000"/>
              </a:lnSpc>
              <a:spcBef>
                <a:spcPct val="0"/>
              </a:spcBef>
              <a:spcAft>
                <a:spcPct val="0"/>
              </a:spcAft>
              <a:buClr>
                <a:schemeClr val="tx2"/>
              </a:buClr>
              <a:buSzPct val="80000"/>
              <a:buFont typeface="Wingdings" panose="05000000000000000000" charset="0"/>
              <a:buChar char="l"/>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寄存器文件读写延时为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50ps</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chemeClr val="tx2"/>
              </a:buClr>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对于流水线方式下，假定：一半的</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Load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指令之后紧跟着使用该</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Load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执行结果的指令；分支错误预测的开销为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个时钟周期，设</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的分支指令预测错误；跳转指令总会产生一个时钟周期的延迟，也就是消耗两个时钟周期。忽略其他的冒险问题。若使用的</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SPECint2000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的指令比例是：</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25% load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10% store</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11% branche</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 jump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52% ALU</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指令。试比较单周期、多周期和流水线控制方式的性能。</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36867" name="标题 3"/>
          <p:cNvSpPr>
            <a:spLocks noGrp="1"/>
          </p:cNvSpPr>
          <p:nvPr>
            <p:ph type="title"/>
          </p:nvPr>
        </p:nvSpPr>
        <p:spPr>
          <a:xfrm>
            <a:off x="500063" y="214313"/>
            <a:ext cx="8283575" cy="676275"/>
          </a:xfrm>
        </p:spPr>
        <p:txBody>
          <a:bodyPr vert="horz" wrap="square" lIns="91440" tIns="45720" rIns="91440" bIns="45720" anchor="b" anchorCtr="0"/>
          <a:p>
            <a:r>
              <a:rPr lang="zh-CN" altLang="en-US" sz="3600" dirty="0"/>
              <a:t>单周期、多周期和</a:t>
            </a:r>
            <a:r>
              <a:rPr lang="en-US" altLang="zh-CN" sz="3600" dirty="0"/>
              <a:t> </a:t>
            </a:r>
            <a:r>
              <a:rPr lang="zh-CN" altLang="en-US" sz="3600" dirty="0"/>
              <a:t>流水线的性能比较</a:t>
            </a:r>
            <a:endParaRPr lang="zh-CN" altLang="en-US" sz="36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411" name="Rectangle 188"/>
          <p:cNvSpPr>
            <a:spLocks noChangeArrowheads="1"/>
          </p:cNvSpPr>
          <p:nvPr/>
        </p:nvSpPr>
        <p:spPr bwMode="auto">
          <a:xfrm>
            <a:off x="428625" y="1187450"/>
            <a:ext cx="8448040" cy="5507990"/>
          </a:xfrm>
          <a:prstGeom prst="rect">
            <a:avLst/>
          </a:prstGeom>
          <a:noFill/>
          <a:ln w="12700">
            <a:noFill/>
            <a:miter lim="800000"/>
          </a:ln>
        </p:spPr>
        <p:txBody>
          <a:bodyPr wrap="square">
            <a:spAutoFit/>
          </a:bodyPr>
          <a:lstStyle/>
          <a:p>
            <a:pPr marL="363855" marR="0" lvl="0" indent="-363855" algn="l" defTabSz="914400" rtl="0" eaLnBrk="0" fontAlgn="base" latinLnBrk="0" hangingPunct="0">
              <a:lnSpc>
                <a:spcPct val="100000"/>
              </a:lnSpc>
              <a:spcBef>
                <a:spcPts val="0"/>
              </a:spcBef>
              <a:spcAft>
                <a:spcPct val="0"/>
              </a:spcAft>
              <a:buClr>
                <a:schemeClr val="tx2"/>
              </a:buClr>
              <a:buSzTx/>
              <a:buFont typeface="+mj-ea"/>
              <a:buAutoNum type="circleNumDbPlain"/>
              <a:defRPr/>
            </a:pP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对于单周期控制器设计，其将产生的时钟周期是：</a:t>
            </a:r>
            <a:endPar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363855" marR="0" lvl="0" indent="-363855" algn="l" defTabSz="914400" rtl="0" eaLnBrk="0" fontAlgn="base" latinLnBrk="0" hangingPunct="0">
              <a:lnSpc>
                <a:spcPct val="100000"/>
              </a:lnSpc>
              <a:spcBef>
                <a:spcPts val="0"/>
              </a:spcBef>
              <a:spcAft>
                <a:spcPct val="0"/>
              </a:spcAft>
              <a:buClr>
                <a:schemeClr val="tx2"/>
              </a:buClr>
              <a:buSzTx/>
              <a:buFontTx/>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200+50+100+200+50=600(ps)</a:t>
            </a:r>
            <a:endPar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363855" marR="0" lvl="0" indent="-363855" algn="l" defTabSz="914400" rtl="0" eaLnBrk="0" fontAlgn="base" latinLnBrk="0" hangingPunct="0">
              <a:lnSpc>
                <a:spcPct val="100000"/>
              </a:lnSpc>
              <a:spcBef>
                <a:spcPts val="0"/>
              </a:spcBef>
              <a:spcAft>
                <a:spcPct val="0"/>
              </a:spcAft>
              <a:buClr>
                <a:schemeClr val="tx2"/>
              </a:buClr>
              <a:buSzTx/>
              <a:buFont typeface="+mj-ea"/>
              <a:buAutoNum type="circleNumDbPlain" startAt="2"/>
              <a:defRPr/>
            </a:pP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对于多周期控制器设计，指令分布如下：</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25% load</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10% store</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11% branche</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 jump</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52% ALU</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指令。其平均</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CPI</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为：</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5</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25%+4</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10%+4</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52%+3</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11%+3</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 4.12</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363855" marR="0" lvl="0" indent="0" algn="l" defTabSz="914400" rtl="0" eaLnBrk="0" fontAlgn="base" latinLnBrk="0" hangingPunct="0">
              <a:lnSpc>
                <a:spcPct val="100000"/>
              </a:lnSpc>
              <a:spcBef>
                <a:spcPts val="0"/>
              </a:spcBef>
              <a:spcAft>
                <a:spcPct val="0"/>
              </a:spcAft>
              <a:buClr>
                <a:schemeClr val="tx2"/>
              </a:buClr>
              <a:buSzTx/>
              <a:buFontTx/>
              <a:buNone/>
              <a:defRPr/>
            </a:pP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多周期数据通路必须与功能单元最长的时间延时相同，即为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200ps</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。其产生的时钟周期是：</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200</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4.12=824ps</a:t>
            </a:r>
            <a:endPar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363855" marR="0" lvl="0" indent="-363855" algn="l" defTabSz="914400" rtl="0" eaLnBrk="0" fontAlgn="base" latinLnBrk="0" hangingPunct="0">
              <a:lnSpc>
                <a:spcPct val="100000"/>
              </a:lnSpc>
              <a:spcBef>
                <a:spcPts val="0"/>
              </a:spcBef>
              <a:spcAft>
                <a:spcPct val="0"/>
              </a:spcAft>
              <a:buClr>
                <a:schemeClr val="tx2"/>
              </a:buClr>
              <a:buSzTx/>
              <a:buFont typeface="+mj-ea"/>
              <a:buAutoNum type="circleNumDbPlain" startAt="3"/>
              <a:defRPr/>
            </a:pP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对于流水线控制器设计，若存在</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load_use</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数据相关需</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个时钟周期，而无数据相关性仅需</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个时钟周期，故</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load</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指令执行的时钟周期数平均为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1.5</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；若分支指令正确预测需</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个时钟周期，而错误预测需</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个时钟周期，</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故分支指令执行的时钟周期数平均为</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1.25</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；跳转指令需</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个</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时钟周期；</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store</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和</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ALU</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指令的执行时间都是</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个时钟周期。</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其平均</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CPI</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为：</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1.5</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25%+1</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10%+1</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52%+1.25</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11%+2</a:t>
            </a: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2%=1.17</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363855" marR="0" lvl="0" indent="0" algn="l" defTabSz="914400" rtl="0" eaLnBrk="0" fontAlgn="base" latinLnBrk="0" hangingPunct="0">
              <a:lnSpc>
                <a:spcPct val="100000"/>
              </a:lnSpc>
              <a:spcBef>
                <a:spcPts val="0"/>
              </a:spcBef>
              <a:spcAft>
                <a:spcPct val="0"/>
              </a:spcAft>
              <a:buClr>
                <a:schemeClr val="tx2"/>
              </a:buClr>
              <a:buSzTx/>
              <a:buFontTx/>
              <a:buNone/>
              <a:defRPr/>
            </a:pP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流水线的时钟周期必须与功能单元最长的时间延时相同，即为</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200ps</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。其产生的时钟周期是</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200</a:t>
            </a:r>
            <a:r>
              <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1.17=234ps</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37891" name="标题 3"/>
          <p:cNvSpPr>
            <a:spLocks noGrp="1"/>
          </p:cNvSpPr>
          <p:nvPr>
            <p:ph type="title"/>
          </p:nvPr>
        </p:nvSpPr>
        <p:spPr>
          <a:xfrm>
            <a:off x="500063" y="214313"/>
            <a:ext cx="8283575" cy="676275"/>
          </a:xfrm>
        </p:spPr>
        <p:txBody>
          <a:bodyPr vert="horz" wrap="square" lIns="91440" tIns="45720" rIns="91440" bIns="45720" anchor="b" anchorCtr="0"/>
          <a:p>
            <a:r>
              <a:rPr lang="zh-CN" altLang="en-US" sz="3600" dirty="0"/>
              <a:t>单周期、多周期和</a:t>
            </a:r>
            <a:r>
              <a:rPr lang="en-US" altLang="zh-CN" sz="3600" dirty="0"/>
              <a:t> </a:t>
            </a:r>
            <a:r>
              <a:rPr lang="zh-CN" altLang="en-US" sz="3600" dirty="0"/>
              <a:t>流水线的性能比较</a:t>
            </a:r>
            <a:endParaRPr lang="zh-CN" altLang="en-US" sz="36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0211" name="Rectangle 3"/>
          <p:cNvSpPr>
            <a:spLocks noGrp="1"/>
          </p:cNvSpPr>
          <p:nvPr>
            <p:ph idx="1"/>
          </p:nvPr>
        </p:nvSpPr>
        <p:spPr>
          <a:xfrm>
            <a:off x="571500" y="1177925"/>
            <a:ext cx="8286750" cy="5180013"/>
          </a:xfrm>
        </p:spPr>
        <p:txBody>
          <a:bodyPr vert="horz" wrap="square" lIns="91440" tIns="45720" rIns="91440" bIns="45720" anchor="t" anchorCtr="0"/>
          <a:p>
            <a:pPr marL="271780" indent="-271780">
              <a:spcBef>
                <a:spcPts val="600"/>
              </a:spcBef>
            </a:pPr>
            <a:r>
              <a:rPr lang="zh-CN" altLang="en-US" sz="2800" dirty="0">
                <a:latin typeface="Times New Roman" panose="02020603050405020304" pitchFamily="18" charset="0"/>
                <a:cs typeface="Times New Roman" panose="02020603050405020304" pitchFamily="18" charset="0"/>
              </a:rPr>
              <a:t>若流水线中同时有</a:t>
            </a:r>
            <a:r>
              <a:rPr lang="en-US" altLang="zh-CN" sz="2800" dirty="0">
                <a:latin typeface="Times New Roman" panose="02020603050405020304" pitchFamily="18" charset="0"/>
                <a:cs typeface="Times New Roman" panose="02020603050405020304" pitchFamily="18" charset="0"/>
              </a:rPr>
              <a:t>5</a:t>
            </a:r>
            <a:r>
              <a:rPr lang="zh-CN" altLang="en-US" sz="2800" dirty="0">
                <a:latin typeface="Times New Roman" panose="02020603050405020304" pitchFamily="18" charset="0"/>
                <a:cs typeface="Times New Roman" panose="02020603050405020304" pitchFamily="18" charset="0"/>
              </a:rPr>
              <a:t>条指令，</a:t>
            </a:r>
            <a:r>
              <a:rPr lang="zh-CN" altLang="en-US" sz="2800" dirty="0">
                <a:solidFill>
                  <a:srgbClr val="FF0000"/>
                </a:solidFill>
                <a:latin typeface="Times New Roman" panose="02020603050405020304" pitchFamily="18" charset="0"/>
                <a:cs typeface="Times New Roman" panose="02020603050405020304" pitchFamily="18" charset="0"/>
              </a:rPr>
              <a:t>哪一条发生异常？</a:t>
            </a:r>
            <a:endParaRPr lang="zh-CN" altLang="en-US" sz="2800" dirty="0">
              <a:solidFill>
                <a:srgbClr val="FF0000"/>
              </a:solidFill>
              <a:latin typeface="Times New Roman" panose="02020603050405020304" pitchFamily="18" charset="0"/>
              <a:cs typeface="Times New Roman" panose="02020603050405020304" pitchFamily="18" charset="0"/>
            </a:endParaRPr>
          </a:p>
          <a:p>
            <a:pPr marL="625475" lvl="1" indent="-266700">
              <a:spcBef>
                <a:spcPts val="600"/>
              </a:spcBef>
            </a:pPr>
            <a:r>
              <a:rPr lang="zh-CN" altLang="en-US" sz="2400" dirty="0">
                <a:latin typeface="Times New Roman" panose="02020603050405020304" pitchFamily="18" charset="0"/>
                <a:cs typeface="Times New Roman" panose="02020603050405020304" pitchFamily="18" charset="0"/>
              </a:rPr>
              <a:t>根据异常发生的流水段可确定是哪条指令，因为各类异常发生的流水段不同</a:t>
            </a:r>
            <a:endParaRPr lang="zh-CN" altLang="en-US" sz="2400" dirty="0">
              <a:latin typeface="Times New Roman" panose="02020603050405020304" pitchFamily="18" charset="0"/>
              <a:cs typeface="Times New Roman" panose="02020603050405020304" pitchFamily="18" charset="0"/>
            </a:endParaRPr>
          </a:p>
          <a:p>
            <a:pPr marL="987425" lvl="2" indent="-271145">
              <a:spcBef>
                <a:spcPts val="600"/>
              </a:spcBef>
              <a:buClr>
                <a:schemeClr val="tx2"/>
              </a:buClr>
            </a:pPr>
            <a:r>
              <a:rPr lang="zh-CN" altLang="en-US" sz="2200" dirty="0">
                <a:solidFill>
                  <a:srgbClr val="0000FF"/>
                </a:solidFill>
                <a:latin typeface="Times New Roman" panose="02020603050405020304" pitchFamily="18" charset="0"/>
                <a:cs typeface="Times New Roman" panose="02020603050405020304" pitchFamily="18" charset="0"/>
              </a:rPr>
              <a:t>“溢出”在</a:t>
            </a:r>
            <a:r>
              <a:rPr lang="en-US" altLang="zh-CN" sz="2200" dirty="0">
                <a:solidFill>
                  <a:srgbClr val="FF0000"/>
                </a:solidFill>
                <a:latin typeface="Times New Roman" panose="02020603050405020304" pitchFamily="18" charset="0"/>
                <a:cs typeface="Times New Roman" panose="02020603050405020304" pitchFamily="18" charset="0"/>
              </a:rPr>
              <a:t>EX</a:t>
            </a:r>
            <a:r>
              <a:rPr lang="zh-CN" altLang="en-US" sz="2200" dirty="0">
                <a:solidFill>
                  <a:srgbClr val="FF0000"/>
                </a:solidFill>
                <a:latin typeface="Times New Roman" panose="02020603050405020304" pitchFamily="18" charset="0"/>
                <a:cs typeface="Times New Roman" panose="02020603050405020304" pitchFamily="18" charset="0"/>
              </a:rPr>
              <a:t>段</a:t>
            </a:r>
            <a:r>
              <a:rPr lang="zh-CN" altLang="en-US" sz="2200" dirty="0">
                <a:solidFill>
                  <a:srgbClr val="0000FF"/>
                </a:solidFill>
                <a:latin typeface="Times New Roman" panose="02020603050405020304" pitchFamily="18" charset="0"/>
                <a:cs typeface="Times New Roman" panose="02020603050405020304" pitchFamily="18" charset="0"/>
              </a:rPr>
              <a:t>检出</a:t>
            </a:r>
            <a:endParaRPr lang="zh-CN" altLang="en-US" sz="2200" dirty="0">
              <a:solidFill>
                <a:srgbClr val="0000FF"/>
              </a:solidFill>
              <a:latin typeface="Times New Roman" panose="02020603050405020304" pitchFamily="18" charset="0"/>
              <a:cs typeface="Times New Roman" panose="02020603050405020304" pitchFamily="18" charset="0"/>
            </a:endParaRPr>
          </a:p>
          <a:p>
            <a:pPr marL="987425" lvl="2" indent="-271145">
              <a:spcBef>
                <a:spcPts val="600"/>
              </a:spcBef>
              <a:buClr>
                <a:schemeClr val="tx2"/>
              </a:buClr>
            </a:pPr>
            <a:r>
              <a:rPr lang="zh-CN" altLang="en-US" sz="2200" dirty="0">
                <a:solidFill>
                  <a:srgbClr val="0000FF"/>
                </a:solidFill>
                <a:latin typeface="Times New Roman" panose="02020603050405020304" pitchFamily="18" charset="0"/>
                <a:cs typeface="Times New Roman" panose="02020603050405020304" pitchFamily="18" charset="0"/>
              </a:rPr>
              <a:t>“无效指令”在</a:t>
            </a:r>
            <a:r>
              <a:rPr lang="en-US" altLang="zh-CN" sz="2200" dirty="0">
                <a:solidFill>
                  <a:srgbClr val="FF0000"/>
                </a:solidFill>
                <a:latin typeface="Times New Roman" panose="02020603050405020304" pitchFamily="18" charset="0"/>
                <a:cs typeface="Times New Roman" panose="02020603050405020304" pitchFamily="18" charset="0"/>
              </a:rPr>
              <a:t>ID</a:t>
            </a:r>
            <a:r>
              <a:rPr lang="zh-CN" altLang="en-US" sz="2200" dirty="0">
                <a:solidFill>
                  <a:srgbClr val="FF0000"/>
                </a:solidFill>
                <a:latin typeface="Times New Roman" panose="02020603050405020304" pitchFamily="18" charset="0"/>
                <a:cs typeface="Times New Roman" panose="02020603050405020304" pitchFamily="18" charset="0"/>
              </a:rPr>
              <a:t>段</a:t>
            </a:r>
            <a:r>
              <a:rPr lang="zh-CN" altLang="en-US" sz="2200" dirty="0">
                <a:solidFill>
                  <a:srgbClr val="0000FF"/>
                </a:solidFill>
                <a:latin typeface="Times New Roman" panose="02020603050405020304" pitchFamily="18" charset="0"/>
                <a:cs typeface="Times New Roman" panose="02020603050405020304" pitchFamily="18" charset="0"/>
              </a:rPr>
              <a:t>检出</a:t>
            </a:r>
            <a:endParaRPr lang="zh-CN" altLang="en-US" sz="2200" dirty="0">
              <a:solidFill>
                <a:srgbClr val="0000FF"/>
              </a:solidFill>
              <a:latin typeface="Times New Roman" panose="02020603050405020304" pitchFamily="18" charset="0"/>
              <a:cs typeface="Times New Roman" panose="02020603050405020304" pitchFamily="18" charset="0"/>
            </a:endParaRPr>
          </a:p>
          <a:p>
            <a:pPr marL="987425" lvl="2" indent="-271145">
              <a:spcBef>
                <a:spcPts val="600"/>
              </a:spcBef>
              <a:buClr>
                <a:schemeClr val="tx2"/>
              </a:buClr>
            </a:pPr>
            <a:r>
              <a:rPr lang="zh-CN" altLang="en-US" sz="2200" dirty="0">
                <a:solidFill>
                  <a:srgbClr val="0000FF"/>
                </a:solidFill>
                <a:latin typeface="Times New Roman" panose="02020603050405020304" pitchFamily="18" charset="0"/>
                <a:cs typeface="Times New Roman" panose="02020603050405020304" pitchFamily="18" charset="0"/>
              </a:rPr>
              <a:t>“除数为</a:t>
            </a:r>
            <a:r>
              <a:rPr lang="en-US" altLang="zh-CN" sz="2200" dirty="0">
                <a:solidFill>
                  <a:srgbClr val="0000FF"/>
                </a:solidFill>
                <a:latin typeface="Times New Roman" panose="02020603050405020304" pitchFamily="18" charset="0"/>
                <a:cs typeface="Times New Roman" panose="02020603050405020304" pitchFamily="18" charset="0"/>
              </a:rPr>
              <a:t>0</a:t>
            </a:r>
            <a:r>
              <a:rPr lang="zh-CN" altLang="en-US" sz="2200" dirty="0">
                <a:solidFill>
                  <a:srgbClr val="0000FF"/>
                </a:solidFill>
                <a:latin typeface="Times New Roman" panose="02020603050405020304" pitchFamily="18" charset="0"/>
                <a:cs typeface="Times New Roman" panose="02020603050405020304" pitchFamily="18" charset="0"/>
              </a:rPr>
              <a:t>”在</a:t>
            </a:r>
            <a:r>
              <a:rPr lang="en-US" altLang="zh-CN" sz="2200" dirty="0">
                <a:solidFill>
                  <a:srgbClr val="FF0000"/>
                </a:solidFill>
                <a:latin typeface="Times New Roman" panose="02020603050405020304" pitchFamily="18" charset="0"/>
                <a:cs typeface="Times New Roman" panose="02020603050405020304" pitchFamily="18" charset="0"/>
              </a:rPr>
              <a:t>ID</a:t>
            </a:r>
            <a:r>
              <a:rPr lang="zh-CN" altLang="en-US" sz="2200" dirty="0">
                <a:solidFill>
                  <a:srgbClr val="FF0000"/>
                </a:solidFill>
                <a:latin typeface="Times New Roman" panose="02020603050405020304" pitchFamily="18" charset="0"/>
                <a:cs typeface="Times New Roman" panose="02020603050405020304" pitchFamily="18" charset="0"/>
              </a:rPr>
              <a:t>段</a:t>
            </a:r>
            <a:r>
              <a:rPr lang="zh-CN" altLang="en-US" sz="2200" dirty="0">
                <a:solidFill>
                  <a:srgbClr val="0000FF"/>
                </a:solidFill>
                <a:latin typeface="Times New Roman" panose="02020603050405020304" pitchFamily="18" charset="0"/>
                <a:cs typeface="Times New Roman" panose="02020603050405020304" pitchFamily="18" charset="0"/>
              </a:rPr>
              <a:t>检出</a:t>
            </a:r>
            <a:endParaRPr lang="zh-CN" altLang="en-US" sz="2200" dirty="0">
              <a:solidFill>
                <a:srgbClr val="0000FF"/>
              </a:solidFill>
              <a:latin typeface="Times New Roman" panose="02020603050405020304" pitchFamily="18" charset="0"/>
              <a:cs typeface="Times New Roman" panose="02020603050405020304" pitchFamily="18" charset="0"/>
            </a:endParaRPr>
          </a:p>
          <a:p>
            <a:pPr marL="987425" lvl="2" indent="-271145">
              <a:spcBef>
                <a:spcPts val="600"/>
              </a:spcBef>
              <a:buClr>
                <a:schemeClr val="tx2"/>
              </a:buClr>
            </a:pPr>
            <a:r>
              <a:rPr lang="zh-CN" altLang="en-US" sz="2200" dirty="0">
                <a:solidFill>
                  <a:srgbClr val="0000FF"/>
                </a:solidFill>
                <a:latin typeface="Times New Roman" panose="02020603050405020304" pitchFamily="18" charset="0"/>
                <a:cs typeface="Times New Roman" panose="02020603050405020304" pitchFamily="18" charset="0"/>
              </a:rPr>
              <a:t>“无效指令地址”在</a:t>
            </a:r>
            <a:r>
              <a:rPr lang="en-US" altLang="zh-CN" sz="2200" dirty="0">
                <a:solidFill>
                  <a:srgbClr val="FF0000"/>
                </a:solidFill>
                <a:latin typeface="Times New Roman" panose="02020603050405020304" pitchFamily="18" charset="0"/>
                <a:cs typeface="Times New Roman" panose="02020603050405020304" pitchFamily="18" charset="0"/>
              </a:rPr>
              <a:t>IF</a:t>
            </a:r>
            <a:r>
              <a:rPr lang="zh-CN" altLang="en-US" sz="2200" dirty="0">
                <a:solidFill>
                  <a:srgbClr val="FF0000"/>
                </a:solidFill>
                <a:latin typeface="Times New Roman" panose="02020603050405020304" pitchFamily="18" charset="0"/>
                <a:cs typeface="Times New Roman" panose="02020603050405020304" pitchFamily="18" charset="0"/>
              </a:rPr>
              <a:t>段</a:t>
            </a:r>
            <a:r>
              <a:rPr lang="zh-CN" altLang="en-US" sz="2200" dirty="0">
                <a:solidFill>
                  <a:srgbClr val="0000FF"/>
                </a:solidFill>
                <a:latin typeface="Times New Roman" panose="02020603050405020304" pitchFamily="18" charset="0"/>
                <a:cs typeface="Times New Roman" panose="02020603050405020304" pitchFamily="18" charset="0"/>
              </a:rPr>
              <a:t>检出</a:t>
            </a:r>
            <a:endParaRPr lang="zh-CN" altLang="en-US" sz="2200" dirty="0">
              <a:solidFill>
                <a:srgbClr val="0000FF"/>
              </a:solidFill>
              <a:latin typeface="Times New Roman" panose="02020603050405020304" pitchFamily="18" charset="0"/>
              <a:cs typeface="Times New Roman" panose="02020603050405020304" pitchFamily="18" charset="0"/>
            </a:endParaRPr>
          </a:p>
          <a:p>
            <a:pPr marL="987425" lvl="2" indent="-271145">
              <a:spcBef>
                <a:spcPts val="600"/>
              </a:spcBef>
              <a:buClr>
                <a:schemeClr val="tx2"/>
              </a:buClr>
            </a:pPr>
            <a:r>
              <a:rPr lang="zh-CN" altLang="en-US" sz="2200" dirty="0">
                <a:solidFill>
                  <a:srgbClr val="0000FF"/>
                </a:solidFill>
                <a:latin typeface="Times New Roman" panose="02020603050405020304" pitchFamily="18" charset="0"/>
                <a:cs typeface="Times New Roman" panose="02020603050405020304" pitchFamily="18" charset="0"/>
              </a:rPr>
              <a:t>“无效数据地址”在</a:t>
            </a:r>
            <a:r>
              <a:rPr lang="en-US" altLang="zh-CN" sz="2200" dirty="0">
                <a:solidFill>
                  <a:srgbClr val="FF0000"/>
                </a:solidFill>
                <a:latin typeface="Times New Roman" panose="02020603050405020304" pitchFamily="18" charset="0"/>
                <a:cs typeface="Times New Roman" panose="02020603050405020304" pitchFamily="18" charset="0"/>
              </a:rPr>
              <a:t>Load/Store</a:t>
            </a:r>
            <a:r>
              <a:rPr lang="zh-CN" altLang="en-US" sz="2200" dirty="0">
                <a:solidFill>
                  <a:srgbClr val="FF0000"/>
                </a:solidFill>
                <a:latin typeface="Times New Roman" panose="02020603050405020304" pitchFamily="18" charset="0"/>
                <a:cs typeface="Times New Roman" panose="02020603050405020304" pitchFamily="18" charset="0"/>
              </a:rPr>
              <a:t>指令的</a:t>
            </a:r>
            <a:r>
              <a:rPr lang="en-US" altLang="zh-CN" sz="2200" dirty="0">
                <a:solidFill>
                  <a:srgbClr val="FF0000"/>
                </a:solidFill>
                <a:latin typeface="Times New Roman" panose="02020603050405020304" pitchFamily="18" charset="0"/>
                <a:cs typeface="Times New Roman" panose="02020603050405020304" pitchFamily="18" charset="0"/>
              </a:rPr>
              <a:t>EX</a:t>
            </a:r>
            <a:r>
              <a:rPr lang="zh-CN" altLang="en-US" sz="2200" dirty="0">
                <a:solidFill>
                  <a:srgbClr val="FF0000"/>
                </a:solidFill>
                <a:latin typeface="Times New Roman" panose="02020603050405020304" pitchFamily="18" charset="0"/>
                <a:cs typeface="Times New Roman" panose="02020603050405020304" pitchFamily="18" charset="0"/>
              </a:rPr>
              <a:t>段</a:t>
            </a:r>
            <a:r>
              <a:rPr lang="zh-CN" altLang="en-US" sz="2200" dirty="0">
                <a:solidFill>
                  <a:srgbClr val="0000FF"/>
                </a:solidFill>
                <a:latin typeface="Times New Roman" panose="02020603050405020304" pitchFamily="18" charset="0"/>
                <a:cs typeface="Times New Roman" panose="02020603050405020304" pitchFamily="18" charset="0"/>
              </a:rPr>
              <a:t>检出</a:t>
            </a:r>
            <a:endParaRPr lang="zh-CN" altLang="en-US" sz="2200" dirty="0">
              <a:solidFill>
                <a:srgbClr val="0000FF"/>
              </a:solidFill>
              <a:latin typeface="Times New Roman" panose="02020603050405020304" pitchFamily="18" charset="0"/>
              <a:cs typeface="Times New Roman" panose="02020603050405020304" pitchFamily="18" charset="0"/>
            </a:endParaRPr>
          </a:p>
          <a:p>
            <a:pPr marL="271780" indent="-271780">
              <a:spcBef>
                <a:spcPts val="600"/>
              </a:spcBef>
            </a:pPr>
            <a:r>
              <a:rPr lang="zh-CN" altLang="en-US" sz="2800" dirty="0">
                <a:latin typeface="Times New Roman" panose="02020603050405020304" pitchFamily="18" charset="0"/>
                <a:cs typeface="Times New Roman" panose="02020603050405020304" pitchFamily="18" charset="0"/>
              </a:rPr>
              <a:t>外部中断与特定指令无关，</a:t>
            </a:r>
            <a:r>
              <a:rPr lang="zh-CN" altLang="en-US" sz="2800" dirty="0">
                <a:solidFill>
                  <a:srgbClr val="FF0000"/>
                </a:solidFill>
                <a:latin typeface="Times New Roman" panose="02020603050405020304" pitchFamily="18" charset="0"/>
                <a:cs typeface="Times New Roman" panose="02020603050405020304" pitchFamily="18" charset="0"/>
              </a:rPr>
              <a:t>如何确定处理点？</a:t>
            </a:r>
            <a:endParaRPr lang="zh-CN" altLang="en-US" sz="2800" dirty="0">
              <a:solidFill>
                <a:srgbClr val="FF0000"/>
              </a:solidFill>
              <a:latin typeface="Times New Roman" panose="02020603050405020304" pitchFamily="18" charset="0"/>
              <a:cs typeface="Times New Roman" panose="02020603050405020304" pitchFamily="18" charset="0"/>
            </a:endParaRPr>
          </a:p>
          <a:p>
            <a:pPr marL="625475" lvl="1" indent="-266700">
              <a:spcBef>
                <a:spcPts val="600"/>
              </a:spcBef>
            </a:pPr>
            <a:r>
              <a:rPr lang="zh-CN" altLang="en-US" sz="2400" dirty="0">
                <a:latin typeface="Times New Roman" panose="02020603050405020304" pitchFamily="18" charset="0"/>
                <a:cs typeface="Times New Roman" panose="02020603050405020304" pitchFamily="18" charset="0"/>
              </a:rPr>
              <a:t>可在</a:t>
            </a:r>
            <a:r>
              <a:rPr lang="en-US" altLang="zh-CN" sz="2400" dirty="0">
                <a:latin typeface="Times New Roman" panose="02020603050405020304" pitchFamily="18" charset="0"/>
                <a:cs typeface="Times New Roman" panose="02020603050405020304" pitchFamily="18" charset="0"/>
              </a:rPr>
              <a:t>IF</a:t>
            </a:r>
            <a:r>
              <a:rPr lang="zh-CN" altLang="en-US" sz="2400" dirty="0">
                <a:latin typeface="Times New Roman" panose="02020603050405020304" pitchFamily="18" charset="0"/>
                <a:cs typeface="Times New Roman" panose="02020603050405020304" pitchFamily="18" charset="0"/>
              </a:rPr>
              <a:t>段或</a:t>
            </a:r>
            <a:r>
              <a:rPr lang="en-US" altLang="zh-CN" sz="2400" dirty="0">
                <a:latin typeface="Times New Roman" panose="02020603050405020304" pitchFamily="18" charset="0"/>
                <a:cs typeface="Times New Roman" panose="02020603050405020304" pitchFamily="18" charset="0"/>
              </a:rPr>
              <a:t>WB</a:t>
            </a:r>
            <a:r>
              <a:rPr lang="zh-CN" altLang="en-US" sz="2400" dirty="0">
                <a:latin typeface="Times New Roman" panose="02020603050405020304" pitchFamily="18" charset="0"/>
                <a:cs typeface="Times New Roman" panose="02020603050405020304" pitchFamily="18" charset="0"/>
              </a:rPr>
              <a:t>段中进行中断查询，需要保证当前</a:t>
            </a:r>
            <a:r>
              <a:rPr lang="en-US" altLang="zh-CN" sz="2400" dirty="0">
                <a:latin typeface="Times New Roman" panose="02020603050405020304" pitchFamily="18" charset="0"/>
                <a:cs typeface="Times New Roman" panose="02020603050405020304" pitchFamily="18" charset="0"/>
              </a:rPr>
              <a:t>WB</a:t>
            </a:r>
            <a:r>
              <a:rPr lang="zh-CN" altLang="en-US" sz="2400" dirty="0">
                <a:latin typeface="Times New Roman" panose="02020603050405020304" pitchFamily="18" charset="0"/>
                <a:cs typeface="Times New Roman" panose="02020603050405020304" pitchFamily="18" charset="0"/>
              </a:rPr>
              <a:t>段的指令能正确完成，并在有中断发生时，确保下个时钟开始执行中断服务程序</a:t>
            </a:r>
            <a:endParaRPr lang="zh-CN" altLang="en-US" sz="2400" dirty="0">
              <a:latin typeface="Times New Roman" panose="02020603050405020304" pitchFamily="18" charset="0"/>
              <a:ea typeface="Times New Roman" panose="02020603050405020304" pitchFamily="18" charset="0"/>
            </a:endParaRPr>
          </a:p>
        </p:txBody>
      </p:sp>
      <p:sp>
        <p:nvSpPr>
          <p:cNvPr id="5" name="标题 1"/>
          <p:cNvSpPr txBox="1"/>
          <p:nvPr/>
        </p:nvSpPr>
        <p:spPr bwMode="auto">
          <a:xfrm>
            <a:off x="642938" y="214313"/>
            <a:ext cx="7021513" cy="676275"/>
          </a:xfrm>
          <a:prstGeom prst="rect">
            <a:avLst/>
          </a:prstGeom>
          <a:noFill/>
          <a:ln w="9525">
            <a:noFill/>
            <a:miter lim="800000"/>
          </a:ln>
        </p:spPr>
        <p:txBody>
          <a:bodyPr anchor="b"/>
          <a:lstStyle/>
          <a:p>
            <a:pPr marR="0" defTabSz="914400" eaLnBrk="0" hangingPunct="0">
              <a:buClrTx/>
              <a:buSzTx/>
              <a:buFontTx/>
              <a:buNone/>
              <a:defRPr/>
            </a:pPr>
            <a:r>
              <a:rPr kumimoji="0" lang="zh-CN" altLang="en-US" sz="4000" b="1" kern="0" cap="none" spc="0" normalizeH="0" baseline="0" noProof="0" dirty="0">
                <a:solidFill>
                  <a:schemeClr val="tx2"/>
                </a:solidFill>
                <a:latin typeface="Times New Roman" panose="02020603050405020304" pitchFamily="18" charset="0"/>
                <a:ea typeface="+mj-ea"/>
                <a:cs typeface="Times New Roman" panose="02020603050405020304" pitchFamily="18" charset="0"/>
              </a:rPr>
              <a:t>六、关于异常处理问题</a:t>
            </a:r>
            <a:endParaRPr kumimoji="0" lang="zh-CN" altLang="en-US" sz="4000" b="1" kern="0" cap="none" spc="0" normalizeH="0" baseline="0" noProof="0" dirty="0">
              <a:solidFill>
                <a:schemeClr val="tx2"/>
              </a:solidFill>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90211">
                                            <p:txEl>
                                              <p:charRg st="0" end="22"/>
                                            </p:txEl>
                                          </p:spTgt>
                                        </p:tgtEl>
                                        <p:attrNameLst>
                                          <p:attrName>style.visibility</p:attrName>
                                        </p:attrNameLst>
                                      </p:cBhvr>
                                      <p:to>
                                        <p:strVal val="visible"/>
                                      </p:to>
                                    </p:set>
                                    <p:animEffect transition="in" filter="blinds(horizontal)">
                                      <p:cBhvr>
                                        <p:cTn id="7" dur="500"/>
                                        <p:tgtEl>
                                          <p:spTgt spid="990211">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90211">
                                            <p:txEl>
                                              <p:charRg st="22" end="56"/>
                                            </p:txEl>
                                          </p:spTgt>
                                        </p:tgtEl>
                                        <p:attrNameLst>
                                          <p:attrName>style.visibility</p:attrName>
                                        </p:attrNameLst>
                                      </p:cBhvr>
                                      <p:to>
                                        <p:strVal val="visible"/>
                                      </p:to>
                                    </p:set>
                                    <p:animEffect transition="in" filter="blinds(horizontal)">
                                      <p:cBhvr>
                                        <p:cTn id="12" dur="500"/>
                                        <p:tgtEl>
                                          <p:spTgt spid="990211">
                                            <p:txEl>
                                              <p:charRg st="22" end="5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90211">
                                            <p:txEl>
                                              <p:charRg st="56" end="67"/>
                                            </p:txEl>
                                          </p:spTgt>
                                        </p:tgtEl>
                                        <p:attrNameLst>
                                          <p:attrName>style.visibility</p:attrName>
                                        </p:attrNameLst>
                                      </p:cBhvr>
                                      <p:to>
                                        <p:strVal val="visible"/>
                                      </p:to>
                                    </p:set>
                                    <p:animEffect transition="in" filter="blinds(horizontal)">
                                      <p:cBhvr>
                                        <p:cTn id="17" dur="500"/>
                                        <p:tgtEl>
                                          <p:spTgt spid="990211">
                                            <p:txEl>
                                              <p:charRg st="56" end="6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90211">
                                            <p:txEl>
                                              <p:charRg st="67" end="80"/>
                                            </p:txEl>
                                          </p:spTgt>
                                        </p:tgtEl>
                                        <p:attrNameLst>
                                          <p:attrName>style.visibility</p:attrName>
                                        </p:attrNameLst>
                                      </p:cBhvr>
                                      <p:to>
                                        <p:strVal val="visible"/>
                                      </p:to>
                                    </p:set>
                                    <p:animEffect transition="in" filter="blinds(horizontal)">
                                      <p:cBhvr>
                                        <p:cTn id="22" dur="500"/>
                                        <p:tgtEl>
                                          <p:spTgt spid="990211">
                                            <p:txEl>
                                              <p:charRg st="67" end="8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90211">
                                            <p:txEl>
                                              <p:charRg st="80" end="93"/>
                                            </p:txEl>
                                          </p:spTgt>
                                        </p:tgtEl>
                                        <p:attrNameLst>
                                          <p:attrName>style.visibility</p:attrName>
                                        </p:attrNameLst>
                                      </p:cBhvr>
                                      <p:to>
                                        <p:strVal val="visible"/>
                                      </p:to>
                                    </p:set>
                                    <p:animEffect transition="in" filter="blinds(horizontal)">
                                      <p:cBhvr>
                                        <p:cTn id="27" dur="500"/>
                                        <p:tgtEl>
                                          <p:spTgt spid="990211">
                                            <p:txEl>
                                              <p:charRg st="80" end="9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90211">
                                            <p:txEl>
                                              <p:charRg st="93" end="108"/>
                                            </p:txEl>
                                          </p:spTgt>
                                        </p:tgtEl>
                                        <p:attrNameLst>
                                          <p:attrName>style.visibility</p:attrName>
                                        </p:attrNameLst>
                                      </p:cBhvr>
                                      <p:to>
                                        <p:strVal val="visible"/>
                                      </p:to>
                                    </p:set>
                                    <p:animEffect transition="in" filter="blinds(horizontal)">
                                      <p:cBhvr>
                                        <p:cTn id="32" dur="500"/>
                                        <p:tgtEl>
                                          <p:spTgt spid="990211">
                                            <p:txEl>
                                              <p:charRg st="93" end="10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90211">
                                            <p:txEl>
                                              <p:charRg st="108" end="136"/>
                                            </p:txEl>
                                          </p:spTgt>
                                        </p:tgtEl>
                                        <p:attrNameLst>
                                          <p:attrName>style.visibility</p:attrName>
                                        </p:attrNameLst>
                                      </p:cBhvr>
                                      <p:to>
                                        <p:strVal val="visible"/>
                                      </p:to>
                                    </p:set>
                                    <p:animEffect transition="in" filter="blinds(horizontal)">
                                      <p:cBhvr>
                                        <p:cTn id="37" dur="500"/>
                                        <p:tgtEl>
                                          <p:spTgt spid="990211">
                                            <p:txEl>
                                              <p:charRg st="108" end="13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990211">
                                            <p:txEl>
                                              <p:charRg st="136" end="157"/>
                                            </p:txEl>
                                          </p:spTgt>
                                        </p:tgtEl>
                                        <p:attrNameLst>
                                          <p:attrName>style.visibility</p:attrName>
                                        </p:attrNameLst>
                                      </p:cBhvr>
                                      <p:to>
                                        <p:strVal val="visible"/>
                                      </p:to>
                                    </p:set>
                                    <p:animEffect transition="in" filter="blinds(horizontal)">
                                      <p:cBhvr>
                                        <p:cTn id="42" dur="500"/>
                                        <p:tgtEl>
                                          <p:spTgt spid="990211">
                                            <p:txEl>
                                              <p:charRg st="136" end="15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990211">
                                            <p:txEl>
                                              <p:charRg st="157" end="218"/>
                                            </p:txEl>
                                          </p:spTgt>
                                        </p:tgtEl>
                                        <p:attrNameLst>
                                          <p:attrName>style.visibility</p:attrName>
                                        </p:attrNameLst>
                                      </p:cBhvr>
                                      <p:to>
                                        <p:strVal val="visible"/>
                                      </p:to>
                                    </p:set>
                                    <p:animEffect transition="in" filter="blinds(horizontal)">
                                      <p:cBhvr>
                                        <p:cTn id="47" dur="500"/>
                                        <p:tgtEl>
                                          <p:spTgt spid="990211">
                                            <p:txEl>
                                              <p:charRg st="157" end="2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p:txBody>
          <a:bodyPr vert="horz" wrap="square" lIns="91440" tIns="45720" rIns="91440" bIns="45720" anchor="b" anchorCtr="0"/>
          <a:p>
            <a:r>
              <a:rPr lang="zh-CN" altLang="en-US" dirty="0">
                <a:latin typeface="Times New Roman" panose="02020603050405020304" pitchFamily="18" charset="0"/>
                <a:cs typeface="Times New Roman" panose="02020603050405020304" pitchFamily="18" charset="0"/>
              </a:rPr>
              <a:t>异常处理举例</a:t>
            </a:r>
            <a:endParaRPr lang="zh-CN" altLang="en-US" dirty="0"/>
          </a:p>
        </p:txBody>
      </p:sp>
      <p:sp>
        <p:nvSpPr>
          <p:cNvPr id="5" name="TextBox 4"/>
          <p:cNvSpPr txBox="1"/>
          <p:nvPr/>
        </p:nvSpPr>
        <p:spPr>
          <a:xfrm>
            <a:off x="571500" y="1285875"/>
            <a:ext cx="8215313" cy="5048250"/>
          </a:xfrm>
          <a:prstGeom prst="rect">
            <a:avLst/>
          </a:prstGeom>
          <a:noFill/>
        </p:spPr>
        <p:txBody>
          <a:bodyPr>
            <a:spAutoFit/>
          </a:bodyPr>
          <a:lstStyle/>
          <a:p>
            <a:pPr marR="0" defTabSz="914400">
              <a:buClrTx/>
              <a:buSzTx/>
              <a:buFontTx/>
              <a:buNone/>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例：考察异常处理如何影响流水线的设计。如下两个指令：</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a:buClrTx/>
              <a:buSzTx/>
              <a:buFontTx/>
              <a:buNone/>
              <a:defRPr/>
            </a:pP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spcBef>
                <a:spcPts val="1200"/>
              </a:spcBef>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这些指令的哪个异常能够被触发吗？请指出每种异常在哪个流水线段能够检测？</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如果异常具有不同的处理方式，请说明并显示流水线结构中如何能够将指令地址变为异常处理地址。</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如果第</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条指令之后取出第</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条指令，请描述第</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条指令检测出异常后，如何从第</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条指令转入异常处理执行的过程。</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在向量异常处理中，异常中断向量表存放在已知地址，如何改变流水线结构，实现异常处理。</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457200" defTabSz="914400">
              <a:buClrTx/>
              <a:buSzTx/>
              <a:buFont typeface="+mj-ea"/>
              <a:buAutoNum type="circleNumDbPlain"/>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若用固定异常处理地址，如何改变流水线结构，采用软件识别异常并处理。</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pic>
        <p:nvPicPr>
          <p:cNvPr id="41988" name="Picture 5"/>
          <p:cNvPicPr>
            <a:picLocks noChangeAspect="1"/>
          </p:cNvPicPr>
          <p:nvPr/>
        </p:nvPicPr>
        <p:blipFill>
          <a:blip r:embed="rId1"/>
          <a:stretch>
            <a:fillRect/>
          </a:stretch>
        </p:blipFill>
        <p:spPr>
          <a:xfrm>
            <a:off x="2071688" y="1685925"/>
            <a:ext cx="3286125" cy="925513"/>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p:txBody>
          <a:bodyPr vert="horz" wrap="square" lIns="91440" tIns="45720" rIns="91440" bIns="45720" anchor="b" anchorCtr="0"/>
          <a:p>
            <a:r>
              <a:rPr lang="zh-CN" altLang="en-US" dirty="0">
                <a:latin typeface="Times New Roman" panose="02020603050405020304" pitchFamily="18" charset="0"/>
                <a:cs typeface="Times New Roman" panose="02020603050405020304" pitchFamily="18" charset="0"/>
              </a:rPr>
              <a:t>异常处理举例</a:t>
            </a:r>
            <a:endParaRPr lang="zh-CN" altLang="en-US" dirty="0"/>
          </a:p>
        </p:txBody>
      </p:sp>
      <p:sp>
        <p:nvSpPr>
          <p:cNvPr id="43011" name="内容占位符 2"/>
          <p:cNvSpPr>
            <a:spLocks noGrp="1"/>
          </p:cNvSpPr>
          <p:nvPr>
            <p:ph idx="1"/>
          </p:nvPr>
        </p:nvSpPr>
        <p:spPr>
          <a:xfrm>
            <a:off x="500063" y="1214438"/>
            <a:ext cx="8286750" cy="4951412"/>
          </a:xfrm>
        </p:spPr>
        <p:txBody>
          <a:bodyPr vert="horz" wrap="square" lIns="91440" tIns="45720" rIns="91440" bIns="45720" anchor="t" anchorCtr="0"/>
          <a:p>
            <a:pPr>
              <a:buNone/>
            </a:pPr>
            <a:r>
              <a:rPr lang="zh-CN" altLang="en-US" sz="2400" dirty="0">
                <a:latin typeface="Times New Roman" panose="02020603050405020304" pitchFamily="18" charset="0"/>
                <a:cs typeface="Times New Roman" panose="02020603050405020304" pitchFamily="18" charset="0"/>
              </a:rPr>
              <a:t>解：</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BNE</a:t>
            </a:r>
            <a:r>
              <a:rPr lang="zh-CN" altLang="en-US" sz="2400" dirty="0">
                <a:latin typeface="Times New Roman" panose="02020603050405020304" pitchFamily="18" charset="0"/>
                <a:cs typeface="Times New Roman" panose="02020603050405020304" pitchFamily="18" charset="0"/>
              </a:rPr>
              <a:t>指令可能的异常会在</a:t>
            </a:r>
            <a:r>
              <a:rPr lang="en-US" altLang="zh-CN" sz="2400" dirty="0">
                <a:latin typeface="Times New Roman" panose="02020603050405020304" pitchFamily="18" charset="0"/>
                <a:cs typeface="Times New Roman" panose="02020603050405020304" pitchFamily="18" charset="0"/>
              </a:rPr>
              <a:t>EX</a:t>
            </a:r>
            <a:r>
              <a:rPr lang="zh-CN" altLang="en-US" sz="2400" dirty="0">
                <a:latin typeface="Times New Roman" panose="02020603050405020304" pitchFamily="18" charset="0"/>
                <a:cs typeface="Times New Roman" panose="02020603050405020304" pitchFamily="18" charset="0"/>
              </a:rPr>
              <a:t>段检测到</a:t>
            </a:r>
            <a:r>
              <a:rPr lang="en-US" altLang="zh-CN" sz="2400" dirty="0">
                <a:latin typeface="Times New Roman" panose="02020603050405020304" pitchFamily="18" charset="0"/>
                <a:cs typeface="Times New Roman" panose="02020603050405020304" pitchFamily="18" charset="0"/>
              </a:rPr>
              <a:t>(R1−R2)</a:t>
            </a:r>
            <a:r>
              <a:rPr lang="zh-CN" altLang="en-US" sz="2400" dirty="0">
                <a:latin typeface="Times New Roman" panose="02020603050405020304" pitchFamily="18" charset="0"/>
                <a:cs typeface="Times New Roman" panose="02020603050405020304" pitchFamily="18" charset="0"/>
              </a:rPr>
              <a:t>的执行结果“溢出”；而</a:t>
            </a:r>
            <a:r>
              <a:rPr lang="en-US" altLang="zh-CN" sz="2400" dirty="0">
                <a:latin typeface="Times New Roman" panose="02020603050405020304" pitchFamily="18" charset="0"/>
                <a:cs typeface="Times New Roman" panose="02020603050405020304" pitchFamily="18" charset="0"/>
              </a:rPr>
              <a:t>LW</a:t>
            </a:r>
            <a:r>
              <a:rPr lang="zh-CN" altLang="en-US" sz="2400" dirty="0">
                <a:latin typeface="Times New Roman" panose="02020603050405020304" pitchFamily="18" charset="0"/>
                <a:cs typeface="Times New Roman" panose="02020603050405020304" pitchFamily="18" charset="0"/>
              </a:rPr>
              <a:t>指令可能的异常会在</a:t>
            </a:r>
            <a:r>
              <a:rPr lang="en-US" altLang="zh-CN" sz="2400" dirty="0">
                <a:latin typeface="Times New Roman" panose="02020603050405020304" pitchFamily="18" charset="0"/>
                <a:cs typeface="Times New Roman" panose="02020603050405020304" pitchFamily="18" charset="0"/>
              </a:rPr>
              <a:t>EX</a:t>
            </a:r>
            <a:r>
              <a:rPr lang="zh-CN" altLang="en-US" sz="2400" dirty="0">
                <a:latin typeface="Times New Roman" panose="02020603050405020304" pitchFamily="18" charset="0"/>
                <a:cs typeface="Times New Roman" panose="02020603050405020304" pitchFamily="18" charset="0"/>
              </a:rPr>
              <a:t>段检测到“非法访存地址”，或者在</a:t>
            </a:r>
            <a:r>
              <a:rPr lang="en-US" altLang="zh-CN" sz="2400" dirty="0">
                <a:latin typeface="Times New Roman" panose="02020603050405020304" pitchFamily="18" charset="0"/>
                <a:cs typeface="Times New Roman" panose="02020603050405020304" pitchFamily="18" charset="0"/>
              </a:rPr>
              <a:t>DM</a:t>
            </a:r>
            <a:r>
              <a:rPr lang="zh-CN" altLang="en-US" sz="2400" dirty="0">
                <a:latin typeface="Times New Roman" panose="02020603050405020304" pitchFamily="18" charset="0"/>
                <a:cs typeface="Times New Roman" panose="02020603050405020304" pitchFamily="18" charset="0"/>
              </a:rPr>
              <a:t>段检测到“缺页”。</a:t>
            </a:r>
            <a:endParaRPr lang="en-US" altLang="zh-CN" sz="2400" dirty="0">
              <a:latin typeface="Times New Roman" panose="02020603050405020304" pitchFamily="18" charset="0"/>
              <a:cs typeface="Times New Roman" panose="02020603050405020304" pitchFamily="18" charset="0"/>
            </a:endParaRPr>
          </a:p>
          <a:p>
            <a:pPr>
              <a:buNone/>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、软件处理异常：从唯一的异常处理程序的入口地址</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如</a:t>
            </a:r>
            <a:r>
              <a:rPr lang="en-US" altLang="zh-CN" sz="2400" dirty="0">
                <a:latin typeface="Times New Roman" panose="02020603050405020304" pitchFamily="18" charset="0"/>
                <a:cs typeface="Times New Roman" panose="02020603050405020304" pitchFamily="18" charset="0"/>
              </a:rPr>
              <a:t>RISC-V</a:t>
            </a:r>
            <a:r>
              <a:rPr lang="zh-CN" altLang="en-US" sz="2400" dirty="0">
                <a:latin typeface="Times New Roman" panose="02020603050405020304" pitchFamily="18" charset="0"/>
                <a:cs typeface="Times New Roman" panose="02020603050405020304" pitchFamily="18" charset="0"/>
              </a:rPr>
              <a:t>的</a:t>
            </a:r>
            <a:r>
              <a:rPr lang="en-US" altLang="zh-CN" sz="2400" dirty="0">
                <a:solidFill>
                  <a:schemeClr val="tx2"/>
                </a:solidFill>
                <a:latin typeface="Times New Roman" panose="02020603050405020304" pitchFamily="18" charset="0"/>
                <a:cs typeface="Times New Roman" panose="02020603050405020304" pitchFamily="18" charset="0"/>
              </a:rPr>
              <a:t>0x</a:t>
            </a:r>
            <a:r>
              <a:rPr lang="en-US" altLang="zh-CN" sz="24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1C090000</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进入；</a:t>
            </a:r>
            <a:endParaRPr lang="en-US" altLang="zh-CN" sz="2400" dirty="0">
              <a:latin typeface="Times New Roman" panose="02020603050405020304" pitchFamily="18" charset="0"/>
              <a:cs typeface="Times New Roman" panose="02020603050405020304" pitchFamily="18" charset="0"/>
            </a:endParaRPr>
          </a:p>
          <a:p>
            <a:pPr>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硬件处理异常：根据异常类型号查中断向量表，得到相应的异常处理程序的入口地址，然后进入该异常处理程序</a:t>
            </a:r>
            <a:endParaRPr lang="en-US" altLang="zh-CN" sz="2400" dirty="0">
              <a:latin typeface="Times New Roman" panose="02020603050405020304" pitchFamily="18" charset="0"/>
              <a:cs typeface="Times New Roman" panose="02020603050405020304" pitchFamily="18" charset="0"/>
            </a:endParaRPr>
          </a:p>
          <a:p>
            <a:pPr>
              <a:buNone/>
            </a:pP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、如果第一条指令在</a:t>
            </a:r>
            <a:r>
              <a:rPr lang="en-US" altLang="zh-CN" sz="2400" dirty="0">
                <a:latin typeface="Times New Roman" panose="02020603050405020304" pitchFamily="18" charset="0"/>
                <a:cs typeface="Times New Roman" panose="02020603050405020304" pitchFamily="18" charset="0"/>
              </a:rPr>
              <a:t>EX</a:t>
            </a:r>
            <a:r>
              <a:rPr lang="zh-CN" altLang="en-US" sz="2400" dirty="0">
                <a:latin typeface="Times New Roman" panose="02020603050405020304" pitchFamily="18" charset="0"/>
                <a:cs typeface="Times New Roman" panose="02020603050405020304" pitchFamily="18" charset="0"/>
              </a:rPr>
              <a:t>段发生溢出，则：</a:t>
            </a:r>
            <a:endParaRPr lang="en-US" altLang="zh-CN" sz="2400" dirty="0">
              <a:latin typeface="Times New Roman" panose="02020603050405020304" pitchFamily="18" charset="0"/>
              <a:cs typeface="Times New Roman" panose="02020603050405020304" pitchFamily="18" charset="0"/>
            </a:endParaRPr>
          </a:p>
          <a:p>
            <a:pPr marL="625475" lvl="1" indent="-263525">
              <a:spcBef>
                <a:spcPct val="0"/>
              </a:spcBef>
              <a:buClr>
                <a:schemeClr val="tx2"/>
              </a:buClr>
              <a:buSzPct val="80000"/>
              <a:buFont typeface="Wingdings" panose="05000000000000000000" pitchFamily="2" charset="2"/>
              <a:buChar char="l"/>
            </a:pPr>
            <a:r>
              <a:rPr lang="en-US" altLang="zh-CN" sz="2200" dirty="0">
                <a:solidFill>
                  <a:schemeClr val="tx2"/>
                </a:solidFill>
                <a:latin typeface="Times New Roman" panose="02020603050405020304" pitchFamily="18" charset="0"/>
                <a:cs typeface="Times New Roman" panose="02020603050405020304" pitchFamily="18" charset="0"/>
              </a:rPr>
              <a:t>IF.Flush</a:t>
            </a:r>
            <a:r>
              <a:rPr lang="zh-CN" altLang="en-US" sz="2200" dirty="0">
                <a:solidFill>
                  <a:schemeClr val="tx2"/>
                </a:solidFill>
                <a:latin typeface="Times New Roman" panose="02020603050405020304" pitchFamily="18" charset="0"/>
                <a:cs typeface="Times New Roman" panose="02020603050405020304" pitchFamily="18" charset="0"/>
              </a:rPr>
              <a:t>使</a:t>
            </a:r>
            <a:r>
              <a:rPr lang="en-US" altLang="zh-CN" sz="2200" dirty="0">
                <a:solidFill>
                  <a:schemeClr val="tx2"/>
                </a:solidFill>
                <a:latin typeface="Times New Roman" panose="02020603050405020304" pitchFamily="18" charset="0"/>
                <a:cs typeface="Times New Roman" panose="02020603050405020304" pitchFamily="18" charset="0"/>
              </a:rPr>
              <a:t>IF</a:t>
            </a:r>
            <a:r>
              <a:rPr lang="zh-CN" altLang="en-US" sz="2200" dirty="0">
                <a:solidFill>
                  <a:schemeClr val="tx2"/>
                </a:solidFill>
                <a:latin typeface="Times New Roman" panose="02020603050405020304" pitchFamily="18" charset="0"/>
                <a:cs typeface="Times New Roman" panose="02020603050405020304" pitchFamily="18" charset="0"/>
              </a:rPr>
              <a:t>段指令在</a:t>
            </a:r>
            <a:r>
              <a:rPr lang="en-US" altLang="zh-CN" sz="2200" dirty="0">
                <a:solidFill>
                  <a:schemeClr val="tx2"/>
                </a:solidFill>
                <a:latin typeface="Times New Roman" panose="02020603050405020304" pitchFamily="18" charset="0"/>
                <a:cs typeface="Times New Roman" panose="02020603050405020304" pitchFamily="18" charset="0"/>
              </a:rPr>
              <a:t>IF/ID</a:t>
            </a:r>
            <a:r>
              <a:rPr lang="zh-CN" altLang="en-US" sz="2200" dirty="0">
                <a:solidFill>
                  <a:schemeClr val="tx2"/>
                </a:solidFill>
                <a:latin typeface="Times New Roman" panose="02020603050405020304" pitchFamily="18" charset="0"/>
                <a:cs typeface="Times New Roman" panose="02020603050405020304" pitchFamily="18" charset="0"/>
              </a:rPr>
              <a:t>寄存器中清为</a:t>
            </a:r>
            <a:r>
              <a:rPr lang="en-US" altLang="zh-CN" sz="2200" dirty="0">
                <a:solidFill>
                  <a:schemeClr val="tx2"/>
                </a:solidFill>
                <a:latin typeface="Times New Roman" panose="02020603050405020304" pitchFamily="18" charset="0"/>
                <a:cs typeface="Times New Roman" panose="02020603050405020304" pitchFamily="18" charset="0"/>
              </a:rPr>
              <a:t>0</a:t>
            </a:r>
            <a:r>
              <a:rPr lang="zh-CN" altLang="en-US" sz="2200" dirty="0">
                <a:solidFill>
                  <a:schemeClr val="tx2"/>
                </a:solidFill>
                <a:latin typeface="Times New Roman" panose="02020603050405020304" pitchFamily="18" charset="0"/>
                <a:cs typeface="Times New Roman" panose="02020603050405020304" pitchFamily="18" charset="0"/>
              </a:rPr>
              <a:t>，变成</a:t>
            </a:r>
            <a:r>
              <a:rPr lang="en-US" altLang="zh-CN" sz="2200" dirty="0">
                <a:solidFill>
                  <a:schemeClr val="tx2"/>
                </a:solidFill>
                <a:latin typeface="Times New Roman" panose="02020603050405020304" pitchFamily="18" charset="0"/>
                <a:cs typeface="Times New Roman" panose="02020603050405020304" pitchFamily="18" charset="0"/>
              </a:rPr>
              <a:t>nop</a:t>
            </a:r>
            <a:r>
              <a:rPr lang="zh-CN" altLang="en-US" sz="2200" dirty="0">
                <a:solidFill>
                  <a:schemeClr val="tx2"/>
                </a:solidFill>
                <a:latin typeface="Times New Roman" panose="02020603050405020304" pitchFamily="18" charset="0"/>
                <a:cs typeface="Times New Roman" panose="02020603050405020304" pitchFamily="18" charset="0"/>
              </a:rPr>
              <a:t>指令</a:t>
            </a:r>
            <a:endParaRPr lang="zh-CN" altLang="en-US" sz="2200" dirty="0">
              <a:solidFill>
                <a:schemeClr val="tx2"/>
              </a:solidFill>
              <a:latin typeface="Times New Roman" panose="02020603050405020304" pitchFamily="18" charset="0"/>
              <a:cs typeface="Times New Roman" panose="02020603050405020304" pitchFamily="18" charset="0"/>
            </a:endParaRPr>
          </a:p>
          <a:p>
            <a:pPr marL="625475" lvl="1" indent="-263525">
              <a:spcBef>
                <a:spcPct val="0"/>
              </a:spcBef>
              <a:buClr>
                <a:schemeClr val="tx2"/>
              </a:buClr>
              <a:buSzPct val="80000"/>
              <a:buFont typeface="Wingdings" panose="05000000000000000000" pitchFamily="2" charset="2"/>
              <a:buChar char="l"/>
            </a:pPr>
            <a:r>
              <a:rPr lang="en-US" altLang="zh-CN" sz="2200" dirty="0">
                <a:solidFill>
                  <a:schemeClr val="tx2"/>
                </a:solidFill>
                <a:latin typeface="Times New Roman" panose="02020603050405020304" pitchFamily="18" charset="0"/>
                <a:cs typeface="Times New Roman" panose="02020603050405020304" pitchFamily="18" charset="0"/>
              </a:rPr>
              <a:t> ID.Flush</a:t>
            </a:r>
            <a:r>
              <a:rPr lang="zh-CN" altLang="en-US" sz="2200" dirty="0">
                <a:solidFill>
                  <a:schemeClr val="tx2"/>
                </a:solidFill>
                <a:latin typeface="Times New Roman" panose="02020603050405020304" pitchFamily="18" charset="0"/>
                <a:cs typeface="Times New Roman" panose="02020603050405020304" pitchFamily="18" charset="0"/>
              </a:rPr>
              <a:t>使</a:t>
            </a:r>
            <a:r>
              <a:rPr lang="en-US" altLang="zh-CN" sz="2200" dirty="0">
                <a:solidFill>
                  <a:schemeClr val="tx2"/>
                </a:solidFill>
                <a:latin typeface="Times New Roman" panose="02020603050405020304" pitchFamily="18" charset="0"/>
                <a:cs typeface="Times New Roman" panose="02020603050405020304" pitchFamily="18" charset="0"/>
              </a:rPr>
              <a:t>ID</a:t>
            </a:r>
            <a:r>
              <a:rPr lang="zh-CN" altLang="en-US" sz="2200" dirty="0">
                <a:solidFill>
                  <a:schemeClr val="tx2"/>
                </a:solidFill>
                <a:latin typeface="Times New Roman" panose="02020603050405020304" pitchFamily="18" charset="0"/>
                <a:cs typeface="Times New Roman" panose="02020603050405020304" pitchFamily="18" charset="0"/>
              </a:rPr>
              <a:t>段指令的控制信号清</a:t>
            </a:r>
            <a:r>
              <a:rPr lang="en-US" altLang="zh-CN" sz="2200" dirty="0">
                <a:solidFill>
                  <a:schemeClr val="tx2"/>
                </a:solidFill>
                <a:latin typeface="Times New Roman" panose="02020603050405020304" pitchFamily="18" charset="0"/>
                <a:cs typeface="Times New Roman" panose="02020603050405020304" pitchFamily="18" charset="0"/>
              </a:rPr>
              <a:t>0</a:t>
            </a:r>
            <a:endParaRPr lang="en-US" altLang="zh-CN" sz="2200" dirty="0">
              <a:solidFill>
                <a:schemeClr val="tx2"/>
              </a:solidFill>
              <a:latin typeface="Times New Roman" panose="02020603050405020304" pitchFamily="18" charset="0"/>
              <a:cs typeface="Times New Roman" panose="02020603050405020304" pitchFamily="18" charset="0"/>
            </a:endParaRPr>
          </a:p>
          <a:p>
            <a:pPr marL="625475" lvl="1" indent="-263525">
              <a:spcBef>
                <a:spcPct val="0"/>
              </a:spcBef>
              <a:buClr>
                <a:schemeClr val="tx2"/>
              </a:buClr>
              <a:buSzPct val="80000"/>
              <a:buFont typeface="Wingdings" panose="05000000000000000000" pitchFamily="2" charset="2"/>
              <a:buChar char="l"/>
            </a:pPr>
            <a:r>
              <a:rPr lang="en-US" altLang="zh-CN" sz="2200" dirty="0">
                <a:solidFill>
                  <a:schemeClr val="tx2"/>
                </a:solidFill>
                <a:latin typeface="Times New Roman" panose="02020603050405020304" pitchFamily="18" charset="0"/>
                <a:cs typeface="Times New Roman" panose="02020603050405020304" pitchFamily="18" charset="0"/>
              </a:rPr>
              <a:t> EX.Flush</a:t>
            </a:r>
            <a:r>
              <a:rPr lang="zh-CN" altLang="en-US" sz="2200" dirty="0">
                <a:solidFill>
                  <a:schemeClr val="tx2"/>
                </a:solidFill>
                <a:latin typeface="Times New Roman" panose="02020603050405020304" pitchFamily="18" charset="0"/>
                <a:cs typeface="Times New Roman" panose="02020603050405020304" pitchFamily="18" charset="0"/>
              </a:rPr>
              <a:t>使</a:t>
            </a:r>
            <a:r>
              <a:rPr lang="en-US" altLang="zh-CN" sz="2200" dirty="0">
                <a:solidFill>
                  <a:schemeClr val="tx2"/>
                </a:solidFill>
                <a:latin typeface="Times New Roman" panose="02020603050405020304" pitchFamily="18" charset="0"/>
                <a:cs typeface="Times New Roman" panose="02020603050405020304" pitchFamily="18" charset="0"/>
              </a:rPr>
              <a:t>EX</a:t>
            </a:r>
            <a:r>
              <a:rPr lang="zh-CN" altLang="en-US" sz="2200" dirty="0">
                <a:solidFill>
                  <a:schemeClr val="tx2"/>
                </a:solidFill>
                <a:latin typeface="Times New Roman" panose="02020603050405020304" pitchFamily="18" charset="0"/>
                <a:cs typeface="Times New Roman" panose="02020603050405020304" pitchFamily="18" charset="0"/>
              </a:rPr>
              <a:t>段指令的控制信号清</a:t>
            </a:r>
            <a:r>
              <a:rPr lang="en-US" altLang="zh-CN" sz="2200" dirty="0">
                <a:solidFill>
                  <a:schemeClr val="tx2"/>
                </a:solidFill>
                <a:latin typeface="Times New Roman" panose="02020603050405020304" pitchFamily="18" charset="0"/>
                <a:cs typeface="Times New Roman" panose="02020603050405020304" pitchFamily="18" charset="0"/>
              </a:rPr>
              <a:t>0</a:t>
            </a:r>
            <a:endParaRPr lang="en-US" altLang="zh-CN" sz="2200" dirty="0">
              <a:solidFill>
                <a:schemeClr val="tx2"/>
              </a:solidFill>
              <a:latin typeface="Times New Roman" panose="02020603050405020304" pitchFamily="18" charset="0"/>
              <a:cs typeface="Times New Roman" panose="02020603050405020304" pitchFamily="18" charset="0"/>
            </a:endParaRPr>
          </a:p>
          <a:p>
            <a:pPr marL="625475" lvl="1" indent="-263525">
              <a:spcBef>
                <a:spcPct val="0"/>
              </a:spcBef>
              <a:buClr>
                <a:schemeClr val="tx2"/>
              </a:buClr>
              <a:buSzPct val="80000"/>
              <a:buFont typeface="Wingdings" panose="05000000000000000000" pitchFamily="2" charset="2"/>
              <a:buChar char="l"/>
            </a:pPr>
            <a:r>
              <a:rPr lang="zh-CN" altLang="en-US" sz="2200" dirty="0">
                <a:solidFill>
                  <a:schemeClr val="tx2"/>
                </a:solidFill>
                <a:latin typeface="Times New Roman" panose="02020603050405020304" pitchFamily="18" charset="0"/>
                <a:cs typeface="Times New Roman" panose="02020603050405020304" pitchFamily="18" charset="0"/>
              </a:rPr>
              <a:t>关中断，并将断点</a:t>
            </a:r>
            <a:r>
              <a:rPr lang="en-US" altLang="zh-CN" sz="2200" dirty="0">
                <a:solidFill>
                  <a:schemeClr val="tx2"/>
                </a:solidFill>
                <a:latin typeface="Times New Roman" panose="02020603050405020304" pitchFamily="18" charset="0"/>
                <a:cs typeface="Times New Roman" panose="02020603050405020304" pitchFamily="18" charset="0"/>
              </a:rPr>
              <a:t>(PC</a:t>
            </a:r>
            <a:r>
              <a:rPr lang="zh-CN" altLang="en-US" sz="2200" dirty="0">
                <a:solidFill>
                  <a:schemeClr val="tx2"/>
                </a:solidFill>
                <a:latin typeface="Times New Roman" panose="02020603050405020304" pitchFamily="18" charset="0"/>
                <a:cs typeface="Times New Roman" panose="02020603050405020304" pitchFamily="18" charset="0"/>
              </a:rPr>
              <a:t>或者</a:t>
            </a:r>
            <a:r>
              <a:rPr lang="en-US" altLang="zh-CN" sz="2200" dirty="0">
                <a:solidFill>
                  <a:schemeClr val="tx2"/>
                </a:solidFill>
                <a:latin typeface="Times New Roman" panose="02020603050405020304" pitchFamily="18" charset="0"/>
                <a:cs typeface="Times New Roman" panose="02020603050405020304" pitchFamily="18" charset="0"/>
              </a:rPr>
              <a:t>PC+4)</a:t>
            </a:r>
            <a:r>
              <a:rPr lang="zh-CN" altLang="en-US" sz="2200" dirty="0">
                <a:solidFill>
                  <a:schemeClr val="tx2"/>
                </a:solidFill>
                <a:latin typeface="Times New Roman" panose="02020603050405020304" pitchFamily="18" charset="0"/>
                <a:cs typeface="Times New Roman" panose="02020603050405020304" pitchFamily="18" charset="0"/>
              </a:rPr>
              <a:t>保存到</a:t>
            </a:r>
            <a:r>
              <a:rPr lang="en-US" altLang="zh-CN" sz="2200" dirty="0">
                <a:solidFill>
                  <a:schemeClr val="tx2"/>
                </a:solidFill>
                <a:latin typeface="Times New Roman" panose="02020603050405020304" pitchFamily="18" charset="0"/>
                <a:cs typeface="Times New Roman" panose="02020603050405020304" pitchFamily="18" charset="0"/>
              </a:rPr>
              <a:t>EPC</a:t>
            </a:r>
            <a:r>
              <a:rPr lang="zh-CN" altLang="en-US" sz="2200" dirty="0">
                <a:solidFill>
                  <a:schemeClr val="tx2"/>
                </a:solidFill>
                <a:latin typeface="Times New Roman" panose="02020603050405020304" pitchFamily="18" charset="0"/>
                <a:cs typeface="Times New Roman" panose="02020603050405020304" pitchFamily="18" charset="0"/>
              </a:rPr>
              <a:t>中</a:t>
            </a:r>
            <a:endParaRPr lang="zh-CN" altLang="en-US" sz="2200" dirty="0">
              <a:solidFill>
                <a:schemeClr val="tx2"/>
              </a:solidFill>
              <a:latin typeface="Times New Roman" panose="02020603050405020304" pitchFamily="18" charset="0"/>
              <a:cs typeface="Times New Roman" panose="02020603050405020304" pitchFamily="18" charset="0"/>
            </a:endParaRPr>
          </a:p>
          <a:p>
            <a:pPr marL="625475" lvl="1" indent="-263525">
              <a:spcBef>
                <a:spcPct val="0"/>
              </a:spcBef>
              <a:buClr>
                <a:schemeClr val="tx2"/>
              </a:buClr>
              <a:buSzPct val="80000"/>
              <a:buFont typeface="Wingdings" panose="05000000000000000000" pitchFamily="2" charset="2"/>
              <a:buChar char="l"/>
            </a:pPr>
            <a:r>
              <a:rPr lang="zh-CN" altLang="en-US" sz="2200" dirty="0">
                <a:solidFill>
                  <a:schemeClr val="tx2"/>
                </a:solidFill>
                <a:latin typeface="Times New Roman" panose="02020603050405020304" pitchFamily="18" charset="0"/>
                <a:cs typeface="Times New Roman" panose="02020603050405020304" pitchFamily="18" charset="0"/>
              </a:rPr>
              <a:t>将</a:t>
            </a:r>
            <a:r>
              <a:rPr lang="en-US" altLang="zh-CN" sz="2200" dirty="0">
                <a:solidFill>
                  <a:schemeClr val="tx2"/>
                </a:solidFill>
                <a:latin typeface="Times New Roman" panose="02020603050405020304" pitchFamily="18" charset="0"/>
                <a:cs typeface="Times New Roman" panose="02020603050405020304" pitchFamily="18" charset="0"/>
              </a:rPr>
              <a:t>0x</a:t>
            </a:r>
            <a:r>
              <a:rPr lang="en-US" altLang="zh-CN" sz="22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sym typeface="+mn-ea"/>
              </a:rPr>
              <a:t>1C090000</a:t>
            </a:r>
            <a:r>
              <a:rPr lang="zh-CN" altLang="en-US" sz="2200" dirty="0">
                <a:solidFill>
                  <a:schemeClr val="tx2"/>
                </a:solidFill>
                <a:latin typeface="Times New Roman" panose="02020603050405020304" pitchFamily="18" charset="0"/>
                <a:cs typeface="Times New Roman" panose="02020603050405020304" pitchFamily="18" charset="0"/>
              </a:rPr>
              <a:t>作为</a:t>
            </a:r>
            <a:r>
              <a:rPr lang="en-US" altLang="zh-CN" sz="2200" dirty="0">
                <a:solidFill>
                  <a:schemeClr val="tx2"/>
                </a:solidFill>
                <a:latin typeface="Times New Roman" panose="02020603050405020304" pitchFamily="18" charset="0"/>
                <a:cs typeface="Times New Roman" panose="02020603050405020304" pitchFamily="18" charset="0"/>
              </a:rPr>
              <a:t>PC</a:t>
            </a:r>
            <a:r>
              <a:rPr lang="zh-CN" altLang="en-US" sz="2200" dirty="0">
                <a:solidFill>
                  <a:schemeClr val="tx2"/>
                </a:solidFill>
                <a:latin typeface="Times New Roman" panose="02020603050405020304" pitchFamily="18" charset="0"/>
                <a:cs typeface="Times New Roman" panose="02020603050405020304" pitchFamily="18" charset="0"/>
              </a:rPr>
              <a:t>的一个输入，并控制</a:t>
            </a:r>
            <a:r>
              <a:rPr lang="en-US" altLang="zh-CN" sz="2200" dirty="0">
                <a:solidFill>
                  <a:schemeClr val="tx2"/>
                </a:solidFill>
                <a:latin typeface="Times New Roman" panose="02020603050405020304" pitchFamily="18" charset="0"/>
                <a:cs typeface="Times New Roman" panose="02020603050405020304" pitchFamily="18" charset="0"/>
              </a:rPr>
              <a:t>PC</a:t>
            </a:r>
            <a:r>
              <a:rPr lang="zh-CN" altLang="en-US" sz="2200" dirty="0">
                <a:solidFill>
                  <a:schemeClr val="tx2"/>
                </a:solidFill>
                <a:latin typeface="Times New Roman" panose="02020603050405020304" pitchFamily="18" charset="0"/>
                <a:cs typeface="Times New Roman" panose="02020603050405020304" pitchFamily="18" charset="0"/>
              </a:rPr>
              <a:t>输入端的多路选择器</a:t>
            </a:r>
            <a:endParaRPr lang="zh-CN" altLang="en-US" sz="2200" dirty="0">
              <a:solidFill>
                <a:schemeClr val="tx2"/>
              </a:solidFill>
              <a:latin typeface="Times New Roman" panose="02020603050405020304" pitchFamily="18" charset="0"/>
              <a:cs typeface="Times New Roman" panose="02020603050405020304" pitchFamily="18" charset="0"/>
            </a:endParaRPr>
          </a:p>
          <a:p>
            <a:pPr>
              <a:buNone/>
            </a:pP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4034" name="组合 12"/>
          <p:cNvGrpSpPr/>
          <p:nvPr/>
        </p:nvGrpSpPr>
        <p:grpSpPr>
          <a:xfrm>
            <a:off x="414338" y="1928813"/>
            <a:ext cx="8658225" cy="4929187"/>
            <a:chOff x="414385" y="1644206"/>
            <a:chExt cx="8658209" cy="5213818"/>
          </a:xfrm>
        </p:grpSpPr>
        <p:grpSp>
          <p:nvGrpSpPr>
            <p:cNvPr id="44037" name="组合 10"/>
            <p:cNvGrpSpPr/>
            <p:nvPr/>
          </p:nvGrpSpPr>
          <p:grpSpPr>
            <a:xfrm>
              <a:off x="414385" y="1644206"/>
              <a:ext cx="8658209" cy="5213818"/>
              <a:chOff x="414385" y="1572744"/>
              <a:chExt cx="8658209" cy="5213818"/>
            </a:xfrm>
          </p:grpSpPr>
          <p:pic>
            <p:nvPicPr>
              <p:cNvPr id="44039" name="Picture 3"/>
              <p:cNvPicPr>
                <a:picLocks noChangeAspect="1"/>
              </p:cNvPicPr>
              <p:nvPr/>
            </p:nvPicPr>
            <p:blipFill>
              <a:blip r:embed="rId1"/>
              <a:stretch>
                <a:fillRect/>
              </a:stretch>
            </p:blipFill>
            <p:spPr>
              <a:xfrm>
                <a:off x="500064" y="1643050"/>
                <a:ext cx="8429654" cy="5143512"/>
              </a:xfrm>
              <a:prstGeom prst="rect">
                <a:avLst/>
              </a:prstGeom>
              <a:noFill/>
              <a:ln w="9525">
                <a:noFill/>
              </a:ln>
            </p:spPr>
          </p:pic>
          <p:sp>
            <p:nvSpPr>
              <p:cNvPr id="44040" name="TextBox 4"/>
              <p:cNvSpPr txBox="1"/>
              <p:nvPr/>
            </p:nvSpPr>
            <p:spPr>
              <a:xfrm>
                <a:off x="414385" y="3643290"/>
                <a:ext cx="461665" cy="2071682"/>
              </a:xfrm>
              <a:prstGeom prst="rect">
                <a:avLst/>
              </a:prstGeom>
              <a:solidFill>
                <a:schemeClr val="bg1"/>
              </a:solidFill>
              <a:ln w="9525">
                <a:noFill/>
              </a:ln>
            </p:spPr>
            <p:txBody>
              <a:bodyPr vert="eaVert">
                <a:spAutoFit/>
              </a:bodyPr>
              <a:p>
                <a:r>
                  <a:rPr lang="zh-CN" altLang="en-US" sz="1800" b="1" dirty="0">
                    <a:solidFill>
                      <a:srgbClr val="0000FF"/>
                    </a:solidFill>
                    <a:latin typeface="Times New Roman" panose="02020603050405020304" pitchFamily="18" charset="0"/>
                    <a:cs typeface="Times New Roman" panose="02020603050405020304" pitchFamily="18" charset="0"/>
                  </a:rPr>
                  <a:t>异常处理入口地址</a:t>
                </a:r>
                <a:endParaRPr lang="zh-CN" altLang="en-US" sz="1800" b="1" dirty="0">
                  <a:solidFill>
                    <a:srgbClr val="0000FF"/>
                  </a:solidFill>
                  <a:latin typeface="Times New Roman" panose="02020603050405020304" pitchFamily="18" charset="0"/>
                  <a:ea typeface="Times New Roman" panose="02020603050405020304" pitchFamily="18" charset="0"/>
                </a:endParaRPr>
              </a:p>
            </p:txBody>
          </p:sp>
          <p:sp>
            <p:nvSpPr>
              <p:cNvPr id="44041" name="TextBox 5"/>
              <p:cNvSpPr txBox="1"/>
              <p:nvPr/>
            </p:nvSpPr>
            <p:spPr>
              <a:xfrm>
                <a:off x="5172532" y="1572744"/>
                <a:ext cx="1598515" cy="276999"/>
              </a:xfrm>
              <a:prstGeom prst="rect">
                <a:avLst/>
              </a:prstGeom>
              <a:solidFill>
                <a:schemeClr val="bg1"/>
              </a:solidFill>
              <a:ln w="9525">
                <a:noFill/>
              </a:ln>
            </p:spPr>
            <p:txBody>
              <a:bodyPr wrap="none">
                <a:spAutoFit/>
              </a:bodyPr>
              <a:p>
                <a:r>
                  <a:rPr lang="en-US" altLang="zh-CN" sz="1200" b="1" dirty="0">
                    <a:latin typeface="Times New Roman" panose="02020603050405020304" pitchFamily="18" charset="0"/>
                    <a:cs typeface="Times New Roman" panose="02020603050405020304" pitchFamily="18" charset="0"/>
                  </a:rPr>
                  <a:t>BNE R1</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R2</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Label</a:t>
                </a:r>
                <a:endParaRPr lang="zh-CN" altLang="en-US" sz="1200" b="1" dirty="0">
                  <a:latin typeface="Times New Roman" panose="02020603050405020304" pitchFamily="18" charset="0"/>
                  <a:ea typeface="Times New Roman" panose="02020603050405020304" pitchFamily="18" charset="0"/>
                </a:endParaRPr>
              </a:p>
            </p:txBody>
          </p:sp>
          <p:sp>
            <p:nvSpPr>
              <p:cNvPr id="44042" name="TextBox 6"/>
              <p:cNvSpPr txBox="1"/>
              <p:nvPr/>
            </p:nvSpPr>
            <p:spPr>
              <a:xfrm>
                <a:off x="3214678" y="1586126"/>
                <a:ext cx="1209755" cy="276999"/>
              </a:xfrm>
              <a:prstGeom prst="rect">
                <a:avLst/>
              </a:prstGeom>
              <a:solidFill>
                <a:schemeClr val="bg1"/>
              </a:solidFill>
              <a:ln w="9525">
                <a:noFill/>
              </a:ln>
            </p:spPr>
            <p:txBody>
              <a:bodyPr wrap="none">
                <a:spAutoFit/>
              </a:bodyPr>
              <a:p>
                <a:r>
                  <a:rPr lang="en-US" altLang="zh-CN" sz="1200" b="1" dirty="0">
                    <a:latin typeface="Times New Roman" panose="02020603050405020304" pitchFamily="18" charset="0"/>
                    <a:cs typeface="Times New Roman" panose="02020603050405020304" pitchFamily="18" charset="0"/>
                  </a:rPr>
                  <a:t>LW  R1</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0(R1)</a:t>
                </a:r>
                <a:endParaRPr lang="zh-CN" altLang="en-US" sz="1200" b="1" dirty="0">
                  <a:latin typeface="Times New Roman" panose="02020603050405020304" pitchFamily="18" charset="0"/>
                  <a:ea typeface="Times New Roman" panose="02020603050405020304" pitchFamily="18" charset="0"/>
                </a:endParaRPr>
              </a:p>
            </p:txBody>
          </p:sp>
          <p:sp>
            <p:nvSpPr>
              <p:cNvPr id="8" name="矩形 7"/>
              <p:cNvSpPr/>
              <p:nvPr/>
            </p:nvSpPr>
            <p:spPr>
              <a:xfrm>
                <a:off x="1357358" y="1643269"/>
                <a:ext cx="928685" cy="285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7000910" y="1643269"/>
                <a:ext cx="928686" cy="285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8143908" y="1643269"/>
                <a:ext cx="928686" cy="285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grpSp>
        <p:sp>
          <p:nvSpPr>
            <p:cNvPr id="12" name="矩形 11"/>
            <p:cNvSpPr/>
            <p:nvPr/>
          </p:nvSpPr>
          <p:spPr>
            <a:xfrm>
              <a:off x="785859" y="4572676"/>
              <a:ext cx="142875" cy="1427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grpSp>
      <p:sp>
        <p:nvSpPr>
          <p:cNvPr id="44035" name="标题 1"/>
          <p:cNvSpPr>
            <a:spLocks noGrp="1"/>
          </p:cNvSpPr>
          <p:nvPr>
            <p:ph type="title"/>
          </p:nvPr>
        </p:nvSpPr>
        <p:spPr/>
        <p:txBody>
          <a:bodyPr vert="horz" wrap="square" lIns="91440" tIns="45720" rIns="91440" bIns="45720" anchor="b" anchorCtr="0"/>
          <a:p>
            <a:r>
              <a:rPr lang="zh-CN" altLang="en-US" dirty="0">
                <a:latin typeface="Times New Roman" panose="02020603050405020304" pitchFamily="18" charset="0"/>
                <a:cs typeface="Times New Roman" panose="02020603050405020304" pitchFamily="18" charset="0"/>
              </a:rPr>
              <a:t>异常处理举例</a:t>
            </a:r>
            <a:endParaRPr lang="zh-CN" altLang="en-US" dirty="0"/>
          </a:p>
        </p:txBody>
      </p:sp>
      <p:sp>
        <p:nvSpPr>
          <p:cNvPr id="44036" name="内容占位符 2"/>
          <p:cNvSpPr>
            <a:spLocks noGrp="1"/>
          </p:cNvSpPr>
          <p:nvPr>
            <p:ph idx="1"/>
          </p:nvPr>
        </p:nvSpPr>
        <p:spPr>
          <a:xfrm>
            <a:off x="428625" y="1214438"/>
            <a:ext cx="8429625" cy="4951412"/>
          </a:xfrm>
        </p:spPr>
        <p:txBody>
          <a:bodyPr vert="horz" wrap="square" lIns="91440" tIns="45720" rIns="91440" bIns="45720" anchor="t" anchorCtr="0"/>
          <a:p>
            <a:pPr>
              <a:buNone/>
            </a:pPr>
            <a:r>
              <a:rPr lang="zh-CN" altLang="en-US" sz="2200" dirty="0">
                <a:latin typeface="Times New Roman" panose="02020603050405020304" pitchFamily="18" charset="0"/>
                <a:cs typeface="Times New Roman" panose="02020603050405020304" pitchFamily="18" charset="0"/>
              </a:rPr>
              <a:t>解：</a:t>
            </a:r>
            <a:r>
              <a:rPr lang="en-US" altLang="zh-CN" sz="2200" dirty="0">
                <a:latin typeface="Times New Roman" panose="02020603050405020304" pitchFamily="18" charset="0"/>
                <a:cs typeface="Times New Roman" panose="02020603050405020304" pitchFamily="18" charset="0"/>
              </a:rPr>
              <a:t>4</a:t>
            </a:r>
            <a:r>
              <a:rPr lang="zh-CN" altLang="en-US"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若采用向量异常处理方法，需要硬件根据异常类型号查表得到异常处理程序的入口地址，并将其送到</a:t>
            </a:r>
            <a:r>
              <a:rPr lang="en-US" altLang="zh-CN" sz="2200" dirty="0">
                <a:latin typeface="Times New Roman" panose="02020603050405020304" pitchFamily="18" charset="0"/>
                <a:cs typeface="Times New Roman" panose="02020603050405020304" pitchFamily="18" charset="0"/>
              </a:rPr>
              <a:t>PC</a:t>
            </a:r>
            <a:r>
              <a:rPr lang="zh-CN" altLang="en-US" sz="2200" dirty="0">
                <a:latin typeface="Times New Roman" panose="02020603050405020304" pitchFamily="18" charset="0"/>
                <a:cs typeface="Times New Roman" panose="02020603050405020304" pitchFamily="18" charset="0"/>
              </a:rPr>
              <a:t>前的</a:t>
            </a:r>
            <a:r>
              <a:rPr lang="en-US" altLang="zh-CN" sz="2200" dirty="0">
                <a:latin typeface="Times New Roman" panose="02020603050405020304" pitchFamily="18" charset="0"/>
                <a:cs typeface="Times New Roman" panose="02020603050405020304" pitchFamily="18" charset="0"/>
              </a:rPr>
              <a:t>MUX</a:t>
            </a:r>
            <a:r>
              <a:rPr lang="zh-CN" altLang="en-US" sz="2200" dirty="0">
                <a:latin typeface="Times New Roman" panose="02020603050405020304" pitchFamily="18" charset="0"/>
                <a:cs typeface="Times New Roman" panose="02020603050405020304" pitchFamily="18" charset="0"/>
              </a:rPr>
              <a:t>输入端</a:t>
            </a:r>
            <a:endParaRPr lang="en-US" altLang="zh-CN" sz="2200" dirty="0">
              <a:latin typeface="Times New Roman" panose="02020603050405020304" pitchFamily="18" charset="0"/>
              <a:cs typeface="Times New Roman" panose="02020603050405020304" pitchFamily="18" charset="0"/>
            </a:endParaRPr>
          </a:p>
          <a:p>
            <a:pPr>
              <a:buNone/>
            </a:pPr>
            <a:endParaRPr lang="en-US" altLang="zh-CN" sz="2000" dirty="0">
              <a:latin typeface="Times New Roman" panose="02020603050405020304" pitchFamily="18" charset="0"/>
              <a:cs typeface="Times New Roman" panose="02020603050405020304" pitchFamily="18" charset="0"/>
            </a:endParaRPr>
          </a:p>
          <a:p>
            <a:pPr>
              <a:buNone/>
            </a:pPr>
            <a:endParaRPr lang="en-US" altLang="zh-CN" sz="2000" dirty="0">
              <a:latin typeface="Times New Roman" panose="02020603050405020304" pitchFamily="18" charset="0"/>
              <a:cs typeface="Times New Roman" panose="02020603050405020304" pitchFamily="18" charset="0"/>
            </a:endParaRPr>
          </a:p>
          <a:p>
            <a:pPr>
              <a:buNone/>
            </a:pPr>
            <a:r>
              <a:rPr lang="en-US" altLang="zh-CN" sz="2000" dirty="0">
                <a:latin typeface="Times New Roman" panose="02020603050405020304" pitchFamily="18" charset="0"/>
                <a:cs typeface="Times New Roman" panose="02020603050405020304" pitchFamily="18" charset="0"/>
              </a:rPr>
              <a:t> </a:t>
            </a:r>
            <a:endParaRPr lang="zh-CN" altLang="en-US" sz="1800" dirty="0">
              <a:solidFill>
                <a:schemeClr val="tx2"/>
              </a:solidFill>
              <a:latin typeface="Times New Roman" panose="02020603050405020304" pitchFamily="18" charset="0"/>
              <a:cs typeface="Times New Roman" panose="02020603050405020304" pitchFamily="18" charset="0"/>
            </a:endParaRPr>
          </a:p>
          <a:p>
            <a:pPr>
              <a:buNone/>
            </a:pPr>
            <a:endParaRPr lang="zh-CN"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anchor="b" anchorCtr="0"/>
          <a:p>
            <a:r>
              <a:rPr lang="zh-CN" altLang="en-US" dirty="0">
                <a:latin typeface="Times New Roman" panose="02020603050405020304" pitchFamily="18" charset="0"/>
                <a:cs typeface="Times New Roman" panose="02020603050405020304" pitchFamily="18" charset="0"/>
              </a:rPr>
              <a:t>异常处理举例</a:t>
            </a:r>
            <a:endParaRPr lang="zh-CN" altLang="en-US" dirty="0"/>
          </a:p>
        </p:txBody>
      </p:sp>
      <p:sp>
        <p:nvSpPr>
          <p:cNvPr id="45059" name="内容占位符 2"/>
          <p:cNvSpPr>
            <a:spLocks noGrp="1"/>
          </p:cNvSpPr>
          <p:nvPr>
            <p:ph idx="1"/>
          </p:nvPr>
        </p:nvSpPr>
        <p:spPr>
          <a:xfrm>
            <a:off x="500063" y="1214438"/>
            <a:ext cx="8286750" cy="4951412"/>
          </a:xfrm>
        </p:spPr>
        <p:txBody>
          <a:bodyPr vert="horz" wrap="square" lIns="91440" tIns="45720" rIns="91440" bIns="45720" anchor="t" anchorCtr="0"/>
          <a:p>
            <a:pPr>
              <a:buNone/>
            </a:pPr>
            <a:r>
              <a:rPr lang="zh-CN" altLang="en-US" sz="2400" dirty="0">
                <a:latin typeface="Times New Roman" panose="02020603050405020304" pitchFamily="18" charset="0"/>
                <a:cs typeface="Times New Roman" panose="02020603050405020304" pitchFamily="18" charset="0"/>
              </a:rPr>
              <a:t>解：</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若固定的异常处理程序的入口地址是</a:t>
            </a:r>
            <a:r>
              <a:rPr lang="en-US" altLang="zh-CN" sz="2400" dirty="0">
                <a:latin typeface="Times New Roman" panose="02020603050405020304" pitchFamily="18" charset="0"/>
                <a:cs typeface="Times New Roman" panose="02020603050405020304" pitchFamily="18" charset="0"/>
              </a:rPr>
              <a:t>0x</a:t>
            </a:r>
            <a:r>
              <a:rPr lang="en-US" altLang="zh-CN" sz="2400"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1C090000</a:t>
            </a:r>
            <a:endParaRPr lang="en-US" altLang="zh-CN" sz="2400" dirty="0">
              <a:latin typeface="Times New Roman" panose="02020603050405020304" pitchFamily="18" charset="0"/>
              <a:cs typeface="Times New Roman" panose="02020603050405020304" pitchFamily="18" charset="0"/>
            </a:endParaRPr>
          </a:p>
          <a:p>
            <a:pPr>
              <a:buNone/>
            </a:pPr>
            <a:endParaRPr lang="en-US" altLang="zh-CN" sz="2400" dirty="0">
              <a:latin typeface="Times New Roman" panose="02020603050405020304" pitchFamily="18" charset="0"/>
              <a:cs typeface="Times New Roman" panose="02020603050405020304" pitchFamily="18" charset="0"/>
            </a:endParaRPr>
          </a:p>
          <a:p>
            <a:pPr>
              <a:buNone/>
            </a:pPr>
            <a:endParaRPr lang="en-US" altLang="zh-CN" sz="2400" dirty="0">
              <a:latin typeface="Times New Roman" panose="02020603050405020304" pitchFamily="18" charset="0"/>
              <a:cs typeface="Times New Roman" panose="02020603050405020304" pitchFamily="18" charset="0"/>
            </a:endParaRPr>
          </a:p>
          <a:p>
            <a:pPr>
              <a:buNone/>
            </a:pPr>
            <a:r>
              <a:rPr lang="en-US" altLang="zh-CN" sz="2400" dirty="0">
                <a:latin typeface="Times New Roman" panose="02020603050405020304" pitchFamily="18" charset="0"/>
                <a:cs typeface="Times New Roman" panose="02020603050405020304" pitchFamily="18" charset="0"/>
              </a:rPr>
              <a:t> </a:t>
            </a:r>
            <a:endParaRPr lang="zh-CN" altLang="en-US" sz="2000" dirty="0">
              <a:solidFill>
                <a:schemeClr val="tx2"/>
              </a:solidFill>
              <a:latin typeface="Times New Roman" panose="02020603050405020304" pitchFamily="18" charset="0"/>
              <a:cs typeface="Times New Roman" panose="02020603050405020304" pitchFamily="18" charset="0"/>
            </a:endParaRPr>
          </a:p>
          <a:p>
            <a:pPr>
              <a:buNone/>
            </a:pPr>
            <a:endParaRPr lang="zh-CN" altLang="en-US" sz="2400" dirty="0">
              <a:latin typeface="Times New Roman" panose="02020603050405020304" pitchFamily="18" charset="0"/>
              <a:ea typeface="Times New Roman" panose="02020603050405020304" pitchFamily="18" charset="0"/>
            </a:endParaRPr>
          </a:p>
        </p:txBody>
      </p:sp>
      <p:grpSp>
        <p:nvGrpSpPr>
          <p:cNvPr id="45060" name="组合 12"/>
          <p:cNvGrpSpPr/>
          <p:nvPr/>
        </p:nvGrpSpPr>
        <p:grpSpPr>
          <a:xfrm>
            <a:off x="386364" y="1644650"/>
            <a:ext cx="8686199" cy="5213350"/>
            <a:chOff x="385792" y="1644206"/>
            <a:chExt cx="8686802" cy="5213818"/>
          </a:xfrm>
        </p:grpSpPr>
        <p:grpSp>
          <p:nvGrpSpPr>
            <p:cNvPr id="45061" name="组合 10"/>
            <p:cNvGrpSpPr/>
            <p:nvPr/>
          </p:nvGrpSpPr>
          <p:grpSpPr>
            <a:xfrm>
              <a:off x="385792" y="1644206"/>
              <a:ext cx="8686802" cy="5213818"/>
              <a:chOff x="385792" y="1572744"/>
              <a:chExt cx="8686802" cy="5213818"/>
            </a:xfrm>
          </p:grpSpPr>
          <p:pic>
            <p:nvPicPr>
              <p:cNvPr id="45063" name="Picture 3"/>
              <p:cNvPicPr>
                <a:picLocks noChangeAspect="1"/>
              </p:cNvPicPr>
              <p:nvPr/>
            </p:nvPicPr>
            <p:blipFill>
              <a:blip r:embed="rId1"/>
              <a:stretch>
                <a:fillRect/>
              </a:stretch>
            </p:blipFill>
            <p:spPr>
              <a:xfrm>
                <a:off x="500064" y="1643050"/>
                <a:ext cx="8429654" cy="5143512"/>
              </a:xfrm>
              <a:prstGeom prst="rect">
                <a:avLst/>
              </a:prstGeom>
              <a:noFill/>
              <a:ln w="9525">
                <a:noFill/>
              </a:ln>
            </p:spPr>
          </p:pic>
          <p:sp>
            <p:nvSpPr>
              <p:cNvPr id="45064" name="TextBox 4"/>
              <p:cNvSpPr txBox="1"/>
              <p:nvPr/>
            </p:nvSpPr>
            <p:spPr>
              <a:xfrm>
                <a:off x="385792" y="4000500"/>
                <a:ext cx="490254" cy="1428764"/>
              </a:xfrm>
              <a:prstGeom prst="rect">
                <a:avLst/>
              </a:prstGeom>
              <a:solidFill>
                <a:schemeClr val="bg1"/>
              </a:solidFill>
              <a:ln w="9525">
                <a:noFill/>
              </a:ln>
            </p:spPr>
            <p:txBody>
              <a:bodyPr vert="eaVert">
                <a:spAutoFit/>
              </a:bodyPr>
              <a:p>
                <a:r>
                  <a:rPr lang="en-US" altLang="zh-CN"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sym typeface="+mn-ea"/>
                  </a:rPr>
                  <a:t>1C090000</a:t>
                </a:r>
                <a:endParaRPr lang="zh-CN" altLang="en-US" b="1" dirty="0">
                  <a:solidFill>
                    <a:srgbClr val="0000FF"/>
                  </a:solidFill>
                  <a:latin typeface="Times New Roman" panose="02020603050405020304" pitchFamily="18" charset="0"/>
                  <a:ea typeface="Times New Roman" panose="02020603050405020304" pitchFamily="18" charset="0"/>
                </a:endParaRPr>
              </a:p>
            </p:txBody>
          </p:sp>
          <p:sp>
            <p:nvSpPr>
              <p:cNvPr id="45065" name="TextBox 5"/>
              <p:cNvSpPr txBox="1"/>
              <p:nvPr/>
            </p:nvSpPr>
            <p:spPr>
              <a:xfrm>
                <a:off x="5172532" y="1572744"/>
                <a:ext cx="1598515" cy="276999"/>
              </a:xfrm>
              <a:prstGeom prst="rect">
                <a:avLst/>
              </a:prstGeom>
              <a:solidFill>
                <a:schemeClr val="bg1"/>
              </a:solidFill>
              <a:ln w="9525">
                <a:noFill/>
              </a:ln>
            </p:spPr>
            <p:txBody>
              <a:bodyPr wrap="none">
                <a:spAutoFit/>
              </a:bodyPr>
              <a:p>
                <a:r>
                  <a:rPr lang="en-US" altLang="zh-CN" sz="1200" b="1" dirty="0">
                    <a:latin typeface="Times New Roman" panose="02020603050405020304" pitchFamily="18" charset="0"/>
                    <a:cs typeface="Times New Roman" panose="02020603050405020304" pitchFamily="18" charset="0"/>
                  </a:rPr>
                  <a:t>BNE R1</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R2</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Label</a:t>
                </a:r>
                <a:endParaRPr lang="zh-CN" altLang="en-US" sz="1200" b="1" dirty="0">
                  <a:latin typeface="Times New Roman" panose="02020603050405020304" pitchFamily="18" charset="0"/>
                  <a:ea typeface="Times New Roman" panose="02020603050405020304" pitchFamily="18" charset="0"/>
                </a:endParaRPr>
              </a:p>
            </p:txBody>
          </p:sp>
          <p:sp>
            <p:nvSpPr>
              <p:cNvPr id="45066" name="TextBox 6"/>
              <p:cNvSpPr txBox="1"/>
              <p:nvPr/>
            </p:nvSpPr>
            <p:spPr>
              <a:xfrm>
                <a:off x="3214678" y="1586126"/>
                <a:ext cx="1209755" cy="276999"/>
              </a:xfrm>
              <a:prstGeom prst="rect">
                <a:avLst/>
              </a:prstGeom>
              <a:solidFill>
                <a:schemeClr val="bg1"/>
              </a:solidFill>
              <a:ln w="9525">
                <a:noFill/>
              </a:ln>
            </p:spPr>
            <p:txBody>
              <a:bodyPr wrap="none">
                <a:spAutoFit/>
              </a:bodyPr>
              <a:p>
                <a:r>
                  <a:rPr lang="en-US" altLang="zh-CN" sz="1200" b="1" dirty="0">
                    <a:latin typeface="Times New Roman" panose="02020603050405020304" pitchFamily="18" charset="0"/>
                    <a:cs typeface="Times New Roman" panose="02020603050405020304" pitchFamily="18" charset="0"/>
                  </a:rPr>
                  <a:t>LW  R1</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0(R1)</a:t>
                </a:r>
                <a:endParaRPr lang="zh-CN" altLang="en-US" sz="1200" b="1" dirty="0">
                  <a:latin typeface="Times New Roman" panose="02020603050405020304" pitchFamily="18" charset="0"/>
                  <a:ea typeface="Times New Roman" panose="02020603050405020304" pitchFamily="18" charset="0"/>
                </a:endParaRPr>
              </a:p>
            </p:txBody>
          </p:sp>
          <p:sp>
            <p:nvSpPr>
              <p:cNvPr id="8" name="矩形 7"/>
              <p:cNvSpPr/>
              <p:nvPr/>
            </p:nvSpPr>
            <p:spPr>
              <a:xfrm>
                <a:off x="1356809" y="1642600"/>
                <a:ext cx="928751" cy="285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7000762" y="1642600"/>
                <a:ext cx="928752" cy="285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8143842" y="1642600"/>
                <a:ext cx="928752" cy="285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grpSp>
        <p:sp>
          <p:nvSpPr>
            <p:cNvPr id="12" name="矩形 11"/>
            <p:cNvSpPr/>
            <p:nvPr/>
          </p:nvSpPr>
          <p:spPr>
            <a:xfrm>
              <a:off x="785269" y="4571819"/>
              <a:ext cx="142885" cy="142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3"/>
          <p:cNvSpPr>
            <a:spLocks noGrp="1"/>
          </p:cNvSpPr>
          <p:nvPr>
            <p:ph type="body"/>
          </p:nvPr>
        </p:nvSpPr>
        <p:spPr>
          <a:xfrm>
            <a:off x="539750" y="2687638"/>
            <a:ext cx="8001000" cy="3478212"/>
          </a:xfrm>
        </p:spPr>
        <p:txBody>
          <a:bodyPr vert="horz" wrap="square" lIns="91440" tIns="45720" rIns="91440" bIns="45720" anchor="t" anchorCtr="0"/>
          <a:p>
            <a:pPr algn="ctr" eaLnBrk="1" hangingPunct="1">
              <a:buNone/>
            </a:pPr>
            <a:r>
              <a:rPr lang="zh-CN" altLang="en-US" sz="8000" dirty="0">
                <a:solidFill>
                  <a:srgbClr val="FF3300"/>
                </a:solidFill>
              </a:rPr>
              <a:t>请提问</a:t>
            </a:r>
            <a:endParaRPr lang="zh-CN" altLang="en-US" sz="8000" dirty="0">
              <a:solidFill>
                <a:srgbClr val="FF3300"/>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 name="KSO_WM_UNIT_PLACING_PICTURE_USER_VIEWPORT" val="{&quot;height&quot;:5871,&quot;width&quot;:11435}"/>
</p:tagLst>
</file>

<file path=ppt/tags/tag4.xml><?xml version="1.0" encoding="utf-8"?>
<p:tagLst xmlns:p="http://schemas.openxmlformats.org/presentationml/2006/main">
  <p:tag name="KSO_WM_UNIT_TABLE_BEAUTIFY" val="smartTable{3d0e8555-2eec-4198-903d-61177a2c17b3}"/>
  <p:tag name="TABLE_ENDDRAG_ORIGIN_RECT" val="589*80"/>
  <p:tag name="TABLE_ENDDRAG_RECT" val="108*240*589*80"/>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UNIT_TABLE_BEAUTIFY" val="smartTable{094b4c25-3d86-4223-b359-afb1a8e2cdbf}"/>
  <p:tag name="TABLE_ENDDRAG_ORIGIN_RECT" val="675*65"/>
  <p:tag name="TABLE_ENDDRAG_RECT" val="20*240*675*65"/>
</p:tagLst>
</file>

<file path=ppt/tags/tag112.xml><?xml version="1.0" encoding="utf-8"?>
<p:tagLst xmlns:p="http://schemas.openxmlformats.org/presentationml/2006/main">
  <p:tag name="KSO_WM_UNIT_TABLE_BEAUTIFY" val="smartTable{094b4c25-3d86-4223-b359-afb1a8e2cdbf}"/>
  <p:tag name="TABLE_ENDDRAG_ORIGIN_RECT" val="632*59"/>
  <p:tag name="TABLE_ENDDRAG_RECT" val="96*121*632*59"/>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UNIT_TABLE_BEAUTIFY" val="smartTable{e369ab75-d4b0-4d1c-96ba-57e47812791a}"/>
  <p:tag name="TABLE_ENDDRAG_ORIGIN_RECT" val="569*203"/>
  <p:tag name="TABLE_ENDDRAG_RECT" val="87*281*569*203"/>
</p:tagLst>
</file>

<file path=ppt/tags/tag116.xml><?xml version="1.0" encoding="utf-8"?>
<p:tagLst xmlns:p="http://schemas.openxmlformats.org/presentationml/2006/main">
  <p:tag name="KSO_WM_UNIT_TABLE_BEAUTIFY" val="smartTable{e369ab75-d4b0-4d1c-96ba-57e47812791a}"/>
  <p:tag name="TABLE_ENDDRAG_ORIGIN_RECT" val="569*203"/>
  <p:tag name="TABLE_ENDDRAG_RECT" val="87*281*569*203"/>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PP_MARK_KEY" val="6a860d87-4bea-4272-a2a4-2a784691626e"/>
  <p:tag name="COMMONDATA" val="eyJoZGlkIjoiMTc3NzFjOGIwNzlkOWNiOWFkMzZmOTMyMDMwZjAzZGEifQ=="/>
</p:tagLst>
</file>

<file path=ppt/theme/theme1.xml><?xml version="1.0" encoding="utf-8"?>
<a:theme xmlns:a="http://schemas.openxmlformats.org/drawingml/2006/main" name="课件模板">
  <a:themeElements>
    <a:clrScheme name="课件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课件模板">
      <a:majorFont>
        <a:latin typeface="Arial"/>
        <a:ea typeface="隶书"/>
        <a:cs typeface=""/>
      </a:majorFont>
      <a:minorFont>
        <a:latin typeface="Arial"/>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课件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课件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课件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课件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课件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课件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课件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课件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课件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课件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课件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课件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0</TotalTime>
  <Words>14182</Words>
  <Application>WPS 演示</Application>
  <PresentationFormat>全屏显示(4:3)</PresentationFormat>
  <Paragraphs>1113</Paragraphs>
  <Slides>49</Slides>
  <Notes>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7</vt:i4>
      </vt:variant>
      <vt:variant>
        <vt:lpstr>幻灯片标题</vt:lpstr>
      </vt:variant>
      <vt:variant>
        <vt:i4>49</vt:i4>
      </vt:variant>
    </vt:vector>
  </HeadingPairs>
  <TitlesOfParts>
    <vt:vector size="69" baseType="lpstr">
      <vt:lpstr>Arial</vt:lpstr>
      <vt:lpstr>宋体</vt:lpstr>
      <vt:lpstr>Wingdings</vt:lpstr>
      <vt:lpstr>Times New Roman</vt:lpstr>
      <vt:lpstr>隶书</vt:lpstr>
      <vt:lpstr>华文中宋</vt:lpstr>
      <vt:lpstr>华文新魏</vt:lpstr>
      <vt:lpstr>Times New Roman</vt:lpstr>
      <vt:lpstr>微软雅黑</vt:lpstr>
      <vt:lpstr>Arial Unicode MS</vt:lpstr>
      <vt:lpstr>Arial</vt:lpstr>
      <vt:lpstr>Wingdings</vt:lpstr>
      <vt:lpstr>课件模板</vt:lpstr>
      <vt:lpstr>Paint.Picture</vt:lpstr>
      <vt:lpstr>Paint.Picture</vt:lpstr>
      <vt:lpstr>Paint.Picture</vt:lpstr>
      <vt:lpstr>Paint.Picture</vt:lpstr>
      <vt:lpstr>Paint.Picture</vt:lpstr>
      <vt:lpstr>Paint.Picture</vt:lpstr>
      <vt:lpstr>Paint.Picture</vt:lpstr>
      <vt:lpstr>计算机原理</vt:lpstr>
      <vt:lpstr>主要内容</vt:lpstr>
      <vt:lpstr>一、关于控制器基本概念</vt:lpstr>
      <vt:lpstr>一、关于控制器基本概念</vt:lpstr>
      <vt:lpstr>二、关于数据通路设计 </vt:lpstr>
      <vt:lpstr>数据通路设计实例</vt:lpstr>
      <vt:lpstr>数据通路设计实例</vt:lpstr>
      <vt:lpstr>数据通路设计实例 </vt:lpstr>
      <vt:lpstr>数据通路设计实例</vt:lpstr>
      <vt:lpstr>数据通路设计实例 </vt:lpstr>
      <vt:lpstr>数据通路设计实例 </vt:lpstr>
      <vt:lpstr>三、关于单周期控制器设计 </vt:lpstr>
      <vt:lpstr>单周期控制器设计实例</vt:lpstr>
      <vt:lpstr>PowerPoint 演示文稿</vt:lpstr>
      <vt:lpstr>单周期控制器设计实例</vt:lpstr>
      <vt:lpstr>单周期控制器设计实例</vt:lpstr>
      <vt:lpstr>单周期控制器设计实例</vt:lpstr>
      <vt:lpstr>单周期控制器设计实例</vt:lpstr>
      <vt:lpstr>四、关于多周期控制器设计 </vt:lpstr>
      <vt:lpstr>PowerPoint 演示文稿</vt:lpstr>
      <vt:lpstr>PowerPoint 演示文稿</vt:lpstr>
      <vt:lpstr>PowerPoint 演示文稿</vt:lpstr>
      <vt:lpstr>PowerPoint 演示文稿</vt:lpstr>
      <vt:lpstr>PowerPoint 演示文稿</vt:lpstr>
      <vt:lpstr>五、关于流水线问题</vt:lpstr>
      <vt:lpstr>五、关于流水线问题</vt:lpstr>
      <vt:lpstr>数据相关性分析实例</vt:lpstr>
      <vt:lpstr>数据冒险的解决方法</vt:lpstr>
      <vt:lpstr>转发技术实例</vt:lpstr>
      <vt:lpstr>流水线数据相关性分析实例</vt:lpstr>
      <vt:lpstr>流水线数据相关性分析实例</vt:lpstr>
      <vt:lpstr>流水线数据相关性分析实例</vt:lpstr>
      <vt:lpstr>流水线数据相关性分析实例</vt:lpstr>
      <vt:lpstr>流水线数据相关性分析实例</vt:lpstr>
      <vt:lpstr>流水线数据相关性分析实例</vt:lpstr>
      <vt:lpstr>流水线数据相关性分析实例</vt:lpstr>
      <vt:lpstr>流水线数据相关性分析实例</vt:lpstr>
      <vt:lpstr>流水线数据相关性分析实例</vt:lpstr>
      <vt:lpstr>流水线数据相关性分析实例</vt:lpstr>
      <vt:lpstr>流水线数据相关性分析实例</vt:lpstr>
      <vt:lpstr>流水线数据相关性分析实例</vt:lpstr>
      <vt:lpstr>单周期、多周期和 流水线的性能比较</vt:lpstr>
      <vt:lpstr>单周期、多周期和 流水线的性能比较</vt:lpstr>
      <vt:lpstr>PowerPoint 演示文稿</vt:lpstr>
      <vt:lpstr>异常处理举例</vt:lpstr>
      <vt:lpstr>异常处理举例</vt:lpstr>
      <vt:lpstr>异常处理举例</vt:lpstr>
      <vt:lpstr>异常处理举例</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计算机原理</dc:title>
  <dc:creator/>
  <cp:lastModifiedBy>春蚕</cp:lastModifiedBy>
  <cp:revision>1622</cp:revision>
  <dcterms:created xsi:type="dcterms:W3CDTF">2007-08-12T05:23:00Z</dcterms:created>
  <dcterms:modified xsi:type="dcterms:W3CDTF">2023-06-15T00:57:53Z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BDA85D6DDEB642808A3152210236F6A0</vt:lpwstr>
  </property>
  <property fmtid="{D5CDD505-2E9C-101B-9397-08002B2CF9AE}" pid="3" name="KSOProductBuildVer">
    <vt:lpwstr>2052-11.1.0.14036</vt:lpwstr>
  </property>
</Properties>
</file>