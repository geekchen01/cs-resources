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79"/>
  </p:handoutMasterIdLst>
  <p:sldIdLst>
    <p:sldId id="1095" r:id="rId3"/>
    <p:sldId id="1269" r:id="rId4"/>
    <p:sldId id="1334" r:id="rId5"/>
    <p:sldId id="1335" r:id="rId7"/>
    <p:sldId id="1410" r:id="rId8"/>
    <p:sldId id="1447" r:id="rId9"/>
    <p:sldId id="1327" r:id="rId10"/>
    <p:sldId id="1328" r:id="rId11"/>
    <p:sldId id="1561" r:id="rId12"/>
    <p:sldId id="1629" r:id="rId13"/>
    <p:sldId id="1589" r:id="rId14"/>
    <p:sldId id="1638" r:id="rId15"/>
    <p:sldId id="1601" r:id="rId16"/>
    <p:sldId id="1602" r:id="rId17"/>
    <p:sldId id="1640" r:id="rId18"/>
    <p:sldId id="1608" r:id="rId19"/>
    <p:sldId id="1641" r:id="rId20"/>
    <p:sldId id="1633" r:id="rId21"/>
    <p:sldId id="1590" r:id="rId22"/>
    <p:sldId id="1667" r:id="rId23"/>
    <p:sldId id="1591" r:id="rId24"/>
    <p:sldId id="1592" r:id="rId25"/>
    <p:sldId id="1593" r:id="rId26"/>
    <p:sldId id="1594" r:id="rId27"/>
    <p:sldId id="1596" r:id="rId28"/>
    <p:sldId id="1475" r:id="rId29"/>
    <p:sldId id="1351" r:id="rId30"/>
    <p:sldId id="1354" r:id="rId31"/>
    <p:sldId id="1609" r:id="rId32"/>
    <p:sldId id="1610" r:id="rId33"/>
    <p:sldId id="1652" r:id="rId34"/>
    <p:sldId id="1626" r:id="rId35"/>
    <p:sldId id="1279" r:id="rId36"/>
    <p:sldId id="1457" r:id="rId37"/>
    <p:sldId id="1446" r:id="rId38"/>
    <p:sldId id="1508" r:id="rId39"/>
    <p:sldId id="1458" r:id="rId40"/>
    <p:sldId id="1460" r:id="rId41"/>
    <p:sldId id="1459" r:id="rId42"/>
    <p:sldId id="1666" r:id="rId43"/>
    <p:sldId id="1299" r:id="rId44"/>
    <p:sldId id="1300" r:id="rId45"/>
    <p:sldId id="1562" r:id="rId46"/>
    <p:sldId id="1522" r:id="rId47"/>
    <p:sldId id="1523" r:id="rId48"/>
    <p:sldId id="1524" r:id="rId49"/>
    <p:sldId id="1564" r:id="rId50"/>
    <p:sldId id="1282" r:id="rId51"/>
    <p:sldId id="1588" r:id="rId52"/>
    <p:sldId id="1546" r:id="rId53"/>
    <p:sldId id="1668" r:id="rId54"/>
    <p:sldId id="1669" r:id="rId55"/>
    <p:sldId id="1670" r:id="rId56"/>
    <p:sldId id="1551" r:id="rId57"/>
    <p:sldId id="1552" r:id="rId58"/>
    <p:sldId id="1550" r:id="rId59"/>
    <p:sldId id="1547" r:id="rId60"/>
    <p:sldId id="1653" r:id="rId61"/>
    <p:sldId id="1654" r:id="rId62"/>
    <p:sldId id="1541" r:id="rId63"/>
    <p:sldId id="1635" r:id="rId64"/>
    <p:sldId id="1376" r:id="rId65"/>
    <p:sldId id="1380" r:id="rId66"/>
    <p:sldId id="1433" r:id="rId67"/>
    <p:sldId id="1538" r:id="rId68"/>
    <p:sldId id="1381" r:id="rId69"/>
    <p:sldId id="1585" r:id="rId70"/>
    <p:sldId id="1531" r:id="rId71"/>
    <p:sldId id="1537" r:id="rId72"/>
    <p:sldId id="1657" r:id="rId73"/>
    <p:sldId id="1533" r:id="rId74"/>
    <p:sldId id="1534" r:id="rId75"/>
    <p:sldId id="1565" r:id="rId76"/>
    <p:sldId id="1724" r:id="rId77"/>
    <p:sldId id="1286" r:id="rId78"/>
  </p:sldIdLst>
  <p:sldSz cx="9144000" cy="6858000" type="screen4x3"/>
  <p:notesSz cx="7010400" cy="9296400"/>
  <p:custDataLst>
    <p:tags r:id="rId84"/>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2"/>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2"/>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2"/>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2"/>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2"/>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2"/>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25" userDrawn="1">
          <p15:clr>
            <a:srgbClr val="A4A3A4"/>
          </p15:clr>
        </p15:guide>
        <p15:guide id="2" orient="horz" pos="575" userDrawn="1">
          <p15:clr>
            <a:srgbClr val="A4A3A4"/>
          </p15:clr>
        </p15:guide>
        <p15:guide id="3" orient="horz" pos="2160" userDrawn="1">
          <p15:clr>
            <a:srgbClr val="A4A3A4"/>
          </p15:clr>
        </p15:guide>
        <p15:guide id="4" pos="2880" userDrawn="1">
          <p15:clr>
            <a:srgbClr val="A4A3A4"/>
          </p15:clr>
        </p15:guide>
        <p15:guide id="5" pos="236" userDrawn="1">
          <p15:clr>
            <a:srgbClr val="A4A3A4"/>
          </p15:clr>
        </p15:guide>
        <p15:guide id="6" pos="1595" userDrawn="1">
          <p15:clr>
            <a:srgbClr val="A4A3A4"/>
          </p15:clr>
        </p15:guide>
        <p15:guide id="7" pos="2308" userDrawn="1">
          <p15:clr>
            <a:srgbClr val="A4A3A4"/>
          </p15:clr>
        </p15:guide>
        <p15:guide id="8" pos="5481" userDrawn="1">
          <p15:clr>
            <a:srgbClr val="A4A3A4"/>
          </p15:clr>
        </p15:guide>
        <p15:guide id="9" pos="343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雨林木风" initials="雨林木风" lastIdx="3" clrIdx="0"/>
  <p:cmAuthor id="1" name="Junjie Wu" initials="D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FF00"/>
    <a:srgbClr val="FFFF66"/>
    <a:srgbClr val="FF00FF"/>
    <a:srgbClr val="003300"/>
    <a:srgbClr val="006600"/>
    <a:srgbClr val="00FF00"/>
    <a:srgbClr val="0000CC"/>
    <a:srgbClr val="4272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3803"/>
    <p:restoredTop sz="93135"/>
  </p:normalViewPr>
  <p:slideViewPr>
    <p:cSldViewPr snapToGrid="0" showGuides="1">
      <p:cViewPr varScale="1">
        <p:scale>
          <a:sx n="79" d="100"/>
          <a:sy n="79" d="100"/>
        </p:scale>
        <p:origin x="1118" y="77"/>
      </p:cViewPr>
      <p:guideLst>
        <p:guide orient="horz" pos="125"/>
        <p:guide orient="horz" pos="575"/>
        <p:guide orient="horz" pos="2160"/>
        <p:guide pos="2880"/>
        <p:guide pos="236"/>
        <p:guide pos="1595"/>
        <p:guide pos="2308"/>
        <p:guide pos="5481"/>
        <p:guide pos="343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gs" Target="tags/tag1.xml"/><Relationship Id="rId83" Type="http://schemas.openxmlformats.org/officeDocument/2006/relationships/commentAuthors" Target="commentAuthors.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handoutMaster" Target="handoutMasters/handoutMaster1.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50882" name="Rectangle 2"/>
          <p:cNvSpPr>
            <a:spLocks noGrp="1" noChangeArrowheads="1"/>
          </p:cNvSpPr>
          <p:nvPr>
            <p:ph type="hdr" sz="quarter"/>
          </p:nvPr>
        </p:nvSpPr>
        <p:spPr bwMode="auto">
          <a:xfrm>
            <a:off x="0" y="0"/>
            <a:ext cx="3038475" cy="465138"/>
          </a:xfrm>
          <a:prstGeom prst="rect">
            <a:avLst/>
          </a:prstGeom>
          <a:noFill/>
          <a:ln w="9525">
            <a:noFill/>
            <a:miter lim="800000"/>
          </a:ln>
          <a:effectLst/>
        </p:spPr>
        <p:txBody>
          <a:bodyPr vert="horz" wrap="square" lIns="91440" tIns="45720" rIns="91440" bIns="45720" numCol="1" anchor="t" anchorCtr="0" compatLnSpc="1"/>
          <a:lstStyle>
            <a:lvl1pPr algn="l" eaLnBrk="0" hangingPunct="0">
              <a:defRPr sz="1200" b="0">
                <a:solidFill>
                  <a:schemeClr val="tx1"/>
                </a:solidFill>
                <a:effectLst/>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0883" name="Rectangle 3"/>
          <p:cNvSpPr>
            <a:spLocks noGrp="1" noChangeArrowheads="1"/>
          </p:cNvSpPr>
          <p:nvPr>
            <p:ph type="dt" sz="quarter" idx="1"/>
          </p:nvPr>
        </p:nvSpPr>
        <p:spPr bwMode="auto">
          <a:xfrm>
            <a:off x="3971925" y="0"/>
            <a:ext cx="3038475" cy="465138"/>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b="0">
                <a:solidFill>
                  <a:schemeClr val="tx1"/>
                </a:solidFill>
                <a:effectLst/>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C3C461DE-8199-4155-BBE0-B6CD3FD6F048}" type="datetime8">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0884" name="Rectangle 4"/>
          <p:cNvSpPr>
            <a:spLocks noGrp="1" noChangeArrowheads="1"/>
          </p:cNvSpPr>
          <p:nvPr>
            <p:ph type="ftr" sz="quarter" idx="2"/>
          </p:nvPr>
        </p:nvSpPr>
        <p:spPr bwMode="auto">
          <a:xfrm>
            <a:off x="0" y="8831263"/>
            <a:ext cx="3038475" cy="465138"/>
          </a:xfrm>
          <a:prstGeom prst="rect">
            <a:avLst/>
          </a:prstGeom>
          <a:noFill/>
          <a:ln w="9525">
            <a:noFill/>
            <a:miter lim="800000"/>
          </a:ln>
          <a:effectLst/>
        </p:spPr>
        <p:txBody>
          <a:bodyPr vert="horz" wrap="square" lIns="91440" tIns="45720" rIns="91440" bIns="45720" numCol="1" anchor="b" anchorCtr="0" compatLnSpc="1"/>
          <a:lstStyle>
            <a:lvl1pPr algn="l" eaLnBrk="0" hangingPunct="0">
              <a:defRPr sz="1200" b="0">
                <a:solidFill>
                  <a:schemeClr val="tx1"/>
                </a:solidFill>
                <a:effectLst/>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0885" name="Rectangle 5"/>
          <p:cNvSpPr>
            <a:spLocks noGrp="1" noChangeArrowheads="1"/>
          </p:cNvSpPr>
          <p:nvPr>
            <p:ph type="sldNum" sz="quarter" idx="3"/>
          </p:nvPr>
        </p:nvSpPr>
        <p:spPr bwMode="auto">
          <a:xfrm>
            <a:off x="3971925" y="8831263"/>
            <a:ext cx="3038475" cy="465138"/>
          </a:xfrm>
          <a:prstGeom prst="rect">
            <a:avLst/>
          </a:prstGeom>
          <a:noFill/>
          <a:ln w="9525">
            <a:noFill/>
            <a:miter lim="800000"/>
          </a:ln>
          <a:effectLst/>
        </p:spPr>
        <p:txBody>
          <a:bodyPr vert="horz" wrap="square" lIns="91440" tIns="45720" rIns="91440" bIns="45720" numCol="1" anchor="b" anchorCtr="0" compatLnSpc="1"/>
          <a:lstStyle>
            <a:lvl1pPr algn="r" eaLnBrk="0" hangingPunct="0">
              <a:defRPr sz="1200" b="0">
                <a:solidFill>
                  <a:schemeClr val="tx1"/>
                </a:solidFill>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44F934E6-DD34-4DAA-9636-C27E4333576E}"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3058" name="Rectangle 2"/>
          <p:cNvSpPr>
            <a:spLocks noGrp="1" noChangeArrowheads="1"/>
          </p:cNvSpPr>
          <p:nvPr>
            <p:ph type="hdr" sz="quarter"/>
          </p:nvPr>
        </p:nvSpPr>
        <p:spPr bwMode="auto">
          <a:xfrm>
            <a:off x="0" y="0"/>
            <a:ext cx="3038475" cy="465138"/>
          </a:xfrm>
          <a:prstGeom prst="rect">
            <a:avLst/>
          </a:prstGeom>
          <a:noFill/>
          <a:ln w="9525">
            <a:noFill/>
            <a:miter lim="800000"/>
          </a:ln>
          <a:effectLst/>
        </p:spPr>
        <p:txBody>
          <a:bodyPr vert="horz" wrap="square" lIns="91440" tIns="45720" rIns="91440" bIns="45720" numCol="1" anchor="t" anchorCtr="0" compatLnSpc="1"/>
          <a:lstStyle>
            <a:lvl1pPr algn="l" eaLnBrk="0" hangingPunct="0">
              <a:defRPr sz="1200" b="0">
                <a:solidFill>
                  <a:schemeClr val="tx1"/>
                </a:solidFill>
                <a:effectLst/>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3059" name="Rectangle 3"/>
          <p:cNvSpPr>
            <a:spLocks noGrp="1" noChangeArrowheads="1"/>
          </p:cNvSpPr>
          <p:nvPr>
            <p:ph type="dt" idx="1"/>
          </p:nvPr>
        </p:nvSpPr>
        <p:spPr bwMode="auto">
          <a:xfrm>
            <a:off x="3971925" y="0"/>
            <a:ext cx="3038475" cy="465138"/>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b="0">
                <a:solidFill>
                  <a:schemeClr val="tx1"/>
                </a:solidFill>
                <a:effectLst/>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F3775678-185F-4428-9DAD-B5EB55BB1D7C}" type="datetime8">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TextEdit="1"/>
          </p:cNvSpPr>
          <p:nvPr>
            <p:ph type="sldImg" idx="2"/>
          </p:nvPr>
        </p:nvSpPr>
        <p:spPr>
          <a:xfrm>
            <a:off x="1181100" y="696913"/>
            <a:ext cx="4648200" cy="3486150"/>
          </a:xfrm>
          <a:prstGeom prst="rect">
            <a:avLst/>
          </a:prstGeom>
          <a:noFill/>
          <a:ln w="9525" cap="flat" cmpd="sng">
            <a:solidFill>
              <a:srgbClr val="000000"/>
            </a:solidFill>
            <a:prstDash val="solid"/>
            <a:miter/>
            <a:headEnd type="none" w="med" len="med"/>
            <a:tailEnd type="none" w="med" len="med"/>
          </a:ln>
        </p:spPr>
      </p:sp>
      <p:sp>
        <p:nvSpPr>
          <p:cNvPr id="173061" name="Rectangle 5"/>
          <p:cNvSpPr>
            <a:spLocks noGrp="1" noChangeArrowheads="1"/>
          </p:cNvSpPr>
          <p:nvPr>
            <p:ph type="body" sz="quarter" idx="3"/>
          </p:nvPr>
        </p:nvSpPr>
        <p:spPr bwMode="auto">
          <a:xfrm>
            <a:off x="935038" y="4416425"/>
            <a:ext cx="5140325" cy="4183063"/>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Click to edit Master text styles</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Second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Third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Fourth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Fifth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3062" name="Rectangle 6"/>
          <p:cNvSpPr>
            <a:spLocks noGrp="1" noChangeArrowheads="1"/>
          </p:cNvSpPr>
          <p:nvPr>
            <p:ph type="ftr" sz="quarter" idx="4"/>
          </p:nvPr>
        </p:nvSpPr>
        <p:spPr bwMode="auto">
          <a:xfrm>
            <a:off x="0" y="8831263"/>
            <a:ext cx="3038475" cy="465138"/>
          </a:xfrm>
          <a:prstGeom prst="rect">
            <a:avLst/>
          </a:prstGeom>
          <a:noFill/>
          <a:ln w="9525">
            <a:noFill/>
            <a:miter lim="800000"/>
          </a:ln>
          <a:effectLst/>
        </p:spPr>
        <p:txBody>
          <a:bodyPr vert="horz" wrap="square" lIns="91440" tIns="45720" rIns="91440" bIns="45720" numCol="1" anchor="b" anchorCtr="0" compatLnSpc="1"/>
          <a:lstStyle>
            <a:lvl1pPr algn="l" eaLnBrk="0" hangingPunct="0">
              <a:defRPr sz="1200" b="0">
                <a:solidFill>
                  <a:schemeClr val="tx1"/>
                </a:solidFill>
                <a:effectLst/>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3063" name="Rectangle 7"/>
          <p:cNvSpPr>
            <a:spLocks noGrp="1" noChangeArrowheads="1"/>
          </p:cNvSpPr>
          <p:nvPr>
            <p:ph type="sldNum" sz="quarter" idx="5"/>
          </p:nvPr>
        </p:nvSpPr>
        <p:spPr bwMode="auto">
          <a:xfrm>
            <a:off x="3971925" y="8831263"/>
            <a:ext cx="3038475" cy="465138"/>
          </a:xfrm>
          <a:prstGeom prst="rect">
            <a:avLst/>
          </a:prstGeom>
          <a:noFill/>
          <a:ln w="9525">
            <a:noFill/>
            <a:miter lim="800000"/>
          </a:ln>
          <a:effectLst/>
        </p:spPr>
        <p:txBody>
          <a:bodyPr vert="horz" wrap="square" lIns="91440" tIns="45720" rIns="91440" bIns="45720" numCol="1" anchor="b" anchorCtr="0" compatLnSpc="1"/>
          <a:lstStyle>
            <a:lvl1pPr algn="r" eaLnBrk="0" hangingPunct="0">
              <a:defRPr sz="1200" b="0">
                <a:solidFill>
                  <a:schemeClr val="tx1"/>
                </a:solidFill>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910F3170-5CF5-4B8B-A158-1D60EC1BB8E0}"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8195"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8196" name="Rectangle 2"/>
          <p:cNvSpPr>
            <a:spLocks noTextEdit="1"/>
          </p:cNvSpPr>
          <p:nvPr>
            <p:ph type="sldImg"/>
          </p:nvPr>
        </p:nvSpPr>
        <p:spPr>
          <a:ln/>
        </p:spPr>
      </p:sp>
      <p:sp>
        <p:nvSpPr>
          <p:cNvPr id="8197" name="Rectangle 3"/>
          <p:cNvSpPr>
            <a:spLocks noGrp="1"/>
          </p:cNvSpPr>
          <p:nvPr>
            <p:ph type="body" idx="1"/>
          </p:nvPr>
        </p:nvSpPr>
        <p:spPr>
          <a:ln/>
        </p:spPr>
        <p:txBody>
          <a:bodyPr wrap="square" lIns="93177" tIns="46589" rIns="93177" bIns="46589" anchor="t" anchorCtr="0"/>
          <a:p>
            <a:pPr lvl="0" eaLnBrk="1" hangingPunct="1"/>
            <a:endParaRPr lang="zh-CN" altLang="en-US" sz="20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10243"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10244" name="Rectangle 2"/>
          <p:cNvSpPr>
            <a:spLocks noTextEdit="1"/>
          </p:cNvSpPr>
          <p:nvPr>
            <p:ph type="sldImg"/>
          </p:nvPr>
        </p:nvSpPr>
        <p:spPr>
          <a:ln/>
        </p:spPr>
      </p:sp>
      <p:sp>
        <p:nvSpPr>
          <p:cNvPr id="10245" name="Rectangle 3"/>
          <p:cNvSpPr>
            <a:spLocks noGrp="1"/>
          </p:cNvSpPr>
          <p:nvPr>
            <p:ph type="body" idx="1"/>
          </p:nvPr>
        </p:nvSpPr>
        <p:spPr>
          <a:ln/>
        </p:spPr>
        <p:txBody>
          <a:bodyPr wrap="square" lIns="93177" tIns="46589" rIns="93177" bIns="46589" anchor="t" anchorCtr="0"/>
          <a:p>
            <a:pPr lvl="0" eaLnBrk="1" hangingPunct="1"/>
            <a:endParaRPr lang="zh-CN" altLang="en-US" sz="20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TextEdit="1"/>
          </p:cNvSpPr>
          <p:nvPr>
            <p:ph type="sldImg"/>
          </p:nvPr>
        </p:nvSpPr>
        <p:spPr>
          <a:ln/>
        </p:spPr>
      </p:sp>
      <p:sp>
        <p:nvSpPr>
          <p:cNvPr id="12291" name="Rectangle 3"/>
          <p:cNvSpPr>
            <a:spLocks noGrp="1"/>
          </p:cNvSpPr>
          <p:nvPr>
            <p:ph type="body" idx="1"/>
          </p:nvPr>
        </p:nvSpPr>
        <p:spPr>
          <a:ln/>
        </p:spPr>
        <p:txBody>
          <a:bodyPr wrap="square" lIns="91440" tIns="45720" rIns="91440" bIns="45720" anchor="t" anchorCtr="0"/>
          <a:p>
            <a:pPr lvl="0"/>
            <a:r>
              <a:rPr lang="en-US" altLang="zh-CN" dirty="0"/>
              <a:t>1</a:t>
            </a:r>
            <a:r>
              <a:rPr lang="zh-CN" altLang="en-US" dirty="0"/>
              <a:t>、</a:t>
            </a:r>
            <a:r>
              <a:rPr lang="zh-CN" altLang="en-US" dirty="0">
                <a:solidFill>
                  <a:schemeClr val="bg2"/>
                </a:solidFill>
                <a:ea typeface="华文新魏" panose="02010800040101010101" pitchFamily="2" charset="-122"/>
              </a:rPr>
              <a:t>计算机用二进制表示信息的原因：二进制只有二个状态，而实现二个状态的物理器件很容易；二进制</a:t>
            </a:r>
            <a:r>
              <a:rPr lang="zh-CN" altLang="en-US" dirty="0"/>
              <a:t>的编码、计数和运算规则简单，可方便地用开关电路实现；</a:t>
            </a:r>
            <a:endParaRPr lang="en-US" altLang="zh-CN" dirty="0"/>
          </a:p>
          <a:p>
            <a:pPr lvl="0"/>
            <a:r>
              <a:rPr lang="zh-CN" altLang="en-US" dirty="0">
                <a:solidFill>
                  <a:schemeClr val="bg2"/>
                </a:solidFill>
                <a:ea typeface="华文新魏" panose="02010800040101010101" pitchFamily="2" charset="-122"/>
              </a:rPr>
              <a:t>二进制的算术运算和逻辑命题相对应，</a:t>
            </a:r>
            <a:r>
              <a:rPr lang="zh-CN" altLang="en-US" dirty="0"/>
              <a:t>能通过逻辑门电路实现算术运算</a:t>
            </a:r>
            <a:r>
              <a:rPr lang="zh-CN" altLang="en-US" dirty="0">
                <a:solidFill>
                  <a:schemeClr val="bg2"/>
                </a:solidFill>
                <a:ea typeface="华文新魏" panose="02010800040101010101" pitchFamily="2" charset="-122"/>
              </a:rPr>
              <a:t>。</a:t>
            </a:r>
            <a:endParaRPr lang="en-US" altLang="zh-CN" dirty="0">
              <a:solidFill>
                <a:schemeClr val="bg2"/>
              </a:solidFill>
              <a:ea typeface="华文新魏" panose="02010800040101010101" pitchFamily="2" charset="-122"/>
            </a:endParaRPr>
          </a:p>
          <a:p>
            <a:pPr lvl="0"/>
            <a:r>
              <a:rPr lang="en-US" altLang="zh-CN" dirty="0"/>
              <a:t>2</a:t>
            </a:r>
            <a:r>
              <a:rPr lang="zh-CN" altLang="en-US" dirty="0"/>
              <a:t>、</a:t>
            </a:r>
            <a:r>
              <a:rPr lang="zh-CN" altLang="en-US" dirty="0">
                <a:solidFill>
                  <a:schemeClr val="bg2"/>
                </a:solidFill>
                <a:ea typeface="华文新魏" panose="02010800040101010101" pitchFamily="2" charset="-122"/>
              </a:rPr>
              <a:t>识别指令和数据的依据是</a:t>
            </a:r>
            <a:r>
              <a:rPr lang="zh-CN" altLang="en-US" dirty="0"/>
              <a:t>指令执行的不同阶段！</a:t>
            </a:r>
            <a:endParaRPr lang="en-US" altLang="zh-CN" dirty="0"/>
          </a:p>
          <a:p>
            <a:pPr lvl="0"/>
            <a:r>
              <a:rPr lang="en-US" altLang="zh-CN" dirty="0"/>
              <a:t>3</a:t>
            </a:r>
            <a:r>
              <a:rPr lang="zh-CN" altLang="en-US" dirty="0"/>
              <a:t>、</a:t>
            </a:r>
            <a:r>
              <a:rPr lang="zh-CN" altLang="en-US" dirty="0">
                <a:solidFill>
                  <a:schemeClr val="bg2"/>
                </a:solidFill>
                <a:ea typeface="华文新魏" panose="02010800040101010101" pitchFamily="2" charset="-122"/>
              </a:rPr>
              <a:t>在程序没有执行之前，指令和数据存放在外存；在程序执行过程中，活跃的指令和数据存放在内存，不活跃的指令和数据还留在外存。</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15363"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15364" name="Rectangle 2"/>
          <p:cNvSpPr>
            <a:spLocks noTextEdit="1"/>
          </p:cNvSpPr>
          <p:nvPr>
            <p:ph type="sldImg"/>
          </p:nvPr>
        </p:nvSpPr>
        <p:spPr>
          <a:ln/>
        </p:spPr>
      </p:sp>
      <p:sp>
        <p:nvSpPr>
          <p:cNvPr id="15365" name="Rectangle 3"/>
          <p:cNvSpPr>
            <a:spLocks noGrp="1"/>
          </p:cNvSpPr>
          <p:nvPr>
            <p:ph type="body" idx="1"/>
          </p:nvPr>
        </p:nvSpPr>
        <p:spPr>
          <a:ln/>
        </p:spPr>
        <p:txBody>
          <a:bodyPr wrap="square" lIns="93177" tIns="46589" rIns="93177" bIns="46589" anchor="t" anchorCtr="0"/>
          <a:p>
            <a:pPr lvl="0" eaLnBrk="1" hangingPunct="1"/>
            <a:endParaRPr lang="zh-CN" altLang="en-US" sz="20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17411"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17412" name="Rectangle 2"/>
          <p:cNvSpPr>
            <a:spLocks noTextEdit="1"/>
          </p:cNvSpPr>
          <p:nvPr>
            <p:ph type="sldImg"/>
          </p:nvPr>
        </p:nvSpPr>
        <p:spPr>
          <a:ln/>
        </p:spPr>
      </p:sp>
      <p:sp>
        <p:nvSpPr>
          <p:cNvPr id="17413" name="Rectangle 3"/>
          <p:cNvSpPr>
            <a:spLocks noGrp="1"/>
          </p:cNvSpPr>
          <p:nvPr>
            <p:ph type="body" idx="1"/>
          </p:nvPr>
        </p:nvSpPr>
        <p:spPr>
          <a:ln/>
        </p:spPr>
        <p:txBody>
          <a:bodyPr wrap="square" lIns="93177" tIns="46589" rIns="93177" bIns="46589" anchor="t" anchorCtr="0"/>
          <a:p>
            <a:pPr lvl="0" eaLnBrk="1" hangingPunct="1"/>
            <a:r>
              <a:rPr lang="en-US" altLang="zh-CN" sz="2000" dirty="0"/>
              <a:t>Touchstone、Spec</a:t>
            </a:r>
            <a:endParaRPr lang="en-US" altLang="zh-CN" sz="2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幻灯片图像占位符 1"/>
          <p:cNvSpPr>
            <a:spLocks noGrp="1" noRot="1" noChangeAspect="1" noTextEdit="1"/>
          </p:cNvSpPr>
          <p:nvPr>
            <p:ph type="sldImg"/>
          </p:nvPr>
        </p:nvSpPr>
        <p:spPr>
          <a:ln/>
        </p:spPr>
      </p:sp>
      <p:sp>
        <p:nvSpPr>
          <p:cNvPr id="21507" name="备注占位符 2"/>
          <p:cNvSpPr>
            <a:spLocks noGrp="1"/>
          </p:cNvSpPr>
          <p:nvPr>
            <p:ph type="body" idx="1"/>
          </p:nvPr>
        </p:nvSpPr>
        <p:spPr>
          <a:ln/>
        </p:spPr>
        <p:txBody>
          <a:bodyPr wrap="square" lIns="91440" tIns="45720" rIns="91440" bIns="45720" anchor="t" anchorCtr="0"/>
          <a:p>
            <a:pPr lvl="0"/>
            <a:r>
              <a:rPr lang="en-US" altLang="zh-CN" dirty="0"/>
              <a:t>2.1 </a:t>
            </a:r>
            <a:r>
              <a:rPr lang="zh-CN" altLang="en-US" dirty="0"/>
              <a:t>计算机中的数据表示</a:t>
            </a:r>
            <a:endParaRPr lang="zh-CN" altLang="en-US" dirty="0"/>
          </a:p>
          <a:p>
            <a:pPr lvl="0"/>
            <a:r>
              <a:rPr lang="zh-CN" altLang="en-US" dirty="0"/>
              <a:t> </a:t>
            </a:r>
            <a:r>
              <a:rPr lang="en-US" altLang="zh-CN" dirty="0"/>
              <a:t>2.2 </a:t>
            </a:r>
            <a:r>
              <a:rPr lang="zh-CN" altLang="en-US" dirty="0"/>
              <a:t>指令格式</a:t>
            </a:r>
            <a:endParaRPr lang="zh-CN" altLang="en-US" dirty="0"/>
          </a:p>
          <a:p>
            <a:pPr lvl="0"/>
            <a:r>
              <a:rPr lang="zh-CN" altLang="en-US" dirty="0"/>
              <a:t> </a:t>
            </a:r>
            <a:r>
              <a:rPr lang="en-US" altLang="zh-CN" dirty="0"/>
              <a:t>2.3 </a:t>
            </a:r>
            <a:r>
              <a:rPr lang="zh-CN" altLang="en-US" dirty="0"/>
              <a:t>寻址方式</a:t>
            </a:r>
            <a:endParaRPr lang="zh-CN" altLang="en-US" dirty="0"/>
          </a:p>
          <a:p>
            <a:pPr lvl="0"/>
            <a:r>
              <a:rPr lang="zh-CN" altLang="en-US" dirty="0"/>
              <a:t> </a:t>
            </a:r>
            <a:r>
              <a:rPr lang="en-US" altLang="zh-CN" dirty="0"/>
              <a:t>2.4 </a:t>
            </a:r>
            <a:r>
              <a:rPr lang="zh-CN" altLang="en-US" dirty="0"/>
              <a:t>程序的机器级表示</a:t>
            </a:r>
            <a:endParaRPr lang="zh-CN" altLang="en-US" dirty="0"/>
          </a:p>
          <a:p>
            <a:pPr lvl="0"/>
            <a:endParaRPr lang="zh-CN" altLang="en-US" dirty="0"/>
          </a:p>
        </p:txBody>
      </p:sp>
      <p:sp>
        <p:nvSpPr>
          <p:cNvPr id="21508" name="日期占位符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21509" name="灯片编号占位符 4"/>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24579"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24580" name="Rectangle 2"/>
          <p:cNvSpPr>
            <a:spLocks noTextEdit="1"/>
          </p:cNvSpPr>
          <p:nvPr>
            <p:ph type="sldImg"/>
          </p:nvPr>
        </p:nvSpPr>
        <p:spPr>
          <a:ln/>
        </p:spPr>
      </p:sp>
      <p:sp>
        <p:nvSpPr>
          <p:cNvPr id="24581" name="Rectangle 3"/>
          <p:cNvSpPr>
            <a:spLocks noGrp="1"/>
          </p:cNvSpPr>
          <p:nvPr>
            <p:ph type="body" idx="1"/>
          </p:nvPr>
        </p:nvSpPr>
        <p:spPr>
          <a:ln/>
        </p:spPr>
        <p:txBody>
          <a:bodyPr wrap="square" lIns="93165" tIns="46583" rIns="93165" bIns="46583" anchor="t" anchorCtr="0"/>
          <a:p>
            <a:pPr lvl="0" eaLnBrk="1" hangingPunct="1"/>
            <a:r>
              <a:rPr lang="en-US" altLang="zh-CN" sz="2000" dirty="0">
                <a:solidFill>
                  <a:schemeClr val="bg2"/>
                </a:solidFill>
                <a:ea typeface="华文新魏" panose="02010800040101010101" pitchFamily="2" charset="-122"/>
              </a:rPr>
              <a:t>1</a:t>
            </a:r>
            <a:r>
              <a:rPr lang="zh-CN" altLang="en-US" sz="2000" dirty="0">
                <a:solidFill>
                  <a:schemeClr val="bg2"/>
                </a:solidFill>
                <a:ea typeface="华文新魏" panose="02010800040101010101" pitchFamily="2" charset="-122"/>
              </a:rPr>
              <a:t>、真值：是指自然界中数据真正的值。常用“</a:t>
            </a:r>
            <a:r>
              <a:rPr lang="en-US" altLang="zh-CN" sz="2000" dirty="0">
                <a:solidFill>
                  <a:schemeClr val="bg2"/>
                </a:solidFill>
                <a:ea typeface="华文新魏" panose="02010800040101010101" pitchFamily="2" charset="-122"/>
              </a:rPr>
              <a:t>+</a:t>
            </a:r>
            <a:r>
              <a:rPr lang="zh-CN" altLang="en-US" sz="2000" dirty="0">
                <a:solidFill>
                  <a:schemeClr val="bg2"/>
                </a:solidFill>
                <a:ea typeface="华文新魏" panose="02010800040101010101" pitchFamily="2" charset="-122"/>
              </a:rPr>
              <a:t>”、“</a:t>
            </a:r>
            <a:r>
              <a:rPr lang="en-US" altLang="zh-CN" sz="2000" dirty="0">
                <a:solidFill>
                  <a:schemeClr val="bg2"/>
                </a:solidFill>
                <a:ea typeface="华文新魏" panose="02010800040101010101" pitchFamily="2" charset="-122"/>
              </a:rPr>
              <a:t>-”</a:t>
            </a:r>
            <a:r>
              <a:rPr lang="zh-CN" altLang="en-US" sz="2000" dirty="0">
                <a:solidFill>
                  <a:schemeClr val="bg2"/>
                </a:solidFill>
                <a:ea typeface="华文新魏" panose="02010800040101010101" pitchFamily="2" charset="-122"/>
              </a:rPr>
              <a:t>加绝对值来表示正数和负数的数值大小；</a:t>
            </a:r>
            <a:endParaRPr lang="en-US" altLang="zh-CN" sz="2000" dirty="0">
              <a:solidFill>
                <a:schemeClr val="bg2"/>
              </a:solidFill>
              <a:ea typeface="华文新魏" panose="02010800040101010101" pitchFamily="2" charset="-122"/>
            </a:endParaRPr>
          </a:p>
          <a:p>
            <a:pPr lvl="0" eaLnBrk="1" hangingPunct="1"/>
            <a:r>
              <a:rPr lang="en-US" altLang="zh-CN" sz="2000" dirty="0">
                <a:solidFill>
                  <a:schemeClr val="bg2"/>
                </a:solidFill>
                <a:ea typeface="华文新魏" panose="02010800040101010101" pitchFamily="2" charset="-122"/>
              </a:rPr>
              <a:t>2</a:t>
            </a:r>
            <a:r>
              <a:rPr lang="zh-CN" altLang="en-US" sz="2000" dirty="0">
                <a:solidFill>
                  <a:schemeClr val="bg2"/>
                </a:solidFill>
                <a:ea typeface="华文新魏" panose="02010800040101010101" pitchFamily="2" charset="-122"/>
              </a:rPr>
              <a:t>、机器数：是指计算机中用</a:t>
            </a:r>
            <a:r>
              <a:rPr lang="en-US" altLang="zh-CN" sz="2000" dirty="0">
                <a:solidFill>
                  <a:schemeClr val="bg2"/>
                </a:solidFill>
                <a:ea typeface="华文新魏" panose="02010800040101010101" pitchFamily="2" charset="-122"/>
              </a:rPr>
              <a:t>0</a:t>
            </a:r>
            <a:r>
              <a:rPr lang="zh-CN" altLang="en-US" sz="2000" dirty="0">
                <a:solidFill>
                  <a:schemeClr val="bg2"/>
                </a:solidFill>
                <a:ea typeface="华文新魏" panose="02010800040101010101" pitchFamily="2" charset="-122"/>
              </a:rPr>
              <a:t>、</a:t>
            </a:r>
            <a:r>
              <a:rPr lang="en-US" altLang="zh-CN" sz="2000" dirty="0">
                <a:solidFill>
                  <a:schemeClr val="bg2"/>
                </a:solidFill>
                <a:ea typeface="华文新魏" panose="02010800040101010101" pitchFamily="2" charset="-122"/>
              </a:rPr>
              <a:t>1</a:t>
            </a:r>
            <a:r>
              <a:rPr lang="zh-CN" altLang="en-US" sz="2000" dirty="0">
                <a:solidFill>
                  <a:schemeClr val="bg2"/>
                </a:solidFill>
                <a:ea typeface="华文新魏" panose="02010800040101010101" pitchFamily="2" charset="-122"/>
              </a:rPr>
              <a:t>序列表示的数据。常用编码表示数据，约定二进制最高位为符号位（</a:t>
            </a:r>
            <a:r>
              <a:rPr lang="en-US" altLang="zh-CN" sz="2000" dirty="0">
                <a:solidFill>
                  <a:schemeClr val="bg2"/>
                </a:solidFill>
                <a:ea typeface="华文新魏" panose="02010800040101010101" pitchFamily="2" charset="-122"/>
              </a:rPr>
              <a:t>0</a:t>
            </a:r>
            <a:r>
              <a:rPr lang="zh-CN" altLang="en-US" sz="2000" dirty="0">
                <a:solidFill>
                  <a:schemeClr val="bg2"/>
                </a:solidFill>
                <a:ea typeface="华文新魏" panose="02010800040101010101" pitchFamily="2" charset="-122"/>
              </a:rPr>
              <a:t>表示正数、</a:t>
            </a:r>
            <a:r>
              <a:rPr lang="en-US" altLang="zh-CN" sz="2000" dirty="0">
                <a:solidFill>
                  <a:schemeClr val="bg2"/>
                </a:solidFill>
                <a:ea typeface="华文新魏" panose="02010800040101010101" pitchFamily="2" charset="-122"/>
              </a:rPr>
              <a:t>1</a:t>
            </a:r>
            <a:r>
              <a:rPr lang="zh-CN" altLang="en-US" sz="2000" dirty="0">
                <a:solidFill>
                  <a:schemeClr val="bg2"/>
                </a:solidFill>
                <a:ea typeface="华文新魏" panose="02010800040101010101" pitchFamily="2" charset="-122"/>
              </a:rPr>
              <a:t>表示负数），后面的位才表示数值大小。</a:t>
            </a:r>
            <a:endParaRPr lang="zh-CN" altLang="en-US" sz="20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26627"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26628" name="Rectangle 2"/>
          <p:cNvSpPr>
            <a:spLocks noTextEdit="1"/>
          </p:cNvSpPr>
          <p:nvPr>
            <p:ph type="sldImg"/>
          </p:nvPr>
        </p:nvSpPr>
        <p:spPr>
          <a:ln/>
        </p:spPr>
      </p:sp>
      <p:sp>
        <p:nvSpPr>
          <p:cNvPr id="26629" name="Rectangle 3"/>
          <p:cNvSpPr>
            <a:spLocks noGrp="1"/>
          </p:cNvSpPr>
          <p:nvPr>
            <p:ph type="body" idx="1"/>
          </p:nvPr>
        </p:nvSpPr>
        <p:spPr>
          <a:ln/>
        </p:spPr>
        <p:txBody>
          <a:bodyPr wrap="square" lIns="93165" tIns="46583" rIns="93165" bIns="46583" anchor="t" anchorCtr="0"/>
          <a:p>
            <a:pPr lvl="0" eaLnBrk="1" hangingPunct="1"/>
            <a:endParaRPr lang="zh-CN" altLang="en-US" sz="20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TextEdit="1"/>
          </p:cNvSpPr>
          <p:nvPr>
            <p:ph type="sldImg"/>
          </p:nvPr>
        </p:nvSpPr>
        <p:spPr>
          <a:ln/>
        </p:spPr>
      </p:sp>
      <p:sp>
        <p:nvSpPr>
          <p:cNvPr id="265219" name="Rectangle 3"/>
          <p:cNvSpPr>
            <a:spLocks noGrp="1" noChangeArrowheads="1"/>
          </p:cNvSpPr>
          <p:nvPr>
            <p:ph type="body" idx="1"/>
          </p:nvPr>
        </p:nvSpPr>
        <p:spPr>
          <a:xfrm>
            <a:off x="701675" y="4416425"/>
            <a:ext cx="5607050" cy="4183063"/>
          </a:xfrm>
        </p:spPr>
        <p:txBody>
          <a:bodyPr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尾端</a:t>
            </a: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12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Endian</a:t>
            </a: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 ,1980</a:t>
            </a: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年首先由</a:t>
            </a: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Danny Cohen</a:t>
            </a: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提出。 </a:t>
            </a: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Cohen</a:t>
            </a: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注意到计算机体系结构分为两个阵营，划分的基础是字节寻地和整数定义之间在通信系统的关系。</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在Ｊ</a:t>
            </a: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onathan Swift</a:t>
            </a: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的</a:t>
            </a: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格列佛游记</a:t>
            </a: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中，</a:t>
            </a:r>
            <a:r>
              <a:rPr kumimoji="1" lang="zh-CN" altLang="en-US" sz="12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小尾端和大尾端争论</a:t>
            </a: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（应该从哪端开始吃煮鸡蛋）引起了一场战争。</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尾端问题不仅关系到通信，还关系到可移植性。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eaLnBrk="1" hangingPunct="1">
              <a:spcBef>
                <a:spcPct val="0"/>
              </a:spcBef>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
        <p:nvSpPr>
          <p:cNvPr id="32771" name="Rectangle 2"/>
          <p:cNvSpPr>
            <a:spLocks noRot="1" noTextEdit="1"/>
          </p:cNvSpPr>
          <p:nvPr>
            <p:ph type="sldImg"/>
          </p:nvPr>
        </p:nvSpPr>
        <p:spPr>
          <a:ln/>
        </p:spPr>
      </p:sp>
      <p:sp>
        <p:nvSpPr>
          <p:cNvPr id="32772" name="Rectangle 3"/>
          <p:cNvSpPr>
            <a:spLocks noGrp="1"/>
          </p:cNvSpPr>
          <p:nvPr>
            <p:ph type="body" idx="1"/>
          </p:nvPr>
        </p:nvSpPr>
        <p:spPr>
          <a:xfrm>
            <a:off x="935038" y="4418013"/>
            <a:ext cx="5140325" cy="4181475"/>
          </a:xfrm>
          <a:ln/>
        </p:spPr>
        <p:txBody>
          <a:bodyPr wrap="square" lIns="91440" tIns="45720" rIns="91440" bIns="45720" anchor="t" anchorCtr="0"/>
          <a:p>
            <a:pPr lvl="0" eaLnBrk="1" hangingPunct="1"/>
            <a:r>
              <a:rPr lang="zh-CN" altLang="en-US" dirty="0">
                <a:solidFill>
                  <a:schemeClr val="accent1"/>
                </a:solidFill>
              </a:rPr>
              <a:t>指令系统：体系结构</a:t>
            </a:r>
            <a:endParaRPr lang="zh-CN" altLang="en-US" dirty="0">
              <a:solidFill>
                <a:schemeClr val="accent1"/>
              </a:solidFill>
            </a:endParaRPr>
          </a:p>
          <a:p>
            <a:pPr lvl="0" eaLnBrk="1" hangingPunct="1"/>
            <a:r>
              <a:rPr lang="zh-CN" altLang="en-US" dirty="0">
                <a:solidFill>
                  <a:schemeClr val="accent1"/>
                </a:solidFill>
              </a:rPr>
              <a:t>对指令系统的实现：计算机原理</a:t>
            </a:r>
            <a:endParaRPr lang="zh-CN" altLang="en-US" dirty="0">
              <a:solidFill>
                <a:schemeClr val="accent1"/>
              </a:solidFill>
            </a:endParaRPr>
          </a:p>
          <a:p>
            <a:pPr lvl="0" eaLnBrk="1" hangingPunct="1"/>
            <a:r>
              <a:rPr lang="zh-CN" altLang="en-US" dirty="0">
                <a:solidFill>
                  <a:schemeClr val="accent1"/>
                </a:solidFill>
              </a:rPr>
              <a:t>软件系统：基于体系结构，一个软件可以在同一体系结构不同型号的机器上运行；</a:t>
            </a:r>
            <a:endParaRPr lang="zh-CN" altLang="en-US" dirty="0">
              <a:solidFill>
                <a:schemeClr val="accent1"/>
              </a:solidFill>
            </a:endParaRPr>
          </a:p>
          <a:p>
            <a:pPr lvl="0" eaLnBrk="1" hangingPunct="1"/>
            <a:r>
              <a:rPr lang="zh-CN" altLang="en-US" dirty="0">
                <a:solidFill>
                  <a:schemeClr val="accent1"/>
                </a:solidFill>
              </a:rPr>
              <a:t>硬件系统：对体系结构的具体实现，同一体系结构具有多种实现方式。</a:t>
            </a:r>
            <a:endParaRPr lang="zh-CN" altLang="en-US" dirty="0">
              <a:solidFill>
                <a:schemeClr val="accent1"/>
              </a:solidFill>
            </a:endParaRPr>
          </a:p>
          <a:p>
            <a:pPr lvl="0" eaLnBrk="1" hangingPunct="1"/>
            <a:r>
              <a:rPr lang="en-US" altLang="zh-CN" dirty="0">
                <a:solidFill>
                  <a:srgbClr val="001ADC"/>
                </a:solidFill>
              </a:rPr>
              <a:t>X86 </a:t>
            </a:r>
            <a:r>
              <a:rPr lang="zh-CN" altLang="en-US" dirty="0">
                <a:solidFill>
                  <a:srgbClr val="001ADC"/>
                </a:solidFill>
              </a:rPr>
              <a:t>是一种</a:t>
            </a:r>
            <a:r>
              <a:rPr lang="en-US" altLang="zh-CN" dirty="0">
                <a:solidFill>
                  <a:srgbClr val="001ADC"/>
                </a:solidFill>
              </a:rPr>
              <a:t>Architecture</a:t>
            </a:r>
            <a:r>
              <a:rPr lang="zh-CN" altLang="en-US" dirty="0">
                <a:solidFill>
                  <a:srgbClr val="001ADC"/>
                </a:solidFill>
              </a:rPr>
              <a:t>；</a:t>
            </a:r>
            <a:endParaRPr lang="zh-CN" altLang="en-US" dirty="0">
              <a:solidFill>
                <a:srgbClr val="001ADC"/>
              </a:solidFill>
            </a:endParaRPr>
          </a:p>
          <a:p>
            <a:pPr lvl="0" eaLnBrk="1" hangingPunct="1"/>
            <a:r>
              <a:rPr lang="en-US" altLang="zh-CN" dirty="0">
                <a:solidFill>
                  <a:srgbClr val="001ADC"/>
                </a:solidFill>
              </a:rPr>
              <a:t>Pentium IV</a:t>
            </a:r>
            <a:r>
              <a:rPr lang="zh-CN" altLang="en-US" dirty="0">
                <a:solidFill>
                  <a:srgbClr val="001ADC"/>
                </a:solidFill>
              </a:rPr>
              <a:t>是</a:t>
            </a:r>
            <a:r>
              <a:rPr lang="en-US" altLang="zh-CN" dirty="0">
                <a:solidFill>
                  <a:srgbClr val="001ADC"/>
                </a:solidFill>
              </a:rPr>
              <a:t>architecture</a:t>
            </a:r>
            <a:r>
              <a:rPr lang="zh-CN" altLang="en-US" dirty="0">
                <a:solidFill>
                  <a:srgbClr val="001ADC"/>
                </a:solidFill>
              </a:rPr>
              <a:t>的一种实现实例。</a:t>
            </a:r>
            <a:endParaRPr lang="zh-CN" altLang="en-US" dirty="0">
              <a:solidFill>
                <a:srgbClr val="001ADC"/>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idx="1"/>
          </p:nvPr>
        </p:nvSpPr>
        <p:spPr>
          <a:ln/>
        </p:spPr>
        <p:txBody>
          <a:bodyPr wrap="square" lIns="91440" tIns="45720" rIns="91440" bIns="45720" anchor="t" anchorCtr="0"/>
          <a:p>
            <a:pPr lvl="0"/>
            <a:r>
              <a:rPr lang="zh-CN" altLang="en-US" dirty="0"/>
              <a:t>两者比较：</a:t>
            </a:r>
            <a:endParaRPr lang="en-US" altLang="zh-CN" dirty="0"/>
          </a:p>
          <a:p>
            <a:pPr marL="628650" lvl="1" indent="-171450">
              <a:buChar char="•"/>
            </a:pPr>
            <a:r>
              <a:rPr lang="en-US" altLang="zh-CN" dirty="0"/>
              <a:t>float</a:t>
            </a:r>
            <a:r>
              <a:rPr lang="zh-CN" altLang="en-US" dirty="0"/>
              <a:t>单精度浮点数和</a:t>
            </a:r>
            <a:r>
              <a:rPr lang="en-US" altLang="zh-CN" dirty="0"/>
              <a:t>int</a:t>
            </a:r>
            <a:r>
              <a:rPr lang="zh-CN" altLang="en-US" dirty="0"/>
              <a:t>整数都是</a:t>
            </a:r>
            <a:r>
              <a:rPr lang="en-US" altLang="zh-CN" dirty="0"/>
              <a:t>32</a:t>
            </a:r>
            <a:r>
              <a:rPr lang="zh-CN" altLang="en-US" dirty="0"/>
              <a:t>位表示，占用存储空间相同</a:t>
            </a:r>
            <a:endParaRPr lang="en-US" altLang="zh-CN" dirty="0"/>
          </a:p>
          <a:p>
            <a:pPr marL="628650" lvl="1" indent="-171450">
              <a:buChar char="•"/>
            </a:pPr>
            <a:r>
              <a:rPr lang="en-US" altLang="zh-CN" dirty="0"/>
              <a:t>Int</a:t>
            </a:r>
            <a:r>
              <a:rPr lang="zh-CN" altLang="en-US" dirty="0"/>
              <a:t>的精度高，而</a:t>
            </a:r>
            <a:r>
              <a:rPr lang="en-US" altLang="zh-CN" dirty="0"/>
              <a:t>Float</a:t>
            </a:r>
            <a:r>
              <a:rPr lang="zh-CN" altLang="en-US" dirty="0"/>
              <a:t>的表示范围大</a:t>
            </a:r>
            <a:endParaRPr lang="en-US" altLang="zh-CN" dirty="0"/>
          </a:p>
          <a:p>
            <a:pPr lvl="0"/>
            <a:endParaRPr lang="zh-CN" altLang="en-US" dirty="0"/>
          </a:p>
        </p:txBody>
      </p:sp>
      <p:sp>
        <p:nvSpPr>
          <p:cNvPr id="35844" name="日期占位符 3"/>
          <p:cNvSpPr txBox="1">
            <a:spLocks noGrp="1"/>
          </p:cNvSpPr>
          <p:nvPr>
            <p:ph type="dt" sz="half"/>
          </p:nvPr>
        </p:nvSpPr>
        <p:spPr>
          <a:xfrm>
            <a:off x="3971925" y="0"/>
            <a:ext cx="3038475" cy="465138"/>
          </a:xfrm>
          <a:prstGeom prst="rect">
            <a:avLst/>
          </a:prstGeom>
          <a:noFill/>
          <a:ln w="9525">
            <a:noFill/>
          </a:ln>
        </p:spPr>
        <p:txBody>
          <a:bodyPr/>
          <a:p>
            <a:pPr lvl="0" algn="r"/>
            <a:fld id="{BB962C8B-B14F-4D97-AF65-F5344CB8AC3E}" type="datetime8">
              <a:rPr lang="zh-CN" altLang="en-US" sz="1200" b="0" dirty="0">
                <a:solidFill>
                  <a:schemeClr val="tx1"/>
                </a:solidFill>
                <a:latin typeface="Times New Roman" panose="02020603050405020304" pitchFamily="18" charset="0"/>
              </a:rPr>
            </a:fld>
            <a:endParaRPr lang="zh-CN" altLang="en-US" sz="1200" b="0" dirty="0">
              <a:solidFill>
                <a:schemeClr val="tx1"/>
              </a:solidFill>
              <a:latin typeface="Times New Roman" panose="02020603050405020304" pitchFamily="18" charset="0"/>
            </a:endParaRPr>
          </a:p>
        </p:txBody>
      </p:sp>
      <p:sp>
        <p:nvSpPr>
          <p:cNvPr id="35845" name="灯片编号占位符 4"/>
          <p:cNvSpPr txBox="1">
            <a:spLocks noGrp="1"/>
          </p:cNvSpPr>
          <p:nvPr>
            <p:ph type="sldNum" sz="quarter"/>
          </p:nvPr>
        </p:nvSpPr>
        <p:spPr>
          <a:xfrm>
            <a:off x="3971925" y="8831263"/>
            <a:ext cx="3038475" cy="465137"/>
          </a:xfrm>
          <a:prstGeom prst="rect">
            <a:avLst/>
          </a:prstGeom>
          <a:noFill/>
          <a:ln w="9525">
            <a:noFill/>
          </a:ln>
        </p:spPr>
        <p:txBody>
          <a:bodyPr anchor="b" anchorCtr="0"/>
          <a:p>
            <a:pPr lvl="0" algn="r"/>
            <a:fld id="{9A0DB2DC-4C9A-4742-B13C-FB6460FD3503}" type="slidenum">
              <a:rPr lang="zh-CN" altLang="en-US" sz="1200" b="0" dirty="0">
                <a:solidFill>
                  <a:schemeClr val="tx1"/>
                </a:solidFill>
                <a:latin typeface="Times New Roman" panose="02020603050405020304" pitchFamily="18" charset="0"/>
              </a:rPr>
            </a:fld>
            <a:endParaRPr lang="zh-CN" altLang="en-US" sz="1200" b="0" dirty="0">
              <a:solidFill>
                <a:schemeClr val="tx1"/>
              </a:solidFill>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38915"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38916" name="Rectangle 2"/>
          <p:cNvSpPr>
            <a:spLocks noTextEdit="1"/>
          </p:cNvSpPr>
          <p:nvPr>
            <p:ph type="sldImg"/>
          </p:nvPr>
        </p:nvSpPr>
        <p:spPr>
          <a:xfrm>
            <a:off x="1196975" y="596900"/>
            <a:ext cx="4630738" cy="3473450"/>
          </a:xfrm>
          <a:ln/>
        </p:spPr>
      </p:sp>
      <p:sp>
        <p:nvSpPr>
          <p:cNvPr id="38917" name="Rectangle 3"/>
          <p:cNvSpPr>
            <a:spLocks noGrp="1"/>
          </p:cNvSpPr>
          <p:nvPr>
            <p:ph type="body" idx="1"/>
          </p:nvPr>
        </p:nvSpPr>
        <p:spPr>
          <a:xfrm>
            <a:off x="527050" y="4416425"/>
            <a:ext cx="6042025" cy="4183063"/>
          </a:xfrm>
          <a:ln/>
        </p:spPr>
        <p:txBody>
          <a:bodyPr wrap="square" lIns="93177" tIns="46589" rIns="93177" bIns="46589" anchor="t" anchorCtr="0"/>
          <a:p>
            <a:pPr lvl="0" eaLnBrk="1" hangingPunct="1"/>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40963"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40964" name="Rectangle 2"/>
          <p:cNvSpPr>
            <a:spLocks noTextEdit="1"/>
          </p:cNvSpPr>
          <p:nvPr>
            <p:ph type="sldImg"/>
          </p:nvPr>
        </p:nvSpPr>
        <p:spPr>
          <a:ln/>
        </p:spPr>
      </p:sp>
      <p:sp>
        <p:nvSpPr>
          <p:cNvPr id="40965" name="Rectangle 3"/>
          <p:cNvSpPr>
            <a:spLocks noGrp="1"/>
          </p:cNvSpPr>
          <p:nvPr>
            <p:ph type="body" idx="1"/>
          </p:nvPr>
        </p:nvSpPr>
        <p:spPr>
          <a:ln/>
        </p:spPr>
        <p:txBody>
          <a:bodyPr wrap="square" lIns="93177" tIns="46589" rIns="93177" bIns="46589" anchor="t" anchorCtr="0"/>
          <a:p>
            <a:pPr lvl="0" eaLnBrk="1" hangingPunct="1"/>
            <a:endParaRPr lang="zh-CN" altLang="en-US" sz="20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TextEdit="1"/>
          </p:cNvSpPr>
          <p:nvPr>
            <p:ph type="sldImg"/>
          </p:nvPr>
        </p:nvSpPr>
        <p:spPr>
          <a:ln/>
        </p:spPr>
      </p:sp>
      <p:sp>
        <p:nvSpPr>
          <p:cNvPr id="43011" name="Rectangle 3"/>
          <p:cNvSpPr>
            <a:spLocks noGrp="1"/>
          </p:cNvSpPr>
          <p:nvPr>
            <p:ph type="body" idx="1"/>
          </p:nvPr>
        </p:nvSpPr>
        <p:spPr>
          <a:xfrm>
            <a:off x="935038" y="4418013"/>
            <a:ext cx="5140325" cy="4181475"/>
          </a:xfrm>
          <a:ln/>
        </p:spPr>
        <p:txBody>
          <a:bodyPr wrap="square" lIns="93159" tIns="46580" rIns="93159" bIns="46580" anchor="t" anchorCtr="0"/>
          <a:p>
            <a:pPr lvl="0"/>
            <a:endParaRPr lang="zh-CN" altLang="en-US" sz="20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TextEdit="1"/>
          </p:cNvSpPr>
          <p:nvPr>
            <p:ph type="sldImg"/>
          </p:nvPr>
        </p:nvSpPr>
        <p:spPr>
          <a:ln/>
        </p:spPr>
      </p:sp>
      <p:sp>
        <p:nvSpPr>
          <p:cNvPr id="45059" name="Rectangle 3"/>
          <p:cNvSpPr>
            <a:spLocks noGrp="1"/>
          </p:cNvSpPr>
          <p:nvPr>
            <p:ph type="body" idx="1"/>
          </p:nvPr>
        </p:nvSpPr>
        <p:spPr>
          <a:xfrm>
            <a:off x="935038" y="4418013"/>
            <a:ext cx="5140325" cy="4181475"/>
          </a:xfrm>
          <a:ln/>
        </p:spPr>
        <p:txBody>
          <a:bodyPr wrap="square" lIns="93159" tIns="46580" rIns="93159" bIns="46580" anchor="t" anchorCtr="0"/>
          <a:p>
            <a:pPr lvl="0" algn="just">
              <a:lnSpc>
                <a:spcPct val="80000"/>
              </a:lnSpc>
              <a:buClr>
                <a:schemeClr val="folHlink"/>
              </a:buClr>
              <a:buFont typeface="Symbol" panose="05050102010706020507" pitchFamily="18" charset="2"/>
              <a:buChar char="•"/>
            </a:pPr>
            <a:r>
              <a:rPr lang="zh-CN" altLang="en-US" sz="1600" dirty="0"/>
              <a:t>指令功能简单，指令条数少</a:t>
            </a:r>
            <a:endParaRPr lang="zh-CN" altLang="en-US" sz="1600" dirty="0"/>
          </a:p>
          <a:p>
            <a:pPr lvl="0">
              <a:buChar char="•"/>
            </a:pPr>
            <a:r>
              <a:rPr lang="zh-CN" altLang="en-US" sz="1600" dirty="0"/>
              <a:t>指令字长固定，操作码固定</a:t>
            </a:r>
            <a:endParaRPr lang="zh-CN" altLang="en-US" sz="16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48131"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48132" name="Rectangle 2"/>
          <p:cNvSpPr>
            <a:spLocks noTextEdit="1"/>
          </p:cNvSpPr>
          <p:nvPr>
            <p:ph type="sldImg"/>
          </p:nvPr>
        </p:nvSpPr>
        <p:spPr>
          <a:ln/>
        </p:spPr>
      </p:sp>
      <p:sp>
        <p:nvSpPr>
          <p:cNvPr id="48133" name="Rectangle 3"/>
          <p:cNvSpPr>
            <a:spLocks noGrp="1"/>
          </p:cNvSpPr>
          <p:nvPr>
            <p:ph type="body" idx="1"/>
          </p:nvPr>
        </p:nvSpPr>
        <p:spPr>
          <a:ln/>
        </p:spPr>
        <p:txBody>
          <a:bodyPr wrap="square" lIns="93177" tIns="46589" rIns="93177" bIns="46589" anchor="t" anchorCtr="0"/>
          <a:p>
            <a:pPr lvl="0"/>
            <a:r>
              <a:rPr lang="zh-CN" altLang="zh-CN" dirty="0"/>
              <a:t> 计算机的机器字长总是有限的，因而机器数的位数有限，使得可表示的数的个数有限。对于</a:t>
            </a:r>
            <a:r>
              <a:rPr lang="en-US" altLang="zh-CN" dirty="0"/>
              <a:t>n</a:t>
            </a:r>
            <a:r>
              <a:rPr lang="zh-CN" altLang="zh-CN" dirty="0"/>
              <a:t>位二进制数，只能表示</a:t>
            </a:r>
            <a:r>
              <a:rPr lang="en-US" altLang="zh-CN" dirty="0"/>
              <a:t>2</a:t>
            </a:r>
            <a:r>
              <a:rPr lang="en-US" altLang="zh-CN" baseline="30000" dirty="0"/>
              <a:t>n</a:t>
            </a:r>
            <a:r>
              <a:rPr lang="zh-CN" altLang="zh-CN" dirty="0"/>
              <a:t>个不同的数，当运算结果超过</a:t>
            </a:r>
            <a:r>
              <a:rPr lang="en-US" altLang="zh-CN" dirty="0"/>
              <a:t>n</a:t>
            </a:r>
            <a:r>
              <a:rPr lang="zh-CN" altLang="zh-CN" dirty="0"/>
              <a:t>位数时就可能发生溢出。对于无符号数来说，计算机运算过程中一般保留低</a:t>
            </a:r>
            <a:r>
              <a:rPr lang="en-US" altLang="zh-CN" dirty="0"/>
              <a:t>n</a:t>
            </a:r>
            <a:r>
              <a:rPr lang="zh-CN" altLang="zh-CN" dirty="0"/>
              <a:t>位，舍弃高位。这样，会产生两种结果：</a:t>
            </a:r>
            <a:endParaRPr lang="zh-CN" altLang="zh-CN" dirty="0"/>
          </a:p>
          <a:p>
            <a:pPr lvl="0"/>
            <a:r>
              <a:rPr lang="zh-CN" altLang="zh-CN" dirty="0"/>
              <a:t>（</a:t>
            </a:r>
            <a:r>
              <a:rPr lang="en-US" altLang="zh-CN" dirty="0"/>
              <a:t>1</a:t>
            </a:r>
            <a:r>
              <a:rPr lang="zh-CN" altLang="zh-CN" dirty="0"/>
              <a:t>）剩下的低</a:t>
            </a:r>
            <a:r>
              <a:rPr lang="en-US" altLang="zh-CN" dirty="0"/>
              <a:t>n</a:t>
            </a:r>
            <a:r>
              <a:rPr lang="zh-CN" altLang="zh-CN" dirty="0"/>
              <a:t>位数不能表示运算结果，意味着运算的结果超出了计算机能表示的范围，有效值进到了第</a:t>
            </a:r>
            <a:r>
              <a:rPr lang="en-US" altLang="zh-CN" dirty="0"/>
              <a:t>n+1</a:t>
            </a:r>
            <a:r>
              <a:rPr lang="zh-CN" altLang="zh-CN" dirty="0"/>
              <a:t>位，此时发生了“溢出”现象。</a:t>
            </a:r>
            <a:endParaRPr lang="zh-CN" altLang="zh-CN" dirty="0"/>
          </a:p>
          <a:p>
            <a:pPr lvl="0"/>
            <a:r>
              <a:rPr lang="zh-CN" altLang="zh-CN" dirty="0"/>
              <a:t>（</a:t>
            </a:r>
            <a:r>
              <a:rPr lang="en-US" altLang="zh-CN" dirty="0"/>
              <a:t>2</a:t>
            </a:r>
            <a:r>
              <a:rPr lang="zh-CN" altLang="zh-CN" dirty="0"/>
              <a:t>）剩下的低</a:t>
            </a:r>
            <a:r>
              <a:rPr lang="en-US" altLang="zh-CN" dirty="0"/>
              <a:t>n</a:t>
            </a:r>
            <a:r>
              <a:rPr lang="zh-CN" altLang="zh-CN" dirty="0"/>
              <a:t>位数能正确表示运算结果，即高位的舍弃并不影响其运算结果。</a:t>
            </a:r>
            <a:endParaRPr lang="zh-CN" altLang="zh-CN" dirty="0"/>
          </a:p>
          <a:p>
            <a:pPr lvl="0" eaLnBrk="1" hangingPunct="1"/>
            <a:endParaRPr lang="zh-CN" altLang="en-US" sz="20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幻灯片图像占位符 1"/>
          <p:cNvSpPr>
            <a:spLocks noGrp="1" noRot="1" noChangeAspect="1" noTextEdit="1"/>
          </p:cNvSpPr>
          <p:nvPr>
            <p:ph type="sldImg"/>
          </p:nvPr>
        </p:nvSpPr>
        <p:spPr>
          <a:ln/>
        </p:spPr>
      </p:sp>
      <p:sp>
        <p:nvSpPr>
          <p:cNvPr id="51203" name="备注占位符 2"/>
          <p:cNvSpPr>
            <a:spLocks noGrp="1"/>
          </p:cNvSpPr>
          <p:nvPr>
            <p:ph type="body" idx="1"/>
          </p:nvPr>
        </p:nvSpPr>
        <p:spPr>
          <a:ln/>
        </p:spPr>
        <p:txBody>
          <a:bodyPr wrap="square" lIns="91440" tIns="45720" rIns="91440" bIns="45720" anchor="t" anchorCtr="0"/>
          <a:p>
            <a:pPr lvl="0">
              <a:spcBef>
                <a:spcPct val="10000"/>
              </a:spcBef>
              <a:buClr>
                <a:srgbClr val="C00000"/>
              </a:buClr>
              <a:buSzPct val="90000"/>
              <a:buFont typeface="Wingdings" panose="05000000000000000000" pitchFamily="2" charset="2"/>
              <a:buChar char="n"/>
            </a:pPr>
            <a:r>
              <a:rPr lang="zh-CN" altLang="en-US" sz="2000" b="1" dirty="0">
                <a:sym typeface="Symbol" panose="05050102010706020507" pitchFamily="18" charset="2"/>
              </a:rPr>
              <a:t>流水线相关知识</a:t>
            </a:r>
            <a:endParaRPr lang="en-US" altLang="zh-CN" sz="2000" b="1" dirty="0">
              <a:sym typeface="Symbol" panose="05050102010706020507" pitchFamily="18" charset="2"/>
            </a:endParaRPr>
          </a:p>
          <a:p>
            <a:pPr marL="800100" lvl="1" indent="-342900">
              <a:spcBef>
                <a:spcPct val="10000"/>
              </a:spcBef>
              <a:buClr>
                <a:srgbClr val="C00000"/>
              </a:buClr>
              <a:buSzPct val="90000"/>
              <a:buFont typeface="Wingdings" panose="05000000000000000000" pitchFamily="2" charset="2"/>
              <a:buChar char="l"/>
            </a:pPr>
            <a:r>
              <a:rPr lang="zh-CN" altLang="en-US" sz="2000" b="1" dirty="0">
                <a:sym typeface="Symbol" panose="05050102010706020507" pitchFamily="18" charset="2"/>
              </a:rPr>
              <a:t>流水线数据通路和控制</a:t>
            </a:r>
            <a:endParaRPr lang="en-US" altLang="zh-CN" sz="2000" b="1" dirty="0">
              <a:sym typeface="Symbol" panose="05050102010706020507" pitchFamily="18" charset="2"/>
            </a:endParaRPr>
          </a:p>
          <a:p>
            <a:pPr marL="800100" lvl="1" indent="-342900">
              <a:spcBef>
                <a:spcPct val="10000"/>
              </a:spcBef>
              <a:buClr>
                <a:srgbClr val="C00000"/>
              </a:buClr>
              <a:buSzPct val="90000"/>
              <a:buFont typeface="Wingdings" panose="05000000000000000000" pitchFamily="2" charset="2"/>
              <a:buChar char="l"/>
            </a:pPr>
            <a:r>
              <a:rPr lang="zh-CN" altLang="en-US" sz="2000" b="1" dirty="0">
                <a:sym typeface="Symbol" panose="05050102010706020507" pitchFamily="18" charset="2"/>
              </a:rPr>
              <a:t>数据冒险：转发与阻塞</a:t>
            </a:r>
            <a:endParaRPr lang="zh-CN" altLang="en-US" sz="2000" b="1" dirty="0">
              <a:sym typeface="Symbol" panose="05050102010706020507" pitchFamily="18" charset="2"/>
            </a:endParaRPr>
          </a:p>
          <a:p>
            <a:pPr marL="800100" lvl="1" indent="-342900">
              <a:spcBef>
                <a:spcPct val="10000"/>
              </a:spcBef>
              <a:buClr>
                <a:srgbClr val="C00000"/>
              </a:buClr>
              <a:buSzPct val="90000"/>
              <a:buFont typeface="Wingdings" panose="05000000000000000000" pitchFamily="2" charset="2"/>
              <a:buChar char="l"/>
            </a:pPr>
            <a:r>
              <a:rPr lang="zh-CN" altLang="en-US" sz="2000" b="1" dirty="0">
                <a:sym typeface="Symbol" panose="05050102010706020507" pitchFamily="18" charset="2"/>
              </a:rPr>
              <a:t>控制冒险</a:t>
            </a:r>
            <a:endParaRPr lang="zh-CN" altLang="en-US" sz="2000" b="1" dirty="0">
              <a:sym typeface="Symbol" panose="05050102010706020507" pitchFamily="18" charset="2"/>
            </a:endParaRPr>
          </a:p>
          <a:p>
            <a:pPr marL="800100" lvl="1" indent="-342900">
              <a:spcBef>
                <a:spcPct val="10000"/>
              </a:spcBef>
              <a:buClr>
                <a:srgbClr val="C00000"/>
              </a:buClr>
              <a:buSzPct val="90000"/>
              <a:buFont typeface="Wingdings" panose="05000000000000000000" pitchFamily="2" charset="2"/>
              <a:buChar char="l"/>
            </a:pPr>
            <a:r>
              <a:rPr lang="zh-CN" altLang="en-US" sz="2000" b="1" dirty="0">
                <a:sym typeface="Symbol" panose="05050102010706020507" pitchFamily="18" charset="2"/>
              </a:rPr>
              <a:t>异常处理</a:t>
            </a:r>
            <a:endParaRPr lang="en-US" altLang="zh-CN" sz="2000" b="1" dirty="0">
              <a:sym typeface="Symbol" panose="05050102010706020507" pitchFamily="18" charset="2"/>
            </a:endParaRPr>
          </a:p>
          <a:p>
            <a:pPr lvl="0">
              <a:buChar char="•"/>
            </a:pPr>
            <a:endParaRPr lang="zh-CN" altLang="en-US" dirty="0"/>
          </a:p>
        </p:txBody>
      </p:sp>
      <p:sp>
        <p:nvSpPr>
          <p:cNvPr id="51204" name="日期占位符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51205" name="灯片编号占位符 4"/>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53251"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53252" name="Rectangle 2"/>
          <p:cNvSpPr>
            <a:spLocks noTextEdit="1"/>
          </p:cNvSpPr>
          <p:nvPr>
            <p:ph type="sldImg"/>
          </p:nvPr>
        </p:nvSpPr>
        <p:spPr>
          <a:ln/>
        </p:spPr>
      </p:sp>
      <p:sp>
        <p:nvSpPr>
          <p:cNvPr id="53253" name="Rectangle 3"/>
          <p:cNvSpPr>
            <a:spLocks noGrp="1"/>
          </p:cNvSpPr>
          <p:nvPr>
            <p:ph type="body" idx="1"/>
          </p:nvPr>
        </p:nvSpPr>
        <p:spPr>
          <a:ln/>
        </p:spPr>
        <p:txBody>
          <a:bodyPr wrap="square" lIns="93177" tIns="46589" rIns="93177" bIns="46589" anchor="t" anchorCtr="0"/>
          <a:p>
            <a:pPr lvl="0" eaLnBrk="1" hangingPunct="1"/>
            <a:endParaRPr lang="zh-CN" altLang="en-US" sz="20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ln/>
        </p:spPr>
        <p:txBody>
          <a:bodyPr wrap="square" lIns="91440" tIns="45720" rIns="91440" bIns="45720" anchor="t" anchorCtr="0"/>
          <a:p>
            <a:pPr lvl="0"/>
            <a:endParaRPr lang="zh-CN" altLang="en-US" dirty="0"/>
          </a:p>
        </p:txBody>
      </p:sp>
      <p:sp>
        <p:nvSpPr>
          <p:cNvPr id="56324" name="日期占位符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56325" name="灯片编号占位符 4"/>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幻灯片图像占位符 1"/>
          <p:cNvSpPr>
            <a:spLocks noGrp="1" noRot="1" noChangeAspect="1" noTextEdit="1"/>
          </p:cNvSpPr>
          <p:nvPr>
            <p:ph type="sldImg"/>
          </p:nvPr>
        </p:nvSpPr>
        <p:spPr>
          <a:ln/>
        </p:spPr>
      </p:sp>
      <p:sp>
        <p:nvSpPr>
          <p:cNvPr id="61443" name="备注占位符 2"/>
          <p:cNvSpPr>
            <a:spLocks noGrp="1"/>
          </p:cNvSpPr>
          <p:nvPr>
            <p:ph type="body" idx="1"/>
          </p:nvPr>
        </p:nvSpPr>
        <p:spPr>
          <a:ln/>
        </p:spPr>
        <p:txBody>
          <a:bodyPr wrap="square" lIns="91440" tIns="45720" rIns="91440" bIns="45720" anchor="t" anchorCtr="0"/>
          <a:p>
            <a:pPr lvl="0"/>
            <a:endParaRPr lang="zh-CN" altLang="en-US" dirty="0"/>
          </a:p>
        </p:txBody>
      </p:sp>
      <p:sp>
        <p:nvSpPr>
          <p:cNvPr id="61444" name="日期占位符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61445" name="灯片编号占位符 4"/>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63491"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63492" name="Rectangle 2"/>
          <p:cNvSpPr>
            <a:spLocks noTextEdit="1"/>
          </p:cNvSpPr>
          <p:nvPr>
            <p:ph type="sldImg"/>
          </p:nvPr>
        </p:nvSpPr>
        <p:spPr>
          <a:ln/>
        </p:spPr>
      </p:sp>
      <p:sp>
        <p:nvSpPr>
          <p:cNvPr id="63493" name="Rectangle 3"/>
          <p:cNvSpPr>
            <a:spLocks noGrp="1"/>
          </p:cNvSpPr>
          <p:nvPr>
            <p:ph type="body" idx="1"/>
          </p:nvPr>
        </p:nvSpPr>
        <p:spPr>
          <a:xfrm>
            <a:off x="701675" y="4416425"/>
            <a:ext cx="5607050" cy="4183063"/>
          </a:xfrm>
          <a:ln/>
        </p:spPr>
        <p:txBody>
          <a:bodyPr wrap="square" lIns="91440" tIns="45720" rIns="91440" bIns="45720" anchor="t" anchorCtr="0"/>
          <a:p>
            <a:pPr lvl="0" eaLnBrk="1" hangingPunct="1"/>
            <a:r>
              <a:rPr lang="zh-CN" altLang="en-US" dirty="0"/>
              <a:t>计算机能够在层次结构的存储器上实现高性能主要是依赖于程序访问的局部性原理 。</a:t>
            </a: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65539"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65540" name="Rectangle 2"/>
          <p:cNvSpPr>
            <a:spLocks noTextEdit="1"/>
          </p:cNvSpPr>
          <p:nvPr>
            <p:ph type="sldImg"/>
          </p:nvPr>
        </p:nvSpPr>
        <p:spPr>
          <a:ln/>
        </p:spPr>
      </p:sp>
      <p:sp>
        <p:nvSpPr>
          <p:cNvPr id="65541" name="Rectangle 3"/>
          <p:cNvSpPr>
            <a:spLocks noGrp="1"/>
          </p:cNvSpPr>
          <p:nvPr>
            <p:ph type="body" idx="1"/>
          </p:nvPr>
        </p:nvSpPr>
        <p:spPr>
          <a:ln/>
        </p:spPr>
        <p:txBody>
          <a:bodyPr wrap="square" lIns="94947" tIns="47474" rIns="94947" bIns="47474" anchor="t" anchorCtr="0"/>
          <a:p>
            <a:pPr lvl="0" eaLnBrk="1" hangingPunct="1"/>
            <a:r>
              <a:rPr lang="zh-CN" altLang="en-US" dirty="0"/>
              <a:t>存储器层次结构的中心思想是每一层都存放来自较低一层的数据 。</a:t>
            </a:r>
            <a:endParaRPr lang="en-US" altLang="zh-CN" dirty="0"/>
          </a:p>
          <a:p>
            <a:pPr lvl="0" eaLnBrk="1" hangingPunct="1"/>
            <a:r>
              <a:rPr lang="zh-CN" altLang="en-US" dirty="0"/>
              <a:t>存储层次中各层采用不同类型的存储元件的目的是弥合顶层器件和底层器件之间的速度差异和容量间隙。</a:t>
            </a:r>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68611"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68612" name="Rectangle 2"/>
          <p:cNvSpPr>
            <a:spLocks noTextEdit="1"/>
          </p:cNvSpPr>
          <p:nvPr>
            <p:ph type="sldImg"/>
          </p:nvPr>
        </p:nvSpPr>
        <p:spPr>
          <a:ln/>
        </p:spPr>
      </p:sp>
      <p:sp>
        <p:nvSpPr>
          <p:cNvPr id="68613" name="Rectangle 3"/>
          <p:cNvSpPr>
            <a:spLocks noGrp="1"/>
          </p:cNvSpPr>
          <p:nvPr>
            <p:ph type="body" idx="1"/>
          </p:nvPr>
        </p:nvSpPr>
        <p:spPr>
          <a:xfrm>
            <a:off x="701675" y="4416425"/>
            <a:ext cx="5607050" cy="4183063"/>
          </a:xfrm>
          <a:ln/>
        </p:spPr>
        <p:txBody>
          <a:bodyPr wrap="square" lIns="91440" tIns="45720" rIns="91440" bIns="45720" anchor="t" anchorCtr="0"/>
          <a:p>
            <a:pPr lvl="0" eaLnBrk="1" hangingPunct="1"/>
            <a:r>
              <a:rPr lang="zh-CN" altLang="en-US" dirty="0"/>
              <a:t>主存分为若干</a:t>
            </a:r>
            <a:r>
              <a:rPr lang="en-US" altLang="zh-CN" dirty="0"/>
              <a:t>Block</a:t>
            </a:r>
            <a:r>
              <a:rPr lang="zh-CN" altLang="en-US" dirty="0"/>
              <a:t>，</a:t>
            </a:r>
            <a:r>
              <a:rPr lang="en-US" altLang="zh-CN" dirty="0"/>
              <a:t>Cache</a:t>
            </a:r>
            <a:r>
              <a:rPr lang="zh-CN" altLang="en-US" dirty="0"/>
              <a:t>按同样大小分成若干</a:t>
            </a:r>
            <a:r>
              <a:rPr lang="en-US" altLang="zh-CN" dirty="0"/>
              <a:t>Block</a:t>
            </a:r>
            <a:r>
              <a:rPr lang="zh-CN" altLang="en-US" dirty="0"/>
              <a:t>，</a:t>
            </a:r>
            <a:r>
              <a:rPr lang="en-US" altLang="zh-CN" dirty="0"/>
              <a:t>Cache</a:t>
            </a:r>
            <a:r>
              <a:rPr lang="zh-CN" altLang="en-US" dirty="0"/>
              <a:t>中的</a:t>
            </a:r>
            <a:r>
              <a:rPr lang="en-US" altLang="zh-CN" dirty="0"/>
              <a:t>Block</a:t>
            </a:r>
            <a:r>
              <a:rPr lang="zh-CN" altLang="en-US" dirty="0"/>
              <a:t>数目显然比主存的</a:t>
            </a:r>
            <a:r>
              <a:rPr lang="en-US" altLang="zh-CN" dirty="0"/>
              <a:t>Block</a:t>
            </a:r>
            <a:r>
              <a:rPr lang="zh-CN" altLang="en-US" dirty="0"/>
              <a:t>数少得多。</a:t>
            </a:r>
            <a:endParaRPr lang="zh-CN" altLang="en-US" dirty="0"/>
          </a:p>
          <a:p>
            <a:pPr lvl="0" eaLnBrk="1" hangingPunct="1">
              <a:lnSpc>
                <a:spcPct val="110000"/>
              </a:lnSpc>
              <a:spcBef>
                <a:spcPct val="0"/>
              </a:spcBef>
              <a:buFont typeface="Wingdings" panose="05000000000000000000" pitchFamily="2" charset="2"/>
              <a:buChar char="•"/>
            </a:pPr>
            <a:r>
              <a:rPr lang="zh-CN" altLang="en-US" dirty="0"/>
              <a:t>实际上是将主存按</a:t>
            </a:r>
            <a:r>
              <a:rPr lang="en-US" altLang="zh-CN" dirty="0"/>
              <a:t>Cache</a:t>
            </a:r>
            <a:r>
              <a:rPr lang="zh-CN" altLang="en-US" dirty="0"/>
              <a:t>的大小分组，一个组内的各块分别与</a:t>
            </a:r>
            <a:r>
              <a:rPr lang="en-US" altLang="zh-CN" dirty="0"/>
              <a:t>Cache</a:t>
            </a:r>
            <a:r>
              <a:rPr lang="zh-CN" altLang="en-US" dirty="0"/>
              <a:t>的对应各块映射。</a:t>
            </a:r>
            <a:endParaRPr lang="zh-CN" altLang="en-US" dirty="0"/>
          </a:p>
          <a:p>
            <a:pPr lvl="0" eaLnBrk="1" hangingPunct="1">
              <a:lnSpc>
                <a:spcPct val="110000"/>
              </a:lnSpc>
              <a:spcBef>
                <a:spcPct val="0"/>
              </a:spcBef>
              <a:buFont typeface="Wingdings" panose="05000000000000000000" pitchFamily="2" charset="2"/>
              <a:buChar char="•"/>
            </a:pPr>
            <a:r>
              <a:rPr lang="zh-CN" altLang="en-US" b="1" dirty="0">
                <a:solidFill>
                  <a:srgbClr val="FFCCFF"/>
                </a:solidFill>
              </a:rPr>
              <a:t>对比：</a:t>
            </a:r>
            <a:r>
              <a:rPr lang="zh-CN" altLang="en-US" b="1" dirty="0">
                <a:solidFill>
                  <a:srgbClr val="FFFF66"/>
                </a:solidFill>
              </a:rPr>
              <a:t>阅览室位置 ── 只有一个位置可以坐</a:t>
            </a:r>
            <a:r>
              <a:rPr lang="zh-CN" altLang="en-US" dirty="0"/>
              <a:t>。</a:t>
            </a:r>
            <a:endParaRPr lang="zh-CN" altLang="en-US" dirty="0"/>
          </a:p>
          <a:p>
            <a:pPr lvl="0" eaLnBrk="1" hangingPunct="1">
              <a:lnSpc>
                <a:spcPct val="110000"/>
              </a:lnSpc>
              <a:spcBef>
                <a:spcPct val="0"/>
              </a:spcBef>
              <a:buFont typeface="Wingdings" panose="05000000000000000000" pitchFamily="2" charset="2"/>
              <a:buChar char="•"/>
            </a:pPr>
            <a:r>
              <a:rPr lang="zh-CN" altLang="en-US" dirty="0"/>
              <a:t>	</a:t>
            </a:r>
            <a:endParaRPr lang="zh-CN" altLang="en-US" dirty="0"/>
          </a:p>
          <a:p>
            <a:pPr lvl="0" eaLnBrk="1" hangingPunct="1"/>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70659"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70660" name="Rectangle 2"/>
          <p:cNvSpPr>
            <a:spLocks noTextEdit="1"/>
          </p:cNvSpPr>
          <p:nvPr>
            <p:ph type="sldImg"/>
          </p:nvPr>
        </p:nvSpPr>
        <p:spPr>
          <a:ln/>
        </p:spPr>
      </p:sp>
      <p:sp>
        <p:nvSpPr>
          <p:cNvPr id="70661" name="Rectangle 3"/>
          <p:cNvSpPr>
            <a:spLocks noGrp="1"/>
          </p:cNvSpPr>
          <p:nvPr>
            <p:ph type="body" idx="1"/>
          </p:nvPr>
        </p:nvSpPr>
        <p:spPr>
          <a:xfrm>
            <a:off x="701675" y="4416425"/>
            <a:ext cx="5607050" cy="4183063"/>
          </a:xfrm>
          <a:ln/>
        </p:spPr>
        <p:txBody>
          <a:bodyPr wrap="square" lIns="91440" tIns="45720" rIns="91440" bIns="45720" anchor="t" anchorCtr="0"/>
          <a:p>
            <a:pPr lvl="0" eaLnBrk="1" hangingPunct="1"/>
            <a:r>
              <a:rPr lang="zh-CN" altLang="en-US" b="1" dirty="0">
                <a:solidFill>
                  <a:srgbClr val="FFCCFF"/>
                </a:solidFill>
              </a:rPr>
              <a:t>对比：  </a:t>
            </a:r>
            <a:r>
              <a:rPr lang="zh-CN" altLang="en-US" b="1" dirty="0">
                <a:solidFill>
                  <a:srgbClr val="FFFF66"/>
                </a:solidFill>
              </a:rPr>
              <a:t>阅览室位置 ── 随便坐</a:t>
            </a:r>
            <a:endParaRPr lang="zh-CN" altLang="en-US" b="1" dirty="0">
              <a:solidFill>
                <a:srgbClr val="FFFF66"/>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72707"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72708" name="Rectangle 2"/>
          <p:cNvSpPr>
            <a:spLocks noTextEdit="1"/>
          </p:cNvSpPr>
          <p:nvPr>
            <p:ph type="sldImg"/>
          </p:nvPr>
        </p:nvSpPr>
        <p:spPr>
          <a:ln/>
        </p:spPr>
      </p:sp>
      <p:sp>
        <p:nvSpPr>
          <p:cNvPr id="72709" name="Rectangle 3"/>
          <p:cNvSpPr>
            <a:spLocks noGrp="1"/>
          </p:cNvSpPr>
          <p:nvPr>
            <p:ph type="body" idx="1"/>
          </p:nvPr>
        </p:nvSpPr>
        <p:spPr>
          <a:xfrm>
            <a:off x="701675" y="4416425"/>
            <a:ext cx="5607050" cy="4183063"/>
          </a:xfrm>
          <a:ln/>
        </p:spPr>
        <p:txBody>
          <a:bodyPr wrap="square" lIns="91440" tIns="45720" rIns="91440" bIns="45720" anchor="t" anchorCtr="0"/>
          <a:p>
            <a:pPr lvl="0" eaLnBrk="1" hangingPunct="1"/>
            <a:r>
              <a:rPr lang="zh-CN" altLang="en-US" dirty="0"/>
              <a:t>实际上主存与</a:t>
            </a:r>
            <a:r>
              <a:rPr lang="en-US" altLang="zh-CN" dirty="0"/>
              <a:t>Cache</a:t>
            </a:r>
            <a:r>
              <a:rPr lang="zh-CN" altLang="en-US" dirty="0"/>
              <a:t>都分成 </a:t>
            </a:r>
            <a:r>
              <a:rPr lang="en-US" altLang="zh-CN" dirty="0"/>
              <a:t>K </a:t>
            </a:r>
            <a:r>
              <a:rPr lang="zh-CN" altLang="en-US" dirty="0"/>
              <a:t>组，主存每一组内的块数与</a:t>
            </a:r>
            <a:r>
              <a:rPr lang="en-US" altLang="zh-CN" dirty="0"/>
              <a:t>Cache</a:t>
            </a:r>
            <a:r>
              <a:rPr lang="zh-CN" altLang="en-US" dirty="0"/>
              <a:t>一组内的块数不一致</a:t>
            </a:r>
            <a:r>
              <a:rPr lang="en-US" altLang="zh-CN" dirty="0"/>
              <a:t>, </a:t>
            </a:r>
            <a:r>
              <a:rPr lang="zh-CN" altLang="en-US" dirty="0"/>
              <a:t>主存组</a:t>
            </a:r>
            <a:r>
              <a:rPr lang="en-US" altLang="zh-CN" dirty="0"/>
              <a:t>M</a:t>
            </a:r>
            <a:r>
              <a:rPr lang="zh-CN" altLang="en-US" dirty="0"/>
              <a:t>内的某一块只能映射到</a:t>
            </a:r>
            <a:r>
              <a:rPr lang="en-US" altLang="zh-CN" dirty="0"/>
              <a:t>Cache</a:t>
            </a:r>
            <a:r>
              <a:rPr lang="zh-CN" altLang="en-US" dirty="0"/>
              <a:t>组</a:t>
            </a:r>
            <a:r>
              <a:rPr lang="en-US" altLang="zh-CN" dirty="0"/>
              <a:t>M</a:t>
            </a:r>
            <a:r>
              <a:rPr lang="zh-CN" altLang="en-US" dirty="0"/>
              <a:t>内</a:t>
            </a:r>
            <a:r>
              <a:rPr lang="en-US" altLang="zh-CN" dirty="0"/>
              <a:t>,</a:t>
            </a:r>
            <a:r>
              <a:rPr lang="zh-CN" altLang="en-US" dirty="0"/>
              <a:t>但可以是组</a:t>
            </a:r>
            <a:r>
              <a:rPr lang="en-US" altLang="zh-CN" dirty="0"/>
              <a:t>M</a:t>
            </a:r>
            <a:r>
              <a:rPr lang="zh-CN" altLang="en-US" dirty="0"/>
              <a:t>内的任意一块</a:t>
            </a:r>
            <a:r>
              <a:rPr lang="en-US" altLang="zh-CN" dirty="0"/>
              <a:t>.</a:t>
            </a:r>
            <a:endParaRPr lang="en-US" altLang="zh-CN" dirty="0"/>
          </a:p>
          <a:p>
            <a:pPr lvl="0" eaLnBrk="1" hangingPunct="1"/>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ln/>
        </p:spPr>
        <p:txBody>
          <a:bodyPr wrap="square" lIns="91440" tIns="45720" rIns="91440" bIns="45720" anchor="t" anchorCtr="0"/>
          <a:p>
            <a:pPr lvl="0"/>
            <a:endParaRPr lang="zh-CN" altLang="en-US" dirty="0"/>
          </a:p>
        </p:txBody>
      </p:sp>
      <p:sp>
        <p:nvSpPr>
          <p:cNvPr id="75780" name="日期占位符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75781" name="灯片编号占位符 4"/>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ln/>
        </p:spPr>
        <p:txBody>
          <a:bodyPr wrap="square" lIns="91440" tIns="45720" rIns="91440" bIns="45720" anchor="t" anchorCtr="0"/>
          <a:p>
            <a:pPr lvl="0"/>
            <a:endParaRPr lang="zh-CN" altLang="en-US" dirty="0"/>
          </a:p>
        </p:txBody>
      </p:sp>
      <p:sp>
        <p:nvSpPr>
          <p:cNvPr id="83972" name="日期占位符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83973" name="灯片编号占位符 4"/>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88067" name="Rectangle 2"/>
          <p:cNvSpPr>
            <a:spLocks noRot="1" noTextEdit="1"/>
          </p:cNvSpPr>
          <p:nvPr>
            <p:ph type="sldImg"/>
          </p:nvPr>
        </p:nvSpPr>
        <p:spPr>
          <a:ln/>
        </p:spPr>
      </p:sp>
      <p:sp>
        <p:nvSpPr>
          <p:cNvPr id="88068" name="Rectangle 3"/>
          <p:cNvSpPr>
            <a:spLocks noGrp="1"/>
          </p:cNvSpPr>
          <p:nvPr>
            <p:ph type="body" idx="1"/>
          </p:nvPr>
        </p:nvSpPr>
        <p:spPr>
          <a:xfrm>
            <a:off x="914400" y="4343400"/>
            <a:ext cx="5029200" cy="4114800"/>
          </a:xfrm>
          <a:ln/>
        </p:spPr>
        <p:txBody>
          <a:bodyPr wrap="square" lIns="91440" tIns="45720" rIns="91440" bIns="45720" anchor="t" anchorCtr="0"/>
          <a:p>
            <a:pPr lvl="0"/>
            <a:r>
              <a:rPr lang="zh-CN" altLang="en-US" sz="1600" b="1" dirty="0">
                <a:latin typeface="Arial" panose="020B0604020202020204" pitchFamily="34" charset="0"/>
              </a:rPr>
              <a:t>磁记录材料的最基本要求是具有硬磁特性，即在外磁场撤消后仍保持磁化状态，且具有较高的剩磁</a:t>
            </a:r>
            <a:r>
              <a:rPr lang="en-US" altLang="zh-CN" sz="1600" b="1" dirty="0">
                <a:latin typeface="Arial" panose="020B0604020202020204" pitchFamily="34" charset="0"/>
              </a:rPr>
              <a:t>B</a:t>
            </a:r>
            <a:r>
              <a:rPr lang="en-US" altLang="zh-CN" sz="1600" b="1" baseline="-25000" dirty="0">
                <a:latin typeface="Arial" panose="020B0604020202020204" pitchFamily="34" charset="0"/>
              </a:rPr>
              <a:t>r</a:t>
            </a:r>
            <a:r>
              <a:rPr lang="zh-CN" altLang="en-US" sz="1600" b="1" dirty="0">
                <a:latin typeface="Arial" panose="020B0604020202020204" pitchFamily="34" charset="0"/>
              </a:rPr>
              <a:t>值，适当的矫顽力</a:t>
            </a:r>
            <a:r>
              <a:rPr lang="en-US" altLang="zh-CN" sz="1600" b="1" dirty="0">
                <a:latin typeface="Arial" panose="020B0604020202020204" pitchFamily="34" charset="0"/>
              </a:rPr>
              <a:t>H</a:t>
            </a:r>
            <a:r>
              <a:rPr lang="en-US" altLang="zh-CN" sz="1600" b="1" baseline="-25000" dirty="0">
                <a:latin typeface="Arial" panose="020B0604020202020204" pitchFamily="34" charset="0"/>
              </a:rPr>
              <a:t>C</a:t>
            </a:r>
            <a:r>
              <a:rPr lang="zh-CN" altLang="en-US" sz="1600" b="1" dirty="0">
                <a:latin typeface="Arial" panose="020B0604020202020204" pitchFamily="34" charset="0"/>
              </a:rPr>
              <a:t>值和良好的矩形特性，即矩形系数</a:t>
            </a:r>
            <a:r>
              <a:rPr lang="en-US" altLang="zh-CN" sz="1600" b="1" dirty="0">
                <a:latin typeface="Arial" panose="020B0604020202020204" pitchFamily="34" charset="0"/>
              </a:rPr>
              <a:t>S=∣B</a:t>
            </a:r>
            <a:r>
              <a:rPr lang="en-US" altLang="zh-CN" sz="1600" b="1" baseline="-25000" dirty="0">
                <a:latin typeface="Arial" panose="020B0604020202020204" pitchFamily="34" charset="0"/>
              </a:rPr>
              <a:t>r</a:t>
            </a:r>
            <a:r>
              <a:rPr lang="en-US" altLang="zh-CN" sz="1600" b="1" dirty="0">
                <a:latin typeface="Arial" panose="020B0604020202020204" pitchFamily="34" charset="0"/>
              </a:rPr>
              <a:t>/B</a:t>
            </a:r>
            <a:r>
              <a:rPr lang="en-US" altLang="zh-CN" sz="1600" b="1" baseline="-25000" dirty="0">
                <a:latin typeface="Arial" panose="020B0604020202020204" pitchFamily="34" charset="0"/>
              </a:rPr>
              <a:t>m</a:t>
            </a:r>
            <a:r>
              <a:rPr lang="en-US" altLang="zh-CN" sz="1600" b="1" dirty="0">
                <a:latin typeface="Arial" panose="020B0604020202020204" pitchFamily="34" charset="0"/>
              </a:rPr>
              <a:t>∣</a:t>
            </a:r>
            <a:r>
              <a:rPr lang="zh-CN" altLang="en-US" sz="1600" b="1" dirty="0">
                <a:latin typeface="Arial" panose="020B0604020202020204" pitchFamily="34" charset="0"/>
              </a:rPr>
              <a:t>要大。</a:t>
            </a:r>
            <a:endParaRPr lang="zh-CN" altLang="en-US" sz="1600" b="1" dirty="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90115" name="Rectangle 2"/>
          <p:cNvSpPr>
            <a:spLocks noRot="1" noTextEdit="1"/>
          </p:cNvSpPr>
          <p:nvPr>
            <p:ph type="sldImg"/>
          </p:nvPr>
        </p:nvSpPr>
        <p:spPr>
          <a:ln/>
        </p:spPr>
      </p:sp>
      <p:sp>
        <p:nvSpPr>
          <p:cNvPr id="90116" name="Rectangle 3"/>
          <p:cNvSpPr>
            <a:spLocks noGrp="1"/>
          </p:cNvSpPr>
          <p:nvPr>
            <p:ph type="body" idx="1"/>
          </p:nvPr>
        </p:nvSpPr>
        <p:spPr>
          <a:ln/>
        </p:spPr>
        <p:txBody>
          <a:bodyPr wrap="square" lIns="91435" tIns="45718" rIns="91435" bIns="45718" anchor="t" anchorCtr="0"/>
          <a:p>
            <a:pPr lvl="0"/>
            <a:endParaRPr lang="zh-CN" altLang="en-US" dirty="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ln/>
        </p:spPr>
        <p:txBody>
          <a:bodyPr wrap="square" lIns="91440" tIns="45720" rIns="91440" bIns="45720" anchor="t" anchorCtr="0"/>
          <a:p>
            <a:pPr lvl="0"/>
            <a:endParaRPr lang="zh-CN" altLang="en-US" dirty="0"/>
          </a:p>
        </p:txBody>
      </p:sp>
      <p:sp>
        <p:nvSpPr>
          <p:cNvPr id="93188" name="日期占位符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93189" name="灯片编号占位符 4"/>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TextEdit="1"/>
          </p:cNvSpPr>
          <p:nvPr>
            <p:ph type="sldImg"/>
          </p:nvPr>
        </p:nvSpPr>
        <p:spPr>
          <a:ln/>
        </p:spPr>
      </p:sp>
      <p:sp>
        <p:nvSpPr>
          <p:cNvPr id="96259" name="Rectangle 3"/>
          <p:cNvSpPr>
            <a:spLocks noGrp="1"/>
          </p:cNvSpPr>
          <p:nvPr>
            <p:ph type="body" idx="1"/>
          </p:nvPr>
        </p:nvSpPr>
        <p:spPr>
          <a:ln/>
        </p:spPr>
        <p:txBody>
          <a:bodyPr wrap="square" lIns="91440" tIns="45720" rIns="91440" bIns="45720" anchor="t" anchorCtr="0"/>
          <a:p>
            <a:pPr lvl="0"/>
            <a:r>
              <a:rPr lang="zh-CN" altLang="en-US" sz="1600" b="1" dirty="0"/>
              <a:t>这里谈及的磁盘存取时间是完全从硬件的角度考虑的。实际上，操作系统对磁盘调度管理时，通过调度算法对一批磁盘请求进行调整优化，从总体上看，使磁盘存取时间中的</a:t>
            </a:r>
            <a:r>
              <a:rPr lang="en-US" altLang="zh-CN" sz="1600" b="1" dirty="0"/>
              <a:t>t</a:t>
            </a:r>
            <a:r>
              <a:rPr lang="en-US" altLang="zh-CN" sz="1600" b="1" baseline="-25000" dirty="0"/>
              <a:t>s</a:t>
            </a:r>
            <a:r>
              <a:rPr lang="zh-CN" altLang="en-US" sz="1600" b="1" dirty="0"/>
              <a:t>减小，从而缩短了存取时间。</a:t>
            </a:r>
            <a:endParaRPr lang="zh-CN" altLang="en-US" sz="1600" b="1"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eaLnBrk="1" hangingPunct="1">
              <a:spcBef>
                <a:spcPct val="0"/>
              </a:spcBef>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
        <p:nvSpPr>
          <p:cNvPr id="102403" name="Rectangle 2"/>
          <p:cNvSpPr>
            <a:spLocks noRot="1" noTextEdit="1"/>
          </p:cNvSpPr>
          <p:nvPr>
            <p:ph type="sldImg"/>
          </p:nvPr>
        </p:nvSpPr>
        <p:spPr>
          <a:ln/>
        </p:spPr>
      </p:sp>
      <p:sp>
        <p:nvSpPr>
          <p:cNvPr id="102404" name="Rectangle 3"/>
          <p:cNvSpPr>
            <a:spLocks noGrp="1"/>
          </p:cNvSpPr>
          <p:nvPr>
            <p:ph type="body" idx="1"/>
          </p:nvPr>
        </p:nvSpPr>
        <p:spPr>
          <a:ln/>
        </p:spPr>
        <p:txBody>
          <a:bodyPr wrap="square" lIns="91440" tIns="45720" rIns="91440" bIns="45720" anchor="t" anchorCtr="0"/>
          <a:p>
            <a:pPr lvl="0"/>
            <a:r>
              <a:rPr lang="zh-CN" altLang="en-US" sz="1700" b="1" dirty="0"/>
              <a:t>引出两个问题：</a:t>
            </a:r>
            <a:r>
              <a:rPr lang="en-US" altLang="zh-CN" sz="1700" b="1" dirty="0"/>
              <a:t>I/O</a:t>
            </a:r>
            <a:r>
              <a:rPr lang="zh-CN" altLang="en-US" sz="1700" b="1" dirty="0"/>
              <a:t>接口有什么作用？为什么要设置</a:t>
            </a:r>
            <a:r>
              <a:rPr lang="en-US" altLang="zh-CN" sz="1700" b="1" dirty="0"/>
              <a:t>I/O</a:t>
            </a:r>
            <a:r>
              <a:rPr lang="zh-CN" altLang="en-US" sz="1700" b="1" dirty="0"/>
              <a:t>接口？</a:t>
            </a:r>
            <a:endParaRPr lang="zh-CN" altLang="en-US" sz="1700" b="1"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106499"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106500" name="Rectangle 2"/>
          <p:cNvSpPr>
            <a:spLocks noTextEdit="1"/>
          </p:cNvSpPr>
          <p:nvPr>
            <p:ph type="sldImg"/>
          </p:nvPr>
        </p:nvSpPr>
        <p:spPr>
          <a:ln/>
        </p:spPr>
      </p:sp>
      <p:sp>
        <p:nvSpPr>
          <p:cNvPr id="106501" name="Rectangle 3"/>
          <p:cNvSpPr>
            <a:spLocks noGrp="1"/>
          </p:cNvSpPr>
          <p:nvPr>
            <p:ph type="body" idx="1"/>
          </p:nvPr>
        </p:nvSpPr>
        <p:spPr>
          <a:xfrm>
            <a:off x="701675" y="4416425"/>
            <a:ext cx="5607050" cy="4183063"/>
          </a:xfrm>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幻灯片图像占位符 1"/>
          <p:cNvSpPr>
            <a:spLocks noGrp="1" noRot="1" noChangeAspect="1" noTextEdit="1"/>
          </p:cNvSpPr>
          <p:nvPr>
            <p:ph type="sldImg"/>
          </p:nvPr>
        </p:nvSpPr>
        <p:spPr>
          <a:ln/>
        </p:spPr>
      </p:sp>
      <p:sp>
        <p:nvSpPr>
          <p:cNvPr id="108547" name="备注占位符 2"/>
          <p:cNvSpPr>
            <a:spLocks noGrp="1"/>
          </p:cNvSpPr>
          <p:nvPr>
            <p:ph type="body" idx="1"/>
          </p:nvPr>
        </p:nvSpPr>
        <p:spPr>
          <a:ln/>
        </p:spPr>
        <p:txBody>
          <a:bodyPr wrap="square" lIns="91440" tIns="45720" rIns="91440" bIns="45720" anchor="t" anchorCtr="0"/>
          <a:p>
            <a:pPr lvl="0"/>
            <a:r>
              <a:rPr lang="zh-CN" altLang="zh-CN" dirty="0"/>
              <a:t>答：它们是两个完全不相关的概念。</a:t>
            </a:r>
            <a:endParaRPr lang="zh-CN" altLang="zh-CN" dirty="0"/>
          </a:p>
          <a:p>
            <a:pPr lvl="0"/>
            <a:r>
              <a:rPr lang="zh-CN" altLang="en-US" dirty="0"/>
              <a:t>（</a:t>
            </a:r>
            <a:r>
              <a:rPr lang="en-US" altLang="zh-CN" dirty="0"/>
              <a:t>1</a:t>
            </a:r>
            <a:r>
              <a:rPr lang="zh-CN" altLang="en-US" dirty="0"/>
              <a:t>）</a:t>
            </a:r>
            <a:r>
              <a:rPr lang="zh-CN" altLang="zh-CN" dirty="0"/>
              <a:t>禁止中断就是关中断，即将</a:t>
            </a:r>
            <a:r>
              <a:rPr lang="en-US" altLang="zh-CN" dirty="0"/>
              <a:t>CPU</a:t>
            </a:r>
            <a:r>
              <a:rPr lang="zh-CN" altLang="zh-CN" dirty="0"/>
              <a:t>中的中断允许触发器置为“</a:t>
            </a:r>
            <a:r>
              <a:rPr lang="en-US" altLang="zh-CN" dirty="0"/>
              <a:t>0</a:t>
            </a:r>
            <a:r>
              <a:rPr lang="zh-CN" altLang="zh-CN" dirty="0"/>
              <a:t>”，此时，任何中断请求都不能得到响应。</a:t>
            </a:r>
            <a:endParaRPr lang="en-US" altLang="zh-CN" dirty="0"/>
          </a:p>
          <a:p>
            <a:pPr lvl="0"/>
            <a:r>
              <a:rPr lang="zh-CN" altLang="en-US" dirty="0"/>
              <a:t>（</a:t>
            </a:r>
            <a:r>
              <a:rPr lang="en-US" altLang="zh-CN" dirty="0"/>
              <a:t>2</a:t>
            </a:r>
            <a:r>
              <a:rPr lang="zh-CN" altLang="en-US" dirty="0"/>
              <a:t>）</a:t>
            </a:r>
            <a:r>
              <a:rPr lang="zh-CN" altLang="zh-CN" dirty="0"/>
              <a:t>屏蔽中断是多重中断系统中的一个概念，是指某中断正在处理时，如果有其他新的中断请求发生，通过设置中断屏蔽位，</a:t>
            </a:r>
            <a:endParaRPr lang="en-US" altLang="zh-CN" dirty="0"/>
          </a:p>
          <a:p>
            <a:pPr lvl="0"/>
            <a:r>
              <a:rPr lang="zh-CN" altLang="zh-CN" dirty="0"/>
              <a:t>可确定是否响应新发生的中断请求。每个中断都有一个中断屏蔽字，其中的每一位对应一个中断的屏蔽位。</a:t>
            </a:r>
            <a:endParaRPr lang="en-US" altLang="zh-CN" dirty="0"/>
          </a:p>
          <a:p>
            <a:pPr lvl="0"/>
            <a:r>
              <a:rPr lang="zh-CN" altLang="en-US" dirty="0"/>
              <a:t>达到由软件修改中断处理优先级的目的。</a:t>
            </a:r>
            <a:endParaRPr lang="zh-CN" altLang="zh-CN" dirty="0"/>
          </a:p>
        </p:txBody>
      </p:sp>
      <p:sp>
        <p:nvSpPr>
          <p:cNvPr id="108548" name="日期占位符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108549" name="灯片编号占位符 4"/>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3"/>
          <p:cNvSpPr txBox="1">
            <a:spLocks noGrp="1"/>
          </p:cNvSpPr>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116739" name="Rectangle 7"/>
          <p:cNvSpPr txBox="1">
            <a:spLocks noGrp="1"/>
          </p:cNvSpP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116740" name="Rectangle 2"/>
          <p:cNvSpPr>
            <a:spLocks noTextEdit="1"/>
          </p:cNvSpPr>
          <p:nvPr>
            <p:ph type="sldImg"/>
          </p:nvPr>
        </p:nvSpPr>
        <p:spPr>
          <a:ln/>
        </p:spPr>
      </p:sp>
      <p:sp>
        <p:nvSpPr>
          <p:cNvPr id="116741"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fld>
            <a:endParaRPr lang="zh-CN" altLang="en-US" sz="1200" dirty="0"/>
          </a:p>
        </p:txBody>
      </p:sp>
      <p:sp>
        <p:nvSpPr>
          <p:cNvPr id="89091" name="Rectangle 2"/>
          <p:cNvSpPr>
            <a:spLocks noGrp="1" noRot="1" noChangeAspect="1" noTextEdit="1"/>
          </p:cNvSpPr>
          <p:nvPr>
            <p:ph type="sldImg"/>
          </p:nvPr>
        </p:nvSpPr>
        <p:spPr>
          <a:xfrm>
            <a:off x="377825" y="574675"/>
            <a:ext cx="6116638" cy="3441700"/>
          </a:xfrm>
        </p:spPr>
      </p:sp>
      <p:sp>
        <p:nvSpPr>
          <p:cNvPr id="89092" name="Rectangle 3"/>
          <p:cNvSpPr>
            <a:spLocks noGrp="1"/>
          </p:cNvSpPr>
          <p:nvPr>
            <p:ph type="body" idx="1"/>
          </p:nvPr>
        </p:nvSpPr>
        <p:spPr>
          <a:xfrm>
            <a:off x="515938" y="4343400"/>
            <a:ext cx="5910262" cy="4113213"/>
          </a:xfrm>
        </p:spPr>
        <p:txBody>
          <a:bodyPr wrap="square" lIns="91440" tIns="45720" rIns="91440" bIns="45720" anchor="t" anchorCtr="0"/>
          <a:lstStyle/>
          <a:p>
            <a:pPr lvl="0"/>
            <a:r>
              <a:rPr lang="en-US" altLang="zh-CN" dirty="0"/>
              <a:t>Our handshaking example in the previous slide used the same wires to transmit the address as well as data. The advantage is saving in signal wires.</a:t>
            </a:r>
            <a:endParaRPr lang="en-US" altLang="zh-CN" dirty="0"/>
          </a:p>
          <a:p>
            <a:pPr lvl="0"/>
            <a:r>
              <a:rPr lang="en-US" altLang="zh-CN" dirty="0"/>
              <a:t>The disadvantage is that it will take multiple cycles to transmit address and data. By having separate lines for addresses and data, we can increase the bus bandwidth by transmitting  address and data in the same cycle at the cost of more bus lines and increased complexity.</a:t>
            </a:r>
            <a:endParaRPr lang="en-US" altLang="zh-CN" dirty="0"/>
          </a:p>
          <a:p>
            <a:pPr lvl="0"/>
            <a:r>
              <a:rPr lang="en-US" altLang="zh-CN" dirty="0"/>
              <a:t>This (1st bullet) is one way to increase bus bandwidth.  Another way is to increase the width of the data bus so multiple words can be transferred in a single cycle.</a:t>
            </a:r>
            <a:endParaRPr lang="en-US" altLang="zh-CN" dirty="0"/>
          </a:p>
          <a:p>
            <a:pPr lvl="0"/>
            <a:r>
              <a:rPr lang="en-US" altLang="zh-CN" dirty="0"/>
              <a:t>For example, the SPARCstation memory bus is 128 bits of 16 bytes wide.  The cost of this approach is more bus lines.</a:t>
            </a:r>
            <a:endParaRPr lang="en-US" altLang="zh-CN" dirty="0"/>
          </a:p>
          <a:p>
            <a:pPr lvl="0"/>
            <a:r>
              <a:rPr lang="en-US" altLang="zh-CN" dirty="0"/>
              <a:t>Finally, we can also increase the bus bandwidth by allowing the bus to transfer multiple words in back-to-back bus cycles without sending an address or releasing the bus.</a:t>
            </a:r>
            <a:endParaRPr lang="en-US" altLang="zh-CN" dirty="0"/>
          </a:p>
          <a:p>
            <a:pPr lvl="0"/>
            <a:r>
              <a:rPr lang="en-US" altLang="zh-CN" dirty="0"/>
              <a:t>The cost of this last approach is an increase of complexity  in the bus controller as well as a decease in response time for other parties who want to get onto the bus.</a:t>
            </a:r>
            <a:endParaRPr lang="en-US" altLang="zh-CN" dirty="0"/>
          </a:p>
          <a:p>
            <a:pPr lvl="0"/>
            <a:endParaRPr lang="en-US" altLang="zh-CN" dirty="0"/>
          </a:p>
          <a:p>
            <a:pPr lvl="0"/>
            <a:r>
              <a:rPr lang="en-US" altLang="zh-CN" dirty="0"/>
              <a:t>+2 = 33 min. (Y:13)</a:t>
            </a:r>
            <a:endParaRPr lang="en-US" altLang="zh-CN" dirty="0"/>
          </a:p>
          <a:p>
            <a:pPr lvl="0"/>
            <a:r>
              <a:rPr lang="zh-CN" altLang="en-US" dirty="0"/>
              <a:t>决定总线带宽的因素主要由总线定时采用的协议所决定，此外还有：</a:t>
            </a:r>
            <a:endParaRPr lang="zh-CN" altLang="en-US" dirty="0"/>
          </a:p>
          <a:p>
            <a:pPr lvl="1" algn="just"/>
            <a:r>
              <a:rPr lang="zh-CN" altLang="en-US" dirty="0"/>
              <a:t>        </a:t>
            </a:r>
            <a:r>
              <a:rPr lang="en-US" altLang="zh-CN" sz="1400" dirty="0"/>
              <a:t>(1)</a:t>
            </a:r>
            <a:r>
              <a:rPr lang="zh-CN" altLang="en-US" sz="1400" dirty="0"/>
              <a:t>数据总线宽度：</a:t>
            </a:r>
            <a:r>
              <a:rPr lang="zh-CN" altLang="en-US" sz="1400" dirty="0">
                <a:solidFill>
                  <a:srgbClr val="336600"/>
                </a:solidFill>
              </a:rPr>
              <a:t>通过增加数据总线的宽度可使总线一次传输更多数据位。</a:t>
            </a:r>
            <a:endParaRPr lang="zh-CN" altLang="en-US" sz="1400" dirty="0">
              <a:solidFill>
                <a:srgbClr val="336600"/>
              </a:solidFill>
            </a:endParaRPr>
          </a:p>
          <a:p>
            <a:pPr lvl="1" algn="just"/>
            <a:r>
              <a:rPr lang="zh-CN" altLang="en-US" sz="1400" dirty="0"/>
              <a:t>       </a:t>
            </a:r>
            <a:r>
              <a:rPr lang="en-US" altLang="zh-CN" sz="1400" dirty="0"/>
              <a:t>(2)</a:t>
            </a:r>
            <a:r>
              <a:rPr lang="zh-CN" altLang="en-US" sz="1400" dirty="0"/>
              <a:t>信号线类型：</a:t>
            </a:r>
            <a:r>
              <a:rPr lang="zh-CN" altLang="en-US" sz="1400" dirty="0">
                <a:solidFill>
                  <a:srgbClr val="336600"/>
                </a:solidFill>
              </a:rPr>
              <a:t>通过将地址线和数据线单独设置可使写操作的性能更高，因为地址和数据可在同一个总线周期内传送出去。</a:t>
            </a:r>
            <a:endParaRPr lang="zh-CN" altLang="en-US" sz="1400" dirty="0">
              <a:solidFill>
                <a:srgbClr val="336600"/>
              </a:solidFill>
            </a:endParaRPr>
          </a:p>
          <a:p>
            <a:pPr lvl="1" algn="just"/>
            <a:r>
              <a:rPr lang="zh-CN" altLang="en-US" sz="1400" dirty="0"/>
              <a:t>       </a:t>
            </a:r>
            <a:r>
              <a:rPr lang="en-US" altLang="zh-CN" sz="1400" dirty="0"/>
              <a:t>(3)</a:t>
            </a:r>
            <a:r>
              <a:rPr lang="zh-CN" altLang="en-US" sz="1400" dirty="0"/>
              <a:t>是否允许大数据块传送：</a:t>
            </a:r>
            <a:r>
              <a:rPr lang="zh-CN" altLang="en-US" sz="1400" dirty="0">
                <a:solidFill>
                  <a:srgbClr val="336600"/>
                </a:solidFill>
              </a:rPr>
              <a:t>如果允许总线以背靠背总线周期连续传送多个字而不发送地址信息或释放总线，那么可以减少传送一个大数据块所需的时间，提高总线带宽。这就是我们前面讲的串并结合的方式，也称突</a:t>
            </a:r>
            <a:r>
              <a:rPr lang="en-US" altLang="zh-CN" sz="1400" dirty="0">
                <a:solidFill>
                  <a:srgbClr val="336600"/>
                </a:solidFill>
              </a:rPr>
              <a:t>(</a:t>
            </a:r>
            <a:r>
              <a:rPr lang="zh-CN" altLang="en-US" sz="1400" dirty="0">
                <a:solidFill>
                  <a:srgbClr val="336600"/>
                </a:solidFill>
              </a:rPr>
              <a:t>猝</a:t>
            </a:r>
            <a:r>
              <a:rPr lang="en-US" altLang="zh-CN" sz="1400" dirty="0">
                <a:solidFill>
                  <a:srgbClr val="336600"/>
                </a:solidFill>
              </a:rPr>
              <a:t>)</a:t>
            </a:r>
            <a:r>
              <a:rPr lang="zh-CN" altLang="en-US" sz="1400" dirty="0">
                <a:solidFill>
                  <a:srgbClr val="336600"/>
                </a:solidFill>
              </a:rPr>
              <a:t>发数据传送方式。</a:t>
            </a:r>
            <a:endParaRPr lang="zh-CN" altLang="en-US" sz="1400" dirty="0">
              <a:solidFill>
                <a:srgbClr val="336600"/>
              </a:solidFill>
            </a:endParaRPr>
          </a:p>
          <a:p>
            <a:pPr lvl="0"/>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3"/>
          <p:cNvSpPr txBox="1">
            <a:spLocks noGrp="1"/>
          </p:cNvSpPr>
          <p:nvPr>
            <p:ph type="dt" sz="half"/>
          </p:nvPr>
        </p:nvSpPr>
        <p:spPr>
          <a:xfrm>
            <a:off x="3971925" y="0"/>
            <a:ext cx="3038475" cy="465138"/>
          </a:xfrm>
          <a:prstGeom prst="rect">
            <a:avLst/>
          </a:prstGeom>
          <a:noFill/>
          <a:ln w="9525">
            <a:noFill/>
          </a:ln>
        </p:spPr>
        <p:txBody>
          <a:bodyPr/>
          <a:p>
            <a:pPr lvl="0" algn="r">
              <a:spcBef>
                <a:spcPct val="0"/>
              </a:spcBef>
            </a:pPr>
            <a:fld id="{BB962C8B-B14F-4D97-AF65-F5344CB8AC3E}" type="datetime8">
              <a:rPr lang="zh-CN" altLang="en-US" dirty="0"/>
            </a:fld>
            <a:endParaRPr lang="zh-CN" altLang="en-US" dirty="0"/>
          </a:p>
        </p:txBody>
      </p:sp>
      <p:sp>
        <p:nvSpPr>
          <p:cNvPr id="119811" name="Rectangle 7"/>
          <p:cNvSpPr txBox="1">
            <a:spLocks noGrp="1"/>
          </p:cNvSpPr>
          <p:nvPr>
            <p:ph type="sldNum" sz="quarter"/>
          </p:nvPr>
        </p:nvSpPr>
        <p:spPr>
          <a:xfrm>
            <a:off x="3971925" y="8831263"/>
            <a:ext cx="3038475" cy="465137"/>
          </a:xfrm>
          <a:prstGeom prst="rect">
            <a:avLst/>
          </a:prstGeom>
          <a:noFill/>
          <a:ln w="9525">
            <a:noFill/>
          </a:ln>
        </p:spPr>
        <p:txBody>
          <a:bodyPr anchor="b" anchorCtr="0"/>
          <a:p>
            <a:pPr lvl="0" algn="r">
              <a:spcBef>
                <a:spcPct val="0"/>
              </a:spcBef>
            </a:pPr>
            <a:fld id="{9A0DB2DC-4C9A-4742-B13C-FB6460FD3503}" type="slidenum">
              <a:rPr lang="zh-CN" altLang="en-US" dirty="0"/>
            </a:fld>
            <a:endParaRPr lang="zh-CN" altLang="en-US" dirty="0"/>
          </a:p>
        </p:txBody>
      </p:sp>
      <p:sp>
        <p:nvSpPr>
          <p:cNvPr id="119812" name="Rectangle 2"/>
          <p:cNvSpPr>
            <a:spLocks noTextEdit="1"/>
          </p:cNvSpPr>
          <p:nvPr>
            <p:ph type="sldImg"/>
          </p:nvPr>
        </p:nvSpPr>
        <p:spPr>
          <a:ln/>
        </p:spPr>
      </p:sp>
      <p:sp>
        <p:nvSpPr>
          <p:cNvPr id="119813" name="Rectangle 3"/>
          <p:cNvSpPr>
            <a:spLocks noGrp="1"/>
          </p:cNvSpPr>
          <p:nvPr>
            <p:ph type="body" idx="1"/>
          </p:nvPr>
        </p:nvSpPr>
        <p:spPr>
          <a:ln/>
        </p:spPr>
        <p:txBody>
          <a:bodyPr wrap="square" lIns="91440" tIns="45720" rIns="91440" bIns="45720" anchor="t" anchorCtr="0"/>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2340867" name="Rectangle 3"/>
          <p:cNvSpPr>
            <a:spLocks noGrp="1" noChangeArrowheads="1"/>
          </p:cNvSpPr>
          <p:nvPr>
            <p:ph type="ctrTitle"/>
          </p:nvPr>
        </p:nvSpPr>
        <p:spPr>
          <a:xfrm>
            <a:off x="633413" y="3551238"/>
            <a:ext cx="7772400" cy="1336675"/>
          </a:xfrm>
        </p:spPr>
        <p:txBody>
          <a:bodyPr anchor="b"/>
          <a:lstStyle>
            <a:lvl1pPr>
              <a:defRPr/>
            </a:lvl1pPr>
          </a:lstStyle>
          <a:p>
            <a:r>
              <a:rPr lang="en-US" altLang="zh-CN"/>
              <a:t>Click to edit Master title style</a:t>
            </a:r>
            <a:endParaRPr lang="en-US" altLang="zh-CN"/>
          </a:p>
        </p:txBody>
      </p:sp>
      <p:sp>
        <p:nvSpPr>
          <p:cNvPr id="2340868" name="Rectangle 4"/>
          <p:cNvSpPr>
            <a:spLocks noGrp="1" noChangeArrowheads="1"/>
          </p:cNvSpPr>
          <p:nvPr>
            <p:ph type="subTitle" idx="1"/>
          </p:nvPr>
        </p:nvSpPr>
        <p:spPr>
          <a:xfrm>
            <a:off x="647700" y="4957763"/>
            <a:ext cx="7861300" cy="558800"/>
          </a:xfrm>
          <a:ln algn="ctr"/>
        </p:spPr>
        <p:txBody>
          <a:bodyPr/>
          <a:lstStyle>
            <a:lvl1pPr marL="0" indent="0" algn="ctr">
              <a:buFont typeface="Wingdings" panose="05000000000000000000" pitchFamily="2" charset="2"/>
              <a:buNone/>
              <a:defRPr/>
            </a:lvl1pPr>
          </a:lstStyle>
          <a:p>
            <a:r>
              <a:rPr lang="en-US" altLang="zh-CN"/>
              <a:t>Click to edit Master subtitle style</a:t>
            </a:r>
            <a:endParaRPr lang="en-US" altLang="zh-CN"/>
          </a:p>
        </p:txBody>
      </p:sp>
    </p:spTree>
  </p:cSld>
  <p:clrMapOvr>
    <a:masterClrMapping/>
  </p:clrMapOvr>
  <p:transition>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416050"/>
            <a:ext cx="4117975" cy="237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1375" y="1416050"/>
            <a:ext cx="4117975" cy="237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77025" y="228600"/>
            <a:ext cx="2097088" cy="35591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228600"/>
            <a:ext cx="6143625" cy="35591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8393113" cy="714375"/>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416050"/>
            <a:ext cx="4117975" cy="23717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51375" y="1416050"/>
            <a:ext cx="4117975" cy="11096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51375" y="2678113"/>
            <a:ext cx="4117975" cy="1109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8393113" cy="71437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81000" y="1416050"/>
            <a:ext cx="4117975" cy="23717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1375" y="1416050"/>
            <a:ext cx="4117975" cy="23717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8393113" cy="71437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81000" y="1416050"/>
            <a:ext cx="4117975" cy="23717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51375" y="1416050"/>
            <a:ext cx="4117975" cy="11096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51375" y="2678113"/>
            <a:ext cx="4117975" cy="1109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7.png"/><Relationship Id="rId2" Type="http://schemas.openxmlformats.org/officeDocument/2006/relationships/slideLayout" Target="../slideLayouts/slideLayout2.xml"/><Relationship Id="rId19" Type="http://schemas.openxmlformats.org/officeDocument/2006/relationships/image" Target="../media/image6.png"/><Relationship Id="rId18" Type="http://schemas.openxmlformats.org/officeDocument/2006/relationships/image" Target="../media/image5.png"/><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image" Target="../media/image2.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pic>
        <p:nvPicPr>
          <p:cNvPr id="1026" name="Picture 2" descr="DOE-keyboard"/>
          <p:cNvPicPr>
            <a:picLocks noChangeAspect="1"/>
          </p:cNvPicPr>
          <p:nvPr/>
        </p:nvPicPr>
        <p:blipFill>
          <a:blip r:embed="rId16"/>
          <a:stretch>
            <a:fillRect/>
          </a:stretch>
        </p:blipFill>
        <p:spPr>
          <a:xfrm>
            <a:off x="0" y="0"/>
            <a:ext cx="9144000" cy="6858000"/>
          </a:xfrm>
          <a:prstGeom prst="rect">
            <a:avLst/>
          </a:prstGeom>
          <a:gradFill rotWithShape="0">
            <a:gsLst>
              <a:gs pos="0">
                <a:srgbClr val="000082"/>
              </a:gs>
              <a:gs pos="100000">
                <a:srgbClr val="0047FF"/>
              </a:gs>
            </a:gsLst>
            <a:lin ang="2700000" scaled="1"/>
            <a:tileRect/>
          </a:gradFill>
          <a:ln w="9525">
            <a:noFill/>
          </a:ln>
        </p:spPr>
      </p:pic>
      <p:sp>
        <p:nvSpPr>
          <p:cNvPr id="2339843" name="Rectangle 3"/>
          <p:cNvSpPr>
            <a:spLocks noGrp="1" noChangeArrowheads="1"/>
          </p:cNvSpPr>
          <p:nvPr>
            <p:ph type="title"/>
          </p:nvPr>
        </p:nvSpPr>
        <p:spPr bwMode="auto">
          <a:xfrm>
            <a:off x="381000" y="228600"/>
            <a:ext cx="8393113" cy="714375"/>
          </a:xfrm>
          <a:prstGeom prst="rect">
            <a:avLst/>
          </a:prstGeom>
          <a:noFill/>
          <a:ln w="9525">
            <a:noFill/>
            <a:miter lim="800000"/>
          </a:ln>
          <a:effectLst/>
        </p:spPr>
        <p:txBody>
          <a:bodyPr vert="horz" wrap="square" lIns="91440" tIns="45720" rIns="91440" bIns="45720" numCol="1" anchor="t" anchorCtr="0" compatLnSpc="1">
            <a:spAutoFit/>
          </a:bodyPr>
          <a:lstStyle/>
          <a:p>
            <a:pPr lvl="0"/>
            <a:r>
              <a:rPr lang="en-US" altLang="zh-CN" smtClean="0"/>
              <a:t>Click to edit Title Slide</a:t>
            </a:r>
            <a:endParaRPr lang="en-US" altLang="zh-CN" smtClean="0"/>
          </a:p>
        </p:txBody>
      </p:sp>
      <p:sp>
        <p:nvSpPr>
          <p:cNvPr id="1028" name="Rectangle 4"/>
          <p:cNvSpPr>
            <a:spLocks noGrp="1"/>
          </p:cNvSpPr>
          <p:nvPr>
            <p:ph type="body" idx="1"/>
          </p:nvPr>
        </p:nvSpPr>
        <p:spPr>
          <a:xfrm>
            <a:off x="381000" y="1416050"/>
            <a:ext cx="8388350" cy="2371725"/>
          </a:xfrm>
          <a:prstGeom prst="rect">
            <a:avLst/>
          </a:prstGeom>
          <a:noFill/>
          <a:ln w="9525">
            <a:noFill/>
          </a:ln>
        </p:spPr>
        <p:txBody>
          <a:bodyPr>
            <a:spAutoFit/>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zoom/>
  </p:transition>
  <p:timing>
    <p:tnLst>
      <p:par>
        <p:cTn id="1" dur="indefinite" restart="never" nodeType="tmRoot"/>
      </p:par>
    </p:tnLst>
  </p:timing>
  <p:hf sldNum="0" hdr="0" ftr="0" dt="0"/>
  <p:txStyles>
    <p:titleStyle>
      <a:lvl1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mj-lt"/>
          <a:ea typeface="+mj-ea"/>
          <a:cs typeface="+mj-cs"/>
        </a:defRPr>
      </a:lvl1pPr>
      <a:lvl2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2pPr>
      <a:lvl3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3pPr>
      <a:lvl4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4pPr>
      <a:lvl5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5pPr>
      <a:lvl6pPr marL="4572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6pPr>
      <a:lvl7pPr marL="9144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7pPr>
      <a:lvl8pPr marL="13716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8pPr>
      <a:lvl9pPr marL="18288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9pPr>
    </p:titleStyle>
    <p:body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7"/>
        </a:buBlip>
        <a:defRPr sz="3600" b="1">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18"/>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19"/>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20"/>
        </a:buBlip>
        <a:defRPr sz="2400" b="1">
          <a:solidFill>
            <a:schemeClr val="tx1"/>
          </a:solidFill>
          <a:latin typeface="+mn-lt"/>
          <a:ea typeface="+mn-ea"/>
        </a:defRPr>
      </a:lvl5pPr>
      <a:lvl6pPr marL="2428875" indent="-325755" algn="l" rtl="0" fontAlgn="base">
        <a:lnSpc>
          <a:spcPct val="85000"/>
        </a:lnSpc>
        <a:spcBef>
          <a:spcPct val="25000"/>
        </a:spcBef>
        <a:spcAft>
          <a:spcPct val="0"/>
        </a:spcAft>
        <a:buClr>
          <a:schemeClr val="tx2"/>
        </a:buClr>
        <a:buSzPct val="75000"/>
        <a:buFont typeface="Wingdings" panose="05000000000000000000" pitchFamily="2" charset="2"/>
        <a:buBlip>
          <a:blip r:embed="rId20"/>
        </a:buBlip>
        <a:defRPr sz="2400" b="1">
          <a:solidFill>
            <a:schemeClr val="tx1"/>
          </a:solidFill>
          <a:latin typeface="+mn-lt"/>
          <a:ea typeface="+mn-ea"/>
        </a:defRPr>
      </a:lvl6pPr>
      <a:lvl7pPr marL="2886075" indent="-325755" algn="l" rtl="0" fontAlgn="base">
        <a:lnSpc>
          <a:spcPct val="85000"/>
        </a:lnSpc>
        <a:spcBef>
          <a:spcPct val="25000"/>
        </a:spcBef>
        <a:spcAft>
          <a:spcPct val="0"/>
        </a:spcAft>
        <a:buClr>
          <a:schemeClr val="tx2"/>
        </a:buClr>
        <a:buSzPct val="75000"/>
        <a:buFont typeface="Wingdings" panose="05000000000000000000" pitchFamily="2" charset="2"/>
        <a:buBlip>
          <a:blip r:embed="rId20"/>
        </a:buBlip>
        <a:defRPr sz="2400" b="1">
          <a:solidFill>
            <a:schemeClr val="tx1"/>
          </a:solidFill>
          <a:latin typeface="+mn-lt"/>
          <a:ea typeface="+mn-ea"/>
        </a:defRPr>
      </a:lvl7pPr>
      <a:lvl8pPr marL="3343275" indent="-325755" algn="l" rtl="0" fontAlgn="base">
        <a:lnSpc>
          <a:spcPct val="85000"/>
        </a:lnSpc>
        <a:spcBef>
          <a:spcPct val="25000"/>
        </a:spcBef>
        <a:spcAft>
          <a:spcPct val="0"/>
        </a:spcAft>
        <a:buClr>
          <a:schemeClr val="tx2"/>
        </a:buClr>
        <a:buSzPct val="75000"/>
        <a:buFont typeface="Wingdings" panose="05000000000000000000" pitchFamily="2" charset="2"/>
        <a:buBlip>
          <a:blip r:embed="rId20"/>
        </a:buBlip>
        <a:defRPr sz="2400" b="1">
          <a:solidFill>
            <a:schemeClr val="tx1"/>
          </a:solidFill>
          <a:latin typeface="+mn-lt"/>
          <a:ea typeface="+mn-ea"/>
        </a:defRPr>
      </a:lvl8pPr>
      <a:lvl9pPr marL="3800475" indent="-325755" algn="l" rtl="0" fontAlgn="base">
        <a:lnSpc>
          <a:spcPct val="85000"/>
        </a:lnSpc>
        <a:spcBef>
          <a:spcPct val="25000"/>
        </a:spcBef>
        <a:spcAft>
          <a:spcPct val="0"/>
        </a:spcAft>
        <a:buClr>
          <a:schemeClr val="tx2"/>
        </a:buClr>
        <a:buSzPct val="75000"/>
        <a:buFont typeface="Wingdings" panose="05000000000000000000" pitchFamily="2" charset="2"/>
        <a:buBlip>
          <a:blip r:embed="rId20"/>
        </a:buBlip>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8.jpe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9.wmf"/><Relationship Id="rId3" Type="http://schemas.openxmlformats.org/officeDocument/2006/relationships/oleObject" Target="../embeddings/oleObject1.bin"/><Relationship Id="rId2" Type="http://schemas.openxmlformats.org/officeDocument/2006/relationships/image" Target="../media/image5.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1.png"/></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5.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oleObject" Target="../embeddings/oleObject2.bin"/><Relationship Id="rId2" Type="http://schemas.openxmlformats.org/officeDocument/2006/relationships/image" Target="../media/image5.png"/><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oleObject" Target="../embeddings/oleObject3.bin"/><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image" Target="../media/image21.jpe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23.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5.png"/></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emf"/><Relationship Id="rId2" Type="http://schemas.openxmlformats.org/officeDocument/2006/relationships/image" Target="../media/image5.png"/><Relationship Id="rId1" Type="http://schemas.openxmlformats.org/officeDocument/2006/relationships/image" Target="../media/image4.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1.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6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65.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6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5.png"/></Relationships>
</file>

<file path=ppt/slides/_rels/slide6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7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72.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75.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95842" name="Rectangle 2"/>
          <p:cNvSpPr>
            <a:spLocks noGrp="1" noChangeArrowheads="1"/>
          </p:cNvSpPr>
          <p:nvPr>
            <p:ph type="title"/>
          </p:nvPr>
        </p:nvSpPr>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宋体" panose="02010600030101010101" pitchFamily="2" charset="-122"/>
              <a:cs typeface="+mj-cs"/>
            </a:endParaRPr>
          </a:p>
        </p:txBody>
      </p:sp>
      <p:pic>
        <p:nvPicPr>
          <p:cNvPr id="5123" name="Picture 3" descr="图片2"/>
          <p:cNvPicPr>
            <a:picLocks noChangeAspect="1"/>
          </p:cNvPicPr>
          <p:nvPr>
            <p:ph idx="1"/>
          </p:nvPr>
        </p:nvPicPr>
        <p:blipFill>
          <a:blip r:embed="rId1"/>
          <a:srcRect/>
          <a:stretch>
            <a:fillRect/>
          </a:stretch>
        </p:blipFill>
        <p:spPr>
          <a:xfrm>
            <a:off x="0" y="0"/>
            <a:ext cx="9144000" cy="6858000"/>
          </a:xfrm>
          <a:ln/>
        </p:spPr>
      </p:pic>
      <p:sp>
        <p:nvSpPr>
          <p:cNvPr id="2595845" name="Rectangle 5"/>
          <p:cNvSpPr>
            <a:spLocks noChangeArrowheads="1"/>
          </p:cNvSpPr>
          <p:nvPr/>
        </p:nvSpPr>
        <p:spPr bwMode="auto">
          <a:xfrm>
            <a:off x="0" y="3070225"/>
            <a:ext cx="9144000" cy="1201738"/>
          </a:xfrm>
          <a:prstGeom prst="rect">
            <a:avLst/>
          </a:prstGeom>
          <a:noFill/>
          <a:ln w="9525" algn="ctr">
            <a:noFill/>
            <a:miter lim="800000"/>
            <a:headEnd type="none" w="sm" len="sm"/>
            <a:tailEnd type="none" w="sm" len="sm"/>
          </a:ln>
          <a:effectLst/>
        </p:spPr>
        <p:txBody>
          <a:bodyPr lIns="92075" tIns="46038" rIns="92075" bIns="46038"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隶书" panose="02010509060101010101" pitchFamily="49" charset="-122"/>
                <a:ea typeface="隶书" panose="02010509060101010101" pitchFamily="49" charset="-122"/>
                <a:cs typeface="+mn-cs"/>
              </a:rPr>
              <a:t>计算机原理</a:t>
            </a:r>
            <a:endParaRPr kumimoji="0" lang="en-US" altLang="zh-CN" sz="72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隶书" panose="02010509060101010101" pitchFamily="49" charset="-122"/>
              <a:ea typeface="隶书" panose="02010509060101010101" pitchFamily="49" charset="-122"/>
              <a:cs typeface="+mn-cs"/>
            </a:endParaRPr>
          </a:p>
        </p:txBody>
      </p:sp>
      <p:sp>
        <p:nvSpPr>
          <p:cNvPr id="2595846" name="Rectangle 6"/>
          <p:cNvSpPr>
            <a:spLocks noChangeArrowheads="1"/>
          </p:cNvSpPr>
          <p:nvPr/>
        </p:nvSpPr>
        <p:spPr bwMode="auto">
          <a:xfrm>
            <a:off x="971550" y="5719763"/>
            <a:ext cx="7437438" cy="506413"/>
          </a:xfrm>
          <a:prstGeom prst="rect">
            <a:avLst/>
          </a:prstGeom>
          <a:noFill/>
          <a:ln w="9525" algn="ctr">
            <a:noFill/>
            <a:miter lim="800000"/>
            <a:headEnd type="none" w="sm" len="sm"/>
            <a:tailEnd type="none" w="sm" len="sm"/>
          </a:ln>
          <a:effectLst/>
        </p:spPr>
        <p:txBody>
          <a:bodyPr lIns="92075" tIns="46038" rIns="92075" bIns="46038" anchor="ctr">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3200" b="1" i="0" u="none" strike="noStrike" kern="1200" cap="none" spc="0" normalizeH="0" baseline="0" noProof="0">
                <a:ln>
                  <a:noFill/>
                </a:ln>
                <a:solidFill>
                  <a:schemeClr val="tx1"/>
                </a:solidFill>
                <a:effectLst/>
                <a:uLnTx/>
                <a:uFillTx/>
                <a:latin typeface="Franklin Gothic Medium" panose="020B0603020102020204" pitchFamily="34" charset="0"/>
                <a:ea typeface="华文新魏" panose="02010800040101010101" pitchFamily="2" charset="-122"/>
                <a:cs typeface="+mn-cs"/>
              </a:rPr>
              <a:t>国防科技大学计算机学院</a:t>
            </a:r>
            <a:endParaRPr kumimoji="0" lang="zh-CN" altLang="en-US" sz="3200" b="1" i="0" u="none" strike="noStrike" kern="1200" cap="none" spc="0" normalizeH="0" baseline="0" noProof="0">
              <a:ln>
                <a:noFill/>
              </a:ln>
              <a:solidFill>
                <a:schemeClr val="tx1"/>
              </a:solidFill>
              <a:effectLst>
                <a:outerShdw blurRad="38100" dist="38100" dir="2700000" algn="tl">
                  <a:srgbClr val="000000"/>
                </a:outerShdw>
              </a:effectLst>
              <a:uLnTx/>
              <a:uFillTx/>
              <a:latin typeface="Franklin Gothic Medium" panose="020B0603020102020204" pitchFamily="34" charset="0"/>
              <a:ea typeface="华文新魏" panose="02010800040101010101" pitchFamily="2" charset="-122"/>
              <a:cs typeface="+mn-cs"/>
            </a:endParaRPr>
          </a:p>
        </p:txBody>
      </p:sp>
      <p:sp>
        <p:nvSpPr>
          <p:cNvPr id="5126" name="TextBox 2"/>
          <p:cNvSpPr txBox="1"/>
          <p:nvPr/>
        </p:nvSpPr>
        <p:spPr>
          <a:xfrm>
            <a:off x="2968625" y="4476750"/>
            <a:ext cx="3206750" cy="708025"/>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3"/>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5"/>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4000" dirty="0">
                <a:solidFill>
                  <a:srgbClr val="FF0000"/>
                </a:solidFill>
              </a:rPr>
              <a:t>唐玉华</a:t>
            </a:r>
            <a:endParaRPr lang="zh-CN" altLang="en-US" sz="4000" dirty="0">
              <a:solidFill>
                <a:srgbClr val="FF0000"/>
              </a:solidFill>
            </a:endParaRP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31842" name="Rectangle 2"/>
          <p:cNvSpPr>
            <a:spLocks noGrp="1" noChangeArrowheads="1"/>
          </p:cNvSpPr>
          <p:nvPr>
            <p:ph type="title"/>
          </p:nvPr>
        </p:nvSpPr>
        <p:spPr>
          <a:xfrm>
            <a:off x="0" y="282575"/>
            <a:ext cx="9144000" cy="735013"/>
          </a:xfrm>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第一章  计算机概念与技术</a:t>
            </a:r>
            <a:endPar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4131843" name="AutoShape 3"/>
          <p:cNvSpPr>
            <a:spLocks noChangeArrowheads="1"/>
          </p:cNvSpPr>
          <p:nvPr/>
        </p:nvSpPr>
        <p:spPr bwMode="invGray">
          <a:xfrm rot="16200000">
            <a:off x="4033044" y="2456656"/>
            <a:ext cx="792163" cy="288925"/>
          </a:xfrm>
          <a:prstGeom prst="rightArrow">
            <a:avLst>
              <a:gd name="adj1" fmla="val 35167"/>
              <a:gd name="adj2" fmla="val 111028"/>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44" name="AutoShape 4"/>
          <p:cNvSpPr>
            <a:spLocks noChangeArrowheads="1"/>
          </p:cNvSpPr>
          <p:nvPr/>
        </p:nvSpPr>
        <p:spPr bwMode="invGray">
          <a:xfrm rot="5400000">
            <a:off x="4031456" y="4976019"/>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45" name="AutoShape 5"/>
          <p:cNvSpPr>
            <a:spLocks noChangeArrowheads="1"/>
          </p:cNvSpPr>
          <p:nvPr/>
        </p:nvSpPr>
        <p:spPr bwMode="invGray">
          <a:xfrm rot="8979868">
            <a:off x="2806700" y="4292600"/>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46" name="AutoShape 6"/>
          <p:cNvSpPr>
            <a:spLocks noChangeArrowheads="1"/>
          </p:cNvSpPr>
          <p:nvPr/>
        </p:nvSpPr>
        <p:spPr bwMode="invGray">
          <a:xfrm rot="-1648139">
            <a:off x="5211763" y="3068638"/>
            <a:ext cx="792163" cy="288925"/>
          </a:xfrm>
          <a:prstGeom prst="rightArrow">
            <a:avLst>
              <a:gd name="adj1" fmla="val 35167"/>
              <a:gd name="adj2" fmla="val 111028"/>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47" name="Oval 7"/>
          <p:cNvSpPr>
            <a:spLocks noChangeArrowheads="1"/>
          </p:cNvSpPr>
          <p:nvPr/>
        </p:nvSpPr>
        <p:spPr bwMode="black">
          <a:xfrm>
            <a:off x="2547938" y="1982788"/>
            <a:ext cx="3743325" cy="3744913"/>
          </a:xfrm>
          <a:prstGeom prst="ellipse">
            <a:avLst/>
          </a:prstGeom>
          <a:noFill/>
          <a:ln w="38100" algn="ctr">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6152" name="Group 8"/>
          <p:cNvGrpSpPr/>
          <p:nvPr/>
        </p:nvGrpSpPr>
        <p:grpSpPr>
          <a:xfrm>
            <a:off x="2555875" y="4508500"/>
            <a:ext cx="360363" cy="360363"/>
            <a:chOff x="1565" y="2659"/>
            <a:chExt cx="227" cy="227"/>
          </a:xfrm>
        </p:grpSpPr>
        <p:sp>
          <p:nvSpPr>
            <p:cNvPr id="4131849" name="Oval 9"/>
            <p:cNvSpPr>
              <a:spLocks noChangeArrowheads="1"/>
            </p:cNvSpPr>
            <p:nvPr/>
          </p:nvSpPr>
          <p:spPr bwMode="gray">
            <a:xfrm>
              <a:off x="1565" y="2659"/>
              <a:ext cx="227" cy="227"/>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50" name="Oval 10"/>
            <p:cNvSpPr>
              <a:spLocks noChangeArrowheads="1"/>
            </p:cNvSpPr>
            <p:nvPr/>
          </p:nvSpPr>
          <p:spPr bwMode="gray">
            <a:xfrm>
              <a:off x="1575" y="2678"/>
              <a:ext cx="141" cy="142"/>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131854" name="Oval 14"/>
          <p:cNvSpPr>
            <a:spLocks noChangeArrowheads="1"/>
          </p:cNvSpPr>
          <p:nvPr/>
        </p:nvSpPr>
        <p:spPr bwMode="gray">
          <a:xfrm>
            <a:off x="3479800" y="2935288"/>
            <a:ext cx="1944688" cy="19446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55" name="Oval 15"/>
          <p:cNvSpPr>
            <a:spLocks noChangeArrowheads="1"/>
          </p:cNvSpPr>
          <p:nvPr/>
        </p:nvSpPr>
        <p:spPr bwMode="gray">
          <a:xfrm>
            <a:off x="3484563" y="2941638"/>
            <a:ext cx="1944688" cy="1944688"/>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56" name="Oval 16"/>
          <p:cNvSpPr>
            <a:spLocks noChangeArrowheads="1"/>
          </p:cNvSpPr>
          <p:nvPr/>
        </p:nvSpPr>
        <p:spPr bwMode="gray">
          <a:xfrm>
            <a:off x="3606800" y="3062288"/>
            <a:ext cx="1690688" cy="169068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57" name="Oval 17"/>
          <p:cNvSpPr>
            <a:spLocks noChangeArrowheads="1"/>
          </p:cNvSpPr>
          <p:nvPr/>
        </p:nvSpPr>
        <p:spPr bwMode="gray">
          <a:xfrm>
            <a:off x="3589338" y="3035300"/>
            <a:ext cx="1690688" cy="1690688"/>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6157" name="Group 18"/>
          <p:cNvGrpSpPr/>
          <p:nvPr/>
        </p:nvGrpSpPr>
        <p:grpSpPr>
          <a:xfrm>
            <a:off x="3690938" y="3146425"/>
            <a:ext cx="1522412" cy="1522413"/>
            <a:chOff x="2416" y="1846"/>
            <a:chExt cx="959" cy="959"/>
          </a:xfrm>
        </p:grpSpPr>
        <p:sp>
          <p:nvSpPr>
            <p:cNvPr id="4131859" name="Oval 19"/>
            <p:cNvSpPr>
              <a:spLocks noChangeArrowheads="1"/>
            </p:cNvSpPr>
            <p:nvPr/>
          </p:nvSpPr>
          <p:spPr bwMode="gray">
            <a:xfrm>
              <a:off x="2416" y="1846"/>
              <a:ext cx="959" cy="959"/>
            </a:xfrm>
            <a:prstGeom prst="ellipse">
              <a:avLst/>
            </a:prstGeom>
            <a:solidFill>
              <a:srgbClr val="333333"/>
            </a:soli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60" name="Oval 20"/>
            <p:cNvSpPr>
              <a:spLocks noChangeArrowheads="1"/>
            </p:cNvSpPr>
            <p:nvPr/>
          </p:nvSpPr>
          <p:spPr bwMode="gray">
            <a:xfrm>
              <a:off x="2430" y="1858"/>
              <a:ext cx="927" cy="928"/>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61" name="Oval 21"/>
            <p:cNvSpPr>
              <a:spLocks noChangeArrowheads="1"/>
            </p:cNvSpPr>
            <p:nvPr/>
          </p:nvSpPr>
          <p:spPr bwMode="gray">
            <a:xfrm>
              <a:off x="2441" y="1864"/>
              <a:ext cx="906" cy="904"/>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62" name="Oval 22"/>
            <p:cNvSpPr>
              <a:spLocks noChangeArrowheads="1"/>
            </p:cNvSpPr>
            <p:nvPr/>
          </p:nvSpPr>
          <p:spPr bwMode="gray">
            <a:xfrm>
              <a:off x="2451" y="1873"/>
              <a:ext cx="861" cy="845"/>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63" name="Oval 23"/>
            <p:cNvSpPr>
              <a:spLocks noChangeArrowheads="1"/>
            </p:cNvSpPr>
            <p:nvPr/>
          </p:nvSpPr>
          <p:spPr bwMode="gray">
            <a:xfrm>
              <a:off x="2502" y="1896"/>
              <a:ext cx="765" cy="687"/>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6158" name="Text Box 24"/>
          <p:cNvSpPr txBox="1"/>
          <p:nvPr/>
        </p:nvSpPr>
        <p:spPr>
          <a:xfrm>
            <a:off x="3949700" y="3663950"/>
            <a:ext cx="996950" cy="579438"/>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3200" dirty="0">
                <a:solidFill>
                  <a:srgbClr val="000000"/>
                </a:solidFill>
                <a:latin typeface="Times New Roman" panose="02020603050405020304" pitchFamily="18" charset="0"/>
                <a:ea typeface="华文中宋" panose="02010600040101010101" pitchFamily="2" charset="-122"/>
              </a:rPr>
              <a:t>概述</a:t>
            </a:r>
            <a:endParaRPr lang="zh-CN" altLang="en-US" sz="3200" dirty="0">
              <a:solidFill>
                <a:srgbClr val="000000"/>
              </a:solidFill>
              <a:latin typeface="Times New Roman" panose="02020603050405020304" pitchFamily="18" charset="0"/>
              <a:ea typeface="华文中宋" panose="02010600040101010101" pitchFamily="2" charset="-122"/>
            </a:endParaRPr>
          </a:p>
        </p:txBody>
      </p:sp>
      <p:sp>
        <p:nvSpPr>
          <p:cNvPr id="6159" name="Text Box 26"/>
          <p:cNvSpPr txBox="1"/>
          <p:nvPr/>
        </p:nvSpPr>
        <p:spPr>
          <a:xfrm>
            <a:off x="3255963" y="1293813"/>
            <a:ext cx="2317750" cy="519112"/>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zh-CN" altLang="en-US" sz="2800" dirty="0">
                <a:latin typeface="Times New Roman" panose="02020603050405020304" pitchFamily="18" charset="0"/>
              </a:rPr>
              <a:t>存储程序原理</a:t>
            </a:r>
            <a:endParaRPr lang="zh-CN" altLang="en-US" sz="2800" dirty="0">
              <a:latin typeface="Times New Roman" panose="02020603050405020304" pitchFamily="18" charset="0"/>
            </a:endParaRPr>
          </a:p>
        </p:txBody>
      </p:sp>
      <p:sp>
        <p:nvSpPr>
          <p:cNvPr id="6160" name="Text Box 27"/>
          <p:cNvSpPr txBox="1"/>
          <p:nvPr/>
        </p:nvSpPr>
        <p:spPr>
          <a:xfrm>
            <a:off x="6400800" y="4618038"/>
            <a:ext cx="2528888" cy="954087"/>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800" dirty="0">
                <a:latin typeface="Times New Roman" panose="02020603050405020304" pitchFamily="18" charset="0"/>
              </a:rPr>
              <a:t>计算机系统的层次结构</a:t>
            </a:r>
            <a:endParaRPr lang="zh-CN" altLang="en-US" sz="2800" dirty="0">
              <a:latin typeface="Times New Roman" panose="02020603050405020304" pitchFamily="18" charset="0"/>
            </a:endParaRPr>
          </a:p>
        </p:txBody>
      </p:sp>
      <p:sp>
        <p:nvSpPr>
          <p:cNvPr id="6161" name="Rectangle 28"/>
          <p:cNvSpPr/>
          <p:nvPr/>
        </p:nvSpPr>
        <p:spPr>
          <a:xfrm>
            <a:off x="61913" y="4997450"/>
            <a:ext cx="2673350" cy="519113"/>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zh-CN" altLang="en-US" sz="2800" dirty="0">
                <a:latin typeface="Times New Roman" panose="02020603050405020304" pitchFamily="18" charset="0"/>
              </a:rPr>
              <a:t>计算机性能评价</a:t>
            </a:r>
            <a:endParaRPr lang="zh-CN" altLang="en-US" sz="2800" dirty="0">
              <a:latin typeface="Times New Roman" panose="02020603050405020304" pitchFamily="18" charset="0"/>
            </a:endParaRPr>
          </a:p>
        </p:txBody>
      </p:sp>
      <p:grpSp>
        <p:nvGrpSpPr>
          <p:cNvPr id="6162" name="Group 29"/>
          <p:cNvGrpSpPr/>
          <p:nvPr/>
        </p:nvGrpSpPr>
        <p:grpSpPr>
          <a:xfrm>
            <a:off x="2627313" y="2781300"/>
            <a:ext cx="360362" cy="360363"/>
            <a:chOff x="3923" y="2659"/>
            <a:chExt cx="227" cy="227"/>
          </a:xfrm>
        </p:grpSpPr>
        <p:sp>
          <p:nvSpPr>
            <p:cNvPr id="4131870" name="Oval 30"/>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71" name="Oval 31"/>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6163" name="Group 32"/>
          <p:cNvGrpSpPr/>
          <p:nvPr/>
        </p:nvGrpSpPr>
        <p:grpSpPr>
          <a:xfrm>
            <a:off x="5867400" y="2781300"/>
            <a:ext cx="360363" cy="360363"/>
            <a:chOff x="1565" y="2659"/>
            <a:chExt cx="227" cy="227"/>
          </a:xfrm>
        </p:grpSpPr>
        <p:sp>
          <p:nvSpPr>
            <p:cNvPr id="4131873" name="Oval 33"/>
            <p:cNvSpPr>
              <a:spLocks noChangeArrowheads="1"/>
            </p:cNvSpPr>
            <p:nvPr/>
          </p:nvSpPr>
          <p:spPr bwMode="gray">
            <a:xfrm>
              <a:off x="1565" y="2659"/>
              <a:ext cx="227" cy="227"/>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74" name="Oval 34"/>
            <p:cNvSpPr>
              <a:spLocks noChangeArrowheads="1"/>
            </p:cNvSpPr>
            <p:nvPr/>
          </p:nvSpPr>
          <p:spPr bwMode="gray">
            <a:xfrm>
              <a:off x="1575" y="2678"/>
              <a:ext cx="141" cy="142"/>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6164" name="Group 35"/>
          <p:cNvGrpSpPr/>
          <p:nvPr/>
        </p:nvGrpSpPr>
        <p:grpSpPr>
          <a:xfrm>
            <a:off x="5867400" y="4652963"/>
            <a:ext cx="360363" cy="360362"/>
            <a:chOff x="3923" y="2659"/>
            <a:chExt cx="227" cy="227"/>
          </a:xfrm>
        </p:grpSpPr>
        <p:sp>
          <p:nvSpPr>
            <p:cNvPr id="4131876" name="Oval 36"/>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77" name="Oval 37"/>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6165" name="Text Box 38"/>
          <p:cNvSpPr txBox="1"/>
          <p:nvPr/>
        </p:nvSpPr>
        <p:spPr>
          <a:xfrm>
            <a:off x="6256338" y="2505075"/>
            <a:ext cx="2673350" cy="519113"/>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342900" lvl="0" indent="-342900">
              <a:lnSpc>
                <a:spcPct val="100000"/>
              </a:lnSpc>
              <a:spcBef>
                <a:spcPct val="0"/>
              </a:spcBef>
              <a:buClrTx/>
              <a:buFontTx/>
              <a:buNone/>
            </a:pPr>
            <a:r>
              <a:rPr lang="zh-CN" altLang="en-US" sz="2800" dirty="0">
                <a:latin typeface="Times New Roman" panose="02020603050405020304" pitchFamily="18" charset="0"/>
              </a:rPr>
              <a:t>计算机硬件组成</a:t>
            </a:r>
            <a:endParaRPr lang="zh-CN" altLang="en-US" sz="2800" dirty="0">
              <a:latin typeface="Times New Roman" panose="02020603050405020304" pitchFamily="18" charset="0"/>
            </a:endParaRPr>
          </a:p>
        </p:txBody>
      </p:sp>
      <p:grpSp>
        <p:nvGrpSpPr>
          <p:cNvPr id="6166" name="Group 40"/>
          <p:cNvGrpSpPr/>
          <p:nvPr/>
        </p:nvGrpSpPr>
        <p:grpSpPr>
          <a:xfrm>
            <a:off x="4211638" y="1844675"/>
            <a:ext cx="360362" cy="360363"/>
            <a:chOff x="3515" y="3521"/>
            <a:chExt cx="227" cy="227"/>
          </a:xfrm>
        </p:grpSpPr>
        <p:sp>
          <p:nvSpPr>
            <p:cNvPr id="4131881" name="Oval 41"/>
            <p:cNvSpPr>
              <a:spLocks noChangeArrowheads="1"/>
            </p:cNvSpPr>
            <p:nvPr/>
          </p:nvSpPr>
          <p:spPr bwMode="gray">
            <a:xfrm>
              <a:off x="3515" y="3521"/>
              <a:ext cx="227" cy="227"/>
            </a:xfrm>
            <a:prstGeom prst="ellipse">
              <a:avLst/>
            </a:prstGeom>
            <a:gradFill rotWithShape="1">
              <a:gsLst>
                <a:gs pos="0">
                  <a:srgbClr val="66FFFF">
                    <a:alpha val="64999"/>
                  </a:srgbClr>
                </a:gs>
                <a:gs pos="100000">
                  <a:srgbClr val="66FFFF">
                    <a:gamma/>
                    <a:shade val="46275"/>
                    <a:invGamma/>
                    <a:alpha val="8000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82" name="Oval 42"/>
            <p:cNvSpPr>
              <a:spLocks noChangeArrowheads="1"/>
            </p:cNvSpPr>
            <p:nvPr/>
          </p:nvSpPr>
          <p:spPr bwMode="gray">
            <a:xfrm>
              <a:off x="3525" y="3540"/>
              <a:ext cx="141" cy="142"/>
            </a:xfrm>
            <a:prstGeom prst="ellipse">
              <a:avLst/>
            </a:prstGeom>
            <a:gradFill rotWithShape="1">
              <a:gsLst>
                <a:gs pos="0">
                  <a:srgbClr val="66FFFF">
                    <a:alpha val="64999"/>
                  </a:srgbClr>
                </a:gs>
                <a:gs pos="100000">
                  <a:srgbClr val="66FFFF">
                    <a:gamma/>
                    <a:shade val="46275"/>
                    <a:invGamma/>
                    <a:alpha val="8000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131883" name="AutoShape 43"/>
          <p:cNvSpPr>
            <a:spLocks noChangeArrowheads="1"/>
          </p:cNvSpPr>
          <p:nvPr/>
        </p:nvSpPr>
        <p:spPr bwMode="invGray">
          <a:xfrm rot="55430632">
            <a:off x="2951163" y="3068638"/>
            <a:ext cx="792163" cy="288925"/>
          </a:xfrm>
          <a:prstGeom prst="rightArrow">
            <a:avLst>
              <a:gd name="adj1" fmla="val 35167"/>
              <a:gd name="adj2" fmla="val 111028"/>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84" name="AutoShape 44"/>
          <p:cNvSpPr>
            <a:spLocks noChangeArrowheads="1"/>
          </p:cNvSpPr>
          <p:nvPr/>
        </p:nvSpPr>
        <p:spPr bwMode="invGray">
          <a:xfrm rot="2149513">
            <a:off x="5219700" y="4435475"/>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6169" name="Group 45"/>
          <p:cNvGrpSpPr/>
          <p:nvPr/>
        </p:nvGrpSpPr>
        <p:grpSpPr>
          <a:xfrm>
            <a:off x="4268788" y="5521325"/>
            <a:ext cx="360362" cy="360363"/>
            <a:chOff x="3515" y="3521"/>
            <a:chExt cx="227" cy="227"/>
          </a:xfrm>
        </p:grpSpPr>
        <p:sp>
          <p:nvSpPr>
            <p:cNvPr id="4131886" name="Oval 46"/>
            <p:cNvSpPr>
              <a:spLocks noChangeArrowheads="1"/>
            </p:cNvSpPr>
            <p:nvPr/>
          </p:nvSpPr>
          <p:spPr bwMode="gray">
            <a:xfrm>
              <a:off x="3515" y="3521"/>
              <a:ext cx="227" cy="227"/>
            </a:xfrm>
            <a:prstGeom prst="ellipse">
              <a:avLst/>
            </a:prstGeom>
            <a:gradFill rotWithShape="1">
              <a:gsLst>
                <a:gs pos="0">
                  <a:srgbClr val="66FFFF">
                    <a:alpha val="64999"/>
                  </a:srgbClr>
                </a:gs>
                <a:gs pos="100000">
                  <a:srgbClr val="66FFFF">
                    <a:gamma/>
                    <a:shade val="46275"/>
                    <a:invGamma/>
                    <a:alpha val="8000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31887" name="Oval 47"/>
            <p:cNvSpPr>
              <a:spLocks noChangeArrowheads="1"/>
            </p:cNvSpPr>
            <p:nvPr/>
          </p:nvSpPr>
          <p:spPr bwMode="gray">
            <a:xfrm>
              <a:off x="3525" y="3540"/>
              <a:ext cx="141" cy="142"/>
            </a:xfrm>
            <a:prstGeom prst="ellipse">
              <a:avLst/>
            </a:prstGeom>
            <a:gradFill rotWithShape="1">
              <a:gsLst>
                <a:gs pos="0">
                  <a:srgbClr val="66FFFF">
                    <a:alpha val="64999"/>
                  </a:srgbClr>
                </a:gs>
                <a:gs pos="100000">
                  <a:srgbClr val="66FFFF">
                    <a:gamma/>
                    <a:shade val="46275"/>
                    <a:invGamma/>
                    <a:alpha val="8000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6170" name="Text Box 27"/>
          <p:cNvSpPr txBox="1"/>
          <p:nvPr/>
        </p:nvSpPr>
        <p:spPr>
          <a:xfrm>
            <a:off x="3070225" y="5927725"/>
            <a:ext cx="2747963" cy="519113"/>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800" dirty="0">
                <a:latin typeface="Times New Roman" panose="02020603050405020304" pitchFamily="18" charset="0"/>
              </a:rPr>
              <a:t>程序的执行过程</a:t>
            </a:r>
            <a:endParaRPr lang="zh-CN" altLang="en-US" sz="2800" dirty="0">
              <a:latin typeface="Times New Roman" panose="02020603050405020304" pitchFamily="18" charset="0"/>
            </a:endParaRPr>
          </a:p>
        </p:txBody>
      </p:sp>
      <p:sp>
        <p:nvSpPr>
          <p:cNvPr id="6171" name="TextBox 1"/>
          <p:cNvSpPr txBox="1"/>
          <p:nvPr/>
        </p:nvSpPr>
        <p:spPr>
          <a:xfrm>
            <a:off x="1633538" y="2600325"/>
            <a:ext cx="903287" cy="52387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t>功耗</a:t>
            </a:r>
            <a:endParaRPr lang="zh-CN" altLang="en-US" sz="2800" dirty="0"/>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27074" name="Rectangle 2"/>
          <p:cNvSpPr>
            <a:spLocks noGrp="1" noChangeArrowheads="1"/>
          </p:cNvSpPr>
          <p:nvPr>
            <p:ph type="title"/>
          </p:nvPr>
        </p:nvSpPr>
        <p:spPr>
          <a:xfrm>
            <a:off x="0" y="88900"/>
            <a:ext cx="9144000" cy="823913"/>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回顾－存储程序原理</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7171" name="Rectangle 3"/>
          <p:cNvSpPr>
            <a:spLocks noGrp="1"/>
          </p:cNvSpPr>
          <p:nvPr>
            <p:ph idx="1"/>
          </p:nvPr>
        </p:nvSpPr>
        <p:spPr>
          <a:xfrm>
            <a:off x="371475" y="1066800"/>
            <a:ext cx="8515350" cy="5410200"/>
          </a:xfrm>
          <a:ln/>
        </p:spPr>
        <p:txBody>
          <a:bodyPr vert="horz" wrap="square" lIns="92075" tIns="46038" rIns="92075" bIns="46038" anchor="t" anchorCtr="0">
            <a:spAutoFit/>
          </a:bodyPr>
          <a:p>
            <a:pPr marL="457200" indent="-457200" eaLnBrk="1" hangingPunct="1">
              <a:lnSpc>
                <a:spcPct val="120000"/>
              </a:lnSpc>
            </a:pPr>
            <a:r>
              <a:rPr lang="zh-CN" altLang="en-US" dirty="0"/>
              <a:t>存储程序思想</a:t>
            </a:r>
            <a:endParaRPr lang="zh-CN" altLang="en-US" dirty="0"/>
          </a:p>
          <a:p>
            <a:pPr lvl="1">
              <a:lnSpc>
                <a:spcPct val="120000"/>
              </a:lnSpc>
              <a:spcBef>
                <a:spcPct val="0"/>
              </a:spcBef>
              <a:buClrTx/>
              <a:buFontTx/>
              <a:buBlip>
                <a:blip r:embed="rId1"/>
              </a:buBlip>
            </a:pPr>
            <a:r>
              <a:rPr lang="zh-CN" altLang="en-US" dirty="0"/>
              <a:t>美籍科学家</a:t>
            </a:r>
            <a:r>
              <a:rPr lang="zh-CN" altLang="en-US" dirty="0">
                <a:latin typeface="Times New Roman" panose="02020603050405020304" pitchFamily="18" charset="0"/>
              </a:rPr>
              <a:t>冯·诺依曼1945年</a:t>
            </a:r>
            <a:r>
              <a:rPr lang="zh-CN" altLang="en-US" dirty="0"/>
              <a:t>提出的存储程序思想，奠定了计算机自动计算的基础</a:t>
            </a:r>
            <a:endParaRPr lang="zh-CN" altLang="en-US" dirty="0"/>
          </a:p>
          <a:p>
            <a:pPr lvl="1">
              <a:lnSpc>
                <a:spcPct val="120000"/>
              </a:lnSpc>
              <a:spcBef>
                <a:spcPct val="0"/>
              </a:spcBef>
              <a:buClrTx/>
              <a:buFontTx/>
              <a:buBlip>
                <a:blip r:embed="rId1"/>
              </a:buBlip>
            </a:pPr>
            <a:r>
              <a:rPr lang="zh-CN" altLang="en-US" dirty="0"/>
              <a:t>存储程序原理</a:t>
            </a:r>
            <a:endParaRPr lang="zh-CN" altLang="en-US" dirty="0"/>
          </a:p>
          <a:p>
            <a:pPr lvl="1">
              <a:lnSpc>
                <a:spcPct val="100000"/>
              </a:lnSpc>
              <a:spcBef>
                <a:spcPct val="20000"/>
              </a:spcBef>
              <a:buSzPct val="75000"/>
              <a:buFontTx/>
              <a:buNone/>
            </a:pPr>
            <a:r>
              <a:rPr lang="zh-CN" altLang="en-US" sz="3600" dirty="0"/>
              <a:t>           </a:t>
            </a:r>
            <a:r>
              <a:rPr lang="zh-CN" altLang="en-US" dirty="0">
                <a:solidFill>
                  <a:srgbClr val="FFFF00"/>
                </a:solidFill>
              </a:rPr>
              <a:t>计算机要自动完成解题任务，必须将事先设计好，用以描述计算机解题过程的程序如同数据一样，采用二进制形式存储在机器中，计算机在工作时自动高速地从机器中逐条取出指令加以执行。</a:t>
            </a:r>
            <a:endParaRPr lang="zh-CN" altLang="en-US" dirty="0">
              <a:solidFill>
                <a:srgbClr val="FFFF00"/>
              </a:solidFill>
            </a:endParaRPr>
          </a:p>
        </p:txBody>
      </p:sp>
    </p:spTree>
  </p:cSld>
  <p:clrMapOvr>
    <a:masterClrMapping/>
  </p:clrMapOvr>
  <p:transition>
    <p:pull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idx="1"/>
          </p:nvPr>
        </p:nvSpPr>
        <p:spPr>
          <a:xfrm>
            <a:off x="609600" y="1066800"/>
            <a:ext cx="8077200" cy="5410200"/>
          </a:xfrm>
          <a:ln/>
        </p:spPr>
        <p:txBody>
          <a:bodyPr vert="horz" wrap="square" lIns="92075" tIns="46038" rIns="92075" bIns="46038" anchor="t" anchorCtr="0">
            <a:spAutoFit/>
          </a:bodyPr>
          <a:p>
            <a:pPr marL="457200" indent="-457200">
              <a:lnSpc>
                <a:spcPct val="100000"/>
              </a:lnSpc>
              <a:spcBef>
                <a:spcPct val="0"/>
              </a:spcBef>
              <a:buClrTx/>
              <a:buFontTx/>
              <a:buBlip>
                <a:blip r:embed="rId1"/>
              </a:buBlip>
            </a:pPr>
            <a:r>
              <a:rPr lang="zh-CN" altLang="en-US" dirty="0"/>
              <a:t>经典冯.诺依曼计算机框架</a:t>
            </a:r>
            <a:endParaRPr lang="zh-CN" altLang="en-US" sz="3200" dirty="0"/>
          </a:p>
        </p:txBody>
      </p:sp>
      <p:grpSp>
        <p:nvGrpSpPr>
          <p:cNvPr id="9219" name="Group 3"/>
          <p:cNvGrpSpPr/>
          <p:nvPr/>
        </p:nvGrpSpPr>
        <p:grpSpPr>
          <a:xfrm>
            <a:off x="520700" y="4749800"/>
            <a:ext cx="1485900" cy="1371600"/>
            <a:chOff x="456" y="3064"/>
            <a:chExt cx="936" cy="864"/>
          </a:xfrm>
        </p:grpSpPr>
        <p:sp>
          <p:nvSpPr>
            <p:cNvPr id="4229124" name="Line 4"/>
            <p:cNvSpPr>
              <a:spLocks noChangeShapeType="1"/>
            </p:cNvSpPr>
            <p:nvPr/>
          </p:nvSpPr>
          <p:spPr bwMode="auto">
            <a:xfrm>
              <a:off x="456" y="3400"/>
              <a:ext cx="912" cy="0"/>
            </a:xfrm>
            <a:prstGeom prst="line">
              <a:avLst/>
            </a:prstGeom>
            <a:noFill/>
            <a:ln w="38100">
              <a:solidFill>
                <a:srgbClr val="FF3300"/>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29125" name="Line 5"/>
            <p:cNvSpPr>
              <a:spLocks noChangeShapeType="1"/>
            </p:cNvSpPr>
            <p:nvPr/>
          </p:nvSpPr>
          <p:spPr bwMode="auto">
            <a:xfrm>
              <a:off x="480" y="3928"/>
              <a:ext cx="912" cy="0"/>
            </a:xfrm>
            <a:prstGeom prst="line">
              <a:avLst/>
            </a:prstGeom>
            <a:noFill/>
            <a:ln w="38100">
              <a:solidFill>
                <a:srgbClr val="FFFF00"/>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9261" name="Text Box 6"/>
            <p:cNvSpPr txBox="1"/>
            <p:nvPr/>
          </p:nvSpPr>
          <p:spPr>
            <a:xfrm>
              <a:off x="504" y="3064"/>
              <a:ext cx="768" cy="28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r" eaLnBrk="1" hangingPunct="1">
                <a:lnSpc>
                  <a:spcPct val="100000"/>
                </a:lnSpc>
                <a:spcBef>
                  <a:spcPct val="50000"/>
                </a:spcBef>
                <a:buClrTx/>
                <a:buFontTx/>
                <a:buNone/>
              </a:pPr>
              <a:r>
                <a:rPr lang="zh-CN" altLang="en-US" sz="2400" dirty="0">
                  <a:latin typeface="Times New Roman" panose="02020603050405020304" pitchFamily="18" charset="0"/>
                </a:rPr>
                <a:t>控制流</a:t>
              </a:r>
              <a:endParaRPr lang="zh-CN" altLang="en-US" sz="2400" dirty="0">
                <a:latin typeface="Times New Roman" panose="02020603050405020304" pitchFamily="18" charset="0"/>
              </a:endParaRPr>
            </a:p>
          </p:txBody>
        </p:sp>
        <p:sp>
          <p:nvSpPr>
            <p:cNvPr id="9262" name="Text Box 7"/>
            <p:cNvSpPr txBox="1"/>
            <p:nvPr/>
          </p:nvSpPr>
          <p:spPr>
            <a:xfrm>
              <a:off x="456" y="3592"/>
              <a:ext cx="816" cy="28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r" eaLnBrk="1" hangingPunct="1">
                <a:lnSpc>
                  <a:spcPct val="100000"/>
                </a:lnSpc>
                <a:spcBef>
                  <a:spcPct val="50000"/>
                </a:spcBef>
                <a:buClrTx/>
                <a:buFontTx/>
                <a:buNone/>
              </a:pPr>
              <a:r>
                <a:rPr lang="zh-CN" altLang="en-US" sz="2400" dirty="0">
                  <a:latin typeface="Times New Roman" panose="02020603050405020304" pitchFamily="18" charset="0"/>
                </a:rPr>
                <a:t>数据流</a:t>
              </a:r>
              <a:endParaRPr lang="zh-CN" altLang="en-US" sz="2400" dirty="0">
                <a:latin typeface="Times New Roman" panose="02020603050405020304" pitchFamily="18" charset="0"/>
              </a:endParaRPr>
            </a:p>
          </p:txBody>
        </p:sp>
      </p:grpSp>
      <p:sp>
        <p:nvSpPr>
          <p:cNvPr id="4229128" name="Rectangle 8"/>
          <p:cNvSpPr>
            <a:spLocks noGrp="1" noChangeArrowheads="1"/>
          </p:cNvSpPr>
          <p:nvPr>
            <p:ph type="title"/>
          </p:nvPr>
        </p:nvSpPr>
        <p:spPr>
          <a:xfrm>
            <a:off x="381000" y="127000"/>
            <a:ext cx="8393113" cy="823913"/>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回顾－计算机硬件组成</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grpSp>
        <p:nvGrpSpPr>
          <p:cNvPr id="9221" name="Group 9"/>
          <p:cNvGrpSpPr/>
          <p:nvPr/>
        </p:nvGrpSpPr>
        <p:grpSpPr>
          <a:xfrm>
            <a:off x="517525" y="2120900"/>
            <a:ext cx="7940675" cy="3657600"/>
            <a:chOff x="326" y="1296"/>
            <a:chExt cx="5002" cy="2304"/>
          </a:xfrm>
        </p:grpSpPr>
        <p:grpSp>
          <p:nvGrpSpPr>
            <p:cNvPr id="9227" name="Group 10"/>
            <p:cNvGrpSpPr/>
            <p:nvPr/>
          </p:nvGrpSpPr>
          <p:grpSpPr>
            <a:xfrm>
              <a:off x="2352" y="2160"/>
              <a:ext cx="1056" cy="576"/>
              <a:chOff x="3456" y="1248"/>
              <a:chExt cx="1056" cy="576"/>
            </a:xfrm>
          </p:grpSpPr>
          <p:sp>
            <p:nvSpPr>
              <p:cNvPr id="4229131" name="Rectangle 11"/>
              <p:cNvSpPr>
                <a:spLocks noChangeArrowheads="1"/>
              </p:cNvSpPr>
              <p:nvPr/>
            </p:nvSpPr>
            <p:spPr bwMode="auto">
              <a:xfrm>
                <a:off x="3456" y="1248"/>
                <a:ext cx="929" cy="576"/>
              </a:xfrm>
              <a:prstGeom prst="rect">
                <a:avLst/>
              </a:prstGeom>
              <a:gradFill rotWithShape="0">
                <a:gsLst>
                  <a:gs pos="0">
                    <a:srgbClr val="FFFF00"/>
                  </a:gs>
                  <a:gs pos="100000">
                    <a:srgbClr val="FFFF00">
                      <a:gamma/>
                      <a:tint val="21176"/>
                      <a:invGamma/>
                    </a:srgbClr>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FFFF00"/>
                </a:extrusionClr>
              </a:sp3d>
            </p:spPr>
            <p:txBody>
              <a:bodyPr wrap="none" anchor="ctr">
                <a:flatTx/>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9258" name="Text Box 12"/>
              <p:cNvSpPr txBox="1"/>
              <p:nvPr/>
            </p:nvSpPr>
            <p:spPr>
              <a:xfrm>
                <a:off x="3456" y="1279"/>
                <a:ext cx="1056" cy="51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50000"/>
                  </a:spcBef>
                  <a:buClrTx/>
                  <a:buFontTx/>
                  <a:buNone/>
                </a:pPr>
                <a:r>
                  <a:rPr lang="zh-CN" altLang="en-US" sz="2400" dirty="0">
                    <a:solidFill>
                      <a:srgbClr val="0066FF"/>
                    </a:solidFill>
                    <a:latin typeface="Times New Roman" panose="02020603050405020304" pitchFamily="18" charset="0"/>
                    <a:ea typeface="华文中宋" panose="02010600040101010101" pitchFamily="2" charset="-122"/>
                  </a:rPr>
                  <a:t>  </a:t>
                </a:r>
                <a:r>
                  <a:rPr lang="zh-CN" altLang="en-US" sz="2400" dirty="0">
                    <a:solidFill>
                      <a:schemeClr val="bg2"/>
                    </a:solidFill>
                    <a:latin typeface="Times New Roman" panose="02020603050405020304" pitchFamily="18" charset="0"/>
                  </a:rPr>
                  <a:t>运算器</a:t>
                </a:r>
                <a:endParaRPr lang="zh-CN" altLang="en-US" sz="2400" dirty="0">
                  <a:solidFill>
                    <a:schemeClr val="bg2"/>
                  </a:solidFill>
                  <a:latin typeface="Times New Roman" panose="02020603050405020304" pitchFamily="18" charset="0"/>
                </a:endParaRPr>
              </a:p>
              <a:p>
                <a:pPr marL="0" lvl="0" indent="0" eaLnBrk="1" hangingPunct="1">
                  <a:lnSpc>
                    <a:spcPct val="100000"/>
                  </a:lnSpc>
                  <a:spcBef>
                    <a:spcPct val="0"/>
                  </a:spcBef>
                  <a:buClrTx/>
                  <a:buFontTx/>
                  <a:buNone/>
                </a:pPr>
                <a:r>
                  <a:rPr lang="zh-CN" altLang="en-US" sz="2400" dirty="0">
                    <a:solidFill>
                      <a:schemeClr val="bg2"/>
                    </a:solidFill>
                    <a:latin typeface="Times New Roman" panose="02020603050405020304" pitchFamily="18" charset="0"/>
                  </a:rPr>
                  <a:t>    </a:t>
                </a:r>
                <a:r>
                  <a:rPr lang="en-US" altLang="zh-CN" sz="2400" dirty="0">
                    <a:solidFill>
                      <a:schemeClr val="bg2"/>
                    </a:solidFill>
                    <a:latin typeface="Times New Roman" panose="02020603050405020304" pitchFamily="18" charset="0"/>
                  </a:rPr>
                  <a:t>ALU</a:t>
                </a:r>
                <a:endParaRPr lang="zh-CN" altLang="en-US" sz="2400" b="0" dirty="0">
                  <a:solidFill>
                    <a:schemeClr val="bg2"/>
                  </a:solidFill>
                  <a:latin typeface="Times New Roman" panose="02020603050405020304" pitchFamily="18" charset="0"/>
                </a:endParaRPr>
              </a:p>
            </p:txBody>
          </p:sp>
        </p:grpSp>
        <p:grpSp>
          <p:nvGrpSpPr>
            <p:cNvPr id="9228" name="Group 13"/>
            <p:cNvGrpSpPr/>
            <p:nvPr/>
          </p:nvGrpSpPr>
          <p:grpSpPr>
            <a:xfrm>
              <a:off x="3744" y="2256"/>
              <a:ext cx="1056" cy="288"/>
              <a:chOff x="3024" y="2208"/>
              <a:chExt cx="1200" cy="288"/>
            </a:xfrm>
          </p:grpSpPr>
          <p:sp>
            <p:nvSpPr>
              <p:cNvPr id="4229134" name="Rectangle 14"/>
              <p:cNvSpPr>
                <a:spLocks noChangeArrowheads="1"/>
              </p:cNvSpPr>
              <p:nvPr/>
            </p:nvSpPr>
            <p:spPr bwMode="auto">
              <a:xfrm>
                <a:off x="3024" y="2208"/>
                <a:ext cx="1056" cy="288"/>
              </a:xfrm>
              <a:prstGeom prst="rect">
                <a:avLst/>
              </a:prstGeom>
              <a:gradFill rotWithShape="0">
                <a:gsLst>
                  <a:gs pos="0">
                    <a:srgbClr val="FF9933"/>
                  </a:gs>
                  <a:gs pos="100000">
                    <a:srgbClr val="FF9933">
                      <a:gamma/>
                      <a:tint val="21176"/>
                      <a:invGamma/>
                    </a:srgbClr>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FF9933"/>
                </a:extrusionClr>
              </a:sp3d>
            </p:spPr>
            <p:txBody>
              <a:bodyPr wrap="none" anchor="ctr">
                <a:flatTx/>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9256" name="Text Box 15"/>
              <p:cNvSpPr txBox="1"/>
              <p:nvPr/>
            </p:nvSpPr>
            <p:spPr>
              <a:xfrm>
                <a:off x="3024" y="2208"/>
                <a:ext cx="1200" cy="28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50000"/>
                  </a:spcBef>
                  <a:buClrTx/>
                  <a:buFontTx/>
                  <a:buNone/>
                </a:pPr>
                <a:r>
                  <a:rPr lang="zh-CN" altLang="en-US" sz="2400" dirty="0">
                    <a:solidFill>
                      <a:schemeClr val="bg2"/>
                    </a:solidFill>
                    <a:latin typeface="Times New Roman" panose="02020603050405020304" pitchFamily="18" charset="0"/>
                  </a:rPr>
                  <a:t>输出设备</a:t>
                </a:r>
                <a:endParaRPr lang="zh-CN" altLang="en-US" sz="2400" dirty="0">
                  <a:solidFill>
                    <a:schemeClr val="bg2"/>
                  </a:solidFill>
                  <a:latin typeface="Times New Roman" panose="02020603050405020304" pitchFamily="18" charset="0"/>
                </a:endParaRPr>
              </a:p>
            </p:txBody>
          </p:sp>
        </p:grpSp>
        <p:grpSp>
          <p:nvGrpSpPr>
            <p:cNvPr id="9229" name="Group 16"/>
            <p:cNvGrpSpPr/>
            <p:nvPr/>
          </p:nvGrpSpPr>
          <p:grpSpPr>
            <a:xfrm>
              <a:off x="2360" y="3312"/>
              <a:ext cx="1008" cy="288"/>
              <a:chOff x="3264" y="2832"/>
              <a:chExt cx="1200" cy="288"/>
            </a:xfrm>
          </p:grpSpPr>
          <p:sp>
            <p:nvSpPr>
              <p:cNvPr id="4229137" name="Rectangle 17"/>
              <p:cNvSpPr>
                <a:spLocks noChangeArrowheads="1"/>
              </p:cNvSpPr>
              <p:nvPr/>
            </p:nvSpPr>
            <p:spPr bwMode="auto">
              <a:xfrm>
                <a:off x="3264" y="2832"/>
                <a:ext cx="1056" cy="288"/>
              </a:xfrm>
              <a:prstGeom prst="rect">
                <a:avLst/>
              </a:prstGeom>
              <a:gradFill rotWithShape="0">
                <a:gsLst>
                  <a:gs pos="0">
                    <a:srgbClr val="FF00FF"/>
                  </a:gs>
                  <a:gs pos="100000">
                    <a:srgbClr val="FFFFFF"/>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FF00FF"/>
                </a:extrusionClr>
              </a:sp3d>
            </p:spPr>
            <p:txBody>
              <a:bodyPr wrap="none" anchor="ctr">
                <a:flatTx/>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9254" name="Text Box 18"/>
              <p:cNvSpPr txBox="1"/>
              <p:nvPr/>
            </p:nvSpPr>
            <p:spPr>
              <a:xfrm>
                <a:off x="3264" y="2832"/>
                <a:ext cx="1200" cy="28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50000"/>
                  </a:spcBef>
                  <a:buClrTx/>
                  <a:buFontTx/>
                  <a:buNone/>
                </a:pPr>
                <a:r>
                  <a:rPr lang="zh-CN" altLang="en-US" sz="2400" dirty="0">
                    <a:solidFill>
                      <a:schemeClr val="bg2"/>
                    </a:solidFill>
                    <a:latin typeface="华文中宋" panose="02010600040101010101" pitchFamily="2" charset="-122"/>
                    <a:ea typeface="华文中宋" panose="02010600040101010101" pitchFamily="2" charset="-122"/>
                  </a:rPr>
                  <a:t>  </a:t>
                </a:r>
                <a:r>
                  <a:rPr lang="zh-CN" altLang="en-US" sz="2400" dirty="0">
                    <a:solidFill>
                      <a:schemeClr val="bg2"/>
                    </a:solidFill>
                  </a:rPr>
                  <a:t>存储器</a:t>
                </a:r>
                <a:endParaRPr lang="zh-CN" altLang="en-US" sz="2400" dirty="0">
                  <a:solidFill>
                    <a:schemeClr val="bg2"/>
                  </a:solidFill>
                </a:endParaRPr>
              </a:p>
            </p:txBody>
          </p:sp>
        </p:grpSp>
        <p:grpSp>
          <p:nvGrpSpPr>
            <p:cNvPr id="9230" name="Group 19"/>
            <p:cNvGrpSpPr/>
            <p:nvPr/>
          </p:nvGrpSpPr>
          <p:grpSpPr>
            <a:xfrm>
              <a:off x="2352" y="1296"/>
              <a:ext cx="1064" cy="288"/>
              <a:chOff x="816" y="1056"/>
              <a:chExt cx="1064" cy="288"/>
            </a:xfrm>
          </p:grpSpPr>
          <p:sp>
            <p:nvSpPr>
              <p:cNvPr id="4229140" name="Rectangle 20"/>
              <p:cNvSpPr>
                <a:spLocks noChangeArrowheads="1"/>
              </p:cNvSpPr>
              <p:nvPr/>
            </p:nvSpPr>
            <p:spPr bwMode="auto">
              <a:xfrm>
                <a:off x="816" y="1056"/>
                <a:ext cx="929" cy="288"/>
              </a:xfrm>
              <a:prstGeom prst="rect">
                <a:avLst/>
              </a:prstGeom>
              <a:gradFill rotWithShape="0">
                <a:gsLst>
                  <a:gs pos="0">
                    <a:srgbClr val="CC99FF"/>
                  </a:gs>
                  <a:gs pos="100000">
                    <a:srgbClr val="F5EAFF"/>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CC99FF"/>
                </a:extrusionClr>
              </a:sp3d>
            </p:spPr>
            <p:txBody>
              <a:bodyPr wrap="none" anchor="ctr">
                <a:flatTx/>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9252" name="Text Box 21"/>
              <p:cNvSpPr txBox="1"/>
              <p:nvPr/>
            </p:nvSpPr>
            <p:spPr>
              <a:xfrm>
                <a:off x="824" y="1056"/>
                <a:ext cx="1056" cy="28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50000"/>
                  </a:spcBef>
                  <a:buClrTx/>
                  <a:buFontTx/>
                  <a:buNone/>
                </a:pPr>
                <a:r>
                  <a:rPr lang="zh-CN" altLang="en-US" sz="2400" dirty="0">
                    <a:solidFill>
                      <a:srgbClr val="0066FF"/>
                    </a:solidFill>
                    <a:latin typeface="华文中宋" panose="02010600040101010101" pitchFamily="2" charset="-122"/>
                    <a:ea typeface="华文中宋" panose="02010600040101010101" pitchFamily="2" charset="-122"/>
                  </a:rPr>
                  <a:t>  </a:t>
                </a:r>
                <a:r>
                  <a:rPr lang="zh-CN" altLang="en-US" sz="2400" dirty="0">
                    <a:solidFill>
                      <a:schemeClr val="bg2"/>
                    </a:solidFill>
                  </a:rPr>
                  <a:t>控制器</a:t>
                </a:r>
                <a:endParaRPr lang="zh-CN" altLang="en-US" sz="2400" dirty="0">
                  <a:solidFill>
                    <a:schemeClr val="bg2"/>
                  </a:solidFill>
                </a:endParaRPr>
              </a:p>
            </p:txBody>
          </p:sp>
        </p:grpSp>
        <p:grpSp>
          <p:nvGrpSpPr>
            <p:cNvPr id="9231" name="Group 22"/>
            <p:cNvGrpSpPr/>
            <p:nvPr/>
          </p:nvGrpSpPr>
          <p:grpSpPr>
            <a:xfrm>
              <a:off x="960" y="2304"/>
              <a:ext cx="1056" cy="288"/>
              <a:chOff x="816" y="2208"/>
              <a:chExt cx="1056" cy="288"/>
            </a:xfrm>
          </p:grpSpPr>
          <p:sp>
            <p:nvSpPr>
              <p:cNvPr id="4229143" name="Rectangle 23"/>
              <p:cNvSpPr>
                <a:spLocks noChangeArrowheads="1"/>
              </p:cNvSpPr>
              <p:nvPr/>
            </p:nvSpPr>
            <p:spPr bwMode="auto">
              <a:xfrm>
                <a:off x="816" y="2208"/>
                <a:ext cx="929" cy="288"/>
              </a:xfrm>
              <a:prstGeom prst="rect">
                <a:avLst/>
              </a:prstGeom>
              <a:gradFill rotWithShape="0">
                <a:gsLst>
                  <a:gs pos="0">
                    <a:srgbClr val="00FFFF"/>
                  </a:gs>
                  <a:gs pos="100000">
                    <a:srgbClr val="00FFFF">
                      <a:gamma/>
                      <a:tint val="21176"/>
                      <a:invGamma/>
                    </a:srgbClr>
                  </a:gs>
                </a:gsLst>
                <a:lin ang="5400000" scaled="1"/>
              </a:gradFill>
              <a:ln w="9525">
                <a:miter lim="800000"/>
              </a:ln>
              <a:effectLst/>
              <a:scene3d>
                <a:camera prst="legacyObliqueTopRight"/>
                <a:lightRig rig="legacyFlat3" dir="b"/>
              </a:scene3d>
              <a:sp3d extrusionH="430200" prstMaterial="legacyMatte">
                <a:bevelT w="13500" h="13500" prst="angle"/>
                <a:bevelB w="13500" h="13500" prst="angle"/>
                <a:extrusionClr>
                  <a:srgbClr val="00FFFF"/>
                </a:extrusionClr>
              </a:sp3d>
            </p:spPr>
            <p:txBody>
              <a:bodyPr wrap="none" anchor="ctr">
                <a:flatTx/>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9250" name="Text Box 24"/>
              <p:cNvSpPr txBox="1"/>
              <p:nvPr/>
            </p:nvSpPr>
            <p:spPr>
              <a:xfrm>
                <a:off x="816" y="2208"/>
                <a:ext cx="1056" cy="28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50000"/>
                  </a:spcBef>
                  <a:buClrTx/>
                  <a:buFontTx/>
                  <a:buNone/>
                </a:pPr>
                <a:r>
                  <a:rPr lang="zh-CN" altLang="en-US" sz="2400" dirty="0">
                    <a:solidFill>
                      <a:schemeClr val="bg2"/>
                    </a:solidFill>
                    <a:latin typeface="Times New Roman" panose="02020603050405020304" pitchFamily="18" charset="0"/>
                  </a:rPr>
                  <a:t>输入设备</a:t>
                </a:r>
                <a:endParaRPr lang="zh-CN" altLang="en-US" sz="2400" dirty="0">
                  <a:solidFill>
                    <a:schemeClr val="bg2"/>
                  </a:solidFill>
                  <a:latin typeface="Times New Roman" panose="02020603050405020304" pitchFamily="18" charset="0"/>
                </a:endParaRPr>
              </a:p>
            </p:txBody>
          </p:sp>
        </p:grpSp>
        <p:sp>
          <p:nvSpPr>
            <p:cNvPr id="4229145" name="Line 25"/>
            <p:cNvSpPr>
              <a:spLocks noChangeShapeType="1"/>
            </p:cNvSpPr>
            <p:nvPr/>
          </p:nvSpPr>
          <p:spPr bwMode="auto">
            <a:xfrm>
              <a:off x="2592" y="1584"/>
              <a:ext cx="0" cy="528"/>
            </a:xfrm>
            <a:prstGeom prst="line">
              <a:avLst/>
            </a:prstGeom>
            <a:noFill/>
            <a:ln w="38100">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29146" name="Line 26"/>
            <p:cNvSpPr>
              <a:spLocks noChangeShapeType="1"/>
            </p:cNvSpPr>
            <p:nvPr/>
          </p:nvSpPr>
          <p:spPr bwMode="auto">
            <a:xfrm flipH="1">
              <a:off x="1488" y="1392"/>
              <a:ext cx="864" cy="864"/>
            </a:xfrm>
            <a:prstGeom prst="line">
              <a:avLst/>
            </a:prstGeom>
            <a:noFill/>
            <a:ln w="38100">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29147" name="Line 27"/>
            <p:cNvSpPr>
              <a:spLocks noChangeShapeType="1"/>
            </p:cNvSpPr>
            <p:nvPr/>
          </p:nvSpPr>
          <p:spPr bwMode="auto">
            <a:xfrm>
              <a:off x="3312" y="1392"/>
              <a:ext cx="912" cy="816"/>
            </a:xfrm>
            <a:prstGeom prst="line">
              <a:avLst/>
            </a:prstGeom>
            <a:noFill/>
            <a:ln w="38100">
              <a:solidFill>
                <a:srgbClr val="FF3300"/>
              </a:solidFill>
              <a:round/>
              <a:headEnd type="triangle" w="med" len="me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29148" name="Arc 28"/>
            <p:cNvSpPr/>
            <p:nvPr/>
          </p:nvSpPr>
          <p:spPr bwMode="auto">
            <a:xfrm flipH="1">
              <a:off x="2064" y="1584"/>
              <a:ext cx="288" cy="9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3300"/>
              </a:solidFill>
              <a:round/>
              <a:headEnd type="triangle" w="med" len="me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29149" name="Arc 29"/>
            <p:cNvSpPr/>
            <p:nvPr/>
          </p:nvSpPr>
          <p:spPr bwMode="auto">
            <a:xfrm rot="10800000">
              <a:off x="2064" y="2496"/>
              <a:ext cx="288" cy="9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3300"/>
              </a:solidFill>
              <a:round/>
              <a:headEnd type="triangle" w="med" len="me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9237" name="Group 30"/>
            <p:cNvGrpSpPr/>
            <p:nvPr/>
          </p:nvGrpSpPr>
          <p:grpSpPr>
            <a:xfrm flipH="1" flipV="1">
              <a:off x="3304" y="1552"/>
              <a:ext cx="288" cy="1824"/>
              <a:chOff x="1920" y="1680"/>
              <a:chExt cx="288" cy="1824"/>
            </a:xfrm>
          </p:grpSpPr>
          <p:sp>
            <p:nvSpPr>
              <p:cNvPr id="4229151" name="Arc 31"/>
              <p:cNvSpPr/>
              <p:nvPr/>
            </p:nvSpPr>
            <p:spPr bwMode="auto">
              <a:xfrm flipH="1">
                <a:off x="1920" y="1680"/>
                <a:ext cx="288" cy="9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FF00"/>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29152" name="Arc 32"/>
              <p:cNvSpPr/>
              <p:nvPr/>
            </p:nvSpPr>
            <p:spPr bwMode="auto">
              <a:xfrm rot="10800000">
                <a:off x="1920" y="2592"/>
                <a:ext cx="288" cy="9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FF00"/>
                </a:solidFill>
                <a:round/>
                <a:headEnd type="triangle" w="med" len="me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229153" name="Line 33"/>
            <p:cNvSpPr>
              <a:spLocks noChangeShapeType="1"/>
            </p:cNvSpPr>
            <p:nvPr/>
          </p:nvSpPr>
          <p:spPr bwMode="auto">
            <a:xfrm flipV="1">
              <a:off x="3120" y="1584"/>
              <a:ext cx="0" cy="528"/>
            </a:xfrm>
            <a:prstGeom prst="line">
              <a:avLst/>
            </a:prstGeom>
            <a:noFill/>
            <a:ln w="38100">
              <a:solidFill>
                <a:srgbClr val="FFFF00"/>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29154" name="Line 34"/>
            <p:cNvSpPr>
              <a:spLocks noChangeShapeType="1"/>
            </p:cNvSpPr>
            <p:nvPr/>
          </p:nvSpPr>
          <p:spPr bwMode="auto">
            <a:xfrm flipV="1">
              <a:off x="3120" y="2736"/>
              <a:ext cx="0" cy="528"/>
            </a:xfrm>
            <a:prstGeom prst="line">
              <a:avLst/>
            </a:prstGeom>
            <a:noFill/>
            <a:ln w="38100">
              <a:solidFill>
                <a:srgbClr val="FFFF00"/>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29155" name="Line 35"/>
            <p:cNvSpPr>
              <a:spLocks noChangeShapeType="1"/>
            </p:cNvSpPr>
            <p:nvPr/>
          </p:nvSpPr>
          <p:spPr bwMode="auto">
            <a:xfrm>
              <a:off x="2592" y="2736"/>
              <a:ext cx="0" cy="528"/>
            </a:xfrm>
            <a:prstGeom prst="line">
              <a:avLst/>
            </a:prstGeom>
            <a:noFill/>
            <a:ln w="38100">
              <a:solidFill>
                <a:srgbClr val="FFFF00"/>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29156" name="Line 36"/>
            <p:cNvSpPr>
              <a:spLocks noChangeShapeType="1"/>
            </p:cNvSpPr>
            <p:nvPr/>
          </p:nvSpPr>
          <p:spPr bwMode="auto">
            <a:xfrm>
              <a:off x="384" y="2448"/>
              <a:ext cx="576" cy="0"/>
            </a:xfrm>
            <a:prstGeom prst="line">
              <a:avLst/>
            </a:prstGeom>
            <a:noFill/>
            <a:ln w="38100">
              <a:solidFill>
                <a:srgbClr val="FFFF00"/>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29157" name="Line 37"/>
            <p:cNvSpPr>
              <a:spLocks noChangeShapeType="1"/>
            </p:cNvSpPr>
            <p:nvPr/>
          </p:nvSpPr>
          <p:spPr bwMode="auto">
            <a:xfrm>
              <a:off x="1968" y="2400"/>
              <a:ext cx="384" cy="0"/>
            </a:xfrm>
            <a:prstGeom prst="line">
              <a:avLst/>
            </a:prstGeom>
            <a:noFill/>
            <a:ln w="38100">
              <a:solidFill>
                <a:srgbClr val="FFFF00"/>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29158" name="Line 38"/>
            <p:cNvSpPr>
              <a:spLocks noChangeShapeType="1"/>
            </p:cNvSpPr>
            <p:nvPr/>
          </p:nvSpPr>
          <p:spPr bwMode="auto">
            <a:xfrm>
              <a:off x="3360" y="2400"/>
              <a:ext cx="384" cy="0"/>
            </a:xfrm>
            <a:prstGeom prst="line">
              <a:avLst/>
            </a:prstGeom>
            <a:noFill/>
            <a:ln w="38100">
              <a:solidFill>
                <a:srgbClr val="FFFF00"/>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29159" name="Line 39"/>
            <p:cNvSpPr>
              <a:spLocks noChangeShapeType="1"/>
            </p:cNvSpPr>
            <p:nvPr/>
          </p:nvSpPr>
          <p:spPr bwMode="auto">
            <a:xfrm>
              <a:off x="4752" y="2352"/>
              <a:ext cx="576" cy="0"/>
            </a:xfrm>
            <a:prstGeom prst="line">
              <a:avLst/>
            </a:prstGeom>
            <a:noFill/>
            <a:ln w="38100">
              <a:solidFill>
                <a:srgbClr val="FFFF00"/>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29160" name="Text Box 40"/>
            <p:cNvSpPr txBox="1">
              <a:spLocks noChangeArrowheads="1"/>
            </p:cNvSpPr>
            <p:nvPr/>
          </p:nvSpPr>
          <p:spPr bwMode="auto">
            <a:xfrm>
              <a:off x="326" y="2122"/>
              <a:ext cx="500" cy="610"/>
            </a:xfrm>
            <a:prstGeom prst="rect">
              <a:avLst/>
            </a:prstGeom>
            <a:noFill/>
            <a:ln w="9525">
              <a:noFill/>
              <a:miter lim="800000"/>
            </a:ln>
            <a:effectLst/>
          </p:spPr>
          <p:txBody>
            <a:bodyPr wrap="none">
              <a:spAutoFit/>
            </a:bodyPr>
            <a:lstStyle/>
            <a:p>
              <a:pPr marR="0" algn="ctr" defTabSz="914400" eaLnBrk="1" hangingPunct="1">
                <a:buClrTx/>
                <a:buSzTx/>
                <a:buFontTx/>
                <a:buNone/>
                <a:defRPr/>
              </a:pPr>
              <a:r>
                <a:rPr kumimoji="0" lang="zh-CN" altLang="en-US" kern="1200" cap="none" spc="0" normalizeH="0" baseline="0" noProof="0">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rPr>
                <a:t>程序</a:t>
              </a:r>
              <a:endParaRPr kumimoji="0" lang="zh-CN" altLang="en-US" kern="1200" cap="none" spc="0" normalizeH="0" baseline="0" noProof="0">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endParaRPr>
            </a:p>
            <a:p>
              <a:pPr marR="0" algn="ctr" defTabSz="914400" eaLnBrk="1" hangingPunct="1">
                <a:spcBef>
                  <a:spcPct val="40000"/>
                </a:spcBef>
                <a:buClrTx/>
                <a:buSzTx/>
                <a:buFontTx/>
                <a:buNone/>
                <a:defRPr/>
              </a:pPr>
              <a:r>
                <a:rPr kumimoji="0" lang="zh-CN" altLang="en-US" kern="1200" cap="none" spc="0" normalizeH="0" baseline="0" noProof="0">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rPr>
                <a:t>数据</a:t>
              </a:r>
              <a:endParaRPr kumimoji="0" lang="zh-CN" altLang="en-US" kern="1200" cap="none" spc="0" normalizeH="0" baseline="0" noProof="0">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endParaRPr>
            </a:p>
          </p:txBody>
        </p:sp>
        <p:sp>
          <p:nvSpPr>
            <p:cNvPr id="4229161" name="Text Box 41"/>
            <p:cNvSpPr txBox="1">
              <a:spLocks noChangeArrowheads="1"/>
            </p:cNvSpPr>
            <p:nvPr/>
          </p:nvSpPr>
          <p:spPr bwMode="auto">
            <a:xfrm>
              <a:off x="4817" y="2036"/>
              <a:ext cx="500" cy="610"/>
            </a:xfrm>
            <a:prstGeom prst="rect">
              <a:avLst/>
            </a:prstGeom>
            <a:noFill/>
            <a:ln w="9525">
              <a:noFill/>
              <a:miter lim="800000"/>
            </a:ln>
            <a:effectLst/>
          </p:spPr>
          <p:txBody>
            <a:bodyPr wrap="none">
              <a:spAutoFit/>
            </a:bodyPr>
            <a:lstStyle/>
            <a:p>
              <a:pPr marR="0" algn="ctr" defTabSz="914400" eaLnBrk="1" hangingPunct="1">
                <a:buClrTx/>
                <a:buSzTx/>
                <a:buFontTx/>
                <a:buNone/>
                <a:defRPr/>
              </a:pPr>
              <a:r>
                <a:rPr kumimoji="0" lang="zh-CN" altLang="en-US" kern="1200" cap="none" spc="0" normalizeH="0" baseline="0" noProof="0">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rPr>
                <a:t>计算</a:t>
              </a:r>
              <a:endParaRPr kumimoji="0" lang="zh-CN" altLang="en-US" kern="1200" cap="none" spc="0" normalizeH="0" baseline="0" noProof="0">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endParaRPr>
            </a:p>
            <a:p>
              <a:pPr marR="0" algn="ctr" defTabSz="914400" eaLnBrk="1" hangingPunct="1">
                <a:spcBef>
                  <a:spcPct val="40000"/>
                </a:spcBef>
                <a:buClrTx/>
                <a:buSzTx/>
                <a:buFontTx/>
                <a:buNone/>
                <a:defRPr/>
              </a:pPr>
              <a:r>
                <a:rPr kumimoji="0" lang="zh-CN" altLang="en-US" kern="1200" cap="none" spc="0" normalizeH="0" baseline="0" noProof="0">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rPr>
                <a:t>结果</a:t>
              </a:r>
              <a:endParaRPr kumimoji="0" lang="zh-CN" altLang="en-US" kern="1200" cap="none" spc="0" normalizeH="0" baseline="0" noProof="0">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endParaRPr>
            </a:p>
          </p:txBody>
        </p:sp>
      </p:grpSp>
      <p:sp>
        <p:nvSpPr>
          <p:cNvPr id="4229162" name="AutoShape 42"/>
          <p:cNvSpPr/>
          <p:nvPr/>
        </p:nvSpPr>
        <p:spPr>
          <a:xfrm>
            <a:off x="373063" y="2038350"/>
            <a:ext cx="2635250" cy="958850"/>
          </a:xfrm>
          <a:prstGeom prst="wedgeRoundRectCallout">
            <a:avLst>
              <a:gd name="adj1" fmla="val 16324"/>
              <a:gd name="adj2" fmla="val 116556"/>
              <a:gd name="adj3" fmla="val 16667"/>
            </a:avLst>
          </a:prstGeom>
          <a:solidFill>
            <a:schemeClr val="tx2"/>
          </a:solidFill>
          <a:ln w="28575">
            <a:noFill/>
          </a:ln>
        </p:spPr>
        <p:txBody>
          <a:bodyPr lIns="36000" rIns="3600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20000"/>
              </a:spcBef>
              <a:buClrTx/>
              <a:buFontTx/>
              <a:buNone/>
            </a:pPr>
            <a:r>
              <a:rPr lang="zh-CN" altLang="en-US" sz="2400" dirty="0">
                <a:solidFill>
                  <a:schemeClr val="bg2"/>
                </a:solidFill>
                <a:latin typeface="Times New Roman" panose="02020603050405020304" pitchFamily="18" charset="0"/>
              </a:rPr>
              <a:t>将信息转换成机</a:t>
            </a:r>
            <a:endParaRPr lang="zh-CN" altLang="en-US" sz="2400" dirty="0">
              <a:solidFill>
                <a:schemeClr val="bg2"/>
              </a:solidFill>
              <a:latin typeface="Times New Roman" panose="02020603050405020304" pitchFamily="18" charset="0"/>
            </a:endParaRPr>
          </a:p>
          <a:p>
            <a:pPr marL="0" lvl="0" indent="0" algn="ctr" eaLnBrk="1" hangingPunct="1">
              <a:lnSpc>
                <a:spcPct val="100000"/>
              </a:lnSpc>
              <a:spcBef>
                <a:spcPct val="20000"/>
              </a:spcBef>
              <a:buClrTx/>
              <a:buFontTx/>
              <a:buNone/>
            </a:pPr>
            <a:r>
              <a:rPr lang="zh-CN" altLang="en-US" sz="2400" dirty="0">
                <a:solidFill>
                  <a:schemeClr val="bg2"/>
                </a:solidFill>
                <a:latin typeface="Times New Roman" panose="02020603050405020304" pitchFamily="18" charset="0"/>
              </a:rPr>
              <a:t>器能识别的形式</a:t>
            </a:r>
            <a:endParaRPr lang="zh-CN" altLang="en-US" sz="2400" dirty="0">
              <a:solidFill>
                <a:schemeClr val="bg2"/>
              </a:solidFill>
              <a:latin typeface="Times New Roman" panose="02020603050405020304" pitchFamily="18" charset="0"/>
            </a:endParaRPr>
          </a:p>
        </p:txBody>
      </p:sp>
      <p:sp>
        <p:nvSpPr>
          <p:cNvPr id="4229163" name="AutoShape 43"/>
          <p:cNvSpPr/>
          <p:nvPr/>
        </p:nvSpPr>
        <p:spPr>
          <a:xfrm>
            <a:off x="2201863" y="6161088"/>
            <a:ext cx="2508250" cy="485775"/>
          </a:xfrm>
          <a:prstGeom prst="wedgeRoundRectCallout">
            <a:avLst>
              <a:gd name="adj1" fmla="val 44241"/>
              <a:gd name="adj2" fmla="val -124185"/>
              <a:gd name="adj3" fmla="val 16667"/>
            </a:avLst>
          </a:prstGeom>
          <a:solidFill>
            <a:schemeClr val="tx2"/>
          </a:solidFill>
          <a:ln w="28575">
            <a:noFill/>
          </a:ln>
        </p:spPr>
        <p:txBody>
          <a:bodyPr lIns="36000" rIns="3600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20000"/>
              </a:spcBef>
              <a:buClrTx/>
              <a:buFontTx/>
              <a:buNone/>
            </a:pPr>
            <a:r>
              <a:rPr lang="zh-CN" altLang="en-US" sz="2400" dirty="0">
                <a:solidFill>
                  <a:schemeClr val="bg2"/>
                </a:solidFill>
                <a:latin typeface="Times New Roman" panose="02020603050405020304" pitchFamily="18" charset="0"/>
              </a:rPr>
              <a:t>存放数据和程序</a:t>
            </a:r>
            <a:endParaRPr lang="zh-CN" altLang="en-US" sz="2400" dirty="0">
              <a:solidFill>
                <a:schemeClr val="bg2"/>
              </a:solidFill>
              <a:latin typeface="Times New Roman" panose="02020603050405020304" pitchFamily="18" charset="0"/>
            </a:endParaRPr>
          </a:p>
        </p:txBody>
      </p:sp>
      <p:sp>
        <p:nvSpPr>
          <p:cNvPr id="4229164" name="AutoShape 44"/>
          <p:cNvSpPr/>
          <p:nvPr/>
        </p:nvSpPr>
        <p:spPr>
          <a:xfrm>
            <a:off x="6475413" y="2206625"/>
            <a:ext cx="2452687" cy="958850"/>
          </a:xfrm>
          <a:prstGeom prst="wedgeRoundRectCallout">
            <a:avLst>
              <a:gd name="adj1" fmla="val -40681"/>
              <a:gd name="adj2" fmla="val 95199"/>
              <a:gd name="adj3" fmla="val 16667"/>
            </a:avLst>
          </a:prstGeom>
          <a:solidFill>
            <a:schemeClr val="tx2"/>
          </a:solidFill>
          <a:ln w="28575">
            <a:noFill/>
          </a:ln>
        </p:spPr>
        <p:txBody>
          <a:bodyPr lIns="36000" rIns="3600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20000"/>
              </a:spcBef>
              <a:buClrTx/>
              <a:buFontTx/>
              <a:buNone/>
            </a:pPr>
            <a:r>
              <a:rPr lang="zh-CN" altLang="en-US" sz="2400" dirty="0">
                <a:solidFill>
                  <a:schemeClr val="bg2"/>
                </a:solidFill>
                <a:latin typeface="Times New Roman" panose="02020603050405020304" pitchFamily="18" charset="0"/>
              </a:rPr>
              <a:t>将结果转换成</a:t>
            </a:r>
            <a:endParaRPr lang="zh-CN" altLang="en-US" sz="2400" dirty="0">
              <a:solidFill>
                <a:schemeClr val="bg2"/>
              </a:solidFill>
              <a:latin typeface="Times New Roman" panose="02020603050405020304" pitchFamily="18" charset="0"/>
            </a:endParaRPr>
          </a:p>
          <a:p>
            <a:pPr marL="0" lvl="0" indent="0" algn="ctr" eaLnBrk="1" hangingPunct="1">
              <a:lnSpc>
                <a:spcPct val="100000"/>
              </a:lnSpc>
              <a:spcBef>
                <a:spcPct val="20000"/>
              </a:spcBef>
              <a:buClrTx/>
              <a:buFontTx/>
              <a:buNone/>
            </a:pPr>
            <a:r>
              <a:rPr lang="zh-CN" altLang="en-US" sz="2400" dirty="0">
                <a:solidFill>
                  <a:schemeClr val="bg2"/>
                </a:solidFill>
                <a:latin typeface="Times New Roman" panose="02020603050405020304" pitchFamily="18" charset="0"/>
              </a:rPr>
              <a:t>人们熟悉的形式</a:t>
            </a:r>
            <a:endParaRPr lang="zh-CN" altLang="en-US" sz="2400" dirty="0">
              <a:solidFill>
                <a:schemeClr val="bg2"/>
              </a:solidFill>
              <a:latin typeface="Times New Roman" panose="02020603050405020304" pitchFamily="18" charset="0"/>
            </a:endParaRPr>
          </a:p>
        </p:txBody>
      </p:sp>
      <p:sp>
        <p:nvSpPr>
          <p:cNvPr id="4229165" name="AutoShape 45"/>
          <p:cNvSpPr/>
          <p:nvPr/>
        </p:nvSpPr>
        <p:spPr>
          <a:xfrm>
            <a:off x="6067425" y="4416425"/>
            <a:ext cx="1944688" cy="958850"/>
          </a:xfrm>
          <a:prstGeom prst="wedgeRoundRectCallout">
            <a:avLst>
              <a:gd name="adj1" fmla="val -92532"/>
              <a:gd name="adj2" fmla="val -66921"/>
              <a:gd name="adj3" fmla="val 16667"/>
            </a:avLst>
          </a:prstGeom>
          <a:solidFill>
            <a:schemeClr val="tx2"/>
          </a:solidFill>
          <a:ln w="28575">
            <a:noFill/>
          </a:ln>
        </p:spPr>
        <p:txBody>
          <a:bodyPr lIns="36000" rIns="3600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20000"/>
              </a:spcBef>
              <a:buClrTx/>
              <a:buFontTx/>
              <a:buNone/>
            </a:pPr>
            <a:r>
              <a:rPr lang="zh-CN" altLang="en-US" sz="2400" dirty="0">
                <a:solidFill>
                  <a:schemeClr val="bg2"/>
                </a:solidFill>
                <a:latin typeface="Times New Roman" panose="02020603050405020304" pitchFamily="18" charset="0"/>
              </a:rPr>
              <a:t>算术运算</a:t>
            </a:r>
            <a:endParaRPr lang="zh-CN" altLang="en-US" sz="2400" dirty="0">
              <a:solidFill>
                <a:schemeClr val="bg2"/>
              </a:solidFill>
              <a:latin typeface="Times New Roman" panose="02020603050405020304" pitchFamily="18" charset="0"/>
            </a:endParaRPr>
          </a:p>
          <a:p>
            <a:pPr marL="0" lvl="0" indent="0" algn="ctr" eaLnBrk="1" hangingPunct="1">
              <a:lnSpc>
                <a:spcPct val="100000"/>
              </a:lnSpc>
              <a:spcBef>
                <a:spcPct val="20000"/>
              </a:spcBef>
              <a:buClrTx/>
              <a:buFontTx/>
              <a:buNone/>
            </a:pPr>
            <a:r>
              <a:rPr lang="zh-CN" altLang="en-US" sz="2400" dirty="0">
                <a:solidFill>
                  <a:schemeClr val="bg2"/>
                </a:solidFill>
                <a:latin typeface="Times New Roman" panose="02020603050405020304" pitchFamily="18" charset="0"/>
              </a:rPr>
              <a:t>逻辑运算</a:t>
            </a:r>
            <a:endParaRPr lang="zh-CN" altLang="en-US" sz="2400" dirty="0">
              <a:solidFill>
                <a:schemeClr val="bg2"/>
              </a:solidFill>
              <a:latin typeface="Times New Roman" panose="02020603050405020304" pitchFamily="18" charset="0"/>
            </a:endParaRPr>
          </a:p>
        </p:txBody>
      </p:sp>
      <p:sp>
        <p:nvSpPr>
          <p:cNvPr id="4229166" name="AutoShape 46"/>
          <p:cNvSpPr/>
          <p:nvPr/>
        </p:nvSpPr>
        <p:spPr>
          <a:xfrm>
            <a:off x="5719763" y="1603375"/>
            <a:ext cx="2292350" cy="485775"/>
          </a:xfrm>
          <a:prstGeom prst="wedgeRoundRectCallout">
            <a:avLst>
              <a:gd name="adj1" fmla="val -64958"/>
              <a:gd name="adj2" fmla="val 53269"/>
              <a:gd name="adj3" fmla="val 16667"/>
            </a:avLst>
          </a:prstGeom>
          <a:solidFill>
            <a:schemeClr val="tx2"/>
          </a:solidFill>
          <a:ln w="28575">
            <a:noFill/>
          </a:ln>
        </p:spPr>
        <p:txBody>
          <a:bodyPr lIns="36000" rIns="3600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20000"/>
              </a:spcBef>
              <a:buClrTx/>
              <a:buFontTx/>
              <a:buNone/>
            </a:pPr>
            <a:r>
              <a:rPr lang="zh-CN" altLang="en-US" sz="2400" dirty="0">
                <a:solidFill>
                  <a:schemeClr val="bg2"/>
                </a:solidFill>
                <a:latin typeface="Times New Roman" panose="02020603050405020304" pitchFamily="18" charset="0"/>
              </a:rPr>
              <a:t>指挥程序运行</a:t>
            </a:r>
            <a:endParaRPr lang="zh-CN" altLang="en-US" sz="2400" dirty="0">
              <a:solidFill>
                <a:schemeClr val="bg2"/>
              </a:solidFill>
              <a:latin typeface="Times New Roman" panose="02020603050405020304" pitchFamily="18" charset="0"/>
            </a:endParaRPr>
          </a:p>
        </p:txBody>
      </p:sp>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29165"/>
                                        </p:tgtEl>
                                        <p:attrNameLst>
                                          <p:attrName>style.visibility</p:attrName>
                                        </p:attrNameLst>
                                      </p:cBhvr>
                                      <p:to>
                                        <p:strVal val="visible"/>
                                      </p:to>
                                    </p:set>
                                    <p:animEffect transition="in" filter="blinds(horizontal)">
                                      <p:cBhvr>
                                        <p:cTn id="7" dur="500"/>
                                        <p:tgtEl>
                                          <p:spTgt spid="4229165"/>
                                        </p:tgtEl>
                                      </p:cBhvr>
                                    </p:animEffect>
                                  </p:childTnLst>
                                  <p:subTnLst>
                                    <p:set>
                                      <p:cBhvr override="childStyle">
                                        <p:cTn dur="1" fill="hold" display="0" masterRel="nextClick" afterEffect="1"/>
                                        <p:tgtEl>
                                          <p:spTgt spid="422916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229163"/>
                                        </p:tgtEl>
                                        <p:attrNameLst>
                                          <p:attrName>style.visibility</p:attrName>
                                        </p:attrNameLst>
                                      </p:cBhvr>
                                      <p:to>
                                        <p:strVal val="visible"/>
                                      </p:to>
                                    </p:set>
                                    <p:animEffect transition="in" filter="blinds(horizontal)">
                                      <p:cBhvr>
                                        <p:cTn id="12" dur="500"/>
                                        <p:tgtEl>
                                          <p:spTgt spid="4229163"/>
                                        </p:tgtEl>
                                      </p:cBhvr>
                                    </p:animEffect>
                                  </p:childTnLst>
                                  <p:subTnLst>
                                    <p:set>
                                      <p:cBhvr override="childStyle">
                                        <p:cTn dur="1" fill="hold" display="0" masterRel="nextClick" afterEffect="1"/>
                                        <p:tgtEl>
                                          <p:spTgt spid="422916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229166"/>
                                        </p:tgtEl>
                                        <p:attrNameLst>
                                          <p:attrName>style.visibility</p:attrName>
                                        </p:attrNameLst>
                                      </p:cBhvr>
                                      <p:to>
                                        <p:strVal val="visible"/>
                                      </p:to>
                                    </p:set>
                                    <p:animEffect transition="in" filter="blinds(horizontal)">
                                      <p:cBhvr>
                                        <p:cTn id="17" dur="500"/>
                                        <p:tgtEl>
                                          <p:spTgt spid="4229166"/>
                                        </p:tgtEl>
                                      </p:cBhvr>
                                    </p:animEffect>
                                  </p:childTnLst>
                                  <p:subTnLst>
                                    <p:set>
                                      <p:cBhvr override="childStyle">
                                        <p:cTn dur="1" fill="hold" display="0" masterRel="nextClick" afterEffect="1"/>
                                        <p:tgtEl>
                                          <p:spTgt spid="422916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229162"/>
                                        </p:tgtEl>
                                        <p:attrNameLst>
                                          <p:attrName>style.visibility</p:attrName>
                                        </p:attrNameLst>
                                      </p:cBhvr>
                                      <p:to>
                                        <p:strVal val="visible"/>
                                      </p:to>
                                    </p:set>
                                    <p:animEffect transition="in" filter="blinds(horizontal)">
                                      <p:cBhvr>
                                        <p:cTn id="22" dur="500"/>
                                        <p:tgtEl>
                                          <p:spTgt spid="4229162"/>
                                        </p:tgtEl>
                                      </p:cBhvr>
                                    </p:animEffect>
                                  </p:childTnLst>
                                  <p:subTnLst>
                                    <p:set>
                                      <p:cBhvr override="childStyle">
                                        <p:cTn dur="1" fill="hold" display="0" masterRel="nextClick" afterEffect="1"/>
                                        <p:tgtEl>
                                          <p:spTgt spid="4229162"/>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229164"/>
                                        </p:tgtEl>
                                        <p:attrNameLst>
                                          <p:attrName>style.visibility</p:attrName>
                                        </p:attrNameLst>
                                      </p:cBhvr>
                                      <p:to>
                                        <p:strVal val="visible"/>
                                      </p:to>
                                    </p:set>
                                    <p:animEffect transition="in" filter="blinds(horizontal)">
                                      <p:cBhvr>
                                        <p:cTn id="27" dur="500"/>
                                        <p:tgtEl>
                                          <p:spTgt spid="4229164"/>
                                        </p:tgtEl>
                                      </p:cBhvr>
                                    </p:animEffect>
                                  </p:childTnLst>
                                  <p:subTnLst>
                                    <p:set>
                                      <p:cBhvr override="childStyle">
                                        <p:cTn dur="1" fill="hold" display="0" masterRel="nextClick" afterEffect="1"/>
                                        <p:tgtEl>
                                          <p:spTgt spid="422916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162" grpId="0" animBg="1"/>
      <p:bldP spid="4229163" grpId="0" animBg="1"/>
      <p:bldP spid="4229164" grpId="0" animBg="1"/>
      <p:bldP spid="4229165" grpId="0" animBg="1"/>
      <p:bldP spid="422916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3"/>
          <p:cNvSpPr>
            <a:spLocks noGrp="1"/>
          </p:cNvSpPr>
          <p:nvPr>
            <p:ph idx="1"/>
          </p:nvPr>
        </p:nvSpPr>
        <p:spPr>
          <a:xfrm>
            <a:off x="381000" y="1320800"/>
            <a:ext cx="8388350" cy="5376863"/>
          </a:xfrm>
          <a:ln/>
        </p:spPr>
        <p:txBody>
          <a:bodyPr vert="horz" wrap="square" lIns="91440" tIns="45720" rIns="91440" bIns="45720" anchor="t" anchorCtr="0">
            <a:spAutoFit/>
          </a:bodyPr>
          <a:p>
            <a:pPr eaLnBrk="1" hangingPunct="1">
              <a:lnSpc>
                <a:spcPct val="110000"/>
              </a:lnSpc>
              <a:spcBef>
                <a:spcPct val="20000"/>
              </a:spcBef>
            </a:pPr>
            <a:r>
              <a:rPr lang="zh-CN" altLang="en-US" dirty="0"/>
              <a:t>冯.诺依曼计算机的特点</a:t>
            </a:r>
            <a:endParaRPr lang="zh-CN" altLang="en-US" dirty="0"/>
          </a:p>
          <a:p>
            <a:pPr lvl="1" eaLnBrk="1" hangingPunct="1">
              <a:lnSpc>
                <a:spcPct val="110000"/>
              </a:lnSpc>
              <a:spcBef>
                <a:spcPct val="20000"/>
              </a:spcBef>
            </a:pPr>
            <a:r>
              <a:rPr lang="zh-CN" altLang="en-US" dirty="0"/>
              <a:t>通常采用二进制表示机器指令和数据</a:t>
            </a:r>
            <a:endParaRPr lang="zh-CN" altLang="en-US" dirty="0"/>
          </a:p>
          <a:p>
            <a:pPr lvl="1" eaLnBrk="1" hangingPunct="1">
              <a:lnSpc>
                <a:spcPct val="110000"/>
              </a:lnSpc>
              <a:spcBef>
                <a:spcPct val="20000"/>
              </a:spcBef>
            </a:pPr>
            <a:r>
              <a:rPr lang="zh-CN" altLang="en-US" dirty="0"/>
              <a:t>硬件系统由运算器、控制器、存储器、输入设备和输出设备五大部分组成	</a:t>
            </a:r>
            <a:endParaRPr lang="zh-CN" altLang="en-US" dirty="0"/>
          </a:p>
          <a:p>
            <a:pPr lvl="1" eaLnBrk="1" hangingPunct="1">
              <a:lnSpc>
                <a:spcPct val="110000"/>
              </a:lnSpc>
              <a:spcBef>
                <a:spcPct val="20000"/>
              </a:spcBef>
            </a:pPr>
            <a:r>
              <a:rPr lang="zh-CN" altLang="en-US" dirty="0"/>
              <a:t>程序和数据预先存放在存储器中，存储器线性编址、按地址访问</a:t>
            </a:r>
            <a:endParaRPr lang="zh-CN" altLang="en-US" dirty="0"/>
          </a:p>
          <a:p>
            <a:pPr lvl="1" eaLnBrk="1" hangingPunct="1">
              <a:lnSpc>
                <a:spcPct val="110000"/>
              </a:lnSpc>
              <a:spcBef>
                <a:spcPct val="20000"/>
              </a:spcBef>
            </a:pPr>
            <a:r>
              <a:rPr lang="zh-CN" altLang="en-US" dirty="0"/>
              <a:t>操作时根据程序中指令的执行顺序，从存储器中取出指令或数据，由控制器解释，运算器完成运算 </a:t>
            </a:r>
            <a:endParaRPr lang="zh-CN" altLang="en-US" dirty="0"/>
          </a:p>
        </p:txBody>
      </p:sp>
      <p:sp>
        <p:nvSpPr>
          <p:cNvPr id="4349956" name="Rectangle 4"/>
          <p:cNvSpPr>
            <a:spLocks noGrp="1" noChangeArrowheads="1"/>
          </p:cNvSpPr>
          <p:nvPr>
            <p:ph type="title"/>
          </p:nvPr>
        </p:nvSpPr>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回顾－计算机硬件组成</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19461" name="AutoShape 5"/>
          <p:cNvSpPr/>
          <p:nvPr/>
        </p:nvSpPr>
        <p:spPr>
          <a:xfrm>
            <a:off x="2259013" y="2592388"/>
            <a:ext cx="6396037" cy="3963987"/>
          </a:xfrm>
          <a:prstGeom prst="cloudCallout">
            <a:avLst>
              <a:gd name="adj1" fmla="val 7431"/>
              <a:gd name="adj2" fmla="val -20194"/>
            </a:avLst>
          </a:prstGeom>
          <a:solidFill>
            <a:srgbClr val="FFFF00"/>
          </a:solid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457200" lvl="0" indent="-457200" eaLnBrk="1" hangingPunct="1">
              <a:lnSpc>
                <a:spcPct val="100000"/>
              </a:lnSpc>
              <a:spcBef>
                <a:spcPct val="0"/>
              </a:spcBef>
              <a:buClrTx/>
              <a:buFont typeface="华文新魏" panose="02010800040101010101" pitchFamily="2" charset="-122"/>
              <a:buAutoNum type="circleNumDbPlain"/>
            </a:pPr>
            <a:r>
              <a:rPr lang="zh-CN" altLang="en-US" sz="2400" dirty="0">
                <a:solidFill>
                  <a:schemeClr val="bg2"/>
                </a:solidFill>
                <a:latin typeface="Arial" panose="020B0604020202020204" pitchFamily="34" charset="0"/>
              </a:rPr>
              <a:t>为什么计算机要用二进制表示信息？</a:t>
            </a:r>
            <a:endParaRPr lang="en-US" altLang="zh-CN" sz="2400" dirty="0">
              <a:solidFill>
                <a:schemeClr val="bg2"/>
              </a:solidFill>
              <a:latin typeface="Arial" panose="020B0604020202020204" pitchFamily="34" charset="0"/>
            </a:endParaRPr>
          </a:p>
          <a:p>
            <a:pPr marL="457200" lvl="0" indent="-457200" eaLnBrk="1" hangingPunct="1">
              <a:lnSpc>
                <a:spcPct val="100000"/>
              </a:lnSpc>
              <a:spcBef>
                <a:spcPct val="0"/>
              </a:spcBef>
              <a:buClrTx/>
              <a:buFont typeface="华文新魏" panose="02010800040101010101" pitchFamily="2" charset="-122"/>
              <a:buAutoNum type="circleNumDbPlain"/>
            </a:pPr>
            <a:r>
              <a:rPr lang="zh-CN" altLang="en-US" sz="2400" dirty="0">
                <a:solidFill>
                  <a:schemeClr val="bg2"/>
                </a:solidFill>
                <a:latin typeface="Arial" panose="020B0604020202020204" pitchFamily="34" charset="0"/>
              </a:rPr>
              <a:t>计算机的指令和数据均以二进制形式存放在存储器中，计算机识别它们的依据是什么？</a:t>
            </a:r>
            <a:endParaRPr lang="zh-CN" altLang="en-US" sz="2400" dirty="0">
              <a:solidFill>
                <a:schemeClr val="bg2"/>
              </a:solidFill>
              <a:latin typeface="Arial" panose="020B0604020202020204" pitchFamily="34" charset="0"/>
            </a:endParaRPr>
          </a:p>
          <a:p>
            <a:pPr marL="457200" lvl="0" indent="-457200" eaLnBrk="1" hangingPunct="1">
              <a:lnSpc>
                <a:spcPct val="100000"/>
              </a:lnSpc>
              <a:spcBef>
                <a:spcPct val="0"/>
              </a:spcBef>
              <a:buClrTx/>
              <a:buFont typeface="华文新魏" panose="02010800040101010101" pitchFamily="2" charset="-122"/>
              <a:buAutoNum type="circleNumDbPlain"/>
            </a:pPr>
            <a:r>
              <a:rPr lang="zh-CN" altLang="en-US" sz="2400" dirty="0">
                <a:solidFill>
                  <a:schemeClr val="bg2"/>
                </a:solidFill>
                <a:latin typeface="Arial" panose="020B0604020202020204" pitchFamily="34" charset="0"/>
              </a:rPr>
              <a:t>指令和数据究竟存放在内存还是外存？</a:t>
            </a:r>
            <a:endParaRPr lang="zh-CN" altLang="en-US" sz="2400" dirty="0">
              <a:solidFill>
                <a:schemeClr val="bg2"/>
              </a:solidFill>
              <a:latin typeface="Arial" panose="020B0604020202020204" pitchFamily="34"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blinds(horizontal)">
                                      <p:cBhvr>
                                        <p:cTn id="7"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11394" name="Rectangle 2"/>
          <p:cNvSpPr>
            <a:spLocks noGrp="1" noChangeArrowheads="1"/>
          </p:cNvSpPr>
          <p:nvPr>
            <p:ph type="title"/>
          </p:nvPr>
        </p:nvSpPr>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回顾－计算机系统的层次结构</a:t>
            </a:r>
            <a:endPar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endParaRPr>
          </a:p>
        </p:txBody>
      </p:sp>
      <p:grpSp>
        <p:nvGrpSpPr>
          <p:cNvPr id="13315" name="Group 21"/>
          <p:cNvGrpSpPr/>
          <p:nvPr/>
        </p:nvGrpSpPr>
        <p:grpSpPr>
          <a:xfrm>
            <a:off x="-68262" y="1336675"/>
            <a:ext cx="9077325" cy="5032375"/>
            <a:chOff x="-43" y="842"/>
            <a:chExt cx="5718" cy="3170"/>
          </a:xfrm>
        </p:grpSpPr>
        <p:sp>
          <p:nvSpPr>
            <p:cNvPr id="4411396" name="Rectangle 4"/>
            <p:cNvSpPr>
              <a:spLocks noChangeArrowheads="1"/>
            </p:cNvSpPr>
            <p:nvPr/>
          </p:nvSpPr>
          <p:spPr bwMode="auto">
            <a:xfrm>
              <a:off x="2233" y="842"/>
              <a:ext cx="1036" cy="351"/>
            </a:xfrm>
            <a:prstGeom prst="rect">
              <a:avLst/>
            </a:prstGeom>
            <a:noFill/>
            <a:ln w="38100" algn="ctr">
              <a:solidFill>
                <a:schemeClr val="tx1"/>
              </a:solid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rPr>
                <a:t>应用软件</a:t>
              </a:r>
              <a:endParaRPr kumimoji="0" lang="zh-CN" altLang="en-US" sz="2800" b="1" i="0" u="none" strike="noStrike" kern="1200" cap="none" spc="0" normalizeH="0" baseline="0" noProof="0">
                <a:ln>
                  <a:noFill/>
                </a:ln>
                <a:solidFill>
                  <a:srgbClr val="FFFF00"/>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endParaRPr>
            </a:p>
          </p:txBody>
        </p:sp>
        <p:sp>
          <p:nvSpPr>
            <p:cNvPr id="4411397" name="Line 5"/>
            <p:cNvSpPr>
              <a:spLocks noChangeShapeType="1"/>
            </p:cNvSpPr>
            <p:nvPr/>
          </p:nvSpPr>
          <p:spPr bwMode="auto">
            <a:xfrm flipV="1">
              <a:off x="523" y="1339"/>
              <a:ext cx="4778" cy="0"/>
            </a:xfrm>
            <a:prstGeom prst="line">
              <a:avLst/>
            </a:prstGeom>
            <a:noFill/>
            <a:ln w="57150">
              <a:solidFill>
                <a:schemeClr val="accent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11398" name="Text Box 6"/>
            <p:cNvSpPr txBox="1">
              <a:spLocks noChangeArrowheads="1"/>
            </p:cNvSpPr>
            <p:nvPr/>
          </p:nvSpPr>
          <p:spPr bwMode="auto">
            <a:xfrm>
              <a:off x="4489" y="1125"/>
              <a:ext cx="1012" cy="327"/>
            </a:xfrm>
            <a:prstGeom prst="rect">
              <a:avLst/>
            </a:prstGeom>
            <a:noFill/>
            <a:ln w="9525" algn="ctr">
              <a:noFill/>
              <a:miter lim="800000"/>
            </a:ln>
            <a:effectLst/>
          </p:spPr>
          <p:txBody>
            <a:bodyPr wrap="none">
              <a:spAutoFit/>
            </a:bodyPr>
            <a:lstStyle>
              <a:lvl1pPr eaLnBrk="0" hangingPunct="0">
                <a:defRPr sz="2400" b="1">
                  <a:solidFill>
                    <a:schemeClr val="tx2"/>
                  </a:solidFill>
                  <a:latin typeface="Arial" panose="020B0604020202020204" pitchFamily="34" charset="0"/>
                  <a:ea typeface="宋体" panose="02010600030101010101" pitchFamily="2" charset="-122"/>
                </a:defRPr>
              </a:lvl1pPr>
              <a:lvl2pPr marL="742950" indent="-285750" eaLnBrk="0" hangingPunct="0">
                <a:defRPr sz="2400" b="1">
                  <a:solidFill>
                    <a:schemeClr val="tx2"/>
                  </a:solidFill>
                  <a:latin typeface="Arial" panose="020B0604020202020204" pitchFamily="34" charset="0"/>
                  <a:ea typeface="宋体" panose="02010600030101010101" pitchFamily="2" charset="-122"/>
                </a:defRPr>
              </a:lvl2pPr>
              <a:lvl3pPr marL="1143000" indent="-228600" eaLnBrk="0" hangingPunct="0">
                <a:defRPr sz="2400" b="1">
                  <a:solidFill>
                    <a:schemeClr val="tx2"/>
                  </a:solidFill>
                  <a:latin typeface="Arial" panose="020B0604020202020204" pitchFamily="34" charset="0"/>
                  <a:ea typeface="宋体" panose="02010600030101010101" pitchFamily="2" charset="-122"/>
                </a:defRPr>
              </a:lvl3pPr>
              <a:lvl4pPr marL="1600200" indent="-228600" eaLnBrk="0" hangingPunct="0">
                <a:defRPr sz="2400" b="1">
                  <a:solidFill>
                    <a:schemeClr val="tx2"/>
                  </a:solidFill>
                  <a:latin typeface="Arial" panose="020B0604020202020204" pitchFamily="34" charset="0"/>
                  <a:ea typeface="宋体" panose="02010600030101010101" pitchFamily="2" charset="-122"/>
                </a:defRPr>
              </a:lvl4pPr>
              <a:lvl5pPr marL="2057400" indent="-228600" eaLnBrk="0" hangingPunct="0">
                <a:defRPr sz="2400" b="1">
                  <a:solidFill>
                    <a:schemeClr val="tx2"/>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smtClean="0">
                  <a:ln>
                    <a:noFill/>
                  </a:ln>
                  <a:solidFill>
                    <a:srgbClr val="FF3300"/>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rPr>
                <a:t>用户接口</a:t>
              </a:r>
              <a:endParaRPr kumimoji="0" lang="zh-CN" altLang="en-US" sz="2800" b="1" i="0" u="none" strike="noStrike" kern="1200" cap="none" spc="0" normalizeH="0" baseline="0" noProof="0" smtClean="0">
                <a:ln>
                  <a:noFill/>
                </a:ln>
                <a:solidFill>
                  <a:srgbClr val="FF3300"/>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endParaRPr>
            </a:p>
          </p:txBody>
        </p:sp>
        <p:sp>
          <p:nvSpPr>
            <p:cNvPr id="4411399" name="Rectangle 7"/>
            <p:cNvSpPr>
              <a:spLocks noChangeArrowheads="1"/>
            </p:cNvSpPr>
            <p:nvPr/>
          </p:nvSpPr>
          <p:spPr bwMode="auto">
            <a:xfrm>
              <a:off x="1065" y="1507"/>
              <a:ext cx="3596" cy="772"/>
            </a:xfrm>
            <a:prstGeom prst="rect">
              <a:avLst/>
            </a:prstGeom>
            <a:noFill/>
            <a:ln w="38100" algn="ctr">
              <a:solidFill>
                <a:schemeClr val="tx1"/>
              </a:solid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编译器、汇编器、数据库管理系统</a:t>
              </a:r>
              <a:endPar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操作系统</a:t>
              </a:r>
              <a:endPar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设备驱动器、</a:t>
              </a:r>
              <a:r>
                <a:rPr kumimoji="0" lang="en-US" altLang="zh-CN"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Web</a:t>
              </a:r>
              <a:r>
                <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浏览器、中断服务程序</a:t>
              </a:r>
              <a:endPar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p:txBody>
        </p:sp>
        <p:sp>
          <p:nvSpPr>
            <p:cNvPr id="4411400" name="Rectangle 8"/>
            <p:cNvSpPr>
              <a:spLocks noChangeArrowheads="1"/>
            </p:cNvSpPr>
            <p:nvPr/>
          </p:nvSpPr>
          <p:spPr bwMode="auto">
            <a:xfrm>
              <a:off x="4663" y="1709"/>
              <a:ext cx="1012" cy="327"/>
            </a:xfrm>
            <a:prstGeom prst="rect">
              <a:avLst/>
            </a:prstGeom>
            <a:noFill/>
            <a:ln w="9525" algn="ctr">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rPr>
                <a:t>系统软件</a:t>
              </a:r>
              <a:endParaRPr kumimoji="0" lang="zh-CN" altLang="en-US" sz="2800" b="1"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endParaRPr>
            </a:p>
          </p:txBody>
        </p:sp>
        <p:sp>
          <p:nvSpPr>
            <p:cNvPr id="4411403" name="Line 11"/>
            <p:cNvSpPr>
              <a:spLocks noChangeShapeType="1"/>
            </p:cNvSpPr>
            <p:nvPr/>
          </p:nvSpPr>
          <p:spPr bwMode="auto">
            <a:xfrm flipV="1">
              <a:off x="566" y="2421"/>
              <a:ext cx="4767" cy="0"/>
            </a:xfrm>
            <a:prstGeom prst="line">
              <a:avLst/>
            </a:prstGeom>
            <a:noFill/>
            <a:ln w="57150">
              <a:solidFill>
                <a:schemeClr val="accent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11404" name="Text Box 12"/>
            <p:cNvSpPr txBox="1">
              <a:spLocks noChangeArrowheads="1"/>
            </p:cNvSpPr>
            <p:nvPr/>
          </p:nvSpPr>
          <p:spPr bwMode="auto">
            <a:xfrm>
              <a:off x="4151" y="2206"/>
              <a:ext cx="1460" cy="327"/>
            </a:xfrm>
            <a:prstGeom prst="rect">
              <a:avLst/>
            </a:prstGeom>
            <a:noFill/>
            <a:ln w="9525" algn="ctr">
              <a:noFill/>
              <a:miter lim="800000"/>
            </a:ln>
            <a:effectLst/>
          </p:spPr>
          <p:txBody>
            <a:bodyPr wrap="none">
              <a:spAutoFit/>
            </a:bodyPr>
            <a:lstStyle>
              <a:lvl1pPr eaLnBrk="0" hangingPunct="0">
                <a:defRPr sz="2400" b="1">
                  <a:solidFill>
                    <a:schemeClr val="tx2"/>
                  </a:solidFill>
                  <a:latin typeface="Arial" panose="020B0604020202020204" pitchFamily="34" charset="0"/>
                  <a:ea typeface="宋体" panose="02010600030101010101" pitchFamily="2" charset="-122"/>
                </a:defRPr>
              </a:lvl1pPr>
              <a:lvl2pPr marL="742950" indent="-285750" eaLnBrk="0" hangingPunct="0">
                <a:defRPr sz="2400" b="1">
                  <a:solidFill>
                    <a:schemeClr val="tx2"/>
                  </a:solidFill>
                  <a:latin typeface="Arial" panose="020B0604020202020204" pitchFamily="34" charset="0"/>
                  <a:ea typeface="宋体" panose="02010600030101010101" pitchFamily="2" charset="-122"/>
                </a:defRPr>
              </a:lvl2pPr>
              <a:lvl3pPr marL="1143000" indent="-228600" eaLnBrk="0" hangingPunct="0">
                <a:defRPr sz="2400" b="1">
                  <a:solidFill>
                    <a:schemeClr val="tx2"/>
                  </a:solidFill>
                  <a:latin typeface="Arial" panose="020B0604020202020204" pitchFamily="34" charset="0"/>
                  <a:ea typeface="宋体" panose="02010600030101010101" pitchFamily="2" charset="-122"/>
                </a:defRPr>
              </a:lvl3pPr>
              <a:lvl4pPr marL="1600200" indent="-228600" eaLnBrk="0" hangingPunct="0">
                <a:defRPr sz="2400" b="1">
                  <a:solidFill>
                    <a:schemeClr val="tx2"/>
                  </a:solidFill>
                  <a:latin typeface="Arial" panose="020B0604020202020204" pitchFamily="34" charset="0"/>
                  <a:ea typeface="宋体" panose="02010600030101010101" pitchFamily="2" charset="-122"/>
                </a:defRPr>
              </a:lvl4pPr>
              <a:lvl5pPr marL="2057400" indent="-228600" eaLnBrk="0" hangingPunct="0">
                <a:defRPr sz="2400" b="1">
                  <a:solidFill>
                    <a:schemeClr val="tx2"/>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smtClean="0">
                  <a:ln>
                    <a:noFill/>
                  </a:ln>
                  <a:solidFill>
                    <a:srgbClr val="FF3300"/>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rPr>
                <a:t>系统调用接口</a:t>
              </a:r>
              <a:endParaRPr kumimoji="0" lang="zh-CN" altLang="en-US" sz="2800" b="1" i="0" u="none" strike="noStrike" kern="1200" cap="none" spc="0" normalizeH="0" baseline="0" noProof="0" smtClean="0">
                <a:ln>
                  <a:noFill/>
                </a:ln>
                <a:solidFill>
                  <a:srgbClr val="FF3300"/>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endParaRPr>
            </a:p>
          </p:txBody>
        </p:sp>
        <p:sp>
          <p:nvSpPr>
            <p:cNvPr id="4411405" name="Text Box 13"/>
            <p:cNvSpPr txBox="1">
              <a:spLocks noChangeArrowheads="1"/>
            </p:cNvSpPr>
            <p:nvPr/>
          </p:nvSpPr>
          <p:spPr bwMode="auto">
            <a:xfrm>
              <a:off x="-43" y="1937"/>
              <a:ext cx="1140" cy="979"/>
            </a:xfrm>
            <a:prstGeom prst="rect">
              <a:avLst/>
            </a:prstGeom>
            <a:noFill/>
            <a:ln w="9525" algn="ctr">
              <a:noFill/>
              <a:miter lim="800000"/>
            </a:ln>
            <a:effectLst/>
          </p:spPr>
          <p:txBody>
            <a:bodyPr wrap="none">
              <a:spAutoFit/>
            </a:bodyPr>
            <a:lstStyle>
              <a:lvl1pPr eaLnBrk="0" hangingPunct="0">
                <a:defRPr sz="2400" b="1">
                  <a:solidFill>
                    <a:schemeClr val="tx2"/>
                  </a:solidFill>
                  <a:latin typeface="Arial" panose="020B0604020202020204" pitchFamily="34" charset="0"/>
                  <a:ea typeface="宋体" panose="02010600030101010101" pitchFamily="2" charset="-122"/>
                </a:defRPr>
              </a:lvl1pPr>
              <a:lvl2pPr marL="742950" indent="-285750" eaLnBrk="0" hangingPunct="0">
                <a:defRPr sz="2400" b="1">
                  <a:solidFill>
                    <a:schemeClr val="tx2"/>
                  </a:solidFill>
                  <a:latin typeface="Arial" panose="020B0604020202020204" pitchFamily="34" charset="0"/>
                  <a:ea typeface="宋体" panose="02010600030101010101" pitchFamily="2" charset="-122"/>
                </a:defRPr>
              </a:lvl2pPr>
              <a:lvl3pPr marL="1143000" indent="-228600" eaLnBrk="0" hangingPunct="0">
                <a:defRPr sz="2400" b="1">
                  <a:solidFill>
                    <a:schemeClr val="tx2"/>
                  </a:solidFill>
                  <a:latin typeface="Arial" panose="020B0604020202020204" pitchFamily="34" charset="0"/>
                  <a:ea typeface="宋体" panose="02010600030101010101" pitchFamily="2" charset="-122"/>
                </a:defRPr>
              </a:lvl3pPr>
              <a:lvl4pPr marL="1600200" indent="-228600" eaLnBrk="0" hangingPunct="0">
                <a:defRPr sz="2400" b="1">
                  <a:solidFill>
                    <a:schemeClr val="tx2"/>
                  </a:solidFill>
                  <a:latin typeface="Arial" panose="020B0604020202020204" pitchFamily="34" charset="0"/>
                  <a:ea typeface="宋体" panose="02010600030101010101" pitchFamily="2" charset="-122"/>
                </a:defRPr>
              </a:lvl4pPr>
              <a:lvl5pPr marL="2057400" indent="-228600" eaLnBrk="0" hangingPunct="0">
                <a:defRPr sz="2400" b="1">
                  <a:solidFill>
                    <a:schemeClr val="tx2"/>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smtClean="0">
                  <a:ln>
                    <a:noFill/>
                  </a:ln>
                  <a:solidFill>
                    <a:srgbClr val="66FFFF"/>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rPr>
                <a:t>软件系统</a:t>
              </a:r>
              <a:endParaRPr kumimoji="0" lang="zh-CN" altLang="en-US" sz="3200" b="1" i="0" u="none" strike="noStrike" kern="1200" cap="none" spc="0" normalizeH="0" baseline="0" noProof="0" smtClean="0">
                <a:ln>
                  <a:noFill/>
                </a:ln>
                <a:solidFill>
                  <a:srgbClr val="66FFFF"/>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200" b="1" i="0" u="none" strike="noStrike" kern="1200" cap="none" spc="0" normalizeH="0" baseline="0" noProof="0" smtClean="0">
                <a:ln>
                  <a:noFill/>
                </a:ln>
                <a:solidFill>
                  <a:srgbClr val="66FFFF"/>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smtClean="0">
                  <a:ln>
                    <a:noFill/>
                  </a:ln>
                  <a:solidFill>
                    <a:srgbClr val="66FFFF"/>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rPr>
                <a:t>硬件系统</a:t>
              </a:r>
              <a:endParaRPr kumimoji="0" lang="zh-CN" altLang="en-US" sz="3200" b="1" i="0" u="none" strike="noStrike" kern="1200" cap="none" spc="0" normalizeH="0" baseline="0" noProof="0" smtClean="0">
                <a:ln>
                  <a:noFill/>
                </a:ln>
                <a:solidFill>
                  <a:srgbClr val="66FFFF"/>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endParaRPr>
            </a:p>
          </p:txBody>
        </p:sp>
        <p:sp>
          <p:nvSpPr>
            <p:cNvPr id="4411406" name="Rectangle 14"/>
            <p:cNvSpPr>
              <a:spLocks noChangeArrowheads="1"/>
            </p:cNvSpPr>
            <p:nvPr/>
          </p:nvSpPr>
          <p:spPr bwMode="auto">
            <a:xfrm>
              <a:off x="1350" y="2568"/>
              <a:ext cx="2914" cy="772"/>
            </a:xfrm>
            <a:prstGeom prst="rect">
              <a:avLst/>
            </a:prstGeom>
            <a:noFill/>
            <a:ln w="38100" algn="ctr">
              <a:solidFill>
                <a:schemeClr val="tx1"/>
              </a:solid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异常事件处理机构</a:t>
              </a:r>
              <a:endPar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控制器、</a:t>
              </a:r>
              <a:r>
                <a:rPr kumimoji="0" lang="en-US" altLang="zh-CN"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CPU</a:t>
              </a:r>
              <a:r>
                <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、高速缓存、</a:t>
              </a:r>
              <a:r>
                <a:rPr kumimoji="0" lang="en-US" altLang="zh-CN"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RAM</a:t>
              </a:r>
              <a:endParaRPr kumimoji="0" lang="en-US" altLang="zh-CN"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I/O</a:t>
              </a:r>
              <a:r>
                <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子系统、通信子系统</a:t>
              </a:r>
              <a:endPar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p:txBody>
        </p:sp>
        <p:sp>
          <p:nvSpPr>
            <p:cNvPr id="4411407" name="Line 15"/>
            <p:cNvSpPr>
              <a:spLocks noChangeShapeType="1"/>
            </p:cNvSpPr>
            <p:nvPr/>
          </p:nvSpPr>
          <p:spPr bwMode="auto">
            <a:xfrm flipV="1">
              <a:off x="476" y="3499"/>
              <a:ext cx="4767" cy="0"/>
            </a:xfrm>
            <a:prstGeom prst="line">
              <a:avLst/>
            </a:prstGeom>
            <a:noFill/>
            <a:ln w="57150">
              <a:solidFill>
                <a:schemeClr val="accent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11408" name="Rectangle 16"/>
            <p:cNvSpPr>
              <a:spLocks noChangeArrowheads="1"/>
            </p:cNvSpPr>
            <p:nvPr/>
          </p:nvSpPr>
          <p:spPr bwMode="auto">
            <a:xfrm>
              <a:off x="1847" y="3684"/>
              <a:ext cx="1761" cy="312"/>
            </a:xfrm>
            <a:prstGeom prst="rect">
              <a:avLst/>
            </a:prstGeom>
            <a:noFill/>
            <a:ln w="38100" algn="ctr">
              <a:solidFill>
                <a:schemeClr val="tx1"/>
              </a:solid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I/O</a:t>
              </a:r>
              <a:r>
                <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设备、通信设备</a:t>
              </a:r>
              <a:endParaRPr kumimoji="0" lang="zh-CN" altLang="en-US" sz="2400" b="1" i="0" u="none" strike="noStrike" kern="1200" cap="none" spc="0" normalizeH="0" baseline="0" noProof="0">
                <a:ln>
                  <a:noFill/>
                </a:ln>
                <a:solidFill>
                  <a:srgbClr val="FFFF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p:txBody>
        </p:sp>
        <p:sp>
          <p:nvSpPr>
            <p:cNvPr id="4411409" name="Text Box 17"/>
            <p:cNvSpPr txBox="1">
              <a:spLocks noChangeArrowheads="1"/>
            </p:cNvSpPr>
            <p:nvPr/>
          </p:nvSpPr>
          <p:spPr bwMode="auto">
            <a:xfrm>
              <a:off x="4058" y="3328"/>
              <a:ext cx="1559" cy="327"/>
            </a:xfrm>
            <a:prstGeom prst="rect">
              <a:avLst/>
            </a:prstGeom>
            <a:noFill/>
            <a:ln w="9525" algn="ctr">
              <a:noFill/>
              <a:miter lim="800000"/>
            </a:ln>
            <a:effectLst/>
          </p:spPr>
          <p:txBody>
            <a:bodyPr wrap="none">
              <a:spAutoFit/>
            </a:bodyPr>
            <a:lstStyle>
              <a:lvl1pPr eaLnBrk="0" hangingPunct="0">
                <a:defRPr sz="2400" b="1">
                  <a:solidFill>
                    <a:schemeClr val="tx2"/>
                  </a:solidFill>
                  <a:latin typeface="Arial" panose="020B0604020202020204" pitchFamily="34" charset="0"/>
                  <a:ea typeface="宋体" panose="02010600030101010101" pitchFamily="2" charset="-122"/>
                </a:defRPr>
              </a:lvl1pPr>
              <a:lvl2pPr marL="742950" indent="-285750" eaLnBrk="0" hangingPunct="0">
                <a:defRPr sz="2400" b="1">
                  <a:solidFill>
                    <a:schemeClr val="tx2"/>
                  </a:solidFill>
                  <a:latin typeface="Arial" panose="020B0604020202020204" pitchFamily="34" charset="0"/>
                  <a:ea typeface="宋体" panose="02010600030101010101" pitchFamily="2" charset="-122"/>
                </a:defRPr>
              </a:lvl2pPr>
              <a:lvl3pPr marL="1143000" indent="-228600" eaLnBrk="0" hangingPunct="0">
                <a:defRPr sz="2400" b="1">
                  <a:solidFill>
                    <a:schemeClr val="tx2"/>
                  </a:solidFill>
                  <a:latin typeface="Arial" panose="020B0604020202020204" pitchFamily="34" charset="0"/>
                  <a:ea typeface="宋体" panose="02010600030101010101" pitchFamily="2" charset="-122"/>
                </a:defRPr>
              </a:lvl3pPr>
              <a:lvl4pPr marL="1600200" indent="-228600" eaLnBrk="0" hangingPunct="0">
                <a:defRPr sz="2400" b="1">
                  <a:solidFill>
                    <a:schemeClr val="tx2"/>
                  </a:solidFill>
                  <a:latin typeface="Arial" panose="020B0604020202020204" pitchFamily="34" charset="0"/>
                  <a:ea typeface="宋体" panose="02010600030101010101" pitchFamily="2" charset="-122"/>
                </a:defRPr>
              </a:lvl4pPr>
              <a:lvl5pPr marL="2057400" indent="-228600" eaLnBrk="0" hangingPunct="0">
                <a:defRPr sz="2400" b="1">
                  <a:solidFill>
                    <a:schemeClr val="tx2"/>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smtClean="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I/O</a:t>
              </a:r>
              <a:r>
                <a:rPr kumimoji="0" lang="zh-CN" altLang="en-US" sz="2800" b="1" i="0" u="none" strike="noStrike" kern="1200" cap="none" spc="0" normalizeH="0" baseline="0" noProof="0" smtClean="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、通信接口</a:t>
              </a:r>
              <a:endParaRPr kumimoji="0" lang="zh-CN" altLang="en-US" sz="2800" b="1" i="0" u="none" strike="noStrike" kern="1200" cap="none" spc="0" normalizeH="0" baseline="0" noProof="0" smtClean="0">
                <a:ln>
                  <a:noFill/>
                </a:ln>
                <a:solidFill>
                  <a:srgbClr val="FF3300"/>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p:txBody>
        </p:sp>
        <p:sp>
          <p:nvSpPr>
            <p:cNvPr id="4411410" name="Rectangle 18"/>
            <p:cNvSpPr>
              <a:spLocks noChangeArrowheads="1"/>
            </p:cNvSpPr>
            <p:nvPr/>
          </p:nvSpPr>
          <p:spPr bwMode="auto">
            <a:xfrm>
              <a:off x="71" y="2952"/>
              <a:ext cx="1236" cy="327"/>
            </a:xfrm>
            <a:prstGeom prst="rect">
              <a:avLst/>
            </a:prstGeom>
            <a:noFill/>
            <a:ln w="9525" algn="ctr">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rPr>
                <a:t>硬件系统层</a:t>
              </a:r>
              <a:endParaRPr kumimoji="0" lang="zh-CN" altLang="en-US" sz="2800" b="1"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endParaRPr>
            </a:p>
          </p:txBody>
        </p:sp>
        <p:sp>
          <p:nvSpPr>
            <p:cNvPr id="4411411" name="Text Box 19"/>
            <p:cNvSpPr txBox="1">
              <a:spLocks noChangeArrowheads="1"/>
            </p:cNvSpPr>
            <p:nvPr/>
          </p:nvSpPr>
          <p:spPr bwMode="auto">
            <a:xfrm>
              <a:off x="4311" y="2606"/>
              <a:ext cx="1268" cy="748"/>
            </a:xfrm>
            <a:prstGeom prst="rect">
              <a:avLst/>
            </a:prstGeom>
            <a:noFill/>
            <a:ln w="9525" algn="ctr">
              <a:noFill/>
              <a:miter lim="800000"/>
            </a:ln>
            <a:effectLst/>
          </p:spPr>
          <p:txBody>
            <a:bodyPr wrap="none">
              <a:spAutoFit/>
            </a:bodyPr>
            <a:lstStyle/>
            <a:p>
              <a:pPr marR="0" algn="ctr" defTabSz="914400" eaLnBrk="1" hangingPunct="1">
                <a:buClrTx/>
                <a:buSzTx/>
                <a:buFontTx/>
                <a:buNone/>
                <a:defRPr/>
              </a:pPr>
              <a:r>
                <a:rPr kumimoji="0" lang="zh-CN" altLang="en-US" kern="1200" cap="none" spc="0" normalizeH="0" baseline="0" noProof="0">
                  <a:solidFill>
                    <a:srgbClr val="00FF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rPr>
                <a:t>指令系统结构</a:t>
              </a:r>
              <a:endParaRPr kumimoji="0" lang="zh-CN" altLang="en-US" kern="1200" cap="none" spc="0" normalizeH="0" baseline="0" noProof="0">
                <a:solidFill>
                  <a:srgbClr val="00FF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endParaRPr>
            </a:p>
            <a:p>
              <a:pPr marR="0" algn="ctr" defTabSz="914400" eaLnBrk="1" hangingPunct="1">
                <a:buClrTx/>
                <a:buSzTx/>
                <a:buFontTx/>
                <a:buNone/>
                <a:defRPr/>
              </a:pPr>
              <a:r>
                <a:rPr kumimoji="0" lang="zh-CN" altLang="en-US" kern="1200" cap="none" spc="0" normalizeH="0" baseline="0" noProof="0">
                  <a:solidFill>
                    <a:srgbClr val="00FF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rPr>
                <a:t>计算机组织</a:t>
              </a:r>
              <a:endParaRPr kumimoji="0" lang="zh-CN" altLang="en-US" kern="1200" cap="none" spc="0" normalizeH="0" baseline="0" noProof="0">
                <a:solidFill>
                  <a:srgbClr val="00FF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endParaRPr>
            </a:p>
            <a:p>
              <a:pPr marR="0" algn="ctr" defTabSz="914400" eaLnBrk="1" hangingPunct="1">
                <a:buClrTx/>
                <a:buSzTx/>
                <a:buFontTx/>
                <a:buNone/>
                <a:defRPr/>
              </a:pPr>
              <a:r>
                <a:rPr kumimoji="0" lang="zh-CN" altLang="en-US" kern="1200" cap="none" spc="0" normalizeH="0" baseline="0" noProof="0">
                  <a:solidFill>
                    <a:srgbClr val="00FF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rPr>
                <a:t>计算机实现</a:t>
              </a:r>
              <a:endParaRPr kumimoji="0" lang="zh-CN" altLang="en-US" kern="1200" cap="none" spc="0" normalizeH="0" baseline="0" noProof="0">
                <a:solidFill>
                  <a:srgbClr val="00FF00"/>
                </a:solidFill>
                <a:effectLst>
                  <a:outerShdw blurRad="38100" dist="38100" dir="2700000" algn="tl">
                    <a:srgbClr val="000000"/>
                  </a:outerShdw>
                </a:effectLst>
                <a:latin typeface="Arial" panose="020B0604020202020204" pitchFamily="34" charset="0"/>
                <a:ea typeface="华文新魏" panose="02010800040101010101" pitchFamily="2" charset="-122"/>
                <a:cs typeface="+mn-cs"/>
              </a:endParaRPr>
            </a:p>
          </p:txBody>
        </p:sp>
        <p:sp>
          <p:nvSpPr>
            <p:cNvPr id="4411412" name="Rectangle 20"/>
            <p:cNvSpPr>
              <a:spLocks noChangeArrowheads="1"/>
            </p:cNvSpPr>
            <p:nvPr/>
          </p:nvSpPr>
          <p:spPr bwMode="auto">
            <a:xfrm>
              <a:off x="264" y="3685"/>
              <a:ext cx="1236" cy="327"/>
            </a:xfrm>
            <a:prstGeom prst="rect">
              <a:avLst/>
            </a:prstGeom>
            <a:noFill/>
            <a:ln w="9525" algn="ctr">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rPr>
                <a:t>硬件设备层</a:t>
              </a:r>
              <a:endParaRPr kumimoji="0" lang="zh-CN" altLang="en-US" sz="2800" b="1"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华文新魏" panose="02010800040101010101" pitchFamily="2" charset="-122"/>
                <a:cs typeface="+mn-cs"/>
              </a:endParaRPr>
            </a:p>
          </p:txBody>
        </p:sp>
      </p:grpSp>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13762" name="Rectangle 2"/>
          <p:cNvSpPr>
            <a:spLocks noGrp="1" noChangeArrowheads="1"/>
          </p:cNvSpPr>
          <p:nvPr>
            <p:ph type="title"/>
          </p:nvPr>
        </p:nvSpPr>
        <p:spPr>
          <a:xfrm>
            <a:off x="0" y="127000"/>
            <a:ext cx="9144000" cy="823913"/>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回顾－计算机性能指标</a:t>
            </a:r>
            <a:endPar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14339" name="Rectangle 3"/>
          <p:cNvSpPr>
            <a:spLocks noGrp="1"/>
          </p:cNvSpPr>
          <p:nvPr>
            <p:ph idx="1"/>
          </p:nvPr>
        </p:nvSpPr>
        <p:spPr>
          <a:xfrm>
            <a:off x="471488" y="1112838"/>
            <a:ext cx="8504237" cy="5546725"/>
          </a:xfrm>
          <a:ln/>
        </p:spPr>
        <p:txBody>
          <a:bodyPr vert="horz" wrap="square" lIns="92075" tIns="46038" rIns="92075" bIns="46038" anchor="t" anchorCtr="0">
            <a:spAutoFit/>
          </a:bodyPr>
          <a:p>
            <a:pPr marL="457200" indent="-457200" eaLnBrk="1" hangingPunct="1">
              <a:lnSpc>
                <a:spcPct val="100000"/>
              </a:lnSpc>
              <a:spcBef>
                <a:spcPct val="20000"/>
              </a:spcBef>
            </a:pPr>
            <a:r>
              <a:rPr lang="zh-CN" altLang="en-US" sz="2800" dirty="0"/>
              <a:t>机器字长	</a:t>
            </a:r>
            <a:endParaRPr lang="zh-CN" altLang="en-US" sz="2800" dirty="0"/>
          </a:p>
          <a:p>
            <a:pPr lvl="1" eaLnBrk="1" hangingPunct="1">
              <a:lnSpc>
                <a:spcPct val="100000"/>
              </a:lnSpc>
              <a:spcBef>
                <a:spcPct val="20000"/>
              </a:spcBef>
              <a:buClr>
                <a:schemeClr val="folHlink"/>
              </a:buClr>
            </a:pPr>
            <a:r>
              <a:rPr lang="en-US" altLang="zh-CN" sz="2400" dirty="0">
                <a:latin typeface="Times New Roman" panose="02020603050405020304" pitchFamily="18" charset="0"/>
              </a:rPr>
              <a:t>CPU </a:t>
            </a:r>
            <a:r>
              <a:rPr lang="zh-CN" altLang="en-US" sz="2400" dirty="0">
                <a:latin typeface="Times New Roman" panose="02020603050405020304" pitchFamily="18" charset="0"/>
              </a:rPr>
              <a:t>一次能处理数据的位数</a:t>
            </a:r>
            <a:endParaRPr lang="zh-CN" altLang="en-US" sz="2400" dirty="0">
              <a:latin typeface="Times New Roman" panose="02020603050405020304" pitchFamily="18" charset="0"/>
            </a:endParaRPr>
          </a:p>
          <a:p>
            <a:pPr lvl="1" eaLnBrk="1" hangingPunct="1">
              <a:lnSpc>
                <a:spcPct val="100000"/>
              </a:lnSpc>
              <a:spcBef>
                <a:spcPct val="20000"/>
              </a:spcBef>
              <a:buClr>
                <a:schemeClr val="folHlink"/>
              </a:buClr>
            </a:pPr>
            <a:r>
              <a:rPr lang="zh-CN" altLang="en-US" sz="2400" dirty="0">
                <a:latin typeface="Times New Roman" panose="02020603050405020304" pitchFamily="18" charset="0"/>
              </a:rPr>
              <a:t>与 </a:t>
            </a:r>
            <a:r>
              <a:rPr lang="en-US" altLang="zh-CN" sz="2400" dirty="0">
                <a:latin typeface="Times New Roman" panose="02020603050405020304" pitchFamily="18" charset="0"/>
              </a:rPr>
              <a:t>CPU </a:t>
            </a:r>
            <a:r>
              <a:rPr lang="zh-CN" altLang="en-US" sz="2400" dirty="0">
                <a:latin typeface="Times New Roman" panose="02020603050405020304" pitchFamily="18" charset="0"/>
              </a:rPr>
              <a:t>中的</a:t>
            </a:r>
            <a:r>
              <a:rPr lang="zh-CN" altLang="en-US" sz="2400" dirty="0">
                <a:solidFill>
                  <a:srgbClr val="FFFF00"/>
                </a:solidFill>
                <a:latin typeface="Times New Roman" panose="02020603050405020304" pitchFamily="18" charset="0"/>
              </a:rPr>
              <a:t>通用 </a:t>
            </a:r>
            <a:r>
              <a:rPr lang="zh-CN" altLang="en-US" sz="2400" dirty="0">
                <a:solidFill>
                  <a:srgbClr val="F7F727"/>
                </a:solidFill>
                <a:latin typeface="Times New Roman" panose="02020603050405020304" pitchFamily="18" charset="0"/>
              </a:rPr>
              <a:t>寄存器的位数</a:t>
            </a:r>
            <a:r>
              <a:rPr lang="zh-CN" altLang="en-US" sz="2400" dirty="0">
                <a:latin typeface="Times New Roman" panose="02020603050405020304" pitchFamily="18" charset="0"/>
              </a:rPr>
              <a:t> 及</a:t>
            </a:r>
            <a:r>
              <a:rPr lang="en-US" altLang="zh-CN" sz="2400" dirty="0">
                <a:latin typeface="Times New Roman" panose="02020603050405020304" pitchFamily="18" charset="0"/>
              </a:rPr>
              <a:t>ALU</a:t>
            </a:r>
            <a:r>
              <a:rPr lang="zh-CN" altLang="en-US" sz="2400" dirty="0">
                <a:solidFill>
                  <a:srgbClr val="FFFF00"/>
                </a:solidFill>
                <a:latin typeface="Times New Roman" panose="02020603050405020304" pitchFamily="18" charset="0"/>
              </a:rPr>
              <a:t>数据通路的</a:t>
            </a:r>
            <a:r>
              <a:rPr lang="zh-CN" altLang="en-US" sz="2400" dirty="0">
                <a:solidFill>
                  <a:srgbClr val="F7F727"/>
                </a:solidFill>
                <a:latin typeface="Times New Roman" panose="02020603050405020304" pitchFamily="18" charset="0"/>
              </a:rPr>
              <a:t>位数</a:t>
            </a:r>
            <a:r>
              <a:rPr lang="zh-CN" altLang="en-US" sz="2400" dirty="0">
                <a:latin typeface="Times New Roman" panose="02020603050405020304" pitchFamily="18" charset="0"/>
              </a:rPr>
              <a:t>有关</a:t>
            </a:r>
            <a:endParaRPr lang="zh-CN" altLang="en-US" sz="2400" dirty="0">
              <a:latin typeface="Times New Roman" panose="02020603050405020304" pitchFamily="18" charset="0"/>
            </a:endParaRPr>
          </a:p>
          <a:p>
            <a:pPr marL="457200" indent="-457200" eaLnBrk="1" hangingPunct="1">
              <a:lnSpc>
                <a:spcPct val="100000"/>
              </a:lnSpc>
              <a:spcBef>
                <a:spcPct val="20000"/>
              </a:spcBef>
            </a:pPr>
            <a:r>
              <a:rPr lang="zh-CN" altLang="en-US" sz="2800" dirty="0"/>
              <a:t>运算精度</a:t>
            </a:r>
            <a:endParaRPr lang="zh-CN" altLang="en-US" sz="2800" dirty="0"/>
          </a:p>
          <a:p>
            <a:pPr lvl="1" eaLnBrk="1" hangingPunct="1">
              <a:lnSpc>
                <a:spcPct val="100000"/>
              </a:lnSpc>
              <a:spcBef>
                <a:spcPct val="20000"/>
              </a:spcBef>
              <a:buClr>
                <a:schemeClr val="folHlink"/>
              </a:buClr>
              <a:buFont typeface="Symbol" panose="05050102010706020507" pitchFamily="18" charset="2"/>
              <a:buBlip>
                <a:blip r:embed="rId1"/>
              </a:buBlip>
            </a:pPr>
            <a:r>
              <a:rPr lang="zh-CN" altLang="en-US" sz="2400" dirty="0"/>
              <a:t>用计算机能直接处理的二进制信息位数衡量</a:t>
            </a:r>
            <a:endParaRPr lang="zh-CN" altLang="en-US" sz="2400" dirty="0"/>
          </a:p>
          <a:p>
            <a:pPr lvl="1" eaLnBrk="1" hangingPunct="1">
              <a:lnSpc>
                <a:spcPct val="100000"/>
              </a:lnSpc>
              <a:spcBef>
                <a:spcPct val="20000"/>
              </a:spcBef>
              <a:buClr>
                <a:schemeClr val="folHlink"/>
              </a:buClr>
            </a:pPr>
            <a:r>
              <a:rPr lang="zh-CN" altLang="en-US" sz="2400" dirty="0"/>
              <a:t>运算精度与通用寄存器的位数有关。位数越多精度越高</a:t>
            </a:r>
            <a:endParaRPr lang="zh-CN" altLang="en-US" sz="2400" dirty="0">
              <a:latin typeface="Times New Roman" panose="02020603050405020304" pitchFamily="18" charset="0"/>
            </a:endParaRPr>
          </a:p>
          <a:p>
            <a:pPr marL="457200" indent="-457200" eaLnBrk="1" hangingPunct="1">
              <a:lnSpc>
                <a:spcPct val="100000"/>
              </a:lnSpc>
              <a:spcBef>
                <a:spcPct val="20000"/>
              </a:spcBef>
            </a:pPr>
            <a:r>
              <a:rPr lang="en-US" altLang="zh-CN" sz="2800" dirty="0">
                <a:latin typeface="Times New Roman" panose="02020603050405020304" pitchFamily="18" charset="0"/>
              </a:rPr>
              <a:t>CPU</a:t>
            </a:r>
            <a:r>
              <a:rPr lang="zh-CN" altLang="en-US" sz="2800" dirty="0"/>
              <a:t>时钟周期</a:t>
            </a:r>
            <a:endParaRPr lang="zh-CN" altLang="en-US" sz="2800" dirty="0">
              <a:latin typeface="Times New Roman" panose="02020603050405020304" pitchFamily="18" charset="0"/>
            </a:endParaRPr>
          </a:p>
          <a:p>
            <a:pPr lvl="1" eaLnBrk="1" hangingPunct="1">
              <a:lnSpc>
                <a:spcPct val="100000"/>
              </a:lnSpc>
              <a:spcBef>
                <a:spcPct val="20000"/>
              </a:spcBef>
            </a:pPr>
            <a:r>
              <a:rPr lang="en-US" altLang="zh-CN" sz="2400" dirty="0">
                <a:latin typeface="Times New Roman" panose="02020603050405020304" pitchFamily="18" charset="0"/>
              </a:rPr>
              <a:t>CPU</a:t>
            </a:r>
            <a:r>
              <a:rPr lang="zh-CN" altLang="en-US" sz="2400" dirty="0">
                <a:latin typeface="Times New Roman" panose="02020603050405020304" pitchFamily="18" charset="0"/>
              </a:rPr>
              <a:t>的主脉冲信号，其宽度就是</a:t>
            </a:r>
            <a:r>
              <a:rPr lang="en-US" altLang="zh-CN" sz="2400" dirty="0">
                <a:latin typeface="Times New Roman" panose="02020603050405020304" pitchFamily="18" charset="0"/>
              </a:rPr>
              <a:t>CPU</a:t>
            </a:r>
            <a:r>
              <a:rPr lang="zh-CN" altLang="en-US" sz="2400" dirty="0">
                <a:latin typeface="Times New Roman" panose="02020603050405020304" pitchFamily="18" charset="0"/>
              </a:rPr>
              <a:t>的时钟周期</a:t>
            </a:r>
            <a:endParaRPr lang="zh-CN" altLang="en-US" sz="2400" dirty="0">
              <a:latin typeface="Times New Roman" panose="02020603050405020304" pitchFamily="18" charset="0"/>
            </a:endParaRPr>
          </a:p>
          <a:p>
            <a:pPr marL="457200" indent="-457200" eaLnBrk="1" hangingPunct="1">
              <a:lnSpc>
                <a:spcPct val="100000"/>
              </a:lnSpc>
              <a:spcBef>
                <a:spcPct val="20000"/>
              </a:spcBef>
            </a:pPr>
            <a:r>
              <a:rPr lang="zh-CN" altLang="en-US" sz="2800" dirty="0">
                <a:latin typeface="Times New Roman" panose="02020603050405020304" pitchFamily="18" charset="0"/>
              </a:rPr>
              <a:t>主频</a:t>
            </a:r>
            <a:endParaRPr lang="zh-CN" altLang="en-US" sz="2800" dirty="0">
              <a:latin typeface="Times New Roman" panose="02020603050405020304" pitchFamily="18" charset="0"/>
            </a:endParaRPr>
          </a:p>
          <a:p>
            <a:pPr lvl="1" eaLnBrk="1" hangingPunct="1">
              <a:lnSpc>
                <a:spcPct val="100000"/>
              </a:lnSpc>
              <a:spcBef>
                <a:spcPct val="20000"/>
              </a:spcBef>
              <a:buClr>
                <a:schemeClr val="folHlink"/>
              </a:buClr>
              <a:buFont typeface="Symbol" panose="05050102010706020507" pitchFamily="18" charset="2"/>
              <a:buBlip>
                <a:blip r:embed="rId1"/>
              </a:buBlip>
            </a:pPr>
            <a:r>
              <a:rPr lang="zh-CN" altLang="en-US" sz="2400" dirty="0">
                <a:latin typeface="Times New Roman" panose="02020603050405020304" pitchFamily="18" charset="0"/>
              </a:rPr>
              <a:t>决定计算机运行的速度。主频越高，运算速度越快</a:t>
            </a:r>
            <a:endParaRPr lang="zh-CN" altLang="en-US" sz="2400" dirty="0">
              <a:latin typeface="Times New Roman" panose="02020603050405020304" pitchFamily="18" charset="0"/>
            </a:endParaRPr>
          </a:p>
          <a:p>
            <a:pPr lvl="1" eaLnBrk="1" hangingPunct="1">
              <a:lnSpc>
                <a:spcPct val="100000"/>
              </a:lnSpc>
              <a:spcBef>
                <a:spcPct val="20000"/>
              </a:spcBef>
              <a:buClr>
                <a:schemeClr val="folHlink"/>
              </a:buClr>
              <a:buFont typeface="Symbol" panose="05050102010706020507" pitchFamily="18" charset="2"/>
              <a:buBlip>
                <a:blip r:embed="rId1"/>
              </a:buBlip>
            </a:pPr>
            <a:r>
              <a:rPr lang="en-US" altLang="zh-CN" sz="2400" dirty="0">
                <a:latin typeface="Times New Roman" panose="02020603050405020304" pitchFamily="18" charset="0"/>
              </a:rPr>
              <a:t>CPU</a:t>
            </a:r>
            <a:r>
              <a:rPr lang="zh-CN" altLang="en-US" sz="2400" dirty="0">
                <a:latin typeface="Times New Roman" panose="02020603050405020304" pitchFamily="18" charset="0"/>
              </a:rPr>
              <a:t>中的主脉冲信号频率，是</a:t>
            </a:r>
            <a:r>
              <a:rPr lang="en-US" altLang="zh-CN" sz="2400" dirty="0">
                <a:latin typeface="Times New Roman" panose="02020603050405020304" pitchFamily="18" charset="0"/>
              </a:rPr>
              <a:t>CPU</a:t>
            </a:r>
            <a:r>
              <a:rPr lang="zh-CN" altLang="en-US" sz="2400" dirty="0">
                <a:latin typeface="Times New Roman" panose="02020603050405020304" pitchFamily="18" charset="0"/>
              </a:rPr>
              <a:t>时钟周期</a:t>
            </a:r>
            <a:r>
              <a:rPr lang="zh-CN" altLang="en-US" sz="2400" dirty="0"/>
              <a:t>的倒数</a:t>
            </a:r>
            <a:endParaRPr lang="en-US" altLang="zh-CN" sz="2400" dirty="0"/>
          </a:p>
        </p:txBody>
      </p:sp>
    </p:spTree>
  </p:cSld>
  <p:clrMapOvr>
    <a:masterClrMapping/>
  </p:clrMapOvr>
  <p:transition>
    <p:pull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idx="1"/>
          </p:nvPr>
        </p:nvSpPr>
        <p:spPr>
          <a:xfrm>
            <a:off x="449263" y="1039813"/>
            <a:ext cx="8482012" cy="5694362"/>
          </a:xfrm>
          <a:ln/>
        </p:spPr>
        <p:txBody>
          <a:bodyPr vert="horz" wrap="square" lIns="92075" tIns="46038" rIns="92075" bIns="46038" anchor="t" anchorCtr="0">
            <a:spAutoFit/>
          </a:bodyPr>
          <a:p>
            <a:pPr marL="457200" indent="-457200" eaLnBrk="1" hangingPunct="1">
              <a:lnSpc>
                <a:spcPct val="100000"/>
              </a:lnSpc>
              <a:spcBef>
                <a:spcPct val="0"/>
              </a:spcBef>
            </a:pPr>
            <a:r>
              <a:rPr lang="zh-CN" altLang="en-US" sz="2800" dirty="0"/>
              <a:t>运算速度</a:t>
            </a:r>
            <a:endParaRPr lang="zh-CN" altLang="en-US" sz="2800" dirty="0"/>
          </a:p>
          <a:p>
            <a:pPr lvl="1" eaLnBrk="1" hangingPunct="1">
              <a:lnSpc>
                <a:spcPct val="100000"/>
              </a:lnSpc>
              <a:spcBef>
                <a:spcPct val="0"/>
              </a:spcBef>
              <a:buClr>
                <a:schemeClr val="folHlink"/>
              </a:buClr>
            </a:pPr>
            <a:r>
              <a:rPr lang="zh-CN" altLang="en-US" sz="2400" dirty="0"/>
              <a:t>计算机的工作能力和运算效率的主要表征</a:t>
            </a:r>
            <a:endParaRPr lang="zh-CN" altLang="en-US" sz="2400" dirty="0"/>
          </a:p>
          <a:p>
            <a:pPr lvl="1" eaLnBrk="1" hangingPunct="1">
              <a:lnSpc>
                <a:spcPct val="100000"/>
              </a:lnSpc>
              <a:spcBef>
                <a:spcPct val="0"/>
              </a:spcBef>
            </a:pPr>
            <a:r>
              <a:rPr lang="en-US" altLang="zh-CN" sz="2400" dirty="0">
                <a:latin typeface="Times New Roman" panose="02020603050405020304" pitchFamily="18" charset="0"/>
              </a:rPr>
              <a:t>CPI</a:t>
            </a:r>
            <a:r>
              <a:rPr lang="zh-CN" altLang="en-US" sz="2400" dirty="0">
                <a:latin typeface="Times New Roman" panose="02020603050405020304" pitchFamily="18" charset="0"/>
              </a:rPr>
              <a:t>：执行每条指令所需的平均时钟周期数</a:t>
            </a:r>
            <a:endParaRPr lang="en-US" altLang="zh-CN" sz="2400" dirty="0">
              <a:latin typeface="Times New Roman" panose="02020603050405020304" pitchFamily="18" charset="0"/>
            </a:endParaRPr>
          </a:p>
          <a:p>
            <a:pPr lvl="1" eaLnBrk="1" hangingPunct="1">
              <a:lnSpc>
                <a:spcPct val="100000"/>
              </a:lnSpc>
              <a:spcBef>
                <a:spcPct val="0"/>
              </a:spcBef>
            </a:pPr>
            <a:r>
              <a:rPr lang="en-US" altLang="zh-CN" sz="2400" dirty="0">
                <a:latin typeface="Times New Roman" panose="02020603050405020304" pitchFamily="18" charset="0"/>
              </a:rPr>
              <a:t>CPU</a:t>
            </a:r>
            <a:r>
              <a:rPr lang="zh-CN" altLang="en-US" sz="2400" dirty="0">
                <a:latin typeface="Times New Roman" panose="02020603050405020304" pitchFamily="18" charset="0"/>
              </a:rPr>
              <a:t>执行时间：程序在</a:t>
            </a:r>
            <a:r>
              <a:rPr lang="en-US" altLang="zh-CN" sz="2400" dirty="0">
                <a:latin typeface="Times New Roman" panose="02020603050405020304" pitchFamily="18" charset="0"/>
              </a:rPr>
              <a:t>CPU</a:t>
            </a:r>
            <a:r>
              <a:rPr lang="zh-CN" altLang="en-US" sz="2400" dirty="0">
                <a:latin typeface="Times New Roman" panose="02020603050405020304" pitchFamily="18" charset="0"/>
              </a:rPr>
              <a:t>运行时，实际</a:t>
            </a:r>
            <a:r>
              <a:rPr lang="en-US" altLang="zh-CN" sz="2400" dirty="0">
                <a:latin typeface="Times New Roman" panose="02020603050405020304" pitchFamily="18" charset="0"/>
              </a:rPr>
              <a:t>CPU</a:t>
            </a:r>
            <a:r>
              <a:rPr lang="zh-CN" altLang="en-US" sz="2400" dirty="0">
                <a:latin typeface="Times New Roman" panose="02020603050405020304" pitchFamily="18" charset="0"/>
              </a:rPr>
              <a:t>时间 </a:t>
            </a:r>
            <a:r>
              <a:rPr lang="en-US" altLang="zh-CN" sz="2400" dirty="0">
                <a:latin typeface="Times New Roman" panose="02020603050405020304" pitchFamily="18" charset="0"/>
              </a:rPr>
              <a:t>= </a:t>
            </a:r>
            <a:r>
              <a:rPr lang="zh-CN" altLang="en-US" sz="2400" dirty="0">
                <a:solidFill>
                  <a:srgbClr val="FFFF00"/>
                </a:solidFill>
                <a:latin typeface="Times New Roman" panose="02020603050405020304" pitchFamily="18" charset="0"/>
              </a:rPr>
              <a:t>程序所含指令条数</a:t>
            </a:r>
            <a:r>
              <a:rPr lang="en-US" altLang="zh-CN" sz="2400" dirty="0">
                <a:solidFill>
                  <a:srgbClr val="FFFF00"/>
                </a:solidFill>
              </a:rPr>
              <a:t>×</a:t>
            </a:r>
            <a:r>
              <a:rPr lang="zh-CN" altLang="en-US" sz="2400" dirty="0">
                <a:solidFill>
                  <a:srgbClr val="FFFF00"/>
                </a:solidFill>
                <a:latin typeface="Times New Roman" panose="02020603050405020304" pitchFamily="18" charset="0"/>
              </a:rPr>
              <a:t> </a:t>
            </a:r>
            <a:r>
              <a:rPr lang="en-US" altLang="zh-CN" sz="2400" dirty="0">
                <a:solidFill>
                  <a:srgbClr val="FFFF00"/>
                </a:solidFill>
                <a:latin typeface="Times New Roman" panose="02020603050405020304" pitchFamily="18" charset="0"/>
              </a:rPr>
              <a:t>CPI </a:t>
            </a:r>
            <a:r>
              <a:rPr lang="en-US" altLang="zh-CN" sz="2400" dirty="0">
                <a:solidFill>
                  <a:srgbClr val="FFFF00"/>
                </a:solidFill>
              </a:rPr>
              <a:t>×</a:t>
            </a:r>
            <a:r>
              <a:rPr lang="zh-CN" altLang="en-US" sz="2400" dirty="0">
                <a:solidFill>
                  <a:srgbClr val="FFFF00"/>
                </a:solidFill>
                <a:latin typeface="Times New Roman" panose="02020603050405020304" pitchFamily="18" charset="0"/>
              </a:rPr>
              <a:t>时钟</a:t>
            </a:r>
            <a:r>
              <a:rPr lang="zh-CN" altLang="en-US" sz="2400" dirty="0">
                <a:solidFill>
                  <a:srgbClr val="FFFF00"/>
                </a:solidFill>
              </a:rPr>
              <a:t>周期</a:t>
            </a:r>
            <a:r>
              <a:rPr lang="en-US" altLang="zh-CN" sz="2400" dirty="0">
                <a:solidFill>
                  <a:srgbClr val="FFFF00"/>
                </a:solidFill>
                <a:latin typeface="Times New Roman" panose="02020603050405020304" pitchFamily="18" charset="0"/>
                <a:cs typeface="Times New Roman" panose="02020603050405020304" pitchFamily="18" charset="0"/>
              </a:rPr>
              <a:t>(</a:t>
            </a:r>
            <a:r>
              <a:rPr lang="zh-CN" altLang="en-US" sz="2400" dirty="0">
                <a:solidFill>
                  <a:srgbClr val="FFFF00"/>
                </a:solidFill>
                <a:latin typeface="Times New Roman" panose="02020603050405020304" pitchFamily="18" charset="0"/>
                <a:cs typeface="Times New Roman" panose="02020603050405020304" pitchFamily="18" charset="0"/>
              </a:rPr>
              <a:t>即</a:t>
            </a:r>
            <a:r>
              <a:rPr lang="en-US" altLang="zh-CN" sz="2400" dirty="0">
                <a:solidFill>
                  <a:srgbClr val="FFFF00"/>
                </a:solidFill>
                <a:latin typeface="Times New Roman" panose="02020603050405020304" pitchFamily="18" charset="0"/>
                <a:cs typeface="Times New Roman" panose="02020603050405020304" pitchFamily="18" charset="0"/>
              </a:rPr>
              <a:t>1/ CPU</a:t>
            </a:r>
            <a:r>
              <a:rPr lang="zh-CN" altLang="en-US" sz="2400" dirty="0">
                <a:solidFill>
                  <a:srgbClr val="FFFF00"/>
                </a:solidFill>
                <a:latin typeface="Times New Roman" panose="02020603050405020304" pitchFamily="18" charset="0"/>
                <a:cs typeface="Times New Roman" panose="02020603050405020304" pitchFamily="18" charset="0"/>
              </a:rPr>
              <a:t>主频</a:t>
            </a:r>
            <a:r>
              <a:rPr lang="en-US" altLang="zh-CN" sz="2400" dirty="0">
                <a:solidFill>
                  <a:srgbClr val="FFFF00"/>
                </a:solidFill>
                <a:latin typeface="Times New Roman" panose="02020603050405020304" pitchFamily="18" charset="0"/>
                <a:cs typeface="Times New Roman" panose="02020603050405020304" pitchFamily="18" charset="0"/>
              </a:rPr>
              <a:t>)</a:t>
            </a:r>
            <a:endParaRPr lang="zh-CN" altLang="en-US" sz="2400" dirty="0">
              <a:solidFill>
                <a:srgbClr val="FFFF00"/>
              </a:solidFill>
              <a:latin typeface="Times New Roman" panose="02020603050405020304" pitchFamily="18" charset="0"/>
              <a:cs typeface="Times New Roman" panose="02020603050405020304" pitchFamily="18" charset="0"/>
            </a:endParaRPr>
          </a:p>
          <a:p>
            <a:pPr lvl="1" eaLnBrk="1" hangingPunct="1">
              <a:lnSpc>
                <a:spcPct val="100000"/>
              </a:lnSpc>
              <a:spcBef>
                <a:spcPct val="0"/>
              </a:spcBef>
            </a:pPr>
            <a:r>
              <a:rPr lang="en-US" altLang="zh-CN" sz="2400" dirty="0">
                <a:latin typeface="Times New Roman" panose="02020603050405020304" pitchFamily="18" charset="0"/>
              </a:rPr>
              <a:t>MIPS</a:t>
            </a:r>
            <a:r>
              <a:rPr lang="zh-CN" altLang="en-US" sz="2400" dirty="0">
                <a:latin typeface="Times New Roman" panose="02020603050405020304" pitchFamily="18" charset="0"/>
              </a:rPr>
              <a:t>：每秒平均执行百万条指令数，衡量指令的执行效率。</a:t>
            </a:r>
            <a:r>
              <a:rPr lang="en-US" altLang="zh-CN" sz="2400" dirty="0">
                <a:latin typeface="Times New Roman" panose="02020603050405020304" pitchFamily="18" charset="0"/>
              </a:rPr>
              <a:t> MIPS = </a:t>
            </a:r>
            <a:r>
              <a:rPr lang="zh-CN" altLang="en-US" sz="2400" dirty="0">
                <a:solidFill>
                  <a:srgbClr val="FFFF00"/>
                </a:solidFill>
                <a:latin typeface="Times New Roman" panose="02020603050405020304" pitchFamily="18" charset="0"/>
              </a:rPr>
              <a:t>程序所含指令条数</a:t>
            </a:r>
            <a:r>
              <a:rPr lang="en-US" altLang="zh-CN" sz="2400" dirty="0">
                <a:solidFill>
                  <a:srgbClr val="FFFF00"/>
                </a:solidFill>
                <a:latin typeface="Times New Roman" panose="02020603050405020304" pitchFamily="18" charset="0"/>
              </a:rPr>
              <a:t>/(CPU</a:t>
            </a:r>
            <a:r>
              <a:rPr lang="zh-CN" altLang="en-US" sz="2400" dirty="0">
                <a:solidFill>
                  <a:srgbClr val="FFFF00"/>
                </a:solidFill>
                <a:latin typeface="Times New Roman" panose="02020603050405020304" pitchFamily="18" charset="0"/>
              </a:rPr>
              <a:t>时间</a:t>
            </a:r>
            <a:r>
              <a:rPr lang="en-US" altLang="zh-CN" sz="2400" dirty="0">
                <a:solidFill>
                  <a:srgbClr val="FFFF00"/>
                </a:solidFill>
              </a:rPr>
              <a:t>×</a:t>
            </a:r>
            <a:r>
              <a:rPr lang="en-US" altLang="zh-CN" sz="2400" dirty="0">
                <a:solidFill>
                  <a:srgbClr val="FFFF00"/>
                </a:solidFill>
                <a:latin typeface="Times New Roman" panose="02020603050405020304" pitchFamily="18" charset="0"/>
              </a:rPr>
              <a:t> 10</a:t>
            </a:r>
            <a:r>
              <a:rPr lang="en-US" altLang="zh-CN" sz="2400" baseline="30000" dirty="0">
                <a:solidFill>
                  <a:srgbClr val="FFFF00"/>
                </a:solidFill>
                <a:latin typeface="Times New Roman" panose="02020603050405020304" pitchFamily="18" charset="0"/>
              </a:rPr>
              <a:t>6</a:t>
            </a:r>
            <a:r>
              <a:rPr lang="en-US" altLang="zh-CN" sz="2400" dirty="0">
                <a:solidFill>
                  <a:srgbClr val="FFFF00"/>
                </a:solidFill>
                <a:latin typeface="Times New Roman" panose="02020603050405020304" pitchFamily="18" charset="0"/>
              </a:rPr>
              <a:t>) </a:t>
            </a:r>
            <a:endParaRPr lang="en-US" altLang="zh-CN" sz="2400" dirty="0">
              <a:solidFill>
                <a:srgbClr val="FFFF00"/>
              </a:solidFill>
              <a:latin typeface="Times New Roman" panose="02020603050405020304" pitchFamily="18" charset="0"/>
            </a:endParaRPr>
          </a:p>
          <a:p>
            <a:pPr lvl="1" eaLnBrk="1" hangingPunct="1">
              <a:lnSpc>
                <a:spcPct val="100000"/>
              </a:lnSpc>
              <a:spcBef>
                <a:spcPct val="0"/>
              </a:spcBef>
              <a:buNone/>
            </a:pPr>
            <a:r>
              <a:rPr lang="en-US" altLang="zh-CN" sz="2400" dirty="0">
                <a:solidFill>
                  <a:srgbClr val="FFFF00"/>
                </a:solidFill>
                <a:latin typeface="Times New Roman" panose="02020603050405020304" pitchFamily="18" charset="0"/>
              </a:rPr>
              <a:t>                              = CPU</a:t>
            </a:r>
            <a:r>
              <a:rPr lang="zh-CN" altLang="en-US" sz="2400" dirty="0">
                <a:solidFill>
                  <a:srgbClr val="FFFF00"/>
                </a:solidFill>
                <a:latin typeface="Times New Roman" panose="02020603050405020304" pitchFamily="18" charset="0"/>
              </a:rPr>
              <a:t>主频</a:t>
            </a:r>
            <a:r>
              <a:rPr lang="en-US" altLang="zh-CN" sz="2400" dirty="0">
                <a:solidFill>
                  <a:srgbClr val="FFFF00"/>
                </a:solidFill>
                <a:latin typeface="Times New Roman" panose="02020603050405020304" pitchFamily="18" charset="0"/>
              </a:rPr>
              <a:t>/ (CPI </a:t>
            </a:r>
            <a:r>
              <a:rPr lang="en-US" altLang="zh-CN" sz="2400" dirty="0">
                <a:solidFill>
                  <a:srgbClr val="FFFF00"/>
                </a:solidFill>
              </a:rPr>
              <a:t>×</a:t>
            </a:r>
            <a:r>
              <a:rPr lang="en-US" altLang="zh-CN" sz="2400" dirty="0">
                <a:solidFill>
                  <a:srgbClr val="FFFF00"/>
                </a:solidFill>
                <a:latin typeface="Times New Roman" panose="02020603050405020304" pitchFamily="18" charset="0"/>
              </a:rPr>
              <a:t> 10</a:t>
            </a:r>
            <a:r>
              <a:rPr lang="en-US" altLang="zh-CN" sz="2400" baseline="30000" dirty="0">
                <a:solidFill>
                  <a:srgbClr val="FFFF00"/>
                </a:solidFill>
                <a:latin typeface="Times New Roman" panose="02020603050405020304" pitchFamily="18" charset="0"/>
              </a:rPr>
              <a:t>6</a:t>
            </a:r>
            <a:r>
              <a:rPr lang="en-US" altLang="zh-CN" sz="2400" dirty="0">
                <a:solidFill>
                  <a:srgbClr val="FFFF00"/>
                </a:solidFill>
                <a:latin typeface="Times New Roman" panose="02020603050405020304" pitchFamily="18" charset="0"/>
              </a:rPr>
              <a:t>)</a:t>
            </a:r>
            <a:endParaRPr lang="zh-CN" altLang="en-US" sz="2400" dirty="0">
              <a:solidFill>
                <a:srgbClr val="FFFF00"/>
              </a:solidFill>
              <a:latin typeface="Times New Roman" panose="02020603050405020304" pitchFamily="18" charset="0"/>
            </a:endParaRPr>
          </a:p>
          <a:p>
            <a:pPr lvl="1" eaLnBrk="1" hangingPunct="1">
              <a:lnSpc>
                <a:spcPct val="100000"/>
              </a:lnSpc>
              <a:spcBef>
                <a:spcPct val="0"/>
              </a:spcBef>
            </a:pPr>
            <a:r>
              <a:rPr lang="en-US" altLang="zh-CN" sz="2400" dirty="0">
                <a:latin typeface="Times New Roman" panose="02020603050405020304" pitchFamily="18" charset="0"/>
              </a:rPr>
              <a:t>MFLOPS </a:t>
            </a:r>
            <a:r>
              <a:rPr lang="zh-CN" altLang="en-US" sz="2400" dirty="0">
                <a:latin typeface="Times New Roman" panose="02020603050405020304" pitchFamily="18" charset="0"/>
              </a:rPr>
              <a:t>：每秒平均执行百万次浮点运算结果，衡量浮点运算的能力</a:t>
            </a:r>
            <a:endParaRPr lang="en-US" altLang="zh-CN" sz="2400" dirty="0">
              <a:latin typeface="Times New Roman" panose="02020603050405020304" pitchFamily="18" charset="0"/>
            </a:endParaRPr>
          </a:p>
          <a:p>
            <a:pPr lvl="1" eaLnBrk="1" hangingPunct="1">
              <a:lnSpc>
                <a:spcPct val="100000"/>
              </a:lnSpc>
              <a:spcBef>
                <a:spcPct val="0"/>
              </a:spcBef>
            </a:pPr>
            <a:r>
              <a:rPr lang="zh-CN" altLang="en-US" sz="2400" dirty="0">
                <a:latin typeface="Times New Roman" panose="02020603050405020304" pitchFamily="18" charset="0"/>
              </a:rPr>
              <a:t>吞吐率</a:t>
            </a:r>
            <a:r>
              <a:rPr lang="en-US" altLang="zh-CN" sz="2400" dirty="0">
                <a:latin typeface="Times New Roman" panose="02020603050405020304" pitchFamily="18" charset="0"/>
              </a:rPr>
              <a:t>(</a:t>
            </a:r>
            <a:r>
              <a:rPr lang="zh-CN" altLang="en-US" sz="2400" dirty="0">
                <a:latin typeface="Times New Roman" panose="02020603050405020304" pitchFamily="18" charset="0"/>
              </a:rPr>
              <a:t>带宽</a:t>
            </a:r>
            <a:r>
              <a:rPr lang="en-US" altLang="zh-CN" sz="2400" dirty="0">
                <a:latin typeface="Times New Roman" panose="02020603050405020304" pitchFamily="18" charset="0"/>
              </a:rPr>
              <a:t>)</a:t>
            </a:r>
            <a:r>
              <a:rPr lang="zh-CN" altLang="en-US" sz="2400" dirty="0">
                <a:latin typeface="Times New Roman" panose="02020603050405020304" pitchFamily="18" charset="0"/>
              </a:rPr>
              <a:t> ：</a:t>
            </a:r>
            <a:r>
              <a:rPr lang="en-US" altLang="zh-CN" sz="2400" dirty="0">
                <a:latin typeface="Times New Roman" panose="02020603050405020304" pitchFamily="18" charset="0"/>
              </a:rPr>
              <a:t> </a:t>
            </a:r>
            <a:r>
              <a:rPr lang="zh-CN" altLang="en-US" sz="2400" dirty="0">
                <a:latin typeface="Times New Roman" panose="02020603050405020304" pitchFamily="18" charset="0"/>
              </a:rPr>
              <a:t>单位时间内所完成的工作量或数据量</a:t>
            </a:r>
            <a:endParaRPr lang="zh-CN" altLang="en-US" sz="2400" dirty="0">
              <a:latin typeface="Times New Roman" panose="02020603050405020304" pitchFamily="18" charset="0"/>
            </a:endParaRPr>
          </a:p>
          <a:p>
            <a:pPr lvl="1" eaLnBrk="1" hangingPunct="1">
              <a:lnSpc>
                <a:spcPct val="100000"/>
              </a:lnSpc>
              <a:spcBef>
                <a:spcPct val="0"/>
              </a:spcBef>
            </a:pPr>
            <a:r>
              <a:rPr lang="zh-CN" altLang="en-US" sz="2400" dirty="0">
                <a:latin typeface="Times New Roman" panose="02020603050405020304" pitchFamily="18" charset="0"/>
              </a:rPr>
              <a:t>响应时间</a:t>
            </a:r>
            <a:r>
              <a:rPr lang="en-US" altLang="zh-CN" sz="2400" dirty="0">
                <a:latin typeface="Times New Roman" panose="02020603050405020304" pitchFamily="18" charset="0"/>
              </a:rPr>
              <a:t>(</a:t>
            </a:r>
            <a:r>
              <a:rPr lang="zh-CN" altLang="en-US" sz="2400" dirty="0">
                <a:latin typeface="Times New Roman" panose="02020603050405020304" pitchFamily="18" charset="0"/>
              </a:rPr>
              <a:t>执行时间</a:t>
            </a:r>
            <a:r>
              <a:rPr lang="en-US" altLang="zh-CN" sz="2400" dirty="0">
                <a:latin typeface="Times New Roman" panose="02020603050405020304" pitchFamily="18" charset="0"/>
              </a:rPr>
              <a:t>)</a:t>
            </a:r>
            <a:r>
              <a:rPr lang="zh-CN" altLang="en-US" sz="2400" dirty="0">
                <a:latin typeface="Times New Roman" panose="02020603050405020304" pitchFamily="18" charset="0"/>
              </a:rPr>
              <a:t>：从作业提交到完成所花费的时间。包括程序在</a:t>
            </a:r>
            <a:r>
              <a:rPr lang="en-US" altLang="zh-CN" sz="2400" dirty="0">
                <a:latin typeface="Times New Roman" panose="02020603050405020304" pitchFamily="18" charset="0"/>
              </a:rPr>
              <a:t>CPU</a:t>
            </a:r>
            <a:r>
              <a:rPr lang="zh-CN" altLang="en-US" sz="2400" dirty="0">
                <a:latin typeface="Times New Roman" panose="02020603050405020304" pitchFamily="18" charset="0"/>
              </a:rPr>
              <a:t>的执行时间、磁盘访问时间、存储器访问时间、</a:t>
            </a:r>
            <a:r>
              <a:rPr lang="en-US" altLang="zh-CN" sz="2400" dirty="0">
                <a:latin typeface="Times New Roman" panose="02020603050405020304" pitchFamily="18" charset="0"/>
              </a:rPr>
              <a:t>I/O</a:t>
            </a:r>
            <a:r>
              <a:rPr lang="zh-CN" altLang="en-US" sz="2400" dirty="0">
                <a:latin typeface="Times New Roman" panose="02020603050405020304" pitchFamily="18" charset="0"/>
              </a:rPr>
              <a:t>操作所需时间及操作系统运行这个程序所花的额外开销</a:t>
            </a:r>
            <a:endParaRPr lang="zh-CN" altLang="en-US" sz="2400" dirty="0">
              <a:latin typeface="Times New Roman" panose="02020603050405020304" pitchFamily="18" charset="0"/>
            </a:endParaRPr>
          </a:p>
        </p:txBody>
      </p:sp>
      <p:sp>
        <p:nvSpPr>
          <p:cNvPr id="4215812" name="Rectangle 4"/>
          <p:cNvSpPr>
            <a:spLocks noGrp="1" noChangeArrowheads="1"/>
          </p:cNvSpPr>
          <p:nvPr>
            <p:ph type="title"/>
          </p:nvPr>
        </p:nvSpPr>
        <p:spPr>
          <a:xfrm>
            <a:off x="381000" y="149225"/>
            <a:ext cx="8393113" cy="823913"/>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回顾－计算机性能指标</a:t>
            </a:r>
            <a:endPar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endParaRPr>
          </a:p>
        </p:txBody>
      </p:sp>
    </p:spTree>
  </p:cSld>
  <p:clrMapOvr>
    <a:masterClrMapping/>
  </p:clrMapOvr>
  <p:transition>
    <p:pull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noChangeArrowheads="1"/>
          </p:cNvSpPr>
          <p:nvPr>
            <p:ph type="title"/>
          </p:nvPr>
        </p:nvSpPr>
        <p:spPr>
          <a:xfrm>
            <a:off x="381000" y="239713"/>
            <a:ext cx="8393113" cy="735013"/>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uLnTx/>
                <a:uFillTx/>
                <a:latin typeface="+mj-lt"/>
                <a:ea typeface="+mj-ea"/>
                <a:cs typeface="+mj-cs"/>
              </a:rPr>
              <a:t>	回顾</a:t>
            </a: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 </a:t>
            </a:r>
            <a:r>
              <a:rPr kumimoji="0" lang="en-US" altLang="zh-CN" sz="4800" b="1" i="0" u="none" strike="noStrike" kern="0" cap="none" spc="0" normalizeH="0" baseline="0" noProof="0" dirty="0" smtClean="0">
                <a:ln>
                  <a:noFill/>
                </a:ln>
                <a:solidFill>
                  <a:srgbClr val="FF0000"/>
                </a:solidFill>
                <a:effectLst/>
                <a:uLnTx/>
                <a:uFillTx/>
                <a:latin typeface="+mj-lt"/>
                <a:ea typeface="+mj-ea"/>
                <a:cs typeface="+mj-cs"/>
              </a:rPr>
              <a:t>CPU</a:t>
            </a:r>
            <a:r>
              <a:rPr kumimoji="0" lang="zh-CN" altLang="en-US" sz="4800" b="1" i="0" u="none" strike="noStrike" kern="0" cap="none" spc="0" normalizeH="0" baseline="0" noProof="0" dirty="0" smtClean="0">
                <a:ln>
                  <a:noFill/>
                </a:ln>
                <a:solidFill>
                  <a:srgbClr val="FF0000"/>
                </a:solidFill>
                <a:effectLst/>
                <a:uLnTx/>
                <a:uFillTx/>
                <a:latin typeface="+mj-lt"/>
                <a:ea typeface="+mj-ea"/>
                <a:cs typeface="+mj-cs"/>
              </a:rPr>
              <a:t>执行时间</a:t>
            </a:r>
            <a:endParaRPr kumimoji="0" lang="zh-CN" altLang="en-US" sz="4800" b="1" i="0" u="none" strike="noStrike" kern="0" cap="none" spc="0" normalizeH="0" baseline="0" noProof="0" dirty="0" smtClean="0">
              <a:ln>
                <a:noFill/>
              </a:ln>
              <a:solidFill>
                <a:srgbClr val="FF0000"/>
              </a:solidFill>
              <a:effectLst/>
              <a:uLnTx/>
              <a:uFillTx/>
              <a:latin typeface="+mj-lt"/>
              <a:ea typeface="+mj-ea"/>
              <a:cs typeface="+mj-cs"/>
            </a:endParaRPr>
          </a:p>
        </p:txBody>
      </p:sp>
      <p:sp>
        <p:nvSpPr>
          <p:cNvPr id="18435" name="Rectangle 3"/>
          <p:cNvSpPr>
            <a:spLocks noGrp="1"/>
          </p:cNvSpPr>
          <p:nvPr>
            <p:ph idx="1"/>
          </p:nvPr>
        </p:nvSpPr>
        <p:spPr>
          <a:xfrm>
            <a:off x="682625" y="1416050"/>
            <a:ext cx="8016875" cy="4591050"/>
          </a:xfrm>
          <a:ln/>
        </p:spPr>
        <p:txBody>
          <a:bodyPr vert="horz" wrap="square" lIns="91440" tIns="45720" rIns="91440" bIns="45720" anchor="t" anchorCtr="0">
            <a:spAutoFit/>
          </a:bodyPr>
          <a:p>
            <a:pPr>
              <a:lnSpc>
                <a:spcPct val="110000"/>
              </a:lnSpc>
              <a:spcBef>
                <a:spcPts val="600"/>
              </a:spcBef>
            </a:pPr>
            <a:r>
              <a:rPr lang="en-US" altLang="zh-CN" dirty="0">
                <a:latin typeface="Times New Roman" panose="02020603050405020304" pitchFamily="18" charset="0"/>
              </a:rPr>
              <a:t>CPU</a:t>
            </a:r>
            <a:r>
              <a:rPr lang="zh-CN" altLang="en-US" dirty="0">
                <a:latin typeface="Times New Roman" panose="02020603050405020304" pitchFamily="18" charset="0"/>
              </a:rPr>
              <a:t>执行时间</a:t>
            </a:r>
            <a:endParaRPr lang="zh-CN" altLang="en-US" dirty="0">
              <a:latin typeface="Times New Roman" panose="02020603050405020304" pitchFamily="18" charset="0"/>
            </a:endParaRPr>
          </a:p>
          <a:p>
            <a:pPr>
              <a:lnSpc>
                <a:spcPct val="110000"/>
              </a:lnSpc>
              <a:spcBef>
                <a:spcPts val="600"/>
              </a:spcBef>
              <a:buNone/>
            </a:pPr>
            <a:endParaRPr lang="zh-CN" altLang="en-US" dirty="0">
              <a:latin typeface="Times New Roman" panose="02020603050405020304" pitchFamily="18" charset="0"/>
            </a:endParaRPr>
          </a:p>
          <a:p>
            <a:pPr>
              <a:lnSpc>
                <a:spcPct val="110000"/>
              </a:lnSpc>
              <a:spcBef>
                <a:spcPts val="600"/>
              </a:spcBef>
              <a:buNone/>
            </a:pPr>
            <a:endParaRPr lang="zh-CN" altLang="en-US" dirty="0">
              <a:latin typeface="Times New Roman" panose="02020603050405020304" pitchFamily="18" charset="0"/>
            </a:endParaRPr>
          </a:p>
          <a:p>
            <a:pPr>
              <a:lnSpc>
                <a:spcPct val="110000"/>
              </a:lnSpc>
              <a:spcBef>
                <a:spcPts val="600"/>
              </a:spcBef>
            </a:pPr>
            <a:r>
              <a:rPr lang="zh-CN" altLang="en-US" dirty="0">
                <a:latin typeface="Times New Roman" panose="02020603050405020304" pitchFamily="18" charset="0"/>
              </a:rPr>
              <a:t>缩短程序执行时间的措施有：</a:t>
            </a:r>
            <a:endParaRPr lang="zh-CN" altLang="en-US" dirty="0">
              <a:latin typeface="Times New Roman" panose="02020603050405020304" pitchFamily="18" charset="0"/>
            </a:endParaRPr>
          </a:p>
          <a:p>
            <a:pPr lvl="1">
              <a:lnSpc>
                <a:spcPct val="110000"/>
              </a:lnSpc>
              <a:spcBef>
                <a:spcPts val="600"/>
              </a:spcBef>
            </a:pPr>
            <a:r>
              <a:rPr lang="zh-CN" altLang="en-US" dirty="0">
                <a:latin typeface="Times New Roman" panose="02020603050405020304" pitchFamily="18" charset="0"/>
              </a:rPr>
              <a:t>提高</a:t>
            </a:r>
            <a:r>
              <a:rPr lang="en-US" altLang="zh-CN" dirty="0">
                <a:latin typeface="Times New Roman" panose="02020603050405020304" pitchFamily="18" charset="0"/>
              </a:rPr>
              <a:t>CPU</a:t>
            </a:r>
            <a:r>
              <a:rPr lang="zh-CN" altLang="en-US" dirty="0">
                <a:latin typeface="Times New Roman" panose="02020603050405020304" pitchFamily="18" charset="0"/>
              </a:rPr>
              <a:t>时钟频率</a:t>
            </a:r>
            <a:endParaRPr lang="zh-CN" altLang="en-US" dirty="0">
              <a:latin typeface="Times New Roman" panose="02020603050405020304" pitchFamily="18" charset="0"/>
            </a:endParaRPr>
          </a:p>
          <a:p>
            <a:pPr lvl="1">
              <a:lnSpc>
                <a:spcPct val="110000"/>
              </a:lnSpc>
              <a:spcBef>
                <a:spcPts val="600"/>
              </a:spcBef>
            </a:pPr>
            <a:r>
              <a:rPr lang="zh-CN" altLang="en-US" dirty="0">
                <a:latin typeface="Times New Roman" panose="02020603050405020304" pitchFamily="18" charset="0"/>
              </a:rPr>
              <a:t>优化数据通路结构</a:t>
            </a:r>
            <a:endParaRPr lang="zh-CN" altLang="en-US" dirty="0">
              <a:latin typeface="Times New Roman" panose="02020603050405020304" pitchFamily="18" charset="0"/>
            </a:endParaRPr>
          </a:p>
          <a:p>
            <a:pPr lvl="1">
              <a:lnSpc>
                <a:spcPct val="110000"/>
              </a:lnSpc>
              <a:spcBef>
                <a:spcPts val="600"/>
              </a:spcBef>
            </a:pPr>
            <a:r>
              <a:rPr lang="zh-CN" altLang="en-US" dirty="0">
                <a:latin typeface="Times New Roman" panose="02020603050405020304" pitchFamily="18" charset="0"/>
              </a:rPr>
              <a:t>对程序进行编译优化</a:t>
            </a:r>
            <a:endParaRPr lang="zh-CN" altLang="en-US" dirty="0">
              <a:latin typeface="Times New Roman" panose="02020603050405020304" pitchFamily="18" charset="0"/>
            </a:endParaRPr>
          </a:p>
        </p:txBody>
      </p:sp>
      <p:grpSp>
        <p:nvGrpSpPr>
          <p:cNvPr id="18436" name="组合 6"/>
          <p:cNvGrpSpPr/>
          <p:nvPr/>
        </p:nvGrpSpPr>
        <p:grpSpPr>
          <a:xfrm>
            <a:off x="1133475" y="2365375"/>
            <a:ext cx="7731125" cy="704850"/>
            <a:chOff x="813737" y="2212976"/>
            <a:chExt cx="7731090" cy="583657"/>
          </a:xfrm>
        </p:grpSpPr>
        <p:grpSp>
          <p:nvGrpSpPr>
            <p:cNvPr id="18437" name="Group 4"/>
            <p:cNvGrpSpPr/>
            <p:nvPr/>
          </p:nvGrpSpPr>
          <p:grpSpPr>
            <a:xfrm>
              <a:off x="813737" y="2212976"/>
              <a:ext cx="7731090" cy="583657"/>
              <a:chOff x="553" y="716"/>
              <a:chExt cx="4596" cy="329"/>
            </a:xfrm>
          </p:grpSpPr>
          <p:sp>
            <p:nvSpPr>
              <p:cNvPr id="18442" name="Rectangle 5"/>
              <p:cNvSpPr/>
              <p:nvPr/>
            </p:nvSpPr>
            <p:spPr>
              <a:xfrm>
                <a:off x="553" y="716"/>
                <a:ext cx="4596" cy="329"/>
              </a:xfrm>
              <a:prstGeom prst="rect">
                <a:avLst/>
              </a:prstGeom>
              <a:solidFill>
                <a:schemeClr val="tx1"/>
              </a:solidFill>
              <a:ln w="12700" cap="flat" cmpd="sng">
                <a:solidFill>
                  <a:schemeClr val="bg2"/>
                </a:solidFill>
                <a:prstDash val="solid"/>
                <a:miter/>
                <a:headEnd type="none" w="med" len="med"/>
                <a:tailEnd type="none" w="med" len="med"/>
              </a:ln>
              <a:effectLst>
                <a:outerShdw dist="107763" dir="2699999" algn="ctr" rotWithShape="0">
                  <a:schemeClr val="bg2"/>
                </a:outerShdw>
              </a:effectLst>
            </p:spPr>
            <p:txBody>
              <a:bodyPr lIns="63500" tIns="25400" rIns="63500" bIns="25400">
                <a:spAutoFit/>
              </a:bodyPr>
              <a:p>
                <a:pPr marL="342900" indent="-342900" defTabSz="914400">
                  <a:lnSpc>
                    <a:spcPct val="86000"/>
                  </a:lnSpc>
                  <a:spcBef>
                    <a:spcPct val="40000"/>
                  </a:spcBef>
                  <a:tabLst>
                    <a:tab pos="1371600" algn="l"/>
                    <a:tab pos="3073400" algn="l"/>
                  </a:tabLst>
                </a:pPr>
                <a:r>
                  <a:rPr lang="en-US" altLang="zh-CN" sz="2000" dirty="0">
                    <a:solidFill>
                      <a:schemeClr val="bg2"/>
                    </a:solidFill>
                    <a:latin typeface="Times New Roman" panose="02020603050405020304" pitchFamily="18" charset="0"/>
                  </a:rPr>
                  <a:t>                           Seconds         Instructions           Cycles    </a:t>
                </a:r>
                <a:r>
                  <a:rPr lang="en-US" altLang="zh-CN" sz="1800" dirty="0">
                    <a:solidFill>
                      <a:schemeClr val="bg2"/>
                    </a:solidFill>
                    <a:latin typeface="Arial" panose="020B0604020202020204" pitchFamily="34" charset="0"/>
                  </a:rPr>
                  <a:t>      </a:t>
                </a:r>
                <a:r>
                  <a:rPr lang="en-US" altLang="zh-CN" sz="2000" dirty="0">
                    <a:solidFill>
                      <a:schemeClr val="bg2"/>
                    </a:solidFill>
                    <a:latin typeface="Times New Roman" panose="02020603050405020304" pitchFamily="18" charset="0"/>
                  </a:rPr>
                  <a:t>Seconds</a:t>
                </a:r>
                <a:endParaRPr lang="en-US" altLang="zh-CN" sz="2000" dirty="0">
                  <a:solidFill>
                    <a:schemeClr val="bg2"/>
                  </a:solidFill>
                  <a:latin typeface="Times New Roman" panose="02020603050405020304" pitchFamily="18" charset="0"/>
                </a:endParaRPr>
              </a:p>
              <a:p>
                <a:pPr marL="342900" indent="-342900" defTabSz="914400">
                  <a:lnSpc>
                    <a:spcPct val="86000"/>
                  </a:lnSpc>
                  <a:spcBef>
                    <a:spcPct val="40000"/>
                  </a:spcBef>
                  <a:tabLst>
                    <a:tab pos="1371600" algn="l"/>
                    <a:tab pos="3073400" algn="l"/>
                  </a:tabLst>
                </a:pPr>
                <a:r>
                  <a:rPr lang="en-US" altLang="zh-CN" sz="2000" dirty="0">
                    <a:solidFill>
                      <a:schemeClr val="bg2"/>
                    </a:solidFill>
                    <a:latin typeface="Times New Roman" panose="02020603050405020304" pitchFamily="18" charset="0"/>
                  </a:rPr>
                  <a:t>		     Program	     Program          Instruction       Cycle</a:t>
                </a:r>
                <a:endParaRPr lang="en-US" altLang="zh-CN" sz="2000" dirty="0">
                  <a:solidFill>
                    <a:schemeClr val="bg2"/>
                  </a:solidFill>
                  <a:latin typeface="Times New Roman" panose="02020603050405020304" pitchFamily="18" charset="0"/>
                </a:endParaRPr>
              </a:p>
            </p:txBody>
          </p:sp>
          <p:sp>
            <p:nvSpPr>
              <p:cNvPr id="18443" name="Line 6"/>
              <p:cNvSpPr/>
              <p:nvPr/>
            </p:nvSpPr>
            <p:spPr>
              <a:xfrm>
                <a:off x="1576" y="876"/>
                <a:ext cx="568" cy="0"/>
              </a:xfrm>
              <a:prstGeom prst="line">
                <a:avLst/>
              </a:prstGeom>
              <a:ln w="12700" cap="flat" cmpd="sng">
                <a:solidFill>
                  <a:schemeClr val="bg2"/>
                </a:solidFill>
                <a:prstDash val="solid"/>
                <a:headEnd type="none" w="med" len="med"/>
                <a:tailEnd type="none" w="med" len="med"/>
              </a:ln>
            </p:spPr>
          </p:sp>
          <p:sp>
            <p:nvSpPr>
              <p:cNvPr id="18444" name="Line 7"/>
              <p:cNvSpPr/>
              <p:nvPr/>
            </p:nvSpPr>
            <p:spPr>
              <a:xfrm>
                <a:off x="2414" y="878"/>
                <a:ext cx="856" cy="0"/>
              </a:xfrm>
              <a:prstGeom prst="line">
                <a:avLst/>
              </a:prstGeom>
              <a:ln w="12700" cap="flat" cmpd="sng">
                <a:solidFill>
                  <a:schemeClr val="bg2"/>
                </a:solidFill>
                <a:prstDash val="solid"/>
                <a:headEnd type="none" w="med" len="med"/>
                <a:tailEnd type="none" w="med" len="med"/>
              </a:ln>
            </p:spPr>
          </p:sp>
          <p:sp>
            <p:nvSpPr>
              <p:cNvPr id="18445" name="Line 8"/>
              <p:cNvSpPr/>
              <p:nvPr/>
            </p:nvSpPr>
            <p:spPr>
              <a:xfrm>
                <a:off x="3574" y="876"/>
                <a:ext cx="616" cy="0"/>
              </a:xfrm>
              <a:prstGeom prst="line">
                <a:avLst/>
              </a:prstGeom>
              <a:ln w="12700" cap="flat" cmpd="sng">
                <a:solidFill>
                  <a:schemeClr val="bg2"/>
                </a:solidFill>
                <a:prstDash val="solid"/>
                <a:headEnd type="none" w="med" len="med"/>
                <a:tailEnd type="none" w="med" len="med"/>
              </a:ln>
            </p:spPr>
          </p:sp>
          <p:sp>
            <p:nvSpPr>
              <p:cNvPr id="18446" name="Line 9"/>
              <p:cNvSpPr/>
              <p:nvPr/>
            </p:nvSpPr>
            <p:spPr>
              <a:xfrm>
                <a:off x="4440" y="876"/>
                <a:ext cx="584" cy="0"/>
              </a:xfrm>
              <a:prstGeom prst="line">
                <a:avLst/>
              </a:prstGeom>
              <a:ln w="12700" cap="flat" cmpd="sng">
                <a:solidFill>
                  <a:schemeClr val="bg2"/>
                </a:solidFill>
                <a:prstDash val="solid"/>
                <a:headEnd type="none" w="med" len="med"/>
                <a:tailEnd type="none" w="med" len="med"/>
              </a:ln>
            </p:spPr>
          </p:sp>
        </p:grpSp>
        <p:sp>
          <p:nvSpPr>
            <p:cNvPr id="18438" name="矩形 1"/>
            <p:cNvSpPr/>
            <p:nvPr/>
          </p:nvSpPr>
          <p:spPr>
            <a:xfrm>
              <a:off x="821429" y="2314612"/>
              <a:ext cx="1670650" cy="430887"/>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en-US" altLang="zh-CN" sz="2200" dirty="0">
                  <a:solidFill>
                    <a:schemeClr val="bg2"/>
                  </a:solidFill>
                  <a:latin typeface="Times New Roman" panose="02020603050405020304" pitchFamily="18" charset="0"/>
                  <a:ea typeface="宋体" panose="02010600030101010101" pitchFamily="2" charset="-122"/>
                </a:rPr>
                <a:t>CPU time = </a:t>
              </a:r>
              <a:endParaRPr lang="zh-CN" altLang="en-US" sz="2200" dirty="0">
                <a:solidFill>
                  <a:schemeClr val="tx2"/>
                </a:solidFill>
                <a:latin typeface="Arial" panose="020B0604020202020204" pitchFamily="34" charset="0"/>
                <a:ea typeface="宋体" panose="02010600030101010101" pitchFamily="2" charset="-122"/>
              </a:endParaRPr>
            </a:p>
          </p:txBody>
        </p:sp>
        <p:sp>
          <p:nvSpPr>
            <p:cNvPr id="18439" name="矩形 2"/>
            <p:cNvSpPr/>
            <p:nvPr/>
          </p:nvSpPr>
          <p:spPr>
            <a:xfrm>
              <a:off x="3477903" y="2299372"/>
              <a:ext cx="359393" cy="46166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en-US" altLang="zh-CN" sz="2400" dirty="0">
                  <a:solidFill>
                    <a:schemeClr val="bg2"/>
                  </a:solidFill>
                  <a:latin typeface="Times New Roman" panose="02020603050405020304" pitchFamily="18" charset="0"/>
                  <a:ea typeface="宋体" panose="02010600030101010101" pitchFamily="2" charset="-122"/>
                </a:rPr>
                <a:t>=</a:t>
              </a:r>
              <a:endParaRPr lang="zh-CN" altLang="en-US" sz="2400" dirty="0">
                <a:solidFill>
                  <a:schemeClr val="tx2"/>
                </a:solidFill>
                <a:latin typeface="Arial" panose="020B0604020202020204" pitchFamily="34" charset="0"/>
                <a:ea typeface="宋体" panose="02010600030101010101" pitchFamily="2" charset="-122"/>
              </a:endParaRPr>
            </a:p>
          </p:txBody>
        </p:sp>
        <p:sp>
          <p:nvSpPr>
            <p:cNvPr id="18440" name="矩形 5"/>
            <p:cNvSpPr/>
            <p:nvPr/>
          </p:nvSpPr>
          <p:spPr>
            <a:xfrm>
              <a:off x="5374528" y="2333470"/>
              <a:ext cx="442749" cy="40011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en-US" altLang="zh-CN" sz="2000" dirty="0">
                  <a:solidFill>
                    <a:schemeClr val="bg2"/>
                  </a:solidFill>
                  <a:latin typeface="Arial" panose="020B0604020202020204" pitchFamily="34" charset="0"/>
                  <a:ea typeface="宋体" panose="02010600030101010101" pitchFamily="2" charset="-122"/>
                </a:rPr>
                <a:t>×</a:t>
              </a:r>
              <a:endParaRPr lang="zh-CN" altLang="en-US" sz="2000" dirty="0">
                <a:solidFill>
                  <a:schemeClr val="tx2"/>
                </a:solidFill>
                <a:latin typeface="Arial" panose="020B0604020202020204" pitchFamily="34" charset="0"/>
                <a:ea typeface="宋体" panose="02010600030101010101" pitchFamily="2" charset="-122"/>
              </a:endParaRPr>
            </a:p>
          </p:txBody>
        </p:sp>
        <p:sp>
          <p:nvSpPr>
            <p:cNvPr id="18441" name="矩形 14"/>
            <p:cNvSpPr/>
            <p:nvPr/>
          </p:nvSpPr>
          <p:spPr>
            <a:xfrm>
              <a:off x="6883288" y="2348710"/>
              <a:ext cx="442749" cy="40011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en-US" altLang="zh-CN" sz="2000" dirty="0">
                  <a:solidFill>
                    <a:schemeClr val="bg2"/>
                  </a:solidFill>
                  <a:latin typeface="Arial" panose="020B0604020202020204" pitchFamily="34" charset="0"/>
                  <a:ea typeface="宋体" panose="02010600030101010101" pitchFamily="2" charset="-122"/>
                </a:rPr>
                <a:t>×</a:t>
              </a:r>
              <a:endParaRPr lang="zh-CN" altLang="en-US" sz="2000" dirty="0">
                <a:solidFill>
                  <a:schemeClr val="tx2"/>
                </a:solidFill>
                <a:latin typeface="Arial" panose="020B0604020202020204" pitchFamily="34" charset="0"/>
                <a:ea typeface="宋体" panose="02010600030101010101" pitchFamily="2" charset="-122"/>
              </a:endParaRPr>
            </a:p>
          </p:txBody>
        </p:sp>
      </p:grp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1074738" y="150813"/>
            <a:ext cx="7021512" cy="735012"/>
          </a:xfrm>
          <a:ln/>
        </p:spPr>
        <p:txBody>
          <a:bodyPr vert="horz" wrap="square" lIns="91440" tIns="45720" rIns="91440" bIns="45720" anchor="t" anchorCtr="0">
            <a:spAutoFit/>
          </a:bodyPr>
          <a:p>
            <a:r>
              <a:rPr lang="zh-CN" altLang="en-US" dirty="0">
                <a:effectLst/>
              </a:rPr>
              <a:t>回顾－功耗问题</a:t>
            </a:r>
            <a:endParaRPr lang="zh-CN" altLang="en-US" dirty="0">
              <a:effectLst/>
            </a:endParaRPr>
          </a:p>
        </p:txBody>
      </p:sp>
      <p:sp>
        <p:nvSpPr>
          <p:cNvPr id="819203" name="Rectangle 3"/>
          <p:cNvSpPr>
            <a:spLocks noGrp="1" noChangeArrowheads="1"/>
          </p:cNvSpPr>
          <p:nvPr>
            <p:ph idx="1"/>
          </p:nvPr>
        </p:nvSpPr>
        <p:spPr>
          <a:xfrm>
            <a:off x="392113" y="885825"/>
            <a:ext cx="8589963" cy="5940425"/>
          </a:xfrm>
        </p:spPr>
        <p:txBody>
          <a:bodyPr vert="horz" wrap="square" lIns="91440" tIns="45720" rIns="91440" bIns="45720" numCol="1" anchor="t" anchorCtr="0" compatLnSpc="1">
            <a:spAutoFit/>
          </a:bodyPr>
          <a:lstStyle/>
          <a:p>
            <a:pPr marL="365125" marR="0" lvl="0" indent="-36512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1"/>
              </a:buBlip>
              <a:defRPr/>
            </a:pPr>
            <a:r>
              <a:rPr kumimoji="1" lang="en-US" altLang="zh-CN" sz="2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CMOS</a:t>
            </a:r>
            <a:r>
              <a:rPr kumimoji="1" lang="zh-CN" altLang="en-US" sz="2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中，主要能量消耗表现在</a:t>
            </a:r>
            <a:r>
              <a:rPr kumimoji="1" lang="zh-CN" altLang="en-US" sz="26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rPr>
              <a:t>动态功耗</a:t>
            </a:r>
            <a:endParaRPr kumimoji="1" lang="zh-CN" altLang="en-US" sz="26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endParaRPr>
          </a:p>
          <a:p>
            <a:pPr marL="717550" marR="0" lvl="1" indent="-25590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2"/>
              </a:buBlip>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动态功耗是指晶体管翻转时所消耗的能量</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14400" marR="0" lvl="1" indent="-45275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None/>
              <a:defRPr/>
            </a:pPr>
            <a:r>
              <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Power = Capacitive Load×Voltage</a:t>
            </a:r>
            <a:r>
              <a:rPr kumimoji="1" lang="en-US" altLang="zh-CN" sz="22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 </a:t>
            </a:r>
            <a:r>
              <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×Frequency Switched</a:t>
            </a:r>
            <a:endPar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00430" marR="0" lvl="2" indent="-189230" algn="l" defTabSz="914400" rtl="0" eaLnBrk="0" fontAlgn="base" latinLnBrk="0" hangingPunct="0">
              <a:lnSpc>
                <a:spcPct val="100000"/>
              </a:lnSpc>
              <a:spcBef>
                <a:spcPts val="0"/>
              </a:spcBef>
              <a:spcAft>
                <a:spcPct val="0"/>
              </a:spcAft>
              <a:buClr>
                <a:schemeClr val="folHlink"/>
              </a:buClr>
              <a:buSzPct val="80000"/>
              <a:buFont typeface="Symbol" panose="05050102010706020507" pitchFamily="18" charset="2"/>
              <a:buChar char="§"/>
              <a:defRPr/>
            </a:pPr>
            <a:r>
              <a:rPr kumimoji="1"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开关频率是时钟速率的函数</a:t>
            </a:r>
            <a:endParaRPr kumimoji="1" lang="en-US" altLang="zh-CN"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00430" marR="0" lvl="2" indent="-189230" algn="l" defTabSz="914400" rtl="0" eaLnBrk="0" fontAlgn="base" latinLnBrk="0" hangingPunct="0">
              <a:lnSpc>
                <a:spcPct val="100000"/>
              </a:lnSpc>
              <a:spcBef>
                <a:spcPts val="0"/>
              </a:spcBef>
              <a:spcAft>
                <a:spcPct val="0"/>
              </a:spcAft>
              <a:buClr>
                <a:schemeClr val="folHlink"/>
              </a:buClr>
              <a:buSzPct val="80000"/>
              <a:buFont typeface="Symbol" panose="05050102010706020507" pitchFamily="18" charset="2"/>
              <a:buChar char="§"/>
              <a:defRPr/>
            </a:pPr>
            <a:r>
              <a:rPr kumimoji="1"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容性负载是晶体管扇出数和所用技术</a:t>
            </a:r>
            <a:r>
              <a:rPr kumimoji="1" lang="en-US" altLang="zh-CN"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1"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导线和晶体管</a:t>
            </a:r>
            <a:r>
              <a:rPr kumimoji="1" lang="en-US" altLang="zh-CN"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1"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的函数</a:t>
            </a:r>
            <a:endParaRPr kumimoji="1"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7550" marR="0" lvl="1" indent="-266700"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2"/>
              </a:buBlip>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减少芯片动态功耗的方法</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00430" marR="0" lvl="2" indent="-189230" algn="l"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降低时钟频率</a:t>
            </a:r>
            <a:endPar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00430" marR="0" lvl="2" indent="-189230" algn="l"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降低工作电压 </a:t>
            </a:r>
            <a:r>
              <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从</a:t>
            </a:r>
            <a:r>
              <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5V</a:t>
            </a: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降低到</a:t>
            </a:r>
            <a:r>
              <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1.5V)</a:t>
            </a:r>
            <a:endPar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9750" marR="0" lvl="2" indent="-354330" algn="l" defTabSz="914400" rtl="0" eaLnBrk="0" fontAlgn="base" latinLnBrk="0" hangingPunct="0">
              <a:lnSpc>
                <a:spcPct val="100000"/>
              </a:lnSpc>
              <a:spcBef>
                <a:spcPts val="0"/>
              </a:spcBef>
              <a:spcAft>
                <a:spcPct val="0"/>
              </a:spcAft>
              <a:buClr>
                <a:schemeClr val="folHlink"/>
              </a:buClr>
              <a:buSzTx/>
              <a:buFont typeface="Wingdings" panose="05000000000000000000" pitchFamily="2" charset="2"/>
              <a:buNone/>
              <a:defRPr/>
            </a:pP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但低电压会使晶体管的漏电流问题更加突出，大约</a:t>
            </a:r>
            <a:r>
              <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30% </a:t>
            </a: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40%</a:t>
            </a: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的芯片功耗是由漏电流引起的。</a:t>
            </a:r>
            <a:endPar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60375" marR="0" lvl="2" indent="-460375" algn="l" defTabSz="914400" rtl="0" eaLnBrk="0" fontAlgn="base" latinLnBrk="0" hangingPunct="0">
              <a:lnSpc>
                <a:spcPct val="100000"/>
              </a:lnSpc>
              <a:spcBef>
                <a:spcPts val="0"/>
              </a:spcBef>
              <a:spcAft>
                <a:spcPct val="0"/>
              </a:spcAft>
              <a:buClr>
                <a:schemeClr val="tx2"/>
              </a:buClr>
              <a:buSzTx/>
              <a:buFont typeface="Symbol" panose="05050102010706020507" pitchFamily="18" charset="2"/>
              <a:buBlip>
                <a:blip r:embed="rId1"/>
              </a:buBlip>
              <a:defRPr/>
            </a:pPr>
            <a:r>
              <a:rPr kumimoji="1" lang="zh-CN" altLang="en-US" sz="2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即使芯片</a:t>
            </a:r>
            <a:r>
              <a:rPr kumimoji="1" lang="zh-CN" altLang="en-US" sz="26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内晶体管关闭，仍有漏电流</a:t>
            </a:r>
            <a:r>
              <a:rPr kumimoji="1" lang="zh-CN" altLang="en-US" sz="2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发生需要消耗能量</a:t>
            </a:r>
            <a:endParaRPr kumimoji="1" lang="en-US" altLang="zh-CN" sz="2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7550" marR="0" lvl="1" indent="-266700"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2"/>
              </a:buBlip>
              <a:defRPr/>
            </a:pPr>
            <a:r>
              <a:rPr kumimoji="1"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静态</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功耗</a:t>
            </a:r>
            <a:r>
              <a:rPr kumimoji="1"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是指</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漏电</a:t>
            </a:r>
            <a:r>
              <a:rPr kumimoji="1"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流所消耗的能量</a:t>
            </a:r>
            <a:endParaRPr kumimoji="1"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14400" marR="0" lvl="1" indent="-45275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None/>
              <a:defRPr/>
            </a:pPr>
            <a:r>
              <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Static Power = Voltage</a:t>
            </a:r>
            <a:r>
              <a:rPr kumimoji="1" lang="en-US" altLang="zh-CN" sz="22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×Leakage Current</a:t>
            </a:r>
            <a:r>
              <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7550" marR="0" lvl="1" indent="-25590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2"/>
              </a:buBlip>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即使晶体管总是关闭，增加晶体管的数量也会增加功耗</a:t>
            </a:r>
            <a:endPar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7550" marR="0" lvl="1" indent="-25590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2"/>
              </a:buBlip>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自</a:t>
            </a:r>
            <a:r>
              <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45nm</a:t>
            </a:r>
            <a:r>
              <a:rPr kumimoji="1"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工艺</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之后</a:t>
            </a:r>
            <a:r>
              <a:rPr kumimoji="1"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芯片功耗</a:t>
            </a:r>
            <a:r>
              <a:rPr kumimoji="1"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主要表现为静态</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功耗</a:t>
            </a:r>
            <a:endPar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60375" marR="0" lvl="0" indent="-46037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1"/>
              </a:buBlip>
              <a:defRPr/>
            </a:pPr>
            <a:r>
              <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功耗已成为限制处理器性能提高的主要因素</a:t>
            </a:r>
            <a:endPar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203">
                                            <p:txEl>
                                              <p:charRg st="93" end="106"/>
                                            </p:txEl>
                                          </p:spTgt>
                                        </p:tgtEl>
                                        <p:attrNameLst>
                                          <p:attrName>style.visibility</p:attrName>
                                        </p:attrNameLst>
                                      </p:cBhvr>
                                      <p:to>
                                        <p:strVal val="visible"/>
                                      </p:to>
                                    </p:set>
                                    <p:animEffect transition="in" filter="blinds(horizontal)">
                                      <p:cBhvr>
                                        <p:cTn id="7" dur="500"/>
                                        <p:tgtEl>
                                          <p:spTgt spid="819203">
                                            <p:txEl>
                                              <p:charRg st="93" end="106"/>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819203">
                                            <p:txEl>
                                              <p:charRg st="106" end="134"/>
                                            </p:txEl>
                                          </p:spTgt>
                                        </p:tgtEl>
                                        <p:attrNameLst>
                                          <p:attrName>style.visibility</p:attrName>
                                        </p:attrNameLst>
                                      </p:cBhvr>
                                      <p:to>
                                        <p:strVal val="visible"/>
                                      </p:to>
                                    </p:set>
                                    <p:animEffect transition="in" filter="blinds(horizontal)">
                                      <p:cBhvr>
                                        <p:cTn id="11" dur="500"/>
                                        <p:tgtEl>
                                          <p:spTgt spid="819203">
                                            <p:txEl>
                                              <p:charRg st="106" end="13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819203">
                                            <p:txEl>
                                              <p:charRg st="134" end="146"/>
                                            </p:txEl>
                                          </p:spTgt>
                                        </p:tgtEl>
                                        <p:attrNameLst>
                                          <p:attrName>style.visibility</p:attrName>
                                        </p:attrNameLst>
                                      </p:cBhvr>
                                      <p:to>
                                        <p:strVal val="visible"/>
                                      </p:to>
                                    </p:set>
                                    <p:animEffect transition="in" filter="blinds(horizontal)">
                                      <p:cBhvr>
                                        <p:cTn id="16" dur="500"/>
                                        <p:tgtEl>
                                          <p:spTgt spid="819203">
                                            <p:txEl>
                                              <p:charRg st="134" end="14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819203">
                                            <p:txEl>
                                              <p:charRg st="146" end="153"/>
                                            </p:txEl>
                                          </p:spTgt>
                                        </p:tgtEl>
                                        <p:attrNameLst>
                                          <p:attrName>style.visibility</p:attrName>
                                        </p:attrNameLst>
                                      </p:cBhvr>
                                      <p:to>
                                        <p:strVal val="visible"/>
                                      </p:to>
                                    </p:set>
                                    <p:animEffect transition="in" filter="blinds(horizontal)">
                                      <p:cBhvr>
                                        <p:cTn id="21" dur="500"/>
                                        <p:tgtEl>
                                          <p:spTgt spid="819203">
                                            <p:txEl>
                                              <p:charRg st="146" end="153"/>
                                            </p:txEl>
                                          </p:spTgt>
                                        </p:tgtEl>
                                      </p:cBhvr>
                                    </p:animEffect>
                                  </p:childTnLst>
                                </p:cTn>
                              </p:par>
                            </p:childTnLst>
                          </p:cTn>
                        </p:par>
                        <p:par>
                          <p:cTn id="22" fill="hold">
                            <p:stCondLst>
                              <p:cond delay="500"/>
                            </p:stCondLst>
                            <p:childTnLst>
                              <p:par>
                                <p:cTn id="23" presetID="3" presetClass="entr" presetSubtype="10" fill="hold" nodeType="afterEffect">
                                  <p:stCondLst>
                                    <p:cond delay="0"/>
                                  </p:stCondLst>
                                  <p:childTnLst>
                                    <p:set>
                                      <p:cBhvr>
                                        <p:cTn id="24" dur="1" fill="hold">
                                          <p:stCondLst>
                                            <p:cond delay="0"/>
                                          </p:stCondLst>
                                        </p:cTn>
                                        <p:tgtEl>
                                          <p:spTgt spid="819203">
                                            <p:txEl>
                                              <p:charRg st="153" end="173"/>
                                            </p:txEl>
                                          </p:spTgt>
                                        </p:tgtEl>
                                        <p:attrNameLst>
                                          <p:attrName>style.visibility</p:attrName>
                                        </p:attrNameLst>
                                      </p:cBhvr>
                                      <p:to>
                                        <p:strVal val="visible"/>
                                      </p:to>
                                    </p:set>
                                    <p:animEffect transition="in" filter="blinds(horizontal)">
                                      <p:cBhvr>
                                        <p:cTn id="25" dur="500"/>
                                        <p:tgtEl>
                                          <p:spTgt spid="819203">
                                            <p:txEl>
                                              <p:charRg st="153" end="173"/>
                                            </p:txEl>
                                          </p:spTgt>
                                        </p:tgtEl>
                                      </p:cBhvr>
                                    </p:animEffect>
                                  </p:childTnLst>
                                </p:cTn>
                              </p:par>
                            </p:childTnLst>
                          </p:cTn>
                        </p:par>
                        <p:par>
                          <p:cTn id="26" fill="hold">
                            <p:stCondLst>
                              <p:cond delay="1000"/>
                            </p:stCondLst>
                            <p:childTnLst>
                              <p:par>
                                <p:cTn id="27" presetID="3" presetClass="entr" presetSubtype="10" fill="hold" nodeType="afterEffect">
                                  <p:stCondLst>
                                    <p:cond delay="0"/>
                                  </p:stCondLst>
                                  <p:childTnLst>
                                    <p:set>
                                      <p:cBhvr>
                                        <p:cTn id="28" dur="1" fill="hold">
                                          <p:stCondLst>
                                            <p:cond delay="0"/>
                                          </p:stCondLst>
                                        </p:cTn>
                                        <p:tgtEl>
                                          <p:spTgt spid="819203">
                                            <p:txEl>
                                              <p:charRg st="173" end="220"/>
                                            </p:txEl>
                                          </p:spTgt>
                                        </p:tgtEl>
                                        <p:attrNameLst>
                                          <p:attrName>style.visibility</p:attrName>
                                        </p:attrNameLst>
                                      </p:cBhvr>
                                      <p:to>
                                        <p:strVal val="visible"/>
                                      </p:to>
                                    </p:set>
                                    <p:animEffect transition="in" filter="blinds(horizontal)">
                                      <p:cBhvr>
                                        <p:cTn id="29" dur="500"/>
                                        <p:tgtEl>
                                          <p:spTgt spid="819203">
                                            <p:txEl>
                                              <p:charRg st="173" end="220"/>
                                            </p:txEl>
                                          </p:spTgt>
                                        </p:tgtEl>
                                      </p:cBhvr>
                                    </p:animEffect>
                                  </p:childTnLst>
                                </p:cTn>
                              </p:par>
                            </p:childTnLst>
                          </p:cTn>
                        </p:par>
                        <p:par>
                          <p:cTn id="30" fill="hold">
                            <p:stCondLst>
                              <p:cond delay="1500"/>
                            </p:stCondLst>
                            <p:childTnLst>
                              <p:par>
                                <p:cTn id="31" presetID="3" presetClass="entr" presetSubtype="10" fill="hold" nodeType="afterEffect">
                                  <p:stCondLst>
                                    <p:cond delay="0"/>
                                  </p:stCondLst>
                                  <p:childTnLst>
                                    <p:set>
                                      <p:cBhvr>
                                        <p:cTn id="32" dur="1" fill="hold">
                                          <p:stCondLst>
                                            <p:cond delay="0"/>
                                          </p:stCondLst>
                                        </p:cTn>
                                        <p:tgtEl>
                                          <p:spTgt spid="819203">
                                            <p:txEl>
                                              <p:charRg st="220" end="245"/>
                                            </p:txEl>
                                          </p:spTgt>
                                        </p:tgtEl>
                                        <p:attrNameLst>
                                          <p:attrName>style.visibility</p:attrName>
                                        </p:attrNameLst>
                                      </p:cBhvr>
                                      <p:to>
                                        <p:strVal val="visible"/>
                                      </p:to>
                                    </p:set>
                                    <p:animEffect transition="in" filter="blinds(horizontal)">
                                      <p:cBhvr>
                                        <p:cTn id="33" dur="500"/>
                                        <p:tgtEl>
                                          <p:spTgt spid="819203">
                                            <p:txEl>
                                              <p:charRg st="220" end="245"/>
                                            </p:txEl>
                                          </p:spTgt>
                                        </p:tgtEl>
                                      </p:cBhvr>
                                    </p:animEffect>
                                  </p:childTnLst>
                                </p:cTn>
                              </p:par>
                            </p:childTnLst>
                          </p:cTn>
                        </p:par>
                        <p:par>
                          <p:cTn id="34" fill="hold">
                            <p:stCondLst>
                              <p:cond delay="2000"/>
                            </p:stCondLst>
                            <p:childTnLst>
                              <p:par>
                                <p:cTn id="35" presetID="3" presetClass="entr" presetSubtype="10" fill="hold" nodeType="afterEffect">
                                  <p:stCondLst>
                                    <p:cond delay="0"/>
                                  </p:stCondLst>
                                  <p:childTnLst>
                                    <p:set>
                                      <p:cBhvr>
                                        <p:cTn id="36" dur="1" fill="hold">
                                          <p:stCondLst>
                                            <p:cond delay="0"/>
                                          </p:stCondLst>
                                        </p:cTn>
                                        <p:tgtEl>
                                          <p:spTgt spid="819203">
                                            <p:txEl>
                                              <p:charRg st="245" end="261"/>
                                            </p:txEl>
                                          </p:spTgt>
                                        </p:tgtEl>
                                        <p:attrNameLst>
                                          <p:attrName>style.visibility</p:attrName>
                                        </p:attrNameLst>
                                      </p:cBhvr>
                                      <p:to>
                                        <p:strVal val="visible"/>
                                      </p:to>
                                    </p:set>
                                    <p:animEffect transition="in" filter="blinds(horizontal)">
                                      <p:cBhvr>
                                        <p:cTn id="37" dur="500"/>
                                        <p:tgtEl>
                                          <p:spTgt spid="819203">
                                            <p:txEl>
                                              <p:charRg st="245" end="261"/>
                                            </p:txEl>
                                          </p:spTgt>
                                        </p:tgtEl>
                                      </p:cBhvr>
                                    </p:animEffect>
                                  </p:childTnLst>
                                </p:cTn>
                              </p:par>
                            </p:childTnLst>
                          </p:cTn>
                        </p:par>
                        <p:par>
                          <p:cTn id="38" fill="hold">
                            <p:stCondLst>
                              <p:cond delay="2500"/>
                            </p:stCondLst>
                            <p:childTnLst>
                              <p:par>
                                <p:cTn id="39" presetID="3" presetClass="entr" presetSubtype="10" fill="hold" nodeType="afterEffect">
                                  <p:stCondLst>
                                    <p:cond delay="0"/>
                                  </p:stCondLst>
                                  <p:childTnLst>
                                    <p:set>
                                      <p:cBhvr>
                                        <p:cTn id="40" dur="1" fill="hold">
                                          <p:stCondLst>
                                            <p:cond delay="0"/>
                                          </p:stCondLst>
                                        </p:cTn>
                                        <p:tgtEl>
                                          <p:spTgt spid="819203">
                                            <p:txEl>
                                              <p:charRg st="261" end="303"/>
                                            </p:txEl>
                                          </p:spTgt>
                                        </p:tgtEl>
                                        <p:attrNameLst>
                                          <p:attrName>style.visibility</p:attrName>
                                        </p:attrNameLst>
                                      </p:cBhvr>
                                      <p:to>
                                        <p:strVal val="visible"/>
                                      </p:to>
                                    </p:set>
                                    <p:animEffect transition="in" filter="blinds(horizontal)">
                                      <p:cBhvr>
                                        <p:cTn id="41" dur="500"/>
                                        <p:tgtEl>
                                          <p:spTgt spid="819203">
                                            <p:txEl>
                                              <p:charRg st="261" end="303"/>
                                            </p:txEl>
                                          </p:spTgt>
                                        </p:tgtEl>
                                      </p:cBhvr>
                                    </p:animEffect>
                                  </p:childTnLst>
                                </p:cTn>
                              </p:par>
                            </p:childTnLst>
                          </p:cTn>
                        </p:par>
                        <p:par>
                          <p:cTn id="42" fill="hold">
                            <p:stCondLst>
                              <p:cond delay="3000"/>
                            </p:stCondLst>
                            <p:childTnLst>
                              <p:par>
                                <p:cTn id="43" presetID="3" presetClass="entr" presetSubtype="10" fill="hold" nodeType="afterEffect">
                                  <p:stCondLst>
                                    <p:cond delay="0"/>
                                  </p:stCondLst>
                                  <p:childTnLst>
                                    <p:set>
                                      <p:cBhvr>
                                        <p:cTn id="44" dur="1" fill="hold">
                                          <p:stCondLst>
                                            <p:cond delay="0"/>
                                          </p:stCondLst>
                                        </p:cTn>
                                        <p:tgtEl>
                                          <p:spTgt spid="819203">
                                            <p:txEl>
                                              <p:charRg st="303" end="328"/>
                                            </p:txEl>
                                          </p:spTgt>
                                        </p:tgtEl>
                                        <p:attrNameLst>
                                          <p:attrName>style.visibility</p:attrName>
                                        </p:attrNameLst>
                                      </p:cBhvr>
                                      <p:to>
                                        <p:strVal val="visible"/>
                                      </p:to>
                                    </p:set>
                                    <p:animEffect transition="in" filter="blinds(horizontal)">
                                      <p:cBhvr>
                                        <p:cTn id="45" dur="500"/>
                                        <p:tgtEl>
                                          <p:spTgt spid="819203">
                                            <p:txEl>
                                              <p:charRg st="303" end="328"/>
                                            </p:txEl>
                                          </p:spTgt>
                                        </p:tgtEl>
                                      </p:cBhvr>
                                    </p:animEffect>
                                  </p:childTnLst>
                                </p:cTn>
                              </p:par>
                            </p:childTnLst>
                          </p:cTn>
                        </p:par>
                        <p:par>
                          <p:cTn id="46" fill="hold">
                            <p:stCondLst>
                              <p:cond delay="3500"/>
                            </p:stCondLst>
                            <p:childTnLst>
                              <p:par>
                                <p:cTn id="47" presetID="3" presetClass="entr" presetSubtype="10" fill="hold" nodeType="afterEffect">
                                  <p:stCondLst>
                                    <p:cond delay="0"/>
                                  </p:stCondLst>
                                  <p:childTnLst>
                                    <p:set>
                                      <p:cBhvr>
                                        <p:cTn id="48" dur="1" fill="hold">
                                          <p:stCondLst>
                                            <p:cond delay="0"/>
                                          </p:stCondLst>
                                        </p:cTn>
                                        <p:tgtEl>
                                          <p:spTgt spid="819203">
                                            <p:txEl>
                                              <p:charRg st="328" end="352"/>
                                            </p:txEl>
                                          </p:spTgt>
                                        </p:tgtEl>
                                        <p:attrNameLst>
                                          <p:attrName>style.visibility</p:attrName>
                                        </p:attrNameLst>
                                      </p:cBhvr>
                                      <p:to>
                                        <p:strVal val="visible"/>
                                      </p:to>
                                    </p:set>
                                    <p:animEffect transition="in" filter="blinds(horizontal)">
                                      <p:cBhvr>
                                        <p:cTn id="49" dur="500"/>
                                        <p:tgtEl>
                                          <p:spTgt spid="819203">
                                            <p:txEl>
                                              <p:charRg st="328" end="35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819203">
                                            <p:txEl>
                                              <p:charRg st="352" end="372"/>
                                            </p:txEl>
                                          </p:spTgt>
                                        </p:tgtEl>
                                        <p:attrNameLst>
                                          <p:attrName>style.visibility</p:attrName>
                                        </p:attrNameLst>
                                      </p:cBhvr>
                                      <p:to>
                                        <p:strVal val="visible"/>
                                      </p:to>
                                    </p:set>
                                    <p:animEffect transition="in" filter="blinds(horizontal)">
                                      <p:cBhvr>
                                        <p:cTn id="54" dur="500"/>
                                        <p:tgtEl>
                                          <p:spTgt spid="819203">
                                            <p:txEl>
                                              <p:charRg st="352" end="3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31874" name="Rectangle 2"/>
          <p:cNvSpPr>
            <a:spLocks noGrp="1" noChangeArrowheads="1"/>
          </p:cNvSpPr>
          <p:nvPr>
            <p:ph type="title"/>
          </p:nvPr>
        </p:nvSpPr>
        <p:spPr>
          <a:xfrm>
            <a:off x="0" y="352425"/>
            <a:ext cx="9144000" cy="735013"/>
          </a:xfrm>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第二章  指令：计算机语言</a:t>
            </a:r>
            <a:endPar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4431877" name="AutoShape 5"/>
          <p:cNvSpPr>
            <a:spLocks noChangeArrowheads="1"/>
          </p:cNvSpPr>
          <p:nvPr/>
        </p:nvSpPr>
        <p:spPr bwMode="invGray">
          <a:xfrm rot="13724312">
            <a:off x="3020219" y="3093244"/>
            <a:ext cx="792163" cy="288925"/>
          </a:xfrm>
          <a:prstGeom prst="rightArrow">
            <a:avLst>
              <a:gd name="adj1" fmla="val 35167"/>
              <a:gd name="adj2" fmla="val 111029"/>
            </a:avLst>
          </a:prstGeom>
          <a:gradFill rotWithShape="1">
            <a:gsLst>
              <a:gs pos="0">
                <a:srgbClr val="E3B624">
                  <a:alpha val="0"/>
                </a:srgbClr>
              </a:gs>
              <a:gs pos="100000">
                <a:schemeClr val="tx2"/>
              </a:gs>
            </a:gsLst>
            <a:lin ang="0" scaled="1"/>
          </a:gradFill>
          <a:ln>
            <a:noFill/>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1879" name="AutoShape 7"/>
          <p:cNvSpPr>
            <a:spLocks noChangeArrowheads="1"/>
          </p:cNvSpPr>
          <p:nvPr/>
        </p:nvSpPr>
        <p:spPr bwMode="invGray">
          <a:xfrm rot="-1031981">
            <a:off x="5365750" y="2944813"/>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1881" name="Oval 9"/>
          <p:cNvSpPr>
            <a:spLocks noChangeArrowheads="1"/>
          </p:cNvSpPr>
          <p:nvPr/>
        </p:nvSpPr>
        <p:spPr bwMode="black">
          <a:xfrm>
            <a:off x="2716213" y="2060575"/>
            <a:ext cx="3824288" cy="3673475"/>
          </a:xfrm>
          <a:prstGeom prst="ellipse">
            <a:avLst/>
          </a:prstGeom>
          <a:noFill/>
          <a:ln w="38100" algn="ctr">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1894" name="Oval 22"/>
          <p:cNvSpPr>
            <a:spLocks noChangeArrowheads="1"/>
          </p:cNvSpPr>
          <p:nvPr/>
        </p:nvSpPr>
        <p:spPr bwMode="gray">
          <a:xfrm>
            <a:off x="3648075" y="2935288"/>
            <a:ext cx="1944688" cy="19446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1895" name="Oval 23"/>
          <p:cNvSpPr>
            <a:spLocks noChangeArrowheads="1"/>
          </p:cNvSpPr>
          <p:nvPr/>
        </p:nvSpPr>
        <p:spPr bwMode="gray">
          <a:xfrm>
            <a:off x="3652838" y="2941638"/>
            <a:ext cx="1944688" cy="1944688"/>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1896" name="Oval 24"/>
          <p:cNvSpPr>
            <a:spLocks noChangeArrowheads="1"/>
          </p:cNvSpPr>
          <p:nvPr/>
        </p:nvSpPr>
        <p:spPr bwMode="gray">
          <a:xfrm>
            <a:off x="3775075" y="3062288"/>
            <a:ext cx="1690688" cy="169068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1897" name="Oval 25"/>
          <p:cNvSpPr>
            <a:spLocks noChangeArrowheads="1"/>
          </p:cNvSpPr>
          <p:nvPr/>
        </p:nvSpPr>
        <p:spPr bwMode="gray">
          <a:xfrm>
            <a:off x="3757613" y="3035300"/>
            <a:ext cx="1690688" cy="1690688"/>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20490" name="Group 26"/>
          <p:cNvGrpSpPr/>
          <p:nvPr/>
        </p:nvGrpSpPr>
        <p:grpSpPr>
          <a:xfrm>
            <a:off x="3859213" y="3146425"/>
            <a:ext cx="1522412" cy="1522413"/>
            <a:chOff x="2416" y="1846"/>
            <a:chExt cx="959" cy="959"/>
          </a:xfrm>
        </p:grpSpPr>
        <p:sp>
          <p:nvSpPr>
            <p:cNvPr id="4431899" name="Oval 27"/>
            <p:cNvSpPr>
              <a:spLocks noChangeArrowheads="1"/>
            </p:cNvSpPr>
            <p:nvPr/>
          </p:nvSpPr>
          <p:spPr bwMode="gray">
            <a:xfrm>
              <a:off x="2416" y="1846"/>
              <a:ext cx="959" cy="959"/>
            </a:xfrm>
            <a:prstGeom prst="ellipse">
              <a:avLst/>
            </a:prstGeom>
            <a:solidFill>
              <a:srgbClr val="333333"/>
            </a:soli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1900" name="Oval 28"/>
            <p:cNvSpPr>
              <a:spLocks noChangeArrowheads="1"/>
            </p:cNvSpPr>
            <p:nvPr/>
          </p:nvSpPr>
          <p:spPr bwMode="gray">
            <a:xfrm>
              <a:off x="2430" y="1858"/>
              <a:ext cx="927" cy="928"/>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1901" name="Oval 29"/>
            <p:cNvSpPr>
              <a:spLocks noChangeArrowheads="1"/>
            </p:cNvSpPr>
            <p:nvPr/>
          </p:nvSpPr>
          <p:spPr bwMode="gray">
            <a:xfrm>
              <a:off x="2441" y="1864"/>
              <a:ext cx="906" cy="904"/>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1902" name="Oval 30"/>
            <p:cNvSpPr>
              <a:spLocks noChangeArrowheads="1"/>
            </p:cNvSpPr>
            <p:nvPr/>
          </p:nvSpPr>
          <p:spPr bwMode="gray">
            <a:xfrm>
              <a:off x="2451" y="1873"/>
              <a:ext cx="861" cy="845"/>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1903" name="Oval 31"/>
            <p:cNvSpPr>
              <a:spLocks noChangeArrowheads="1"/>
            </p:cNvSpPr>
            <p:nvPr/>
          </p:nvSpPr>
          <p:spPr bwMode="gray">
            <a:xfrm>
              <a:off x="2502" y="1896"/>
              <a:ext cx="765" cy="687"/>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20491" name="Text Box 32"/>
          <p:cNvSpPr txBox="1"/>
          <p:nvPr/>
        </p:nvSpPr>
        <p:spPr>
          <a:xfrm>
            <a:off x="4113213" y="3663950"/>
            <a:ext cx="1004887" cy="58420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3200" dirty="0">
                <a:solidFill>
                  <a:srgbClr val="000000"/>
                </a:solidFill>
                <a:latin typeface="Times New Roman" panose="02020603050405020304" pitchFamily="18" charset="0"/>
                <a:ea typeface="华文中宋" panose="02010600040101010101" pitchFamily="2" charset="-122"/>
              </a:rPr>
              <a:t>指令</a:t>
            </a:r>
            <a:endParaRPr lang="zh-CN" altLang="en-US" sz="3200" dirty="0">
              <a:solidFill>
                <a:srgbClr val="000000"/>
              </a:solidFill>
              <a:latin typeface="Times New Roman" panose="02020603050405020304" pitchFamily="18" charset="0"/>
              <a:ea typeface="华文中宋" panose="02010600040101010101" pitchFamily="2" charset="-122"/>
            </a:endParaRPr>
          </a:p>
        </p:txBody>
      </p:sp>
      <p:sp>
        <p:nvSpPr>
          <p:cNvPr id="20492" name="Text Box 33"/>
          <p:cNvSpPr txBox="1"/>
          <p:nvPr/>
        </p:nvSpPr>
        <p:spPr>
          <a:xfrm>
            <a:off x="796925" y="2270125"/>
            <a:ext cx="1979613" cy="954088"/>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800" dirty="0">
                <a:latin typeface="Times New Roman" panose="02020603050405020304" pitchFamily="18" charset="0"/>
              </a:rPr>
              <a:t>计算机中的</a:t>
            </a:r>
            <a:endParaRPr lang="en-US" altLang="zh-CN" sz="2800" dirty="0">
              <a:latin typeface="Times New Roman" panose="02020603050405020304" pitchFamily="18" charset="0"/>
            </a:endParaRPr>
          </a:p>
          <a:p>
            <a:pPr marL="0" lvl="0" indent="0" algn="ctr">
              <a:lnSpc>
                <a:spcPct val="100000"/>
              </a:lnSpc>
              <a:spcBef>
                <a:spcPct val="0"/>
              </a:spcBef>
              <a:buClrTx/>
              <a:buFontTx/>
              <a:buNone/>
            </a:pPr>
            <a:r>
              <a:rPr lang="zh-CN" altLang="en-US" sz="2800" dirty="0">
                <a:latin typeface="Times New Roman" panose="02020603050405020304" pitchFamily="18" charset="0"/>
              </a:rPr>
              <a:t>数据表示</a:t>
            </a:r>
            <a:endParaRPr lang="zh-CN" altLang="en-US" sz="2800" dirty="0">
              <a:latin typeface="Times New Roman" panose="02020603050405020304" pitchFamily="18" charset="0"/>
            </a:endParaRPr>
          </a:p>
        </p:txBody>
      </p:sp>
      <p:sp>
        <p:nvSpPr>
          <p:cNvPr id="20493" name="Text Box 34"/>
          <p:cNvSpPr txBox="1"/>
          <p:nvPr/>
        </p:nvSpPr>
        <p:spPr>
          <a:xfrm>
            <a:off x="6300788" y="5086350"/>
            <a:ext cx="1606550" cy="519113"/>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342900" lvl="0" indent="-342900">
              <a:lnSpc>
                <a:spcPct val="100000"/>
              </a:lnSpc>
              <a:spcBef>
                <a:spcPct val="0"/>
              </a:spcBef>
              <a:buClrTx/>
              <a:buFontTx/>
              <a:buNone/>
            </a:pPr>
            <a:r>
              <a:rPr lang="zh-CN" altLang="en-US" sz="2800" dirty="0">
                <a:latin typeface="Times New Roman" panose="02020603050405020304" pitchFamily="18" charset="0"/>
              </a:rPr>
              <a:t>寻址方式</a:t>
            </a:r>
            <a:endParaRPr lang="zh-CN" altLang="en-US" sz="2800" dirty="0">
              <a:latin typeface="Times New Roman" panose="02020603050405020304" pitchFamily="18" charset="0"/>
            </a:endParaRPr>
          </a:p>
        </p:txBody>
      </p:sp>
      <p:sp>
        <p:nvSpPr>
          <p:cNvPr id="20494" name="Rectangle 37"/>
          <p:cNvSpPr/>
          <p:nvPr/>
        </p:nvSpPr>
        <p:spPr>
          <a:xfrm>
            <a:off x="6623050" y="2368550"/>
            <a:ext cx="1606550" cy="519113"/>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zh-CN" altLang="en-US" sz="2800" dirty="0">
                <a:latin typeface="Times New Roman" panose="02020603050405020304" pitchFamily="18" charset="0"/>
              </a:rPr>
              <a:t>指令格式</a:t>
            </a:r>
            <a:endParaRPr lang="en-US" altLang="zh-CN" sz="2800" dirty="0">
              <a:latin typeface="Times New Roman" panose="02020603050405020304" pitchFamily="18" charset="0"/>
            </a:endParaRPr>
          </a:p>
        </p:txBody>
      </p:sp>
      <p:grpSp>
        <p:nvGrpSpPr>
          <p:cNvPr id="20495" name="Group 38"/>
          <p:cNvGrpSpPr/>
          <p:nvPr/>
        </p:nvGrpSpPr>
        <p:grpSpPr>
          <a:xfrm>
            <a:off x="6113463" y="2701925"/>
            <a:ext cx="360362" cy="360363"/>
            <a:chOff x="3923" y="2659"/>
            <a:chExt cx="227" cy="227"/>
          </a:xfrm>
        </p:grpSpPr>
        <p:sp>
          <p:nvSpPr>
            <p:cNvPr id="2" name="Oval 39"/>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 name="Oval 40"/>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20496" name="Group 41"/>
          <p:cNvGrpSpPr/>
          <p:nvPr/>
        </p:nvGrpSpPr>
        <p:grpSpPr>
          <a:xfrm>
            <a:off x="5778500" y="5035550"/>
            <a:ext cx="360363" cy="360363"/>
            <a:chOff x="1565" y="2659"/>
            <a:chExt cx="227" cy="227"/>
          </a:xfrm>
        </p:grpSpPr>
        <p:sp>
          <p:nvSpPr>
            <p:cNvPr id="4431914" name="Oval 42"/>
            <p:cNvSpPr>
              <a:spLocks noChangeArrowheads="1"/>
            </p:cNvSpPr>
            <p:nvPr/>
          </p:nvSpPr>
          <p:spPr bwMode="gray">
            <a:xfrm>
              <a:off x="1565" y="2659"/>
              <a:ext cx="227" cy="227"/>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1915" name="Oval 43"/>
            <p:cNvSpPr>
              <a:spLocks noChangeArrowheads="1"/>
            </p:cNvSpPr>
            <p:nvPr/>
          </p:nvSpPr>
          <p:spPr bwMode="gray">
            <a:xfrm>
              <a:off x="1575" y="2678"/>
              <a:ext cx="141" cy="142"/>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20497" name="Text Box 47"/>
          <p:cNvSpPr txBox="1"/>
          <p:nvPr/>
        </p:nvSpPr>
        <p:spPr>
          <a:xfrm>
            <a:off x="838200" y="4673600"/>
            <a:ext cx="2351088" cy="95408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342900" lvl="0" indent="-342900" algn="ctr">
              <a:lnSpc>
                <a:spcPct val="100000"/>
              </a:lnSpc>
              <a:spcBef>
                <a:spcPct val="0"/>
              </a:spcBef>
              <a:buClrTx/>
              <a:buFontTx/>
              <a:buNone/>
            </a:pPr>
            <a:r>
              <a:rPr lang="zh-CN" altLang="en-US" sz="2800" dirty="0">
                <a:latin typeface="Times New Roman" panose="02020603050405020304" pitchFamily="18" charset="0"/>
              </a:rPr>
              <a:t>程序的</a:t>
            </a:r>
            <a:endParaRPr lang="en-US" altLang="zh-CN" sz="2800" dirty="0">
              <a:latin typeface="Times New Roman" panose="02020603050405020304" pitchFamily="18" charset="0"/>
            </a:endParaRPr>
          </a:p>
          <a:p>
            <a:pPr marL="342900" lvl="0" indent="-342900" algn="ctr">
              <a:lnSpc>
                <a:spcPct val="100000"/>
              </a:lnSpc>
              <a:spcBef>
                <a:spcPct val="0"/>
              </a:spcBef>
              <a:buClrTx/>
              <a:buFontTx/>
              <a:buNone/>
            </a:pPr>
            <a:r>
              <a:rPr lang="zh-CN" altLang="en-US" sz="2800" dirty="0">
                <a:latin typeface="Times New Roman" panose="02020603050405020304" pitchFamily="18" charset="0"/>
              </a:rPr>
              <a:t>机器级表示</a:t>
            </a:r>
            <a:endParaRPr lang="en-US" altLang="zh-CN" sz="2800" dirty="0">
              <a:latin typeface="Times New Roman" panose="02020603050405020304" pitchFamily="18" charset="0"/>
            </a:endParaRPr>
          </a:p>
        </p:txBody>
      </p:sp>
      <p:grpSp>
        <p:nvGrpSpPr>
          <p:cNvPr id="20498" name="Group 49"/>
          <p:cNvGrpSpPr/>
          <p:nvPr/>
        </p:nvGrpSpPr>
        <p:grpSpPr>
          <a:xfrm>
            <a:off x="2859088" y="2632075"/>
            <a:ext cx="360362" cy="360363"/>
            <a:chOff x="3515" y="3521"/>
            <a:chExt cx="227" cy="227"/>
          </a:xfrm>
        </p:grpSpPr>
        <p:sp>
          <p:nvSpPr>
            <p:cNvPr id="4431922" name="Oval 50"/>
            <p:cNvSpPr>
              <a:spLocks noChangeArrowheads="1"/>
            </p:cNvSpPr>
            <p:nvPr/>
          </p:nvSpPr>
          <p:spPr bwMode="gray">
            <a:xfrm>
              <a:off x="3515" y="3521"/>
              <a:ext cx="227" cy="227"/>
            </a:xfrm>
            <a:prstGeom prst="ellipse">
              <a:avLst/>
            </a:prstGeom>
            <a:gradFill rotWithShape="1">
              <a:gsLst>
                <a:gs pos="0">
                  <a:srgbClr val="008080"/>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1923" name="Oval 51"/>
            <p:cNvSpPr>
              <a:spLocks noChangeArrowheads="1"/>
            </p:cNvSpPr>
            <p:nvPr/>
          </p:nvSpPr>
          <p:spPr bwMode="gray">
            <a:xfrm>
              <a:off x="3525" y="3540"/>
              <a:ext cx="141" cy="142"/>
            </a:xfrm>
            <a:prstGeom prst="ellipse">
              <a:avLst/>
            </a:prstGeom>
            <a:gradFill rotWithShape="1">
              <a:gsLst>
                <a:gs pos="0">
                  <a:srgbClr val="008080">
                    <a:alpha val="0"/>
                  </a:srgbClr>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20499" name="AutoShape 52"/>
          <p:cNvSpPr/>
          <p:nvPr/>
        </p:nvSpPr>
        <p:spPr>
          <a:xfrm rot="8634294">
            <a:off x="3146425" y="4459288"/>
            <a:ext cx="863600" cy="288925"/>
          </a:xfrm>
          <a:prstGeom prst="rightArrow">
            <a:avLst>
              <a:gd name="adj1" fmla="val 35166"/>
              <a:gd name="adj2" fmla="val 121041"/>
            </a:avLst>
          </a:prstGeom>
          <a:gradFill rotWithShape="1">
            <a:gsLst>
              <a:gs pos="0">
                <a:srgbClr val="E3B624">
                  <a:alpha val="0"/>
                </a:srgbClr>
              </a:gs>
              <a:gs pos="100000">
                <a:schemeClr val="tx2"/>
              </a:gs>
            </a:gsLst>
            <a:lin ang="0" scaled="1"/>
            <a:tileRect/>
          </a:gradFill>
          <a:ln w="9525">
            <a:noFill/>
          </a:ln>
        </p:spPr>
        <p:txBody>
          <a:bodyPr rot="10800000" wrap="none" anchor="ctr" anchorCtr="0"/>
          <a:p>
            <a:pPr algn="ctr" eaLnBrk="1" hangingPunct="1">
              <a:buNone/>
            </a:pPr>
            <a:endParaRPr lang="zh-CN" altLang="en-US" dirty="0">
              <a:effectLst>
                <a:outerShdw blurRad="38100" dist="38100" dir="2700000">
                  <a:srgbClr val="000000"/>
                </a:outerShdw>
              </a:effectLst>
              <a:latin typeface="Arial" panose="020B0604020202020204" pitchFamily="34" charset="0"/>
            </a:endParaRPr>
          </a:p>
        </p:txBody>
      </p:sp>
      <p:sp>
        <p:nvSpPr>
          <p:cNvPr id="4431925" name="AutoShape 53"/>
          <p:cNvSpPr>
            <a:spLocks noChangeArrowheads="1"/>
          </p:cNvSpPr>
          <p:nvPr/>
        </p:nvSpPr>
        <p:spPr bwMode="invGray">
          <a:xfrm rot="2178985">
            <a:off x="5103813" y="4722813"/>
            <a:ext cx="792163" cy="288925"/>
          </a:xfrm>
          <a:prstGeom prst="rightArrow">
            <a:avLst>
              <a:gd name="adj1" fmla="val 35167"/>
              <a:gd name="adj2" fmla="val 111028"/>
            </a:avLst>
          </a:prstGeom>
          <a:gradFill rotWithShape="1">
            <a:gsLst>
              <a:gs pos="0">
                <a:srgbClr val="E3B624">
                  <a:alpha val="0"/>
                </a:srgbClr>
              </a:gs>
              <a:gs pos="100000">
                <a:schemeClr val="tx2"/>
              </a:gs>
            </a:gsLst>
            <a:lin ang="0" scaled="1"/>
          </a:gradFill>
          <a:ln>
            <a:noFill/>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20501" name="Group 38"/>
          <p:cNvGrpSpPr/>
          <p:nvPr/>
        </p:nvGrpSpPr>
        <p:grpSpPr>
          <a:xfrm>
            <a:off x="2903538" y="4768850"/>
            <a:ext cx="360362" cy="360363"/>
            <a:chOff x="3923" y="2659"/>
            <a:chExt cx="227" cy="227"/>
          </a:xfrm>
        </p:grpSpPr>
        <p:sp>
          <p:nvSpPr>
            <p:cNvPr id="4431911" name="Oval 39"/>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1912" name="Oval 40"/>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3"/>
          <p:cNvSpPr>
            <a:spLocks noGrp="1"/>
          </p:cNvSpPr>
          <p:nvPr>
            <p:ph type="body"/>
          </p:nvPr>
        </p:nvSpPr>
        <p:spPr>
          <a:xfrm>
            <a:off x="611188" y="1354138"/>
            <a:ext cx="8064500" cy="4162425"/>
          </a:xfrm>
          <a:ln/>
        </p:spPr>
        <p:txBody>
          <a:bodyPr vert="horz" wrap="square" lIns="91440" tIns="45720" rIns="91440" bIns="45720" anchor="t" anchorCtr="0">
            <a:spAutoFit/>
          </a:bodyPr>
          <a:p>
            <a:pPr eaLnBrk="1" hangingPunct="1">
              <a:spcBef>
                <a:spcPct val="65000"/>
              </a:spcBef>
            </a:pPr>
            <a:r>
              <a:rPr lang="zh-CN" altLang="en-US" dirty="0">
                <a:latin typeface="Arial" panose="020B0604020202020204" pitchFamily="34" charset="0"/>
              </a:rPr>
              <a:t>常用的</a:t>
            </a:r>
            <a:r>
              <a:rPr lang="zh-CN" altLang="en-US" dirty="0"/>
              <a:t>数值数据</a:t>
            </a:r>
            <a:endParaRPr lang="zh-CN" altLang="en-US" dirty="0"/>
          </a:p>
          <a:p>
            <a:pPr lvl="1" eaLnBrk="1" hangingPunct="1">
              <a:spcBef>
                <a:spcPct val="65000"/>
              </a:spcBef>
            </a:pPr>
            <a:r>
              <a:rPr lang="zh-CN" altLang="en-US" dirty="0"/>
              <a:t>定点数、浮点数和十进制数</a:t>
            </a:r>
            <a:endParaRPr lang="zh-CN" altLang="en-US" dirty="0">
              <a:latin typeface="Arial" panose="020B0604020202020204" pitchFamily="34" charset="0"/>
            </a:endParaRPr>
          </a:p>
          <a:p>
            <a:pPr eaLnBrk="1" hangingPunct="1">
              <a:spcBef>
                <a:spcPct val="65000"/>
              </a:spcBef>
            </a:pPr>
            <a:r>
              <a:rPr lang="zh-CN" altLang="en-US" dirty="0">
                <a:latin typeface="Arial" panose="020B0604020202020204" pitchFamily="34" charset="0"/>
              </a:rPr>
              <a:t>要解决的问题</a:t>
            </a:r>
            <a:endParaRPr lang="zh-CN" altLang="en-US" dirty="0">
              <a:latin typeface="Arial" panose="020B0604020202020204" pitchFamily="34" charset="0"/>
            </a:endParaRPr>
          </a:p>
          <a:p>
            <a:pPr lvl="1" eaLnBrk="1" hangingPunct="1">
              <a:lnSpc>
                <a:spcPct val="105000"/>
              </a:lnSpc>
              <a:spcBef>
                <a:spcPct val="40000"/>
              </a:spcBef>
            </a:pPr>
            <a:r>
              <a:rPr lang="zh-CN" altLang="en-US" dirty="0">
                <a:latin typeface="Arial" panose="020B0604020202020204" pitchFamily="34" charset="0"/>
              </a:rPr>
              <a:t>第一个问题：正数与负数的表示</a:t>
            </a:r>
            <a:endParaRPr lang="zh-CN" altLang="en-US" dirty="0">
              <a:latin typeface="Arial" panose="020B0604020202020204" pitchFamily="34" charset="0"/>
            </a:endParaRPr>
          </a:p>
          <a:p>
            <a:pPr lvl="1" eaLnBrk="1" hangingPunct="1">
              <a:lnSpc>
                <a:spcPct val="105000"/>
              </a:lnSpc>
              <a:spcBef>
                <a:spcPct val="40000"/>
              </a:spcBef>
            </a:pPr>
            <a:r>
              <a:rPr lang="zh-CN" altLang="en-US" dirty="0">
                <a:latin typeface="Arial" panose="020B0604020202020204" pitchFamily="34" charset="0"/>
              </a:rPr>
              <a:t>第二个问题：小数点的表示</a:t>
            </a:r>
            <a:endParaRPr lang="zh-CN" altLang="en-US" dirty="0">
              <a:latin typeface="Arial" panose="020B0604020202020204" pitchFamily="34" charset="0"/>
            </a:endParaRPr>
          </a:p>
          <a:p>
            <a:pPr lvl="1" eaLnBrk="1" hangingPunct="1">
              <a:lnSpc>
                <a:spcPct val="105000"/>
              </a:lnSpc>
              <a:spcBef>
                <a:spcPct val="40000"/>
              </a:spcBef>
            </a:pPr>
            <a:r>
              <a:rPr lang="zh-CN" altLang="en-US" dirty="0">
                <a:latin typeface="Arial" panose="020B0604020202020204" pitchFamily="34" charset="0"/>
              </a:rPr>
              <a:t>第三个问题：零的表示</a:t>
            </a:r>
            <a:endParaRPr lang="zh-CN" altLang="en-US" dirty="0">
              <a:latin typeface="Arial" panose="020B0604020202020204" pitchFamily="34" charset="0"/>
            </a:endParaRPr>
          </a:p>
          <a:p>
            <a:pPr lvl="1" eaLnBrk="1" hangingPunct="1">
              <a:lnSpc>
                <a:spcPct val="105000"/>
              </a:lnSpc>
              <a:spcBef>
                <a:spcPct val="40000"/>
              </a:spcBef>
            </a:pPr>
            <a:r>
              <a:rPr lang="zh-CN" altLang="en-US" dirty="0">
                <a:latin typeface="Arial" panose="020B0604020202020204" pitchFamily="34" charset="0"/>
              </a:rPr>
              <a:t>第四个问题：实数的表示</a:t>
            </a:r>
            <a:endParaRPr lang="zh-CN" altLang="en-US" dirty="0">
              <a:latin typeface="Arial" panose="020B0604020202020204" pitchFamily="34" charset="0"/>
            </a:endParaRPr>
          </a:p>
        </p:txBody>
      </p:sp>
      <p:sp>
        <p:nvSpPr>
          <p:cNvPr id="4" name="Rectangle 2"/>
          <p:cNvSpPr txBox="1">
            <a:spLocks noChangeArrowheads="1"/>
          </p:cNvSpPr>
          <p:nvPr/>
        </p:nvSpPr>
        <p:spPr bwMode="auto">
          <a:xfrm>
            <a:off x="800100" y="242888"/>
            <a:ext cx="7772400" cy="735013"/>
          </a:xfrm>
          <a:prstGeom prst="rect">
            <a:avLst/>
          </a:prstGeom>
          <a:noFill/>
          <a:ln w="9525">
            <a:noFill/>
            <a:miter lim="800000"/>
          </a:ln>
          <a:effectLst/>
        </p:spPr>
        <p:txBody>
          <a:bodyPr>
            <a:spAutoFit/>
          </a:bodyPr>
          <a:lstStyle>
            <a:lvl1pPr eaLnBrk="1" hangingPunct="1">
              <a:lnSpc>
                <a:spcPct val="85000"/>
              </a:lnSpc>
              <a:defRPr sz="4800">
                <a:solidFill>
                  <a:srgbClr val="FF0000"/>
                </a:solidFill>
                <a:effectLst>
                  <a:outerShdw blurRad="38100" dist="38100" dir="2700000" algn="tl">
                    <a:srgbClr val="000000"/>
                  </a:outerShdw>
                </a:effectLst>
                <a:latin typeface="+mj-lt"/>
                <a:ea typeface="+mj-ea"/>
                <a:cs typeface="+mj-cs"/>
              </a:defRPr>
            </a:lvl1pPr>
            <a:lvl2pPr eaLnBrk="0" hangingPunct="0">
              <a:lnSpc>
                <a:spcPct val="85000"/>
              </a:lnSpc>
              <a:defRPr sz="48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2pPr>
            <a:lvl3pPr eaLnBrk="0" hangingPunct="0">
              <a:lnSpc>
                <a:spcPct val="85000"/>
              </a:lnSpc>
              <a:defRPr sz="48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3pPr>
            <a:lvl4pPr eaLnBrk="0" hangingPunct="0">
              <a:lnSpc>
                <a:spcPct val="85000"/>
              </a:lnSpc>
              <a:defRPr sz="48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4pPr>
            <a:lvl5pPr eaLnBrk="0" hangingPunct="0">
              <a:lnSpc>
                <a:spcPct val="85000"/>
              </a:lnSpc>
              <a:defRPr sz="48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5pPr>
            <a:lvl6pPr marL="457200" algn="ctr" fontAlgn="base">
              <a:lnSpc>
                <a:spcPct val="85000"/>
              </a:lnSpc>
              <a:spcBef>
                <a:spcPct val="0"/>
              </a:spcBef>
              <a:spcAft>
                <a:spcPct val="0"/>
              </a:spcAft>
              <a:defRPr sz="48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6pPr>
            <a:lvl7pPr marL="914400" algn="ctr" fontAlgn="base">
              <a:lnSpc>
                <a:spcPct val="85000"/>
              </a:lnSpc>
              <a:spcBef>
                <a:spcPct val="0"/>
              </a:spcBef>
              <a:spcAft>
                <a:spcPct val="0"/>
              </a:spcAft>
              <a:defRPr sz="48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7pPr>
            <a:lvl8pPr marL="1371600" algn="ctr" fontAlgn="base">
              <a:lnSpc>
                <a:spcPct val="85000"/>
              </a:lnSpc>
              <a:spcBef>
                <a:spcPct val="0"/>
              </a:spcBef>
              <a:spcAft>
                <a:spcPct val="0"/>
              </a:spcAft>
              <a:defRPr sz="48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8pPr>
            <a:lvl9pPr marL="1828800" algn="ctr" fontAlgn="base">
              <a:lnSpc>
                <a:spcPct val="85000"/>
              </a:lnSpc>
              <a:spcBef>
                <a:spcPct val="0"/>
              </a:spcBef>
              <a:spcAft>
                <a:spcPct val="0"/>
              </a:spcAft>
              <a:defRPr sz="48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回顾－</a:t>
            </a:r>
            <a:r>
              <a:rPr kumimoji="0" lang="zh-CN" altLang="en-US" sz="4800" b="1" i="0" u="none" strike="noStrike" kern="120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数值数据</a:t>
            </a:r>
            <a:r>
              <a:rPr kumimoji="0" lang="zh-CN" altLang="en-US" sz="4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的机器表示</a:t>
            </a:r>
            <a:endParaRPr kumimoji="0" lang="zh-CN" altLang="en-US" sz="4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50978" name="Rectangle 2"/>
          <p:cNvSpPr>
            <a:spLocks noGrp="1" noChangeArrowheads="1"/>
          </p:cNvSpPr>
          <p:nvPr>
            <p:ph type="title"/>
          </p:nvPr>
        </p:nvSpPr>
        <p:spPr>
          <a:xfrm>
            <a:off x="0" y="306388"/>
            <a:ext cx="9144000" cy="7143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a:t>
            </a:r>
            <a:r>
              <a:rPr kumimoji="1"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rPr>
              <a:t>定点数据表示</a:t>
            </a:r>
            <a:endParaRPr kumimoji="1"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endParaRPr>
          </a:p>
        </p:txBody>
      </p:sp>
      <p:sp>
        <p:nvSpPr>
          <p:cNvPr id="19459" name="Rectangle 3"/>
          <p:cNvSpPr>
            <a:spLocks noGrp="1" noChangeArrowheads="1"/>
          </p:cNvSpPr>
          <p:nvPr>
            <p:ph idx="1"/>
          </p:nvPr>
        </p:nvSpPr>
        <p:spPr>
          <a:xfrm>
            <a:off x="635000" y="1074738"/>
            <a:ext cx="8077200" cy="5786438"/>
          </a:xfrm>
        </p:spPr>
        <p:txBody>
          <a:bodyPr vert="horz" wrap="square" lIns="92075" tIns="46038" rIns="92075" bIns="46038" numCol="1" anchor="t" anchorCtr="0" compatLnSpc="1">
            <a:spAutoFit/>
          </a:bodyPr>
          <a:lstStyle/>
          <a:p>
            <a:pPr marL="358775" marR="0" lvl="0" indent="-358775" algn="l" defTabSz="914400" rtl="0" eaLnBrk="0" fontAlgn="base" latinLnBrk="0" hangingPunct="0">
              <a:lnSpc>
                <a:spcPct val="100000"/>
              </a:lnSpc>
              <a:spcBef>
                <a:spcPts val="600"/>
              </a:spcBef>
              <a:spcAft>
                <a:spcPct val="0"/>
              </a:spcAft>
              <a:buClr>
                <a:srgbClr val="FF9999"/>
              </a:buClr>
              <a:buSzTx/>
              <a:buFont typeface="Wingdings" panose="05000000000000000000" pitchFamily="2" charset="2"/>
              <a:buBlip>
                <a:blip r:embed="rId1"/>
              </a:buBlip>
              <a:defRPr/>
            </a:pPr>
            <a:r>
              <a:rPr kumimoji="1"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有符号数表示</a:t>
            </a:r>
            <a:endParaRPr kumimoji="1"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812800" marR="0" lvl="1" indent="-358775" algn="l" defTabSz="914400" rtl="0" eaLnBrk="0" fontAlgn="base" latinLnBrk="0" hangingPunct="0">
              <a:lnSpc>
                <a:spcPct val="100000"/>
              </a:lnSpc>
              <a:spcBef>
                <a:spcPts val="600"/>
              </a:spcBef>
              <a:spcAft>
                <a:spcPct val="0"/>
              </a:spcAft>
              <a:buClr>
                <a:srgbClr val="FF9999"/>
              </a:buClr>
              <a:buSzTx/>
              <a:buFont typeface="Wingdings" panose="05000000000000000000" pitchFamily="2" charset="2"/>
              <a:buBlip>
                <a:blip r:embed="rId2"/>
              </a:buBlip>
              <a:defRPr/>
            </a:pPr>
            <a:r>
              <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原码、反码、补码</a:t>
            </a:r>
            <a:endParaRPr kumimoji="1"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812800" marR="0" lvl="1" indent="-358775" algn="l" defTabSz="914400" rtl="0" eaLnBrk="0" fontAlgn="base" latinLnBrk="0" hangingPunct="0">
              <a:lnSpc>
                <a:spcPct val="100000"/>
              </a:lnSpc>
              <a:spcBef>
                <a:spcPts val="600"/>
              </a:spcBef>
              <a:spcAft>
                <a:spcPct val="0"/>
              </a:spcAft>
              <a:buClr>
                <a:srgbClr val="FF9999"/>
              </a:buClr>
              <a:buSzTx/>
              <a:buFont typeface="Wingdings" panose="05000000000000000000" pitchFamily="2" charset="2"/>
              <a:buBlip>
                <a:blip r:embed="rId2"/>
              </a:buBlip>
              <a:defRPr/>
            </a:pPr>
            <a:r>
              <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各编码的表示范围</a:t>
            </a:r>
            <a:endParaRPr kumimoji="1"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358775" marR="0" lvl="0" indent="-358775" algn="l" defTabSz="914400" rtl="0" eaLnBrk="0" fontAlgn="base" latinLnBrk="0" hangingPunct="0">
              <a:lnSpc>
                <a:spcPct val="100000"/>
              </a:lnSpc>
              <a:spcBef>
                <a:spcPts val="600"/>
              </a:spcBef>
              <a:spcAft>
                <a:spcPct val="0"/>
              </a:spcAft>
              <a:buClr>
                <a:srgbClr val="FF9999"/>
              </a:buClr>
              <a:buSzTx/>
              <a:buFont typeface="Wingdings" panose="05000000000000000000" pitchFamily="2" charset="2"/>
              <a:buBlip>
                <a:blip r:embed="rId1"/>
              </a:buBlip>
              <a:defRPr/>
            </a:pPr>
            <a:r>
              <a:rPr kumimoji="1"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定点数据表示</a:t>
            </a:r>
            <a:endParaRPr kumimoji="1"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460375" marR="0" lvl="0" indent="-460375" algn="l" defTabSz="914400" rtl="0" eaLnBrk="0" fontAlgn="base" latinLnBrk="0" hangingPunct="0">
              <a:lnSpc>
                <a:spcPct val="100000"/>
              </a:lnSpc>
              <a:spcBef>
                <a:spcPts val="600"/>
              </a:spcBef>
              <a:spcAft>
                <a:spcPct val="0"/>
              </a:spcAft>
              <a:buClr>
                <a:srgbClr val="FF9999"/>
              </a:buClr>
              <a:buSzTx/>
              <a:buFont typeface="Wingdings" panose="05000000000000000000" pitchFamily="2" charset="2"/>
              <a:buNone/>
              <a:defRPr/>
            </a:pPr>
            <a:endParaRPr kumimoji="1"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460375" marR="0" lvl="0" indent="-460375" algn="l" defTabSz="914400" rtl="0" eaLnBrk="0" fontAlgn="base" latinLnBrk="0" hangingPunct="0">
              <a:lnSpc>
                <a:spcPct val="100000"/>
              </a:lnSpc>
              <a:spcBef>
                <a:spcPts val="600"/>
              </a:spcBef>
              <a:spcAft>
                <a:spcPct val="0"/>
              </a:spcAft>
              <a:buClr>
                <a:srgbClr val="FF9999"/>
              </a:buClr>
              <a:buSzTx/>
              <a:buFont typeface="Wingdings" panose="05000000000000000000" pitchFamily="2" charset="2"/>
              <a:buNone/>
              <a:defRPr/>
            </a:pPr>
            <a:endParaRPr kumimoji="1"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460375" marR="0" lvl="0" indent="-460375" algn="l" defTabSz="914400" rtl="0" eaLnBrk="0" fontAlgn="base" latinLnBrk="0" hangingPunct="0">
              <a:lnSpc>
                <a:spcPct val="100000"/>
              </a:lnSpc>
              <a:spcBef>
                <a:spcPts val="600"/>
              </a:spcBef>
              <a:spcAft>
                <a:spcPct val="0"/>
              </a:spcAft>
              <a:buClr>
                <a:srgbClr val="FF9999"/>
              </a:buClr>
              <a:buSzTx/>
              <a:buFont typeface="Wingdings" panose="05000000000000000000" pitchFamily="2" charset="2"/>
              <a:buNone/>
              <a:defRPr/>
            </a:pPr>
            <a:endParaRPr kumimoji="1"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600"/>
              </a:spcBef>
              <a:spcAft>
                <a:spcPct val="0"/>
              </a:spcAft>
              <a:buClr>
                <a:srgbClr val="FF9999"/>
              </a:buClr>
              <a:buSzTx/>
              <a:buFont typeface="Wingdings" panose="05000000000000000000" pitchFamily="2" charset="2"/>
              <a:buBlip>
                <a:blip r:embed="rId2"/>
              </a:buBlip>
              <a:defRPr/>
            </a:pPr>
            <a:r>
              <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通常采用补码表示</a:t>
            </a:r>
            <a:endPar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42950" marR="0" lvl="1" indent="-285750" algn="l" defTabSz="914400" rtl="0" eaLnBrk="0" fontAlgn="base" latinLnBrk="0" hangingPunct="0">
              <a:lnSpc>
                <a:spcPct val="100000"/>
              </a:lnSpc>
              <a:spcBef>
                <a:spcPts val="600"/>
              </a:spcBef>
              <a:spcAft>
                <a:spcPct val="0"/>
              </a:spcAft>
              <a:buClr>
                <a:srgbClr val="FF9999"/>
              </a:buClr>
              <a:buSzTx/>
              <a:buFont typeface="Wingdings" panose="05000000000000000000" pitchFamily="2" charset="2"/>
              <a:buBlip>
                <a:blip r:embed="rId2"/>
              </a:buBlip>
              <a:defRPr/>
            </a:pPr>
            <a:r>
              <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定点数分类</a:t>
            </a:r>
            <a:endPar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143000" marR="0" lvl="2" indent="-228600" algn="l" defTabSz="914400" rtl="0" eaLnBrk="1" fontAlgn="base" latinLnBrk="0" hangingPunct="1">
              <a:lnSpc>
                <a:spcPct val="100000"/>
              </a:lnSpc>
              <a:spcBef>
                <a:spcPts val="600"/>
              </a:spcBef>
              <a:spcAft>
                <a:spcPct val="0"/>
              </a:spcAft>
              <a:buClr>
                <a:schemeClr val="folHlink"/>
              </a:buClr>
              <a:buSzPct val="100000"/>
              <a:buFont typeface="Symbol" panose="05050102010706020507" pitchFamily="18" charset="2"/>
              <a:buChar char="§"/>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整数：表示范围是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0≤| x |</a:t>
            </a:r>
            <a:r>
              <a:rPr kumimoji="0" lang="en-US" altLang="zh-CN" sz="2400" b="1" i="1" u="none" strike="noStrike" kern="0" cap="none" spc="0" normalizeH="0" baseline="0" noProof="0" dirty="0" smtClean="0">
                <a:ln>
                  <a:noFill/>
                </a:ln>
                <a:solidFill>
                  <a:schemeClr val="tx1"/>
                </a:solidFill>
                <a:effectLst/>
                <a:uLnTx/>
                <a:uFillTx/>
                <a:latin typeface="Times New Roman" panose="02020603050405020304" pitchFamily="18" charset="0"/>
                <a:ea typeface="+mn-ea"/>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2</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rPr>
              <a:t>n</a:t>
            </a:r>
            <a:r>
              <a:rPr kumimoji="0" lang="zh-CN" alt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rPr>
              <a:t>－</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rPr>
              <a:t>1</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  </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143000" marR="0" lvl="2" indent="-228600" algn="l" defTabSz="914400" rtl="0" eaLnBrk="1" fontAlgn="base" latinLnBrk="0" hangingPunct="1">
              <a:lnSpc>
                <a:spcPct val="100000"/>
              </a:lnSpc>
              <a:spcBef>
                <a:spcPts val="600"/>
              </a:spcBef>
              <a:spcAft>
                <a:spcPct val="0"/>
              </a:spcAft>
              <a:buClr>
                <a:schemeClr val="folHlink"/>
              </a:buClr>
              <a:buSzPct val="100000"/>
              <a:buFont typeface="Symbol" panose="05050102010706020507" pitchFamily="18" charset="2"/>
              <a:buChar char="§"/>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小数：表示范围是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0≤| x |</a:t>
            </a:r>
            <a:r>
              <a:rPr kumimoji="0" lang="en-US" altLang="zh-CN" sz="2400" b="1" i="1" u="none" strike="noStrike" kern="0" cap="none" spc="0" normalizeH="0" baseline="0" noProof="0" dirty="0" smtClean="0">
                <a:ln>
                  <a:noFill/>
                </a:ln>
                <a:solidFill>
                  <a:schemeClr val="tx1"/>
                </a:solidFill>
                <a:effectLst/>
                <a:uLnTx/>
                <a:uFillTx/>
                <a:latin typeface="Times New Roman" panose="02020603050405020304" pitchFamily="18" charset="0"/>
                <a:ea typeface="+mn-ea"/>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2</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rPr>
              <a:t>-n</a:t>
            </a:r>
            <a:endPar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endParaRPr>
          </a:p>
        </p:txBody>
      </p:sp>
      <p:graphicFrame>
        <p:nvGraphicFramePr>
          <p:cNvPr id="1026" name="Object 6"/>
          <p:cNvGraphicFramePr>
            <a:graphicFrameLocks noChangeAspect="1"/>
          </p:cNvGraphicFramePr>
          <p:nvPr/>
        </p:nvGraphicFramePr>
        <p:xfrm>
          <a:off x="1219200" y="3400425"/>
          <a:ext cx="6691313" cy="1316038"/>
        </p:xfrm>
        <a:graphic>
          <a:graphicData uri="http://schemas.openxmlformats.org/presentationml/2006/ole">
            <mc:AlternateContent xmlns:mc="http://schemas.openxmlformats.org/markup-compatibility/2006">
              <mc:Choice xmlns:v="urn:schemas-microsoft-com:vml" Requires="v">
                <p:oleObj spid="_x0000_s3076" name="" r:id="rId3" imgW="3773170" imgH="789305" progId="Word.Picture.8">
                  <p:embed/>
                </p:oleObj>
              </mc:Choice>
              <mc:Fallback>
                <p:oleObj name="" r:id="rId3" imgW="3773170" imgH="789305" progId="Word.Picture.8">
                  <p:embed/>
                  <p:pic>
                    <p:nvPicPr>
                      <p:cNvPr id="0" name="图片 3075"/>
                      <p:cNvPicPr/>
                      <p:nvPr/>
                    </p:nvPicPr>
                    <p:blipFill>
                      <a:blip r:embed="rId4"/>
                      <a:stretch>
                        <a:fillRect/>
                      </a:stretch>
                    </p:blipFill>
                    <p:spPr>
                      <a:xfrm>
                        <a:off x="1219200" y="3400425"/>
                        <a:ext cx="6691313" cy="1316038"/>
                      </a:xfrm>
                      <a:prstGeom prst="rect">
                        <a:avLst/>
                      </a:prstGeom>
                      <a:solidFill>
                        <a:schemeClr val="tx1"/>
                      </a:solidFill>
                      <a:ln w="38100">
                        <a:noFill/>
                        <a:miter/>
                      </a:ln>
                    </p:spPr>
                  </p:pic>
                </p:oleObj>
              </mc:Fallback>
            </mc:AlternateContent>
          </a:graphicData>
        </a:graphic>
      </p:graphicFrame>
      <p:sp>
        <p:nvSpPr>
          <p:cNvPr id="2057" name="AutoShape 9"/>
          <p:cNvSpPr/>
          <p:nvPr/>
        </p:nvSpPr>
        <p:spPr>
          <a:xfrm>
            <a:off x="4552950" y="1516380"/>
            <a:ext cx="4208780" cy="1190625"/>
          </a:xfrm>
          <a:prstGeom prst="cloudCallout">
            <a:avLst>
              <a:gd name="adj1" fmla="val 16194"/>
              <a:gd name="adj2" fmla="val -21523"/>
            </a:avLst>
          </a:prstGeom>
          <a:solidFill>
            <a:srgbClr val="FFFF00"/>
          </a:solid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5"/>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6"/>
              </a:buBlip>
              <a:defRPr sz="2400" b="1">
                <a:solidFill>
                  <a:schemeClr val="tx1"/>
                </a:solidFill>
                <a:latin typeface="+mn-lt"/>
                <a:ea typeface="+mn-ea"/>
              </a:defRPr>
            </a:lvl5pPr>
          </a:lstStyle>
          <a:p>
            <a:pPr marL="0" lvl="0" indent="0" algn="r" eaLnBrk="1" hangingPunct="1">
              <a:lnSpc>
                <a:spcPct val="100000"/>
              </a:lnSpc>
              <a:spcBef>
                <a:spcPct val="0"/>
              </a:spcBef>
              <a:buClrTx/>
              <a:buFontTx/>
              <a:buNone/>
            </a:pPr>
            <a:r>
              <a:rPr lang="zh-CN" altLang="en-US" sz="2400" dirty="0">
                <a:solidFill>
                  <a:schemeClr val="bg2"/>
                </a:solidFill>
                <a:latin typeface="Arial" panose="020B0604020202020204" pitchFamily="34" charset="0"/>
              </a:rPr>
              <a:t>计算机中的真值和机器数有何不同？</a:t>
            </a:r>
            <a:endParaRPr lang="zh-CN" altLang="en-US" sz="2400" dirty="0">
              <a:solidFill>
                <a:schemeClr val="bg2"/>
              </a:solidFill>
              <a:latin typeface="Arial" panose="020B0604020202020204" pitchFamily="34" charset="0"/>
            </a:endParaRPr>
          </a:p>
        </p:txBody>
      </p:sp>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blinds(horizontal)">
                                      <p:cBhvr>
                                        <p:cTn id="7" dur="500"/>
                                        <p:tgtEl>
                                          <p:spTgt spid="205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459">
                                            <p:txEl>
                                              <p:charRg st="25" end="32"/>
                                            </p:txEl>
                                          </p:spTgt>
                                        </p:tgtEl>
                                        <p:attrNameLst>
                                          <p:attrName>style.visibility</p:attrName>
                                        </p:attrNameLst>
                                      </p:cBhvr>
                                      <p:to>
                                        <p:strVal val="visible"/>
                                      </p:to>
                                    </p:set>
                                    <p:animEffect transition="in" filter="blinds(horizontal)">
                                      <p:cBhvr>
                                        <p:cTn id="12" dur="500"/>
                                        <p:tgtEl>
                                          <p:spTgt spid="19459">
                                            <p:txEl>
                                              <p:charRg st="25" end="3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9459">
                                            <p:txEl>
                                              <p:charRg st="35" end="44"/>
                                            </p:txEl>
                                          </p:spTgt>
                                        </p:tgtEl>
                                        <p:attrNameLst>
                                          <p:attrName>style.visibility</p:attrName>
                                        </p:attrNameLst>
                                      </p:cBhvr>
                                      <p:to>
                                        <p:strVal val="visible"/>
                                      </p:to>
                                    </p:set>
                                    <p:animEffect transition="in" filter="blinds(horizontal)">
                                      <p:cBhvr>
                                        <p:cTn id="15" dur="500"/>
                                        <p:tgtEl>
                                          <p:spTgt spid="19459">
                                            <p:txEl>
                                              <p:charRg st="35" end="4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9459">
                                            <p:txEl>
                                              <p:charRg st="44" end="50"/>
                                            </p:txEl>
                                          </p:spTgt>
                                        </p:tgtEl>
                                        <p:attrNameLst>
                                          <p:attrName>style.visibility</p:attrName>
                                        </p:attrNameLst>
                                      </p:cBhvr>
                                      <p:to>
                                        <p:strVal val="visible"/>
                                      </p:to>
                                    </p:set>
                                    <p:animEffect transition="in" filter="blinds(horizontal)">
                                      <p:cBhvr>
                                        <p:cTn id="18" dur="500"/>
                                        <p:tgtEl>
                                          <p:spTgt spid="19459">
                                            <p:txEl>
                                              <p:charRg st="44" end="50"/>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9459">
                                            <p:txEl>
                                              <p:charRg st="50" end="75"/>
                                            </p:txEl>
                                          </p:spTgt>
                                        </p:tgtEl>
                                        <p:attrNameLst>
                                          <p:attrName>style.visibility</p:attrName>
                                        </p:attrNameLst>
                                      </p:cBhvr>
                                      <p:to>
                                        <p:strVal val="visible"/>
                                      </p:to>
                                    </p:set>
                                    <p:animEffect transition="in" filter="blinds(horizontal)">
                                      <p:cBhvr>
                                        <p:cTn id="21" dur="500"/>
                                        <p:tgtEl>
                                          <p:spTgt spid="19459">
                                            <p:txEl>
                                              <p:charRg st="50" end="7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9459">
                                            <p:txEl>
                                              <p:charRg st="75" end="98"/>
                                            </p:txEl>
                                          </p:spTgt>
                                        </p:tgtEl>
                                        <p:attrNameLst>
                                          <p:attrName>style.visibility</p:attrName>
                                        </p:attrNameLst>
                                      </p:cBhvr>
                                      <p:to>
                                        <p:strVal val="visible"/>
                                      </p:to>
                                    </p:set>
                                    <p:animEffect transition="in" filter="blinds(horizontal)">
                                      <p:cBhvr>
                                        <p:cTn id="24" dur="500"/>
                                        <p:tgtEl>
                                          <p:spTgt spid="19459">
                                            <p:txEl>
                                              <p:charRg st="75" end="98"/>
                                            </p:txEl>
                                          </p:spTgt>
                                        </p:tgtEl>
                                      </p:cBhvr>
                                    </p:animEffect>
                                  </p:childTnLst>
                                </p:cTn>
                              </p:par>
                            </p:childTnLst>
                          </p:cTn>
                        </p:par>
                        <p:par>
                          <p:cTn id="25" fill="hold">
                            <p:stCondLst>
                              <p:cond delay="500"/>
                            </p:stCondLst>
                            <p:childTnLst>
                              <p:par>
                                <p:cTn id="26" presetID="3" presetClass="entr" presetSubtype="10" fill="hold" nodeType="afterEffect">
                                  <p:stCondLst>
                                    <p:cond delay="0"/>
                                  </p:stCondLst>
                                  <p:childTnLst>
                                    <p:set>
                                      <p:cBhvr>
                                        <p:cTn id="27" dur="1" fill="hold">
                                          <p:stCondLst>
                                            <p:cond delay="0"/>
                                          </p:stCondLst>
                                        </p:cTn>
                                        <p:tgtEl>
                                          <p:spTgt spid="1026"/>
                                        </p:tgtEl>
                                        <p:attrNameLst>
                                          <p:attrName>style.visibility</p:attrName>
                                        </p:attrNameLst>
                                      </p:cBhvr>
                                      <p:to>
                                        <p:strVal val="visible"/>
                                      </p:to>
                                    </p:set>
                                    <p:animEffect transition="in" filter="blinds(horizontal)">
                                      <p:cBhvr>
                                        <p:cTn id="28"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36290" name="Rectangle 2"/>
          <p:cNvSpPr>
            <a:spLocks noGrp="1" noChangeArrowheads="1"/>
          </p:cNvSpPr>
          <p:nvPr>
            <p:ph type="title"/>
          </p:nvPr>
        </p:nvSpPr>
        <p:spPr>
          <a:xfrm>
            <a:off x="0" y="188913"/>
            <a:ext cx="9144000" cy="7143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a:t>
            </a:r>
            <a:r>
              <a:rPr kumimoji="1"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rPr>
              <a:t>浮点数据表示</a:t>
            </a:r>
            <a:endParaRPr kumimoji="1"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endParaRPr>
          </a:p>
        </p:txBody>
      </p:sp>
      <p:sp>
        <p:nvSpPr>
          <p:cNvPr id="20483" name="Rectangle 3"/>
          <p:cNvSpPr>
            <a:spLocks noGrp="1" noChangeArrowheads="1"/>
          </p:cNvSpPr>
          <p:nvPr>
            <p:ph idx="1"/>
          </p:nvPr>
        </p:nvSpPr>
        <p:spPr>
          <a:xfrm>
            <a:off x="576263" y="1100138"/>
            <a:ext cx="8289925" cy="3589338"/>
          </a:xfrm>
        </p:spPr>
        <p:txBody>
          <a:bodyPr vert="horz" wrap="square" lIns="92075" tIns="46038" rIns="92075" bIns="46038" numCol="1" anchor="t" anchorCtr="0" compatLnSpc="1">
            <a:spAutoFit/>
          </a:bodyPr>
          <a:lstStyle/>
          <a:p>
            <a:pPr marL="358775" marR="0" lvl="0" indent="-358775" algn="l" defTabSz="914400" rtl="0" eaLnBrk="0" fontAlgn="base" latinLnBrk="0" hangingPunct="0">
              <a:lnSpc>
                <a:spcPct val="110000"/>
              </a:lnSpc>
              <a:spcBef>
                <a:spcPct val="20000"/>
              </a:spcBef>
              <a:spcAft>
                <a:spcPct val="0"/>
              </a:spcAft>
              <a:buClr>
                <a:srgbClr val="FF9999"/>
              </a:buClr>
              <a:buSzTx/>
              <a:buFont typeface="Wingdings" panose="05000000000000000000" pitchFamily="2" charset="2"/>
              <a:buBlip>
                <a:blip r:embed="rId1"/>
              </a:buBlip>
              <a:defRPr/>
            </a:pPr>
            <a:r>
              <a:rPr kumimoji="1"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浮点数据表示</a:t>
            </a:r>
            <a:endParaRPr kumimoji="1"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625475" marR="0" lvl="1" indent="-266700" algn="l" defTabSz="914400" rtl="0" eaLnBrk="0" fontAlgn="base" latinLnBrk="0" hangingPunct="0">
              <a:lnSpc>
                <a:spcPct val="110000"/>
              </a:lnSpc>
              <a:spcBef>
                <a:spcPct val="20000"/>
              </a:spcBef>
              <a:spcAft>
                <a:spcPct val="0"/>
              </a:spcAft>
              <a:buClr>
                <a:schemeClr val="tx2"/>
              </a:buClr>
              <a:buSzTx/>
              <a:buFont typeface="Wingdings" panose="05000000000000000000" pitchFamily="2" charset="2"/>
              <a:buChar char="n"/>
              <a:defRPr/>
            </a:pPr>
            <a:r>
              <a:rPr kumimoji="1"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IEEE754</a:t>
            </a:r>
            <a:endParaRPr kumimoji="1"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42950" marR="0" lvl="1" indent="-285750" algn="l" defTabSz="914400" rtl="0" eaLnBrk="0" fontAlgn="base" latinLnBrk="0" hangingPunct="0">
              <a:lnSpc>
                <a:spcPct val="110000"/>
              </a:lnSpc>
              <a:spcBef>
                <a:spcPct val="20000"/>
              </a:spcBef>
              <a:spcAft>
                <a:spcPct val="0"/>
              </a:spcAft>
              <a:buClr>
                <a:schemeClr val="tx2"/>
              </a:buClr>
              <a:buSzTx/>
              <a:buFont typeface="Wingdings" panose="05000000000000000000" pitchFamily="2" charset="2"/>
              <a:buChar char="n"/>
              <a:defRPr/>
            </a:pPr>
            <a:endPar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143000" marR="0" lvl="2" indent="-228600" algn="just" defTabSz="914400" rtl="0" eaLnBrk="1" fontAlgn="base" latinLnBrk="0" hangingPunct="1">
              <a:lnSpc>
                <a:spcPct val="110000"/>
              </a:lnSpc>
              <a:spcBef>
                <a:spcPts val="2400"/>
              </a:spcBef>
              <a:spcAft>
                <a:spcPct val="0"/>
              </a:spcAft>
              <a:buClr>
                <a:schemeClr val="folHlink"/>
              </a:buClr>
              <a:buSzTx/>
              <a:buFont typeface="Symbol" panose="05050102010706020507" pitchFamily="18" charset="2"/>
              <a:buNone/>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阶码：移码；	尾数：原码</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625475" marR="0" lvl="1" indent="-266700" algn="l" defTabSz="914400" rtl="0" eaLnBrk="0" fontAlgn="base" latinLnBrk="0" hangingPunct="0">
              <a:lnSpc>
                <a:spcPct val="110000"/>
              </a:lnSpc>
              <a:spcBef>
                <a:spcPct val="20000"/>
              </a:spcBef>
              <a:spcAft>
                <a:spcPct val="0"/>
              </a:spcAft>
              <a:buClr>
                <a:schemeClr val="tx2"/>
              </a:buClr>
              <a:buSzTx/>
              <a:buFont typeface="Wingdings" panose="05000000000000000000" pitchFamily="2" charset="2"/>
              <a:buBlip>
                <a:blip r:embed="rId2"/>
              </a:buBlip>
              <a:defRPr/>
            </a:pPr>
            <a:r>
              <a:rPr kumimoji="1" lang="zh-CN" altLang="en-US"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浮点数的精度由尾数</a:t>
            </a:r>
            <a:r>
              <a:rPr kumimoji="1" lang="en-US" altLang="zh-CN"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M</a:t>
            </a:r>
            <a:r>
              <a:rPr kumimoji="1" lang="zh-CN" altLang="en-US"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的位数决定</a:t>
            </a:r>
            <a:endParaRPr kumimoji="1" lang="zh-CN" altLang="en-US"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endParaRPr>
          </a:p>
          <a:p>
            <a:pPr marL="625475" marR="0" lvl="1" indent="-266700" algn="l" defTabSz="914400" rtl="0" eaLnBrk="0" fontAlgn="base" latinLnBrk="0" hangingPunct="0">
              <a:lnSpc>
                <a:spcPct val="110000"/>
              </a:lnSpc>
              <a:spcBef>
                <a:spcPct val="20000"/>
              </a:spcBef>
              <a:spcAft>
                <a:spcPct val="0"/>
              </a:spcAft>
              <a:buClr>
                <a:schemeClr val="tx2"/>
              </a:buClr>
              <a:buSzTx/>
              <a:buFont typeface="Wingdings" panose="05000000000000000000" pitchFamily="2" charset="2"/>
              <a:buBlip>
                <a:blip r:embed="rId2"/>
              </a:buBlip>
              <a:defRPr/>
            </a:pPr>
            <a:r>
              <a:rPr kumimoji="1" lang="zh-CN" altLang="en-US"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浮点数的表示范围由基数</a:t>
            </a:r>
            <a:r>
              <a:rPr kumimoji="1" lang="en-US" altLang="zh-CN"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R</a:t>
            </a:r>
            <a:r>
              <a:rPr kumimoji="1" lang="zh-CN" altLang="en-US"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和阶码</a:t>
            </a:r>
            <a:r>
              <a:rPr kumimoji="1" lang="en-US" altLang="zh-CN"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E</a:t>
            </a:r>
            <a:r>
              <a:rPr kumimoji="1" lang="zh-CN" altLang="en-US"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的位数决定</a:t>
            </a:r>
            <a:endParaRPr kumimoji="1" lang="zh-CN" altLang="en-US"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endParaRPr>
          </a:p>
        </p:txBody>
      </p:sp>
      <p:graphicFrame>
        <p:nvGraphicFramePr>
          <p:cNvPr id="3096" name="Group 24"/>
          <p:cNvGraphicFramePr>
            <a:graphicFrameLocks noGrp="1"/>
          </p:cNvGraphicFramePr>
          <p:nvPr/>
        </p:nvGraphicFramePr>
        <p:xfrm>
          <a:off x="1000125" y="2417763"/>
          <a:ext cx="7737475" cy="582613"/>
        </p:xfrm>
        <a:graphic>
          <a:graphicData uri="http://schemas.openxmlformats.org/drawingml/2006/table">
            <a:tbl>
              <a:tblPr/>
              <a:tblGrid>
                <a:gridCol w="1320800"/>
                <a:gridCol w="2651125"/>
                <a:gridCol w="3765550"/>
              </a:tblGrid>
              <a:tr h="582612">
                <a:tc>
                  <a:txBody>
                    <a:bodyPr/>
                    <a:lstStyle/>
                    <a:p>
                      <a:pPr marL="0" marR="0" lvl="0" indent="0" algn="ctr" defTabSz="914400" rtl="0" eaLnBrk="0" fontAlgn="base" latinLnBrk="0" hangingPunct="0">
                        <a:lnSpc>
                          <a:spcPct val="100000"/>
                        </a:lnSpc>
                        <a:spcBef>
                          <a:spcPct val="100000"/>
                        </a:spcBef>
                        <a:spcAft>
                          <a:spcPct val="0"/>
                        </a:spcAft>
                        <a:buClr>
                          <a:schemeClr val="tx2"/>
                        </a:buClr>
                        <a:buSzTx/>
                        <a:buFont typeface="Wingdings" panose="05000000000000000000" pitchFamily="2" charset="2"/>
                        <a:buNone/>
                      </a:pPr>
                      <a:r>
                        <a:rPr kumimoji="0" lang="zh-CN" altLang="en-US" sz="2800" b="1" i="0" u="none" strike="noStrike" cap="none" normalizeH="0" baseline="0" dirty="0" smtClean="0">
                          <a:ln>
                            <a:noFill/>
                          </a:ln>
                          <a:solidFill>
                            <a:srgbClr val="F7F727"/>
                          </a:solidFill>
                          <a:effectLst/>
                          <a:latin typeface="华文新魏" panose="02010800040101010101" pitchFamily="2" charset="-122"/>
                          <a:ea typeface="华文新魏" panose="02010800040101010101" pitchFamily="2" charset="-122"/>
                        </a:rPr>
                        <a:t>尾符</a:t>
                      </a:r>
                      <a:endParaRPr kumimoji="0" lang="zh-CN" altLang="en-US" sz="2800" b="1" i="0" u="none" strike="noStrike" cap="none" normalizeH="0" baseline="0" dirty="0" smtClean="0">
                        <a:ln>
                          <a:noFill/>
                        </a:ln>
                        <a:solidFill>
                          <a:srgbClr val="F7F727"/>
                        </a:solidFill>
                        <a:effectLst/>
                        <a:latin typeface="华文新魏" panose="02010800040101010101" pitchFamily="2" charset="-122"/>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0"/>
                        </a:spcBef>
                        <a:spcAft>
                          <a:spcPct val="0"/>
                        </a:spcAft>
                        <a:buClr>
                          <a:schemeClr val="tx2"/>
                        </a:buClr>
                        <a:buSzTx/>
                        <a:buFont typeface="Wingdings" panose="05000000000000000000" pitchFamily="2" charset="2"/>
                        <a:buNone/>
                      </a:pPr>
                      <a:r>
                        <a:rPr kumimoji="0" lang="zh-CN" altLang="en-US" sz="2800" b="1" i="0" u="none" strike="noStrike" cap="none" normalizeH="0" baseline="0" dirty="0" smtClean="0">
                          <a:ln>
                            <a:noFill/>
                          </a:ln>
                          <a:solidFill>
                            <a:srgbClr val="F7F727"/>
                          </a:solidFill>
                          <a:effectLst/>
                          <a:latin typeface="华文新魏" panose="02010800040101010101" pitchFamily="2" charset="-122"/>
                          <a:ea typeface="华文新魏" panose="02010800040101010101" pitchFamily="2" charset="-122"/>
                        </a:rPr>
                        <a:t>阶码</a:t>
                      </a:r>
                      <a:r>
                        <a:rPr kumimoji="0" lang="en-US" altLang="zh-CN" sz="2800" b="1" i="0" u="none" strike="noStrike" cap="none" normalizeH="0" baseline="0" dirty="0" smtClean="0">
                          <a:ln>
                            <a:noFill/>
                          </a:ln>
                          <a:solidFill>
                            <a:srgbClr val="F7F727"/>
                          </a:solidFill>
                          <a:effectLst/>
                          <a:latin typeface="Times New Roman" panose="02020603050405020304" pitchFamily="18" charset="0"/>
                          <a:ea typeface="华文新魏" panose="02010800040101010101" pitchFamily="2" charset="-122"/>
                        </a:rPr>
                        <a:t>E</a:t>
                      </a:r>
                      <a:r>
                        <a:rPr kumimoji="0" lang="en-US" altLang="zh-CN" sz="2800" b="1" i="0" u="none" strike="noStrike" cap="none" normalizeH="0" baseline="0" dirty="0" smtClean="0">
                          <a:ln>
                            <a:noFill/>
                          </a:ln>
                          <a:solidFill>
                            <a:srgbClr val="F7F727"/>
                          </a:solidFill>
                          <a:effectLst/>
                          <a:latin typeface="华文新魏" panose="02010800040101010101" pitchFamily="2" charset="-122"/>
                          <a:ea typeface="华文新魏" panose="02010800040101010101" pitchFamily="2" charset="-122"/>
                        </a:rPr>
                        <a:t>(</a:t>
                      </a:r>
                      <a:r>
                        <a:rPr kumimoji="0" lang="zh-CN" altLang="en-US" sz="2800" b="1" i="0" u="none" strike="noStrike" cap="none" normalizeH="0" baseline="0" dirty="0" smtClean="0">
                          <a:ln>
                            <a:noFill/>
                          </a:ln>
                          <a:solidFill>
                            <a:srgbClr val="F7F727"/>
                          </a:solidFill>
                          <a:effectLst/>
                          <a:latin typeface="华文新魏" panose="02010800040101010101" pitchFamily="2" charset="-122"/>
                          <a:ea typeface="华文新魏" panose="02010800040101010101" pitchFamily="2" charset="-122"/>
                        </a:rPr>
                        <a:t>整数</a:t>
                      </a:r>
                      <a:r>
                        <a:rPr kumimoji="0" lang="en-US" altLang="zh-CN" sz="2800" b="1" i="0" u="none" strike="noStrike" cap="none" normalizeH="0" baseline="0" dirty="0" smtClean="0">
                          <a:ln>
                            <a:noFill/>
                          </a:ln>
                          <a:solidFill>
                            <a:srgbClr val="F7F727"/>
                          </a:solidFill>
                          <a:effectLst/>
                          <a:latin typeface="华文新魏" panose="02010800040101010101" pitchFamily="2" charset="-122"/>
                          <a:ea typeface="华文新魏" panose="02010800040101010101" pitchFamily="2" charset="-122"/>
                        </a:rPr>
                        <a:t>)</a:t>
                      </a:r>
                      <a:endParaRPr kumimoji="0" lang="zh-CN" altLang="en-US" sz="2800" b="1" i="0" u="none" strike="noStrike" cap="none" normalizeH="0" baseline="0" dirty="0" smtClean="0">
                        <a:ln>
                          <a:noFill/>
                        </a:ln>
                        <a:solidFill>
                          <a:srgbClr val="F7F727"/>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0"/>
                        </a:spcBef>
                        <a:spcAft>
                          <a:spcPct val="0"/>
                        </a:spcAft>
                        <a:buClr>
                          <a:schemeClr val="tx2"/>
                        </a:buClr>
                        <a:buSzTx/>
                        <a:buFont typeface="Wingdings" panose="05000000000000000000" pitchFamily="2" charset="2"/>
                        <a:buNone/>
                      </a:pPr>
                      <a:r>
                        <a:rPr kumimoji="0" lang="zh-CN" altLang="en-US" sz="2800" b="1" i="0" u="none" strike="noStrike" cap="none" normalizeH="0" baseline="0" dirty="0" smtClean="0">
                          <a:ln>
                            <a:noFill/>
                          </a:ln>
                          <a:solidFill>
                            <a:srgbClr val="F7F727"/>
                          </a:solidFill>
                          <a:effectLst/>
                          <a:latin typeface="华文新魏" panose="02010800040101010101" pitchFamily="2" charset="-122"/>
                          <a:ea typeface="华文新魏" panose="02010800040101010101" pitchFamily="2" charset="-122"/>
                        </a:rPr>
                        <a:t>尾数</a:t>
                      </a:r>
                      <a:r>
                        <a:rPr kumimoji="0" lang="en-US" altLang="zh-CN" sz="2800" b="1" i="0" u="none" strike="noStrike" cap="none" normalizeH="0" baseline="0" dirty="0" smtClean="0">
                          <a:ln>
                            <a:noFill/>
                          </a:ln>
                          <a:solidFill>
                            <a:srgbClr val="F7F727"/>
                          </a:solidFill>
                          <a:effectLst/>
                          <a:latin typeface="Times New Roman" panose="02020603050405020304" pitchFamily="18" charset="0"/>
                          <a:ea typeface="华文新魏" panose="02010800040101010101" pitchFamily="2" charset="-122"/>
                        </a:rPr>
                        <a:t>M</a:t>
                      </a:r>
                      <a:r>
                        <a:rPr kumimoji="0" lang="en-US" altLang="zh-CN" sz="2800" b="1" i="0" u="none" strike="noStrike" cap="none" normalizeH="0" baseline="0" dirty="0" smtClean="0">
                          <a:ln>
                            <a:noFill/>
                          </a:ln>
                          <a:solidFill>
                            <a:srgbClr val="F7F727"/>
                          </a:solidFill>
                          <a:effectLst/>
                          <a:latin typeface="华文新魏" panose="02010800040101010101" pitchFamily="2" charset="-122"/>
                          <a:ea typeface="华文新魏" panose="02010800040101010101" pitchFamily="2" charset="-122"/>
                        </a:rPr>
                        <a:t>(</a:t>
                      </a:r>
                      <a:r>
                        <a:rPr kumimoji="0" lang="zh-CN" altLang="en-US" sz="2800" b="1" i="0" u="none" strike="noStrike" cap="none" normalizeH="0" baseline="0" dirty="0" smtClean="0">
                          <a:ln>
                            <a:noFill/>
                          </a:ln>
                          <a:solidFill>
                            <a:srgbClr val="F7F727"/>
                          </a:solidFill>
                          <a:effectLst/>
                          <a:latin typeface="华文新魏" panose="02010800040101010101" pitchFamily="2" charset="-122"/>
                          <a:ea typeface="华文新魏" panose="02010800040101010101" pitchFamily="2" charset="-122"/>
                        </a:rPr>
                        <a:t>小数</a:t>
                      </a:r>
                      <a:r>
                        <a:rPr kumimoji="0" lang="en-US" altLang="zh-CN" sz="2800" b="1" i="0" u="none" strike="noStrike" cap="none" normalizeH="0" baseline="0" dirty="0" smtClean="0">
                          <a:ln>
                            <a:noFill/>
                          </a:ln>
                          <a:solidFill>
                            <a:srgbClr val="F7F727"/>
                          </a:solidFill>
                          <a:effectLst/>
                          <a:latin typeface="华文新魏" panose="02010800040101010101" pitchFamily="2" charset="-122"/>
                          <a:ea typeface="华文新魏" panose="02010800040101010101" pitchFamily="2" charset="-122"/>
                        </a:rPr>
                        <a:t>)</a:t>
                      </a:r>
                      <a:endParaRPr kumimoji="0" lang="zh-CN" altLang="en-US" sz="2800" b="1" i="0" u="none" strike="noStrike" cap="none" normalizeH="0" baseline="0" dirty="0" smtClean="0">
                        <a:ln>
                          <a:noFill/>
                        </a:ln>
                        <a:solidFill>
                          <a:srgbClr val="F7F727"/>
                        </a:solidFill>
                        <a:effectLst/>
                        <a:latin typeface="华文新魏" panose="02010800040101010101" pitchFamily="2" charset="-122"/>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91" name="AutoShape 19"/>
          <p:cNvSpPr/>
          <p:nvPr/>
        </p:nvSpPr>
        <p:spPr>
          <a:xfrm>
            <a:off x="3438525" y="1520825"/>
            <a:ext cx="5670550" cy="914400"/>
          </a:xfrm>
          <a:prstGeom prst="wedgeRoundRectCallout">
            <a:avLst>
              <a:gd name="adj1" fmla="val -59556"/>
              <a:gd name="adj2" fmla="val 278"/>
              <a:gd name="adj3" fmla="val 16667"/>
            </a:avLst>
          </a:prstGeom>
          <a:solidFill>
            <a:schemeClr val="tx2"/>
          </a:solid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solidFill>
                  <a:schemeClr val="bg2"/>
                </a:solidFill>
                <a:latin typeface="Times New Roman" panose="02020603050405020304" pitchFamily="18" charset="0"/>
              </a:rPr>
              <a:t>单精度浮点数</a:t>
            </a:r>
            <a:r>
              <a:rPr lang="en-US" altLang="zh-CN" sz="2400" dirty="0">
                <a:solidFill>
                  <a:schemeClr val="bg2"/>
                </a:solidFill>
                <a:latin typeface="Times New Roman" panose="02020603050405020304" pitchFamily="18" charset="0"/>
              </a:rPr>
              <a:t>:</a:t>
            </a:r>
            <a:r>
              <a:rPr lang="zh-CN" altLang="en-US" sz="2400" dirty="0">
                <a:solidFill>
                  <a:schemeClr val="bg2"/>
                </a:solidFill>
                <a:latin typeface="Times New Roman" panose="02020603050405020304" pitchFamily="18" charset="0"/>
              </a:rPr>
              <a:t>尾符</a:t>
            </a:r>
            <a:r>
              <a:rPr lang="en-US" altLang="zh-CN" sz="2400" dirty="0">
                <a:solidFill>
                  <a:schemeClr val="bg2"/>
                </a:solidFill>
                <a:latin typeface="Times New Roman" panose="02020603050405020304" pitchFamily="18" charset="0"/>
              </a:rPr>
              <a:t>(1)</a:t>
            </a:r>
            <a:r>
              <a:rPr lang="zh-CN" altLang="en-US" sz="2400" dirty="0">
                <a:solidFill>
                  <a:schemeClr val="bg2"/>
                </a:solidFill>
                <a:latin typeface="Times New Roman" panose="02020603050405020304" pitchFamily="18" charset="0"/>
              </a:rPr>
              <a:t>、</a:t>
            </a:r>
            <a:r>
              <a:rPr lang="en-US" altLang="zh-CN" sz="2400" dirty="0">
                <a:solidFill>
                  <a:schemeClr val="bg2"/>
                </a:solidFill>
                <a:latin typeface="Times New Roman" panose="02020603050405020304" pitchFamily="18" charset="0"/>
              </a:rPr>
              <a:t>E(8)</a:t>
            </a:r>
            <a:r>
              <a:rPr lang="zh-CN" altLang="en-US" sz="2400" dirty="0">
                <a:solidFill>
                  <a:schemeClr val="bg2"/>
                </a:solidFill>
                <a:latin typeface="Times New Roman" panose="02020603050405020304" pitchFamily="18" charset="0"/>
              </a:rPr>
              <a:t>、</a:t>
            </a:r>
            <a:r>
              <a:rPr lang="en-US" altLang="zh-CN" sz="2400" dirty="0">
                <a:solidFill>
                  <a:schemeClr val="bg2"/>
                </a:solidFill>
                <a:latin typeface="Times New Roman" panose="02020603050405020304" pitchFamily="18" charset="0"/>
              </a:rPr>
              <a:t>M(23)</a:t>
            </a:r>
            <a:endParaRPr lang="en-US" altLang="zh-CN" sz="2400" dirty="0">
              <a:solidFill>
                <a:schemeClr val="bg2"/>
              </a:solidFill>
              <a:latin typeface="Times New Roman" panose="02020603050405020304" pitchFamily="18" charset="0"/>
            </a:endParaRPr>
          </a:p>
          <a:p>
            <a:pPr marL="0" lvl="0" indent="0" algn="ctr" eaLnBrk="1" hangingPunct="1">
              <a:lnSpc>
                <a:spcPct val="100000"/>
              </a:lnSpc>
              <a:spcBef>
                <a:spcPct val="0"/>
              </a:spcBef>
              <a:buClrTx/>
              <a:buFontTx/>
              <a:buNone/>
            </a:pPr>
            <a:r>
              <a:rPr lang="zh-CN" altLang="en-US" sz="2400" dirty="0">
                <a:solidFill>
                  <a:schemeClr val="bg2"/>
                </a:solidFill>
                <a:latin typeface="Times New Roman" panose="02020603050405020304" pitchFamily="18" charset="0"/>
              </a:rPr>
              <a:t>双精度浮点数</a:t>
            </a:r>
            <a:r>
              <a:rPr lang="en-US" altLang="zh-CN" sz="2400" dirty="0">
                <a:solidFill>
                  <a:schemeClr val="bg2"/>
                </a:solidFill>
                <a:latin typeface="Times New Roman" panose="02020603050405020304" pitchFamily="18" charset="0"/>
              </a:rPr>
              <a:t>:</a:t>
            </a:r>
            <a:r>
              <a:rPr lang="zh-CN" altLang="en-US" sz="2400" dirty="0">
                <a:solidFill>
                  <a:schemeClr val="bg2"/>
                </a:solidFill>
                <a:latin typeface="Times New Roman" panose="02020603050405020304" pitchFamily="18" charset="0"/>
              </a:rPr>
              <a:t>尾符</a:t>
            </a:r>
            <a:r>
              <a:rPr lang="en-US" altLang="zh-CN" sz="2400" dirty="0">
                <a:solidFill>
                  <a:schemeClr val="bg2"/>
                </a:solidFill>
                <a:latin typeface="Times New Roman" panose="02020603050405020304" pitchFamily="18" charset="0"/>
              </a:rPr>
              <a:t>(1)</a:t>
            </a:r>
            <a:r>
              <a:rPr lang="zh-CN" altLang="en-US" sz="2400" dirty="0">
                <a:solidFill>
                  <a:schemeClr val="bg2"/>
                </a:solidFill>
                <a:latin typeface="Times New Roman" panose="02020603050405020304" pitchFamily="18" charset="0"/>
              </a:rPr>
              <a:t>、</a:t>
            </a:r>
            <a:r>
              <a:rPr lang="en-US" altLang="zh-CN" sz="2400" dirty="0">
                <a:solidFill>
                  <a:schemeClr val="bg2"/>
                </a:solidFill>
                <a:latin typeface="Times New Roman" panose="02020603050405020304" pitchFamily="18" charset="0"/>
              </a:rPr>
              <a:t>E(11)</a:t>
            </a:r>
            <a:r>
              <a:rPr lang="zh-CN" altLang="en-US" sz="2400" dirty="0">
                <a:solidFill>
                  <a:schemeClr val="bg2"/>
                </a:solidFill>
                <a:latin typeface="Times New Roman" panose="02020603050405020304" pitchFamily="18" charset="0"/>
              </a:rPr>
              <a:t>、</a:t>
            </a:r>
            <a:r>
              <a:rPr lang="en-US" altLang="zh-CN" sz="2400" dirty="0">
                <a:solidFill>
                  <a:schemeClr val="bg2"/>
                </a:solidFill>
                <a:latin typeface="Times New Roman" panose="02020603050405020304" pitchFamily="18" charset="0"/>
              </a:rPr>
              <a:t>M(52)</a:t>
            </a:r>
            <a:endParaRPr lang="en-US" altLang="zh-CN" sz="2400" dirty="0">
              <a:solidFill>
                <a:schemeClr val="bg2"/>
              </a:solidFill>
              <a:latin typeface="Times New Roman" panose="02020603050405020304" pitchFamily="18" charset="0"/>
            </a:endParaRPr>
          </a:p>
        </p:txBody>
      </p:sp>
      <p:sp>
        <p:nvSpPr>
          <p:cNvPr id="3097" name="Text Box 25"/>
          <p:cNvSpPr txBox="1"/>
          <p:nvPr/>
        </p:nvSpPr>
        <p:spPr>
          <a:xfrm>
            <a:off x="742950" y="5010150"/>
            <a:ext cx="8353425" cy="52228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
                <a:schemeClr val="folHlink"/>
              </a:buClr>
              <a:buSzPct val="60000"/>
              <a:buNone/>
            </a:pPr>
            <a:r>
              <a:rPr lang="en-US" altLang="zh-CN" sz="2800" dirty="0">
                <a:latin typeface="Times New Roman" panose="02020603050405020304" pitchFamily="18" charset="0"/>
                <a:cs typeface="Arial" panose="020B0604020202020204" pitchFamily="34" charset="0"/>
              </a:rPr>
              <a:t>SP(</a:t>
            </a:r>
            <a:r>
              <a:rPr lang="zh-CN" altLang="en-US" sz="2800" dirty="0">
                <a:latin typeface="Times New Roman" panose="02020603050405020304" pitchFamily="18" charset="0"/>
                <a:cs typeface="Arial" panose="020B0604020202020204" pitchFamily="34" charset="0"/>
              </a:rPr>
              <a:t>单精度</a:t>
            </a:r>
            <a:r>
              <a:rPr lang="en-US" altLang="zh-CN" sz="2800" dirty="0">
                <a:latin typeface="Times New Roman" panose="02020603050405020304" pitchFamily="18" charset="0"/>
                <a:cs typeface="Arial" panose="020B0604020202020204" pitchFamily="34" charset="0"/>
              </a:rPr>
              <a:t>):  (-1)</a:t>
            </a:r>
            <a:r>
              <a:rPr lang="en-US" altLang="zh-CN" sz="2800" baseline="30000" dirty="0">
                <a:latin typeface="Times New Roman" panose="02020603050405020304" pitchFamily="18" charset="0"/>
                <a:cs typeface="Arial" panose="020B0604020202020204" pitchFamily="34" charset="0"/>
              </a:rPr>
              <a:t>S</a:t>
            </a:r>
            <a:r>
              <a:rPr lang="en-US" altLang="zh-CN" sz="2800" dirty="0">
                <a:latin typeface="Times New Roman" panose="02020603050405020304" pitchFamily="18" charset="0"/>
                <a:cs typeface="Arial" panose="020B0604020202020204" pitchFamily="34" charset="0"/>
              </a:rPr>
              <a:t> × (1 + Significand) × 2</a:t>
            </a:r>
            <a:r>
              <a:rPr lang="en-US" altLang="zh-CN" sz="2800" baseline="30000" dirty="0">
                <a:latin typeface="Times New Roman" panose="02020603050405020304" pitchFamily="18" charset="0"/>
                <a:cs typeface="Arial" panose="020B0604020202020204" pitchFamily="34" charset="0"/>
              </a:rPr>
              <a:t>(Exponent-127)</a:t>
            </a:r>
            <a:endParaRPr lang="en-US" altLang="zh-CN" sz="2800" baseline="30000" dirty="0">
              <a:latin typeface="Times New Roman" panose="02020603050405020304" pitchFamily="18" charset="0"/>
              <a:ea typeface="Arial" panose="020B0604020202020204" pitchFamily="34" charset="0"/>
            </a:endParaRPr>
          </a:p>
        </p:txBody>
      </p:sp>
      <p:sp>
        <p:nvSpPr>
          <p:cNvPr id="3098" name="Text Box 26"/>
          <p:cNvSpPr txBox="1"/>
          <p:nvPr/>
        </p:nvSpPr>
        <p:spPr>
          <a:xfrm>
            <a:off x="663575" y="5657850"/>
            <a:ext cx="8455025" cy="52228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
                <a:schemeClr val="folHlink"/>
              </a:buClr>
              <a:buSzPct val="60000"/>
              <a:buNone/>
            </a:pPr>
            <a:r>
              <a:rPr lang="en-US" altLang="zh-CN" sz="2800" dirty="0">
                <a:latin typeface="Times New Roman" panose="02020603050405020304" pitchFamily="18" charset="0"/>
                <a:cs typeface="Arial" panose="020B0604020202020204" pitchFamily="34" charset="0"/>
              </a:rPr>
              <a:t> DP(</a:t>
            </a:r>
            <a:r>
              <a:rPr lang="zh-CN" altLang="en-US" sz="2800" dirty="0">
                <a:latin typeface="Times New Roman" panose="02020603050405020304" pitchFamily="18" charset="0"/>
                <a:cs typeface="Arial" panose="020B0604020202020204" pitchFamily="34" charset="0"/>
              </a:rPr>
              <a:t>双精度</a:t>
            </a:r>
            <a:r>
              <a:rPr lang="en-US" altLang="zh-CN" sz="2800" dirty="0">
                <a:latin typeface="Times New Roman" panose="02020603050405020304" pitchFamily="18" charset="0"/>
                <a:cs typeface="Arial" panose="020B0604020202020204" pitchFamily="34" charset="0"/>
              </a:rPr>
              <a:t>):  (-1)</a:t>
            </a:r>
            <a:r>
              <a:rPr lang="en-US" altLang="zh-CN" sz="2800" baseline="30000" dirty="0">
                <a:latin typeface="Times New Roman" panose="02020603050405020304" pitchFamily="18" charset="0"/>
                <a:cs typeface="Arial" panose="020B0604020202020204" pitchFamily="34" charset="0"/>
              </a:rPr>
              <a:t>S</a:t>
            </a:r>
            <a:r>
              <a:rPr lang="en-US" altLang="zh-CN" sz="2800" dirty="0">
                <a:latin typeface="Times New Roman" panose="02020603050405020304" pitchFamily="18" charset="0"/>
                <a:cs typeface="Arial" panose="020B0604020202020204" pitchFamily="34" charset="0"/>
              </a:rPr>
              <a:t> × (1 + Significand) × 2</a:t>
            </a:r>
            <a:r>
              <a:rPr lang="en-US" altLang="zh-CN" sz="2800" baseline="30000" dirty="0">
                <a:latin typeface="Times New Roman" panose="02020603050405020304" pitchFamily="18" charset="0"/>
                <a:cs typeface="Arial" panose="020B0604020202020204" pitchFamily="34" charset="0"/>
              </a:rPr>
              <a:t>(Exponent-1023)</a:t>
            </a:r>
            <a:endParaRPr lang="en-US" altLang="zh-CN" sz="2800" baseline="30000" dirty="0">
              <a:latin typeface="Times New Roman" panose="02020603050405020304" pitchFamily="18" charset="0"/>
              <a:ea typeface="Arial" panose="020B0604020202020204" pitchFamily="34" charset="0"/>
            </a:endParaRPr>
          </a:p>
        </p:txBody>
      </p:sp>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91"/>
                                        </p:tgtEl>
                                        <p:attrNameLst>
                                          <p:attrName>style.visibility</p:attrName>
                                        </p:attrNameLst>
                                      </p:cBhvr>
                                      <p:to>
                                        <p:strVal val="visible"/>
                                      </p:to>
                                    </p:set>
                                    <p:animEffect transition="in" filter="wipe(left)">
                                      <p:cBhvr>
                                        <p:cTn id="7" dur="500"/>
                                        <p:tgtEl>
                                          <p:spTgt spid="30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97"/>
                                        </p:tgtEl>
                                        <p:attrNameLst>
                                          <p:attrName>style.visibility</p:attrName>
                                        </p:attrNameLst>
                                      </p:cBhvr>
                                      <p:to>
                                        <p:strVal val="visible"/>
                                      </p:to>
                                    </p:set>
                                    <p:animEffect transition="in" filter="blinds(horizontal)">
                                      <p:cBhvr>
                                        <p:cTn id="12" dur="500"/>
                                        <p:tgtEl>
                                          <p:spTgt spid="309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98"/>
                                        </p:tgtEl>
                                        <p:attrNameLst>
                                          <p:attrName>style.visibility</p:attrName>
                                        </p:attrNameLst>
                                      </p:cBhvr>
                                      <p:to>
                                        <p:strVal val="visible"/>
                                      </p:to>
                                    </p:set>
                                    <p:animEffect transition="in" filter="blinds(horizontal)">
                                      <p:cBhvr>
                                        <p:cTn id="17" dur="500"/>
                                        <p:tgtEl>
                                          <p:spTgt spid="3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1" grpId="0" animBg="1"/>
      <p:bldP spid="3097" grpId="0"/>
      <p:bldP spid="309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869950" y="260350"/>
            <a:ext cx="7435850" cy="735013"/>
          </a:xfrm>
          <a:ln/>
        </p:spPr>
        <p:txBody>
          <a:bodyPr vert="horz" wrap="square" lIns="91440" tIns="45720" rIns="91440" bIns="45720" anchor="t" anchorCtr="0">
            <a:spAutoFit/>
          </a:bodyPr>
          <a:p>
            <a:r>
              <a:rPr lang="zh-CN" altLang="en-US" dirty="0">
                <a:effectLst/>
              </a:rPr>
              <a:t>回顾－数据的存储</a:t>
            </a:r>
            <a:endParaRPr lang="en-US" altLang="zh-CN" dirty="0">
              <a:effectLst/>
            </a:endParaRPr>
          </a:p>
        </p:txBody>
      </p:sp>
      <p:sp>
        <p:nvSpPr>
          <p:cNvPr id="220163" name="Rectangle 3"/>
          <p:cNvSpPr>
            <a:spLocks noGrp="1" noChangeArrowheads="1"/>
          </p:cNvSpPr>
          <p:nvPr>
            <p:ph idx="1"/>
          </p:nvPr>
        </p:nvSpPr>
        <p:spPr>
          <a:xfrm>
            <a:off x="622300" y="1284288"/>
            <a:ext cx="8162925" cy="4783138"/>
          </a:xfrm>
        </p:spPr>
        <p:txBody>
          <a:bodyPr vert="horz" wrap="square" lIns="91440" tIns="45720" rIns="91440" bIns="45720" numCol="1" anchor="t" anchorCtr="0" compatLnSpc="1">
            <a:spAutoFit/>
          </a:bodyPr>
          <a:lstStyle/>
          <a:p>
            <a:pPr marL="460375" marR="0" lvl="0" indent="-460375" algn="l" defTabSz="914400" rtl="0" eaLnBrk="0" fontAlgn="base" latinLnBrk="0" hangingPunct="0">
              <a:lnSpc>
                <a:spcPct val="120000"/>
              </a:lnSpc>
              <a:spcBef>
                <a:spcPts val="600"/>
              </a:spcBef>
              <a:spcAft>
                <a:spcPts val="600"/>
              </a:spcAft>
              <a:buClr>
                <a:schemeClr val="tx2"/>
              </a:buClr>
              <a:buSzTx/>
              <a:buFont typeface="Wingdings" panose="05000000000000000000" pitchFamily="2" charset="2"/>
              <a:buBlip>
                <a:blip r:embed="rId1"/>
              </a:buBlip>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Byte Addressing (</a:t>
            </a:r>
            <a:r>
              <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字节编址</a:t>
            </a: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14400" marR="0" lvl="1" indent="-452755" algn="l" defTabSz="914400" rtl="0" eaLnBrk="0" fontAlgn="base" latinLnBrk="0" hangingPunct="0">
              <a:lnSpc>
                <a:spcPct val="120000"/>
              </a:lnSpc>
              <a:spcBef>
                <a:spcPts val="600"/>
              </a:spcBef>
              <a:spcAft>
                <a:spcPts val="60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从</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80</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年代起，几乎所有</a:t>
            </a: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计算机</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都用字节编址</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60375" marR="0" lvl="0" indent="-460375" algn="l" defTabSz="914400" rtl="0" eaLnBrk="0" fontAlgn="base" latinLnBrk="0" hangingPunct="0">
              <a:lnSpc>
                <a:spcPct val="120000"/>
              </a:lnSpc>
              <a:spcBef>
                <a:spcPts val="600"/>
              </a:spcBef>
              <a:spcAft>
                <a:spcPts val="600"/>
              </a:spcAft>
              <a:buClr>
                <a:schemeClr val="tx2"/>
              </a:buClr>
              <a:buSzTx/>
              <a:buFont typeface="Wingdings" panose="05000000000000000000" pitchFamily="2" charset="2"/>
              <a:buBlip>
                <a:blip r:embed="rId1"/>
              </a:buBlip>
              <a:defRPr/>
            </a:pPr>
            <a:r>
              <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要考虑的两个问题</a:t>
            </a:r>
            <a:r>
              <a:rPr kumimoji="0" lang="zh-CN" altLang="en-US"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14400" marR="0" lvl="1" indent="-452755" algn="l" defTabSz="914400" rtl="0" eaLnBrk="0" fontAlgn="base" latinLnBrk="0" hangingPunct="0">
              <a:lnSpc>
                <a:spcPct val="120000"/>
              </a:lnSpc>
              <a:spcBef>
                <a:spcPts val="600"/>
              </a:spcBef>
              <a:spcAft>
                <a:spcPts val="60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如何从一个字节地址中取到一个</a:t>
            </a:r>
            <a:r>
              <a:rPr kumimoji="0" lang="en-US" altLang="zh-CN" sz="28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32</a:t>
            </a:r>
            <a:r>
              <a:rPr kumimoji="0" lang="zh-CN" altLang="en-US" sz="28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位的字？</a:t>
            </a:r>
            <a:endParaRPr kumimoji="0" lang="zh-CN" altLang="en-US" sz="28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914400" marR="0" lvl="1" indent="-24130" algn="l" defTabSz="914400" rtl="0" eaLnBrk="0" fontAlgn="base" latinLnBrk="0" hangingPunct="0">
              <a:lnSpc>
                <a:spcPct val="120000"/>
              </a:lnSpc>
              <a:spcBef>
                <a:spcPts val="600"/>
              </a:spcBef>
              <a:spcAft>
                <a:spcPts val="60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rPr>
              <a:t>—— </a:t>
            </a:r>
            <a:r>
              <a:rPr kumimoji="0" lang="zh-CN" altLang="en-US"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rPr>
              <a:t>字的存放问题</a:t>
            </a:r>
            <a:endParaRPr kumimoji="0" lang="zh-CN" altLang="en-US"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endParaRPr>
          </a:p>
          <a:p>
            <a:pPr marL="914400" marR="0" lvl="1" indent="-452755" algn="l" defTabSz="914400" rtl="0" eaLnBrk="0" fontAlgn="base" latinLnBrk="0" hangingPunct="0">
              <a:lnSpc>
                <a:spcPct val="120000"/>
              </a:lnSpc>
              <a:spcBef>
                <a:spcPts val="600"/>
              </a:spcBef>
              <a:spcAft>
                <a:spcPts val="60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一个字能否存放在任何字节边界？</a:t>
            </a:r>
            <a:endParaRPr kumimoji="0" lang="zh-CN" altLang="en-US" sz="28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914400" marR="0" lvl="1" indent="-24130" algn="l" defTabSz="914400" rtl="0" eaLnBrk="0" fontAlgn="base" latinLnBrk="0" hangingPunct="0">
              <a:lnSpc>
                <a:spcPct val="120000"/>
              </a:lnSpc>
              <a:spcBef>
                <a:spcPts val="600"/>
              </a:spcBef>
              <a:spcAft>
                <a:spcPts val="60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rPr>
              <a:t>—— </a:t>
            </a:r>
            <a:r>
              <a:rPr kumimoji="0" lang="zh-CN" altLang="en-US"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rPr>
              <a:t>字的边界对齐问题</a:t>
            </a:r>
            <a:endParaRPr kumimoji="0" lang="zh-CN" altLang="en-US"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0163">
                                            <p:txEl>
                                              <p:charRg st="25" end="46"/>
                                            </p:txEl>
                                          </p:spTgt>
                                        </p:tgtEl>
                                        <p:attrNameLst>
                                          <p:attrName>style.visibility</p:attrName>
                                        </p:attrNameLst>
                                      </p:cBhvr>
                                      <p:to>
                                        <p:strVal val="visible"/>
                                      </p:to>
                                    </p:set>
                                    <p:animEffect transition="in" filter="blinds(horizontal)">
                                      <p:cBhvr>
                                        <p:cTn id="7" dur="500"/>
                                        <p:tgtEl>
                                          <p:spTgt spid="220163">
                                            <p:txEl>
                                              <p:charRg st="25" end="4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0163">
                                            <p:txEl>
                                              <p:charRg st="56" end="77"/>
                                            </p:txEl>
                                          </p:spTgt>
                                        </p:tgtEl>
                                        <p:attrNameLst>
                                          <p:attrName>style.visibility</p:attrName>
                                        </p:attrNameLst>
                                      </p:cBhvr>
                                      <p:to>
                                        <p:strVal val="visible"/>
                                      </p:to>
                                    </p:set>
                                    <p:animEffect transition="in" filter="blinds(horizontal)">
                                      <p:cBhvr>
                                        <p:cTn id="12" dur="500"/>
                                        <p:tgtEl>
                                          <p:spTgt spid="220163">
                                            <p:txEl>
                                              <p:charRg st="56" end="7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0163">
                                            <p:txEl>
                                              <p:charRg st="77" end="87"/>
                                            </p:txEl>
                                          </p:spTgt>
                                        </p:tgtEl>
                                        <p:attrNameLst>
                                          <p:attrName>style.visibility</p:attrName>
                                        </p:attrNameLst>
                                      </p:cBhvr>
                                      <p:to>
                                        <p:strVal val="visible"/>
                                      </p:to>
                                    </p:set>
                                    <p:animEffect transition="in" filter="blinds(horizontal)">
                                      <p:cBhvr>
                                        <p:cTn id="17" dur="500"/>
                                        <p:tgtEl>
                                          <p:spTgt spid="220163">
                                            <p:txEl>
                                              <p:charRg st="77" end="8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20163">
                                            <p:txEl>
                                              <p:charRg st="87" end="103"/>
                                            </p:txEl>
                                          </p:spTgt>
                                        </p:tgtEl>
                                        <p:attrNameLst>
                                          <p:attrName>style.visibility</p:attrName>
                                        </p:attrNameLst>
                                      </p:cBhvr>
                                      <p:to>
                                        <p:strVal val="visible"/>
                                      </p:to>
                                    </p:set>
                                    <p:animEffect transition="in" filter="blinds(horizontal)">
                                      <p:cBhvr>
                                        <p:cTn id="22" dur="500"/>
                                        <p:tgtEl>
                                          <p:spTgt spid="220163">
                                            <p:txEl>
                                              <p:charRg st="87" end="10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20163">
                                            <p:txEl>
                                              <p:charRg st="103" end="115"/>
                                            </p:txEl>
                                          </p:spTgt>
                                        </p:tgtEl>
                                        <p:attrNameLst>
                                          <p:attrName>style.visibility</p:attrName>
                                        </p:attrNameLst>
                                      </p:cBhvr>
                                      <p:to>
                                        <p:strVal val="visible"/>
                                      </p:to>
                                    </p:set>
                                    <p:animEffect transition="in" filter="blinds(horizontal)">
                                      <p:cBhvr>
                                        <p:cTn id="27" dur="500"/>
                                        <p:tgtEl>
                                          <p:spTgt spid="220163">
                                            <p:txEl>
                                              <p:charRg st="103" end="1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4194" name="Rectangle 2"/>
          <p:cNvSpPr>
            <a:spLocks noGrp="1" noChangeArrowheads="1"/>
          </p:cNvSpPr>
          <p:nvPr>
            <p:ph type="title"/>
          </p:nvPr>
        </p:nvSpPr>
        <p:spPr>
          <a:xfrm>
            <a:off x="449263" y="222250"/>
            <a:ext cx="8385175" cy="7143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uLnTx/>
                <a:uFillTx/>
                <a:latin typeface="+mj-lt"/>
                <a:ea typeface="+mj-ea"/>
                <a:cs typeface="+mj-cs"/>
              </a:rPr>
              <a:t>回顾</a:t>
            </a: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a:t>
            </a:r>
            <a:r>
              <a:rPr kumimoji="0" lang="zh-CN" altLang="en-US" sz="4800" b="1" i="0" u="none" strike="noStrike" kern="0" cap="none" spc="0" normalizeH="0" baseline="0" noProof="0" dirty="0" smtClean="0">
                <a:ln>
                  <a:noFill/>
                </a:ln>
                <a:solidFill>
                  <a:srgbClr val="FF0000"/>
                </a:solidFill>
                <a:effectLst/>
                <a:uLnTx/>
                <a:uFillTx/>
                <a:latin typeface="+mj-lt"/>
                <a:ea typeface="+mj-ea"/>
                <a:cs typeface="+mj-cs"/>
              </a:rPr>
              <a:t>数据存储及排列顺序</a:t>
            </a:r>
            <a:endParaRPr kumimoji="0" lang="en-US" altLang="zh-CN" sz="4800" b="1" i="0" u="none" strike="noStrike" kern="0" cap="none" spc="0" normalizeH="0" baseline="0" noProof="0" dirty="0" smtClean="0">
              <a:ln>
                <a:noFill/>
              </a:ln>
              <a:solidFill>
                <a:srgbClr val="FF0000"/>
              </a:solidFill>
              <a:effectLst/>
              <a:uLnTx/>
              <a:uFillTx/>
              <a:latin typeface="+mj-lt"/>
              <a:ea typeface="+mj-ea"/>
              <a:cs typeface="+mj-cs"/>
            </a:endParaRPr>
          </a:p>
        </p:txBody>
      </p:sp>
      <p:grpSp>
        <p:nvGrpSpPr>
          <p:cNvPr id="2" name="组合 2"/>
          <p:cNvGrpSpPr/>
          <p:nvPr/>
        </p:nvGrpSpPr>
        <p:grpSpPr>
          <a:xfrm>
            <a:off x="2236788" y="5126038"/>
            <a:ext cx="6481762" cy="371475"/>
            <a:chOff x="2236268" y="5079275"/>
            <a:chExt cx="6482300" cy="372400"/>
          </a:xfrm>
        </p:grpSpPr>
        <p:sp>
          <p:nvSpPr>
            <p:cNvPr id="28693" name="Rectangle 12"/>
            <p:cNvSpPr/>
            <p:nvPr/>
          </p:nvSpPr>
          <p:spPr>
            <a:xfrm>
              <a:off x="2236268" y="5086550"/>
              <a:ext cx="3128583" cy="365125"/>
            </a:xfrm>
            <a:prstGeom prst="rect">
              <a:avLst/>
            </a:prstGeom>
            <a:noFill/>
            <a:ln w="12700">
              <a:noFill/>
            </a:ln>
          </p:spPr>
          <p:txBody>
            <a:bodyPr wrap="none" lIns="63500" tIns="25400" rIns="63500" bIns="2540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spcBef>
                  <a:spcPct val="0"/>
                </a:spcBef>
                <a:buClrTx/>
                <a:buFontTx/>
                <a:buNone/>
              </a:pPr>
              <a:r>
                <a:rPr lang="en-US" altLang="zh-CN" sz="2400" dirty="0">
                  <a:latin typeface="Times New Roman" panose="02020603050405020304" pitchFamily="18" charset="0"/>
                  <a:ea typeface="宋体" panose="02010600030101010101" pitchFamily="2" charset="-122"/>
                </a:rPr>
                <a:t>103     102     101     </a:t>
              </a:r>
              <a:r>
                <a:rPr lang="en-US" altLang="zh-CN" sz="2400" dirty="0">
                  <a:solidFill>
                    <a:srgbClr val="00FF00"/>
                  </a:solidFill>
                  <a:latin typeface="Times New Roman" panose="02020603050405020304" pitchFamily="18" charset="0"/>
                  <a:ea typeface="宋体" panose="02010600030101010101" pitchFamily="2" charset="-122"/>
                </a:rPr>
                <a:t>100</a:t>
              </a:r>
              <a:endParaRPr lang="en-US" altLang="zh-CN" sz="2400" dirty="0">
                <a:solidFill>
                  <a:srgbClr val="00FF00"/>
                </a:solidFill>
                <a:latin typeface="Times New Roman" panose="02020603050405020304" pitchFamily="18" charset="0"/>
                <a:ea typeface="宋体" panose="02010600030101010101" pitchFamily="2" charset="-122"/>
              </a:endParaRPr>
            </a:p>
          </p:txBody>
        </p:sp>
        <p:sp>
          <p:nvSpPr>
            <p:cNvPr id="28694" name="Rectangle 13"/>
            <p:cNvSpPr/>
            <p:nvPr/>
          </p:nvSpPr>
          <p:spPr>
            <a:xfrm>
              <a:off x="5727458" y="5079275"/>
              <a:ext cx="2991110" cy="365228"/>
            </a:xfrm>
            <a:prstGeom prst="rect">
              <a:avLst/>
            </a:prstGeom>
            <a:noFill/>
            <a:ln w="12700">
              <a:noFill/>
            </a:ln>
          </p:spPr>
          <p:txBody>
            <a:bodyPr wrap="none" lIns="63500" tIns="25400" rIns="63500" bIns="2540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spcBef>
                  <a:spcPct val="0"/>
                </a:spcBef>
                <a:buClrTx/>
                <a:buFontTx/>
                <a:buNone/>
              </a:pPr>
              <a:r>
                <a:rPr lang="en-US" altLang="zh-CN" sz="2400" dirty="0">
                  <a:latin typeface="Times New Roman" panose="02020603050405020304" pitchFamily="18" charset="0"/>
                  <a:ea typeface="宋体" panose="02010600030101010101" pitchFamily="2" charset="-122"/>
                </a:rPr>
                <a:t>little endian word 100</a:t>
              </a:r>
              <a:endParaRPr lang="en-US" altLang="zh-CN" sz="2400" dirty="0">
                <a:latin typeface="Times New Roman" panose="02020603050405020304" pitchFamily="18" charset="0"/>
                <a:ea typeface="宋体" panose="02010600030101010101" pitchFamily="2" charset="-122"/>
              </a:endParaRPr>
            </a:p>
          </p:txBody>
        </p:sp>
      </p:grpSp>
      <p:grpSp>
        <p:nvGrpSpPr>
          <p:cNvPr id="3" name="组合 3"/>
          <p:cNvGrpSpPr/>
          <p:nvPr/>
        </p:nvGrpSpPr>
        <p:grpSpPr>
          <a:xfrm>
            <a:off x="2239963" y="5921375"/>
            <a:ext cx="6327775" cy="415925"/>
            <a:chOff x="2239923" y="5876000"/>
            <a:chExt cx="6327866" cy="415525"/>
          </a:xfrm>
        </p:grpSpPr>
        <p:sp>
          <p:nvSpPr>
            <p:cNvPr id="28691" name="Rectangle 14"/>
            <p:cNvSpPr/>
            <p:nvPr/>
          </p:nvSpPr>
          <p:spPr>
            <a:xfrm>
              <a:off x="2239923" y="5926400"/>
              <a:ext cx="3128583" cy="365125"/>
            </a:xfrm>
            <a:prstGeom prst="rect">
              <a:avLst/>
            </a:prstGeom>
            <a:noFill/>
            <a:ln w="12700">
              <a:noFill/>
            </a:ln>
          </p:spPr>
          <p:txBody>
            <a:bodyPr wrap="none" lIns="63500" tIns="25400" rIns="63500" bIns="2540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spcBef>
                  <a:spcPct val="0"/>
                </a:spcBef>
                <a:buClrTx/>
                <a:buFontTx/>
                <a:buNone/>
              </a:pPr>
              <a:r>
                <a:rPr lang="en-US" altLang="zh-CN" sz="2400" dirty="0">
                  <a:solidFill>
                    <a:srgbClr val="FF00FF"/>
                  </a:solidFill>
                  <a:latin typeface="Times New Roman" panose="02020603050405020304" pitchFamily="18" charset="0"/>
                  <a:ea typeface="宋体" panose="02010600030101010101" pitchFamily="2" charset="-122"/>
                </a:rPr>
                <a:t>100</a:t>
              </a:r>
              <a:r>
                <a:rPr lang="en-US" altLang="zh-CN" sz="2400" dirty="0">
                  <a:solidFill>
                    <a:srgbClr val="FFFF00"/>
                  </a:solidFill>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   101     102     103</a:t>
              </a:r>
              <a:endParaRPr lang="en-US" altLang="zh-CN" sz="2400" dirty="0">
                <a:latin typeface="Times New Roman" panose="02020603050405020304" pitchFamily="18" charset="0"/>
                <a:ea typeface="宋体" panose="02010600030101010101" pitchFamily="2" charset="-122"/>
              </a:endParaRPr>
            </a:p>
          </p:txBody>
        </p:sp>
        <p:sp>
          <p:nvSpPr>
            <p:cNvPr id="28692" name="Rectangle 15"/>
            <p:cNvSpPr/>
            <p:nvPr/>
          </p:nvSpPr>
          <p:spPr>
            <a:xfrm>
              <a:off x="5762186" y="5876000"/>
              <a:ext cx="2805603" cy="365228"/>
            </a:xfrm>
            <a:prstGeom prst="rect">
              <a:avLst/>
            </a:prstGeom>
            <a:noFill/>
            <a:ln w="12700">
              <a:noFill/>
            </a:ln>
          </p:spPr>
          <p:txBody>
            <a:bodyPr wrap="none" lIns="63500" tIns="25400" rIns="63500" bIns="2540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spcBef>
                  <a:spcPct val="0"/>
                </a:spcBef>
                <a:buClrTx/>
                <a:buFontTx/>
                <a:buNone/>
              </a:pPr>
              <a:r>
                <a:rPr lang="en-US" altLang="zh-CN" sz="2400" dirty="0">
                  <a:latin typeface="Times New Roman" panose="02020603050405020304" pitchFamily="18" charset="0"/>
                  <a:ea typeface="宋体" panose="02010600030101010101" pitchFamily="2" charset="-122"/>
                </a:rPr>
                <a:t>big endian word 100</a:t>
              </a:r>
              <a:endParaRPr lang="en-US" altLang="zh-CN" sz="2400" dirty="0">
                <a:latin typeface="Times New Roman" panose="02020603050405020304" pitchFamily="18" charset="0"/>
                <a:ea typeface="宋体" panose="02010600030101010101" pitchFamily="2" charset="-122"/>
              </a:endParaRPr>
            </a:p>
          </p:txBody>
        </p:sp>
      </p:grpSp>
      <p:grpSp>
        <p:nvGrpSpPr>
          <p:cNvPr id="4" name="组合 6"/>
          <p:cNvGrpSpPr/>
          <p:nvPr/>
        </p:nvGrpSpPr>
        <p:grpSpPr>
          <a:xfrm>
            <a:off x="655638" y="4676775"/>
            <a:ext cx="5110162" cy="1660525"/>
            <a:chOff x="655154" y="4585100"/>
            <a:chExt cx="5111811" cy="1660125"/>
          </a:xfrm>
        </p:grpSpPr>
        <p:grpSp>
          <p:nvGrpSpPr>
            <p:cNvPr id="28680" name="组合 5"/>
            <p:cNvGrpSpPr/>
            <p:nvPr/>
          </p:nvGrpSpPr>
          <p:grpSpPr>
            <a:xfrm>
              <a:off x="2099454" y="5013325"/>
              <a:ext cx="3477332" cy="1231900"/>
              <a:chOff x="2226424" y="5013325"/>
              <a:chExt cx="3350361" cy="1231900"/>
            </a:xfrm>
          </p:grpSpPr>
          <p:sp>
            <p:nvSpPr>
              <p:cNvPr id="28685" name="Rectangle 5"/>
              <p:cNvSpPr/>
              <p:nvPr/>
            </p:nvSpPr>
            <p:spPr>
              <a:xfrm>
                <a:off x="2226424" y="5013325"/>
                <a:ext cx="3318195" cy="1231900"/>
              </a:xfrm>
              <a:prstGeom prst="rect">
                <a:avLst/>
              </a:prstGeom>
              <a:noFill/>
              <a:ln w="12700">
                <a:noFill/>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800" dirty="0">
                  <a:solidFill>
                    <a:schemeClr val="tx2"/>
                  </a:solidFill>
                  <a:latin typeface="Arial" panose="020B0604020202020204" pitchFamily="34" charset="0"/>
                  <a:ea typeface="宋体" panose="02010600030101010101" pitchFamily="2" charset="-122"/>
                </a:endParaRPr>
              </a:p>
            </p:txBody>
          </p:sp>
          <p:sp>
            <p:nvSpPr>
              <p:cNvPr id="28686" name="Line 7"/>
              <p:cNvSpPr/>
              <p:nvPr/>
            </p:nvSpPr>
            <p:spPr>
              <a:xfrm>
                <a:off x="3844891" y="5422900"/>
                <a:ext cx="0" cy="444500"/>
              </a:xfrm>
              <a:prstGeom prst="line">
                <a:avLst/>
              </a:prstGeom>
              <a:ln w="12700" cap="flat" cmpd="sng">
                <a:solidFill>
                  <a:schemeClr val="tx1"/>
                </a:solidFill>
                <a:prstDash val="solid"/>
                <a:headEnd type="none" w="med" len="med"/>
                <a:tailEnd type="none" w="med" len="med"/>
              </a:ln>
            </p:spPr>
          </p:sp>
          <p:sp>
            <p:nvSpPr>
              <p:cNvPr id="28687" name="Line 8"/>
              <p:cNvSpPr/>
              <p:nvPr/>
            </p:nvSpPr>
            <p:spPr>
              <a:xfrm>
                <a:off x="3032272" y="5422900"/>
                <a:ext cx="0" cy="444500"/>
              </a:xfrm>
              <a:prstGeom prst="line">
                <a:avLst/>
              </a:prstGeom>
              <a:ln w="12700" cap="flat" cmpd="sng">
                <a:solidFill>
                  <a:schemeClr val="tx1"/>
                </a:solidFill>
                <a:prstDash val="solid"/>
                <a:headEnd type="none" w="med" len="med"/>
                <a:tailEnd type="none" w="med" len="med"/>
              </a:ln>
            </p:spPr>
          </p:sp>
          <p:sp>
            <p:nvSpPr>
              <p:cNvPr id="28688" name="Line 9"/>
              <p:cNvSpPr/>
              <p:nvPr/>
            </p:nvSpPr>
            <p:spPr>
              <a:xfrm>
                <a:off x="4657510" y="5422900"/>
                <a:ext cx="0" cy="444500"/>
              </a:xfrm>
              <a:prstGeom prst="line">
                <a:avLst/>
              </a:prstGeom>
              <a:ln w="12700" cap="flat" cmpd="sng">
                <a:solidFill>
                  <a:schemeClr val="tx1"/>
                </a:solidFill>
                <a:prstDash val="solid"/>
                <a:headEnd type="none" w="med" len="med"/>
                <a:tailEnd type="none" w="med" len="med"/>
              </a:ln>
            </p:spPr>
          </p:sp>
          <p:sp>
            <p:nvSpPr>
              <p:cNvPr id="28689" name="Rectangle 10"/>
              <p:cNvSpPr/>
              <p:nvPr/>
            </p:nvSpPr>
            <p:spPr>
              <a:xfrm>
                <a:off x="2300914" y="5492750"/>
                <a:ext cx="848171" cy="365125"/>
              </a:xfrm>
              <a:prstGeom prst="rect">
                <a:avLst/>
              </a:prstGeom>
              <a:noFill/>
              <a:ln w="12700">
                <a:noFill/>
              </a:ln>
            </p:spPr>
            <p:txBody>
              <a:bodyPr wrap="none" lIns="63500" tIns="25400" rIns="63500" bIns="2540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spcBef>
                    <a:spcPct val="0"/>
                  </a:spcBef>
                  <a:buClrTx/>
                  <a:buFontTx/>
                  <a:buNone/>
                </a:pPr>
                <a:r>
                  <a:rPr lang="en-US" altLang="zh-CN" sz="2400" dirty="0">
                    <a:latin typeface="Times New Roman" panose="02020603050405020304" pitchFamily="18" charset="0"/>
                    <a:ea typeface="宋体" panose="02010600030101010101" pitchFamily="2" charset="-122"/>
                  </a:rPr>
                  <a:t>MSB</a:t>
                </a:r>
                <a:endParaRPr lang="en-US" altLang="zh-CN" sz="2400" dirty="0">
                  <a:latin typeface="Times New Roman" panose="02020603050405020304" pitchFamily="18" charset="0"/>
                  <a:ea typeface="宋体" panose="02010600030101010101" pitchFamily="2" charset="-122"/>
                </a:endParaRPr>
              </a:p>
            </p:txBody>
          </p:sp>
          <p:sp>
            <p:nvSpPr>
              <p:cNvPr id="28690" name="Rectangle 11"/>
              <p:cNvSpPr/>
              <p:nvPr/>
            </p:nvSpPr>
            <p:spPr>
              <a:xfrm>
                <a:off x="4820033" y="5492750"/>
                <a:ext cx="756752" cy="365125"/>
              </a:xfrm>
              <a:prstGeom prst="rect">
                <a:avLst/>
              </a:prstGeom>
              <a:noFill/>
              <a:ln w="12700">
                <a:noFill/>
              </a:ln>
            </p:spPr>
            <p:txBody>
              <a:bodyPr wrap="none" lIns="63500" tIns="25400" rIns="63500" bIns="2540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spcBef>
                    <a:spcPct val="0"/>
                  </a:spcBef>
                  <a:buClrTx/>
                  <a:buFontTx/>
                  <a:buNone/>
                </a:pPr>
                <a:r>
                  <a:rPr lang="en-US" altLang="zh-CN" sz="2400" dirty="0">
                    <a:solidFill>
                      <a:srgbClr val="FFFF00"/>
                    </a:solidFill>
                    <a:latin typeface="Times New Roman" panose="02020603050405020304" pitchFamily="18" charset="0"/>
                    <a:ea typeface="宋体" panose="02010600030101010101" pitchFamily="2" charset="-122"/>
                  </a:rPr>
                  <a:t>LSB</a:t>
                </a:r>
                <a:endParaRPr lang="en-US" altLang="zh-CN" sz="2400" dirty="0">
                  <a:solidFill>
                    <a:srgbClr val="FFFF00"/>
                  </a:solidFill>
                  <a:latin typeface="Times New Roman" panose="02020603050405020304" pitchFamily="18" charset="0"/>
                  <a:ea typeface="宋体" panose="02010600030101010101" pitchFamily="2" charset="-122"/>
                </a:endParaRPr>
              </a:p>
            </p:txBody>
          </p:sp>
        </p:grpSp>
        <p:grpSp>
          <p:nvGrpSpPr>
            <p:cNvPr id="28681" name="组合 4"/>
            <p:cNvGrpSpPr/>
            <p:nvPr/>
          </p:nvGrpSpPr>
          <p:grpSpPr>
            <a:xfrm>
              <a:off x="655154" y="4585100"/>
              <a:ext cx="5111811" cy="1282300"/>
              <a:chOff x="838200" y="4585100"/>
              <a:chExt cx="4925163" cy="1282300"/>
            </a:xfrm>
          </p:grpSpPr>
          <p:sp>
            <p:nvSpPr>
              <p:cNvPr id="28682" name="Rectangle 6"/>
              <p:cNvSpPr/>
              <p:nvPr/>
            </p:nvSpPr>
            <p:spPr>
              <a:xfrm>
                <a:off x="2226424" y="5422900"/>
                <a:ext cx="3318195" cy="44450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800" dirty="0">
                  <a:solidFill>
                    <a:schemeClr val="tx2"/>
                  </a:solidFill>
                  <a:latin typeface="Arial" panose="020B0604020202020204" pitchFamily="34" charset="0"/>
                  <a:ea typeface="宋体" panose="02010600030101010101" pitchFamily="2" charset="-122"/>
                </a:endParaRPr>
              </a:p>
            </p:txBody>
          </p:sp>
          <p:sp>
            <p:nvSpPr>
              <p:cNvPr id="28683" name="Text Box 16"/>
              <p:cNvSpPr txBox="1"/>
              <p:nvPr/>
            </p:nvSpPr>
            <p:spPr>
              <a:xfrm>
                <a:off x="838200" y="5373688"/>
                <a:ext cx="1261253" cy="479425"/>
              </a:xfrm>
              <a:prstGeom prst="rect">
                <a:avLst/>
              </a:prstGeom>
              <a:noFill/>
              <a:ln w="12700">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90000"/>
                  </a:lnSpc>
                  <a:spcBef>
                    <a:spcPct val="0"/>
                  </a:spcBef>
                  <a:buClrTx/>
                  <a:buFontTx/>
                  <a:buNone/>
                </a:pPr>
                <a:r>
                  <a:rPr lang="en-US" altLang="zh-CN" sz="2800" dirty="0">
                    <a:latin typeface="Times New Roman" panose="02020603050405020304" pitchFamily="18" charset="0"/>
                    <a:ea typeface="宋体" panose="02010600030101010101" pitchFamily="2" charset="-122"/>
                  </a:rPr>
                  <a:t>Word:</a:t>
                </a:r>
                <a:endParaRPr lang="en-US" altLang="zh-CN" sz="2800" dirty="0">
                  <a:latin typeface="Times New Roman" panose="02020603050405020304" pitchFamily="18" charset="0"/>
                  <a:ea typeface="宋体" panose="02010600030101010101" pitchFamily="2" charset="-122"/>
                </a:endParaRPr>
              </a:p>
            </p:txBody>
          </p:sp>
          <p:sp>
            <p:nvSpPr>
              <p:cNvPr id="28684" name="Text Box 17"/>
              <p:cNvSpPr txBox="1"/>
              <p:nvPr/>
            </p:nvSpPr>
            <p:spPr>
              <a:xfrm>
                <a:off x="2108270" y="4585100"/>
                <a:ext cx="3655093" cy="482600"/>
              </a:xfrm>
              <a:prstGeom prst="rect">
                <a:avLst/>
              </a:prstGeom>
              <a:noFill/>
              <a:ln w="12700">
                <a:noFill/>
              </a:ln>
            </p:spPr>
            <p:txBody>
              <a:bodyPr lIns="63500" tIns="25400" rIns="63500" bIns="2540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50000"/>
                  </a:spcBef>
                  <a:buClrTx/>
                  <a:buFontTx/>
                  <a:buNone/>
                </a:pPr>
                <a:r>
                  <a:rPr lang="en-US" altLang="zh-CN" sz="2800" dirty="0">
                    <a:solidFill>
                      <a:schemeClr val="accent2"/>
                    </a:solidFill>
                    <a:latin typeface="Times New Roman" panose="02020603050405020304" pitchFamily="18" charset="0"/>
                    <a:ea typeface="宋体" panose="02010600030101010101" pitchFamily="2" charset="-122"/>
                  </a:rPr>
                  <a:t>   </a:t>
                </a:r>
                <a:r>
                  <a:rPr lang="en-US" altLang="zh-CN" sz="2800" dirty="0">
                    <a:solidFill>
                      <a:srgbClr val="FF00FF"/>
                    </a:solidFill>
                    <a:latin typeface="Times New Roman" panose="02020603050405020304" pitchFamily="18" charset="0"/>
                    <a:ea typeface="宋体" panose="02010600030101010101" pitchFamily="2" charset="-122"/>
                  </a:rPr>
                  <a:t> 01     </a:t>
                </a:r>
                <a:r>
                  <a:rPr lang="en-US" altLang="zh-CN" sz="2800" dirty="0">
                    <a:solidFill>
                      <a:srgbClr val="FFFF00"/>
                    </a:solidFill>
                    <a:latin typeface="Times New Roman" panose="02020603050405020304" pitchFamily="18" charset="0"/>
                    <a:ea typeface="宋体" panose="02010600030101010101" pitchFamily="2" charset="-122"/>
                  </a:rPr>
                  <a:t>23      45     </a:t>
                </a:r>
                <a:r>
                  <a:rPr lang="en-US" altLang="zh-CN" sz="2800" dirty="0">
                    <a:solidFill>
                      <a:srgbClr val="00FF00"/>
                    </a:solidFill>
                    <a:latin typeface="Times New Roman" panose="02020603050405020304" pitchFamily="18" charset="0"/>
                    <a:ea typeface="宋体" panose="02010600030101010101" pitchFamily="2" charset="-122"/>
                  </a:rPr>
                  <a:t>67</a:t>
                </a:r>
                <a:endParaRPr lang="en-US" altLang="zh-CN" sz="2800" dirty="0">
                  <a:solidFill>
                    <a:srgbClr val="00FF00"/>
                  </a:solidFill>
                  <a:latin typeface="Times New Roman" panose="02020603050405020304" pitchFamily="18" charset="0"/>
                  <a:ea typeface="宋体" panose="02010600030101010101" pitchFamily="2" charset="-122"/>
                </a:endParaRPr>
              </a:p>
            </p:txBody>
          </p:sp>
        </p:grpSp>
      </p:grpSp>
      <p:sp>
        <p:nvSpPr>
          <p:cNvPr id="28678" name="Rectangle 18"/>
          <p:cNvSpPr/>
          <p:nvPr/>
        </p:nvSpPr>
        <p:spPr>
          <a:xfrm>
            <a:off x="474663" y="1095375"/>
            <a:ext cx="8669337" cy="2119313"/>
          </a:xfrm>
          <a:prstGeom prst="rect">
            <a:avLst/>
          </a:prstGeom>
          <a:noFill/>
          <a:ln w="12700">
            <a:noFill/>
          </a:ln>
        </p:spPr>
        <p:txBody>
          <a:bodyPr lIns="63500" tIns="25400" rIns="63500" bIns="2540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342900" lvl="0" indent="-342900" defTabSz="914400">
              <a:lnSpc>
                <a:spcPct val="100000"/>
              </a:lnSpc>
              <a:spcBef>
                <a:spcPts val="600"/>
              </a:spcBef>
              <a:tabLst>
                <a:tab pos="1600200" algn="l"/>
              </a:tabLst>
            </a:pPr>
            <a:r>
              <a:rPr lang="zh-CN" altLang="en-US" sz="3200" dirty="0">
                <a:solidFill>
                  <a:srgbClr val="FFFF00"/>
                </a:solidFill>
                <a:latin typeface="Times New Roman" panose="02020603050405020304" pitchFamily="18" charset="0"/>
              </a:rPr>
              <a:t>大端方式</a:t>
            </a:r>
            <a:r>
              <a:rPr lang="en-US" altLang="zh-CN" sz="3200" dirty="0">
                <a:solidFill>
                  <a:srgbClr val="FFFF00"/>
                </a:solidFill>
                <a:latin typeface="Times New Roman" panose="02020603050405020304" pitchFamily="18" charset="0"/>
              </a:rPr>
              <a:t>(Big Endian):  MSB</a:t>
            </a:r>
            <a:r>
              <a:rPr lang="zh-CN" altLang="en-US" sz="3200" dirty="0">
                <a:solidFill>
                  <a:srgbClr val="FFFF00"/>
                </a:solidFill>
                <a:latin typeface="Times New Roman" panose="02020603050405020304" pitchFamily="18" charset="0"/>
              </a:rPr>
              <a:t>所在地址是数的地址</a:t>
            </a:r>
            <a:endParaRPr lang="en-US" altLang="zh-CN" sz="3200" dirty="0">
              <a:solidFill>
                <a:srgbClr val="FFFF00"/>
              </a:solidFill>
              <a:latin typeface="Times New Roman" panose="02020603050405020304" pitchFamily="18" charset="0"/>
            </a:endParaRPr>
          </a:p>
          <a:p>
            <a:pPr marL="342900" lvl="0" indent="-342900" defTabSz="914400">
              <a:lnSpc>
                <a:spcPct val="100000"/>
              </a:lnSpc>
              <a:spcBef>
                <a:spcPts val="600"/>
              </a:spcBef>
              <a:tabLst>
                <a:tab pos="1600200" algn="l"/>
              </a:tabLst>
            </a:pPr>
            <a:r>
              <a:rPr lang="zh-CN" altLang="en-US" sz="3200" dirty="0">
                <a:solidFill>
                  <a:srgbClr val="FFFF00"/>
                </a:solidFill>
                <a:latin typeface="Times New Roman" panose="02020603050405020304" pitchFamily="18" charset="0"/>
              </a:rPr>
              <a:t>小端方式</a:t>
            </a:r>
            <a:r>
              <a:rPr lang="en-US" altLang="zh-CN" sz="3200" dirty="0">
                <a:solidFill>
                  <a:srgbClr val="FFFF00"/>
                </a:solidFill>
                <a:latin typeface="Times New Roman" panose="02020603050405020304" pitchFamily="18" charset="0"/>
              </a:rPr>
              <a:t>( Little Endian):  LSB</a:t>
            </a:r>
            <a:r>
              <a:rPr lang="zh-CN" altLang="en-US" sz="3200" dirty="0">
                <a:solidFill>
                  <a:srgbClr val="FFFF00"/>
                </a:solidFill>
                <a:latin typeface="Times New Roman" panose="02020603050405020304" pitchFamily="18" charset="0"/>
              </a:rPr>
              <a:t>所在地址是数的地址</a:t>
            </a:r>
            <a:endParaRPr lang="zh-CN" altLang="en-US" sz="3200" dirty="0">
              <a:solidFill>
                <a:srgbClr val="FFFF00"/>
              </a:solidFill>
              <a:latin typeface="Times New Roman" panose="02020603050405020304" pitchFamily="18" charset="0"/>
            </a:endParaRPr>
          </a:p>
        </p:txBody>
      </p:sp>
      <p:sp>
        <p:nvSpPr>
          <p:cNvPr id="264212" name="Text Box 20"/>
          <p:cNvSpPr/>
          <p:nvPr>
            <p:ph idx="1"/>
          </p:nvPr>
        </p:nvSpPr>
        <p:spPr>
          <a:xfrm>
            <a:off x="847725" y="3230563"/>
            <a:ext cx="8180388" cy="1385887"/>
          </a:xfrm>
          <a:ln/>
        </p:spPr>
        <p:txBody>
          <a:bodyPr vert="horz" wrap="square" lIns="91440" tIns="45720" rIns="91440" bIns="45720" anchor="t" anchorCtr="0">
            <a:spAutoFit/>
          </a:bodyPr>
          <a:p>
            <a:pPr>
              <a:lnSpc>
                <a:spcPct val="100000"/>
              </a:lnSpc>
              <a:spcBef>
                <a:spcPts val="600"/>
              </a:spcBef>
              <a:buClr>
                <a:schemeClr val="bg1"/>
              </a:buClr>
              <a:buFontTx/>
              <a:buNone/>
            </a:pPr>
            <a:r>
              <a:rPr lang="zh-CN" altLang="en-US" sz="2800" dirty="0">
                <a:latin typeface="Times New Roman" panose="02020603050405020304" pitchFamily="18" charset="0"/>
              </a:rPr>
              <a:t>例：若 </a:t>
            </a:r>
            <a:r>
              <a:rPr lang="en-US" altLang="zh-CN" sz="2800" dirty="0">
                <a:latin typeface="Times New Roman" panose="02020603050405020304" pitchFamily="18" charset="0"/>
              </a:rPr>
              <a:t>int i = 0x01234567</a:t>
            </a:r>
            <a:r>
              <a:rPr lang="zh-CN" altLang="en-US" sz="2800" dirty="0">
                <a:latin typeface="Times New Roman" panose="02020603050405020304" pitchFamily="18" charset="0"/>
              </a:rPr>
              <a:t>，存放在内存</a:t>
            </a:r>
            <a:r>
              <a:rPr lang="en-US" altLang="zh-CN" sz="2800" dirty="0">
                <a:latin typeface="Times New Roman" panose="02020603050405020304" pitchFamily="18" charset="0"/>
              </a:rPr>
              <a:t>100</a:t>
            </a:r>
            <a:r>
              <a:rPr lang="zh-CN" altLang="en-US" sz="2800" dirty="0">
                <a:latin typeface="Times New Roman" panose="02020603050405020304" pitchFamily="18" charset="0"/>
              </a:rPr>
              <a:t>号单元，则用“取数”指令访问</a:t>
            </a:r>
            <a:r>
              <a:rPr lang="en-US" altLang="zh-CN" sz="2800" dirty="0">
                <a:latin typeface="Times New Roman" panose="02020603050405020304" pitchFamily="18" charset="0"/>
              </a:rPr>
              <a:t>100</a:t>
            </a:r>
            <a:r>
              <a:rPr lang="zh-CN" altLang="en-US" sz="2800" dirty="0">
                <a:latin typeface="Times New Roman" panose="02020603050405020304" pitchFamily="18" charset="0"/>
              </a:rPr>
              <a:t>号单元取出 的字节是什么？变量</a:t>
            </a:r>
            <a:r>
              <a:rPr lang="en-US" altLang="zh-CN" sz="2800" dirty="0">
                <a:latin typeface="Times New Roman" panose="02020603050405020304" pitchFamily="18" charset="0"/>
              </a:rPr>
              <a:t>i</a:t>
            </a:r>
            <a:r>
              <a:rPr lang="zh-CN" altLang="en-US" sz="2800" dirty="0">
                <a:latin typeface="Times New Roman" panose="02020603050405020304" pitchFamily="18" charset="0"/>
              </a:rPr>
              <a:t>的</a:t>
            </a:r>
            <a:r>
              <a:rPr lang="en-US" altLang="zh-CN" sz="2800" dirty="0">
                <a:latin typeface="Times New Roman" panose="02020603050405020304" pitchFamily="18" charset="0"/>
              </a:rPr>
              <a:t>4</a:t>
            </a:r>
            <a:r>
              <a:rPr lang="zh-CN" altLang="en-US" sz="2800" dirty="0">
                <a:latin typeface="Times New Roman" panose="02020603050405020304" pitchFamily="18" charset="0"/>
              </a:rPr>
              <a:t>个字节是如何存放的</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4212">
                                            <p:txEl>
                                              <p:charRg st="0" end="77"/>
                                            </p:txEl>
                                          </p:spTgt>
                                        </p:tgtEl>
                                        <p:attrNameLst>
                                          <p:attrName>style.visibility</p:attrName>
                                        </p:attrNameLst>
                                      </p:cBhvr>
                                      <p:to>
                                        <p:strVal val="visible"/>
                                      </p:to>
                                    </p:set>
                                    <p:animEffect transition="in" filter="blinds(horizontal)">
                                      <p:cBhvr>
                                        <p:cTn id="7" dur="500"/>
                                        <p:tgtEl>
                                          <p:spTgt spid="264212">
                                            <p:txEl>
                                              <p:charRg st="0" end="7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Rectangle 2"/>
          <p:cNvSpPr>
            <a:spLocks noChangeArrowheads="1"/>
          </p:cNvSpPr>
          <p:nvPr/>
        </p:nvSpPr>
        <p:spPr bwMode="auto">
          <a:xfrm>
            <a:off x="606425" y="901700"/>
            <a:ext cx="8166100" cy="5092700"/>
          </a:xfrm>
          <a:prstGeom prst="rect">
            <a:avLst/>
          </a:prstGeom>
          <a:noFill/>
          <a:ln w="38100">
            <a:noFill/>
            <a:miter lim="800000"/>
          </a:ln>
          <a:effectLst/>
        </p:spPr>
        <p:txBody>
          <a:bodyPr/>
          <a:lstStyle/>
          <a:p>
            <a:pPr marL="0" marR="0" lvl="0" indent="0" algn="l" defTabSz="914400" rtl="0" eaLnBrk="0" fontAlgn="base" latinLnBrk="0" hangingPunct="0">
              <a:lnSpc>
                <a:spcPct val="110000"/>
              </a:lnSpc>
              <a:spcBef>
                <a:spcPct val="20000"/>
              </a:spcBef>
              <a:spcAft>
                <a:spcPct val="0"/>
              </a:spcAft>
              <a:buClrTx/>
              <a:buSzTx/>
              <a:buFont typeface="Wingdings" panose="05000000000000000000" pitchFamily="2" charset="2"/>
              <a:buNone/>
              <a:defRPr/>
            </a:pPr>
            <a:r>
              <a:rPr kumimoji="0" lang="zh-CN" altLang="en-US" sz="2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例：假设数据顺序：字</a:t>
            </a:r>
            <a:r>
              <a:rPr kumimoji="0" lang="en-US" altLang="zh-CN" sz="2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半字</a:t>
            </a:r>
            <a:r>
              <a:rPr kumimoji="0" lang="en-US" altLang="zh-CN" sz="2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双字</a:t>
            </a:r>
            <a:r>
              <a:rPr kumimoji="0" lang="en-US" altLang="zh-CN" sz="2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字节</a:t>
            </a:r>
            <a:r>
              <a:rPr kumimoji="0" lang="en-US" altLang="zh-CN" sz="2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半字</a:t>
            </a:r>
            <a:r>
              <a:rPr kumimoji="0" lang="en-US" altLang="zh-CN" sz="2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endParaRPr kumimoji="0" lang="en-US" altLang="zh-CN" sz="2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342900" marR="0" lvl="0" indent="-342900" algn="ctr" defTabSz="914400" rtl="0" eaLnBrk="0" fontAlgn="base" latinLnBrk="0" hangingPunct="0">
              <a:lnSpc>
                <a:spcPct val="110000"/>
              </a:lnSpc>
              <a:spcBef>
                <a:spcPct val="20000"/>
              </a:spcBef>
              <a:spcAft>
                <a:spcPct val="0"/>
              </a:spcAft>
              <a:buClrTx/>
              <a:buSzTx/>
              <a:buFont typeface="Monotype Sorts" pitchFamily="2" charset="2"/>
              <a:buChar char="l"/>
              <a:defRPr/>
            </a:pPr>
            <a:endParaRPr kumimoji="0" lang="zh-CN" altLang="en-US" sz="21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ctr" defTabSz="914400" rtl="0" eaLnBrk="0" fontAlgn="base" latinLnBrk="0" hangingPunct="0">
              <a:lnSpc>
                <a:spcPct val="110000"/>
              </a:lnSpc>
              <a:spcBef>
                <a:spcPct val="20000"/>
              </a:spcBef>
              <a:spcAft>
                <a:spcPct val="0"/>
              </a:spcAft>
              <a:buClrTx/>
              <a:buSzTx/>
              <a:buFont typeface="Monotype Sorts" pitchFamily="2" charset="2"/>
              <a:buChar char="l"/>
              <a:defRPr/>
            </a:pPr>
            <a:endParaRPr kumimoji="0" lang="zh-CN" altLang="en-US" sz="21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800100" marR="0" lvl="1" indent="-342900" algn="l" defTabSz="914400" rtl="0" eaLnBrk="0" fontAlgn="base" latinLnBrk="0" hangingPunct="0">
              <a:lnSpc>
                <a:spcPct val="110000"/>
              </a:lnSpc>
              <a:spcBef>
                <a:spcPts val="0"/>
              </a:spcBef>
              <a:spcAft>
                <a:spcPct val="0"/>
              </a:spcAft>
              <a:buClr>
                <a:schemeClr val="accent1">
                  <a:lumMod val="75000"/>
                </a:schemeClr>
              </a:buClr>
              <a:buSzTx/>
              <a:buFont typeface="Wingdings" panose="05000000000000000000" pitchFamily="2" charset="2"/>
              <a:buChar char="n"/>
              <a:defRPr/>
            </a:pPr>
            <a:r>
              <a:rPr kumimoji="0" lang="zh-CN" altLang="en-US" sz="2800" b="1" i="0" u="none" strike="noStrike" kern="1200" cap="none" spc="0" normalizeH="0" baseline="0" noProof="0" dirty="0">
                <a:ln>
                  <a:noFill/>
                </a:ln>
                <a:solidFill>
                  <a:srgbClr val="FFFF00"/>
                </a:solidFill>
                <a:effectLst/>
                <a:uLnTx/>
                <a:uFillTx/>
                <a:latin typeface="华文新魏" panose="02010800040101010101" pitchFamily="2" charset="-122"/>
                <a:ea typeface="华文新魏" panose="02010800040101010101" pitchFamily="2" charset="-122"/>
                <a:cs typeface="+mn-cs"/>
              </a:rPr>
              <a:t>边界对齐</a:t>
            </a:r>
            <a:endParaRPr kumimoji="0" lang="en-US" altLang="zh-CN" sz="2800" b="1" i="0" u="none" strike="noStrike" kern="1200" cap="none" spc="0" normalizeH="0" baseline="0" noProof="0" dirty="0">
              <a:ln>
                <a:noFill/>
              </a:ln>
              <a:solidFill>
                <a:srgbClr val="FFFF00"/>
              </a:solidFill>
              <a:effectLst/>
              <a:uLnTx/>
              <a:uFillTx/>
              <a:latin typeface="华文新魏" panose="02010800040101010101" pitchFamily="2" charset="-122"/>
              <a:ea typeface="华文新魏" panose="02010800040101010101" pitchFamily="2" charset="-122"/>
              <a:cs typeface="+mn-cs"/>
            </a:endParaRPr>
          </a:p>
          <a:p>
            <a:pPr marL="800100" marR="0" lvl="1" indent="-342900" algn="l" defTabSz="914400" rtl="0" eaLnBrk="0" fontAlgn="base" latinLnBrk="0" hangingPunct="0">
              <a:lnSpc>
                <a:spcPct val="110000"/>
              </a:lnSpc>
              <a:spcBef>
                <a:spcPct val="20000"/>
              </a:spcBef>
              <a:spcAft>
                <a:spcPct val="0"/>
              </a:spcAft>
              <a:buClr>
                <a:schemeClr val="accent1">
                  <a:lumMod val="75000"/>
                </a:schemeClr>
              </a:buClr>
              <a:buSzTx/>
              <a:buFont typeface="Wingdings" panose="05000000000000000000" pitchFamily="2" charset="2"/>
              <a:buChar char="n"/>
              <a:defRPr/>
            </a:pPr>
            <a:endParaRPr kumimoji="0" lang="en-US" altLang="zh-CN"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800100" marR="0" lvl="1" indent="-342900" algn="l" defTabSz="914400" rtl="0" eaLnBrk="0" fontAlgn="base" latinLnBrk="0" hangingPunct="0">
              <a:lnSpc>
                <a:spcPct val="110000"/>
              </a:lnSpc>
              <a:spcBef>
                <a:spcPct val="20000"/>
              </a:spcBef>
              <a:spcAft>
                <a:spcPct val="0"/>
              </a:spcAft>
              <a:buClr>
                <a:schemeClr val="accent1">
                  <a:lumMod val="75000"/>
                </a:schemeClr>
              </a:buClr>
              <a:buSzTx/>
              <a:buFont typeface="Wingdings" panose="05000000000000000000" pitchFamily="2" charset="2"/>
              <a:buChar char="n"/>
              <a:defRPr/>
            </a:pPr>
            <a:endParaRPr kumimoji="0" lang="en-US" altLang="zh-CN"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800100" marR="0" lvl="1" indent="-342900" algn="l" defTabSz="914400" rtl="0" eaLnBrk="0" fontAlgn="base" latinLnBrk="0" hangingPunct="0">
              <a:lnSpc>
                <a:spcPct val="110000"/>
              </a:lnSpc>
              <a:spcBef>
                <a:spcPct val="20000"/>
              </a:spcBef>
              <a:spcAft>
                <a:spcPct val="0"/>
              </a:spcAft>
              <a:buClr>
                <a:schemeClr val="accent1">
                  <a:lumMod val="75000"/>
                </a:schemeClr>
              </a:buClr>
              <a:buSzTx/>
              <a:buFont typeface="Wingdings" panose="05000000000000000000" pitchFamily="2" charset="2"/>
              <a:buChar char="n"/>
              <a:defRPr/>
            </a:pPr>
            <a:endParaRPr kumimoji="0" lang="en-US" altLang="zh-CN" sz="2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800100" marR="0" lvl="1" indent="-342900" algn="l" defTabSz="914400" rtl="0" eaLnBrk="0" fontAlgn="base" latinLnBrk="0" hangingPunct="0">
              <a:lnSpc>
                <a:spcPct val="110000"/>
              </a:lnSpc>
              <a:spcBef>
                <a:spcPts val="0"/>
              </a:spcBef>
              <a:spcAft>
                <a:spcPct val="0"/>
              </a:spcAft>
              <a:buClr>
                <a:schemeClr val="accent1">
                  <a:lumMod val="75000"/>
                </a:schemeClr>
              </a:buClr>
              <a:buSzTx/>
              <a:buFont typeface="Wingdings" panose="05000000000000000000" pitchFamily="2" charset="2"/>
              <a:buChar char="n"/>
              <a:defRPr/>
            </a:pPr>
            <a:r>
              <a:rPr kumimoji="0" lang="zh-CN" altLang="en-US" sz="2800" b="1" i="0" u="none" strike="noStrike" kern="1200" cap="none" spc="0" normalizeH="0" baseline="0" noProof="0" dirty="0">
                <a:ln>
                  <a:noFill/>
                </a:ln>
                <a:solidFill>
                  <a:srgbClr val="FFFF00"/>
                </a:solidFill>
                <a:effectLst/>
                <a:uLnTx/>
                <a:uFillTx/>
                <a:latin typeface="华文新魏" panose="02010800040101010101" pitchFamily="2" charset="-122"/>
                <a:ea typeface="华文新魏" panose="02010800040101010101" pitchFamily="2" charset="-122"/>
                <a:cs typeface="+mn-cs"/>
              </a:rPr>
              <a:t>边界不对齐</a:t>
            </a:r>
            <a:endParaRPr kumimoji="0" lang="zh-CN" altLang="en-US" sz="2800" b="1" i="0" u="none" strike="noStrike" kern="1200" cap="none" spc="0" normalizeH="0" baseline="0" noProof="0" dirty="0">
              <a:ln>
                <a:noFill/>
              </a:ln>
              <a:solidFill>
                <a:srgbClr val="FFFF00"/>
              </a:solidFill>
              <a:effectLst/>
              <a:uLnTx/>
              <a:uFillTx/>
              <a:latin typeface="华文新魏" panose="02010800040101010101" pitchFamily="2" charset="-122"/>
              <a:ea typeface="华文新魏" panose="02010800040101010101" pitchFamily="2" charset="-122"/>
              <a:cs typeface="+mn-cs"/>
            </a:endParaRPr>
          </a:p>
          <a:p>
            <a:pPr marL="457200" marR="0" lvl="1" indent="0" algn="l" defTabSz="914400" rtl="0" eaLnBrk="0" fontAlgn="base" latinLnBrk="0" hangingPunct="0">
              <a:lnSpc>
                <a:spcPct val="110000"/>
              </a:lnSpc>
              <a:spcBef>
                <a:spcPct val="20000"/>
              </a:spcBef>
              <a:spcAft>
                <a:spcPct val="0"/>
              </a:spcAft>
              <a:buClr>
                <a:schemeClr val="accent1">
                  <a:lumMod val="75000"/>
                </a:schemeClr>
              </a:buClr>
              <a:buSzTx/>
              <a:buFontTx/>
              <a:buNone/>
              <a:defRPr/>
            </a:pPr>
            <a:endParaRPr kumimoji="0" lang="zh-CN" altLang="en-US" sz="2000" b="1" i="0" u="none" strike="noStrike" kern="120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n-cs"/>
            </a:endParaRPr>
          </a:p>
          <a:p>
            <a:pPr marL="342900" marR="0" lvl="0" indent="-342900" algn="ctr" defTabSz="914400" rtl="0" eaLnBrk="0" fontAlgn="base" latinLnBrk="0" hangingPunct="0">
              <a:lnSpc>
                <a:spcPct val="110000"/>
              </a:lnSpc>
              <a:spcBef>
                <a:spcPct val="20000"/>
              </a:spcBef>
              <a:spcAft>
                <a:spcPct val="0"/>
              </a:spcAft>
              <a:buClrTx/>
              <a:buSzTx/>
              <a:buFont typeface="Monotype Sorts" pitchFamily="2" charset="2"/>
              <a:buChar char="l"/>
              <a:defRPr/>
            </a:pPr>
            <a:endParaRPr kumimoji="0" lang="zh-CN" altLang="en-US" sz="3200" b="1" i="0" u="none" strike="noStrike" kern="120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n-cs"/>
            </a:endParaRPr>
          </a:p>
          <a:p>
            <a:pPr marL="342900" marR="0" lvl="0" indent="-342900" algn="ctr" defTabSz="914400" rtl="0" eaLnBrk="0" fontAlgn="base" latinLnBrk="0" hangingPunct="0">
              <a:lnSpc>
                <a:spcPct val="110000"/>
              </a:lnSpc>
              <a:spcBef>
                <a:spcPct val="20000"/>
              </a:spcBef>
              <a:spcAft>
                <a:spcPct val="0"/>
              </a:spcAft>
              <a:buClrTx/>
              <a:buSzTx/>
              <a:buFontTx/>
              <a:buNone/>
              <a:defRPr/>
            </a:pPr>
            <a:endParaRPr kumimoji="0" lang="en-US" altLang="zh-CN" sz="2900" b="1" i="0" u="none" strike="noStrike" kern="120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n-cs"/>
            </a:endParaRPr>
          </a:p>
          <a:p>
            <a:pPr marL="342900" marR="0" lvl="0" indent="-342900" algn="ctr" defTabSz="914400" rtl="0" eaLnBrk="0" fontAlgn="base" latinLnBrk="0" hangingPunct="0">
              <a:lnSpc>
                <a:spcPct val="110000"/>
              </a:lnSpc>
              <a:spcBef>
                <a:spcPts val="0"/>
              </a:spcBef>
              <a:spcAft>
                <a:spcPct val="0"/>
              </a:spcAft>
              <a:buClrTx/>
              <a:buSzTx/>
              <a:buFontTx/>
              <a:buNone/>
              <a:defRPr/>
            </a:pPr>
            <a:endParaRPr kumimoji="0" lang="zh-CN" altLang="en-US" sz="2900" b="1" i="0" u="none" strike="noStrike" kern="120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n-cs"/>
            </a:endParaRPr>
          </a:p>
        </p:txBody>
      </p:sp>
      <p:sp>
        <p:nvSpPr>
          <p:cNvPr id="30723" name="Rectangle 59"/>
          <p:cNvSpPr>
            <a:spLocks noGrp="1"/>
          </p:cNvSpPr>
          <p:nvPr>
            <p:ph type="title"/>
          </p:nvPr>
        </p:nvSpPr>
        <p:spPr>
          <a:xfrm>
            <a:off x="1235075" y="204788"/>
            <a:ext cx="7180263" cy="719137"/>
          </a:xfrm>
          <a:ln/>
        </p:spPr>
        <p:txBody>
          <a:bodyPr vert="horz" wrap="square" lIns="91440" tIns="45720" rIns="91440" bIns="45720" anchor="t" anchorCtr="0">
            <a:spAutoFit/>
          </a:bodyPr>
          <a:p>
            <a:r>
              <a:rPr lang="zh-CN" altLang="en-US" dirty="0">
                <a:effectLst/>
              </a:rPr>
              <a:t>数据对齐举例</a:t>
            </a:r>
            <a:endParaRPr lang="zh-CN" altLang="en-US" dirty="0">
              <a:effectLst/>
            </a:endParaRPr>
          </a:p>
        </p:txBody>
      </p:sp>
      <p:sp>
        <p:nvSpPr>
          <p:cNvPr id="45062" name="Text Box 60"/>
          <p:cNvSpPr txBox="1">
            <a:spLocks noChangeArrowheads="1"/>
          </p:cNvSpPr>
          <p:nvPr/>
        </p:nvSpPr>
        <p:spPr bwMode="auto">
          <a:xfrm>
            <a:off x="1284288" y="1298575"/>
            <a:ext cx="7462838" cy="482600"/>
          </a:xfrm>
          <a:prstGeom prst="rect">
            <a:avLst/>
          </a:prstGeom>
          <a:noFill/>
          <a:ln w="12700">
            <a:noFill/>
            <a:miter lim="800000"/>
          </a:ln>
        </p:spPr>
        <p:txBody>
          <a:bodyPr lIns="63500" tIns="25400" rIns="63500" bIns="25400">
            <a:spAutoFit/>
          </a:bodyPr>
          <a:lstStyle/>
          <a:p>
            <a:pPr marR="0" defTabSz="914400">
              <a:spcBef>
                <a:spcPct val="50000"/>
              </a:spcBef>
              <a:buClrTx/>
              <a:buSzTx/>
              <a:buFontTx/>
              <a:buNone/>
              <a:defRPr/>
            </a:pPr>
            <a:r>
              <a:rPr kumimoji="0" lang="en-US" altLang="zh-CN" sz="2800"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 </a:t>
            </a:r>
            <a:r>
              <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如：</a:t>
            </a:r>
            <a:r>
              <a:rPr kumimoji="0" lang="en-US" altLang="zh-CN" kern="1200" cap="none" spc="0" normalizeH="0" baseline="0" noProof="0" dirty="0" err="1">
                <a:solidFill>
                  <a:schemeClr val="tx1"/>
                </a:solidFill>
                <a:latin typeface="Times New Roman" panose="02020603050405020304" pitchFamily="18" charset="0"/>
                <a:ea typeface="+mn-ea"/>
                <a:cs typeface="Times New Roman" panose="02020603050405020304" pitchFamily="18" charset="0"/>
              </a:rPr>
              <a:t>int</a:t>
            </a:r>
            <a:r>
              <a:rPr kumimoji="0" lang="en-US" altLang="zh-CN"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 </a:t>
            </a:r>
            <a:r>
              <a:rPr kumimoji="0" lang="en-US" altLang="zh-CN" kern="1200" cap="none" spc="0" normalizeH="0" baseline="0" noProof="0" dirty="0" err="1">
                <a:solidFill>
                  <a:schemeClr val="tx1"/>
                </a:solidFill>
                <a:latin typeface="Times New Roman" panose="02020603050405020304" pitchFamily="18" charset="0"/>
                <a:ea typeface="+mn-ea"/>
                <a:cs typeface="Times New Roman" panose="02020603050405020304" pitchFamily="18" charset="0"/>
              </a:rPr>
              <a:t>i</a:t>
            </a:r>
            <a:r>
              <a:rPr kumimoji="0" lang="en-US" altLang="zh-CN"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 short k, double x, char c, short j,……  </a:t>
            </a:r>
            <a:endPar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endParaRPr>
          </a:p>
        </p:txBody>
      </p:sp>
      <p:sp>
        <p:nvSpPr>
          <p:cNvPr id="224318" name="Text Box 62"/>
          <p:cNvSpPr txBox="1">
            <a:spLocks noChangeArrowheads="1"/>
          </p:cNvSpPr>
          <p:nvPr/>
        </p:nvSpPr>
        <p:spPr bwMode="auto">
          <a:xfrm>
            <a:off x="3348038" y="6416675"/>
            <a:ext cx="5794375" cy="390525"/>
          </a:xfrm>
          <a:prstGeom prst="rect">
            <a:avLst/>
          </a:prstGeom>
          <a:noFill/>
          <a:ln w="12700">
            <a:noFill/>
            <a:miter lim="800000"/>
          </a:ln>
        </p:spPr>
        <p:txBody>
          <a:bodyPr lIns="63500" tIns="25400" rIns="63500" bIns="25400">
            <a:spAutoFit/>
          </a:bodyPr>
          <a:lstStyle/>
          <a:p>
            <a:pPr marR="0" algn="ctr" defTabSz="914400">
              <a:spcBef>
                <a:spcPct val="50000"/>
              </a:spcBef>
              <a:buClrTx/>
              <a:buSzTx/>
              <a:buFontTx/>
              <a:buNone/>
              <a:defRPr/>
            </a:pPr>
            <a:r>
              <a:rPr kumimoji="0" lang="en-US" altLang="zh-CN" sz="2200"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 </a:t>
            </a:r>
            <a:r>
              <a:rPr kumimoji="0" lang="zh-CN" altLang="en-US" sz="2200"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则： </a:t>
            </a:r>
            <a:r>
              <a:rPr kumimoji="0" lang="en-US" altLang="zh-CN" sz="2200"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&amp;i=0; &amp;k=4; &amp;x=6; &amp;c=14; &amp;j=15;…</a:t>
            </a:r>
            <a:endParaRPr kumimoji="0" lang="zh-CN" altLang="en-US" sz="2200" kern="1200" cap="none" spc="0" normalizeH="0" baseline="0" noProof="0" dirty="0">
              <a:solidFill>
                <a:schemeClr val="tx1"/>
              </a:solidFill>
              <a:latin typeface="Times New Roman" panose="02020603050405020304" pitchFamily="18" charset="0"/>
              <a:ea typeface="+mn-ea"/>
              <a:cs typeface="Times New Roman" panose="02020603050405020304" pitchFamily="18" charset="0"/>
            </a:endParaRPr>
          </a:p>
        </p:txBody>
      </p:sp>
      <p:sp>
        <p:nvSpPr>
          <p:cNvPr id="224319" name="Text Box 63"/>
          <p:cNvSpPr txBox="1">
            <a:spLocks noChangeArrowheads="1"/>
          </p:cNvSpPr>
          <p:nvPr/>
        </p:nvSpPr>
        <p:spPr bwMode="auto">
          <a:xfrm>
            <a:off x="1465263" y="4859338"/>
            <a:ext cx="1698625" cy="863600"/>
          </a:xfrm>
          <a:prstGeom prst="rect">
            <a:avLst/>
          </a:prstGeom>
          <a:noFill/>
          <a:ln w="12700">
            <a:noFill/>
            <a:miter lim="800000"/>
          </a:ln>
        </p:spPr>
        <p:txBody>
          <a:bodyPr lIns="63500" tIns="25400" rIns="63500" bIns="25400">
            <a:spAutoFit/>
          </a:bodyPr>
          <a:lstStyle/>
          <a:p>
            <a:pPr marR="0" algn="ctr" defTabSz="914400">
              <a:spcBef>
                <a:spcPct val="20000"/>
              </a:spcBef>
              <a:buClrTx/>
              <a:buSzTx/>
              <a:buFontTx/>
              <a:buNone/>
              <a:defRPr/>
            </a:pPr>
            <a:r>
              <a:rPr kumimoji="0" lang="en-US" altLang="zh-CN"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x</a:t>
            </a:r>
            <a:r>
              <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a:t>
            </a:r>
            <a:r>
              <a:rPr kumimoji="0" lang="en-US" altLang="zh-CN"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3</a:t>
            </a:r>
            <a:r>
              <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个周期</a:t>
            </a:r>
            <a:endPar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endParaRPr>
          </a:p>
          <a:p>
            <a:pPr marR="0" algn="ctr" defTabSz="914400">
              <a:spcBef>
                <a:spcPct val="20000"/>
              </a:spcBef>
              <a:buClrTx/>
              <a:buSzTx/>
              <a:buFontTx/>
              <a:buNone/>
              <a:defRPr/>
            </a:pPr>
            <a:r>
              <a:rPr kumimoji="0" lang="en-US" altLang="zh-CN"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j</a:t>
            </a:r>
            <a:r>
              <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a:t>
            </a:r>
            <a:r>
              <a:rPr kumimoji="0" lang="en-US" altLang="zh-CN"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2</a:t>
            </a:r>
            <a:r>
              <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个周期</a:t>
            </a:r>
            <a:endPar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endParaRPr>
          </a:p>
        </p:txBody>
      </p:sp>
      <p:sp>
        <p:nvSpPr>
          <p:cNvPr id="224320" name="Text Box 64"/>
          <p:cNvSpPr txBox="1">
            <a:spLocks noChangeArrowheads="1"/>
          </p:cNvSpPr>
          <p:nvPr/>
        </p:nvSpPr>
        <p:spPr bwMode="auto">
          <a:xfrm>
            <a:off x="1462088" y="2930525"/>
            <a:ext cx="1698625" cy="863600"/>
          </a:xfrm>
          <a:prstGeom prst="rect">
            <a:avLst/>
          </a:prstGeom>
          <a:noFill/>
          <a:ln w="12700">
            <a:noFill/>
            <a:miter lim="800000"/>
          </a:ln>
        </p:spPr>
        <p:txBody>
          <a:bodyPr lIns="63500" tIns="25400" rIns="63500" bIns="25400">
            <a:spAutoFit/>
          </a:bodyPr>
          <a:lstStyle/>
          <a:p>
            <a:pPr marR="0" algn="ctr" defTabSz="914400">
              <a:spcBef>
                <a:spcPct val="20000"/>
              </a:spcBef>
              <a:buClrTx/>
              <a:buSzTx/>
              <a:buFontTx/>
              <a:buNone/>
              <a:defRPr/>
            </a:pPr>
            <a:r>
              <a:rPr kumimoji="0" lang="en-US" altLang="zh-CN"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x</a:t>
            </a:r>
            <a:r>
              <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a:t>
            </a:r>
            <a:r>
              <a:rPr kumimoji="0" lang="en-US" altLang="zh-CN"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2</a:t>
            </a:r>
            <a:r>
              <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个周期</a:t>
            </a:r>
            <a:endPar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endParaRPr>
          </a:p>
          <a:p>
            <a:pPr marR="0" algn="ctr" defTabSz="914400">
              <a:spcBef>
                <a:spcPct val="20000"/>
              </a:spcBef>
              <a:buClrTx/>
              <a:buSzTx/>
              <a:buFontTx/>
              <a:buNone/>
              <a:defRPr/>
            </a:pPr>
            <a:r>
              <a:rPr kumimoji="0" lang="en-US" altLang="zh-CN"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j</a:t>
            </a:r>
            <a:r>
              <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a:t>
            </a:r>
            <a:r>
              <a:rPr kumimoji="0" lang="en-US" altLang="zh-CN"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1</a:t>
            </a:r>
            <a:r>
              <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个周期</a:t>
            </a:r>
            <a:endParaRPr kumimoji="0" lang="zh-CN" altLang="en-US" kern="1200" cap="none" spc="0" normalizeH="0" baseline="0" noProof="0" dirty="0">
              <a:solidFill>
                <a:schemeClr val="tx1"/>
              </a:solidFill>
              <a:latin typeface="Times New Roman" panose="02020603050405020304" pitchFamily="18" charset="0"/>
              <a:ea typeface="+mn-ea"/>
              <a:cs typeface="Times New Roman" panose="02020603050405020304" pitchFamily="18" charset="0"/>
            </a:endParaRPr>
          </a:p>
        </p:txBody>
      </p:sp>
      <p:sp>
        <p:nvSpPr>
          <p:cNvPr id="224321" name="Text Box 65"/>
          <p:cNvSpPr txBox="1">
            <a:spLocks noChangeArrowheads="1"/>
          </p:cNvSpPr>
          <p:nvPr/>
        </p:nvSpPr>
        <p:spPr bwMode="auto">
          <a:xfrm>
            <a:off x="582613" y="5886450"/>
            <a:ext cx="3286125" cy="482600"/>
          </a:xfrm>
          <a:prstGeom prst="rect">
            <a:avLst/>
          </a:prstGeom>
          <a:noFill/>
          <a:ln w="12700">
            <a:noFill/>
            <a:miter lim="800000"/>
          </a:ln>
        </p:spPr>
        <p:txBody>
          <a:bodyPr lIns="63500" tIns="25400" rIns="63500" bIns="25400">
            <a:spAutoFit/>
          </a:bodyPr>
          <a:lstStyle/>
          <a:p>
            <a:pPr marR="0" algn="ctr" defTabSz="914400">
              <a:spcBef>
                <a:spcPct val="50000"/>
              </a:spcBef>
              <a:buClrTx/>
              <a:buSzTx/>
              <a:buFontTx/>
              <a:buNone/>
              <a:defRPr/>
            </a:pPr>
            <a:r>
              <a:rPr kumimoji="0" lang="zh-CN" altLang="en-US" sz="2800" kern="1200" cap="none" spc="0" normalizeH="0" baseline="0" noProof="0" dirty="0">
                <a:solidFill>
                  <a:srgbClr val="FF0000"/>
                </a:solidFill>
                <a:latin typeface="+mn-ea"/>
                <a:ea typeface="+mn-ea"/>
                <a:cs typeface="+mn-cs"/>
              </a:rPr>
              <a:t>增加了访存次数！</a:t>
            </a:r>
            <a:endParaRPr kumimoji="0" lang="zh-CN" altLang="en-US" sz="2800" kern="1200" cap="none" spc="0" normalizeH="0" baseline="0" noProof="0" dirty="0">
              <a:solidFill>
                <a:srgbClr val="FF0000"/>
              </a:solidFill>
              <a:latin typeface="+mn-ea"/>
              <a:ea typeface="+mn-ea"/>
              <a:cs typeface="+mn-cs"/>
            </a:endParaRPr>
          </a:p>
        </p:txBody>
      </p:sp>
      <p:sp>
        <p:nvSpPr>
          <p:cNvPr id="224317" name="Text Box 61"/>
          <p:cNvSpPr txBox="1">
            <a:spLocks noChangeArrowheads="1"/>
          </p:cNvSpPr>
          <p:nvPr/>
        </p:nvSpPr>
        <p:spPr bwMode="auto">
          <a:xfrm>
            <a:off x="3313113" y="4010025"/>
            <a:ext cx="5829300" cy="390525"/>
          </a:xfrm>
          <a:prstGeom prst="rect">
            <a:avLst/>
          </a:prstGeom>
          <a:noFill/>
          <a:ln w="12700">
            <a:noFill/>
            <a:miter lim="800000"/>
          </a:ln>
        </p:spPr>
        <p:txBody>
          <a:bodyPr lIns="63500" tIns="25400" rIns="63500" bIns="25400">
            <a:spAutoFit/>
          </a:bodyPr>
          <a:lstStyle/>
          <a:p>
            <a:pPr marR="0" algn="ctr" defTabSz="914400">
              <a:spcBef>
                <a:spcPct val="50000"/>
              </a:spcBef>
              <a:buClrTx/>
              <a:buSzTx/>
              <a:buFontTx/>
              <a:buNone/>
              <a:defRPr/>
            </a:pPr>
            <a:r>
              <a:rPr kumimoji="0" lang="en-US" altLang="zh-CN" sz="2200"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 </a:t>
            </a:r>
            <a:r>
              <a:rPr kumimoji="0" lang="zh-CN" altLang="en-US" sz="2200"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则：</a:t>
            </a:r>
            <a:r>
              <a:rPr kumimoji="0" lang="en-US" altLang="zh-CN" sz="2200" kern="1200" cap="none" spc="0" normalizeH="0" baseline="0" noProof="0" dirty="0">
                <a:solidFill>
                  <a:schemeClr val="tx1"/>
                </a:solidFill>
                <a:latin typeface="Times New Roman" panose="02020603050405020304" pitchFamily="18" charset="0"/>
                <a:ea typeface="+mn-ea"/>
                <a:cs typeface="Times New Roman" panose="02020603050405020304" pitchFamily="18" charset="0"/>
              </a:rPr>
              <a:t>&amp;i=0; &amp;k=4; &amp;x=8; &amp;c=16; &amp;j=20;…</a:t>
            </a:r>
            <a:endParaRPr kumimoji="0" lang="zh-CN" altLang="en-US" sz="2200" kern="1200" cap="none" spc="0" normalizeH="0" baseline="0" noProof="0" dirty="0">
              <a:solidFill>
                <a:schemeClr val="tx1"/>
              </a:solidFill>
              <a:latin typeface="Times New Roman" panose="02020603050405020304" pitchFamily="18" charset="0"/>
              <a:ea typeface="+mn-ea"/>
              <a:cs typeface="Times New Roman" panose="02020603050405020304" pitchFamily="18" charset="0"/>
            </a:endParaRPr>
          </a:p>
        </p:txBody>
      </p:sp>
      <p:grpSp>
        <p:nvGrpSpPr>
          <p:cNvPr id="2" name="Group 31"/>
          <p:cNvGrpSpPr/>
          <p:nvPr/>
        </p:nvGrpSpPr>
        <p:grpSpPr>
          <a:xfrm>
            <a:off x="3673475" y="4413250"/>
            <a:ext cx="4602163" cy="2000250"/>
            <a:chOff x="1591" y="2597"/>
            <a:chExt cx="2681" cy="1260"/>
          </a:xfrm>
        </p:grpSpPr>
        <p:sp>
          <p:nvSpPr>
            <p:cNvPr id="30761" name="Text Box 32"/>
            <p:cNvSpPr txBox="1"/>
            <p:nvPr/>
          </p:nvSpPr>
          <p:spPr>
            <a:xfrm>
              <a:off x="1591" y="2829"/>
              <a:ext cx="291" cy="102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r>
                <a:rPr lang="en-US" altLang="zh-CN" sz="2000" dirty="0">
                  <a:solidFill>
                    <a:schemeClr val="tx2"/>
                  </a:solidFill>
                  <a:latin typeface="Times New Roman" panose="02020603050405020304" pitchFamily="18" charset="0"/>
                  <a:ea typeface="宋体" panose="02010600030101010101" pitchFamily="2" charset="-122"/>
                </a:rPr>
                <a:t>0004081216</a:t>
              </a:r>
              <a:endParaRPr lang="en-US" altLang="zh-CN" sz="2000" dirty="0">
                <a:solidFill>
                  <a:schemeClr val="tx2"/>
                </a:solidFill>
                <a:latin typeface="Times New Roman" panose="02020603050405020304" pitchFamily="18" charset="0"/>
                <a:ea typeface="宋体" panose="02010600030101010101" pitchFamily="2" charset="-122"/>
              </a:endParaRPr>
            </a:p>
          </p:txBody>
        </p:sp>
        <p:sp>
          <p:nvSpPr>
            <p:cNvPr id="30762" name="Line 33"/>
            <p:cNvSpPr/>
            <p:nvPr/>
          </p:nvSpPr>
          <p:spPr>
            <a:xfrm>
              <a:off x="1872" y="3822"/>
              <a:ext cx="2400" cy="0"/>
            </a:xfrm>
            <a:prstGeom prst="line">
              <a:avLst/>
            </a:prstGeom>
            <a:ln w="38100" cap="flat" cmpd="sng">
              <a:solidFill>
                <a:schemeClr val="tx1"/>
              </a:solidFill>
              <a:prstDash val="solid"/>
              <a:headEnd type="none" w="med" len="med"/>
              <a:tailEnd type="none" w="med" len="med"/>
            </a:ln>
          </p:spPr>
        </p:sp>
        <p:sp>
          <p:nvSpPr>
            <p:cNvPr id="44046" name="Text Box 34" descr="新闻纸"/>
            <p:cNvSpPr txBox="1">
              <a:spLocks noChangeArrowheads="1"/>
            </p:cNvSpPr>
            <p:nvPr/>
          </p:nvSpPr>
          <p:spPr bwMode="auto">
            <a:xfrm>
              <a:off x="1872" y="2862"/>
              <a:ext cx="2400" cy="192"/>
            </a:xfrm>
            <a:prstGeom prst="rect">
              <a:avLst/>
            </a:prstGeom>
            <a:solidFill>
              <a:schemeClr val="accent4">
                <a:lumMod val="90000"/>
              </a:schemeClr>
            </a:solidFill>
            <a:ln w="38100">
              <a:solidFill>
                <a:schemeClr val="tx1"/>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764" name="Text Box 35" descr="宽上对角线"/>
            <p:cNvSpPr txBox="1"/>
            <p:nvPr/>
          </p:nvSpPr>
          <p:spPr>
            <a:xfrm>
              <a:off x="1872" y="3054"/>
              <a:ext cx="1152" cy="192"/>
            </a:xfrm>
            <a:prstGeom prst="rect">
              <a:avLst/>
            </a:prstGeom>
            <a:solidFill>
              <a:srgbClr val="00FF00"/>
            </a:solidFill>
            <a:ln w="38100" cap="flat" cmpd="sng">
              <a:solidFill>
                <a:schemeClr val="tx1"/>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endParaRPr lang="zh-CN" altLang="en-US" sz="2400" dirty="0">
                <a:latin typeface="Times New Roman" panose="02020603050405020304" pitchFamily="18" charset="0"/>
                <a:ea typeface="宋体" panose="02010600030101010101" pitchFamily="2" charset="-122"/>
              </a:endParaRPr>
            </a:p>
          </p:txBody>
        </p:sp>
        <p:sp>
          <p:nvSpPr>
            <p:cNvPr id="30765" name="Text Box 36" descr="信纸"/>
            <p:cNvSpPr txBox="1"/>
            <p:nvPr/>
          </p:nvSpPr>
          <p:spPr>
            <a:xfrm>
              <a:off x="1872" y="3246"/>
              <a:ext cx="2400" cy="192"/>
            </a:xfrm>
            <a:prstGeom prst="rect">
              <a:avLst/>
            </a:prstGeom>
            <a:blipFill rotWithShape="0">
              <a:blip r:embed="rId5"/>
            </a:blipFill>
            <a:ln w="38100">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endParaRPr lang="zh-CN" altLang="en-US" sz="2400" dirty="0">
                <a:latin typeface="Times New Roman" panose="02020603050405020304" pitchFamily="18" charset="0"/>
                <a:ea typeface="宋体" panose="02010600030101010101" pitchFamily="2" charset="-122"/>
              </a:endParaRPr>
            </a:p>
          </p:txBody>
        </p:sp>
        <p:sp>
          <p:nvSpPr>
            <p:cNvPr id="30766" name="Text Box 37" descr="宽上对角线"/>
            <p:cNvSpPr txBox="1"/>
            <p:nvPr/>
          </p:nvSpPr>
          <p:spPr>
            <a:xfrm>
              <a:off x="3648" y="3438"/>
              <a:ext cx="624" cy="192"/>
            </a:xfrm>
            <a:prstGeom prst="rect">
              <a:avLst/>
            </a:prstGeom>
            <a:solidFill>
              <a:schemeClr val="accent2"/>
            </a:solidFill>
            <a:ln w="38100" cap="flat" cmpd="sng">
              <a:solidFill>
                <a:schemeClr val="tx1"/>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endParaRPr lang="zh-CN" altLang="en-US" sz="2400" dirty="0">
                <a:latin typeface="Times New Roman" panose="02020603050405020304" pitchFamily="18" charset="0"/>
                <a:ea typeface="宋体" panose="02010600030101010101" pitchFamily="2" charset="-122"/>
              </a:endParaRPr>
            </a:p>
          </p:txBody>
        </p:sp>
        <p:sp>
          <p:nvSpPr>
            <p:cNvPr id="45074" name="Text Box 38"/>
            <p:cNvSpPr txBox="1">
              <a:spLocks noChangeArrowheads="1"/>
            </p:cNvSpPr>
            <p:nvPr/>
          </p:nvSpPr>
          <p:spPr bwMode="auto">
            <a:xfrm>
              <a:off x="1872" y="2597"/>
              <a:ext cx="2400" cy="250"/>
            </a:xfrm>
            <a:prstGeom prst="rect">
              <a:avLst/>
            </a:prstGeom>
            <a:noFill/>
            <a:ln w="9525">
              <a:noFill/>
              <a:miter lim="800000"/>
            </a:ln>
          </p:spPr>
          <p:txBody>
            <a:bodyPr>
              <a:spAutoFit/>
            </a:bodyPr>
            <a:lstStyle/>
            <a:p>
              <a:pPr marR="0" algn="ctr" defTabSz="914400" eaLnBrk="1" hangingPunct="1">
                <a:spcBef>
                  <a:spcPct val="50000"/>
                </a:spcBef>
                <a:buClrTx/>
                <a:buSzTx/>
                <a:buFontTx/>
                <a:buNone/>
                <a:defRPr/>
              </a:pPr>
              <a:r>
                <a:rPr kumimoji="0" lang="en-US" altLang="zh-CN" sz="2000" kern="1200" cap="none" spc="0" normalizeH="0" baseline="0" noProof="0" dirty="0">
                  <a:latin typeface="Times New Roman" panose="02020603050405020304" pitchFamily="18" charset="0"/>
                  <a:ea typeface="+mn-ea"/>
                  <a:cs typeface="Times New Roman" panose="02020603050405020304" pitchFamily="18" charset="0"/>
                </a:rPr>
                <a:t>0</a:t>
              </a:r>
              <a:r>
                <a:rPr kumimoji="0" lang="zh-CN" altLang="zh-CN" sz="2000" kern="1200" cap="none" spc="0" normalizeH="0" baseline="0" noProof="0" dirty="0">
                  <a:latin typeface="Times New Roman" panose="02020603050405020304" pitchFamily="18" charset="0"/>
                  <a:ea typeface="+mn-ea"/>
                  <a:cs typeface="Times New Roman" panose="02020603050405020304" pitchFamily="18" charset="0"/>
                </a:rPr>
                <a:t> 字节    1字节     2字节     3字节</a:t>
              </a:r>
              <a:endParaRPr kumimoji="0" lang="zh-CN" altLang="en-US" kern="1200" cap="none" spc="0" normalizeH="0" baseline="0" noProof="0" dirty="0">
                <a:latin typeface="Times New Roman" panose="02020603050405020304" pitchFamily="18" charset="0"/>
                <a:ea typeface="+mn-ea"/>
                <a:cs typeface="Times New Roman" panose="02020603050405020304" pitchFamily="18" charset="0"/>
              </a:endParaRPr>
            </a:p>
          </p:txBody>
        </p:sp>
        <p:sp>
          <p:nvSpPr>
            <p:cNvPr id="30768" name="Rectangle 39"/>
            <p:cNvSpPr/>
            <p:nvPr/>
          </p:nvSpPr>
          <p:spPr>
            <a:xfrm>
              <a:off x="1872" y="2862"/>
              <a:ext cx="2400" cy="960"/>
            </a:xfrm>
            <a:prstGeom prst="rect">
              <a:avLst/>
            </a:prstGeom>
            <a:noFill/>
            <a:ln w="38100"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Times New Roman" panose="02020603050405020304" pitchFamily="18" charset="0"/>
                <a:ea typeface="宋体" panose="02010600030101010101" pitchFamily="2" charset="-122"/>
              </a:endParaRPr>
            </a:p>
          </p:txBody>
        </p:sp>
        <p:sp>
          <p:nvSpPr>
            <p:cNvPr id="30769" name="Line 40"/>
            <p:cNvSpPr/>
            <p:nvPr/>
          </p:nvSpPr>
          <p:spPr>
            <a:xfrm>
              <a:off x="3024" y="2862"/>
              <a:ext cx="0" cy="192"/>
            </a:xfrm>
            <a:prstGeom prst="line">
              <a:avLst/>
            </a:prstGeom>
            <a:ln w="9525" cap="flat" cmpd="sng">
              <a:solidFill>
                <a:schemeClr val="tx1"/>
              </a:solidFill>
              <a:prstDash val="sysDot"/>
              <a:headEnd type="none" w="med" len="med"/>
              <a:tailEnd type="none" w="med" len="med"/>
            </a:ln>
          </p:spPr>
        </p:sp>
        <p:sp>
          <p:nvSpPr>
            <p:cNvPr id="30770" name="Line 41"/>
            <p:cNvSpPr/>
            <p:nvPr/>
          </p:nvSpPr>
          <p:spPr>
            <a:xfrm>
              <a:off x="3024" y="3246"/>
              <a:ext cx="0" cy="384"/>
            </a:xfrm>
            <a:prstGeom prst="line">
              <a:avLst/>
            </a:prstGeom>
            <a:ln w="9525" cap="flat" cmpd="sng">
              <a:solidFill>
                <a:schemeClr val="tx1"/>
              </a:solidFill>
              <a:prstDash val="sysDot"/>
              <a:headEnd type="none" w="med" len="med"/>
              <a:tailEnd type="none" w="med" len="med"/>
            </a:ln>
          </p:spPr>
        </p:sp>
        <p:sp>
          <p:nvSpPr>
            <p:cNvPr id="30771" name="Line 42"/>
            <p:cNvSpPr/>
            <p:nvPr/>
          </p:nvSpPr>
          <p:spPr>
            <a:xfrm>
              <a:off x="1872" y="3438"/>
              <a:ext cx="2400" cy="0"/>
            </a:xfrm>
            <a:prstGeom prst="line">
              <a:avLst/>
            </a:prstGeom>
            <a:ln w="9525" cap="flat" cmpd="sng">
              <a:solidFill>
                <a:schemeClr val="tx1"/>
              </a:solidFill>
              <a:prstDash val="sysDot"/>
              <a:headEnd type="none" w="med" len="med"/>
              <a:tailEnd type="none" w="med" len="med"/>
            </a:ln>
          </p:spPr>
        </p:sp>
        <p:sp>
          <p:nvSpPr>
            <p:cNvPr id="30772" name="Text Box 43" descr="信纸"/>
            <p:cNvSpPr txBox="1"/>
            <p:nvPr/>
          </p:nvSpPr>
          <p:spPr>
            <a:xfrm>
              <a:off x="3024" y="3054"/>
              <a:ext cx="1248" cy="192"/>
            </a:xfrm>
            <a:prstGeom prst="rect">
              <a:avLst/>
            </a:prstGeom>
            <a:blipFill rotWithShape="0">
              <a:blip r:embed="rId5"/>
            </a:blipFill>
            <a:ln w="12700" cap="flat" cmpd="sng">
              <a:solidFill>
                <a:schemeClr val="tx1"/>
              </a:solidFill>
              <a:prstDash val="sysDot"/>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endParaRPr lang="zh-CN" altLang="en-US" sz="2400" dirty="0">
                <a:latin typeface="Times New Roman" panose="02020603050405020304" pitchFamily="18" charset="0"/>
                <a:ea typeface="宋体" panose="02010600030101010101" pitchFamily="2" charset="-122"/>
              </a:endParaRPr>
            </a:p>
          </p:txBody>
        </p:sp>
        <p:sp>
          <p:nvSpPr>
            <p:cNvPr id="30773" name="Text Box 44" descr="信纸"/>
            <p:cNvSpPr txBox="1"/>
            <p:nvPr/>
          </p:nvSpPr>
          <p:spPr>
            <a:xfrm>
              <a:off x="1872" y="3438"/>
              <a:ext cx="1152" cy="192"/>
            </a:xfrm>
            <a:prstGeom prst="rect">
              <a:avLst/>
            </a:prstGeom>
            <a:blipFill rotWithShape="0">
              <a:blip r:embed="rId5"/>
            </a:blipFill>
            <a:ln w="38100">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endParaRPr lang="zh-CN" altLang="en-US" sz="2400" dirty="0">
                <a:latin typeface="Times New Roman" panose="02020603050405020304" pitchFamily="18" charset="0"/>
                <a:ea typeface="宋体" panose="02010600030101010101" pitchFamily="2" charset="-122"/>
              </a:endParaRPr>
            </a:p>
          </p:txBody>
        </p:sp>
        <p:sp>
          <p:nvSpPr>
            <p:cNvPr id="30774" name="Line 45"/>
            <p:cNvSpPr/>
            <p:nvPr/>
          </p:nvSpPr>
          <p:spPr>
            <a:xfrm>
              <a:off x="3024" y="3054"/>
              <a:ext cx="1248" cy="0"/>
            </a:xfrm>
            <a:prstGeom prst="line">
              <a:avLst/>
            </a:prstGeom>
            <a:ln w="38100" cap="flat" cmpd="sng">
              <a:solidFill>
                <a:schemeClr val="tx1"/>
              </a:solidFill>
              <a:prstDash val="solid"/>
              <a:headEnd type="none" w="med" len="med"/>
              <a:tailEnd type="none" w="med" len="med"/>
            </a:ln>
          </p:spPr>
        </p:sp>
        <p:sp>
          <p:nvSpPr>
            <p:cNvPr id="30775" name="Line 46"/>
            <p:cNvSpPr/>
            <p:nvPr/>
          </p:nvSpPr>
          <p:spPr>
            <a:xfrm>
              <a:off x="3024" y="3054"/>
              <a:ext cx="0" cy="192"/>
            </a:xfrm>
            <a:prstGeom prst="line">
              <a:avLst/>
            </a:prstGeom>
            <a:ln w="38100" cap="flat" cmpd="sng">
              <a:solidFill>
                <a:schemeClr val="tx1"/>
              </a:solidFill>
              <a:prstDash val="solid"/>
              <a:headEnd type="none" w="med" len="med"/>
              <a:tailEnd type="none" w="med" len="med"/>
            </a:ln>
          </p:spPr>
        </p:sp>
        <p:sp>
          <p:nvSpPr>
            <p:cNvPr id="30776" name="Line 47"/>
            <p:cNvSpPr/>
            <p:nvPr/>
          </p:nvSpPr>
          <p:spPr>
            <a:xfrm>
              <a:off x="3024" y="3438"/>
              <a:ext cx="0" cy="192"/>
            </a:xfrm>
            <a:prstGeom prst="line">
              <a:avLst/>
            </a:prstGeom>
            <a:ln w="38100" cap="flat" cmpd="sng">
              <a:solidFill>
                <a:schemeClr val="tx1"/>
              </a:solidFill>
              <a:prstDash val="solid"/>
              <a:headEnd type="none" w="med" len="med"/>
              <a:tailEnd type="none" w="med" len="med"/>
            </a:ln>
          </p:spPr>
        </p:sp>
        <p:sp>
          <p:nvSpPr>
            <p:cNvPr id="30777" name="Line 48"/>
            <p:cNvSpPr/>
            <p:nvPr/>
          </p:nvSpPr>
          <p:spPr>
            <a:xfrm>
              <a:off x="1872" y="3438"/>
              <a:ext cx="0" cy="192"/>
            </a:xfrm>
            <a:prstGeom prst="line">
              <a:avLst/>
            </a:prstGeom>
            <a:ln w="38100" cap="flat" cmpd="sng">
              <a:solidFill>
                <a:schemeClr val="tx1"/>
              </a:solidFill>
              <a:prstDash val="solid"/>
              <a:headEnd type="none" w="med" len="med"/>
              <a:tailEnd type="none" w="med" len="med"/>
            </a:ln>
          </p:spPr>
        </p:sp>
        <p:sp>
          <p:nvSpPr>
            <p:cNvPr id="30778" name="Line 49"/>
            <p:cNvSpPr/>
            <p:nvPr/>
          </p:nvSpPr>
          <p:spPr>
            <a:xfrm>
              <a:off x="3024" y="3438"/>
              <a:ext cx="1248" cy="0"/>
            </a:xfrm>
            <a:prstGeom prst="line">
              <a:avLst/>
            </a:prstGeom>
            <a:ln w="38100" cap="flat" cmpd="sng">
              <a:solidFill>
                <a:schemeClr val="tx1"/>
              </a:solidFill>
              <a:prstDash val="solid"/>
              <a:headEnd type="none" w="med" len="med"/>
              <a:tailEnd type="none" w="med" len="med"/>
            </a:ln>
          </p:spPr>
        </p:sp>
        <p:sp>
          <p:nvSpPr>
            <p:cNvPr id="30779" name="Line 50"/>
            <p:cNvSpPr/>
            <p:nvPr/>
          </p:nvSpPr>
          <p:spPr>
            <a:xfrm>
              <a:off x="4272" y="3054"/>
              <a:ext cx="0" cy="192"/>
            </a:xfrm>
            <a:prstGeom prst="line">
              <a:avLst/>
            </a:prstGeom>
            <a:ln w="38100" cap="flat" cmpd="sng">
              <a:solidFill>
                <a:schemeClr val="tx1"/>
              </a:solidFill>
              <a:prstDash val="solid"/>
              <a:headEnd type="none" w="med" len="med"/>
              <a:tailEnd type="none" w="med" len="med"/>
            </a:ln>
          </p:spPr>
        </p:sp>
        <p:sp>
          <p:nvSpPr>
            <p:cNvPr id="30780" name="Line 51"/>
            <p:cNvSpPr/>
            <p:nvPr/>
          </p:nvSpPr>
          <p:spPr>
            <a:xfrm>
              <a:off x="1872" y="3246"/>
              <a:ext cx="1152" cy="0"/>
            </a:xfrm>
            <a:prstGeom prst="line">
              <a:avLst/>
            </a:prstGeom>
            <a:ln w="38100" cap="flat" cmpd="sng">
              <a:solidFill>
                <a:schemeClr val="tx1"/>
              </a:solidFill>
              <a:prstDash val="solid"/>
              <a:headEnd type="none" w="med" len="med"/>
              <a:tailEnd type="none" w="med" len="med"/>
            </a:ln>
          </p:spPr>
        </p:sp>
        <p:sp>
          <p:nvSpPr>
            <p:cNvPr id="30781" name="Line 52"/>
            <p:cNvSpPr/>
            <p:nvPr/>
          </p:nvSpPr>
          <p:spPr>
            <a:xfrm>
              <a:off x="1872" y="3630"/>
              <a:ext cx="1152" cy="0"/>
            </a:xfrm>
            <a:prstGeom prst="line">
              <a:avLst/>
            </a:prstGeom>
            <a:ln w="38100" cap="flat" cmpd="sng">
              <a:solidFill>
                <a:schemeClr val="tx1"/>
              </a:solidFill>
              <a:prstDash val="solid"/>
              <a:headEnd type="none" w="med" len="med"/>
              <a:tailEnd type="none" w="med" len="med"/>
            </a:ln>
          </p:spPr>
        </p:sp>
        <p:sp>
          <p:nvSpPr>
            <p:cNvPr id="30782" name="Line 53"/>
            <p:cNvSpPr/>
            <p:nvPr/>
          </p:nvSpPr>
          <p:spPr>
            <a:xfrm>
              <a:off x="2448" y="2862"/>
              <a:ext cx="0" cy="768"/>
            </a:xfrm>
            <a:prstGeom prst="line">
              <a:avLst/>
            </a:prstGeom>
            <a:ln w="9525" cap="flat" cmpd="sng">
              <a:solidFill>
                <a:schemeClr val="tx1"/>
              </a:solidFill>
              <a:prstDash val="sysDot"/>
              <a:headEnd type="none" w="med" len="med"/>
              <a:tailEnd type="none" w="med" len="med"/>
            </a:ln>
          </p:spPr>
        </p:sp>
        <p:sp>
          <p:nvSpPr>
            <p:cNvPr id="30783" name="Line 54"/>
            <p:cNvSpPr/>
            <p:nvPr/>
          </p:nvSpPr>
          <p:spPr>
            <a:xfrm>
              <a:off x="3648" y="2862"/>
              <a:ext cx="0" cy="768"/>
            </a:xfrm>
            <a:prstGeom prst="line">
              <a:avLst/>
            </a:prstGeom>
            <a:ln w="9525" cap="flat" cmpd="sng">
              <a:solidFill>
                <a:schemeClr val="tx1"/>
              </a:solidFill>
              <a:prstDash val="sysDot"/>
              <a:headEnd type="none" w="med" len="med"/>
              <a:tailEnd type="none" w="med" len="med"/>
            </a:ln>
          </p:spPr>
        </p:sp>
        <p:sp>
          <p:nvSpPr>
            <p:cNvPr id="30784" name="Line 55"/>
            <p:cNvSpPr/>
            <p:nvPr/>
          </p:nvSpPr>
          <p:spPr>
            <a:xfrm>
              <a:off x="1872" y="3438"/>
              <a:ext cx="1152" cy="0"/>
            </a:xfrm>
            <a:prstGeom prst="line">
              <a:avLst/>
            </a:prstGeom>
            <a:ln w="9525" cap="flat" cmpd="sng">
              <a:solidFill>
                <a:schemeClr val="tx1"/>
              </a:solidFill>
              <a:prstDash val="sysDot"/>
              <a:headEnd type="none" w="med" len="med"/>
              <a:tailEnd type="none" w="med" len="med"/>
            </a:ln>
          </p:spPr>
        </p:sp>
        <p:sp>
          <p:nvSpPr>
            <p:cNvPr id="30785" name="Text Box 56"/>
            <p:cNvSpPr txBox="1"/>
            <p:nvPr/>
          </p:nvSpPr>
          <p:spPr>
            <a:xfrm>
              <a:off x="3024" y="3438"/>
              <a:ext cx="624" cy="192"/>
            </a:xfrm>
            <a:prstGeom prst="rect">
              <a:avLst/>
            </a:prstGeom>
            <a:solidFill>
              <a:srgbClr val="FFC000"/>
            </a:solidFill>
            <a:ln w="38100" cap="flat" cmpd="sng">
              <a:solidFill>
                <a:schemeClr val="tx1"/>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endParaRPr lang="zh-CN" altLang="en-US" sz="2400" dirty="0">
                <a:solidFill>
                  <a:schemeClr val="tx2"/>
                </a:solidFill>
                <a:latin typeface="Times New Roman" panose="02020603050405020304" pitchFamily="18" charset="0"/>
                <a:ea typeface="宋体" panose="02010600030101010101" pitchFamily="2" charset="-122"/>
              </a:endParaRPr>
            </a:p>
          </p:txBody>
        </p:sp>
        <p:sp>
          <p:nvSpPr>
            <p:cNvPr id="30786" name="Text Box 57" descr="宽上对角线"/>
            <p:cNvSpPr txBox="1"/>
            <p:nvPr/>
          </p:nvSpPr>
          <p:spPr>
            <a:xfrm>
              <a:off x="1872" y="3630"/>
              <a:ext cx="576" cy="192"/>
            </a:xfrm>
            <a:prstGeom prst="rect">
              <a:avLst/>
            </a:prstGeom>
            <a:solidFill>
              <a:schemeClr val="accent2"/>
            </a:solidFill>
            <a:ln w="38100" cap="flat" cmpd="sng">
              <a:solidFill>
                <a:schemeClr val="tx1"/>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endParaRPr lang="zh-CN" altLang="en-US" sz="2400" dirty="0">
                <a:latin typeface="Times New Roman" panose="02020603050405020304" pitchFamily="18" charset="0"/>
                <a:ea typeface="宋体" panose="02010600030101010101" pitchFamily="2" charset="-122"/>
              </a:endParaRPr>
            </a:p>
          </p:txBody>
        </p:sp>
        <p:sp>
          <p:nvSpPr>
            <p:cNvPr id="30787" name="Line 58"/>
            <p:cNvSpPr/>
            <p:nvPr/>
          </p:nvSpPr>
          <p:spPr>
            <a:xfrm>
              <a:off x="3024" y="3246"/>
              <a:ext cx="1248" cy="0"/>
            </a:xfrm>
            <a:prstGeom prst="line">
              <a:avLst/>
            </a:prstGeom>
            <a:ln w="9525" cap="flat" cmpd="sng">
              <a:solidFill>
                <a:schemeClr val="tx1"/>
              </a:solidFill>
              <a:prstDash val="sysDot"/>
              <a:headEnd type="none" w="med" len="med"/>
              <a:tailEnd type="none" w="med" len="med"/>
            </a:ln>
          </p:spPr>
        </p:sp>
      </p:grpSp>
      <p:grpSp>
        <p:nvGrpSpPr>
          <p:cNvPr id="3" name="组合 3"/>
          <p:cNvGrpSpPr/>
          <p:nvPr/>
        </p:nvGrpSpPr>
        <p:grpSpPr>
          <a:xfrm>
            <a:off x="3625850" y="1736725"/>
            <a:ext cx="4572000" cy="2760663"/>
            <a:chOff x="3625850" y="1737325"/>
            <a:chExt cx="4572000" cy="2760677"/>
          </a:xfrm>
        </p:grpSpPr>
        <p:grpSp>
          <p:nvGrpSpPr>
            <p:cNvPr id="30732" name="Group 3"/>
            <p:cNvGrpSpPr/>
            <p:nvPr/>
          </p:nvGrpSpPr>
          <p:grpSpPr>
            <a:xfrm>
              <a:off x="3625850" y="1737325"/>
              <a:ext cx="4572000" cy="2760677"/>
              <a:chOff x="1604" y="981"/>
              <a:chExt cx="2677" cy="1739"/>
            </a:xfrm>
          </p:grpSpPr>
          <p:sp>
            <p:nvSpPr>
              <p:cNvPr id="45095" name="Rectangle 4"/>
              <p:cNvSpPr>
                <a:spLocks noChangeArrowheads="1"/>
              </p:cNvSpPr>
              <p:nvPr/>
            </p:nvSpPr>
            <p:spPr bwMode="auto">
              <a:xfrm>
                <a:off x="1881" y="1231"/>
                <a:ext cx="2400" cy="960"/>
              </a:xfrm>
              <a:prstGeom prst="rect">
                <a:avLst/>
              </a:prstGeom>
              <a:noFill/>
              <a:ln w="38100">
                <a:solidFill>
                  <a:schemeClr val="tx1"/>
                </a:solid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096" name="Line 5"/>
              <p:cNvSpPr>
                <a:spLocks noChangeShapeType="1"/>
              </p:cNvSpPr>
              <p:nvPr/>
            </p:nvSpPr>
            <p:spPr bwMode="auto">
              <a:xfrm>
                <a:off x="1881" y="1423"/>
                <a:ext cx="2400" cy="0"/>
              </a:xfrm>
              <a:prstGeom prst="line">
                <a:avLst/>
              </a:prstGeom>
              <a:noFill/>
              <a:ln w="38100">
                <a:solidFill>
                  <a:schemeClr val="tx1"/>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097" name="Line 6"/>
              <p:cNvSpPr>
                <a:spLocks noChangeShapeType="1"/>
              </p:cNvSpPr>
              <p:nvPr/>
            </p:nvSpPr>
            <p:spPr bwMode="auto">
              <a:xfrm>
                <a:off x="1881" y="1615"/>
                <a:ext cx="2400" cy="0"/>
              </a:xfrm>
              <a:prstGeom prst="line">
                <a:avLst/>
              </a:prstGeom>
              <a:noFill/>
              <a:ln w="9525">
                <a:solidFill>
                  <a:schemeClr val="tx1"/>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098" name="Line 7"/>
              <p:cNvSpPr>
                <a:spLocks noChangeShapeType="1"/>
              </p:cNvSpPr>
              <p:nvPr/>
            </p:nvSpPr>
            <p:spPr bwMode="auto">
              <a:xfrm>
                <a:off x="1881" y="1615"/>
                <a:ext cx="2400" cy="0"/>
              </a:xfrm>
              <a:prstGeom prst="line">
                <a:avLst/>
              </a:prstGeom>
              <a:noFill/>
              <a:ln w="38100">
                <a:solidFill>
                  <a:schemeClr val="tx1"/>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099" name="Line 8"/>
              <p:cNvSpPr>
                <a:spLocks noChangeShapeType="1"/>
              </p:cNvSpPr>
              <p:nvPr/>
            </p:nvSpPr>
            <p:spPr bwMode="auto">
              <a:xfrm>
                <a:off x="1881" y="1807"/>
                <a:ext cx="2400" cy="0"/>
              </a:xfrm>
              <a:prstGeom prst="line">
                <a:avLst/>
              </a:prstGeom>
              <a:noFill/>
              <a:ln w="9525">
                <a:solidFill>
                  <a:schemeClr val="tx1"/>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00" name="Line 9"/>
              <p:cNvSpPr>
                <a:spLocks noChangeShapeType="1"/>
              </p:cNvSpPr>
              <p:nvPr/>
            </p:nvSpPr>
            <p:spPr bwMode="auto">
              <a:xfrm>
                <a:off x="1881" y="1999"/>
                <a:ext cx="2400" cy="0"/>
              </a:xfrm>
              <a:prstGeom prst="line">
                <a:avLst/>
              </a:prstGeom>
              <a:noFill/>
              <a:ln w="38100">
                <a:solidFill>
                  <a:schemeClr val="tx1"/>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01" name="Line 10"/>
              <p:cNvSpPr>
                <a:spLocks noChangeShapeType="1"/>
              </p:cNvSpPr>
              <p:nvPr/>
            </p:nvSpPr>
            <p:spPr bwMode="auto">
              <a:xfrm>
                <a:off x="3033" y="1231"/>
                <a:ext cx="0" cy="960"/>
              </a:xfrm>
              <a:prstGeom prst="line">
                <a:avLst/>
              </a:prstGeom>
              <a:noFill/>
              <a:ln w="38100">
                <a:solidFill>
                  <a:schemeClr val="tx1"/>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02" name="Line 11"/>
              <p:cNvSpPr>
                <a:spLocks noChangeShapeType="1"/>
              </p:cNvSpPr>
              <p:nvPr/>
            </p:nvSpPr>
            <p:spPr bwMode="auto">
              <a:xfrm>
                <a:off x="2457" y="1231"/>
                <a:ext cx="0" cy="960"/>
              </a:xfrm>
              <a:prstGeom prst="line">
                <a:avLst/>
              </a:prstGeom>
              <a:noFill/>
              <a:ln w="38100">
                <a:solidFill>
                  <a:schemeClr val="tx1"/>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03" name="Line 12"/>
              <p:cNvSpPr>
                <a:spLocks noChangeShapeType="1"/>
              </p:cNvSpPr>
              <p:nvPr/>
            </p:nvSpPr>
            <p:spPr bwMode="auto">
              <a:xfrm>
                <a:off x="3657" y="1231"/>
                <a:ext cx="0" cy="1156"/>
              </a:xfrm>
              <a:prstGeom prst="line">
                <a:avLst/>
              </a:prstGeom>
              <a:noFill/>
              <a:ln w="38100">
                <a:solidFill>
                  <a:schemeClr val="tx1"/>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04" name="Line 13"/>
              <p:cNvSpPr>
                <a:spLocks noChangeShapeType="1"/>
              </p:cNvSpPr>
              <p:nvPr/>
            </p:nvSpPr>
            <p:spPr bwMode="auto">
              <a:xfrm>
                <a:off x="2457" y="1231"/>
                <a:ext cx="0" cy="768"/>
              </a:xfrm>
              <a:prstGeom prst="line">
                <a:avLst/>
              </a:prstGeom>
              <a:noFill/>
              <a:ln w="28575">
                <a:solidFill>
                  <a:schemeClr val="tx1"/>
                </a:solidFill>
                <a:prstDash val="sysDot"/>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05" name="Line 14"/>
              <p:cNvSpPr>
                <a:spLocks noChangeShapeType="1"/>
              </p:cNvSpPr>
              <p:nvPr/>
            </p:nvSpPr>
            <p:spPr bwMode="auto">
              <a:xfrm>
                <a:off x="1881" y="1807"/>
                <a:ext cx="2400" cy="0"/>
              </a:xfrm>
              <a:prstGeom prst="line">
                <a:avLst/>
              </a:prstGeom>
              <a:noFill/>
              <a:ln w="28575">
                <a:solidFill>
                  <a:schemeClr val="tx1"/>
                </a:solidFill>
                <a:prstDash val="sysDot"/>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06" name="Line 15"/>
              <p:cNvSpPr>
                <a:spLocks noChangeShapeType="1"/>
              </p:cNvSpPr>
              <p:nvPr/>
            </p:nvSpPr>
            <p:spPr bwMode="auto">
              <a:xfrm>
                <a:off x="3033" y="1231"/>
                <a:ext cx="0" cy="192"/>
              </a:xfrm>
              <a:prstGeom prst="line">
                <a:avLst/>
              </a:prstGeom>
              <a:noFill/>
              <a:ln w="28575">
                <a:solidFill>
                  <a:schemeClr val="tx1"/>
                </a:solidFill>
                <a:prstDash val="sysDot"/>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07" name="Line 16"/>
              <p:cNvSpPr>
                <a:spLocks noChangeShapeType="1"/>
              </p:cNvSpPr>
              <p:nvPr/>
            </p:nvSpPr>
            <p:spPr bwMode="auto">
              <a:xfrm>
                <a:off x="3657" y="1231"/>
                <a:ext cx="0" cy="192"/>
              </a:xfrm>
              <a:prstGeom prst="line">
                <a:avLst/>
              </a:prstGeom>
              <a:noFill/>
              <a:ln w="28575">
                <a:solidFill>
                  <a:schemeClr val="tx1"/>
                </a:solidFill>
                <a:prstDash val="sysDot"/>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08" name="Line 17"/>
              <p:cNvSpPr>
                <a:spLocks noChangeShapeType="1"/>
              </p:cNvSpPr>
              <p:nvPr/>
            </p:nvSpPr>
            <p:spPr bwMode="auto">
              <a:xfrm>
                <a:off x="1881" y="2191"/>
                <a:ext cx="2400" cy="0"/>
              </a:xfrm>
              <a:prstGeom prst="line">
                <a:avLst/>
              </a:prstGeom>
              <a:noFill/>
              <a:ln w="38100">
                <a:solidFill>
                  <a:schemeClr val="tx1"/>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09" name="Text Box 18" descr="新闻纸"/>
              <p:cNvSpPr txBox="1">
                <a:spLocks noChangeArrowheads="1"/>
              </p:cNvSpPr>
              <p:nvPr/>
            </p:nvSpPr>
            <p:spPr bwMode="auto">
              <a:xfrm>
                <a:off x="1881" y="1231"/>
                <a:ext cx="2400" cy="192"/>
              </a:xfrm>
              <a:prstGeom prst="rect">
                <a:avLst/>
              </a:prstGeom>
              <a:solidFill>
                <a:schemeClr val="accent4">
                  <a:lumMod val="90000"/>
                </a:schemeClr>
              </a:solidFill>
              <a:ln w="38100">
                <a:solidFill>
                  <a:schemeClr val="tx1"/>
                </a:solidFill>
                <a:miter lim="800000"/>
              </a:ln>
            </p:spPr>
            <p:txBody>
              <a:bodyPr/>
              <a:lstStyle/>
              <a:p>
                <a:pPr marR="0" algn="ctr" defTabSz="914400" eaLnBrk="1" hangingPunct="1">
                  <a:spcBef>
                    <a:spcPct val="50000"/>
                  </a:spcBef>
                  <a:buClrTx/>
                  <a:buSzTx/>
                  <a:buFontTx/>
                  <a:buNone/>
                  <a:defRPr/>
                </a:pPr>
                <a:endParaRPr kumimoji="0" lang="zh-CN" altLang="en-US" kern="1200" cap="none" spc="0" normalizeH="0" baseline="0" noProof="0">
                  <a:latin typeface="Times New Roman" panose="02020603050405020304" pitchFamily="18" charset="0"/>
                  <a:ea typeface="+mn-ea"/>
                  <a:cs typeface="Times New Roman" panose="02020603050405020304" pitchFamily="18" charset="0"/>
                </a:endParaRPr>
              </a:p>
            </p:txBody>
          </p:sp>
          <p:sp>
            <p:nvSpPr>
              <p:cNvPr id="45110" name="Text Box 19" descr="宽上对角线"/>
              <p:cNvSpPr txBox="1">
                <a:spLocks noChangeArrowheads="1"/>
              </p:cNvSpPr>
              <p:nvPr/>
            </p:nvSpPr>
            <p:spPr bwMode="auto">
              <a:xfrm>
                <a:off x="1881" y="1423"/>
                <a:ext cx="1152" cy="192"/>
              </a:xfrm>
              <a:prstGeom prst="rect">
                <a:avLst/>
              </a:prstGeom>
              <a:solidFill>
                <a:srgbClr val="00FF00"/>
              </a:solidFill>
              <a:ln w="38100">
                <a:solidFill>
                  <a:schemeClr val="tx1"/>
                </a:solidFill>
                <a:miter lim="800000"/>
              </a:ln>
            </p:spPr>
            <p:txBody>
              <a:bodyPr/>
              <a:lstStyle/>
              <a:p>
                <a:pPr marR="0" algn="ctr" defTabSz="914400" eaLnBrk="1" hangingPunct="1">
                  <a:spcBef>
                    <a:spcPct val="50000"/>
                  </a:spcBef>
                  <a:buClrTx/>
                  <a:buSzTx/>
                  <a:buFontTx/>
                  <a:buNone/>
                  <a:defRPr/>
                </a:pPr>
                <a:endParaRPr kumimoji="0" lang="zh-CN" altLang="en-US" kern="1200" cap="none" spc="0" normalizeH="0" baseline="0" noProof="0">
                  <a:latin typeface="Times New Roman" panose="02020603050405020304" pitchFamily="18" charset="0"/>
                  <a:ea typeface="+mn-ea"/>
                  <a:cs typeface="Times New Roman" panose="02020603050405020304" pitchFamily="18" charset="0"/>
                </a:endParaRPr>
              </a:p>
            </p:txBody>
          </p:sp>
          <p:sp>
            <p:nvSpPr>
              <p:cNvPr id="45111" name="Text Box 20" descr="信纸"/>
              <p:cNvSpPr txBox="1">
                <a:spLocks noChangeArrowheads="1"/>
              </p:cNvSpPr>
              <p:nvPr/>
            </p:nvSpPr>
            <p:spPr bwMode="auto">
              <a:xfrm>
                <a:off x="1881" y="1615"/>
                <a:ext cx="2400" cy="384"/>
              </a:xfrm>
              <a:prstGeom prst="rect">
                <a:avLst/>
              </a:prstGeom>
              <a:blipFill dpi="0" rotWithShape="0">
                <a:blip r:embed="rId5"/>
                <a:srcRect/>
                <a:tile tx="0" ty="0" sx="100000" sy="100000" flip="none" algn="tl"/>
              </a:blipFill>
              <a:ln w="38100">
                <a:solidFill>
                  <a:schemeClr val="tx1"/>
                </a:solidFill>
                <a:miter lim="800000"/>
              </a:ln>
            </p:spPr>
            <p:txBody>
              <a:bodyPr/>
              <a:lstStyle/>
              <a:p>
                <a:pPr marR="0" algn="ctr" defTabSz="914400" eaLnBrk="1" hangingPunct="1">
                  <a:spcBef>
                    <a:spcPct val="50000"/>
                  </a:spcBef>
                  <a:buClrTx/>
                  <a:buSzTx/>
                  <a:buFontTx/>
                  <a:buNone/>
                  <a:defRPr/>
                </a:pPr>
                <a:endParaRPr kumimoji="0" lang="zh-CN" altLang="en-US" kern="1200" cap="none" spc="0" normalizeH="0" baseline="0" noProof="0">
                  <a:latin typeface="Times New Roman" panose="02020603050405020304" pitchFamily="18" charset="0"/>
                  <a:ea typeface="+mn-ea"/>
                  <a:cs typeface="Times New Roman" panose="02020603050405020304" pitchFamily="18" charset="0"/>
                </a:endParaRPr>
              </a:p>
            </p:txBody>
          </p:sp>
          <p:sp>
            <p:nvSpPr>
              <p:cNvPr id="45112" name="Text Box 21" descr="宽上对角线"/>
              <p:cNvSpPr txBox="1">
                <a:spLocks noChangeArrowheads="1"/>
              </p:cNvSpPr>
              <p:nvPr/>
            </p:nvSpPr>
            <p:spPr bwMode="auto">
              <a:xfrm>
                <a:off x="1881" y="2195"/>
                <a:ext cx="1152" cy="192"/>
              </a:xfrm>
              <a:prstGeom prst="rect">
                <a:avLst/>
              </a:prstGeom>
              <a:solidFill>
                <a:schemeClr val="accent2"/>
              </a:solidFill>
              <a:ln w="38100">
                <a:solidFill>
                  <a:schemeClr val="tx1"/>
                </a:solidFill>
                <a:miter lim="800000"/>
              </a:ln>
            </p:spPr>
            <p:txBody>
              <a:bodyPr/>
              <a:lstStyle/>
              <a:p>
                <a:pPr marR="0" algn="ctr" defTabSz="914400" eaLnBrk="1" hangingPunct="1">
                  <a:spcBef>
                    <a:spcPct val="50000"/>
                  </a:spcBef>
                  <a:buClrTx/>
                  <a:buSzTx/>
                  <a:buFontTx/>
                  <a:buNone/>
                  <a:defRPr/>
                </a:pPr>
                <a:endParaRPr kumimoji="0" lang="zh-CN" altLang="en-US" kern="1200" cap="none" spc="0" normalizeH="0" baseline="0" noProof="0">
                  <a:latin typeface="Times New Roman" panose="02020603050405020304" pitchFamily="18" charset="0"/>
                  <a:ea typeface="+mn-ea"/>
                  <a:cs typeface="Times New Roman" panose="02020603050405020304" pitchFamily="18" charset="0"/>
                </a:endParaRPr>
              </a:p>
            </p:txBody>
          </p:sp>
          <p:sp>
            <p:nvSpPr>
              <p:cNvPr id="224278" name="Text Box 22"/>
              <p:cNvSpPr txBox="1">
                <a:spLocks noChangeArrowheads="1"/>
              </p:cNvSpPr>
              <p:nvPr/>
            </p:nvSpPr>
            <p:spPr bwMode="auto">
              <a:xfrm>
                <a:off x="1881" y="1999"/>
                <a:ext cx="576" cy="192"/>
              </a:xfrm>
              <a:prstGeom prst="rect">
                <a:avLst/>
              </a:prstGeom>
              <a:solidFill>
                <a:srgbClr val="FFC000"/>
              </a:solidFill>
              <a:ln w="38100">
                <a:solidFill>
                  <a:schemeClr val="tx1"/>
                </a:solidFill>
                <a:miter lim="800000"/>
              </a:ln>
              <a:effectLst/>
            </p:spPr>
            <p:txBody>
              <a:bodyPr/>
              <a:lstStyle/>
              <a:p>
                <a:pPr marR="0" algn="ctr" defTabSz="914400" eaLnBrk="1" hangingPunct="1">
                  <a:spcBef>
                    <a:spcPct val="50000"/>
                  </a:spcBef>
                  <a:buClrTx/>
                  <a:buSzTx/>
                  <a:buFontTx/>
                  <a:buNone/>
                  <a:defRPr/>
                </a:pPr>
                <a:endParaRPr kumimoji="0" lang="zh-CN" altLang="en-US" kern="1200" cap="none" spc="0" normalizeH="0" baseline="0" noProof="0">
                  <a:latin typeface="Times New Roman" panose="02020603050405020304" pitchFamily="18" charset="0"/>
                  <a:ea typeface="+mn-ea"/>
                  <a:cs typeface="Times New Roman" panose="02020603050405020304" pitchFamily="18" charset="0"/>
                </a:endParaRPr>
              </a:p>
            </p:txBody>
          </p:sp>
          <p:sp>
            <p:nvSpPr>
              <p:cNvPr id="45114" name="Text Box 23"/>
              <p:cNvSpPr txBox="1">
                <a:spLocks noChangeArrowheads="1"/>
              </p:cNvSpPr>
              <p:nvPr/>
            </p:nvSpPr>
            <p:spPr bwMode="auto">
              <a:xfrm>
                <a:off x="1604" y="1208"/>
                <a:ext cx="293" cy="1512"/>
              </a:xfrm>
              <a:prstGeom prst="rect">
                <a:avLst/>
              </a:prstGeom>
              <a:noFill/>
              <a:ln w="9525">
                <a:noFill/>
                <a:miter lim="800000"/>
              </a:ln>
            </p:spPr>
            <p:txBody>
              <a:bodyPr>
                <a:spAutoFit/>
              </a:bodyPr>
              <a:lstStyle/>
              <a:p>
                <a:pPr marR="0" algn="ctr" defTabSz="914400" eaLnBrk="1" hangingPunct="1">
                  <a:spcBef>
                    <a:spcPct val="50000"/>
                  </a:spcBef>
                  <a:buClrTx/>
                  <a:buSzTx/>
                  <a:buFontTx/>
                  <a:buNone/>
                  <a:defRPr/>
                </a:pPr>
                <a:r>
                  <a:rPr kumimoji="0" lang="en-US" altLang="zh-CN" sz="2000" kern="1200" cap="none" spc="0" normalizeH="0" baseline="0" noProof="0" dirty="0">
                    <a:latin typeface="Times New Roman" panose="02020603050405020304" pitchFamily="18" charset="0"/>
                    <a:ea typeface="+mn-ea"/>
                    <a:cs typeface="Times New Roman" panose="02020603050405020304" pitchFamily="18" charset="0"/>
                  </a:rPr>
                  <a:t>0004081216</a:t>
                </a:r>
                <a:endParaRPr kumimoji="0" lang="en-US" altLang="zh-CN" sz="2000" kern="1200" cap="none" spc="0" normalizeH="0" baseline="0" noProof="0" dirty="0">
                  <a:latin typeface="Times New Roman" panose="02020603050405020304" pitchFamily="18" charset="0"/>
                  <a:ea typeface="+mn-ea"/>
                  <a:cs typeface="Times New Roman" panose="02020603050405020304" pitchFamily="18" charset="0"/>
                </a:endParaRPr>
              </a:p>
              <a:p>
                <a:pPr marR="0" algn="ctr" defTabSz="914400" eaLnBrk="1" hangingPunct="1">
                  <a:spcBef>
                    <a:spcPts val="0"/>
                  </a:spcBef>
                  <a:buClrTx/>
                  <a:buSzTx/>
                  <a:buFontTx/>
                  <a:buNone/>
                  <a:defRPr/>
                </a:pPr>
                <a:r>
                  <a:rPr kumimoji="0" lang="en-US" altLang="zh-CN" sz="2000" kern="1200" cap="none" spc="0" normalizeH="0" baseline="0" noProof="0" dirty="0">
                    <a:latin typeface="Times New Roman" panose="02020603050405020304" pitchFamily="18" charset="0"/>
                    <a:ea typeface="+mn-ea"/>
                    <a:cs typeface="Times New Roman" panose="02020603050405020304" pitchFamily="18" charset="0"/>
                  </a:rPr>
                  <a:t>20</a:t>
                </a:r>
                <a:endParaRPr kumimoji="0" lang="en-US" altLang="zh-CN" sz="2000" kern="1200" cap="none" spc="0" normalizeH="0" baseline="0" noProof="0" dirty="0">
                  <a:latin typeface="Times New Roman" panose="02020603050405020304" pitchFamily="18" charset="0"/>
                  <a:ea typeface="+mn-ea"/>
                  <a:cs typeface="Times New Roman" panose="02020603050405020304" pitchFamily="18" charset="0"/>
                </a:endParaRPr>
              </a:p>
              <a:p>
                <a:pPr marR="0" algn="ctr" defTabSz="914400" eaLnBrk="1" hangingPunct="1">
                  <a:spcBef>
                    <a:spcPct val="50000"/>
                  </a:spcBef>
                  <a:buClrTx/>
                  <a:buSzTx/>
                  <a:buFontTx/>
                  <a:buNone/>
                  <a:defRPr/>
                </a:pPr>
                <a:endParaRPr kumimoji="0" lang="en-US" altLang="zh-CN" sz="2000" kern="1200" cap="none" spc="0" normalizeH="0" baseline="0" noProof="0" dirty="0">
                  <a:latin typeface="Times New Roman" panose="02020603050405020304" pitchFamily="18" charset="0"/>
                  <a:ea typeface="+mn-ea"/>
                  <a:cs typeface="Times New Roman" panose="02020603050405020304" pitchFamily="18" charset="0"/>
                </a:endParaRPr>
              </a:p>
            </p:txBody>
          </p:sp>
          <p:sp>
            <p:nvSpPr>
              <p:cNvPr id="45115" name="Text Box 24"/>
              <p:cNvSpPr txBox="1">
                <a:spLocks noChangeArrowheads="1"/>
              </p:cNvSpPr>
              <p:nvPr/>
            </p:nvSpPr>
            <p:spPr bwMode="auto">
              <a:xfrm>
                <a:off x="1881" y="981"/>
                <a:ext cx="2400" cy="250"/>
              </a:xfrm>
              <a:prstGeom prst="rect">
                <a:avLst/>
              </a:prstGeom>
              <a:noFill/>
              <a:ln w="9525">
                <a:noFill/>
                <a:miter lim="800000"/>
              </a:ln>
            </p:spPr>
            <p:txBody>
              <a:bodyPr>
                <a:spAutoFit/>
              </a:bodyPr>
              <a:lstStyle/>
              <a:p>
                <a:pPr marR="0" algn="ctr" defTabSz="914400" eaLnBrk="1" hangingPunct="1">
                  <a:spcBef>
                    <a:spcPct val="50000"/>
                  </a:spcBef>
                  <a:buClrTx/>
                  <a:buSzTx/>
                  <a:buFontTx/>
                  <a:buNone/>
                  <a:defRPr/>
                </a:pPr>
                <a:r>
                  <a:rPr kumimoji="0" lang="en-US" altLang="zh-CN" sz="2000" kern="1200" cap="none" spc="0" normalizeH="0" baseline="0" noProof="0" dirty="0">
                    <a:latin typeface="Times New Roman" panose="02020603050405020304" pitchFamily="18" charset="0"/>
                    <a:ea typeface="+mn-ea"/>
                    <a:cs typeface="Times New Roman" panose="02020603050405020304" pitchFamily="18" charset="0"/>
                  </a:rPr>
                  <a:t>0</a:t>
                </a:r>
                <a:r>
                  <a:rPr kumimoji="0" lang="zh-CN" altLang="zh-CN" sz="2000" kern="1200" cap="none" spc="0" normalizeH="0" baseline="0" noProof="0" dirty="0">
                    <a:latin typeface="Times New Roman" panose="02020603050405020304" pitchFamily="18" charset="0"/>
                    <a:ea typeface="+mn-ea"/>
                    <a:cs typeface="Times New Roman" panose="02020603050405020304" pitchFamily="18" charset="0"/>
                  </a:rPr>
                  <a:t> 字节    1字节     2字节     3字节</a:t>
                </a:r>
                <a:endParaRPr kumimoji="0" lang="zh-CN" altLang="en-US" kern="1200" cap="none" spc="0" normalizeH="0" baseline="0" noProof="0" dirty="0">
                  <a:latin typeface="Times New Roman" panose="02020603050405020304" pitchFamily="18" charset="0"/>
                  <a:ea typeface="+mn-ea"/>
                  <a:cs typeface="Times New Roman" panose="02020603050405020304" pitchFamily="18" charset="0"/>
                </a:endParaRPr>
              </a:p>
            </p:txBody>
          </p:sp>
          <p:sp>
            <p:nvSpPr>
              <p:cNvPr id="45116" name="Line 25"/>
              <p:cNvSpPr>
                <a:spLocks noChangeShapeType="1"/>
              </p:cNvSpPr>
              <p:nvPr/>
            </p:nvSpPr>
            <p:spPr bwMode="auto">
              <a:xfrm>
                <a:off x="2457" y="1231"/>
                <a:ext cx="0" cy="768"/>
              </a:xfrm>
              <a:prstGeom prst="line">
                <a:avLst/>
              </a:prstGeom>
              <a:noFill/>
              <a:ln w="9525">
                <a:solidFill>
                  <a:schemeClr val="tx1"/>
                </a:solidFill>
                <a:prstDash val="sysDot"/>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17" name="Line 26"/>
              <p:cNvSpPr>
                <a:spLocks noChangeShapeType="1"/>
              </p:cNvSpPr>
              <p:nvPr/>
            </p:nvSpPr>
            <p:spPr bwMode="auto">
              <a:xfrm>
                <a:off x="3033" y="1231"/>
                <a:ext cx="0" cy="192"/>
              </a:xfrm>
              <a:prstGeom prst="line">
                <a:avLst/>
              </a:prstGeom>
              <a:noFill/>
              <a:ln w="9525">
                <a:solidFill>
                  <a:schemeClr val="tx1"/>
                </a:solidFill>
                <a:prstDash val="sysDot"/>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18" name="Line 27"/>
              <p:cNvSpPr>
                <a:spLocks noChangeShapeType="1"/>
              </p:cNvSpPr>
              <p:nvPr/>
            </p:nvSpPr>
            <p:spPr bwMode="auto">
              <a:xfrm>
                <a:off x="3033" y="1615"/>
                <a:ext cx="0" cy="384"/>
              </a:xfrm>
              <a:prstGeom prst="line">
                <a:avLst/>
              </a:prstGeom>
              <a:noFill/>
              <a:ln w="9525">
                <a:solidFill>
                  <a:schemeClr val="tx1"/>
                </a:solidFill>
                <a:prstDash val="sysDot"/>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19" name="Line 28"/>
              <p:cNvSpPr>
                <a:spLocks noChangeShapeType="1"/>
              </p:cNvSpPr>
              <p:nvPr/>
            </p:nvSpPr>
            <p:spPr bwMode="auto">
              <a:xfrm>
                <a:off x="3657" y="1615"/>
                <a:ext cx="0" cy="384"/>
              </a:xfrm>
              <a:prstGeom prst="line">
                <a:avLst/>
              </a:prstGeom>
              <a:noFill/>
              <a:ln w="9525">
                <a:solidFill>
                  <a:schemeClr val="tx1"/>
                </a:solidFill>
                <a:prstDash val="sysDot"/>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20" name="Line 29"/>
              <p:cNvSpPr>
                <a:spLocks noChangeShapeType="1"/>
              </p:cNvSpPr>
              <p:nvPr/>
            </p:nvSpPr>
            <p:spPr bwMode="auto">
              <a:xfrm>
                <a:off x="3657" y="1231"/>
                <a:ext cx="0" cy="192"/>
              </a:xfrm>
              <a:prstGeom prst="line">
                <a:avLst/>
              </a:prstGeom>
              <a:noFill/>
              <a:ln w="9525">
                <a:solidFill>
                  <a:schemeClr val="tx1"/>
                </a:solidFill>
                <a:prstDash val="sysDot"/>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45121" name="Line 30"/>
              <p:cNvSpPr>
                <a:spLocks noChangeShapeType="1"/>
              </p:cNvSpPr>
              <p:nvPr/>
            </p:nvSpPr>
            <p:spPr bwMode="auto">
              <a:xfrm>
                <a:off x="1881" y="1807"/>
                <a:ext cx="2400" cy="0"/>
              </a:xfrm>
              <a:prstGeom prst="line">
                <a:avLst/>
              </a:prstGeom>
              <a:noFill/>
              <a:ln w="9525">
                <a:solidFill>
                  <a:schemeClr val="tx1"/>
                </a:solidFill>
                <a:prstDash val="sysDot"/>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grpSp>
        <p:sp>
          <p:nvSpPr>
            <p:cNvPr id="66" name="Text Box 21" descr="宽上对角线"/>
            <p:cNvSpPr txBox="1">
              <a:spLocks noChangeArrowheads="1"/>
            </p:cNvSpPr>
            <p:nvPr/>
          </p:nvSpPr>
          <p:spPr bwMode="auto">
            <a:xfrm>
              <a:off x="6061075" y="3664560"/>
              <a:ext cx="2136775" cy="304802"/>
            </a:xfrm>
            <a:prstGeom prst="rect">
              <a:avLst/>
            </a:prstGeom>
            <a:noFill/>
            <a:ln w="38100">
              <a:solidFill>
                <a:schemeClr val="tx1"/>
              </a:solidFill>
              <a:miter lim="800000"/>
            </a:ln>
          </p:spPr>
          <p:txBody>
            <a:bodyPr/>
            <a:lstStyle/>
            <a:p>
              <a:pPr marR="0" algn="ctr" defTabSz="914400" eaLnBrk="1" hangingPunct="1">
                <a:spcBef>
                  <a:spcPct val="50000"/>
                </a:spcBef>
                <a:buClrTx/>
                <a:buSzTx/>
                <a:buFontTx/>
                <a:buNone/>
                <a:defRPr/>
              </a:pPr>
              <a:endParaRPr kumimoji="0" lang="zh-CN" altLang="en-US" kern="1200" cap="none" spc="0" normalizeH="0" baseline="0" noProof="0">
                <a:latin typeface="Times New Roman" panose="02020603050405020304" pitchFamily="18" charset="0"/>
                <a:ea typeface="+mn-ea"/>
                <a:cs typeface="Times New Roman" panose="02020603050405020304" pitchFamily="18" charset="0"/>
              </a:endParaRP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224317"/>
                                        </p:tgtEl>
                                        <p:attrNameLst>
                                          <p:attrName>style.visibility</p:attrName>
                                        </p:attrNameLst>
                                      </p:cBhvr>
                                      <p:to>
                                        <p:strVal val="visible"/>
                                      </p:to>
                                    </p:set>
                                    <p:animEffect transition="in" filter="blinds(horizontal)">
                                      <p:cBhvr>
                                        <p:cTn id="11" dur="500"/>
                                        <p:tgtEl>
                                          <p:spTgt spid="224317"/>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24318"/>
                                        </p:tgtEl>
                                        <p:attrNameLst>
                                          <p:attrName>style.visibility</p:attrName>
                                        </p:attrNameLst>
                                      </p:cBhvr>
                                      <p:to>
                                        <p:strVal val="visible"/>
                                      </p:to>
                                    </p:set>
                                    <p:animEffect transition="in" filter="blinds(horizontal)">
                                      <p:cBhvr>
                                        <p:cTn id="21" dur="500"/>
                                        <p:tgtEl>
                                          <p:spTgt spid="224318"/>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24320">
                                            <p:txEl>
                                              <p:charRg st="0" end="7"/>
                                            </p:txEl>
                                          </p:spTgt>
                                        </p:tgtEl>
                                        <p:attrNameLst>
                                          <p:attrName>style.visibility</p:attrName>
                                        </p:attrNameLst>
                                      </p:cBhvr>
                                      <p:to>
                                        <p:strVal val="visible"/>
                                      </p:to>
                                    </p:set>
                                    <p:animEffect transition="in" filter="blinds(horizontal)">
                                      <p:cBhvr>
                                        <p:cTn id="26" dur="500"/>
                                        <p:tgtEl>
                                          <p:spTgt spid="224320">
                                            <p:txEl>
                                              <p:charRg st="0" end="7"/>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224320">
                                            <p:txEl>
                                              <p:charRg st="7" end="14"/>
                                            </p:txEl>
                                          </p:spTgt>
                                        </p:tgtEl>
                                        <p:attrNameLst>
                                          <p:attrName>style.visibility</p:attrName>
                                        </p:attrNameLst>
                                      </p:cBhvr>
                                      <p:to>
                                        <p:strVal val="visible"/>
                                      </p:to>
                                    </p:set>
                                    <p:animEffect transition="in" filter="blinds(horizontal)">
                                      <p:cBhvr>
                                        <p:cTn id="29" dur="500"/>
                                        <p:tgtEl>
                                          <p:spTgt spid="224320">
                                            <p:txEl>
                                              <p:charRg st="7" end="1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24319">
                                            <p:txEl>
                                              <p:charRg st="0" end="7"/>
                                            </p:txEl>
                                          </p:spTgt>
                                        </p:tgtEl>
                                        <p:attrNameLst>
                                          <p:attrName>style.visibility</p:attrName>
                                        </p:attrNameLst>
                                      </p:cBhvr>
                                      <p:to>
                                        <p:strVal val="visible"/>
                                      </p:to>
                                    </p:set>
                                    <p:animEffect transition="in" filter="blinds(horizontal)">
                                      <p:cBhvr>
                                        <p:cTn id="34" dur="500"/>
                                        <p:tgtEl>
                                          <p:spTgt spid="224319">
                                            <p:txEl>
                                              <p:charRg st="0" end="7"/>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24319">
                                            <p:txEl>
                                              <p:charRg st="7" end="14"/>
                                            </p:txEl>
                                          </p:spTgt>
                                        </p:tgtEl>
                                        <p:attrNameLst>
                                          <p:attrName>style.visibility</p:attrName>
                                        </p:attrNameLst>
                                      </p:cBhvr>
                                      <p:to>
                                        <p:strVal val="visible"/>
                                      </p:to>
                                    </p:set>
                                    <p:animEffect transition="in" filter="blinds(horizontal)">
                                      <p:cBhvr>
                                        <p:cTn id="37" dur="500"/>
                                        <p:tgtEl>
                                          <p:spTgt spid="224319">
                                            <p:txEl>
                                              <p:charRg st="7" end="1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24321"/>
                                        </p:tgtEl>
                                        <p:attrNameLst>
                                          <p:attrName>style.visibility</p:attrName>
                                        </p:attrNameLst>
                                      </p:cBhvr>
                                      <p:to>
                                        <p:strVal val="visible"/>
                                      </p:to>
                                    </p:set>
                                    <p:animEffect transition="in" filter="blinds(horizontal)">
                                      <p:cBhvr>
                                        <p:cTn id="42" dur="500"/>
                                        <p:tgtEl>
                                          <p:spTgt spid="224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318" grpId="0"/>
      <p:bldP spid="224319" grpId="0" build="allAtOnce"/>
      <p:bldP spid="224321" grpId="0"/>
      <p:bldP spid="2243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2867" name="Rectangle 3"/>
          <p:cNvSpPr/>
          <p:nvPr/>
        </p:nvSpPr>
        <p:spPr>
          <a:xfrm>
            <a:off x="1484313" y="1454150"/>
            <a:ext cx="3200400" cy="1543050"/>
          </a:xfrm>
          <a:prstGeom prst="rect">
            <a:avLst/>
          </a:prstGeom>
          <a:solidFill>
            <a:srgbClr val="CCCC00"/>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ts val="1200"/>
              </a:spcBef>
              <a:buClrTx/>
              <a:buFontTx/>
              <a:buNone/>
            </a:pPr>
            <a:r>
              <a:rPr lang="en-US" altLang="zh-CN" sz="2800" dirty="0">
                <a:solidFill>
                  <a:schemeClr val="bg2"/>
                </a:solidFill>
                <a:latin typeface="Times New Roman" panose="02020603050405020304" pitchFamily="18" charset="0"/>
                <a:ea typeface="宋体" panose="02010600030101010101" pitchFamily="2" charset="-122"/>
              </a:rPr>
              <a:t>Applications</a:t>
            </a:r>
            <a:endParaRPr lang="en-US" altLang="zh-CN" sz="2800" dirty="0">
              <a:solidFill>
                <a:schemeClr val="bg2"/>
              </a:solidFill>
              <a:latin typeface="Times New Roman" panose="02020603050405020304" pitchFamily="18" charset="0"/>
              <a:ea typeface="宋体" panose="02010600030101010101" pitchFamily="2" charset="-122"/>
            </a:endParaRPr>
          </a:p>
          <a:p>
            <a:pPr marL="0" lvl="0" indent="0" algn="ctr">
              <a:lnSpc>
                <a:spcPct val="100000"/>
              </a:lnSpc>
              <a:spcBef>
                <a:spcPct val="0"/>
              </a:spcBef>
              <a:buClrTx/>
              <a:buFontTx/>
              <a:buNone/>
            </a:pPr>
            <a:endParaRPr lang="en-US" altLang="zh-CN" sz="2800" dirty="0">
              <a:solidFill>
                <a:schemeClr val="bg1"/>
              </a:solidFill>
              <a:latin typeface="Times New Roman" panose="02020603050405020304" pitchFamily="18" charset="0"/>
              <a:ea typeface="宋体" panose="02010600030101010101" pitchFamily="2" charset="-122"/>
            </a:endParaRPr>
          </a:p>
          <a:p>
            <a:pPr marL="0" lvl="0" indent="0" algn="ctr">
              <a:lnSpc>
                <a:spcPct val="100000"/>
              </a:lnSpc>
              <a:spcBef>
                <a:spcPct val="0"/>
              </a:spcBef>
              <a:buClrTx/>
              <a:buFontTx/>
              <a:buNone/>
            </a:pPr>
            <a:endParaRPr lang="en-US" altLang="zh-CN" sz="2400" dirty="0">
              <a:solidFill>
                <a:schemeClr val="tx2"/>
              </a:solidFill>
              <a:latin typeface="Times New Roman" panose="02020603050405020304" pitchFamily="18" charset="0"/>
              <a:ea typeface="宋体" panose="02010600030101010101" pitchFamily="2" charset="-122"/>
            </a:endParaRPr>
          </a:p>
          <a:p>
            <a:pPr marL="0" lvl="0" indent="0" algn="ctr">
              <a:lnSpc>
                <a:spcPct val="100000"/>
              </a:lnSpc>
              <a:spcBef>
                <a:spcPct val="0"/>
              </a:spcBef>
              <a:buClrTx/>
              <a:buFontTx/>
              <a:buNone/>
            </a:pPr>
            <a:endParaRPr lang="en-US" altLang="zh-CN" sz="2400" dirty="0">
              <a:solidFill>
                <a:schemeClr val="tx2"/>
              </a:solidFill>
              <a:latin typeface="Times New Roman" panose="02020603050405020304" pitchFamily="18" charset="0"/>
              <a:ea typeface="宋体" panose="02010600030101010101" pitchFamily="2" charset="-122"/>
            </a:endParaRPr>
          </a:p>
        </p:txBody>
      </p:sp>
      <p:sp>
        <p:nvSpPr>
          <p:cNvPr id="292868" name="Rectangle 4"/>
          <p:cNvSpPr/>
          <p:nvPr/>
        </p:nvSpPr>
        <p:spPr>
          <a:xfrm>
            <a:off x="2932113" y="2225675"/>
            <a:ext cx="1752600" cy="771525"/>
          </a:xfrm>
          <a:prstGeom prst="rect">
            <a:avLst/>
          </a:prstGeom>
          <a:solidFill>
            <a:srgbClr val="0099FF"/>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en-US" altLang="zh-CN" sz="2400" dirty="0">
                <a:solidFill>
                  <a:srgbClr val="FFFF00"/>
                </a:solidFill>
                <a:latin typeface="Times New Roman" panose="02020603050405020304" pitchFamily="18" charset="0"/>
                <a:ea typeface="宋体" panose="02010600030101010101" pitchFamily="2" charset="-122"/>
              </a:rPr>
              <a:t>OS</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292869" name="Rectangle 5"/>
          <p:cNvSpPr/>
          <p:nvPr/>
        </p:nvSpPr>
        <p:spPr>
          <a:xfrm>
            <a:off x="1481138" y="2540000"/>
            <a:ext cx="1828800" cy="457200"/>
          </a:xfrm>
          <a:prstGeom prst="rect">
            <a:avLst/>
          </a:prstGeom>
          <a:solidFill>
            <a:srgbClr val="66FFFF"/>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en-US" altLang="zh-CN" sz="2400" dirty="0">
                <a:solidFill>
                  <a:srgbClr val="7030A0"/>
                </a:solidFill>
                <a:latin typeface="Times New Roman" panose="02020603050405020304" pitchFamily="18" charset="0"/>
                <a:ea typeface="宋体" panose="02010600030101010101" pitchFamily="2" charset="-122"/>
              </a:rPr>
              <a:t>Compiler</a:t>
            </a:r>
            <a:endParaRPr lang="en-US" altLang="zh-CN" sz="2400" dirty="0">
              <a:solidFill>
                <a:srgbClr val="7030A0"/>
              </a:solidFill>
              <a:latin typeface="Times New Roman" panose="02020603050405020304" pitchFamily="18" charset="0"/>
              <a:ea typeface="宋体" panose="02010600030101010101" pitchFamily="2" charset="-122"/>
            </a:endParaRPr>
          </a:p>
        </p:txBody>
      </p:sp>
      <p:sp>
        <p:nvSpPr>
          <p:cNvPr id="292870" name="Rectangle 6"/>
          <p:cNvSpPr/>
          <p:nvPr/>
        </p:nvSpPr>
        <p:spPr>
          <a:xfrm>
            <a:off x="811213" y="3025775"/>
            <a:ext cx="5399087" cy="55880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en-US" altLang="zh-CN" sz="2400" dirty="0">
                <a:solidFill>
                  <a:srgbClr val="FF0000"/>
                </a:solidFill>
                <a:latin typeface="Times New Roman" panose="02020603050405020304" pitchFamily="18" charset="0"/>
                <a:ea typeface="宋体" panose="02010600030101010101" pitchFamily="2" charset="-122"/>
              </a:rPr>
              <a:t>Instruction Set Architecture </a:t>
            </a:r>
            <a:r>
              <a:rPr lang="zh-CN" altLang="en-US" sz="2400" dirty="0">
                <a:solidFill>
                  <a:srgbClr val="FF0000"/>
                </a:solidFill>
                <a:latin typeface="Times New Roman" panose="02020603050405020304" pitchFamily="18" charset="0"/>
                <a:ea typeface="宋体" panose="02010600030101010101" pitchFamily="2" charset="-122"/>
              </a:rPr>
              <a:t>（</a:t>
            </a:r>
            <a:r>
              <a:rPr lang="en-US" altLang="zh-CN" sz="2400" dirty="0">
                <a:solidFill>
                  <a:srgbClr val="FF0000"/>
                </a:solidFill>
                <a:latin typeface="Times New Roman" panose="02020603050405020304" pitchFamily="18" charset="0"/>
                <a:ea typeface="宋体" panose="02010600030101010101" pitchFamily="2" charset="-122"/>
              </a:rPr>
              <a:t>ISA</a:t>
            </a:r>
            <a:r>
              <a:rPr lang="zh-CN" altLang="en-US" sz="2400" dirty="0">
                <a:solidFill>
                  <a:srgbClr val="FF0000"/>
                </a:solidFill>
                <a:latin typeface="Times New Roman" panose="02020603050405020304" pitchFamily="18" charset="0"/>
                <a:ea typeface="宋体" panose="02010600030101010101" pitchFamily="2" charset="-122"/>
              </a:rPr>
              <a:t>）</a:t>
            </a:r>
            <a:endParaRPr lang="zh-CN" altLang="en-US" sz="2400" dirty="0">
              <a:solidFill>
                <a:srgbClr val="FF0000"/>
              </a:solidFill>
              <a:latin typeface="Times New Roman" panose="02020603050405020304" pitchFamily="18" charset="0"/>
              <a:ea typeface="宋体" panose="02010600030101010101" pitchFamily="2" charset="-122"/>
            </a:endParaRPr>
          </a:p>
        </p:txBody>
      </p:sp>
      <p:sp>
        <p:nvSpPr>
          <p:cNvPr id="292871" name="Rectangle 7"/>
          <p:cNvSpPr/>
          <p:nvPr/>
        </p:nvSpPr>
        <p:spPr>
          <a:xfrm>
            <a:off x="1458913" y="3614738"/>
            <a:ext cx="1600200" cy="685800"/>
          </a:xfrm>
          <a:prstGeom prst="rect">
            <a:avLst/>
          </a:prstGeom>
          <a:solidFill>
            <a:srgbClr val="00FF00"/>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90000"/>
              </a:lnSpc>
              <a:spcBef>
                <a:spcPct val="0"/>
              </a:spcBef>
              <a:buClrTx/>
              <a:buFontTx/>
              <a:buNone/>
            </a:pPr>
            <a:r>
              <a:rPr lang="en-US" altLang="zh-CN" sz="2400" dirty="0">
                <a:solidFill>
                  <a:srgbClr val="0000CC"/>
                </a:solidFill>
                <a:latin typeface="Times New Roman" panose="02020603050405020304" pitchFamily="18" charset="0"/>
                <a:ea typeface="宋体" panose="02010600030101010101" pitchFamily="2" charset="-122"/>
              </a:rPr>
              <a:t>Instruction</a:t>
            </a:r>
            <a:endParaRPr lang="en-US" altLang="zh-CN" sz="2400" dirty="0">
              <a:solidFill>
                <a:srgbClr val="0000CC"/>
              </a:solidFill>
              <a:latin typeface="Times New Roman" panose="02020603050405020304" pitchFamily="18" charset="0"/>
              <a:ea typeface="宋体" panose="02010600030101010101" pitchFamily="2" charset="-122"/>
            </a:endParaRPr>
          </a:p>
          <a:p>
            <a:pPr marL="0" lvl="0" indent="0" algn="ctr">
              <a:lnSpc>
                <a:spcPct val="90000"/>
              </a:lnSpc>
              <a:spcBef>
                <a:spcPct val="0"/>
              </a:spcBef>
              <a:buClrTx/>
              <a:buFontTx/>
              <a:buNone/>
            </a:pPr>
            <a:r>
              <a:rPr lang="en-US" altLang="zh-CN" sz="2400" dirty="0">
                <a:solidFill>
                  <a:srgbClr val="0000CC"/>
                </a:solidFill>
                <a:latin typeface="Times New Roman" panose="02020603050405020304" pitchFamily="18" charset="0"/>
                <a:ea typeface="宋体" panose="02010600030101010101" pitchFamily="2" charset="-122"/>
              </a:rPr>
              <a:t>Processing</a:t>
            </a:r>
            <a:endParaRPr lang="en-US" altLang="zh-CN" sz="2400" dirty="0">
              <a:solidFill>
                <a:srgbClr val="0000CC"/>
              </a:solidFill>
              <a:latin typeface="Times New Roman" panose="02020603050405020304" pitchFamily="18" charset="0"/>
              <a:ea typeface="宋体" panose="02010600030101010101" pitchFamily="2" charset="-122"/>
            </a:endParaRPr>
          </a:p>
        </p:txBody>
      </p:sp>
      <p:sp>
        <p:nvSpPr>
          <p:cNvPr id="292872" name="Rectangle 8"/>
          <p:cNvSpPr/>
          <p:nvPr/>
        </p:nvSpPr>
        <p:spPr>
          <a:xfrm>
            <a:off x="3059113" y="3614738"/>
            <a:ext cx="1639887" cy="685800"/>
          </a:xfrm>
          <a:prstGeom prst="rect">
            <a:avLst/>
          </a:prstGeom>
          <a:solidFill>
            <a:srgbClr val="FF00FF"/>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90000"/>
              </a:lnSpc>
              <a:spcBef>
                <a:spcPct val="0"/>
              </a:spcBef>
              <a:buClrTx/>
              <a:buFontTx/>
              <a:buNone/>
            </a:pPr>
            <a:r>
              <a:rPr lang="en-US" altLang="zh-CN" sz="2400" dirty="0">
                <a:latin typeface="Times New Roman" panose="02020603050405020304" pitchFamily="18" charset="0"/>
                <a:ea typeface="宋体" panose="02010600030101010101" pitchFamily="2" charset="-122"/>
              </a:rPr>
              <a:t>Input/</a:t>
            </a:r>
            <a:endParaRPr lang="en-US" altLang="zh-CN" sz="2400" dirty="0">
              <a:latin typeface="Times New Roman" panose="02020603050405020304" pitchFamily="18" charset="0"/>
              <a:ea typeface="宋体" panose="02010600030101010101" pitchFamily="2" charset="-122"/>
            </a:endParaRPr>
          </a:p>
          <a:p>
            <a:pPr marL="0" lvl="0" indent="0" algn="ctr">
              <a:lnSpc>
                <a:spcPct val="90000"/>
              </a:lnSpc>
              <a:spcBef>
                <a:spcPct val="0"/>
              </a:spcBef>
              <a:buClrTx/>
              <a:buFontTx/>
              <a:buNone/>
            </a:pPr>
            <a:r>
              <a:rPr lang="en-US" altLang="zh-CN" sz="2400" dirty="0">
                <a:latin typeface="Times New Roman" panose="02020603050405020304" pitchFamily="18" charset="0"/>
                <a:ea typeface="宋体" panose="02010600030101010101" pitchFamily="2" charset="-122"/>
              </a:rPr>
              <a:t>Output</a:t>
            </a:r>
            <a:endParaRPr lang="en-US" altLang="zh-CN" sz="2400" dirty="0">
              <a:latin typeface="Times New Roman" panose="02020603050405020304" pitchFamily="18" charset="0"/>
              <a:ea typeface="宋体" panose="02010600030101010101" pitchFamily="2" charset="-122"/>
            </a:endParaRPr>
          </a:p>
        </p:txBody>
      </p:sp>
      <p:sp>
        <p:nvSpPr>
          <p:cNvPr id="292873" name="Text Box 9"/>
          <p:cNvSpPr txBox="1"/>
          <p:nvPr/>
        </p:nvSpPr>
        <p:spPr>
          <a:xfrm>
            <a:off x="4827588" y="4151313"/>
            <a:ext cx="3567112" cy="94615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en-US" altLang="zh-CN" sz="2800" dirty="0">
                <a:latin typeface="Times New Roman" panose="02020603050405020304" pitchFamily="18" charset="0"/>
                <a:ea typeface="宋体" panose="02010600030101010101" pitchFamily="2" charset="-122"/>
              </a:rPr>
              <a:t>Hardware layers for design  abstraction</a:t>
            </a:r>
            <a:endParaRPr lang="en-US" altLang="zh-CN" sz="2800" dirty="0">
              <a:latin typeface="Times New Roman" panose="02020603050405020304" pitchFamily="18" charset="0"/>
              <a:ea typeface="宋体" panose="02010600030101010101" pitchFamily="2" charset="-122"/>
            </a:endParaRPr>
          </a:p>
        </p:txBody>
      </p:sp>
      <p:sp>
        <p:nvSpPr>
          <p:cNvPr id="292874" name="Rectangle 10"/>
          <p:cNvSpPr>
            <a:spLocks noChangeArrowheads="1"/>
          </p:cNvSpPr>
          <p:nvPr/>
        </p:nvSpPr>
        <p:spPr bwMode="auto">
          <a:xfrm>
            <a:off x="1458913" y="4300538"/>
            <a:ext cx="3240088" cy="685800"/>
          </a:xfrm>
          <a:prstGeom prst="rect">
            <a:avLst/>
          </a:prstGeom>
          <a:solidFill>
            <a:schemeClr val="accent2">
              <a:lumMod val="40000"/>
              <a:lumOff val="60000"/>
            </a:schemeClr>
          </a:solidFill>
          <a:ln w="9525">
            <a:solidFill>
              <a:schemeClr val="tx1"/>
            </a:solidFill>
            <a:miter lim="800000"/>
          </a:ln>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err="1">
                <a:ln>
                  <a:noFill/>
                </a:ln>
                <a:solidFill>
                  <a:srgbClr val="006600"/>
                </a:solidFill>
                <a:effectLst/>
                <a:uLnTx/>
                <a:uFillTx/>
                <a:latin typeface="Times New Roman" panose="02020603050405020304" pitchFamily="18" charset="0"/>
                <a:ea typeface="宋体" panose="02010600030101010101" pitchFamily="2" charset="-122"/>
                <a:cs typeface="+mn-cs"/>
              </a:rPr>
              <a:t>Datapath</a:t>
            </a:r>
            <a:r>
              <a:rPr kumimoji="0" lang="en-US" altLang="zh-CN" sz="2400" b="1" i="0" u="none" strike="noStrike" kern="1200" cap="none" spc="0" normalizeH="0" baseline="0" noProof="0" dirty="0">
                <a:ln>
                  <a:noFill/>
                </a:ln>
                <a:solidFill>
                  <a:srgbClr val="006600"/>
                </a:solidFill>
                <a:effectLst/>
                <a:uLnTx/>
                <a:uFillTx/>
                <a:latin typeface="Times New Roman" panose="02020603050405020304" pitchFamily="18" charset="0"/>
                <a:ea typeface="宋体" panose="02010600030101010101" pitchFamily="2" charset="-122"/>
                <a:cs typeface="+mn-cs"/>
              </a:rPr>
              <a:t> &amp; Control</a:t>
            </a:r>
            <a:endParaRPr kumimoji="0" lang="en-US" altLang="zh-CN" sz="2400" b="1" i="0" u="none" strike="noStrike" kern="1200" cap="none" spc="0" normalizeH="0" baseline="0" noProof="0" dirty="0">
              <a:ln>
                <a:noFill/>
              </a:ln>
              <a:solidFill>
                <a:srgbClr val="006600"/>
              </a:solidFill>
              <a:effectLst/>
              <a:uLnTx/>
              <a:uFillTx/>
              <a:latin typeface="Times New Roman" panose="02020603050405020304" pitchFamily="18" charset="0"/>
              <a:ea typeface="宋体" panose="02010600030101010101" pitchFamily="2" charset="-122"/>
              <a:cs typeface="+mn-cs"/>
            </a:endParaRPr>
          </a:p>
        </p:txBody>
      </p:sp>
      <p:sp>
        <p:nvSpPr>
          <p:cNvPr id="292875" name="Rectangle 11"/>
          <p:cNvSpPr/>
          <p:nvPr/>
        </p:nvSpPr>
        <p:spPr>
          <a:xfrm>
            <a:off x="1458913" y="4986338"/>
            <a:ext cx="3240087" cy="685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en-US" altLang="zh-CN" sz="2400" dirty="0">
                <a:solidFill>
                  <a:srgbClr val="C00000"/>
                </a:solidFill>
                <a:latin typeface="Times New Roman" panose="02020603050405020304" pitchFamily="18" charset="0"/>
                <a:ea typeface="宋体" panose="02010600030101010101" pitchFamily="2" charset="-122"/>
              </a:rPr>
              <a:t>Digital Design</a:t>
            </a:r>
            <a:endParaRPr lang="en-US" altLang="zh-CN" sz="2400" dirty="0">
              <a:solidFill>
                <a:srgbClr val="C00000"/>
              </a:solidFill>
              <a:latin typeface="Times New Roman" panose="02020603050405020304" pitchFamily="18" charset="0"/>
              <a:ea typeface="宋体" panose="02010600030101010101" pitchFamily="2" charset="-122"/>
            </a:endParaRPr>
          </a:p>
        </p:txBody>
      </p:sp>
      <p:sp>
        <p:nvSpPr>
          <p:cNvPr id="292876" name="Rectangle 12"/>
          <p:cNvSpPr/>
          <p:nvPr/>
        </p:nvSpPr>
        <p:spPr>
          <a:xfrm>
            <a:off x="1458913" y="5672138"/>
            <a:ext cx="3240087" cy="685800"/>
          </a:xfrm>
          <a:prstGeom prst="rect">
            <a:avLst/>
          </a:prstGeom>
          <a:solidFill>
            <a:srgbClr val="0000CC"/>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en-US" altLang="zh-CN" sz="2400" dirty="0">
                <a:solidFill>
                  <a:srgbClr val="FFFF00"/>
                </a:solidFill>
                <a:latin typeface="Times New Roman" panose="02020603050405020304" pitchFamily="18" charset="0"/>
                <a:ea typeface="宋体" panose="02010600030101010101" pitchFamily="2" charset="-122"/>
              </a:rPr>
              <a:t>Circuit Design</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292877" name="Text Box 13"/>
          <p:cNvSpPr txBox="1"/>
          <p:nvPr/>
        </p:nvSpPr>
        <p:spPr>
          <a:xfrm>
            <a:off x="4959350" y="1879600"/>
            <a:ext cx="2986088" cy="94615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en-US" altLang="zh-CN" sz="2800" dirty="0">
                <a:latin typeface="Times New Roman" panose="02020603050405020304" pitchFamily="18" charset="0"/>
                <a:ea typeface="宋体" panose="02010600030101010101" pitchFamily="2" charset="-122"/>
              </a:rPr>
              <a:t>Software layers of</a:t>
            </a:r>
            <a:endParaRPr lang="en-US" altLang="zh-CN" sz="2800" dirty="0">
              <a:latin typeface="Times New Roman" panose="02020603050405020304" pitchFamily="18" charset="0"/>
              <a:ea typeface="宋体" panose="02010600030101010101" pitchFamily="2" charset="-122"/>
            </a:endParaRPr>
          </a:p>
          <a:p>
            <a:pPr marL="0" lvl="0" indent="0" algn="ctr">
              <a:lnSpc>
                <a:spcPct val="100000"/>
              </a:lnSpc>
              <a:spcBef>
                <a:spcPct val="0"/>
              </a:spcBef>
              <a:buClrTx/>
              <a:buFontTx/>
              <a:buNone/>
            </a:pPr>
            <a:r>
              <a:rPr lang="en-US" altLang="zh-CN" sz="2800" dirty="0">
                <a:latin typeface="Times New Roman" panose="02020603050405020304" pitchFamily="18" charset="0"/>
                <a:ea typeface="宋体" panose="02010600030101010101" pitchFamily="2" charset="-122"/>
              </a:rPr>
              <a:t>abstraction</a:t>
            </a:r>
            <a:endParaRPr lang="en-US" altLang="zh-CN" sz="2800" dirty="0">
              <a:latin typeface="Times New Roman" panose="02020603050405020304" pitchFamily="18" charset="0"/>
              <a:ea typeface="宋体" panose="02010600030101010101" pitchFamily="2" charset="-122"/>
            </a:endParaRPr>
          </a:p>
        </p:txBody>
      </p:sp>
      <p:sp>
        <p:nvSpPr>
          <p:cNvPr id="7182" name="AutoShape 14"/>
          <p:cNvSpPr/>
          <p:nvPr/>
        </p:nvSpPr>
        <p:spPr>
          <a:xfrm>
            <a:off x="6451600" y="3367088"/>
            <a:ext cx="2622550" cy="777875"/>
          </a:xfrm>
          <a:prstGeom prst="wedgeRoundRectCallout">
            <a:avLst>
              <a:gd name="adj1" fmla="val -76421"/>
              <a:gd name="adj2" fmla="val -52028"/>
              <a:gd name="adj3" fmla="val 16667"/>
            </a:avLst>
          </a:prstGeom>
          <a:solidFill>
            <a:srgbClr val="FFC000"/>
          </a:solid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buNone/>
            </a:pPr>
            <a:r>
              <a:rPr lang="zh-CN" altLang="en-US" sz="2400" dirty="0">
                <a:solidFill>
                  <a:srgbClr val="0000CC"/>
                </a:solidFill>
                <a:latin typeface="Times New Roman" panose="02020603050405020304" pitchFamily="18" charset="0"/>
              </a:rPr>
              <a:t>计算机硬件和软件的接口及界面</a:t>
            </a:r>
            <a:endParaRPr lang="zh-CN" altLang="en-US" sz="2400" dirty="0">
              <a:solidFill>
                <a:srgbClr val="0000CC"/>
              </a:solidFill>
              <a:latin typeface="Times New Roman" panose="02020603050405020304" pitchFamily="18" charset="0"/>
            </a:endParaRPr>
          </a:p>
        </p:txBody>
      </p:sp>
      <p:sp>
        <p:nvSpPr>
          <p:cNvPr id="4" name="矩形 3"/>
          <p:cNvSpPr/>
          <p:nvPr/>
        </p:nvSpPr>
        <p:spPr>
          <a:xfrm>
            <a:off x="1076325" y="161925"/>
            <a:ext cx="6921500" cy="831850"/>
          </a:xfrm>
          <a:prstGeom prst="rect">
            <a:avLst/>
          </a:prstGeom>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j-cs"/>
              </a:rPr>
              <a:t>回顾－</a:t>
            </a:r>
            <a:r>
              <a:rPr kumimoji="1" lang="zh-CN" altLang="en-US"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j-cs"/>
              </a:rPr>
              <a:t>指令系统</a:t>
            </a:r>
            <a:endParaRPr kumimoji="0" lang="zh-CN" altLang="en-US" sz="2400" b="1" i="0" u="none" strike="noStrike" kern="1200" cap="none" spc="0" normalizeH="0" baseline="0" noProof="0" dirty="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6" name="矩形 5"/>
          <p:cNvSpPr/>
          <p:nvPr/>
        </p:nvSpPr>
        <p:spPr>
          <a:xfrm>
            <a:off x="4762500" y="5146675"/>
            <a:ext cx="4300538" cy="1200150"/>
          </a:xfrm>
          <a:prstGeom prst="rect">
            <a:avLst/>
          </a:prstGeom>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400" b="1"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Times New Roman" panose="02020603050405020304" pitchFamily="18" charset="0"/>
                <a:ea typeface="华文新魏" panose="02010800040101010101" pitchFamily="2" charset="-122"/>
                <a:cs typeface="+mn-cs"/>
              </a:rPr>
              <a:t>Instruction System</a:t>
            </a:r>
            <a:r>
              <a:rPr kumimoji="1" lang="zh-CN" altLang="en-US" sz="2400" b="1"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Times New Roman" panose="02020603050405020304" pitchFamily="18" charset="0"/>
                <a:ea typeface="华文新魏" panose="02010800040101010101" pitchFamily="2" charset="-122"/>
                <a:cs typeface="+mn-cs"/>
              </a:rPr>
              <a:t> </a:t>
            </a:r>
            <a:r>
              <a:rPr kumimoji="1" lang="en-US" altLang="zh-CN" sz="2400" b="1"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Times New Roman" panose="02020603050405020304" pitchFamily="18" charset="0"/>
                <a:ea typeface="华文新魏" panose="02010800040101010101" pitchFamily="2" charset="-122"/>
                <a:cs typeface="+mn-cs"/>
              </a:rPr>
              <a:t> = </a:t>
            </a:r>
            <a:r>
              <a:rPr kumimoji="1" lang="zh-CN" altLang="en-US" sz="2400" b="1"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Times New Roman" panose="02020603050405020304" pitchFamily="18" charset="0"/>
                <a:ea typeface="华文新魏" panose="02010800040101010101" pitchFamily="2" charset="-122"/>
                <a:cs typeface="+mn-cs"/>
              </a:rPr>
              <a:t> </a:t>
            </a:r>
            <a:r>
              <a:rPr kumimoji="1" lang="en-US" altLang="zh-CN" sz="2400" b="1"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Times New Roman" panose="02020603050405020304" pitchFamily="18" charset="0"/>
                <a:ea typeface="华文新魏" panose="02010800040101010101" pitchFamily="2" charset="-122"/>
                <a:cs typeface="+mn-cs"/>
              </a:rPr>
              <a:t>Data Representation  +  Instructions </a:t>
            </a:r>
            <a:endParaRPr kumimoji="1" lang="en-US" altLang="zh-CN" sz="2400" b="1"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Times New Roman" panose="02020603050405020304" pitchFamily="18" charset="0"/>
              <a:ea typeface="华文新魏" panose="0201080004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400" b="1"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Times New Roman" panose="02020603050405020304" pitchFamily="18" charset="0"/>
                <a:ea typeface="华文新魏" panose="02010800040101010101" pitchFamily="2" charset="-122"/>
                <a:cs typeface="+mn-cs"/>
              </a:rPr>
              <a:t> +  Addressing Model</a:t>
            </a:r>
            <a:endParaRPr kumimoji="0" lang="zh-CN" altLang="en-US" sz="2400" b="1" i="0" u="none" strike="noStrike" kern="0" cap="none" spc="0" normalizeH="0" baseline="0" noProof="0" dirty="0">
              <a:ln>
                <a:noFill/>
              </a:ln>
              <a:solidFill>
                <a:srgbClr val="FFFF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2870"/>
                                        </p:tgtEl>
                                        <p:attrNameLst>
                                          <p:attrName>style.visibility</p:attrName>
                                        </p:attrNameLst>
                                      </p:cBhvr>
                                      <p:to>
                                        <p:strVal val="visible"/>
                                      </p:to>
                                    </p:set>
                                    <p:animEffect transition="in" filter="blinds(horizontal)">
                                      <p:cBhvr>
                                        <p:cTn id="7" dur="500"/>
                                        <p:tgtEl>
                                          <p:spTgt spid="29287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2871"/>
                                        </p:tgtEl>
                                        <p:attrNameLst>
                                          <p:attrName>style.visibility</p:attrName>
                                        </p:attrNameLst>
                                      </p:cBhvr>
                                      <p:to>
                                        <p:strVal val="visible"/>
                                      </p:to>
                                    </p:set>
                                    <p:animEffect transition="in" filter="blinds(horizontal)">
                                      <p:cBhvr>
                                        <p:cTn id="10" dur="500"/>
                                        <p:tgtEl>
                                          <p:spTgt spid="29287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92872"/>
                                        </p:tgtEl>
                                        <p:attrNameLst>
                                          <p:attrName>style.visibility</p:attrName>
                                        </p:attrNameLst>
                                      </p:cBhvr>
                                      <p:to>
                                        <p:strVal val="visible"/>
                                      </p:to>
                                    </p:set>
                                    <p:animEffect transition="in" filter="blinds(horizontal)">
                                      <p:cBhvr>
                                        <p:cTn id="13" dur="500"/>
                                        <p:tgtEl>
                                          <p:spTgt spid="29287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92873"/>
                                        </p:tgtEl>
                                        <p:attrNameLst>
                                          <p:attrName>style.visibility</p:attrName>
                                        </p:attrNameLst>
                                      </p:cBhvr>
                                      <p:to>
                                        <p:strVal val="visible"/>
                                      </p:to>
                                    </p:set>
                                    <p:animEffect transition="in" filter="blinds(horizontal)">
                                      <p:cBhvr>
                                        <p:cTn id="16" dur="500"/>
                                        <p:tgtEl>
                                          <p:spTgt spid="292873"/>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92874"/>
                                        </p:tgtEl>
                                        <p:attrNameLst>
                                          <p:attrName>style.visibility</p:attrName>
                                        </p:attrNameLst>
                                      </p:cBhvr>
                                      <p:to>
                                        <p:strVal val="visible"/>
                                      </p:to>
                                    </p:set>
                                    <p:animEffect transition="in" filter="blinds(horizontal)">
                                      <p:cBhvr>
                                        <p:cTn id="19" dur="500"/>
                                        <p:tgtEl>
                                          <p:spTgt spid="292874"/>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292875"/>
                                        </p:tgtEl>
                                        <p:attrNameLst>
                                          <p:attrName>style.visibility</p:attrName>
                                        </p:attrNameLst>
                                      </p:cBhvr>
                                      <p:to>
                                        <p:strVal val="visible"/>
                                      </p:to>
                                    </p:set>
                                    <p:animEffect transition="in" filter="blinds(horizontal)">
                                      <p:cBhvr>
                                        <p:cTn id="22" dur="500"/>
                                        <p:tgtEl>
                                          <p:spTgt spid="292875"/>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92876"/>
                                        </p:tgtEl>
                                        <p:attrNameLst>
                                          <p:attrName>style.visibility</p:attrName>
                                        </p:attrNameLst>
                                      </p:cBhvr>
                                      <p:to>
                                        <p:strVal val="visible"/>
                                      </p:to>
                                    </p:set>
                                    <p:animEffect transition="in" filter="blinds(horizontal)">
                                      <p:cBhvr>
                                        <p:cTn id="25" dur="500"/>
                                        <p:tgtEl>
                                          <p:spTgt spid="29287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182"/>
                                        </p:tgtEl>
                                        <p:attrNameLst>
                                          <p:attrName>style.visibility</p:attrName>
                                        </p:attrNameLst>
                                      </p:cBhvr>
                                      <p:to>
                                        <p:strVal val="visible"/>
                                      </p:to>
                                    </p:set>
                                    <p:animEffect transition="in" filter="blinds(horizontal)">
                                      <p:cBhvr>
                                        <p:cTn id="30" dur="500"/>
                                        <p:tgtEl>
                                          <p:spTgt spid="7182"/>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92867"/>
                                        </p:tgtEl>
                                        <p:attrNameLst>
                                          <p:attrName>style.visibility</p:attrName>
                                        </p:attrNameLst>
                                      </p:cBhvr>
                                      <p:to>
                                        <p:strVal val="visible"/>
                                      </p:to>
                                    </p:set>
                                    <p:animEffect transition="in" filter="blinds(horizontal)">
                                      <p:cBhvr>
                                        <p:cTn id="35" dur="500"/>
                                        <p:tgtEl>
                                          <p:spTgt spid="292867"/>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292868"/>
                                        </p:tgtEl>
                                        <p:attrNameLst>
                                          <p:attrName>style.visibility</p:attrName>
                                        </p:attrNameLst>
                                      </p:cBhvr>
                                      <p:to>
                                        <p:strVal val="visible"/>
                                      </p:to>
                                    </p:set>
                                    <p:animEffect transition="in" filter="blinds(horizontal)">
                                      <p:cBhvr>
                                        <p:cTn id="38" dur="500"/>
                                        <p:tgtEl>
                                          <p:spTgt spid="292868"/>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92869"/>
                                        </p:tgtEl>
                                        <p:attrNameLst>
                                          <p:attrName>style.visibility</p:attrName>
                                        </p:attrNameLst>
                                      </p:cBhvr>
                                      <p:to>
                                        <p:strVal val="visible"/>
                                      </p:to>
                                    </p:set>
                                    <p:animEffect transition="in" filter="blinds(horizontal)">
                                      <p:cBhvr>
                                        <p:cTn id="41" dur="500"/>
                                        <p:tgtEl>
                                          <p:spTgt spid="292869"/>
                                        </p:tgtEl>
                                      </p:cBhvr>
                                    </p:animEffect>
                                  </p:childTnLst>
                                </p:cTn>
                              </p:par>
                              <p:par>
                                <p:cTn id="42" presetID="3" presetClass="entr" presetSubtype="10" fill="hold" grpId="1" nodeType="withEffect">
                                  <p:stCondLst>
                                    <p:cond delay="0"/>
                                  </p:stCondLst>
                                  <p:childTnLst>
                                    <p:set>
                                      <p:cBhvr>
                                        <p:cTn id="43" dur="1" fill="hold">
                                          <p:stCondLst>
                                            <p:cond delay="0"/>
                                          </p:stCondLst>
                                        </p:cTn>
                                        <p:tgtEl>
                                          <p:spTgt spid="292870"/>
                                        </p:tgtEl>
                                        <p:attrNameLst>
                                          <p:attrName>style.visibility</p:attrName>
                                        </p:attrNameLst>
                                      </p:cBhvr>
                                      <p:to>
                                        <p:strVal val="visible"/>
                                      </p:to>
                                    </p:set>
                                    <p:animEffect transition="in" filter="blinds(horizontal)">
                                      <p:cBhvr>
                                        <p:cTn id="44" dur="500"/>
                                        <p:tgtEl>
                                          <p:spTgt spid="292870"/>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292877"/>
                                        </p:tgtEl>
                                        <p:attrNameLst>
                                          <p:attrName>style.visibility</p:attrName>
                                        </p:attrNameLst>
                                      </p:cBhvr>
                                      <p:to>
                                        <p:strVal val="visible"/>
                                      </p:to>
                                    </p:set>
                                    <p:animEffect transition="in" filter="blinds(horizontal)">
                                      <p:cBhvr>
                                        <p:cTn id="47" dur="500"/>
                                        <p:tgtEl>
                                          <p:spTgt spid="292877"/>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7" grpId="0" animBg="1"/>
      <p:bldP spid="292868" grpId="0" animBg="1"/>
      <p:bldP spid="292869" grpId="0" animBg="1"/>
      <p:bldP spid="292870" grpId="0" animBg="1"/>
      <p:bldP spid="292870" grpId="1" animBg="1"/>
      <p:bldP spid="292871" grpId="0" animBg="1"/>
      <p:bldP spid="292872" grpId="0" animBg="1"/>
      <p:bldP spid="292873" grpId="0"/>
      <p:bldP spid="292874" grpId="0" animBg="1"/>
      <p:bldP spid="292875" grpId="0" animBg="1"/>
      <p:bldP spid="292876" grpId="0" animBg="1"/>
      <p:bldP spid="292877" grpId="0"/>
      <p:bldP spid="7182" grpId="0" animBg="1"/>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noChangeArrowheads="1"/>
          </p:cNvSpPr>
          <p:nvPr>
            <p:ph idx="1"/>
          </p:nvPr>
        </p:nvSpPr>
        <p:spPr>
          <a:xfrm>
            <a:off x="536575" y="1071563"/>
            <a:ext cx="8474075" cy="5653088"/>
          </a:xfrm>
        </p:spPr>
        <p:txBody>
          <a:bodyPr vert="horz" wrap="square" lIns="91440" tIns="45720" rIns="91440" bIns="45720" numCol="1" anchor="t" anchorCtr="0" compatLnSpc="1">
            <a:spAutoFit/>
          </a:bodyPr>
          <a:lstStyle/>
          <a:p>
            <a:pPr marL="358775" marR="0" lvl="0" indent="-358775" algn="l" defTabSz="914400" rtl="0" eaLnBrk="1" fontAlgn="base" latinLnBrk="0" hangingPunct="1">
              <a:lnSpc>
                <a:spcPct val="100000"/>
              </a:lnSpc>
              <a:spcBef>
                <a:spcPts val="0"/>
              </a:spcBef>
              <a:spcAft>
                <a:spcPct val="0"/>
              </a:spcAft>
              <a:buClr>
                <a:srgbClr val="FF9999"/>
              </a:buClr>
              <a:buSzTx/>
              <a:buFont typeface="Wingdings" panose="05000000000000000000" pitchFamily="2" charset="2"/>
              <a:buBlip>
                <a:blip r:embed="rId1"/>
              </a:buBlip>
              <a:defRPr/>
            </a:pPr>
            <a:r>
              <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机器表示：二进制代码</a:t>
            </a:r>
            <a:endPar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717550" marR="0" lvl="1" indent="-255905" algn="l" defTabSz="914400" rtl="0" eaLnBrk="1" fontAlgn="base" latinLnBrk="0" hangingPunct="1">
              <a:lnSpc>
                <a:spcPct val="100000"/>
              </a:lnSpc>
              <a:spcBef>
                <a:spcPts val="0"/>
              </a:spcBef>
              <a:spcAft>
                <a:spcPct val="0"/>
              </a:spcAft>
              <a:buClr>
                <a:srgbClr val="33CCFF"/>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定长操作码</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(RISC</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采用</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076325" marR="0" lvl="2" indent="-266700" algn="l" defTabSz="914400" rtl="0" eaLnBrk="1" fontAlgn="base" latinLnBrk="0" hangingPunct="1">
              <a:lnSpc>
                <a:spcPct val="100000"/>
              </a:lnSpc>
              <a:spcBef>
                <a:spcPts val="0"/>
              </a:spcBef>
              <a:spcAft>
                <a:spcPct val="0"/>
              </a:spcAft>
              <a:buClr>
                <a:schemeClr val="folHlink"/>
              </a:buClr>
              <a:buSzTx/>
              <a:buFont typeface="Symbol" panose="05050102010706020507" pitchFamily="18" charset="2"/>
              <a:buChar char="§"/>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指令的操作码字段采用固定长度编码</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914400" marR="0" lvl="1" indent="-452755" algn="l" defTabSz="914400" rtl="0" eaLnBrk="1" fontAlgn="base" latinLnBrk="0" hangingPunct="1">
              <a:lnSpc>
                <a:spcPct val="110000"/>
              </a:lnSpc>
              <a:spcBef>
                <a:spcPts val="600"/>
              </a:spcBef>
              <a:spcAft>
                <a:spcPct val="0"/>
              </a:spcAft>
              <a:buClr>
                <a:srgbClr val="33CCFF"/>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   </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914400" marR="0" lvl="1" indent="-452755" algn="l" defTabSz="914400" rtl="0" eaLnBrk="1" fontAlgn="base" latinLnBrk="0" hangingPunct="1">
              <a:lnSpc>
                <a:spcPct val="110000"/>
              </a:lnSpc>
              <a:spcBef>
                <a:spcPts val="600"/>
              </a:spcBef>
              <a:spcAft>
                <a:spcPct val="0"/>
              </a:spcAft>
              <a:buClr>
                <a:srgbClr val="33CCFF"/>
              </a:buClr>
              <a:buSzTx/>
              <a:buFont typeface="Wingdings" panose="05000000000000000000" pitchFamily="2" charset="2"/>
              <a:buBlip>
                <a:blip r:embed="rId2"/>
              </a:buBlip>
              <a:defRPr/>
            </a:pP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0" marR="0" lvl="0" indent="0" algn="l" defTabSz="914400" rtl="0" eaLnBrk="1" fontAlgn="base" latinLnBrk="0" hangingPunct="1">
              <a:lnSpc>
                <a:spcPct val="110000"/>
              </a:lnSpc>
              <a:spcBef>
                <a:spcPts val="600"/>
              </a:spcBef>
              <a:spcAft>
                <a:spcPct val="0"/>
              </a:spcAft>
              <a:buClr>
                <a:srgbClr val="33CCFF"/>
              </a:buClr>
              <a:buSzTx/>
              <a:buFont typeface="Wingdings" panose="05000000000000000000" pitchFamily="2" charset="2"/>
              <a:buNone/>
              <a:defRPr/>
            </a:pP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717550" marR="0" lvl="1" indent="-255905" algn="l" defTabSz="914400" rtl="0" eaLnBrk="1" fontAlgn="base" latinLnBrk="0" hangingPunct="1">
              <a:lnSpc>
                <a:spcPct val="100000"/>
              </a:lnSpc>
              <a:spcBef>
                <a:spcPts val="0"/>
              </a:spcBef>
              <a:spcAft>
                <a:spcPct val="0"/>
              </a:spcAft>
              <a:buClr>
                <a:srgbClr val="33CCFF"/>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扩展操作码</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(CISC</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采用</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076325" marR="0" lvl="2" indent="-266700" algn="l" defTabSz="914400" rtl="0" eaLnBrk="1" fontAlgn="base" latinLnBrk="0" hangingPunct="1">
              <a:lnSpc>
                <a:spcPct val="100000"/>
              </a:lnSpc>
              <a:spcBef>
                <a:spcPts val="0"/>
              </a:spcBef>
              <a:spcAft>
                <a:spcPct val="0"/>
              </a:spcAft>
              <a:buClr>
                <a:schemeClr val="folHlink"/>
              </a:buClr>
              <a:buSzTx/>
              <a:buFont typeface="Symbol" panose="05050102010706020507" pitchFamily="18" charset="2"/>
              <a:buChar char="§"/>
              <a:defRPr/>
            </a:pP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rPr>
              <a:t>一个重要原则：使用频度高的指令分配短的操作码，使用频度低的指令分配较长的操作码</a:t>
            </a: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endParaRPr>
          </a:p>
          <a:p>
            <a:pPr marL="1076325" marR="0" lvl="2" indent="-266700" algn="l" defTabSz="914400" rtl="0" eaLnBrk="1" fontAlgn="base" latinLnBrk="0" hangingPunct="1">
              <a:lnSpc>
                <a:spcPct val="100000"/>
              </a:lnSpc>
              <a:spcBef>
                <a:spcPts val="0"/>
              </a:spcBef>
              <a:spcAft>
                <a:spcPct val="0"/>
              </a:spcAft>
              <a:buClr>
                <a:schemeClr val="folHlink"/>
              </a:buClr>
              <a:buSzTx/>
              <a:buFont typeface="Symbol" panose="05050102010706020507" pitchFamily="18" charset="2"/>
              <a:buChar char="§"/>
              <a:defRPr/>
            </a:pP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rPr>
              <a:t>优点：缩短指令长度、减少程序总位数、增加指令字所能表示的操作</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信息</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076325" marR="0" lvl="2" indent="-266700" algn="l" defTabSz="914400" rtl="0" eaLnBrk="1" fontAlgn="base" latinLnBrk="0" hangingPunct="1">
              <a:lnSpc>
                <a:spcPct val="100000"/>
              </a:lnSpc>
              <a:spcBef>
                <a:spcPts val="0"/>
              </a:spcBef>
              <a:spcAft>
                <a:spcPct val="0"/>
              </a:spcAft>
              <a:buClr>
                <a:schemeClr val="folHlink"/>
              </a:buClr>
              <a:buSzTx/>
              <a:buFont typeface="Symbol" panose="05050102010706020507" pitchFamily="18" charset="2"/>
              <a:buChar char="§"/>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指令操作码的编码长度分成几种固定长度的格式</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435100" marR="0" lvl="3" indent="-266700" algn="l" defTabSz="914400" rtl="0" eaLnBrk="1" fontAlgn="base" latinLnBrk="0" hangingPunct="1">
              <a:lnSpc>
                <a:spcPct val="100000"/>
              </a:lnSpc>
              <a:spcBef>
                <a:spcPts val="0"/>
              </a:spcBef>
              <a:spcAft>
                <a:spcPct val="0"/>
              </a:spcAft>
              <a:buClr>
                <a:srgbClr val="33CCFF"/>
              </a:buClr>
              <a:buSzPct val="75000"/>
              <a:buFont typeface="Wingdings" panose="05000000000000000000" pitchFamily="2" charset="2"/>
              <a:buBlip>
                <a:blip r:embed="rId3"/>
              </a:buBlip>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等长扩展法：</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4-8-12</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3-6-9</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；不等长扩展法</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p:txBody>
      </p:sp>
      <p:sp>
        <p:nvSpPr>
          <p:cNvPr id="4436995" name="Rectangle 3"/>
          <p:cNvSpPr>
            <a:spLocks noGrp="1" noChangeArrowheads="1"/>
          </p:cNvSpPr>
          <p:nvPr>
            <p:ph type="title"/>
          </p:nvPr>
        </p:nvSpPr>
        <p:spPr>
          <a:xfrm>
            <a:off x="381000" y="196850"/>
            <a:ext cx="8393113" cy="7143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a:t>
            </a:r>
            <a:r>
              <a:rPr kumimoji="1"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指令格式</a:t>
            </a:r>
            <a:endParaRPr kumimoji="1"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endParaRPr>
          </a:p>
        </p:txBody>
      </p:sp>
      <p:grpSp>
        <p:nvGrpSpPr>
          <p:cNvPr id="33796" name="Group 4"/>
          <p:cNvGrpSpPr/>
          <p:nvPr/>
        </p:nvGrpSpPr>
        <p:grpSpPr>
          <a:xfrm>
            <a:off x="977900" y="2482850"/>
            <a:ext cx="7573963" cy="455613"/>
            <a:chOff x="565" y="1872"/>
            <a:chExt cx="4771" cy="287"/>
          </a:xfrm>
        </p:grpSpPr>
        <p:sp>
          <p:nvSpPr>
            <p:cNvPr id="33812" name="Rectangle 5"/>
            <p:cNvSpPr/>
            <p:nvPr/>
          </p:nvSpPr>
          <p:spPr>
            <a:xfrm>
              <a:off x="3464" y="1872"/>
              <a:ext cx="1872" cy="287"/>
            </a:xfrm>
            <a:prstGeom prst="rect">
              <a:avLst/>
            </a:prstGeom>
            <a:no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400" dirty="0">
                  <a:solidFill>
                    <a:srgbClr val="FFFF00"/>
                  </a:solidFill>
                  <a:latin typeface="Times New Roman" panose="02020603050405020304" pitchFamily="18" charset="0"/>
                </a:rPr>
                <a:t>目的操作数地址</a:t>
              </a:r>
              <a:endParaRPr lang="zh-CN" altLang="en-US" sz="2400" dirty="0">
                <a:solidFill>
                  <a:srgbClr val="FFFF00"/>
                </a:solidFill>
              </a:endParaRPr>
            </a:p>
          </p:txBody>
        </p:sp>
        <p:sp>
          <p:nvSpPr>
            <p:cNvPr id="33813" name="Rectangle 6"/>
            <p:cNvSpPr/>
            <p:nvPr/>
          </p:nvSpPr>
          <p:spPr>
            <a:xfrm>
              <a:off x="1640" y="1872"/>
              <a:ext cx="1824" cy="287"/>
            </a:xfrm>
            <a:prstGeom prst="rect">
              <a:avLst/>
            </a:prstGeom>
            <a:no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400" dirty="0">
                  <a:solidFill>
                    <a:srgbClr val="FFFF00"/>
                  </a:solidFill>
                  <a:latin typeface="Arial" panose="020B0604020202020204" pitchFamily="34" charset="0"/>
                </a:rPr>
                <a:t>源操作数地址</a:t>
              </a:r>
              <a:endParaRPr lang="zh-CN" altLang="en-US" sz="2400" dirty="0">
                <a:solidFill>
                  <a:srgbClr val="FFFF00"/>
                </a:solidFill>
              </a:endParaRPr>
            </a:p>
          </p:txBody>
        </p:sp>
        <p:sp>
          <p:nvSpPr>
            <p:cNvPr id="33814" name="Rectangle 7"/>
            <p:cNvSpPr/>
            <p:nvPr/>
          </p:nvSpPr>
          <p:spPr>
            <a:xfrm>
              <a:off x="565" y="1872"/>
              <a:ext cx="1075" cy="287"/>
            </a:xfrm>
            <a:prstGeom prst="rect">
              <a:avLst/>
            </a:prstGeom>
            <a:no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100000"/>
                </a:spcBef>
                <a:buNone/>
              </a:pPr>
              <a:r>
                <a:rPr lang="zh-CN" altLang="en-US" sz="2400" dirty="0">
                  <a:solidFill>
                    <a:srgbClr val="FFFF00"/>
                  </a:solidFill>
                  <a:latin typeface="Arial" panose="020B0604020202020204" pitchFamily="34" charset="0"/>
                </a:rPr>
                <a:t>操作码</a:t>
              </a:r>
              <a:endParaRPr lang="zh-CN" altLang="en-US" sz="2400" dirty="0">
                <a:solidFill>
                  <a:srgbClr val="FFFF00"/>
                </a:solidFill>
                <a:latin typeface="Arial" panose="020B0604020202020204" pitchFamily="34" charset="0"/>
              </a:endParaRPr>
            </a:p>
          </p:txBody>
        </p:sp>
        <p:sp>
          <p:nvSpPr>
            <p:cNvPr id="4437000" name="Line 8"/>
            <p:cNvSpPr>
              <a:spLocks noChangeShapeType="1"/>
            </p:cNvSpPr>
            <p:nvPr/>
          </p:nvSpPr>
          <p:spPr bwMode="auto">
            <a:xfrm>
              <a:off x="565" y="1872"/>
              <a:ext cx="2899" cy="0"/>
            </a:xfrm>
            <a:prstGeom prst="line">
              <a:avLst/>
            </a:prstGeom>
            <a:noFill/>
            <a:ln w="28575">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7001" name="Line 9"/>
            <p:cNvSpPr>
              <a:spLocks noChangeShapeType="1"/>
            </p:cNvSpPr>
            <p:nvPr/>
          </p:nvSpPr>
          <p:spPr bwMode="auto">
            <a:xfrm>
              <a:off x="565" y="2159"/>
              <a:ext cx="4771" cy="0"/>
            </a:xfrm>
            <a:prstGeom prst="line">
              <a:avLst/>
            </a:prstGeom>
            <a:noFill/>
            <a:ln w="28575" cap="sq">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7002" name="Line 10"/>
            <p:cNvSpPr>
              <a:spLocks noChangeShapeType="1"/>
            </p:cNvSpPr>
            <p:nvPr/>
          </p:nvSpPr>
          <p:spPr bwMode="auto">
            <a:xfrm>
              <a:off x="565" y="1872"/>
              <a:ext cx="0" cy="287"/>
            </a:xfrm>
            <a:prstGeom prst="line">
              <a:avLst/>
            </a:prstGeom>
            <a:noFill/>
            <a:ln w="28575" cap="sq">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7003" name="Line 11"/>
            <p:cNvSpPr>
              <a:spLocks noChangeShapeType="1"/>
            </p:cNvSpPr>
            <p:nvPr/>
          </p:nvSpPr>
          <p:spPr bwMode="auto">
            <a:xfrm>
              <a:off x="1640" y="1872"/>
              <a:ext cx="0" cy="287"/>
            </a:xfrm>
            <a:prstGeom prst="line">
              <a:avLst/>
            </a:prstGeom>
            <a:noFill/>
            <a:ln w="28575">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7004" name="Line 12"/>
            <p:cNvSpPr>
              <a:spLocks noChangeShapeType="1"/>
            </p:cNvSpPr>
            <p:nvPr/>
          </p:nvSpPr>
          <p:spPr bwMode="auto">
            <a:xfrm>
              <a:off x="3464" y="1872"/>
              <a:ext cx="0" cy="287"/>
            </a:xfrm>
            <a:prstGeom prst="line">
              <a:avLst/>
            </a:prstGeom>
            <a:noFill/>
            <a:ln w="28575">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7005" name="Line 13"/>
            <p:cNvSpPr>
              <a:spLocks noChangeShapeType="1"/>
            </p:cNvSpPr>
            <p:nvPr/>
          </p:nvSpPr>
          <p:spPr bwMode="auto">
            <a:xfrm>
              <a:off x="5336" y="1872"/>
              <a:ext cx="0" cy="287"/>
            </a:xfrm>
            <a:prstGeom prst="line">
              <a:avLst/>
            </a:prstGeom>
            <a:noFill/>
            <a:ln w="28575" cap="sq">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7006" name="Line 14"/>
            <p:cNvSpPr>
              <a:spLocks noChangeShapeType="1"/>
            </p:cNvSpPr>
            <p:nvPr/>
          </p:nvSpPr>
          <p:spPr bwMode="auto">
            <a:xfrm>
              <a:off x="3464" y="1872"/>
              <a:ext cx="1872" cy="0"/>
            </a:xfrm>
            <a:prstGeom prst="line">
              <a:avLst/>
            </a:prstGeom>
            <a:noFill/>
            <a:ln w="28575" cap="sq">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3" name="Group 15"/>
          <p:cNvGrpSpPr/>
          <p:nvPr/>
        </p:nvGrpSpPr>
        <p:grpSpPr>
          <a:xfrm>
            <a:off x="965200" y="3517900"/>
            <a:ext cx="7573963" cy="455613"/>
            <a:chOff x="565" y="1872"/>
            <a:chExt cx="4771" cy="287"/>
          </a:xfrm>
        </p:grpSpPr>
        <p:sp>
          <p:nvSpPr>
            <p:cNvPr id="33802" name="Rectangle 16"/>
            <p:cNvSpPr/>
            <p:nvPr/>
          </p:nvSpPr>
          <p:spPr>
            <a:xfrm>
              <a:off x="3464" y="1872"/>
              <a:ext cx="1872" cy="287"/>
            </a:xfrm>
            <a:prstGeom prst="rect">
              <a:avLst/>
            </a:prstGeom>
            <a:no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400" dirty="0">
                  <a:solidFill>
                    <a:srgbClr val="FFFF00"/>
                  </a:solidFill>
                  <a:latin typeface="Times New Roman" panose="02020603050405020304" pitchFamily="18" charset="0"/>
                </a:rPr>
                <a:t>010110</a:t>
              </a:r>
              <a:endParaRPr lang="zh-CN" altLang="en-US" sz="2400" dirty="0">
                <a:solidFill>
                  <a:srgbClr val="FFFF00"/>
                </a:solidFill>
              </a:endParaRPr>
            </a:p>
          </p:txBody>
        </p:sp>
        <p:sp>
          <p:nvSpPr>
            <p:cNvPr id="33803" name="Rectangle 17"/>
            <p:cNvSpPr/>
            <p:nvPr/>
          </p:nvSpPr>
          <p:spPr>
            <a:xfrm>
              <a:off x="1640" y="1872"/>
              <a:ext cx="1824" cy="287"/>
            </a:xfrm>
            <a:prstGeom prst="rect">
              <a:avLst/>
            </a:prstGeom>
            <a:no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400" dirty="0">
                  <a:solidFill>
                    <a:srgbClr val="FFFF00"/>
                  </a:solidFill>
                  <a:latin typeface="Times New Roman" panose="02020603050405020304" pitchFamily="18" charset="0"/>
                </a:rPr>
                <a:t>010000</a:t>
              </a:r>
              <a:endParaRPr lang="zh-CN" altLang="en-US" sz="2400" dirty="0">
                <a:solidFill>
                  <a:srgbClr val="FFFF00"/>
                </a:solidFill>
                <a:latin typeface="Times New Roman" panose="02020603050405020304" pitchFamily="18" charset="0"/>
              </a:endParaRPr>
            </a:p>
          </p:txBody>
        </p:sp>
        <p:sp>
          <p:nvSpPr>
            <p:cNvPr id="33804" name="Rectangle 18"/>
            <p:cNvSpPr/>
            <p:nvPr/>
          </p:nvSpPr>
          <p:spPr>
            <a:xfrm>
              <a:off x="565" y="1872"/>
              <a:ext cx="1075" cy="287"/>
            </a:xfrm>
            <a:prstGeom prst="rect">
              <a:avLst/>
            </a:prstGeom>
            <a:no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100000"/>
                </a:spcBef>
                <a:buNone/>
              </a:pPr>
              <a:r>
                <a:rPr lang="zh-CN" altLang="en-US" sz="2400" dirty="0">
                  <a:solidFill>
                    <a:srgbClr val="FFFF00"/>
                  </a:solidFill>
                  <a:latin typeface="Times New Roman" panose="02020603050405020304" pitchFamily="18" charset="0"/>
                </a:rPr>
                <a:t>0010</a:t>
              </a:r>
              <a:endParaRPr lang="zh-CN" altLang="en-US" sz="2400" dirty="0">
                <a:solidFill>
                  <a:srgbClr val="FFFF00"/>
                </a:solidFill>
                <a:latin typeface="Times New Roman" panose="02020603050405020304" pitchFamily="18" charset="0"/>
              </a:endParaRPr>
            </a:p>
          </p:txBody>
        </p:sp>
        <p:sp>
          <p:nvSpPr>
            <p:cNvPr id="4437011" name="Line 19"/>
            <p:cNvSpPr>
              <a:spLocks noChangeShapeType="1"/>
            </p:cNvSpPr>
            <p:nvPr/>
          </p:nvSpPr>
          <p:spPr bwMode="auto">
            <a:xfrm>
              <a:off x="565" y="1872"/>
              <a:ext cx="2899" cy="0"/>
            </a:xfrm>
            <a:prstGeom prst="line">
              <a:avLst/>
            </a:prstGeom>
            <a:noFill/>
            <a:ln w="28575">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7012" name="Line 20"/>
            <p:cNvSpPr>
              <a:spLocks noChangeShapeType="1"/>
            </p:cNvSpPr>
            <p:nvPr/>
          </p:nvSpPr>
          <p:spPr bwMode="auto">
            <a:xfrm>
              <a:off x="565" y="2159"/>
              <a:ext cx="4771" cy="0"/>
            </a:xfrm>
            <a:prstGeom prst="line">
              <a:avLst/>
            </a:prstGeom>
            <a:noFill/>
            <a:ln w="28575" cap="sq">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7013" name="Line 21"/>
            <p:cNvSpPr>
              <a:spLocks noChangeShapeType="1"/>
            </p:cNvSpPr>
            <p:nvPr/>
          </p:nvSpPr>
          <p:spPr bwMode="auto">
            <a:xfrm>
              <a:off x="565" y="1872"/>
              <a:ext cx="0" cy="287"/>
            </a:xfrm>
            <a:prstGeom prst="line">
              <a:avLst/>
            </a:prstGeom>
            <a:noFill/>
            <a:ln w="28575" cap="sq">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7014" name="Line 22"/>
            <p:cNvSpPr>
              <a:spLocks noChangeShapeType="1"/>
            </p:cNvSpPr>
            <p:nvPr/>
          </p:nvSpPr>
          <p:spPr bwMode="auto">
            <a:xfrm>
              <a:off x="1640" y="1872"/>
              <a:ext cx="0" cy="287"/>
            </a:xfrm>
            <a:prstGeom prst="line">
              <a:avLst/>
            </a:prstGeom>
            <a:noFill/>
            <a:ln w="28575">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7015" name="Line 23"/>
            <p:cNvSpPr>
              <a:spLocks noChangeShapeType="1"/>
            </p:cNvSpPr>
            <p:nvPr/>
          </p:nvSpPr>
          <p:spPr bwMode="auto">
            <a:xfrm>
              <a:off x="3464" y="1872"/>
              <a:ext cx="0" cy="287"/>
            </a:xfrm>
            <a:prstGeom prst="line">
              <a:avLst/>
            </a:prstGeom>
            <a:noFill/>
            <a:ln w="28575">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7016" name="Line 24"/>
            <p:cNvSpPr>
              <a:spLocks noChangeShapeType="1"/>
            </p:cNvSpPr>
            <p:nvPr/>
          </p:nvSpPr>
          <p:spPr bwMode="auto">
            <a:xfrm>
              <a:off x="5336" y="1872"/>
              <a:ext cx="0" cy="287"/>
            </a:xfrm>
            <a:prstGeom prst="line">
              <a:avLst/>
            </a:prstGeom>
            <a:noFill/>
            <a:ln w="28575" cap="sq">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7017" name="Line 25"/>
            <p:cNvSpPr>
              <a:spLocks noChangeShapeType="1"/>
            </p:cNvSpPr>
            <p:nvPr/>
          </p:nvSpPr>
          <p:spPr bwMode="auto">
            <a:xfrm>
              <a:off x="3464" y="1872"/>
              <a:ext cx="1872" cy="0"/>
            </a:xfrm>
            <a:prstGeom prst="line">
              <a:avLst/>
            </a:prstGeom>
            <a:noFill/>
            <a:ln w="28575" cap="sq">
              <a:solidFill>
                <a:schemeClr val="tx1"/>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437018" name="AutoShape 26"/>
          <p:cNvSpPr>
            <a:spLocks noChangeArrowheads="1"/>
          </p:cNvSpPr>
          <p:nvPr/>
        </p:nvSpPr>
        <p:spPr bwMode="auto">
          <a:xfrm>
            <a:off x="4283075" y="2963863"/>
            <a:ext cx="184150" cy="509588"/>
          </a:xfrm>
          <a:prstGeom prst="upArrow">
            <a:avLst>
              <a:gd name="adj1" fmla="val 50000"/>
              <a:gd name="adj2" fmla="val 47963"/>
            </a:avLst>
          </a:prstGeom>
          <a:solidFill>
            <a:schemeClr val="tx2"/>
          </a:solidFill>
          <a:ln w="9525">
            <a:no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7019" name="AutoShape 27"/>
          <p:cNvSpPr>
            <a:spLocks noChangeArrowheads="1"/>
          </p:cNvSpPr>
          <p:nvPr/>
        </p:nvSpPr>
        <p:spPr bwMode="auto">
          <a:xfrm>
            <a:off x="1801813" y="3263900"/>
            <a:ext cx="2665413" cy="931863"/>
          </a:xfrm>
          <a:prstGeom prst="wedgeRoundRectCallout">
            <a:avLst>
              <a:gd name="adj1" fmla="val -49536"/>
              <a:gd name="adj2" fmla="val -90917"/>
              <a:gd name="adj3" fmla="val 16667"/>
            </a:avLst>
          </a:prstGeom>
          <a:solidFill>
            <a:schemeClr val="tx2"/>
          </a:solidFill>
          <a:ln w="9525" algn="ctr">
            <a:noFill/>
            <a:miter lim="800000"/>
          </a:ln>
          <a:effectLst/>
        </p:spPr>
        <p:txBody>
          <a:bodyPr/>
          <a:lstStyle/>
          <a:p>
            <a:pPr marL="0" marR="0" lvl="0" indent="0" algn="just" defTabSz="914400" rtl="0" eaLnBrk="1" fontAlgn="base" latinLnBrk="0" hangingPunct="1">
              <a:lnSpc>
                <a:spcPct val="110000"/>
              </a:lnSpc>
              <a:spcBef>
                <a:spcPct val="25000"/>
              </a:spcBef>
              <a:spcAft>
                <a:spcPct val="0"/>
              </a:spcAft>
              <a:buClr>
                <a:srgbClr val="33CCFF"/>
              </a:buClr>
              <a:buSzTx/>
              <a:buFont typeface="Wingdings" panose="05000000000000000000" pitchFamily="2" charset="2"/>
              <a:buNone/>
              <a:defRPr/>
            </a:pPr>
            <a:r>
              <a:rPr kumimoji="1" lang="zh-CN" altLang="en-US" sz="2400" b="1" i="0" u="none" strike="noStrike" kern="1200" cap="none" spc="0" normalizeH="0" baseline="0" noProof="0" dirty="0">
                <a:ln>
                  <a:noFill/>
                </a:ln>
                <a:solidFill>
                  <a:schemeClr val="bg2"/>
                </a:solidFill>
                <a:effectLst/>
                <a:uLnTx/>
                <a:uFillTx/>
                <a:latin typeface="Arial" panose="020B0604020202020204" pitchFamily="34" charset="0"/>
                <a:ea typeface="华文新魏" panose="02010800040101010101" pitchFamily="2" charset="-122"/>
                <a:cs typeface="+mn-cs"/>
              </a:rPr>
              <a:t>指明进行什么操作，如减运算等</a:t>
            </a:r>
            <a:endParaRPr kumimoji="0" lang="zh-CN" altLang="en-US" sz="2400" b="1" i="0" u="none" strike="noStrike" kern="1200" cap="none" spc="0" normalizeH="0" baseline="0" noProof="0" dirty="0">
              <a:ln>
                <a:noFill/>
              </a:ln>
              <a:solidFill>
                <a:schemeClr val="bg2"/>
              </a:solidFill>
              <a:effectLst>
                <a:outerShdw blurRad="38100" dist="38100" dir="2700000" algn="tl">
                  <a:srgbClr val="FFFFFF"/>
                </a:outerShdw>
              </a:effectLst>
              <a:uLnTx/>
              <a:uFillTx/>
              <a:latin typeface="Arial" panose="020B0604020202020204" pitchFamily="34" charset="0"/>
              <a:ea typeface="华文新魏" panose="02010800040101010101" pitchFamily="2" charset="-122"/>
              <a:cs typeface="+mn-cs"/>
            </a:endParaRPr>
          </a:p>
        </p:txBody>
      </p:sp>
      <p:sp>
        <p:nvSpPr>
          <p:cNvPr id="4437020" name="AutoShape 28"/>
          <p:cNvSpPr/>
          <p:nvPr/>
        </p:nvSpPr>
        <p:spPr>
          <a:xfrm>
            <a:off x="5130800" y="3071813"/>
            <a:ext cx="4006850" cy="1597025"/>
          </a:xfrm>
          <a:prstGeom prst="wedgeRoundRectCallout">
            <a:avLst>
              <a:gd name="adj1" fmla="val -65796"/>
              <a:gd name="adj2" fmla="val -61995"/>
              <a:gd name="adj3" fmla="val 16667"/>
            </a:avLst>
          </a:prstGeom>
          <a:solidFill>
            <a:schemeClr val="tx2"/>
          </a:solid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400" dirty="0">
                <a:solidFill>
                  <a:schemeClr val="bg2"/>
                </a:solidFill>
                <a:latin typeface="Arial" panose="020B0604020202020204" pitchFamily="34" charset="0"/>
              </a:rPr>
              <a:t>指令操作可能对一个或多个数据进行，这些数据称之为源操作数。源操作数地址指出从何处取操作数</a:t>
            </a:r>
            <a:endParaRPr lang="zh-CN" altLang="en-US" sz="2400" dirty="0">
              <a:solidFill>
                <a:schemeClr val="bg2"/>
              </a:solidFill>
              <a:latin typeface="Arial" panose="020B0604020202020204" pitchFamily="34" charset="0"/>
            </a:endParaRPr>
          </a:p>
        </p:txBody>
      </p:sp>
      <p:sp>
        <p:nvSpPr>
          <p:cNvPr id="4437021" name="AutoShape 29"/>
          <p:cNvSpPr>
            <a:spLocks noChangeArrowheads="1"/>
          </p:cNvSpPr>
          <p:nvPr/>
        </p:nvSpPr>
        <p:spPr bwMode="auto">
          <a:xfrm>
            <a:off x="5659438" y="822325"/>
            <a:ext cx="3241675" cy="1341438"/>
          </a:xfrm>
          <a:prstGeom prst="wedgeRoundRectCallout">
            <a:avLst>
              <a:gd name="adj1" fmla="val -80"/>
              <a:gd name="adj2" fmla="val 81587"/>
              <a:gd name="adj3" fmla="val 16667"/>
            </a:avLst>
          </a:prstGeom>
          <a:solidFill>
            <a:schemeClr val="tx2"/>
          </a:solidFill>
          <a:ln>
            <a:noFill/>
          </a:ln>
        </p:spPr>
        <p:txBody>
          <a:bodyPr/>
          <a:lstStyle/>
          <a:p>
            <a:pPr marL="0" marR="0" lvl="0" indent="0" algn="just" defTabSz="914400" rtl="0" eaLnBrk="1" fontAlgn="base" latinLnBrk="0" hangingPunct="1">
              <a:lnSpc>
                <a:spcPct val="110000"/>
              </a:lnSpc>
              <a:spcBef>
                <a:spcPct val="25000"/>
              </a:spcBef>
              <a:spcAft>
                <a:spcPct val="0"/>
              </a:spcAft>
              <a:buClr>
                <a:srgbClr val="33CCFF"/>
              </a:buClr>
              <a:buSzTx/>
              <a:buFont typeface="Wingdings" panose="05000000000000000000" pitchFamily="2" charset="2"/>
              <a:buNone/>
              <a:defRPr/>
            </a:pPr>
            <a:r>
              <a:rPr kumimoji="1" lang="zh-CN" altLang="en-US" sz="2400" b="1" i="0" u="none" strike="noStrike" kern="1200" cap="none" spc="0" normalizeH="0" baseline="0" noProof="0">
                <a:ln>
                  <a:noFill/>
                </a:ln>
                <a:solidFill>
                  <a:schemeClr val="bg2"/>
                </a:solidFill>
                <a:effectLst/>
                <a:uLnTx/>
                <a:uFillTx/>
                <a:latin typeface="Arial" panose="020B0604020202020204" pitchFamily="34" charset="0"/>
                <a:ea typeface="华文新魏" panose="02010800040101010101" pitchFamily="2" charset="-122"/>
                <a:cs typeface="+mn-cs"/>
              </a:rPr>
              <a:t>指令操作可能会产生结果。结果操作数地址指出结果送往何处</a:t>
            </a:r>
            <a:endParaRPr kumimoji="0" lang="zh-CN" altLang="en-US" sz="2400" b="1" i="0" u="none" strike="noStrike" kern="1200" cap="none" spc="0" normalizeH="0" baseline="0" noProof="0">
              <a:ln>
                <a:noFill/>
              </a:ln>
              <a:solidFill>
                <a:schemeClr val="bg2"/>
              </a:solidFill>
              <a:effectLst>
                <a:outerShdw blurRad="38100" dist="38100" dir="2700000" algn="tl">
                  <a:srgbClr val="FFFFFF"/>
                </a:outerShdw>
              </a:effectLst>
              <a:uLnTx/>
              <a:uFillTx/>
              <a:latin typeface="Arial" panose="020B0604020202020204" pitchFamily="34" charset="0"/>
              <a:ea typeface="华文新魏" panose="02010800040101010101" pitchFamily="2" charset="-122"/>
              <a:cs typeface="+mn-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37019"/>
                                        </p:tgtEl>
                                        <p:attrNameLst>
                                          <p:attrName>style.visibility</p:attrName>
                                        </p:attrNameLst>
                                      </p:cBhvr>
                                      <p:to>
                                        <p:strVal val="visible"/>
                                      </p:to>
                                    </p:set>
                                    <p:animEffect transition="in" filter="blinds(horizontal)">
                                      <p:cBhvr>
                                        <p:cTn id="7" dur="500"/>
                                        <p:tgtEl>
                                          <p:spTgt spid="4437019"/>
                                        </p:tgtEl>
                                      </p:cBhvr>
                                    </p:animEffect>
                                  </p:childTnLst>
                                  <p:subTnLst>
                                    <p:set>
                                      <p:cBhvr override="childStyle">
                                        <p:cTn dur="1" fill="hold" display="0" masterRel="nextClick" afterEffect="1"/>
                                        <p:tgtEl>
                                          <p:spTgt spid="4437019"/>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437020"/>
                                        </p:tgtEl>
                                        <p:attrNameLst>
                                          <p:attrName>style.visibility</p:attrName>
                                        </p:attrNameLst>
                                      </p:cBhvr>
                                      <p:to>
                                        <p:strVal val="visible"/>
                                      </p:to>
                                    </p:set>
                                    <p:animEffect transition="in" filter="blinds(horizontal)">
                                      <p:cBhvr>
                                        <p:cTn id="12" dur="500"/>
                                        <p:tgtEl>
                                          <p:spTgt spid="4437020"/>
                                        </p:tgtEl>
                                      </p:cBhvr>
                                    </p:animEffect>
                                  </p:childTnLst>
                                  <p:subTnLst>
                                    <p:set>
                                      <p:cBhvr override="childStyle">
                                        <p:cTn dur="1" fill="hold" display="0" masterRel="nextClick" afterEffect="1"/>
                                        <p:tgtEl>
                                          <p:spTgt spid="4437020"/>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437021"/>
                                        </p:tgtEl>
                                        <p:attrNameLst>
                                          <p:attrName>style.visibility</p:attrName>
                                        </p:attrNameLst>
                                      </p:cBhvr>
                                      <p:to>
                                        <p:strVal val="visible"/>
                                      </p:to>
                                    </p:set>
                                    <p:animEffect transition="in" filter="blinds(horizontal)">
                                      <p:cBhvr>
                                        <p:cTn id="17" dur="500"/>
                                        <p:tgtEl>
                                          <p:spTgt spid="4437021"/>
                                        </p:tgtEl>
                                      </p:cBhvr>
                                    </p:animEffect>
                                  </p:childTnLst>
                                  <p:subTnLst>
                                    <p:set>
                                      <p:cBhvr override="childStyle">
                                        <p:cTn dur="1" fill="hold" display="0" masterRel="nextClick" afterEffect="1"/>
                                        <p:tgtEl>
                                          <p:spTgt spid="4437021"/>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437018"/>
                                        </p:tgtEl>
                                        <p:attrNameLst>
                                          <p:attrName>style.visibility</p:attrName>
                                        </p:attrNameLst>
                                      </p:cBhvr>
                                      <p:to>
                                        <p:strVal val="visible"/>
                                      </p:to>
                                    </p:set>
                                    <p:animEffect transition="in" filter="slide(fromBottom)">
                                      <p:cBhvr>
                                        <p:cTn id="22" dur="500"/>
                                        <p:tgtEl>
                                          <p:spTgt spid="4437018"/>
                                        </p:tgtEl>
                                      </p:cBhvr>
                                    </p:animEffect>
                                  </p:childTnLst>
                                </p:cTn>
                              </p:par>
                            </p:childTnLst>
                          </p:cTn>
                        </p:par>
                        <p:par>
                          <p:cTn id="23" fill="hold">
                            <p:stCondLst>
                              <p:cond delay="500"/>
                            </p:stCondLst>
                            <p:childTnLst>
                              <p:par>
                                <p:cTn id="24" presetID="12" presetClass="entr" presetSubtype="4"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slide(fromBottom)">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7018" grpId="0" animBg="1"/>
      <p:bldP spid="4437019" grpId="0" animBg="1"/>
      <p:bldP spid="4437020" grpId="0" animBg="1"/>
      <p:bldP spid="44370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81000" y="228600"/>
            <a:ext cx="8393113" cy="735013"/>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a:t>
            </a:r>
            <a:r>
              <a:rPr kumimoji="0" lang="zh-CN" altLang="en-US"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a:t>
            </a: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数据表示</a:t>
            </a:r>
            <a:endParaRPr kumimoji="0" lang="zh-CN" altLang="en-US"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20688" y="958850"/>
            <a:ext cx="8489950" cy="5632450"/>
          </a:xfrm>
          <a:ln/>
        </p:spPr>
        <p:txBody>
          <a:bodyPr vert="horz" wrap="square" lIns="91440" tIns="45720" rIns="91440" bIns="45720" anchor="t" anchorCtr="0">
            <a:spAutoFit/>
          </a:bodyPr>
          <a:p>
            <a:pPr>
              <a:lnSpc>
                <a:spcPct val="100000"/>
              </a:lnSpc>
              <a:spcBef>
                <a:spcPts val="600"/>
              </a:spcBef>
            </a:pPr>
            <a:r>
              <a:rPr lang="zh-CN" altLang="en-US" sz="3200" dirty="0">
                <a:latin typeface="Times New Roman" panose="02020603050405020304" pitchFamily="18" charset="0"/>
                <a:cs typeface="Times New Roman" panose="02020603050405020304" pitchFamily="18" charset="0"/>
              </a:rPr>
              <a:t>定点数</a:t>
            </a:r>
            <a:endParaRPr lang="en-US" altLang="zh-CN" sz="3200" dirty="0">
              <a:latin typeface="Times New Roman" panose="02020603050405020304" pitchFamily="18" charset="0"/>
              <a:cs typeface="Times New Roman" panose="02020603050405020304" pitchFamily="18" charset="0"/>
            </a:endParaRPr>
          </a:p>
          <a:p>
            <a:pPr lvl="1">
              <a:lnSpc>
                <a:spcPct val="100000"/>
              </a:lnSpc>
              <a:spcBef>
                <a:spcPts val="600"/>
              </a:spcBef>
            </a:pPr>
            <a:r>
              <a:rPr lang="zh-CN" altLang="en-US" sz="2800" dirty="0">
                <a:latin typeface="Times New Roman" panose="02020603050405020304" pitchFamily="18" charset="0"/>
                <a:cs typeface="Times New Roman" panose="02020603050405020304" pitchFamily="18" charset="0"/>
              </a:rPr>
              <a:t>表示纯整数或纯小数</a:t>
            </a:r>
            <a:r>
              <a:rPr lang="en-US" altLang="zh-CN" sz="2800" dirty="0">
                <a:latin typeface="Times New Roman" panose="02020603050405020304" pitchFamily="18" charset="0"/>
                <a:ea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通常用补码表示</a:t>
            </a:r>
            <a:endParaRPr lang="en-US" altLang="zh-CN" sz="2800" dirty="0">
              <a:latin typeface="Times New Roman" panose="02020603050405020304" pitchFamily="18" charset="0"/>
              <a:cs typeface="Times New Roman" panose="02020603050405020304" pitchFamily="18" charset="0"/>
            </a:endParaRPr>
          </a:p>
          <a:p>
            <a:pPr lvl="1">
              <a:lnSpc>
                <a:spcPct val="100000"/>
              </a:lnSpc>
              <a:spcBef>
                <a:spcPts val="600"/>
              </a:spcBef>
            </a:pPr>
            <a:r>
              <a:rPr lang="zh-CN" altLang="en-US" sz="2800" dirty="0">
                <a:latin typeface="Times New Roman" panose="02020603050405020304" pitchFamily="18" charset="0"/>
                <a:cs typeface="Times New Roman" panose="02020603050405020304" pitchFamily="18" charset="0"/>
              </a:rPr>
              <a:t>分类</a:t>
            </a:r>
            <a:endParaRPr lang="en-US" altLang="zh-CN" sz="2800" dirty="0">
              <a:latin typeface="Times New Roman" panose="02020603050405020304" pitchFamily="18" charset="0"/>
              <a:cs typeface="Times New Roman" panose="02020603050405020304" pitchFamily="18" charset="0"/>
            </a:endParaRPr>
          </a:p>
          <a:p>
            <a:pPr lvl="2">
              <a:lnSpc>
                <a:spcPct val="100000"/>
              </a:lnSpc>
              <a:spcBef>
                <a:spcPts val="600"/>
              </a:spcBef>
            </a:pPr>
            <a:r>
              <a:rPr lang="zh-CN" altLang="en-US" sz="2400" dirty="0">
                <a:latin typeface="Times New Roman" panose="02020603050405020304" pitchFamily="18" charset="0"/>
                <a:cs typeface="Times New Roman" panose="02020603050405020304" pitchFamily="18" charset="0"/>
              </a:rPr>
              <a:t>定点整数：</a:t>
            </a:r>
            <a:r>
              <a:rPr lang="en-US" altLang="zh-CN" sz="2400" dirty="0">
                <a:latin typeface="Times New Roman" panose="02020603050405020304" pitchFamily="18" charset="0"/>
                <a:cs typeface="Times New Roman" panose="02020603050405020304" pitchFamily="18" charset="0"/>
              </a:rPr>
              <a:t>int</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short int</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char</a:t>
            </a:r>
            <a:endParaRPr lang="en-US" altLang="zh-CN" sz="2400" dirty="0">
              <a:latin typeface="Times New Roman" panose="02020603050405020304" pitchFamily="18" charset="0"/>
              <a:cs typeface="Times New Roman" panose="02020603050405020304" pitchFamily="18" charset="0"/>
            </a:endParaRPr>
          </a:p>
          <a:p>
            <a:pPr lvl="2">
              <a:lnSpc>
                <a:spcPct val="100000"/>
              </a:lnSpc>
              <a:spcBef>
                <a:spcPts val="600"/>
              </a:spcBef>
            </a:pPr>
            <a:r>
              <a:rPr lang="zh-CN" altLang="en-US" sz="2400" dirty="0">
                <a:latin typeface="Times New Roman" panose="02020603050405020304" pitchFamily="18" charset="0"/>
                <a:cs typeface="Times New Roman" panose="02020603050405020304" pitchFamily="18" charset="0"/>
              </a:rPr>
              <a:t>定点小数</a:t>
            </a:r>
            <a:endParaRPr lang="en-US" altLang="zh-CN" sz="2400" dirty="0">
              <a:latin typeface="Times New Roman" panose="02020603050405020304" pitchFamily="18" charset="0"/>
              <a:cs typeface="Times New Roman" panose="02020603050405020304" pitchFamily="18" charset="0"/>
            </a:endParaRPr>
          </a:p>
          <a:p>
            <a:pPr>
              <a:lnSpc>
                <a:spcPct val="100000"/>
              </a:lnSpc>
              <a:spcBef>
                <a:spcPts val="600"/>
              </a:spcBef>
            </a:pPr>
            <a:r>
              <a:rPr lang="zh-CN" altLang="en-US" sz="3200" dirty="0">
                <a:latin typeface="Times New Roman" panose="02020603050405020304" pitchFamily="18" charset="0"/>
                <a:cs typeface="Times New Roman" panose="02020603050405020304" pitchFamily="18" charset="0"/>
              </a:rPr>
              <a:t>浮点数 </a:t>
            </a:r>
            <a:endParaRPr lang="en-US" altLang="zh-CN" sz="3200" dirty="0">
              <a:latin typeface="Times New Roman" panose="02020603050405020304" pitchFamily="18" charset="0"/>
              <a:cs typeface="Times New Roman" panose="02020603050405020304" pitchFamily="18" charset="0"/>
            </a:endParaRPr>
          </a:p>
          <a:p>
            <a:pPr lvl="1">
              <a:lnSpc>
                <a:spcPct val="100000"/>
              </a:lnSpc>
              <a:spcBef>
                <a:spcPts val="600"/>
              </a:spcBef>
            </a:pPr>
            <a:r>
              <a:rPr lang="zh-CN" altLang="en-US" sz="2800" dirty="0">
                <a:latin typeface="Times New Roman" panose="02020603050405020304" pitchFamily="18" charset="0"/>
                <a:cs typeface="Times New Roman" panose="02020603050405020304" pitchFamily="18" charset="0"/>
              </a:rPr>
              <a:t>表示实数</a:t>
            </a:r>
            <a:r>
              <a:rPr lang="en-US" altLang="zh-CN" sz="2800" dirty="0">
                <a:latin typeface="Times New Roman" panose="02020603050405020304" pitchFamily="18" charset="0"/>
                <a:ea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通常用</a:t>
            </a:r>
            <a:r>
              <a:rPr lang="en-US" altLang="zh-CN" sz="2800" dirty="0">
                <a:latin typeface="Times New Roman" panose="02020603050405020304" pitchFamily="18" charset="0"/>
                <a:cs typeface="Times New Roman" panose="02020603050405020304" pitchFamily="18" charset="0"/>
              </a:rPr>
              <a:t>IEEE 754</a:t>
            </a:r>
            <a:r>
              <a:rPr lang="zh-CN" altLang="en-US" sz="2800" dirty="0">
                <a:latin typeface="Times New Roman" panose="02020603050405020304" pitchFamily="18" charset="0"/>
                <a:cs typeface="Times New Roman" panose="02020603050405020304" pitchFamily="18" charset="0"/>
              </a:rPr>
              <a:t>表示</a:t>
            </a:r>
            <a:endParaRPr lang="en-US" altLang="zh-CN" sz="2800" dirty="0">
              <a:latin typeface="Times New Roman" panose="02020603050405020304" pitchFamily="18" charset="0"/>
              <a:cs typeface="Times New Roman" panose="02020603050405020304" pitchFamily="18" charset="0"/>
            </a:endParaRPr>
          </a:p>
          <a:p>
            <a:pPr lvl="1">
              <a:lnSpc>
                <a:spcPct val="100000"/>
              </a:lnSpc>
              <a:spcBef>
                <a:spcPts val="600"/>
              </a:spcBef>
            </a:pPr>
            <a:endParaRPr lang="en-US" altLang="zh-CN" sz="2800" dirty="0">
              <a:latin typeface="Times New Roman" panose="02020603050405020304" pitchFamily="18" charset="0"/>
              <a:cs typeface="Times New Roman" panose="02020603050405020304" pitchFamily="18" charset="0"/>
            </a:endParaRPr>
          </a:p>
          <a:p>
            <a:pPr lvl="1">
              <a:lnSpc>
                <a:spcPct val="100000"/>
              </a:lnSpc>
              <a:spcBef>
                <a:spcPts val="1800"/>
              </a:spcBef>
            </a:pPr>
            <a:r>
              <a:rPr lang="zh-CN" altLang="en-US" sz="2800" dirty="0">
                <a:latin typeface="Times New Roman" panose="02020603050405020304" pitchFamily="18" charset="0"/>
                <a:cs typeface="Times New Roman" panose="02020603050405020304" pitchFamily="18" charset="0"/>
              </a:rPr>
              <a:t>分类</a:t>
            </a:r>
            <a:endParaRPr lang="en-US" altLang="zh-CN" sz="2800" dirty="0">
              <a:latin typeface="Times New Roman" panose="02020603050405020304" pitchFamily="18" charset="0"/>
              <a:cs typeface="Times New Roman" panose="02020603050405020304" pitchFamily="18" charset="0"/>
            </a:endParaRPr>
          </a:p>
          <a:p>
            <a:pPr lvl="2">
              <a:lnSpc>
                <a:spcPct val="100000"/>
              </a:lnSpc>
              <a:spcBef>
                <a:spcPts val="600"/>
              </a:spcBef>
            </a:pPr>
            <a:r>
              <a:rPr lang="zh-CN" altLang="en-US" sz="2400" dirty="0">
                <a:latin typeface="Times New Roman" panose="02020603050405020304" pitchFamily="18" charset="0"/>
                <a:cs typeface="Times New Roman" panose="02020603050405020304" pitchFamily="18" charset="0"/>
              </a:rPr>
              <a:t>单精度：</a:t>
            </a:r>
            <a:r>
              <a:rPr lang="en-US" altLang="zh-CN" sz="2400" dirty="0">
                <a:latin typeface="Times New Roman" panose="02020603050405020304" pitchFamily="18" charset="0"/>
                <a:cs typeface="Times New Roman" panose="02020603050405020304" pitchFamily="18" charset="0"/>
              </a:rPr>
              <a:t>float</a:t>
            </a:r>
            <a:endParaRPr lang="en-US" altLang="zh-CN" sz="2400" dirty="0">
              <a:latin typeface="Times New Roman" panose="02020603050405020304" pitchFamily="18" charset="0"/>
              <a:cs typeface="Times New Roman" panose="02020603050405020304" pitchFamily="18" charset="0"/>
            </a:endParaRPr>
          </a:p>
          <a:p>
            <a:pPr lvl="2">
              <a:lnSpc>
                <a:spcPct val="100000"/>
              </a:lnSpc>
              <a:spcBef>
                <a:spcPts val="600"/>
              </a:spcBef>
            </a:pPr>
            <a:r>
              <a:rPr lang="zh-CN" altLang="en-US" sz="2400" dirty="0">
                <a:latin typeface="Times New Roman" panose="02020603050405020304" pitchFamily="18" charset="0"/>
                <a:cs typeface="Times New Roman" panose="02020603050405020304" pitchFamily="18" charset="0"/>
              </a:rPr>
              <a:t>双精度：</a:t>
            </a:r>
            <a:r>
              <a:rPr lang="en-US" altLang="zh-CN" sz="2400" dirty="0">
                <a:latin typeface="Times New Roman" panose="02020603050405020304" pitchFamily="18" charset="0"/>
                <a:cs typeface="Times New Roman" panose="02020603050405020304" pitchFamily="18" charset="0"/>
              </a:rPr>
              <a:t>double</a:t>
            </a:r>
            <a:endParaRPr lang="en-US" altLang="zh-CN" sz="2400" dirty="0">
              <a:latin typeface="Times New Roman" panose="02020603050405020304" pitchFamily="18" charset="0"/>
              <a:ea typeface="Times New Roman" panose="02020603050405020304" pitchFamily="18" charset="0"/>
            </a:endParaRPr>
          </a:p>
        </p:txBody>
      </p:sp>
      <p:graphicFrame>
        <p:nvGraphicFramePr>
          <p:cNvPr id="5" name="Group 32"/>
          <p:cNvGraphicFramePr>
            <a:graphicFrameLocks noGrp="1"/>
          </p:cNvGraphicFramePr>
          <p:nvPr/>
        </p:nvGraphicFramePr>
        <p:xfrm>
          <a:off x="1527175" y="4594225"/>
          <a:ext cx="6099175" cy="457200"/>
        </p:xfrm>
        <a:graphic>
          <a:graphicData uri="http://schemas.openxmlformats.org/drawingml/2006/table">
            <a:tbl>
              <a:tblPr/>
              <a:tblGrid>
                <a:gridCol w="1040289"/>
                <a:gridCol w="2090852"/>
                <a:gridCol w="2968034"/>
              </a:tblGrid>
              <a:tr h="0">
                <a:tc>
                  <a:txBody>
                    <a:bodyPr/>
                    <a:lstStyle/>
                    <a:p>
                      <a:pPr marL="0" marR="0" lvl="0" indent="0" algn="ctr" defTabSz="914400" rtl="0" eaLnBrk="1" fontAlgn="base" latinLnBrk="0" hangingPunct="1">
                        <a:lnSpc>
                          <a:spcPct val="100000"/>
                        </a:lnSpc>
                        <a:spcBef>
                          <a:spcPct val="100000"/>
                        </a:spcBef>
                        <a:spcAft>
                          <a:spcPct val="0"/>
                        </a:spcAft>
                        <a:buClrTx/>
                        <a:buSzTx/>
                        <a:buFont typeface="Wingdings" panose="05000000000000000000" pitchFamily="2" charset="2"/>
                        <a:buNone/>
                      </a:pPr>
                      <a:r>
                        <a:rPr kumimoji="0" lang="zh-CN" altLang="en-US" sz="2400" b="1" i="0" u="none" strike="noStrike" cap="none" normalizeH="0" baseline="0" dirty="0" smtClean="0">
                          <a:ln>
                            <a:noFill/>
                          </a:ln>
                          <a:solidFill>
                            <a:srgbClr val="FF3300"/>
                          </a:solidFill>
                          <a:effectLst/>
                          <a:latin typeface="Times New Roman" panose="02020603050405020304" pitchFamily="18" charset="0"/>
                          <a:ea typeface="华文新魏" panose="02010800040101010101" pitchFamily="2" charset="-122"/>
                        </a:rPr>
                        <a:t>符号</a:t>
                      </a:r>
                      <a:r>
                        <a:rPr kumimoji="0" lang="en-US" altLang="zh-CN" sz="2400" b="1" i="0" u="none" strike="noStrike" cap="none" normalizeH="0" baseline="0" dirty="0" smtClean="0">
                          <a:ln>
                            <a:noFill/>
                          </a:ln>
                          <a:solidFill>
                            <a:srgbClr val="FF3300"/>
                          </a:solidFill>
                          <a:effectLst/>
                          <a:latin typeface="Times New Roman" panose="02020603050405020304" pitchFamily="18" charset="0"/>
                          <a:ea typeface="华文新魏" panose="02010800040101010101" pitchFamily="2" charset="-122"/>
                        </a:rPr>
                        <a:t>s</a:t>
                      </a:r>
                      <a:endParaRPr kumimoji="0" lang="en-US" altLang="zh-CN" sz="2400" b="1" i="0" u="none" strike="noStrike" cap="none" normalizeH="0" baseline="0" dirty="0" smtClean="0">
                        <a:ln>
                          <a:noFill/>
                        </a:ln>
                        <a:solidFill>
                          <a:srgbClr val="FF3300"/>
                        </a:solidFill>
                        <a:effectLst/>
                        <a:latin typeface="Times New Roman" panose="02020603050405020304" pitchFamily="18" charset="0"/>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 typeface="Wingdings" panose="05000000000000000000" pitchFamily="2" charset="2"/>
                        <a:buNone/>
                      </a:pPr>
                      <a:r>
                        <a:rPr kumimoji="0" lang="zh-CN" altLang="en-US" sz="2400" b="1" i="0" u="none" strike="noStrike" cap="none" normalizeH="0" baseline="0" dirty="0" smtClean="0">
                          <a:ln>
                            <a:noFill/>
                          </a:ln>
                          <a:solidFill>
                            <a:srgbClr val="FF3300"/>
                          </a:solidFill>
                          <a:effectLst/>
                          <a:latin typeface="Times New Roman" panose="02020603050405020304" pitchFamily="18" charset="0"/>
                          <a:ea typeface="华文新魏" panose="02010800040101010101" pitchFamily="2" charset="-122"/>
                        </a:rPr>
                        <a:t>阶码</a:t>
                      </a:r>
                      <a:r>
                        <a:rPr kumimoji="0" lang="en-US" altLang="zh-CN" sz="2400" b="1" i="0" u="none" strike="noStrike" cap="none" normalizeH="0" baseline="0" dirty="0" smtClean="0">
                          <a:ln>
                            <a:noFill/>
                          </a:ln>
                          <a:solidFill>
                            <a:srgbClr val="FF3300"/>
                          </a:solidFill>
                          <a:effectLst/>
                          <a:latin typeface="Times New Roman" panose="02020603050405020304" pitchFamily="18" charset="0"/>
                          <a:ea typeface="华文新魏" panose="02010800040101010101" pitchFamily="2" charset="-122"/>
                        </a:rPr>
                        <a:t>e(</a:t>
                      </a:r>
                      <a:r>
                        <a:rPr kumimoji="0" lang="zh-CN" altLang="en-US" sz="2400" b="1" i="0" u="none" strike="noStrike" cap="none" normalizeH="0" baseline="0" dirty="0" smtClean="0">
                          <a:ln>
                            <a:noFill/>
                          </a:ln>
                          <a:solidFill>
                            <a:srgbClr val="FF3300"/>
                          </a:solidFill>
                          <a:effectLst/>
                          <a:latin typeface="Times New Roman" panose="02020603050405020304" pitchFamily="18" charset="0"/>
                          <a:ea typeface="华文新魏" panose="02010800040101010101" pitchFamily="2" charset="-122"/>
                        </a:rPr>
                        <a:t>整数</a:t>
                      </a:r>
                      <a:r>
                        <a:rPr kumimoji="0" lang="en-US" altLang="zh-CN" sz="2400" b="1" i="0" u="none" strike="noStrike" cap="none" normalizeH="0" baseline="0" dirty="0" smtClean="0">
                          <a:ln>
                            <a:noFill/>
                          </a:ln>
                          <a:solidFill>
                            <a:srgbClr val="FF3300"/>
                          </a:solidFill>
                          <a:effectLst/>
                          <a:latin typeface="Times New Roman" panose="02020603050405020304" pitchFamily="18" charset="0"/>
                          <a:ea typeface="华文新魏" panose="02010800040101010101" pitchFamily="2" charset="-122"/>
                        </a:rPr>
                        <a:t>)</a:t>
                      </a:r>
                      <a:endParaRPr kumimoji="0" lang="zh-CN" altLang="en-US" sz="2400" b="1" i="0" u="none" strike="noStrike" cap="none" normalizeH="0" baseline="0" dirty="0" smtClean="0">
                        <a:ln>
                          <a:noFill/>
                        </a:ln>
                        <a:solidFill>
                          <a:srgbClr val="FF3300"/>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 typeface="Wingdings" panose="05000000000000000000" pitchFamily="2" charset="2"/>
                        <a:buNone/>
                      </a:pPr>
                      <a:r>
                        <a:rPr kumimoji="0" lang="zh-CN" altLang="en-US" sz="2400" b="1" i="0" u="none" strike="noStrike" cap="none" normalizeH="0" baseline="0" dirty="0" smtClean="0">
                          <a:ln>
                            <a:noFill/>
                          </a:ln>
                          <a:solidFill>
                            <a:srgbClr val="FF3300"/>
                          </a:solidFill>
                          <a:effectLst/>
                          <a:latin typeface="Times New Roman" panose="02020603050405020304" pitchFamily="18" charset="0"/>
                          <a:ea typeface="华文新魏" panose="02010800040101010101" pitchFamily="2" charset="-122"/>
                        </a:rPr>
                        <a:t>尾数</a:t>
                      </a:r>
                      <a:r>
                        <a:rPr kumimoji="0" lang="en-US" altLang="zh-CN" sz="2400" b="1" i="0" u="none" strike="noStrike" cap="none" normalizeH="0" baseline="0" dirty="0" smtClean="0">
                          <a:ln>
                            <a:noFill/>
                          </a:ln>
                          <a:solidFill>
                            <a:srgbClr val="FF3300"/>
                          </a:solidFill>
                          <a:effectLst/>
                          <a:latin typeface="Times New Roman" panose="02020603050405020304" pitchFamily="18" charset="0"/>
                          <a:ea typeface="华文新魏" panose="02010800040101010101" pitchFamily="2" charset="-122"/>
                        </a:rPr>
                        <a:t>f(</a:t>
                      </a:r>
                      <a:r>
                        <a:rPr kumimoji="0" lang="zh-CN" altLang="en-US" sz="2400" b="1" i="0" u="none" strike="noStrike" cap="none" normalizeH="0" baseline="0" dirty="0" smtClean="0">
                          <a:ln>
                            <a:noFill/>
                          </a:ln>
                          <a:solidFill>
                            <a:srgbClr val="FF3300"/>
                          </a:solidFill>
                          <a:effectLst/>
                          <a:latin typeface="Times New Roman" panose="02020603050405020304" pitchFamily="18" charset="0"/>
                          <a:ea typeface="华文新魏" panose="02010800040101010101" pitchFamily="2" charset="-122"/>
                        </a:rPr>
                        <a:t>小数</a:t>
                      </a:r>
                      <a:r>
                        <a:rPr kumimoji="0" lang="en-US" altLang="zh-CN" sz="2400" b="1" i="0" u="none" strike="noStrike" cap="none" normalizeH="0" baseline="0" dirty="0" smtClean="0">
                          <a:ln>
                            <a:noFill/>
                          </a:ln>
                          <a:solidFill>
                            <a:srgbClr val="FF3300"/>
                          </a:solidFill>
                          <a:effectLst/>
                          <a:latin typeface="Times New Roman" panose="02020603050405020304" pitchFamily="18" charset="0"/>
                          <a:ea typeface="华文新魏" panose="02010800040101010101" pitchFamily="2" charset="-122"/>
                        </a:rPr>
                        <a:t>)</a:t>
                      </a:r>
                      <a:endParaRPr kumimoji="0" lang="zh-CN" altLang="en-US" sz="2400" b="1" i="0" u="none" strike="noStrike" cap="none" normalizeH="0" baseline="0" dirty="0" smtClean="0">
                        <a:ln>
                          <a:noFill/>
                        </a:ln>
                        <a:solidFill>
                          <a:srgbClr val="FF3300"/>
                        </a:solidFill>
                        <a:effectLst/>
                        <a:latin typeface="Times New Roman" panose="02020603050405020304" pitchFamily="18"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55" end="6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60" end="8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charRg st="81" end="8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charRg st="84" end="9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charRg st="94" end="10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idx="1"/>
          </p:nvPr>
        </p:nvSpPr>
        <p:spPr>
          <a:xfrm>
            <a:off x="606425" y="1290638"/>
            <a:ext cx="8537575" cy="609600"/>
          </a:xfrm>
          <a:ln/>
        </p:spPr>
        <p:txBody>
          <a:bodyPr vert="horz" wrap="square" lIns="91440" tIns="45720" rIns="91440" bIns="45720" anchor="t" anchorCtr="0">
            <a:spAutoFit/>
          </a:bodyPr>
          <a:p>
            <a:pPr marL="358775" indent="-358775" eaLnBrk="1" hangingPunct="1">
              <a:lnSpc>
                <a:spcPct val="105000"/>
              </a:lnSpc>
              <a:spcBef>
                <a:spcPct val="5000"/>
              </a:spcBef>
              <a:buClr>
                <a:srgbClr val="FF9999"/>
              </a:buClr>
            </a:pPr>
            <a:r>
              <a:rPr lang="zh-CN" altLang="en-US" sz="3200" dirty="0"/>
              <a:t>寻址：</a:t>
            </a:r>
            <a:r>
              <a:rPr lang="zh-CN" altLang="en-US" sz="3200" dirty="0">
                <a:solidFill>
                  <a:srgbClr val="FFFF00"/>
                </a:solidFill>
              </a:rPr>
              <a:t>根据形式地址查找到操作数的过程</a:t>
            </a:r>
            <a:endParaRPr lang="zh-CN" altLang="en-US" sz="3200" dirty="0">
              <a:solidFill>
                <a:srgbClr val="FFFF00"/>
              </a:solidFill>
            </a:endParaRPr>
          </a:p>
        </p:txBody>
      </p:sp>
      <p:grpSp>
        <p:nvGrpSpPr>
          <p:cNvPr id="2" name="Group 3"/>
          <p:cNvGrpSpPr/>
          <p:nvPr/>
        </p:nvGrpSpPr>
        <p:grpSpPr>
          <a:xfrm>
            <a:off x="1033463" y="2462213"/>
            <a:ext cx="6905625" cy="573087"/>
            <a:chOff x="404" y="1536"/>
            <a:chExt cx="4108" cy="240"/>
          </a:xfrm>
        </p:grpSpPr>
        <p:grpSp>
          <p:nvGrpSpPr>
            <p:cNvPr id="36881" name="Group 4"/>
            <p:cNvGrpSpPr/>
            <p:nvPr/>
          </p:nvGrpSpPr>
          <p:grpSpPr>
            <a:xfrm>
              <a:off x="1488" y="1536"/>
              <a:ext cx="3024" cy="240"/>
              <a:chOff x="624" y="1632"/>
              <a:chExt cx="3024" cy="240"/>
            </a:xfrm>
          </p:grpSpPr>
          <p:sp>
            <p:nvSpPr>
              <p:cNvPr id="36883" name="Rectangle 5"/>
              <p:cNvSpPr/>
              <p:nvPr/>
            </p:nvSpPr>
            <p:spPr>
              <a:xfrm>
                <a:off x="624" y="1632"/>
                <a:ext cx="1008" cy="2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400" dirty="0">
                    <a:latin typeface="Arial" panose="020B0604020202020204" pitchFamily="34" charset="0"/>
                  </a:rPr>
                  <a:t>操作码</a:t>
                </a:r>
                <a:endParaRPr lang="zh-CN" altLang="en-US" sz="2400" dirty="0">
                  <a:latin typeface="Arial" panose="020B0604020202020204" pitchFamily="34" charset="0"/>
                </a:endParaRPr>
              </a:p>
            </p:txBody>
          </p:sp>
          <p:sp>
            <p:nvSpPr>
              <p:cNvPr id="36884" name="Rectangle 6"/>
              <p:cNvSpPr/>
              <p:nvPr/>
            </p:nvSpPr>
            <p:spPr>
              <a:xfrm>
                <a:off x="1632" y="1632"/>
                <a:ext cx="1008" cy="2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400" dirty="0">
                    <a:latin typeface="Arial" panose="020B0604020202020204" pitchFamily="34" charset="0"/>
                  </a:rPr>
                  <a:t>目的地址</a:t>
                </a:r>
                <a:endParaRPr lang="zh-CN" altLang="en-US" sz="2400" dirty="0">
                  <a:latin typeface="Arial" panose="020B0604020202020204" pitchFamily="34" charset="0"/>
                </a:endParaRPr>
              </a:p>
            </p:txBody>
          </p:sp>
          <p:sp>
            <p:nvSpPr>
              <p:cNvPr id="36885" name="Rectangle 7"/>
              <p:cNvSpPr/>
              <p:nvPr/>
            </p:nvSpPr>
            <p:spPr>
              <a:xfrm>
                <a:off x="2640" y="1632"/>
                <a:ext cx="1008" cy="2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400" dirty="0">
                    <a:latin typeface="Arial" panose="020B0604020202020204" pitchFamily="34" charset="0"/>
                  </a:rPr>
                  <a:t>源地址</a:t>
                </a:r>
                <a:endParaRPr lang="zh-CN" altLang="en-US" sz="2400" dirty="0">
                  <a:latin typeface="Arial" panose="020B0604020202020204" pitchFamily="34" charset="0"/>
                </a:endParaRPr>
              </a:p>
            </p:txBody>
          </p:sp>
        </p:grpSp>
        <p:sp>
          <p:nvSpPr>
            <p:cNvPr id="36882" name="Text Box 8"/>
            <p:cNvSpPr txBox="1"/>
            <p:nvPr/>
          </p:nvSpPr>
          <p:spPr>
            <a:xfrm>
              <a:off x="404" y="1542"/>
              <a:ext cx="1264" cy="219"/>
            </a:xfrm>
            <a:prstGeom prst="rect">
              <a:avLst/>
            </a:prstGeom>
            <a:noFill/>
            <a:ln w="12700">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50000"/>
                </a:spcBef>
                <a:buClrTx/>
                <a:buFontTx/>
                <a:buNone/>
              </a:pPr>
              <a:r>
                <a:rPr lang="zh-CN" altLang="en-US" sz="2800" dirty="0">
                  <a:solidFill>
                    <a:srgbClr val="F7F727"/>
                  </a:solidFill>
                  <a:latin typeface="Arial" panose="020B0604020202020204" pitchFamily="34" charset="0"/>
                </a:rPr>
                <a:t>指令格式：</a:t>
              </a:r>
              <a:endParaRPr lang="zh-CN" altLang="en-US" sz="2800" dirty="0">
                <a:solidFill>
                  <a:srgbClr val="F7F727"/>
                </a:solidFill>
                <a:latin typeface="Arial" panose="020B0604020202020204" pitchFamily="34" charset="0"/>
              </a:endParaRPr>
            </a:p>
          </p:txBody>
        </p:sp>
      </p:grpSp>
      <p:grpSp>
        <p:nvGrpSpPr>
          <p:cNvPr id="4" name="Group 9"/>
          <p:cNvGrpSpPr/>
          <p:nvPr/>
        </p:nvGrpSpPr>
        <p:grpSpPr>
          <a:xfrm>
            <a:off x="4314825" y="3040063"/>
            <a:ext cx="2414588" cy="1673225"/>
            <a:chOff x="2223" y="1824"/>
            <a:chExt cx="1521" cy="864"/>
          </a:xfrm>
        </p:grpSpPr>
        <p:sp>
          <p:nvSpPr>
            <p:cNvPr id="36878" name="Text Box 10"/>
            <p:cNvSpPr txBox="1"/>
            <p:nvPr/>
          </p:nvSpPr>
          <p:spPr>
            <a:xfrm>
              <a:off x="2223" y="2259"/>
              <a:ext cx="1095" cy="429"/>
            </a:xfrm>
            <a:prstGeom prst="rect">
              <a:avLst/>
            </a:prstGeom>
            <a:noFill/>
            <a:ln w="12700">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50000"/>
                </a:spcBef>
                <a:buClrTx/>
                <a:buFontTx/>
                <a:buNone/>
              </a:pPr>
              <a:r>
                <a:rPr lang="zh-CN" altLang="en-US" sz="2400" dirty="0">
                  <a:solidFill>
                    <a:srgbClr val="F7F727"/>
                  </a:solidFill>
                  <a:latin typeface="Arial" panose="020B0604020202020204" pitchFamily="34" charset="0"/>
                </a:rPr>
                <a:t>形式地址</a:t>
              </a:r>
              <a:r>
                <a:rPr lang="en-US" altLang="zh-CN" sz="2400" dirty="0">
                  <a:solidFill>
                    <a:srgbClr val="F7F727"/>
                  </a:solidFill>
                  <a:latin typeface="Arial" panose="020B0604020202020204" pitchFamily="34" charset="0"/>
                </a:rPr>
                <a:t>/</a:t>
              </a:r>
              <a:r>
                <a:rPr lang="zh-CN" altLang="en-US" sz="2400" dirty="0">
                  <a:solidFill>
                    <a:srgbClr val="F7F727"/>
                  </a:solidFill>
                  <a:latin typeface="Arial" panose="020B0604020202020204" pitchFamily="34" charset="0"/>
                </a:rPr>
                <a:t>逻辑地址</a:t>
              </a:r>
              <a:endParaRPr lang="zh-CN" altLang="en-US" sz="2400" dirty="0">
                <a:solidFill>
                  <a:srgbClr val="F7F727"/>
                </a:solidFill>
                <a:latin typeface="Arial" panose="020B0604020202020204" pitchFamily="34" charset="0"/>
              </a:endParaRPr>
            </a:p>
          </p:txBody>
        </p:sp>
        <p:sp>
          <p:nvSpPr>
            <p:cNvPr id="4439051" name="Line 11"/>
            <p:cNvSpPr>
              <a:spLocks noChangeShapeType="1"/>
            </p:cNvSpPr>
            <p:nvPr/>
          </p:nvSpPr>
          <p:spPr bwMode="auto">
            <a:xfrm flipH="1" flipV="1">
              <a:off x="2928" y="1824"/>
              <a:ext cx="6" cy="435"/>
            </a:xfrm>
            <a:prstGeom prst="line">
              <a:avLst/>
            </a:prstGeom>
            <a:noFill/>
            <a:ln w="12700">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39052" name="Line 12"/>
            <p:cNvSpPr>
              <a:spLocks noChangeShapeType="1"/>
            </p:cNvSpPr>
            <p:nvPr/>
          </p:nvSpPr>
          <p:spPr bwMode="auto">
            <a:xfrm flipV="1">
              <a:off x="3033" y="1824"/>
              <a:ext cx="711" cy="435"/>
            </a:xfrm>
            <a:prstGeom prst="line">
              <a:avLst/>
            </a:prstGeom>
            <a:noFill/>
            <a:ln w="12700">
              <a:solidFill>
                <a:schemeClr val="tx1"/>
              </a:solidFill>
              <a:round/>
              <a:tailEnd type="triangl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5" name="Group 13"/>
          <p:cNvGrpSpPr/>
          <p:nvPr/>
        </p:nvGrpSpPr>
        <p:grpSpPr>
          <a:xfrm>
            <a:off x="4959350" y="3714750"/>
            <a:ext cx="3854450" cy="2560638"/>
            <a:chOff x="3496" y="1968"/>
            <a:chExt cx="1784" cy="1885"/>
          </a:xfrm>
        </p:grpSpPr>
        <p:sp>
          <p:nvSpPr>
            <p:cNvPr id="4439054" name="Rectangle 14"/>
            <p:cNvSpPr>
              <a:spLocks noChangeArrowheads="1"/>
            </p:cNvSpPr>
            <p:nvPr/>
          </p:nvSpPr>
          <p:spPr bwMode="auto">
            <a:xfrm>
              <a:off x="4080" y="1968"/>
              <a:ext cx="1200" cy="768"/>
            </a:xfrm>
            <a:prstGeom prst="rect">
              <a:avLst/>
            </a:prstGeom>
            <a:noFill/>
            <a:ln w="12700">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6874" name="Rectangle 15"/>
            <p:cNvSpPr/>
            <p:nvPr/>
          </p:nvSpPr>
          <p:spPr>
            <a:xfrm>
              <a:off x="4080" y="2736"/>
              <a:ext cx="1200" cy="288"/>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400" dirty="0">
                  <a:solidFill>
                    <a:srgbClr val="FF0000"/>
                  </a:solidFill>
                  <a:latin typeface="Times New Roman" panose="02020603050405020304" pitchFamily="18" charset="0"/>
                </a:rPr>
                <a:t>操作数</a:t>
              </a:r>
              <a:r>
                <a:rPr lang="en-US" altLang="zh-CN" sz="2400" dirty="0">
                  <a:solidFill>
                    <a:srgbClr val="FF0000"/>
                  </a:solidFill>
                  <a:latin typeface="Times New Roman" panose="02020603050405020304" pitchFamily="18" charset="0"/>
                </a:rPr>
                <a:t>Data</a:t>
              </a:r>
              <a:endParaRPr lang="en-US" altLang="zh-CN" sz="2400" dirty="0">
                <a:solidFill>
                  <a:srgbClr val="FF0000"/>
                </a:solidFill>
                <a:latin typeface="Times New Roman" panose="02020603050405020304" pitchFamily="18" charset="0"/>
              </a:endParaRPr>
            </a:p>
          </p:txBody>
        </p:sp>
        <p:sp>
          <p:nvSpPr>
            <p:cNvPr id="4439056" name="Rectangle 16"/>
            <p:cNvSpPr>
              <a:spLocks noChangeArrowheads="1"/>
            </p:cNvSpPr>
            <p:nvPr/>
          </p:nvSpPr>
          <p:spPr bwMode="auto">
            <a:xfrm>
              <a:off x="4080" y="3024"/>
              <a:ext cx="1200" cy="430"/>
            </a:xfrm>
            <a:prstGeom prst="rect">
              <a:avLst/>
            </a:prstGeom>
            <a:noFill/>
            <a:ln w="12700">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6876" name="Text Box 17"/>
            <p:cNvSpPr txBox="1"/>
            <p:nvPr/>
          </p:nvSpPr>
          <p:spPr>
            <a:xfrm>
              <a:off x="4297" y="3468"/>
              <a:ext cx="816" cy="385"/>
            </a:xfrm>
            <a:prstGeom prst="rect">
              <a:avLst/>
            </a:prstGeom>
            <a:noFill/>
            <a:ln w="12700">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50000"/>
                </a:spcBef>
                <a:buClrTx/>
                <a:buFontTx/>
                <a:buNone/>
              </a:pPr>
              <a:r>
                <a:rPr lang="zh-CN" altLang="en-US" sz="2800" dirty="0">
                  <a:solidFill>
                    <a:srgbClr val="FFFF00"/>
                  </a:solidFill>
                  <a:latin typeface="Arial" panose="020B0604020202020204" pitchFamily="34" charset="0"/>
                </a:rPr>
                <a:t>内存</a:t>
              </a:r>
              <a:endParaRPr lang="zh-CN" altLang="en-US" sz="2800" dirty="0">
                <a:solidFill>
                  <a:srgbClr val="FFFF00"/>
                </a:solidFill>
                <a:latin typeface="Arial" panose="020B0604020202020204" pitchFamily="34" charset="0"/>
              </a:endParaRPr>
            </a:p>
          </p:txBody>
        </p:sp>
        <p:sp>
          <p:nvSpPr>
            <p:cNvPr id="36877" name="Text Box 18"/>
            <p:cNvSpPr txBox="1"/>
            <p:nvPr/>
          </p:nvSpPr>
          <p:spPr>
            <a:xfrm>
              <a:off x="3496" y="2736"/>
              <a:ext cx="624" cy="336"/>
            </a:xfrm>
            <a:prstGeom prst="rect">
              <a:avLst/>
            </a:prstGeom>
            <a:noFill/>
            <a:ln w="12700">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50000"/>
                </a:spcBef>
                <a:buClrTx/>
                <a:buFontTx/>
                <a:buNone/>
              </a:pPr>
              <a:r>
                <a:rPr lang="en-US" altLang="zh-CN" sz="2400" dirty="0">
                  <a:latin typeface="Times New Roman" panose="02020603050405020304" pitchFamily="18" charset="0"/>
                  <a:ea typeface="宋体" panose="02010600030101010101" pitchFamily="2" charset="-122"/>
                </a:rPr>
                <a:t>Address </a:t>
              </a:r>
              <a:endParaRPr lang="en-US" altLang="zh-CN" sz="2400" dirty="0">
                <a:latin typeface="Times New Roman" panose="02020603050405020304" pitchFamily="18" charset="0"/>
                <a:ea typeface="宋体" panose="02010600030101010101" pitchFamily="2" charset="-122"/>
              </a:endParaRPr>
            </a:p>
          </p:txBody>
        </p:sp>
      </p:grpSp>
      <p:sp>
        <p:nvSpPr>
          <p:cNvPr id="4439059" name="AutoShape 19"/>
          <p:cNvSpPr>
            <a:spLocks noChangeArrowheads="1"/>
          </p:cNvSpPr>
          <p:nvPr/>
        </p:nvSpPr>
        <p:spPr bwMode="auto">
          <a:xfrm>
            <a:off x="931863" y="4894263"/>
            <a:ext cx="4770438" cy="944563"/>
          </a:xfrm>
          <a:prstGeom prst="wedgeRoundRectCallout">
            <a:avLst>
              <a:gd name="adj1" fmla="val -43750"/>
              <a:gd name="adj2" fmla="val 70000"/>
              <a:gd name="adj3" fmla="val 16667"/>
            </a:avLst>
          </a:prstGeom>
          <a:noFill/>
          <a:ln w="9525">
            <a:noFill/>
            <a:miter lim="800000"/>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4439060" name="AutoShape 20"/>
          <p:cNvSpPr/>
          <p:nvPr/>
        </p:nvSpPr>
        <p:spPr>
          <a:xfrm>
            <a:off x="1423988" y="5432425"/>
            <a:ext cx="4165600" cy="935038"/>
          </a:xfrm>
          <a:prstGeom prst="wedgeRoundRectCallout">
            <a:avLst>
              <a:gd name="adj1" fmla="val 37569"/>
              <a:gd name="adj2" fmla="val -87194"/>
              <a:gd name="adj3" fmla="val 16667"/>
            </a:avLst>
          </a:prstGeom>
          <a:solidFill>
            <a:schemeClr val="tx2"/>
          </a:solid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400" dirty="0">
                <a:solidFill>
                  <a:schemeClr val="bg2"/>
                </a:solidFill>
                <a:latin typeface="Times New Roman" panose="02020603050405020304" pitchFamily="18" charset="0"/>
              </a:rPr>
              <a:t>有效地址：操作数</a:t>
            </a:r>
            <a:r>
              <a:rPr lang="en-US" altLang="zh-CN" sz="2400" dirty="0">
                <a:solidFill>
                  <a:schemeClr val="bg2"/>
                </a:solidFill>
                <a:latin typeface="Times New Roman" panose="02020603050405020304" pitchFamily="18" charset="0"/>
              </a:rPr>
              <a:t>Data</a:t>
            </a:r>
            <a:r>
              <a:rPr lang="zh-CN" altLang="en-US" sz="2400" dirty="0">
                <a:solidFill>
                  <a:schemeClr val="bg2"/>
                </a:solidFill>
                <a:latin typeface="Times New Roman" panose="02020603050405020304" pitchFamily="18" charset="0"/>
              </a:rPr>
              <a:t>所在内存单元的实际地址</a:t>
            </a:r>
            <a:r>
              <a:rPr lang="en-US" altLang="zh-CN" sz="2400" dirty="0">
                <a:solidFill>
                  <a:schemeClr val="bg2"/>
                </a:solidFill>
                <a:latin typeface="Times New Roman" panose="02020603050405020304" pitchFamily="18" charset="0"/>
              </a:rPr>
              <a:t>Address</a:t>
            </a:r>
            <a:endParaRPr lang="zh-CN" altLang="en-US" sz="2400" dirty="0">
              <a:solidFill>
                <a:schemeClr val="bg2"/>
              </a:solidFill>
              <a:latin typeface="Times New Roman" panose="02020603050405020304" pitchFamily="18" charset="0"/>
            </a:endParaRPr>
          </a:p>
        </p:txBody>
      </p:sp>
      <p:sp>
        <p:nvSpPr>
          <p:cNvPr id="4439061" name="Rectangle 21"/>
          <p:cNvSpPr>
            <a:spLocks noGrp="1" noChangeArrowheads="1"/>
          </p:cNvSpPr>
          <p:nvPr>
            <p:ph type="title"/>
          </p:nvPr>
        </p:nvSpPr>
        <p:spPr>
          <a:xfrm>
            <a:off x="0" y="254000"/>
            <a:ext cx="9144000" cy="7143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a:t>
            </a:r>
            <a:r>
              <a:rPr kumimoji="1"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寻址技术</a:t>
            </a:r>
            <a:endParaRPr kumimoji="1"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nodePh="1">
                                  <p:stCondLst>
                                    <p:cond delay="0"/>
                                  </p:stCondLst>
                                  <p:endCondLst>
                                    <p:cond evt="begin" delay="0">
                                      <p:tn val="17"/>
                                    </p:cond>
                                  </p:endCondLst>
                                  <p:childTnLst>
                                    <p:set>
                                      <p:cBhvr>
                                        <p:cTn id="18" dur="1" fill="hold">
                                          <p:stCondLst>
                                            <p:cond delay="499"/>
                                          </p:stCondLst>
                                        </p:cTn>
                                        <p:tgtEl>
                                          <p:spTgt spid="4439059"/>
                                        </p:tgtEl>
                                        <p:attrNameLst>
                                          <p:attrName>style.visibility</p:attrName>
                                        </p:attrNameLst>
                                      </p:cBhvr>
                                      <p:to>
                                        <p:strVal val="visible"/>
                                      </p:to>
                                    </p:se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4439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9059" grpId="0"/>
      <p:bldP spid="443906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40066" name="Rectangle 2"/>
          <p:cNvSpPr/>
          <p:nvPr/>
        </p:nvSpPr>
        <p:spPr>
          <a:xfrm>
            <a:off x="5035550" y="3616325"/>
            <a:ext cx="1600200" cy="517525"/>
          </a:xfrm>
          <a:prstGeom prst="rect">
            <a:avLst/>
          </a:prstGeom>
          <a:solidFill>
            <a:srgbClr val="FFFF49"/>
          </a:solidFill>
          <a:ln w="12700"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400" dirty="0">
                <a:solidFill>
                  <a:srgbClr val="0532C3"/>
                </a:solidFill>
                <a:latin typeface="Arial" panose="020B0604020202020204" pitchFamily="34" charset="0"/>
              </a:rPr>
              <a:t>源地址</a:t>
            </a:r>
            <a:endParaRPr lang="zh-CN" altLang="en-US" sz="2400" dirty="0">
              <a:solidFill>
                <a:srgbClr val="0532C3"/>
              </a:solidFill>
              <a:latin typeface="Arial" panose="020B0604020202020204" pitchFamily="34" charset="0"/>
            </a:endParaRPr>
          </a:p>
        </p:txBody>
      </p:sp>
      <p:sp>
        <p:nvSpPr>
          <p:cNvPr id="4440067" name="Rectangle 3"/>
          <p:cNvSpPr/>
          <p:nvPr/>
        </p:nvSpPr>
        <p:spPr>
          <a:xfrm>
            <a:off x="3435350" y="3616325"/>
            <a:ext cx="1600200" cy="517525"/>
          </a:xfrm>
          <a:prstGeom prst="rect">
            <a:avLst/>
          </a:prstGeom>
          <a:solidFill>
            <a:srgbClr val="C0C0C0"/>
          </a:solidFill>
          <a:ln w="12700"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400" dirty="0">
                <a:solidFill>
                  <a:srgbClr val="0532C3"/>
                </a:solidFill>
                <a:latin typeface="Arial" panose="020B0604020202020204" pitchFamily="34" charset="0"/>
              </a:rPr>
              <a:t>目的地址</a:t>
            </a:r>
            <a:endParaRPr lang="zh-CN" altLang="en-US" sz="2400" dirty="0">
              <a:solidFill>
                <a:srgbClr val="0532C3"/>
              </a:solidFill>
              <a:latin typeface="Arial" panose="020B0604020202020204" pitchFamily="34" charset="0"/>
            </a:endParaRPr>
          </a:p>
        </p:txBody>
      </p:sp>
      <p:sp>
        <p:nvSpPr>
          <p:cNvPr id="37892" name="Rectangle 4"/>
          <p:cNvSpPr>
            <a:spLocks noGrp="1"/>
          </p:cNvSpPr>
          <p:nvPr>
            <p:ph idx="1"/>
          </p:nvPr>
        </p:nvSpPr>
        <p:spPr>
          <a:xfrm>
            <a:off x="566738" y="1001713"/>
            <a:ext cx="8242300" cy="2616200"/>
          </a:xfrm>
          <a:ln/>
        </p:spPr>
        <p:txBody>
          <a:bodyPr vert="horz" wrap="square" lIns="91440" tIns="45720" rIns="91440" bIns="45720" anchor="t" anchorCtr="0">
            <a:spAutoFit/>
          </a:bodyPr>
          <a:p>
            <a:pPr marL="358775" indent="-358775" eaLnBrk="1" hangingPunct="1">
              <a:lnSpc>
                <a:spcPct val="100000"/>
              </a:lnSpc>
              <a:spcBef>
                <a:spcPts val="600"/>
              </a:spcBef>
              <a:spcAft>
                <a:spcPts val="600"/>
              </a:spcAft>
              <a:buClr>
                <a:srgbClr val="FF9999"/>
              </a:buClr>
            </a:pPr>
            <a:r>
              <a:rPr lang="zh-CN" altLang="en-US" sz="3200" dirty="0"/>
              <a:t>寻址技术</a:t>
            </a:r>
            <a:endParaRPr lang="zh-CN" altLang="en-US" sz="3200" dirty="0"/>
          </a:p>
          <a:p>
            <a:pPr marL="717550" lvl="1" indent="-266700" eaLnBrk="1" hangingPunct="1">
              <a:lnSpc>
                <a:spcPct val="100000"/>
              </a:lnSpc>
              <a:spcBef>
                <a:spcPts val="600"/>
              </a:spcBef>
              <a:spcAft>
                <a:spcPts val="600"/>
              </a:spcAft>
              <a:buClr>
                <a:schemeClr val="tx1"/>
              </a:buClr>
              <a:buFont typeface="Arial" panose="020B0604020202020204" pitchFamily="34" charset="0"/>
              <a:buBlip>
                <a:blip r:embed="rId2"/>
              </a:buBlip>
            </a:pPr>
            <a:r>
              <a:rPr lang="zh-CN" altLang="en-US" sz="2800" dirty="0"/>
              <a:t>定义：利用指令中地址字段的一部分，指明操作数的获取方式或操作数地址的计算方法</a:t>
            </a:r>
            <a:endParaRPr lang="zh-CN" altLang="en-US" sz="2800" dirty="0"/>
          </a:p>
          <a:p>
            <a:pPr marL="717550" lvl="1" indent="-266700" eaLnBrk="1" hangingPunct="1">
              <a:lnSpc>
                <a:spcPct val="100000"/>
              </a:lnSpc>
              <a:spcBef>
                <a:spcPts val="600"/>
              </a:spcBef>
              <a:spcAft>
                <a:spcPts val="600"/>
              </a:spcAft>
              <a:buClr>
                <a:schemeClr val="tx1"/>
              </a:buClr>
              <a:buFont typeface="Arial" panose="020B0604020202020204" pitchFamily="34" charset="0"/>
              <a:buBlip>
                <a:blip r:embed="rId2"/>
              </a:buBlip>
            </a:pPr>
            <a:r>
              <a:rPr lang="zh-CN" altLang="en-US" sz="2800" dirty="0"/>
              <a:t>目的：</a:t>
            </a:r>
            <a:r>
              <a:rPr lang="zh-CN" altLang="en-US" sz="2800" dirty="0">
                <a:solidFill>
                  <a:srgbClr val="FFFF00"/>
                </a:solidFill>
              </a:rPr>
              <a:t>缩短指令长度，扩大寻址空间 ，提高编程灵活性</a:t>
            </a:r>
            <a:endParaRPr lang="zh-CN" altLang="en-US" sz="2800" dirty="0">
              <a:solidFill>
                <a:srgbClr val="FFFF00"/>
              </a:solidFill>
            </a:endParaRPr>
          </a:p>
        </p:txBody>
      </p:sp>
      <p:grpSp>
        <p:nvGrpSpPr>
          <p:cNvPr id="2" name="Group 5"/>
          <p:cNvGrpSpPr/>
          <p:nvPr/>
        </p:nvGrpSpPr>
        <p:grpSpPr>
          <a:xfrm>
            <a:off x="1835150" y="3619500"/>
            <a:ext cx="4800600" cy="519113"/>
            <a:chOff x="624" y="1632"/>
            <a:chExt cx="3024" cy="240"/>
          </a:xfrm>
        </p:grpSpPr>
        <p:sp>
          <p:nvSpPr>
            <p:cNvPr id="37903" name="Rectangle 6"/>
            <p:cNvSpPr/>
            <p:nvPr/>
          </p:nvSpPr>
          <p:spPr>
            <a:xfrm>
              <a:off x="624" y="1632"/>
              <a:ext cx="1008" cy="2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en-US" altLang="zh-CN" sz="2400" dirty="0">
                  <a:latin typeface="Times New Roman" panose="02020603050405020304" pitchFamily="18" charset="0"/>
                  <a:ea typeface="宋体" panose="02010600030101010101" pitchFamily="2" charset="-122"/>
                </a:rPr>
                <a:t>OP</a:t>
              </a:r>
              <a:endParaRPr lang="en-US" altLang="zh-CN" sz="2400" dirty="0">
                <a:latin typeface="Times New Roman" panose="02020603050405020304" pitchFamily="18" charset="0"/>
                <a:ea typeface="宋体" panose="02010600030101010101" pitchFamily="2" charset="-122"/>
              </a:endParaRPr>
            </a:p>
          </p:txBody>
        </p:sp>
        <p:sp>
          <p:nvSpPr>
            <p:cNvPr id="37904" name="Rectangle 7"/>
            <p:cNvSpPr/>
            <p:nvPr/>
          </p:nvSpPr>
          <p:spPr>
            <a:xfrm>
              <a:off x="1632" y="1632"/>
              <a:ext cx="1008" cy="2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400" dirty="0">
                  <a:solidFill>
                    <a:srgbClr val="FF00FF"/>
                  </a:solidFill>
                  <a:latin typeface="Arial" panose="020B0604020202020204" pitchFamily="34" charset="0"/>
                </a:rPr>
                <a:t>目的地址</a:t>
              </a:r>
              <a:endParaRPr lang="zh-CN" altLang="en-US" sz="2400" dirty="0">
                <a:solidFill>
                  <a:srgbClr val="FF00FF"/>
                </a:solidFill>
                <a:latin typeface="Arial" panose="020B0604020202020204" pitchFamily="34" charset="0"/>
              </a:endParaRPr>
            </a:p>
          </p:txBody>
        </p:sp>
        <p:sp>
          <p:nvSpPr>
            <p:cNvPr id="37905" name="Rectangle 8"/>
            <p:cNvSpPr/>
            <p:nvPr/>
          </p:nvSpPr>
          <p:spPr>
            <a:xfrm>
              <a:off x="2640" y="1632"/>
              <a:ext cx="1008" cy="2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400" dirty="0">
                  <a:solidFill>
                    <a:srgbClr val="FF00FF"/>
                  </a:solidFill>
                  <a:latin typeface="Arial" panose="020B0604020202020204" pitchFamily="34" charset="0"/>
                </a:rPr>
                <a:t>源地址</a:t>
              </a:r>
              <a:endParaRPr lang="zh-CN" altLang="en-US" sz="2400" dirty="0">
                <a:solidFill>
                  <a:srgbClr val="FF00FF"/>
                </a:solidFill>
                <a:latin typeface="Arial" panose="020B0604020202020204" pitchFamily="34" charset="0"/>
              </a:endParaRPr>
            </a:p>
          </p:txBody>
        </p:sp>
      </p:grpSp>
      <p:grpSp>
        <p:nvGrpSpPr>
          <p:cNvPr id="3" name="Group 9"/>
          <p:cNvGrpSpPr/>
          <p:nvPr/>
        </p:nvGrpSpPr>
        <p:grpSpPr>
          <a:xfrm>
            <a:off x="1941513" y="4164013"/>
            <a:ext cx="3792537" cy="1682750"/>
            <a:chOff x="1223" y="2504"/>
            <a:chExt cx="2389" cy="1177"/>
          </a:xfrm>
        </p:grpSpPr>
        <p:sp>
          <p:nvSpPr>
            <p:cNvPr id="37900" name="Rectangle 10"/>
            <p:cNvSpPr/>
            <p:nvPr/>
          </p:nvSpPr>
          <p:spPr>
            <a:xfrm>
              <a:off x="2867" y="3332"/>
              <a:ext cx="745" cy="349"/>
            </a:xfrm>
            <a:prstGeom prst="rect">
              <a:avLst/>
            </a:prstGeom>
            <a:solidFill>
              <a:srgbClr val="B2B2B2"/>
            </a:solidFill>
            <a:ln w="12700"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10000"/>
                </a:lnSpc>
                <a:spcBef>
                  <a:spcPct val="0"/>
                </a:spcBef>
                <a:buClrTx/>
                <a:buFontTx/>
                <a:buNone/>
              </a:pPr>
              <a:r>
                <a:rPr lang="en-US" altLang="zh-CN" sz="2200" dirty="0">
                  <a:solidFill>
                    <a:srgbClr val="0532C3"/>
                  </a:solidFill>
                  <a:latin typeface="Times New Roman" panose="02020603050405020304" pitchFamily="18" charset="0"/>
                  <a:ea typeface="宋体" panose="02010600030101010101" pitchFamily="2" charset="-122"/>
                </a:rPr>
                <a:t>Address</a:t>
              </a:r>
              <a:endParaRPr lang="en-US" altLang="zh-CN" sz="2200" dirty="0">
                <a:solidFill>
                  <a:srgbClr val="0532C3"/>
                </a:solidFill>
                <a:latin typeface="Times New Roman" panose="02020603050405020304" pitchFamily="18" charset="0"/>
                <a:ea typeface="宋体" panose="02010600030101010101" pitchFamily="2" charset="-122"/>
              </a:endParaRPr>
            </a:p>
          </p:txBody>
        </p:sp>
        <p:sp>
          <p:nvSpPr>
            <p:cNvPr id="37901" name="Rectangle 11"/>
            <p:cNvSpPr/>
            <p:nvPr/>
          </p:nvSpPr>
          <p:spPr>
            <a:xfrm>
              <a:off x="1223" y="3332"/>
              <a:ext cx="1641" cy="349"/>
            </a:xfrm>
            <a:prstGeom prst="rect">
              <a:avLst/>
            </a:prstGeom>
            <a:solidFill>
              <a:srgbClr val="B2B2B2"/>
            </a:solidFill>
            <a:ln w="12700"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200" dirty="0">
                  <a:solidFill>
                    <a:srgbClr val="0532C3"/>
                  </a:solidFill>
                  <a:latin typeface="Arial" panose="020B0604020202020204" pitchFamily="34" charset="0"/>
                </a:rPr>
                <a:t>目的操作数寻址方式</a:t>
              </a:r>
              <a:endParaRPr lang="zh-CN" altLang="en-US" sz="2200" dirty="0">
                <a:solidFill>
                  <a:srgbClr val="0532C3"/>
                </a:solidFill>
                <a:latin typeface="Arial" panose="020B0604020202020204" pitchFamily="34" charset="0"/>
              </a:endParaRPr>
            </a:p>
          </p:txBody>
        </p:sp>
        <p:sp>
          <p:nvSpPr>
            <p:cNvPr id="4440076" name="AutoShape 12"/>
            <p:cNvSpPr>
              <a:spLocks noChangeArrowheads="1"/>
            </p:cNvSpPr>
            <p:nvPr/>
          </p:nvSpPr>
          <p:spPr bwMode="auto">
            <a:xfrm>
              <a:off x="2588" y="2504"/>
              <a:ext cx="176" cy="809"/>
            </a:xfrm>
            <a:prstGeom prst="upDownArrow">
              <a:avLst>
                <a:gd name="adj1" fmla="val 50000"/>
                <a:gd name="adj2" fmla="val 70965"/>
              </a:avLst>
            </a:prstGeom>
            <a:noFill/>
            <a:ln w="12700">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4" name="Group 13"/>
          <p:cNvGrpSpPr/>
          <p:nvPr/>
        </p:nvGrpSpPr>
        <p:grpSpPr>
          <a:xfrm>
            <a:off x="3654425" y="4173538"/>
            <a:ext cx="4038600" cy="2486025"/>
            <a:chOff x="2322" y="2534"/>
            <a:chExt cx="2544" cy="1661"/>
          </a:xfrm>
        </p:grpSpPr>
        <p:sp>
          <p:nvSpPr>
            <p:cNvPr id="37897" name="Rectangle 14"/>
            <p:cNvSpPr/>
            <p:nvPr/>
          </p:nvSpPr>
          <p:spPr>
            <a:xfrm>
              <a:off x="2322" y="3878"/>
              <a:ext cx="1630" cy="316"/>
            </a:xfrm>
            <a:prstGeom prst="rect">
              <a:avLst/>
            </a:prstGeom>
            <a:solidFill>
              <a:srgbClr val="FFFF49"/>
            </a:solidFill>
            <a:ln w="12700" cap="flat" cmpd="sng">
              <a:solidFill>
                <a:srgbClr val="419125"/>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200" dirty="0">
                  <a:solidFill>
                    <a:srgbClr val="0532C3"/>
                  </a:solidFill>
                  <a:latin typeface="Arial" panose="020B0604020202020204" pitchFamily="34" charset="0"/>
                </a:rPr>
                <a:t>源操作数寻址方式</a:t>
              </a:r>
              <a:endParaRPr lang="zh-CN" altLang="en-US" sz="2200" dirty="0">
                <a:solidFill>
                  <a:srgbClr val="0532C3"/>
                </a:solidFill>
                <a:latin typeface="Arial" panose="020B0604020202020204" pitchFamily="34" charset="0"/>
              </a:endParaRPr>
            </a:p>
          </p:txBody>
        </p:sp>
        <p:sp>
          <p:nvSpPr>
            <p:cNvPr id="37898" name="Rectangle 15"/>
            <p:cNvSpPr/>
            <p:nvPr/>
          </p:nvSpPr>
          <p:spPr>
            <a:xfrm>
              <a:off x="3952" y="3878"/>
              <a:ext cx="914" cy="317"/>
            </a:xfrm>
            <a:prstGeom prst="rect">
              <a:avLst/>
            </a:prstGeom>
            <a:solidFill>
              <a:srgbClr val="FFFF49"/>
            </a:solidFill>
            <a:ln w="12700" cap="flat" cmpd="sng">
              <a:solidFill>
                <a:srgbClr val="419125"/>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en-US" altLang="zh-CN" sz="2200" dirty="0">
                  <a:solidFill>
                    <a:srgbClr val="0532C3"/>
                  </a:solidFill>
                  <a:latin typeface="Times New Roman" panose="02020603050405020304" pitchFamily="18" charset="0"/>
                  <a:ea typeface="宋体" panose="02010600030101010101" pitchFamily="2" charset="-122"/>
                </a:rPr>
                <a:t>Address</a:t>
              </a:r>
              <a:endParaRPr lang="en-US" altLang="zh-CN" sz="2200" dirty="0">
                <a:solidFill>
                  <a:srgbClr val="0532C3"/>
                </a:solidFill>
                <a:latin typeface="Times New Roman" panose="02020603050405020304" pitchFamily="18" charset="0"/>
                <a:ea typeface="宋体" panose="02010600030101010101" pitchFamily="2" charset="-122"/>
              </a:endParaRPr>
            </a:p>
          </p:txBody>
        </p:sp>
        <p:sp>
          <p:nvSpPr>
            <p:cNvPr id="4440080" name="AutoShape 16"/>
            <p:cNvSpPr>
              <a:spLocks noChangeArrowheads="1"/>
            </p:cNvSpPr>
            <p:nvPr/>
          </p:nvSpPr>
          <p:spPr bwMode="auto">
            <a:xfrm>
              <a:off x="3696" y="2534"/>
              <a:ext cx="146" cy="1341"/>
            </a:xfrm>
            <a:prstGeom prst="upDownArrow">
              <a:avLst>
                <a:gd name="adj1" fmla="val 50000"/>
                <a:gd name="adj2" fmla="val 127714"/>
              </a:avLst>
            </a:prstGeom>
            <a:noFill/>
            <a:ln w="12700">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440081" name="Rectangle 17"/>
          <p:cNvSpPr>
            <a:spLocks noGrp="1" noChangeArrowheads="1"/>
          </p:cNvSpPr>
          <p:nvPr>
            <p:ph type="title"/>
          </p:nvPr>
        </p:nvSpPr>
        <p:spPr>
          <a:xfrm>
            <a:off x="0" y="117475"/>
            <a:ext cx="9144000" cy="7143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a:t>
            </a:r>
            <a:r>
              <a:rPr kumimoji="1"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寻址技术</a:t>
            </a:r>
            <a:endParaRPr kumimoji="1"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400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4400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0066" grpId="0" animBg="1"/>
      <p:bldP spid="444006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42114" name="Rectangle 2"/>
          <p:cNvSpPr>
            <a:spLocks noGrp="1" noChangeArrowheads="1"/>
          </p:cNvSpPr>
          <p:nvPr>
            <p:ph type="title"/>
          </p:nvPr>
        </p:nvSpPr>
        <p:spPr>
          <a:xfrm>
            <a:off x="0" y="188913"/>
            <a:ext cx="9144000" cy="7143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a:t>
            </a:r>
            <a:r>
              <a:rPr kumimoji="1"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寻址技术</a:t>
            </a:r>
            <a:endParaRPr kumimoji="1"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39939" name="Rectangle 3"/>
          <p:cNvSpPr>
            <a:spLocks noGrp="1"/>
          </p:cNvSpPr>
          <p:nvPr>
            <p:ph idx="1"/>
          </p:nvPr>
        </p:nvSpPr>
        <p:spPr>
          <a:xfrm>
            <a:off x="823913" y="1158875"/>
            <a:ext cx="7862887" cy="4808538"/>
          </a:xfrm>
          <a:ln/>
        </p:spPr>
        <p:txBody>
          <a:bodyPr vert="horz" wrap="square" lIns="92075" tIns="46038" rIns="92075" bIns="46038" anchor="t" anchorCtr="0">
            <a:spAutoFit/>
          </a:bodyPr>
          <a:p>
            <a:pPr marL="358775" indent="-358775" algn="just" eaLnBrk="1" hangingPunct="1">
              <a:lnSpc>
                <a:spcPct val="120000"/>
              </a:lnSpc>
              <a:spcBef>
                <a:spcPts val="600"/>
              </a:spcBef>
              <a:buClr>
                <a:srgbClr val="FF9999"/>
              </a:buClr>
            </a:pPr>
            <a:r>
              <a:rPr lang="zh-CN" altLang="en-US" sz="3200" dirty="0"/>
              <a:t>基本寻址技术</a:t>
            </a:r>
            <a:endParaRPr lang="zh-CN" altLang="en-US" sz="3200" dirty="0">
              <a:latin typeface="Times New Roman" panose="02020603050405020304" pitchFamily="18" charset="0"/>
            </a:endParaRPr>
          </a:p>
          <a:p>
            <a:pPr marL="717550" lvl="1" indent="-266700" algn="just" eaLnBrk="1" hangingPunct="1">
              <a:lnSpc>
                <a:spcPct val="120000"/>
              </a:lnSpc>
              <a:spcBef>
                <a:spcPts val="600"/>
              </a:spcBef>
              <a:buClr>
                <a:srgbClr val="FF9999"/>
              </a:buClr>
            </a:pPr>
            <a:r>
              <a:rPr lang="zh-CN" altLang="en-US" sz="2800" dirty="0">
                <a:latin typeface="Times New Roman" panose="02020603050405020304" pitchFamily="18" charset="0"/>
              </a:rPr>
              <a:t>立即数寻址</a:t>
            </a:r>
            <a:endParaRPr lang="zh-CN" altLang="en-US" sz="2800" dirty="0">
              <a:latin typeface="Times New Roman" panose="02020603050405020304" pitchFamily="18" charset="0"/>
            </a:endParaRPr>
          </a:p>
          <a:p>
            <a:pPr marL="717550" lvl="1" indent="-266700" algn="just" eaLnBrk="1" hangingPunct="1">
              <a:lnSpc>
                <a:spcPct val="120000"/>
              </a:lnSpc>
              <a:spcBef>
                <a:spcPts val="600"/>
              </a:spcBef>
              <a:buClr>
                <a:srgbClr val="FF9999"/>
              </a:buClr>
            </a:pPr>
            <a:r>
              <a:rPr lang="zh-CN" altLang="en-US" sz="2800" dirty="0">
                <a:latin typeface="Times New Roman" panose="02020603050405020304" pitchFamily="18" charset="0"/>
              </a:rPr>
              <a:t>直接寻址</a:t>
            </a:r>
            <a:endParaRPr lang="zh-CN" altLang="en-US" sz="2800" dirty="0">
              <a:latin typeface="Times New Roman" panose="02020603050405020304" pitchFamily="18" charset="0"/>
            </a:endParaRPr>
          </a:p>
          <a:p>
            <a:pPr marL="717550" lvl="1" indent="-266700" algn="just" eaLnBrk="1" hangingPunct="1">
              <a:lnSpc>
                <a:spcPct val="120000"/>
              </a:lnSpc>
              <a:spcBef>
                <a:spcPts val="600"/>
              </a:spcBef>
              <a:buClr>
                <a:srgbClr val="FF9999"/>
              </a:buClr>
            </a:pPr>
            <a:r>
              <a:rPr lang="zh-CN" altLang="en-US" sz="2800" dirty="0">
                <a:latin typeface="Times New Roman" panose="02020603050405020304" pitchFamily="18" charset="0"/>
              </a:rPr>
              <a:t>间接寻址</a:t>
            </a:r>
            <a:endParaRPr lang="zh-CN" altLang="en-US" sz="2800" dirty="0">
              <a:latin typeface="Times New Roman" panose="02020603050405020304" pitchFamily="18" charset="0"/>
            </a:endParaRPr>
          </a:p>
          <a:p>
            <a:pPr marL="717550" lvl="1" indent="-266700" algn="just" eaLnBrk="1" hangingPunct="1">
              <a:lnSpc>
                <a:spcPct val="120000"/>
              </a:lnSpc>
              <a:spcBef>
                <a:spcPts val="600"/>
              </a:spcBef>
              <a:buClr>
                <a:srgbClr val="FF9999"/>
              </a:buClr>
            </a:pPr>
            <a:r>
              <a:rPr lang="zh-CN" altLang="en-US" sz="2800" dirty="0">
                <a:latin typeface="Times New Roman" panose="02020603050405020304" pitchFamily="18" charset="0"/>
              </a:rPr>
              <a:t>寄存器寻址</a:t>
            </a:r>
            <a:endParaRPr lang="zh-CN" altLang="en-US" sz="2800" dirty="0">
              <a:latin typeface="Times New Roman" panose="02020603050405020304" pitchFamily="18" charset="0"/>
            </a:endParaRPr>
          </a:p>
          <a:p>
            <a:pPr marL="717550" lvl="1" indent="-266700" algn="just" eaLnBrk="1" hangingPunct="1">
              <a:lnSpc>
                <a:spcPct val="120000"/>
              </a:lnSpc>
              <a:spcBef>
                <a:spcPts val="600"/>
              </a:spcBef>
              <a:buClr>
                <a:srgbClr val="FF9999"/>
              </a:buClr>
            </a:pPr>
            <a:r>
              <a:rPr lang="zh-CN" altLang="en-US" sz="2800" dirty="0">
                <a:latin typeface="Times New Roman" panose="02020603050405020304" pitchFamily="18" charset="0"/>
              </a:rPr>
              <a:t>寄存器间接寻址</a:t>
            </a:r>
            <a:endParaRPr lang="zh-CN" altLang="en-US" sz="2800" dirty="0">
              <a:latin typeface="Times New Roman" panose="02020603050405020304" pitchFamily="18" charset="0"/>
            </a:endParaRPr>
          </a:p>
          <a:p>
            <a:pPr marL="717550" lvl="1" indent="-266700" algn="just" eaLnBrk="1" hangingPunct="1">
              <a:lnSpc>
                <a:spcPct val="120000"/>
              </a:lnSpc>
              <a:spcBef>
                <a:spcPts val="600"/>
              </a:spcBef>
              <a:buClr>
                <a:srgbClr val="FF9999"/>
              </a:buClr>
            </a:pPr>
            <a:r>
              <a:rPr lang="zh-CN" altLang="en-US" sz="2800" dirty="0">
                <a:latin typeface="Times New Roman" panose="02020603050405020304" pitchFamily="18" charset="0"/>
              </a:rPr>
              <a:t>偏移寻址</a:t>
            </a:r>
            <a:r>
              <a:rPr lang="en-US" altLang="zh-CN" sz="2800" dirty="0">
                <a:latin typeface="Times New Roman" panose="02020603050405020304" pitchFamily="18" charset="0"/>
              </a:rPr>
              <a:t>(</a:t>
            </a:r>
            <a:r>
              <a:rPr lang="zh-CN" altLang="en-US" sz="2800" dirty="0">
                <a:latin typeface="Times New Roman" panose="02020603050405020304" pitchFamily="18" charset="0"/>
              </a:rPr>
              <a:t>相对、基址和变址</a:t>
            </a:r>
            <a:r>
              <a:rPr lang="en-US" altLang="zh-CN" sz="2800" dirty="0">
                <a:latin typeface="Times New Roman" panose="02020603050405020304" pitchFamily="18" charset="0"/>
              </a:rPr>
              <a:t>)</a:t>
            </a:r>
            <a:endParaRPr lang="zh-CN" altLang="en-US" sz="2800" dirty="0">
              <a:latin typeface="Times New Roman" panose="02020603050405020304" pitchFamily="18" charset="0"/>
            </a:endParaRPr>
          </a:p>
          <a:p>
            <a:pPr marL="717550" lvl="1" indent="-266700" algn="just" eaLnBrk="1" hangingPunct="1">
              <a:lnSpc>
                <a:spcPct val="120000"/>
              </a:lnSpc>
              <a:spcBef>
                <a:spcPts val="600"/>
              </a:spcBef>
              <a:buClr>
                <a:srgbClr val="FF9999"/>
              </a:buClr>
            </a:pPr>
            <a:r>
              <a:rPr lang="zh-CN" altLang="en-US" sz="2800" dirty="0">
                <a:latin typeface="Times New Roman" panose="02020603050405020304" pitchFamily="18" charset="0"/>
              </a:rPr>
              <a:t>堆栈寻址</a:t>
            </a:r>
            <a:endParaRPr lang="zh-CN" altLang="en-US" sz="2800" dirty="0">
              <a:latin typeface="Times New Roman" panose="02020603050405020304" pitchFamily="18" charset="0"/>
            </a:endParaRPr>
          </a:p>
        </p:txBody>
      </p:sp>
      <p:sp>
        <p:nvSpPr>
          <p:cNvPr id="4442116" name="AutoShape 4"/>
          <p:cNvSpPr>
            <a:spLocks noChangeArrowheads="1"/>
          </p:cNvSpPr>
          <p:nvPr/>
        </p:nvSpPr>
        <p:spPr bwMode="auto">
          <a:xfrm>
            <a:off x="3825875" y="1984375"/>
            <a:ext cx="3767138" cy="1778000"/>
          </a:xfrm>
          <a:prstGeom prst="cloudCallout">
            <a:avLst>
              <a:gd name="adj1" fmla="val -1965"/>
              <a:gd name="adj2" fmla="val 16697"/>
            </a:avLst>
          </a:prstGeom>
          <a:solidFill>
            <a:srgbClr val="FFFF00"/>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bg2"/>
                </a:solidFill>
                <a:effectLst>
                  <a:outerShdw blurRad="38100" dist="38100" dir="2700000" algn="tl">
                    <a:srgbClr val="FFFFFF"/>
                  </a:outerShdw>
                </a:effectLst>
                <a:uLnTx/>
                <a:uFillTx/>
                <a:latin typeface="Arial" panose="020B0604020202020204" pitchFamily="34" charset="0"/>
                <a:ea typeface="华文新魏" panose="02010800040101010101" pitchFamily="2" charset="-122"/>
                <a:cs typeface="+mn-cs"/>
              </a:rPr>
              <a:t>如何根据形式地址和寻址方式计算有效地址？</a:t>
            </a:r>
            <a:endParaRPr kumimoji="0" lang="zh-CN" altLang="en-US" sz="2400" b="1" i="0" u="none" strike="noStrike" kern="1200" cap="none" spc="0" normalizeH="0" baseline="0" noProof="0" dirty="0">
              <a:ln>
                <a:noFill/>
              </a:ln>
              <a:solidFill>
                <a:schemeClr val="bg2"/>
              </a:solidFill>
              <a:effectLst>
                <a:outerShdw blurRad="38100" dist="38100" dir="2700000" algn="tl">
                  <a:srgbClr val="FFFFFF"/>
                </a:outerShdw>
              </a:effectLst>
              <a:uLnTx/>
              <a:uFillTx/>
              <a:latin typeface="Arial" panose="020B0604020202020204" pitchFamily="34" charset="0"/>
              <a:ea typeface="华文新魏" panose="02010800040101010101" pitchFamily="2" charset="-122"/>
              <a:cs typeface="+mn-cs"/>
            </a:endParaRPr>
          </a:p>
        </p:txBody>
      </p:sp>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21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21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noChangeArrowheads="1"/>
          </p:cNvSpPr>
          <p:nvPr>
            <p:ph idx="1"/>
          </p:nvPr>
        </p:nvSpPr>
        <p:spPr>
          <a:xfrm>
            <a:off x="514350" y="1058863"/>
            <a:ext cx="8362950" cy="5756275"/>
          </a:xfrm>
        </p:spPr>
        <p:txBody>
          <a:bodyPr vert="horz" wrap="square" lIns="92075" tIns="46038" rIns="92075" bIns="46038" numCol="1" anchor="t" anchorCtr="0" compatLnSpc="1">
            <a:spAutoFit/>
          </a:bodyPr>
          <a:lstStyle/>
          <a:p>
            <a:pPr marL="358775" marR="0" lvl="0" indent="-35877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1"/>
              </a:buBlip>
              <a:defRPr/>
            </a:pPr>
            <a:r>
              <a:rPr kumimoji="1" lang="en-US" altLang="zh-CN" sz="3200" b="1" i="0" u="none" strike="noStrike" kern="0" cap="none" spc="0" normalizeH="0" baseline="0" noProof="0" dirty="0" smtClean="0">
                <a:ln>
                  <a:noFill/>
                </a:ln>
                <a:solidFill>
                  <a:srgbClr val="FF3300"/>
                </a:solidFill>
                <a:effectLst/>
                <a:uLnTx/>
                <a:uFillTx/>
                <a:latin typeface="Times New Roman" panose="02020603050405020304" pitchFamily="18" charset="0"/>
                <a:ea typeface="+mn-ea"/>
                <a:cs typeface="+mn-cs"/>
              </a:rPr>
              <a:t>CISC</a:t>
            </a:r>
            <a:r>
              <a:rPr kumimoji="1"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 (Complex Instruction Set Computer）</a:t>
            </a:r>
            <a:endParaRPr kumimoji="1"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812800" marR="0" lvl="1" indent="-35877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2"/>
              </a:buBlip>
              <a:defRPr/>
            </a:pPr>
            <a:r>
              <a:rPr kumimoji="1" lang="en-US" altLang="zh-CN" sz="2800" b="1" i="0" u="none" strike="noStrike" kern="0" cap="none" spc="0" normalizeH="0" baseline="0" noProof="0" dirty="0" smtClean="0">
                <a:ln>
                  <a:noFill/>
                </a:ln>
                <a:solidFill>
                  <a:srgbClr val="FF3300"/>
                </a:solidFill>
                <a:effectLst/>
                <a:uLnTx/>
                <a:uFillTx/>
                <a:latin typeface="Times New Roman" panose="02020603050405020304" pitchFamily="18" charset="0"/>
                <a:ea typeface="+mn-ea"/>
              </a:rPr>
              <a:t>CISC</a:t>
            </a:r>
            <a:r>
              <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的设计思想是把硬件资源主要用于提高指令系统的功能和规模，使指令系统设计尽可能接近高级语言，但没有最大限度地利用这些资源来提高性能</a:t>
            </a:r>
            <a:endPar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17550" marR="0" lvl="1" indent="-255905" algn="just"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2"/>
              </a:buBlip>
              <a:defRPr/>
            </a:pPr>
            <a:r>
              <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使用</a:t>
            </a:r>
            <a:r>
              <a:rPr kumimoji="1"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CISC</a:t>
            </a:r>
            <a:r>
              <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的理由</a:t>
            </a:r>
            <a:endPar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076325" marR="0" lvl="2" indent="-266700" algn="just"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简化编译器</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076325" marR="0" lvl="2" indent="-266700" algn="just"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可生成更小、更快的程序</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17550" marR="0" lvl="1" indent="-25590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2"/>
              </a:buBlip>
              <a:defRPr/>
            </a:pPr>
            <a:r>
              <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存在的主要问题</a:t>
            </a:r>
            <a:endPar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076325" marR="0" lvl="2" indent="-266700" algn="just"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复杂指令不能有效得到利用： 80</a:t>
            </a:r>
            <a:r>
              <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的时间运行的是占指令系统20</a:t>
            </a:r>
            <a:r>
              <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的指令</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076325" marR="0" lvl="2" indent="-266700" algn="just"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复杂指令系统会降低整个机器的执行速度</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076325" marR="0" lvl="2" indent="-266700" algn="just"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复杂指令系统实现复杂，不利于用</a:t>
            </a:r>
            <a:r>
              <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VLSI</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实现</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076325" marR="0" lvl="2" indent="-266700" algn="just"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设计周期长，因系统复杂而使其可能包含设计错误</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p:txBody>
      </p:sp>
      <p:sp>
        <p:nvSpPr>
          <p:cNvPr id="301059" name="Rectangle 3"/>
          <p:cNvSpPr>
            <a:spLocks noChangeArrowheads="1"/>
          </p:cNvSpPr>
          <p:nvPr/>
        </p:nvSpPr>
        <p:spPr bwMode="auto">
          <a:xfrm>
            <a:off x="1497013" y="195263"/>
            <a:ext cx="6980238" cy="823913"/>
          </a:xfrm>
          <a:prstGeom prst="rect">
            <a:avLst/>
          </a:prstGeom>
          <a:noFill/>
          <a:ln>
            <a:noFill/>
          </a:ln>
          <a:effectLst/>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4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n-cs"/>
              </a:rPr>
              <a:t>回顾</a:t>
            </a:r>
            <a:r>
              <a:rPr kumimoji="0" lang="zh-CN" altLang="en-US"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j-cs"/>
              </a:rPr>
              <a:t>－ </a:t>
            </a:r>
            <a:r>
              <a:rPr kumimoji="1" lang="en-US" altLang="zh-CN" sz="4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n-cs"/>
              </a:rPr>
              <a:t>CISC</a:t>
            </a:r>
            <a:endParaRPr kumimoji="1" lang="en-US" altLang="zh-CN" sz="4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n-cs"/>
            </a:endParaRPr>
          </a:p>
        </p:txBody>
      </p:sp>
    </p:spTree>
  </p:cSld>
  <p:clrMapOvr>
    <a:masterClrMapping/>
  </p:clrMapOvr>
  <p:transition>
    <p:pull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noChangeArrowheads="1"/>
          </p:cNvSpPr>
          <p:nvPr>
            <p:ph idx="1"/>
          </p:nvPr>
        </p:nvSpPr>
        <p:spPr>
          <a:xfrm>
            <a:off x="468313" y="984250"/>
            <a:ext cx="8351838" cy="5724525"/>
          </a:xfrm>
        </p:spPr>
        <p:txBody>
          <a:bodyPr vert="horz" wrap="square" lIns="92075" tIns="46038" rIns="92075" bIns="46038" numCol="1" anchor="t" anchorCtr="0" compatLnSpc="1">
            <a:spAutoFit/>
          </a:bodyPr>
          <a:lstStyle/>
          <a:p>
            <a:pPr marL="358775" marR="0" lvl="0" indent="-35877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1"/>
              </a:buBlip>
              <a:defRPr/>
            </a:pPr>
            <a:r>
              <a:rPr kumimoji="1" lang="en-US" altLang="zh-CN" sz="2800" b="1" i="0" u="none" strike="noStrike" kern="0" cap="none" spc="0" normalizeH="0" baseline="0" noProof="0" dirty="0" smtClean="0">
                <a:ln>
                  <a:noFill/>
                </a:ln>
                <a:solidFill>
                  <a:srgbClr val="FF3300"/>
                </a:solidFill>
                <a:effectLst/>
                <a:uLnTx/>
                <a:uFillTx/>
                <a:latin typeface="Times New Roman" panose="02020603050405020304" pitchFamily="18" charset="0"/>
                <a:ea typeface="+mn-ea"/>
                <a:cs typeface="+mn-cs"/>
              </a:rPr>
              <a:t>RISC</a:t>
            </a:r>
            <a:r>
              <a:rPr kumimoji="1"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(Reduced Instruction Set Computer)</a:t>
            </a:r>
            <a:endParaRPr kumimoji="1"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716280" marR="0" lvl="2" indent="-265430" algn="l" defTabSz="914400" rtl="0" eaLnBrk="0" fontAlgn="base" latinLnBrk="0" hangingPunct="0">
              <a:lnSpc>
                <a:spcPct val="100000"/>
              </a:lnSpc>
              <a:spcBef>
                <a:spcPts val="0"/>
              </a:spcBef>
              <a:spcAft>
                <a:spcPct val="0"/>
              </a:spcAft>
              <a:buClr>
                <a:schemeClr val="accent1">
                  <a:lumMod val="75000"/>
                </a:schemeClr>
              </a:buClr>
              <a:buSzPct val="80000"/>
              <a:buFont typeface="Wingdings" panose="05000000000000000000" pitchFamily="2" charset="2"/>
              <a:buChar char="n"/>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RISC</a:t>
            </a:r>
            <a:r>
              <a:rPr kumimoji="0" lang="zh-CN" altLang="en-US" sz="2400" b="1" i="0" u="none" strike="noStrike" kern="0" cap="none" spc="0" normalizeH="0" baseline="0" noProof="0" dirty="0">
                <a:ln>
                  <a:noFill/>
                </a:ln>
                <a:solidFill>
                  <a:schemeClr val="tx1"/>
                </a:solidFill>
                <a:effectLst/>
                <a:uLnTx/>
                <a:uFillTx/>
                <a:latin typeface="+mn-lt"/>
                <a:ea typeface="+mn-ea"/>
              </a:rPr>
              <a:t>的设计思想是以尽可能地提高处理机的有效速度</a:t>
            </a:r>
            <a:r>
              <a:rPr kumimoji="0" lang="zh-CN" altLang="en-US" sz="2400" b="1" i="0" u="none" strike="noStrike" kern="0" cap="none" spc="0" normalizeH="0" baseline="0" noProof="0" dirty="0" smtClean="0">
                <a:ln>
                  <a:noFill/>
                </a:ln>
                <a:solidFill>
                  <a:schemeClr val="tx1"/>
                </a:solidFill>
                <a:effectLst/>
                <a:uLnTx/>
                <a:uFillTx/>
                <a:latin typeface="+mn-lt"/>
                <a:ea typeface="+mn-ea"/>
              </a:rPr>
              <a:t>为目</a:t>
            </a:r>
            <a:r>
              <a:rPr kumimoji="0" lang="zh-CN" altLang="en-US" sz="2400" b="1" i="0" u="none" strike="noStrike" kern="0" cap="none" spc="0" normalizeH="0" baseline="0" noProof="0" dirty="0">
                <a:ln>
                  <a:noFill/>
                </a:ln>
                <a:solidFill>
                  <a:schemeClr val="tx1"/>
                </a:solidFill>
                <a:effectLst/>
                <a:uLnTx/>
                <a:uFillTx/>
                <a:latin typeface="+mn-lt"/>
                <a:ea typeface="+mn-ea"/>
              </a:rPr>
              <a:t>的</a:t>
            </a:r>
            <a:r>
              <a:rPr kumimoji="0" lang="zh-CN" altLang="en-US" sz="2400" b="1" i="0" u="none" strike="noStrike" kern="0" cap="none" spc="0" normalizeH="0" baseline="0" noProof="0" dirty="0" smtClean="0">
                <a:ln>
                  <a:noFill/>
                </a:ln>
                <a:solidFill>
                  <a:schemeClr val="tx1"/>
                </a:solidFill>
                <a:effectLst/>
                <a:uLnTx/>
                <a:uFillTx/>
                <a:latin typeface="+mn-lt"/>
                <a:ea typeface="+mn-ea"/>
              </a:rPr>
              <a:t>来</a:t>
            </a:r>
            <a:r>
              <a:rPr kumimoji="0" lang="zh-CN" altLang="en-US" sz="2400" b="1" i="0" u="none" strike="noStrike" kern="0" cap="none" spc="0" normalizeH="0" baseline="0" noProof="0" dirty="0">
                <a:ln>
                  <a:noFill/>
                </a:ln>
                <a:solidFill>
                  <a:schemeClr val="tx1"/>
                </a:solidFill>
                <a:effectLst/>
                <a:uLnTx/>
                <a:uFillTx/>
                <a:latin typeface="+mn-lt"/>
                <a:ea typeface="+mn-ea"/>
              </a:rPr>
              <a:t>确定指令系统，这种指令系统简单、紧凑，便于流水处理，硬件实现容易，而且能有效地支持编译优化</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812800" marR="0" lvl="1" indent="-35877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2"/>
              </a:buBlip>
              <a:defRPr/>
            </a:pPr>
            <a:r>
              <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RISC</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的主要特点</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071880" marR="0" lvl="2" indent="-265430" algn="just"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0" lang="zh-CN" altLang="en-US" sz="2200" b="1" i="0" u="none" strike="noStrike" kern="0" cap="none" spc="0" normalizeH="0" baseline="0" noProof="0" dirty="0" smtClean="0">
                <a:ln>
                  <a:noFill/>
                </a:ln>
                <a:solidFill>
                  <a:schemeClr val="tx1"/>
                </a:solidFill>
                <a:effectLst/>
                <a:uLnTx/>
                <a:uFillTx/>
                <a:latin typeface="+mn-lt"/>
                <a:ea typeface="+mn-ea"/>
              </a:rPr>
              <a:t>每个时钟周期完成一条机器指令：</a:t>
            </a:r>
            <a:r>
              <a:rPr kumimoji="0" lang="zh-CN" altLang="en-US" sz="2200" b="1" i="0" u="none" strike="noStrike" kern="0" cap="none" spc="0" normalizeH="0" baseline="0" noProof="0" dirty="0" smtClean="0">
                <a:ln>
                  <a:noFill/>
                </a:ln>
                <a:solidFill>
                  <a:srgbClr val="FFFF00"/>
                </a:solidFill>
                <a:effectLst/>
                <a:uLnTx/>
                <a:uFillTx/>
                <a:latin typeface="+mn-lt"/>
                <a:ea typeface="+mn-ea"/>
              </a:rPr>
              <a:t>指令能以硬布线方式实现，</a:t>
            </a: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采用流水技术</a:t>
            </a:r>
            <a:r>
              <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a:t>
            </a: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一个</a:t>
            </a:r>
            <a:r>
              <a:rPr kumimoji="0" lang="zh-CN" altLang="en-US" sz="2200" b="1" i="0" u="none" strike="noStrike" kern="0" cap="none" spc="0" normalizeH="0" baseline="0" noProof="0" dirty="0" smtClean="0">
                <a:ln>
                  <a:noFill/>
                </a:ln>
                <a:solidFill>
                  <a:schemeClr val="tx1"/>
                </a:solidFill>
                <a:effectLst/>
                <a:uLnTx/>
                <a:uFillTx/>
                <a:latin typeface="+mn-lt"/>
                <a:ea typeface="+mn-ea"/>
              </a:rPr>
              <a:t>时钟</a:t>
            </a: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周期流出一个指令执行结果</a:t>
            </a:r>
            <a:r>
              <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a:t>
            </a: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，其性能的发挥极度地依赖于编译器的优化</a:t>
            </a:r>
            <a:endParaRPr kumimoji="0" lang="zh-CN" altLang="en-US" sz="2200" b="1" i="0" u="none" strike="noStrike" kern="0" cap="none" spc="0" normalizeH="0" baseline="0" noProof="0" dirty="0" smtClean="0">
              <a:ln>
                <a:noFill/>
              </a:ln>
              <a:solidFill>
                <a:srgbClr val="F7F727"/>
              </a:solidFill>
              <a:effectLst/>
              <a:uLnTx/>
              <a:uFillTx/>
              <a:latin typeface="+mn-lt"/>
              <a:ea typeface="+mn-ea"/>
            </a:endParaRPr>
          </a:p>
          <a:p>
            <a:pPr marL="1071880" marR="0" lvl="2" indent="-265430" algn="just"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寄存器到寄存器的操作：</a:t>
            </a:r>
            <a:r>
              <a:rPr kumimoji="1"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仅</a:t>
            </a:r>
            <a:r>
              <a:rPr kumimoji="1" lang="en-US" altLang="zh-CN"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Load/Store</a:t>
            </a:r>
            <a:r>
              <a:rPr kumimoji="1"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指令可访存，</a:t>
            </a:r>
            <a:r>
              <a:rPr kumimoji="0" lang="zh-CN" altLang="en-US" sz="2200" b="1" i="0" u="none" strike="noStrike" kern="0" cap="none" spc="0" normalizeH="0" baseline="0" noProof="0" dirty="0" smtClean="0">
                <a:ln>
                  <a:noFill/>
                </a:ln>
                <a:solidFill>
                  <a:schemeClr val="tx1"/>
                </a:solidFill>
                <a:effectLst/>
                <a:uLnTx/>
                <a:uFillTx/>
                <a:latin typeface="+mn-lt"/>
                <a:ea typeface="+mn-ea"/>
              </a:rPr>
              <a:t>处理器通用寄存器数量较多</a:t>
            </a: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，指令操作大多在寄存器之间进行；有浮点处理的计算机，使用大量的浮点寄存器</a:t>
            </a:r>
            <a:endPar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071880" marR="0" lvl="2" indent="-265430" algn="just"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简单的寻址方式：</a:t>
            </a:r>
            <a:r>
              <a:rPr kumimoji="1"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不采用存储器间接寻址技术，</a:t>
            </a: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复杂寻址方式用软件合成</a:t>
            </a:r>
            <a:endParaRPr kumimoji="1" lang="zh-CN" altLang="en-US" sz="2200" b="1" i="0" u="none" strike="noStrike" kern="0" cap="none" spc="0" normalizeH="0" baseline="0" noProof="0" dirty="0" smtClean="0">
              <a:ln>
                <a:noFill/>
              </a:ln>
              <a:solidFill>
                <a:srgbClr val="F7F727"/>
              </a:solidFill>
              <a:effectLst/>
              <a:uLnTx/>
              <a:uFillTx/>
              <a:latin typeface="Times New Roman" panose="02020603050405020304" pitchFamily="18" charset="0"/>
              <a:ea typeface="+mn-ea"/>
            </a:endParaRPr>
          </a:p>
          <a:p>
            <a:pPr marL="1071880" marR="0" lvl="2" indent="-265430" algn="just"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简单的指令格式：</a:t>
            </a:r>
            <a:r>
              <a:rPr kumimoji="1"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一种或少数几种格式，</a:t>
            </a: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指令长度固定，操作码字段位置固定，操作码的译码和寄存器操作数的访问能同时进行</a:t>
            </a:r>
            <a:endPar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p:txBody>
      </p:sp>
      <p:sp>
        <p:nvSpPr>
          <p:cNvPr id="35843" name="Rectangle 3"/>
          <p:cNvSpPr>
            <a:spLocks noChangeArrowheads="1"/>
          </p:cNvSpPr>
          <p:nvPr/>
        </p:nvSpPr>
        <p:spPr bwMode="auto">
          <a:xfrm>
            <a:off x="687388" y="195263"/>
            <a:ext cx="7831138" cy="830263"/>
          </a:xfrm>
          <a:prstGeom prst="rect">
            <a:avLst/>
          </a:prstGeom>
          <a:noFill/>
          <a:ln>
            <a:noFill/>
          </a:ln>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44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n-cs"/>
              </a:rPr>
              <a:t>回顾</a:t>
            </a:r>
            <a:r>
              <a:rPr kumimoji="0" lang="zh-CN" altLang="en-US"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j-cs"/>
              </a:rPr>
              <a:t>－ </a:t>
            </a:r>
            <a:r>
              <a:rPr kumimoji="1" lang="en-US" altLang="zh-CN" sz="44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n-cs"/>
              </a:rPr>
              <a:t>RISC</a:t>
            </a:r>
            <a:endParaRPr kumimoji="1" lang="en-US" altLang="zh-CN" sz="44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n-cs"/>
            </a:endParaRPr>
          </a:p>
        </p:txBody>
      </p:sp>
    </p:spTree>
  </p:cSld>
  <p:clrMapOvr>
    <a:masterClrMapping/>
  </p:clrMapOvr>
  <p:transition>
    <p:pull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52354" name="Rectangle 2"/>
          <p:cNvSpPr>
            <a:spLocks noGrp="1" noChangeArrowheads="1"/>
          </p:cNvSpPr>
          <p:nvPr>
            <p:ph type="title"/>
          </p:nvPr>
        </p:nvSpPr>
        <p:spPr>
          <a:xfrm>
            <a:off x="0" y="233363"/>
            <a:ext cx="9144000" cy="735013"/>
          </a:xfrm>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计算机的算术运算</a:t>
            </a:r>
            <a:endPar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4452355" name="AutoShape 3"/>
          <p:cNvSpPr>
            <a:spLocks noChangeArrowheads="1"/>
          </p:cNvSpPr>
          <p:nvPr/>
        </p:nvSpPr>
        <p:spPr bwMode="invGray">
          <a:xfrm rot="-5400000">
            <a:off x="4033044" y="2428081"/>
            <a:ext cx="792163" cy="288925"/>
          </a:xfrm>
          <a:prstGeom prst="rightArrow">
            <a:avLst>
              <a:gd name="adj1" fmla="val 35167"/>
              <a:gd name="adj2" fmla="val 111028"/>
            </a:avLst>
          </a:prstGeom>
          <a:gradFill rotWithShape="1">
            <a:gsLst>
              <a:gs pos="0">
                <a:srgbClr val="E3B624">
                  <a:alpha val="0"/>
                </a:srgbClr>
              </a:gs>
              <a:gs pos="100000">
                <a:schemeClr val="tx2"/>
              </a:gs>
            </a:gsLst>
            <a:lin ang="0" scaled="1"/>
          </a:gradFill>
          <a:ln>
            <a:noFill/>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52357" name="AutoShape 5"/>
          <p:cNvSpPr>
            <a:spLocks noChangeArrowheads="1"/>
          </p:cNvSpPr>
          <p:nvPr/>
        </p:nvSpPr>
        <p:spPr bwMode="invGray">
          <a:xfrm>
            <a:off x="5391150" y="3659188"/>
            <a:ext cx="792163" cy="288925"/>
          </a:xfrm>
          <a:prstGeom prst="rightArrow">
            <a:avLst>
              <a:gd name="adj1" fmla="val 35167"/>
              <a:gd name="adj2" fmla="val 111029"/>
            </a:avLst>
          </a:prstGeom>
          <a:gradFill rotWithShape="1">
            <a:gsLst>
              <a:gs pos="0">
                <a:srgbClr val="E3B624">
                  <a:alpha val="0"/>
                </a:srgbClr>
              </a:gs>
              <a:gs pos="100000">
                <a:schemeClr val="tx2"/>
              </a:gs>
            </a:gsLst>
            <a:lin ang="0" scaled="1"/>
          </a:gradFill>
          <a:ln>
            <a:noFill/>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52359" name="Oval 7"/>
          <p:cNvSpPr>
            <a:spLocks noChangeArrowheads="1"/>
          </p:cNvSpPr>
          <p:nvPr/>
        </p:nvSpPr>
        <p:spPr bwMode="black">
          <a:xfrm>
            <a:off x="2547938" y="1982788"/>
            <a:ext cx="3743325" cy="3744913"/>
          </a:xfrm>
          <a:prstGeom prst="ellipse">
            <a:avLst/>
          </a:prstGeom>
          <a:noFill/>
          <a:ln w="38100" algn="ctr">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46086" name="Group 8"/>
          <p:cNvGrpSpPr/>
          <p:nvPr/>
        </p:nvGrpSpPr>
        <p:grpSpPr>
          <a:xfrm>
            <a:off x="4303713" y="5518150"/>
            <a:ext cx="360362" cy="360363"/>
            <a:chOff x="1565" y="2659"/>
            <a:chExt cx="227" cy="227"/>
          </a:xfrm>
        </p:grpSpPr>
        <p:sp>
          <p:nvSpPr>
            <p:cNvPr id="4452361" name="Oval 9"/>
            <p:cNvSpPr>
              <a:spLocks noChangeArrowheads="1"/>
            </p:cNvSpPr>
            <p:nvPr/>
          </p:nvSpPr>
          <p:spPr bwMode="gray">
            <a:xfrm>
              <a:off x="1565" y="2659"/>
              <a:ext cx="227" cy="227"/>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52362" name="Oval 10"/>
            <p:cNvSpPr>
              <a:spLocks noChangeArrowheads="1"/>
            </p:cNvSpPr>
            <p:nvPr/>
          </p:nvSpPr>
          <p:spPr bwMode="gray">
            <a:xfrm>
              <a:off x="1575" y="2678"/>
              <a:ext cx="141" cy="142"/>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452366" name="Oval 14"/>
          <p:cNvSpPr>
            <a:spLocks noChangeArrowheads="1"/>
          </p:cNvSpPr>
          <p:nvPr/>
        </p:nvSpPr>
        <p:spPr bwMode="gray">
          <a:xfrm>
            <a:off x="3479800" y="2935288"/>
            <a:ext cx="1944688" cy="19446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52367" name="Oval 15"/>
          <p:cNvSpPr>
            <a:spLocks noChangeArrowheads="1"/>
          </p:cNvSpPr>
          <p:nvPr/>
        </p:nvSpPr>
        <p:spPr bwMode="gray">
          <a:xfrm>
            <a:off x="3484563" y="2941638"/>
            <a:ext cx="1944688" cy="1944688"/>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52368" name="Oval 16"/>
          <p:cNvSpPr>
            <a:spLocks noChangeArrowheads="1"/>
          </p:cNvSpPr>
          <p:nvPr/>
        </p:nvSpPr>
        <p:spPr bwMode="gray">
          <a:xfrm>
            <a:off x="3606800" y="3062288"/>
            <a:ext cx="1690688" cy="169068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52369" name="Oval 17"/>
          <p:cNvSpPr>
            <a:spLocks noChangeArrowheads="1"/>
          </p:cNvSpPr>
          <p:nvPr/>
        </p:nvSpPr>
        <p:spPr bwMode="gray">
          <a:xfrm>
            <a:off x="3589338" y="3035300"/>
            <a:ext cx="1690688" cy="1690688"/>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46091" name="Group 18"/>
          <p:cNvGrpSpPr/>
          <p:nvPr/>
        </p:nvGrpSpPr>
        <p:grpSpPr>
          <a:xfrm>
            <a:off x="3690938" y="3146425"/>
            <a:ext cx="1522412" cy="1522413"/>
            <a:chOff x="2416" y="1846"/>
            <a:chExt cx="959" cy="959"/>
          </a:xfrm>
        </p:grpSpPr>
        <p:sp>
          <p:nvSpPr>
            <p:cNvPr id="4452371" name="Oval 19"/>
            <p:cNvSpPr>
              <a:spLocks noChangeArrowheads="1"/>
            </p:cNvSpPr>
            <p:nvPr/>
          </p:nvSpPr>
          <p:spPr bwMode="gray">
            <a:xfrm>
              <a:off x="2416" y="1846"/>
              <a:ext cx="959" cy="959"/>
            </a:xfrm>
            <a:prstGeom prst="ellipse">
              <a:avLst/>
            </a:prstGeom>
            <a:solidFill>
              <a:srgbClr val="333333"/>
            </a:soli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52372" name="Oval 20"/>
            <p:cNvSpPr>
              <a:spLocks noChangeArrowheads="1"/>
            </p:cNvSpPr>
            <p:nvPr/>
          </p:nvSpPr>
          <p:spPr bwMode="gray">
            <a:xfrm>
              <a:off x="2430" y="1858"/>
              <a:ext cx="927" cy="928"/>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52373" name="Oval 21"/>
            <p:cNvSpPr>
              <a:spLocks noChangeArrowheads="1"/>
            </p:cNvSpPr>
            <p:nvPr/>
          </p:nvSpPr>
          <p:spPr bwMode="gray">
            <a:xfrm>
              <a:off x="2441" y="1864"/>
              <a:ext cx="906" cy="904"/>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52374" name="Oval 22"/>
            <p:cNvSpPr>
              <a:spLocks noChangeArrowheads="1"/>
            </p:cNvSpPr>
            <p:nvPr/>
          </p:nvSpPr>
          <p:spPr bwMode="gray">
            <a:xfrm>
              <a:off x="2451" y="1873"/>
              <a:ext cx="861" cy="845"/>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52375" name="Oval 23"/>
            <p:cNvSpPr>
              <a:spLocks noChangeArrowheads="1"/>
            </p:cNvSpPr>
            <p:nvPr/>
          </p:nvSpPr>
          <p:spPr bwMode="gray">
            <a:xfrm>
              <a:off x="2502" y="1896"/>
              <a:ext cx="765" cy="687"/>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6092" name="Text Box 24"/>
          <p:cNvSpPr txBox="1"/>
          <p:nvPr/>
        </p:nvSpPr>
        <p:spPr>
          <a:xfrm>
            <a:off x="3670300" y="3614738"/>
            <a:ext cx="1555750" cy="6413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dirty="0">
                <a:solidFill>
                  <a:srgbClr val="000000"/>
                </a:solidFill>
                <a:latin typeface="Times New Roman" panose="02020603050405020304" pitchFamily="18" charset="0"/>
                <a:ea typeface="华文中宋" panose="02010600040101010101" pitchFamily="2" charset="-122"/>
              </a:rPr>
              <a:t>运算器</a:t>
            </a:r>
            <a:endParaRPr lang="zh-CN" altLang="en-US" dirty="0">
              <a:solidFill>
                <a:srgbClr val="000000"/>
              </a:solidFill>
              <a:latin typeface="Times New Roman" panose="02020603050405020304" pitchFamily="18" charset="0"/>
              <a:ea typeface="华文中宋" panose="02010600040101010101" pitchFamily="2" charset="-122"/>
            </a:endParaRPr>
          </a:p>
        </p:txBody>
      </p:sp>
      <p:sp>
        <p:nvSpPr>
          <p:cNvPr id="46093" name="Text Box 27"/>
          <p:cNvSpPr txBox="1"/>
          <p:nvPr/>
        </p:nvSpPr>
        <p:spPr>
          <a:xfrm>
            <a:off x="3632200" y="6003925"/>
            <a:ext cx="1662113" cy="522288"/>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r">
              <a:lnSpc>
                <a:spcPct val="100000"/>
              </a:lnSpc>
              <a:spcBef>
                <a:spcPct val="0"/>
              </a:spcBef>
              <a:buClrTx/>
              <a:buFontTx/>
              <a:buNone/>
            </a:pPr>
            <a:r>
              <a:rPr lang="en-US" altLang="zh-CN" sz="2800" dirty="0">
                <a:latin typeface="Times New Roman" panose="02020603050405020304" pitchFamily="18" charset="0"/>
              </a:rPr>
              <a:t>ALU</a:t>
            </a:r>
            <a:r>
              <a:rPr lang="zh-CN" altLang="en-US" sz="2800" dirty="0">
                <a:latin typeface="Times New Roman" panose="02020603050405020304" pitchFamily="18" charset="0"/>
              </a:rPr>
              <a:t>部件</a:t>
            </a:r>
            <a:endParaRPr lang="en-US" altLang="zh-CN" sz="2800" dirty="0">
              <a:latin typeface="Times New Roman" panose="02020603050405020304" pitchFamily="18" charset="0"/>
            </a:endParaRPr>
          </a:p>
        </p:txBody>
      </p:sp>
      <p:sp>
        <p:nvSpPr>
          <p:cNvPr id="46094" name="Rectangle 28"/>
          <p:cNvSpPr/>
          <p:nvPr/>
        </p:nvSpPr>
        <p:spPr>
          <a:xfrm>
            <a:off x="6719888" y="3486150"/>
            <a:ext cx="1606550" cy="519113"/>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zh-CN" altLang="en-US" sz="2800" dirty="0">
                <a:latin typeface="Times New Roman" panose="02020603050405020304" pitchFamily="18" charset="0"/>
              </a:rPr>
              <a:t>浮点运算</a:t>
            </a:r>
            <a:endParaRPr lang="zh-CN" altLang="en-US" sz="2800" dirty="0">
              <a:latin typeface="Times New Roman" panose="02020603050405020304" pitchFamily="18" charset="0"/>
            </a:endParaRPr>
          </a:p>
        </p:txBody>
      </p:sp>
      <p:grpSp>
        <p:nvGrpSpPr>
          <p:cNvPr id="46095" name="Group 29"/>
          <p:cNvGrpSpPr/>
          <p:nvPr/>
        </p:nvGrpSpPr>
        <p:grpSpPr>
          <a:xfrm>
            <a:off x="2390775" y="3663950"/>
            <a:ext cx="360363" cy="360363"/>
            <a:chOff x="3923" y="2659"/>
            <a:chExt cx="227" cy="227"/>
          </a:xfrm>
        </p:grpSpPr>
        <p:sp>
          <p:nvSpPr>
            <p:cNvPr id="4452382" name="Oval 30"/>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52383" name="Oval 31"/>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46096" name="Group 35"/>
          <p:cNvGrpSpPr/>
          <p:nvPr/>
        </p:nvGrpSpPr>
        <p:grpSpPr>
          <a:xfrm>
            <a:off x="6135688" y="3597275"/>
            <a:ext cx="360362" cy="360363"/>
            <a:chOff x="3923" y="2659"/>
            <a:chExt cx="227" cy="227"/>
          </a:xfrm>
        </p:grpSpPr>
        <p:sp>
          <p:nvSpPr>
            <p:cNvPr id="4452388" name="Oval 36"/>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52389" name="Oval 37"/>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6097" name="Text Box 38"/>
          <p:cNvSpPr txBox="1"/>
          <p:nvPr/>
        </p:nvSpPr>
        <p:spPr>
          <a:xfrm>
            <a:off x="393700" y="3608388"/>
            <a:ext cx="2182813" cy="519112"/>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342900" lvl="0" indent="-342900" algn="ctr">
              <a:lnSpc>
                <a:spcPct val="100000"/>
              </a:lnSpc>
              <a:spcBef>
                <a:spcPct val="0"/>
              </a:spcBef>
              <a:buClrTx/>
              <a:buFontTx/>
              <a:buNone/>
            </a:pPr>
            <a:r>
              <a:rPr lang="zh-CN" altLang="en-US" sz="2800" dirty="0">
                <a:latin typeface="Times New Roman" panose="02020603050405020304" pitchFamily="18" charset="0"/>
              </a:rPr>
              <a:t>定点运算</a:t>
            </a:r>
            <a:endParaRPr lang="zh-CN" altLang="en-US" sz="2800" dirty="0">
              <a:latin typeface="Times New Roman" panose="02020603050405020304" pitchFamily="18" charset="0"/>
            </a:endParaRPr>
          </a:p>
        </p:txBody>
      </p:sp>
      <p:sp>
        <p:nvSpPr>
          <p:cNvPr id="46098" name="Text Box 39"/>
          <p:cNvSpPr txBox="1"/>
          <p:nvPr/>
        </p:nvSpPr>
        <p:spPr>
          <a:xfrm>
            <a:off x="3983038" y="1220788"/>
            <a:ext cx="903287" cy="52387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r">
              <a:lnSpc>
                <a:spcPct val="100000"/>
              </a:lnSpc>
              <a:spcBef>
                <a:spcPct val="0"/>
              </a:spcBef>
              <a:buClrTx/>
              <a:buFontTx/>
              <a:buNone/>
            </a:pPr>
            <a:r>
              <a:rPr lang="zh-CN" altLang="en-US" sz="2800" dirty="0">
                <a:latin typeface="Times New Roman" panose="02020603050405020304" pitchFamily="18" charset="0"/>
              </a:rPr>
              <a:t>概述</a:t>
            </a:r>
            <a:endParaRPr lang="zh-CN" altLang="en-US" sz="2800" dirty="0">
              <a:latin typeface="Times New Roman" panose="02020603050405020304" pitchFamily="18" charset="0"/>
            </a:endParaRPr>
          </a:p>
        </p:txBody>
      </p:sp>
      <p:grpSp>
        <p:nvGrpSpPr>
          <p:cNvPr id="46099" name="Group 40"/>
          <p:cNvGrpSpPr/>
          <p:nvPr/>
        </p:nvGrpSpPr>
        <p:grpSpPr>
          <a:xfrm>
            <a:off x="4240213" y="1816100"/>
            <a:ext cx="360362" cy="360363"/>
            <a:chOff x="3515" y="3521"/>
            <a:chExt cx="227" cy="227"/>
          </a:xfrm>
        </p:grpSpPr>
        <p:sp>
          <p:nvSpPr>
            <p:cNvPr id="4452393" name="Oval 41"/>
            <p:cNvSpPr>
              <a:spLocks noChangeArrowheads="1"/>
            </p:cNvSpPr>
            <p:nvPr/>
          </p:nvSpPr>
          <p:spPr bwMode="gray">
            <a:xfrm>
              <a:off x="3515" y="3521"/>
              <a:ext cx="227" cy="227"/>
            </a:xfrm>
            <a:prstGeom prst="ellipse">
              <a:avLst/>
            </a:prstGeom>
            <a:gradFill rotWithShape="1">
              <a:gsLst>
                <a:gs pos="0">
                  <a:srgbClr val="008080"/>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52394" name="Oval 42"/>
            <p:cNvSpPr>
              <a:spLocks noChangeArrowheads="1"/>
            </p:cNvSpPr>
            <p:nvPr/>
          </p:nvSpPr>
          <p:spPr bwMode="gray">
            <a:xfrm>
              <a:off x="3525" y="3540"/>
              <a:ext cx="141" cy="142"/>
            </a:xfrm>
            <a:prstGeom prst="ellipse">
              <a:avLst/>
            </a:prstGeom>
            <a:gradFill rotWithShape="1">
              <a:gsLst>
                <a:gs pos="0">
                  <a:srgbClr val="008080">
                    <a:alpha val="0"/>
                  </a:srgbClr>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6100" name="AutoShape 43"/>
          <p:cNvSpPr/>
          <p:nvPr/>
        </p:nvSpPr>
        <p:spPr>
          <a:xfrm rot="10800000">
            <a:off x="2757488" y="3716338"/>
            <a:ext cx="792162" cy="288925"/>
          </a:xfrm>
          <a:prstGeom prst="rightArrow">
            <a:avLst>
              <a:gd name="adj1" fmla="val 35166"/>
              <a:gd name="adj2" fmla="val 111028"/>
            </a:avLst>
          </a:prstGeom>
          <a:gradFill rotWithShape="1">
            <a:gsLst>
              <a:gs pos="0">
                <a:srgbClr val="E3B624">
                  <a:alpha val="0"/>
                </a:srgbClr>
              </a:gs>
              <a:gs pos="100000">
                <a:schemeClr val="tx2"/>
              </a:gs>
            </a:gsLst>
            <a:lin ang="0" scaled="1"/>
            <a:tileRect/>
          </a:gradFill>
          <a:ln w="9525">
            <a:noFill/>
          </a:ln>
        </p:spPr>
        <p:txBody>
          <a:bodyPr rot="10800000" wrap="none" anchor="ctr" anchorCtr="0"/>
          <a:p>
            <a:pPr algn="ctr" eaLnBrk="1" hangingPunct="1">
              <a:buNone/>
            </a:pPr>
            <a:endParaRPr lang="zh-CN" altLang="en-US" dirty="0">
              <a:effectLst>
                <a:outerShdw blurRad="38100" dist="38100" dir="2700000">
                  <a:srgbClr val="000000"/>
                </a:outerShdw>
              </a:effectLst>
              <a:latin typeface="Arial" panose="020B0604020202020204" pitchFamily="34" charset="0"/>
            </a:endParaRPr>
          </a:p>
        </p:txBody>
      </p:sp>
      <p:sp>
        <p:nvSpPr>
          <p:cNvPr id="46101" name="AutoShape 44"/>
          <p:cNvSpPr/>
          <p:nvPr/>
        </p:nvSpPr>
        <p:spPr>
          <a:xfrm rot="5400000">
            <a:off x="4081463" y="5005388"/>
            <a:ext cx="792162" cy="288925"/>
          </a:xfrm>
          <a:prstGeom prst="rightArrow">
            <a:avLst>
              <a:gd name="adj1" fmla="val 35166"/>
              <a:gd name="adj2" fmla="val 111028"/>
            </a:avLst>
          </a:prstGeom>
          <a:gradFill rotWithShape="1">
            <a:gsLst>
              <a:gs pos="0">
                <a:srgbClr val="E3B624">
                  <a:alpha val="0"/>
                </a:srgbClr>
              </a:gs>
              <a:gs pos="100000">
                <a:schemeClr val="tx2"/>
              </a:gs>
            </a:gsLst>
            <a:lin ang="0" scaled="1"/>
            <a:tileRect/>
          </a:gradFill>
          <a:ln w="9525">
            <a:noFill/>
          </a:ln>
        </p:spPr>
        <p:txBody>
          <a:bodyPr rot="10800000" vert="eaVert" wrap="none" anchor="ctr" anchorCtr="0"/>
          <a:p>
            <a:pPr algn="ctr" eaLnBrk="1" hangingPunct="1">
              <a:buNone/>
            </a:pPr>
            <a:endParaRPr lang="zh-CN" altLang="en-US" dirty="0">
              <a:effectLst>
                <a:outerShdw blurRad="38100" dist="38100" dir="2700000">
                  <a:srgbClr val="000000"/>
                </a:outerShdw>
              </a:effectLst>
              <a:latin typeface="Arial" panose="020B0604020202020204" pitchFamily="34" charset="0"/>
            </a:endParaRPr>
          </a:p>
        </p:txBody>
      </p:sp>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55746" name="Rectangle 2"/>
          <p:cNvSpPr>
            <a:spLocks noGrp="1" noChangeArrowheads="1"/>
          </p:cNvSpPr>
          <p:nvPr>
            <p:ph type="title"/>
          </p:nvPr>
        </p:nvSpPr>
        <p:spPr>
          <a:xfrm>
            <a:off x="0" y="327025"/>
            <a:ext cx="9144000" cy="7143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a:t>
            </a:r>
            <a:r>
              <a:rPr kumimoji="1"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定点数的运算</a:t>
            </a:r>
            <a:endParaRPr kumimoji="1"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47107" name="Rectangle 3"/>
          <p:cNvSpPr>
            <a:spLocks noGrp="1"/>
          </p:cNvSpPr>
          <p:nvPr>
            <p:ph idx="1"/>
          </p:nvPr>
        </p:nvSpPr>
        <p:spPr>
          <a:xfrm>
            <a:off x="642938" y="1458913"/>
            <a:ext cx="8077200" cy="3875087"/>
          </a:xfrm>
          <a:ln/>
        </p:spPr>
        <p:txBody>
          <a:bodyPr vert="horz" wrap="square" lIns="92075" tIns="46038" rIns="92075" bIns="46038" anchor="t" anchorCtr="0">
            <a:spAutoFit/>
          </a:bodyPr>
          <a:p>
            <a:pPr algn="just" eaLnBrk="1" hangingPunct="1">
              <a:lnSpc>
                <a:spcPct val="120000"/>
              </a:lnSpc>
              <a:spcBef>
                <a:spcPts val="600"/>
              </a:spcBef>
              <a:buClr>
                <a:srgbClr val="FF9966"/>
              </a:buClr>
            </a:pPr>
            <a:r>
              <a:rPr lang="zh-CN" altLang="en-US" sz="3200" dirty="0">
                <a:latin typeface="Times New Roman" panose="02020603050405020304" pitchFamily="18" charset="0"/>
              </a:rPr>
              <a:t>原码、补码的加</a:t>
            </a:r>
            <a:r>
              <a:rPr lang="en-US" altLang="zh-CN" sz="3200" dirty="0">
                <a:latin typeface="Times New Roman" panose="02020603050405020304" pitchFamily="18" charset="0"/>
              </a:rPr>
              <a:t>/</a:t>
            </a:r>
            <a:r>
              <a:rPr lang="zh-CN" altLang="en-US" sz="3200" dirty="0">
                <a:latin typeface="Times New Roman" panose="02020603050405020304" pitchFamily="18" charset="0"/>
              </a:rPr>
              <a:t>减运算</a:t>
            </a:r>
            <a:endParaRPr lang="zh-CN" altLang="en-US" sz="3200" dirty="0">
              <a:latin typeface="Times New Roman" panose="02020603050405020304" pitchFamily="18" charset="0"/>
            </a:endParaRPr>
          </a:p>
          <a:p>
            <a:pPr algn="just" eaLnBrk="1" hangingPunct="1">
              <a:lnSpc>
                <a:spcPct val="120000"/>
              </a:lnSpc>
              <a:spcBef>
                <a:spcPts val="600"/>
              </a:spcBef>
              <a:buClr>
                <a:srgbClr val="FF9966"/>
              </a:buClr>
            </a:pPr>
            <a:r>
              <a:rPr lang="zh-CN" altLang="en-US" sz="3200" dirty="0">
                <a:latin typeface="Times New Roman" panose="02020603050405020304" pitchFamily="18" charset="0"/>
              </a:rPr>
              <a:t>原码、补码的一位乘法运算</a:t>
            </a:r>
            <a:endParaRPr lang="zh-CN" altLang="en-US" sz="3200" dirty="0">
              <a:latin typeface="Times New Roman" panose="02020603050405020304" pitchFamily="18" charset="0"/>
            </a:endParaRPr>
          </a:p>
          <a:p>
            <a:pPr lvl="1" algn="just" eaLnBrk="1" hangingPunct="1">
              <a:lnSpc>
                <a:spcPct val="120000"/>
              </a:lnSpc>
              <a:spcBef>
                <a:spcPts val="600"/>
              </a:spcBef>
              <a:buClr>
                <a:schemeClr val="tx1"/>
              </a:buClr>
              <a:buFontTx/>
              <a:buBlip>
                <a:blip r:embed="rId1"/>
              </a:buBlip>
            </a:pPr>
            <a:r>
              <a:rPr lang="en-US" altLang="zh-CN" sz="2800" dirty="0">
                <a:latin typeface="Times New Roman" panose="02020603050405020304" pitchFamily="18" charset="0"/>
              </a:rPr>
              <a:t>Booth</a:t>
            </a:r>
            <a:r>
              <a:rPr lang="zh-CN" altLang="en-US" sz="2800" dirty="0">
                <a:latin typeface="Times New Roman" panose="02020603050405020304" pitchFamily="18" charset="0"/>
              </a:rPr>
              <a:t>乘法</a:t>
            </a:r>
            <a:endParaRPr lang="zh-CN" altLang="en-US" sz="2800" dirty="0">
              <a:latin typeface="Times New Roman" panose="02020603050405020304" pitchFamily="18" charset="0"/>
            </a:endParaRPr>
          </a:p>
          <a:p>
            <a:pPr eaLnBrk="1" hangingPunct="1">
              <a:lnSpc>
                <a:spcPct val="120000"/>
              </a:lnSpc>
              <a:spcBef>
                <a:spcPts val="600"/>
              </a:spcBef>
              <a:buClr>
                <a:srgbClr val="66CCFF"/>
              </a:buClr>
            </a:pPr>
            <a:r>
              <a:rPr lang="zh-CN" altLang="en-US" sz="3200" dirty="0">
                <a:latin typeface="Times New Roman" panose="02020603050405020304" pitchFamily="18" charset="0"/>
              </a:rPr>
              <a:t>原码、补码的一位除法运算</a:t>
            </a:r>
            <a:endParaRPr lang="zh-CN" altLang="en-US" sz="3200" dirty="0">
              <a:latin typeface="Times New Roman" panose="02020603050405020304" pitchFamily="18" charset="0"/>
            </a:endParaRPr>
          </a:p>
          <a:p>
            <a:pPr lvl="1" eaLnBrk="1" hangingPunct="1">
              <a:lnSpc>
                <a:spcPct val="120000"/>
              </a:lnSpc>
              <a:spcBef>
                <a:spcPts val="600"/>
              </a:spcBef>
              <a:buClr>
                <a:srgbClr val="66CCFF"/>
              </a:buClr>
            </a:pPr>
            <a:r>
              <a:rPr lang="zh-CN" altLang="en-US" sz="2800" dirty="0">
                <a:latin typeface="Times New Roman" panose="02020603050405020304" pitchFamily="18" charset="0"/>
              </a:rPr>
              <a:t>加减交替法</a:t>
            </a:r>
            <a:endParaRPr lang="en-US" altLang="zh-CN" sz="2800" dirty="0">
              <a:latin typeface="Times New Roman" panose="02020603050405020304" pitchFamily="18" charset="0"/>
            </a:endParaRPr>
          </a:p>
          <a:p>
            <a:pPr eaLnBrk="1" hangingPunct="1">
              <a:lnSpc>
                <a:spcPct val="120000"/>
              </a:lnSpc>
              <a:spcBef>
                <a:spcPts val="600"/>
              </a:spcBef>
              <a:buClr>
                <a:srgbClr val="66CCFF"/>
              </a:buClr>
            </a:pPr>
            <a:r>
              <a:rPr lang="zh-CN" altLang="en-US" sz="3200" dirty="0">
                <a:latin typeface="Times New Roman" panose="02020603050405020304" pitchFamily="18" charset="0"/>
              </a:rPr>
              <a:t>溢出及其判别方法</a:t>
            </a:r>
            <a:endParaRPr lang="zh-CN" altLang="en-US" sz="3200" dirty="0">
              <a:latin typeface="Times New Roman" panose="02020603050405020304" pitchFamily="18" charset="0"/>
            </a:endParaRPr>
          </a:p>
        </p:txBody>
      </p:sp>
    </p:spTree>
  </p:cSld>
  <p:clrMapOvr>
    <a:masterClrMapping/>
  </p:clrMapOvr>
  <p:transition>
    <p:pull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60866" name="Rectangle 2"/>
          <p:cNvSpPr>
            <a:spLocks noGrp="1" noChangeArrowheads="1"/>
          </p:cNvSpPr>
          <p:nvPr>
            <p:ph type="title"/>
          </p:nvPr>
        </p:nvSpPr>
        <p:spPr>
          <a:xfrm>
            <a:off x="404813" y="263525"/>
            <a:ext cx="8393113" cy="714375"/>
          </a:xfrm>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回顾－浮点数的运算</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49155" name="Rectangle 3"/>
          <p:cNvSpPr>
            <a:spLocks noGrp="1"/>
          </p:cNvSpPr>
          <p:nvPr>
            <p:ph idx="1"/>
          </p:nvPr>
        </p:nvSpPr>
        <p:spPr>
          <a:xfrm>
            <a:off x="663575" y="1312863"/>
            <a:ext cx="8132763" cy="5284787"/>
          </a:xfrm>
          <a:ln/>
        </p:spPr>
        <p:txBody>
          <a:bodyPr vert="horz" wrap="square" lIns="91440" tIns="45720" rIns="91440" bIns="45720" anchor="t" anchorCtr="0">
            <a:spAutoFit/>
          </a:bodyPr>
          <a:p>
            <a:pPr marL="358775" indent="-358775" eaLnBrk="1" hangingPunct="1">
              <a:lnSpc>
                <a:spcPct val="120000"/>
              </a:lnSpc>
              <a:spcBef>
                <a:spcPts val="600"/>
              </a:spcBef>
              <a:spcAft>
                <a:spcPts val="600"/>
              </a:spcAft>
              <a:buClr>
                <a:srgbClr val="FF9966"/>
              </a:buClr>
            </a:pPr>
            <a:r>
              <a:rPr lang="zh-CN" altLang="en-US" sz="3200" dirty="0">
                <a:latin typeface="Times New Roman" panose="02020603050405020304" pitchFamily="18" charset="0"/>
              </a:rPr>
              <a:t>浮点数的加减法运算</a:t>
            </a:r>
            <a:endParaRPr lang="zh-CN" altLang="en-US" sz="3200" dirty="0">
              <a:latin typeface="Times New Roman" panose="02020603050405020304" pitchFamily="18" charset="0"/>
            </a:endParaRPr>
          </a:p>
          <a:p>
            <a:pPr marL="717550" lvl="1" indent="-266700" eaLnBrk="1" hangingPunct="1">
              <a:lnSpc>
                <a:spcPct val="120000"/>
              </a:lnSpc>
              <a:spcBef>
                <a:spcPts val="600"/>
              </a:spcBef>
              <a:spcAft>
                <a:spcPts val="600"/>
              </a:spcAft>
              <a:buClr>
                <a:srgbClr val="66CCFF"/>
              </a:buClr>
            </a:pPr>
            <a:r>
              <a:rPr lang="zh-CN" altLang="en-US" sz="2800" dirty="0"/>
              <a:t>判零</a:t>
            </a:r>
            <a:endParaRPr lang="zh-CN" altLang="en-US" sz="2800" dirty="0">
              <a:latin typeface="Times New Roman" panose="02020603050405020304" pitchFamily="18" charset="0"/>
            </a:endParaRPr>
          </a:p>
          <a:p>
            <a:pPr marL="717550" lvl="1" indent="-266700" eaLnBrk="1" hangingPunct="1">
              <a:lnSpc>
                <a:spcPct val="120000"/>
              </a:lnSpc>
              <a:spcBef>
                <a:spcPts val="600"/>
              </a:spcBef>
              <a:spcAft>
                <a:spcPts val="600"/>
              </a:spcAft>
              <a:buClr>
                <a:srgbClr val="66CCFF"/>
              </a:buClr>
            </a:pPr>
            <a:r>
              <a:rPr lang="zh-CN" altLang="en-US" sz="2800" dirty="0">
                <a:latin typeface="Times New Roman" panose="02020603050405020304" pitchFamily="18" charset="0"/>
              </a:rPr>
              <a:t>对阶</a:t>
            </a:r>
            <a:r>
              <a:rPr lang="en-US" altLang="zh-CN" sz="2800" dirty="0">
                <a:latin typeface="Times New Roman" panose="02020603050405020304" pitchFamily="18" charset="0"/>
              </a:rPr>
              <a:t>(</a:t>
            </a:r>
            <a:r>
              <a:rPr lang="zh-CN" altLang="en-US" sz="2800" dirty="0">
                <a:solidFill>
                  <a:srgbClr val="FFFF00"/>
                </a:solidFill>
                <a:latin typeface="Times New Roman" panose="02020603050405020304" pitchFamily="18" charset="0"/>
              </a:rPr>
              <a:t>小阶向大阶对齐，</a:t>
            </a:r>
            <a:r>
              <a:rPr lang="zh-CN" altLang="en-US" sz="2800" dirty="0">
                <a:solidFill>
                  <a:srgbClr val="FF0000"/>
                </a:solidFill>
                <a:latin typeface="Times New Roman" panose="02020603050405020304" pitchFamily="18" charset="0"/>
              </a:rPr>
              <a:t>为什么？</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a:p>
            <a:pPr marL="717550" lvl="1" indent="-266700" eaLnBrk="1" hangingPunct="1">
              <a:lnSpc>
                <a:spcPct val="120000"/>
              </a:lnSpc>
              <a:spcBef>
                <a:spcPts val="600"/>
              </a:spcBef>
              <a:spcAft>
                <a:spcPts val="600"/>
              </a:spcAft>
              <a:buClr>
                <a:srgbClr val="66CCFF"/>
              </a:buClr>
            </a:pPr>
            <a:r>
              <a:rPr lang="zh-CN" altLang="en-US" sz="2800" dirty="0">
                <a:latin typeface="Times New Roman" panose="02020603050405020304" pitchFamily="18" charset="0"/>
              </a:rPr>
              <a:t>求和：尾数加减运算</a:t>
            </a:r>
            <a:endParaRPr lang="zh-CN" altLang="en-US" sz="2800" dirty="0">
              <a:latin typeface="Times New Roman" panose="02020603050405020304" pitchFamily="18" charset="0"/>
            </a:endParaRPr>
          </a:p>
          <a:p>
            <a:pPr marL="717550" lvl="1" indent="-266700" eaLnBrk="1" hangingPunct="1">
              <a:lnSpc>
                <a:spcPct val="120000"/>
              </a:lnSpc>
              <a:spcBef>
                <a:spcPts val="600"/>
              </a:spcBef>
              <a:spcAft>
                <a:spcPts val="600"/>
              </a:spcAft>
              <a:buClr>
                <a:srgbClr val="66CCFF"/>
              </a:buClr>
            </a:pPr>
            <a:r>
              <a:rPr lang="zh-CN" altLang="en-US" sz="2800" dirty="0">
                <a:latin typeface="Times New Roman" panose="02020603050405020304" pitchFamily="18" charset="0"/>
              </a:rPr>
              <a:t>结果规格化与判溢出</a:t>
            </a:r>
            <a:endParaRPr lang="zh-CN" altLang="en-US" sz="2800" dirty="0">
              <a:latin typeface="Times New Roman" panose="02020603050405020304" pitchFamily="18" charset="0"/>
            </a:endParaRPr>
          </a:p>
          <a:p>
            <a:pPr marL="1143000" lvl="2" indent="-228600" eaLnBrk="1" hangingPunct="1">
              <a:lnSpc>
                <a:spcPct val="120000"/>
              </a:lnSpc>
              <a:spcBef>
                <a:spcPts val="600"/>
              </a:spcBef>
              <a:spcAft>
                <a:spcPts val="600"/>
              </a:spcAft>
            </a:pPr>
            <a:r>
              <a:rPr lang="zh-CN" altLang="en-US" sz="2400" dirty="0">
                <a:solidFill>
                  <a:srgbClr val="FFFF00"/>
                </a:solidFill>
                <a:latin typeface="Times New Roman" panose="02020603050405020304" pitchFamily="18" charset="0"/>
              </a:rPr>
              <a:t>判溢出</a:t>
            </a:r>
            <a:r>
              <a:rPr lang="en-US" altLang="zh-CN" sz="2400" dirty="0">
                <a:solidFill>
                  <a:srgbClr val="FFFF00"/>
                </a:solidFill>
                <a:latin typeface="Times New Roman" panose="02020603050405020304" pitchFamily="18" charset="0"/>
              </a:rPr>
              <a:t>(01</a:t>
            </a:r>
            <a:r>
              <a:rPr lang="zh-CN" altLang="en-US" sz="2400" dirty="0">
                <a:solidFill>
                  <a:srgbClr val="FFFF00"/>
                </a:solidFill>
                <a:latin typeface="Times New Roman" panose="02020603050405020304" pitchFamily="18" charset="0"/>
              </a:rPr>
              <a:t>：上溢报中断；</a:t>
            </a:r>
            <a:r>
              <a:rPr lang="en-US" altLang="zh-CN" sz="2400" dirty="0">
                <a:solidFill>
                  <a:srgbClr val="FFFF00"/>
                </a:solidFill>
                <a:latin typeface="Times New Roman" panose="02020603050405020304" pitchFamily="18" charset="0"/>
              </a:rPr>
              <a:t>10</a:t>
            </a:r>
            <a:r>
              <a:rPr lang="zh-CN" altLang="en-US" sz="2400" dirty="0">
                <a:solidFill>
                  <a:srgbClr val="FFFF00"/>
                </a:solidFill>
                <a:latin typeface="Times New Roman" panose="02020603050405020304" pitchFamily="18" charset="0"/>
              </a:rPr>
              <a:t>：下溢，按机器零处理</a:t>
            </a:r>
            <a:r>
              <a:rPr lang="en-US" altLang="zh-CN" sz="2400" dirty="0">
                <a:solidFill>
                  <a:srgbClr val="FFFF00"/>
                </a:solidFill>
                <a:latin typeface="Times New Roman" panose="02020603050405020304" pitchFamily="18" charset="0"/>
              </a:rPr>
              <a:t>)</a:t>
            </a:r>
            <a:endParaRPr lang="en-US" altLang="zh-CN" sz="2400" dirty="0">
              <a:solidFill>
                <a:srgbClr val="FFFF00"/>
              </a:solidFill>
              <a:latin typeface="Times New Roman" panose="02020603050405020304" pitchFamily="18" charset="0"/>
            </a:endParaRPr>
          </a:p>
          <a:p>
            <a:pPr marL="717550" lvl="1" indent="-266700" eaLnBrk="1" hangingPunct="1">
              <a:lnSpc>
                <a:spcPct val="120000"/>
              </a:lnSpc>
              <a:spcBef>
                <a:spcPts val="600"/>
              </a:spcBef>
              <a:spcAft>
                <a:spcPts val="600"/>
              </a:spcAft>
            </a:pPr>
            <a:r>
              <a:rPr lang="zh-CN" altLang="en-US" sz="2800" dirty="0"/>
              <a:t>舍入处理</a:t>
            </a:r>
            <a:endParaRPr lang="en-US" altLang="zh-CN" sz="2800" dirty="0">
              <a:solidFill>
                <a:srgbClr val="FFFF00"/>
              </a:solidFill>
              <a:latin typeface="Times New Roman" panose="02020603050405020304" pitchFamily="18" charset="0"/>
            </a:endParaRPr>
          </a:p>
          <a:p>
            <a:pPr marL="1143000" lvl="2" indent="-228600" eaLnBrk="1" hangingPunct="1">
              <a:lnSpc>
                <a:spcPct val="120000"/>
              </a:lnSpc>
              <a:spcBef>
                <a:spcPts val="600"/>
              </a:spcBef>
              <a:spcAft>
                <a:spcPts val="600"/>
              </a:spcAft>
              <a:buClr>
                <a:srgbClr val="66CCFF"/>
              </a:buClr>
            </a:pPr>
            <a:endParaRPr lang="zh-CN" altLang="en-US" sz="2400" dirty="0">
              <a:solidFill>
                <a:srgbClr val="FFFF00"/>
              </a:solidFill>
              <a:latin typeface="Times New Roman" panose="02020603050405020304" pitchFamily="18" charset="0"/>
            </a:endParaRPr>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71458" name="Rectangle 2"/>
          <p:cNvSpPr>
            <a:spLocks noGrp="1" noChangeArrowheads="1"/>
          </p:cNvSpPr>
          <p:nvPr>
            <p:ph type="title"/>
          </p:nvPr>
        </p:nvSpPr>
        <p:spPr>
          <a:xfrm>
            <a:off x="0" y="338138"/>
            <a:ext cx="9144000" cy="714375"/>
          </a:xfrm>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回顾－中央处理器</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4371459" name="AutoShape 3"/>
          <p:cNvSpPr>
            <a:spLocks noChangeArrowheads="1"/>
          </p:cNvSpPr>
          <p:nvPr/>
        </p:nvSpPr>
        <p:spPr bwMode="invGray">
          <a:xfrm rot="56870255">
            <a:off x="3404394" y="2601119"/>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60" name="AutoShape 4"/>
          <p:cNvSpPr>
            <a:spLocks noChangeArrowheads="1"/>
          </p:cNvSpPr>
          <p:nvPr/>
        </p:nvSpPr>
        <p:spPr bwMode="invGray">
          <a:xfrm rot="7889487">
            <a:off x="3471069" y="4831556"/>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61" name="AutoShape 5"/>
          <p:cNvSpPr>
            <a:spLocks noChangeArrowheads="1"/>
          </p:cNvSpPr>
          <p:nvPr/>
        </p:nvSpPr>
        <p:spPr bwMode="invGray">
          <a:xfrm rot="10637574">
            <a:off x="2816225" y="3789363"/>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62" name="AutoShape 6"/>
          <p:cNvSpPr>
            <a:spLocks noChangeArrowheads="1"/>
          </p:cNvSpPr>
          <p:nvPr/>
        </p:nvSpPr>
        <p:spPr bwMode="invGray">
          <a:xfrm>
            <a:off x="5424488" y="3787775"/>
            <a:ext cx="792163" cy="288925"/>
          </a:xfrm>
          <a:prstGeom prst="rightArrow">
            <a:avLst>
              <a:gd name="adj1" fmla="val 35167"/>
              <a:gd name="adj2" fmla="val 111028"/>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63" name="Oval 7"/>
          <p:cNvSpPr>
            <a:spLocks noChangeArrowheads="1"/>
          </p:cNvSpPr>
          <p:nvPr/>
        </p:nvSpPr>
        <p:spPr bwMode="black">
          <a:xfrm>
            <a:off x="2640013" y="1982788"/>
            <a:ext cx="3743325" cy="3744913"/>
          </a:xfrm>
          <a:prstGeom prst="ellipse">
            <a:avLst/>
          </a:prstGeom>
          <a:noFill/>
          <a:ln w="38100" algn="ctr">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50184" name="Group 8"/>
          <p:cNvGrpSpPr/>
          <p:nvPr/>
        </p:nvGrpSpPr>
        <p:grpSpPr>
          <a:xfrm>
            <a:off x="3303588" y="5243513"/>
            <a:ext cx="360362" cy="360362"/>
            <a:chOff x="1565" y="2659"/>
            <a:chExt cx="227" cy="227"/>
          </a:xfrm>
        </p:grpSpPr>
        <p:sp>
          <p:nvSpPr>
            <p:cNvPr id="4371465" name="Oval 9"/>
            <p:cNvSpPr>
              <a:spLocks noChangeArrowheads="1"/>
            </p:cNvSpPr>
            <p:nvPr/>
          </p:nvSpPr>
          <p:spPr bwMode="gray">
            <a:xfrm>
              <a:off x="1565" y="2659"/>
              <a:ext cx="227" cy="227"/>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66" name="Oval 10"/>
            <p:cNvSpPr>
              <a:spLocks noChangeArrowheads="1"/>
            </p:cNvSpPr>
            <p:nvPr/>
          </p:nvSpPr>
          <p:spPr bwMode="gray">
            <a:xfrm>
              <a:off x="1575" y="2678"/>
              <a:ext cx="141" cy="142"/>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50185" name="Group 11"/>
          <p:cNvGrpSpPr/>
          <p:nvPr/>
        </p:nvGrpSpPr>
        <p:grpSpPr>
          <a:xfrm>
            <a:off x="6248400" y="3757613"/>
            <a:ext cx="360363" cy="360362"/>
            <a:chOff x="3515" y="3521"/>
            <a:chExt cx="227" cy="227"/>
          </a:xfrm>
        </p:grpSpPr>
        <p:sp>
          <p:nvSpPr>
            <p:cNvPr id="4371468" name="Oval 12"/>
            <p:cNvSpPr>
              <a:spLocks noChangeArrowheads="1"/>
            </p:cNvSpPr>
            <p:nvPr/>
          </p:nvSpPr>
          <p:spPr bwMode="gray">
            <a:xfrm>
              <a:off x="3515" y="3521"/>
              <a:ext cx="227" cy="227"/>
            </a:xfrm>
            <a:prstGeom prst="ellipse">
              <a:avLst/>
            </a:prstGeom>
            <a:gradFill rotWithShape="1">
              <a:gsLst>
                <a:gs pos="0">
                  <a:srgbClr val="008080"/>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69" name="Oval 13"/>
            <p:cNvSpPr>
              <a:spLocks noChangeArrowheads="1"/>
            </p:cNvSpPr>
            <p:nvPr/>
          </p:nvSpPr>
          <p:spPr bwMode="gray">
            <a:xfrm>
              <a:off x="3525" y="3540"/>
              <a:ext cx="141" cy="142"/>
            </a:xfrm>
            <a:prstGeom prst="ellipse">
              <a:avLst/>
            </a:prstGeom>
            <a:gradFill rotWithShape="1">
              <a:gsLst>
                <a:gs pos="0">
                  <a:srgbClr val="008080">
                    <a:alpha val="0"/>
                  </a:srgbClr>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371470" name="Oval 14"/>
          <p:cNvSpPr>
            <a:spLocks noChangeArrowheads="1"/>
          </p:cNvSpPr>
          <p:nvPr/>
        </p:nvSpPr>
        <p:spPr bwMode="gray">
          <a:xfrm>
            <a:off x="3587750" y="2935288"/>
            <a:ext cx="1944688" cy="19446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71" name="Oval 15"/>
          <p:cNvSpPr>
            <a:spLocks noChangeArrowheads="1"/>
          </p:cNvSpPr>
          <p:nvPr/>
        </p:nvSpPr>
        <p:spPr bwMode="gray">
          <a:xfrm>
            <a:off x="3608388" y="2941638"/>
            <a:ext cx="1944688" cy="1944688"/>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72" name="Oval 16"/>
          <p:cNvSpPr>
            <a:spLocks noChangeArrowheads="1"/>
          </p:cNvSpPr>
          <p:nvPr/>
        </p:nvSpPr>
        <p:spPr bwMode="gray">
          <a:xfrm>
            <a:off x="3698875" y="3062288"/>
            <a:ext cx="1690688" cy="169068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73" name="Oval 17"/>
          <p:cNvSpPr>
            <a:spLocks noChangeArrowheads="1"/>
          </p:cNvSpPr>
          <p:nvPr/>
        </p:nvSpPr>
        <p:spPr bwMode="gray">
          <a:xfrm>
            <a:off x="3681413" y="3035300"/>
            <a:ext cx="1690688" cy="1690688"/>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50190" name="Group 18"/>
          <p:cNvGrpSpPr/>
          <p:nvPr/>
        </p:nvGrpSpPr>
        <p:grpSpPr>
          <a:xfrm>
            <a:off x="3846513" y="3146425"/>
            <a:ext cx="1522412" cy="1522413"/>
            <a:chOff x="2416" y="1846"/>
            <a:chExt cx="959" cy="959"/>
          </a:xfrm>
        </p:grpSpPr>
        <p:sp>
          <p:nvSpPr>
            <p:cNvPr id="4371475" name="Oval 19"/>
            <p:cNvSpPr>
              <a:spLocks noChangeArrowheads="1"/>
            </p:cNvSpPr>
            <p:nvPr/>
          </p:nvSpPr>
          <p:spPr bwMode="gray">
            <a:xfrm>
              <a:off x="2416" y="1846"/>
              <a:ext cx="959" cy="959"/>
            </a:xfrm>
            <a:prstGeom prst="ellipse">
              <a:avLst/>
            </a:prstGeom>
            <a:solidFill>
              <a:srgbClr val="333333"/>
            </a:soli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76" name="Oval 20"/>
            <p:cNvSpPr>
              <a:spLocks noChangeArrowheads="1"/>
            </p:cNvSpPr>
            <p:nvPr/>
          </p:nvSpPr>
          <p:spPr bwMode="gray">
            <a:xfrm>
              <a:off x="2430" y="1858"/>
              <a:ext cx="927" cy="928"/>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77" name="Oval 21"/>
            <p:cNvSpPr>
              <a:spLocks noChangeArrowheads="1"/>
            </p:cNvSpPr>
            <p:nvPr/>
          </p:nvSpPr>
          <p:spPr bwMode="gray">
            <a:xfrm>
              <a:off x="2441" y="1864"/>
              <a:ext cx="906" cy="904"/>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78" name="Oval 22"/>
            <p:cNvSpPr>
              <a:spLocks noChangeArrowheads="1"/>
            </p:cNvSpPr>
            <p:nvPr/>
          </p:nvSpPr>
          <p:spPr bwMode="gray">
            <a:xfrm>
              <a:off x="2451" y="1873"/>
              <a:ext cx="861" cy="845"/>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79" name="Oval 23"/>
            <p:cNvSpPr>
              <a:spLocks noChangeArrowheads="1"/>
            </p:cNvSpPr>
            <p:nvPr/>
          </p:nvSpPr>
          <p:spPr bwMode="gray">
            <a:xfrm>
              <a:off x="2502" y="1896"/>
              <a:ext cx="765" cy="687"/>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50191" name="Text Box 24"/>
          <p:cNvSpPr txBox="1"/>
          <p:nvPr/>
        </p:nvSpPr>
        <p:spPr>
          <a:xfrm>
            <a:off x="3978275" y="3614738"/>
            <a:ext cx="1123950" cy="6413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en-US" altLang="zh-CN" dirty="0">
                <a:solidFill>
                  <a:srgbClr val="000000"/>
                </a:solidFill>
                <a:latin typeface="Times New Roman" panose="02020603050405020304" pitchFamily="18" charset="0"/>
                <a:ea typeface="华文中宋" panose="02010600040101010101" pitchFamily="2" charset="-122"/>
              </a:rPr>
              <a:t>CPU</a:t>
            </a:r>
            <a:endParaRPr lang="en-US" altLang="zh-CN" dirty="0">
              <a:solidFill>
                <a:srgbClr val="000000"/>
              </a:solidFill>
              <a:latin typeface="Times New Roman" panose="02020603050405020304" pitchFamily="18" charset="0"/>
              <a:ea typeface="华文中宋" panose="02010600040101010101" pitchFamily="2" charset="-122"/>
            </a:endParaRPr>
          </a:p>
        </p:txBody>
      </p:sp>
      <p:sp>
        <p:nvSpPr>
          <p:cNvPr id="50192" name="Text Box 25"/>
          <p:cNvSpPr txBox="1"/>
          <p:nvPr/>
        </p:nvSpPr>
        <p:spPr>
          <a:xfrm>
            <a:off x="744538" y="1765300"/>
            <a:ext cx="2527300" cy="608013"/>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30000"/>
              </a:lnSpc>
              <a:spcBef>
                <a:spcPct val="20000"/>
              </a:spcBef>
              <a:buClr>
                <a:srgbClr val="008000"/>
              </a:buClr>
              <a:buNone/>
            </a:pPr>
            <a:r>
              <a:rPr lang="zh-CN" altLang="en-US" sz="2800" dirty="0">
                <a:latin typeface="Times New Roman" panose="02020603050405020304" pitchFamily="18" charset="0"/>
              </a:rPr>
              <a:t>控制器概述</a:t>
            </a:r>
            <a:endParaRPr lang="zh-CN" altLang="en-US" sz="2800" dirty="0">
              <a:latin typeface="Times New Roman" panose="02020603050405020304" pitchFamily="18" charset="0"/>
            </a:endParaRPr>
          </a:p>
        </p:txBody>
      </p:sp>
      <p:sp>
        <p:nvSpPr>
          <p:cNvPr id="50193" name="Text Box 26"/>
          <p:cNvSpPr txBox="1"/>
          <p:nvPr/>
        </p:nvSpPr>
        <p:spPr>
          <a:xfrm>
            <a:off x="6562725" y="3484563"/>
            <a:ext cx="2520950" cy="954087"/>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800" dirty="0">
                <a:latin typeface="Times New Roman" panose="02020603050405020304" pitchFamily="18" charset="0"/>
              </a:rPr>
              <a:t>单周期控制器设计</a:t>
            </a:r>
            <a:endParaRPr lang="zh-CN" altLang="en-US" sz="2800" dirty="0">
              <a:latin typeface="Times New Roman" panose="02020603050405020304" pitchFamily="18" charset="0"/>
            </a:endParaRPr>
          </a:p>
        </p:txBody>
      </p:sp>
      <p:sp>
        <p:nvSpPr>
          <p:cNvPr id="50194" name="Text Box 27"/>
          <p:cNvSpPr txBox="1"/>
          <p:nvPr/>
        </p:nvSpPr>
        <p:spPr>
          <a:xfrm>
            <a:off x="60325" y="3527425"/>
            <a:ext cx="2468563" cy="95408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800" dirty="0">
                <a:latin typeface="Times New Roman" panose="02020603050405020304" pitchFamily="18" charset="0"/>
              </a:rPr>
              <a:t>微程序控制器设计</a:t>
            </a:r>
            <a:endParaRPr lang="zh-CN" altLang="en-US" sz="2800" dirty="0">
              <a:latin typeface="Times New Roman" panose="02020603050405020304" pitchFamily="18" charset="0"/>
            </a:endParaRPr>
          </a:p>
        </p:txBody>
      </p:sp>
      <p:sp>
        <p:nvSpPr>
          <p:cNvPr id="50195" name="Rectangle 28"/>
          <p:cNvSpPr/>
          <p:nvPr/>
        </p:nvSpPr>
        <p:spPr>
          <a:xfrm>
            <a:off x="855663" y="5064125"/>
            <a:ext cx="2352675" cy="95408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800" dirty="0">
                <a:latin typeface="Times New Roman" panose="02020603050405020304" pitchFamily="18" charset="0"/>
              </a:rPr>
              <a:t>流水线控制器设计</a:t>
            </a:r>
            <a:endParaRPr lang="zh-CN" altLang="en-US" sz="2800" dirty="0">
              <a:latin typeface="Times New Roman" panose="02020603050405020304" pitchFamily="18" charset="0"/>
            </a:endParaRPr>
          </a:p>
        </p:txBody>
      </p:sp>
      <p:grpSp>
        <p:nvGrpSpPr>
          <p:cNvPr id="50196" name="Group 29"/>
          <p:cNvGrpSpPr/>
          <p:nvPr/>
        </p:nvGrpSpPr>
        <p:grpSpPr>
          <a:xfrm>
            <a:off x="2432050" y="3789363"/>
            <a:ext cx="360363" cy="360362"/>
            <a:chOff x="3923" y="2659"/>
            <a:chExt cx="227" cy="227"/>
          </a:xfrm>
        </p:grpSpPr>
        <p:sp>
          <p:nvSpPr>
            <p:cNvPr id="4371486" name="Oval 30"/>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87" name="Oval 31"/>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50197" name="Group 32"/>
          <p:cNvGrpSpPr/>
          <p:nvPr/>
        </p:nvGrpSpPr>
        <p:grpSpPr>
          <a:xfrm>
            <a:off x="5543550" y="2189163"/>
            <a:ext cx="360363" cy="360362"/>
            <a:chOff x="1565" y="2659"/>
            <a:chExt cx="227" cy="227"/>
          </a:xfrm>
        </p:grpSpPr>
        <p:sp>
          <p:nvSpPr>
            <p:cNvPr id="4371489" name="Oval 33"/>
            <p:cNvSpPr>
              <a:spLocks noChangeArrowheads="1"/>
            </p:cNvSpPr>
            <p:nvPr/>
          </p:nvSpPr>
          <p:spPr bwMode="gray">
            <a:xfrm>
              <a:off x="1565" y="2659"/>
              <a:ext cx="227" cy="227"/>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90" name="Oval 34"/>
            <p:cNvSpPr>
              <a:spLocks noChangeArrowheads="1"/>
            </p:cNvSpPr>
            <p:nvPr/>
          </p:nvSpPr>
          <p:spPr bwMode="gray">
            <a:xfrm>
              <a:off x="1575" y="2678"/>
              <a:ext cx="141" cy="142"/>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50198" name="Group 35"/>
          <p:cNvGrpSpPr/>
          <p:nvPr/>
        </p:nvGrpSpPr>
        <p:grpSpPr>
          <a:xfrm>
            <a:off x="3224213" y="2133600"/>
            <a:ext cx="360362" cy="360363"/>
            <a:chOff x="3515" y="3521"/>
            <a:chExt cx="227" cy="227"/>
          </a:xfrm>
        </p:grpSpPr>
        <p:sp>
          <p:nvSpPr>
            <p:cNvPr id="4371492" name="Oval 36"/>
            <p:cNvSpPr>
              <a:spLocks noChangeArrowheads="1"/>
            </p:cNvSpPr>
            <p:nvPr/>
          </p:nvSpPr>
          <p:spPr bwMode="gray">
            <a:xfrm>
              <a:off x="3515" y="3521"/>
              <a:ext cx="227" cy="227"/>
            </a:xfrm>
            <a:prstGeom prst="ellipse">
              <a:avLst/>
            </a:prstGeom>
            <a:gradFill rotWithShape="1">
              <a:gsLst>
                <a:gs pos="0">
                  <a:srgbClr val="008080"/>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1493" name="Oval 37"/>
            <p:cNvSpPr>
              <a:spLocks noChangeArrowheads="1"/>
            </p:cNvSpPr>
            <p:nvPr/>
          </p:nvSpPr>
          <p:spPr bwMode="gray">
            <a:xfrm>
              <a:off x="3525" y="3540"/>
              <a:ext cx="141" cy="142"/>
            </a:xfrm>
            <a:prstGeom prst="ellipse">
              <a:avLst/>
            </a:prstGeom>
            <a:gradFill rotWithShape="1">
              <a:gsLst>
                <a:gs pos="0">
                  <a:srgbClr val="008080">
                    <a:alpha val="0"/>
                  </a:srgbClr>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371494" name="AutoShape 38"/>
          <p:cNvSpPr>
            <a:spLocks noChangeArrowheads="1"/>
          </p:cNvSpPr>
          <p:nvPr/>
        </p:nvSpPr>
        <p:spPr bwMode="invGray">
          <a:xfrm rot="61744673">
            <a:off x="4949031" y="2688431"/>
            <a:ext cx="792163" cy="288925"/>
          </a:xfrm>
          <a:prstGeom prst="rightArrow">
            <a:avLst>
              <a:gd name="adj1" fmla="val 35167"/>
              <a:gd name="adj2" fmla="val 111028"/>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50200" name="Text Box 39"/>
          <p:cNvSpPr txBox="1"/>
          <p:nvPr/>
        </p:nvSpPr>
        <p:spPr>
          <a:xfrm>
            <a:off x="5942013" y="1838325"/>
            <a:ext cx="2924175" cy="519113"/>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zh-CN" altLang="en-US" sz="2800" dirty="0">
                <a:latin typeface="Times New Roman" panose="02020603050405020304" pitchFamily="18" charset="0"/>
              </a:rPr>
              <a:t>数据通路建立</a:t>
            </a:r>
            <a:endParaRPr lang="en-US" altLang="zh-CN" sz="2800" dirty="0">
              <a:latin typeface="Times New Roman" panose="02020603050405020304" pitchFamily="18" charset="0"/>
            </a:endParaRPr>
          </a:p>
        </p:txBody>
      </p:sp>
      <p:sp>
        <p:nvSpPr>
          <p:cNvPr id="50201" name="Text Box 26"/>
          <p:cNvSpPr txBox="1"/>
          <p:nvPr/>
        </p:nvSpPr>
        <p:spPr>
          <a:xfrm>
            <a:off x="5800725" y="5030788"/>
            <a:ext cx="2520950" cy="954087"/>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800" dirty="0">
                <a:latin typeface="Times New Roman" panose="02020603050405020304" pitchFamily="18" charset="0"/>
              </a:rPr>
              <a:t>多周期控制器设计</a:t>
            </a:r>
            <a:endParaRPr lang="zh-CN" altLang="en-US" sz="2800" dirty="0">
              <a:latin typeface="Times New Roman" panose="02020603050405020304" pitchFamily="18" charset="0"/>
            </a:endParaRPr>
          </a:p>
        </p:txBody>
      </p:sp>
      <p:sp>
        <p:nvSpPr>
          <p:cNvPr id="44" name="AutoShape 4"/>
          <p:cNvSpPr>
            <a:spLocks noChangeArrowheads="1"/>
          </p:cNvSpPr>
          <p:nvPr/>
        </p:nvSpPr>
        <p:spPr bwMode="invGray">
          <a:xfrm rot="2564308">
            <a:off x="4873625" y="4751388"/>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50203" name="Group 29"/>
          <p:cNvGrpSpPr/>
          <p:nvPr/>
        </p:nvGrpSpPr>
        <p:grpSpPr>
          <a:xfrm>
            <a:off x="5516563" y="5132388"/>
            <a:ext cx="360362" cy="360362"/>
            <a:chOff x="3923" y="2659"/>
            <a:chExt cx="227" cy="227"/>
          </a:xfrm>
        </p:grpSpPr>
        <p:sp>
          <p:nvSpPr>
            <p:cNvPr id="46" name="Oval 30"/>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7" name="Oval 31"/>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idx="1"/>
          </p:nvPr>
        </p:nvSpPr>
        <p:spPr>
          <a:xfrm>
            <a:off x="611188" y="1103313"/>
            <a:ext cx="8228012" cy="4964112"/>
          </a:xfrm>
          <a:ln/>
        </p:spPr>
        <p:txBody>
          <a:bodyPr vert="horz" wrap="square" lIns="92075" tIns="46038" rIns="92075" bIns="46038" anchor="t" anchorCtr="0">
            <a:spAutoFit/>
          </a:bodyPr>
          <a:p>
            <a:pPr eaLnBrk="1" hangingPunct="1">
              <a:lnSpc>
                <a:spcPct val="110000"/>
              </a:lnSpc>
              <a:spcBef>
                <a:spcPts val="600"/>
              </a:spcBef>
            </a:pPr>
            <a:r>
              <a:rPr lang="zh-CN" altLang="en-US" sz="3200" dirty="0">
                <a:latin typeface="Times New Roman" panose="02020603050405020304" pitchFamily="18" charset="0"/>
              </a:rPr>
              <a:t>指令周期</a:t>
            </a:r>
            <a:endParaRPr lang="zh-CN" altLang="en-US" sz="3200" dirty="0">
              <a:latin typeface="Times New Roman" panose="02020603050405020304" pitchFamily="18" charset="0"/>
            </a:endParaRPr>
          </a:p>
          <a:p>
            <a:pPr lvl="1" eaLnBrk="1" hangingPunct="1">
              <a:lnSpc>
                <a:spcPct val="110000"/>
              </a:lnSpc>
              <a:spcBef>
                <a:spcPts val="600"/>
              </a:spcBef>
            </a:pPr>
            <a:r>
              <a:rPr lang="zh-CN" altLang="en-US" sz="2800" dirty="0">
                <a:latin typeface="Times New Roman" panose="02020603050405020304" pitchFamily="18" charset="0"/>
              </a:rPr>
              <a:t>定义： 一条指令的执行时间，即从取指令开始到指令执行完成所需要的时间 </a:t>
            </a:r>
            <a:endParaRPr lang="en-US" altLang="zh-CN" sz="2800" dirty="0">
              <a:latin typeface="Times New Roman" panose="02020603050405020304" pitchFamily="18" charset="0"/>
            </a:endParaRPr>
          </a:p>
          <a:p>
            <a:pPr lvl="1" eaLnBrk="1" hangingPunct="1">
              <a:lnSpc>
                <a:spcPct val="110000"/>
              </a:lnSpc>
              <a:spcBef>
                <a:spcPts val="600"/>
              </a:spcBef>
            </a:pPr>
            <a:endParaRPr lang="en-US" altLang="zh-CN" sz="2800" dirty="0">
              <a:latin typeface="Times New Roman" panose="02020603050405020304" pitchFamily="18" charset="0"/>
            </a:endParaRPr>
          </a:p>
          <a:p>
            <a:pPr lvl="1" eaLnBrk="1" hangingPunct="1">
              <a:lnSpc>
                <a:spcPct val="110000"/>
              </a:lnSpc>
              <a:spcBef>
                <a:spcPts val="600"/>
              </a:spcBef>
            </a:pPr>
            <a:endParaRPr lang="en-US" altLang="zh-CN" sz="2800" dirty="0">
              <a:latin typeface="Times New Roman" panose="02020603050405020304" pitchFamily="18" charset="0"/>
            </a:endParaRPr>
          </a:p>
          <a:p>
            <a:pPr lvl="1" eaLnBrk="1" hangingPunct="1">
              <a:lnSpc>
                <a:spcPct val="110000"/>
              </a:lnSpc>
              <a:spcBef>
                <a:spcPts val="600"/>
              </a:spcBef>
            </a:pPr>
            <a:endParaRPr lang="en-US" altLang="zh-CN" sz="2800" dirty="0">
              <a:latin typeface="Times New Roman" panose="02020603050405020304" pitchFamily="18" charset="0"/>
            </a:endParaRPr>
          </a:p>
          <a:p>
            <a:pPr lvl="1" eaLnBrk="1" hangingPunct="1">
              <a:lnSpc>
                <a:spcPct val="110000"/>
              </a:lnSpc>
              <a:spcBef>
                <a:spcPts val="600"/>
              </a:spcBef>
            </a:pPr>
            <a:endParaRPr lang="en-US" altLang="zh-CN" sz="2800" dirty="0">
              <a:latin typeface="Times New Roman" panose="02020603050405020304" pitchFamily="18" charset="0"/>
            </a:endParaRPr>
          </a:p>
          <a:p>
            <a:pPr lvl="1" eaLnBrk="1" hangingPunct="1">
              <a:lnSpc>
                <a:spcPct val="110000"/>
              </a:lnSpc>
              <a:spcBef>
                <a:spcPts val="600"/>
              </a:spcBef>
            </a:pPr>
            <a:endParaRPr lang="en-US" altLang="zh-CN" sz="2800" dirty="0">
              <a:latin typeface="Times New Roman" panose="02020603050405020304" pitchFamily="18" charset="0"/>
            </a:endParaRPr>
          </a:p>
          <a:p>
            <a:pPr lvl="1" eaLnBrk="1" hangingPunct="1">
              <a:lnSpc>
                <a:spcPct val="110000"/>
              </a:lnSpc>
              <a:spcBef>
                <a:spcPts val="600"/>
              </a:spcBef>
            </a:pPr>
            <a:r>
              <a:rPr lang="zh-CN" altLang="en-US" sz="2800" dirty="0">
                <a:latin typeface="Times New Roman" panose="02020603050405020304" pitchFamily="18" charset="0"/>
              </a:rPr>
              <a:t>广义指令周期：</a:t>
            </a:r>
            <a:r>
              <a:rPr lang="zh-CN" altLang="en-US" sz="2800" dirty="0">
                <a:solidFill>
                  <a:srgbClr val="FFFF00"/>
                </a:solidFill>
                <a:latin typeface="Times New Roman" panose="02020603050405020304" pitchFamily="18" charset="0"/>
              </a:rPr>
              <a:t>取指、间址、执行和中断</a:t>
            </a:r>
            <a:endParaRPr lang="en-US" altLang="zh-CN" sz="2800" dirty="0">
              <a:solidFill>
                <a:srgbClr val="FFFF00"/>
              </a:solidFill>
              <a:latin typeface="Times New Roman" panose="02020603050405020304" pitchFamily="18" charset="0"/>
            </a:endParaRPr>
          </a:p>
        </p:txBody>
      </p:sp>
      <p:sp>
        <p:nvSpPr>
          <p:cNvPr id="4376579" name="Text Box 3"/>
          <p:cNvSpPr txBox="1"/>
          <p:nvPr/>
        </p:nvSpPr>
        <p:spPr>
          <a:xfrm>
            <a:off x="1023938" y="2968625"/>
            <a:ext cx="2743200" cy="523875"/>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800" dirty="0">
                <a:solidFill>
                  <a:srgbClr val="F7F727"/>
                </a:solidFill>
                <a:latin typeface="Times New Roman" panose="02020603050405020304" pitchFamily="18" charset="0"/>
              </a:rPr>
              <a:t>完成一条指令</a:t>
            </a:r>
            <a:endParaRPr lang="zh-CN" altLang="en-US" sz="2800" dirty="0">
              <a:solidFill>
                <a:srgbClr val="F7F727"/>
              </a:solidFill>
              <a:latin typeface="Times New Roman" panose="02020603050405020304" pitchFamily="18" charset="0"/>
            </a:endParaRPr>
          </a:p>
        </p:txBody>
      </p:sp>
      <p:sp>
        <p:nvSpPr>
          <p:cNvPr id="4376580" name="AutoShape 4"/>
          <p:cNvSpPr/>
          <p:nvPr/>
        </p:nvSpPr>
        <p:spPr bwMode="auto">
          <a:xfrm>
            <a:off x="3730625" y="3082925"/>
            <a:ext cx="139700" cy="434975"/>
          </a:xfrm>
          <a:prstGeom prst="leftBrace">
            <a:avLst>
              <a:gd name="adj1" fmla="val 43655"/>
              <a:gd name="adj2" fmla="val 50000"/>
            </a:avLst>
          </a:prstGeom>
          <a:noFill/>
          <a:ln w="38100">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6581" name="Text Box 5"/>
          <p:cNvSpPr txBox="1"/>
          <p:nvPr/>
        </p:nvSpPr>
        <p:spPr>
          <a:xfrm>
            <a:off x="3938588" y="3298825"/>
            <a:ext cx="1576387" cy="523875"/>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800" dirty="0">
                <a:latin typeface="Times New Roman" panose="02020603050405020304" pitchFamily="18" charset="0"/>
              </a:rPr>
              <a:t>执行</a:t>
            </a:r>
            <a:endParaRPr lang="zh-CN" altLang="en-US" sz="2800" dirty="0">
              <a:latin typeface="Times New Roman" panose="02020603050405020304" pitchFamily="18" charset="0"/>
            </a:endParaRPr>
          </a:p>
        </p:txBody>
      </p:sp>
      <p:sp>
        <p:nvSpPr>
          <p:cNvPr id="4376582" name="Text Box 6"/>
          <p:cNvSpPr txBox="1"/>
          <p:nvPr/>
        </p:nvSpPr>
        <p:spPr>
          <a:xfrm>
            <a:off x="3883025" y="2689225"/>
            <a:ext cx="2362200" cy="523875"/>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800" dirty="0">
                <a:latin typeface="Times New Roman" panose="02020603050405020304" pitchFamily="18" charset="0"/>
              </a:rPr>
              <a:t>取指、分析</a:t>
            </a:r>
            <a:endParaRPr lang="zh-CN" altLang="en-US" sz="2800" dirty="0">
              <a:latin typeface="Times New Roman" panose="02020603050405020304" pitchFamily="18" charset="0"/>
            </a:endParaRPr>
          </a:p>
        </p:txBody>
      </p:sp>
      <p:sp>
        <p:nvSpPr>
          <p:cNvPr id="4376583" name="Text Box 7"/>
          <p:cNvSpPr txBox="1"/>
          <p:nvPr/>
        </p:nvSpPr>
        <p:spPr>
          <a:xfrm>
            <a:off x="6362700" y="2689225"/>
            <a:ext cx="2193925" cy="523875"/>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800" dirty="0">
                <a:solidFill>
                  <a:srgbClr val="F7F727"/>
                </a:solidFill>
                <a:latin typeface="Times New Roman" panose="02020603050405020304" pitchFamily="18" charset="0"/>
              </a:rPr>
              <a:t>取指阶段</a:t>
            </a:r>
            <a:endParaRPr lang="en-US" altLang="zh-CN" sz="2800" dirty="0">
              <a:solidFill>
                <a:srgbClr val="F7F727"/>
              </a:solidFill>
              <a:latin typeface="Times New Roman" panose="02020603050405020304" pitchFamily="18" charset="0"/>
            </a:endParaRPr>
          </a:p>
        </p:txBody>
      </p:sp>
      <p:sp>
        <p:nvSpPr>
          <p:cNvPr id="4376584" name="Text Box 8"/>
          <p:cNvSpPr txBox="1"/>
          <p:nvPr/>
        </p:nvSpPr>
        <p:spPr>
          <a:xfrm>
            <a:off x="6362700" y="3298825"/>
            <a:ext cx="2011363" cy="523875"/>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800" dirty="0">
                <a:solidFill>
                  <a:srgbClr val="F7F727"/>
                </a:solidFill>
                <a:latin typeface="Times New Roman" panose="02020603050405020304" pitchFamily="18" charset="0"/>
              </a:rPr>
              <a:t>执行阶段</a:t>
            </a:r>
            <a:endParaRPr lang="zh-CN" altLang="en-US" sz="2800" dirty="0">
              <a:solidFill>
                <a:srgbClr val="F7F727"/>
              </a:solidFill>
              <a:latin typeface="Times New Roman" panose="02020603050405020304" pitchFamily="18" charset="0"/>
            </a:endParaRPr>
          </a:p>
        </p:txBody>
      </p:sp>
      <p:grpSp>
        <p:nvGrpSpPr>
          <p:cNvPr id="2" name="Group 9"/>
          <p:cNvGrpSpPr/>
          <p:nvPr/>
        </p:nvGrpSpPr>
        <p:grpSpPr>
          <a:xfrm>
            <a:off x="2182813" y="3811588"/>
            <a:ext cx="4964112" cy="1654175"/>
            <a:chOff x="1680" y="3127"/>
            <a:chExt cx="2448" cy="1042"/>
          </a:xfrm>
        </p:grpSpPr>
        <p:sp>
          <p:nvSpPr>
            <p:cNvPr id="52235" name="Text Box 10"/>
            <p:cNvSpPr txBox="1"/>
            <p:nvPr/>
          </p:nvSpPr>
          <p:spPr>
            <a:xfrm>
              <a:off x="1910" y="3127"/>
              <a:ext cx="698" cy="291"/>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400" dirty="0">
                  <a:latin typeface="Times New Roman" panose="02020603050405020304" pitchFamily="18" charset="0"/>
                </a:rPr>
                <a:t>取指阶段</a:t>
              </a:r>
              <a:endParaRPr lang="zh-CN" altLang="en-US" sz="2400" dirty="0">
                <a:latin typeface="Times New Roman" panose="02020603050405020304" pitchFamily="18" charset="0"/>
              </a:endParaRPr>
            </a:p>
          </p:txBody>
        </p:sp>
        <p:sp>
          <p:nvSpPr>
            <p:cNvPr id="52236" name="Text Box 11"/>
            <p:cNvSpPr txBox="1"/>
            <p:nvPr/>
          </p:nvSpPr>
          <p:spPr>
            <a:xfrm>
              <a:off x="1920" y="3359"/>
              <a:ext cx="698" cy="291"/>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400" dirty="0">
                  <a:latin typeface="Times New Roman" panose="02020603050405020304" pitchFamily="18" charset="0"/>
                </a:rPr>
                <a:t>取指周期</a:t>
              </a:r>
              <a:endParaRPr lang="zh-CN" altLang="en-US" sz="2400" dirty="0">
                <a:latin typeface="Times New Roman" panose="02020603050405020304" pitchFamily="18" charset="0"/>
              </a:endParaRPr>
            </a:p>
          </p:txBody>
        </p:sp>
        <p:sp>
          <p:nvSpPr>
            <p:cNvPr id="52237" name="Text Box 12"/>
            <p:cNvSpPr txBox="1"/>
            <p:nvPr/>
          </p:nvSpPr>
          <p:spPr>
            <a:xfrm>
              <a:off x="3120" y="3129"/>
              <a:ext cx="698" cy="291"/>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400" dirty="0">
                  <a:latin typeface="Times New Roman" panose="02020603050405020304" pitchFamily="18" charset="0"/>
                </a:rPr>
                <a:t>执行阶段</a:t>
              </a:r>
              <a:endParaRPr lang="zh-CN" altLang="en-US" sz="2400" dirty="0">
                <a:latin typeface="Times New Roman" panose="02020603050405020304" pitchFamily="18" charset="0"/>
              </a:endParaRPr>
            </a:p>
          </p:txBody>
        </p:sp>
        <p:sp>
          <p:nvSpPr>
            <p:cNvPr id="52238" name="Text Box 13"/>
            <p:cNvSpPr txBox="1"/>
            <p:nvPr/>
          </p:nvSpPr>
          <p:spPr>
            <a:xfrm>
              <a:off x="3130" y="3361"/>
              <a:ext cx="698" cy="291"/>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400" dirty="0">
                  <a:latin typeface="Times New Roman" panose="02020603050405020304" pitchFamily="18" charset="0"/>
                </a:rPr>
                <a:t>执行周期</a:t>
              </a:r>
              <a:endParaRPr lang="zh-CN" altLang="en-US" sz="2400" dirty="0">
                <a:latin typeface="Times New Roman" panose="02020603050405020304" pitchFamily="18" charset="0"/>
              </a:endParaRPr>
            </a:p>
          </p:txBody>
        </p:sp>
        <p:sp>
          <p:nvSpPr>
            <p:cNvPr id="52239" name="Text Box 14"/>
            <p:cNvSpPr txBox="1"/>
            <p:nvPr/>
          </p:nvSpPr>
          <p:spPr>
            <a:xfrm>
              <a:off x="1680" y="3551"/>
              <a:ext cx="1154" cy="291"/>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400" dirty="0">
                  <a:latin typeface="Times New Roman" panose="02020603050405020304" pitchFamily="18" charset="0"/>
                </a:rPr>
                <a:t>（取指、分析）</a:t>
              </a:r>
              <a:endParaRPr lang="zh-CN" altLang="en-US" sz="2400" dirty="0">
                <a:latin typeface="Times New Roman" panose="02020603050405020304" pitchFamily="18" charset="0"/>
              </a:endParaRPr>
            </a:p>
          </p:txBody>
        </p:sp>
        <p:sp>
          <p:nvSpPr>
            <p:cNvPr id="52240" name="Text Box 15"/>
            <p:cNvSpPr txBox="1"/>
            <p:nvPr/>
          </p:nvSpPr>
          <p:spPr>
            <a:xfrm>
              <a:off x="2976" y="3551"/>
              <a:ext cx="1002" cy="291"/>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400" dirty="0">
                  <a:latin typeface="Times New Roman" panose="02020603050405020304" pitchFamily="18" charset="0"/>
                </a:rPr>
                <a:t>（执行指令）</a:t>
              </a:r>
              <a:endParaRPr lang="zh-CN" altLang="en-US" sz="2400" dirty="0">
                <a:latin typeface="Times New Roman" panose="02020603050405020304" pitchFamily="18" charset="0"/>
              </a:endParaRPr>
            </a:p>
          </p:txBody>
        </p:sp>
        <p:sp>
          <p:nvSpPr>
            <p:cNvPr id="52241" name="Line 16"/>
            <p:cNvSpPr/>
            <p:nvPr/>
          </p:nvSpPr>
          <p:spPr>
            <a:xfrm>
              <a:off x="1680" y="3410"/>
              <a:ext cx="2448" cy="0"/>
            </a:xfrm>
            <a:prstGeom prst="line">
              <a:avLst/>
            </a:prstGeom>
            <a:ln w="57150" cap="flat" cmpd="sng">
              <a:solidFill>
                <a:srgbClr val="FFFF00"/>
              </a:solidFill>
              <a:prstDash val="solid"/>
              <a:headEnd type="none" w="med" len="med"/>
              <a:tailEnd type="none" w="med" len="med"/>
            </a:ln>
          </p:spPr>
        </p:sp>
        <p:sp>
          <p:nvSpPr>
            <p:cNvPr id="4376593" name="Line 17"/>
            <p:cNvSpPr>
              <a:spLocks noChangeShapeType="1"/>
            </p:cNvSpPr>
            <p:nvPr/>
          </p:nvSpPr>
          <p:spPr bwMode="auto">
            <a:xfrm>
              <a:off x="1680" y="3170"/>
              <a:ext cx="0" cy="960"/>
            </a:xfrm>
            <a:prstGeom prst="line">
              <a:avLst/>
            </a:prstGeom>
            <a:noFill/>
            <a:ln w="28575">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6594" name="Line 18"/>
            <p:cNvSpPr>
              <a:spLocks noChangeShapeType="1"/>
            </p:cNvSpPr>
            <p:nvPr/>
          </p:nvSpPr>
          <p:spPr bwMode="auto">
            <a:xfrm>
              <a:off x="2928" y="3170"/>
              <a:ext cx="0" cy="672"/>
            </a:xfrm>
            <a:prstGeom prst="line">
              <a:avLst/>
            </a:prstGeom>
            <a:noFill/>
            <a:ln w="28575">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76595" name="Line 19"/>
            <p:cNvSpPr>
              <a:spLocks noChangeShapeType="1"/>
            </p:cNvSpPr>
            <p:nvPr/>
          </p:nvSpPr>
          <p:spPr bwMode="auto">
            <a:xfrm>
              <a:off x="4128" y="3170"/>
              <a:ext cx="0" cy="960"/>
            </a:xfrm>
            <a:prstGeom prst="line">
              <a:avLst/>
            </a:prstGeom>
            <a:noFill/>
            <a:ln w="28575">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52245" name="Line 20"/>
            <p:cNvSpPr/>
            <p:nvPr/>
          </p:nvSpPr>
          <p:spPr>
            <a:xfrm flipH="1">
              <a:off x="1680" y="3506"/>
              <a:ext cx="240" cy="0"/>
            </a:xfrm>
            <a:prstGeom prst="line">
              <a:avLst/>
            </a:prstGeom>
            <a:ln w="28575" cap="flat" cmpd="sng">
              <a:solidFill>
                <a:schemeClr val="tx1"/>
              </a:solidFill>
              <a:prstDash val="solid"/>
              <a:headEnd type="none" w="med" len="med"/>
              <a:tailEnd type="stealth" w="med" len="med"/>
            </a:ln>
          </p:spPr>
        </p:sp>
        <p:sp>
          <p:nvSpPr>
            <p:cNvPr id="52246" name="Line 21"/>
            <p:cNvSpPr/>
            <p:nvPr/>
          </p:nvSpPr>
          <p:spPr>
            <a:xfrm flipH="1">
              <a:off x="2928" y="3506"/>
              <a:ext cx="240" cy="0"/>
            </a:xfrm>
            <a:prstGeom prst="line">
              <a:avLst/>
            </a:prstGeom>
            <a:ln w="28575" cap="flat" cmpd="sng">
              <a:solidFill>
                <a:schemeClr val="tx1"/>
              </a:solidFill>
              <a:prstDash val="solid"/>
              <a:headEnd type="none" w="med" len="med"/>
              <a:tailEnd type="stealth" w="med" len="med"/>
            </a:ln>
          </p:spPr>
        </p:sp>
        <p:sp>
          <p:nvSpPr>
            <p:cNvPr id="52247" name="Line 22"/>
            <p:cNvSpPr/>
            <p:nvPr/>
          </p:nvSpPr>
          <p:spPr>
            <a:xfrm rot="-10800000" flipH="1">
              <a:off x="3888" y="3506"/>
              <a:ext cx="240" cy="0"/>
            </a:xfrm>
            <a:prstGeom prst="line">
              <a:avLst/>
            </a:prstGeom>
            <a:ln w="28575" cap="flat" cmpd="sng">
              <a:solidFill>
                <a:schemeClr val="tx1"/>
              </a:solidFill>
              <a:prstDash val="solid"/>
              <a:headEnd type="none" w="med" len="med"/>
              <a:tailEnd type="stealth" w="med" len="med"/>
            </a:ln>
          </p:spPr>
        </p:sp>
        <p:sp>
          <p:nvSpPr>
            <p:cNvPr id="52248" name="Line 23"/>
            <p:cNvSpPr/>
            <p:nvPr/>
          </p:nvSpPr>
          <p:spPr>
            <a:xfrm rot="-10800000" flipH="1">
              <a:off x="2688" y="3506"/>
              <a:ext cx="240" cy="0"/>
            </a:xfrm>
            <a:prstGeom prst="line">
              <a:avLst/>
            </a:prstGeom>
            <a:ln w="28575" cap="flat" cmpd="sng">
              <a:solidFill>
                <a:schemeClr val="tx1"/>
              </a:solidFill>
              <a:prstDash val="solid"/>
              <a:headEnd type="none" w="med" len="med"/>
              <a:tailEnd type="stealth" w="med" len="med"/>
            </a:ln>
          </p:spPr>
        </p:sp>
        <p:sp>
          <p:nvSpPr>
            <p:cNvPr id="52249" name="Text Box 24"/>
            <p:cNvSpPr txBox="1"/>
            <p:nvPr/>
          </p:nvSpPr>
          <p:spPr>
            <a:xfrm>
              <a:off x="2514" y="3839"/>
              <a:ext cx="799" cy="33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800" dirty="0">
                  <a:solidFill>
                    <a:srgbClr val="F7F727"/>
                  </a:solidFill>
                  <a:latin typeface="Times New Roman" panose="02020603050405020304" pitchFamily="18" charset="0"/>
                </a:rPr>
                <a:t>指令周期</a:t>
              </a:r>
              <a:endParaRPr lang="zh-CN" altLang="en-US" sz="2800" dirty="0">
                <a:solidFill>
                  <a:srgbClr val="F7F727"/>
                </a:solidFill>
                <a:latin typeface="Times New Roman" panose="02020603050405020304" pitchFamily="18" charset="0"/>
              </a:endParaRPr>
            </a:p>
          </p:txBody>
        </p:sp>
        <p:sp>
          <p:nvSpPr>
            <p:cNvPr id="52250" name="Line 25"/>
            <p:cNvSpPr/>
            <p:nvPr/>
          </p:nvSpPr>
          <p:spPr>
            <a:xfrm>
              <a:off x="3360" y="3986"/>
              <a:ext cx="768" cy="0"/>
            </a:xfrm>
            <a:prstGeom prst="line">
              <a:avLst/>
            </a:prstGeom>
            <a:ln w="38100" cap="flat" cmpd="sng">
              <a:solidFill>
                <a:schemeClr val="tx2"/>
              </a:solidFill>
              <a:prstDash val="solid"/>
              <a:headEnd type="none" w="med" len="med"/>
              <a:tailEnd type="stealth" w="med" len="med"/>
            </a:ln>
          </p:spPr>
        </p:sp>
        <p:sp>
          <p:nvSpPr>
            <p:cNvPr id="52251" name="Line 26"/>
            <p:cNvSpPr/>
            <p:nvPr/>
          </p:nvSpPr>
          <p:spPr>
            <a:xfrm rot="10800000">
              <a:off x="1680" y="3986"/>
              <a:ext cx="768" cy="0"/>
            </a:xfrm>
            <a:prstGeom prst="line">
              <a:avLst/>
            </a:prstGeom>
            <a:ln w="38100" cap="flat" cmpd="sng">
              <a:solidFill>
                <a:schemeClr val="tx2"/>
              </a:solidFill>
              <a:prstDash val="solid"/>
              <a:headEnd type="none" w="med" len="med"/>
              <a:tailEnd type="stealth" w="med" len="med"/>
            </a:ln>
          </p:spPr>
        </p:sp>
      </p:grpSp>
      <p:sp>
        <p:nvSpPr>
          <p:cNvPr id="4376603" name="Rectangle 27"/>
          <p:cNvSpPr>
            <a:spLocks noGrp="1" noChangeArrowheads="1"/>
          </p:cNvSpPr>
          <p:nvPr>
            <p:ph type="title"/>
          </p:nvPr>
        </p:nvSpPr>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a:t>
            </a:r>
            <a:r>
              <a:rPr kumimoji="1"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指令执行过程</a:t>
            </a:r>
            <a:endParaRPr kumimoji="1" lang="en-US" altLang="zh-CN"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endParaRPr>
          </a:p>
        </p:txBody>
      </p:sp>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76579"/>
                                        </p:tgtEl>
                                        <p:attrNameLst>
                                          <p:attrName>style.visibility</p:attrName>
                                        </p:attrNameLst>
                                      </p:cBhvr>
                                      <p:to>
                                        <p:strVal val="visible"/>
                                      </p:to>
                                    </p:set>
                                    <p:animEffect transition="in" filter="blinds(horizontal)">
                                      <p:cBhvr>
                                        <p:cTn id="7" dur="500"/>
                                        <p:tgtEl>
                                          <p:spTgt spid="437657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4376580"/>
                                        </p:tgtEl>
                                        <p:attrNameLst>
                                          <p:attrName>style.visibility</p:attrName>
                                        </p:attrNameLst>
                                      </p:cBhvr>
                                      <p:to>
                                        <p:strVal val="visible"/>
                                      </p:to>
                                    </p:set>
                                    <p:animEffect transition="in" filter="barn(outHorizontal)">
                                      <p:cBhvr>
                                        <p:cTn id="12" dur="500"/>
                                        <p:tgtEl>
                                          <p:spTgt spid="437658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376582"/>
                                        </p:tgtEl>
                                        <p:attrNameLst>
                                          <p:attrName>style.visibility</p:attrName>
                                        </p:attrNameLst>
                                      </p:cBhvr>
                                      <p:to>
                                        <p:strVal val="visible"/>
                                      </p:to>
                                    </p:set>
                                    <p:animEffect transition="in" filter="blinds(horizontal)">
                                      <p:cBhvr>
                                        <p:cTn id="17" dur="500"/>
                                        <p:tgtEl>
                                          <p:spTgt spid="437658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376581"/>
                                        </p:tgtEl>
                                        <p:attrNameLst>
                                          <p:attrName>style.visibility</p:attrName>
                                        </p:attrNameLst>
                                      </p:cBhvr>
                                      <p:to>
                                        <p:strVal val="visible"/>
                                      </p:to>
                                    </p:set>
                                    <p:animEffect transition="in" filter="blinds(horizontal)">
                                      <p:cBhvr>
                                        <p:cTn id="22" dur="500"/>
                                        <p:tgtEl>
                                          <p:spTgt spid="437658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376583"/>
                                        </p:tgtEl>
                                        <p:attrNameLst>
                                          <p:attrName>style.visibility</p:attrName>
                                        </p:attrNameLst>
                                      </p:cBhvr>
                                      <p:to>
                                        <p:strVal val="visible"/>
                                      </p:to>
                                    </p:set>
                                    <p:animEffect transition="in" filter="blinds(horizontal)">
                                      <p:cBhvr>
                                        <p:cTn id="27" dur="500"/>
                                        <p:tgtEl>
                                          <p:spTgt spid="437658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376584"/>
                                        </p:tgtEl>
                                        <p:attrNameLst>
                                          <p:attrName>style.visibility</p:attrName>
                                        </p:attrNameLst>
                                      </p:cBhvr>
                                      <p:to>
                                        <p:strVal val="visible"/>
                                      </p:to>
                                    </p:set>
                                    <p:animEffect transition="in" filter="blinds(horizontal)">
                                      <p:cBhvr>
                                        <p:cTn id="32" dur="500"/>
                                        <p:tgtEl>
                                          <p:spTgt spid="4376584"/>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arn(outVertical)">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6579" grpId="0"/>
      <p:bldP spid="4376580" grpId="0" animBg="1"/>
      <p:bldP spid="4376581" grpId="0"/>
      <p:bldP spid="4376582" grpId="0"/>
      <p:bldP spid="4376583" grpId="0"/>
      <p:bldP spid="437658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ChangeArrowheads="1"/>
          </p:cNvSpPr>
          <p:nvPr/>
        </p:nvSpPr>
        <p:spPr bwMode="auto">
          <a:xfrm>
            <a:off x="768350" y="1325563"/>
            <a:ext cx="5062538" cy="647700"/>
          </a:xfrm>
          <a:prstGeom prst="rect">
            <a:avLst/>
          </a:prstGeom>
          <a:noFill/>
          <a:ln>
            <a:noFill/>
          </a:ln>
        </p:spPr>
        <p:txBody>
          <a:bodyPr wrap="none" lIns="0" rIns="0" anchor="ctr"/>
          <a:lstStyle/>
          <a:p>
            <a:pPr marL="460375" marR="0" lvl="0" indent="-460375" algn="l" defTabSz="914400" rtl="0" eaLnBrk="1" fontAlgn="base" latinLnBrk="0" hangingPunct="1">
              <a:lnSpc>
                <a:spcPct val="110000"/>
              </a:lnSpc>
              <a:spcBef>
                <a:spcPts val="600"/>
              </a:spcBef>
              <a:spcAft>
                <a:spcPct val="0"/>
              </a:spcAft>
              <a:buClr>
                <a:schemeClr val="tx2"/>
              </a:buClr>
              <a:buSzTx/>
              <a:buFontTx/>
              <a:buBlip>
                <a:blip r:embed="rId1"/>
              </a:buBlip>
              <a:defRPr/>
            </a:pPr>
            <a:r>
              <a:rPr kumimoji="1"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四类指令的指令周期</a:t>
            </a:r>
            <a:endParaRPr kumimoji="1"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grpSp>
        <p:nvGrpSpPr>
          <p:cNvPr id="2" name="Group 3"/>
          <p:cNvGrpSpPr/>
          <p:nvPr/>
        </p:nvGrpSpPr>
        <p:grpSpPr>
          <a:xfrm>
            <a:off x="4017963" y="2117725"/>
            <a:ext cx="2971800" cy="568325"/>
            <a:chOff x="2304" y="1044"/>
            <a:chExt cx="1872" cy="358"/>
          </a:xfrm>
        </p:grpSpPr>
        <p:sp>
          <p:nvSpPr>
            <p:cNvPr id="54308" name="Line 4"/>
            <p:cNvSpPr/>
            <p:nvPr/>
          </p:nvSpPr>
          <p:spPr>
            <a:xfrm>
              <a:off x="2304" y="1114"/>
              <a:ext cx="0" cy="288"/>
            </a:xfrm>
            <a:prstGeom prst="line">
              <a:avLst/>
            </a:prstGeom>
            <a:ln w="28575" cap="flat" cmpd="sng">
              <a:solidFill>
                <a:schemeClr val="tx1"/>
              </a:solidFill>
              <a:prstDash val="solid"/>
              <a:headEnd type="none" w="med" len="med"/>
              <a:tailEnd type="none" w="med" len="med"/>
            </a:ln>
          </p:spPr>
        </p:sp>
        <p:sp>
          <p:nvSpPr>
            <p:cNvPr id="54309" name="Line 5"/>
            <p:cNvSpPr/>
            <p:nvPr/>
          </p:nvSpPr>
          <p:spPr>
            <a:xfrm>
              <a:off x="3240" y="1114"/>
              <a:ext cx="0" cy="288"/>
            </a:xfrm>
            <a:prstGeom prst="line">
              <a:avLst/>
            </a:prstGeom>
            <a:ln w="28575" cap="flat" cmpd="sng">
              <a:solidFill>
                <a:schemeClr val="tx1"/>
              </a:solidFill>
              <a:prstDash val="solid"/>
              <a:headEnd type="none" w="med" len="med"/>
              <a:tailEnd type="none" w="med" len="med"/>
            </a:ln>
          </p:spPr>
        </p:sp>
        <p:sp>
          <p:nvSpPr>
            <p:cNvPr id="54310" name="Line 6"/>
            <p:cNvSpPr/>
            <p:nvPr/>
          </p:nvSpPr>
          <p:spPr>
            <a:xfrm>
              <a:off x="4176" y="1114"/>
              <a:ext cx="0" cy="288"/>
            </a:xfrm>
            <a:prstGeom prst="line">
              <a:avLst/>
            </a:prstGeom>
            <a:ln w="28575" cap="flat" cmpd="sng">
              <a:solidFill>
                <a:schemeClr val="tx1"/>
              </a:solidFill>
              <a:prstDash val="solid"/>
              <a:headEnd type="none" w="med" len="med"/>
              <a:tailEnd type="none" w="med" len="med"/>
            </a:ln>
          </p:spPr>
        </p:sp>
        <p:sp>
          <p:nvSpPr>
            <p:cNvPr id="54311" name="Line 7"/>
            <p:cNvSpPr/>
            <p:nvPr/>
          </p:nvSpPr>
          <p:spPr>
            <a:xfrm>
              <a:off x="2304" y="1306"/>
              <a:ext cx="960" cy="0"/>
            </a:xfrm>
            <a:prstGeom prst="line">
              <a:avLst/>
            </a:prstGeom>
            <a:ln w="28575" cap="flat" cmpd="sng">
              <a:solidFill>
                <a:schemeClr val="tx1"/>
              </a:solidFill>
              <a:prstDash val="solid"/>
              <a:headEnd type="stealth" w="med" len="med"/>
              <a:tailEnd type="stealth" w="med" len="med"/>
            </a:ln>
          </p:spPr>
        </p:sp>
        <p:sp>
          <p:nvSpPr>
            <p:cNvPr id="54312" name="Line 8"/>
            <p:cNvSpPr/>
            <p:nvPr/>
          </p:nvSpPr>
          <p:spPr>
            <a:xfrm>
              <a:off x="3216" y="1306"/>
              <a:ext cx="960" cy="0"/>
            </a:xfrm>
            <a:prstGeom prst="line">
              <a:avLst/>
            </a:prstGeom>
            <a:ln w="28575" cap="flat" cmpd="sng">
              <a:solidFill>
                <a:schemeClr val="tx1"/>
              </a:solidFill>
              <a:prstDash val="solid"/>
              <a:headEnd type="stealth" w="med" len="med"/>
              <a:tailEnd type="stealth" w="med" len="med"/>
            </a:ln>
          </p:spPr>
        </p:sp>
        <p:sp>
          <p:nvSpPr>
            <p:cNvPr id="54313" name="Text Box 9"/>
            <p:cNvSpPr txBox="1"/>
            <p:nvPr/>
          </p:nvSpPr>
          <p:spPr>
            <a:xfrm>
              <a:off x="2321" y="1044"/>
              <a:ext cx="884" cy="288"/>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latin typeface="Times New Roman" panose="02020603050405020304" pitchFamily="18" charset="0"/>
                </a:rPr>
                <a:t>取指周期</a:t>
              </a:r>
              <a:endParaRPr lang="zh-CN" altLang="en-US" sz="2400" dirty="0">
                <a:latin typeface="Times New Roman" panose="02020603050405020304" pitchFamily="18" charset="0"/>
              </a:endParaRPr>
            </a:p>
          </p:txBody>
        </p:sp>
        <p:sp>
          <p:nvSpPr>
            <p:cNvPr id="54314" name="Text Box 10"/>
            <p:cNvSpPr txBox="1"/>
            <p:nvPr/>
          </p:nvSpPr>
          <p:spPr>
            <a:xfrm>
              <a:off x="3221" y="1044"/>
              <a:ext cx="884" cy="288"/>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latin typeface="Times New Roman" panose="02020603050405020304" pitchFamily="18" charset="0"/>
                </a:rPr>
                <a:t>执行周期</a:t>
              </a:r>
              <a:endParaRPr lang="zh-CN" altLang="en-US" sz="2400" dirty="0">
                <a:latin typeface="Times New Roman" panose="02020603050405020304" pitchFamily="18" charset="0"/>
              </a:endParaRPr>
            </a:p>
          </p:txBody>
        </p:sp>
      </p:grpSp>
      <p:grpSp>
        <p:nvGrpSpPr>
          <p:cNvPr id="3" name="Group 11"/>
          <p:cNvGrpSpPr/>
          <p:nvPr/>
        </p:nvGrpSpPr>
        <p:grpSpPr>
          <a:xfrm>
            <a:off x="4017963" y="3152775"/>
            <a:ext cx="2971800" cy="568325"/>
            <a:chOff x="2304" y="1696"/>
            <a:chExt cx="1872" cy="358"/>
          </a:xfrm>
        </p:grpSpPr>
        <p:sp>
          <p:nvSpPr>
            <p:cNvPr id="54301" name="Line 12"/>
            <p:cNvSpPr/>
            <p:nvPr/>
          </p:nvSpPr>
          <p:spPr>
            <a:xfrm>
              <a:off x="2304" y="1766"/>
              <a:ext cx="0" cy="288"/>
            </a:xfrm>
            <a:prstGeom prst="line">
              <a:avLst/>
            </a:prstGeom>
            <a:ln w="28575" cap="flat" cmpd="sng">
              <a:solidFill>
                <a:schemeClr val="tx1"/>
              </a:solidFill>
              <a:prstDash val="solid"/>
              <a:headEnd type="none" w="med" len="med"/>
              <a:tailEnd type="none" w="med" len="med"/>
            </a:ln>
          </p:spPr>
        </p:sp>
        <p:sp>
          <p:nvSpPr>
            <p:cNvPr id="54302" name="Line 13"/>
            <p:cNvSpPr/>
            <p:nvPr/>
          </p:nvSpPr>
          <p:spPr>
            <a:xfrm>
              <a:off x="3240" y="1766"/>
              <a:ext cx="0" cy="288"/>
            </a:xfrm>
            <a:prstGeom prst="line">
              <a:avLst/>
            </a:prstGeom>
            <a:ln w="28575" cap="flat" cmpd="sng">
              <a:solidFill>
                <a:schemeClr val="tx1"/>
              </a:solidFill>
              <a:prstDash val="solid"/>
              <a:headEnd type="none" w="med" len="med"/>
              <a:tailEnd type="none" w="med" len="med"/>
            </a:ln>
          </p:spPr>
        </p:sp>
        <p:sp>
          <p:nvSpPr>
            <p:cNvPr id="54303" name="Line 14"/>
            <p:cNvSpPr/>
            <p:nvPr/>
          </p:nvSpPr>
          <p:spPr>
            <a:xfrm>
              <a:off x="4176" y="1766"/>
              <a:ext cx="0" cy="288"/>
            </a:xfrm>
            <a:prstGeom prst="line">
              <a:avLst/>
            </a:prstGeom>
            <a:ln w="28575" cap="flat" cmpd="sng">
              <a:solidFill>
                <a:schemeClr val="tx1"/>
              </a:solidFill>
              <a:prstDash val="solid"/>
              <a:headEnd type="none" w="med" len="med"/>
              <a:tailEnd type="none" w="med" len="med"/>
            </a:ln>
          </p:spPr>
        </p:sp>
        <p:sp>
          <p:nvSpPr>
            <p:cNvPr id="54304" name="Line 15"/>
            <p:cNvSpPr/>
            <p:nvPr/>
          </p:nvSpPr>
          <p:spPr>
            <a:xfrm>
              <a:off x="2304" y="1958"/>
              <a:ext cx="960" cy="0"/>
            </a:xfrm>
            <a:prstGeom prst="line">
              <a:avLst/>
            </a:prstGeom>
            <a:ln w="28575" cap="flat" cmpd="sng">
              <a:solidFill>
                <a:schemeClr val="tx1"/>
              </a:solidFill>
              <a:prstDash val="solid"/>
              <a:headEnd type="stealth" w="med" len="med"/>
              <a:tailEnd type="stealth" w="med" len="med"/>
            </a:ln>
          </p:spPr>
        </p:sp>
        <p:sp>
          <p:nvSpPr>
            <p:cNvPr id="54305" name="Line 16"/>
            <p:cNvSpPr/>
            <p:nvPr/>
          </p:nvSpPr>
          <p:spPr>
            <a:xfrm>
              <a:off x="3216" y="1958"/>
              <a:ext cx="960" cy="0"/>
            </a:xfrm>
            <a:prstGeom prst="line">
              <a:avLst/>
            </a:prstGeom>
            <a:ln w="28575" cap="flat" cmpd="sng">
              <a:solidFill>
                <a:schemeClr val="tx1"/>
              </a:solidFill>
              <a:prstDash val="solid"/>
              <a:headEnd type="stealth" w="med" len="med"/>
              <a:tailEnd type="stealth" w="med" len="med"/>
            </a:ln>
          </p:spPr>
        </p:sp>
        <p:sp>
          <p:nvSpPr>
            <p:cNvPr id="54306" name="Text Box 17"/>
            <p:cNvSpPr txBox="1"/>
            <p:nvPr/>
          </p:nvSpPr>
          <p:spPr>
            <a:xfrm>
              <a:off x="2321" y="1696"/>
              <a:ext cx="884" cy="288"/>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latin typeface="Times New Roman" panose="02020603050405020304" pitchFamily="18" charset="0"/>
                </a:rPr>
                <a:t>取指周期</a:t>
              </a:r>
              <a:endParaRPr lang="zh-CN" altLang="en-US" sz="2400" dirty="0">
                <a:latin typeface="Times New Roman" panose="02020603050405020304" pitchFamily="18" charset="0"/>
              </a:endParaRPr>
            </a:p>
          </p:txBody>
        </p:sp>
        <p:sp>
          <p:nvSpPr>
            <p:cNvPr id="54307" name="Text Box 18"/>
            <p:cNvSpPr txBox="1"/>
            <p:nvPr/>
          </p:nvSpPr>
          <p:spPr>
            <a:xfrm>
              <a:off x="3221" y="1696"/>
              <a:ext cx="884" cy="288"/>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latin typeface="Times New Roman" panose="02020603050405020304" pitchFamily="18" charset="0"/>
                </a:rPr>
                <a:t>执行周期</a:t>
              </a:r>
              <a:endParaRPr lang="zh-CN" altLang="en-US" sz="2400" dirty="0">
                <a:latin typeface="Times New Roman" panose="02020603050405020304" pitchFamily="18" charset="0"/>
              </a:endParaRPr>
            </a:p>
          </p:txBody>
        </p:sp>
      </p:grpSp>
      <p:grpSp>
        <p:nvGrpSpPr>
          <p:cNvPr id="4" name="Group 19"/>
          <p:cNvGrpSpPr/>
          <p:nvPr/>
        </p:nvGrpSpPr>
        <p:grpSpPr>
          <a:xfrm>
            <a:off x="4017963" y="5226050"/>
            <a:ext cx="2971800" cy="568325"/>
            <a:chOff x="2304" y="3002"/>
            <a:chExt cx="1872" cy="358"/>
          </a:xfrm>
        </p:grpSpPr>
        <p:sp>
          <p:nvSpPr>
            <p:cNvPr id="54294" name="Line 20"/>
            <p:cNvSpPr/>
            <p:nvPr/>
          </p:nvSpPr>
          <p:spPr>
            <a:xfrm>
              <a:off x="2304" y="3072"/>
              <a:ext cx="0" cy="288"/>
            </a:xfrm>
            <a:prstGeom prst="line">
              <a:avLst/>
            </a:prstGeom>
            <a:ln w="28575" cap="flat" cmpd="sng">
              <a:solidFill>
                <a:schemeClr val="tx1"/>
              </a:solidFill>
              <a:prstDash val="solid"/>
              <a:headEnd type="none" w="med" len="med"/>
              <a:tailEnd type="none" w="med" len="med"/>
            </a:ln>
          </p:spPr>
        </p:sp>
        <p:sp>
          <p:nvSpPr>
            <p:cNvPr id="54295" name="Line 21"/>
            <p:cNvSpPr/>
            <p:nvPr/>
          </p:nvSpPr>
          <p:spPr>
            <a:xfrm>
              <a:off x="3240" y="3072"/>
              <a:ext cx="0" cy="288"/>
            </a:xfrm>
            <a:prstGeom prst="line">
              <a:avLst/>
            </a:prstGeom>
            <a:ln w="28575" cap="flat" cmpd="sng">
              <a:solidFill>
                <a:schemeClr val="tx1"/>
              </a:solidFill>
              <a:prstDash val="solid"/>
              <a:headEnd type="none" w="med" len="med"/>
              <a:tailEnd type="none" w="med" len="med"/>
            </a:ln>
          </p:spPr>
        </p:sp>
        <p:sp>
          <p:nvSpPr>
            <p:cNvPr id="54296" name="Line 22"/>
            <p:cNvSpPr/>
            <p:nvPr/>
          </p:nvSpPr>
          <p:spPr>
            <a:xfrm>
              <a:off x="4176" y="3072"/>
              <a:ext cx="0" cy="288"/>
            </a:xfrm>
            <a:prstGeom prst="line">
              <a:avLst/>
            </a:prstGeom>
            <a:ln w="28575" cap="flat" cmpd="sng">
              <a:solidFill>
                <a:schemeClr val="tx1"/>
              </a:solidFill>
              <a:prstDash val="solid"/>
              <a:headEnd type="none" w="med" len="med"/>
              <a:tailEnd type="none" w="med" len="med"/>
            </a:ln>
          </p:spPr>
        </p:sp>
        <p:sp>
          <p:nvSpPr>
            <p:cNvPr id="54297" name="Line 23"/>
            <p:cNvSpPr/>
            <p:nvPr/>
          </p:nvSpPr>
          <p:spPr>
            <a:xfrm>
              <a:off x="2304" y="3264"/>
              <a:ext cx="960" cy="0"/>
            </a:xfrm>
            <a:prstGeom prst="line">
              <a:avLst/>
            </a:prstGeom>
            <a:ln w="28575" cap="flat" cmpd="sng">
              <a:solidFill>
                <a:schemeClr val="tx1"/>
              </a:solidFill>
              <a:prstDash val="solid"/>
              <a:headEnd type="stealth" w="med" len="med"/>
              <a:tailEnd type="stealth" w="med" len="med"/>
            </a:ln>
          </p:spPr>
        </p:sp>
        <p:sp>
          <p:nvSpPr>
            <p:cNvPr id="54298" name="Line 24"/>
            <p:cNvSpPr/>
            <p:nvPr/>
          </p:nvSpPr>
          <p:spPr>
            <a:xfrm>
              <a:off x="3216" y="3264"/>
              <a:ext cx="960" cy="0"/>
            </a:xfrm>
            <a:prstGeom prst="line">
              <a:avLst/>
            </a:prstGeom>
            <a:ln w="28575" cap="flat" cmpd="sng">
              <a:solidFill>
                <a:schemeClr val="tx1"/>
              </a:solidFill>
              <a:prstDash val="solid"/>
              <a:headEnd type="stealth" w="med" len="med"/>
              <a:tailEnd type="stealth" w="med" len="med"/>
            </a:ln>
          </p:spPr>
        </p:sp>
        <p:sp>
          <p:nvSpPr>
            <p:cNvPr id="54299" name="Text Box 25"/>
            <p:cNvSpPr txBox="1"/>
            <p:nvPr/>
          </p:nvSpPr>
          <p:spPr>
            <a:xfrm>
              <a:off x="2321" y="3002"/>
              <a:ext cx="884" cy="288"/>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latin typeface="Times New Roman" panose="02020603050405020304" pitchFamily="18" charset="0"/>
                </a:rPr>
                <a:t>取指周期</a:t>
              </a:r>
              <a:endParaRPr lang="zh-CN" altLang="en-US" sz="2400" dirty="0">
                <a:latin typeface="Times New Roman" panose="02020603050405020304" pitchFamily="18" charset="0"/>
              </a:endParaRPr>
            </a:p>
          </p:txBody>
        </p:sp>
        <p:sp>
          <p:nvSpPr>
            <p:cNvPr id="54300" name="Text Box 26"/>
            <p:cNvSpPr txBox="1"/>
            <p:nvPr/>
          </p:nvSpPr>
          <p:spPr>
            <a:xfrm>
              <a:off x="3237" y="3002"/>
              <a:ext cx="884" cy="288"/>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latin typeface="Times New Roman" panose="02020603050405020304" pitchFamily="18" charset="0"/>
                </a:rPr>
                <a:t>执行周期</a:t>
              </a:r>
              <a:endParaRPr lang="zh-CN" altLang="en-US" sz="2400" dirty="0">
                <a:latin typeface="Times New Roman" panose="02020603050405020304" pitchFamily="18" charset="0"/>
              </a:endParaRPr>
            </a:p>
          </p:txBody>
        </p:sp>
      </p:grpSp>
      <p:grpSp>
        <p:nvGrpSpPr>
          <p:cNvPr id="5" name="Group 27"/>
          <p:cNvGrpSpPr/>
          <p:nvPr/>
        </p:nvGrpSpPr>
        <p:grpSpPr>
          <a:xfrm>
            <a:off x="4017963" y="4189413"/>
            <a:ext cx="4495800" cy="568325"/>
            <a:chOff x="2304" y="2349"/>
            <a:chExt cx="2832" cy="358"/>
          </a:xfrm>
        </p:grpSpPr>
        <p:sp>
          <p:nvSpPr>
            <p:cNvPr id="54284" name="Line 28"/>
            <p:cNvSpPr/>
            <p:nvPr/>
          </p:nvSpPr>
          <p:spPr>
            <a:xfrm>
              <a:off x="2304" y="2419"/>
              <a:ext cx="0" cy="288"/>
            </a:xfrm>
            <a:prstGeom prst="line">
              <a:avLst/>
            </a:prstGeom>
            <a:ln w="28575" cap="flat" cmpd="sng">
              <a:solidFill>
                <a:schemeClr val="tx1"/>
              </a:solidFill>
              <a:prstDash val="solid"/>
              <a:headEnd type="none" w="med" len="med"/>
              <a:tailEnd type="none" w="med" len="med"/>
            </a:ln>
          </p:spPr>
        </p:sp>
        <p:sp>
          <p:nvSpPr>
            <p:cNvPr id="54285" name="Line 29"/>
            <p:cNvSpPr/>
            <p:nvPr/>
          </p:nvSpPr>
          <p:spPr>
            <a:xfrm>
              <a:off x="3240" y="2419"/>
              <a:ext cx="0" cy="288"/>
            </a:xfrm>
            <a:prstGeom prst="line">
              <a:avLst/>
            </a:prstGeom>
            <a:ln w="28575" cap="flat" cmpd="sng">
              <a:solidFill>
                <a:schemeClr val="tx1"/>
              </a:solidFill>
              <a:prstDash val="solid"/>
              <a:headEnd type="none" w="med" len="med"/>
              <a:tailEnd type="none" w="med" len="med"/>
            </a:ln>
          </p:spPr>
        </p:sp>
        <p:sp>
          <p:nvSpPr>
            <p:cNvPr id="54286" name="Line 30"/>
            <p:cNvSpPr/>
            <p:nvPr/>
          </p:nvSpPr>
          <p:spPr>
            <a:xfrm>
              <a:off x="4176" y="2419"/>
              <a:ext cx="0" cy="288"/>
            </a:xfrm>
            <a:prstGeom prst="line">
              <a:avLst/>
            </a:prstGeom>
            <a:ln w="28575" cap="flat" cmpd="sng">
              <a:solidFill>
                <a:schemeClr val="tx1"/>
              </a:solidFill>
              <a:prstDash val="solid"/>
              <a:headEnd type="none" w="med" len="med"/>
              <a:tailEnd type="none" w="med" len="med"/>
            </a:ln>
          </p:spPr>
        </p:sp>
        <p:sp>
          <p:nvSpPr>
            <p:cNvPr id="54287" name="Line 31"/>
            <p:cNvSpPr/>
            <p:nvPr/>
          </p:nvSpPr>
          <p:spPr>
            <a:xfrm>
              <a:off x="2304" y="2611"/>
              <a:ext cx="960" cy="0"/>
            </a:xfrm>
            <a:prstGeom prst="line">
              <a:avLst/>
            </a:prstGeom>
            <a:ln w="28575" cap="flat" cmpd="sng">
              <a:solidFill>
                <a:schemeClr val="tx1"/>
              </a:solidFill>
              <a:prstDash val="solid"/>
              <a:headEnd type="stealth" w="med" len="med"/>
              <a:tailEnd type="stealth" w="med" len="med"/>
            </a:ln>
          </p:spPr>
        </p:sp>
        <p:sp>
          <p:nvSpPr>
            <p:cNvPr id="54288" name="Line 32"/>
            <p:cNvSpPr/>
            <p:nvPr/>
          </p:nvSpPr>
          <p:spPr>
            <a:xfrm>
              <a:off x="3216" y="2611"/>
              <a:ext cx="960" cy="0"/>
            </a:xfrm>
            <a:prstGeom prst="line">
              <a:avLst/>
            </a:prstGeom>
            <a:ln w="28575" cap="flat" cmpd="sng">
              <a:solidFill>
                <a:schemeClr val="tx1"/>
              </a:solidFill>
              <a:prstDash val="solid"/>
              <a:headEnd type="stealth" w="med" len="med"/>
              <a:tailEnd type="stealth" w="med" len="med"/>
            </a:ln>
          </p:spPr>
        </p:sp>
        <p:sp>
          <p:nvSpPr>
            <p:cNvPr id="54289" name="Text Box 33"/>
            <p:cNvSpPr txBox="1"/>
            <p:nvPr/>
          </p:nvSpPr>
          <p:spPr>
            <a:xfrm>
              <a:off x="2321" y="2349"/>
              <a:ext cx="884" cy="288"/>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latin typeface="Times New Roman" panose="02020603050405020304" pitchFamily="18" charset="0"/>
                </a:rPr>
                <a:t>取指周期</a:t>
              </a:r>
              <a:endParaRPr lang="zh-CN" altLang="en-US" sz="2400" dirty="0">
                <a:latin typeface="Times New Roman" panose="02020603050405020304" pitchFamily="18" charset="0"/>
              </a:endParaRPr>
            </a:p>
          </p:txBody>
        </p:sp>
        <p:sp>
          <p:nvSpPr>
            <p:cNvPr id="54290" name="Text Box 34"/>
            <p:cNvSpPr txBox="1"/>
            <p:nvPr/>
          </p:nvSpPr>
          <p:spPr>
            <a:xfrm>
              <a:off x="3221" y="2349"/>
              <a:ext cx="884" cy="288"/>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latin typeface="Times New Roman" panose="02020603050405020304" pitchFamily="18" charset="0"/>
                </a:rPr>
                <a:t>间址周期</a:t>
              </a:r>
              <a:endParaRPr lang="zh-CN" altLang="en-US" sz="2400" dirty="0">
                <a:latin typeface="Times New Roman" panose="02020603050405020304" pitchFamily="18" charset="0"/>
              </a:endParaRPr>
            </a:p>
          </p:txBody>
        </p:sp>
        <p:sp>
          <p:nvSpPr>
            <p:cNvPr id="54291" name="Line 35"/>
            <p:cNvSpPr/>
            <p:nvPr/>
          </p:nvSpPr>
          <p:spPr>
            <a:xfrm>
              <a:off x="5136" y="2419"/>
              <a:ext cx="0" cy="288"/>
            </a:xfrm>
            <a:prstGeom prst="line">
              <a:avLst/>
            </a:prstGeom>
            <a:ln w="28575" cap="flat" cmpd="sng">
              <a:solidFill>
                <a:schemeClr val="tx1"/>
              </a:solidFill>
              <a:prstDash val="solid"/>
              <a:headEnd type="none" w="med" len="med"/>
              <a:tailEnd type="none" w="med" len="med"/>
            </a:ln>
          </p:spPr>
        </p:sp>
        <p:sp>
          <p:nvSpPr>
            <p:cNvPr id="54292" name="Line 36"/>
            <p:cNvSpPr/>
            <p:nvPr/>
          </p:nvSpPr>
          <p:spPr>
            <a:xfrm>
              <a:off x="4176" y="2611"/>
              <a:ext cx="960" cy="0"/>
            </a:xfrm>
            <a:prstGeom prst="line">
              <a:avLst/>
            </a:prstGeom>
            <a:ln w="28575" cap="flat" cmpd="sng">
              <a:solidFill>
                <a:schemeClr val="tx1"/>
              </a:solidFill>
              <a:prstDash val="solid"/>
              <a:headEnd type="stealth" w="med" len="med"/>
              <a:tailEnd type="stealth" w="med" len="med"/>
            </a:ln>
          </p:spPr>
        </p:sp>
        <p:sp>
          <p:nvSpPr>
            <p:cNvPr id="54293" name="Text Box 37"/>
            <p:cNvSpPr txBox="1"/>
            <p:nvPr/>
          </p:nvSpPr>
          <p:spPr>
            <a:xfrm>
              <a:off x="4211" y="2349"/>
              <a:ext cx="884" cy="288"/>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latin typeface="Times New Roman" panose="02020603050405020304" pitchFamily="18" charset="0"/>
                </a:rPr>
                <a:t>执行周期</a:t>
              </a:r>
              <a:endParaRPr lang="zh-CN" altLang="en-US" sz="2400" dirty="0">
                <a:latin typeface="Times New Roman" panose="02020603050405020304" pitchFamily="18" charset="0"/>
              </a:endParaRPr>
            </a:p>
          </p:txBody>
        </p:sp>
      </p:grpSp>
      <p:sp>
        <p:nvSpPr>
          <p:cNvPr id="902182" name="Text Box 38"/>
          <p:cNvSpPr txBox="1"/>
          <p:nvPr/>
        </p:nvSpPr>
        <p:spPr>
          <a:xfrm>
            <a:off x="1022350" y="2197100"/>
            <a:ext cx="2760663" cy="519113"/>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solidFill>
                  <a:srgbClr val="FFFF00"/>
                </a:solidFill>
              </a:rPr>
              <a:t>非访存 </a:t>
            </a:r>
            <a:r>
              <a:rPr lang="zh-CN" altLang="en-US" sz="2800" dirty="0"/>
              <a:t>指令周期</a:t>
            </a:r>
            <a:endParaRPr lang="zh-CN" altLang="en-US" sz="2800" dirty="0"/>
          </a:p>
        </p:txBody>
      </p:sp>
      <p:sp>
        <p:nvSpPr>
          <p:cNvPr id="902183" name="Text Box 39"/>
          <p:cNvSpPr txBox="1"/>
          <p:nvPr/>
        </p:nvSpPr>
        <p:spPr>
          <a:xfrm>
            <a:off x="793750" y="3171825"/>
            <a:ext cx="3143250" cy="519113"/>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solidFill>
                  <a:srgbClr val="FFFF00"/>
                </a:solidFill>
              </a:rPr>
              <a:t>直接访存 </a:t>
            </a:r>
            <a:r>
              <a:rPr lang="zh-CN" altLang="en-US" sz="2800" dirty="0"/>
              <a:t>指令周期</a:t>
            </a:r>
            <a:endParaRPr lang="zh-CN" altLang="en-US" sz="2800" dirty="0"/>
          </a:p>
        </p:txBody>
      </p:sp>
      <p:sp>
        <p:nvSpPr>
          <p:cNvPr id="902184" name="Text Box 40"/>
          <p:cNvSpPr txBox="1"/>
          <p:nvPr/>
        </p:nvSpPr>
        <p:spPr>
          <a:xfrm>
            <a:off x="793750" y="4254500"/>
            <a:ext cx="3116263" cy="519113"/>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solidFill>
                  <a:srgbClr val="FFFF00"/>
                </a:solidFill>
              </a:rPr>
              <a:t>间接访存 </a:t>
            </a:r>
            <a:r>
              <a:rPr lang="zh-CN" altLang="en-US" sz="2800" dirty="0"/>
              <a:t>指令周期</a:t>
            </a:r>
            <a:endParaRPr lang="zh-CN" altLang="en-US" sz="2800" dirty="0"/>
          </a:p>
        </p:txBody>
      </p:sp>
      <p:sp>
        <p:nvSpPr>
          <p:cNvPr id="902185" name="Text Box 41"/>
          <p:cNvSpPr txBox="1"/>
          <p:nvPr/>
        </p:nvSpPr>
        <p:spPr>
          <a:xfrm>
            <a:off x="1403350" y="5245100"/>
            <a:ext cx="2405063" cy="519113"/>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solidFill>
                  <a:srgbClr val="FFFF00"/>
                </a:solidFill>
              </a:rPr>
              <a:t>转移</a:t>
            </a:r>
            <a:r>
              <a:rPr lang="zh-CN" altLang="en-US" sz="2800" dirty="0">
                <a:solidFill>
                  <a:schemeClr val="folHlink"/>
                </a:solidFill>
              </a:rPr>
              <a:t> </a:t>
            </a:r>
            <a:r>
              <a:rPr lang="zh-CN" altLang="en-US" sz="2800" dirty="0"/>
              <a:t>指令周期</a:t>
            </a:r>
            <a:endParaRPr lang="zh-CN" altLang="en-US" sz="2800" dirty="0"/>
          </a:p>
        </p:txBody>
      </p:sp>
      <p:sp>
        <p:nvSpPr>
          <p:cNvPr id="902186" name="Rectangle 42"/>
          <p:cNvSpPr>
            <a:spLocks noGrp="1" noChangeArrowheads="1"/>
          </p:cNvSpPr>
          <p:nvPr>
            <p:ph type="title"/>
          </p:nvPr>
        </p:nvSpPr>
        <p:spPr>
          <a:xfrm>
            <a:off x="768350" y="257175"/>
            <a:ext cx="8162925" cy="73342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回顾</a:t>
            </a:r>
            <a:r>
              <a:rPr kumimoji="0" lang="en-US" altLang="zh-CN"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a:t>
            </a: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指令周期</a:t>
            </a:r>
            <a:endParaRPr kumimoji="0" lang="zh-CN" altLang="en-US"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02182"/>
                                        </p:tgtEl>
                                        <p:attrNameLst>
                                          <p:attrName>style.visibility</p:attrName>
                                        </p:attrNameLst>
                                      </p:cBhvr>
                                      <p:to>
                                        <p:strVal val="visible"/>
                                      </p:to>
                                    </p:set>
                                    <p:animEffect transition="in" filter="blinds(horizontal)">
                                      <p:cBhvr>
                                        <p:cTn id="7" dur="500"/>
                                        <p:tgtEl>
                                          <p:spTgt spid="90218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02183"/>
                                        </p:tgtEl>
                                        <p:attrNameLst>
                                          <p:attrName>style.visibility</p:attrName>
                                        </p:attrNameLst>
                                      </p:cBhvr>
                                      <p:to>
                                        <p:strVal val="visible"/>
                                      </p:to>
                                    </p:set>
                                    <p:animEffect transition="in" filter="blinds(horizontal)">
                                      <p:cBhvr>
                                        <p:cTn id="17" dur="500"/>
                                        <p:tgtEl>
                                          <p:spTgt spid="90218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outVertic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02184"/>
                                        </p:tgtEl>
                                        <p:attrNameLst>
                                          <p:attrName>style.visibility</p:attrName>
                                        </p:attrNameLst>
                                      </p:cBhvr>
                                      <p:to>
                                        <p:strVal val="visible"/>
                                      </p:to>
                                    </p:set>
                                    <p:animEffect transition="in" filter="blinds(horizontal)">
                                      <p:cBhvr>
                                        <p:cTn id="27" dur="500"/>
                                        <p:tgtEl>
                                          <p:spTgt spid="90218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arn(outVertic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02185"/>
                                        </p:tgtEl>
                                        <p:attrNameLst>
                                          <p:attrName>style.visibility</p:attrName>
                                        </p:attrNameLst>
                                      </p:cBhvr>
                                      <p:to>
                                        <p:strVal val="visible"/>
                                      </p:to>
                                    </p:set>
                                    <p:animEffect transition="in" filter="blinds(horizontal)">
                                      <p:cBhvr>
                                        <p:cTn id="37" dur="500"/>
                                        <p:tgtEl>
                                          <p:spTgt spid="902185"/>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arn(outVertical)">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2182" grpId="0"/>
      <p:bldP spid="902183" grpId="0"/>
      <p:bldP spid="902184" grpId="0"/>
      <p:bldP spid="90218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bwMode="auto">
          <a:xfrm>
            <a:off x="0" y="0"/>
            <a:ext cx="9144000" cy="6845300"/>
            <a:chOff x="0" y="0"/>
            <a:chExt cx="5760" cy="4312"/>
          </a:xfrm>
          <a:solidFill>
            <a:schemeClr val="tx1"/>
          </a:solidFill>
        </p:grpSpPr>
        <p:pic>
          <p:nvPicPr>
            <p:cNvPr id="49157" name="Picture 3" descr="arch66">
              <a:hlinkClick r:id=""/>
            </p:cNvPr>
            <p:cNvPicPr>
              <a:picLocks noChangeAspect="1" noChangeArrowheads="1"/>
            </p:cNvPicPr>
            <p:nvPr/>
          </p:nvPicPr>
          <p:blipFill>
            <a:blip r:embed="rId1"/>
            <a:srcRect/>
            <a:stretch>
              <a:fillRect/>
            </a:stretch>
          </p:blipFill>
          <p:spPr bwMode="auto">
            <a:xfrm>
              <a:off x="0" y="0"/>
              <a:ext cx="5760" cy="4312"/>
            </a:xfrm>
            <a:prstGeom prst="rect">
              <a:avLst/>
            </a:prstGeom>
            <a:grpFill/>
            <a:ln>
              <a:noFill/>
            </a:ln>
          </p:spPr>
        </p:pic>
        <p:sp>
          <p:nvSpPr>
            <p:cNvPr id="49158" name="Rectangle 4"/>
            <p:cNvSpPr>
              <a:spLocks noChangeArrowheads="1"/>
            </p:cNvSpPr>
            <p:nvPr/>
          </p:nvSpPr>
          <p:spPr bwMode="auto">
            <a:xfrm>
              <a:off x="1701" y="164"/>
              <a:ext cx="2540" cy="408"/>
            </a:xfrm>
            <a:prstGeom prst="rect">
              <a:avLst/>
            </a:prstGeom>
            <a:grpFill/>
            <a:ln>
              <a:noFill/>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grpSp>
      <p:sp>
        <p:nvSpPr>
          <p:cNvPr id="55299" name="Rectangle 5"/>
          <p:cNvSpPr/>
          <p:nvPr/>
        </p:nvSpPr>
        <p:spPr>
          <a:xfrm>
            <a:off x="381000" y="228600"/>
            <a:ext cx="8393113" cy="714375"/>
          </a:xfrm>
          <a:prstGeom prst="rect">
            <a:avLst/>
          </a:prstGeom>
          <a:solidFill>
            <a:schemeClr val="accent1"/>
          </a:solid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3"/>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5"/>
              </a:buBlip>
              <a:defRPr sz="2400" b="1">
                <a:solidFill>
                  <a:schemeClr val="tx1"/>
                </a:solidFill>
                <a:latin typeface="+mn-lt"/>
                <a:ea typeface="+mn-ea"/>
              </a:defRPr>
            </a:lvl5pPr>
          </a:lstStyle>
          <a:p>
            <a:pPr marL="0" lvl="0" indent="0" algn="ctr">
              <a:spcBef>
                <a:spcPct val="0"/>
              </a:spcBef>
              <a:buClrTx/>
              <a:buFontTx/>
              <a:buNone/>
            </a:pPr>
            <a:r>
              <a:rPr lang="zh-CN" altLang="en-US" sz="4800" dirty="0">
                <a:solidFill>
                  <a:srgbClr val="FF0000"/>
                </a:solidFill>
              </a:rPr>
              <a:t>回顾</a:t>
            </a:r>
            <a:r>
              <a:rPr lang="en-US" altLang="zh-CN" sz="4800" dirty="0">
                <a:solidFill>
                  <a:srgbClr val="FF0000"/>
                </a:solidFill>
              </a:rPr>
              <a:t>—</a:t>
            </a:r>
            <a:r>
              <a:rPr lang="zh-CN" altLang="en-US" sz="4800" dirty="0">
                <a:solidFill>
                  <a:srgbClr val="FF0000"/>
                </a:solidFill>
              </a:rPr>
              <a:t>指令流水线</a:t>
            </a:r>
            <a:endParaRPr lang="zh-CN" altLang="en-US" sz="4800" dirty="0">
              <a:solidFill>
                <a:srgbClr val="FF0000"/>
              </a:solidFill>
            </a:endParaRPr>
          </a:p>
        </p:txBody>
      </p:sp>
      <p:sp>
        <p:nvSpPr>
          <p:cNvPr id="244742" name="AutoShape 6"/>
          <p:cNvSpPr/>
          <p:nvPr/>
        </p:nvSpPr>
        <p:spPr>
          <a:xfrm>
            <a:off x="254000" y="1754188"/>
            <a:ext cx="8534400" cy="4862512"/>
          </a:xfrm>
          <a:prstGeom prst="wedgeRoundRectCallout">
            <a:avLst>
              <a:gd name="adj1" fmla="val -329"/>
              <a:gd name="adj2" fmla="val -69681"/>
              <a:gd name="adj3" fmla="val 16667"/>
            </a:avLst>
          </a:prstGeom>
          <a:solidFill>
            <a:schemeClr val="tx2"/>
          </a:solid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3"/>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5"/>
              </a:buBlip>
              <a:defRPr sz="2400" b="1">
                <a:solidFill>
                  <a:schemeClr val="tx1"/>
                </a:solidFill>
                <a:latin typeface="+mn-lt"/>
                <a:ea typeface="+mn-ea"/>
              </a:defRPr>
            </a:lvl5pPr>
          </a:lstStyle>
          <a:p>
            <a:pPr marL="365125" lvl="0" indent="-365125" eaLnBrk="1" hangingPunct="1">
              <a:lnSpc>
                <a:spcPct val="100000"/>
              </a:lnSpc>
              <a:spcBef>
                <a:spcPct val="0"/>
              </a:spcBef>
              <a:buClrTx/>
              <a:buFont typeface="Wingdings" panose="05000000000000000000" pitchFamily="2" charset="2"/>
              <a:buChar char="p"/>
            </a:pPr>
            <a:r>
              <a:rPr lang="zh-CN" altLang="en-US" sz="2800" dirty="0">
                <a:solidFill>
                  <a:schemeClr val="bg2"/>
                </a:solidFill>
                <a:latin typeface="Times New Roman" panose="02020603050405020304" pitchFamily="18" charset="0"/>
                <a:cs typeface="Times New Roman" panose="02020603050405020304" pitchFamily="18" charset="0"/>
              </a:rPr>
              <a:t>影响流水线的三个因素：</a:t>
            </a:r>
            <a:endParaRPr lang="zh-CN" altLang="en-US" sz="2800" dirty="0">
              <a:solidFill>
                <a:schemeClr val="bg2"/>
              </a:solidFill>
              <a:latin typeface="Times New Roman" panose="02020603050405020304" pitchFamily="18" charset="0"/>
              <a:cs typeface="Times New Roman" panose="02020603050405020304" pitchFamily="18" charset="0"/>
            </a:endParaRPr>
          </a:p>
          <a:p>
            <a:pPr marL="716280" lvl="1" indent="-259080" eaLnBrk="1" hangingPunct="1">
              <a:lnSpc>
                <a:spcPct val="100000"/>
              </a:lnSpc>
              <a:spcBef>
                <a:spcPct val="0"/>
              </a:spcBef>
              <a:buClrTx/>
              <a:buFont typeface="Wingdings" panose="05000000000000000000" pitchFamily="2" charset="2"/>
              <a:buChar char="n"/>
            </a:pPr>
            <a:r>
              <a:rPr lang="zh-CN" altLang="en-US" sz="2400" dirty="0">
                <a:solidFill>
                  <a:srgbClr val="0000CC"/>
                </a:solidFill>
                <a:latin typeface="Times New Roman" panose="02020603050405020304" pitchFamily="18" charset="0"/>
                <a:cs typeface="Times New Roman" panose="02020603050405020304" pitchFamily="18" charset="0"/>
              </a:rPr>
              <a:t>资源相关</a:t>
            </a:r>
            <a:r>
              <a:rPr lang="en-US" altLang="zh-CN" sz="2400" dirty="0">
                <a:solidFill>
                  <a:srgbClr val="0000CC"/>
                </a:solidFill>
                <a:latin typeface="Times New Roman" panose="02020603050405020304" pitchFamily="18" charset="0"/>
                <a:cs typeface="Times New Roman" panose="02020603050405020304" pitchFamily="18" charset="0"/>
              </a:rPr>
              <a:t>(</a:t>
            </a:r>
            <a:r>
              <a:rPr lang="zh-CN" altLang="en-US" sz="2400" dirty="0">
                <a:solidFill>
                  <a:srgbClr val="0000CC"/>
                </a:solidFill>
                <a:latin typeface="Times New Roman" panose="02020603050405020304" pitchFamily="18" charset="0"/>
                <a:cs typeface="Times New Roman" panose="02020603050405020304" pitchFamily="18" charset="0"/>
              </a:rPr>
              <a:t>冒险</a:t>
            </a:r>
            <a:r>
              <a:rPr lang="en-US" altLang="zh-CN" sz="2400" dirty="0">
                <a:solidFill>
                  <a:srgbClr val="0000CC"/>
                </a:solidFill>
                <a:latin typeface="Times New Roman" panose="02020603050405020304" pitchFamily="18" charset="0"/>
                <a:cs typeface="Times New Roman" panose="02020603050405020304" pitchFamily="18" charset="0"/>
              </a:rPr>
              <a:t>)</a:t>
            </a:r>
            <a:r>
              <a:rPr lang="zh-CN" altLang="en-US" sz="2400" dirty="0">
                <a:solidFill>
                  <a:srgbClr val="0000CC"/>
                </a:solidFill>
                <a:latin typeface="Times New Roman" panose="02020603050405020304" pitchFamily="18" charset="0"/>
                <a:cs typeface="Times New Roman" panose="02020603050405020304" pitchFamily="18" charset="0"/>
              </a:rPr>
              <a:t>：</a:t>
            </a:r>
            <a:r>
              <a:rPr lang="zh-CN" altLang="en-US" sz="2400" dirty="0">
                <a:solidFill>
                  <a:schemeClr val="bg2"/>
                </a:solidFill>
                <a:latin typeface="Times New Roman" panose="02020603050405020304" pitchFamily="18" charset="0"/>
                <a:cs typeface="Times New Roman" panose="02020603050405020304" pitchFamily="18" charset="0"/>
              </a:rPr>
              <a:t>不同指令同时使用相同的功能部件。解决方法是增加功能部件或者在指令系统实现流水线时统一流水站的处理阶段</a:t>
            </a:r>
            <a:endParaRPr lang="zh-CN" altLang="en-US" sz="2400" dirty="0">
              <a:solidFill>
                <a:schemeClr val="bg2"/>
              </a:solidFill>
              <a:latin typeface="Times New Roman" panose="02020603050405020304" pitchFamily="18" charset="0"/>
              <a:cs typeface="Times New Roman" panose="02020603050405020304" pitchFamily="18" charset="0"/>
            </a:endParaRPr>
          </a:p>
          <a:p>
            <a:pPr marL="716280" lvl="1" indent="-259080" eaLnBrk="1" hangingPunct="1">
              <a:lnSpc>
                <a:spcPct val="100000"/>
              </a:lnSpc>
              <a:spcBef>
                <a:spcPct val="0"/>
              </a:spcBef>
              <a:buClrTx/>
              <a:buFont typeface="Wingdings" panose="05000000000000000000" pitchFamily="2" charset="2"/>
              <a:buChar char="n"/>
            </a:pPr>
            <a:r>
              <a:rPr lang="zh-CN" altLang="en-US" sz="2400" dirty="0">
                <a:solidFill>
                  <a:srgbClr val="0000CC"/>
                </a:solidFill>
                <a:latin typeface="Times New Roman" panose="02020603050405020304" pitchFamily="18" charset="0"/>
                <a:cs typeface="Times New Roman" panose="02020603050405020304" pitchFamily="18" charset="0"/>
              </a:rPr>
              <a:t>数据相关</a:t>
            </a:r>
            <a:r>
              <a:rPr lang="en-US" altLang="zh-CN" sz="2400" dirty="0">
                <a:solidFill>
                  <a:srgbClr val="0000CC"/>
                </a:solidFill>
                <a:latin typeface="Times New Roman" panose="02020603050405020304" pitchFamily="18" charset="0"/>
                <a:cs typeface="Times New Roman" panose="02020603050405020304" pitchFamily="18" charset="0"/>
              </a:rPr>
              <a:t>(</a:t>
            </a:r>
            <a:r>
              <a:rPr lang="zh-CN" altLang="en-US" sz="2400" dirty="0">
                <a:solidFill>
                  <a:srgbClr val="0000CC"/>
                </a:solidFill>
                <a:latin typeface="Times New Roman" panose="02020603050405020304" pitchFamily="18" charset="0"/>
                <a:cs typeface="Times New Roman" panose="02020603050405020304" pitchFamily="18" charset="0"/>
              </a:rPr>
              <a:t>冒险</a:t>
            </a:r>
            <a:r>
              <a:rPr lang="en-US" altLang="zh-CN" sz="2400" dirty="0">
                <a:solidFill>
                  <a:srgbClr val="0000CC"/>
                </a:solidFill>
                <a:latin typeface="Times New Roman" panose="02020603050405020304" pitchFamily="18" charset="0"/>
                <a:cs typeface="Times New Roman" panose="02020603050405020304" pitchFamily="18" charset="0"/>
              </a:rPr>
              <a:t>) </a:t>
            </a:r>
            <a:r>
              <a:rPr lang="zh-CN" altLang="en-US" sz="2400" dirty="0">
                <a:solidFill>
                  <a:srgbClr val="0000CC"/>
                </a:solidFill>
                <a:latin typeface="Times New Roman" panose="02020603050405020304" pitchFamily="18" charset="0"/>
                <a:cs typeface="Times New Roman" panose="02020603050405020304" pitchFamily="18" charset="0"/>
              </a:rPr>
              <a:t>：</a:t>
            </a:r>
            <a:r>
              <a:rPr lang="zh-CN" altLang="en-US" sz="2400" dirty="0">
                <a:solidFill>
                  <a:schemeClr val="bg2"/>
                </a:solidFill>
                <a:latin typeface="Times New Roman" panose="02020603050405020304" pitchFamily="18" charset="0"/>
                <a:cs typeface="Times New Roman" panose="02020603050405020304" pitchFamily="18" charset="0"/>
              </a:rPr>
              <a:t>后一指令使用前一指令的结果，而前一指令结果还未形成。解决方法是硬件插入“气泡” 阻塞流水线或者实现“</a:t>
            </a:r>
            <a:r>
              <a:rPr lang="zh-CN" altLang="en-US" sz="2400" dirty="0">
                <a:solidFill>
                  <a:srgbClr val="FF0000"/>
                </a:solidFill>
                <a:latin typeface="Times New Roman" panose="02020603050405020304" pitchFamily="18" charset="0"/>
                <a:cs typeface="Times New Roman" panose="02020603050405020304" pitchFamily="18" charset="0"/>
              </a:rPr>
              <a:t>转发</a:t>
            </a:r>
            <a:r>
              <a:rPr lang="en-US" altLang="zh-CN" sz="2400" dirty="0">
                <a:solidFill>
                  <a:srgbClr val="FF0000"/>
                </a:solidFill>
                <a:latin typeface="Times New Roman" panose="02020603050405020304" pitchFamily="18" charset="0"/>
                <a:cs typeface="Times New Roman" panose="02020603050405020304" pitchFamily="18" charset="0"/>
              </a:rPr>
              <a:t>/</a:t>
            </a:r>
            <a:r>
              <a:rPr lang="zh-CN" altLang="en-US" sz="2400" dirty="0">
                <a:solidFill>
                  <a:srgbClr val="FF0000"/>
                </a:solidFill>
                <a:latin typeface="Times New Roman" panose="02020603050405020304" pitchFamily="18" charset="0"/>
                <a:cs typeface="Times New Roman" panose="02020603050405020304" pitchFamily="18" charset="0"/>
              </a:rPr>
              <a:t>旁路”</a:t>
            </a:r>
            <a:r>
              <a:rPr lang="zh-CN" altLang="en-US" sz="2400" dirty="0">
                <a:solidFill>
                  <a:schemeClr val="bg2"/>
                </a:solidFill>
                <a:latin typeface="Times New Roman" panose="02020603050405020304" pitchFamily="18" charset="0"/>
                <a:cs typeface="Times New Roman" panose="02020603050405020304" pitchFamily="18" charset="0"/>
              </a:rPr>
              <a:t>机制、软件插入空操作“</a:t>
            </a:r>
            <a:r>
              <a:rPr lang="en-US" altLang="zh-CN" sz="2400" dirty="0">
                <a:solidFill>
                  <a:schemeClr val="bg2"/>
                </a:solidFill>
                <a:latin typeface="Times New Roman" panose="02020603050405020304" pitchFamily="18" charset="0"/>
                <a:cs typeface="Times New Roman" panose="02020603050405020304" pitchFamily="18" charset="0"/>
              </a:rPr>
              <a:t>NOP”</a:t>
            </a:r>
            <a:r>
              <a:rPr lang="zh-CN" altLang="en-US" sz="2400" dirty="0">
                <a:solidFill>
                  <a:schemeClr val="bg2"/>
                </a:solidFill>
                <a:latin typeface="Times New Roman" panose="02020603050405020304" pitchFamily="18" charset="0"/>
                <a:cs typeface="Times New Roman" panose="02020603050405020304" pitchFamily="18" charset="0"/>
              </a:rPr>
              <a:t>指令或者编译调整指令顺序</a:t>
            </a:r>
            <a:endParaRPr lang="zh-CN" altLang="en-US" sz="2400" dirty="0">
              <a:solidFill>
                <a:schemeClr val="bg2"/>
              </a:solidFill>
              <a:latin typeface="Times New Roman" panose="02020603050405020304" pitchFamily="18" charset="0"/>
              <a:cs typeface="Times New Roman" panose="02020603050405020304" pitchFamily="18" charset="0"/>
            </a:endParaRPr>
          </a:p>
          <a:p>
            <a:pPr marL="716280" lvl="1" indent="-259080" eaLnBrk="1" hangingPunct="1">
              <a:lnSpc>
                <a:spcPct val="100000"/>
              </a:lnSpc>
              <a:spcBef>
                <a:spcPct val="0"/>
              </a:spcBef>
              <a:buClrTx/>
              <a:buFont typeface="Wingdings" panose="05000000000000000000" pitchFamily="2" charset="2"/>
              <a:buChar char="n"/>
            </a:pPr>
            <a:r>
              <a:rPr lang="zh-CN" altLang="en-US" sz="2400" dirty="0">
                <a:solidFill>
                  <a:srgbClr val="0000CC"/>
                </a:solidFill>
                <a:latin typeface="Times New Roman" panose="02020603050405020304" pitchFamily="18" charset="0"/>
                <a:cs typeface="Times New Roman" panose="02020603050405020304" pitchFamily="18" charset="0"/>
              </a:rPr>
              <a:t>控制相关</a:t>
            </a:r>
            <a:r>
              <a:rPr lang="en-US" altLang="zh-CN" sz="2400" dirty="0">
                <a:solidFill>
                  <a:srgbClr val="0000CC"/>
                </a:solidFill>
                <a:latin typeface="Times New Roman" panose="02020603050405020304" pitchFamily="18" charset="0"/>
                <a:cs typeface="Times New Roman" panose="02020603050405020304" pitchFamily="18" charset="0"/>
              </a:rPr>
              <a:t>(</a:t>
            </a:r>
            <a:r>
              <a:rPr lang="zh-CN" altLang="en-US" sz="2400" dirty="0">
                <a:solidFill>
                  <a:srgbClr val="0000CC"/>
                </a:solidFill>
                <a:latin typeface="Times New Roman" panose="02020603050405020304" pitchFamily="18" charset="0"/>
                <a:cs typeface="Times New Roman" panose="02020603050405020304" pitchFamily="18" charset="0"/>
              </a:rPr>
              <a:t>冒险</a:t>
            </a:r>
            <a:r>
              <a:rPr lang="en-US" altLang="zh-CN" sz="2400" dirty="0">
                <a:solidFill>
                  <a:srgbClr val="0000CC"/>
                </a:solidFill>
                <a:latin typeface="Times New Roman" panose="02020603050405020304" pitchFamily="18" charset="0"/>
                <a:cs typeface="Times New Roman" panose="02020603050405020304" pitchFamily="18" charset="0"/>
              </a:rPr>
              <a:t>) </a:t>
            </a:r>
            <a:r>
              <a:rPr lang="zh-CN" altLang="en-US" sz="2400" dirty="0">
                <a:solidFill>
                  <a:srgbClr val="0000CC"/>
                </a:solidFill>
                <a:latin typeface="Times New Roman" panose="02020603050405020304" pitchFamily="18" charset="0"/>
                <a:cs typeface="Times New Roman" panose="02020603050405020304" pitchFamily="18" charset="0"/>
              </a:rPr>
              <a:t>：</a:t>
            </a:r>
            <a:r>
              <a:rPr lang="zh-CN" altLang="en-US" sz="2400" dirty="0">
                <a:solidFill>
                  <a:schemeClr val="bg2"/>
                </a:solidFill>
                <a:latin typeface="Times New Roman" panose="02020603050405020304" pitchFamily="18" charset="0"/>
                <a:cs typeface="Times New Roman" panose="02020603050405020304" pitchFamily="18" charset="0"/>
              </a:rPr>
              <a:t>分支指令的判断结果还未形成，后续的顺序指令已经流入指令流水线。解决方法是硬件插入“气泡” 阻塞流水线或者</a:t>
            </a:r>
            <a:r>
              <a:rPr lang="zh-CN" altLang="en-US" sz="2400" dirty="0">
                <a:solidFill>
                  <a:srgbClr val="FF0000"/>
                </a:solidFill>
                <a:latin typeface="Times New Roman" panose="02020603050405020304" pitchFamily="18" charset="0"/>
                <a:cs typeface="Times New Roman" panose="02020603050405020304" pitchFamily="18" charset="0"/>
              </a:rPr>
              <a:t>分支预测</a:t>
            </a:r>
            <a:r>
              <a:rPr lang="zh-CN" altLang="en-US" sz="2400" dirty="0">
                <a:solidFill>
                  <a:schemeClr val="bg2"/>
                </a:solidFill>
                <a:latin typeface="Times New Roman" panose="02020603050405020304" pitchFamily="18" charset="0"/>
                <a:cs typeface="Times New Roman" panose="02020603050405020304" pitchFamily="18" charset="0"/>
              </a:rPr>
              <a:t>、软件插入空操作“</a:t>
            </a:r>
            <a:r>
              <a:rPr lang="en-US" altLang="zh-CN" sz="2400" dirty="0">
                <a:solidFill>
                  <a:schemeClr val="bg2"/>
                </a:solidFill>
                <a:latin typeface="Times New Roman" panose="02020603050405020304" pitchFamily="18" charset="0"/>
                <a:cs typeface="Times New Roman" panose="02020603050405020304" pitchFamily="18" charset="0"/>
              </a:rPr>
              <a:t>NOP”</a:t>
            </a:r>
            <a:r>
              <a:rPr lang="zh-CN" altLang="en-US" sz="2400" dirty="0">
                <a:solidFill>
                  <a:schemeClr val="bg2"/>
                </a:solidFill>
                <a:latin typeface="Times New Roman" panose="02020603050405020304" pitchFamily="18" charset="0"/>
                <a:cs typeface="Times New Roman" panose="02020603050405020304" pitchFamily="18" charset="0"/>
              </a:rPr>
              <a:t>指令或者编译调整指令顺序</a:t>
            </a:r>
            <a:r>
              <a:rPr lang="en-US" altLang="zh-CN" sz="2400" dirty="0">
                <a:solidFill>
                  <a:schemeClr val="bg2"/>
                </a:solidFill>
                <a:latin typeface="Times New Roman" panose="02020603050405020304" pitchFamily="18" charset="0"/>
                <a:cs typeface="Times New Roman" panose="02020603050405020304" pitchFamily="18" charset="0"/>
              </a:rPr>
              <a:t>(</a:t>
            </a:r>
            <a:r>
              <a:rPr lang="zh-CN" altLang="en-US" sz="2400" dirty="0">
                <a:solidFill>
                  <a:srgbClr val="FF0000"/>
                </a:solidFill>
                <a:latin typeface="Times New Roman" panose="02020603050405020304" pitchFamily="18" charset="0"/>
                <a:cs typeface="Times New Roman" panose="02020603050405020304" pitchFamily="18" charset="0"/>
              </a:rPr>
              <a:t>分支延迟</a:t>
            </a:r>
            <a:r>
              <a:rPr lang="en-US" altLang="zh-CN" sz="2400" dirty="0">
                <a:solidFill>
                  <a:schemeClr val="bg2"/>
                </a:solidFill>
                <a:latin typeface="Times New Roman" panose="02020603050405020304" pitchFamily="18" charset="0"/>
                <a:cs typeface="Times New Roman" panose="02020603050405020304" pitchFamily="18" charset="0"/>
              </a:rPr>
              <a:t>)</a:t>
            </a:r>
            <a:endParaRPr lang="zh-CN" altLang="en-US" sz="2400" dirty="0">
              <a:solidFill>
                <a:schemeClr val="bg2"/>
              </a:solidFill>
              <a:latin typeface="Times New Roman" panose="02020603050405020304" pitchFamily="18" charset="0"/>
              <a:ea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244742"/>
                                        </p:tgtEl>
                                        <p:attrNameLst>
                                          <p:attrName>style.visibility</p:attrName>
                                        </p:attrNameLst>
                                      </p:cBhvr>
                                      <p:to>
                                        <p:strVal val="visible"/>
                                      </p:to>
                                    </p:set>
                                    <p:animEffect transition="in" filter="strips(upRight)">
                                      <p:cBhvr>
                                        <p:cTn id="7" dur="500"/>
                                        <p:tgtEl>
                                          <p:spTgt spid="244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48226" name="Rectangle 2"/>
          <p:cNvSpPr>
            <a:spLocks noGrp="1" noChangeArrowheads="1"/>
          </p:cNvSpPr>
          <p:nvPr>
            <p:ph type="title"/>
          </p:nvPr>
        </p:nvSpPr>
        <p:spPr>
          <a:xfrm>
            <a:off x="0" y="227013"/>
            <a:ext cx="9144000" cy="714375"/>
          </a:xfrm>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回顾－存储器</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4148227" name="AutoShape 3"/>
          <p:cNvSpPr>
            <a:spLocks noChangeArrowheads="1"/>
          </p:cNvSpPr>
          <p:nvPr/>
        </p:nvSpPr>
        <p:spPr bwMode="invGray">
          <a:xfrm rot="-2831509">
            <a:off x="4855369" y="2702719"/>
            <a:ext cx="792163" cy="288925"/>
          </a:xfrm>
          <a:prstGeom prst="rightArrow">
            <a:avLst>
              <a:gd name="adj1" fmla="val 35167"/>
              <a:gd name="adj2" fmla="val 111029"/>
            </a:avLst>
          </a:prstGeom>
          <a:gradFill rotWithShape="1">
            <a:gsLst>
              <a:gs pos="0">
                <a:srgbClr val="E3B624">
                  <a:alpha val="0"/>
                </a:srgbClr>
              </a:gs>
              <a:gs pos="100000">
                <a:schemeClr val="tx2"/>
              </a:gs>
            </a:gsLst>
            <a:lin ang="0" scaled="1"/>
          </a:gradFill>
          <a:ln>
            <a:noFill/>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0420" name="AutoShape 4"/>
          <p:cNvSpPr/>
          <p:nvPr/>
        </p:nvSpPr>
        <p:spPr>
          <a:xfrm rot="3465783">
            <a:off x="4884738" y="4721225"/>
            <a:ext cx="792162" cy="288925"/>
          </a:xfrm>
          <a:prstGeom prst="rightArrow">
            <a:avLst>
              <a:gd name="adj1" fmla="val 35166"/>
              <a:gd name="adj2" fmla="val 111028"/>
            </a:avLst>
          </a:prstGeom>
          <a:gradFill rotWithShape="1">
            <a:gsLst>
              <a:gs pos="0">
                <a:srgbClr val="E3B624">
                  <a:alpha val="0"/>
                </a:srgbClr>
              </a:gs>
              <a:gs pos="100000">
                <a:schemeClr val="tx2"/>
              </a:gs>
            </a:gsLst>
            <a:lin ang="0" scaled="1"/>
            <a:tileRect/>
          </a:gradFill>
          <a:ln w="9525">
            <a:noFill/>
          </a:ln>
        </p:spPr>
        <p:txBody>
          <a:bodyPr rot="10800000" vert="eaVert" wrap="none" anchor="ctr" anchorCtr="0"/>
          <a:p>
            <a:pPr algn="ctr" eaLnBrk="1" hangingPunct="1">
              <a:buNone/>
            </a:pPr>
            <a:endParaRPr lang="zh-CN" altLang="en-US" dirty="0">
              <a:effectLst>
                <a:outerShdw blurRad="38100" dist="38100" dir="2700000">
                  <a:srgbClr val="000000"/>
                </a:outerShdw>
              </a:effectLst>
              <a:latin typeface="Arial" panose="020B0604020202020204" pitchFamily="34" charset="0"/>
            </a:endParaRPr>
          </a:p>
        </p:txBody>
      </p:sp>
      <p:sp>
        <p:nvSpPr>
          <p:cNvPr id="4148229" name="AutoShape 5"/>
          <p:cNvSpPr>
            <a:spLocks noChangeArrowheads="1"/>
          </p:cNvSpPr>
          <p:nvPr/>
        </p:nvSpPr>
        <p:spPr bwMode="invGray">
          <a:xfrm rot="14633766">
            <a:off x="3248819" y="2807494"/>
            <a:ext cx="792163" cy="288925"/>
          </a:xfrm>
          <a:prstGeom prst="rightArrow">
            <a:avLst>
              <a:gd name="adj1" fmla="val 35167"/>
              <a:gd name="adj2" fmla="val 111029"/>
            </a:avLst>
          </a:prstGeom>
          <a:gradFill rotWithShape="1">
            <a:gsLst>
              <a:gs pos="0">
                <a:srgbClr val="E3B624">
                  <a:alpha val="0"/>
                </a:srgbClr>
              </a:gs>
              <a:gs pos="100000">
                <a:schemeClr val="tx2"/>
              </a:gs>
            </a:gsLst>
            <a:lin ang="0" scaled="1"/>
          </a:gradFill>
          <a:ln>
            <a:noFill/>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0422" name="AutoShape 6"/>
          <p:cNvSpPr/>
          <p:nvPr/>
        </p:nvSpPr>
        <p:spPr>
          <a:xfrm rot="7724551">
            <a:off x="3375025" y="4816475"/>
            <a:ext cx="792163" cy="288925"/>
          </a:xfrm>
          <a:prstGeom prst="rightArrow">
            <a:avLst>
              <a:gd name="adj1" fmla="val 35166"/>
              <a:gd name="adj2" fmla="val 111028"/>
            </a:avLst>
          </a:prstGeom>
          <a:gradFill rotWithShape="1">
            <a:gsLst>
              <a:gs pos="0">
                <a:srgbClr val="E3B624">
                  <a:alpha val="0"/>
                </a:srgbClr>
              </a:gs>
              <a:gs pos="100000">
                <a:schemeClr val="tx2"/>
              </a:gs>
            </a:gsLst>
            <a:lin ang="0" scaled="1"/>
            <a:tileRect/>
          </a:gradFill>
          <a:ln w="9525">
            <a:noFill/>
          </a:ln>
        </p:spPr>
        <p:txBody>
          <a:bodyPr rot="10800000" vert="eaVert" wrap="none" anchor="ctr" anchorCtr="0"/>
          <a:p>
            <a:pPr algn="ctr" eaLnBrk="1" hangingPunct="1">
              <a:buNone/>
            </a:pPr>
            <a:endParaRPr lang="zh-CN" altLang="en-US" dirty="0">
              <a:effectLst>
                <a:outerShdw blurRad="38100" dist="38100" dir="2700000">
                  <a:srgbClr val="000000"/>
                </a:outerShdw>
              </a:effectLst>
              <a:latin typeface="Arial" panose="020B0604020202020204" pitchFamily="34" charset="0"/>
            </a:endParaRPr>
          </a:p>
        </p:txBody>
      </p:sp>
      <p:sp>
        <p:nvSpPr>
          <p:cNvPr id="4148233" name="Oval 9"/>
          <p:cNvSpPr>
            <a:spLocks noChangeArrowheads="1"/>
          </p:cNvSpPr>
          <p:nvPr/>
        </p:nvSpPr>
        <p:spPr bwMode="black">
          <a:xfrm>
            <a:off x="2547938" y="2060575"/>
            <a:ext cx="3824288" cy="3673475"/>
          </a:xfrm>
          <a:prstGeom prst="ellipse">
            <a:avLst/>
          </a:prstGeom>
          <a:noFill/>
          <a:ln w="38100" algn="ctr">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60424" name="Group 10"/>
          <p:cNvGrpSpPr/>
          <p:nvPr/>
        </p:nvGrpSpPr>
        <p:grpSpPr>
          <a:xfrm>
            <a:off x="2403475" y="3787775"/>
            <a:ext cx="360363" cy="360363"/>
            <a:chOff x="1565" y="2659"/>
            <a:chExt cx="227" cy="227"/>
          </a:xfrm>
        </p:grpSpPr>
        <p:sp>
          <p:nvSpPr>
            <p:cNvPr id="4148235" name="Oval 11"/>
            <p:cNvSpPr>
              <a:spLocks noChangeArrowheads="1"/>
            </p:cNvSpPr>
            <p:nvPr/>
          </p:nvSpPr>
          <p:spPr bwMode="gray">
            <a:xfrm>
              <a:off x="1565" y="2659"/>
              <a:ext cx="227" cy="227"/>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48236" name="Oval 12"/>
            <p:cNvSpPr>
              <a:spLocks noChangeArrowheads="1"/>
            </p:cNvSpPr>
            <p:nvPr/>
          </p:nvSpPr>
          <p:spPr bwMode="gray">
            <a:xfrm>
              <a:off x="1575" y="2678"/>
              <a:ext cx="141" cy="142"/>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60425" name="Group 13"/>
          <p:cNvGrpSpPr/>
          <p:nvPr/>
        </p:nvGrpSpPr>
        <p:grpSpPr>
          <a:xfrm>
            <a:off x="5407025" y="5165725"/>
            <a:ext cx="360363" cy="360363"/>
            <a:chOff x="3470" y="1706"/>
            <a:chExt cx="227" cy="227"/>
          </a:xfrm>
        </p:grpSpPr>
        <p:sp>
          <p:nvSpPr>
            <p:cNvPr id="4148238" name="Oval 14"/>
            <p:cNvSpPr>
              <a:spLocks noChangeArrowheads="1"/>
            </p:cNvSpPr>
            <p:nvPr/>
          </p:nvSpPr>
          <p:spPr bwMode="gray">
            <a:xfrm>
              <a:off x="3470" y="1706"/>
              <a:ext cx="227" cy="227"/>
            </a:xfrm>
            <a:prstGeom prst="ellipse">
              <a:avLst/>
            </a:prstGeom>
            <a:gradFill rotWithShape="1">
              <a:gsLst>
                <a:gs pos="0">
                  <a:srgbClr val="008080"/>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48239" name="Oval 15"/>
            <p:cNvSpPr>
              <a:spLocks noChangeArrowheads="1"/>
            </p:cNvSpPr>
            <p:nvPr/>
          </p:nvSpPr>
          <p:spPr bwMode="gray">
            <a:xfrm>
              <a:off x="3480" y="1725"/>
              <a:ext cx="141" cy="142"/>
            </a:xfrm>
            <a:prstGeom prst="ellipse">
              <a:avLst/>
            </a:prstGeom>
            <a:gradFill rotWithShape="1">
              <a:gsLst>
                <a:gs pos="0">
                  <a:srgbClr val="008080">
                    <a:alpha val="0"/>
                  </a:srgbClr>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60426" name="Group 16"/>
          <p:cNvGrpSpPr/>
          <p:nvPr/>
        </p:nvGrpSpPr>
        <p:grpSpPr>
          <a:xfrm>
            <a:off x="5459413" y="2241550"/>
            <a:ext cx="360362" cy="360363"/>
            <a:chOff x="3923" y="2659"/>
            <a:chExt cx="227" cy="227"/>
          </a:xfrm>
        </p:grpSpPr>
        <p:sp>
          <p:nvSpPr>
            <p:cNvPr id="4148241" name="Oval 17"/>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48242" name="Oval 18"/>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148246" name="Oval 22"/>
          <p:cNvSpPr>
            <a:spLocks noChangeArrowheads="1"/>
          </p:cNvSpPr>
          <p:nvPr/>
        </p:nvSpPr>
        <p:spPr bwMode="gray">
          <a:xfrm>
            <a:off x="3479800" y="2935288"/>
            <a:ext cx="1944688" cy="19446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48247" name="Oval 23"/>
          <p:cNvSpPr>
            <a:spLocks noChangeArrowheads="1"/>
          </p:cNvSpPr>
          <p:nvPr/>
        </p:nvSpPr>
        <p:spPr bwMode="gray">
          <a:xfrm>
            <a:off x="3484563" y="2941638"/>
            <a:ext cx="1944688" cy="1944688"/>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48248" name="Oval 24"/>
          <p:cNvSpPr>
            <a:spLocks noChangeArrowheads="1"/>
          </p:cNvSpPr>
          <p:nvPr/>
        </p:nvSpPr>
        <p:spPr bwMode="gray">
          <a:xfrm>
            <a:off x="3606800" y="3062288"/>
            <a:ext cx="1690688" cy="169068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48249" name="Oval 25"/>
          <p:cNvSpPr>
            <a:spLocks noChangeArrowheads="1"/>
          </p:cNvSpPr>
          <p:nvPr/>
        </p:nvSpPr>
        <p:spPr bwMode="gray">
          <a:xfrm>
            <a:off x="3589338" y="3035300"/>
            <a:ext cx="1690688" cy="1690688"/>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60431" name="Group 26"/>
          <p:cNvGrpSpPr/>
          <p:nvPr/>
        </p:nvGrpSpPr>
        <p:grpSpPr>
          <a:xfrm>
            <a:off x="3690938" y="3146425"/>
            <a:ext cx="1522412" cy="1473200"/>
            <a:chOff x="2416" y="1858"/>
            <a:chExt cx="959" cy="928"/>
          </a:xfrm>
        </p:grpSpPr>
        <p:sp>
          <p:nvSpPr>
            <p:cNvPr id="4148251" name="Oval 27"/>
            <p:cNvSpPr>
              <a:spLocks noChangeArrowheads="1"/>
            </p:cNvSpPr>
            <p:nvPr/>
          </p:nvSpPr>
          <p:spPr bwMode="gray">
            <a:xfrm>
              <a:off x="2416" y="2133"/>
              <a:ext cx="959" cy="383"/>
            </a:xfrm>
            <a:prstGeom prst="ellipse">
              <a:avLst/>
            </a:prstGeom>
            <a:solidFill>
              <a:srgbClr val="333333"/>
            </a:soli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48252" name="Oval 28"/>
            <p:cNvSpPr>
              <a:spLocks noChangeArrowheads="1"/>
            </p:cNvSpPr>
            <p:nvPr/>
          </p:nvSpPr>
          <p:spPr bwMode="gray">
            <a:xfrm>
              <a:off x="2430" y="1858"/>
              <a:ext cx="927" cy="928"/>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48253" name="Oval 29"/>
            <p:cNvSpPr>
              <a:spLocks noChangeArrowheads="1"/>
            </p:cNvSpPr>
            <p:nvPr/>
          </p:nvSpPr>
          <p:spPr bwMode="gray">
            <a:xfrm>
              <a:off x="2441" y="1864"/>
              <a:ext cx="906" cy="904"/>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48254" name="Oval 30"/>
            <p:cNvSpPr>
              <a:spLocks noChangeArrowheads="1"/>
            </p:cNvSpPr>
            <p:nvPr/>
          </p:nvSpPr>
          <p:spPr bwMode="gray">
            <a:xfrm>
              <a:off x="2451" y="1873"/>
              <a:ext cx="861" cy="845"/>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48255" name="Oval 31"/>
            <p:cNvSpPr>
              <a:spLocks noChangeArrowheads="1"/>
            </p:cNvSpPr>
            <p:nvPr/>
          </p:nvSpPr>
          <p:spPr bwMode="gray">
            <a:xfrm>
              <a:off x="2502" y="1896"/>
              <a:ext cx="765" cy="687"/>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60432" name="Text Box 32"/>
          <p:cNvSpPr txBox="1"/>
          <p:nvPr/>
        </p:nvSpPr>
        <p:spPr>
          <a:xfrm>
            <a:off x="3670300" y="3614738"/>
            <a:ext cx="1555750" cy="6413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dirty="0">
                <a:solidFill>
                  <a:srgbClr val="000000"/>
                </a:solidFill>
                <a:latin typeface="Times New Roman" panose="02020603050405020304" pitchFamily="18" charset="0"/>
                <a:ea typeface="华文中宋" panose="02010600040101010101" pitchFamily="2" charset="-122"/>
              </a:rPr>
              <a:t>存储器</a:t>
            </a:r>
            <a:endParaRPr lang="zh-CN" altLang="en-US" dirty="0">
              <a:solidFill>
                <a:srgbClr val="000000"/>
              </a:solidFill>
              <a:latin typeface="Times New Roman" panose="02020603050405020304" pitchFamily="18" charset="0"/>
              <a:ea typeface="华文中宋" panose="02010600040101010101" pitchFamily="2" charset="-122"/>
            </a:endParaRPr>
          </a:p>
        </p:txBody>
      </p:sp>
      <p:sp>
        <p:nvSpPr>
          <p:cNvPr id="60433" name="Text Box 35"/>
          <p:cNvSpPr txBox="1"/>
          <p:nvPr/>
        </p:nvSpPr>
        <p:spPr>
          <a:xfrm>
            <a:off x="5319713" y="5672138"/>
            <a:ext cx="3760787" cy="519112"/>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342900" lvl="0" indent="-342900">
              <a:lnSpc>
                <a:spcPct val="100000"/>
              </a:lnSpc>
              <a:spcBef>
                <a:spcPct val="0"/>
              </a:spcBef>
              <a:buClrTx/>
              <a:buFontTx/>
              <a:buNone/>
            </a:pPr>
            <a:r>
              <a:rPr lang="zh-CN" altLang="en-US" sz="2800" dirty="0">
                <a:latin typeface="Times New Roman" panose="02020603050405020304" pitchFamily="18" charset="0"/>
              </a:rPr>
              <a:t>主存储器与</a:t>
            </a:r>
            <a:r>
              <a:rPr lang="en-US" altLang="zh-CN" sz="2800" dirty="0">
                <a:latin typeface="Times New Roman" panose="02020603050405020304" pitchFamily="18" charset="0"/>
              </a:rPr>
              <a:t>CPU</a:t>
            </a:r>
            <a:r>
              <a:rPr lang="zh-CN" altLang="en-US" sz="2800" dirty="0">
                <a:latin typeface="Times New Roman" panose="02020603050405020304" pitchFamily="18" charset="0"/>
              </a:rPr>
              <a:t>的连接</a:t>
            </a:r>
            <a:endParaRPr lang="zh-CN" altLang="en-US" sz="2800" dirty="0">
              <a:latin typeface="Times New Roman" panose="02020603050405020304" pitchFamily="18" charset="0"/>
            </a:endParaRPr>
          </a:p>
        </p:txBody>
      </p:sp>
      <p:sp>
        <p:nvSpPr>
          <p:cNvPr id="60434" name="Text Box 36"/>
          <p:cNvSpPr txBox="1"/>
          <p:nvPr/>
        </p:nvSpPr>
        <p:spPr>
          <a:xfrm>
            <a:off x="319088" y="3736975"/>
            <a:ext cx="1962150" cy="519113"/>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r">
              <a:lnSpc>
                <a:spcPct val="100000"/>
              </a:lnSpc>
              <a:spcBef>
                <a:spcPct val="0"/>
              </a:spcBef>
              <a:buClrTx/>
              <a:buFontTx/>
              <a:buNone/>
            </a:pPr>
            <a:r>
              <a:rPr lang="zh-CN" altLang="en-US" sz="2800" dirty="0">
                <a:latin typeface="Times New Roman" panose="02020603050405020304" pitchFamily="18" charset="0"/>
              </a:rPr>
              <a:t>虚拟存储器</a:t>
            </a:r>
            <a:endParaRPr lang="zh-CN" altLang="en-US" sz="2800" dirty="0">
              <a:latin typeface="Times New Roman" panose="02020603050405020304" pitchFamily="18" charset="0"/>
            </a:endParaRPr>
          </a:p>
        </p:txBody>
      </p:sp>
      <p:sp>
        <p:nvSpPr>
          <p:cNvPr id="60435" name="Rectangle 37"/>
          <p:cNvSpPr/>
          <p:nvPr/>
        </p:nvSpPr>
        <p:spPr>
          <a:xfrm>
            <a:off x="2012950" y="5599113"/>
            <a:ext cx="1141413" cy="52387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en-US" altLang="zh-CN" sz="2800" dirty="0">
                <a:latin typeface="Times New Roman" panose="02020603050405020304" pitchFamily="18" charset="0"/>
              </a:rPr>
              <a:t>Cache</a:t>
            </a:r>
            <a:endParaRPr lang="en-US" altLang="zh-CN" sz="2800" dirty="0">
              <a:latin typeface="Times New Roman" panose="02020603050405020304" pitchFamily="18" charset="0"/>
            </a:endParaRPr>
          </a:p>
        </p:txBody>
      </p:sp>
      <p:sp>
        <p:nvSpPr>
          <p:cNvPr id="60436" name="Rectangle 38"/>
          <p:cNvSpPr/>
          <p:nvPr/>
        </p:nvSpPr>
        <p:spPr>
          <a:xfrm>
            <a:off x="6675438" y="3627438"/>
            <a:ext cx="1620837" cy="52387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zh-CN" altLang="en-US" sz="2800" dirty="0">
                <a:latin typeface="Times New Roman" panose="02020603050405020304" pitchFamily="18" charset="0"/>
              </a:rPr>
              <a:t>主存储器</a:t>
            </a:r>
            <a:endParaRPr lang="en-US" altLang="zh-CN" sz="2800" dirty="0">
              <a:latin typeface="Times New Roman" panose="02020603050405020304" pitchFamily="18" charset="0"/>
            </a:endParaRPr>
          </a:p>
        </p:txBody>
      </p:sp>
      <p:grpSp>
        <p:nvGrpSpPr>
          <p:cNvPr id="60437" name="Group 42"/>
          <p:cNvGrpSpPr/>
          <p:nvPr/>
        </p:nvGrpSpPr>
        <p:grpSpPr>
          <a:xfrm>
            <a:off x="6162675" y="3694113"/>
            <a:ext cx="360363" cy="360362"/>
            <a:chOff x="1565" y="2659"/>
            <a:chExt cx="227" cy="227"/>
          </a:xfrm>
        </p:grpSpPr>
        <p:sp>
          <p:nvSpPr>
            <p:cNvPr id="4148267" name="Oval 43"/>
            <p:cNvSpPr>
              <a:spLocks noChangeArrowheads="1"/>
            </p:cNvSpPr>
            <p:nvPr/>
          </p:nvSpPr>
          <p:spPr bwMode="gray">
            <a:xfrm>
              <a:off x="1565" y="2659"/>
              <a:ext cx="227" cy="227"/>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48268" name="Oval 44"/>
            <p:cNvSpPr>
              <a:spLocks noChangeArrowheads="1"/>
            </p:cNvSpPr>
            <p:nvPr/>
          </p:nvSpPr>
          <p:spPr bwMode="gray">
            <a:xfrm>
              <a:off x="1575" y="2678"/>
              <a:ext cx="141" cy="142"/>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60438" name="Group 45"/>
          <p:cNvGrpSpPr/>
          <p:nvPr/>
        </p:nvGrpSpPr>
        <p:grpSpPr>
          <a:xfrm>
            <a:off x="3216275" y="5238750"/>
            <a:ext cx="360363" cy="360363"/>
            <a:chOff x="3923" y="2659"/>
            <a:chExt cx="227" cy="227"/>
          </a:xfrm>
        </p:grpSpPr>
        <p:sp>
          <p:nvSpPr>
            <p:cNvPr id="4148270" name="Oval 46"/>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48271" name="Oval 47"/>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60439" name="Group 50"/>
          <p:cNvGrpSpPr/>
          <p:nvPr/>
        </p:nvGrpSpPr>
        <p:grpSpPr>
          <a:xfrm>
            <a:off x="3165475" y="2290763"/>
            <a:ext cx="360363" cy="360362"/>
            <a:chOff x="3515" y="3521"/>
            <a:chExt cx="227" cy="227"/>
          </a:xfrm>
        </p:grpSpPr>
        <p:sp>
          <p:nvSpPr>
            <p:cNvPr id="4148275" name="Oval 51"/>
            <p:cNvSpPr>
              <a:spLocks noChangeArrowheads="1"/>
            </p:cNvSpPr>
            <p:nvPr/>
          </p:nvSpPr>
          <p:spPr bwMode="gray">
            <a:xfrm>
              <a:off x="3515" y="3521"/>
              <a:ext cx="227" cy="227"/>
            </a:xfrm>
            <a:prstGeom prst="ellipse">
              <a:avLst/>
            </a:prstGeom>
            <a:gradFill rotWithShape="1">
              <a:gsLst>
                <a:gs pos="0">
                  <a:srgbClr val="008080"/>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48276" name="Oval 52"/>
            <p:cNvSpPr>
              <a:spLocks noChangeArrowheads="1"/>
            </p:cNvSpPr>
            <p:nvPr/>
          </p:nvSpPr>
          <p:spPr bwMode="gray">
            <a:xfrm>
              <a:off x="3525" y="3540"/>
              <a:ext cx="141" cy="142"/>
            </a:xfrm>
            <a:prstGeom prst="ellipse">
              <a:avLst/>
            </a:prstGeom>
            <a:gradFill rotWithShape="1">
              <a:gsLst>
                <a:gs pos="0">
                  <a:srgbClr val="008080">
                    <a:alpha val="0"/>
                  </a:srgbClr>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60440" name="AutoShape 53"/>
          <p:cNvSpPr/>
          <p:nvPr/>
        </p:nvSpPr>
        <p:spPr>
          <a:xfrm rot="10800000">
            <a:off x="2765425" y="3830638"/>
            <a:ext cx="863600" cy="288925"/>
          </a:xfrm>
          <a:prstGeom prst="rightArrow">
            <a:avLst>
              <a:gd name="adj1" fmla="val 35166"/>
              <a:gd name="adj2" fmla="val 121041"/>
            </a:avLst>
          </a:prstGeom>
          <a:gradFill rotWithShape="1">
            <a:gsLst>
              <a:gs pos="0">
                <a:srgbClr val="E3B624">
                  <a:alpha val="0"/>
                </a:srgbClr>
              </a:gs>
              <a:gs pos="100000">
                <a:schemeClr val="tx2"/>
              </a:gs>
            </a:gsLst>
            <a:lin ang="0" scaled="1"/>
            <a:tileRect/>
          </a:gradFill>
          <a:ln w="9525">
            <a:noFill/>
          </a:ln>
        </p:spPr>
        <p:txBody>
          <a:bodyPr rot="10800000" wrap="none" anchor="ctr" anchorCtr="0"/>
          <a:p>
            <a:pPr algn="ctr" eaLnBrk="1" hangingPunct="1">
              <a:buNone/>
            </a:pPr>
            <a:endParaRPr lang="zh-CN" altLang="en-US" dirty="0">
              <a:effectLst>
                <a:outerShdw blurRad="38100" dist="38100" dir="2700000">
                  <a:srgbClr val="000000"/>
                </a:outerShdw>
              </a:effectLst>
              <a:latin typeface="Arial" panose="020B0604020202020204" pitchFamily="34" charset="0"/>
            </a:endParaRPr>
          </a:p>
        </p:txBody>
      </p:sp>
      <p:sp>
        <p:nvSpPr>
          <p:cNvPr id="4148278" name="AutoShape 54"/>
          <p:cNvSpPr>
            <a:spLocks noChangeArrowheads="1"/>
          </p:cNvSpPr>
          <p:nvPr/>
        </p:nvSpPr>
        <p:spPr bwMode="invGray">
          <a:xfrm>
            <a:off x="5387975" y="3744913"/>
            <a:ext cx="792163" cy="288925"/>
          </a:xfrm>
          <a:prstGeom prst="rightArrow">
            <a:avLst>
              <a:gd name="adj1" fmla="val 35167"/>
              <a:gd name="adj2" fmla="val 111029"/>
            </a:avLst>
          </a:prstGeom>
          <a:gradFill rotWithShape="1">
            <a:gsLst>
              <a:gs pos="0">
                <a:srgbClr val="E3B624">
                  <a:alpha val="0"/>
                </a:srgbClr>
              </a:gs>
              <a:gs pos="100000">
                <a:schemeClr val="tx2"/>
              </a:gs>
            </a:gsLst>
            <a:lin ang="0" scaled="1"/>
          </a:gradFill>
          <a:ln>
            <a:noFill/>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0442" name="Rectangle 55"/>
          <p:cNvSpPr/>
          <p:nvPr/>
        </p:nvSpPr>
        <p:spPr>
          <a:xfrm>
            <a:off x="5884863" y="1779588"/>
            <a:ext cx="1979612" cy="52387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zh-CN" altLang="en-US" sz="2800" dirty="0">
                <a:latin typeface="Times New Roman" panose="02020603050405020304" pitchFamily="18" charset="0"/>
              </a:rPr>
              <a:t>存储器概述</a:t>
            </a:r>
            <a:endParaRPr lang="zh-CN" altLang="en-US" sz="2800" dirty="0">
              <a:latin typeface="Times New Roman" panose="02020603050405020304" pitchFamily="18" charset="0"/>
            </a:endParaRPr>
          </a:p>
        </p:txBody>
      </p:sp>
      <p:sp>
        <p:nvSpPr>
          <p:cNvPr id="60443" name="Text Box 35"/>
          <p:cNvSpPr txBox="1"/>
          <p:nvPr/>
        </p:nvSpPr>
        <p:spPr>
          <a:xfrm>
            <a:off x="708025" y="1874838"/>
            <a:ext cx="2338388" cy="522287"/>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342900" lvl="0" indent="-342900">
              <a:lnSpc>
                <a:spcPct val="100000"/>
              </a:lnSpc>
              <a:spcBef>
                <a:spcPct val="0"/>
              </a:spcBef>
              <a:buClrTx/>
              <a:buFontTx/>
              <a:buNone/>
            </a:pPr>
            <a:r>
              <a:rPr lang="zh-CN" altLang="en-US" sz="2800" dirty="0">
                <a:latin typeface="Times New Roman" panose="02020603050405020304" pitchFamily="18" charset="0"/>
              </a:rPr>
              <a:t>多模块存储器</a:t>
            </a:r>
            <a:endParaRPr lang="zh-CN" altLang="en-US" sz="2800" dirty="0">
              <a:latin typeface="Times New Roman" panose="02020603050405020304" pitchFamily="18" charset="0"/>
            </a:endParaRPr>
          </a:p>
        </p:txBody>
      </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21634" name="Rectangle 2"/>
          <p:cNvSpPr>
            <a:spLocks noGrp="1" noChangeArrowheads="1"/>
          </p:cNvSpPr>
          <p:nvPr>
            <p:ph type="title"/>
          </p:nvPr>
        </p:nvSpPr>
        <p:spPr>
          <a:xfrm>
            <a:off x="582613" y="1149350"/>
            <a:ext cx="7489825" cy="584200"/>
          </a:xfrm>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ts val="600"/>
              </a:spcBef>
              <a:spcAft>
                <a:spcPts val="600"/>
              </a:spcAft>
              <a:buClr>
                <a:schemeClr val="tx2"/>
              </a:buClr>
              <a:buSzTx/>
              <a:buFont typeface="Wingdings" panose="05000000000000000000" pitchFamily="2" charset="2"/>
              <a:buBlip>
                <a:blip r:embed="rId1"/>
              </a:buBlip>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j-lt"/>
                <a:ea typeface="+mj-ea"/>
                <a:cs typeface="+mj-cs"/>
              </a:rPr>
              <a:t>程序访问的</a:t>
            </a:r>
            <a:r>
              <a:rPr kumimoji="0" lang="zh-CN" altLang="en-US" sz="3200" b="1" i="0" u="none" strike="noStrike" kern="0" cap="none" spc="0" normalizeH="0" baseline="0" noProof="0" dirty="0" smtClean="0">
                <a:ln>
                  <a:noFill/>
                </a:ln>
                <a:solidFill>
                  <a:srgbClr val="FFFF00"/>
                </a:solidFill>
                <a:effectLst>
                  <a:outerShdw blurRad="38100" dist="38100" dir="2700000" algn="tl">
                    <a:srgbClr val="000000"/>
                  </a:outerShdw>
                </a:effectLst>
                <a:uLnTx/>
                <a:uFillTx/>
                <a:latin typeface="+mj-lt"/>
                <a:ea typeface="+mj-ea"/>
                <a:cs typeface="+mj-cs"/>
              </a:rPr>
              <a:t>局部性原理</a:t>
            </a:r>
            <a:endParaRPr kumimoji="0" lang="zh-CN" altLang="en-US" sz="3200" b="1" i="0" u="none" strike="noStrike" kern="0" cap="none" spc="0" normalizeH="0" baseline="0" noProof="0" dirty="0" smtClean="0">
              <a:ln>
                <a:noFill/>
              </a:ln>
              <a:solidFill>
                <a:srgbClr val="FFFF00"/>
              </a:solidFill>
              <a:effectLst>
                <a:outerShdw blurRad="38100" dist="38100" dir="2700000" algn="tl">
                  <a:srgbClr val="000000"/>
                </a:outerShdw>
              </a:effectLst>
              <a:uLnTx/>
              <a:uFillTx/>
              <a:latin typeface="+mj-lt"/>
              <a:ea typeface="+mj-ea"/>
              <a:cs typeface="+mj-cs"/>
            </a:endParaRPr>
          </a:p>
        </p:txBody>
      </p:sp>
      <p:sp>
        <p:nvSpPr>
          <p:cNvPr id="4421635" name="Rectangle 3"/>
          <p:cNvSpPr>
            <a:spLocks noGrp="1" noChangeArrowheads="1"/>
          </p:cNvSpPr>
          <p:nvPr>
            <p:ph idx="1"/>
          </p:nvPr>
        </p:nvSpPr>
        <p:spPr>
          <a:xfrm>
            <a:off x="498475" y="1862138"/>
            <a:ext cx="8277225" cy="4708525"/>
          </a:xfrm>
        </p:spPr>
        <p:txBody>
          <a:bodyPr vert="horz" wrap="square" lIns="91440" tIns="45720" rIns="91440" bIns="45720" numCol="1" anchor="t" anchorCtr="0" compatLnSpc="1">
            <a:spAutoFit/>
          </a:bodyPr>
          <a:lstStyle/>
          <a:p>
            <a:pPr marL="742950" marR="0" lvl="1" indent="-285750" algn="l" defTabSz="914400" rtl="0" eaLnBrk="1" fontAlgn="base" latinLnBrk="0" hangingPunct="1">
              <a:lnSpc>
                <a:spcPct val="100000"/>
              </a:lnSpc>
              <a:spcBef>
                <a:spcPts val="600"/>
              </a:spcBef>
              <a:spcAft>
                <a:spcPts val="60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当一道程序在计算机上运行时，多数存储器访问会在一个给定的时间间隔内仅访问少数的存储单元</a:t>
            </a:r>
            <a:endParaRPr kumimoji="0" lang="zh-CN" altLang="en-US" sz="28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1" fontAlgn="base" latinLnBrk="0" hangingPunct="1">
              <a:lnSpc>
                <a:spcPct val="100000"/>
              </a:lnSpc>
              <a:spcBef>
                <a:spcPts val="600"/>
              </a:spcBef>
              <a:spcAft>
                <a:spcPts val="60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rgbClr val="FFFF00"/>
                </a:solidFill>
                <a:effectLst>
                  <a:outerShdw blurRad="38100" dist="38100" dir="2700000" algn="tl">
                    <a:srgbClr val="000000"/>
                  </a:outerShdw>
                </a:effectLst>
                <a:uLnTx/>
                <a:uFillTx/>
                <a:latin typeface="+mn-lt"/>
                <a:ea typeface="+mn-ea"/>
              </a:rPr>
              <a:t>时间局部性</a:t>
            </a:r>
            <a:r>
              <a:rPr kumimoji="0" lang="zh-CN" altLang="en-US" sz="2800" b="1"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：当程序访问一个</a:t>
            </a:r>
            <a:r>
              <a:rPr kumimoji="0" lang="zh-CN" altLang="en-US" sz="2800" b="1" i="0" u="none" strike="noStrike" kern="0" cap="none" spc="0" normalizeH="0" baseline="0" noProof="0" dirty="0" smtClean="0">
                <a:ln>
                  <a:noFill/>
                </a:ln>
                <a:solidFill>
                  <a:schemeClr val="tx1"/>
                </a:solidFill>
                <a:effectLst/>
                <a:uLnTx/>
                <a:uFillTx/>
                <a:latin typeface="+mn-lt"/>
                <a:ea typeface="+mn-ea"/>
              </a:rPr>
              <a:t>存储单元</a:t>
            </a:r>
            <a:r>
              <a:rPr kumimoji="0" lang="zh-CN" altLang="en-US" sz="2800" b="1"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时，有很大可能的是程序会在</a:t>
            </a:r>
            <a:r>
              <a:rPr kumimoji="0" lang="zh-CN" altLang="en-US" sz="2800" b="1" i="0" u="none" strike="noStrike" kern="0" cap="none" spc="0" normalizeH="0" baseline="0" noProof="0" dirty="0" smtClean="0">
                <a:ln>
                  <a:noFill/>
                </a:ln>
                <a:solidFill>
                  <a:schemeClr val="tx1"/>
                </a:solidFill>
                <a:effectLst/>
                <a:uLnTx/>
                <a:uFillTx/>
                <a:latin typeface="+mn-lt"/>
                <a:ea typeface="+mn-ea"/>
              </a:rPr>
              <a:t>不久以后再次访问同一存储单元</a:t>
            </a:r>
            <a:r>
              <a:rPr kumimoji="0" lang="en-US" altLang="zh-CN" sz="2800" b="1" i="0" u="none" strike="noStrike" kern="0" cap="none" spc="0" normalizeH="0" baseline="0" noProof="0" dirty="0" smtClean="0">
                <a:ln>
                  <a:noFill/>
                </a:ln>
                <a:solidFill>
                  <a:schemeClr val="tx1"/>
                </a:solidFill>
                <a:effectLst/>
                <a:uLnTx/>
                <a:uFillTx/>
                <a:latin typeface="+mn-lt"/>
                <a:ea typeface="+mn-ea"/>
              </a:rPr>
              <a:t>(</a:t>
            </a:r>
            <a:r>
              <a:rPr kumimoji="0" lang="zh-CN" altLang="en-US" sz="2800" b="1" i="0" u="none" strike="noStrike" kern="0" cap="none" spc="0" normalizeH="0" baseline="0" noProof="0" dirty="0" smtClean="0">
                <a:ln>
                  <a:noFill/>
                </a:ln>
                <a:solidFill>
                  <a:srgbClr val="FFFF00"/>
                </a:solidFill>
                <a:effectLst/>
                <a:uLnTx/>
                <a:uFillTx/>
                <a:latin typeface="+mn-lt"/>
                <a:ea typeface="+mn-ea"/>
              </a:rPr>
              <a:t>如程序循环</a:t>
            </a:r>
            <a:r>
              <a:rPr kumimoji="0" lang="en-US" altLang="zh-CN" sz="2800" b="1" i="0" u="none" strike="noStrike" kern="0" cap="none" spc="0" normalizeH="0" baseline="0" noProof="0" dirty="0" smtClean="0">
                <a:ln>
                  <a:noFill/>
                </a:ln>
                <a:solidFill>
                  <a:schemeClr val="tx1"/>
                </a:solidFill>
                <a:effectLst/>
                <a:uLnTx/>
                <a:uFillTx/>
                <a:latin typeface="+mn-lt"/>
                <a:ea typeface="+mn-ea"/>
              </a:rPr>
              <a:t>)</a:t>
            </a:r>
            <a:endParaRPr kumimoji="0" lang="zh-CN" altLang="en-US" sz="28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1" fontAlgn="base" latinLnBrk="0" hangingPunct="1">
              <a:lnSpc>
                <a:spcPct val="100000"/>
              </a:lnSpc>
              <a:spcBef>
                <a:spcPts val="600"/>
              </a:spcBef>
              <a:spcAft>
                <a:spcPts val="60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rgbClr val="FFFF00"/>
                </a:solidFill>
                <a:effectLst>
                  <a:outerShdw blurRad="38100" dist="38100" dir="2700000" algn="tl">
                    <a:srgbClr val="000000"/>
                  </a:outerShdw>
                </a:effectLst>
                <a:uLnTx/>
                <a:uFillTx/>
                <a:latin typeface="+mn-lt"/>
                <a:ea typeface="+mn-ea"/>
              </a:rPr>
              <a:t>空间局部性</a:t>
            </a:r>
            <a:r>
              <a:rPr kumimoji="0" lang="zh-CN" altLang="en-US" sz="2800" b="1"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：程序倾向于访问离最近访问位置较近的</a:t>
            </a:r>
            <a:r>
              <a:rPr kumimoji="0" lang="zh-CN" altLang="en-US" sz="2800" b="1" i="0" u="none" strike="noStrike" kern="0" cap="none" spc="0" normalizeH="0" baseline="0" noProof="0" dirty="0" smtClean="0">
                <a:ln>
                  <a:noFill/>
                </a:ln>
                <a:solidFill>
                  <a:schemeClr val="tx1"/>
                </a:solidFill>
                <a:effectLst/>
                <a:uLnTx/>
                <a:uFillTx/>
                <a:latin typeface="+mn-lt"/>
                <a:ea typeface="+mn-ea"/>
              </a:rPr>
              <a:t>存储单元</a:t>
            </a:r>
            <a:r>
              <a:rPr kumimoji="0" lang="zh-CN" altLang="en-US" sz="2800" b="1"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，其可能性多于访问较远的位置</a:t>
            </a:r>
            <a:r>
              <a:rPr kumimoji="0" lang="en-US" altLang="zh-CN" sz="2800" b="1" i="0" u="none" strike="noStrike" kern="0" cap="none" spc="0" normalizeH="0" baseline="0" noProof="0" dirty="0" smtClean="0">
                <a:ln>
                  <a:noFill/>
                </a:ln>
                <a:solidFill>
                  <a:schemeClr val="tx1"/>
                </a:solidFill>
                <a:effectLst/>
                <a:uLnTx/>
                <a:uFillTx/>
                <a:latin typeface="+mn-lt"/>
                <a:ea typeface="+mn-ea"/>
              </a:rPr>
              <a:t>(</a:t>
            </a:r>
            <a:r>
              <a:rPr kumimoji="0" lang="zh-CN" altLang="en-US" sz="2800" b="1" i="0" u="none" strike="noStrike" kern="0" cap="none" spc="0" normalizeH="0" baseline="0" noProof="0" dirty="0" smtClean="0">
                <a:ln>
                  <a:noFill/>
                </a:ln>
                <a:solidFill>
                  <a:schemeClr val="tx1"/>
                </a:solidFill>
                <a:effectLst/>
                <a:uLnTx/>
                <a:uFillTx/>
                <a:latin typeface="+mn-lt"/>
                <a:ea typeface="+mn-ea"/>
              </a:rPr>
              <a:t>通常程序中数据是聚集存放的</a:t>
            </a:r>
            <a:r>
              <a:rPr kumimoji="0" lang="zh-CN" altLang="en-US" sz="2800" b="1"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800" b="1" i="0" u="none" strike="noStrike" kern="0" cap="none" spc="0" normalizeH="0" baseline="0" noProof="0" dirty="0" smtClean="0">
                <a:ln>
                  <a:noFill/>
                </a:ln>
                <a:solidFill>
                  <a:srgbClr val="FFFF00"/>
                </a:solidFill>
                <a:effectLst/>
                <a:uLnTx/>
                <a:uFillTx/>
                <a:latin typeface="+mn-lt"/>
                <a:ea typeface="+mn-ea"/>
              </a:rPr>
              <a:t>如向量、数组、树、表等</a:t>
            </a:r>
            <a:r>
              <a:rPr kumimoji="0" lang="en-US" altLang="zh-CN" sz="2800" b="1" i="0" u="none" strike="noStrike" kern="0" cap="none" spc="0" normalizeH="0" baseline="0" noProof="0" dirty="0" smtClean="0">
                <a:ln>
                  <a:noFill/>
                </a:ln>
                <a:solidFill>
                  <a:schemeClr val="tx1"/>
                </a:solidFill>
                <a:effectLst/>
                <a:uLnTx/>
                <a:uFillTx/>
                <a:latin typeface="+mn-lt"/>
                <a:ea typeface="+mn-ea"/>
              </a:rPr>
              <a:t>)</a:t>
            </a:r>
            <a:endParaRPr kumimoji="0" lang="zh-CN" altLang="en-US" sz="2800" b="1" i="0" u="none" strike="noStrike" kern="0" cap="none" spc="0" normalizeH="0" baseline="0" noProof="0" dirty="0" smtClean="0">
              <a:ln>
                <a:noFill/>
              </a:ln>
              <a:solidFill>
                <a:schemeClr val="tx1"/>
              </a:solidFill>
              <a:effectLst/>
              <a:uLnTx/>
              <a:uFillTx/>
              <a:latin typeface="+mn-lt"/>
              <a:ea typeface="+mn-ea"/>
            </a:endParaRPr>
          </a:p>
        </p:txBody>
      </p:sp>
      <p:sp>
        <p:nvSpPr>
          <p:cNvPr id="4421637" name="Rectangle 5"/>
          <p:cNvSpPr>
            <a:spLocks noChangeArrowheads="1"/>
          </p:cNvSpPr>
          <p:nvPr/>
        </p:nvSpPr>
        <p:spPr bwMode="auto">
          <a:xfrm>
            <a:off x="646113" y="182563"/>
            <a:ext cx="8016875" cy="714375"/>
          </a:xfrm>
          <a:prstGeom prst="rect">
            <a:avLst/>
          </a:prstGeom>
          <a:noFill/>
          <a:ln w="9525">
            <a:noFill/>
            <a:miter lim="800000"/>
          </a:ln>
          <a:effectLst/>
        </p:spPr>
        <p:txBody>
          <a:bodyPr>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n-cs"/>
              </a:rPr>
              <a:t>回顾－存储器的层次结构</a:t>
            </a:r>
            <a:endParaRPr kumimoji="0" lang="zh-CN" altLang="en-US" sz="4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n-cs"/>
            </a:endParaRPr>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9346" name="Rectangle 2"/>
          <p:cNvSpPr>
            <a:spLocks noGrp="1" noChangeArrowheads="1"/>
          </p:cNvSpPr>
          <p:nvPr>
            <p:ph type="title" idx="4294967295"/>
          </p:nvPr>
        </p:nvSpPr>
        <p:spPr>
          <a:xfrm>
            <a:off x="646113" y="266700"/>
            <a:ext cx="8016875" cy="714375"/>
          </a:xfrm>
        </p:spPr>
        <p:txBody>
          <a:bodyPr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回顾－存储器的层次结构</a:t>
            </a:r>
            <a:endPar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endParaRPr>
          </a:p>
        </p:txBody>
      </p:sp>
      <p:grpSp>
        <p:nvGrpSpPr>
          <p:cNvPr id="64515" name="Group 47"/>
          <p:cNvGrpSpPr/>
          <p:nvPr/>
        </p:nvGrpSpPr>
        <p:grpSpPr>
          <a:xfrm>
            <a:off x="395288" y="1466850"/>
            <a:ext cx="8670925" cy="5294313"/>
            <a:chOff x="249" y="924"/>
            <a:chExt cx="5462" cy="3335"/>
          </a:xfrm>
        </p:grpSpPr>
        <p:sp>
          <p:nvSpPr>
            <p:cNvPr id="4409348" name="Line 4"/>
            <p:cNvSpPr>
              <a:spLocks noChangeShapeType="1"/>
            </p:cNvSpPr>
            <p:nvPr/>
          </p:nvSpPr>
          <p:spPr bwMode="auto">
            <a:xfrm>
              <a:off x="1063" y="3903"/>
              <a:ext cx="4291" cy="9"/>
            </a:xfrm>
            <a:prstGeom prst="line">
              <a:avLst/>
            </a:prstGeom>
            <a:noFill/>
            <a:ln w="28575">
              <a:solidFill>
                <a:srgbClr val="00FF00"/>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49" name="Line 5"/>
            <p:cNvSpPr>
              <a:spLocks noChangeShapeType="1"/>
            </p:cNvSpPr>
            <p:nvPr/>
          </p:nvSpPr>
          <p:spPr bwMode="auto">
            <a:xfrm flipV="1">
              <a:off x="1063" y="924"/>
              <a:ext cx="2038" cy="2986"/>
            </a:xfrm>
            <a:prstGeom prst="line">
              <a:avLst/>
            </a:prstGeom>
            <a:noFill/>
            <a:ln w="28575">
              <a:solidFill>
                <a:srgbClr val="00FF00"/>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50" name="Line 6"/>
            <p:cNvSpPr>
              <a:spLocks noChangeShapeType="1"/>
            </p:cNvSpPr>
            <p:nvPr/>
          </p:nvSpPr>
          <p:spPr bwMode="auto">
            <a:xfrm>
              <a:off x="3112" y="924"/>
              <a:ext cx="2239" cy="2991"/>
            </a:xfrm>
            <a:prstGeom prst="line">
              <a:avLst/>
            </a:prstGeom>
            <a:noFill/>
            <a:ln w="28575">
              <a:solidFill>
                <a:srgbClr val="00FF00"/>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51" name="Line 7"/>
            <p:cNvSpPr>
              <a:spLocks noChangeShapeType="1"/>
            </p:cNvSpPr>
            <p:nvPr/>
          </p:nvSpPr>
          <p:spPr bwMode="auto">
            <a:xfrm>
              <a:off x="1368" y="3481"/>
              <a:ext cx="3653" cy="8"/>
            </a:xfrm>
            <a:prstGeom prst="line">
              <a:avLst/>
            </a:prstGeom>
            <a:noFill/>
            <a:ln w="28575">
              <a:solidFill>
                <a:srgbClr val="00FF00"/>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52" name="Text Box 8"/>
            <p:cNvSpPr txBox="1">
              <a:spLocks noChangeArrowheads="1"/>
            </p:cNvSpPr>
            <p:nvPr/>
          </p:nvSpPr>
          <p:spPr bwMode="auto">
            <a:xfrm>
              <a:off x="1463" y="3542"/>
              <a:ext cx="3508" cy="288"/>
            </a:xfrm>
            <a:prstGeom prst="rect">
              <a:avLst/>
            </a:prstGeom>
            <a:noFill/>
            <a:ln w="9525">
              <a:noFill/>
              <a:miter lim="800000"/>
            </a:ln>
            <a:effectLst/>
          </p:spPr>
          <p:txBody>
            <a:bodyPr wrap="none">
              <a:spAutoFit/>
            </a:bodyPr>
            <a:lstStyle>
              <a:lvl1pPr eaLnBrk="0" hangingPunct="0">
                <a:defRPr sz="2400" b="1">
                  <a:solidFill>
                    <a:schemeClr val="tx2"/>
                  </a:solidFill>
                  <a:latin typeface="Arial" panose="020B0604020202020204" pitchFamily="34" charset="0"/>
                  <a:ea typeface="宋体" panose="02010600030101010101" pitchFamily="2" charset="-122"/>
                </a:defRPr>
              </a:lvl1pPr>
              <a:lvl2pPr marL="742950" indent="-285750" eaLnBrk="0" hangingPunct="0">
                <a:defRPr sz="2400" b="1">
                  <a:solidFill>
                    <a:schemeClr val="tx2"/>
                  </a:solidFill>
                  <a:latin typeface="Arial" panose="020B0604020202020204" pitchFamily="34" charset="0"/>
                  <a:ea typeface="宋体" panose="02010600030101010101" pitchFamily="2" charset="-122"/>
                </a:defRPr>
              </a:lvl2pPr>
              <a:lvl3pPr marL="1143000" indent="-228600" eaLnBrk="0" hangingPunct="0">
                <a:defRPr sz="2400" b="1">
                  <a:solidFill>
                    <a:schemeClr val="tx2"/>
                  </a:solidFill>
                  <a:latin typeface="Arial" panose="020B0604020202020204" pitchFamily="34" charset="0"/>
                  <a:ea typeface="宋体" panose="02010600030101010101" pitchFamily="2" charset="-122"/>
                </a:defRPr>
              </a:lvl3pPr>
              <a:lvl4pPr marL="1600200" indent="-228600" eaLnBrk="0" hangingPunct="0">
                <a:defRPr sz="2400" b="1">
                  <a:solidFill>
                    <a:schemeClr val="tx2"/>
                  </a:solidFill>
                  <a:latin typeface="Arial" panose="020B0604020202020204" pitchFamily="34" charset="0"/>
                  <a:ea typeface="宋体" panose="02010600030101010101" pitchFamily="2" charset="-122"/>
                </a:defRPr>
              </a:lvl4pPr>
              <a:lvl5pPr marL="2057400" indent="-228600" eaLnBrk="0" hangingPunct="0">
                <a:defRPr sz="2400" b="1">
                  <a:solidFill>
                    <a:schemeClr val="tx2"/>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远程二级存储</a:t>
              </a:r>
              <a:r>
                <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a:t>
              </a:r>
              <a:r>
                <a:rPr kumimoji="0" lang="zh-CN" altLang="en-US"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分布式文件，</a:t>
              </a:r>
              <a:r>
                <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Web</a:t>
              </a:r>
              <a:r>
                <a:rPr kumimoji="0" lang="zh-CN" altLang="en-US"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服务器</a:t>
              </a:r>
              <a:r>
                <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a:t>
              </a:r>
              <a:endPar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p:txBody>
        </p:sp>
        <p:sp>
          <p:nvSpPr>
            <p:cNvPr id="4409353" name="Line 9"/>
            <p:cNvSpPr>
              <a:spLocks noChangeShapeType="1"/>
            </p:cNvSpPr>
            <p:nvPr/>
          </p:nvSpPr>
          <p:spPr bwMode="auto">
            <a:xfrm flipV="1">
              <a:off x="1675" y="3031"/>
              <a:ext cx="2988" cy="11"/>
            </a:xfrm>
            <a:prstGeom prst="line">
              <a:avLst/>
            </a:prstGeom>
            <a:noFill/>
            <a:ln w="28575">
              <a:solidFill>
                <a:srgbClr val="00FF00"/>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54" name="Text Box 10"/>
            <p:cNvSpPr txBox="1">
              <a:spLocks noChangeArrowheads="1"/>
            </p:cNvSpPr>
            <p:nvPr/>
          </p:nvSpPr>
          <p:spPr bwMode="auto">
            <a:xfrm>
              <a:off x="2105" y="3126"/>
              <a:ext cx="2164" cy="288"/>
            </a:xfrm>
            <a:prstGeom prst="rect">
              <a:avLst/>
            </a:prstGeom>
            <a:noFill/>
            <a:ln w="9525">
              <a:noFill/>
              <a:miter lim="800000"/>
            </a:ln>
            <a:effectLst/>
          </p:spPr>
          <p:txBody>
            <a:bodyPr wrap="none">
              <a:spAutoFit/>
            </a:bodyPr>
            <a:lstStyle>
              <a:lvl1pPr eaLnBrk="0" hangingPunct="0">
                <a:defRPr sz="2400" b="1">
                  <a:solidFill>
                    <a:schemeClr val="tx2"/>
                  </a:solidFill>
                  <a:latin typeface="Arial" panose="020B0604020202020204" pitchFamily="34" charset="0"/>
                  <a:ea typeface="宋体" panose="02010600030101010101" pitchFamily="2" charset="-122"/>
                </a:defRPr>
              </a:lvl1pPr>
              <a:lvl2pPr marL="742950" indent="-285750" eaLnBrk="0" hangingPunct="0">
                <a:defRPr sz="2400" b="1">
                  <a:solidFill>
                    <a:schemeClr val="tx2"/>
                  </a:solidFill>
                  <a:latin typeface="Arial" panose="020B0604020202020204" pitchFamily="34" charset="0"/>
                  <a:ea typeface="宋体" panose="02010600030101010101" pitchFamily="2" charset="-122"/>
                </a:defRPr>
              </a:lvl2pPr>
              <a:lvl3pPr marL="1143000" indent="-228600" eaLnBrk="0" hangingPunct="0">
                <a:defRPr sz="2400" b="1">
                  <a:solidFill>
                    <a:schemeClr val="tx2"/>
                  </a:solidFill>
                  <a:latin typeface="Arial" panose="020B0604020202020204" pitchFamily="34" charset="0"/>
                  <a:ea typeface="宋体" panose="02010600030101010101" pitchFamily="2" charset="-122"/>
                </a:defRPr>
              </a:lvl3pPr>
              <a:lvl4pPr marL="1600200" indent="-228600" eaLnBrk="0" hangingPunct="0">
                <a:defRPr sz="2400" b="1">
                  <a:solidFill>
                    <a:schemeClr val="tx2"/>
                  </a:solidFill>
                  <a:latin typeface="Arial" panose="020B0604020202020204" pitchFamily="34" charset="0"/>
                  <a:ea typeface="宋体" panose="02010600030101010101" pitchFamily="2" charset="-122"/>
                </a:defRPr>
              </a:lvl4pPr>
              <a:lvl5pPr marL="2057400" indent="-228600" eaLnBrk="0" hangingPunct="0">
                <a:defRPr sz="2400" b="1">
                  <a:solidFill>
                    <a:schemeClr val="tx2"/>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本地二级存储</a:t>
              </a:r>
              <a:r>
                <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a:t>
              </a:r>
              <a:r>
                <a:rPr kumimoji="0" lang="zh-CN" altLang="en-US"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本地磁盘</a:t>
              </a:r>
              <a:r>
                <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a:t>
              </a:r>
              <a:endPar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p:txBody>
        </p:sp>
        <p:sp>
          <p:nvSpPr>
            <p:cNvPr id="4409355" name="Line 11"/>
            <p:cNvSpPr>
              <a:spLocks noChangeShapeType="1"/>
            </p:cNvSpPr>
            <p:nvPr/>
          </p:nvSpPr>
          <p:spPr bwMode="auto">
            <a:xfrm>
              <a:off x="1953" y="2608"/>
              <a:ext cx="2441" cy="1"/>
            </a:xfrm>
            <a:prstGeom prst="line">
              <a:avLst/>
            </a:prstGeom>
            <a:noFill/>
            <a:ln w="28575">
              <a:solidFill>
                <a:srgbClr val="00FF00"/>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56" name="Text Box 12"/>
            <p:cNvSpPr txBox="1">
              <a:spLocks noChangeArrowheads="1"/>
            </p:cNvSpPr>
            <p:nvPr/>
          </p:nvSpPr>
          <p:spPr bwMode="auto">
            <a:xfrm>
              <a:off x="2347" y="2675"/>
              <a:ext cx="1610" cy="288"/>
            </a:xfrm>
            <a:prstGeom prst="rect">
              <a:avLst/>
            </a:prstGeom>
            <a:noFill/>
            <a:ln w="9525">
              <a:noFill/>
              <a:miter lim="800000"/>
            </a:ln>
            <a:effectLst/>
          </p:spPr>
          <p:txBody>
            <a:bodyPr wrap="none">
              <a:spAutoFit/>
            </a:bodyPr>
            <a:lstStyle>
              <a:lvl1pPr eaLnBrk="0" hangingPunct="0">
                <a:defRPr sz="2400" b="1">
                  <a:solidFill>
                    <a:schemeClr val="tx2"/>
                  </a:solidFill>
                  <a:latin typeface="Arial" panose="020B0604020202020204" pitchFamily="34" charset="0"/>
                  <a:ea typeface="宋体" panose="02010600030101010101" pitchFamily="2" charset="-122"/>
                </a:defRPr>
              </a:lvl1pPr>
              <a:lvl2pPr marL="742950" indent="-285750" eaLnBrk="0" hangingPunct="0">
                <a:defRPr sz="2400" b="1">
                  <a:solidFill>
                    <a:schemeClr val="tx2"/>
                  </a:solidFill>
                  <a:latin typeface="Arial" panose="020B0604020202020204" pitchFamily="34" charset="0"/>
                  <a:ea typeface="宋体" panose="02010600030101010101" pitchFamily="2" charset="-122"/>
                </a:defRPr>
              </a:lvl2pPr>
              <a:lvl3pPr marL="1143000" indent="-228600" eaLnBrk="0" hangingPunct="0">
                <a:defRPr sz="2400" b="1">
                  <a:solidFill>
                    <a:schemeClr val="tx2"/>
                  </a:solidFill>
                  <a:latin typeface="Arial" panose="020B0604020202020204" pitchFamily="34" charset="0"/>
                  <a:ea typeface="宋体" panose="02010600030101010101" pitchFamily="2" charset="-122"/>
                </a:defRPr>
              </a:lvl3pPr>
              <a:lvl4pPr marL="1600200" indent="-228600" eaLnBrk="0" hangingPunct="0">
                <a:defRPr sz="2400" b="1">
                  <a:solidFill>
                    <a:schemeClr val="tx2"/>
                  </a:solidFill>
                  <a:latin typeface="Arial" panose="020B0604020202020204" pitchFamily="34" charset="0"/>
                  <a:ea typeface="宋体" panose="02010600030101010101" pitchFamily="2" charset="-122"/>
                </a:defRPr>
              </a:lvl4pPr>
              <a:lvl5pPr marL="2057400" indent="-228600" eaLnBrk="0" hangingPunct="0">
                <a:defRPr sz="2400" b="1">
                  <a:solidFill>
                    <a:schemeClr val="tx2"/>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主存储器</a:t>
              </a:r>
              <a:r>
                <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(DRAM)</a:t>
              </a:r>
              <a:endPar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p:txBody>
        </p:sp>
        <p:sp>
          <p:nvSpPr>
            <p:cNvPr id="4409357" name="Line 13"/>
            <p:cNvSpPr>
              <a:spLocks noChangeShapeType="1"/>
            </p:cNvSpPr>
            <p:nvPr/>
          </p:nvSpPr>
          <p:spPr bwMode="auto">
            <a:xfrm>
              <a:off x="2336" y="2082"/>
              <a:ext cx="1618" cy="0"/>
            </a:xfrm>
            <a:prstGeom prst="line">
              <a:avLst/>
            </a:prstGeom>
            <a:noFill/>
            <a:ln w="28575">
              <a:solidFill>
                <a:srgbClr val="00FF00"/>
              </a:solidFill>
              <a:rou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58" name="Text Box 14"/>
            <p:cNvSpPr txBox="1">
              <a:spLocks noChangeArrowheads="1"/>
            </p:cNvSpPr>
            <p:nvPr/>
          </p:nvSpPr>
          <p:spPr bwMode="auto">
            <a:xfrm>
              <a:off x="2344" y="2084"/>
              <a:ext cx="1578" cy="518"/>
            </a:xfrm>
            <a:prstGeom prst="rect">
              <a:avLst/>
            </a:prstGeom>
            <a:noFill/>
            <a:ln w="9525">
              <a:noFill/>
              <a:miter lim="800000"/>
            </a:ln>
            <a:effectLst/>
          </p:spPr>
          <p:txBody>
            <a:bodyPr wrap="none">
              <a:spAutoFit/>
            </a:bodyPr>
            <a:lstStyle>
              <a:lvl1pPr eaLnBrk="0" hangingPunct="0">
                <a:defRPr sz="2400" b="1">
                  <a:solidFill>
                    <a:schemeClr val="tx2"/>
                  </a:solidFill>
                  <a:latin typeface="Arial" panose="020B0604020202020204" pitchFamily="34" charset="0"/>
                  <a:ea typeface="宋体" panose="02010600030101010101" pitchFamily="2" charset="-122"/>
                </a:defRPr>
              </a:lvl1pPr>
              <a:lvl2pPr marL="742950" indent="-285750" eaLnBrk="0" hangingPunct="0">
                <a:defRPr sz="2400" b="1">
                  <a:solidFill>
                    <a:schemeClr val="tx2"/>
                  </a:solidFill>
                  <a:latin typeface="Arial" panose="020B0604020202020204" pitchFamily="34" charset="0"/>
                  <a:ea typeface="宋体" panose="02010600030101010101" pitchFamily="2" charset="-122"/>
                </a:defRPr>
              </a:lvl2pPr>
              <a:lvl3pPr marL="1143000" indent="-228600" eaLnBrk="0" hangingPunct="0">
                <a:defRPr sz="2400" b="1">
                  <a:solidFill>
                    <a:schemeClr val="tx2"/>
                  </a:solidFill>
                  <a:latin typeface="Arial" panose="020B0604020202020204" pitchFamily="34" charset="0"/>
                  <a:ea typeface="宋体" panose="02010600030101010101" pitchFamily="2" charset="-122"/>
                </a:defRPr>
              </a:lvl3pPr>
              <a:lvl4pPr marL="1600200" indent="-228600" eaLnBrk="0" hangingPunct="0">
                <a:defRPr sz="2400" b="1">
                  <a:solidFill>
                    <a:schemeClr val="tx2"/>
                  </a:solidFill>
                  <a:latin typeface="Arial" panose="020B0604020202020204" pitchFamily="34" charset="0"/>
                  <a:ea typeface="宋体" panose="02010600030101010101" pitchFamily="2" charset="-122"/>
                </a:defRPr>
              </a:lvl4pPr>
              <a:lvl5pPr marL="2057400" indent="-228600" eaLnBrk="0" hangingPunct="0">
                <a:defRPr sz="2400" b="1">
                  <a:solidFill>
                    <a:schemeClr val="tx2"/>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芯片外的</a:t>
              </a:r>
              <a:r>
                <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L</a:t>
              </a:r>
              <a:r>
                <a:rPr kumimoji="0" lang="en-US" altLang="zh-CN" sz="2400" b="1" i="0" u="none" strike="noStrike" kern="1200" cap="none" spc="0" normalizeH="0" baseline="-25000" noProof="0" smtClean="0">
                  <a:ln>
                    <a:noFill/>
                  </a:ln>
                  <a:solidFill>
                    <a:schemeClr val="tx1"/>
                  </a:solidFill>
                  <a:effectLst/>
                  <a:uLnTx/>
                  <a:uFillTx/>
                  <a:latin typeface="Times New Roman" panose="02020603050405020304" pitchFamily="18" charset="0"/>
                  <a:ea typeface="华文新魏" panose="02010800040101010101" pitchFamily="2" charset="-122"/>
                  <a:cs typeface="+mn-cs"/>
                </a:rPr>
                <a:t>2</a:t>
              </a:r>
              <a:endParaRPr kumimoji="0" lang="en-US" altLang="zh-CN" sz="2400" b="1" i="0" u="none" strike="noStrike" kern="1200" cap="none" spc="0" normalizeH="0" baseline="-25000" noProof="0" smtClean="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高速缓存</a:t>
              </a:r>
              <a:r>
                <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(SRAM)</a:t>
              </a:r>
              <a:endPar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p:txBody>
        </p:sp>
        <p:sp>
          <p:nvSpPr>
            <p:cNvPr id="4409359" name="Text Box 15"/>
            <p:cNvSpPr txBox="1">
              <a:spLocks noChangeArrowheads="1"/>
            </p:cNvSpPr>
            <p:nvPr/>
          </p:nvSpPr>
          <p:spPr bwMode="auto">
            <a:xfrm>
              <a:off x="2358" y="1549"/>
              <a:ext cx="1578" cy="518"/>
            </a:xfrm>
            <a:prstGeom prst="rect">
              <a:avLst/>
            </a:prstGeom>
            <a:noFill/>
            <a:ln w="9525">
              <a:noFill/>
              <a:miter lim="800000"/>
            </a:ln>
            <a:effectLst/>
          </p:spPr>
          <p:txBody>
            <a:bodyPr wrap="none">
              <a:spAutoFit/>
            </a:bodyPr>
            <a:lstStyle>
              <a:lvl1pPr eaLnBrk="0" hangingPunct="0">
                <a:defRPr sz="2400" b="1">
                  <a:solidFill>
                    <a:schemeClr val="tx2"/>
                  </a:solidFill>
                  <a:latin typeface="Arial" panose="020B0604020202020204" pitchFamily="34" charset="0"/>
                  <a:ea typeface="宋体" panose="02010600030101010101" pitchFamily="2" charset="-122"/>
                </a:defRPr>
              </a:lvl1pPr>
              <a:lvl2pPr marL="742950" indent="-285750" eaLnBrk="0" hangingPunct="0">
                <a:defRPr sz="2400" b="1">
                  <a:solidFill>
                    <a:schemeClr val="tx2"/>
                  </a:solidFill>
                  <a:latin typeface="Arial" panose="020B0604020202020204" pitchFamily="34" charset="0"/>
                  <a:ea typeface="宋体" panose="02010600030101010101" pitchFamily="2" charset="-122"/>
                </a:defRPr>
              </a:lvl2pPr>
              <a:lvl3pPr marL="1143000" indent="-228600" eaLnBrk="0" hangingPunct="0">
                <a:defRPr sz="2400" b="1">
                  <a:solidFill>
                    <a:schemeClr val="tx2"/>
                  </a:solidFill>
                  <a:latin typeface="Arial" panose="020B0604020202020204" pitchFamily="34" charset="0"/>
                  <a:ea typeface="宋体" panose="02010600030101010101" pitchFamily="2" charset="-122"/>
                </a:defRPr>
              </a:lvl3pPr>
              <a:lvl4pPr marL="1600200" indent="-228600" eaLnBrk="0" hangingPunct="0">
                <a:defRPr sz="2400" b="1">
                  <a:solidFill>
                    <a:schemeClr val="tx2"/>
                  </a:solidFill>
                  <a:latin typeface="Arial" panose="020B0604020202020204" pitchFamily="34" charset="0"/>
                  <a:ea typeface="宋体" panose="02010600030101010101" pitchFamily="2" charset="-122"/>
                </a:defRPr>
              </a:lvl4pPr>
              <a:lvl5pPr marL="2057400" indent="-228600" eaLnBrk="0" hangingPunct="0">
                <a:defRPr sz="2400" b="1">
                  <a:solidFill>
                    <a:schemeClr val="tx2"/>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芯片上的</a:t>
              </a:r>
              <a:r>
                <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L</a:t>
              </a:r>
              <a:r>
                <a:rPr kumimoji="0" lang="en-US" altLang="zh-CN" sz="2400" b="1" i="0" u="none" strike="noStrike" kern="1200" cap="none" spc="0" normalizeH="0" baseline="-25000" noProof="0" smtClean="0">
                  <a:ln>
                    <a:noFill/>
                  </a:ln>
                  <a:solidFill>
                    <a:schemeClr val="tx1"/>
                  </a:solidFill>
                  <a:effectLst/>
                  <a:uLnTx/>
                  <a:uFillTx/>
                  <a:latin typeface="Times New Roman" panose="02020603050405020304" pitchFamily="18" charset="0"/>
                  <a:ea typeface="华文新魏" panose="02010800040101010101" pitchFamily="2" charset="-122"/>
                  <a:cs typeface="+mn-cs"/>
                </a:rPr>
                <a:t>1</a:t>
              </a:r>
              <a:endParaRPr kumimoji="0" lang="en-US" altLang="zh-CN" sz="2400" b="1" i="0" u="none" strike="noStrike" kern="1200" cap="none" spc="0" normalizeH="0" baseline="-25000" noProof="0" smtClean="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高速缓存</a:t>
              </a:r>
              <a:r>
                <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rPr>
                <a:t>(SRAM)</a:t>
              </a:r>
              <a:endParaRPr kumimoji="0" lang="en-US" altLang="zh-CN" sz="2400" b="1" i="0" u="none" strike="noStrike" kern="1200" cap="none" spc="0" normalizeH="0" baseline="0" noProof="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华文新魏" panose="02010800040101010101" pitchFamily="2" charset="-122"/>
                <a:cs typeface="+mn-cs"/>
              </a:endParaRPr>
            </a:p>
          </p:txBody>
        </p:sp>
        <p:sp>
          <p:nvSpPr>
            <p:cNvPr id="4409361" name="Text Box 17"/>
            <p:cNvSpPr txBox="1">
              <a:spLocks noChangeArrowheads="1"/>
            </p:cNvSpPr>
            <p:nvPr/>
          </p:nvSpPr>
          <p:spPr bwMode="auto">
            <a:xfrm>
              <a:off x="2748" y="1217"/>
              <a:ext cx="692" cy="288"/>
            </a:xfrm>
            <a:prstGeom prst="rect">
              <a:avLst/>
            </a:prstGeom>
            <a:noFill/>
            <a:ln w="9525">
              <a:noFill/>
              <a:miter lim="800000"/>
            </a:ln>
            <a:effectLst/>
          </p:spPr>
          <p:txBody>
            <a:bodyPr wrap="none">
              <a:spAutoFit/>
            </a:bodyPr>
            <a:lstStyle/>
            <a:p>
              <a:pPr marR="0" algn="ctr" defTabSz="914400" eaLnBrk="1" hangingPunct="1">
                <a:buClrTx/>
                <a:buSzTx/>
                <a:buFontTx/>
                <a:buNone/>
                <a:defRPr/>
              </a:pPr>
              <a:r>
                <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寄存器</a:t>
              </a:r>
              <a:endPar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p:txBody>
        </p:sp>
        <p:sp>
          <p:nvSpPr>
            <p:cNvPr id="4409362" name="Text Box 18"/>
            <p:cNvSpPr txBox="1">
              <a:spLocks noChangeArrowheads="1"/>
            </p:cNvSpPr>
            <p:nvPr/>
          </p:nvSpPr>
          <p:spPr bwMode="auto">
            <a:xfrm>
              <a:off x="2510" y="1129"/>
              <a:ext cx="308" cy="288"/>
            </a:xfrm>
            <a:prstGeom prst="rect">
              <a:avLst/>
            </a:prstGeom>
            <a:noFill/>
            <a:ln w="9525">
              <a:noFill/>
              <a:miter lim="800000"/>
            </a:ln>
            <a:effectLst/>
          </p:spPr>
          <p:txBody>
            <a:bodyPr wrap="none">
              <a:spAutoFit/>
            </a:bodyPr>
            <a:lstStyle/>
            <a:p>
              <a:pPr marR="0" algn="ctr" defTabSz="914400" eaLnBrk="1" hangingPunct="1">
                <a:buClrTx/>
                <a:buSzTx/>
                <a:buFontTx/>
                <a:buNone/>
                <a:defRPr/>
              </a:pPr>
              <a:r>
                <a:rPr kumimoji="0" lang="en-US" altLang="zh-CN"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L</a:t>
              </a:r>
              <a:r>
                <a:rPr kumimoji="0" lang="en-US" altLang="zh-CN" kern="1200" cap="none" spc="0" normalizeH="0" baseline="-2500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0</a:t>
              </a:r>
              <a:endParaRPr kumimoji="0" lang="en-US" altLang="zh-CN" kern="1200" cap="none" spc="0" normalizeH="0" baseline="-2500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p:txBody>
        </p:sp>
        <p:sp>
          <p:nvSpPr>
            <p:cNvPr id="4409363" name="Text Box 19"/>
            <p:cNvSpPr txBox="1">
              <a:spLocks noChangeArrowheads="1"/>
            </p:cNvSpPr>
            <p:nvPr/>
          </p:nvSpPr>
          <p:spPr bwMode="auto">
            <a:xfrm>
              <a:off x="2108" y="1648"/>
              <a:ext cx="308" cy="288"/>
            </a:xfrm>
            <a:prstGeom prst="rect">
              <a:avLst/>
            </a:prstGeom>
            <a:noFill/>
            <a:ln w="9525">
              <a:noFill/>
              <a:miter lim="800000"/>
            </a:ln>
            <a:effectLst/>
          </p:spPr>
          <p:txBody>
            <a:bodyPr wrap="none">
              <a:spAutoFit/>
            </a:bodyPr>
            <a:lstStyle/>
            <a:p>
              <a:pPr marR="0" algn="ctr" defTabSz="914400" eaLnBrk="1" hangingPunct="1">
                <a:buClrTx/>
                <a:buSzTx/>
                <a:buFontTx/>
                <a:buNone/>
                <a:defRPr/>
              </a:pPr>
              <a:r>
                <a:rPr kumimoji="0" lang="en-US" altLang="zh-CN"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L</a:t>
              </a:r>
              <a:r>
                <a:rPr kumimoji="0" lang="en-US" altLang="zh-CN" kern="1200" cap="none" spc="0" normalizeH="0" baseline="-2500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1</a:t>
              </a:r>
              <a:endParaRPr kumimoji="0" lang="en-US" altLang="zh-CN" kern="1200" cap="none" spc="0" normalizeH="0" baseline="-2500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p:txBody>
        </p:sp>
        <p:sp>
          <p:nvSpPr>
            <p:cNvPr id="4409364" name="Text Box 20"/>
            <p:cNvSpPr txBox="1">
              <a:spLocks noChangeArrowheads="1"/>
            </p:cNvSpPr>
            <p:nvPr/>
          </p:nvSpPr>
          <p:spPr bwMode="auto">
            <a:xfrm>
              <a:off x="1791" y="2178"/>
              <a:ext cx="308" cy="288"/>
            </a:xfrm>
            <a:prstGeom prst="rect">
              <a:avLst/>
            </a:prstGeom>
            <a:noFill/>
            <a:ln w="9525">
              <a:noFill/>
              <a:miter lim="800000"/>
            </a:ln>
            <a:effectLst/>
          </p:spPr>
          <p:txBody>
            <a:bodyPr wrap="none">
              <a:spAutoFit/>
            </a:bodyPr>
            <a:lstStyle/>
            <a:p>
              <a:pPr marR="0" algn="ctr" defTabSz="914400" eaLnBrk="1" hangingPunct="1">
                <a:buClrTx/>
                <a:buSzTx/>
                <a:buFontTx/>
                <a:buNone/>
                <a:defRPr/>
              </a:pPr>
              <a:r>
                <a:rPr kumimoji="0" lang="en-US" altLang="zh-CN"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L</a:t>
              </a:r>
              <a:r>
                <a:rPr kumimoji="0" lang="en-US" altLang="zh-CN" kern="1200" cap="none" spc="0" normalizeH="0" baseline="-2500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2</a:t>
              </a:r>
              <a:endParaRPr kumimoji="0" lang="en-US" altLang="zh-CN" kern="1200" cap="none" spc="0" normalizeH="0" baseline="-2500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p:txBody>
        </p:sp>
        <p:sp>
          <p:nvSpPr>
            <p:cNvPr id="4409365" name="Text Box 21"/>
            <p:cNvSpPr txBox="1">
              <a:spLocks noChangeArrowheads="1"/>
            </p:cNvSpPr>
            <p:nvPr/>
          </p:nvSpPr>
          <p:spPr bwMode="auto">
            <a:xfrm>
              <a:off x="1483" y="2602"/>
              <a:ext cx="308" cy="288"/>
            </a:xfrm>
            <a:prstGeom prst="rect">
              <a:avLst/>
            </a:prstGeom>
            <a:noFill/>
            <a:ln w="9525">
              <a:noFill/>
              <a:miter lim="800000"/>
            </a:ln>
            <a:effectLst/>
          </p:spPr>
          <p:txBody>
            <a:bodyPr wrap="none">
              <a:spAutoFit/>
            </a:bodyPr>
            <a:lstStyle/>
            <a:p>
              <a:pPr marR="0" algn="ctr" defTabSz="914400" eaLnBrk="1" hangingPunct="1">
                <a:buClrTx/>
                <a:buSzTx/>
                <a:buFontTx/>
                <a:buNone/>
                <a:defRPr/>
              </a:pPr>
              <a:r>
                <a:rPr kumimoji="0" lang="en-US" altLang="zh-CN"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L</a:t>
              </a:r>
              <a:r>
                <a:rPr kumimoji="0" lang="en-US" altLang="zh-CN" kern="1200" cap="none" spc="0" normalizeH="0" baseline="-2500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3</a:t>
              </a:r>
              <a:endParaRPr kumimoji="0" lang="en-US" altLang="zh-CN" kern="1200" cap="none" spc="0" normalizeH="0" baseline="-2500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p:txBody>
        </p:sp>
        <p:sp>
          <p:nvSpPr>
            <p:cNvPr id="4409366" name="Text Box 22"/>
            <p:cNvSpPr txBox="1">
              <a:spLocks noChangeArrowheads="1"/>
            </p:cNvSpPr>
            <p:nvPr/>
          </p:nvSpPr>
          <p:spPr bwMode="auto">
            <a:xfrm>
              <a:off x="1195" y="3010"/>
              <a:ext cx="308" cy="288"/>
            </a:xfrm>
            <a:prstGeom prst="rect">
              <a:avLst/>
            </a:prstGeom>
            <a:noFill/>
            <a:ln w="9525">
              <a:noFill/>
              <a:miter lim="800000"/>
            </a:ln>
            <a:effectLst/>
          </p:spPr>
          <p:txBody>
            <a:bodyPr wrap="none">
              <a:spAutoFit/>
            </a:bodyPr>
            <a:lstStyle/>
            <a:p>
              <a:pPr marR="0" algn="ctr" defTabSz="914400" eaLnBrk="1" hangingPunct="1">
                <a:buClrTx/>
                <a:buSzTx/>
                <a:buFontTx/>
                <a:buNone/>
                <a:defRPr/>
              </a:pPr>
              <a:r>
                <a:rPr kumimoji="0" lang="en-US" altLang="zh-CN"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L</a:t>
              </a:r>
              <a:r>
                <a:rPr kumimoji="0" lang="en-US" altLang="zh-CN" kern="1200" cap="none" spc="0" normalizeH="0" baseline="-2500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4</a:t>
              </a:r>
              <a:endParaRPr kumimoji="0" lang="en-US" altLang="zh-CN" kern="1200" cap="none" spc="0" normalizeH="0" baseline="-2500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p:txBody>
        </p:sp>
        <p:sp>
          <p:nvSpPr>
            <p:cNvPr id="4409367" name="Text Box 23"/>
            <p:cNvSpPr txBox="1">
              <a:spLocks noChangeArrowheads="1"/>
            </p:cNvSpPr>
            <p:nvPr/>
          </p:nvSpPr>
          <p:spPr bwMode="auto">
            <a:xfrm>
              <a:off x="893" y="3509"/>
              <a:ext cx="308" cy="288"/>
            </a:xfrm>
            <a:prstGeom prst="rect">
              <a:avLst/>
            </a:prstGeom>
            <a:noFill/>
            <a:ln w="9525">
              <a:noFill/>
              <a:miter lim="800000"/>
            </a:ln>
            <a:effectLst/>
          </p:spPr>
          <p:txBody>
            <a:bodyPr wrap="none">
              <a:spAutoFit/>
            </a:bodyPr>
            <a:lstStyle/>
            <a:p>
              <a:pPr marR="0" algn="ctr" defTabSz="914400" eaLnBrk="1" hangingPunct="1">
                <a:buClrTx/>
                <a:buSzTx/>
                <a:buFontTx/>
                <a:buNone/>
                <a:defRPr/>
              </a:pPr>
              <a:r>
                <a:rPr kumimoji="0" lang="en-US" altLang="zh-CN" kern="1200" cap="none" spc="0" normalizeH="0" baseline="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L</a:t>
              </a:r>
              <a:r>
                <a:rPr kumimoji="0" lang="en-US" altLang="zh-CN" kern="1200" cap="none" spc="0" normalizeH="0" baseline="-2500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5</a:t>
              </a:r>
              <a:endParaRPr kumimoji="0" lang="en-US" altLang="zh-CN" kern="1200" cap="none" spc="0" normalizeH="0" baseline="-25000" noProof="0">
                <a:solidFill>
                  <a:srgbClr val="FFFF00"/>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p:txBody>
        </p:sp>
        <p:sp>
          <p:nvSpPr>
            <p:cNvPr id="4409368" name="Line 24"/>
            <p:cNvSpPr>
              <a:spLocks noChangeShapeType="1"/>
            </p:cNvSpPr>
            <p:nvPr/>
          </p:nvSpPr>
          <p:spPr bwMode="auto">
            <a:xfrm>
              <a:off x="258" y="2633"/>
              <a:ext cx="0" cy="1219"/>
            </a:xfrm>
            <a:prstGeom prst="line">
              <a:avLst/>
            </a:prstGeom>
            <a:noFill/>
            <a:ln w="57150">
              <a:solidFill>
                <a:srgbClr val="D71501"/>
              </a:solidFill>
              <a:round/>
              <a:tailEnd type="triangle" w="med" len="me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69" name="Text Box 25"/>
            <p:cNvSpPr txBox="1">
              <a:spLocks noChangeArrowheads="1"/>
            </p:cNvSpPr>
            <p:nvPr/>
          </p:nvSpPr>
          <p:spPr bwMode="auto">
            <a:xfrm>
              <a:off x="275" y="2617"/>
              <a:ext cx="884" cy="978"/>
            </a:xfrm>
            <a:prstGeom prst="rect">
              <a:avLst/>
            </a:prstGeom>
            <a:noFill/>
            <a:ln w="9525">
              <a:noFill/>
              <a:miter lim="800000"/>
            </a:ln>
            <a:effectLst/>
          </p:spPr>
          <p:txBody>
            <a:bodyPr wrap="none">
              <a:spAutoFit/>
            </a:bodyPr>
            <a:lstStyle/>
            <a:p>
              <a:pPr marR="0" algn="ctr" defTabSz="914400" eaLnBrk="1" hangingPunct="1">
                <a:buClrTx/>
                <a:buSzTx/>
                <a:buFontTx/>
                <a:buNone/>
                <a:defRPr/>
              </a:pPr>
              <a:r>
                <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更大</a:t>
              </a:r>
              <a:endPar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a:p>
              <a:pPr marR="0" algn="ctr" defTabSz="914400" eaLnBrk="1" hangingPunct="1">
                <a:buClrTx/>
                <a:buSzTx/>
                <a:buFontTx/>
                <a:buNone/>
                <a:defRPr/>
              </a:pPr>
              <a:r>
                <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更慢</a:t>
              </a:r>
              <a:endPar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a:p>
              <a:pPr marR="0" algn="ctr" defTabSz="914400" eaLnBrk="1" hangingPunct="1">
                <a:buClrTx/>
                <a:buSzTx/>
                <a:buFontTx/>
                <a:buNone/>
                <a:defRPr/>
              </a:pPr>
              <a:r>
                <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更便宜的</a:t>
              </a:r>
              <a:endPar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a:p>
              <a:pPr marR="0" algn="ctr" defTabSz="914400" eaLnBrk="1" hangingPunct="1">
                <a:buClrTx/>
                <a:buSzTx/>
                <a:buFontTx/>
                <a:buNone/>
                <a:defRPr/>
              </a:pPr>
              <a:r>
                <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存储设备</a:t>
              </a:r>
              <a:endPar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p:txBody>
        </p:sp>
        <p:sp>
          <p:nvSpPr>
            <p:cNvPr id="4409370" name="Line 26"/>
            <p:cNvSpPr>
              <a:spLocks noChangeShapeType="1"/>
            </p:cNvSpPr>
            <p:nvPr/>
          </p:nvSpPr>
          <p:spPr bwMode="auto">
            <a:xfrm flipV="1">
              <a:off x="249" y="1106"/>
              <a:ext cx="0" cy="1306"/>
            </a:xfrm>
            <a:prstGeom prst="line">
              <a:avLst/>
            </a:prstGeom>
            <a:noFill/>
            <a:ln w="57150">
              <a:solidFill>
                <a:srgbClr val="D71501"/>
              </a:solidFill>
              <a:round/>
              <a:tailEnd type="triangle" w="med" len="me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71" name="Text Box 27"/>
            <p:cNvSpPr txBox="1">
              <a:spLocks noChangeArrowheads="1"/>
            </p:cNvSpPr>
            <p:nvPr/>
          </p:nvSpPr>
          <p:spPr bwMode="auto">
            <a:xfrm>
              <a:off x="325" y="1301"/>
              <a:ext cx="898" cy="978"/>
            </a:xfrm>
            <a:prstGeom prst="rect">
              <a:avLst/>
            </a:prstGeom>
            <a:noFill/>
            <a:ln w="9525">
              <a:noFill/>
              <a:miter lim="800000"/>
            </a:ln>
            <a:effectLst/>
          </p:spPr>
          <p:txBody>
            <a:bodyPr>
              <a:spAutoFit/>
            </a:bodyPr>
            <a:lstStyle/>
            <a:p>
              <a:pPr marR="0" algn="ctr" defTabSz="914400" eaLnBrk="1" hangingPunct="1">
                <a:buClrTx/>
                <a:buSzTx/>
                <a:buFontTx/>
                <a:buNone/>
                <a:defRPr/>
              </a:pPr>
              <a:r>
                <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更小</a:t>
              </a:r>
              <a:endPar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a:p>
              <a:pPr marR="0" algn="ctr" defTabSz="914400" eaLnBrk="1" hangingPunct="1">
                <a:buClrTx/>
                <a:buSzTx/>
                <a:buFontTx/>
                <a:buNone/>
                <a:defRPr/>
              </a:pPr>
              <a:r>
                <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更快</a:t>
              </a:r>
              <a:endPar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a:p>
              <a:pPr marR="0" algn="ctr" defTabSz="914400" eaLnBrk="1" hangingPunct="1">
                <a:buClrTx/>
                <a:buSzTx/>
                <a:buFontTx/>
                <a:buNone/>
                <a:defRPr/>
              </a:pPr>
              <a:r>
                <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更贵的</a:t>
              </a:r>
              <a:endPar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a:p>
              <a:pPr marR="0" algn="ctr" defTabSz="914400" eaLnBrk="1" hangingPunct="1">
                <a:buClrTx/>
                <a:buSzTx/>
                <a:buFontTx/>
                <a:buNone/>
                <a:defRPr/>
              </a:pPr>
              <a:r>
                <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rPr>
                <a:t>存储设备</a:t>
              </a:r>
              <a:endParaRPr kumimoji="0" lang="zh-CN" altLang="en-US"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华文新魏" panose="02010800040101010101" pitchFamily="2" charset="-122"/>
                <a:cs typeface="+mn-cs"/>
              </a:endParaRPr>
            </a:p>
          </p:txBody>
        </p:sp>
        <p:sp>
          <p:nvSpPr>
            <p:cNvPr id="56348" name="Rectangle 28"/>
            <p:cNvSpPr>
              <a:spLocks noChangeArrowheads="1"/>
            </p:cNvSpPr>
            <p:nvPr/>
          </p:nvSpPr>
          <p:spPr bwMode="auto">
            <a:xfrm>
              <a:off x="2173" y="3894"/>
              <a:ext cx="1908" cy="365"/>
            </a:xfrm>
            <a:prstGeom prst="rect">
              <a:avLst/>
            </a:prstGeom>
            <a:noFill/>
            <a:ln>
              <a:noFill/>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Times New Roman" panose="02020603050405020304" pitchFamily="18" charset="0"/>
                  <a:ea typeface="华文新魏" panose="02010800040101010101" pitchFamily="2" charset="-122"/>
                  <a:cs typeface="+mn-cs"/>
                </a:rPr>
                <a:t>存储器层次结构</a:t>
              </a:r>
              <a:endParaRPr kumimoji="1" lang="zh-CN" altLang="en-US"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Times New Roman" panose="02020603050405020304" pitchFamily="18" charset="0"/>
                <a:ea typeface="华文新魏" panose="02010800040101010101" pitchFamily="2" charset="-122"/>
                <a:cs typeface="+mn-cs"/>
              </a:endParaRPr>
            </a:p>
          </p:txBody>
        </p:sp>
        <p:sp>
          <p:nvSpPr>
            <p:cNvPr id="64541" name="Text Box 29"/>
            <p:cNvSpPr txBox="1"/>
            <p:nvPr/>
          </p:nvSpPr>
          <p:spPr>
            <a:xfrm>
              <a:off x="3811" y="1311"/>
              <a:ext cx="702" cy="28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en-US" altLang="zh-CN" sz="2400" dirty="0">
                  <a:latin typeface="Times New Roman" panose="02020603050405020304" pitchFamily="18" charset="0"/>
                  <a:ea typeface="宋体" panose="02010600030101010101" pitchFamily="2" charset="-122"/>
                </a:rPr>
                <a:t>CPU</a:t>
              </a:r>
              <a:endParaRPr lang="en-US" altLang="zh-CN" sz="2400" dirty="0">
                <a:latin typeface="Times New Roman" panose="02020603050405020304" pitchFamily="18" charset="0"/>
                <a:ea typeface="宋体" panose="02010600030101010101" pitchFamily="2" charset="-122"/>
              </a:endParaRPr>
            </a:p>
          </p:txBody>
        </p:sp>
        <p:sp>
          <p:nvSpPr>
            <p:cNvPr id="64542" name="Text Box 30"/>
            <p:cNvSpPr txBox="1"/>
            <p:nvPr/>
          </p:nvSpPr>
          <p:spPr>
            <a:xfrm>
              <a:off x="4512" y="1895"/>
              <a:ext cx="564" cy="327"/>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800" dirty="0">
                  <a:latin typeface="Verdana" panose="020B0604030504040204" pitchFamily="34" charset="0"/>
                </a:rPr>
                <a:t>主机</a:t>
              </a:r>
              <a:endParaRPr lang="zh-CN" altLang="en-US" sz="2800" dirty="0">
                <a:latin typeface="Verdana" panose="020B0604030504040204" pitchFamily="34" charset="0"/>
              </a:endParaRPr>
            </a:p>
          </p:txBody>
        </p:sp>
        <p:sp>
          <p:nvSpPr>
            <p:cNvPr id="64543" name="Text Box 31"/>
            <p:cNvSpPr txBox="1"/>
            <p:nvPr/>
          </p:nvSpPr>
          <p:spPr>
            <a:xfrm>
              <a:off x="5147" y="2082"/>
              <a:ext cx="564" cy="327"/>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800" dirty="0">
                  <a:latin typeface="Verdana" panose="020B0604030504040204" pitchFamily="34" charset="0"/>
                </a:rPr>
                <a:t>本地</a:t>
              </a:r>
              <a:endParaRPr lang="zh-CN" altLang="en-US" sz="2800" dirty="0">
                <a:latin typeface="Verdana" panose="020B0604030504040204" pitchFamily="34" charset="0"/>
              </a:endParaRPr>
            </a:p>
          </p:txBody>
        </p:sp>
        <p:sp>
          <p:nvSpPr>
            <p:cNvPr id="4409376" name="Line 32"/>
            <p:cNvSpPr>
              <a:spLocks noChangeShapeType="1"/>
            </p:cNvSpPr>
            <p:nvPr/>
          </p:nvSpPr>
          <p:spPr bwMode="auto">
            <a:xfrm>
              <a:off x="3120" y="924"/>
              <a:ext cx="2482" cy="0"/>
            </a:xfrm>
            <a:prstGeom prst="line">
              <a:avLst/>
            </a:prstGeom>
            <a:noFill/>
            <a:ln w="38100">
              <a:solidFill>
                <a:srgbClr val="FF3300"/>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77" name="Line 33"/>
            <p:cNvSpPr>
              <a:spLocks noChangeShapeType="1"/>
            </p:cNvSpPr>
            <p:nvPr/>
          </p:nvSpPr>
          <p:spPr bwMode="auto">
            <a:xfrm>
              <a:off x="3968" y="2072"/>
              <a:ext cx="429" cy="0"/>
            </a:xfrm>
            <a:prstGeom prst="line">
              <a:avLst/>
            </a:prstGeom>
            <a:noFill/>
            <a:ln w="38100">
              <a:solidFill>
                <a:srgbClr val="FF3300"/>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78" name="Line 34"/>
            <p:cNvSpPr>
              <a:spLocks noChangeShapeType="1"/>
            </p:cNvSpPr>
            <p:nvPr/>
          </p:nvSpPr>
          <p:spPr bwMode="auto">
            <a:xfrm>
              <a:off x="4160" y="924"/>
              <a:ext cx="0" cy="383"/>
            </a:xfrm>
            <a:prstGeom prst="line">
              <a:avLst/>
            </a:prstGeom>
            <a:noFill/>
            <a:ln w="28575">
              <a:solidFill>
                <a:schemeClr val="tx1"/>
              </a:solidFill>
              <a:round/>
              <a:headEnd type="triangle" w="med" len="me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79" name="Line 35"/>
            <p:cNvSpPr>
              <a:spLocks noChangeShapeType="1"/>
            </p:cNvSpPr>
            <p:nvPr/>
          </p:nvSpPr>
          <p:spPr bwMode="auto">
            <a:xfrm>
              <a:off x="4150" y="1607"/>
              <a:ext cx="0" cy="453"/>
            </a:xfrm>
            <a:prstGeom prst="line">
              <a:avLst/>
            </a:prstGeom>
            <a:noFill/>
            <a:ln w="28575">
              <a:solidFill>
                <a:schemeClr val="tx1"/>
              </a:solidFill>
              <a:round/>
              <a:tailEnd type="triangle" w="med" len="me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80" name="Line 36"/>
            <p:cNvSpPr>
              <a:spLocks noChangeShapeType="1"/>
            </p:cNvSpPr>
            <p:nvPr/>
          </p:nvSpPr>
          <p:spPr bwMode="auto">
            <a:xfrm>
              <a:off x="4694" y="3031"/>
              <a:ext cx="385" cy="0"/>
            </a:xfrm>
            <a:prstGeom prst="line">
              <a:avLst/>
            </a:prstGeom>
            <a:noFill/>
            <a:ln w="38100">
              <a:solidFill>
                <a:srgbClr val="FF3300"/>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81" name="Line 37"/>
            <p:cNvSpPr>
              <a:spLocks noChangeShapeType="1"/>
            </p:cNvSpPr>
            <p:nvPr/>
          </p:nvSpPr>
          <p:spPr bwMode="auto">
            <a:xfrm>
              <a:off x="4785" y="924"/>
              <a:ext cx="0" cy="992"/>
            </a:xfrm>
            <a:prstGeom prst="line">
              <a:avLst/>
            </a:prstGeom>
            <a:noFill/>
            <a:ln w="28575">
              <a:solidFill>
                <a:schemeClr val="tx1"/>
              </a:solidFill>
              <a:round/>
              <a:headEnd type="triangle" w="med" len="med"/>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82" name="Line 38"/>
            <p:cNvSpPr>
              <a:spLocks noChangeShapeType="1"/>
            </p:cNvSpPr>
            <p:nvPr/>
          </p:nvSpPr>
          <p:spPr bwMode="auto">
            <a:xfrm>
              <a:off x="4785" y="2178"/>
              <a:ext cx="0" cy="853"/>
            </a:xfrm>
            <a:prstGeom prst="line">
              <a:avLst/>
            </a:prstGeom>
            <a:noFill/>
            <a:ln w="28575">
              <a:solidFill>
                <a:schemeClr val="tx1"/>
              </a:solidFill>
              <a:round/>
              <a:tailEnd type="triangle" w="med" len="me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83" name="Line 39"/>
            <p:cNvSpPr>
              <a:spLocks noChangeShapeType="1"/>
            </p:cNvSpPr>
            <p:nvPr/>
          </p:nvSpPr>
          <p:spPr bwMode="auto">
            <a:xfrm>
              <a:off x="5041" y="3477"/>
              <a:ext cx="561" cy="12"/>
            </a:xfrm>
            <a:prstGeom prst="line">
              <a:avLst/>
            </a:prstGeom>
            <a:noFill/>
            <a:ln w="38100">
              <a:solidFill>
                <a:srgbClr val="FF3300"/>
              </a:solidFill>
              <a:round/>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84" name="Line 40"/>
            <p:cNvSpPr>
              <a:spLocks noChangeShapeType="1"/>
            </p:cNvSpPr>
            <p:nvPr/>
          </p:nvSpPr>
          <p:spPr bwMode="auto">
            <a:xfrm>
              <a:off x="5420" y="924"/>
              <a:ext cx="0" cy="1158"/>
            </a:xfrm>
            <a:prstGeom prst="line">
              <a:avLst/>
            </a:prstGeom>
            <a:noFill/>
            <a:ln w="28575">
              <a:solidFill>
                <a:schemeClr val="tx1"/>
              </a:solidFill>
              <a:round/>
              <a:headEnd type="triangle" w="med" len="med"/>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409385" name="Line 41"/>
            <p:cNvSpPr>
              <a:spLocks noChangeShapeType="1"/>
            </p:cNvSpPr>
            <p:nvPr/>
          </p:nvSpPr>
          <p:spPr bwMode="auto">
            <a:xfrm>
              <a:off x="5420" y="2412"/>
              <a:ext cx="0" cy="1052"/>
            </a:xfrm>
            <a:prstGeom prst="line">
              <a:avLst/>
            </a:prstGeom>
            <a:noFill/>
            <a:ln w="28575">
              <a:solidFill>
                <a:schemeClr val="tx1"/>
              </a:solidFill>
              <a:round/>
              <a:headEnd type="none" w="sm" len="sm"/>
              <a:tailEnd type="triangle" w="med" len="me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4554" name="Line 45"/>
            <p:cNvSpPr/>
            <p:nvPr/>
          </p:nvSpPr>
          <p:spPr>
            <a:xfrm>
              <a:off x="2704" y="1512"/>
              <a:ext cx="848" cy="0"/>
            </a:xfrm>
            <a:prstGeom prst="line">
              <a:avLst/>
            </a:prstGeom>
            <a:ln w="28575" cap="flat" cmpd="sng">
              <a:solidFill>
                <a:srgbClr val="00FF00"/>
              </a:solidFill>
              <a:prstDash val="solid"/>
              <a:headEnd type="none" w="med" len="med"/>
              <a:tailEnd type="none" w="med" len="med"/>
            </a:ln>
          </p:spPr>
        </p:sp>
      </p:grpSp>
      <p:sp>
        <p:nvSpPr>
          <p:cNvPr id="4409386" name="AutoShape 42"/>
          <p:cNvSpPr/>
          <p:nvPr/>
        </p:nvSpPr>
        <p:spPr>
          <a:xfrm>
            <a:off x="874713" y="990600"/>
            <a:ext cx="4248150" cy="1074738"/>
          </a:xfrm>
          <a:prstGeom prst="wedgeRoundRectCallout">
            <a:avLst>
              <a:gd name="adj1" fmla="val 74361"/>
              <a:gd name="adj2" fmla="val -67370"/>
              <a:gd name="adj3" fmla="val 16667"/>
            </a:avLst>
          </a:prstGeom>
          <a:solidFill>
            <a:schemeClr val="tx2"/>
          </a:solid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solidFill>
                  <a:schemeClr val="bg2"/>
                </a:solidFill>
              </a:rPr>
              <a:t>解决存储器存在的速度、容量和价格之间的矛盾 </a:t>
            </a:r>
            <a:endParaRPr lang="zh-CN" altLang="en-US" sz="2800" dirty="0">
              <a:solidFill>
                <a:schemeClr val="bg2"/>
              </a:solidFill>
            </a:endParaRPr>
          </a:p>
        </p:txBody>
      </p:sp>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93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938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Rectangle 2"/>
          <p:cNvSpPr>
            <a:spLocks noGrp="1" noChangeArrowheads="1"/>
          </p:cNvSpPr>
          <p:nvPr>
            <p:ph type="title"/>
          </p:nvPr>
        </p:nvSpPr>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回顾－存储器的层次结构</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66563" name="Rectangle 3"/>
          <p:cNvSpPr>
            <a:spLocks noGrp="1"/>
          </p:cNvSpPr>
          <p:nvPr>
            <p:ph idx="1"/>
          </p:nvPr>
        </p:nvSpPr>
        <p:spPr>
          <a:xfrm>
            <a:off x="619125" y="1223963"/>
            <a:ext cx="8235950" cy="5299075"/>
          </a:xfrm>
          <a:ln/>
        </p:spPr>
        <p:txBody>
          <a:bodyPr vert="horz" wrap="square" lIns="91440" tIns="45720" rIns="91440" bIns="45720" anchor="t" anchorCtr="0">
            <a:spAutoFit/>
          </a:bodyPr>
          <a:p>
            <a:pPr>
              <a:lnSpc>
                <a:spcPct val="110000"/>
              </a:lnSpc>
              <a:spcBef>
                <a:spcPct val="20000"/>
              </a:spcBef>
              <a:spcAft>
                <a:spcPts val="600"/>
              </a:spcAft>
            </a:pPr>
            <a:r>
              <a:rPr lang="en-US" altLang="zh-CN" sz="2800" dirty="0">
                <a:latin typeface="Times New Roman" panose="02020603050405020304" pitchFamily="18" charset="0"/>
              </a:rPr>
              <a:t>Cache </a:t>
            </a:r>
            <a:r>
              <a:rPr lang="zh-CN" altLang="en-US" sz="2800" dirty="0">
                <a:latin typeface="Times New Roman" panose="02020603050405020304" pitchFamily="18" charset="0"/>
              </a:rPr>
              <a:t>的引入主要是解决</a:t>
            </a:r>
            <a:r>
              <a:rPr lang="en-US" altLang="zh-CN" sz="2800" dirty="0">
                <a:latin typeface="Times New Roman" panose="02020603050405020304" pitchFamily="18" charset="0"/>
              </a:rPr>
              <a:t>CPU</a:t>
            </a:r>
            <a:r>
              <a:rPr lang="zh-CN" altLang="en-US" sz="2800" dirty="0">
                <a:latin typeface="Times New Roman" panose="02020603050405020304" pitchFamily="18" charset="0"/>
              </a:rPr>
              <a:t>访问内存速度不足的问题，利用程序访问局部性原理</a:t>
            </a:r>
            <a:endParaRPr lang="en-US" altLang="zh-CN" sz="2800" dirty="0">
              <a:latin typeface="Times New Roman" panose="02020603050405020304" pitchFamily="18" charset="0"/>
            </a:endParaRPr>
          </a:p>
          <a:p>
            <a:pPr>
              <a:lnSpc>
                <a:spcPct val="110000"/>
              </a:lnSpc>
              <a:spcBef>
                <a:spcPct val="20000"/>
              </a:spcBef>
              <a:spcAft>
                <a:spcPts val="600"/>
              </a:spcAft>
            </a:pPr>
            <a:r>
              <a:rPr lang="zh-CN" altLang="en-US" sz="2800" dirty="0">
                <a:latin typeface="Times New Roman" panose="02020603050405020304" pitchFamily="18" charset="0"/>
              </a:rPr>
              <a:t>虚拟存储器的引入主要是解决</a:t>
            </a:r>
            <a:r>
              <a:rPr lang="en-US" altLang="zh-CN" sz="2800" dirty="0">
                <a:latin typeface="Times New Roman" panose="02020603050405020304" pitchFamily="18" charset="0"/>
              </a:rPr>
              <a:t>CPU</a:t>
            </a:r>
            <a:r>
              <a:rPr lang="zh-CN" altLang="en-US" sz="2800" dirty="0">
                <a:latin typeface="Times New Roman" panose="02020603050405020304" pitchFamily="18" charset="0"/>
              </a:rPr>
              <a:t>访问内存容量不足的问题，尤其是解决多道程序在有限的内存空间分配的问题</a:t>
            </a:r>
            <a:endParaRPr lang="zh-CN" altLang="en-US" sz="2800" dirty="0">
              <a:latin typeface="Times New Roman" panose="02020603050405020304" pitchFamily="18" charset="0"/>
            </a:endParaRPr>
          </a:p>
          <a:p>
            <a:pPr>
              <a:lnSpc>
                <a:spcPct val="110000"/>
              </a:lnSpc>
              <a:spcBef>
                <a:spcPct val="20000"/>
              </a:spcBef>
              <a:spcAft>
                <a:spcPts val="600"/>
              </a:spcAft>
            </a:pPr>
            <a:r>
              <a:rPr lang="zh-CN" altLang="en-US" sz="2800" dirty="0">
                <a:latin typeface="Times New Roman" panose="02020603050405020304" pitchFamily="18" charset="0"/>
              </a:rPr>
              <a:t>双端口存储器的引入主要是解决</a:t>
            </a:r>
            <a:r>
              <a:rPr lang="en-US" altLang="zh-CN" sz="2800" dirty="0">
                <a:latin typeface="Times New Roman" panose="02020603050405020304" pitchFamily="18" charset="0"/>
              </a:rPr>
              <a:t>CPU</a:t>
            </a:r>
            <a:r>
              <a:rPr lang="zh-CN" altLang="en-US" sz="2800" dirty="0">
                <a:latin typeface="Times New Roman" panose="02020603050405020304" pitchFamily="18" charset="0"/>
              </a:rPr>
              <a:t>对同一个存储部件同时进行读写的问题</a:t>
            </a:r>
            <a:endParaRPr lang="zh-CN" altLang="en-US" sz="2800" dirty="0">
              <a:latin typeface="Times New Roman" panose="02020603050405020304" pitchFamily="18" charset="0"/>
            </a:endParaRPr>
          </a:p>
          <a:p>
            <a:pPr>
              <a:lnSpc>
                <a:spcPct val="110000"/>
              </a:lnSpc>
              <a:spcBef>
                <a:spcPct val="20000"/>
              </a:spcBef>
              <a:spcAft>
                <a:spcPts val="600"/>
              </a:spcAft>
            </a:pPr>
            <a:r>
              <a:rPr lang="zh-CN" altLang="en-US" sz="2800" dirty="0">
                <a:latin typeface="Times New Roman" panose="02020603050405020304" pitchFamily="18" charset="0"/>
              </a:rPr>
              <a:t>多模块交叉存储器的引入主要是解决</a:t>
            </a:r>
            <a:r>
              <a:rPr lang="en-US" altLang="zh-CN" sz="2800" dirty="0">
                <a:latin typeface="Times New Roman" panose="02020603050405020304" pitchFamily="18" charset="0"/>
              </a:rPr>
              <a:t>CPU</a:t>
            </a:r>
            <a:r>
              <a:rPr lang="zh-CN" altLang="en-US" sz="2800" dirty="0">
                <a:latin typeface="Times New Roman" panose="02020603050405020304" pitchFamily="18" charset="0"/>
              </a:rPr>
              <a:t>访问主存带宽不足的问题，利用空间并行增加存储器的吞吐率</a:t>
            </a:r>
            <a:endParaRPr lang="zh-CN" altLang="en-US" sz="2800" dirty="0">
              <a:latin typeface="Times New Roman" panose="02020603050405020304" pitchFamily="18" charset="0"/>
            </a:endParaRPr>
          </a:p>
        </p:txBody>
      </p: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23682" name="Rectangle 2"/>
          <p:cNvSpPr>
            <a:spLocks noGrp="1" noChangeArrowheads="1"/>
          </p:cNvSpPr>
          <p:nvPr>
            <p:ph type="title"/>
          </p:nvPr>
        </p:nvSpPr>
        <p:spPr>
          <a:xfrm>
            <a:off x="0" y="260350"/>
            <a:ext cx="9144000" cy="714375"/>
          </a:xfrm>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a:t>
            </a:r>
            <a:r>
              <a:rPr kumimoji="0" lang="en-US" altLang="zh-CN"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 Cache </a:t>
            </a:r>
            <a:r>
              <a:rPr kumimoji="0" lang="en-US" altLang="zh-CN"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华文中宋" panose="02010600040101010101" pitchFamily="2" charset="-122"/>
                <a:ea typeface="+mj-ea"/>
                <a:cs typeface="+mj-cs"/>
              </a:rPr>
              <a:t>—</a:t>
            </a:r>
            <a:r>
              <a:rPr kumimoji="0" lang="en-US" altLang="zh-CN"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 </a:t>
            </a: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主存地址映射</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61443" name="Rectangle 3"/>
          <p:cNvSpPr>
            <a:spLocks noGrp="1" noChangeArrowheads="1"/>
          </p:cNvSpPr>
          <p:nvPr>
            <p:ph idx="1"/>
          </p:nvPr>
        </p:nvSpPr>
        <p:spPr>
          <a:xfrm>
            <a:off x="188913" y="1250950"/>
            <a:ext cx="8767763" cy="4421188"/>
          </a:xfrm>
        </p:spPr>
        <p:txBody>
          <a:bodyPr vert="horz" wrap="square" lIns="63500" tIns="25400" rIns="63500" bIns="25400" numCol="1" anchor="t" anchorCtr="0" compatLnSpc="1">
            <a:spAutoFit/>
          </a:bodyPr>
          <a:lstStyle/>
          <a:p>
            <a:pPr marL="460375" marR="0" lvl="0" indent="-460375" algn="l" defTabSz="914400" rtl="0" eaLnBrk="1" fontAlgn="base" latinLnBrk="0" hangingPunct="1">
              <a:lnSpc>
                <a:spcPct val="100000"/>
              </a:lnSpc>
              <a:spcBef>
                <a:spcPct val="0"/>
              </a:spcBef>
              <a:spcAft>
                <a:spcPct val="0"/>
              </a:spcAft>
              <a:buClr>
                <a:schemeClr val="tx2"/>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1. </a:t>
            </a:r>
            <a:r>
              <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直接映射</a:t>
            </a: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(Direct Mapping)</a:t>
            </a:r>
            <a:endPar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711200" marR="0" lvl="1" indent="-347980" algn="l" defTabSz="914400" rtl="0" eaLnBrk="1" fontAlgn="base" latinLnBrk="0" hangingPunct="1">
              <a:lnSpc>
                <a:spcPct val="100000"/>
              </a:lnSpc>
              <a:spcBef>
                <a:spcPct val="0"/>
              </a:spcBef>
              <a:spcAft>
                <a:spcPct val="0"/>
              </a:spcAft>
              <a:buClr>
                <a:schemeClr val="tx2"/>
              </a:buClr>
              <a:buSzTx/>
              <a:buFont typeface="Wingdings" panose="05000000000000000000" pitchFamily="2" charset="2"/>
              <a:buBlip>
                <a:blip r:embed="rId1"/>
              </a:buBli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映射关系：主存中的某一块 </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J </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映射到</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Cache</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的固定行 </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K</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中， </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K </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 </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J Mod M(M</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是</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Cache</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包含的块数</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11200" marR="0" lvl="1" indent="-347980" algn="l" defTabSz="914400" rtl="0" eaLnBrk="1" fontAlgn="base" latinLnBrk="0" hangingPunct="1">
              <a:lnSpc>
                <a:spcPct val="100000"/>
              </a:lnSpc>
              <a:spcBef>
                <a:spcPct val="0"/>
              </a:spcBef>
              <a:spcAft>
                <a:spcPct val="0"/>
              </a:spcAft>
              <a:buClr>
                <a:schemeClr val="tx2"/>
              </a:buClr>
              <a:buSzTx/>
              <a:buFont typeface="Wingdings" panose="05000000000000000000" pitchFamily="2" charset="2"/>
              <a:buBlip>
                <a:blip r:embed="rId1"/>
              </a:buBli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主存中的每一块</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11200" marR="0" lvl="1" indent="0" algn="l" defTabSz="914400" rtl="0" eaLnBrk="1" fontAlgn="base" latinLnBrk="0" hangingPunct="1">
              <a:lnSpc>
                <a:spcPct val="100000"/>
              </a:lnSpc>
              <a:spcBef>
                <a:spcPct val="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只能被放置到</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11200" marR="0" lvl="1" indent="0" algn="l" defTabSz="914400" rtl="0" eaLnBrk="1" fontAlgn="base" latinLnBrk="0" hangingPunct="1">
              <a:lnSpc>
                <a:spcPct val="100000"/>
              </a:lnSpc>
              <a:spcBef>
                <a:spcPct val="0"/>
              </a:spcBef>
              <a:spcAft>
                <a:spcPct val="0"/>
              </a:spcAft>
              <a:buClr>
                <a:schemeClr val="tx2"/>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Cache</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中唯一的</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11200" marR="0" lvl="1" indent="0" algn="l" defTabSz="914400" rtl="0" eaLnBrk="1" fontAlgn="base" latinLnBrk="0" hangingPunct="1">
              <a:lnSpc>
                <a:spcPct val="100000"/>
              </a:lnSpc>
              <a:spcBef>
                <a:spcPct val="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一个位置</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11200" marR="0" lvl="1" indent="-347980" algn="l" defTabSz="914400" rtl="0" eaLnBrk="1" fontAlgn="base" latinLnBrk="0" hangingPunct="1">
              <a:lnSpc>
                <a:spcPct val="100000"/>
              </a:lnSpc>
              <a:spcBef>
                <a:spcPct val="0"/>
              </a:spcBef>
              <a:spcAft>
                <a:spcPct val="0"/>
              </a:spcAft>
              <a:buClr>
                <a:schemeClr val="tx2"/>
              </a:buClr>
              <a:buSzTx/>
              <a:buFont typeface="Wingdings" panose="05000000000000000000" pitchFamily="2" charset="2"/>
              <a:buBlip>
                <a:blip r:embed="rId1"/>
              </a:buBli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空间利用率最低</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11200" marR="0" lvl="1" indent="0" algn="l" defTabSz="914400" rtl="0" eaLnBrk="1" fontAlgn="base" latinLnBrk="0" hangingPunct="1">
              <a:lnSpc>
                <a:spcPct val="100000"/>
              </a:lnSpc>
              <a:spcBef>
                <a:spcPct val="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，冲突概率最高</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11200" marR="0" lvl="1" indent="0" algn="l" defTabSz="914400" rtl="0" eaLnBrk="1" fontAlgn="base" latinLnBrk="0" hangingPunct="1">
              <a:lnSpc>
                <a:spcPct val="100000"/>
              </a:lnSpc>
              <a:spcBef>
                <a:spcPct val="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，实现最简单</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p:txBody>
      </p:sp>
      <p:pic>
        <p:nvPicPr>
          <p:cNvPr id="4423684" name="Picture 4"/>
          <p:cNvPicPr>
            <a:picLocks noChangeAspect="1"/>
          </p:cNvPicPr>
          <p:nvPr/>
        </p:nvPicPr>
        <p:blipFill>
          <a:blip r:embed="rId2"/>
          <a:stretch>
            <a:fillRect/>
          </a:stretch>
        </p:blipFill>
        <p:spPr>
          <a:xfrm>
            <a:off x="3635375" y="2698750"/>
            <a:ext cx="5508625" cy="3787775"/>
          </a:xfrm>
          <a:prstGeom prst="rect">
            <a:avLst/>
          </a:prstGeom>
          <a:noFill/>
          <a:ln w="9525">
            <a:noFill/>
          </a:ln>
        </p:spPr>
      </p:pic>
      <p:graphicFrame>
        <p:nvGraphicFramePr>
          <p:cNvPr id="64574" name="Group 62"/>
          <p:cNvGraphicFramePr>
            <a:graphicFrameLocks noGrp="1"/>
          </p:cNvGraphicFramePr>
          <p:nvPr/>
        </p:nvGraphicFramePr>
        <p:xfrm>
          <a:off x="244475" y="5664200"/>
          <a:ext cx="3324225" cy="804863"/>
        </p:xfrm>
        <a:graphic>
          <a:graphicData uri="http://schemas.openxmlformats.org/drawingml/2006/table">
            <a:tbl>
              <a:tblPr/>
              <a:tblGrid>
                <a:gridCol w="1250496"/>
                <a:gridCol w="965654"/>
                <a:gridCol w="1108075"/>
              </a:tblGrid>
              <a:tr h="402432">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31          8</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endParaRPr>
                    </a:p>
                  </a:txBody>
                  <a:tcPr marT="45731" marB="45731"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7       5</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endParaRPr>
                    </a:p>
                  </a:txBody>
                  <a:tcPr marT="45731" marB="4573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4          0</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endParaRPr>
                    </a:p>
                  </a:txBody>
                  <a:tcPr marT="45731" marB="45731"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402432">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Tag</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endParaRPr>
                    </a:p>
                  </a:txBody>
                  <a:tcPr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Index</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Offset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endParaRPr>
                    </a:p>
                  </a:txBody>
                  <a:tcPr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23684"/>
                                        </p:tgtEl>
                                        <p:attrNameLst>
                                          <p:attrName>style.visibility</p:attrName>
                                        </p:attrNameLst>
                                      </p:cBhvr>
                                      <p:to>
                                        <p:strVal val="visible"/>
                                      </p:to>
                                    </p:set>
                                    <p:animEffect transition="in" filter="wipe(left)">
                                      <p:cBhvr>
                                        <p:cTn id="7" dur="500"/>
                                        <p:tgtEl>
                                          <p:spTgt spid="4423684"/>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64574"/>
                                        </p:tgtEl>
                                        <p:attrNameLst>
                                          <p:attrName>style.visibility</p:attrName>
                                        </p:attrNameLst>
                                      </p:cBhvr>
                                      <p:to>
                                        <p:strVal val="visible"/>
                                      </p:to>
                                    </p:set>
                                    <p:animEffect transition="in" filter="blinds(horizontal)">
                                      <p:cBhvr>
                                        <p:cTn id="11" dur="500"/>
                                        <p:tgtEl>
                                          <p:spTgt spid="64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27778" name="Rectangle 2"/>
          <p:cNvSpPr>
            <a:spLocks noGrp="1" noChangeArrowheads="1"/>
          </p:cNvSpPr>
          <p:nvPr>
            <p:ph type="title"/>
          </p:nvPr>
        </p:nvSpPr>
        <p:spPr>
          <a:xfrm>
            <a:off x="0" y="268288"/>
            <a:ext cx="9144000" cy="714375"/>
          </a:xfrm>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a:t>
            </a:r>
            <a:r>
              <a:rPr kumimoji="0" lang="en-US" altLang="zh-CN"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 Cache </a:t>
            </a:r>
            <a:r>
              <a:rPr kumimoji="0" lang="en-US" altLang="zh-CN"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华文中宋" panose="02010600040101010101" pitchFamily="2" charset="-122"/>
                <a:ea typeface="+mj-ea"/>
                <a:cs typeface="+mj-cs"/>
              </a:rPr>
              <a:t>—</a:t>
            </a:r>
            <a:r>
              <a:rPr kumimoji="0" lang="en-US" altLang="zh-CN"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 </a:t>
            </a: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主存地址映射</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66563" name="Rectangle 3"/>
          <p:cNvSpPr>
            <a:spLocks noGrp="1" noChangeArrowheads="1"/>
          </p:cNvSpPr>
          <p:nvPr>
            <p:ph idx="1"/>
          </p:nvPr>
        </p:nvSpPr>
        <p:spPr>
          <a:xfrm>
            <a:off x="298450" y="1223963"/>
            <a:ext cx="8343900" cy="3289300"/>
          </a:xfrm>
        </p:spPr>
        <p:txBody>
          <a:bodyPr vert="horz" wrap="square" lIns="91440" tIns="45720" rIns="91440" bIns="45720" numCol="1" anchor="t" anchorCtr="0" compatLnSpc="1">
            <a:spAutoFit/>
          </a:bodyPr>
          <a:lstStyle/>
          <a:p>
            <a:pPr marL="460375" marR="0" lvl="0" indent="-460375" algn="l" defTabSz="914400" rtl="0" eaLnBrk="1" fontAlgn="base" latinLnBrk="0" hangingPunct="1">
              <a:lnSpc>
                <a:spcPct val="110000"/>
              </a:lnSpc>
              <a:spcBef>
                <a:spcPts val="600"/>
              </a:spcBef>
              <a:spcAft>
                <a:spcPct val="0"/>
              </a:spcAft>
              <a:buClr>
                <a:schemeClr val="tx2"/>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 </a:t>
            </a:r>
            <a:r>
              <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全相联映射</a:t>
            </a: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(Associative Mapping)</a:t>
            </a:r>
            <a:endPar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711200" marR="0" lvl="1" indent="-347980" algn="l" defTabSz="914400" rtl="0" eaLnBrk="1" fontAlgn="base" latinLnBrk="0" hangingPunct="1">
              <a:lnSpc>
                <a:spcPct val="110000"/>
              </a:lnSpc>
              <a:spcBef>
                <a:spcPts val="600"/>
              </a:spcBef>
              <a:spcAft>
                <a:spcPct val="0"/>
              </a:spcAft>
              <a:buClr>
                <a:schemeClr val="tx2"/>
              </a:buClr>
              <a:buSzTx/>
              <a:buFont typeface="Wingdings" panose="05000000000000000000" pitchFamily="2" charset="2"/>
              <a:buBlip>
                <a:blip r:embed="rId1"/>
              </a:buBli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主存中的某一</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Block</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可以映射到</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Cache</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中的任意位置，空间利</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11200" marR="0" lvl="1" indent="0" algn="l" defTabSz="914400" rtl="0" eaLnBrk="1" fontAlgn="base" latinLnBrk="0" hangingPunct="1">
              <a:lnSpc>
                <a:spcPct val="110000"/>
              </a:lnSpc>
              <a:spcBef>
                <a:spcPts val="6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用率最高，突</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11200" marR="0" lvl="1" indent="0" algn="l" defTabSz="914400" rtl="0" eaLnBrk="1" fontAlgn="base" latinLnBrk="0" hangingPunct="1">
              <a:lnSpc>
                <a:spcPct val="110000"/>
              </a:lnSpc>
              <a:spcBef>
                <a:spcPts val="6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概率最低，实</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11200" marR="0" lvl="1" indent="0" algn="l" defTabSz="914400" rtl="0" eaLnBrk="1" fontAlgn="base" latinLnBrk="0" hangingPunct="1">
              <a:lnSpc>
                <a:spcPct val="110000"/>
              </a:lnSpc>
              <a:spcBef>
                <a:spcPts val="6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现最复杂</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p:txBody>
      </p:sp>
      <p:pic>
        <p:nvPicPr>
          <p:cNvPr id="4427780" name="Picture 4"/>
          <p:cNvPicPr>
            <a:picLocks noChangeAspect="1"/>
          </p:cNvPicPr>
          <p:nvPr/>
        </p:nvPicPr>
        <p:blipFill>
          <a:blip r:embed="rId2"/>
          <a:stretch>
            <a:fillRect/>
          </a:stretch>
        </p:blipFill>
        <p:spPr>
          <a:xfrm>
            <a:off x="3773488" y="2527300"/>
            <a:ext cx="5113337" cy="3989388"/>
          </a:xfrm>
          <a:prstGeom prst="rect">
            <a:avLst/>
          </a:prstGeom>
          <a:noFill/>
          <a:ln w="9525">
            <a:noFill/>
          </a:ln>
        </p:spPr>
      </p:pic>
      <p:graphicFrame>
        <p:nvGraphicFramePr>
          <p:cNvPr id="65567" name="Group 31"/>
          <p:cNvGraphicFramePr>
            <a:graphicFrameLocks noGrp="1"/>
          </p:cNvGraphicFramePr>
          <p:nvPr/>
        </p:nvGraphicFramePr>
        <p:xfrm>
          <a:off x="517525" y="4781550"/>
          <a:ext cx="3136900" cy="804863"/>
        </p:xfrm>
        <a:graphic>
          <a:graphicData uri="http://schemas.openxmlformats.org/drawingml/2006/table">
            <a:tbl>
              <a:tblPr/>
              <a:tblGrid>
                <a:gridCol w="1817668"/>
                <a:gridCol w="1319232"/>
              </a:tblGrid>
              <a:tr h="402432">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31                   5</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endParaRPr>
                    </a:p>
                  </a:txBody>
                  <a:tcPr marL="91462" marR="91462" marT="45731" marB="45731"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4             0</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endParaRPr>
                    </a:p>
                  </a:txBody>
                  <a:tcPr marL="91462" marR="91462" marT="45731" marB="45731"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402432">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Tag</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endParaRPr>
                    </a:p>
                  </a:txBody>
                  <a:tcPr marL="91462" marR="91462"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Offset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endParaRPr>
                    </a:p>
                  </a:txBody>
                  <a:tcPr marL="91462" marR="91462"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27780"/>
                                        </p:tgtEl>
                                        <p:attrNameLst>
                                          <p:attrName>style.visibility</p:attrName>
                                        </p:attrNameLst>
                                      </p:cBhvr>
                                      <p:to>
                                        <p:strVal val="visible"/>
                                      </p:to>
                                    </p:set>
                                    <p:animEffect transition="in" filter="wipe(left)">
                                      <p:cBhvr>
                                        <p:cTn id="7" dur="500"/>
                                        <p:tgtEl>
                                          <p:spTgt spid="4427780"/>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65567"/>
                                        </p:tgtEl>
                                        <p:attrNameLst>
                                          <p:attrName>style.visibility</p:attrName>
                                        </p:attrNameLst>
                                      </p:cBhvr>
                                      <p:to>
                                        <p:strVal val="visible"/>
                                      </p:to>
                                    </p:set>
                                    <p:animEffect transition="in" filter="blinds(horizontal)">
                                      <p:cBhvr>
                                        <p:cTn id="11" dur="500"/>
                                        <p:tgtEl>
                                          <p:spTgt spid="65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25730" name="Rectangle 2"/>
          <p:cNvSpPr>
            <a:spLocks noGrp="1" noChangeArrowheads="1"/>
          </p:cNvSpPr>
          <p:nvPr>
            <p:ph type="title"/>
          </p:nvPr>
        </p:nvSpPr>
        <p:spPr>
          <a:xfrm>
            <a:off x="0" y="285750"/>
            <a:ext cx="9144000" cy="714375"/>
          </a:xfrm>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a:t>
            </a:r>
            <a:r>
              <a:rPr kumimoji="0" lang="en-US" altLang="zh-CN"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 Cache </a:t>
            </a:r>
            <a:r>
              <a:rPr kumimoji="0" lang="en-US" altLang="zh-CN"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华文中宋" panose="02010600040101010101" pitchFamily="2" charset="-122"/>
                <a:ea typeface="+mj-ea"/>
                <a:cs typeface="+mj-cs"/>
              </a:rPr>
              <a:t>—</a:t>
            </a:r>
            <a:r>
              <a:rPr kumimoji="0" lang="en-US" altLang="zh-CN"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 </a:t>
            </a: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主存地址映射</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71683" name="Rectangle 3"/>
          <p:cNvSpPr>
            <a:spLocks noGrp="1"/>
          </p:cNvSpPr>
          <p:nvPr>
            <p:ph idx="1"/>
          </p:nvPr>
        </p:nvSpPr>
        <p:spPr>
          <a:xfrm>
            <a:off x="331788" y="1139825"/>
            <a:ext cx="8756650" cy="569913"/>
          </a:xfrm>
          <a:ln/>
        </p:spPr>
        <p:txBody>
          <a:bodyPr vert="horz" wrap="square" lIns="91440" tIns="45720" rIns="91440" bIns="45720" anchor="t" anchorCtr="0">
            <a:spAutoFit/>
          </a:bodyPr>
          <a:p>
            <a:pPr eaLnBrk="1" hangingPunct="1">
              <a:spcBef>
                <a:spcPct val="10000"/>
              </a:spcBef>
              <a:buNone/>
            </a:pPr>
            <a:r>
              <a:rPr lang="en-US" altLang="zh-CN" sz="3200" dirty="0">
                <a:latin typeface="Times New Roman" panose="02020603050405020304" pitchFamily="18" charset="0"/>
              </a:rPr>
              <a:t>3. </a:t>
            </a:r>
            <a:r>
              <a:rPr lang="zh-CN" altLang="en-US" sz="3200" dirty="0">
                <a:latin typeface="Times New Roman" panose="02020603050405020304" pitchFamily="18" charset="0"/>
              </a:rPr>
              <a:t>组相联映射</a:t>
            </a:r>
            <a:r>
              <a:rPr lang="en-US" altLang="zh-CN" sz="3200" dirty="0">
                <a:latin typeface="Times New Roman" panose="02020603050405020304" pitchFamily="18" charset="0"/>
              </a:rPr>
              <a:t>(Set Associative Mapping</a:t>
            </a:r>
            <a:r>
              <a:rPr lang="en-US" altLang="zh-CN" dirty="0">
                <a:latin typeface="Times New Roman" panose="02020603050405020304" pitchFamily="18" charset="0"/>
              </a:rPr>
              <a:t>)</a:t>
            </a:r>
            <a:endParaRPr lang="zh-CN" altLang="en-US" sz="3200" dirty="0">
              <a:latin typeface="Times New Roman" panose="02020603050405020304" pitchFamily="18" charset="0"/>
            </a:endParaRPr>
          </a:p>
        </p:txBody>
      </p:sp>
      <p:pic>
        <p:nvPicPr>
          <p:cNvPr id="4425732" name="Picture 4"/>
          <p:cNvPicPr>
            <a:picLocks noChangeAspect="1"/>
          </p:cNvPicPr>
          <p:nvPr/>
        </p:nvPicPr>
        <p:blipFill>
          <a:blip r:embed="rId1"/>
          <a:stretch>
            <a:fillRect/>
          </a:stretch>
        </p:blipFill>
        <p:spPr>
          <a:xfrm>
            <a:off x="3436938" y="1868488"/>
            <a:ext cx="5707062" cy="4732337"/>
          </a:xfrm>
          <a:prstGeom prst="rect">
            <a:avLst/>
          </a:prstGeom>
          <a:noFill/>
          <a:ln w="9525">
            <a:noFill/>
          </a:ln>
        </p:spPr>
      </p:pic>
      <p:sp>
        <p:nvSpPr>
          <p:cNvPr id="63493" name="Rectangle 5"/>
          <p:cNvSpPr>
            <a:spLocks noChangeArrowheads="1"/>
          </p:cNvSpPr>
          <p:nvPr/>
        </p:nvSpPr>
        <p:spPr bwMode="auto">
          <a:xfrm>
            <a:off x="693738" y="1781175"/>
            <a:ext cx="2560638" cy="4413250"/>
          </a:xfrm>
          <a:prstGeom prst="rect">
            <a:avLst/>
          </a:prstGeom>
          <a:noFill/>
          <a:ln w="9525">
            <a:noFill/>
            <a:miter lim="800000"/>
          </a:ln>
        </p:spPr>
        <p:txBody>
          <a:bodyPr>
            <a:spAutoFit/>
          </a:bodyPr>
          <a:lstStyle/>
          <a:p>
            <a:pPr marL="363855" marR="0" lvl="0" indent="-363855" algn="l" defTabSz="914400" rtl="0" eaLnBrk="1" fontAlgn="base" latinLnBrk="0" hangingPunct="1">
              <a:lnSpc>
                <a:spcPct val="90000"/>
              </a:lnSpc>
              <a:spcBef>
                <a:spcPct val="0"/>
              </a:spcBef>
              <a:spcAft>
                <a:spcPct val="0"/>
              </a:spcAft>
              <a:buClr>
                <a:schemeClr val="tx2"/>
              </a:buClr>
              <a:buSzTx/>
              <a:buFont typeface="Wingdings" panose="05000000000000000000" pitchFamily="2" charset="2"/>
              <a:buChar char="n"/>
              <a:defRPr/>
            </a:pP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映射关系：</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Cache </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分成 </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K </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组，每组分成 </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L </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块；主存块 </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J </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映射到</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Cache</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 的唯一组 </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I </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中的任何行内，</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I =  J  mod K(K</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是</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Cache</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包含的组数</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endPar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0" marR="0" lvl="0" indent="0" algn="l" defTabSz="914400" rtl="0" eaLnBrk="1" fontAlgn="base" latinLnBrk="0" hangingPunct="1">
              <a:lnSpc>
                <a:spcPct val="90000"/>
              </a:lnSpc>
              <a:spcBef>
                <a:spcPct val="0"/>
              </a:spcBef>
              <a:spcAft>
                <a:spcPct val="0"/>
              </a:spcAft>
              <a:buClr>
                <a:schemeClr val="tx2"/>
              </a:buClr>
              <a:buSzTx/>
              <a:buFontTx/>
              <a:buNone/>
              <a:defRPr/>
            </a:pPr>
            <a:endPar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graphicFrame>
        <p:nvGraphicFramePr>
          <p:cNvPr id="66586" name="Group 26"/>
          <p:cNvGraphicFramePr>
            <a:graphicFrameLocks noGrp="1"/>
          </p:cNvGraphicFramePr>
          <p:nvPr/>
        </p:nvGraphicFramePr>
        <p:xfrm>
          <a:off x="112713" y="5789613"/>
          <a:ext cx="3254375" cy="804863"/>
        </p:xfrm>
        <a:graphic>
          <a:graphicData uri="http://schemas.openxmlformats.org/drawingml/2006/table">
            <a:tbl>
              <a:tblPr/>
              <a:tblGrid>
                <a:gridCol w="1202906"/>
                <a:gridCol w="966677"/>
                <a:gridCol w="1084792"/>
              </a:tblGrid>
              <a:tr h="402431">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31          7</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endParaRPr>
                    </a:p>
                  </a:txBody>
                  <a:tcPr marL="91434" marR="91434" marT="45731" marB="45731"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6        5</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endParaRPr>
                    </a:p>
                  </a:txBody>
                  <a:tcPr marL="91434" marR="91434" marT="45731" marB="4573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4        0</a:t>
                      </a:r>
                      <a:endParaRPr kumimoji="0" lang="en-US" altLang="zh-CN" sz="20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endParaRPr>
                    </a:p>
                  </a:txBody>
                  <a:tcPr marL="91434" marR="91434" marT="45731" marB="45731"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402431">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Tag</a:t>
                      </a:r>
                      <a:endParaRPr kumimoji="0" lang="en-US" altLang="zh-CN" sz="24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endParaRPr>
                    </a:p>
                  </a:txBody>
                  <a:tcPr marL="91434" marR="91434" marT="45731" marB="45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Set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endParaRPr>
                    </a:p>
                  </a:txBody>
                  <a:tcPr marL="91434" marR="91434"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25000"/>
                        </a:spcBef>
                        <a:spcAft>
                          <a:spcPct val="0"/>
                        </a:spcAft>
                        <a:buClr>
                          <a:schemeClr val="tx2"/>
                        </a:buClr>
                        <a:buSzTx/>
                        <a:buFont typeface="Wingdings" panose="05000000000000000000" pitchFamily="2" charset="2"/>
                        <a:buNone/>
                      </a:pP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Offset</a:t>
                      </a:r>
                      <a:endParaRPr kumimoji="0" lang="en-US" altLang="zh-CN" sz="2400" b="1"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endParaRPr>
                    </a:p>
                  </a:txBody>
                  <a:tcPr marL="91434" marR="91434" marT="45731" marB="45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25732"/>
                                        </p:tgtEl>
                                        <p:attrNameLst>
                                          <p:attrName>style.visibility</p:attrName>
                                        </p:attrNameLst>
                                      </p:cBhvr>
                                      <p:to>
                                        <p:strVal val="visible"/>
                                      </p:to>
                                    </p:set>
                                    <p:animEffect transition="in" filter="wipe(left)">
                                      <p:cBhvr>
                                        <p:cTn id="7" dur="500"/>
                                        <p:tgtEl>
                                          <p:spTgt spid="4425732"/>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66586"/>
                                        </p:tgtEl>
                                        <p:attrNameLst>
                                          <p:attrName>style.visibility</p:attrName>
                                        </p:attrNameLst>
                                      </p:cBhvr>
                                      <p:to>
                                        <p:strVal val="visible"/>
                                      </p:to>
                                    </p:set>
                                    <p:animEffect transition="in" filter="blinds(horizontal)">
                                      <p:cBhvr>
                                        <p:cTn id="11" dur="500"/>
                                        <p:tgtEl>
                                          <p:spTgt spid="66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p:cNvSpPr>
          <p:nvPr>
            <p:ph type="title"/>
          </p:nvPr>
        </p:nvSpPr>
        <p:spPr>
          <a:xfrm>
            <a:off x="381000" y="228600"/>
            <a:ext cx="8393113" cy="728663"/>
          </a:xfrm>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en-US" altLang="zh-CN"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Times New Roman" panose="02020603050405020304" pitchFamily="18" charset="0"/>
              </a:rPr>
              <a:t>Cache</a:t>
            </a: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Times New Roman" panose="02020603050405020304" pitchFamily="18" charset="0"/>
              </a:rPr>
              <a:t>映射 小结</a:t>
            </a:r>
            <a:endPar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13315" name="内容占位符 4"/>
          <p:cNvSpPr>
            <a:spLocks noGrp="1"/>
          </p:cNvSpPr>
          <p:nvPr>
            <p:ph idx="1"/>
          </p:nvPr>
        </p:nvSpPr>
        <p:spPr>
          <a:xfrm>
            <a:off x="69850" y="892175"/>
            <a:ext cx="6045200" cy="6170613"/>
          </a:xfrm>
        </p:spPr>
        <p:txBody>
          <a:bodyPr vert="horz" wrap="square" lIns="91440" tIns="45720" rIns="91440" bIns="45720" numCol="1" anchor="t" anchorCtr="0" compatLnSpc="1">
            <a:spAutoFit/>
          </a:bodyPr>
          <a:lstStyle/>
          <a:p>
            <a:pPr marL="266700" marR="0" lvl="0" indent="-266700" algn="l" defTabSz="914400" rtl="0" eaLnBrk="1" fontAlgn="base" latinLnBrk="0" hangingPunct="1">
              <a:lnSpc>
                <a:spcPct val="100000"/>
              </a:lnSpc>
              <a:spcBef>
                <a:spcPts val="600"/>
              </a:spcBef>
              <a:spcAft>
                <a:spcPct val="0"/>
              </a:spcAft>
              <a:buClr>
                <a:schemeClr val="tx2"/>
              </a:buClr>
              <a:buSzTx/>
              <a:buFont typeface="Wingdings" panose="05000000000000000000" pitchFamily="2" charset="2"/>
              <a:buBlip>
                <a:blip r:embed="rId1"/>
              </a:buBlip>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三种映射方式</a:t>
            </a:r>
            <a:endParaRPr kumimoji="0" lang="en-US" altLang="zh-CN" sz="3200" b="1" i="0" u="none" strike="noStrike" kern="0" cap="none" spc="0" normalizeH="0" baseline="0" noProof="0" dirty="0" smtClean="0">
              <a:ln>
                <a:noFill/>
              </a:ln>
              <a:solidFill>
                <a:schemeClr val="tx1"/>
              </a:solidFill>
              <a:effectLst/>
              <a:uLnTx/>
              <a:uFillTx/>
              <a:latin typeface="+mn-lt"/>
              <a:ea typeface="+mn-ea"/>
              <a:cs typeface="+mn-cs"/>
            </a:endParaRPr>
          </a:p>
          <a:p>
            <a:pPr marL="533400" marR="0" lvl="1" indent="-266700" algn="l" defTabSz="914400" rtl="0" eaLnBrk="1" fontAlgn="base" latinLnBrk="0" hangingPunct="1">
              <a:lnSpc>
                <a:spcPct val="100000"/>
              </a:lnSpc>
              <a:spcBef>
                <a:spcPts val="600"/>
              </a:spcBef>
              <a:spcAft>
                <a:spcPct val="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直接映射</a:t>
            </a: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800100" marR="0" lvl="2" indent="-266700" algn="l" defTabSz="914400" rtl="0" eaLnBrk="0" fontAlgn="base" latinLnBrk="0" hangingPunct="0">
              <a:lnSpc>
                <a:spcPct val="100000"/>
              </a:lnSpc>
              <a:spcBef>
                <a:spcPts val="600"/>
              </a:spcBef>
              <a:spcAft>
                <a:spcPct val="0"/>
              </a:spcAft>
              <a:buClr>
                <a:schemeClr val="folHlink"/>
              </a:buClr>
              <a:buSzTx/>
              <a:buFont typeface="Symbol" panose="05050102010706020507" pitchFamily="18" charset="2"/>
              <a:buChar char="§"/>
              <a:defRPr/>
            </a:pPr>
            <a:r>
              <a:rPr kumimoji="0" lang="zh-CN" altLang="en-US" sz="2400" b="1" i="0" u="none" strike="noStrike" kern="0" cap="none" spc="0" normalizeH="0" baseline="0" noProof="0" dirty="0">
                <a:ln>
                  <a:noFill/>
                </a:ln>
                <a:solidFill>
                  <a:schemeClr val="tx1"/>
                </a:solidFill>
                <a:effectLst/>
                <a:uLnTx/>
                <a:uFillTx/>
                <a:latin typeface="Times New Roman" panose="02020603050405020304"/>
                <a:ea typeface="+mn-ea"/>
                <a:cs typeface="Arial" panose="020B0604020202020204" pitchFamily="34" charset="0"/>
              </a:rPr>
              <a:t>把主存的每一块映射到一个固定的</a:t>
            </a:r>
            <a:r>
              <a:rPr kumimoji="0" lang="en-US" altLang="zh-CN" sz="2400" b="1" i="0" u="none" strike="noStrike" kern="0" cap="none" spc="0" normalizeH="0" baseline="0" noProof="0" dirty="0">
                <a:ln>
                  <a:noFill/>
                </a:ln>
                <a:solidFill>
                  <a:schemeClr val="tx1"/>
                </a:solidFill>
                <a:effectLst/>
                <a:uLnTx/>
                <a:uFillTx/>
                <a:latin typeface="Times New Roman" panose="02020603050405020304"/>
                <a:ea typeface="+mn-ea"/>
                <a:cs typeface="Arial" panose="020B0604020202020204" pitchFamily="34" charset="0"/>
              </a:rPr>
              <a:t>Cache</a:t>
            </a:r>
            <a:r>
              <a:rPr kumimoji="0" lang="zh-CN" altLang="en-US" sz="2400" b="1" i="0" u="none" strike="noStrike" kern="0" cap="none" spc="0" normalizeH="0" baseline="0" noProof="0" dirty="0">
                <a:ln>
                  <a:noFill/>
                </a:ln>
                <a:solidFill>
                  <a:schemeClr val="tx1"/>
                </a:solidFill>
                <a:effectLst/>
                <a:uLnTx/>
                <a:uFillTx/>
                <a:latin typeface="Times New Roman" panose="02020603050405020304"/>
                <a:ea typeface="+mn-ea"/>
                <a:cs typeface="Arial" panose="020B0604020202020204" pitchFamily="34" charset="0"/>
              </a:rPr>
              <a:t>行。</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a:ea typeface="+mn-ea"/>
                <a:cs typeface="Arial" panose="020B0604020202020204" pitchFamily="34" charset="0"/>
              </a:rPr>
              <a:t>即：</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a:ea typeface="+mn-ea"/>
              </a:rPr>
              <a:t>每个</a:t>
            </a:r>
            <a:r>
              <a:rPr kumimoji="0" lang="zh-CN" altLang="en-US" sz="2400" b="1" i="0" u="none" strike="noStrike" kern="0" cap="none" spc="0" normalizeH="0" baseline="0" noProof="0" dirty="0">
                <a:ln>
                  <a:noFill/>
                </a:ln>
                <a:solidFill>
                  <a:schemeClr val="tx1"/>
                </a:solidFill>
                <a:effectLst/>
                <a:uLnTx/>
                <a:uFillTx/>
                <a:latin typeface="Times New Roman" panose="02020603050405020304"/>
                <a:ea typeface="+mn-ea"/>
              </a:rPr>
              <a:t>主存地址</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a:ea typeface="+mn-ea"/>
              </a:rPr>
              <a:t>对应高速缓存</a:t>
            </a:r>
            <a:r>
              <a:rPr kumimoji="0" lang="zh-CN" altLang="en-US" sz="2400" b="1" i="0" u="none" strike="noStrike" kern="0" cap="none" spc="0" normalizeH="0" baseline="0" noProof="0" dirty="0">
                <a:ln>
                  <a:noFill/>
                </a:ln>
                <a:solidFill>
                  <a:schemeClr val="tx1"/>
                </a:solidFill>
                <a:effectLst/>
                <a:uLnTx/>
                <a:uFillTx/>
                <a:latin typeface="Times New Roman" panose="02020603050405020304"/>
                <a:ea typeface="+mn-ea"/>
              </a:rPr>
              <a:t>中唯一的地址。映射关系</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a:ea typeface="+mn-ea"/>
              </a:rPr>
              <a:t>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Cache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行号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主存块号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mod Cache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行数</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5475" marR="0" lvl="1" indent="-266700" algn="l" defTabSz="914400" rtl="0" eaLnBrk="1" fontAlgn="base" latinLnBrk="0" hangingPunct="1">
              <a:lnSpc>
                <a:spcPct val="100000"/>
              </a:lnSpc>
              <a:spcBef>
                <a:spcPts val="600"/>
              </a:spcBef>
              <a:spcAft>
                <a:spcPct val="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全相联映射</a:t>
            </a: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895350" marR="0" lvl="2" indent="-266700" algn="l" defTabSz="914400" rtl="0" eaLnBrk="1" fontAlgn="base" latinLnBrk="0" hangingPunct="1">
              <a:lnSpc>
                <a:spcPct val="100000"/>
              </a:lnSpc>
              <a:spcBef>
                <a:spcPts val="600"/>
              </a:spcBef>
              <a:spcAft>
                <a:spcPct val="0"/>
              </a:spcAft>
              <a:buClr>
                <a:schemeClr val="folHlink"/>
              </a:buClr>
              <a:buSzTx/>
              <a:buFont typeface="Symbol" panose="05050102010706020507" pitchFamily="18" charset="2"/>
              <a:buChar char="§"/>
              <a:defRPr/>
            </a:pPr>
            <a:r>
              <a:rPr kumimoji="1"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rPr>
              <a:t>主存块</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可</a:t>
            </a:r>
            <a:r>
              <a:rPr kumimoji="0" lang="zh-CN" altLang="en-US" sz="2400" b="1" i="0" u="none" strike="noStrike" kern="0" cap="none" spc="0" normalizeH="0" baseline="0" noProof="0" dirty="0">
                <a:ln>
                  <a:noFill/>
                </a:ln>
                <a:solidFill>
                  <a:schemeClr val="tx1"/>
                </a:solidFill>
                <a:effectLst/>
                <a:uLnTx/>
                <a:uFillTx/>
                <a:latin typeface="Times New Roman" panose="02020603050405020304"/>
                <a:ea typeface="+mn-ea"/>
                <a:cs typeface="Arial" panose="020B0604020202020204" pitchFamily="34" charset="0"/>
              </a:rPr>
              <a:t>映射</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到</a:t>
            </a:r>
            <a:r>
              <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Cache</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的任一</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a:ea typeface="+mn-ea"/>
                <a:cs typeface="Arial" panose="020B0604020202020204" pitchFamily="34" charset="0"/>
              </a:rPr>
              <a:t>行</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中</a:t>
            </a:r>
            <a:endPar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625475" marR="0" lvl="1" indent="-266700" algn="l" defTabSz="914400" rtl="0" eaLnBrk="1" fontAlgn="base" latinLnBrk="0" hangingPunct="1">
              <a:lnSpc>
                <a:spcPct val="100000"/>
              </a:lnSpc>
              <a:spcBef>
                <a:spcPts val="600"/>
              </a:spcBef>
              <a:spcAft>
                <a:spcPct val="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组相联映射</a:t>
            </a: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800100" marR="0" lvl="2" indent="-171450" algn="l" defTabSz="914400" rtl="0" eaLnBrk="1" fontAlgn="base" latinLnBrk="0" hangingPunct="1">
              <a:lnSpc>
                <a:spcPct val="100000"/>
              </a:lnSpc>
              <a:spcBef>
                <a:spcPts val="600"/>
              </a:spcBef>
              <a:spcAft>
                <a:spcPct val="0"/>
              </a:spcAft>
              <a:buClr>
                <a:schemeClr val="folHlink"/>
              </a:buClr>
              <a:buSzTx/>
              <a:buFont typeface="Symbol" panose="05050102010706020507" pitchFamily="18" charset="2"/>
              <a:buChar char="§"/>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将</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Cache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所有行分组，把主存块映射到</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Cache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固定组的任一</a:t>
            </a:r>
            <a:r>
              <a:rPr kumimoji="0" lang="zh-CN" altLang="en-US" sz="2400" b="1" i="0" u="none" strike="noStrike" kern="0" cap="none" spc="0" normalizeH="0" baseline="0" noProof="0" dirty="0">
                <a:ln>
                  <a:noFill/>
                </a:ln>
                <a:solidFill>
                  <a:schemeClr val="tx1"/>
                </a:solidFill>
                <a:effectLst/>
                <a:uLnTx/>
                <a:uFillTx/>
                <a:latin typeface="Times New Roman" panose="02020603050405020304"/>
                <a:ea typeface="+mn-ea"/>
                <a:cs typeface="Arial" panose="020B0604020202020204" pitchFamily="34" charset="0"/>
              </a:rPr>
              <a:t>行</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中。即：组间模映射、组内全映射。映射关系为：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Cache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组号</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主存块号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mod Cache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组数</a:t>
            </a:r>
            <a:endParaRPr kumimoji="0" lang="en-US" altLang="zh-CN" sz="2400" b="1" i="0" u="none" strike="noStrike" kern="0" cap="none" spc="0" normalizeH="0" baseline="0" noProof="0" dirty="0" smtClean="0">
              <a:ln>
                <a:noFill/>
              </a:ln>
              <a:solidFill>
                <a:schemeClr val="tx1"/>
              </a:solidFill>
              <a:effectLst/>
              <a:uLnTx/>
              <a:uFillTx/>
              <a:latin typeface="+mn-lt"/>
              <a:ea typeface="+mn-ea"/>
            </a:endParaRPr>
          </a:p>
          <a:p>
            <a:pPr marL="914400" marR="0" lvl="1" indent="-452755" algn="l" defTabSz="914400" rtl="0" eaLnBrk="1" fontAlgn="base" latinLnBrk="0" hangingPunct="1">
              <a:lnSpc>
                <a:spcPct val="100000"/>
              </a:lnSpc>
              <a:spcBef>
                <a:spcPts val="600"/>
              </a:spcBef>
              <a:spcAft>
                <a:spcPct val="0"/>
              </a:spcAft>
              <a:buClr>
                <a:schemeClr val="tx2"/>
              </a:buClr>
              <a:buSzTx/>
              <a:buFont typeface="Wingdings" panose="05000000000000000000" pitchFamily="2" charset="2"/>
              <a:buBlip>
                <a:blip r:embed="rId2"/>
              </a:buBlip>
              <a:defRPr/>
            </a:pPr>
            <a:endParaRPr kumimoji="0" lang="zh-CN" altLang="en-US" sz="2800" b="1" i="0" u="none" strike="noStrike" kern="0" cap="none" spc="0" normalizeH="0" baseline="0" noProof="0" dirty="0" smtClean="0">
              <a:ln>
                <a:noFill/>
              </a:ln>
              <a:solidFill>
                <a:schemeClr val="tx1"/>
              </a:solidFill>
              <a:effectLst/>
              <a:uLnTx/>
              <a:uFillTx/>
              <a:latin typeface="+mn-lt"/>
              <a:ea typeface="+mn-ea"/>
            </a:endParaRPr>
          </a:p>
        </p:txBody>
      </p:sp>
      <p:pic>
        <p:nvPicPr>
          <p:cNvPr id="73732" name="Picture 7"/>
          <p:cNvPicPr>
            <a:picLocks noChangeAspect="1"/>
          </p:cNvPicPr>
          <p:nvPr/>
        </p:nvPicPr>
        <p:blipFill>
          <a:blip r:embed="rId3"/>
          <a:stretch>
            <a:fillRect/>
          </a:stretch>
        </p:blipFill>
        <p:spPr>
          <a:xfrm>
            <a:off x="5969000" y="5068888"/>
            <a:ext cx="3117850" cy="1198562"/>
          </a:xfrm>
          <a:prstGeom prst="rect">
            <a:avLst/>
          </a:prstGeom>
          <a:noFill/>
          <a:ln w="9525">
            <a:noFill/>
          </a:ln>
        </p:spPr>
      </p:pic>
      <p:pic>
        <p:nvPicPr>
          <p:cNvPr id="73733" name="Picture 8"/>
          <p:cNvPicPr>
            <a:picLocks noChangeAspect="1"/>
          </p:cNvPicPr>
          <p:nvPr/>
        </p:nvPicPr>
        <p:blipFill>
          <a:blip r:embed="rId4"/>
          <a:stretch>
            <a:fillRect/>
          </a:stretch>
        </p:blipFill>
        <p:spPr>
          <a:xfrm>
            <a:off x="5986463" y="3536950"/>
            <a:ext cx="2928937" cy="1162050"/>
          </a:xfrm>
          <a:prstGeom prst="rect">
            <a:avLst/>
          </a:prstGeom>
          <a:noFill/>
          <a:ln w="9525">
            <a:noFill/>
          </a:ln>
        </p:spPr>
      </p:pic>
      <p:pic>
        <p:nvPicPr>
          <p:cNvPr id="73734" name="Picture 9"/>
          <p:cNvPicPr>
            <a:picLocks noChangeAspect="1"/>
          </p:cNvPicPr>
          <p:nvPr/>
        </p:nvPicPr>
        <p:blipFill>
          <a:blip r:embed="rId5"/>
          <a:stretch>
            <a:fillRect/>
          </a:stretch>
        </p:blipFill>
        <p:spPr>
          <a:xfrm>
            <a:off x="5946775" y="1322388"/>
            <a:ext cx="3063875" cy="1800225"/>
          </a:xfrm>
          <a:prstGeom prst="rect">
            <a:avLst/>
          </a:prstGeom>
          <a:noFill/>
          <a:ln w="9525">
            <a:noFill/>
          </a:ln>
        </p:spPr>
      </p:pic>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charRg st="0" end="7"/>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15">
                                            <p:txEl>
                                              <p:charRg st="7" end="1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315">
                                            <p:txEl>
                                              <p:charRg st="12" end="87"/>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315">
                                            <p:txEl>
                                              <p:charRg st="87" end="9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315">
                                            <p:txEl>
                                              <p:charRg st="93" end="11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15">
                                            <p:txEl>
                                              <p:charRg st="111" end="117"/>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315">
                                            <p:txEl>
                                              <p:charRg st="117" end="19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77922" name="Rectangle 2"/>
          <p:cNvSpPr>
            <a:spLocks noGrp="1" noChangeArrowheads="1"/>
          </p:cNvSpPr>
          <p:nvPr>
            <p:ph type="title"/>
          </p:nvPr>
        </p:nvSpPr>
        <p:spPr>
          <a:xfrm>
            <a:off x="381000" y="228600"/>
            <a:ext cx="8369300" cy="714375"/>
          </a:xfrm>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回顾－主存储器设计</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74755" name="Rectangle 3"/>
          <p:cNvSpPr>
            <a:spLocks noGrp="1"/>
          </p:cNvSpPr>
          <p:nvPr>
            <p:ph idx="1"/>
          </p:nvPr>
        </p:nvSpPr>
        <p:spPr>
          <a:xfrm>
            <a:off x="557213" y="1084263"/>
            <a:ext cx="8266112" cy="5287962"/>
          </a:xfrm>
          <a:ln/>
        </p:spPr>
        <p:txBody>
          <a:bodyPr vert="horz" wrap="square" lIns="91440" tIns="45720" rIns="91440" bIns="45720" anchor="t" anchorCtr="0">
            <a:spAutoFit/>
          </a:bodyPr>
          <a:p>
            <a:pPr marL="363855" indent="-363855" eaLnBrk="1" hangingPunct="1">
              <a:lnSpc>
                <a:spcPct val="110000"/>
              </a:lnSpc>
              <a:spcBef>
                <a:spcPts val="600"/>
              </a:spcBef>
            </a:pPr>
            <a:r>
              <a:rPr lang="zh-CN" altLang="en-US" sz="2800" dirty="0">
                <a:latin typeface="Times New Roman" panose="02020603050405020304" pitchFamily="18" charset="0"/>
              </a:rPr>
              <a:t>存储器的性能指标</a:t>
            </a:r>
            <a:endParaRPr lang="en-US" altLang="zh-CN" sz="2800" dirty="0">
              <a:latin typeface="Times New Roman" panose="02020603050405020304" pitchFamily="18" charset="0"/>
            </a:endParaRPr>
          </a:p>
          <a:p>
            <a:pPr marL="717550" lvl="1" indent="-353695" eaLnBrk="1" hangingPunct="1">
              <a:lnSpc>
                <a:spcPct val="110000"/>
              </a:lnSpc>
              <a:spcBef>
                <a:spcPts val="600"/>
              </a:spcBef>
            </a:pPr>
            <a:r>
              <a:rPr lang="zh-CN" altLang="en-US" sz="2400" dirty="0">
                <a:latin typeface="Times New Roman" panose="02020603050405020304" pitchFamily="18" charset="0"/>
              </a:rPr>
              <a:t>存储周期：连续两次访问同一存储器的最小时间间隔</a:t>
            </a:r>
            <a:endParaRPr lang="en-US" altLang="zh-CN" sz="2400" dirty="0">
              <a:latin typeface="Times New Roman" panose="02020603050405020304" pitchFamily="18" charset="0"/>
            </a:endParaRPr>
          </a:p>
          <a:p>
            <a:pPr marL="717550" lvl="1" indent="-353695" eaLnBrk="1" hangingPunct="1">
              <a:lnSpc>
                <a:spcPct val="110000"/>
              </a:lnSpc>
              <a:spcBef>
                <a:spcPts val="600"/>
              </a:spcBef>
            </a:pPr>
            <a:r>
              <a:rPr lang="zh-CN" altLang="en-US" sz="2400" dirty="0">
                <a:latin typeface="Times New Roman" panose="02020603050405020304" pitchFamily="18" charset="0"/>
              </a:rPr>
              <a:t>存取时间：存储器获得地址到数据访问结束所需时间</a:t>
            </a:r>
            <a:endParaRPr lang="en-US" altLang="zh-CN" sz="2400" dirty="0">
              <a:latin typeface="Times New Roman" panose="02020603050405020304" pitchFamily="18" charset="0"/>
            </a:endParaRPr>
          </a:p>
          <a:p>
            <a:pPr marL="717550" lvl="1" indent="-353695" eaLnBrk="1" hangingPunct="1">
              <a:lnSpc>
                <a:spcPct val="110000"/>
              </a:lnSpc>
              <a:spcBef>
                <a:spcPts val="600"/>
              </a:spcBef>
            </a:pPr>
            <a:r>
              <a:rPr lang="zh-CN" altLang="en-US" sz="2400" dirty="0">
                <a:latin typeface="Times New Roman" panose="02020603050405020304" pitchFamily="18" charset="0"/>
              </a:rPr>
              <a:t>存储带宽：单位时间传输的数据量</a:t>
            </a:r>
            <a:endParaRPr lang="zh-CN" altLang="en-US" sz="2400" dirty="0">
              <a:latin typeface="Times New Roman" panose="02020603050405020304" pitchFamily="18" charset="0"/>
            </a:endParaRPr>
          </a:p>
          <a:p>
            <a:pPr marL="363855" indent="-363855" eaLnBrk="1" hangingPunct="1">
              <a:lnSpc>
                <a:spcPct val="110000"/>
              </a:lnSpc>
              <a:spcBef>
                <a:spcPts val="600"/>
              </a:spcBef>
            </a:pPr>
            <a:r>
              <a:rPr lang="zh-CN" altLang="en-US" sz="2800" dirty="0"/>
              <a:t>主存储器</a:t>
            </a:r>
            <a:r>
              <a:rPr lang="zh-CN" altLang="en-US" sz="2800" dirty="0">
                <a:latin typeface="Times New Roman" panose="02020603050405020304" pitchFamily="18" charset="0"/>
              </a:rPr>
              <a:t>的设计</a:t>
            </a:r>
            <a:endParaRPr lang="zh-CN" altLang="en-US" sz="2800" dirty="0">
              <a:latin typeface="Times New Roman" panose="02020603050405020304" pitchFamily="18" charset="0"/>
            </a:endParaRPr>
          </a:p>
          <a:p>
            <a:pPr marL="717550" lvl="1" indent="-353695" eaLnBrk="1" hangingPunct="1">
              <a:lnSpc>
                <a:spcPct val="110000"/>
              </a:lnSpc>
              <a:spcBef>
                <a:spcPts val="600"/>
              </a:spcBef>
            </a:pPr>
            <a:r>
              <a:rPr lang="zh-CN" altLang="en-US" sz="2400" dirty="0">
                <a:latin typeface="Times New Roman" panose="02020603050405020304" pitchFamily="18" charset="0"/>
              </a:rPr>
              <a:t>目的：利用半导体存储芯片和其它逻辑芯片，构成存储器的过程</a:t>
            </a:r>
            <a:endParaRPr lang="zh-CN" altLang="en-US" sz="2400" dirty="0">
              <a:latin typeface="Times New Roman" panose="02020603050405020304" pitchFamily="18" charset="0"/>
            </a:endParaRPr>
          </a:p>
          <a:p>
            <a:pPr marL="1076325" lvl="2" indent="-266700" eaLnBrk="1" hangingPunct="1">
              <a:lnSpc>
                <a:spcPct val="110000"/>
              </a:lnSpc>
              <a:spcBef>
                <a:spcPts val="600"/>
              </a:spcBef>
            </a:pPr>
            <a:r>
              <a:rPr lang="zh-CN" altLang="en-US" sz="2200" dirty="0">
                <a:latin typeface="Times New Roman" panose="02020603050405020304" pitchFamily="18" charset="0"/>
              </a:rPr>
              <a:t>由存储芯片</a:t>
            </a:r>
            <a:r>
              <a:rPr lang="en-US" altLang="zh-CN" sz="2200" dirty="0">
                <a:latin typeface="Times New Roman" panose="02020603050405020304" pitchFamily="18" charset="0"/>
              </a:rPr>
              <a:t>(mk×n</a:t>
            </a:r>
            <a:r>
              <a:rPr lang="zh-CN" altLang="en-US" sz="2200" dirty="0">
                <a:latin typeface="Times New Roman" panose="02020603050405020304" pitchFamily="18" charset="0"/>
              </a:rPr>
              <a:t>位</a:t>
            </a:r>
            <a:r>
              <a:rPr lang="en-US" altLang="zh-CN" sz="2200" dirty="0">
                <a:latin typeface="Times New Roman" panose="02020603050405020304" pitchFamily="18" charset="0"/>
              </a:rPr>
              <a:t>/</a:t>
            </a:r>
            <a:r>
              <a:rPr lang="zh-CN" altLang="en-US" sz="2200" dirty="0">
                <a:latin typeface="Times New Roman" panose="02020603050405020304" pitchFamily="18" charset="0"/>
              </a:rPr>
              <a:t>片</a:t>
            </a:r>
            <a:r>
              <a:rPr lang="en-US" altLang="zh-CN" sz="2200" dirty="0">
                <a:latin typeface="Times New Roman" panose="02020603050405020304" pitchFamily="18" charset="0"/>
              </a:rPr>
              <a:t>)</a:t>
            </a:r>
            <a:r>
              <a:rPr lang="zh-CN" altLang="en-US" sz="2200" dirty="0">
                <a:latin typeface="Times New Roman" panose="02020603050405020304" pitchFamily="18" charset="0"/>
              </a:rPr>
              <a:t>构成存储器</a:t>
            </a:r>
            <a:r>
              <a:rPr lang="en-US" altLang="zh-CN" sz="2200" dirty="0">
                <a:latin typeface="Times New Roman" panose="02020603050405020304" pitchFamily="18" charset="0"/>
              </a:rPr>
              <a:t>(Mk×N</a:t>
            </a:r>
            <a:r>
              <a:rPr lang="zh-CN" altLang="en-US" sz="2200" dirty="0">
                <a:latin typeface="Times New Roman" panose="02020603050405020304" pitchFamily="18" charset="0"/>
              </a:rPr>
              <a:t>位</a:t>
            </a:r>
            <a:r>
              <a:rPr lang="en-US" altLang="zh-CN" sz="2200" dirty="0">
                <a:latin typeface="Times New Roman" panose="02020603050405020304" pitchFamily="18" charset="0"/>
              </a:rPr>
              <a:t>)</a:t>
            </a:r>
            <a:endParaRPr lang="en-US" altLang="zh-CN" sz="2200" dirty="0">
              <a:latin typeface="Times New Roman" panose="02020603050405020304" pitchFamily="18" charset="0"/>
            </a:endParaRPr>
          </a:p>
          <a:p>
            <a:pPr marL="717550" lvl="1" indent="-353695" eaLnBrk="1" hangingPunct="1">
              <a:lnSpc>
                <a:spcPct val="110000"/>
              </a:lnSpc>
              <a:spcBef>
                <a:spcPts val="600"/>
              </a:spcBef>
            </a:pPr>
            <a:r>
              <a:rPr lang="zh-CN" altLang="en-US" sz="2400" dirty="0">
                <a:latin typeface="Times New Roman" panose="02020603050405020304" pitchFamily="18" charset="0"/>
              </a:rPr>
              <a:t>由地址线确定寻址范围</a:t>
            </a:r>
            <a:endParaRPr lang="zh-CN" altLang="en-US" sz="2400" dirty="0">
              <a:latin typeface="Times New Roman" panose="02020603050405020304" pitchFamily="18" charset="0"/>
            </a:endParaRPr>
          </a:p>
          <a:p>
            <a:pPr marL="1076325" lvl="2" indent="-266700" eaLnBrk="1" hangingPunct="1">
              <a:lnSpc>
                <a:spcPct val="110000"/>
              </a:lnSpc>
              <a:spcBef>
                <a:spcPts val="600"/>
              </a:spcBef>
            </a:pPr>
            <a:r>
              <a:rPr lang="zh-CN" altLang="en-US" sz="2200" dirty="0">
                <a:latin typeface="Times New Roman" panose="02020603050405020304" pitchFamily="18" charset="0"/>
              </a:rPr>
              <a:t>字节编址</a:t>
            </a:r>
            <a:endParaRPr lang="zh-CN" altLang="en-US" sz="2200" dirty="0">
              <a:latin typeface="Times New Roman" panose="02020603050405020304" pitchFamily="18" charset="0"/>
            </a:endParaRPr>
          </a:p>
          <a:p>
            <a:pPr marL="1076325" lvl="2" indent="-266700" eaLnBrk="1" hangingPunct="1">
              <a:lnSpc>
                <a:spcPct val="110000"/>
              </a:lnSpc>
              <a:spcBef>
                <a:spcPts val="600"/>
              </a:spcBef>
            </a:pPr>
            <a:r>
              <a:rPr lang="zh-CN" altLang="en-US" sz="2200" dirty="0">
                <a:latin typeface="Times New Roman" panose="02020603050405020304" pitchFamily="18" charset="0"/>
              </a:rPr>
              <a:t>字编址</a:t>
            </a:r>
            <a:endParaRPr lang="en-US" altLang="zh-CN" sz="2200" dirty="0">
              <a:latin typeface="Times New Roman" panose="02020603050405020304" pitchFamily="18" charset="0"/>
            </a:endParaRPr>
          </a:p>
        </p:txBody>
      </p:sp>
      <p:grpSp>
        <p:nvGrpSpPr>
          <p:cNvPr id="74756" name="Group 4"/>
          <p:cNvGrpSpPr/>
          <p:nvPr/>
        </p:nvGrpSpPr>
        <p:grpSpPr>
          <a:xfrm>
            <a:off x="4708525" y="5095875"/>
            <a:ext cx="4065588" cy="1528763"/>
            <a:chOff x="672" y="1448"/>
            <a:chExt cx="4368" cy="2240"/>
          </a:xfrm>
        </p:grpSpPr>
        <p:sp>
          <p:nvSpPr>
            <p:cNvPr id="5" name="Rectangle 5"/>
            <p:cNvSpPr>
              <a:spLocks noChangeArrowheads="1"/>
            </p:cNvSpPr>
            <p:nvPr/>
          </p:nvSpPr>
          <p:spPr bwMode="auto">
            <a:xfrm>
              <a:off x="672" y="1448"/>
              <a:ext cx="1463" cy="2240"/>
            </a:xfrm>
            <a:prstGeom prst="rect">
              <a:avLst/>
            </a:prstGeom>
            <a:solidFill>
              <a:srgbClr val="FFFF00"/>
            </a:solidFill>
            <a:ln w="38100">
              <a:solidFill>
                <a:schemeClr val="bg2"/>
              </a:solidFill>
              <a:miter lim="800000"/>
            </a:ln>
            <a:effectLst/>
          </p:spPr>
          <p:txBody>
            <a:bodyPr>
              <a:flatTx/>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a:ln>
                  <a:noFill/>
                </a:ln>
                <a:solidFill>
                  <a:srgbClr val="FF0000"/>
                </a:solidFill>
                <a:effectLst/>
                <a:uLnTx/>
                <a:uFillTx/>
                <a:latin typeface="+mn-lt"/>
                <a:ea typeface="+mn-ea"/>
                <a:cs typeface="+mn-cs"/>
              </a:endParaRPr>
            </a:p>
          </p:txBody>
        </p:sp>
        <p:sp>
          <p:nvSpPr>
            <p:cNvPr id="6" name="Rectangle 6"/>
            <p:cNvSpPr>
              <a:spLocks noChangeArrowheads="1"/>
            </p:cNvSpPr>
            <p:nvPr/>
          </p:nvSpPr>
          <p:spPr bwMode="auto">
            <a:xfrm>
              <a:off x="889" y="1713"/>
              <a:ext cx="1032" cy="370"/>
            </a:xfrm>
            <a:prstGeom prst="rect">
              <a:avLst/>
            </a:prstGeom>
            <a:noFill/>
            <a:ln w="12700">
              <a:solidFill>
                <a:srgbClr val="FF00FF"/>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a:ln>
                  <a:noFill/>
                </a:ln>
                <a:solidFill>
                  <a:schemeClr val="tx2"/>
                </a:solidFill>
                <a:effectLst/>
                <a:uLnTx/>
                <a:uFillTx/>
                <a:latin typeface="+mn-lt"/>
                <a:ea typeface="+mn-ea"/>
                <a:cs typeface="+mn-cs"/>
              </a:endParaRPr>
            </a:p>
          </p:txBody>
        </p:sp>
        <p:sp>
          <p:nvSpPr>
            <p:cNvPr id="7" name="Rectangle 7"/>
            <p:cNvSpPr>
              <a:spLocks noChangeArrowheads="1"/>
            </p:cNvSpPr>
            <p:nvPr/>
          </p:nvSpPr>
          <p:spPr bwMode="auto">
            <a:xfrm>
              <a:off x="1115" y="1718"/>
              <a:ext cx="592" cy="405"/>
            </a:xfrm>
            <a:prstGeom prst="rect">
              <a:avLst/>
            </a:prstGeom>
            <a:noFill/>
            <a:ln>
              <a:noFill/>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MDR</a:t>
              </a:r>
              <a:endParaRPr kumimoji="1" lang="en-US" altLang="zh-CN" sz="18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p:txBody>
        </p:sp>
        <p:sp>
          <p:nvSpPr>
            <p:cNvPr id="8" name="Rectangle 8"/>
            <p:cNvSpPr>
              <a:spLocks noChangeArrowheads="1"/>
            </p:cNvSpPr>
            <p:nvPr/>
          </p:nvSpPr>
          <p:spPr bwMode="auto">
            <a:xfrm>
              <a:off x="889" y="3016"/>
              <a:ext cx="1032" cy="370"/>
            </a:xfrm>
            <a:prstGeom prst="rect">
              <a:avLst/>
            </a:prstGeom>
            <a:noFill/>
            <a:ln w="12700">
              <a:solidFill>
                <a:srgbClr val="FF00FF"/>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a:ln>
                  <a:noFill/>
                </a:ln>
                <a:solidFill>
                  <a:schemeClr val="tx2"/>
                </a:solidFill>
                <a:effectLst/>
                <a:uLnTx/>
                <a:uFillTx/>
                <a:latin typeface="+mn-lt"/>
                <a:ea typeface="+mn-ea"/>
                <a:cs typeface="+mn-cs"/>
              </a:endParaRPr>
            </a:p>
          </p:txBody>
        </p:sp>
        <p:sp>
          <p:nvSpPr>
            <p:cNvPr id="9" name="Rectangle 9"/>
            <p:cNvSpPr>
              <a:spLocks noChangeArrowheads="1"/>
            </p:cNvSpPr>
            <p:nvPr/>
          </p:nvSpPr>
          <p:spPr bwMode="auto">
            <a:xfrm>
              <a:off x="1124" y="3037"/>
              <a:ext cx="592" cy="405"/>
            </a:xfrm>
            <a:prstGeom prst="rect">
              <a:avLst/>
            </a:prstGeom>
            <a:noFill/>
            <a:ln>
              <a:noFill/>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MAR</a:t>
              </a:r>
              <a:endParaRPr kumimoji="1" lang="en-US" altLang="zh-CN" sz="18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p:txBody>
        </p:sp>
        <p:sp>
          <p:nvSpPr>
            <p:cNvPr id="10" name="Rectangle 10"/>
            <p:cNvSpPr>
              <a:spLocks noChangeArrowheads="1"/>
            </p:cNvSpPr>
            <p:nvPr/>
          </p:nvSpPr>
          <p:spPr bwMode="auto">
            <a:xfrm>
              <a:off x="1134" y="2364"/>
              <a:ext cx="568" cy="451"/>
            </a:xfrm>
            <a:prstGeom prst="rect">
              <a:avLst/>
            </a:prstGeom>
            <a:noFill/>
            <a:ln>
              <a:noFill/>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CPU</a:t>
              </a:r>
              <a:endPar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11"/>
            <p:cNvSpPr>
              <a:spLocks noChangeArrowheads="1"/>
            </p:cNvSpPr>
            <p:nvPr/>
          </p:nvSpPr>
          <p:spPr bwMode="auto">
            <a:xfrm>
              <a:off x="3890" y="1448"/>
              <a:ext cx="1150" cy="2240"/>
            </a:xfrm>
            <a:prstGeom prst="rect">
              <a:avLst/>
            </a:prstGeom>
            <a:solidFill>
              <a:schemeClr val="tx1"/>
            </a:solidFill>
            <a:ln w="28575">
              <a:solidFill>
                <a:srgbClr val="003300"/>
              </a:solidFill>
            </a:ln>
            <a:effectLst/>
          </p:spPr>
          <p:txBody>
            <a:bodyPr>
              <a:flatTx/>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a:ln>
                  <a:noFill/>
                </a:ln>
                <a:solidFill>
                  <a:srgbClr val="FFFF00"/>
                </a:solidFill>
                <a:effectLst/>
                <a:uLnTx/>
                <a:uFillTx/>
                <a:latin typeface="+mn-lt"/>
                <a:ea typeface="+mn-ea"/>
                <a:cs typeface="+mn-cs"/>
              </a:endParaRPr>
            </a:p>
          </p:txBody>
        </p:sp>
        <p:sp>
          <p:nvSpPr>
            <p:cNvPr id="12" name="Text Box 12"/>
            <p:cNvSpPr txBox="1">
              <a:spLocks noChangeArrowheads="1"/>
            </p:cNvSpPr>
            <p:nvPr/>
          </p:nvSpPr>
          <p:spPr bwMode="auto">
            <a:xfrm>
              <a:off x="3964" y="2376"/>
              <a:ext cx="1025" cy="586"/>
            </a:xfrm>
            <a:prstGeom prst="rect">
              <a:avLst/>
            </a:prstGeom>
            <a:noFill/>
            <a:ln>
              <a:noFill/>
            </a:ln>
            <a:effectLst/>
          </p:spPr>
          <p:txBody>
            <a:bodyPr wrap="none">
              <a:spAutoFit/>
              <a:flatTx/>
            </a:bodyPr>
            <a:lstStyle/>
            <a:p>
              <a:pPr marR="0" algn="ctr" defTabSz="914400" eaLnBrk="1" hangingPunct="1">
                <a:buClrTx/>
                <a:buSzTx/>
                <a:buFontTx/>
                <a:buNone/>
                <a:defRPr/>
              </a:pPr>
              <a:r>
                <a:rPr kumimoji="1" lang="zh-CN" altLang="en-US" sz="2000" kern="1200" cap="none" spc="0" normalizeH="0" baseline="0" noProof="0" dirty="0">
                  <a:solidFill>
                    <a:srgbClr val="FF0000"/>
                  </a:solidFill>
                  <a:effectLst/>
                  <a:latin typeface="+mn-lt"/>
                  <a:ea typeface="+mn-ea"/>
                  <a:cs typeface="+mn-cs"/>
                </a:rPr>
                <a:t>存储器</a:t>
              </a:r>
              <a:endParaRPr kumimoji="1" lang="zh-CN" altLang="en-US" sz="2000" kern="1200" cap="none" spc="0" normalizeH="0" baseline="0" noProof="0" dirty="0">
                <a:solidFill>
                  <a:srgbClr val="FF0000"/>
                </a:solidFill>
                <a:effectLst/>
                <a:latin typeface="+mn-lt"/>
                <a:ea typeface="+mn-ea"/>
                <a:cs typeface="+mn-cs"/>
              </a:endParaRPr>
            </a:p>
          </p:txBody>
        </p:sp>
        <p:sp>
          <p:nvSpPr>
            <p:cNvPr id="13" name="Rectangle 13"/>
            <p:cNvSpPr>
              <a:spLocks noChangeArrowheads="1"/>
            </p:cNvSpPr>
            <p:nvPr/>
          </p:nvSpPr>
          <p:spPr bwMode="auto">
            <a:xfrm>
              <a:off x="2773" y="2109"/>
              <a:ext cx="339" cy="407"/>
            </a:xfrm>
            <a:prstGeom prst="rect">
              <a:avLst/>
            </a:prstGeom>
            <a:noFill/>
            <a:ln>
              <a:noFill/>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rgbClr val="FFFF00"/>
                  </a:solidFill>
                  <a:effectLst/>
                  <a:uLnTx/>
                  <a:uFillTx/>
                  <a:latin typeface="+mn-lt"/>
                  <a:ea typeface="+mn-ea"/>
                  <a:cs typeface="+mn-cs"/>
                </a:rPr>
                <a:t>读</a:t>
              </a:r>
              <a:r>
                <a:rPr kumimoji="1" lang="en-US" altLang="zh-CN" sz="1800" b="1" i="0" u="none" strike="noStrike" kern="1200" cap="none" spc="0" normalizeH="0" baseline="0" noProof="0" dirty="0">
                  <a:ln>
                    <a:noFill/>
                  </a:ln>
                  <a:solidFill>
                    <a:srgbClr val="FFFF00"/>
                  </a:solidFill>
                  <a:effectLst/>
                  <a:uLnTx/>
                  <a:uFillTx/>
                  <a:latin typeface="+mn-lt"/>
                  <a:ea typeface="+mn-ea"/>
                  <a:cs typeface="+mn-cs"/>
                </a:rPr>
                <a:t>/</a:t>
              </a:r>
              <a:endParaRPr kumimoji="1" lang="zh-CN" altLang="en-US" sz="1800" b="1" i="0" u="none" strike="noStrike" kern="1200" cap="none" spc="0" normalizeH="0" baseline="0" noProof="0" dirty="0">
                <a:ln>
                  <a:noFill/>
                </a:ln>
                <a:solidFill>
                  <a:srgbClr val="FFFF00"/>
                </a:solidFill>
                <a:effectLst/>
                <a:uLnTx/>
                <a:uFillTx/>
                <a:latin typeface="+mn-lt"/>
                <a:ea typeface="+mn-ea"/>
                <a:cs typeface="+mn-cs"/>
              </a:endParaRPr>
            </a:p>
          </p:txBody>
        </p:sp>
        <p:sp>
          <p:nvSpPr>
            <p:cNvPr id="14" name="Freeform 14"/>
            <p:cNvSpPr/>
            <p:nvPr/>
          </p:nvSpPr>
          <p:spPr bwMode="auto">
            <a:xfrm>
              <a:off x="2142" y="2551"/>
              <a:ext cx="1738" cy="2"/>
            </a:xfrm>
            <a:custGeom>
              <a:avLst/>
              <a:gdLst>
                <a:gd name="T0" fmla="*/ 0 w 1737"/>
                <a:gd name="T1" fmla="*/ 0 h 1"/>
                <a:gd name="T2" fmla="*/ 1737 w 1737"/>
                <a:gd name="T3" fmla="*/ 0 h 1"/>
              </a:gdLst>
              <a:ahLst/>
              <a:cxnLst>
                <a:cxn ang="0">
                  <a:pos x="T0" y="T1"/>
                </a:cxn>
                <a:cxn ang="0">
                  <a:pos x="T2" y="T3"/>
                </a:cxn>
              </a:cxnLst>
              <a:rect l="0" t="0" r="r" b="b"/>
              <a:pathLst>
                <a:path w="1737" h="1">
                  <a:moveTo>
                    <a:pt x="0" y="0"/>
                  </a:moveTo>
                  <a:lnTo>
                    <a:pt x="1737" y="0"/>
                  </a:lnTo>
                </a:path>
              </a:pathLst>
            </a:custGeom>
            <a:noFill/>
            <a:ln w="28575" cmpd="sng">
              <a:solidFill>
                <a:srgbClr val="FF00FF"/>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a:ln>
                  <a:noFill/>
                </a:ln>
                <a:solidFill>
                  <a:schemeClr val="tx2"/>
                </a:solidFill>
                <a:effectLst/>
                <a:uLnTx/>
                <a:uFillTx/>
                <a:latin typeface="+mn-lt"/>
                <a:ea typeface="+mn-ea"/>
                <a:cs typeface="+mn-cs"/>
              </a:endParaRPr>
            </a:p>
          </p:txBody>
        </p:sp>
        <p:sp>
          <p:nvSpPr>
            <p:cNvPr id="15" name="Rectangle 15"/>
            <p:cNvSpPr>
              <a:spLocks noChangeArrowheads="1"/>
            </p:cNvSpPr>
            <p:nvPr/>
          </p:nvSpPr>
          <p:spPr bwMode="auto">
            <a:xfrm>
              <a:off x="2529" y="1476"/>
              <a:ext cx="993" cy="407"/>
            </a:xfrm>
            <a:prstGeom prst="rect">
              <a:avLst/>
            </a:prstGeom>
            <a:noFill/>
            <a:ln>
              <a:noFill/>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rgbClr val="FFFF00"/>
                  </a:solidFill>
                  <a:effectLst/>
                  <a:uLnTx/>
                  <a:uFillTx/>
                  <a:latin typeface="+mn-lt"/>
                  <a:ea typeface="+mn-ea"/>
                  <a:cs typeface="+mn-cs"/>
                </a:rPr>
                <a:t>数据总线</a:t>
              </a:r>
              <a:endParaRPr kumimoji="1" lang="zh-CN" altLang="en-US" sz="1800" b="1" i="0" u="none" strike="noStrike" kern="1200" cap="none" spc="0" normalizeH="0" baseline="0" noProof="0" dirty="0">
                <a:ln>
                  <a:noFill/>
                </a:ln>
                <a:solidFill>
                  <a:srgbClr val="FFFF00"/>
                </a:solidFill>
                <a:effectLst/>
                <a:uLnTx/>
                <a:uFillTx/>
                <a:latin typeface="+mn-lt"/>
                <a:ea typeface="+mn-ea"/>
                <a:cs typeface="+mn-cs"/>
              </a:endParaRPr>
            </a:p>
          </p:txBody>
        </p:sp>
        <p:sp>
          <p:nvSpPr>
            <p:cNvPr id="16" name="AutoShape 16"/>
            <p:cNvSpPr>
              <a:spLocks noChangeArrowheads="1"/>
            </p:cNvSpPr>
            <p:nvPr/>
          </p:nvSpPr>
          <p:spPr bwMode="auto">
            <a:xfrm>
              <a:off x="2144" y="1816"/>
              <a:ext cx="1745" cy="105"/>
            </a:xfrm>
            <a:prstGeom prst="leftRightArrow">
              <a:avLst>
                <a:gd name="adj1" fmla="val 50000"/>
                <a:gd name="adj2" fmla="val 131605"/>
              </a:avLst>
            </a:prstGeom>
            <a:solidFill>
              <a:srgbClr val="FF0000"/>
            </a:solidFill>
            <a:ln>
              <a:noFill/>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a:ln>
                  <a:noFill/>
                </a:ln>
                <a:solidFill>
                  <a:schemeClr val="tx2"/>
                </a:solidFill>
                <a:effectLst/>
                <a:uLnTx/>
                <a:uFillTx/>
                <a:latin typeface="+mn-lt"/>
                <a:ea typeface="+mn-ea"/>
                <a:cs typeface="+mn-cs"/>
              </a:endParaRPr>
            </a:p>
          </p:txBody>
        </p:sp>
        <p:sp>
          <p:nvSpPr>
            <p:cNvPr id="17" name="Rectangle 17"/>
            <p:cNvSpPr>
              <a:spLocks noChangeArrowheads="1"/>
            </p:cNvSpPr>
            <p:nvPr/>
          </p:nvSpPr>
          <p:spPr bwMode="auto">
            <a:xfrm>
              <a:off x="2529" y="2802"/>
              <a:ext cx="993" cy="405"/>
            </a:xfrm>
            <a:prstGeom prst="rect">
              <a:avLst/>
            </a:prstGeom>
            <a:noFill/>
            <a:ln>
              <a:noFill/>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rgbClr val="FFFF00"/>
                  </a:solidFill>
                  <a:effectLst/>
                  <a:uLnTx/>
                  <a:uFillTx/>
                  <a:latin typeface="+mn-lt"/>
                  <a:ea typeface="+mn-ea"/>
                  <a:cs typeface="+mn-cs"/>
                </a:rPr>
                <a:t>地址总线</a:t>
              </a:r>
              <a:endParaRPr kumimoji="1" lang="zh-CN" altLang="en-US" sz="1800" b="1" i="0" u="none" strike="noStrike" kern="1200" cap="none" spc="0" normalizeH="0" baseline="0" noProof="0" dirty="0">
                <a:ln>
                  <a:noFill/>
                </a:ln>
                <a:solidFill>
                  <a:srgbClr val="FFFF00"/>
                </a:solidFill>
                <a:effectLst/>
                <a:uLnTx/>
                <a:uFillTx/>
                <a:latin typeface="+mn-lt"/>
                <a:ea typeface="+mn-ea"/>
                <a:cs typeface="+mn-cs"/>
              </a:endParaRPr>
            </a:p>
          </p:txBody>
        </p:sp>
        <p:sp>
          <p:nvSpPr>
            <p:cNvPr id="18" name="AutoShape 18"/>
            <p:cNvSpPr>
              <a:spLocks noChangeArrowheads="1"/>
            </p:cNvSpPr>
            <p:nvPr/>
          </p:nvSpPr>
          <p:spPr bwMode="auto">
            <a:xfrm>
              <a:off x="2144" y="3125"/>
              <a:ext cx="1745" cy="142"/>
            </a:xfrm>
            <a:prstGeom prst="rightArrow">
              <a:avLst>
                <a:gd name="adj1" fmla="val 50000"/>
                <a:gd name="adj2" fmla="val 129137"/>
              </a:avLst>
            </a:prstGeom>
            <a:solidFill>
              <a:srgbClr val="00FF00"/>
            </a:solidFill>
            <a:ln>
              <a:noFill/>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a:ln>
                  <a:noFill/>
                </a:ln>
                <a:solidFill>
                  <a:schemeClr val="tx2"/>
                </a:solidFill>
                <a:effectLst/>
                <a:uLnTx/>
                <a:uFillTx/>
                <a:latin typeface="+mn-lt"/>
                <a:ea typeface="+mn-ea"/>
                <a:cs typeface="+mn-cs"/>
              </a:endParaRPr>
            </a:p>
          </p:txBody>
        </p:sp>
        <p:sp>
          <p:nvSpPr>
            <p:cNvPr id="19" name="Rectangle 19"/>
            <p:cNvSpPr>
              <a:spLocks noChangeArrowheads="1"/>
            </p:cNvSpPr>
            <p:nvPr/>
          </p:nvSpPr>
          <p:spPr bwMode="auto">
            <a:xfrm>
              <a:off x="3096" y="2109"/>
              <a:ext cx="249" cy="407"/>
            </a:xfrm>
            <a:prstGeom prst="rect">
              <a:avLst/>
            </a:prstGeom>
            <a:noFill/>
            <a:ln>
              <a:noFill/>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dirty="0">
                  <a:ln>
                    <a:noFill/>
                  </a:ln>
                  <a:solidFill>
                    <a:srgbClr val="FFFF00"/>
                  </a:solidFill>
                  <a:effectLst/>
                  <a:uLnTx/>
                  <a:uFillTx/>
                  <a:latin typeface="+mn-lt"/>
                  <a:ea typeface="+mn-ea"/>
                  <a:cs typeface="+mn-cs"/>
                </a:rPr>
                <a:t>写</a:t>
              </a:r>
              <a:endParaRPr kumimoji="1" lang="zh-CN" altLang="en-US" sz="1800" b="1" i="0" u="none" strike="noStrike" kern="1200" cap="none" spc="0" normalizeH="0" baseline="0" noProof="0" dirty="0">
                <a:ln>
                  <a:noFill/>
                </a:ln>
                <a:solidFill>
                  <a:srgbClr val="FFFF00"/>
                </a:solidFill>
                <a:effectLst/>
                <a:uLnTx/>
                <a:uFillTx/>
                <a:latin typeface="+mn-lt"/>
                <a:ea typeface="+mn-ea"/>
                <a:cs typeface="+mn-cs"/>
              </a:endParaRPr>
            </a:p>
          </p:txBody>
        </p:sp>
      </p:grpSp>
      <p:cxnSp>
        <p:nvCxnSpPr>
          <p:cNvPr id="74757" name="直接连接符 2"/>
          <p:cNvCxnSpPr/>
          <p:nvPr/>
        </p:nvCxnSpPr>
        <p:spPr>
          <a:xfrm>
            <a:off x="7702550" y="6288088"/>
            <a:ext cx="906463" cy="922337"/>
          </a:xfrm>
          <a:prstGeom prst="line">
            <a:avLst/>
          </a:prstGeom>
          <a:ln w="9525">
            <a:noFill/>
          </a:ln>
        </p:spPr>
      </p:cxnSp>
    </p:spTree>
  </p:cSld>
  <p:clrMapOvr>
    <a:masterClrMapping/>
  </p:clrMapOvr>
  <p:transition spd="slow">
    <p:pull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78946" name="Rectangle 2"/>
          <p:cNvSpPr>
            <a:spLocks noGrp="1" noChangeArrowheads="1"/>
          </p:cNvSpPr>
          <p:nvPr>
            <p:ph type="title"/>
          </p:nvPr>
        </p:nvSpPr>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回顾－主存储器设计</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76803" name="Rectangle 3"/>
          <p:cNvSpPr>
            <a:spLocks noGrp="1"/>
          </p:cNvSpPr>
          <p:nvPr>
            <p:ph idx="1"/>
          </p:nvPr>
        </p:nvSpPr>
        <p:spPr>
          <a:xfrm>
            <a:off x="636905" y="1045845"/>
            <a:ext cx="7985125" cy="5358765"/>
          </a:xfrm>
          <a:ln/>
        </p:spPr>
        <p:txBody>
          <a:bodyPr vert="horz" wrap="square" lIns="91440" tIns="45720" rIns="91440" bIns="45720" anchor="t" anchorCtr="0">
            <a:spAutoFit/>
          </a:bodyPr>
          <a:p>
            <a:pPr eaLnBrk="1" hangingPunct="1">
              <a:lnSpc>
                <a:spcPct val="150000"/>
              </a:lnSpc>
              <a:spcBef>
                <a:spcPct val="10000"/>
              </a:spcBef>
            </a:pPr>
            <a:r>
              <a:rPr lang="zh-CN" altLang="en-US" sz="3200" dirty="0">
                <a:latin typeface="Times New Roman" panose="02020603050405020304" pitchFamily="18" charset="0"/>
              </a:rPr>
              <a:t>存储容量的扩展</a:t>
            </a:r>
            <a:endParaRPr lang="zh-CN" altLang="en-US" sz="3200" dirty="0">
              <a:latin typeface="Times New Roman" panose="02020603050405020304" pitchFamily="18" charset="0"/>
            </a:endParaRPr>
          </a:p>
          <a:p>
            <a:pPr lvl="1" eaLnBrk="1" hangingPunct="1">
              <a:lnSpc>
                <a:spcPct val="150000"/>
              </a:lnSpc>
              <a:spcBef>
                <a:spcPct val="10000"/>
              </a:spcBef>
            </a:pPr>
            <a:r>
              <a:rPr lang="zh-CN" altLang="en-US" sz="2800" dirty="0">
                <a:latin typeface="Times New Roman" panose="02020603050405020304" pitchFamily="18" charset="0"/>
              </a:rPr>
              <a:t>位扩展</a:t>
            </a:r>
            <a:endParaRPr lang="zh-CN" altLang="en-US" sz="2800" dirty="0">
              <a:latin typeface="Times New Roman" panose="02020603050405020304" pitchFamily="18" charset="0"/>
            </a:endParaRPr>
          </a:p>
          <a:p>
            <a:pPr lvl="2" eaLnBrk="1" hangingPunct="1">
              <a:lnSpc>
                <a:spcPct val="150000"/>
              </a:lnSpc>
              <a:spcBef>
                <a:spcPct val="10000"/>
              </a:spcBef>
            </a:pPr>
            <a:r>
              <a:rPr lang="zh-CN" altLang="en-US" sz="2400" dirty="0">
                <a:latin typeface="Times New Roman" panose="02020603050405020304" pitchFamily="18" charset="0"/>
              </a:rPr>
              <a:t>存储芯片</a:t>
            </a:r>
            <a:r>
              <a:rPr lang="en-US" altLang="zh-CN" sz="2400" dirty="0">
                <a:latin typeface="Times New Roman" panose="02020603050405020304" pitchFamily="18" charset="0"/>
              </a:rPr>
              <a:t>(mk×n</a:t>
            </a:r>
            <a:r>
              <a:rPr lang="zh-CN" altLang="en-US" sz="2400" dirty="0">
                <a:latin typeface="Times New Roman" panose="02020603050405020304" pitchFamily="18" charset="0"/>
              </a:rPr>
              <a:t>位</a:t>
            </a:r>
            <a:r>
              <a:rPr lang="en-US" altLang="zh-CN" sz="2400" dirty="0">
                <a:latin typeface="Times New Roman" panose="02020603050405020304" pitchFamily="18" charset="0"/>
              </a:rPr>
              <a:t>/</a:t>
            </a:r>
            <a:r>
              <a:rPr lang="zh-CN" altLang="en-US" sz="2400" dirty="0">
                <a:latin typeface="Times New Roman" panose="02020603050405020304" pitchFamily="18" charset="0"/>
              </a:rPr>
              <a:t>片</a:t>
            </a:r>
            <a:r>
              <a:rPr lang="en-US" altLang="zh-CN" sz="2400" dirty="0">
                <a:latin typeface="Times New Roman" panose="02020603050405020304" pitchFamily="18" charset="0"/>
              </a:rPr>
              <a:t>)</a:t>
            </a:r>
            <a:r>
              <a:rPr lang="zh-CN" altLang="en-US" sz="2400" dirty="0">
                <a:latin typeface="Times New Roman" panose="02020603050405020304" pitchFamily="18" charset="0"/>
              </a:rPr>
              <a:t>构成存储器</a:t>
            </a:r>
            <a:r>
              <a:rPr lang="en-US" altLang="zh-CN" sz="2400" dirty="0">
                <a:latin typeface="Times New Roman" panose="02020603050405020304" pitchFamily="18" charset="0"/>
              </a:rPr>
              <a:t>(mk×N</a:t>
            </a:r>
            <a:r>
              <a:rPr lang="zh-CN" altLang="en-US" sz="2400" dirty="0">
                <a:latin typeface="Times New Roman" panose="02020603050405020304" pitchFamily="18" charset="0"/>
              </a:rPr>
              <a:t>位</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eaLnBrk="1" hangingPunct="1">
              <a:lnSpc>
                <a:spcPct val="150000"/>
              </a:lnSpc>
              <a:spcBef>
                <a:spcPct val="10000"/>
              </a:spcBef>
            </a:pPr>
            <a:r>
              <a:rPr lang="zh-CN" altLang="en-US" sz="2800" dirty="0">
                <a:latin typeface="Times New Roman" panose="02020603050405020304" pitchFamily="18" charset="0"/>
              </a:rPr>
              <a:t>字扩展</a:t>
            </a:r>
            <a:endParaRPr lang="zh-CN" altLang="en-US" sz="2800" dirty="0">
              <a:latin typeface="Times New Roman" panose="02020603050405020304" pitchFamily="18" charset="0"/>
            </a:endParaRPr>
          </a:p>
          <a:p>
            <a:pPr lvl="2" eaLnBrk="1" hangingPunct="1">
              <a:lnSpc>
                <a:spcPct val="150000"/>
              </a:lnSpc>
              <a:spcBef>
                <a:spcPct val="10000"/>
              </a:spcBef>
            </a:pPr>
            <a:r>
              <a:rPr lang="zh-CN" altLang="en-US" sz="2400" dirty="0">
                <a:latin typeface="Times New Roman" panose="02020603050405020304" pitchFamily="18" charset="0"/>
              </a:rPr>
              <a:t>存储芯片</a:t>
            </a:r>
            <a:r>
              <a:rPr lang="en-US" altLang="zh-CN" sz="2400" dirty="0">
                <a:latin typeface="Times New Roman" panose="02020603050405020304" pitchFamily="18" charset="0"/>
              </a:rPr>
              <a:t>(mk×n</a:t>
            </a:r>
            <a:r>
              <a:rPr lang="zh-CN" altLang="en-US" sz="2400" dirty="0">
                <a:latin typeface="Times New Roman" panose="02020603050405020304" pitchFamily="18" charset="0"/>
              </a:rPr>
              <a:t>位</a:t>
            </a:r>
            <a:r>
              <a:rPr lang="en-US" altLang="zh-CN" sz="2400" dirty="0">
                <a:latin typeface="Times New Roman" panose="02020603050405020304" pitchFamily="18" charset="0"/>
              </a:rPr>
              <a:t>/</a:t>
            </a:r>
            <a:r>
              <a:rPr lang="zh-CN" altLang="en-US" sz="2400" dirty="0">
                <a:latin typeface="Times New Roman" panose="02020603050405020304" pitchFamily="18" charset="0"/>
              </a:rPr>
              <a:t>片</a:t>
            </a:r>
            <a:r>
              <a:rPr lang="en-US" altLang="zh-CN" sz="2400" dirty="0">
                <a:latin typeface="Times New Roman" panose="02020603050405020304" pitchFamily="18" charset="0"/>
              </a:rPr>
              <a:t>)</a:t>
            </a:r>
            <a:r>
              <a:rPr lang="zh-CN" altLang="en-US" sz="2400" dirty="0">
                <a:latin typeface="Times New Roman" panose="02020603050405020304" pitchFamily="18" charset="0"/>
              </a:rPr>
              <a:t>构成存储器</a:t>
            </a:r>
            <a:r>
              <a:rPr lang="en-US" altLang="zh-CN" sz="2400" dirty="0">
                <a:latin typeface="Times New Roman" panose="02020603050405020304" pitchFamily="18" charset="0"/>
              </a:rPr>
              <a:t>(Mk×n</a:t>
            </a:r>
            <a:r>
              <a:rPr lang="zh-CN" altLang="en-US" sz="2400" dirty="0">
                <a:latin typeface="Times New Roman" panose="02020603050405020304" pitchFamily="18" charset="0"/>
              </a:rPr>
              <a:t>位</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eaLnBrk="1" hangingPunct="1">
              <a:lnSpc>
                <a:spcPct val="150000"/>
              </a:lnSpc>
              <a:spcBef>
                <a:spcPct val="10000"/>
              </a:spcBef>
            </a:pPr>
            <a:r>
              <a:rPr lang="zh-CN" altLang="en-US" sz="2800" dirty="0">
                <a:latin typeface="Times New Roman" panose="02020603050405020304" pitchFamily="18" charset="0"/>
              </a:rPr>
              <a:t>字位同时扩展</a:t>
            </a:r>
            <a:endParaRPr lang="zh-CN" altLang="en-US" sz="2800" dirty="0">
              <a:latin typeface="Times New Roman" panose="02020603050405020304" pitchFamily="18" charset="0"/>
            </a:endParaRPr>
          </a:p>
          <a:p>
            <a:pPr lvl="2" eaLnBrk="1" hangingPunct="1">
              <a:lnSpc>
                <a:spcPct val="150000"/>
              </a:lnSpc>
              <a:spcBef>
                <a:spcPct val="10000"/>
              </a:spcBef>
            </a:pPr>
            <a:r>
              <a:rPr lang="zh-CN" altLang="en-US" sz="2400" dirty="0">
                <a:latin typeface="Times New Roman" panose="02020603050405020304" pitchFamily="18" charset="0"/>
              </a:rPr>
              <a:t>存储芯片</a:t>
            </a:r>
            <a:r>
              <a:rPr lang="en-US" altLang="zh-CN" sz="2400" dirty="0">
                <a:latin typeface="Times New Roman" panose="02020603050405020304" pitchFamily="18" charset="0"/>
              </a:rPr>
              <a:t>(mk×n</a:t>
            </a:r>
            <a:r>
              <a:rPr lang="zh-CN" altLang="en-US" sz="2400" dirty="0">
                <a:latin typeface="Times New Roman" panose="02020603050405020304" pitchFamily="18" charset="0"/>
              </a:rPr>
              <a:t>位</a:t>
            </a:r>
            <a:r>
              <a:rPr lang="en-US" altLang="zh-CN" sz="2400" dirty="0">
                <a:latin typeface="Times New Roman" panose="02020603050405020304" pitchFamily="18" charset="0"/>
              </a:rPr>
              <a:t>/</a:t>
            </a:r>
            <a:r>
              <a:rPr lang="zh-CN" altLang="en-US" sz="2400" dirty="0">
                <a:latin typeface="Times New Roman" panose="02020603050405020304" pitchFamily="18" charset="0"/>
              </a:rPr>
              <a:t>片</a:t>
            </a:r>
            <a:r>
              <a:rPr lang="en-US" altLang="zh-CN" sz="2400" dirty="0">
                <a:latin typeface="Times New Roman" panose="02020603050405020304" pitchFamily="18" charset="0"/>
              </a:rPr>
              <a:t>)</a:t>
            </a:r>
            <a:r>
              <a:rPr lang="zh-CN" altLang="en-US" sz="2400" dirty="0">
                <a:latin typeface="Times New Roman" panose="02020603050405020304" pitchFamily="18" charset="0"/>
              </a:rPr>
              <a:t>构成存储器</a:t>
            </a:r>
            <a:r>
              <a:rPr lang="en-US" altLang="zh-CN" sz="2400" dirty="0">
                <a:latin typeface="Times New Roman" panose="02020603050405020304" pitchFamily="18" charset="0"/>
              </a:rPr>
              <a:t>(Mk×N</a:t>
            </a:r>
            <a:r>
              <a:rPr lang="zh-CN" altLang="en-US" sz="2400" dirty="0">
                <a:latin typeface="Times New Roman" panose="02020603050405020304" pitchFamily="18" charset="0"/>
              </a:rPr>
              <a:t>位</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eaLnBrk="1" hangingPunct="1">
              <a:lnSpc>
                <a:spcPct val="150000"/>
              </a:lnSpc>
              <a:spcBef>
                <a:spcPct val="10000"/>
              </a:spcBef>
              <a:buNone/>
            </a:pPr>
            <a:r>
              <a:rPr lang="zh-CN" altLang="en-US" sz="2800" dirty="0">
                <a:latin typeface="Times New Roman" panose="02020603050405020304" pitchFamily="18" charset="0"/>
              </a:rPr>
              <a:t>注意： </a:t>
            </a:r>
            <a:r>
              <a:rPr lang="en-US" altLang="zh-CN" sz="2800" dirty="0">
                <a:latin typeface="Times New Roman" panose="02020603050405020304" pitchFamily="18" charset="0"/>
              </a:rPr>
              <a:t>m &lt; M</a:t>
            </a:r>
            <a:r>
              <a:rPr lang="zh-CN" altLang="en-US" sz="2800" dirty="0">
                <a:latin typeface="Times New Roman" panose="02020603050405020304" pitchFamily="18" charset="0"/>
              </a:rPr>
              <a:t>，</a:t>
            </a:r>
            <a:r>
              <a:rPr lang="en-US" altLang="zh-CN" sz="2800" dirty="0">
                <a:latin typeface="Times New Roman" panose="02020603050405020304" pitchFamily="18" charset="0"/>
              </a:rPr>
              <a:t>n &lt; N</a:t>
            </a:r>
            <a:endParaRPr lang="en-US" altLang="zh-CN" sz="2800" dirty="0">
              <a:latin typeface="Times New Roman" panose="02020603050405020304" pitchFamily="18" charset="0"/>
            </a:endParaRPr>
          </a:p>
        </p:txBody>
      </p:sp>
    </p:spTree>
  </p:cSld>
  <p:clrMapOvr>
    <a:masterClrMapping/>
  </p:clrMapOvr>
  <p:transition spd="slow">
    <p:pull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idx="1"/>
          </p:nvPr>
        </p:nvSpPr>
        <p:spPr>
          <a:xfrm>
            <a:off x="571500" y="1168400"/>
            <a:ext cx="8234363" cy="5468938"/>
          </a:xfrm>
          <a:ln/>
        </p:spPr>
        <p:txBody>
          <a:bodyPr vert="horz" wrap="square" lIns="91440" tIns="45720" rIns="91440" bIns="45720" anchor="t" anchorCtr="0">
            <a:spAutoFit/>
          </a:bodyPr>
          <a:p>
            <a:pPr marL="450850" indent="-450850">
              <a:lnSpc>
                <a:spcPct val="110000"/>
              </a:lnSpc>
              <a:spcBef>
                <a:spcPts val="600"/>
              </a:spcBef>
            </a:pPr>
            <a:r>
              <a:rPr lang="zh-CN" altLang="en-US" sz="3200" dirty="0">
                <a:latin typeface="Times New Roman" panose="02020603050405020304" pitchFamily="18" charset="0"/>
                <a:cs typeface="Times New Roman" panose="02020603050405020304" pitchFamily="18" charset="0"/>
              </a:rPr>
              <a:t>虚拟存储器只是抽象的一个概念，实际上是一个</a:t>
            </a:r>
            <a:r>
              <a:rPr lang="zh-CN" altLang="en-US" sz="3200" dirty="0">
                <a:solidFill>
                  <a:srgbClr val="FFFF00"/>
                </a:solidFill>
                <a:latin typeface="Times New Roman" panose="02020603050405020304" pitchFamily="18" charset="0"/>
                <a:cs typeface="Times New Roman" panose="02020603050405020304" pitchFamily="18" charset="0"/>
              </a:rPr>
              <a:t>存储管理机制</a:t>
            </a:r>
            <a:endParaRPr lang="zh-CN" altLang="en-US" sz="3200" dirty="0">
              <a:solidFill>
                <a:srgbClr val="FFFF00"/>
              </a:solidFill>
              <a:latin typeface="Times New Roman" panose="02020603050405020304" pitchFamily="18" charset="0"/>
              <a:cs typeface="Times New Roman" panose="02020603050405020304" pitchFamily="18" charset="0"/>
            </a:endParaRPr>
          </a:p>
          <a:p>
            <a:pPr marL="809625" lvl="1" indent="-347980">
              <a:lnSpc>
                <a:spcPct val="110000"/>
              </a:lnSpc>
              <a:spcBef>
                <a:spcPts val="600"/>
              </a:spcBef>
            </a:pPr>
            <a:r>
              <a:rPr lang="zh-CN" altLang="en-US" sz="2800" dirty="0">
                <a:latin typeface="Times New Roman" panose="02020603050405020304" pitchFamily="18" charset="0"/>
                <a:cs typeface="Times New Roman" panose="02020603050405020304" pitchFamily="18" charset="0"/>
              </a:rPr>
              <a:t>在物理上，虚拟存储器是不存在的</a:t>
            </a:r>
            <a:endParaRPr lang="zh-CN" altLang="en-US" sz="2800" dirty="0">
              <a:latin typeface="Times New Roman" panose="02020603050405020304" pitchFamily="18" charset="0"/>
              <a:cs typeface="Times New Roman" panose="02020603050405020304" pitchFamily="18" charset="0"/>
            </a:endParaRPr>
          </a:p>
          <a:p>
            <a:pPr marL="809625" lvl="1" indent="-347980">
              <a:lnSpc>
                <a:spcPct val="110000"/>
              </a:lnSpc>
              <a:spcBef>
                <a:spcPts val="600"/>
              </a:spcBef>
            </a:pPr>
            <a:r>
              <a:rPr lang="zh-CN" altLang="en-US" sz="2800" dirty="0">
                <a:solidFill>
                  <a:srgbClr val="FFFF00"/>
                </a:solidFill>
                <a:latin typeface="Times New Roman" panose="02020603050405020304" pitchFamily="18" charset="0"/>
                <a:cs typeface="Times New Roman" panose="02020603050405020304" pitchFamily="18" charset="0"/>
              </a:rPr>
              <a:t>是主存和磁盘的抽象</a:t>
            </a:r>
            <a:endParaRPr lang="zh-CN" altLang="en-US" sz="2800" dirty="0">
              <a:solidFill>
                <a:srgbClr val="FFFF00"/>
              </a:solidFill>
              <a:latin typeface="Times New Roman" panose="02020603050405020304" pitchFamily="18" charset="0"/>
              <a:cs typeface="Times New Roman" panose="02020603050405020304" pitchFamily="18" charset="0"/>
            </a:endParaRPr>
          </a:p>
          <a:p>
            <a:pPr marL="450850" indent="-450850">
              <a:lnSpc>
                <a:spcPct val="110000"/>
              </a:lnSpc>
              <a:spcBef>
                <a:spcPts val="600"/>
              </a:spcBef>
            </a:pPr>
            <a:r>
              <a:rPr lang="zh-CN" altLang="en-US" sz="3200" dirty="0">
                <a:latin typeface="Times New Roman" panose="02020603050405020304" pitchFamily="18" charset="0"/>
                <a:cs typeface="Times New Roman" panose="02020603050405020304" pitchFamily="18" charset="0"/>
              </a:rPr>
              <a:t>虚拟存储器为程序员提供一个极大的虚拟地址空间</a:t>
            </a:r>
            <a:endParaRPr lang="zh-CN" altLang="en-US" sz="3200" dirty="0">
              <a:latin typeface="Times New Roman" panose="02020603050405020304" pitchFamily="18" charset="0"/>
              <a:cs typeface="Times New Roman" panose="02020603050405020304" pitchFamily="18" charset="0"/>
            </a:endParaRPr>
          </a:p>
          <a:p>
            <a:pPr marL="809625" lvl="1" indent="-347980">
              <a:lnSpc>
                <a:spcPct val="110000"/>
              </a:lnSpc>
              <a:spcBef>
                <a:spcPts val="600"/>
              </a:spcBef>
            </a:pPr>
            <a:r>
              <a:rPr lang="zh-CN" altLang="en-US" sz="2800" dirty="0">
                <a:latin typeface="Times New Roman" panose="02020603050405020304" pitchFamily="18" charset="0"/>
                <a:cs typeface="Times New Roman" panose="02020603050405020304" pitchFamily="18" charset="0"/>
              </a:rPr>
              <a:t>虚拟</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或逻辑</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地址空间的大小，是由该计算机系统</a:t>
            </a:r>
            <a:r>
              <a:rPr lang="zh-CN" altLang="en-US" sz="2800" dirty="0">
                <a:solidFill>
                  <a:srgbClr val="FFFF00"/>
                </a:solidFill>
                <a:latin typeface="Times New Roman" panose="02020603050405020304" pitchFamily="18" charset="0"/>
                <a:cs typeface="Times New Roman" panose="02020603050405020304" pitchFamily="18" charset="0"/>
              </a:rPr>
              <a:t>逻辑地址的位数</a:t>
            </a:r>
            <a:r>
              <a:rPr lang="zh-CN" altLang="en-US" sz="2800" dirty="0">
                <a:latin typeface="Times New Roman" panose="02020603050405020304" pitchFamily="18" charset="0"/>
                <a:cs typeface="Times New Roman" panose="02020603050405020304" pitchFamily="18" charset="0"/>
              </a:rPr>
              <a:t>决定</a:t>
            </a:r>
            <a:endParaRPr lang="zh-CN" altLang="en-US" sz="2800" dirty="0">
              <a:latin typeface="Times New Roman" panose="02020603050405020304" pitchFamily="18" charset="0"/>
              <a:cs typeface="Times New Roman" panose="02020603050405020304" pitchFamily="18" charset="0"/>
            </a:endParaRPr>
          </a:p>
          <a:p>
            <a:pPr marL="809625" lvl="1" indent="-347980">
              <a:lnSpc>
                <a:spcPct val="110000"/>
              </a:lnSpc>
              <a:spcBef>
                <a:spcPts val="600"/>
              </a:spcBef>
            </a:pPr>
            <a:r>
              <a:rPr lang="zh-CN" altLang="en-US" sz="2800" dirty="0">
                <a:latin typeface="Times New Roman" panose="02020603050405020304" pitchFamily="18" charset="0"/>
                <a:cs typeface="Times New Roman" panose="02020603050405020304" pitchFamily="18" charset="0"/>
              </a:rPr>
              <a:t>而与系统安装的实际磁盘容量和内存容量没有直接的联系</a:t>
            </a:r>
            <a:endParaRPr lang="zh-CN" altLang="en-US" sz="2800" dirty="0">
              <a:latin typeface="Times New Roman" panose="02020603050405020304" pitchFamily="18" charset="0"/>
              <a:ea typeface="Times New Roman" panose="02020603050405020304" pitchFamily="18" charset="0"/>
            </a:endParaRPr>
          </a:p>
        </p:txBody>
      </p:sp>
      <p:sp>
        <p:nvSpPr>
          <p:cNvPr id="294916" name="Rectangle 4"/>
          <p:cNvSpPr>
            <a:spLocks noGrp="1" noChangeArrowheads="1"/>
          </p:cNvSpPr>
          <p:nvPr>
            <p:ph type="title"/>
          </p:nvPr>
        </p:nvSpPr>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uLnTx/>
                <a:uFillTx/>
                <a:latin typeface="+mj-lt"/>
                <a:ea typeface="+mj-ea"/>
                <a:cs typeface="+mj-cs"/>
              </a:rPr>
              <a:t>回顾</a:t>
            </a: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a:t>
            </a:r>
            <a:r>
              <a:rPr kumimoji="0" lang="zh-CN" altLang="en-US" sz="4800" b="1" i="0" u="none" strike="noStrike" kern="0" cap="none" spc="0" normalizeH="0" baseline="0" noProof="0" smtClean="0">
                <a:ln>
                  <a:noFill/>
                </a:ln>
                <a:solidFill>
                  <a:srgbClr val="FF0000"/>
                </a:solidFill>
                <a:effectLst/>
                <a:uLnTx/>
                <a:uFillTx/>
                <a:latin typeface="+mj-lt"/>
                <a:ea typeface="+mj-ea"/>
                <a:cs typeface="+mj-cs"/>
              </a:rPr>
              <a:t>虚拟存储系统</a:t>
            </a:r>
            <a:endParaRPr kumimoji="0" lang="zh-CN" altLang="en-US" sz="4800" b="1" i="0" u="none" strike="noStrike" kern="0" cap="none" spc="0" normalizeH="0" baseline="0" noProof="0" smtClean="0">
              <a:ln>
                <a:noFill/>
              </a:ln>
              <a:solidFill>
                <a:srgbClr val="FF0000"/>
              </a:solidFill>
              <a:effectLst/>
              <a:uLnTx/>
              <a:uFillTx/>
              <a:latin typeface="+mj-lt"/>
              <a:ea typeface="+mj-ea"/>
              <a:cs typeface="+mj-cs"/>
            </a:endParaRPr>
          </a:p>
        </p:txBody>
      </p:sp>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noChangeArrowheads="1"/>
          </p:cNvSpPr>
          <p:nvPr>
            <p:ph idx="1"/>
          </p:nvPr>
        </p:nvSpPr>
        <p:spPr>
          <a:xfrm>
            <a:off x="349250" y="1179513"/>
            <a:ext cx="8564563" cy="5287963"/>
          </a:xfrm>
        </p:spPr>
        <p:txBody>
          <a:bodyPr vert="horz" wrap="square" lIns="91440" tIns="45720" rIns="91440" bIns="45720" numCol="1" anchor="t" anchorCtr="0" compatLnSpc="1">
            <a:spAutoFit/>
          </a:bodyPr>
          <a:lstStyle/>
          <a:p>
            <a:pPr marL="460375" marR="0" lvl="0" indent="-460375" algn="l" defTabSz="914400" rtl="0" eaLnBrk="0" fontAlgn="base" latinLnBrk="0" hangingPunct="0">
              <a:lnSpc>
                <a:spcPct val="110000"/>
              </a:lnSpc>
              <a:spcBef>
                <a:spcPct val="20000"/>
              </a:spcBef>
              <a:spcAft>
                <a:spcPct val="0"/>
              </a:spcAft>
              <a:buClr>
                <a:schemeClr val="tx2"/>
              </a:buClr>
              <a:buSzTx/>
              <a:buFont typeface="Wingdings" panose="05000000000000000000" pitchFamily="2" charset="2"/>
              <a:buBlip>
                <a:blip r:embed="rId1"/>
              </a:buBlip>
              <a:defRPr/>
            </a:pPr>
            <a:r>
              <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虚拟存储器基本思想</a:t>
            </a:r>
            <a:endParaRPr kumimoji="1"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808355" marR="0" lvl="1" indent="-346075" algn="l" defTabSz="914400" rtl="0" eaLnBrk="0" fontAlgn="base" latinLnBrk="0" hangingPunct="0">
              <a:lnSpc>
                <a:spcPct val="110000"/>
              </a:lnSpc>
              <a:spcBef>
                <a:spcPct val="20000"/>
              </a:spcBef>
              <a:spcAft>
                <a:spcPct val="0"/>
              </a:spcAft>
              <a:buClr>
                <a:schemeClr val="tx2"/>
              </a:buClr>
              <a:buSzTx/>
              <a:buFont typeface="Wingdings" panose="05000000000000000000" pitchFamily="2" charset="2"/>
              <a:buBlip>
                <a:blip r:embed="rId2"/>
              </a:buBlip>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采用“</a:t>
            </a:r>
            <a:r>
              <a:rPr kumimoji="1" lang="zh-CN" altLang="en-US" sz="2400" b="1" i="0" u="none" strike="noStrike" kern="0" cap="none" spc="0" normalizeH="0" baseline="0" noProof="0" dirty="0">
                <a:ln>
                  <a:noFill/>
                </a:ln>
                <a:solidFill>
                  <a:srgbClr val="FFFF00"/>
                </a:solidFill>
                <a:effectLst/>
                <a:uLnTx/>
                <a:uFillTx/>
                <a:latin typeface="Times New Roman" panose="02020603050405020304" pitchFamily="18" charset="0"/>
                <a:ea typeface="+mn-ea"/>
              </a:rPr>
              <a:t>按需</a:t>
            </a:r>
            <a:r>
              <a:rPr kumimoji="1" lang="zh-CN" altLang="en-US" sz="24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分页</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”思想</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808355" marR="0" lvl="1" indent="-346075" algn="l" defTabSz="914400" rtl="0" eaLnBrk="0" fontAlgn="base" latinLnBrk="0" hangingPunct="0">
              <a:lnSpc>
                <a:spcPct val="110000"/>
              </a:lnSpc>
              <a:spcBef>
                <a:spcPct val="20000"/>
              </a:spcBef>
              <a:spcAft>
                <a:spcPct val="0"/>
              </a:spcAft>
              <a:buClr>
                <a:schemeClr val="tx2"/>
              </a:buClr>
              <a:buSzTx/>
              <a:buFont typeface="Wingdings" panose="05000000000000000000" pitchFamily="2" charset="2"/>
              <a:buBlip>
                <a:blip r:embed="rId2"/>
              </a:buBlip>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将主存划分成固定大小</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808355" marR="0" lvl="1" indent="-346075" algn="l" defTabSz="914400" rtl="0" eaLnBrk="0" fontAlgn="base" latinLnBrk="0" hangingPunct="0">
              <a:lnSpc>
                <a:spcPct val="110000"/>
              </a:lnSpc>
              <a:spcBef>
                <a:spcPct val="20000"/>
              </a:spcBef>
              <a:spcAft>
                <a:spcPct val="0"/>
              </a:spcAft>
              <a:buClr>
                <a:schemeClr val="tx2"/>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	的块</a:t>
            </a:r>
            <a:r>
              <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(4K/16K)</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 ，称为</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808355" marR="0" lvl="1" indent="-346075" algn="l" defTabSz="914400" rtl="0" eaLnBrk="0" fontAlgn="base" latinLnBrk="0" hangingPunct="0">
              <a:lnSpc>
                <a:spcPct val="110000"/>
              </a:lnSpc>
              <a:spcBef>
                <a:spcPct val="20000"/>
              </a:spcBef>
              <a:spcAft>
                <a:spcPct val="0"/>
              </a:spcAft>
              <a:buClr>
                <a:schemeClr val="tx2"/>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	页框</a:t>
            </a:r>
            <a:r>
              <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(Page frame)</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，每	</a:t>
            </a:r>
            <a:endPar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808355" marR="0" lvl="1" indent="-346075" algn="l" defTabSz="914400" rtl="0" eaLnBrk="0" fontAlgn="base" latinLnBrk="0" hangingPunct="0">
              <a:lnSpc>
                <a:spcPct val="110000"/>
              </a:lnSpc>
              <a:spcBef>
                <a:spcPct val="20000"/>
              </a:spcBef>
              <a:spcAft>
                <a:spcPct val="0"/>
              </a:spcAft>
              <a:buClr>
                <a:schemeClr val="tx2"/>
              </a:buClr>
              <a:buSzTx/>
              <a:buFont typeface="Wingdings" panose="05000000000000000000" pitchFamily="2" charset="2"/>
              <a:buNone/>
              <a:defRPr/>
            </a:pPr>
            <a:r>
              <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	</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个进程也划分成固定大</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808355" marR="0" lvl="1" indent="-346075" algn="l" defTabSz="914400" rtl="0" eaLnBrk="0" fontAlgn="base" latinLnBrk="0" hangingPunct="0">
              <a:lnSpc>
                <a:spcPct val="110000"/>
              </a:lnSpc>
              <a:spcBef>
                <a:spcPct val="20000"/>
              </a:spcBef>
              <a:spcAft>
                <a:spcPct val="0"/>
              </a:spcAft>
              <a:buClr>
                <a:schemeClr val="tx2"/>
              </a:buClr>
              <a:buSzTx/>
              <a:buFont typeface="Wingdings" panose="05000000000000000000" pitchFamily="2" charset="2"/>
              <a:buNone/>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	小的块，称为页</a:t>
            </a:r>
            <a:r>
              <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(Page)</a:t>
            </a:r>
            <a:endPar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808355" marR="0" lvl="1" indent="-346075" algn="l" defTabSz="914400" rtl="0" eaLnBrk="0" fontAlgn="base" latinLnBrk="0" hangingPunct="0">
              <a:lnSpc>
                <a:spcPct val="110000"/>
              </a:lnSpc>
              <a:spcBef>
                <a:spcPct val="20000"/>
              </a:spcBef>
              <a:spcAft>
                <a:spcPct val="0"/>
              </a:spcAft>
              <a:buClr>
                <a:schemeClr val="tx2"/>
              </a:buClr>
              <a:buSzTx/>
              <a:buFont typeface="Wingdings" panose="05000000000000000000" pitchFamily="2" charset="2"/>
              <a:buBlip>
                <a:blip r:embed="rId2"/>
              </a:buBlip>
              <a:defRPr/>
            </a:pP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按页将一部分映射到主</a:t>
            </a:r>
            <a:endParaRPr kumimoji="1"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461645" marR="0" lvl="1" indent="0" algn="l" defTabSz="914400" rtl="0" eaLnBrk="0" fontAlgn="base" latinLnBrk="0" hangingPunct="0">
              <a:lnSpc>
                <a:spcPct val="110000"/>
              </a:lnSpc>
              <a:spcBef>
                <a:spcPct val="20000"/>
              </a:spcBef>
              <a:spcAft>
                <a:spcPct val="0"/>
              </a:spcAft>
              <a:buClr>
                <a:schemeClr val="tx2"/>
              </a:buClr>
              <a:buSzTx/>
              <a:buFont typeface="Wingdings" panose="05000000000000000000" pitchFamily="2" charset="2"/>
              <a:buNone/>
              <a:defRPr/>
            </a:pPr>
            <a:r>
              <a:rPr kumimoji="1"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rPr>
              <a:t>	</a:t>
            </a:r>
            <a:r>
              <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存，其余映射到磁盘</a:t>
            </a:r>
            <a:endParaRPr kumimoji="1"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270000" marR="0" lvl="2" indent="-354330" algn="l" defTabSz="914400" rtl="0" eaLnBrk="0" fontAlgn="base" latinLnBrk="0" hangingPunct="0">
              <a:lnSpc>
                <a:spcPct val="110000"/>
              </a:lnSpc>
              <a:spcBef>
                <a:spcPct val="20000"/>
              </a:spcBef>
              <a:spcAft>
                <a:spcPct val="0"/>
              </a:spcAft>
              <a:buClr>
                <a:schemeClr val="folHlink"/>
              </a:buClr>
              <a:buSzTx/>
              <a:buFont typeface="Symbol" panose="05050102010706020507" pitchFamily="18" charset="2"/>
              <a:buChar char="§"/>
              <a:defRPr/>
            </a:pP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通常将“</a:t>
            </a:r>
            <a:r>
              <a:rPr kumimoji="1"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热页</a:t>
            </a: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”保存</a:t>
            </a:r>
            <a:endParaRPr kumimoji="1"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249680" marR="0" lvl="2" indent="0" algn="l" defTabSz="914400" rtl="0" eaLnBrk="0" fontAlgn="base" latinLnBrk="0" hangingPunct="0">
              <a:lnSpc>
                <a:spcPct val="110000"/>
              </a:lnSpc>
              <a:spcBef>
                <a:spcPct val="20000"/>
              </a:spcBef>
              <a:spcAft>
                <a:spcPct val="0"/>
              </a:spcAft>
              <a:buClr>
                <a:schemeClr val="folHlink"/>
              </a:buClr>
              <a:buSzTx/>
              <a:buFont typeface="Symbol" panose="05050102010706020507" pitchFamily="18" charset="2"/>
              <a:buNone/>
              <a:defRPr/>
            </a:pPr>
            <a:r>
              <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在主存中</a:t>
            </a:r>
            <a:endParaRPr kumimoji="1"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p:txBody>
      </p:sp>
      <p:graphicFrame>
        <p:nvGraphicFramePr>
          <p:cNvPr id="78851" name="Object 3"/>
          <p:cNvGraphicFramePr>
            <a:graphicFrameLocks noChangeAspect="1"/>
          </p:cNvGraphicFramePr>
          <p:nvPr/>
        </p:nvGraphicFramePr>
        <p:xfrm>
          <a:off x="4572000" y="1819275"/>
          <a:ext cx="4483100" cy="4071938"/>
        </p:xfrm>
        <a:graphic>
          <a:graphicData uri="http://schemas.openxmlformats.org/presentationml/2006/ole">
            <mc:AlternateContent xmlns:mc="http://schemas.openxmlformats.org/markup-compatibility/2006">
              <mc:Choice xmlns:v="urn:schemas-microsoft-com:vml" Requires="v">
                <p:oleObj spid="_x0000_s3077" name="" r:id="rId3" imgW="3467100" imgH="3333750" progId="Paint.Picture">
                  <p:embed/>
                </p:oleObj>
              </mc:Choice>
              <mc:Fallback>
                <p:oleObj name="" r:id="rId3" imgW="3467100" imgH="3333750" progId="Paint.Picture">
                  <p:embed/>
                  <p:pic>
                    <p:nvPicPr>
                      <p:cNvPr id="0" name="图片 3076"/>
                      <p:cNvPicPr/>
                      <p:nvPr/>
                    </p:nvPicPr>
                    <p:blipFill>
                      <a:blip r:embed="rId4"/>
                      <a:stretch>
                        <a:fillRect/>
                      </a:stretch>
                    </p:blipFill>
                    <p:spPr>
                      <a:xfrm>
                        <a:off x="4572000" y="1819275"/>
                        <a:ext cx="4483100" cy="4071938"/>
                      </a:xfrm>
                      <a:prstGeom prst="rect">
                        <a:avLst/>
                      </a:prstGeom>
                      <a:noFill/>
                      <a:ln w="38100">
                        <a:noFill/>
                        <a:miter/>
                      </a:ln>
                    </p:spPr>
                  </p:pic>
                </p:oleObj>
              </mc:Fallback>
            </mc:AlternateContent>
          </a:graphicData>
        </a:graphic>
      </p:graphicFrame>
      <p:sp>
        <p:nvSpPr>
          <p:cNvPr id="241668" name="Rectangle 4"/>
          <p:cNvSpPr>
            <a:spLocks noGrp="1" noChangeArrowheads="1"/>
          </p:cNvSpPr>
          <p:nvPr>
            <p:ph type="title"/>
          </p:nvPr>
        </p:nvSpPr>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uLnTx/>
                <a:uFillTx/>
                <a:latin typeface="+mj-lt"/>
                <a:ea typeface="+mj-ea"/>
                <a:cs typeface="+mj-cs"/>
              </a:rPr>
              <a:t>回顾</a:t>
            </a: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a:t>
            </a:r>
            <a:r>
              <a:rPr kumimoji="0" lang="zh-CN" altLang="en-US" sz="4800" b="1" i="0" u="none" strike="noStrike" kern="0" cap="none" spc="0" normalizeH="0" baseline="0" noProof="0" smtClean="0">
                <a:ln>
                  <a:noFill/>
                </a:ln>
                <a:solidFill>
                  <a:srgbClr val="FF0000"/>
                </a:solidFill>
                <a:effectLst/>
                <a:uLnTx/>
                <a:uFillTx/>
                <a:latin typeface="+mj-lt"/>
                <a:ea typeface="+mj-ea"/>
                <a:cs typeface="+mj-cs"/>
              </a:rPr>
              <a:t>虚拟存储系统</a:t>
            </a:r>
            <a:endParaRPr kumimoji="0" lang="zh-CN" altLang="en-US" sz="4800" b="1" i="0" u="none" strike="noStrike" kern="0" cap="none" spc="0" normalizeH="0" baseline="0" noProof="0" smtClean="0">
              <a:ln>
                <a:noFill/>
              </a:ln>
              <a:solidFill>
                <a:srgbClr val="FF0000"/>
              </a:solidFill>
              <a:effectLst/>
              <a:uLnTx/>
              <a:uFillTx/>
              <a:latin typeface="+mj-lt"/>
              <a:ea typeface="+mj-ea"/>
              <a:cs typeface="+mj-cs"/>
            </a:endParaRPr>
          </a:p>
        </p:txBody>
      </p:sp>
    </p:spTree>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90" name="Rectangle 2"/>
          <p:cNvSpPr>
            <a:spLocks noGrp="1" noChangeArrowheads="1"/>
          </p:cNvSpPr>
          <p:nvPr>
            <p:ph type="title"/>
          </p:nvPr>
        </p:nvSpPr>
        <p:spPr>
          <a:xfrm>
            <a:off x="587375" y="198438"/>
            <a:ext cx="8113713" cy="7143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uLnTx/>
                <a:uFillTx/>
                <a:latin typeface="+mj-lt"/>
                <a:ea typeface="+mj-ea"/>
                <a:cs typeface="+mj-cs"/>
              </a:rPr>
              <a:t>回顾</a:t>
            </a: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a:t>
            </a:r>
            <a:r>
              <a:rPr kumimoji="0" lang="zh-CN" altLang="en-US" sz="4800" b="1" i="0" u="none" strike="noStrike" kern="0" cap="none" spc="0" normalizeH="0" baseline="0" noProof="0" dirty="0" smtClean="0">
                <a:ln>
                  <a:noFill/>
                </a:ln>
                <a:solidFill>
                  <a:srgbClr val="FF0000"/>
                </a:solidFill>
                <a:effectLst/>
                <a:uLnTx/>
                <a:uFillTx/>
                <a:latin typeface="+mj-lt"/>
                <a:ea typeface="+mj-ea"/>
                <a:cs typeface="+mj-cs"/>
              </a:rPr>
              <a:t>页式虚拟存储器</a:t>
            </a:r>
            <a:endParaRPr kumimoji="0" lang="zh-CN" altLang="en-US" sz="4800" b="1" i="0" u="none" strike="noStrike" kern="0" cap="none" spc="0" normalizeH="0" baseline="0" noProof="0" dirty="0" smtClean="0">
              <a:ln>
                <a:noFill/>
              </a:ln>
              <a:solidFill>
                <a:srgbClr val="FF0000"/>
              </a:solidFill>
              <a:effectLst/>
              <a:uLnTx/>
              <a:uFillTx/>
              <a:latin typeface="+mj-lt"/>
              <a:ea typeface="+mj-ea"/>
              <a:cs typeface="+mj-cs"/>
            </a:endParaRPr>
          </a:p>
        </p:txBody>
      </p:sp>
      <p:sp>
        <p:nvSpPr>
          <p:cNvPr id="79875" name="Rectangle 3"/>
          <p:cNvSpPr>
            <a:spLocks noGrp="1"/>
          </p:cNvSpPr>
          <p:nvPr>
            <p:ph idx="1"/>
          </p:nvPr>
        </p:nvSpPr>
        <p:spPr>
          <a:xfrm>
            <a:off x="495300" y="1001713"/>
            <a:ext cx="8420100" cy="5505450"/>
          </a:xfrm>
          <a:ln/>
        </p:spPr>
        <p:txBody>
          <a:bodyPr vert="horz" wrap="square" lIns="91440" tIns="45720" rIns="91440" bIns="45720" anchor="t" anchorCtr="0">
            <a:spAutoFit/>
          </a:bodyPr>
          <a:p>
            <a:pPr marL="342900" indent="-342900">
              <a:lnSpc>
                <a:spcPct val="110000"/>
              </a:lnSpc>
              <a:spcBef>
                <a:spcPct val="0"/>
              </a:spcBef>
            </a:pPr>
            <a:r>
              <a:rPr lang="zh-CN" altLang="en-US" sz="2800" dirty="0">
                <a:latin typeface="Times New Roman" panose="02020603050405020304" pitchFamily="18" charset="0"/>
              </a:rPr>
              <a:t>虚存空间和主存空间按统一大小分成若干页</a:t>
            </a:r>
            <a:endParaRPr lang="zh-CN" altLang="en-US" sz="2800" dirty="0">
              <a:latin typeface="Times New Roman" panose="02020603050405020304" pitchFamily="18" charset="0"/>
            </a:endParaRPr>
          </a:p>
          <a:p>
            <a:pPr marL="809625" lvl="1" indent="-352425">
              <a:lnSpc>
                <a:spcPct val="110000"/>
              </a:lnSpc>
              <a:spcBef>
                <a:spcPct val="0"/>
              </a:spcBef>
            </a:pPr>
            <a:r>
              <a:rPr lang="zh-CN" altLang="en-US" sz="2400" dirty="0">
                <a:latin typeface="Times New Roman" panose="02020603050405020304" pitchFamily="18" charset="0"/>
              </a:rPr>
              <a:t>虚存称其为虚页，主存称其为实页</a:t>
            </a:r>
            <a:endParaRPr lang="zh-CN" altLang="en-US" sz="2400" dirty="0">
              <a:latin typeface="Times New Roman" panose="02020603050405020304" pitchFamily="18" charset="0"/>
            </a:endParaRPr>
          </a:p>
          <a:p>
            <a:pPr marL="342900" indent="-342900">
              <a:lnSpc>
                <a:spcPct val="110000"/>
              </a:lnSpc>
              <a:spcBef>
                <a:spcPct val="0"/>
              </a:spcBef>
            </a:pPr>
            <a:r>
              <a:rPr lang="zh-CN" altLang="en-US" sz="2800" dirty="0">
                <a:latin typeface="Times New Roman" panose="02020603050405020304" pitchFamily="18" charset="0"/>
              </a:rPr>
              <a:t>程序按页调入内存</a:t>
            </a:r>
            <a:r>
              <a:rPr lang="en-US" altLang="zh-CN" sz="2800" dirty="0">
                <a:latin typeface="Times New Roman" panose="02020603050405020304" pitchFamily="18" charset="0"/>
              </a:rPr>
              <a:t>(</a:t>
            </a:r>
            <a:r>
              <a:rPr lang="zh-CN" altLang="en-US" sz="2800" dirty="0">
                <a:latin typeface="Times New Roman" panose="02020603050405020304" pitchFamily="18" charset="0"/>
              </a:rPr>
              <a:t>即：某一虚页调入某一实页</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a:p>
            <a:pPr marL="342900" indent="-342900">
              <a:lnSpc>
                <a:spcPct val="110000"/>
              </a:lnSpc>
              <a:spcBef>
                <a:spcPct val="0"/>
              </a:spcBef>
            </a:pPr>
            <a:r>
              <a:rPr lang="zh-CN" altLang="en-US" sz="2800" dirty="0">
                <a:latin typeface="Times New Roman" panose="02020603050405020304" pitchFamily="18" charset="0"/>
              </a:rPr>
              <a:t>虚存的地址格式</a:t>
            </a:r>
            <a:r>
              <a:rPr lang="en-US" altLang="zh-CN" sz="2800" dirty="0">
                <a:latin typeface="Times New Roman" panose="02020603050405020304" pitchFamily="18" charset="0"/>
              </a:rPr>
              <a:t>(</a:t>
            </a:r>
            <a:r>
              <a:rPr lang="zh-CN" altLang="en-US" sz="2800" dirty="0">
                <a:latin typeface="Times New Roman" panose="02020603050405020304" pitchFamily="18" charset="0"/>
              </a:rPr>
              <a:t>逻辑地址格式</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endParaRPr lang="en-US" altLang="zh-CN" sz="2800" dirty="0">
              <a:latin typeface="Times New Roman" panose="02020603050405020304" pitchFamily="18" charset="0"/>
            </a:endParaRPr>
          </a:p>
          <a:p>
            <a:pPr marL="342900" indent="-342900">
              <a:lnSpc>
                <a:spcPct val="110000"/>
              </a:lnSpc>
              <a:spcBef>
                <a:spcPct val="0"/>
              </a:spcBef>
              <a:buNone/>
            </a:pPr>
            <a:r>
              <a:rPr lang="zh-CN" altLang="en-US" sz="2800" dirty="0">
                <a:latin typeface="Times New Roman" panose="02020603050405020304" pitchFamily="18" charset="0"/>
              </a:rPr>
              <a:t>			</a:t>
            </a:r>
            <a:r>
              <a:rPr lang="zh-CN" altLang="en-US" sz="2400" dirty="0">
                <a:solidFill>
                  <a:srgbClr val="F7F727"/>
                </a:solidFill>
                <a:latin typeface="Times New Roman" panose="02020603050405020304" pitchFamily="18" charset="0"/>
              </a:rPr>
              <a:t>虚页号</a:t>
            </a:r>
            <a:r>
              <a:rPr lang="en-US" altLang="zh-CN" sz="2400" dirty="0">
                <a:solidFill>
                  <a:srgbClr val="F7F727"/>
                </a:solidFill>
                <a:latin typeface="Times New Roman" panose="02020603050405020304" pitchFamily="18" charset="0"/>
              </a:rPr>
              <a:t>(</a:t>
            </a:r>
            <a:r>
              <a:rPr lang="zh-CN" altLang="en-US" sz="2400" dirty="0">
                <a:solidFill>
                  <a:srgbClr val="F7F727"/>
                </a:solidFill>
                <a:latin typeface="Times New Roman" panose="02020603050405020304" pitchFamily="18" charset="0"/>
              </a:rPr>
              <a:t>页号</a:t>
            </a:r>
            <a:r>
              <a:rPr lang="en-US" altLang="zh-CN" sz="2400" dirty="0">
                <a:solidFill>
                  <a:srgbClr val="F7F727"/>
                </a:solidFill>
                <a:latin typeface="Times New Roman" panose="02020603050405020304" pitchFamily="18" charset="0"/>
              </a:rPr>
              <a:t>)</a:t>
            </a:r>
            <a:r>
              <a:rPr lang="zh-CN" altLang="en-US" sz="2400" dirty="0">
                <a:solidFill>
                  <a:srgbClr val="F7F727"/>
                </a:solidFill>
                <a:latin typeface="Times New Roman" panose="02020603050405020304" pitchFamily="18" charset="0"/>
              </a:rPr>
              <a:t> ＋ 页内偏移地址</a:t>
            </a:r>
            <a:endParaRPr lang="zh-CN" altLang="en-US" sz="2400" dirty="0">
              <a:solidFill>
                <a:srgbClr val="F7F727"/>
              </a:solidFill>
              <a:latin typeface="Times New Roman" panose="02020603050405020304" pitchFamily="18" charset="0"/>
            </a:endParaRPr>
          </a:p>
          <a:p>
            <a:pPr marL="342900" indent="-342900">
              <a:lnSpc>
                <a:spcPct val="110000"/>
              </a:lnSpc>
              <a:spcBef>
                <a:spcPct val="0"/>
              </a:spcBef>
            </a:pPr>
            <a:r>
              <a:rPr lang="zh-CN" altLang="en-US" sz="2800" dirty="0">
                <a:latin typeface="Times New Roman" panose="02020603050405020304" pitchFamily="18" charset="0"/>
              </a:rPr>
              <a:t>主存的地址格式</a:t>
            </a:r>
            <a:r>
              <a:rPr lang="en-US" altLang="zh-CN" sz="2800" dirty="0">
                <a:latin typeface="Times New Roman" panose="02020603050405020304" pitchFamily="18" charset="0"/>
              </a:rPr>
              <a:t>(</a:t>
            </a:r>
            <a:r>
              <a:rPr lang="zh-CN" altLang="en-US" sz="2800" dirty="0">
                <a:latin typeface="Times New Roman" panose="02020603050405020304" pitchFamily="18" charset="0"/>
              </a:rPr>
              <a:t>物理地址格式</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endParaRPr lang="en-US" altLang="zh-CN" sz="2800" dirty="0">
              <a:latin typeface="Times New Roman" panose="02020603050405020304" pitchFamily="18" charset="0"/>
            </a:endParaRPr>
          </a:p>
          <a:p>
            <a:pPr marL="342900" indent="-342900">
              <a:lnSpc>
                <a:spcPct val="110000"/>
              </a:lnSpc>
              <a:spcBef>
                <a:spcPct val="0"/>
              </a:spcBef>
              <a:buNone/>
            </a:pPr>
            <a:r>
              <a:rPr lang="zh-CN" altLang="en-US" sz="2800" dirty="0">
                <a:latin typeface="Times New Roman" panose="02020603050405020304" pitchFamily="18" charset="0"/>
              </a:rPr>
              <a:t>			</a:t>
            </a:r>
            <a:r>
              <a:rPr lang="zh-CN" altLang="en-US" sz="2400" dirty="0">
                <a:solidFill>
                  <a:srgbClr val="F7F727"/>
                </a:solidFill>
                <a:latin typeface="Times New Roman" panose="02020603050405020304" pitchFamily="18" charset="0"/>
              </a:rPr>
              <a:t>实页号</a:t>
            </a:r>
            <a:r>
              <a:rPr lang="en-US" altLang="zh-CN" sz="2400" dirty="0">
                <a:solidFill>
                  <a:srgbClr val="F7F727"/>
                </a:solidFill>
                <a:latin typeface="Times New Roman" panose="02020603050405020304" pitchFamily="18" charset="0"/>
              </a:rPr>
              <a:t>(</a:t>
            </a:r>
            <a:r>
              <a:rPr lang="zh-CN" altLang="en-US" sz="2400" dirty="0">
                <a:solidFill>
                  <a:srgbClr val="F7F727"/>
                </a:solidFill>
                <a:latin typeface="Times New Roman" panose="02020603050405020304" pitchFamily="18" charset="0"/>
              </a:rPr>
              <a:t>页框号</a:t>
            </a:r>
            <a:r>
              <a:rPr lang="en-US" altLang="zh-CN" sz="2400" dirty="0">
                <a:solidFill>
                  <a:srgbClr val="F7F727"/>
                </a:solidFill>
                <a:latin typeface="Times New Roman" panose="02020603050405020304" pitchFamily="18" charset="0"/>
              </a:rPr>
              <a:t>) </a:t>
            </a:r>
            <a:r>
              <a:rPr lang="zh-CN" altLang="en-US" sz="2400" dirty="0">
                <a:solidFill>
                  <a:srgbClr val="F7F727"/>
                </a:solidFill>
                <a:latin typeface="Times New Roman" panose="02020603050405020304" pitchFamily="18" charset="0"/>
              </a:rPr>
              <a:t>＋ 页内偏移地址</a:t>
            </a:r>
            <a:endParaRPr lang="zh-CN" altLang="en-US" sz="2400" dirty="0">
              <a:solidFill>
                <a:srgbClr val="F7F727"/>
              </a:solidFill>
              <a:latin typeface="Times New Roman" panose="02020603050405020304" pitchFamily="18" charset="0"/>
            </a:endParaRPr>
          </a:p>
          <a:p>
            <a:pPr marL="342900" indent="-342900">
              <a:lnSpc>
                <a:spcPct val="110000"/>
              </a:lnSpc>
              <a:spcBef>
                <a:spcPct val="0"/>
              </a:spcBef>
            </a:pPr>
            <a:r>
              <a:rPr lang="zh-CN" altLang="en-US" sz="2800" dirty="0">
                <a:latin typeface="Times New Roman" panose="02020603050405020304" pitchFamily="18" charset="0"/>
              </a:rPr>
              <a:t>页表：记录虚页与实页的地址映射关系，用来实现虚实地址转换</a:t>
            </a:r>
            <a:endParaRPr lang="zh-CN" altLang="en-US" sz="2800" dirty="0">
              <a:latin typeface="Times New Roman" panose="02020603050405020304" pitchFamily="18" charset="0"/>
            </a:endParaRPr>
          </a:p>
          <a:p>
            <a:pPr marL="809625" lvl="1" indent="-352425">
              <a:lnSpc>
                <a:spcPct val="110000"/>
              </a:lnSpc>
              <a:spcBef>
                <a:spcPct val="0"/>
              </a:spcBef>
            </a:pPr>
            <a:r>
              <a:rPr lang="zh-CN" altLang="en-US" sz="2400" dirty="0">
                <a:latin typeface="Times New Roman" panose="02020603050405020304" pitchFamily="18" charset="0"/>
              </a:rPr>
              <a:t>通常存放在内存中，操作系统为每道程序</a:t>
            </a:r>
            <a:r>
              <a:rPr lang="en-US" altLang="zh-CN" sz="2400" dirty="0">
                <a:latin typeface="Times New Roman" panose="02020603050405020304" pitchFamily="18" charset="0"/>
              </a:rPr>
              <a:t>(</a:t>
            </a:r>
            <a:r>
              <a:rPr lang="zh-CN" altLang="en-US" sz="2400" dirty="0">
                <a:latin typeface="Times New Roman" panose="02020603050405020304" pitchFamily="18" charset="0"/>
              </a:rPr>
              <a:t>每个进程</a:t>
            </a:r>
            <a:r>
              <a:rPr lang="en-US" altLang="zh-CN" sz="2400" dirty="0">
                <a:latin typeface="Times New Roman" panose="02020603050405020304" pitchFamily="18" charset="0"/>
              </a:rPr>
              <a:t>)</a:t>
            </a:r>
            <a:r>
              <a:rPr lang="zh-CN" altLang="en-US" sz="2400" dirty="0">
                <a:latin typeface="Times New Roman" panose="02020603050405020304" pitchFamily="18" charset="0"/>
              </a:rPr>
              <a:t>建立一个页表</a:t>
            </a:r>
            <a:endParaRPr lang="zh-CN" altLang="en-US" sz="2400" dirty="0">
              <a:latin typeface="Times New Roman" panose="02020603050405020304" pitchFamily="18" charset="0"/>
            </a:endParaRPr>
          </a:p>
          <a:p>
            <a:pPr marL="809625" lvl="1" indent="-352425">
              <a:lnSpc>
                <a:spcPct val="110000"/>
              </a:lnSpc>
              <a:spcBef>
                <a:spcPct val="0"/>
              </a:spcBef>
            </a:pPr>
            <a:r>
              <a:rPr lang="zh-CN" altLang="en-US" sz="2400" dirty="0">
                <a:latin typeface="Times New Roman" panose="02020603050405020304" pitchFamily="18" charset="0"/>
              </a:rPr>
              <a:t>设置页表基址寄存器：保存页表在内存中的起始地址</a:t>
            </a:r>
            <a:endParaRPr lang="zh-CN" altLang="en-US" sz="2400" dirty="0">
              <a:latin typeface="Times New Roman" panose="02020603050405020304" pitchFamily="18" charset="0"/>
            </a:endParaRPr>
          </a:p>
        </p:txBody>
      </p:sp>
    </p:spTree>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4" name="Rectangle 2"/>
          <p:cNvSpPr>
            <a:spLocks noGrp="1" noChangeArrowheads="1"/>
          </p:cNvSpPr>
          <p:nvPr>
            <p:ph type="title"/>
          </p:nvPr>
        </p:nvSpPr>
        <p:spPr>
          <a:xfrm>
            <a:off x="603250" y="385763"/>
            <a:ext cx="8113713" cy="714375"/>
          </a:xfrm>
        </p:spPr>
        <p:txBody>
          <a:bodyPr vert="horz" wrap="square" lIns="91440" tIns="45720" rIns="91440" bIns="45720" numCol="1" anchor="b"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uLnTx/>
                <a:uFillTx/>
                <a:latin typeface="+mj-lt"/>
                <a:ea typeface="+mj-ea"/>
                <a:cs typeface="+mj-cs"/>
              </a:rPr>
              <a:t>回顾</a:t>
            </a: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a:t>
            </a:r>
            <a:r>
              <a:rPr kumimoji="0" lang="zh-CN" altLang="en-US" sz="4800" b="1" i="0" u="none" strike="noStrike" kern="0" cap="none" spc="0" normalizeH="0" baseline="0" noProof="0" dirty="0" smtClean="0">
                <a:ln>
                  <a:noFill/>
                </a:ln>
                <a:solidFill>
                  <a:srgbClr val="FF0000"/>
                </a:solidFill>
                <a:effectLst/>
                <a:uLnTx/>
                <a:uFillTx/>
                <a:latin typeface="+mj-lt"/>
                <a:ea typeface="+mj-ea"/>
                <a:cs typeface="+mj-cs"/>
              </a:rPr>
              <a:t>页式虚拟存储器</a:t>
            </a:r>
            <a:endParaRPr kumimoji="0" lang="zh-CN" altLang="en-US" sz="4800" b="1" i="0" u="none" strike="noStrike" kern="0" cap="none" spc="0" normalizeH="0" baseline="0" noProof="0" dirty="0" smtClean="0">
              <a:ln>
                <a:noFill/>
              </a:ln>
              <a:solidFill>
                <a:srgbClr val="FF0000"/>
              </a:solidFill>
              <a:effectLst/>
              <a:uLnTx/>
              <a:uFillTx/>
              <a:latin typeface="+mj-lt"/>
              <a:ea typeface="+mj-ea"/>
              <a:cs typeface="+mj-cs"/>
            </a:endParaRPr>
          </a:p>
        </p:txBody>
      </p:sp>
      <p:sp>
        <p:nvSpPr>
          <p:cNvPr id="80899" name="Rectangle 4"/>
          <p:cNvSpPr/>
          <p:nvPr/>
        </p:nvSpPr>
        <p:spPr>
          <a:xfrm>
            <a:off x="3224213" y="5862638"/>
            <a:ext cx="2622550" cy="579437"/>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3200" dirty="0">
                <a:solidFill>
                  <a:srgbClr val="FFFF00"/>
                </a:solidFill>
              </a:rPr>
              <a:t>地址映象方法</a:t>
            </a:r>
            <a:endParaRPr lang="zh-CN" altLang="en-US" sz="3200" dirty="0">
              <a:solidFill>
                <a:srgbClr val="FFFF00"/>
              </a:solidFill>
            </a:endParaRPr>
          </a:p>
        </p:txBody>
      </p:sp>
      <p:grpSp>
        <p:nvGrpSpPr>
          <p:cNvPr id="80900" name="Group 575"/>
          <p:cNvGrpSpPr/>
          <p:nvPr/>
        </p:nvGrpSpPr>
        <p:grpSpPr>
          <a:xfrm>
            <a:off x="960438" y="1652588"/>
            <a:ext cx="7764462" cy="4146550"/>
            <a:chOff x="20" y="961"/>
            <a:chExt cx="5680" cy="3018"/>
          </a:xfrm>
        </p:grpSpPr>
        <p:graphicFrame>
          <p:nvGraphicFramePr>
            <p:cNvPr id="80901" name="Object 3"/>
            <p:cNvGraphicFramePr>
              <a:graphicFrameLocks noChangeAspect="1"/>
            </p:cNvGraphicFramePr>
            <p:nvPr/>
          </p:nvGraphicFramePr>
          <p:xfrm>
            <a:off x="20" y="961"/>
            <a:ext cx="5680" cy="3018"/>
          </p:xfrm>
          <a:graphic>
            <a:graphicData uri="http://schemas.openxmlformats.org/presentationml/2006/ole">
              <mc:AlternateContent xmlns:mc="http://schemas.openxmlformats.org/markup-compatibility/2006">
                <mc:Choice xmlns:v="urn:schemas-microsoft-com:vml" Requires="v">
                  <p:oleObj spid="_x0000_s3078" name="" r:id="rId5" imgW="4407535" imgH="2548255" progId="Word.Document.8">
                    <p:embed/>
                  </p:oleObj>
                </mc:Choice>
                <mc:Fallback>
                  <p:oleObj name="" r:id="rId5" imgW="4407535" imgH="2548255" progId="Word.Document.8">
                    <p:embed/>
                    <p:pic>
                      <p:nvPicPr>
                        <p:cNvPr id="0" name="图片 3077"/>
                        <p:cNvPicPr/>
                        <p:nvPr/>
                      </p:nvPicPr>
                      <p:blipFill>
                        <a:blip r:embed="rId6"/>
                        <a:stretch>
                          <a:fillRect/>
                        </a:stretch>
                      </p:blipFill>
                      <p:spPr>
                        <a:xfrm>
                          <a:off x="20" y="961"/>
                          <a:ext cx="5680" cy="3018"/>
                        </a:xfrm>
                        <a:prstGeom prst="rect">
                          <a:avLst/>
                        </a:prstGeom>
                        <a:solidFill>
                          <a:srgbClr val="99CCFF"/>
                        </a:solidFill>
                        <a:ln w="38100">
                          <a:noFill/>
                          <a:miter/>
                        </a:ln>
                      </p:spPr>
                    </p:pic>
                  </p:oleObj>
                </mc:Fallback>
              </mc:AlternateContent>
            </a:graphicData>
          </a:graphic>
        </p:graphicFrame>
        <p:sp>
          <p:nvSpPr>
            <p:cNvPr id="80902" name="Text Box 574"/>
            <p:cNvSpPr txBox="1"/>
            <p:nvPr/>
          </p:nvSpPr>
          <p:spPr>
            <a:xfrm>
              <a:off x="2985" y="1119"/>
              <a:ext cx="292" cy="227"/>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80000"/>
                </a:lnSpc>
                <a:spcBef>
                  <a:spcPct val="0"/>
                </a:spcBef>
                <a:buClrTx/>
                <a:buFontTx/>
                <a:buNone/>
              </a:pPr>
              <a:r>
                <a:rPr lang="zh-CN" altLang="en-US" sz="2200" dirty="0">
                  <a:solidFill>
                    <a:schemeClr val="bg2"/>
                  </a:solidFill>
                  <a:latin typeface="Arial" panose="020B0604020202020204" pitchFamily="34" charset="0"/>
                </a:rPr>
                <a:t>框</a:t>
              </a:r>
              <a:endParaRPr lang="zh-CN" altLang="en-US" sz="2200" dirty="0">
                <a:solidFill>
                  <a:schemeClr val="bg2"/>
                </a:solidFill>
                <a:latin typeface="Arial" panose="020B0604020202020204" pitchFamily="34" charset="0"/>
              </a:endParaRPr>
            </a:p>
          </p:txBody>
        </p:sp>
      </p:grpSp>
    </p:spTree>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a:xfrm>
            <a:off x="381000" y="298450"/>
            <a:ext cx="8393113" cy="714375"/>
          </a:xfrm>
          <a:ln/>
        </p:spPr>
        <p:txBody>
          <a:bodyPr vert="horz" wrap="square" lIns="91440" tIns="45720" rIns="91440" bIns="45720" anchor="t" anchorCtr="0">
            <a:spAutoFit/>
          </a:bodyPr>
          <a:p>
            <a:r>
              <a:rPr lang="zh-CN" altLang="en-US" dirty="0">
                <a:effectLst/>
                <a:latin typeface="Times New Roman" panose="02020603050405020304" pitchFamily="18" charset="0"/>
              </a:rPr>
              <a:t>回顾</a:t>
            </a:r>
            <a:r>
              <a:rPr lang="en-US" altLang="zh-CN" dirty="0">
                <a:effectLst/>
              </a:rPr>
              <a:t>—</a:t>
            </a:r>
            <a:r>
              <a:rPr lang="zh-CN" altLang="en-US" dirty="0">
                <a:effectLst/>
                <a:latin typeface="Times New Roman" panose="02020603050405020304" pitchFamily="18" charset="0"/>
              </a:rPr>
              <a:t>虚实地址转换</a:t>
            </a:r>
            <a:endParaRPr lang="zh-CN" altLang="en-US" dirty="0">
              <a:effectLst/>
              <a:latin typeface="Times New Roman" panose="02020603050405020304" pitchFamily="18" charset="0"/>
            </a:endParaRPr>
          </a:p>
        </p:txBody>
      </p:sp>
      <p:sp>
        <p:nvSpPr>
          <p:cNvPr id="297987" name="Rectangle 3"/>
          <p:cNvSpPr>
            <a:spLocks noGrp="1"/>
          </p:cNvSpPr>
          <p:nvPr>
            <p:ph idx="1"/>
          </p:nvPr>
        </p:nvSpPr>
        <p:spPr>
          <a:xfrm>
            <a:off x="381000" y="1416050"/>
            <a:ext cx="8388350" cy="4811713"/>
          </a:xfrm>
          <a:ln/>
        </p:spPr>
        <p:txBody>
          <a:bodyPr vert="horz" wrap="square" lIns="91440" tIns="45720" rIns="91440" bIns="45720" anchor="t" anchorCtr="0">
            <a:spAutoFit/>
          </a:bodyPr>
          <a:p>
            <a:pPr>
              <a:lnSpc>
                <a:spcPct val="110000"/>
              </a:lnSpc>
              <a:spcBef>
                <a:spcPct val="20000"/>
              </a:spcBef>
            </a:pPr>
            <a:r>
              <a:rPr lang="en-US" altLang="zh-CN" dirty="0">
                <a:solidFill>
                  <a:srgbClr val="FFFF00"/>
                </a:solidFill>
                <a:latin typeface="Times New Roman" panose="02020603050405020304" pitchFamily="18" charset="0"/>
                <a:cs typeface="Times New Roman" panose="02020603050405020304" pitchFamily="18" charset="0"/>
              </a:rPr>
              <a:t>CPU</a:t>
            </a:r>
            <a:r>
              <a:rPr lang="zh-CN" altLang="en-US" dirty="0">
                <a:solidFill>
                  <a:srgbClr val="FFFF00"/>
                </a:solidFill>
                <a:latin typeface="Times New Roman" panose="02020603050405020304" pitchFamily="18" charset="0"/>
                <a:cs typeface="Times New Roman" panose="02020603050405020304" pitchFamily="18" charset="0"/>
              </a:rPr>
              <a:t>的</a:t>
            </a:r>
            <a:r>
              <a:rPr lang="zh-CN" altLang="en-US" dirty="0">
                <a:solidFill>
                  <a:srgbClr val="FFFF00"/>
                </a:solidFill>
              </a:rPr>
              <a:t>每次存储访问时，总是先要进行逻辑地址到物理地址的转换吗？</a:t>
            </a:r>
            <a:endParaRPr lang="zh-CN" altLang="en-US" dirty="0">
              <a:solidFill>
                <a:srgbClr val="FFFF00"/>
              </a:solidFill>
            </a:endParaRPr>
          </a:p>
          <a:p>
            <a:pPr lvl="1">
              <a:lnSpc>
                <a:spcPct val="110000"/>
              </a:lnSpc>
              <a:spcBef>
                <a:spcPct val="20000"/>
              </a:spcBef>
            </a:pPr>
            <a:r>
              <a:rPr lang="zh-CN" altLang="en-US" dirty="0"/>
              <a:t>静态重定位：指令中地址已经是物理地址，故存储访问时不需要进行地址转换</a:t>
            </a:r>
            <a:endParaRPr lang="zh-CN" altLang="en-US" dirty="0"/>
          </a:p>
          <a:p>
            <a:pPr lvl="1">
              <a:lnSpc>
                <a:spcPct val="110000"/>
              </a:lnSpc>
              <a:spcBef>
                <a:spcPct val="20000"/>
              </a:spcBef>
            </a:pPr>
            <a:r>
              <a:rPr lang="zh-CN" altLang="en-US" dirty="0"/>
              <a:t>动态重定位：执行指令过程中只要进行存储访问，总是先要进行逻辑地址到物理地址的转换</a:t>
            </a:r>
            <a:endParaRPr lang="zh-CN" altLang="en-US" dirty="0"/>
          </a:p>
          <a:p>
            <a:pPr lvl="1">
              <a:lnSpc>
                <a:spcPct val="110000"/>
              </a:lnSpc>
              <a:spcBef>
                <a:spcPct val="20000"/>
              </a:spcBef>
            </a:pPr>
            <a:endParaRPr lang="zh-CN" altLang="en-US"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7987">
                                            <p:txEl>
                                              <p:charRg st="33" end="68"/>
                                            </p:txEl>
                                          </p:spTgt>
                                        </p:tgtEl>
                                        <p:attrNameLst>
                                          <p:attrName>style.visibility</p:attrName>
                                        </p:attrNameLst>
                                      </p:cBhvr>
                                      <p:to>
                                        <p:strVal val="visible"/>
                                      </p:to>
                                    </p:set>
                                    <p:animEffect transition="in" filter="blinds(horizontal)">
                                      <p:cBhvr>
                                        <p:cTn id="7" dur="500"/>
                                        <p:tgtEl>
                                          <p:spTgt spid="297987">
                                            <p:txEl>
                                              <p:charRg st="33" end="6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7987">
                                            <p:txEl>
                                              <p:charRg st="68" end="109"/>
                                            </p:txEl>
                                          </p:spTgt>
                                        </p:tgtEl>
                                        <p:attrNameLst>
                                          <p:attrName>style.visibility</p:attrName>
                                        </p:attrNameLst>
                                      </p:cBhvr>
                                      <p:to>
                                        <p:strVal val="visible"/>
                                      </p:to>
                                    </p:set>
                                    <p:animEffect transition="in" filter="blinds(horizontal)">
                                      <p:cBhvr>
                                        <p:cTn id="12" dur="500"/>
                                        <p:tgtEl>
                                          <p:spTgt spid="297987">
                                            <p:txEl>
                                              <p:charRg st="68" end="1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51298" name="Rectangle 2"/>
          <p:cNvSpPr>
            <a:spLocks noGrp="1" noChangeArrowheads="1"/>
          </p:cNvSpPr>
          <p:nvPr>
            <p:ph type="title"/>
          </p:nvPr>
        </p:nvSpPr>
        <p:spPr>
          <a:xfrm>
            <a:off x="0" y="266700"/>
            <a:ext cx="9144000" cy="714375"/>
          </a:xfrm>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回顾－输入输出系统</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4151299" name="AutoShape 3"/>
          <p:cNvSpPr>
            <a:spLocks noChangeArrowheads="1"/>
          </p:cNvSpPr>
          <p:nvPr/>
        </p:nvSpPr>
        <p:spPr bwMode="invGray">
          <a:xfrm rot="18577200">
            <a:off x="5115719" y="2743994"/>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00" name="AutoShape 4"/>
          <p:cNvSpPr>
            <a:spLocks noChangeArrowheads="1"/>
          </p:cNvSpPr>
          <p:nvPr/>
        </p:nvSpPr>
        <p:spPr bwMode="invGray">
          <a:xfrm rot="2870955">
            <a:off x="4972844" y="4760119"/>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01" name="AutoShape 5"/>
          <p:cNvSpPr>
            <a:spLocks noChangeArrowheads="1"/>
          </p:cNvSpPr>
          <p:nvPr/>
        </p:nvSpPr>
        <p:spPr bwMode="invGray">
          <a:xfrm rot="14369022">
            <a:off x="3532981" y="2601119"/>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02" name="AutoShape 6"/>
          <p:cNvSpPr>
            <a:spLocks noChangeArrowheads="1"/>
          </p:cNvSpPr>
          <p:nvPr/>
        </p:nvSpPr>
        <p:spPr bwMode="invGray">
          <a:xfrm rot="7749308">
            <a:off x="3604419" y="4833144"/>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03" name="AutoShape 7"/>
          <p:cNvSpPr>
            <a:spLocks noChangeArrowheads="1"/>
          </p:cNvSpPr>
          <p:nvPr/>
        </p:nvSpPr>
        <p:spPr bwMode="invGray">
          <a:xfrm>
            <a:off x="5513388" y="3789363"/>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04" name="AutoShape 8"/>
          <p:cNvSpPr>
            <a:spLocks noChangeArrowheads="1"/>
          </p:cNvSpPr>
          <p:nvPr/>
        </p:nvSpPr>
        <p:spPr bwMode="invGray">
          <a:xfrm rot="10800000">
            <a:off x="2992438" y="3744913"/>
            <a:ext cx="863600" cy="288925"/>
          </a:xfrm>
          <a:prstGeom prst="rightArrow">
            <a:avLst>
              <a:gd name="adj1" fmla="val 35167"/>
              <a:gd name="adj2" fmla="val 121041"/>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05" name="Oval 9"/>
          <p:cNvSpPr>
            <a:spLocks noChangeArrowheads="1"/>
          </p:cNvSpPr>
          <p:nvPr/>
        </p:nvSpPr>
        <p:spPr bwMode="black">
          <a:xfrm>
            <a:off x="2776538" y="1989138"/>
            <a:ext cx="3743325" cy="3744913"/>
          </a:xfrm>
          <a:prstGeom prst="ellipse">
            <a:avLst/>
          </a:prstGeom>
          <a:noFill/>
          <a:ln w="38100" algn="ctr">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82954" name="Group 10"/>
          <p:cNvGrpSpPr/>
          <p:nvPr/>
        </p:nvGrpSpPr>
        <p:grpSpPr>
          <a:xfrm>
            <a:off x="3424238" y="5229225"/>
            <a:ext cx="360362" cy="360363"/>
            <a:chOff x="1565" y="2659"/>
            <a:chExt cx="227" cy="227"/>
          </a:xfrm>
        </p:grpSpPr>
        <p:sp>
          <p:nvSpPr>
            <p:cNvPr id="4151307" name="Oval 11"/>
            <p:cNvSpPr>
              <a:spLocks noChangeArrowheads="1"/>
            </p:cNvSpPr>
            <p:nvPr/>
          </p:nvSpPr>
          <p:spPr bwMode="gray">
            <a:xfrm>
              <a:off x="1565" y="2659"/>
              <a:ext cx="227" cy="227"/>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08" name="Oval 12"/>
            <p:cNvSpPr>
              <a:spLocks noChangeArrowheads="1"/>
            </p:cNvSpPr>
            <p:nvPr/>
          </p:nvSpPr>
          <p:spPr bwMode="gray">
            <a:xfrm>
              <a:off x="1575" y="2678"/>
              <a:ext cx="141" cy="142"/>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82955" name="Group 13"/>
          <p:cNvGrpSpPr/>
          <p:nvPr/>
        </p:nvGrpSpPr>
        <p:grpSpPr>
          <a:xfrm>
            <a:off x="5584825" y="5157788"/>
            <a:ext cx="360363" cy="360362"/>
            <a:chOff x="3515" y="3521"/>
            <a:chExt cx="227" cy="227"/>
          </a:xfrm>
        </p:grpSpPr>
        <p:sp>
          <p:nvSpPr>
            <p:cNvPr id="4151310" name="Oval 14"/>
            <p:cNvSpPr>
              <a:spLocks noChangeArrowheads="1"/>
            </p:cNvSpPr>
            <p:nvPr/>
          </p:nvSpPr>
          <p:spPr bwMode="gray">
            <a:xfrm>
              <a:off x="3515" y="3521"/>
              <a:ext cx="227" cy="227"/>
            </a:xfrm>
            <a:prstGeom prst="ellipse">
              <a:avLst/>
            </a:prstGeom>
            <a:gradFill rotWithShape="1">
              <a:gsLst>
                <a:gs pos="0">
                  <a:srgbClr val="008080"/>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11" name="Oval 15"/>
            <p:cNvSpPr>
              <a:spLocks noChangeArrowheads="1"/>
            </p:cNvSpPr>
            <p:nvPr/>
          </p:nvSpPr>
          <p:spPr bwMode="gray">
            <a:xfrm>
              <a:off x="3525" y="3540"/>
              <a:ext cx="141" cy="142"/>
            </a:xfrm>
            <a:prstGeom prst="ellipse">
              <a:avLst/>
            </a:prstGeom>
            <a:gradFill rotWithShape="1">
              <a:gsLst>
                <a:gs pos="0">
                  <a:srgbClr val="008080">
                    <a:alpha val="0"/>
                  </a:srgbClr>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151312" name="Oval 16"/>
          <p:cNvSpPr>
            <a:spLocks noChangeArrowheads="1"/>
          </p:cNvSpPr>
          <p:nvPr/>
        </p:nvSpPr>
        <p:spPr bwMode="gray">
          <a:xfrm>
            <a:off x="3700463" y="2935288"/>
            <a:ext cx="1944688" cy="19446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13" name="Oval 17"/>
          <p:cNvSpPr>
            <a:spLocks noChangeArrowheads="1"/>
          </p:cNvSpPr>
          <p:nvPr/>
        </p:nvSpPr>
        <p:spPr bwMode="gray">
          <a:xfrm>
            <a:off x="3705225" y="2924175"/>
            <a:ext cx="1944688" cy="1944688"/>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14" name="Oval 18"/>
          <p:cNvSpPr>
            <a:spLocks noChangeArrowheads="1"/>
          </p:cNvSpPr>
          <p:nvPr/>
        </p:nvSpPr>
        <p:spPr bwMode="gray">
          <a:xfrm>
            <a:off x="3827463" y="3062288"/>
            <a:ext cx="1690688" cy="169068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15" name="Oval 19"/>
          <p:cNvSpPr>
            <a:spLocks noChangeArrowheads="1"/>
          </p:cNvSpPr>
          <p:nvPr/>
        </p:nvSpPr>
        <p:spPr bwMode="gray">
          <a:xfrm>
            <a:off x="3810000" y="3035300"/>
            <a:ext cx="1690688" cy="1690688"/>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82960" name="Group 20"/>
          <p:cNvGrpSpPr/>
          <p:nvPr/>
        </p:nvGrpSpPr>
        <p:grpSpPr>
          <a:xfrm>
            <a:off x="3911600" y="3146425"/>
            <a:ext cx="1522413" cy="1522413"/>
            <a:chOff x="2416" y="1846"/>
            <a:chExt cx="959" cy="959"/>
          </a:xfrm>
        </p:grpSpPr>
        <p:sp>
          <p:nvSpPr>
            <p:cNvPr id="4151317" name="Oval 21"/>
            <p:cNvSpPr>
              <a:spLocks noChangeArrowheads="1"/>
            </p:cNvSpPr>
            <p:nvPr/>
          </p:nvSpPr>
          <p:spPr bwMode="gray">
            <a:xfrm>
              <a:off x="2416" y="1846"/>
              <a:ext cx="959" cy="959"/>
            </a:xfrm>
            <a:prstGeom prst="ellipse">
              <a:avLst/>
            </a:prstGeom>
            <a:solidFill>
              <a:srgbClr val="333333"/>
            </a:soli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18" name="Oval 22"/>
            <p:cNvSpPr>
              <a:spLocks noChangeArrowheads="1"/>
            </p:cNvSpPr>
            <p:nvPr/>
          </p:nvSpPr>
          <p:spPr bwMode="gray">
            <a:xfrm>
              <a:off x="2430" y="1858"/>
              <a:ext cx="927" cy="928"/>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19" name="Oval 23"/>
            <p:cNvSpPr>
              <a:spLocks noChangeArrowheads="1"/>
            </p:cNvSpPr>
            <p:nvPr/>
          </p:nvSpPr>
          <p:spPr bwMode="gray">
            <a:xfrm>
              <a:off x="2441" y="1864"/>
              <a:ext cx="906" cy="904"/>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20" name="Oval 24"/>
            <p:cNvSpPr>
              <a:spLocks noChangeArrowheads="1"/>
            </p:cNvSpPr>
            <p:nvPr/>
          </p:nvSpPr>
          <p:spPr bwMode="gray">
            <a:xfrm>
              <a:off x="2451" y="1873"/>
              <a:ext cx="861" cy="845"/>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21" name="Oval 25"/>
            <p:cNvSpPr>
              <a:spLocks noChangeArrowheads="1"/>
            </p:cNvSpPr>
            <p:nvPr/>
          </p:nvSpPr>
          <p:spPr bwMode="gray">
            <a:xfrm>
              <a:off x="2502" y="1896"/>
              <a:ext cx="765" cy="687"/>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82961" name="Text Box 26"/>
          <p:cNvSpPr txBox="1"/>
          <p:nvPr/>
        </p:nvSpPr>
        <p:spPr>
          <a:xfrm>
            <a:off x="4243388" y="3614738"/>
            <a:ext cx="850900" cy="646112"/>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en-US" altLang="zh-CN" dirty="0">
                <a:solidFill>
                  <a:srgbClr val="000000"/>
                </a:solidFill>
                <a:latin typeface="Times New Roman" panose="02020603050405020304" pitchFamily="18" charset="0"/>
                <a:ea typeface="华文中宋" panose="02010600040101010101" pitchFamily="2" charset="-122"/>
              </a:rPr>
              <a:t>I/O</a:t>
            </a:r>
            <a:endParaRPr lang="zh-CN" altLang="en-US" dirty="0">
              <a:solidFill>
                <a:srgbClr val="000000"/>
              </a:solidFill>
              <a:latin typeface="Times New Roman" panose="02020603050405020304" pitchFamily="18" charset="0"/>
              <a:ea typeface="华文中宋" panose="02010600040101010101" pitchFamily="2" charset="-122"/>
            </a:endParaRPr>
          </a:p>
        </p:txBody>
      </p:sp>
      <p:sp>
        <p:nvSpPr>
          <p:cNvPr id="82962" name="Text Box 27"/>
          <p:cNvSpPr txBox="1"/>
          <p:nvPr/>
        </p:nvSpPr>
        <p:spPr>
          <a:xfrm>
            <a:off x="6738938" y="3625850"/>
            <a:ext cx="2116137" cy="523875"/>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800" dirty="0">
                <a:latin typeface="Times New Roman" panose="02020603050405020304" pitchFamily="18" charset="0"/>
              </a:rPr>
              <a:t>外部存储器</a:t>
            </a:r>
            <a:endParaRPr lang="zh-CN" altLang="en-US" sz="2800" dirty="0">
              <a:latin typeface="Times New Roman" panose="02020603050405020304" pitchFamily="18" charset="0"/>
            </a:endParaRPr>
          </a:p>
        </p:txBody>
      </p:sp>
      <p:sp>
        <p:nvSpPr>
          <p:cNvPr id="82963" name="Text Box 28"/>
          <p:cNvSpPr txBox="1"/>
          <p:nvPr/>
        </p:nvSpPr>
        <p:spPr>
          <a:xfrm>
            <a:off x="6132513" y="1954213"/>
            <a:ext cx="1420812" cy="52387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342900" lvl="0" indent="-342900">
              <a:lnSpc>
                <a:spcPct val="100000"/>
              </a:lnSpc>
              <a:spcBef>
                <a:spcPct val="0"/>
              </a:spcBef>
              <a:buClrTx/>
              <a:buFontTx/>
              <a:buNone/>
            </a:pPr>
            <a:r>
              <a:rPr lang="en-US" altLang="zh-CN" sz="2800" dirty="0">
                <a:latin typeface="Times New Roman" panose="02020603050405020304" pitchFamily="18" charset="0"/>
              </a:rPr>
              <a:t>I/O</a:t>
            </a:r>
            <a:r>
              <a:rPr lang="zh-CN" altLang="en-US" sz="2800" dirty="0">
                <a:latin typeface="Times New Roman" panose="02020603050405020304" pitchFamily="18" charset="0"/>
              </a:rPr>
              <a:t>概述</a:t>
            </a:r>
            <a:endParaRPr lang="zh-CN" altLang="en-US" sz="2800" dirty="0">
              <a:latin typeface="Times New Roman" panose="02020603050405020304" pitchFamily="18" charset="0"/>
            </a:endParaRPr>
          </a:p>
        </p:txBody>
      </p:sp>
      <p:sp>
        <p:nvSpPr>
          <p:cNvPr id="82964" name="Text Box 29"/>
          <p:cNvSpPr txBox="1"/>
          <p:nvPr/>
        </p:nvSpPr>
        <p:spPr>
          <a:xfrm>
            <a:off x="-1587" y="3630613"/>
            <a:ext cx="2640012" cy="519112"/>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2800" dirty="0">
                <a:latin typeface="Times New Roman" panose="02020603050405020304" pitchFamily="18" charset="0"/>
              </a:rPr>
              <a:t>中断驱动方式</a:t>
            </a:r>
            <a:endParaRPr lang="zh-CN" altLang="en-US" sz="2800" dirty="0">
              <a:latin typeface="Times New Roman" panose="02020603050405020304" pitchFamily="18" charset="0"/>
            </a:endParaRPr>
          </a:p>
        </p:txBody>
      </p:sp>
      <p:sp>
        <p:nvSpPr>
          <p:cNvPr id="82965" name="Rectangle 30"/>
          <p:cNvSpPr/>
          <p:nvPr/>
        </p:nvSpPr>
        <p:spPr>
          <a:xfrm>
            <a:off x="1077913" y="1811338"/>
            <a:ext cx="2346325" cy="519112"/>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en-US" altLang="zh-CN" sz="2800" dirty="0">
                <a:latin typeface="Times New Roman" panose="02020603050405020304" pitchFamily="18" charset="0"/>
              </a:rPr>
              <a:t>DMA</a:t>
            </a:r>
            <a:r>
              <a:rPr lang="zh-CN" altLang="en-US" sz="2800" dirty="0">
                <a:latin typeface="Times New Roman" panose="02020603050405020304" pitchFamily="18" charset="0"/>
              </a:rPr>
              <a:t>方式</a:t>
            </a:r>
            <a:endParaRPr lang="zh-CN" altLang="en-US" sz="2800" dirty="0">
              <a:latin typeface="Times New Roman" panose="02020603050405020304" pitchFamily="18" charset="0"/>
            </a:endParaRPr>
          </a:p>
        </p:txBody>
      </p:sp>
      <p:grpSp>
        <p:nvGrpSpPr>
          <p:cNvPr id="82966" name="Group 31"/>
          <p:cNvGrpSpPr/>
          <p:nvPr/>
        </p:nvGrpSpPr>
        <p:grpSpPr>
          <a:xfrm>
            <a:off x="2632075" y="3716338"/>
            <a:ext cx="360363" cy="360362"/>
            <a:chOff x="3923" y="2659"/>
            <a:chExt cx="227" cy="227"/>
          </a:xfrm>
        </p:grpSpPr>
        <p:sp>
          <p:nvSpPr>
            <p:cNvPr id="4151328" name="Oval 32"/>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29" name="Oval 33"/>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82967" name="Group 34"/>
          <p:cNvGrpSpPr/>
          <p:nvPr/>
        </p:nvGrpSpPr>
        <p:grpSpPr>
          <a:xfrm>
            <a:off x="5727700" y="2276475"/>
            <a:ext cx="360363" cy="360363"/>
            <a:chOff x="1565" y="2659"/>
            <a:chExt cx="227" cy="227"/>
          </a:xfrm>
        </p:grpSpPr>
        <p:sp>
          <p:nvSpPr>
            <p:cNvPr id="4151331" name="Oval 35"/>
            <p:cNvSpPr>
              <a:spLocks noChangeArrowheads="1"/>
            </p:cNvSpPr>
            <p:nvPr/>
          </p:nvSpPr>
          <p:spPr bwMode="gray">
            <a:xfrm>
              <a:off x="1565" y="2659"/>
              <a:ext cx="227" cy="227"/>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32" name="Oval 36"/>
            <p:cNvSpPr>
              <a:spLocks noChangeArrowheads="1"/>
            </p:cNvSpPr>
            <p:nvPr/>
          </p:nvSpPr>
          <p:spPr bwMode="gray">
            <a:xfrm>
              <a:off x="1575" y="2678"/>
              <a:ext cx="141" cy="142"/>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82968" name="Group 37"/>
          <p:cNvGrpSpPr/>
          <p:nvPr/>
        </p:nvGrpSpPr>
        <p:grpSpPr>
          <a:xfrm>
            <a:off x="6305550" y="3716338"/>
            <a:ext cx="360363" cy="360362"/>
            <a:chOff x="3923" y="2659"/>
            <a:chExt cx="227" cy="227"/>
          </a:xfrm>
        </p:grpSpPr>
        <p:sp>
          <p:nvSpPr>
            <p:cNvPr id="4151334" name="Oval 38"/>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35" name="Oval 39"/>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82969" name="Text Box 40"/>
          <p:cNvSpPr txBox="1"/>
          <p:nvPr/>
        </p:nvSpPr>
        <p:spPr>
          <a:xfrm>
            <a:off x="1011238" y="5589588"/>
            <a:ext cx="2363787" cy="519112"/>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342900" lvl="0" indent="-342900" algn="ctr">
              <a:lnSpc>
                <a:spcPct val="100000"/>
              </a:lnSpc>
              <a:spcBef>
                <a:spcPct val="0"/>
              </a:spcBef>
              <a:buClrTx/>
              <a:buFontTx/>
              <a:buNone/>
            </a:pPr>
            <a:r>
              <a:rPr lang="zh-CN" altLang="en-US" sz="2800" dirty="0">
                <a:latin typeface="Times New Roman" panose="02020603050405020304" pitchFamily="18" charset="0"/>
              </a:rPr>
              <a:t>程序查询方式</a:t>
            </a:r>
            <a:endParaRPr lang="zh-CN" altLang="en-US" sz="2800" dirty="0">
              <a:latin typeface="Times New Roman" panose="02020603050405020304" pitchFamily="18" charset="0"/>
            </a:endParaRPr>
          </a:p>
        </p:txBody>
      </p:sp>
      <p:sp>
        <p:nvSpPr>
          <p:cNvPr id="82970" name="Text Box 41"/>
          <p:cNvSpPr txBox="1"/>
          <p:nvPr/>
        </p:nvSpPr>
        <p:spPr>
          <a:xfrm>
            <a:off x="6022975" y="5584825"/>
            <a:ext cx="1419225" cy="522288"/>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r">
              <a:lnSpc>
                <a:spcPct val="100000"/>
              </a:lnSpc>
              <a:spcBef>
                <a:spcPct val="0"/>
              </a:spcBef>
              <a:buClrTx/>
              <a:buFontTx/>
              <a:buNone/>
            </a:pPr>
            <a:r>
              <a:rPr lang="en-US" altLang="zh-CN" sz="2800" dirty="0">
                <a:latin typeface="Times New Roman" panose="02020603050405020304" pitchFamily="18" charset="0"/>
              </a:rPr>
              <a:t>I/O</a:t>
            </a:r>
            <a:r>
              <a:rPr lang="zh-CN" altLang="en-US" sz="2800" dirty="0">
                <a:latin typeface="Times New Roman" panose="02020603050405020304" pitchFamily="18" charset="0"/>
              </a:rPr>
              <a:t>接口</a:t>
            </a:r>
            <a:endParaRPr lang="zh-CN" altLang="en-US" sz="2800" dirty="0">
              <a:latin typeface="Times New Roman" panose="02020603050405020304" pitchFamily="18" charset="0"/>
            </a:endParaRPr>
          </a:p>
        </p:txBody>
      </p:sp>
      <p:grpSp>
        <p:nvGrpSpPr>
          <p:cNvPr id="82971" name="Group 42"/>
          <p:cNvGrpSpPr/>
          <p:nvPr/>
        </p:nvGrpSpPr>
        <p:grpSpPr>
          <a:xfrm>
            <a:off x="3495675" y="2133600"/>
            <a:ext cx="360363" cy="360363"/>
            <a:chOff x="3515" y="3521"/>
            <a:chExt cx="227" cy="227"/>
          </a:xfrm>
        </p:grpSpPr>
        <p:sp>
          <p:nvSpPr>
            <p:cNvPr id="4151339" name="Oval 43"/>
            <p:cNvSpPr>
              <a:spLocks noChangeArrowheads="1"/>
            </p:cNvSpPr>
            <p:nvPr/>
          </p:nvSpPr>
          <p:spPr bwMode="gray">
            <a:xfrm>
              <a:off x="3515" y="3521"/>
              <a:ext cx="227" cy="227"/>
            </a:xfrm>
            <a:prstGeom prst="ellipse">
              <a:avLst/>
            </a:prstGeom>
            <a:gradFill rotWithShape="1">
              <a:gsLst>
                <a:gs pos="0">
                  <a:srgbClr val="008080"/>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1340" name="Oval 44"/>
            <p:cNvSpPr>
              <a:spLocks noChangeArrowheads="1"/>
            </p:cNvSpPr>
            <p:nvPr/>
          </p:nvSpPr>
          <p:spPr bwMode="gray">
            <a:xfrm>
              <a:off x="3525" y="3540"/>
              <a:ext cx="141" cy="142"/>
            </a:xfrm>
            <a:prstGeom prst="ellipse">
              <a:avLst/>
            </a:prstGeom>
            <a:gradFill rotWithShape="1">
              <a:gsLst>
                <a:gs pos="0">
                  <a:srgbClr val="008080">
                    <a:alpha val="0"/>
                  </a:srgbClr>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p:cNvSpPr>
          <p:nvPr>
            <p:ph type="title"/>
          </p:nvPr>
        </p:nvSpPr>
        <p:spPr>
          <a:xfrm>
            <a:off x="381000" y="285750"/>
            <a:ext cx="8393113" cy="661988"/>
          </a:xfrm>
          <a:ln/>
        </p:spPr>
        <p:txBody>
          <a:bodyPr vert="horz" wrap="square" lIns="91440" tIns="45720" rIns="91440" bIns="45720" anchor="t" anchorCtr="0">
            <a:spAutoFit/>
          </a:bodyPr>
          <a:p>
            <a:r>
              <a:rPr lang="zh-CN" altLang="en-US" sz="4400" dirty="0">
                <a:effectLst/>
              </a:rPr>
              <a:t>回顾</a:t>
            </a:r>
            <a:r>
              <a:rPr lang="en-US" altLang="zh-CN" sz="4400" dirty="0">
                <a:effectLst/>
              </a:rPr>
              <a:t>—</a:t>
            </a:r>
            <a:r>
              <a:rPr lang="zh-CN" altLang="en-US" sz="4400" dirty="0">
                <a:effectLst/>
              </a:rPr>
              <a:t>磁盘和光盘上的信息表示</a:t>
            </a:r>
            <a:endParaRPr lang="zh-CN" altLang="en-US" sz="4400" dirty="0">
              <a:effectLst/>
            </a:endParaRPr>
          </a:p>
        </p:txBody>
      </p:sp>
      <p:sp>
        <p:nvSpPr>
          <p:cNvPr id="331779" name="Rectangle 3"/>
          <p:cNvSpPr>
            <a:spLocks noGrp="1"/>
          </p:cNvSpPr>
          <p:nvPr>
            <p:ph idx="1"/>
          </p:nvPr>
        </p:nvSpPr>
        <p:spPr>
          <a:xfrm>
            <a:off x="496888" y="1189038"/>
            <a:ext cx="8388350" cy="5419725"/>
          </a:xfrm>
          <a:ln/>
        </p:spPr>
        <p:txBody>
          <a:bodyPr vert="horz" wrap="square" lIns="91440" tIns="45720" rIns="91440" bIns="45720" anchor="t" anchorCtr="0">
            <a:spAutoFit/>
          </a:bodyPr>
          <a:p>
            <a:pPr>
              <a:lnSpc>
                <a:spcPct val="110000"/>
              </a:lnSpc>
              <a:spcBef>
                <a:spcPct val="0"/>
              </a:spcBef>
            </a:pPr>
            <a:r>
              <a:rPr lang="zh-CN" altLang="en-US" sz="3200" dirty="0">
                <a:latin typeface="Times New Roman" panose="02020603050405020304" pitchFamily="18" charset="0"/>
              </a:rPr>
              <a:t>磁盘</a:t>
            </a:r>
            <a:endParaRPr lang="zh-CN" altLang="en-US" sz="3200" dirty="0">
              <a:latin typeface="Times New Roman" panose="02020603050405020304" pitchFamily="18" charset="0"/>
            </a:endParaRPr>
          </a:p>
          <a:p>
            <a:pPr lvl="1">
              <a:lnSpc>
                <a:spcPct val="110000"/>
              </a:lnSpc>
              <a:spcBef>
                <a:spcPct val="0"/>
              </a:spcBef>
            </a:pPr>
            <a:r>
              <a:rPr lang="zh-CN" altLang="en-US" sz="2800" dirty="0">
                <a:latin typeface="Times New Roman" panose="02020603050405020304" pitchFamily="18" charset="0"/>
              </a:rPr>
              <a:t>由磁头上的线圈通以不同方向的电流后在运动的磁介质表面形成的不同磁化状态来表示“</a:t>
            </a:r>
            <a:r>
              <a:rPr lang="en-US" altLang="zh-CN" sz="2800" dirty="0">
                <a:latin typeface="Times New Roman" panose="02020603050405020304" pitchFamily="18" charset="0"/>
              </a:rPr>
              <a:t>0”</a:t>
            </a:r>
            <a:r>
              <a:rPr lang="zh-CN" altLang="en-US" sz="2800" dirty="0">
                <a:latin typeface="Times New Roman" panose="02020603050405020304" pitchFamily="18" charset="0"/>
              </a:rPr>
              <a:t>和“</a:t>
            </a:r>
            <a:r>
              <a:rPr lang="en-US" altLang="zh-CN" sz="2800" dirty="0">
                <a:latin typeface="Times New Roman" panose="02020603050405020304" pitchFamily="18" charset="0"/>
              </a:rPr>
              <a:t>1”</a:t>
            </a:r>
            <a:endParaRPr lang="zh-CN" altLang="en-US" sz="2800" dirty="0">
              <a:latin typeface="Times New Roman" panose="02020603050405020304" pitchFamily="18" charset="0"/>
            </a:endParaRPr>
          </a:p>
          <a:p>
            <a:pPr>
              <a:lnSpc>
                <a:spcPct val="110000"/>
              </a:lnSpc>
              <a:spcBef>
                <a:spcPct val="0"/>
              </a:spcBef>
            </a:pPr>
            <a:r>
              <a:rPr lang="zh-CN" altLang="en-US" sz="3200" dirty="0">
                <a:latin typeface="Times New Roman" panose="02020603050405020304" pitchFamily="18" charset="0"/>
              </a:rPr>
              <a:t>光盘</a:t>
            </a:r>
            <a:endParaRPr lang="zh-CN" altLang="en-US" sz="3200" dirty="0">
              <a:latin typeface="Times New Roman" panose="02020603050405020304" pitchFamily="18" charset="0"/>
            </a:endParaRPr>
          </a:p>
          <a:p>
            <a:pPr lvl="1">
              <a:lnSpc>
                <a:spcPct val="110000"/>
              </a:lnSpc>
              <a:spcBef>
                <a:spcPct val="0"/>
              </a:spcBef>
            </a:pPr>
            <a:r>
              <a:rPr lang="zh-CN" altLang="en-US" sz="2800" dirty="0">
                <a:latin typeface="Times New Roman" panose="02020603050405020304" pitchFamily="18" charset="0"/>
              </a:rPr>
              <a:t>利用光盘表面的凹凸性而形成的不同反射特性来表示“</a:t>
            </a:r>
            <a:r>
              <a:rPr lang="en-US" altLang="zh-CN" sz="2800" dirty="0">
                <a:latin typeface="Times New Roman" panose="02020603050405020304" pitchFamily="18" charset="0"/>
              </a:rPr>
              <a:t>0”</a:t>
            </a:r>
            <a:r>
              <a:rPr lang="zh-CN" altLang="en-US" sz="2800" dirty="0">
                <a:latin typeface="Times New Roman" panose="02020603050405020304" pitchFamily="18" charset="0"/>
              </a:rPr>
              <a:t>和“</a:t>
            </a:r>
            <a:r>
              <a:rPr lang="en-US" altLang="zh-CN" sz="2800" dirty="0">
                <a:latin typeface="Times New Roman" panose="02020603050405020304" pitchFamily="18" charset="0"/>
              </a:rPr>
              <a:t>1”</a:t>
            </a:r>
            <a:r>
              <a:rPr lang="zh-CN" altLang="en-US" sz="2800" dirty="0">
                <a:latin typeface="Times New Roman" panose="02020603050405020304" pitchFamily="18" charset="0"/>
              </a:rPr>
              <a:t>。平坦部分和凹凸部分的反射特性不同</a:t>
            </a:r>
            <a:endParaRPr lang="zh-CN" altLang="en-US" sz="2800" dirty="0">
              <a:latin typeface="Times New Roman" panose="02020603050405020304" pitchFamily="18" charset="0"/>
            </a:endParaRPr>
          </a:p>
          <a:p>
            <a:pPr lvl="1">
              <a:lnSpc>
                <a:spcPct val="110000"/>
              </a:lnSpc>
              <a:spcBef>
                <a:spcPct val="0"/>
              </a:spcBef>
            </a:pPr>
            <a:r>
              <a:rPr lang="zh-CN" altLang="en-US" sz="2800" dirty="0">
                <a:latin typeface="Times New Roman" panose="02020603050405020304" pitchFamily="18" charset="0"/>
              </a:rPr>
              <a:t>利用光介质中的晶态和非晶态所形成的不同反射特性来表示“</a:t>
            </a:r>
            <a:r>
              <a:rPr lang="en-US" altLang="zh-CN" sz="2800" dirty="0">
                <a:latin typeface="Times New Roman" panose="02020603050405020304" pitchFamily="18" charset="0"/>
              </a:rPr>
              <a:t>0”</a:t>
            </a:r>
            <a:r>
              <a:rPr lang="zh-CN" altLang="en-US" sz="2800" dirty="0">
                <a:latin typeface="Times New Roman" panose="02020603050405020304" pitchFamily="18" charset="0"/>
              </a:rPr>
              <a:t>和“</a:t>
            </a:r>
            <a:r>
              <a:rPr lang="en-US" altLang="zh-CN" sz="2800" dirty="0">
                <a:latin typeface="Times New Roman" panose="02020603050405020304" pitchFamily="18" charset="0"/>
              </a:rPr>
              <a:t>1”</a:t>
            </a:r>
            <a:r>
              <a:rPr lang="zh-CN" altLang="en-US" sz="2800" dirty="0">
                <a:latin typeface="Times New Roman" panose="02020603050405020304" pitchFamily="18" charset="0"/>
              </a:rPr>
              <a:t>。晶态和非晶态的反射特性不同，等</a:t>
            </a:r>
            <a:endParaRPr lang="zh-CN" altLang="en-US" sz="2800" dirty="0">
              <a:latin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1779">
                                            <p:txEl>
                                              <p:charRg st="49" end="52"/>
                                            </p:txEl>
                                          </p:spTgt>
                                        </p:tgtEl>
                                        <p:attrNameLst>
                                          <p:attrName>style.visibility</p:attrName>
                                        </p:attrNameLst>
                                      </p:cBhvr>
                                      <p:to>
                                        <p:strVal val="visible"/>
                                      </p:to>
                                    </p:set>
                                    <p:animEffect transition="in" filter="blinds(horizontal)">
                                      <p:cBhvr>
                                        <p:cTn id="7" dur="500"/>
                                        <p:tgtEl>
                                          <p:spTgt spid="331779">
                                            <p:txEl>
                                              <p:charRg st="49" end="5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31779">
                                            <p:txEl>
                                              <p:charRg st="52" end="100"/>
                                            </p:txEl>
                                          </p:spTgt>
                                        </p:tgtEl>
                                        <p:attrNameLst>
                                          <p:attrName>style.visibility</p:attrName>
                                        </p:attrNameLst>
                                      </p:cBhvr>
                                      <p:to>
                                        <p:strVal val="visible"/>
                                      </p:to>
                                    </p:set>
                                    <p:animEffect transition="in" filter="blinds(horizontal)">
                                      <p:cBhvr>
                                        <p:cTn id="10" dur="500"/>
                                        <p:tgtEl>
                                          <p:spTgt spid="331779">
                                            <p:txEl>
                                              <p:charRg st="52" end="100"/>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31779">
                                            <p:txEl>
                                              <p:charRg st="100" end="150"/>
                                            </p:txEl>
                                          </p:spTgt>
                                        </p:tgtEl>
                                        <p:attrNameLst>
                                          <p:attrName>style.visibility</p:attrName>
                                        </p:attrNameLst>
                                      </p:cBhvr>
                                      <p:to>
                                        <p:strVal val="visible"/>
                                      </p:to>
                                    </p:set>
                                    <p:animEffect transition="in" filter="blinds(horizontal)">
                                      <p:cBhvr>
                                        <p:cTn id="13" dur="500"/>
                                        <p:tgtEl>
                                          <p:spTgt spid="331779">
                                            <p:txEl>
                                              <p:charRg st="100" end="1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body"/>
          </p:nvPr>
        </p:nvSpPr>
        <p:spPr>
          <a:xfrm>
            <a:off x="503238" y="1233488"/>
            <a:ext cx="8247062" cy="2511425"/>
          </a:xfrm>
          <a:ln/>
        </p:spPr>
        <p:txBody>
          <a:bodyPr vert="horz" wrap="square" lIns="91440" tIns="45720" rIns="91440" bIns="45720" anchor="t" anchorCtr="0">
            <a:spAutoFit/>
          </a:bodyPr>
          <a:p>
            <a:pPr eaLnBrk="1" hangingPunct="1">
              <a:lnSpc>
                <a:spcPct val="110000"/>
              </a:lnSpc>
              <a:spcBef>
                <a:spcPct val="0"/>
              </a:spcBef>
            </a:pPr>
            <a:r>
              <a:rPr lang="zh-CN" altLang="en-US" sz="3200" dirty="0"/>
              <a:t>磁盘上信息存储方式</a:t>
            </a:r>
            <a:endParaRPr lang="zh-CN" altLang="en-US" sz="3200" dirty="0"/>
          </a:p>
          <a:p>
            <a:pPr lvl="1" eaLnBrk="1" hangingPunct="1">
              <a:lnSpc>
                <a:spcPct val="110000"/>
              </a:lnSpc>
              <a:spcBef>
                <a:spcPct val="0"/>
              </a:spcBef>
            </a:pPr>
            <a:r>
              <a:rPr lang="zh-CN" altLang="en-US" sz="2800" dirty="0"/>
              <a:t>磁盘与主存成批交换的信息称为文件，每个文件对应磁盘上的一个或多个信息块，一个信息块即磁盘的一个扇区。文件在磁盘上是按柱面、盘面和扇区三个层次存储</a:t>
            </a:r>
            <a:endParaRPr lang="zh-CN" altLang="en-US" sz="2800" dirty="0"/>
          </a:p>
        </p:txBody>
      </p:sp>
      <p:sp>
        <p:nvSpPr>
          <p:cNvPr id="4192260" name="Rectangle 4"/>
          <p:cNvSpPr>
            <a:spLocks noGrp="1" noChangeArrowheads="1"/>
          </p:cNvSpPr>
          <p:nvPr>
            <p:ph type="title" idx="4294967295"/>
          </p:nvPr>
        </p:nvSpPr>
        <p:spPr>
          <a:xfrm>
            <a:off x="381000" y="211138"/>
            <a:ext cx="8393113" cy="714375"/>
          </a:xfrm>
        </p:spPr>
        <p:txBody>
          <a:bodyPr wrap="square" lIns="91440" tIns="45720" rIns="91440" bIns="45720" numCol="1" anchor="b" anchorCtr="0" compatLnSpc="1">
            <a:spAutoFit/>
          </a:bodyPr>
          <a:lstStyle/>
          <a:p>
            <a:pPr marL="0" marR="0" lvl="0" indent="0" algn="ctr" defTabSz="914400" rtl="0" eaLnBrk="1" fontAlgn="base" latinLnBrk="0" hangingPunct="1">
              <a:lnSpc>
                <a:spcPct val="80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a:t>
            </a: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rPr>
              <a:t>磁盘存储器</a:t>
            </a:r>
            <a:endParaRPr kumimoji="0" lang="en-US" altLang="zh-CN"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endParaRPr>
          </a:p>
        </p:txBody>
      </p:sp>
      <p:pic>
        <p:nvPicPr>
          <p:cNvPr id="86020" name="Picture 7"/>
          <p:cNvPicPr>
            <a:picLocks noChangeAspect="1"/>
          </p:cNvPicPr>
          <p:nvPr/>
        </p:nvPicPr>
        <p:blipFill>
          <a:blip r:embed="rId1"/>
          <a:stretch>
            <a:fillRect/>
          </a:stretch>
        </p:blipFill>
        <p:spPr>
          <a:xfrm>
            <a:off x="1014413" y="3913188"/>
            <a:ext cx="7115175" cy="2619375"/>
          </a:xfrm>
          <a:prstGeom prst="rect">
            <a:avLst/>
          </a:prstGeom>
          <a:noFill/>
          <a:ln w="9525">
            <a:noFill/>
          </a:ln>
        </p:spPr>
      </p:pic>
    </p:spTree>
  </p:cSld>
  <p:clrMapOvr>
    <a:masterClrMapping/>
  </p:clrMapOvr>
  <p:transition spd="slow">
    <p:pull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7042" name="Picture 9" descr="wdfDesktop_CaviarBlack"/>
          <p:cNvPicPr>
            <a:picLocks noChangeAspect="1"/>
          </p:cNvPicPr>
          <p:nvPr/>
        </p:nvPicPr>
        <p:blipFill>
          <a:blip r:embed="rId1"/>
          <a:stretch>
            <a:fillRect/>
          </a:stretch>
        </p:blipFill>
        <p:spPr>
          <a:xfrm>
            <a:off x="7370763" y="1265238"/>
            <a:ext cx="1617662" cy="1770062"/>
          </a:xfrm>
          <a:prstGeom prst="rect">
            <a:avLst/>
          </a:prstGeom>
          <a:noFill/>
          <a:ln w="9525">
            <a:noFill/>
          </a:ln>
        </p:spPr>
      </p:pic>
      <p:grpSp>
        <p:nvGrpSpPr>
          <p:cNvPr id="3" name="组合 5"/>
          <p:cNvGrpSpPr/>
          <p:nvPr/>
        </p:nvGrpSpPr>
        <p:grpSpPr>
          <a:xfrm>
            <a:off x="5146675" y="3952875"/>
            <a:ext cx="3870325" cy="2451100"/>
            <a:chOff x="866022" y="1428736"/>
            <a:chExt cx="7872413" cy="4879975"/>
          </a:xfrm>
        </p:grpSpPr>
        <p:pic>
          <p:nvPicPr>
            <p:cNvPr id="87046" name="Picture 4" descr="TMP35"/>
            <p:cNvPicPr>
              <a:picLocks noChangeAspect="1"/>
            </p:cNvPicPr>
            <p:nvPr/>
          </p:nvPicPr>
          <p:blipFill>
            <a:blip r:embed="rId2">
              <a:lum bright="-14001" contrast="26000"/>
            </a:blip>
            <a:stretch>
              <a:fillRect/>
            </a:stretch>
          </p:blipFill>
          <p:spPr>
            <a:xfrm>
              <a:off x="866022" y="1428736"/>
              <a:ext cx="7872413" cy="4879975"/>
            </a:xfrm>
            <a:prstGeom prst="rect">
              <a:avLst/>
            </a:prstGeom>
            <a:noFill/>
            <a:ln w="9525">
              <a:noFill/>
            </a:ln>
          </p:spPr>
        </p:pic>
        <p:sp>
          <p:nvSpPr>
            <p:cNvPr id="7" name="矩形 6"/>
            <p:cNvSpPr/>
            <p:nvPr/>
          </p:nvSpPr>
          <p:spPr>
            <a:xfrm>
              <a:off x="2713428" y="5784889"/>
              <a:ext cx="789083" cy="3582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grpSp>
      <p:sp>
        <p:nvSpPr>
          <p:cNvPr id="2" name="Rectangle 2"/>
          <p:cNvSpPr>
            <a:spLocks noGrp="1" noChangeArrowheads="1"/>
          </p:cNvSpPr>
          <p:nvPr>
            <p:ph idx="1"/>
          </p:nvPr>
        </p:nvSpPr>
        <p:spPr>
          <a:xfrm>
            <a:off x="381000" y="1138238"/>
            <a:ext cx="8023225" cy="5448300"/>
          </a:xfrm>
        </p:spPr>
        <p:txBody>
          <a:bodyPr vert="horz" wrap="square" lIns="91440" tIns="45720" rIns="91440" bIns="45720" numCol="1" anchor="t" anchorCtr="0" compatLnSpc="1">
            <a:spAutoFit/>
          </a:bodyPr>
          <a:lstStyle/>
          <a:p>
            <a:pPr marL="171450" marR="0" lvl="0" indent="-26987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3"/>
              </a:buBlip>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存储介质</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的</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特点</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625475" marR="0" lvl="1" indent="-259080"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4"/>
              </a:buBlip>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仅有两种稳定的物理状态</a:t>
            </a:r>
            <a:endParaRPr kumimoji="0" lang="zh-CN" altLang="en-US" sz="2400" b="1" i="0" u="none" strike="noStrike" kern="0" cap="none" spc="0" normalizeH="0" baseline="0" noProof="0" dirty="0" smtClean="0">
              <a:ln>
                <a:noFill/>
              </a:ln>
              <a:solidFill>
                <a:schemeClr val="tx1"/>
              </a:solidFill>
              <a:effectLst/>
              <a:uLnTx/>
              <a:uFillTx/>
              <a:latin typeface="+mn-lt"/>
              <a:ea typeface="+mn-ea"/>
            </a:endParaRPr>
          </a:p>
          <a:p>
            <a:pPr marL="625475" marR="0" lvl="1" indent="-259080"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4"/>
              </a:buBlip>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方便地检测出属于哪种稳定状态</a:t>
            </a:r>
            <a:endParaRPr kumimoji="0" lang="zh-CN" altLang="en-US" sz="2400" b="1" i="0" u="none" strike="noStrike" kern="0" cap="none" spc="0" normalizeH="0" baseline="0" noProof="0" dirty="0" smtClean="0">
              <a:ln>
                <a:noFill/>
              </a:ln>
              <a:solidFill>
                <a:schemeClr val="tx1"/>
              </a:solidFill>
              <a:effectLst/>
              <a:uLnTx/>
              <a:uFillTx/>
              <a:latin typeface="+mn-lt"/>
              <a:ea typeface="+mn-ea"/>
            </a:endParaRPr>
          </a:p>
          <a:p>
            <a:pPr marL="625475" marR="0" lvl="1" indent="-259080"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4"/>
              </a:buBlip>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两种稳定状态之间容易相互转换</a:t>
            </a:r>
            <a:endParaRPr kumimoji="0" lang="en-US" altLang="zh-CN" sz="2400" b="1" i="0" u="none" strike="noStrike" kern="0" cap="none" spc="0" normalizeH="0" baseline="0" noProof="0" dirty="0" smtClean="0">
              <a:ln>
                <a:noFill/>
              </a:ln>
              <a:solidFill>
                <a:schemeClr val="tx1"/>
              </a:solidFill>
              <a:effectLst/>
              <a:uLnTx/>
              <a:uFillTx/>
              <a:latin typeface="+mn-lt"/>
              <a:ea typeface="+mn-ea"/>
            </a:endParaRPr>
          </a:p>
          <a:p>
            <a:pPr marL="360680" marR="0" lvl="1" indent="-360680" algn="l" defTabSz="914400" rtl="0" eaLnBrk="0" fontAlgn="base" latinLnBrk="0" hangingPunct="0">
              <a:lnSpc>
                <a:spcPct val="100000"/>
              </a:lnSpc>
              <a:spcBef>
                <a:spcPts val="0"/>
              </a:spcBef>
              <a:spcAft>
                <a:spcPct val="0"/>
              </a:spcAft>
              <a:buClr>
                <a:schemeClr val="tx1"/>
              </a:buClr>
              <a:buSzTx/>
              <a:buFont typeface="+mj-lt"/>
              <a:buAutoNum type="arabicPeriod"/>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数字</a:t>
            </a:r>
            <a:r>
              <a:rPr kumimoji="0" lang="zh-CN" altLang="en-US" sz="2800" b="1" i="0" u="none" strike="noStrike" kern="0" cap="none" spc="0" normalizeH="0" baseline="0" noProof="0" dirty="0">
                <a:ln>
                  <a:noFill/>
                </a:ln>
                <a:solidFill>
                  <a:schemeClr val="tx1"/>
                </a:solidFill>
                <a:effectLst/>
                <a:uLnTx/>
                <a:uFillTx/>
                <a:latin typeface="+mn-lt"/>
                <a:ea typeface="+mn-ea"/>
              </a:rPr>
              <a:t>的</a:t>
            </a:r>
            <a:r>
              <a:rPr kumimoji="0" lang="zh-CN" altLang="en-US" sz="2800" b="1" i="0" u="none" strike="noStrike" kern="0" cap="none" spc="0" normalizeH="0" baseline="0" noProof="0" dirty="0" smtClean="0">
                <a:ln>
                  <a:noFill/>
                </a:ln>
                <a:solidFill>
                  <a:schemeClr val="tx1"/>
                </a:solidFill>
                <a:effectLst/>
                <a:uLnTx/>
                <a:uFillTx/>
                <a:latin typeface="+mn-lt"/>
                <a:ea typeface="+mn-ea"/>
              </a:rPr>
              <a:t>磁记录介质</a:t>
            </a:r>
            <a:endParaRPr kumimoji="0" lang="zh-CN" altLang="en-US" sz="2800" b="1" i="0" u="none" strike="noStrike" kern="0" cap="none" spc="0" normalizeH="0" baseline="0" noProof="0" dirty="0" smtClean="0">
              <a:ln>
                <a:noFill/>
              </a:ln>
              <a:solidFill>
                <a:schemeClr val="tx1"/>
              </a:solidFill>
              <a:effectLst/>
              <a:uLnTx/>
              <a:uFillTx/>
              <a:latin typeface="+mn-lt"/>
              <a:ea typeface="+mn-ea"/>
            </a:endParaRPr>
          </a:p>
          <a:p>
            <a:pPr marL="622300" marR="0" lvl="1" indent="-26225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4"/>
              </a:buBlip>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记录二进制信息“1”、“0”</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简称磁介质</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22300" marR="0" lvl="1" indent="-26225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4"/>
              </a:buBlip>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将矩磁材料涂敷、电镀或沉积在基体上</a:t>
            </a:r>
            <a:endParaRPr kumimoji="0" lang="zh-CN" altLang="en-US" sz="2400" b="1" i="0" u="none" strike="noStrike" kern="0" cap="none" spc="0" normalizeH="0" baseline="0" noProof="0" dirty="0" smtClean="0">
              <a:ln>
                <a:noFill/>
              </a:ln>
              <a:solidFill>
                <a:schemeClr val="tx1"/>
              </a:solidFill>
              <a:effectLst/>
              <a:uLnTx/>
              <a:uFillTx/>
              <a:latin typeface="+mn-lt"/>
              <a:ea typeface="+mn-ea"/>
            </a:endParaRPr>
          </a:p>
          <a:p>
            <a:pPr marL="622300" marR="0" lvl="1" indent="-262255" algn="l" defTabSz="914400" rtl="0" eaLnBrk="0" fontAlgn="base" latinLnBrk="0" hangingPunct="0">
              <a:lnSpc>
                <a:spcPct val="100000"/>
              </a:lnSpc>
              <a:spcBef>
                <a:spcPts val="0"/>
              </a:spcBef>
              <a:spcAft>
                <a:spcPct val="0"/>
              </a:spcAft>
              <a:buClr>
                <a:schemeClr val="tx2"/>
              </a:buClr>
              <a:buSzTx/>
              <a:buFont typeface="Wingdings" panose="05000000000000000000" pitchFamily="2" charset="2"/>
              <a:buBlip>
                <a:blip r:embed="rId4"/>
              </a:buBlip>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对磁记录介质的要求</a:t>
            </a:r>
            <a:endParaRPr kumimoji="0" lang="zh-CN" altLang="en-US" sz="2400" b="1" i="0" u="none" strike="noStrike" kern="0" cap="none" spc="0" normalizeH="0" baseline="0" noProof="0" dirty="0" smtClean="0">
              <a:ln>
                <a:noFill/>
              </a:ln>
              <a:solidFill>
                <a:schemeClr val="tx1"/>
              </a:solidFill>
              <a:effectLst/>
              <a:uLnTx/>
              <a:uFillTx/>
              <a:latin typeface="+mn-lt"/>
              <a:ea typeface="+mn-ea"/>
            </a:endParaRPr>
          </a:p>
          <a:p>
            <a:pPr marL="981075" marR="0" lvl="2" indent="-266700" algn="l"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0" lang="zh-CN" altLang="en-US" sz="2200" b="1" i="0" u="none" strike="noStrike" kern="0" cap="none" spc="0" normalizeH="0" baseline="0" noProof="0" dirty="0" smtClean="0">
                <a:ln>
                  <a:noFill/>
                </a:ln>
                <a:solidFill>
                  <a:schemeClr val="tx1"/>
                </a:solidFill>
                <a:effectLst/>
                <a:uLnTx/>
                <a:uFillTx/>
                <a:latin typeface="+mn-lt"/>
                <a:ea typeface="+mn-ea"/>
              </a:rPr>
              <a:t>硬磁特性好</a:t>
            </a:r>
            <a:endParaRPr kumimoji="0" lang="zh-CN" altLang="en-US" sz="2200" b="1" i="0" u="none" strike="noStrike" kern="0" cap="none" spc="0" normalizeH="0" baseline="0" noProof="0" dirty="0" smtClean="0">
              <a:ln>
                <a:noFill/>
              </a:ln>
              <a:solidFill>
                <a:schemeClr val="tx1"/>
              </a:solidFill>
              <a:effectLst/>
              <a:uLnTx/>
              <a:uFillTx/>
              <a:latin typeface="+mn-lt"/>
              <a:ea typeface="+mn-ea"/>
            </a:endParaRPr>
          </a:p>
          <a:p>
            <a:pPr marL="1316355" marR="0" lvl="3" indent="-266700" algn="l" defTabSz="914400" rtl="0" eaLnBrk="0" fontAlgn="base" latinLnBrk="0" hangingPunct="0">
              <a:lnSpc>
                <a:spcPct val="100000"/>
              </a:lnSpc>
              <a:spcBef>
                <a:spcPts val="0"/>
              </a:spcBef>
              <a:spcAft>
                <a:spcPct val="0"/>
              </a:spcAft>
              <a:buClr>
                <a:schemeClr val="tx2"/>
              </a:buClr>
              <a:buSzPct val="75000"/>
              <a:buFont typeface="Wingdings" panose="05000000000000000000" pitchFamily="2" charset="2"/>
              <a:buChar char="u"/>
              <a:defRPr/>
            </a:pPr>
            <a:r>
              <a:rPr kumimoji="0" lang="zh-CN" altLang="en-US" sz="2000" b="1" i="0" u="none" strike="noStrike" kern="0" cap="none" spc="0" normalizeH="0" baseline="0" noProof="0" dirty="0" smtClean="0">
                <a:ln>
                  <a:noFill/>
                </a:ln>
                <a:solidFill>
                  <a:schemeClr val="tx1"/>
                </a:solidFill>
                <a:effectLst/>
                <a:uLnTx/>
                <a:uFillTx/>
                <a:latin typeface="+mn-lt"/>
                <a:ea typeface="+mn-ea"/>
              </a:rPr>
              <a:t>不易去磁，剩磁</a:t>
            </a:r>
            <a:r>
              <a:rPr kumimoji="0" lang="en-US" altLang="zh-CN" sz="2000" b="1" i="0" u="none" strike="noStrike" kern="0" cap="none" spc="0" normalizeH="0" baseline="0" noProof="0" dirty="0" smtClean="0">
                <a:ln>
                  <a:noFill/>
                </a:ln>
                <a:solidFill>
                  <a:schemeClr val="tx1"/>
                </a:solidFill>
                <a:effectLst/>
                <a:uLnTx/>
                <a:uFillTx/>
                <a:latin typeface="+mn-lt"/>
                <a:ea typeface="+mn-ea"/>
              </a:rPr>
              <a:t>B</a:t>
            </a:r>
            <a:r>
              <a:rPr kumimoji="0" lang="en-US" altLang="zh-CN" sz="2000" b="1" i="0" u="none" strike="noStrike" kern="0" cap="none" spc="0" normalizeH="0" baseline="-25000" noProof="0" dirty="0" smtClean="0">
                <a:ln>
                  <a:noFill/>
                </a:ln>
                <a:solidFill>
                  <a:schemeClr val="tx1"/>
                </a:solidFill>
                <a:effectLst/>
                <a:uLnTx/>
                <a:uFillTx/>
                <a:latin typeface="+mn-lt"/>
                <a:ea typeface="+mn-ea"/>
              </a:rPr>
              <a:t>r</a:t>
            </a:r>
            <a:r>
              <a:rPr kumimoji="0" lang="zh-CN" altLang="en-US" sz="2000" b="1" i="0" u="none" strike="noStrike" kern="0" cap="none" spc="0" normalizeH="0" baseline="0" noProof="0" dirty="0" smtClean="0">
                <a:ln>
                  <a:noFill/>
                </a:ln>
                <a:solidFill>
                  <a:schemeClr val="tx1"/>
                </a:solidFill>
                <a:effectLst/>
                <a:uLnTx/>
                <a:uFillTx/>
                <a:latin typeface="+mn-lt"/>
                <a:ea typeface="+mn-ea"/>
              </a:rPr>
              <a:t>大</a:t>
            </a:r>
            <a:endParaRPr kumimoji="0" lang="zh-CN" altLang="en-US" sz="2000" b="1" i="0" u="none" strike="noStrike" kern="0" cap="none" spc="0" normalizeH="0" baseline="0" noProof="0" dirty="0" smtClean="0">
              <a:ln>
                <a:noFill/>
              </a:ln>
              <a:solidFill>
                <a:schemeClr val="tx1"/>
              </a:solidFill>
              <a:effectLst/>
              <a:uLnTx/>
              <a:uFillTx/>
              <a:latin typeface="+mn-lt"/>
              <a:ea typeface="+mn-ea"/>
            </a:endParaRPr>
          </a:p>
          <a:p>
            <a:pPr marL="1316355" marR="0" lvl="3" indent="-266700" algn="l" defTabSz="914400" rtl="0" eaLnBrk="0" fontAlgn="base" latinLnBrk="0" hangingPunct="0">
              <a:lnSpc>
                <a:spcPct val="100000"/>
              </a:lnSpc>
              <a:spcBef>
                <a:spcPts val="0"/>
              </a:spcBef>
              <a:spcAft>
                <a:spcPct val="0"/>
              </a:spcAft>
              <a:buClr>
                <a:schemeClr val="tx2"/>
              </a:buClr>
              <a:buSzPct val="75000"/>
              <a:buFont typeface="Wingdings" panose="05000000000000000000" pitchFamily="2" charset="2"/>
              <a:buChar char="u"/>
              <a:defRPr/>
            </a:pPr>
            <a:r>
              <a:rPr kumimoji="0" lang="zh-CN" altLang="en-US" sz="2000" b="1" i="0" u="none" strike="noStrike" kern="0" cap="none" spc="0" normalizeH="0" baseline="0" noProof="0" dirty="0" smtClean="0">
                <a:ln>
                  <a:noFill/>
                </a:ln>
                <a:solidFill>
                  <a:schemeClr val="tx1"/>
                </a:solidFill>
                <a:effectLst/>
                <a:uLnTx/>
                <a:uFillTx/>
                <a:latin typeface="+mn-lt"/>
                <a:ea typeface="+mn-ea"/>
              </a:rPr>
              <a:t>不易磁化，矫顽力</a:t>
            </a:r>
            <a:r>
              <a:rPr kumimoji="0" lang="en-US" altLang="zh-CN" sz="2000" b="1" i="0" u="none" strike="noStrike" kern="0" cap="none" spc="0" normalizeH="0" baseline="0" noProof="0" dirty="0" smtClean="0">
                <a:ln>
                  <a:noFill/>
                </a:ln>
                <a:solidFill>
                  <a:schemeClr val="tx1"/>
                </a:solidFill>
                <a:effectLst/>
                <a:uLnTx/>
                <a:uFillTx/>
                <a:latin typeface="+mn-lt"/>
                <a:ea typeface="+mn-ea"/>
              </a:rPr>
              <a:t>H</a:t>
            </a:r>
            <a:r>
              <a:rPr kumimoji="0" lang="en-US" altLang="zh-CN" sz="2000" b="1" i="0" u="none" strike="noStrike" kern="0" cap="none" spc="0" normalizeH="0" baseline="-25000" noProof="0" dirty="0" smtClean="0">
                <a:ln>
                  <a:noFill/>
                </a:ln>
                <a:solidFill>
                  <a:schemeClr val="tx1"/>
                </a:solidFill>
                <a:effectLst/>
                <a:uLnTx/>
                <a:uFillTx/>
                <a:latin typeface="+mn-lt"/>
                <a:ea typeface="+mn-ea"/>
              </a:rPr>
              <a:t>C</a:t>
            </a:r>
            <a:r>
              <a:rPr kumimoji="0" lang="zh-CN" altLang="en-US" sz="2000" b="1" i="0" u="none" strike="noStrike" kern="0" cap="none" spc="0" normalizeH="0" baseline="0" noProof="0" dirty="0" smtClean="0">
                <a:ln>
                  <a:noFill/>
                </a:ln>
                <a:solidFill>
                  <a:schemeClr val="tx1"/>
                </a:solidFill>
                <a:effectLst/>
                <a:uLnTx/>
                <a:uFillTx/>
                <a:latin typeface="+mn-lt"/>
                <a:ea typeface="+mn-ea"/>
              </a:rPr>
              <a:t>适当</a:t>
            </a:r>
            <a:endParaRPr kumimoji="0" lang="zh-CN" altLang="en-US" sz="2000" b="1" i="0" u="none" strike="noStrike" kern="0" cap="none" spc="0" normalizeH="0" baseline="0" noProof="0" dirty="0" smtClean="0">
              <a:ln>
                <a:noFill/>
              </a:ln>
              <a:solidFill>
                <a:schemeClr val="tx1"/>
              </a:solidFill>
              <a:effectLst/>
              <a:uLnTx/>
              <a:uFillTx/>
              <a:latin typeface="+mn-lt"/>
              <a:ea typeface="+mn-ea"/>
            </a:endParaRPr>
          </a:p>
          <a:p>
            <a:pPr marL="1316355" marR="0" lvl="3" indent="-266700" algn="l" defTabSz="914400" rtl="0" eaLnBrk="0" fontAlgn="base" latinLnBrk="0" hangingPunct="0">
              <a:lnSpc>
                <a:spcPct val="100000"/>
              </a:lnSpc>
              <a:spcBef>
                <a:spcPts val="0"/>
              </a:spcBef>
              <a:spcAft>
                <a:spcPct val="0"/>
              </a:spcAft>
              <a:buClr>
                <a:schemeClr val="tx2"/>
              </a:buClr>
              <a:buSzPct val="75000"/>
              <a:buFont typeface="Wingdings" panose="05000000000000000000" pitchFamily="2" charset="2"/>
              <a:buChar char="u"/>
              <a:defRPr/>
            </a:pPr>
            <a:r>
              <a:rPr kumimoji="0" lang="zh-CN" altLang="en-US" sz="2000" b="1" i="0" u="none" strike="noStrike" kern="0" cap="none" spc="0" normalizeH="0" baseline="0" noProof="0" dirty="0" smtClean="0">
                <a:ln>
                  <a:noFill/>
                </a:ln>
                <a:solidFill>
                  <a:schemeClr val="tx1"/>
                </a:solidFill>
                <a:effectLst/>
                <a:uLnTx/>
                <a:uFillTx/>
                <a:latin typeface="+mn-lt"/>
                <a:ea typeface="+mn-ea"/>
              </a:rPr>
              <a:t>良好的矩形特性</a:t>
            </a:r>
            <a:endParaRPr kumimoji="0" lang="zh-CN" altLang="en-US" sz="2000" b="1" i="0" u="none" strike="noStrike" kern="0" cap="none" spc="0" normalizeH="0" baseline="0" noProof="0" dirty="0" smtClean="0">
              <a:ln>
                <a:noFill/>
              </a:ln>
              <a:solidFill>
                <a:schemeClr val="tx1"/>
              </a:solidFill>
              <a:effectLst/>
              <a:uLnTx/>
              <a:uFillTx/>
              <a:latin typeface="+mn-lt"/>
              <a:ea typeface="+mn-ea"/>
            </a:endParaRPr>
          </a:p>
          <a:p>
            <a:pPr marL="981075" marR="0" lvl="2" indent="-266700" algn="l"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0" lang="zh-CN" altLang="en-US" sz="2200" b="1" i="0" u="none" strike="noStrike" kern="0" cap="none" spc="0" normalizeH="0" baseline="0" noProof="0" dirty="0" smtClean="0">
                <a:ln>
                  <a:noFill/>
                </a:ln>
                <a:solidFill>
                  <a:schemeClr val="tx1"/>
                </a:solidFill>
                <a:effectLst/>
                <a:uLnTx/>
                <a:uFillTx/>
                <a:latin typeface="+mn-lt"/>
                <a:ea typeface="+mn-ea"/>
              </a:rPr>
              <a:t>磁层厚度薄且均匀，表面光滑</a:t>
            </a:r>
            <a:endParaRPr kumimoji="0" lang="en-US" altLang="zh-CN" sz="2200" b="1" i="0" u="none" strike="noStrike" kern="0" cap="none" spc="0" normalizeH="0" baseline="0" noProof="0" dirty="0" smtClean="0">
              <a:ln>
                <a:noFill/>
              </a:ln>
              <a:solidFill>
                <a:schemeClr val="tx1"/>
              </a:solidFill>
              <a:effectLst/>
              <a:uLnTx/>
              <a:uFillTx/>
              <a:latin typeface="+mn-lt"/>
              <a:ea typeface="+mn-ea"/>
            </a:endParaRPr>
          </a:p>
          <a:p>
            <a:pPr marL="981075" marR="0" lvl="2" indent="-266700" algn="l"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Char char="§"/>
              <a:defRPr/>
            </a:pPr>
            <a:r>
              <a:rPr kumimoji="0" lang="zh-CN" altLang="en-US" sz="2200" b="1" i="0" u="none" strike="noStrike" kern="0" cap="none" spc="0" normalizeH="0" baseline="0" noProof="0" dirty="0" smtClean="0">
                <a:ln>
                  <a:noFill/>
                </a:ln>
                <a:solidFill>
                  <a:schemeClr val="tx1"/>
                </a:solidFill>
                <a:effectLst/>
                <a:uLnTx/>
                <a:uFillTx/>
                <a:latin typeface="+mn-lt"/>
                <a:ea typeface="+mn-ea"/>
              </a:rPr>
              <a:t>磁介质温度特性好，耐磨，抗</a:t>
            </a:r>
            <a:endParaRPr kumimoji="0" lang="en-US" altLang="zh-CN" sz="2200" b="1" i="0" u="none" strike="noStrike" kern="0" cap="none" spc="0" normalizeH="0" baseline="0" noProof="0" dirty="0" smtClean="0">
              <a:ln>
                <a:noFill/>
              </a:ln>
              <a:solidFill>
                <a:schemeClr val="tx1"/>
              </a:solidFill>
              <a:effectLst/>
              <a:uLnTx/>
              <a:uFillTx/>
              <a:latin typeface="+mn-lt"/>
              <a:ea typeface="+mn-ea"/>
            </a:endParaRPr>
          </a:p>
          <a:p>
            <a:pPr marL="714375" marR="0" lvl="2" indent="268605" algn="l" defTabSz="914400" rtl="0" eaLnBrk="0" fontAlgn="base" latinLnBrk="0" hangingPunct="0">
              <a:lnSpc>
                <a:spcPct val="100000"/>
              </a:lnSpc>
              <a:spcBef>
                <a:spcPts val="0"/>
              </a:spcBef>
              <a:spcAft>
                <a:spcPct val="0"/>
              </a:spcAft>
              <a:buClr>
                <a:schemeClr val="folHlink"/>
              </a:buClr>
              <a:buSzTx/>
              <a:buFont typeface="Symbol" panose="05050102010706020507" pitchFamily="18" charset="2"/>
              <a:buNone/>
              <a:defRPr/>
            </a:pPr>
            <a:r>
              <a:rPr kumimoji="0" lang="zh-CN" altLang="en-US" sz="2200" b="1" i="0" u="none" strike="noStrike" kern="0" cap="none" spc="0" normalizeH="0" baseline="0" noProof="0" dirty="0" smtClean="0">
                <a:ln>
                  <a:noFill/>
                </a:ln>
                <a:solidFill>
                  <a:schemeClr val="tx1"/>
                </a:solidFill>
                <a:effectLst/>
                <a:uLnTx/>
                <a:uFillTx/>
                <a:latin typeface="+mn-lt"/>
                <a:ea typeface="+mn-ea"/>
              </a:rPr>
              <a:t>冲击</a:t>
            </a:r>
            <a:endParaRPr kumimoji="0" lang="zh-CN" altLang="en-US" sz="2200" b="1" i="0" u="none" strike="noStrike" kern="0" cap="none" spc="0" normalizeH="0" baseline="0" noProof="0" dirty="0" smtClean="0">
              <a:ln>
                <a:noFill/>
              </a:ln>
              <a:solidFill>
                <a:schemeClr val="tx1"/>
              </a:solidFill>
              <a:effectLst/>
              <a:uLnTx/>
              <a:uFillTx/>
              <a:latin typeface="+mn-lt"/>
              <a:ea typeface="+mn-ea"/>
            </a:endParaRPr>
          </a:p>
        </p:txBody>
      </p:sp>
      <p:sp>
        <p:nvSpPr>
          <p:cNvPr id="8" name="Rectangle 4"/>
          <p:cNvSpPr txBox="1">
            <a:spLocks noChangeArrowheads="1"/>
          </p:cNvSpPr>
          <p:nvPr/>
        </p:nvSpPr>
        <p:spPr bwMode="auto">
          <a:xfrm>
            <a:off x="381000" y="219075"/>
            <a:ext cx="8393113" cy="706438"/>
          </a:xfrm>
          <a:prstGeom prst="rect">
            <a:avLst/>
          </a:prstGeom>
          <a:noFill/>
          <a:ln w="9525">
            <a:noFill/>
            <a:miter lim="800000"/>
          </a:ln>
          <a:effectLst/>
        </p:spPr>
        <p:txBody>
          <a:bodyPr vert="horz" wrap="square" lIns="91440" tIns="45720" rIns="91440" bIns="45720" numCol="1" anchor="b" anchorCtr="0" compatLnSpc="1">
            <a:spAutoFit/>
          </a:bodyPr>
          <a:lstStyle>
            <a:lvl1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mj-lt"/>
                <a:ea typeface="+mj-ea"/>
                <a:cs typeface="+mj-cs"/>
              </a:defRPr>
            </a:lvl1pPr>
            <a:lvl2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2pPr>
            <a:lvl3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3pPr>
            <a:lvl4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4pPr>
            <a:lvl5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5pPr>
            <a:lvl6pPr marL="4572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6pPr>
            <a:lvl7pPr marL="9144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7pPr>
            <a:lvl8pPr marL="13716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8pPr>
            <a:lvl9pPr marL="18288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a:t>
            </a:r>
            <a:r>
              <a:rPr kumimoji="0" lang="zh-CN" altLang="en-US" sz="4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磁记录</a:t>
            </a:r>
            <a:r>
              <a:rPr kumimoji="0" lang="zh-CN" altLang="en-US" sz="4800" b="1" i="0" u="none" strike="noStrike" kern="120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原理</a:t>
            </a:r>
            <a:endParaRPr kumimoji="0" lang="en-US" altLang="zh-CN" sz="4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endParaRPr>
          </a:p>
        </p:txBody>
      </p:sp>
    </p:spTree>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charRg st="99" end="109"/>
                                            </p:txEl>
                                          </p:spTgt>
                                        </p:tgtEl>
                                        <p:attrNameLst>
                                          <p:attrName>style.visibility</p:attrName>
                                        </p:attrNameLst>
                                      </p:cBhvr>
                                      <p:to>
                                        <p:strVal val="visible"/>
                                      </p:to>
                                    </p:set>
                                    <p:animEffect transition="in" filter="blinds(horizontal)">
                                      <p:cBhvr>
                                        <p:cTn id="7" dur="500"/>
                                        <p:tgtEl>
                                          <p:spTgt spid="2">
                                            <p:txEl>
                                              <p:charRg st="99" end="109"/>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charRg st="109" end="115"/>
                                            </p:txEl>
                                          </p:spTgt>
                                        </p:tgtEl>
                                        <p:attrNameLst>
                                          <p:attrName>style.visibility</p:attrName>
                                        </p:attrNameLst>
                                      </p:cBhvr>
                                      <p:to>
                                        <p:strVal val="visible"/>
                                      </p:to>
                                    </p:set>
                                    <p:animEffect transition="in" filter="blinds(horizontal)">
                                      <p:cBhvr>
                                        <p:cTn id="10" dur="500"/>
                                        <p:tgtEl>
                                          <p:spTgt spid="2">
                                            <p:txEl>
                                              <p:charRg st="109" end="11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
                                            <p:txEl>
                                              <p:charRg st="115" end="126"/>
                                            </p:txEl>
                                          </p:spTgt>
                                        </p:tgtEl>
                                        <p:attrNameLst>
                                          <p:attrName>style.visibility</p:attrName>
                                        </p:attrNameLst>
                                      </p:cBhvr>
                                      <p:to>
                                        <p:strVal val="visible"/>
                                      </p:to>
                                    </p:set>
                                    <p:animEffect transition="in" filter="blinds(horizontal)">
                                      <p:cBhvr>
                                        <p:cTn id="13" dur="500"/>
                                        <p:tgtEl>
                                          <p:spTgt spid="2">
                                            <p:txEl>
                                              <p:charRg st="115" end="12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
                                            <p:txEl>
                                              <p:charRg st="126" end="139"/>
                                            </p:txEl>
                                          </p:spTgt>
                                        </p:tgtEl>
                                        <p:attrNameLst>
                                          <p:attrName>style.visibility</p:attrName>
                                        </p:attrNameLst>
                                      </p:cBhvr>
                                      <p:to>
                                        <p:strVal val="visible"/>
                                      </p:to>
                                    </p:set>
                                    <p:animEffect transition="in" filter="blinds(horizontal)">
                                      <p:cBhvr>
                                        <p:cTn id="16" dur="500"/>
                                        <p:tgtEl>
                                          <p:spTgt spid="2">
                                            <p:txEl>
                                              <p:charRg st="126" end="139"/>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
                                            <p:txEl>
                                              <p:charRg st="139" end="147"/>
                                            </p:txEl>
                                          </p:spTgt>
                                        </p:tgtEl>
                                        <p:attrNameLst>
                                          <p:attrName>style.visibility</p:attrName>
                                        </p:attrNameLst>
                                      </p:cBhvr>
                                      <p:to>
                                        <p:strVal val="visible"/>
                                      </p:to>
                                    </p:set>
                                    <p:animEffect transition="in" filter="blinds(horizontal)">
                                      <p:cBhvr>
                                        <p:cTn id="19" dur="500"/>
                                        <p:tgtEl>
                                          <p:spTgt spid="2">
                                            <p:txEl>
                                              <p:charRg st="139" end="147"/>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2">
                                            <p:txEl>
                                              <p:charRg st="147" end="161"/>
                                            </p:txEl>
                                          </p:spTgt>
                                        </p:tgtEl>
                                        <p:attrNameLst>
                                          <p:attrName>style.visibility</p:attrName>
                                        </p:attrNameLst>
                                      </p:cBhvr>
                                      <p:to>
                                        <p:strVal val="visible"/>
                                      </p:to>
                                    </p:set>
                                    <p:animEffect transition="in" filter="blinds(horizontal)">
                                      <p:cBhvr>
                                        <p:cTn id="22" dur="500"/>
                                        <p:tgtEl>
                                          <p:spTgt spid="2">
                                            <p:txEl>
                                              <p:charRg st="147" end="161"/>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2">
                                            <p:txEl>
                                              <p:charRg st="161" end="175"/>
                                            </p:txEl>
                                          </p:spTgt>
                                        </p:tgtEl>
                                        <p:attrNameLst>
                                          <p:attrName>style.visibility</p:attrName>
                                        </p:attrNameLst>
                                      </p:cBhvr>
                                      <p:to>
                                        <p:strVal val="visible"/>
                                      </p:to>
                                    </p:set>
                                    <p:animEffect transition="in" filter="blinds(horizontal)">
                                      <p:cBhvr>
                                        <p:cTn id="25" dur="500"/>
                                        <p:tgtEl>
                                          <p:spTgt spid="2">
                                            <p:txEl>
                                              <p:charRg st="161" end="175"/>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
                                            <p:txEl>
                                              <p:charRg st="175" end="178"/>
                                            </p:txEl>
                                          </p:spTgt>
                                        </p:tgtEl>
                                        <p:attrNameLst>
                                          <p:attrName>style.visibility</p:attrName>
                                        </p:attrNameLst>
                                      </p:cBhvr>
                                      <p:to>
                                        <p:strVal val="visible"/>
                                      </p:to>
                                    </p:set>
                                    <p:animEffect transition="in" filter="blinds(horizontal)">
                                      <p:cBhvr>
                                        <p:cTn id="28" dur="500"/>
                                        <p:tgtEl>
                                          <p:spTgt spid="2">
                                            <p:txEl>
                                              <p:charRg st="175" end="178"/>
                                            </p:txEl>
                                          </p:spTgt>
                                        </p:tgtEl>
                                      </p:cBhvr>
                                    </p:animEffect>
                                  </p:childTnLst>
                                </p:cTn>
                              </p:par>
                            </p:childTnLst>
                          </p:cTn>
                        </p:par>
                        <p:par>
                          <p:cTn id="29" fill="hold">
                            <p:stCondLst>
                              <p:cond delay="500"/>
                            </p:stCondLst>
                            <p:childTnLst>
                              <p:par>
                                <p:cTn id="30" presetID="3" presetClass="entr" presetSubtype="10"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linds(horizontal)">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9090" name="Picture 4"/>
          <p:cNvPicPr>
            <a:picLocks noChangeAspect="1"/>
          </p:cNvPicPr>
          <p:nvPr/>
        </p:nvPicPr>
        <p:blipFill>
          <a:blip r:embed="rId1"/>
          <a:stretch>
            <a:fillRect/>
          </a:stretch>
        </p:blipFill>
        <p:spPr>
          <a:xfrm>
            <a:off x="5087938" y="919163"/>
            <a:ext cx="4014787" cy="2470150"/>
          </a:xfrm>
          <a:prstGeom prst="rect">
            <a:avLst/>
          </a:prstGeom>
          <a:noFill/>
          <a:ln w="9525">
            <a:noFill/>
          </a:ln>
        </p:spPr>
      </p:pic>
      <p:sp>
        <p:nvSpPr>
          <p:cNvPr id="28674" name="Rectangle 2"/>
          <p:cNvSpPr>
            <a:spLocks noGrp="1" noChangeArrowheads="1"/>
          </p:cNvSpPr>
          <p:nvPr>
            <p:ph idx="1"/>
          </p:nvPr>
        </p:nvSpPr>
        <p:spPr>
          <a:xfrm>
            <a:off x="428625" y="982663"/>
            <a:ext cx="8410575" cy="5400675"/>
          </a:xfrm>
        </p:spPr>
        <p:txBody>
          <a:bodyPr vert="horz" wrap="square" lIns="91440" tIns="45720" rIns="91440" bIns="45720" numCol="1" anchor="t" anchorCtr="0" compatLnSpc="1">
            <a:spAutoFit/>
          </a:bodyPr>
          <a:lstStyle/>
          <a:p>
            <a:pPr marL="460375" marR="0" lvl="0" indent="-460375" algn="l" defTabSz="914400" rtl="0" eaLnBrk="0" fontAlgn="base" latinLnBrk="0" hangingPunct="0">
              <a:lnSpc>
                <a:spcPct val="100000"/>
              </a:lnSpc>
              <a:spcBef>
                <a:spcPts val="3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2、磁头</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535305" marR="0" lvl="1" indent="-262255" algn="l" defTabSz="914400" rtl="0" eaLnBrk="0" fontAlgn="base" latinLnBrk="0" hangingPunct="0">
              <a:lnSpc>
                <a:spcPct val="100000"/>
              </a:lnSpc>
              <a:spcBef>
                <a:spcPts val="300"/>
              </a:spcBef>
              <a:spcAft>
                <a:spcPct val="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基本原理：将电脉冲</a:t>
            </a:r>
            <a:r>
              <a:rPr kumimoji="0" lang="zh-CN" altLang="en-US" sz="2800" b="1" i="0" u="none" strike="noStrike" kern="0" cap="none" spc="0" normalizeH="0" baseline="0" noProof="0" dirty="0">
                <a:ln>
                  <a:noFill/>
                </a:ln>
                <a:solidFill>
                  <a:schemeClr val="tx1"/>
                </a:solidFill>
                <a:effectLst/>
                <a:uLnTx/>
                <a:uFillTx/>
                <a:latin typeface="+mn-lt"/>
                <a:ea typeface="+mn-ea"/>
              </a:rPr>
              <a:t>信号</a:t>
            </a: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535305" marR="0" lvl="1" indent="0" algn="l" defTabSz="914400" rtl="0" eaLnBrk="0" fontAlgn="base" latinLnBrk="0" hangingPunct="0">
              <a:lnSpc>
                <a:spcPct val="100000"/>
              </a:lnSpc>
              <a:spcBef>
                <a:spcPts val="3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转换成介质上的</a:t>
            </a:r>
            <a:r>
              <a:rPr kumimoji="0" lang="zh-CN" altLang="en-US" sz="2800" b="1" i="0" u="none" strike="noStrike" kern="0" cap="none" spc="0" normalizeH="0" baseline="0" noProof="0" dirty="0">
                <a:ln>
                  <a:noFill/>
                </a:ln>
                <a:solidFill>
                  <a:schemeClr val="tx1"/>
                </a:solidFill>
                <a:effectLst/>
                <a:uLnTx/>
                <a:uFillTx/>
                <a:latin typeface="+mn-lt"/>
                <a:ea typeface="+mn-ea"/>
              </a:rPr>
              <a:t>磁化状态</a:t>
            </a: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535305" marR="0" lvl="1" indent="0" algn="l" defTabSz="914400" rtl="0" eaLnBrk="0" fontAlgn="base" latinLnBrk="0" hangingPunct="0">
              <a:lnSpc>
                <a:spcPct val="100000"/>
              </a:lnSpc>
              <a:spcBef>
                <a:spcPts val="3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，又将介质</a:t>
            </a:r>
            <a:r>
              <a:rPr kumimoji="0" lang="zh-CN" altLang="en-US" sz="2800" b="1" i="0" u="none" strike="noStrike" kern="0" cap="none" spc="0" normalizeH="0" baseline="0" noProof="0" dirty="0">
                <a:ln>
                  <a:noFill/>
                </a:ln>
                <a:solidFill>
                  <a:schemeClr val="tx1"/>
                </a:solidFill>
                <a:effectLst/>
                <a:uLnTx/>
                <a:uFillTx/>
                <a:latin typeface="+mn-lt"/>
                <a:ea typeface="+mn-ea"/>
              </a:rPr>
              <a:t>的磁化状态</a:t>
            </a:r>
            <a:r>
              <a:rPr kumimoji="0" lang="zh-CN" altLang="en-US" sz="2800" b="1" i="0" u="none" strike="noStrike" kern="0" cap="none" spc="0" normalizeH="0" baseline="0" noProof="0" dirty="0" smtClean="0">
                <a:ln>
                  <a:noFill/>
                </a:ln>
                <a:solidFill>
                  <a:schemeClr val="tx1"/>
                </a:solidFill>
                <a:effectLst/>
                <a:uLnTx/>
                <a:uFillTx/>
                <a:latin typeface="+mn-lt"/>
                <a:ea typeface="+mn-ea"/>
              </a:rPr>
              <a:t>转</a:t>
            </a: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535305" marR="0" lvl="1" indent="0" algn="l" defTabSz="914400" rtl="0" eaLnBrk="0" fontAlgn="base" latinLnBrk="0" hangingPunct="0">
              <a:lnSpc>
                <a:spcPct val="100000"/>
              </a:lnSpc>
              <a:spcBef>
                <a:spcPts val="30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换成电脉冲信号，是</a:t>
            </a:r>
            <a:r>
              <a:rPr kumimoji="0" lang="zh-CN" altLang="en-US" sz="2800" b="1" i="0" u="none" strike="noStrike" kern="0" cap="none" spc="0" normalizeH="0" baseline="0" noProof="0" dirty="0" smtClean="0">
                <a:ln>
                  <a:noFill/>
                </a:ln>
                <a:solidFill>
                  <a:srgbClr val="FF0000"/>
                </a:solidFill>
                <a:effectLst/>
                <a:uLnTx/>
                <a:uFillTx/>
                <a:latin typeface="+mn-lt"/>
                <a:ea typeface="+mn-ea"/>
              </a:rPr>
              <a:t>电磁转换的桥梁</a:t>
            </a:r>
            <a:endParaRPr kumimoji="0" lang="en-US" altLang="zh-CN" sz="2800" b="1" i="0" u="none" strike="noStrike" kern="0" cap="none" spc="0" normalizeH="0" baseline="0" noProof="0" dirty="0" smtClean="0">
              <a:ln>
                <a:noFill/>
              </a:ln>
              <a:solidFill>
                <a:srgbClr val="FF0000"/>
              </a:solidFill>
              <a:effectLst/>
              <a:uLnTx/>
              <a:uFillTx/>
              <a:latin typeface="+mn-lt"/>
              <a:ea typeface="+mn-ea"/>
            </a:endParaRPr>
          </a:p>
          <a:p>
            <a:pPr marL="535305" marR="0" lvl="1" indent="-262255" algn="l" defTabSz="914400" rtl="0" eaLnBrk="0" fontAlgn="base" latinLnBrk="0" hangingPunct="0">
              <a:lnSpc>
                <a:spcPct val="100000"/>
              </a:lnSpc>
              <a:spcBef>
                <a:spcPts val="300"/>
              </a:spcBef>
              <a:spcAft>
                <a:spcPct val="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是对磁介质实现信息写入、读出、抹去等功能的</a:t>
            </a:r>
            <a:r>
              <a:rPr kumimoji="0" lang="zh-CN" altLang="en-US" sz="2800" b="1" i="0" u="none" strike="noStrike" kern="0" cap="none" spc="0" normalizeH="0" baseline="0" noProof="0" dirty="0" smtClean="0">
                <a:ln>
                  <a:noFill/>
                </a:ln>
                <a:solidFill>
                  <a:srgbClr val="FF0000"/>
                </a:solidFill>
                <a:effectLst/>
                <a:uLnTx/>
                <a:uFillTx/>
                <a:latin typeface="+mn-lt"/>
                <a:ea typeface="+mn-ea"/>
              </a:rPr>
              <a:t>电磁转换装置，</a:t>
            </a:r>
            <a:r>
              <a:rPr kumimoji="0" lang="zh-CN" altLang="en-US" sz="2800" b="1" i="0" u="none" strike="noStrike" kern="0" cap="none" spc="0" normalizeH="0" baseline="0" noProof="0" dirty="0" smtClean="0">
                <a:ln>
                  <a:noFill/>
                </a:ln>
                <a:solidFill>
                  <a:schemeClr val="tx1"/>
                </a:solidFill>
                <a:effectLst/>
                <a:uLnTx/>
                <a:uFillTx/>
                <a:latin typeface="+mn-lt"/>
                <a:ea typeface="+mn-ea"/>
              </a:rPr>
              <a:t>是磁表面存储器的关键部件之一</a:t>
            </a:r>
            <a:endParaRPr kumimoji="0" lang="zh-CN" altLang="en-US" sz="2800" b="1" i="0" u="none" strike="noStrike" kern="0" cap="none" spc="0" normalizeH="0" baseline="0" noProof="0" dirty="0" smtClean="0">
              <a:ln>
                <a:noFill/>
              </a:ln>
              <a:solidFill>
                <a:srgbClr val="FF3300"/>
              </a:solidFill>
              <a:effectLst/>
              <a:uLnTx/>
              <a:uFillTx/>
              <a:latin typeface="+mn-lt"/>
              <a:ea typeface="+mn-ea"/>
            </a:endParaRPr>
          </a:p>
          <a:p>
            <a:pPr marL="535305" marR="0" lvl="1" indent="-262255" algn="l" defTabSz="914400" rtl="0" eaLnBrk="0" fontAlgn="base" latinLnBrk="0" hangingPunct="0">
              <a:lnSpc>
                <a:spcPct val="100000"/>
              </a:lnSpc>
              <a:spcBef>
                <a:spcPts val="300"/>
              </a:spcBef>
              <a:spcAft>
                <a:spcPct val="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磁头材料的要求 ：</a:t>
            </a:r>
            <a:endParaRPr kumimoji="0" lang="zh-CN" altLang="en-US" sz="2800" b="1" i="0" u="none" strike="noStrike" kern="0" cap="none" spc="0" normalizeH="0" baseline="0" noProof="0" dirty="0" smtClean="0">
              <a:ln>
                <a:noFill/>
              </a:ln>
              <a:solidFill>
                <a:schemeClr val="tx1"/>
              </a:solidFill>
              <a:effectLst/>
              <a:uLnTx/>
              <a:uFillTx/>
              <a:latin typeface="+mn-lt"/>
              <a:ea typeface="+mn-ea"/>
            </a:endParaRPr>
          </a:p>
          <a:p>
            <a:pPr marL="981075" marR="0" lvl="2" indent="-266700" algn="l" defTabSz="914400" rtl="0" eaLnBrk="0" fontAlgn="base" latinLnBrk="0" hangingPunct="0">
              <a:lnSpc>
                <a:spcPct val="100000"/>
              </a:lnSpc>
              <a:spcBef>
                <a:spcPts val="300"/>
              </a:spcBef>
              <a:spcAft>
                <a:spcPct val="0"/>
              </a:spcAft>
              <a:buClr>
                <a:schemeClr val="folHlink"/>
              </a:buClr>
              <a:buSzTx/>
              <a:buFont typeface="Symbol" panose="05050102010706020507" pitchFamily="18" charset="2"/>
              <a:buChar char="§"/>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软磁材料：容易磁化，容易去磁，</a:t>
            </a:r>
            <a:r>
              <a:rPr kumimoji="0" lang="en-US" altLang="zh-CN" sz="2400" b="1" i="0" u="none" strike="noStrike" kern="0" cap="none" spc="0" normalizeH="0" baseline="0" noProof="0" dirty="0" smtClean="0">
                <a:ln>
                  <a:noFill/>
                </a:ln>
                <a:solidFill>
                  <a:schemeClr val="tx1"/>
                </a:solidFill>
                <a:effectLst/>
                <a:uLnTx/>
                <a:uFillTx/>
                <a:latin typeface="+mn-lt"/>
                <a:ea typeface="+mn-ea"/>
              </a:rPr>
              <a:t>B</a:t>
            </a:r>
            <a:r>
              <a:rPr kumimoji="0" lang="en-US" altLang="zh-CN" sz="2400" b="1" i="0" u="none" strike="noStrike" kern="0" cap="none" spc="0" normalizeH="0" baseline="-25000" noProof="0" dirty="0" smtClean="0">
                <a:ln>
                  <a:noFill/>
                </a:ln>
                <a:solidFill>
                  <a:schemeClr val="tx1"/>
                </a:solidFill>
                <a:effectLst/>
                <a:uLnTx/>
                <a:uFillTx/>
                <a:latin typeface="+mn-lt"/>
                <a:ea typeface="+mn-ea"/>
              </a:rPr>
              <a:t>r </a:t>
            </a:r>
            <a:r>
              <a:rPr kumimoji="0" lang="en-US" altLang="zh-CN" sz="2400" b="1" i="0" u="none" strike="noStrike" kern="0" cap="none" spc="0" normalizeH="0" baseline="0" noProof="0" dirty="0" smtClean="0">
                <a:ln>
                  <a:noFill/>
                </a:ln>
                <a:solidFill>
                  <a:schemeClr val="tx1"/>
                </a:solidFill>
                <a:effectLst/>
                <a:uLnTx/>
                <a:uFillTx/>
                <a:latin typeface="+mn-lt"/>
                <a:ea typeface="+mn-ea"/>
              </a:rPr>
              <a:t>、</a:t>
            </a:r>
            <a:r>
              <a:rPr kumimoji="0" lang="en-US" altLang="zh-CN" sz="2400" b="1" i="0" u="none" strike="noStrike" kern="0" cap="none" spc="0" normalizeH="0" baseline="0" noProof="0" dirty="0" err="1" smtClean="0">
                <a:ln>
                  <a:noFill/>
                </a:ln>
                <a:solidFill>
                  <a:schemeClr val="tx1"/>
                </a:solidFill>
                <a:effectLst/>
                <a:uLnTx/>
                <a:uFillTx/>
                <a:latin typeface="+mn-lt"/>
                <a:ea typeface="+mn-ea"/>
              </a:rPr>
              <a:t>H</a:t>
            </a:r>
            <a:r>
              <a:rPr kumimoji="0" lang="en-US" altLang="zh-CN" sz="2400" b="1" i="0" u="none" strike="noStrike" kern="0" cap="none" spc="0" normalizeH="0" baseline="-25000" noProof="0" dirty="0" err="1" smtClean="0">
                <a:ln>
                  <a:noFill/>
                </a:ln>
                <a:solidFill>
                  <a:schemeClr val="tx1"/>
                </a:solidFill>
                <a:effectLst/>
                <a:uLnTx/>
                <a:uFillTx/>
                <a:latin typeface="+mn-lt"/>
                <a:ea typeface="+mn-ea"/>
              </a:rPr>
              <a:t>c</a:t>
            </a:r>
            <a:r>
              <a:rPr kumimoji="0" lang="zh-CN" altLang="en-US" sz="2400" b="1" i="0" u="none" strike="noStrike" kern="0" cap="none" spc="0" normalizeH="0" baseline="0" noProof="0" dirty="0" smtClean="0">
                <a:ln>
                  <a:noFill/>
                </a:ln>
                <a:solidFill>
                  <a:schemeClr val="tx1"/>
                </a:solidFill>
                <a:effectLst/>
                <a:uLnTx/>
                <a:uFillTx/>
                <a:latin typeface="+mn-lt"/>
                <a:ea typeface="+mn-ea"/>
              </a:rPr>
              <a:t>很小</a:t>
            </a:r>
            <a:endParaRPr kumimoji="0" lang="en-US" altLang="zh-CN" sz="2400" b="1" i="0" u="none" strike="noStrike" kern="0" cap="none" spc="0" normalizeH="0" baseline="0" noProof="0" dirty="0" smtClean="0">
              <a:ln>
                <a:noFill/>
              </a:ln>
              <a:solidFill>
                <a:schemeClr val="tx1"/>
              </a:solidFill>
              <a:effectLst/>
              <a:uLnTx/>
              <a:uFillTx/>
              <a:latin typeface="+mn-lt"/>
              <a:ea typeface="+mn-ea"/>
            </a:endParaRPr>
          </a:p>
          <a:p>
            <a:pPr marL="981075" marR="0" lvl="2" indent="-266700" algn="l" defTabSz="914400" rtl="0" eaLnBrk="0" fontAlgn="base" latinLnBrk="0" hangingPunct="0">
              <a:lnSpc>
                <a:spcPct val="100000"/>
              </a:lnSpc>
              <a:spcBef>
                <a:spcPts val="300"/>
              </a:spcBef>
              <a:spcAft>
                <a:spcPct val="0"/>
              </a:spcAft>
              <a:buClr>
                <a:schemeClr val="folHlink"/>
              </a:buClr>
              <a:buSzTx/>
              <a:buFont typeface="Symbol" panose="05050102010706020507" pitchFamily="18" charset="2"/>
              <a:buChar char="§"/>
              <a:defRPr/>
            </a:pPr>
            <a:r>
              <a:rPr kumimoji="0" lang="en-US" altLang="zh-CN" sz="2400" b="1" i="0" u="none" strike="noStrike" kern="0" cap="none" spc="0" normalizeH="0" baseline="0" noProof="0" dirty="0" smtClean="0">
                <a:ln>
                  <a:noFill/>
                </a:ln>
                <a:solidFill>
                  <a:schemeClr val="tx1"/>
                </a:solidFill>
                <a:effectLst/>
                <a:uLnTx/>
                <a:uFillTx/>
                <a:latin typeface="+mn-lt"/>
                <a:ea typeface="+mn-ea"/>
              </a:rPr>
              <a:t>B</a:t>
            </a:r>
            <a:r>
              <a:rPr kumimoji="0" lang="en-US" altLang="zh-CN" sz="2400" b="1" i="0" u="none" strike="noStrike" kern="0" cap="none" spc="0" normalizeH="0" baseline="-25000" noProof="0" dirty="0" smtClean="0">
                <a:ln>
                  <a:noFill/>
                </a:ln>
                <a:solidFill>
                  <a:schemeClr val="tx1"/>
                </a:solidFill>
                <a:effectLst/>
                <a:uLnTx/>
                <a:uFillTx/>
                <a:latin typeface="+mn-lt"/>
                <a:ea typeface="+mn-ea"/>
              </a:rPr>
              <a:t>m</a:t>
            </a:r>
            <a:r>
              <a:rPr kumimoji="0" lang="en-US" altLang="zh-CN" sz="2400" b="1" i="0" u="none" strike="noStrike" kern="0" cap="none" spc="0" normalizeH="0" baseline="0" noProof="0" dirty="0" smtClean="0">
                <a:ln>
                  <a:noFill/>
                </a:ln>
                <a:solidFill>
                  <a:schemeClr val="tx1"/>
                </a:solidFill>
                <a:effectLst/>
                <a:uLnTx/>
                <a:uFillTx/>
                <a:latin typeface="+mn-lt"/>
                <a:ea typeface="+mn-ea"/>
              </a:rPr>
              <a:t>(</a:t>
            </a:r>
            <a:r>
              <a:rPr kumimoji="0" lang="zh-CN" altLang="en-US" sz="2400" b="1" i="0" u="none" strike="noStrike" kern="0" cap="none" spc="0" normalizeH="0" baseline="0" noProof="0" dirty="0" smtClean="0">
                <a:ln>
                  <a:noFill/>
                </a:ln>
                <a:solidFill>
                  <a:schemeClr val="tx1"/>
                </a:solidFill>
                <a:effectLst/>
                <a:uLnTx/>
                <a:uFillTx/>
                <a:latin typeface="+mn-lt"/>
                <a:ea typeface="+mn-ea"/>
              </a:rPr>
              <a:t>磁感应强度</a:t>
            </a:r>
            <a:r>
              <a:rPr kumimoji="0" lang="en-US" altLang="zh-CN" sz="2400" b="1" i="0" u="none" strike="noStrike" kern="0" cap="none" spc="0" normalizeH="0" baseline="0" noProof="0" dirty="0" smtClean="0">
                <a:ln>
                  <a:noFill/>
                </a:ln>
                <a:solidFill>
                  <a:schemeClr val="tx1"/>
                </a:solidFill>
                <a:effectLst/>
                <a:uLnTx/>
                <a:uFillTx/>
                <a:latin typeface="+mn-lt"/>
                <a:ea typeface="+mn-ea"/>
              </a:rPr>
              <a:t>)</a:t>
            </a:r>
            <a:r>
              <a:rPr kumimoji="0" lang="zh-CN" altLang="en-US" sz="2400" b="1" i="0" u="none" strike="noStrike" kern="0" cap="none" spc="0" normalizeH="0" baseline="0" noProof="0" dirty="0" smtClean="0">
                <a:ln>
                  <a:noFill/>
                </a:ln>
                <a:solidFill>
                  <a:schemeClr val="tx1"/>
                </a:solidFill>
                <a:effectLst/>
                <a:uLnTx/>
                <a:uFillTx/>
                <a:latin typeface="+mn-lt"/>
                <a:ea typeface="+mn-ea"/>
              </a:rPr>
              <a:t>要大：以产生强写入磁场</a:t>
            </a:r>
            <a:endParaRPr kumimoji="0" lang="zh-CN" altLang="en-US" sz="2400" b="1" i="0" u="none" strike="noStrike" kern="0" cap="none" spc="0" normalizeH="0" baseline="0" noProof="0" dirty="0" smtClean="0">
              <a:ln>
                <a:noFill/>
              </a:ln>
              <a:solidFill>
                <a:schemeClr val="tx1"/>
              </a:solidFill>
              <a:effectLst/>
              <a:uLnTx/>
              <a:uFillTx/>
              <a:latin typeface="+mn-lt"/>
              <a:ea typeface="+mn-ea"/>
            </a:endParaRPr>
          </a:p>
          <a:p>
            <a:pPr marL="981075" marR="0" lvl="2" indent="-266700" algn="l" defTabSz="914400" rtl="0" eaLnBrk="0" fontAlgn="base" latinLnBrk="0" hangingPunct="0">
              <a:lnSpc>
                <a:spcPct val="100000"/>
              </a:lnSpc>
              <a:spcBef>
                <a:spcPts val="300"/>
              </a:spcBef>
              <a:spcAft>
                <a:spcPct val="0"/>
              </a:spcAft>
              <a:buClr>
                <a:schemeClr val="folHlink"/>
              </a:buClr>
              <a:buSzTx/>
              <a:buFont typeface="Symbol" panose="05050102010706020507" pitchFamily="18" charset="2"/>
              <a:buChar char="§"/>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高导磁率，以利读出；低电阻率，减少磁损耗</a:t>
            </a:r>
            <a:endParaRPr kumimoji="0" lang="zh-CN" altLang="en-US" sz="2400" b="1" i="0" u="none" strike="noStrike" kern="0" cap="none" spc="0" normalizeH="0" baseline="0" noProof="0" dirty="0" smtClean="0">
              <a:ln>
                <a:noFill/>
              </a:ln>
              <a:solidFill>
                <a:schemeClr val="tx1"/>
              </a:solidFill>
              <a:effectLst/>
              <a:uLnTx/>
              <a:uFillTx/>
              <a:latin typeface="+mn-lt"/>
              <a:ea typeface="+mn-ea"/>
            </a:endParaRPr>
          </a:p>
          <a:p>
            <a:pPr marL="981075" marR="0" lvl="2" indent="-266700" algn="l" defTabSz="914400" rtl="0" eaLnBrk="0" fontAlgn="base" latinLnBrk="0" hangingPunct="0">
              <a:lnSpc>
                <a:spcPct val="100000"/>
              </a:lnSpc>
              <a:spcBef>
                <a:spcPts val="300"/>
              </a:spcBef>
              <a:spcAft>
                <a:spcPct val="0"/>
              </a:spcAft>
              <a:buClr>
                <a:schemeClr val="folHlink"/>
              </a:buClr>
              <a:buSzTx/>
              <a:buFont typeface="Symbol" panose="05050102010706020507" pitchFamily="18" charset="2"/>
              <a:buChar char="§"/>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高频率特性好，硬度大，居里点高，加工特性好</a:t>
            </a:r>
            <a:endParaRPr kumimoji="0" lang="zh-CN" altLang="en-US" sz="2400" b="1" i="0" u="none" strike="noStrike" kern="0" cap="none" spc="0" normalizeH="0" baseline="0" noProof="0" dirty="0" smtClean="0">
              <a:ln>
                <a:noFill/>
              </a:ln>
              <a:solidFill>
                <a:schemeClr val="tx1"/>
              </a:solidFill>
              <a:effectLst/>
              <a:uLnTx/>
              <a:uFillTx/>
              <a:latin typeface="+mn-lt"/>
              <a:ea typeface="+mn-ea"/>
            </a:endParaRPr>
          </a:p>
        </p:txBody>
      </p:sp>
      <p:sp>
        <p:nvSpPr>
          <p:cNvPr id="6" name="Rectangle 4"/>
          <p:cNvSpPr txBox="1">
            <a:spLocks noGrp="1" noChangeArrowheads="1"/>
          </p:cNvSpPr>
          <p:nvPr>
            <p:ph type="title"/>
          </p:nvPr>
        </p:nvSpPr>
        <p:spPr>
          <a:xfrm>
            <a:off x="381000" y="142875"/>
            <a:ext cx="8393113" cy="682625"/>
          </a:xfrm>
        </p:spPr>
        <p:txBody>
          <a:bodyPr vert="horz" wrap="square" lIns="91440" tIns="45720" rIns="91440" bIns="45720" numCol="1" anchor="b" anchorCtr="0" compatLnSpc="1">
            <a:spAutoFit/>
          </a:bodyPr>
          <a:lstStyle>
            <a:lvl1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mj-lt"/>
                <a:ea typeface="+mj-ea"/>
                <a:cs typeface="+mj-cs"/>
              </a:defRPr>
            </a:lvl1pPr>
            <a:lvl2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2pPr>
            <a:lvl3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3pPr>
            <a:lvl4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4pPr>
            <a:lvl5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5pPr>
            <a:lvl6pPr marL="4572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6pPr>
            <a:lvl7pPr marL="9144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7pPr>
            <a:lvl8pPr marL="13716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8pPr>
            <a:lvl9pPr marL="18288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a:t>
            </a:r>
            <a:r>
              <a:rPr kumimoji="0" lang="zh-CN" altLang="en-US"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磁记录</a:t>
            </a: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原理</a:t>
            </a:r>
            <a:endParaRPr kumimoji="0" lang="en-US" altLang="zh-CN"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endParaRPr>
          </a:p>
        </p:txBody>
      </p:sp>
    </p:spTree>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74">
                                            <p:txEl>
                                              <p:charRg st="101" end="111"/>
                                            </p:txEl>
                                          </p:spTgt>
                                        </p:tgtEl>
                                        <p:attrNameLst>
                                          <p:attrName>style.visibility</p:attrName>
                                        </p:attrNameLst>
                                      </p:cBhvr>
                                      <p:to>
                                        <p:strVal val="visible"/>
                                      </p:to>
                                    </p:set>
                                    <p:animEffect transition="in" filter="blinds(horizontal)">
                                      <p:cBhvr>
                                        <p:cTn id="7" dur="500"/>
                                        <p:tgtEl>
                                          <p:spTgt spid="28674">
                                            <p:txEl>
                                              <p:charRg st="101" end="11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8674">
                                            <p:txEl>
                                              <p:charRg st="111" end="135"/>
                                            </p:txEl>
                                          </p:spTgt>
                                        </p:tgtEl>
                                        <p:attrNameLst>
                                          <p:attrName>style.visibility</p:attrName>
                                        </p:attrNameLst>
                                      </p:cBhvr>
                                      <p:to>
                                        <p:strVal val="visible"/>
                                      </p:to>
                                    </p:set>
                                    <p:animEffect transition="in" filter="blinds(horizontal)">
                                      <p:cBhvr>
                                        <p:cTn id="10" dur="500"/>
                                        <p:tgtEl>
                                          <p:spTgt spid="28674">
                                            <p:txEl>
                                              <p:charRg st="111" end="13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8674">
                                            <p:txEl>
                                              <p:charRg st="135" end="156"/>
                                            </p:txEl>
                                          </p:spTgt>
                                        </p:tgtEl>
                                        <p:attrNameLst>
                                          <p:attrName>style.visibility</p:attrName>
                                        </p:attrNameLst>
                                      </p:cBhvr>
                                      <p:to>
                                        <p:strVal val="visible"/>
                                      </p:to>
                                    </p:set>
                                    <p:animEffect transition="in" filter="blinds(horizontal)">
                                      <p:cBhvr>
                                        <p:cTn id="13" dur="500"/>
                                        <p:tgtEl>
                                          <p:spTgt spid="28674">
                                            <p:txEl>
                                              <p:charRg st="135" end="15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8674">
                                            <p:txEl>
                                              <p:charRg st="156" end="177"/>
                                            </p:txEl>
                                          </p:spTgt>
                                        </p:tgtEl>
                                        <p:attrNameLst>
                                          <p:attrName>style.visibility</p:attrName>
                                        </p:attrNameLst>
                                      </p:cBhvr>
                                      <p:to>
                                        <p:strVal val="visible"/>
                                      </p:to>
                                    </p:set>
                                    <p:animEffect transition="in" filter="blinds(horizontal)">
                                      <p:cBhvr>
                                        <p:cTn id="16" dur="500"/>
                                        <p:tgtEl>
                                          <p:spTgt spid="28674">
                                            <p:txEl>
                                              <p:charRg st="156" end="177"/>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8674">
                                            <p:txEl>
                                              <p:charRg st="177" end="199"/>
                                            </p:txEl>
                                          </p:spTgt>
                                        </p:tgtEl>
                                        <p:attrNameLst>
                                          <p:attrName>style.visibility</p:attrName>
                                        </p:attrNameLst>
                                      </p:cBhvr>
                                      <p:to>
                                        <p:strVal val="visible"/>
                                      </p:to>
                                    </p:set>
                                    <p:animEffect transition="in" filter="blinds(horizontal)">
                                      <p:cBhvr>
                                        <p:cTn id="19" dur="500"/>
                                        <p:tgtEl>
                                          <p:spTgt spid="28674">
                                            <p:txEl>
                                              <p:charRg st="177" end="19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noChangeArrowheads="1"/>
          </p:cNvSpPr>
          <p:nvPr>
            <p:ph idx="1"/>
          </p:nvPr>
        </p:nvSpPr>
        <p:spPr>
          <a:xfrm>
            <a:off x="492125" y="1019175"/>
            <a:ext cx="8323263" cy="5094288"/>
          </a:xfrm>
        </p:spPr>
        <p:txBody>
          <a:bodyPr vert="horz" wrap="square" lIns="91440" tIns="45720" rIns="91440" bIns="45720" numCol="1" anchor="t" anchorCtr="0" compatLnSpc="1">
            <a:spAutoFit/>
          </a:bodyPr>
          <a:lstStyle/>
          <a:p>
            <a:pPr marL="460375" marR="0" lvl="0" indent="-460375" algn="l" defTabSz="914400" rtl="0" eaLnBrk="0" fontAlgn="base" latinLnBrk="0" hangingPunct="0">
              <a:lnSpc>
                <a:spcPct val="100000"/>
              </a:lnSpc>
              <a:spcBef>
                <a:spcPts val="600"/>
              </a:spcBef>
              <a:spcAft>
                <a:spcPct val="0"/>
              </a:spcAft>
              <a:buClr>
                <a:schemeClr val="tx2"/>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3</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、磁记录方式</a:t>
            </a: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a:p>
            <a:pPr marL="535305" marR="0" lvl="1" indent="-262255" algn="l" defTabSz="914400" rtl="0" eaLnBrk="0" fontAlgn="base" latinLnBrk="0" hangingPunct="0">
              <a:lnSpc>
                <a:spcPct val="100000"/>
              </a:lnSpc>
              <a:spcBef>
                <a:spcPts val="600"/>
              </a:spcBef>
              <a:spcAft>
                <a:spcPct val="0"/>
              </a:spcAft>
              <a:buClr>
                <a:schemeClr val="tx2"/>
              </a:buClr>
              <a:buSzTx/>
              <a:buFont typeface="Wingdings" panose="05000000000000000000" pitchFamily="2" charset="2"/>
              <a:buBlip>
                <a:blip r:embed="rId1"/>
              </a:buBlip>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定义</a:t>
            </a:r>
            <a:endParaRPr kumimoji="0" lang="zh-CN" altLang="en-US" sz="2800" b="1" i="0" u="none" strike="noStrike" kern="0" cap="none" spc="0" normalizeH="0" baseline="0" noProof="0" dirty="0" smtClean="0">
              <a:ln>
                <a:noFill/>
              </a:ln>
              <a:solidFill>
                <a:schemeClr val="tx1"/>
              </a:solidFill>
              <a:effectLst/>
              <a:uLnTx/>
              <a:uFillTx/>
              <a:latin typeface="+mn-lt"/>
              <a:ea typeface="+mn-ea"/>
            </a:endParaRPr>
          </a:p>
          <a:p>
            <a:pPr marL="981075" marR="0" lvl="2" indent="-266700" algn="l" defTabSz="914400" rtl="0" eaLnBrk="0" fontAlgn="base" latinLnBrk="0" hangingPunct="0">
              <a:lnSpc>
                <a:spcPct val="100000"/>
              </a:lnSpc>
              <a:spcBef>
                <a:spcPts val="600"/>
              </a:spcBef>
              <a:spcAft>
                <a:spcPct val="0"/>
              </a:spcAft>
              <a:buClr>
                <a:schemeClr val="folHlink"/>
              </a:buClr>
              <a:buSzTx/>
              <a:buFont typeface="Symbol" panose="05050102010706020507" pitchFamily="18" charset="2"/>
              <a:buChar char="§"/>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将二进制数据序列以某种规则变换成记录介质上相应的磁化翻转序列的方法，</a:t>
            </a:r>
            <a:endParaRPr kumimoji="0" lang="en-US" altLang="zh-CN" sz="2400" b="1" i="0" u="none" strike="noStrike" kern="0" cap="none" spc="0" normalizeH="0" baseline="0" noProof="0" dirty="0" smtClean="0">
              <a:ln>
                <a:noFill/>
              </a:ln>
              <a:solidFill>
                <a:schemeClr val="tx1"/>
              </a:solidFill>
              <a:effectLst/>
              <a:uLnTx/>
              <a:uFillTx/>
              <a:latin typeface="+mn-lt"/>
              <a:ea typeface="+mn-ea"/>
            </a:endParaRPr>
          </a:p>
          <a:p>
            <a:pPr marL="714375" marR="0" lvl="2" indent="263525" algn="l" defTabSz="914400" rtl="0" eaLnBrk="0" fontAlgn="base" latinLnBrk="0" hangingPunct="0">
              <a:lnSpc>
                <a:spcPct val="100000"/>
              </a:lnSpc>
              <a:spcBef>
                <a:spcPts val="600"/>
              </a:spcBef>
              <a:spcAft>
                <a:spcPct val="0"/>
              </a:spcAft>
              <a:buClr>
                <a:schemeClr val="folHlink"/>
              </a:buClr>
              <a:buSzTx/>
              <a:buFont typeface="Symbol" panose="05050102010706020507" pitchFamily="18" charset="2"/>
              <a:buNone/>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称</a:t>
            </a:r>
            <a:r>
              <a:rPr kumimoji="0" lang="zh-CN" altLang="en-US" sz="2400" b="1" i="0" u="none" strike="noStrike" kern="0" cap="none" spc="0" normalizeH="0" baseline="0" noProof="0" dirty="0" smtClean="0">
                <a:ln>
                  <a:noFill/>
                </a:ln>
                <a:solidFill>
                  <a:srgbClr val="FF0000"/>
                </a:solidFill>
                <a:effectLst/>
                <a:uLnTx/>
                <a:uFillTx/>
                <a:latin typeface="+mn-lt"/>
                <a:ea typeface="+mn-ea"/>
              </a:rPr>
              <a:t>数字磁记录编码</a:t>
            </a:r>
            <a:endParaRPr kumimoji="0" lang="zh-CN" altLang="en-US" sz="2400" b="1" i="0" u="none" strike="noStrike" kern="0" cap="none" spc="0" normalizeH="0" baseline="0" noProof="0" dirty="0" smtClean="0">
              <a:ln>
                <a:noFill/>
              </a:ln>
              <a:solidFill>
                <a:srgbClr val="FF0000"/>
              </a:solidFill>
              <a:effectLst/>
              <a:uLnTx/>
              <a:uFillTx/>
              <a:latin typeface="+mn-lt"/>
              <a:ea typeface="+mn-ea"/>
            </a:endParaRPr>
          </a:p>
          <a:p>
            <a:pPr marL="981075" marR="0" lvl="2" indent="-266700" algn="l" defTabSz="914400" rtl="0" eaLnBrk="0" fontAlgn="base" latinLnBrk="0" hangingPunct="0">
              <a:lnSpc>
                <a:spcPct val="100000"/>
              </a:lnSpc>
              <a:spcBef>
                <a:spcPts val="600"/>
              </a:spcBef>
              <a:spcAft>
                <a:spcPct val="0"/>
              </a:spcAft>
              <a:buClr>
                <a:schemeClr val="folHlink"/>
              </a:buClr>
              <a:buSzTx/>
              <a:buFont typeface="Symbol" panose="05050102010706020507" pitchFamily="18" charset="2"/>
              <a:buChar char="§"/>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将记录介质上的磁化</a:t>
            </a:r>
            <a:endParaRPr kumimoji="0" lang="en-US" altLang="zh-CN" sz="2400" b="1" i="0" u="none" strike="noStrike" kern="0" cap="none" spc="0" normalizeH="0" baseline="0" noProof="0" dirty="0" smtClean="0">
              <a:ln>
                <a:noFill/>
              </a:ln>
              <a:solidFill>
                <a:schemeClr val="tx1"/>
              </a:solidFill>
              <a:effectLst/>
              <a:uLnTx/>
              <a:uFillTx/>
              <a:latin typeface="+mn-lt"/>
              <a:ea typeface="+mn-ea"/>
            </a:endParaRPr>
          </a:p>
          <a:p>
            <a:pPr marL="981075" marR="0" lvl="2" indent="-1905" algn="l" defTabSz="914400" rtl="0" eaLnBrk="0" fontAlgn="base" latinLnBrk="0" hangingPunct="0">
              <a:lnSpc>
                <a:spcPct val="100000"/>
              </a:lnSpc>
              <a:spcBef>
                <a:spcPts val="600"/>
              </a:spcBef>
              <a:spcAft>
                <a:spcPct val="0"/>
              </a:spcAft>
              <a:buClr>
                <a:schemeClr val="folHlink"/>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翻转还原成数据序列</a:t>
            </a:r>
            <a:endParaRPr kumimoji="0" lang="en-US" altLang="zh-CN" sz="2400" b="1" i="0" u="none" strike="noStrike" kern="0" cap="none" spc="0" normalizeH="0" baseline="0" noProof="0" dirty="0" smtClean="0">
              <a:ln>
                <a:noFill/>
              </a:ln>
              <a:solidFill>
                <a:schemeClr val="tx1"/>
              </a:solidFill>
              <a:effectLst/>
              <a:uLnTx/>
              <a:uFillTx/>
              <a:latin typeface="+mn-lt"/>
              <a:ea typeface="+mn-ea"/>
            </a:endParaRPr>
          </a:p>
          <a:p>
            <a:pPr marL="981075" marR="0" lvl="2" indent="-1905" algn="l" defTabSz="914400" rtl="0" eaLnBrk="0" fontAlgn="base" latinLnBrk="0" hangingPunct="0">
              <a:lnSpc>
                <a:spcPct val="100000"/>
              </a:lnSpc>
              <a:spcBef>
                <a:spcPts val="600"/>
              </a:spcBef>
              <a:spcAft>
                <a:spcPct val="0"/>
              </a:spcAft>
              <a:buClr>
                <a:schemeClr val="folHlink"/>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称为</a:t>
            </a:r>
            <a:r>
              <a:rPr kumimoji="0" lang="zh-CN" altLang="en-US" sz="2400" b="1" i="0" u="none" strike="noStrike" kern="0" cap="none" spc="0" normalizeH="0" baseline="0" noProof="0" dirty="0" smtClean="0">
                <a:ln>
                  <a:noFill/>
                </a:ln>
                <a:solidFill>
                  <a:srgbClr val="FF0000"/>
                </a:solidFill>
                <a:effectLst/>
                <a:uLnTx/>
                <a:uFillTx/>
                <a:latin typeface="+mn-lt"/>
                <a:ea typeface="+mn-ea"/>
              </a:rPr>
              <a:t>磁记录译码</a:t>
            </a:r>
            <a:endParaRPr kumimoji="0" lang="zh-CN" altLang="en-US" sz="2400" b="1" i="0" u="none" strike="noStrike" kern="0" cap="none" spc="0" normalizeH="0" baseline="0" noProof="0" dirty="0" smtClean="0">
              <a:ln>
                <a:noFill/>
              </a:ln>
              <a:solidFill>
                <a:srgbClr val="FF0000"/>
              </a:solidFill>
              <a:effectLst/>
              <a:uLnTx/>
              <a:uFillTx/>
              <a:latin typeface="+mn-lt"/>
              <a:ea typeface="+mn-ea"/>
            </a:endParaRPr>
          </a:p>
          <a:p>
            <a:pPr marL="535305" marR="0" lvl="1" indent="-262255" algn="l" defTabSz="914400" rtl="0" eaLnBrk="0" fontAlgn="base" latinLnBrk="0" hangingPunct="0">
              <a:lnSpc>
                <a:spcPct val="100000"/>
              </a:lnSpc>
              <a:spcBef>
                <a:spcPts val="600"/>
              </a:spcBef>
              <a:spcAft>
                <a:spcPct val="0"/>
              </a:spcAft>
              <a:buClr>
                <a:schemeClr val="tx2"/>
              </a:buClr>
              <a:buSzTx/>
              <a:buFont typeface="Wingdings" panose="05000000000000000000" pitchFamily="2" charset="2"/>
              <a:buBlip>
                <a:blip r:embed="rId1"/>
              </a:buBlip>
              <a:defRPr/>
            </a:pPr>
            <a:r>
              <a:rPr kumimoji="0" lang="zh-CN" altLang="en-US" sz="2800" b="1" i="0" u="none" strike="noStrike" kern="0" cap="none" spc="0" normalizeH="0" baseline="0" noProof="0" dirty="0">
                <a:ln>
                  <a:noFill/>
                </a:ln>
                <a:solidFill>
                  <a:schemeClr val="tx1"/>
                </a:solidFill>
                <a:effectLst/>
                <a:uLnTx/>
                <a:uFillTx/>
                <a:latin typeface="+mn-lt"/>
                <a:ea typeface="+mn-ea"/>
              </a:rPr>
              <a:t>记录方式工作原理</a:t>
            </a:r>
            <a:endParaRPr kumimoji="0" lang="zh-CN" altLang="en-US" sz="2800" b="1" i="0" u="none" strike="noStrike" kern="0" cap="none" spc="0" normalizeH="0" baseline="0" noProof="0" dirty="0">
              <a:ln>
                <a:noFill/>
              </a:ln>
              <a:solidFill>
                <a:schemeClr val="tx1"/>
              </a:solidFill>
              <a:effectLst/>
              <a:uLnTx/>
              <a:uFillTx/>
              <a:latin typeface="+mn-lt"/>
              <a:ea typeface="+mn-ea"/>
            </a:endParaRPr>
          </a:p>
          <a:p>
            <a:pPr marL="981075" marR="0" lvl="2" indent="-266700" algn="l" defTabSz="914400" rtl="0" eaLnBrk="0" fontAlgn="base" latinLnBrk="0" hangingPunct="0">
              <a:lnSpc>
                <a:spcPct val="100000"/>
              </a:lnSpc>
              <a:spcBef>
                <a:spcPts val="600"/>
              </a:spcBef>
              <a:spcAft>
                <a:spcPct val="0"/>
              </a:spcAft>
              <a:buClr>
                <a:schemeClr val="folHlink"/>
              </a:buClr>
              <a:buSzTx/>
              <a:buFont typeface="Symbol" panose="05050102010706020507" pitchFamily="18" charset="2"/>
              <a:buChar char="§"/>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观察右图，注意写</a:t>
            </a:r>
            <a:endParaRPr kumimoji="0" lang="zh-CN" altLang="en-US" sz="2400" b="1" i="0" u="none" strike="noStrike" kern="0" cap="none" spc="0" normalizeH="0" baseline="0" noProof="0" dirty="0" smtClean="0">
              <a:ln>
                <a:noFill/>
              </a:ln>
              <a:solidFill>
                <a:schemeClr val="tx1"/>
              </a:solidFill>
              <a:effectLst/>
              <a:uLnTx/>
              <a:uFillTx/>
              <a:latin typeface="+mn-lt"/>
              <a:ea typeface="+mn-ea"/>
            </a:endParaRPr>
          </a:p>
          <a:p>
            <a:pPr marL="981075" marR="0" lvl="2" indent="-266700" algn="l" defTabSz="914400" rtl="0" eaLnBrk="0" fontAlgn="base" latinLnBrk="0" hangingPunct="0">
              <a:lnSpc>
                <a:spcPct val="100000"/>
              </a:lnSpc>
              <a:spcBef>
                <a:spcPts val="600"/>
              </a:spcBef>
              <a:spcAft>
                <a:spcPct val="0"/>
              </a:spcAft>
              <a:buClr>
                <a:schemeClr val="folHlink"/>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	入数据和写入电流</a:t>
            </a:r>
            <a:endParaRPr kumimoji="0" lang="zh-CN" altLang="en-US" sz="2400" b="1" i="0" u="none" strike="noStrike" kern="0" cap="none" spc="0" normalizeH="0" baseline="0" noProof="0" dirty="0" smtClean="0">
              <a:ln>
                <a:noFill/>
              </a:ln>
              <a:solidFill>
                <a:schemeClr val="tx1"/>
              </a:solidFill>
              <a:effectLst/>
              <a:uLnTx/>
              <a:uFillTx/>
              <a:latin typeface="+mn-lt"/>
              <a:ea typeface="+mn-ea"/>
            </a:endParaRPr>
          </a:p>
        </p:txBody>
      </p:sp>
      <p:pic>
        <p:nvPicPr>
          <p:cNvPr id="27655" name="Picture 7"/>
          <p:cNvPicPr>
            <a:picLocks noChangeAspect="1"/>
          </p:cNvPicPr>
          <p:nvPr/>
        </p:nvPicPr>
        <p:blipFill>
          <a:blip r:embed="rId2"/>
          <a:stretch>
            <a:fillRect/>
          </a:stretch>
        </p:blipFill>
        <p:spPr>
          <a:xfrm>
            <a:off x="4662488" y="2814638"/>
            <a:ext cx="4429125" cy="4000500"/>
          </a:xfrm>
          <a:prstGeom prst="rect">
            <a:avLst/>
          </a:prstGeom>
          <a:noFill/>
          <a:ln w="9525">
            <a:noFill/>
          </a:ln>
        </p:spPr>
      </p:pic>
      <p:sp>
        <p:nvSpPr>
          <p:cNvPr id="7" name="Rectangle 4"/>
          <p:cNvSpPr txBox="1">
            <a:spLocks noGrp="1" noChangeArrowheads="1"/>
          </p:cNvSpPr>
          <p:nvPr>
            <p:ph type="title"/>
          </p:nvPr>
        </p:nvSpPr>
        <p:spPr>
          <a:xfrm>
            <a:off x="381000" y="260350"/>
            <a:ext cx="8393113" cy="682625"/>
          </a:xfrm>
        </p:spPr>
        <p:txBody>
          <a:bodyPr vert="horz" wrap="square" lIns="91440" tIns="45720" rIns="91440" bIns="45720" numCol="1" anchor="b" anchorCtr="0" compatLnSpc="1">
            <a:spAutoFit/>
          </a:bodyPr>
          <a:lstStyle>
            <a:lvl1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mj-lt"/>
                <a:ea typeface="+mj-ea"/>
                <a:cs typeface="+mj-cs"/>
              </a:defRPr>
            </a:lvl1pPr>
            <a:lvl2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2pPr>
            <a:lvl3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3pPr>
            <a:lvl4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4pPr>
            <a:lvl5pPr algn="ctr" rtl="0" eaLnBrk="0" fontAlgn="base" hangingPunct="0">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5pPr>
            <a:lvl6pPr marL="4572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6pPr>
            <a:lvl7pPr marL="9144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7pPr>
            <a:lvl8pPr marL="13716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8pPr>
            <a:lvl9pPr marL="1828800" algn="ctr" rtl="0" fontAlgn="base">
              <a:lnSpc>
                <a:spcPct val="85000"/>
              </a:lnSpc>
              <a:spcBef>
                <a:spcPct val="0"/>
              </a:spcBef>
              <a:spcAft>
                <a:spcPct val="0"/>
              </a:spcAft>
              <a:defRPr sz="4800" b="1">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a:t>
            </a:r>
            <a:r>
              <a:rPr kumimoji="0" lang="zh-CN" altLang="en-US"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磁记录</a:t>
            </a: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原理</a:t>
            </a:r>
            <a:endParaRPr kumimoji="0" lang="en-US" altLang="zh-CN"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endParaRPr>
          </a:p>
        </p:txBody>
      </p:sp>
    </p:spTree>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698">
                                            <p:txEl>
                                              <p:charRg st="83" end="92"/>
                                            </p:txEl>
                                          </p:spTgt>
                                        </p:tgtEl>
                                        <p:attrNameLst>
                                          <p:attrName>style.visibility</p:attrName>
                                        </p:attrNameLst>
                                      </p:cBhvr>
                                      <p:to>
                                        <p:strVal val="visible"/>
                                      </p:to>
                                    </p:set>
                                    <p:animEffect transition="in" filter="blinds(horizontal)">
                                      <p:cBhvr>
                                        <p:cTn id="7" dur="500"/>
                                        <p:tgtEl>
                                          <p:spTgt spid="29698">
                                            <p:txEl>
                                              <p:charRg st="83" end="9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9698">
                                            <p:txEl>
                                              <p:charRg st="92" end="101"/>
                                            </p:txEl>
                                          </p:spTgt>
                                        </p:tgtEl>
                                        <p:attrNameLst>
                                          <p:attrName>style.visibility</p:attrName>
                                        </p:attrNameLst>
                                      </p:cBhvr>
                                      <p:to>
                                        <p:strVal val="visible"/>
                                      </p:to>
                                    </p:set>
                                    <p:animEffect transition="in" filter="blinds(horizontal)">
                                      <p:cBhvr>
                                        <p:cTn id="10" dur="500"/>
                                        <p:tgtEl>
                                          <p:spTgt spid="29698">
                                            <p:txEl>
                                              <p:charRg st="92" end="10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9698">
                                            <p:txEl>
                                              <p:charRg st="101" end="111"/>
                                            </p:txEl>
                                          </p:spTgt>
                                        </p:tgtEl>
                                        <p:attrNameLst>
                                          <p:attrName>style.visibility</p:attrName>
                                        </p:attrNameLst>
                                      </p:cBhvr>
                                      <p:to>
                                        <p:strVal val="visible"/>
                                      </p:to>
                                    </p:set>
                                    <p:animEffect transition="in" filter="blinds(horizontal)">
                                      <p:cBhvr>
                                        <p:cTn id="13" dur="500"/>
                                        <p:tgtEl>
                                          <p:spTgt spid="29698">
                                            <p:txEl>
                                              <p:charRg st="101" end="111"/>
                                            </p:txEl>
                                          </p:spTgt>
                                        </p:tgtEl>
                                      </p:cBhvr>
                                    </p:animEffec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0"/>
                                          </p:stCondLst>
                                        </p:cTn>
                                        <p:tgtEl>
                                          <p:spTgt spid="276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idx="1"/>
          </p:nvPr>
        </p:nvSpPr>
        <p:spPr>
          <a:xfrm>
            <a:off x="790575" y="968375"/>
            <a:ext cx="8039100" cy="4186238"/>
          </a:xfrm>
          <a:ln/>
        </p:spPr>
        <p:txBody>
          <a:bodyPr vert="horz" wrap="square" lIns="91440" tIns="45720" rIns="91440" bIns="45720" anchor="t" anchorCtr="0">
            <a:spAutoFit/>
          </a:bodyPr>
          <a:p>
            <a:pPr>
              <a:lnSpc>
                <a:spcPct val="95000"/>
              </a:lnSpc>
              <a:spcBef>
                <a:spcPct val="0"/>
              </a:spcBef>
              <a:buNone/>
            </a:pPr>
            <a:r>
              <a:rPr lang="en-US" altLang="zh-CN" sz="3200" dirty="0">
                <a:latin typeface="Times New Roman" panose="02020603050405020304" pitchFamily="18" charset="0"/>
              </a:rPr>
              <a:t>1</a:t>
            </a:r>
            <a:r>
              <a:rPr lang="zh-CN" altLang="en-US" sz="3200" dirty="0">
                <a:latin typeface="Times New Roman" panose="02020603050405020304" pitchFamily="18" charset="0"/>
              </a:rPr>
              <a:t>、存储容量</a:t>
            </a:r>
            <a:endParaRPr lang="zh-CN" altLang="en-US" sz="3200" dirty="0">
              <a:latin typeface="Times New Roman" panose="02020603050405020304" pitchFamily="18" charset="0"/>
            </a:endParaRPr>
          </a:p>
          <a:p>
            <a:pPr lvl="1">
              <a:lnSpc>
                <a:spcPct val="95000"/>
              </a:lnSpc>
              <a:spcBef>
                <a:spcPct val="0"/>
              </a:spcBef>
            </a:pPr>
            <a:r>
              <a:rPr lang="zh-CN" altLang="en-US" sz="2800" dirty="0"/>
              <a:t>非格式化</a:t>
            </a:r>
            <a:r>
              <a:rPr lang="zh-CN" altLang="en-US" sz="2800" dirty="0">
                <a:latin typeface="Times New Roman" panose="02020603050405020304" pitchFamily="18" charset="0"/>
              </a:rPr>
              <a:t>容量</a:t>
            </a:r>
            <a:r>
              <a:rPr lang="en-US" altLang="zh-CN" sz="2800" dirty="0">
                <a:solidFill>
                  <a:srgbClr val="FFFF00"/>
                </a:solidFill>
                <a:latin typeface="Times New Roman" panose="02020603050405020304" pitchFamily="18" charset="0"/>
              </a:rPr>
              <a:t>C</a:t>
            </a:r>
            <a:r>
              <a:rPr lang="en-US" altLang="zh-CN" sz="2800" baseline="-25000" dirty="0">
                <a:solidFill>
                  <a:srgbClr val="FFFF00"/>
                </a:solidFill>
                <a:latin typeface="Times New Roman" panose="02020603050405020304" pitchFamily="18" charset="0"/>
              </a:rPr>
              <a:t>n</a:t>
            </a:r>
            <a:r>
              <a:rPr lang="en-US" altLang="zh-CN" sz="2800" dirty="0">
                <a:solidFill>
                  <a:srgbClr val="FFFF00"/>
                </a:solidFill>
                <a:latin typeface="Times New Roman" panose="02020603050405020304" pitchFamily="18" charset="0"/>
              </a:rPr>
              <a:t>＝f t m n＝πD</a:t>
            </a:r>
            <a:r>
              <a:rPr lang="en-US" altLang="zh-CN" sz="2800" baseline="-25000" dirty="0">
                <a:solidFill>
                  <a:srgbClr val="FFFF00"/>
                </a:solidFill>
                <a:latin typeface="Times New Roman" panose="02020603050405020304" pitchFamily="18" charset="0"/>
              </a:rPr>
              <a:t>min</a:t>
            </a:r>
            <a:r>
              <a:rPr lang="en-US" altLang="zh-CN" sz="2800" dirty="0">
                <a:solidFill>
                  <a:srgbClr val="FFFF00"/>
                </a:solidFill>
                <a:latin typeface="Times New Roman" panose="02020603050405020304" pitchFamily="18" charset="0"/>
              </a:rPr>
              <a:t>D</a:t>
            </a:r>
            <a:r>
              <a:rPr lang="en-US" altLang="zh-CN" sz="2800" baseline="-25000" dirty="0">
                <a:solidFill>
                  <a:srgbClr val="FFFF00"/>
                </a:solidFill>
                <a:latin typeface="Times New Roman" panose="02020603050405020304" pitchFamily="18" charset="0"/>
              </a:rPr>
              <a:t>b </a:t>
            </a:r>
            <a:r>
              <a:rPr lang="en-US" altLang="zh-CN" sz="2800" dirty="0">
                <a:solidFill>
                  <a:srgbClr val="FFFF00"/>
                </a:solidFill>
                <a:latin typeface="Times New Roman" panose="02020603050405020304" pitchFamily="18" charset="0"/>
              </a:rPr>
              <a:t>m</a:t>
            </a:r>
            <a:r>
              <a:rPr lang="en-US" altLang="zh-CN" sz="2800" dirty="0">
                <a:solidFill>
                  <a:srgbClr val="0000FF"/>
                </a:solidFill>
                <a:latin typeface="Times New Roman" panose="02020603050405020304" pitchFamily="18" charset="0"/>
              </a:rPr>
              <a:t> </a:t>
            </a:r>
            <a:r>
              <a:rPr lang="en-US" altLang="zh-CN" sz="2800" dirty="0">
                <a:solidFill>
                  <a:srgbClr val="FFFF00"/>
                </a:solidFill>
                <a:latin typeface="Times New Roman" panose="02020603050405020304" pitchFamily="18" charset="0"/>
              </a:rPr>
              <a:t>n</a:t>
            </a:r>
            <a:endParaRPr lang="en-US" altLang="zh-CN" sz="2800" dirty="0">
              <a:solidFill>
                <a:srgbClr val="FFFF00"/>
              </a:solidFill>
              <a:latin typeface="Times New Roman" panose="02020603050405020304" pitchFamily="18" charset="0"/>
            </a:endParaRPr>
          </a:p>
          <a:p>
            <a:pPr lvl="2">
              <a:lnSpc>
                <a:spcPct val="95000"/>
              </a:lnSpc>
              <a:spcBef>
                <a:spcPct val="0"/>
              </a:spcBef>
            </a:pPr>
            <a:r>
              <a:rPr lang="en-US" altLang="zh-CN" sz="2400" dirty="0">
                <a:latin typeface="Times New Roman" panose="02020603050405020304" pitchFamily="18" charset="0"/>
              </a:rPr>
              <a:t>f：</a:t>
            </a:r>
            <a:r>
              <a:rPr lang="zh-CN" altLang="en-US" sz="2400" dirty="0">
                <a:latin typeface="Times New Roman" panose="02020603050405020304" pitchFamily="18" charset="0"/>
              </a:rPr>
              <a:t>数据传输率，与磁盘的接口有关</a:t>
            </a:r>
            <a:endParaRPr lang="zh-CN" altLang="en-US" sz="2400" dirty="0">
              <a:latin typeface="Times New Roman" panose="02020603050405020304" pitchFamily="18" charset="0"/>
            </a:endParaRPr>
          </a:p>
          <a:p>
            <a:pPr lvl="2">
              <a:lnSpc>
                <a:spcPct val="95000"/>
              </a:lnSpc>
              <a:spcBef>
                <a:spcPct val="0"/>
              </a:spcBef>
            </a:pPr>
            <a:r>
              <a:rPr lang="en-US" altLang="zh-CN" sz="2400" dirty="0">
                <a:latin typeface="Times New Roman" panose="02020603050405020304" pitchFamily="18" charset="0"/>
              </a:rPr>
              <a:t>t：</a:t>
            </a:r>
            <a:r>
              <a:rPr lang="zh-CN" altLang="en-US" sz="2400" dirty="0">
                <a:latin typeface="Times New Roman" panose="02020603050405020304" pitchFamily="18" charset="0"/>
              </a:rPr>
              <a:t>转一圈所用时间，与磁盘的转速有关</a:t>
            </a:r>
            <a:endParaRPr lang="zh-CN" altLang="en-US" sz="2400" dirty="0">
              <a:latin typeface="Times New Roman" panose="02020603050405020304" pitchFamily="18" charset="0"/>
            </a:endParaRPr>
          </a:p>
          <a:p>
            <a:pPr lvl="2">
              <a:lnSpc>
                <a:spcPct val="95000"/>
              </a:lnSpc>
              <a:spcBef>
                <a:spcPct val="0"/>
              </a:spcBef>
            </a:pPr>
            <a:r>
              <a:rPr lang="en-US" altLang="zh-CN" sz="2400" dirty="0">
                <a:latin typeface="Times New Roman" panose="02020603050405020304" pitchFamily="18" charset="0"/>
              </a:rPr>
              <a:t>m：</a:t>
            </a:r>
            <a:r>
              <a:rPr lang="zh-CN" altLang="en-US" sz="2400" dirty="0">
                <a:latin typeface="Times New Roman" panose="02020603050405020304" pitchFamily="18" charset="0"/>
              </a:rPr>
              <a:t>盘面数</a:t>
            </a:r>
            <a:endParaRPr lang="zh-CN" altLang="en-US" sz="2400" dirty="0">
              <a:latin typeface="Times New Roman" panose="02020603050405020304" pitchFamily="18" charset="0"/>
            </a:endParaRPr>
          </a:p>
          <a:p>
            <a:pPr lvl="2">
              <a:lnSpc>
                <a:spcPct val="95000"/>
              </a:lnSpc>
              <a:spcBef>
                <a:spcPct val="0"/>
              </a:spcBef>
            </a:pPr>
            <a:r>
              <a:rPr lang="en-US" altLang="zh-CN" sz="2400" dirty="0">
                <a:latin typeface="Times New Roman" panose="02020603050405020304" pitchFamily="18" charset="0"/>
              </a:rPr>
              <a:t>n：</a:t>
            </a:r>
            <a:r>
              <a:rPr lang="zh-CN" altLang="en-US" sz="2400" dirty="0">
                <a:latin typeface="Times New Roman" panose="02020603050405020304" pitchFamily="18" charset="0"/>
              </a:rPr>
              <a:t>磁道数/面</a:t>
            </a:r>
            <a:endParaRPr lang="zh-CN" altLang="en-US" sz="2400" dirty="0">
              <a:latin typeface="Times New Roman" panose="02020603050405020304" pitchFamily="18" charset="0"/>
            </a:endParaRPr>
          </a:p>
          <a:p>
            <a:pPr lvl="1">
              <a:lnSpc>
                <a:spcPct val="95000"/>
              </a:lnSpc>
              <a:spcBef>
                <a:spcPct val="0"/>
              </a:spcBef>
            </a:pPr>
            <a:r>
              <a:rPr lang="zh-CN" altLang="en-US" sz="2800" dirty="0"/>
              <a:t>格式化</a:t>
            </a:r>
            <a:r>
              <a:rPr lang="zh-CN" altLang="en-US" sz="2800" dirty="0">
                <a:latin typeface="Times New Roman" panose="02020603050405020304" pitchFamily="18" charset="0"/>
              </a:rPr>
              <a:t>容量</a:t>
            </a:r>
            <a:r>
              <a:rPr lang="en-US" altLang="zh-CN" sz="2800" dirty="0">
                <a:solidFill>
                  <a:srgbClr val="FFFF00"/>
                </a:solidFill>
                <a:latin typeface="Times New Roman" panose="02020603050405020304" pitchFamily="18" charset="0"/>
              </a:rPr>
              <a:t>C</a:t>
            </a:r>
            <a:r>
              <a:rPr lang="en-US" altLang="zh-CN" sz="2800" baseline="-25000" dirty="0">
                <a:solidFill>
                  <a:srgbClr val="FFFF00"/>
                </a:solidFill>
                <a:latin typeface="Times New Roman" panose="02020603050405020304" pitchFamily="18" charset="0"/>
              </a:rPr>
              <a:t>f </a:t>
            </a:r>
            <a:r>
              <a:rPr lang="en-US" altLang="zh-CN" sz="2800" dirty="0">
                <a:solidFill>
                  <a:srgbClr val="FFFF00"/>
                </a:solidFill>
                <a:latin typeface="Times New Roman" panose="02020603050405020304" pitchFamily="18" charset="0"/>
              </a:rPr>
              <a:t>= B</a:t>
            </a:r>
            <a:r>
              <a:rPr lang="en-US" altLang="zh-CN" sz="2800" baseline="-25000" dirty="0">
                <a:solidFill>
                  <a:srgbClr val="FFFF00"/>
                </a:solidFill>
                <a:latin typeface="Times New Roman" panose="02020603050405020304" pitchFamily="18" charset="0"/>
              </a:rPr>
              <a:t>s </a:t>
            </a:r>
            <a:r>
              <a:rPr lang="en-US" altLang="zh-CN" sz="2800" dirty="0">
                <a:solidFill>
                  <a:srgbClr val="FFFF00"/>
                </a:solidFill>
                <a:latin typeface="Times New Roman" panose="02020603050405020304" pitchFamily="18" charset="0"/>
              </a:rPr>
              <a:t>S</a:t>
            </a:r>
            <a:r>
              <a:rPr lang="en-US" altLang="zh-CN" sz="2800" baseline="-25000" dirty="0">
                <a:solidFill>
                  <a:srgbClr val="FFFF00"/>
                </a:solidFill>
                <a:latin typeface="Times New Roman" panose="02020603050405020304" pitchFamily="18" charset="0"/>
              </a:rPr>
              <a:t>t </a:t>
            </a:r>
            <a:r>
              <a:rPr lang="en-US" altLang="zh-CN" sz="2800" dirty="0">
                <a:solidFill>
                  <a:srgbClr val="FFFF00"/>
                </a:solidFill>
                <a:latin typeface="Times New Roman" panose="02020603050405020304" pitchFamily="18" charset="0"/>
              </a:rPr>
              <a:t>m n</a:t>
            </a:r>
            <a:endParaRPr lang="en-US" altLang="zh-CN" sz="2800" dirty="0">
              <a:solidFill>
                <a:srgbClr val="FFFF00"/>
              </a:solidFill>
              <a:latin typeface="Times New Roman" panose="02020603050405020304" pitchFamily="18" charset="0"/>
            </a:endParaRPr>
          </a:p>
          <a:p>
            <a:pPr lvl="2">
              <a:lnSpc>
                <a:spcPct val="95000"/>
              </a:lnSpc>
              <a:spcBef>
                <a:spcPct val="0"/>
              </a:spcBef>
            </a:pPr>
            <a:r>
              <a:rPr lang="en-US" altLang="zh-CN" sz="2400" dirty="0">
                <a:latin typeface="Times New Roman" panose="02020603050405020304" pitchFamily="18" charset="0"/>
              </a:rPr>
              <a:t>B</a:t>
            </a:r>
            <a:r>
              <a:rPr lang="en-US" altLang="zh-CN" baseline="-25000" dirty="0">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字节数/扇区</a:t>
            </a:r>
            <a:endParaRPr lang="zh-CN" altLang="en-US" sz="2400" dirty="0">
              <a:latin typeface="Times New Roman" panose="02020603050405020304" pitchFamily="18" charset="0"/>
            </a:endParaRPr>
          </a:p>
          <a:p>
            <a:pPr lvl="2">
              <a:lnSpc>
                <a:spcPct val="95000"/>
              </a:lnSpc>
              <a:spcBef>
                <a:spcPct val="0"/>
              </a:spcBef>
            </a:pPr>
            <a:r>
              <a:rPr lang="en-US" altLang="zh-CN" sz="2400" dirty="0">
                <a:latin typeface="Times New Roman" panose="02020603050405020304" pitchFamily="18" charset="0"/>
              </a:rPr>
              <a:t>S</a:t>
            </a:r>
            <a:r>
              <a:rPr lang="en-US" altLang="zh-CN" baseline="-25000" dirty="0">
                <a:latin typeface="Times New Roman" panose="02020603050405020304" pitchFamily="18" charset="0"/>
              </a:rPr>
              <a:t>t</a:t>
            </a:r>
            <a:r>
              <a:rPr lang="en-US" altLang="zh-CN" sz="2400" dirty="0">
                <a:latin typeface="Times New Roman" panose="02020603050405020304" pitchFamily="18" charset="0"/>
              </a:rPr>
              <a:t>：</a:t>
            </a:r>
            <a:r>
              <a:rPr lang="zh-CN" altLang="en-US" sz="2400" dirty="0">
                <a:latin typeface="Times New Roman" panose="02020603050405020304" pitchFamily="18" charset="0"/>
              </a:rPr>
              <a:t>扇区数/道</a:t>
            </a:r>
            <a:endParaRPr lang="zh-CN" altLang="en-US" sz="2400" dirty="0">
              <a:latin typeface="Times New Roman" panose="02020603050405020304" pitchFamily="18" charset="0"/>
            </a:endParaRPr>
          </a:p>
          <a:p>
            <a:pPr lvl="2">
              <a:lnSpc>
                <a:spcPct val="95000"/>
              </a:lnSpc>
              <a:spcBef>
                <a:spcPct val="0"/>
              </a:spcBef>
            </a:pPr>
            <a:r>
              <a:rPr lang="en-US" altLang="zh-CN" sz="2400" dirty="0">
                <a:latin typeface="Times New Roman" panose="02020603050405020304" pitchFamily="18" charset="0"/>
              </a:rPr>
              <a:t>m：</a:t>
            </a:r>
            <a:r>
              <a:rPr lang="zh-CN" altLang="en-US" sz="2400" dirty="0">
                <a:latin typeface="Times New Roman" panose="02020603050405020304" pitchFamily="18" charset="0"/>
              </a:rPr>
              <a:t>盘面数</a:t>
            </a:r>
            <a:endParaRPr lang="zh-CN" altLang="en-US" sz="2400" dirty="0">
              <a:latin typeface="Times New Roman" panose="02020603050405020304" pitchFamily="18" charset="0"/>
            </a:endParaRPr>
          </a:p>
          <a:p>
            <a:pPr lvl="2">
              <a:lnSpc>
                <a:spcPct val="95000"/>
              </a:lnSpc>
              <a:spcBef>
                <a:spcPct val="0"/>
              </a:spcBef>
            </a:pPr>
            <a:r>
              <a:rPr lang="en-US" altLang="zh-CN" sz="2400" dirty="0">
                <a:latin typeface="Times New Roman" panose="02020603050405020304" pitchFamily="18" charset="0"/>
              </a:rPr>
              <a:t>n：</a:t>
            </a:r>
            <a:r>
              <a:rPr lang="zh-CN" altLang="en-US" sz="2400" dirty="0">
                <a:latin typeface="Times New Roman" panose="02020603050405020304" pitchFamily="18" charset="0"/>
              </a:rPr>
              <a:t>磁道数/面</a:t>
            </a:r>
            <a:endParaRPr lang="zh-CN" altLang="en-US" sz="2400" dirty="0">
              <a:latin typeface="Times New Roman" panose="02020603050405020304" pitchFamily="18" charset="0"/>
            </a:endParaRPr>
          </a:p>
        </p:txBody>
      </p:sp>
      <p:sp>
        <p:nvSpPr>
          <p:cNvPr id="278531" name="Rectangle 3"/>
          <p:cNvSpPr>
            <a:spLocks noGrp="1" noChangeArrowheads="1"/>
          </p:cNvSpPr>
          <p:nvPr>
            <p:ph type="title"/>
          </p:nvPr>
        </p:nvSpPr>
        <p:spPr>
          <a:xfrm>
            <a:off x="71438" y="141288"/>
            <a:ext cx="8964613" cy="7905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uLnTx/>
                <a:uFillTx/>
                <a:latin typeface="+mj-lt"/>
                <a:ea typeface="+mj-ea"/>
                <a:cs typeface="+mj-cs"/>
              </a:rPr>
              <a:t>回顾</a:t>
            </a: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a:t>
            </a:r>
            <a:r>
              <a:rPr kumimoji="0" lang="zh-CN" altLang="en-US" sz="4800" b="1" i="0" u="none" strike="noStrike" kern="0" cap="none" spc="0" normalizeH="0" baseline="0" noProof="0" smtClean="0">
                <a:ln>
                  <a:noFill/>
                </a:ln>
                <a:solidFill>
                  <a:srgbClr val="FF0000"/>
                </a:solidFill>
                <a:effectLst/>
                <a:uLnTx/>
                <a:uFillTx/>
                <a:latin typeface="+mj-lt"/>
                <a:ea typeface="+mj-ea"/>
                <a:cs typeface="+mj-cs"/>
              </a:rPr>
              <a:t>磁表面存储器的性能指标</a:t>
            </a:r>
            <a:r>
              <a:rPr kumimoji="0" lang="zh-CN" altLang="en-US" sz="5400" b="1" i="0" u="none" strike="noStrike" kern="0" cap="none" spc="0" normalizeH="0" baseline="0" noProof="0" smtClean="0">
                <a:ln>
                  <a:noFill/>
                </a:ln>
                <a:solidFill>
                  <a:srgbClr val="FF0000"/>
                </a:solidFill>
                <a:effectLst/>
                <a:uLnTx/>
                <a:uFillTx/>
                <a:latin typeface="+mj-lt"/>
                <a:ea typeface="+mj-ea"/>
                <a:cs typeface="+mj-cs"/>
              </a:rPr>
              <a:t> </a:t>
            </a:r>
            <a:endParaRPr kumimoji="0" lang="zh-CN" altLang="en-US" sz="5400" b="1" i="0" u="none" strike="noStrike" kern="0" cap="none" spc="0" normalizeH="0" baseline="0" noProof="0" smtClean="0">
              <a:ln>
                <a:noFill/>
              </a:ln>
              <a:solidFill>
                <a:srgbClr val="FF0000"/>
              </a:solidFill>
              <a:effectLst/>
              <a:uLnTx/>
              <a:uFillTx/>
              <a:latin typeface="+mj-lt"/>
              <a:ea typeface="+mj-ea"/>
              <a:cs typeface="+mj-cs"/>
            </a:endParaRPr>
          </a:p>
        </p:txBody>
      </p:sp>
      <p:grpSp>
        <p:nvGrpSpPr>
          <p:cNvPr id="92164" name="Group 4"/>
          <p:cNvGrpSpPr/>
          <p:nvPr/>
        </p:nvGrpSpPr>
        <p:grpSpPr>
          <a:xfrm>
            <a:off x="592138" y="4244975"/>
            <a:ext cx="8237537" cy="2554288"/>
            <a:chOff x="1144" y="1505"/>
            <a:chExt cx="4616" cy="1768"/>
          </a:xfrm>
        </p:grpSpPr>
        <p:sp>
          <p:nvSpPr>
            <p:cNvPr id="92165" name="AutoShape 5"/>
            <p:cNvSpPr/>
            <p:nvPr/>
          </p:nvSpPr>
          <p:spPr>
            <a:xfrm>
              <a:off x="3832" y="2864"/>
              <a:ext cx="288" cy="381"/>
            </a:xfrm>
            <a:prstGeom prst="can">
              <a:avLst>
                <a:gd name="adj" fmla="val 33069"/>
              </a:avLst>
            </a:prstGeom>
            <a:solidFill>
              <a:schemeClr val="accent2">
                <a:alpha val="30196"/>
              </a:schemeClr>
            </a:solidFill>
            <a:ln w="9525" cap="flat" cmpd="sng">
              <a:solidFill>
                <a:schemeClr val="tx1"/>
              </a:solidFill>
              <a:prstDash val="solid"/>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66" name="Rectangle 6"/>
            <p:cNvSpPr/>
            <p:nvPr/>
          </p:nvSpPr>
          <p:spPr>
            <a:xfrm>
              <a:off x="2872" y="2864"/>
              <a:ext cx="240" cy="48"/>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67" name="Rectangle 7"/>
            <p:cNvSpPr/>
            <p:nvPr/>
          </p:nvSpPr>
          <p:spPr>
            <a:xfrm>
              <a:off x="2872" y="2624"/>
              <a:ext cx="240" cy="48"/>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68" name="Rectangle 8"/>
            <p:cNvSpPr/>
            <p:nvPr/>
          </p:nvSpPr>
          <p:spPr>
            <a:xfrm>
              <a:off x="2872" y="2384"/>
              <a:ext cx="240" cy="48"/>
            </a:xfrm>
            <a:prstGeom prst="rect">
              <a:avLst/>
            </a:prstGeom>
            <a:solidFill>
              <a:schemeClr val="accent2"/>
            </a:solidFill>
            <a:ln w="9525" cap="flat" cmpd="sng">
              <a:solidFill>
                <a:schemeClr val="accent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grpSp>
          <p:nvGrpSpPr>
            <p:cNvPr id="92169" name="Group 9"/>
            <p:cNvGrpSpPr/>
            <p:nvPr/>
          </p:nvGrpSpPr>
          <p:grpSpPr>
            <a:xfrm>
              <a:off x="2920" y="2624"/>
              <a:ext cx="2112" cy="432"/>
              <a:chOff x="2688" y="1632"/>
              <a:chExt cx="2112" cy="432"/>
            </a:xfrm>
          </p:grpSpPr>
          <p:sp>
            <p:nvSpPr>
              <p:cNvPr id="92199" name="Oval 10"/>
              <p:cNvSpPr/>
              <p:nvPr/>
            </p:nvSpPr>
            <p:spPr>
              <a:xfrm>
                <a:off x="2688" y="1632"/>
                <a:ext cx="2112" cy="43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200" name="Oval 11"/>
              <p:cNvSpPr>
                <a:spLocks noChangeAspect="1"/>
              </p:cNvSpPr>
              <p:nvPr/>
            </p:nvSpPr>
            <p:spPr>
              <a:xfrm>
                <a:off x="2862" y="1687"/>
                <a:ext cx="1745" cy="317"/>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201" name="Oval 12"/>
              <p:cNvSpPr>
                <a:spLocks noChangeAspect="1"/>
              </p:cNvSpPr>
              <p:nvPr/>
            </p:nvSpPr>
            <p:spPr>
              <a:xfrm>
                <a:off x="3135" y="1731"/>
                <a:ext cx="1203" cy="21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grpSp>
        <p:grpSp>
          <p:nvGrpSpPr>
            <p:cNvPr id="92170" name="Group 13"/>
            <p:cNvGrpSpPr/>
            <p:nvPr/>
          </p:nvGrpSpPr>
          <p:grpSpPr>
            <a:xfrm>
              <a:off x="2920" y="2384"/>
              <a:ext cx="2112" cy="432"/>
              <a:chOff x="2688" y="1632"/>
              <a:chExt cx="2112" cy="432"/>
            </a:xfrm>
          </p:grpSpPr>
          <p:sp>
            <p:nvSpPr>
              <p:cNvPr id="92196" name="Oval 14"/>
              <p:cNvSpPr/>
              <p:nvPr/>
            </p:nvSpPr>
            <p:spPr>
              <a:xfrm>
                <a:off x="2688" y="1632"/>
                <a:ext cx="2112" cy="43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97" name="Oval 15"/>
              <p:cNvSpPr>
                <a:spLocks noChangeAspect="1"/>
              </p:cNvSpPr>
              <p:nvPr/>
            </p:nvSpPr>
            <p:spPr>
              <a:xfrm>
                <a:off x="2862" y="1687"/>
                <a:ext cx="1745" cy="317"/>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98" name="Oval 16"/>
              <p:cNvSpPr>
                <a:spLocks noChangeAspect="1"/>
              </p:cNvSpPr>
              <p:nvPr/>
            </p:nvSpPr>
            <p:spPr>
              <a:xfrm>
                <a:off x="3135" y="1731"/>
                <a:ext cx="1203" cy="21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grpSp>
        <p:sp>
          <p:nvSpPr>
            <p:cNvPr id="92171" name="AutoShape 17"/>
            <p:cNvSpPr/>
            <p:nvPr/>
          </p:nvSpPr>
          <p:spPr>
            <a:xfrm>
              <a:off x="1144" y="1808"/>
              <a:ext cx="624" cy="1440"/>
            </a:xfrm>
            <a:prstGeom prst="can">
              <a:avLst>
                <a:gd name="adj" fmla="val 57690"/>
              </a:avLst>
            </a:prstGeom>
            <a:solidFill>
              <a:srgbClr val="00FFFF"/>
            </a:solidFill>
            <a:ln w="9525" cap="flat" cmpd="sng">
              <a:solidFill>
                <a:schemeClr val="tx1"/>
              </a:solidFill>
              <a:prstDash val="solid"/>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grpSp>
          <p:nvGrpSpPr>
            <p:cNvPr id="92172" name="Group 18"/>
            <p:cNvGrpSpPr/>
            <p:nvPr/>
          </p:nvGrpSpPr>
          <p:grpSpPr>
            <a:xfrm>
              <a:off x="2920" y="2144"/>
              <a:ext cx="2112" cy="432"/>
              <a:chOff x="2688" y="1632"/>
              <a:chExt cx="2112" cy="432"/>
            </a:xfrm>
          </p:grpSpPr>
          <p:sp>
            <p:nvSpPr>
              <p:cNvPr id="92193" name="Oval 19"/>
              <p:cNvSpPr/>
              <p:nvPr/>
            </p:nvSpPr>
            <p:spPr>
              <a:xfrm>
                <a:off x="2688" y="1632"/>
                <a:ext cx="2112" cy="43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94" name="Oval 20"/>
              <p:cNvSpPr>
                <a:spLocks noChangeAspect="1"/>
              </p:cNvSpPr>
              <p:nvPr/>
            </p:nvSpPr>
            <p:spPr>
              <a:xfrm>
                <a:off x="2862" y="1687"/>
                <a:ext cx="1745" cy="317"/>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95" name="Oval 21"/>
              <p:cNvSpPr>
                <a:spLocks noChangeAspect="1"/>
              </p:cNvSpPr>
              <p:nvPr/>
            </p:nvSpPr>
            <p:spPr>
              <a:xfrm>
                <a:off x="3135" y="1731"/>
                <a:ext cx="1203" cy="21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grpSp>
        <p:sp>
          <p:nvSpPr>
            <p:cNvPr id="92173" name="Rectangle 22"/>
            <p:cNvSpPr/>
            <p:nvPr/>
          </p:nvSpPr>
          <p:spPr>
            <a:xfrm>
              <a:off x="1768" y="2288"/>
              <a:ext cx="1104" cy="144"/>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74" name="Rectangle 23"/>
            <p:cNvSpPr/>
            <p:nvPr/>
          </p:nvSpPr>
          <p:spPr>
            <a:xfrm>
              <a:off x="2872" y="2288"/>
              <a:ext cx="240" cy="48"/>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75" name="Rectangle 24"/>
            <p:cNvSpPr/>
            <p:nvPr/>
          </p:nvSpPr>
          <p:spPr>
            <a:xfrm>
              <a:off x="3094" y="2258"/>
              <a:ext cx="96" cy="96"/>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76" name="Rectangle 25"/>
            <p:cNvSpPr/>
            <p:nvPr/>
          </p:nvSpPr>
          <p:spPr>
            <a:xfrm>
              <a:off x="1768" y="2528"/>
              <a:ext cx="1104" cy="144"/>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rgbClr val="FFFF00"/>
                </a:solidFill>
                <a:latin typeface="Arial" panose="020B0604020202020204" pitchFamily="34" charset="0"/>
                <a:ea typeface="宋体" panose="02010600030101010101" pitchFamily="2" charset="-122"/>
              </a:endParaRPr>
            </a:p>
          </p:txBody>
        </p:sp>
        <p:sp>
          <p:nvSpPr>
            <p:cNvPr id="92177" name="Rectangle 26"/>
            <p:cNvSpPr/>
            <p:nvPr/>
          </p:nvSpPr>
          <p:spPr>
            <a:xfrm>
              <a:off x="2872" y="2528"/>
              <a:ext cx="240" cy="48"/>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78" name="Rectangle 27"/>
            <p:cNvSpPr/>
            <p:nvPr/>
          </p:nvSpPr>
          <p:spPr>
            <a:xfrm>
              <a:off x="3112" y="2507"/>
              <a:ext cx="96" cy="96"/>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79" name="Rectangle 28"/>
            <p:cNvSpPr/>
            <p:nvPr/>
          </p:nvSpPr>
          <p:spPr>
            <a:xfrm>
              <a:off x="1768" y="2768"/>
              <a:ext cx="1104" cy="144"/>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80" name="Rectangle 29"/>
            <p:cNvSpPr/>
            <p:nvPr/>
          </p:nvSpPr>
          <p:spPr>
            <a:xfrm>
              <a:off x="2872" y="2768"/>
              <a:ext cx="240" cy="48"/>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81" name="Rectangle 30"/>
            <p:cNvSpPr/>
            <p:nvPr/>
          </p:nvSpPr>
          <p:spPr>
            <a:xfrm>
              <a:off x="3112" y="2747"/>
              <a:ext cx="96" cy="96"/>
            </a:xfrm>
            <a:prstGeom prst="rect">
              <a:avLst/>
            </a:prstGeom>
            <a:solidFill>
              <a:schemeClr val="tx2"/>
            </a:solid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82" name="AutoShape 31"/>
            <p:cNvSpPr/>
            <p:nvPr/>
          </p:nvSpPr>
          <p:spPr>
            <a:xfrm>
              <a:off x="3832" y="2000"/>
              <a:ext cx="288" cy="381"/>
            </a:xfrm>
            <a:prstGeom prst="can">
              <a:avLst>
                <a:gd name="adj" fmla="val 33069"/>
              </a:avLst>
            </a:prstGeom>
            <a:solidFill>
              <a:schemeClr val="accent2">
                <a:alpha val="30196"/>
              </a:schemeClr>
            </a:solidFill>
            <a:ln w="9525" cap="flat" cmpd="sng">
              <a:solidFill>
                <a:schemeClr val="tx1"/>
              </a:solidFill>
              <a:prstDash val="solid"/>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92183" name="Text Box 33"/>
            <p:cNvSpPr txBox="1"/>
            <p:nvPr/>
          </p:nvSpPr>
          <p:spPr>
            <a:xfrm>
              <a:off x="2953" y="1760"/>
              <a:ext cx="828" cy="317"/>
            </a:xfrm>
            <a:prstGeom prst="rect">
              <a:avLst/>
            </a:prstGeom>
            <a:noFill/>
            <a:ln w="9525">
              <a:noFill/>
            </a:ln>
          </p:spPr>
          <p:txBody>
            <a:bodyPr lIns="91300" tIns="45650" rIns="91300" bIns="4565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r>
                <a:rPr lang="zh-CN" altLang="en-US" sz="2400" dirty="0">
                  <a:solidFill>
                    <a:srgbClr val="FFFF00"/>
                  </a:solidFill>
                  <a:latin typeface="Arial" panose="020B0604020202020204" pitchFamily="34" charset="0"/>
                  <a:cs typeface="Arial" panose="020B0604020202020204" pitchFamily="34" charset="0"/>
                </a:rPr>
                <a:t>磁头</a:t>
              </a:r>
              <a:endParaRPr lang="zh-CN" altLang="en-US" sz="2400" dirty="0">
                <a:solidFill>
                  <a:srgbClr val="FFFF00"/>
                </a:solidFill>
                <a:latin typeface="Arial" panose="020B0604020202020204" pitchFamily="34" charset="0"/>
                <a:ea typeface="Arial" panose="020B0604020202020204" pitchFamily="34" charset="0"/>
              </a:endParaRPr>
            </a:p>
          </p:txBody>
        </p:sp>
        <p:cxnSp>
          <p:nvCxnSpPr>
            <p:cNvPr id="92184" name="AutoShape 34"/>
            <p:cNvCxnSpPr>
              <a:stCxn id="92183" idx="2"/>
              <a:endCxn id="92175" idx="0"/>
            </p:cNvCxnSpPr>
            <p:nvPr/>
          </p:nvCxnSpPr>
          <p:spPr>
            <a:xfrm flipH="1">
              <a:off x="3142" y="2077"/>
              <a:ext cx="225" cy="181"/>
            </a:xfrm>
            <a:prstGeom prst="straightConnector1">
              <a:avLst/>
            </a:prstGeom>
            <a:ln w="38100" cap="flat" cmpd="sng">
              <a:solidFill>
                <a:schemeClr val="tx1"/>
              </a:solidFill>
              <a:prstDash val="solid"/>
              <a:headEnd type="none" w="med" len="med"/>
              <a:tailEnd type="triangle" w="med" len="med"/>
            </a:ln>
          </p:spPr>
        </p:cxnSp>
        <p:cxnSp>
          <p:nvCxnSpPr>
            <p:cNvPr id="92185" name="AutoShape 35"/>
            <p:cNvCxnSpPr>
              <a:endCxn id="92173" idx="0"/>
            </p:cNvCxnSpPr>
            <p:nvPr/>
          </p:nvCxnSpPr>
          <p:spPr>
            <a:xfrm>
              <a:off x="2296" y="1952"/>
              <a:ext cx="24" cy="336"/>
            </a:xfrm>
            <a:prstGeom prst="straightConnector1">
              <a:avLst/>
            </a:prstGeom>
            <a:ln w="22225">
              <a:noFill/>
            </a:ln>
          </p:spPr>
        </p:cxnSp>
        <p:sp>
          <p:nvSpPr>
            <p:cNvPr id="92186" name="Text Box 36"/>
            <p:cNvSpPr txBox="1"/>
            <p:nvPr/>
          </p:nvSpPr>
          <p:spPr>
            <a:xfrm>
              <a:off x="4536" y="1704"/>
              <a:ext cx="832" cy="316"/>
            </a:xfrm>
            <a:prstGeom prst="rect">
              <a:avLst/>
            </a:prstGeom>
            <a:noFill/>
            <a:ln w="9525">
              <a:noFill/>
            </a:ln>
          </p:spPr>
          <p:txBody>
            <a:bodyPr lIns="91300" tIns="45650" rIns="91300" bIns="4565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r>
                <a:rPr lang="zh-CN" altLang="en-US" sz="2400" dirty="0">
                  <a:solidFill>
                    <a:srgbClr val="FFFF00"/>
                  </a:solidFill>
                  <a:latin typeface="Arial" panose="020B0604020202020204" pitchFamily="34" charset="0"/>
                  <a:cs typeface="Arial" panose="020B0604020202020204" pitchFamily="34" charset="0"/>
                </a:rPr>
                <a:t>磁道</a:t>
              </a:r>
              <a:endParaRPr lang="zh-CN" altLang="en-US" sz="2400" dirty="0">
                <a:solidFill>
                  <a:srgbClr val="FFFF00"/>
                </a:solidFill>
                <a:latin typeface="Arial" panose="020B0604020202020204" pitchFamily="34" charset="0"/>
                <a:ea typeface="Arial" panose="020B0604020202020204" pitchFamily="34" charset="0"/>
              </a:endParaRPr>
            </a:p>
          </p:txBody>
        </p:sp>
        <p:sp>
          <p:nvSpPr>
            <p:cNvPr id="92187" name="Text Box 37"/>
            <p:cNvSpPr txBox="1"/>
            <p:nvPr/>
          </p:nvSpPr>
          <p:spPr>
            <a:xfrm>
              <a:off x="3484" y="1505"/>
              <a:ext cx="960" cy="317"/>
            </a:xfrm>
            <a:prstGeom prst="rect">
              <a:avLst/>
            </a:prstGeom>
            <a:noFill/>
            <a:ln w="9525">
              <a:noFill/>
            </a:ln>
          </p:spPr>
          <p:txBody>
            <a:bodyPr lIns="91300" tIns="45650" rIns="91300" bIns="4565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r>
                <a:rPr lang="zh-CN" altLang="en-US" sz="2400" dirty="0">
                  <a:solidFill>
                    <a:srgbClr val="FFFF00"/>
                  </a:solidFill>
                  <a:latin typeface="Arial" panose="020B0604020202020204" pitchFamily="34" charset="0"/>
                  <a:cs typeface="Arial" panose="020B0604020202020204" pitchFamily="34" charset="0"/>
                </a:rPr>
                <a:t>旋转轴</a:t>
              </a:r>
              <a:endParaRPr lang="zh-CN" altLang="en-US" sz="2400" dirty="0">
                <a:solidFill>
                  <a:srgbClr val="FFFF00"/>
                </a:solidFill>
                <a:latin typeface="Arial" panose="020B0604020202020204" pitchFamily="34" charset="0"/>
                <a:ea typeface="Arial" panose="020B0604020202020204" pitchFamily="34" charset="0"/>
              </a:endParaRPr>
            </a:p>
          </p:txBody>
        </p:sp>
        <p:cxnSp>
          <p:nvCxnSpPr>
            <p:cNvPr id="92188" name="AutoShape 38"/>
            <p:cNvCxnSpPr>
              <a:endCxn id="92182" idx="1"/>
            </p:cNvCxnSpPr>
            <p:nvPr/>
          </p:nvCxnSpPr>
          <p:spPr>
            <a:xfrm>
              <a:off x="3967" y="1808"/>
              <a:ext cx="9" cy="192"/>
            </a:xfrm>
            <a:prstGeom prst="straightConnector1">
              <a:avLst/>
            </a:prstGeom>
            <a:ln w="38100" cap="flat" cmpd="sng">
              <a:solidFill>
                <a:schemeClr val="tx1"/>
              </a:solidFill>
              <a:prstDash val="solid"/>
              <a:headEnd type="none" w="med" len="med"/>
              <a:tailEnd type="triangle" w="med" len="med"/>
            </a:ln>
          </p:spPr>
        </p:cxnSp>
        <p:sp>
          <p:nvSpPr>
            <p:cNvPr id="92189" name="Text Box 39"/>
            <p:cNvSpPr txBox="1"/>
            <p:nvPr/>
          </p:nvSpPr>
          <p:spPr>
            <a:xfrm>
              <a:off x="4967" y="2953"/>
              <a:ext cx="793" cy="320"/>
            </a:xfrm>
            <a:prstGeom prst="rect">
              <a:avLst/>
            </a:prstGeom>
            <a:noFill/>
            <a:ln w="9525">
              <a:noFill/>
            </a:ln>
          </p:spPr>
          <p:txBody>
            <a:bodyPr lIns="91300" tIns="45650" rIns="91300" bIns="4565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r>
                <a:rPr lang="zh-CN" altLang="en-US" sz="2400" dirty="0">
                  <a:solidFill>
                    <a:srgbClr val="FFFF00"/>
                  </a:solidFill>
                  <a:latin typeface="Arial" panose="020B0604020202020204" pitchFamily="34" charset="0"/>
                  <a:cs typeface="Arial" panose="020B0604020202020204" pitchFamily="34" charset="0"/>
                </a:rPr>
                <a:t>盘面</a:t>
              </a:r>
              <a:endParaRPr lang="zh-CN" altLang="en-US" sz="2400" dirty="0">
                <a:solidFill>
                  <a:srgbClr val="FFFF00"/>
                </a:solidFill>
                <a:latin typeface="Arial" panose="020B0604020202020204" pitchFamily="34" charset="0"/>
                <a:ea typeface="Arial" panose="020B0604020202020204" pitchFamily="34" charset="0"/>
              </a:endParaRPr>
            </a:p>
          </p:txBody>
        </p:sp>
        <p:sp>
          <p:nvSpPr>
            <p:cNvPr id="92190" name="Line 41"/>
            <p:cNvSpPr/>
            <p:nvPr/>
          </p:nvSpPr>
          <p:spPr>
            <a:xfrm flipH="1" flipV="1">
              <a:off x="5012" y="2931"/>
              <a:ext cx="159" cy="114"/>
            </a:xfrm>
            <a:prstGeom prst="line">
              <a:avLst/>
            </a:prstGeom>
            <a:ln w="38100" cap="flat" cmpd="sng">
              <a:solidFill>
                <a:schemeClr val="tx1"/>
              </a:solidFill>
              <a:prstDash val="solid"/>
              <a:headEnd type="none" w="med" len="med"/>
              <a:tailEnd type="triangle" w="med" len="med"/>
            </a:ln>
          </p:spPr>
        </p:sp>
        <p:sp>
          <p:nvSpPr>
            <p:cNvPr id="92191" name="Line 42"/>
            <p:cNvSpPr/>
            <p:nvPr/>
          </p:nvSpPr>
          <p:spPr>
            <a:xfrm flipH="1">
              <a:off x="4740" y="2001"/>
              <a:ext cx="204" cy="272"/>
            </a:xfrm>
            <a:prstGeom prst="line">
              <a:avLst/>
            </a:prstGeom>
            <a:ln w="38100" cap="flat" cmpd="sng">
              <a:solidFill>
                <a:schemeClr val="tx1"/>
              </a:solidFill>
              <a:prstDash val="solid"/>
              <a:headEnd type="none" w="med" len="med"/>
              <a:tailEnd type="triangle" w="med" len="med"/>
            </a:ln>
          </p:spPr>
        </p:sp>
        <p:sp>
          <p:nvSpPr>
            <p:cNvPr id="92192" name="Line 43"/>
            <p:cNvSpPr/>
            <p:nvPr/>
          </p:nvSpPr>
          <p:spPr>
            <a:xfrm>
              <a:off x="1973" y="2183"/>
              <a:ext cx="839" cy="0"/>
            </a:xfrm>
            <a:prstGeom prst="line">
              <a:avLst/>
            </a:prstGeom>
            <a:ln w="38100" cap="flat" cmpd="sng">
              <a:solidFill>
                <a:schemeClr val="tx1"/>
              </a:solidFill>
              <a:prstDash val="dash"/>
              <a:headEnd type="triangle" w="med" len="med"/>
              <a:tailEnd type="triangle" w="med" len="med"/>
            </a:ln>
          </p:spPr>
        </p:sp>
      </p:grpSp>
    </p:spTree>
  </p:cSld>
  <p:clrMapOvr>
    <a:masterClrMapping/>
  </p:clrMapOvr>
  <p:transition spd="slow">
    <p:pull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idx="1"/>
          </p:nvPr>
        </p:nvSpPr>
        <p:spPr>
          <a:xfrm>
            <a:off x="512763" y="1220788"/>
            <a:ext cx="8326437" cy="5287962"/>
          </a:xfrm>
          <a:ln/>
        </p:spPr>
        <p:txBody>
          <a:bodyPr vert="horz" wrap="square" lIns="91440" tIns="45720" rIns="91440" bIns="45720" anchor="t" anchorCtr="0">
            <a:spAutoFit/>
          </a:bodyPr>
          <a:p>
            <a:pPr>
              <a:lnSpc>
                <a:spcPct val="100000"/>
              </a:lnSpc>
              <a:spcBef>
                <a:spcPct val="20000"/>
              </a:spcBef>
              <a:buNone/>
            </a:pPr>
            <a:r>
              <a:rPr lang="en-US" altLang="zh-CN" dirty="0">
                <a:latin typeface="Times New Roman" panose="02020603050405020304" pitchFamily="18" charset="0"/>
              </a:rPr>
              <a:t>2</a:t>
            </a:r>
            <a:r>
              <a:rPr lang="zh-CN" altLang="en-US" dirty="0">
                <a:latin typeface="Times New Roman" panose="02020603050405020304" pitchFamily="18" charset="0"/>
              </a:rPr>
              <a:t>、数据传输率</a:t>
            </a:r>
            <a:r>
              <a:rPr lang="en-US" altLang="zh-CN" dirty="0">
                <a:latin typeface="Times New Roman" panose="02020603050405020304" pitchFamily="18" charset="0"/>
              </a:rPr>
              <a:t>f</a:t>
            </a:r>
            <a:endParaRPr lang="en-US" altLang="zh-CN" dirty="0">
              <a:latin typeface="Times New Roman" panose="02020603050405020304" pitchFamily="18" charset="0"/>
            </a:endParaRPr>
          </a:p>
          <a:p>
            <a:pPr lvl="1">
              <a:lnSpc>
                <a:spcPct val="100000"/>
              </a:lnSpc>
              <a:spcBef>
                <a:spcPct val="20000"/>
              </a:spcBef>
            </a:pPr>
            <a:r>
              <a:rPr lang="zh-CN" altLang="en-US" dirty="0">
                <a:latin typeface="Times New Roman" panose="02020603050405020304" pitchFamily="18" charset="0"/>
              </a:rPr>
              <a:t>单位时间内外存储设备传输数据的位数或字节数</a:t>
            </a:r>
            <a:endParaRPr lang="zh-CN" altLang="en-US" dirty="0">
              <a:latin typeface="Times New Roman" panose="02020603050405020304" pitchFamily="18" charset="0"/>
            </a:endParaRPr>
          </a:p>
          <a:p>
            <a:pPr lvl="1">
              <a:lnSpc>
                <a:spcPct val="100000"/>
              </a:lnSpc>
              <a:spcBef>
                <a:spcPct val="20000"/>
              </a:spcBef>
            </a:pPr>
            <a:r>
              <a:rPr lang="zh-CN" altLang="en-US" dirty="0">
                <a:latin typeface="Times New Roman" panose="02020603050405020304" pitchFamily="18" charset="0"/>
              </a:rPr>
              <a:t>磁盘的数据传输率</a:t>
            </a:r>
            <a:r>
              <a:rPr lang="en-US" altLang="zh-CN" dirty="0">
                <a:latin typeface="Times New Roman" panose="02020603050405020304" pitchFamily="18" charset="0"/>
              </a:rPr>
              <a:t>f</a:t>
            </a:r>
            <a:endParaRPr lang="en-US" altLang="zh-CN" dirty="0">
              <a:latin typeface="Times New Roman" panose="02020603050405020304" pitchFamily="18" charset="0"/>
            </a:endParaRPr>
          </a:p>
          <a:p>
            <a:pPr lvl="2">
              <a:lnSpc>
                <a:spcPct val="100000"/>
              </a:lnSpc>
              <a:spcBef>
                <a:spcPct val="20000"/>
              </a:spcBef>
              <a:buClr>
                <a:schemeClr val="tx2"/>
              </a:buClr>
            </a:pPr>
            <a:r>
              <a:rPr lang="zh-CN" altLang="en-US" sz="2400" dirty="0"/>
              <a:t>非格式化</a:t>
            </a:r>
            <a:r>
              <a:rPr lang="zh-CN" altLang="en-US" dirty="0">
                <a:latin typeface="Times New Roman" panose="02020603050405020304" pitchFamily="18" charset="0"/>
              </a:rPr>
              <a:t>数据传输率：</a:t>
            </a:r>
            <a:r>
              <a:rPr lang="en-US" altLang="zh-CN" dirty="0">
                <a:solidFill>
                  <a:srgbClr val="FFFF00"/>
                </a:solidFill>
                <a:latin typeface="Times New Roman" panose="02020603050405020304" pitchFamily="18" charset="0"/>
              </a:rPr>
              <a:t>f</a:t>
            </a:r>
            <a:r>
              <a:rPr lang="en-US" altLang="zh-CN" baseline="-25000" dirty="0">
                <a:solidFill>
                  <a:srgbClr val="FFFF00"/>
                </a:solidFill>
                <a:latin typeface="Times New Roman" panose="02020603050405020304" pitchFamily="18" charset="0"/>
              </a:rPr>
              <a:t>n</a:t>
            </a:r>
            <a:r>
              <a:rPr lang="en-US" altLang="zh-CN" dirty="0">
                <a:solidFill>
                  <a:srgbClr val="FFFF00"/>
                </a:solidFill>
                <a:latin typeface="Times New Roman" panose="02020603050405020304" pitchFamily="18" charset="0"/>
              </a:rPr>
              <a:t>=D</a:t>
            </a:r>
            <a:r>
              <a:rPr lang="en-US" altLang="zh-CN" baseline="-25000" dirty="0">
                <a:solidFill>
                  <a:srgbClr val="FFFF00"/>
                </a:solidFill>
                <a:latin typeface="Times New Roman" panose="02020603050405020304" pitchFamily="18" charset="0"/>
              </a:rPr>
              <a:t>b</a:t>
            </a:r>
            <a:r>
              <a:rPr lang="en-US" altLang="zh-CN" dirty="0">
                <a:solidFill>
                  <a:srgbClr val="FFFF00"/>
                </a:solidFill>
                <a:latin typeface="Times New Roman" panose="02020603050405020304" pitchFamily="18" charset="0"/>
              </a:rPr>
              <a:t>·π·D</a:t>
            </a:r>
            <a:r>
              <a:rPr lang="en-US" altLang="zh-CN" baseline="-25000" dirty="0">
                <a:solidFill>
                  <a:srgbClr val="FFFF00"/>
                </a:solidFill>
                <a:latin typeface="Times New Roman" panose="02020603050405020304" pitchFamily="18" charset="0"/>
              </a:rPr>
              <a:t>min</a:t>
            </a:r>
            <a:r>
              <a:rPr lang="en-US" altLang="zh-CN" dirty="0">
                <a:solidFill>
                  <a:srgbClr val="FFFF00"/>
                </a:solidFill>
                <a:latin typeface="Times New Roman" panose="02020603050405020304" pitchFamily="18" charset="0"/>
              </a:rPr>
              <a:t>/t</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lvl="2">
              <a:lnSpc>
                <a:spcPct val="100000"/>
              </a:lnSpc>
              <a:spcBef>
                <a:spcPct val="20000"/>
              </a:spcBef>
              <a:buNone/>
            </a:pPr>
            <a:r>
              <a:rPr lang="en-US" altLang="zh-CN" dirty="0">
                <a:latin typeface="Times New Roman" panose="02020603050405020304" pitchFamily="18" charset="0"/>
              </a:rPr>
              <a:t>	t：</a:t>
            </a:r>
            <a:r>
              <a:rPr lang="zh-CN" altLang="en-US" dirty="0">
                <a:latin typeface="Times New Roman" panose="02020603050405020304" pitchFamily="18" charset="0"/>
              </a:rPr>
              <a:t>转一圈所用时间；</a:t>
            </a:r>
            <a:r>
              <a:rPr lang="en-US" altLang="zh-CN" dirty="0">
                <a:latin typeface="Times New Roman" panose="02020603050405020304" pitchFamily="18" charset="0"/>
              </a:rPr>
              <a:t>D</a:t>
            </a:r>
            <a:r>
              <a:rPr lang="en-US" altLang="zh-CN" baseline="-25000" dirty="0">
                <a:latin typeface="Times New Roman" panose="02020603050405020304" pitchFamily="18" charset="0"/>
              </a:rPr>
              <a:t>b</a:t>
            </a:r>
            <a:r>
              <a:rPr lang="en-US" altLang="zh-CN" dirty="0">
                <a:latin typeface="Times New Roman" panose="02020603050405020304" pitchFamily="18" charset="0"/>
              </a:rPr>
              <a:t>：</a:t>
            </a:r>
            <a:r>
              <a:rPr lang="zh-CN" altLang="en-US" dirty="0">
                <a:latin typeface="Times New Roman" panose="02020603050405020304" pitchFamily="18" charset="0"/>
              </a:rPr>
              <a:t>位密度；</a:t>
            </a:r>
            <a:r>
              <a:rPr lang="en-US" altLang="zh-CN" dirty="0">
                <a:latin typeface="Times New Roman" panose="02020603050405020304" pitchFamily="18" charset="0"/>
              </a:rPr>
              <a:t>D</a:t>
            </a:r>
            <a:r>
              <a:rPr lang="en-US" altLang="zh-CN" baseline="-25000" dirty="0">
                <a:latin typeface="Times New Roman" panose="02020603050405020304" pitchFamily="18" charset="0"/>
              </a:rPr>
              <a:t>min</a:t>
            </a:r>
            <a:r>
              <a:rPr lang="en-US" altLang="zh-CN" dirty="0">
                <a:latin typeface="Times New Roman" panose="02020603050405020304" pitchFamily="18" charset="0"/>
              </a:rPr>
              <a:t>：</a:t>
            </a:r>
            <a:r>
              <a:rPr lang="zh-CN" altLang="en-US" dirty="0">
                <a:latin typeface="Times New Roman" panose="02020603050405020304" pitchFamily="18" charset="0"/>
              </a:rPr>
              <a:t>最内圈磁道的直径</a:t>
            </a:r>
            <a:endParaRPr lang="zh-CN" altLang="en-US" dirty="0">
              <a:latin typeface="Times New Roman" panose="02020603050405020304" pitchFamily="18" charset="0"/>
            </a:endParaRPr>
          </a:p>
          <a:p>
            <a:pPr lvl="2">
              <a:lnSpc>
                <a:spcPct val="100000"/>
              </a:lnSpc>
              <a:spcBef>
                <a:spcPct val="20000"/>
              </a:spcBef>
              <a:buNone/>
            </a:pPr>
            <a:r>
              <a:rPr lang="zh-CN" altLang="en-US" dirty="0">
                <a:latin typeface="Times New Roman" panose="02020603050405020304" pitchFamily="18" charset="0"/>
                <a:sym typeface="Symbol" panose="05050102010706020507" pitchFamily="18" charset="2"/>
              </a:rPr>
              <a:t>	</a:t>
            </a:r>
            <a:r>
              <a:rPr lang="zh-CN" altLang="en-US" dirty="0">
                <a:solidFill>
                  <a:srgbClr val="0000FF"/>
                </a:solidFill>
                <a:latin typeface="Times New Roman" panose="02020603050405020304" pitchFamily="18" charset="0"/>
                <a:sym typeface="Symbol" panose="05050102010706020507" pitchFamily="18" charset="2"/>
              </a:rPr>
              <a:t> </a:t>
            </a:r>
            <a:r>
              <a:rPr lang="en-US" altLang="zh-CN" dirty="0">
                <a:solidFill>
                  <a:srgbClr val="FFFF00"/>
                </a:solidFill>
                <a:latin typeface="Times New Roman" panose="02020603050405020304" pitchFamily="18" charset="0"/>
              </a:rPr>
              <a:t>f</a:t>
            </a:r>
            <a:r>
              <a:rPr lang="en-US" altLang="zh-CN" baseline="-25000" dirty="0">
                <a:solidFill>
                  <a:srgbClr val="FFFF00"/>
                </a:solidFill>
                <a:latin typeface="Times New Roman" panose="02020603050405020304" pitchFamily="18" charset="0"/>
              </a:rPr>
              <a:t>n</a:t>
            </a:r>
            <a:r>
              <a:rPr lang="en-US" altLang="zh-CN" dirty="0">
                <a:solidFill>
                  <a:srgbClr val="FFFF00"/>
                </a:solidFill>
                <a:latin typeface="Times New Roman" panose="02020603050405020304" pitchFamily="18" charset="0"/>
              </a:rPr>
              <a:t>·t=D</a:t>
            </a:r>
            <a:r>
              <a:rPr lang="en-US" altLang="zh-CN" baseline="-25000" dirty="0">
                <a:solidFill>
                  <a:srgbClr val="FFFF00"/>
                </a:solidFill>
                <a:latin typeface="Times New Roman" panose="02020603050405020304" pitchFamily="18" charset="0"/>
              </a:rPr>
              <a:t>b</a:t>
            </a:r>
            <a:r>
              <a:rPr lang="en-US" altLang="zh-CN" dirty="0">
                <a:solidFill>
                  <a:srgbClr val="FFFF00"/>
                </a:solidFill>
                <a:latin typeface="Times New Roman" panose="02020603050405020304" pitchFamily="18" charset="0"/>
              </a:rPr>
              <a:t>·(π·D</a:t>
            </a:r>
            <a:r>
              <a:rPr lang="en-US" altLang="zh-CN" baseline="-25000" dirty="0">
                <a:solidFill>
                  <a:srgbClr val="FFFF00"/>
                </a:solidFill>
                <a:latin typeface="Times New Roman" panose="02020603050405020304" pitchFamily="18" charset="0"/>
              </a:rPr>
              <a:t>min</a:t>
            </a:r>
            <a:r>
              <a:rPr lang="en-US" altLang="zh-CN" dirty="0">
                <a:solidFill>
                  <a:srgbClr val="FFFF00"/>
                </a:solidFill>
                <a:latin typeface="Times New Roman" panose="02020603050405020304" pitchFamily="18" charset="0"/>
              </a:rPr>
              <a:t>)</a:t>
            </a:r>
            <a:endParaRPr lang="en-US" altLang="zh-CN" dirty="0">
              <a:solidFill>
                <a:srgbClr val="FFFF00"/>
              </a:solidFill>
              <a:latin typeface="Times New Roman" panose="02020603050405020304" pitchFamily="18" charset="0"/>
            </a:endParaRPr>
          </a:p>
          <a:p>
            <a:pPr lvl="2">
              <a:lnSpc>
                <a:spcPct val="100000"/>
              </a:lnSpc>
              <a:spcBef>
                <a:spcPct val="20000"/>
              </a:spcBef>
              <a:buNone/>
            </a:pPr>
            <a:r>
              <a:rPr lang="en-US" altLang="zh-CN" dirty="0">
                <a:latin typeface="Times New Roman" panose="02020603050405020304" pitchFamily="18" charset="0"/>
              </a:rPr>
              <a:t>π·D</a:t>
            </a:r>
            <a:r>
              <a:rPr lang="en-US" altLang="zh-CN" baseline="-25000" dirty="0">
                <a:latin typeface="Times New Roman" panose="02020603050405020304" pitchFamily="18" charset="0"/>
              </a:rPr>
              <a:t>min</a:t>
            </a:r>
            <a:r>
              <a:rPr lang="en-US" altLang="zh-CN" dirty="0">
                <a:latin typeface="Times New Roman" panose="02020603050405020304" pitchFamily="18" charset="0"/>
              </a:rPr>
              <a:t>：</a:t>
            </a:r>
            <a:r>
              <a:rPr lang="zh-CN" altLang="en-US" dirty="0">
                <a:latin typeface="Times New Roman" panose="02020603050405020304" pitchFamily="18" charset="0"/>
              </a:rPr>
              <a:t>最内圈磁道的周长；</a:t>
            </a:r>
            <a:r>
              <a:rPr lang="en-US" altLang="zh-CN" dirty="0">
                <a:latin typeface="Times New Roman" panose="02020603050405020304" pitchFamily="18" charset="0"/>
              </a:rPr>
              <a:t>f·t：</a:t>
            </a:r>
            <a:r>
              <a:rPr lang="zh-CN" altLang="en-US" dirty="0">
                <a:latin typeface="Times New Roman" panose="02020603050405020304" pitchFamily="18" charset="0"/>
              </a:rPr>
              <a:t>磁道的容量</a:t>
            </a:r>
            <a:endParaRPr lang="zh-CN" altLang="en-US" dirty="0">
              <a:latin typeface="Times New Roman" panose="02020603050405020304" pitchFamily="18" charset="0"/>
            </a:endParaRPr>
          </a:p>
          <a:p>
            <a:pPr lvl="2">
              <a:lnSpc>
                <a:spcPct val="100000"/>
              </a:lnSpc>
              <a:spcBef>
                <a:spcPct val="20000"/>
              </a:spcBef>
            </a:pPr>
            <a:r>
              <a:rPr lang="zh-CN" altLang="en-US" sz="2400" dirty="0"/>
              <a:t>格式化</a:t>
            </a:r>
            <a:r>
              <a:rPr lang="zh-CN" altLang="en-US" dirty="0">
                <a:latin typeface="Times New Roman" panose="02020603050405020304" pitchFamily="18" charset="0"/>
              </a:rPr>
              <a:t>数据传输率：</a:t>
            </a:r>
            <a:r>
              <a:rPr lang="en-US" altLang="zh-CN" dirty="0">
                <a:solidFill>
                  <a:srgbClr val="FFFF00"/>
                </a:solidFill>
                <a:latin typeface="Times New Roman" panose="02020603050405020304" pitchFamily="18" charset="0"/>
              </a:rPr>
              <a:t>f</a:t>
            </a:r>
            <a:r>
              <a:rPr lang="en-US" altLang="zh-CN" baseline="-25000" dirty="0">
                <a:solidFill>
                  <a:srgbClr val="FFFF00"/>
                </a:solidFill>
                <a:latin typeface="Times New Roman" panose="02020603050405020304" pitchFamily="18" charset="0"/>
              </a:rPr>
              <a:t>f</a:t>
            </a:r>
            <a:r>
              <a:rPr lang="en-US" altLang="zh-CN" dirty="0">
                <a:solidFill>
                  <a:srgbClr val="FFFF00"/>
                </a:solidFill>
                <a:latin typeface="Times New Roman" panose="02020603050405020304" pitchFamily="18" charset="0"/>
              </a:rPr>
              <a:t>=B</a:t>
            </a:r>
            <a:r>
              <a:rPr lang="en-US" altLang="zh-CN" baseline="-25000" dirty="0">
                <a:solidFill>
                  <a:srgbClr val="FFFF00"/>
                </a:solidFill>
                <a:latin typeface="Times New Roman" panose="02020603050405020304" pitchFamily="18" charset="0"/>
              </a:rPr>
              <a:t>S</a:t>
            </a:r>
            <a:r>
              <a:rPr lang="en-US" altLang="zh-CN" dirty="0">
                <a:solidFill>
                  <a:srgbClr val="FFFF00"/>
                </a:solidFill>
                <a:latin typeface="Times New Roman" panose="02020603050405020304" pitchFamily="18" charset="0"/>
              </a:rPr>
              <a:t>·S</a:t>
            </a:r>
            <a:r>
              <a:rPr lang="en-US" altLang="zh-CN" baseline="-25000" dirty="0">
                <a:solidFill>
                  <a:srgbClr val="FFFF00"/>
                </a:solidFill>
                <a:latin typeface="Times New Roman" panose="02020603050405020304" pitchFamily="18" charset="0"/>
              </a:rPr>
              <a:t>t</a:t>
            </a:r>
            <a:r>
              <a:rPr lang="en-US" altLang="zh-CN" dirty="0">
                <a:solidFill>
                  <a:srgbClr val="FFFF00"/>
                </a:solidFill>
                <a:latin typeface="Times New Roman" panose="02020603050405020304" pitchFamily="18" charset="0"/>
              </a:rPr>
              <a:t>/t</a:t>
            </a:r>
            <a:endParaRPr lang="zh-CN" altLang="en-US" dirty="0">
              <a:solidFill>
                <a:srgbClr val="FFFF00"/>
              </a:solidFill>
              <a:latin typeface="Times New Roman" panose="02020603050405020304" pitchFamily="18" charset="0"/>
            </a:endParaRPr>
          </a:p>
        </p:txBody>
      </p:sp>
      <p:sp>
        <p:nvSpPr>
          <p:cNvPr id="279555" name="Rectangle 3"/>
          <p:cNvSpPr>
            <a:spLocks noGrp="1" noChangeArrowheads="1"/>
          </p:cNvSpPr>
          <p:nvPr>
            <p:ph type="title"/>
          </p:nvPr>
        </p:nvSpPr>
        <p:spPr>
          <a:xfrm>
            <a:off x="47625" y="211138"/>
            <a:ext cx="9036050" cy="7905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uLnTx/>
                <a:uFillTx/>
                <a:latin typeface="+mj-lt"/>
                <a:ea typeface="+mj-ea"/>
                <a:cs typeface="+mj-cs"/>
              </a:rPr>
              <a:t>回顾</a:t>
            </a: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a:t>
            </a:r>
            <a:r>
              <a:rPr kumimoji="0" lang="zh-CN" altLang="en-US" sz="4800" b="1" i="0" u="none" strike="noStrike" kern="0" cap="none" spc="0" normalizeH="0" baseline="0" noProof="0" dirty="0" smtClean="0">
                <a:ln>
                  <a:noFill/>
                </a:ln>
                <a:solidFill>
                  <a:srgbClr val="FF0000"/>
                </a:solidFill>
                <a:effectLst/>
                <a:uLnTx/>
                <a:uFillTx/>
                <a:latin typeface="+mj-lt"/>
                <a:ea typeface="+mj-ea"/>
                <a:cs typeface="+mj-cs"/>
              </a:rPr>
              <a:t>磁表面存储器的性能指标</a:t>
            </a:r>
            <a:r>
              <a:rPr kumimoji="0" lang="zh-CN" altLang="en-US" sz="5400" b="1" i="0" u="none" strike="noStrike" kern="0" cap="none" spc="0" normalizeH="0" baseline="0" noProof="0" dirty="0" smtClean="0">
                <a:ln>
                  <a:noFill/>
                </a:ln>
                <a:solidFill>
                  <a:srgbClr val="FF0000"/>
                </a:solidFill>
                <a:effectLst/>
                <a:uLnTx/>
                <a:uFillTx/>
                <a:latin typeface="+mj-lt"/>
                <a:ea typeface="+mj-ea"/>
                <a:cs typeface="+mj-cs"/>
              </a:rPr>
              <a:t> </a:t>
            </a:r>
            <a:endParaRPr kumimoji="0" lang="zh-CN" altLang="en-US" sz="5400" b="1" i="0" u="none" strike="noStrike" kern="0" cap="none" spc="0" normalizeH="0" baseline="0" noProof="0" dirty="0" smtClean="0">
              <a:ln>
                <a:noFill/>
              </a:ln>
              <a:solidFill>
                <a:srgbClr val="FF0000"/>
              </a:solidFill>
              <a:effectLst/>
              <a:uLnTx/>
              <a:uFillTx/>
              <a:latin typeface="+mj-lt"/>
              <a:ea typeface="+mj-ea"/>
              <a:cs typeface="+mj-cs"/>
            </a:endParaRPr>
          </a:p>
        </p:txBody>
      </p:sp>
    </p:spTree>
  </p:cSld>
  <p:clrMapOvr>
    <a:masterClrMapping/>
  </p:clrMapOvr>
  <p:transition spd="slow">
    <p:pull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idx="1"/>
          </p:nvPr>
        </p:nvSpPr>
        <p:spPr>
          <a:xfrm>
            <a:off x="449263" y="938213"/>
            <a:ext cx="8670925" cy="5716587"/>
          </a:xfrm>
          <a:ln/>
        </p:spPr>
        <p:txBody>
          <a:bodyPr vert="horz" wrap="square" lIns="91440" tIns="45720" rIns="91440" bIns="45720" anchor="t" anchorCtr="0">
            <a:spAutoFit/>
          </a:bodyPr>
          <a:p>
            <a:pPr>
              <a:lnSpc>
                <a:spcPct val="110000"/>
              </a:lnSpc>
              <a:spcBef>
                <a:spcPct val="0"/>
              </a:spcBef>
              <a:buNone/>
            </a:pPr>
            <a:r>
              <a:rPr lang="en-US" altLang="zh-CN" sz="3200" dirty="0">
                <a:latin typeface="Times New Roman" panose="02020603050405020304" pitchFamily="18" charset="0"/>
              </a:rPr>
              <a:t>3</a:t>
            </a:r>
            <a:r>
              <a:rPr lang="zh-CN" altLang="en-US" sz="3200" dirty="0">
                <a:latin typeface="Times New Roman" panose="02020603050405020304" pitchFamily="18" charset="0"/>
              </a:rPr>
              <a:t>、存取时间</a:t>
            </a:r>
            <a:r>
              <a:rPr lang="en-US" altLang="zh-CN" sz="3200" dirty="0">
                <a:latin typeface="Times New Roman" panose="02020603050405020304" pitchFamily="18" charset="0"/>
              </a:rPr>
              <a:t>t</a:t>
            </a:r>
            <a:r>
              <a:rPr lang="en-US" altLang="zh-CN" sz="3200" baseline="-25000" dirty="0">
                <a:latin typeface="Times New Roman" panose="02020603050405020304" pitchFamily="18" charset="0"/>
              </a:rPr>
              <a:t>a</a:t>
            </a:r>
            <a:r>
              <a:rPr lang="en-US" altLang="zh-CN" sz="3200" dirty="0">
                <a:latin typeface="Times New Roman" panose="02020603050405020304" pitchFamily="18" charset="0"/>
              </a:rPr>
              <a:t>(</a:t>
            </a:r>
            <a:r>
              <a:rPr lang="zh-CN" altLang="en-US" sz="3200" dirty="0">
                <a:latin typeface="Times New Roman" panose="02020603050405020304" pitchFamily="18" charset="0"/>
              </a:rPr>
              <a:t>以移动头磁盘为例说明)</a:t>
            </a:r>
            <a:endParaRPr lang="zh-CN" altLang="en-US" sz="3200" dirty="0">
              <a:latin typeface="Times New Roman" panose="02020603050405020304" pitchFamily="18" charset="0"/>
            </a:endParaRPr>
          </a:p>
          <a:p>
            <a:pPr lvl="1">
              <a:lnSpc>
                <a:spcPct val="110000"/>
              </a:lnSpc>
              <a:spcBef>
                <a:spcPct val="0"/>
              </a:spcBef>
            </a:pPr>
            <a:endParaRPr lang="zh-CN" altLang="en-US" sz="2800" dirty="0">
              <a:latin typeface="Times New Roman" panose="02020603050405020304" pitchFamily="18" charset="0"/>
            </a:endParaRPr>
          </a:p>
          <a:p>
            <a:pPr lvl="1">
              <a:lnSpc>
                <a:spcPct val="110000"/>
              </a:lnSpc>
              <a:spcBef>
                <a:spcPct val="50000"/>
              </a:spcBef>
            </a:pPr>
            <a:endParaRPr lang="zh-CN" altLang="en-US" dirty="0">
              <a:latin typeface="Times New Roman" panose="02020603050405020304" pitchFamily="18" charset="0"/>
            </a:endParaRPr>
          </a:p>
          <a:p>
            <a:pPr lvl="1">
              <a:lnSpc>
                <a:spcPct val="110000"/>
              </a:lnSpc>
              <a:spcBef>
                <a:spcPct val="0"/>
              </a:spcBef>
            </a:pPr>
            <a:r>
              <a:rPr lang="zh-CN" altLang="en-US" sz="2800" dirty="0">
                <a:latin typeface="Times New Roman" panose="02020603050405020304" pitchFamily="18" charset="0"/>
              </a:rPr>
              <a:t>平均存取时间</a:t>
            </a:r>
            <a:endParaRPr lang="zh-CN" altLang="en-US" sz="2800" dirty="0">
              <a:latin typeface="Times New Roman" panose="02020603050405020304" pitchFamily="18" charset="0"/>
            </a:endParaRPr>
          </a:p>
          <a:p>
            <a:pPr lvl="2">
              <a:lnSpc>
                <a:spcPct val="110000"/>
              </a:lnSpc>
              <a:spcBef>
                <a:spcPct val="20000"/>
              </a:spcBef>
            </a:pPr>
            <a:endParaRPr lang="zh-CN" altLang="en-US" dirty="0">
              <a:latin typeface="Times New Roman" panose="02020603050405020304" pitchFamily="18" charset="0"/>
            </a:endParaRPr>
          </a:p>
          <a:p>
            <a:pPr lvl="2">
              <a:lnSpc>
                <a:spcPct val="110000"/>
              </a:lnSpc>
              <a:spcBef>
                <a:spcPct val="0"/>
              </a:spcBef>
            </a:pPr>
            <a:r>
              <a:rPr lang="en-US" altLang="zh-CN" sz="2400" dirty="0">
                <a:latin typeface="Times New Roman" panose="02020603050405020304" pitchFamily="18" charset="0"/>
              </a:rPr>
              <a:t>t</a:t>
            </a:r>
            <a:r>
              <a:rPr lang="en-US" altLang="zh-CN" sz="2400" baseline="-25000" dirty="0">
                <a:latin typeface="Times New Roman" panose="02020603050405020304" pitchFamily="18" charset="0"/>
              </a:rPr>
              <a:t>smax</a:t>
            </a:r>
            <a:r>
              <a:rPr lang="en-US" altLang="zh-CN" sz="2400" dirty="0">
                <a:latin typeface="Times New Roman" panose="02020603050405020304" pitchFamily="18" charset="0"/>
              </a:rPr>
              <a:t>：</a:t>
            </a:r>
            <a:r>
              <a:rPr lang="zh-CN" altLang="en-US" sz="2400" dirty="0">
                <a:latin typeface="Times New Roman" panose="02020603050405020304" pitchFamily="18" charset="0"/>
              </a:rPr>
              <a:t>首道、末道之间移动的时间</a:t>
            </a:r>
            <a:endParaRPr lang="zh-CN" altLang="en-US" sz="2400" dirty="0">
              <a:latin typeface="Times New Roman" panose="02020603050405020304" pitchFamily="18" charset="0"/>
            </a:endParaRPr>
          </a:p>
          <a:p>
            <a:pPr lvl="2">
              <a:lnSpc>
                <a:spcPct val="110000"/>
              </a:lnSpc>
              <a:spcBef>
                <a:spcPct val="0"/>
              </a:spcBef>
            </a:pPr>
            <a:r>
              <a:rPr lang="en-US" altLang="zh-CN" sz="2400" dirty="0">
                <a:latin typeface="Times New Roman" panose="02020603050405020304" pitchFamily="18" charset="0"/>
              </a:rPr>
              <a:t>t</a:t>
            </a:r>
            <a:r>
              <a:rPr lang="en-US" altLang="zh-CN" sz="2400" baseline="-25000" dirty="0">
                <a:latin typeface="Times New Roman" panose="02020603050405020304" pitchFamily="18" charset="0"/>
              </a:rPr>
              <a:t>smin</a:t>
            </a:r>
            <a:r>
              <a:rPr lang="en-US" altLang="zh-CN" sz="2400" dirty="0">
                <a:latin typeface="Times New Roman" panose="02020603050405020304" pitchFamily="18" charset="0"/>
              </a:rPr>
              <a:t>：</a:t>
            </a:r>
            <a:r>
              <a:rPr lang="zh-CN" altLang="en-US" sz="2400" dirty="0">
                <a:latin typeface="Times New Roman" panose="02020603050405020304" pitchFamily="18" charset="0"/>
              </a:rPr>
              <a:t>寻找相邻磁道的时间，由寻道机构决定</a:t>
            </a:r>
            <a:endParaRPr lang="zh-CN" altLang="en-US" sz="2400" dirty="0">
              <a:latin typeface="Times New Roman" panose="02020603050405020304" pitchFamily="18" charset="0"/>
            </a:endParaRPr>
          </a:p>
          <a:p>
            <a:pPr lvl="2">
              <a:lnSpc>
                <a:spcPct val="110000"/>
              </a:lnSpc>
              <a:spcBef>
                <a:spcPct val="0"/>
              </a:spcBef>
            </a:pPr>
            <a:r>
              <a:rPr lang="en-US" altLang="zh-CN" sz="2400" dirty="0">
                <a:latin typeface="Times New Roman" panose="02020603050405020304" pitchFamily="18" charset="0"/>
              </a:rPr>
              <a:t>t</a:t>
            </a:r>
            <a:r>
              <a:rPr lang="en-US" altLang="zh-CN" sz="2400" baseline="-25000" dirty="0">
                <a:latin typeface="Times New Roman" panose="02020603050405020304" pitchFamily="18" charset="0"/>
              </a:rPr>
              <a:t>wmax</a:t>
            </a:r>
            <a:r>
              <a:rPr lang="en-US" altLang="zh-CN" sz="2400" dirty="0">
                <a:latin typeface="Times New Roman" panose="02020603050405020304" pitchFamily="18" charset="0"/>
              </a:rPr>
              <a:t>：</a:t>
            </a:r>
            <a:r>
              <a:rPr lang="zh-CN" altLang="en-US" sz="2400" dirty="0">
                <a:latin typeface="Times New Roman" panose="02020603050405020304" pitchFamily="18" charset="0"/>
              </a:rPr>
              <a:t>最大等待时间，即转1圈的时间</a:t>
            </a:r>
            <a:r>
              <a:rPr lang="en-US" altLang="zh-CN" sz="2400" dirty="0">
                <a:latin typeface="Times New Roman" panose="02020603050405020304" pitchFamily="18" charset="0"/>
              </a:rPr>
              <a:t>t (</a:t>
            </a:r>
            <a:r>
              <a:rPr lang="zh-CN" altLang="en-US" sz="2400" dirty="0">
                <a:latin typeface="Times New Roman" panose="02020603050405020304" pitchFamily="18" charset="0"/>
              </a:rPr>
              <a:t>由转速决定)</a:t>
            </a:r>
            <a:endParaRPr lang="zh-CN" altLang="en-US" sz="2400" dirty="0">
              <a:latin typeface="Times New Roman" panose="02020603050405020304" pitchFamily="18" charset="0"/>
            </a:endParaRPr>
          </a:p>
          <a:p>
            <a:pPr lvl="2">
              <a:lnSpc>
                <a:spcPct val="110000"/>
              </a:lnSpc>
              <a:spcBef>
                <a:spcPct val="0"/>
              </a:spcBef>
            </a:pPr>
            <a:r>
              <a:rPr lang="en-US" altLang="zh-CN" sz="2400" dirty="0">
                <a:latin typeface="Times New Roman" panose="02020603050405020304" pitchFamily="18" charset="0"/>
              </a:rPr>
              <a:t>t</a:t>
            </a:r>
            <a:r>
              <a:rPr lang="en-US" altLang="zh-CN" sz="2400" baseline="-25000" dirty="0">
                <a:latin typeface="Times New Roman" panose="02020603050405020304" pitchFamily="18" charset="0"/>
              </a:rPr>
              <a:t>wmin</a:t>
            </a:r>
            <a:r>
              <a:rPr lang="en-US" altLang="zh-CN" sz="2400" dirty="0">
                <a:latin typeface="Times New Roman" panose="02020603050405020304" pitchFamily="18" charset="0"/>
              </a:rPr>
              <a:t>：</a:t>
            </a:r>
            <a:r>
              <a:rPr lang="zh-CN" altLang="en-US" sz="2400" dirty="0">
                <a:latin typeface="Times New Roman" panose="02020603050405020304" pitchFamily="18" charset="0"/>
              </a:rPr>
              <a:t>最小等待时间为0，即磁头正好在所需读写扇区位置下(上)方   </a:t>
            </a:r>
            <a:endParaRPr lang="zh-CN" altLang="en-US" sz="2400" dirty="0">
              <a:latin typeface="Times New Roman" panose="02020603050405020304" pitchFamily="18" charset="0"/>
            </a:endParaRPr>
          </a:p>
          <a:p>
            <a:pPr lvl="2">
              <a:lnSpc>
                <a:spcPct val="110000"/>
              </a:lnSpc>
              <a:spcBef>
                <a:spcPct val="0"/>
              </a:spcBef>
            </a:pPr>
            <a:r>
              <a:rPr lang="zh-CN" altLang="en-US" sz="2400" dirty="0">
                <a:latin typeface="Times New Roman" panose="02020603050405020304" pitchFamily="18" charset="0"/>
              </a:rPr>
              <a:t>        ：平均寻道时间</a:t>
            </a:r>
            <a:endParaRPr lang="zh-CN" altLang="en-US" sz="2400" dirty="0">
              <a:latin typeface="Times New Roman" panose="02020603050405020304" pitchFamily="18" charset="0"/>
            </a:endParaRPr>
          </a:p>
          <a:p>
            <a:pPr lvl="2">
              <a:lnSpc>
                <a:spcPct val="110000"/>
              </a:lnSpc>
              <a:spcBef>
                <a:spcPct val="0"/>
              </a:spcBef>
            </a:pPr>
            <a:r>
              <a:rPr lang="zh-CN" altLang="en-US" sz="2400" dirty="0">
                <a:latin typeface="Times New Roman" panose="02020603050405020304" pitchFamily="18" charset="0"/>
              </a:rPr>
              <a:t>        ：平均等待时间</a:t>
            </a:r>
            <a:endParaRPr lang="zh-CN" altLang="en-US" sz="2400" dirty="0">
              <a:latin typeface="Times New Roman" panose="02020603050405020304" pitchFamily="18" charset="0"/>
            </a:endParaRPr>
          </a:p>
        </p:txBody>
      </p:sp>
      <p:grpSp>
        <p:nvGrpSpPr>
          <p:cNvPr id="95235" name="Group 54"/>
          <p:cNvGrpSpPr/>
          <p:nvPr/>
        </p:nvGrpSpPr>
        <p:grpSpPr>
          <a:xfrm>
            <a:off x="1809750" y="5776913"/>
            <a:ext cx="485775" cy="536575"/>
            <a:chOff x="1140" y="3711"/>
            <a:chExt cx="306" cy="338"/>
          </a:xfrm>
        </p:grpSpPr>
        <p:sp>
          <p:nvSpPr>
            <p:cNvPr id="95249" name="AutoShape 42"/>
            <p:cNvSpPr>
              <a:spLocks noChangeAspect="1" noTextEdit="1"/>
            </p:cNvSpPr>
            <p:nvPr/>
          </p:nvSpPr>
          <p:spPr>
            <a:xfrm>
              <a:off x="1140" y="3711"/>
              <a:ext cx="306" cy="338"/>
            </a:xfrm>
            <a:prstGeom prst="rect">
              <a:avLst/>
            </a:prstGeom>
            <a:noFill/>
            <a:ln w="9525">
              <a:noFill/>
            </a:ln>
          </p:spPr>
          <p:txBody>
            <a:bodyPr/>
            <a:p>
              <a:endParaRPr lang="zh-CN" altLang="en-US"/>
            </a:p>
          </p:txBody>
        </p:sp>
        <p:sp>
          <p:nvSpPr>
            <p:cNvPr id="95250" name="Line 43"/>
            <p:cNvSpPr/>
            <p:nvPr/>
          </p:nvSpPr>
          <p:spPr>
            <a:xfrm>
              <a:off x="1195" y="3758"/>
              <a:ext cx="110" cy="1"/>
            </a:xfrm>
            <a:prstGeom prst="line">
              <a:avLst/>
            </a:prstGeom>
            <a:ln w="14288" cap="flat" cmpd="sng">
              <a:solidFill>
                <a:schemeClr val="tx1"/>
              </a:solidFill>
              <a:prstDash val="solid"/>
              <a:headEnd type="none" w="med" len="med"/>
              <a:tailEnd type="none" w="med" len="med"/>
            </a:ln>
          </p:spPr>
        </p:sp>
        <p:sp>
          <p:nvSpPr>
            <p:cNvPr id="95251" name="Rectangle 44"/>
            <p:cNvSpPr/>
            <p:nvPr/>
          </p:nvSpPr>
          <p:spPr>
            <a:xfrm>
              <a:off x="1317" y="3873"/>
              <a:ext cx="49" cy="154"/>
            </a:xfrm>
            <a:prstGeom prst="rect">
              <a:avLst/>
            </a:prstGeom>
            <a:noFill/>
            <a:ln w="9525">
              <a:noFill/>
            </a:ln>
          </p:spPr>
          <p:txBody>
            <a:bodyPr wrap="none" lIns="0" tIns="0" rIns="0" bIns="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1600" dirty="0">
                  <a:latin typeface="Times New Roman" panose="02020603050405020304" pitchFamily="18" charset="0"/>
                  <a:ea typeface="宋体" panose="02010600030101010101" pitchFamily="2" charset="-122"/>
                </a:rPr>
                <a:t>s</a:t>
              </a:r>
              <a:endParaRPr lang="en-US" altLang="zh-CN" sz="1800" b="0" dirty="0">
                <a:latin typeface="Arial" panose="020B0604020202020204" pitchFamily="34" charset="0"/>
                <a:ea typeface="宋体" panose="02010600030101010101" pitchFamily="2" charset="-122"/>
              </a:endParaRPr>
            </a:p>
          </p:txBody>
        </p:sp>
        <p:sp>
          <p:nvSpPr>
            <p:cNvPr id="95252" name="Rectangle 45"/>
            <p:cNvSpPr/>
            <p:nvPr/>
          </p:nvSpPr>
          <p:spPr>
            <a:xfrm>
              <a:off x="1191" y="3735"/>
              <a:ext cx="75" cy="269"/>
            </a:xfrm>
            <a:prstGeom prst="rect">
              <a:avLst/>
            </a:prstGeom>
            <a:noFill/>
            <a:ln w="9525">
              <a:noFill/>
            </a:ln>
          </p:spPr>
          <p:txBody>
            <a:bodyPr wrap="none" lIns="0" tIns="0" rIns="0" bIns="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800" dirty="0">
                  <a:latin typeface="Times New Roman" panose="02020603050405020304" pitchFamily="18" charset="0"/>
                  <a:ea typeface="宋体" panose="02010600030101010101" pitchFamily="2" charset="-122"/>
                </a:rPr>
                <a:t>t</a:t>
              </a:r>
              <a:endParaRPr lang="en-US" altLang="zh-CN" sz="1800" b="0" dirty="0">
                <a:latin typeface="Arial" panose="020B0604020202020204" pitchFamily="34" charset="0"/>
                <a:ea typeface="宋体" panose="02010600030101010101" pitchFamily="2" charset="-122"/>
              </a:endParaRPr>
            </a:p>
          </p:txBody>
        </p:sp>
      </p:grpSp>
      <p:sp>
        <p:nvSpPr>
          <p:cNvPr id="276531" name="Rectangle 51"/>
          <p:cNvSpPr>
            <a:spLocks noGrp="1" noChangeArrowheads="1"/>
          </p:cNvSpPr>
          <p:nvPr>
            <p:ph type="title"/>
          </p:nvPr>
        </p:nvSpPr>
        <p:spPr>
          <a:xfrm>
            <a:off x="119063" y="139700"/>
            <a:ext cx="8885238" cy="7143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uLnTx/>
                <a:uFillTx/>
                <a:latin typeface="+mj-lt"/>
                <a:ea typeface="+mj-ea"/>
                <a:cs typeface="+mj-cs"/>
              </a:rPr>
              <a:t>回顾</a:t>
            </a: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a:t>
            </a:r>
            <a:r>
              <a:rPr kumimoji="0" lang="zh-CN" altLang="en-US" sz="4800" b="1" i="0" u="none" strike="noStrike" kern="0" cap="none" spc="0" normalizeH="0" baseline="0" noProof="0" smtClean="0">
                <a:ln>
                  <a:noFill/>
                </a:ln>
                <a:solidFill>
                  <a:srgbClr val="FF0000"/>
                </a:solidFill>
                <a:effectLst/>
                <a:uLnTx/>
                <a:uFillTx/>
                <a:latin typeface="+mj-lt"/>
                <a:ea typeface="+mj-ea"/>
                <a:cs typeface="+mj-cs"/>
              </a:rPr>
              <a:t>磁表面存储器的性能指标 </a:t>
            </a:r>
            <a:endParaRPr kumimoji="0" lang="zh-CN" altLang="en-US" sz="4800" b="1" i="0" u="none" strike="noStrike" kern="0" cap="none" spc="0" normalizeH="0" baseline="0" noProof="0" smtClean="0">
              <a:ln>
                <a:noFill/>
              </a:ln>
              <a:solidFill>
                <a:srgbClr val="FF0000"/>
              </a:solidFill>
              <a:effectLst/>
              <a:uLnTx/>
              <a:uFillTx/>
              <a:latin typeface="+mj-lt"/>
              <a:ea typeface="+mj-ea"/>
              <a:cs typeface="+mj-cs"/>
            </a:endParaRPr>
          </a:p>
        </p:txBody>
      </p:sp>
      <p:sp>
        <p:nvSpPr>
          <p:cNvPr id="95237" name="Rectangle 52"/>
          <p:cNvSpPr/>
          <p:nvPr/>
        </p:nvSpPr>
        <p:spPr>
          <a:xfrm>
            <a:off x="1171575" y="1557338"/>
            <a:ext cx="7793038" cy="1187450"/>
          </a:xfrm>
          <a:prstGeom prst="rect">
            <a:avLst/>
          </a:prstGeom>
          <a:noFill/>
          <a:ln w="12700">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zh-CN" altLang="en-US" sz="2400" dirty="0">
                <a:latin typeface="Times New Roman" panose="02020603050405020304" pitchFamily="18" charset="0"/>
              </a:rPr>
              <a:t>硬盘的操作流程如下： </a:t>
            </a:r>
            <a:r>
              <a:rPr lang="zh-CN" altLang="en-US" sz="2400" dirty="0">
                <a:solidFill>
                  <a:srgbClr val="FFFF00"/>
                </a:solidFill>
                <a:latin typeface="Times New Roman" panose="02020603050405020304" pitchFamily="18" charset="0"/>
              </a:rPr>
              <a:t>所有磁头同步寻道</a:t>
            </a:r>
            <a:r>
              <a:rPr lang="en-US" altLang="zh-CN" sz="2400" dirty="0">
                <a:solidFill>
                  <a:srgbClr val="FFFF00"/>
                </a:solidFill>
                <a:latin typeface="Times New Roman" panose="02020603050405020304" pitchFamily="18" charset="0"/>
              </a:rPr>
              <a:t>(</a:t>
            </a:r>
            <a:r>
              <a:rPr lang="zh-CN" altLang="en-US" sz="2400" dirty="0">
                <a:solidFill>
                  <a:srgbClr val="FFFF00"/>
                </a:solidFill>
                <a:latin typeface="Times New Roman" panose="02020603050405020304" pitchFamily="18" charset="0"/>
              </a:rPr>
              <a:t>由柱面号控制</a:t>
            </a:r>
            <a:r>
              <a:rPr lang="en-US" altLang="zh-CN" sz="2400" dirty="0">
                <a:solidFill>
                  <a:srgbClr val="FFFF00"/>
                </a:solidFill>
                <a:latin typeface="Times New Roman" panose="02020603050405020304" pitchFamily="18" charset="0"/>
              </a:rPr>
              <a:t>)</a:t>
            </a:r>
            <a:r>
              <a:rPr lang="en-US" altLang="zh-CN" sz="2400" dirty="0">
                <a:solidFill>
                  <a:srgbClr val="FFFF00"/>
                </a:solidFill>
                <a:latin typeface="Times New Roman" panose="02020603050405020304" pitchFamily="18" charset="0"/>
                <a:sym typeface="Wingdings" panose="05000000000000000000" pitchFamily="2" charset="2"/>
              </a:rPr>
              <a:t>→ </a:t>
            </a:r>
            <a:r>
              <a:rPr lang="zh-CN" altLang="en-US" sz="2400" dirty="0">
                <a:solidFill>
                  <a:srgbClr val="FFFF00"/>
                </a:solidFill>
                <a:latin typeface="Times New Roman" panose="02020603050405020304" pitchFamily="18" charset="0"/>
              </a:rPr>
              <a:t>选择磁头</a:t>
            </a:r>
            <a:r>
              <a:rPr lang="en-US" altLang="zh-CN" sz="2400" dirty="0">
                <a:solidFill>
                  <a:srgbClr val="FFFF00"/>
                </a:solidFill>
                <a:latin typeface="Times New Roman" panose="02020603050405020304" pitchFamily="18" charset="0"/>
              </a:rPr>
              <a:t>(</a:t>
            </a:r>
            <a:r>
              <a:rPr lang="zh-CN" altLang="en-US" sz="2400" dirty="0">
                <a:solidFill>
                  <a:srgbClr val="FFFF00"/>
                </a:solidFill>
                <a:latin typeface="Times New Roman" panose="02020603050405020304" pitchFamily="18" charset="0"/>
              </a:rPr>
              <a:t>由磁头号控制</a:t>
            </a:r>
            <a:r>
              <a:rPr lang="en-US" altLang="zh-CN" sz="2400" dirty="0">
                <a:solidFill>
                  <a:srgbClr val="FFFF00"/>
                </a:solidFill>
                <a:latin typeface="Times New Roman" panose="02020603050405020304" pitchFamily="18" charset="0"/>
              </a:rPr>
              <a:t>) </a:t>
            </a:r>
            <a:r>
              <a:rPr lang="en-US" altLang="zh-CN" sz="2400" dirty="0">
                <a:solidFill>
                  <a:srgbClr val="FFFF00"/>
                </a:solidFill>
                <a:latin typeface="Times New Roman" panose="02020603050405020304" pitchFamily="18" charset="0"/>
                <a:sym typeface="Wingdings" panose="05000000000000000000" pitchFamily="2" charset="2"/>
              </a:rPr>
              <a:t>→ </a:t>
            </a:r>
            <a:r>
              <a:rPr lang="zh-CN" altLang="en-US" sz="2400" dirty="0">
                <a:solidFill>
                  <a:srgbClr val="FFFF00"/>
                </a:solidFill>
                <a:latin typeface="Times New Roman" panose="02020603050405020304" pitchFamily="18" charset="0"/>
                <a:sym typeface="Wingdings" panose="05000000000000000000" pitchFamily="2" charset="2"/>
              </a:rPr>
              <a:t>被选中的磁头</a:t>
            </a:r>
            <a:r>
              <a:rPr lang="zh-CN" altLang="en-US" sz="2400" dirty="0">
                <a:solidFill>
                  <a:srgbClr val="FFFF00"/>
                </a:solidFill>
                <a:latin typeface="Times New Roman" panose="02020603050405020304" pitchFamily="18" charset="0"/>
              </a:rPr>
              <a:t>等待扇区到达磁头下方</a:t>
            </a:r>
            <a:r>
              <a:rPr lang="en-US" altLang="zh-CN" sz="2400" dirty="0">
                <a:solidFill>
                  <a:srgbClr val="FFFF00"/>
                </a:solidFill>
                <a:latin typeface="Times New Roman" panose="02020603050405020304" pitchFamily="18" charset="0"/>
              </a:rPr>
              <a:t>(</a:t>
            </a:r>
            <a:r>
              <a:rPr lang="zh-CN" altLang="en-US" sz="2400" dirty="0">
                <a:solidFill>
                  <a:srgbClr val="FFFF00"/>
                </a:solidFill>
                <a:latin typeface="Times New Roman" panose="02020603050405020304" pitchFamily="18" charset="0"/>
              </a:rPr>
              <a:t>由扇区号控制</a:t>
            </a:r>
            <a:r>
              <a:rPr lang="en-US" altLang="zh-CN" sz="2400" dirty="0">
                <a:solidFill>
                  <a:srgbClr val="FFFF00"/>
                </a:solidFill>
                <a:latin typeface="Times New Roman" panose="02020603050405020304" pitchFamily="18" charset="0"/>
              </a:rPr>
              <a:t>)</a:t>
            </a:r>
            <a:r>
              <a:rPr lang="en-US" altLang="zh-CN" sz="2400" dirty="0">
                <a:solidFill>
                  <a:srgbClr val="FFFF00"/>
                </a:solidFill>
                <a:latin typeface="Times New Roman" panose="02020603050405020304" pitchFamily="18" charset="0"/>
                <a:sym typeface="Wingdings" panose="05000000000000000000" pitchFamily="2" charset="2"/>
              </a:rPr>
              <a:t>→ </a:t>
            </a:r>
            <a:r>
              <a:rPr lang="zh-CN" altLang="en-US" sz="2400" dirty="0">
                <a:solidFill>
                  <a:srgbClr val="FFFF00"/>
                </a:solidFill>
                <a:latin typeface="Times New Roman" panose="02020603050405020304" pitchFamily="18" charset="0"/>
              </a:rPr>
              <a:t>读写该扇区中的数据</a:t>
            </a:r>
            <a:endParaRPr lang="zh-CN" altLang="en-US" sz="2400" dirty="0">
              <a:solidFill>
                <a:srgbClr val="FFFF00"/>
              </a:solidFill>
              <a:latin typeface="Times New Roman" panose="02020603050405020304" pitchFamily="18" charset="0"/>
            </a:endParaRPr>
          </a:p>
        </p:txBody>
      </p:sp>
      <p:grpSp>
        <p:nvGrpSpPr>
          <p:cNvPr id="95238" name="Group 53"/>
          <p:cNvGrpSpPr/>
          <p:nvPr/>
        </p:nvGrpSpPr>
        <p:grpSpPr>
          <a:xfrm>
            <a:off x="1809750" y="6242050"/>
            <a:ext cx="476250" cy="536575"/>
            <a:chOff x="1140" y="4058"/>
            <a:chExt cx="300" cy="338"/>
          </a:xfrm>
        </p:grpSpPr>
        <p:sp>
          <p:nvSpPr>
            <p:cNvPr id="95245" name="AutoShape 47"/>
            <p:cNvSpPr>
              <a:spLocks noChangeAspect="1" noTextEdit="1"/>
            </p:cNvSpPr>
            <p:nvPr/>
          </p:nvSpPr>
          <p:spPr>
            <a:xfrm>
              <a:off x="1140" y="4058"/>
              <a:ext cx="300" cy="338"/>
            </a:xfrm>
            <a:prstGeom prst="rect">
              <a:avLst/>
            </a:prstGeom>
            <a:noFill/>
            <a:ln w="9525">
              <a:noFill/>
            </a:ln>
          </p:spPr>
          <p:txBody>
            <a:bodyPr/>
            <a:p>
              <a:endParaRPr lang="zh-CN" altLang="en-US"/>
            </a:p>
          </p:txBody>
        </p:sp>
        <p:sp>
          <p:nvSpPr>
            <p:cNvPr id="95246" name="Line 48"/>
            <p:cNvSpPr/>
            <p:nvPr/>
          </p:nvSpPr>
          <p:spPr>
            <a:xfrm>
              <a:off x="1178" y="4105"/>
              <a:ext cx="73" cy="1"/>
            </a:xfrm>
            <a:prstGeom prst="line">
              <a:avLst/>
            </a:prstGeom>
            <a:ln w="14288" cap="flat" cmpd="sng">
              <a:solidFill>
                <a:schemeClr val="tx1"/>
              </a:solidFill>
              <a:prstDash val="solid"/>
              <a:headEnd type="none" w="med" len="med"/>
              <a:tailEnd type="none" w="med" len="med"/>
            </a:ln>
          </p:spPr>
        </p:sp>
        <p:sp>
          <p:nvSpPr>
            <p:cNvPr id="95247" name="Rectangle 49"/>
            <p:cNvSpPr/>
            <p:nvPr/>
          </p:nvSpPr>
          <p:spPr>
            <a:xfrm>
              <a:off x="1265" y="4220"/>
              <a:ext cx="128" cy="154"/>
            </a:xfrm>
            <a:prstGeom prst="rect">
              <a:avLst/>
            </a:prstGeom>
            <a:noFill/>
            <a:ln w="9525">
              <a:noFill/>
            </a:ln>
          </p:spPr>
          <p:txBody>
            <a:bodyPr wrap="none" lIns="0" tIns="0" rIns="0" bIns="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1600" dirty="0">
                  <a:latin typeface="Times New Roman" panose="02020603050405020304" pitchFamily="18" charset="0"/>
                  <a:ea typeface="宋体" panose="02010600030101010101" pitchFamily="2" charset="-122"/>
                </a:rPr>
                <a:t>W</a:t>
              </a:r>
              <a:endParaRPr lang="en-US" altLang="zh-CN" sz="1800" b="0" dirty="0">
                <a:latin typeface="Arial" panose="020B0604020202020204" pitchFamily="34" charset="0"/>
                <a:ea typeface="宋体" panose="02010600030101010101" pitchFamily="2" charset="-122"/>
              </a:endParaRPr>
            </a:p>
          </p:txBody>
        </p:sp>
        <p:sp>
          <p:nvSpPr>
            <p:cNvPr id="95248" name="Rectangle 50"/>
            <p:cNvSpPr/>
            <p:nvPr/>
          </p:nvSpPr>
          <p:spPr>
            <a:xfrm>
              <a:off x="1174" y="4082"/>
              <a:ext cx="75" cy="269"/>
            </a:xfrm>
            <a:prstGeom prst="rect">
              <a:avLst/>
            </a:prstGeom>
            <a:noFill/>
            <a:ln w="9525">
              <a:noFill/>
            </a:ln>
          </p:spPr>
          <p:txBody>
            <a:bodyPr wrap="none" lIns="0" tIns="0" rIns="0" bIns="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800" dirty="0">
                  <a:latin typeface="Times New Roman" panose="02020603050405020304" pitchFamily="18" charset="0"/>
                  <a:ea typeface="宋体" panose="02010600030101010101" pitchFamily="2" charset="-122"/>
                </a:rPr>
                <a:t>t</a:t>
              </a:r>
              <a:endParaRPr lang="en-US" altLang="zh-CN" sz="1800" b="0" dirty="0">
                <a:latin typeface="Arial" panose="020B0604020202020204" pitchFamily="34" charset="0"/>
                <a:ea typeface="宋体" panose="02010600030101010101" pitchFamily="2" charset="-122"/>
              </a:endParaRPr>
            </a:p>
          </p:txBody>
        </p:sp>
      </p:grpSp>
      <p:grpSp>
        <p:nvGrpSpPr>
          <p:cNvPr id="95239" name="Group 60"/>
          <p:cNvGrpSpPr/>
          <p:nvPr/>
        </p:nvGrpSpPr>
        <p:grpSpPr>
          <a:xfrm>
            <a:off x="3748088" y="2759075"/>
            <a:ext cx="327025" cy="536575"/>
            <a:chOff x="2361" y="1738"/>
            <a:chExt cx="206" cy="338"/>
          </a:xfrm>
        </p:grpSpPr>
        <p:sp>
          <p:nvSpPr>
            <p:cNvPr id="95241" name="AutoShape 55"/>
            <p:cNvSpPr>
              <a:spLocks noChangeAspect="1" noTextEdit="1"/>
            </p:cNvSpPr>
            <p:nvPr/>
          </p:nvSpPr>
          <p:spPr>
            <a:xfrm>
              <a:off x="2361" y="1738"/>
              <a:ext cx="206" cy="338"/>
            </a:xfrm>
            <a:prstGeom prst="rect">
              <a:avLst/>
            </a:prstGeom>
            <a:noFill/>
            <a:ln w="9525">
              <a:noFill/>
            </a:ln>
          </p:spPr>
          <p:txBody>
            <a:bodyPr/>
            <a:p>
              <a:endParaRPr lang="zh-CN" altLang="en-US"/>
            </a:p>
          </p:txBody>
        </p:sp>
        <p:sp>
          <p:nvSpPr>
            <p:cNvPr id="95242" name="Line 57"/>
            <p:cNvSpPr/>
            <p:nvPr/>
          </p:nvSpPr>
          <p:spPr>
            <a:xfrm>
              <a:off x="2411" y="1799"/>
              <a:ext cx="63" cy="0"/>
            </a:xfrm>
            <a:prstGeom prst="line">
              <a:avLst/>
            </a:prstGeom>
            <a:ln w="14288" cap="flat" cmpd="sng">
              <a:solidFill>
                <a:schemeClr val="tx1"/>
              </a:solidFill>
              <a:prstDash val="solid"/>
              <a:headEnd type="none" w="med" len="med"/>
              <a:tailEnd type="none" w="med" len="med"/>
            </a:ln>
          </p:spPr>
        </p:sp>
        <p:sp>
          <p:nvSpPr>
            <p:cNvPr id="95243" name="Rectangle 58"/>
            <p:cNvSpPr/>
            <p:nvPr/>
          </p:nvSpPr>
          <p:spPr>
            <a:xfrm>
              <a:off x="2483" y="1903"/>
              <a:ext cx="72" cy="173"/>
            </a:xfrm>
            <a:prstGeom prst="rect">
              <a:avLst/>
            </a:prstGeom>
            <a:noFill/>
            <a:ln w="9525">
              <a:noFill/>
            </a:ln>
          </p:spPr>
          <p:txBody>
            <a:bodyPr wrap="none" lIns="0" tIns="0" rIns="0" bIns="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en-US" altLang="zh-CN" sz="1800" i="1" dirty="0">
                  <a:latin typeface="Times New Roman" panose="02020603050405020304" pitchFamily="18" charset="0"/>
                  <a:ea typeface="宋体" panose="02010600030101010101" pitchFamily="2" charset="-122"/>
                </a:rPr>
                <a:t>a</a:t>
              </a:r>
              <a:endParaRPr lang="en-US" altLang="zh-CN" sz="1800" dirty="0">
                <a:latin typeface="Times New Roman" panose="02020603050405020304" pitchFamily="18" charset="0"/>
                <a:ea typeface="宋体" panose="02010600030101010101" pitchFamily="2" charset="-122"/>
              </a:endParaRPr>
            </a:p>
          </p:txBody>
        </p:sp>
        <p:sp>
          <p:nvSpPr>
            <p:cNvPr id="95244" name="Rectangle 59"/>
            <p:cNvSpPr/>
            <p:nvPr/>
          </p:nvSpPr>
          <p:spPr>
            <a:xfrm>
              <a:off x="2435" y="1762"/>
              <a:ext cx="62" cy="269"/>
            </a:xfrm>
            <a:prstGeom prst="rect">
              <a:avLst/>
            </a:prstGeom>
            <a:noFill/>
            <a:ln w="9525">
              <a:noFill/>
            </a:ln>
          </p:spPr>
          <p:txBody>
            <a:bodyPr wrap="none" lIns="0" tIns="0" rIns="0" bIns="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en-US" altLang="zh-CN" sz="2800" i="1" dirty="0">
                  <a:latin typeface="Times New Roman" panose="02020603050405020304" pitchFamily="18" charset="0"/>
                  <a:ea typeface="宋体" panose="02010600030101010101" pitchFamily="2" charset="-122"/>
                </a:rPr>
                <a:t>t</a:t>
              </a:r>
              <a:endParaRPr lang="en-US" altLang="zh-CN" sz="2800" dirty="0">
                <a:latin typeface="Arial" panose="020B0604020202020204" pitchFamily="34" charset="0"/>
                <a:ea typeface="宋体" panose="02010600030101010101" pitchFamily="2" charset="-122"/>
              </a:endParaRPr>
            </a:p>
          </p:txBody>
        </p:sp>
      </p:grpSp>
      <p:pic>
        <p:nvPicPr>
          <p:cNvPr id="95240" name="Picture 57"/>
          <p:cNvPicPr>
            <a:picLocks noChangeAspect="1"/>
          </p:cNvPicPr>
          <p:nvPr/>
        </p:nvPicPr>
        <p:blipFill>
          <a:blip r:embed="rId5"/>
          <a:stretch>
            <a:fillRect/>
          </a:stretch>
        </p:blipFill>
        <p:spPr>
          <a:xfrm>
            <a:off x="1474788" y="3298825"/>
            <a:ext cx="7419975" cy="514350"/>
          </a:xfrm>
          <a:prstGeom prst="rect">
            <a:avLst/>
          </a:prstGeom>
          <a:noFill/>
          <a:ln w="9525">
            <a:noFill/>
          </a:ln>
        </p:spPr>
      </p:pic>
    </p:spTree>
  </p:cSld>
  <p:clrMapOvr>
    <a:masterClrMapping/>
  </p:clrMapOvr>
  <p:transition spd="slow">
    <p:pull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3410" name="Rectangle 2"/>
          <p:cNvSpPr>
            <a:spLocks noGrp="1" noChangeArrowheads="1"/>
          </p:cNvSpPr>
          <p:nvPr>
            <p:ph type="title"/>
          </p:nvPr>
        </p:nvSpPr>
        <p:spPr>
          <a:xfrm>
            <a:off x="381000" y="228600"/>
            <a:ext cx="8393113" cy="72072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a:t>
            </a: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rPr>
              <a:t>磁盘</a:t>
            </a:r>
            <a:r>
              <a:rPr kumimoji="0" lang="zh-CN" altLang="en-US"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rPr>
              <a:t>阵列</a:t>
            </a:r>
            <a:r>
              <a:rPr kumimoji="0" lang="en-US" altLang="zh-CN"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rPr>
              <a:t>RAID</a:t>
            </a:r>
            <a:endPar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endParaRPr>
          </a:p>
        </p:txBody>
      </p:sp>
      <p:sp>
        <p:nvSpPr>
          <p:cNvPr id="80899" name="Rectangle 3"/>
          <p:cNvSpPr>
            <a:spLocks noGrp="1" noChangeArrowheads="1"/>
          </p:cNvSpPr>
          <p:nvPr>
            <p:ph idx="1"/>
          </p:nvPr>
        </p:nvSpPr>
        <p:spPr>
          <a:xfrm>
            <a:off x="595313" y="1093788"/>
            <a:ext cx="8320088" cy="5684838"/>
          </a:xfrm>
        </p:spPr>
        <p:txBody>
          <a:bodyPr vert="horz" wrap="square" lIns="91440" tIns="45720" rIns="91440" bIns="45720" numCol="1" anchor="t" anchorCtr="0" compatLnSpc="1">
            <a:spAutoFit/>
          </a:bodyPr>
          <a:lstStyle/>
          <a:p>
            <a:pPr marL="358775" marR="0" lvl="0" indent="-358775"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Blip>
                <a:blip r:embed="rId1"/>
              </a:buBli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磁盘阵列</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RAID(</a:t>
            </a:r>
            <a:r>
              <a:rPr kumimoji="0" lang="en-US" altLang="zh-CN" sz="2800" b="1" i="0" u="none" strike="noStrike" kern="0" cap="none" spc="0" normalizeH="0" baseline="0" noProof="0" dirty="0" err="1" smtClean="0">
                <a:ln>
                  <a:noFill/>
                </a:ln>
                <a:solidFill>
                  <a:schemeClr val="tx1"/>
                </a:solidFill>
                <a:effectLst/>
                <a:uLnTx/>
                <a:uFillTx/>
                <a:latin typeface="Times New Roman" panose="02020603050405020304" pitchFamily="18" charset="0"/>
                <a:ea typeface="宋体" panose="02010600030101010101" pitchFamily="2" charset="-122"/>
                <a:cs typeface="+mn-cs"/>
              </a:rPr>
              <a:t>Reduntant</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 Array of Inexpensive Disks</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717550" marR="0" lvl="1" indent="-255905"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Blip>
                <a:blip r:embed="rId2"/>
              </a:buBlip>
              <a:defRPr/>
            </a:pPr>
            <a:r>
              <a:rPr kumimoji="0" lang="zh-CN" altLang="en-US" sz="2400" b="1" i="0" u="none" strike="noStrike" kern="0" cap="none" spc="0" normalizeH="0" baseline="0" noProof="0" dirty="0" smtClean="0">
                <a:ln>
                  <a:noFill/>
                </a:ln>
                <a:solidFill>
                  <a:schemeClr val="tx1"/>
                </a:solidFill>
                <a:effectLst/>
                <a:uLnTx/>
                <a:uFillTx/>
                <a:latin typeface="+mn-lt"/>
                <a:ea typeface="+mn-ea"/>
              </a:rPr>
              <a:t>廉价磁盘冗余</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阵列技术就是用</a:t>
            </a:r>
            <a:r>
              <a:rPr kumimoji="0" lang="zh-CN" altLang="en-US" sz="24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一个硬盘控制器控制多个硬盘</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的相互连接，把</a:t>
            </a:r>
            <a:r>
              <a:rPr kumimoji="0" lang="zh-CN" altLang="en-US" sz="24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几个硬盘的存储空间整合</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起来，</a:t>
            </a:r>
            <a:r>
              <a:rPr kumimoji="0" lang="zh-CN" altLang="en-US" sz="24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形成一个大的单一连续的存储空间</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，使多个硬盘的读写同步，减少错误，增加效率和可靠度的技术 </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717550" marR="0" lvl="1" indent="-255905"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Blip>
                <a:blip r:embed="rId2"/>
              </a:buBlip>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目的：</a:t>
            </a:r>
            <a:r>
              <a:rPr kumimoji="0" lang="zh-CN" altLang="en-US" sz="2400" b="1" i="0" u="none" strike="noStrike" kern="0" cap="none" spc="0" normalizeH="0" baseline="0" noProof="0" dirty="0" smtClean="0">
                <a:ln>
                  <a:noFill/>
                </a:ln>
                <a:solidFill>
                  <a:srgbClr val="FFFF00"/>
                </a:solidFill>
                <a:effectLst/>
                <a:uLnTx/>
                <a:uFillTx/>
                <a:latin typeface="+mn-lt"/>
                <a:ea typeface="+mn-ea"/>
              </a:rPr>
              <a:t>增加存储容量，提高可靠性</a:t>
            </a:r>
            <a:endParaRPr kumimoji="0" lang="zh-CN" altLang="en-US" sz="2400" b="1" i="0" u="none" strike="noStrike" kern="0" cap="none" spc="0" normalizeH="0" baseline="0" noProof="0" dirty="0" smtClean="0">
              <a:ln>
                <a:noFill/>
              </a:ln>
              <a:solidFill>
                <a:srgbClr val="FFFF00"/>
              </a:solidFill>
              <a:effectLst/>
              <a:uLnTx/>
              <a:uFillTx/>
              <a:latin typeface="+mn-lt"/>
              <a:ea typeface="+mn-ea"/>
            </a:endParaRPr>
          </a:p>
          <a:p>
            <a:pPr marL="717550" marR="0" lvl="1" indent="-255905"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Blip>
                <a:blip r:embed="rId2"/>
              </a:buBlip>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特</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rPr>
              <a:t>性</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076325" marR="0" lvl="2" indent="-266700" algn="l" defTabSz="914400" rtl="0" eaLnBrk="0" fontAlgn="base" latinLnBrk="0" hangingPunct="0">
              <a:lnSpc>
                <a:spcPct val="110000"/>
              </a:lnSpc>
              <a:spcBef>
                <a:spcPct val="0"/>
              </a:spcBef>
              <a:spcAft>
                <a:spcPct val="0"/>
              </a:spcAft>
              <a:buClr>
                <a:schemeClr val="folHlink"/>
              </a:buClr>
              <a:buSzTx/>
              <a:buFont typeface="Times New Roman" panose="02020603050405020304" pitchFamily="18" charset="0"/>
              <a:buChar char="♣"/>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RAID</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由</a:t>
            </a:r>
            <a:r>
              <a:rPr kumimoji="0"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多个物理磁盘</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构成，被</a:t>
            </a:r>
            <a:r>
              <a:rPr kumimoji="0"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操作系统</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当成</a:t>
            </a:r>
            <a:r>
              <a:rPr kumimoji="0"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一个逻辑大磁盘</a:t>
            </a:r>
            <a:endParaRPr kumimoji="0" lang="en-US" altLang="zh-CN" sz="2200" b="1" i="0" u="none" strike="noStrike" kern="0" cap="none" spc="0" normalizeH="0" baseline="0" noProof="0" dirty="0" smtClean="0">
              <a:ln>
                <a:noFill/>
              </a:ln>
              <a:solidFill>
                <a:schemeClr val="tx2"/>
              </a:solidFill>
              <a:effectLst/>
              <a:uLnTx/>
              <a:uFillTx/>
              <a:latin typeface="Times New Roman" panose="02020603050405020304" pitchFamily="18" charset="0"/>
              <a:ea typeface="+mn-ea"/>
            </a:endParaRPr>
          </a:p>
          <a:p>
            <a:pPr marL="1076325" marR="0" lvl="2" indent="-266700" algn="l" defTabSz="914400" rtl="0" eaLnBrk="0" fontAlgn="base" latinLnBrk="0" hangingPunct="0">
              <a:lnSpc>
                <a:spcPct val="110000"/>
              </a:lnSpc>
              <a:spcBef>
                <a:spcPct val="0"/>
              </a:spcBef>
              <a:spcAft>
                <a:spcPct val="0"/>
              </a:spcAft>
              <a:buClr>
                <a:schemeClr val="folHlink"/>
              </a:buClr>
              <a:buSzTx/>
              <a:buFont typeface="Times New Roman" panose="02020603050405020304" pitchFamily="18" charset="0"/>
              <a:buChar char="♣"/>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数据分布在</a:t>
            </a:r>
            <a:r>
              <a:rPr kumimoji="0"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不同的物理磁盘</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上 </a:t>
            </a:r>
            <a:endPar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076325" marR="0" lvl="2" indent="-266700" algn="l" defTabSz="914400" rtl="0" eaLnBrk="0" fontAlgn="base" latinLnBrk="0" hangingPunct="0">
              <a:lnSpc>
                <a:spcPct val="110000"/>
              </a:lnSpc>
              <a:spcBef>
                <a:spcPct val="0"/>
              </a:spcBef>
              <a:spcAft>
                <a:spcPct val="0"/>
              </a:spcAft>
              <a:buClr>
                <a:schemeClr val="folHlink"/>
              </a:buClr>
              <a:buSzTx/>
              <a:buFont typeface="Times New Roman" panose="02020603050405020304" pitchFamily="18" charset="0"/>
              <a:buChar char="♣"/>
              <a:defRPr/>
            </a:pPr>
            <a:r>
              <a:rPr kumimoji="0"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冗余磁盘</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用于保存数据校验信息</a:t>
            </a:r>
            <a:r>
              <a:rPr kumimoji="0"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rPr>
              <a:t>，</a:t>
            </a:r>
            <a:r>
              <a:rPr kumimoji="0"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校验信息</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是为保证在磁盘出现损坏时能够</a:t>
            </a:r>
            <a:r>
              <a:rPr kumimoji="0"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有效地恢复数据</a:t>
            </a:r>
            <a:endParaRPr kumimoji="0" lang="en-US" altLang="zh-CN"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endParaRPr>
          </a:p>
          <a:p>
            <a:pPr marL="1341755" marR="0" lvl="2" indent="-425450" algn="l" defTabSz="914400" rtl="0" eaLnBrk="0" fontAlgn="base" latinLnBrk="0" hangingPunct="0">
              <a:lnSpc>
                <a:spcPct val="110000"/>
              </a:lnSpc>
              <a:spcBef>
                <a:spcPct val="0"/>
              </a:spcBef>
              <a:spcAft>
                <a:spcPct val="0"/>
              </a:spcAft>
              <a:buClr>
                <a:schemeClr val="folHlink"/>
              </a:buClr>
              <a:buSzTx/>
              <a:buFont typeface="Times New Roman" panose="02020603050405020304" pitchFamily="18" charset="0"/>
              <a:buChar char="♣"/>
              <a:defRPr/>
            </a:pPr>
            <a:endParaRPr kumimoji="0"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endParaRPr>
          </a:p>
        </p:txBody>
      </p:sp>
    </p:spTree>
  </p:cSld>
  <p:clrMapOvr>
    <a:masterClrMapping/>
  </p:clrMapOvr>
  <p:transition>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4467" name="Rectangle 3"/>
          <p:cNvSpPr>
            <a:spLocks noGrp="1" noChangeArrowheads="1"/>
          </p:cNvSpPr>
          <p:nvPr>
            <p:ph idx="1"/>
          </p:nvPr>
        </p:nvSpPr>
        <p:spPr>
          <a:xfrm>
            <a:off x="493713" y="1062038"/>
            <a:ext cx="8280400" cy="3124200"/>
          </a:xfrm>
        </p:spPr>
        <p:txBody>
          <a:bodyPr vert="horz" wrap="square" lIns="91440" tIns="45720" rIns="91440" bIns="45720" numCol="1" anchor="t" anchorCtr="0" compatLnSpc="1">
            <a:spAutoFit/>
          </a:bodyPr>
          <a:lstStyle/>
          <a:p>
            <a:pPr marL="358775" marR="0" lvl="0" indent="-358775" algn="just" defTabSz="914400" rtl="0" eaLnBrk="0" fontAlgn="base" latinLnBrk="0" hangingPunct="0">
              <a:lnSpc>
                <a:spcPct val="100000"/>
              </a:lnSpc>
              <a:spcBef>
                <a:spcPts val="600"/>
              </a:spcBef>
              <a:spcAft>
                <a:spcPts val="600"/>
              </a:spcAft>
              <a:buClr>
                <a:schemeClr val="tx2"/>
              </a:buClr>
              <a:buSzTx/>
              <a:buFont typeface="Wingdings" panose="05000000000000000000" pitchFamily="2" charset="2"/>
              <a:buBlip>
                <a:blip r:embed="rId1"/>
              </a:buBlip>
              <a:defRPr/>
            </a:pP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RAID</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级别</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7550" marR="0" lvl="1" indent="-266700" algn="just" defTabSz="914400" rtl="0" eaLnBrk="0" fontAlgn="base" latinLnBrk="0" hangingPunct="0">
              <a:lnSpc>
                <a:spcPct val="100000"/>
              </a:lnSpc>
              <a:spcBef>
                <a:spcPts val="600"/>
              </a:spcBef>
              <a:spcAft>
                <a:spcPts val="0"/>
              </a:spcAft>
              <a:buClr>
                <a:schemeClr val="tx2"/>
              </a:buClr>
              <a:buSzTx/>
              <a:buFont typeface="Wingdings" panose="05000000000000000000" pitchFamily="2" charset="2"/>
              <a:buBlip>
                <a:blip r:embed="rId2"/>
              </a:buBlip>
              <a:defRPr/>
            </a:pP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RAID</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主要有：</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Level 0</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Level1</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Level2</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Level3</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Level4</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Level 5</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7550" marR="0" lvl="1" indent="0" algn="just" defTabSz="914400" rtl="0" eaLnBrk="0" fontAlgn="base" latinLnBrk="0" hangingPunct="0">
              <a:lnSpc>
                <a:spcPct val="100000"/>
              </a:lnSpc>
              <a:spcBef>
                <a:spcPts val="0"/>
              </a:spcBef>
              <a:spcAft>
                <a:spcPts val="60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Level </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6</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等</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7550" marR="0" lvl="1" indent="-266700" algn="just" defTabSz="914400" rtl="0" eaLnBrk="0" fontAlgn="base" latinLnBrk="0" hangingPunct="0">
              <a:lnSpc>
                <a:spcPct val="100000"/>
              </a:lnSpc>
              <a:spcBef>
                <a:spcPts val="600"/>
              </a:spcBef>
              <a:spcAft>
                <a:spcPts val="600"/>
              </a:spcAft>
              <a:buClr>
                <a:schemeClr val="tx2"/>
              </a:buClr>
              <a:buSzTx/>
              <a:buFont typeface="Wingdings" panose="05000000000000000000" pitchFamily="2" charset="2"/>
              <a:buBlip>
                <a:blip r:embed="rId2"/>
              </a:buBlip>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以</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个数据磁盘为</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0850" marR="0" lvl="1" indent="266700" algn="just" defTabSz="914400" rtl="0" eaLnBrk="0" fontAlgn="base" latinLnBrk="0" hangingPunct="0">
              <a:lnSpc>
                <a:spcPct val="100000"/>
              </a:lnSpc>
              <a:spcBef>
                <a:spcPts val="0"/>
              </a:spcBef>
              <a:spcAft>
                <a:spcPts val="0"/>
              </a:spcAft>
              <a:buClr>
                <a:schemeClr val="tx2"/>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例列出每级</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RAID</a:t>
            </a:r>
            <a:endPar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0850" marR="0" lvl="1" indent="266700" algn="just" defTabSz="914400" rtl="0" eaLnBrk="0" fontAlgn="base" latinLnBrk="0" hangingPunct="0">
              <a:lnSpc>
                <a:spcPct val="100000"/>
              </a:lnSpc>
              <a:spcBef>
                <a:spcPts val="0"/>
              </a:spcBef>
              <a:spcAft>
                <a:spcPts val="0"/>
              </a:spcAft>
              <a:buClr>
                <a:schemeClr val="tx2"/>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所需额外校验盘：</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62467" name="图片 4"/>
          <p:cNvPicPr>
            <a:picLocks noChangeAspect="1"/>
          </p:cNvPicPr>
          <p:nvPr/>
        </p:nvPicPr>
        <p:blipFill>
          <a:blip r:embed="rId3"/>
          <a:stretch>
            <a:fillRect/>
          </a:stretch>
        </p:blipFill>
        <p:spPr>
          <a:xfrm>
            <a:off x="3749675" y="2152650"/>
            <a:ext cx="5370513" cy="4705350"/>
          </a:xfrm>
          <a:prstGeom prst="rect">
            <a:avLst/>
          </a:prstGeom>
          <a:noFill/>
          <a:ln w="9525">
            <a:noFill/>
          </a:ln>
        </p:spPr>
      </p:pic>
      <p:sp>
        <p:nvSpPr>
          <p:cNvPr id="7" name="Rectangle 2"/>
          <p:cNvSpPr>
            <a:spLocks noGrp="1" noChangeArrowheads="1"/>
          </p:cNvSpPr>
          <p:nvPr>
            <p:ph type="title"/>
          </p:nvPr>
        </p:nvSpPr>
        <p:spPr>
          <a:xfrm>
            <a:off x="381000" y="228600"/>
            <a:ext cx="8393113" cy="72072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a:t>
            </a: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rPr>
              <a:t>磁盘</a:t>
            </a:r>
            <a:r>
              <a:rPr kumimoji="0" lang="zh-CN" altLang="en-US"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rPr>
              <a:t>阵列</a:t>
            </a:r>
            <a:r>
              <a:rPr kumimoji="0" lang="en-US" altLang="zh-CN"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rPr>
              <a:t>RAID</a:t>
            </a:r>
            <a:endPar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14467">
                                            <p:txEl>
                                              <p:charRg st="72" end="81"/>
                                            </p:txEl>
                                          </p:spTgt>
                                        </p:tgtEl>
                                        <p:attrNameLst>
                                          <p:attrName>style.visibility</p:attrName>
                                        </p:attrNameLst>
                                      </p:cBhvr>
                                      <p:to>
                                        <p:strVal val="visible"/>
                                      </p:to>
                                    </p:set>
                                    <p:animEffect transition="in" filter="blinds(horizontal)">
                                      <p:cBhvr>
                                        <p:cTn id="7" dur="500"/>
                                        <p:tgtEl>
                                          <p:spTgt spid="1214467">
                                            <p:txEl>
                                              <p:charRg st="72" end="8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214467">
                                            <p:txEl>
                                              <p:charRg st="81" end="91"/>
                                            </p:txEl>
                                          </p:spTgt>
                                        </p:tgtEl>
                                        <p:attrNameLst>
                                          <p:attrName>style.visibility</p:attrName>
                                        </p:attrNameLst>
                                      </p:cBhvr>
                                      <p:to>
                                        <p:strVal val="visible"/>
                                      </p:to>
                                    </p:set>
                                    <p:animEffect transition="in" filter="blinds(horizontal)">
                                      <p:cBhvr>
                                        <p:cTn id="10" dur="500"/>
                                        <p:tgtEl>
                                          <p:spTgt spid="1214467">
                                            <p:txEl>
                                              <p:charRg st="81" end="9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214467">
                                            <p:txEl>
                                              <p:charRg st="91" end="100"/>
                                            </p:txEl>
                                          </p:spTgt>
                                        </p:tgtEl>
                                        <p:attrNameLst>
                                          <p:attrName>style.visibility</p:attrName>
                                        </p:attrNameLst>
                                      </p:cBhvr>
                                      <p:to>
                                        <p:strVal val="visible"/>
                                      </p:to>
                                    </p:set>
                                    <p:animEffect transition="in" filter="blinds(horizontal)">
                                      <p:cBhvr>
                                        <p:cTn id="13" dur="500"/>
                                        <p:tgtEl>
                                          <p:spTgt spid="1214467">
                                            <p:txEl>
                                              <p:charRg st="91" end="100"/>
                                            </p:txEl>
                                          </p:spTgt>
                                        </p:tgtEl>
                                      </p:cBhvr>
                                    </p:animEffect>
                                  </p:childTnLst>
                                </p:cTn>
                              </p:par>
                            </p:childTnLst>
                          </p:cTn>
                        </p:par>
                        <p:par>
                          <p:cTn id="14" fill="hold">
                            <p:stCondLst>
                              <p:cond delay="500"/>
                            </p:stCondLst>
                            <p:childTnLst>
                              <p:par>
                                <p:cTn id="15" presetID="3" presetClass="entr" presetSubtype="10" fill="hold" nodeType="afterEffect">
                                  <p:stCondLst>
                                    <p:cond delay="0"/>
                                  </p:stCondLst>
                                  <p:childTnLst>
                                    <p:set>
                                      <p:cBhvr>
                                        <p:cTn id="16" dur="1" fill="hold">
                                          <p:stCondLst>
                                            <p:cond delay="0"/>
                                          </p:stCondLst>
                                        </p:cTn>
                                        <p:tgtEl>
                                          <p:spTgt spid="62467"/>
                                        </p:tgtEl>
                                        <p:attrNameLst>
                                          <p:attrName>style.visibility</p:attrName>
                                        </p:attrNameLst>
                                      </p:cBhvr>
                                      <p:to>
                                        <p:strVal val="visible"/>
                                      </p:to>
                                    </p:set>
                                    <p:animEffect transition="in" filter="blinds(horizontal)">
                                      <p:cBhvr>
                                        <p:cTn id="17" dur="500"/>
                                        <p:tgtEl>
                                          <p:spTgt spid="62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4467" name="Rectangle 3"/>
          <p:cNvSpPr>
            <a:spLocks noGrp="1" noChangeArrowheads="1"/>
          </p:cNvSpPr>
          <p:nvPr>
            <p:ph idx="1"/>
          </p:nvPr>
        </p:nvSpPr>
        <p:spPr>
          <a:xfrm>
            <a:off x="504825" y="1074738"/>
            <a:ext cx="8326438" cy="5816600"/>
          </a:xfrm>
        </p:spPr>
        <p:txBody>
          <a:bodyPr vert="horz" wrap="square" lIns="91440" tIns="45720" rIns="91440" bIns="45720" numCol="1" anchor="t" anchorCtr="0" compatLnSpc="1">
            <a:spAutoFit/>
          </a:bodyPr>
          <a:lstStyle/>
          <a:p>
            <a:pPr marL="358775" marR="0" lvl="0" indent="-358775" algn="just" defTabSz="914400" rtl="0" eaLnBrk="0" fontAlgn="base" latinLnBrk="0" hangingPunct="0">
              <a:lnSpc>
                <a:spcPct val="100000"/>
              </a:lnSpc>
              <a:spcBef>
                <a:spcPts val="600"/>
              </a:spcBef>
              <a:spcAft>
                <a:spcPts val="0"/>
              </a:spcAft>
              <a:buClr>
                <a:schemeClr val="tx2"/>
              </a:buClr>
              <a:buSzTx/>
              <a:buFont typeface="Wingdings" panose="05000000000000000000" pitchFamily="2" charset="2"/>
              <a:buBlip>
                <a:blip r:embed="rId1"/>
              </a:buBlip>
              <a:defRPr/>
            </a:pPr>
            <a:r>
              <a:rPr kumimoji="0" lang="zh-CN" altLang="en-US" sz="2800" b="1" i="0" u="none" strike="noStrike" kern="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rPr>
              <a:t>条带化</a:t>
            </a:r>
            <a:endParaRPr kumimoji="0" lang="en-US" altLang="zh-CN" sz="2800" b="1" i="0" u="none" strike="noStrike" kern="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endParaRPr>
          </a:p>
          <a:p>
            <a:pPr marL="717550" marR="0" lvl="1" indent="-342900" algn="just" defTabSz="914400" rtl="0" eaLnBrk="0" fontAlgn="base" latinLnBrk="0" hangingPunct="0">
              <a:lnSpc>
                <a:spcPct val="100000"/>
              </a:lnSpc>
              <a:spcBef>
                <a:spcPts val="600"/>
              </a:spcBef>
              <a:spcAft>
                <a:spcPts val="0"/>
              </a:spcAft>
              <a:buClr>
                <a:schemeClr val="tx2"/>
              </a:buClr>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把</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数据分散到多个</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磁盘上，</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称为</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条</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带化</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7550" marR="0" lvl="1" indent="-342900" algn="just" defTabSz="914400" rtl="0" eaLnBrk="0" fontAlgn="base" latinLnBrk="0" hangingPunct="0">
              <a:lnSpc>
                <a:spcPct val="100000"/>
              </a:lnSpc>
              <a:spcBef>
                <a:spcPts val="600"/>
              </a:spcBef>
              <a:spcAft>
                <a:spcPts val="0"/>
              </a:spcAft>
              <a:buClr>
                <a:schemeClr val="tx2"/>
              </a:buClr>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在</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一组磁盘上进行条带化使得这一组磁盘对于软件来说是一个大磁盘</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，操作系统把一个访问</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分到几个磁盘</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上，从而</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简化了</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存储管理</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7550" marR="0" lvl="1" indent="-342900" algn="just" defTabSz="914400" rtl="0" eaLnBrk="0" fontAlgn="base" latinLnBrk="0" hangingPunct="0">
              <a:lnSpc>
                <a:spcPct val="100000"/>
              </a:lnSpc>
              <a:spcBef>
                <a:spcPts val="600"/>
              </a:spcBef>
              <a:spcAft>
                <a:spcPts val="0"/>
              </a:spcAft>
              <a:buClr>
                <a:schemeClr val="tx2"/>
              </a:buClr>
              <a:buSzTx/>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划分方式</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085850" marR="0" lvl="1" indent="-361950" algn="just" defTabSz="914400" rtl="0" eaLnBrk="0" fontAlgn="base" latinLnBrk="0" hangingPunct="0">
              <a:lnSpc>
                <a:spcPct val="100000"/>
              </a:lnSpc>
              <a:spcBef>
                <a:spcPts val="600"/>
              </a:spcBef>
              <a:spcAft>
                <a:spcPts val="0"/>
              </a:spcAft>
              <a:buClr>
                <a:schemeClr val="tx2"/>
              </a:buClr>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大</a:t>
            </a:r>
            <a:r>
              <a:rPr kumimoji="0"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条区交叉</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分布</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rPr>
              <a:t>以</a:t>
            </a:r>
            <a:r>
              <a:rPr kumimoji="0" lang="zh-CN" altLang="en-US" sz="2200" b="1" i="0" u="none" strike="noStrike" kern="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rPr>
              <a:t>块交叉</a:t>
            </a:r>
            <a:r>
              <a:rPr kumimoji="0"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rPr>
              <a:t>方式</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时</a:t>
            </a:r>
            <a:r>
              <a:rPr kumimoji="0"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，若两个</a:t>
            </a:r>
            <a:r>
              <a:rPr kumimoji="0" lang="en-US" altLang="zh-CN"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请求访问</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不同磁盘上</a:t>
            </a:r>
            <a:r>
              <a:rPr kumimoji="0"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的数据，则可并行发送。减少了</a:t>
            </a:r>
            <a:r>
              <a:rPr kumimoji="0" lang="en-US" altLang="zh-CN"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排队时间。具有较快的</a:t>
            </a:r>
            <a:r>
              <a:rPr kumimoji="0" lang="en-US" altLang="zh-CN"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响应能力。如</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RAID4</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RAID5</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RAID6</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rPr>
              <a:t>RAID5</a:t>
            </a:r>
            <a:r>
              <a:rPr kumimoji="0" lang="zh-CN" altLang="en-US"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rPr>
              <a:t>被广泛</a:t>
            </a:r>
            <a:r>
              <a:rPr kumimoji="0" lang="zh-CN" altLang="en-US" sz="2200" b="1" i="0" u="none" strike="noStrike" kern="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rPr>
              <a:t>使用</a:t>
            </a:r>
            <a:endParaRPr kumimoji="0" lang="zh-CN" altLang="en-US" sz="2200" b="1" i="0" u="none" strike="noStrike" kern="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endParaRPr>
          </a:p>
          <a:p>
            <a:pPr marL="1085850" marR="0" lvl="1" indent="-361950" algn="just" defTabSz="914400" rtl="0" eaLnBrk="0" fontAlgn="base" latinLnBrk="0" hangingPunct="0">
              <a:lnSpc>
                <a:spcPct val="100000"/>
              </a:lnSpc>
              <a:spcBef>
                <a:spcPts val="600"/>
              </a:spcBef>
              <a:spcAft>
                <a:spcPts val="0"/>
              </a:spcAft>
              <a:buClr>
                <a:schemeClr val="tx2"/>
              </a:buClr>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小条区交叉分布</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0" cap="none" spc="0" normalizeH="0" baseline="0" noProof="0" dirty="0" smtClean="0">
                <a:ln>
                  <a:noFill/>
                </a:ln>
                <a:solidFill>
                  <a:srgbClr val="FFFF00"/>
                </a:solidFill>
                <a:effectLst/>
                <a:uLnTx/>
                <a:uFillTx/>
                <a:latin typeface="+mn-lt"/>
                <a:ea typeface="+mn-ea"/>
              </a:rPr>
              <a:t>以字</a:t>
            </a:r>
            <a:r>
              <a:rPr kumimoji="0" lang="en-US" altLang="zh-CN" sz="2200" b="1" i="0" u="none" strike="noStrike" kern="0" cap="none" spc="0" normalizeH="0" baseline="0" noProof="0" dirty="0" smtClean="0">
                <a:ln>
                  <a:noFill/>
                </a:ln>
                <a:solidFill>
                  <a:srgbClr val="FFFF00"/>
                </a:solidFill>
                <a:effectLst/>
                <a:uLnTx/>
                <a:uFillTx/>
                <a:latin typeface="+mn-lt"/>
                <a:ea typeface="+mn-ea"/>
              </a:rPr>
              <a:t>/</a:t>
            </a:r>
            <a:r>
              <a:rPr kumimoji="0" lang="zh-CN" altLang="en-US" sz="2200" b="1" i="0" u="none" strike="noStrike" kern="0" cap="none" spc="0" normalizeH="0" baseline="0" noProof="0" dirty="0" smtClean="0">
                <a:ln>
                  <a:noFill/>
                </a:ln>
                <a:solidFill>
                  <a:srgbClr val="FFFF00"/>
                </a:solidFill>
                <a:effectLst/>
                <a:uLnTx/>
                <a:uFillTx/>
                <a:latin typeface="+mn-lt"/>
                <a:ea typeface="+mn-ea"/>
              </a:rPr>
              <a:t>字节交叉方式</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时，同一个</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请求有可能并行传送其不同的数据块</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条区</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，可获得较高的数据传输率。如</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RAID2</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rPr>
              <a:t>RAID3</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rPr>
              <a:t> RAID3</a:t>
            </a:r>
            <a:r>
              <a:rPr kumimoji="0" lang="zh-CN" altLang="en-US" sz="20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rPr>
              <a:t>用于</a:t>
            </a:r>
            <a:r>
              <a:rPr kumimoji="0" lang="zh-CN" altLang="en-US" sz="2000" b="1" i="0" u="none" strike="noStrike" kern="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rPr>
              <a:t>大数据集应用的场合，</a:t>
            </a:r>
            <a:r>
              <a:rPr kumimoji="0" lang="zh-CN" altLang="en-US"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如：图像处理</a:t>
            </a:r>
            <a:endPar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085850" marR="0" lvl="1" indent="-361950" algn="just" defTabSz="914400" rtl="0" eaLnBrk="0" fontAlgn="base" latinLnBrk="0" hangingPunct="0">
              <a:lnSpc>
                <a:spcPct val="100000"/>
              </a:lnSpc>
              <a:spcBef>
                <a:spcPts val="600"/>
              </a:spcBef>
              <a:spcAft>
                <a:spcPts val="0"/>
              </a:spcAft>
              <a:buClr>
                <a:schemeClr val="tx2"/>
              </a:buClr>
              <a:buSzTx/>
              <a:buFont typeface="Wingdings" panose="05000000000000000000" pitchFamily="2" charset="2"/>
              <a:buNone/>
              <a:defRPr/>
            </a:pP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7" name="Rectangle 2"/>
          <p:cNvSpPr>
            <a:spLocks noGrp="1" noChangeArrowheads="1"/>
          </p:cNvSpPr>
          <p:nvPr>
            <p:ph type="title"/>
          </p:nvPr>
        </p:nvSpPr>
        <p:spPr>
          <a:xfrm>
            <a:off x="381000" y="228600"/>
            <a:ext cx="8393113" cy="72072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回顾－</a:t>
            </a:r>
            <a:r>
              <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rPr>
              <a:t>磁盘</a:t>
            </a:r>
            <a:r>
              <a:rPr kumimoji="0" lang="zh-CN" altLang="en-US" sz="4800" b="1" i="0" u="none" strike="noStrike" kern="0" cap="none" spc="0" normalizeH="0" baseline="0" noProof="0" dirty="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rPr>
              <a:t>阵列</a:t>
            </a:r>
            <a:r>
              <a:rPr kumimoji="0" lang="en-US" altLang="zh-CN"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rPr>
              <a:t>RAID</a:t>
            </a:r>
            <a:endParaRPr kumimoji="0" lang="zh-CN" altLang="en-US" sz="48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Times New Roman" panose="02020603050405020304" pitchFamily="18" charset="0"/>
              <a:ea typeface="+mj-ea"/>
              <a:cs typeface="+mj-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14467">
                                            <p:txEl>
                                              <p:charRg st="80" end="85"/>
                                            </p:txEl>
                                          </p:spTgt>
                                        </p:tgtEl>
                                        <p:attrNameLst>
                                          <p:attrName>style.visibility</p:attrName>
                                        </p:attrNameLst>
                                      </p:cBhvr>
                                      <p:to>
                                        <p:strVal val="visible"/>
                                      </p:to>
                                    </p:set>
                                    <p:animEffect transition="in" filter="blinds(horizontal)">
                                      <p:cBhvr>
                                        <p:cTn id="7" dur="500"/>
                                        <p:tgtEl>
                                          <p:spTgt spid="1214467">
                                            <p:txEl>
                                              <p:charRg st="80" end="8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214467">
                                            <p:txEl>
                                              <p:charRg st="85" end="186"/>
                                            </p:txEl>
                                          </p:spTgt>
                                        </p:tgtEl>
                                        <p:attrNameLst>
                                          <p:attrName>style.visibility</p:attrName>
                                        </p:attrNameLst>
                                      </p:cBhvr>
                                      <p:to>
                                        <p:strVal val="visible"/>
                                      </p:to>
                                    </p:set>
                                    <p:animEffect transition="in" filter="blinds(horizontal)">
                                      <p:cBhvr>
                                        <p:cTn id="10" dur="500"/>
                                        <p:tgtEl>
                                          <p:spTgt spid="1214467">
                                            <p:txEl>
                                              <p:charRg st="85" end="18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214467">
                                            <p:txEl>
                                              <p:charRg st="186" end="286"/>
                                            </p:txEl>
                                          </p:spTgt>
                                        </p:tgtEl>
                                        <p:attrNameLst>
                                          <p:attrName>style.visibility</p:attrName>
                                        </p:attrNameLst>
                                      </p:cBhvr>
                                      <p:to>
                                        <p:strVal val="visible"/>
                                      </p:to>
                                    </p:set>
                                    <p:animEffect transition="in" filter="blinds(horizontal)">
                                      <p:cBhvr>
                                        <p:cTn id="13" dur="500"/>
                                        <p:tgtEl>
                                          <p:spTgt spid="1214467">
                                            <p:txEl>
                                              <p:charRg st="186" end="2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42" name="Rectangle 2"/>
          <p:cNvSpPr>
            <a:spLocks noGrp="1" noChangeArrowheads="1"/>
          </p:cNvSpPr>
          <p:nvPr>
            <p:ph type="title"/>
          </p:nvPr>
        </p:nvSpPr>
        <p:spPr>
          <a:xfrm>
            <a:off x="642938" y="188913"/>
            <a:ext cx="8393113" cy="7143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0000"/>
                </a:solidFill>
                <a:effectLst/>
                <a:uLnTx/>
                <a:uFillTx/>
                <a:latin typeface="+mj-lt"/>
                <a:ea typeface="+mj-ea"/>
                <a:cs typeface="+mj-cs"/>
              </a:rPr>
              <a:t>回顾</a:t>
            </a:r>
            <a:r>
              <a:rPr kumimoji="0" lang="zh-CN" altLang="en-US" sz="44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a:t>
            </a:r>
            <a:r>
              <a:rPr kumimoji="0" lang="zh-CN" altLang="en-US" sz="4800" b="1" i="0" u="none" strike="noStrike" kern="0" cap="none" spc="0" normalizeH="0" baseline="0" noProof="0" dirty="0" smtClean="0">
                <a:ln>
                  <a:noFill/>
                </a:ln>
                <a:solidFill>
                  <a:srgbClr val="FF0000"/>
                </a:solidFill>
                <a:effectLst/>
                <a:uLnTx/>
                <a:uFillTx/>
                <a:latin typeface="+mj-lt"/>
                <a:ea typeface="+mj-ea"/>
                <a:cs typeface="+mj-cs"/>
              </a:rPr>
              <a:t>光盘分类</a:t>
            </a:r>
            <a:endParaRPr kumimoji="0" lang="zh-CN" altLang="en-US" sz="4800" b="1" i="0" u="none" strike="noStrike" kern="0" cap="none" spc="0" normalizeH="0" baseline="0" noProof="0" dirty="0" smtClean="0">
              <a:ln>
                <a:noFill/>
              </a:ln>
              <a:solidFill>
                <a:srgbClr val="FF0000"/>
              </a:solidFill>
              <a:effectLst/>
              <a:uLnTx/>
              <a:uFillTx/>
              <a:latin typeface="+mj-lt"/>
              <a:ea typeface="+mj-ea"/>
              <a:cs typeface="+mj-cs"/>
            </a:endParaRPr>
          </a:p>
        </p:txBody>
      </p:sp>
      <p:sp>
        <p:nvSpPr>
          <p:cNvPr id="64515" name="Rectangle 3"/>
          <p:cNvSpPr>
            <a:spLocks noGrp="1" noChangeArrowheads="1"/>
          </p:cNvSpPr>
          <p:nvPr>
            <p:ph idx="1"/>
          </p:nvPr>
        </p:nvSpPr>
        <p:spPr>
          <a:xfrm>
            <a:off x="568325" y="1041400"/>
            <a:ext cx="8401050" cy="6021388"/>
          </a:xfrm>
        </p:spPr>
        <p:txBody>
          <a:bodyPr vert="horz" wrap="square" lIns="91440" tIns="45720" rIns="91440" bIns="45720" numCol="1" anchor="t" anchorCtr="0" compatLnSpc="1">
            <a:spAutoFit/>
          </a:bodyPr>
          <a:lstStyle/>
          <a:p>
            <a:pPr marL="460375" marR="0" lvl="0" indent="-460375"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1．按记录介质分</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914400" marR="0" lvl="1" indent="-452755"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(1)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形变型光盘</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914400" marR="0" lvl="1" indent="-452755"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  (2)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相变型光盘</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PCD (Phase Change Disc)</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914400" marR="0" lvl="1" indent="-452755"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(3)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磁光型光盘</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MOD(Magneto Optical Disc)</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460375" marR="0" lvl="0" indent="-460375"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2．按存取方式分</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914400" marR="0" lvl="1" indent="-452755"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(1)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只读型光盘</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(DVD-ROM、CD-ROM</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VCD)</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914400" marR="0" lvl="1" indent="-189230"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Blip>
                <a:blip r:embed="rId1"/>
              </a:buBlip>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只能顺序读出，不能写入和擦除，出厂已写好信息。属</a:t>
            </a:r>
            <a:r>
              <a:rPr kumimoji="0" lang="zh-CN" altLang="en-US" sz="2400" b="1" i="0" u="none" strike="noStrike" kern="0" cap="none" spc="0" normalizeH="0" baseline="0" noProof="0" dirty="0" smtClean="0">
                <a:ln>
                  <a:noFill/>
                </a:ln>
                <a:solidFill>
                  <a:schemeClr val="tx1"/>
                </a:solidFill>
                <a:effectLst/>
                <a:uLnTx/>
                <a:uFillTx/>
                <a:latin typeface="+mn-lt"/>
                <a:ea typeface="+mn-ea"/>
              </a:rPr>
              <a:t>形变型光盘</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914400" marR="0" lvl="1" indent="-452755"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(2)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追记型光盘</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(CD-R</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WORM)</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914400" marR="0" lvl="1" indent="-189230"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Blip>
                <a:blip r:embed="rId1"/>
              </a:buBlip>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用户只能一次写，一经写入，不能再更改。属不可逆相变型光盘</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914400" marR="0" lvl="1" indent="-452755"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(3)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可擦型光盘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(DVD-R/W、CD-R/W)</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914400" marR="0" lvl="1" indent="-189230"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Blip>
                <a:blip r:embed="rId1"/>
              </a:buBlip>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可读、可擦除、可多次写入。</a:t>
            </a:r>
            <a:r>
              <a:rPr kumimoji="0" lang="zh-CN" altLang="en-US" sz="2400" b="1" i="0" u="none" strike="noStrike" kern="0" cap="none" spc="0" normalizeH="0" baseline="0" noProof="0" dirty="0" smtClean="0">
                <a:ln>
                  <a:noFill/>
                </a:ln>
                <a:solidFill>
                  <a:schemeClr val="tx1"/>
                </a:solidFill>
                <a:effectLst/>
                <a:uLnTx/>
                <a:uFillTx/>
                <a:latin typeface="+mn-lt"/>
                <a:ea typeface="+mn-ea"/>
              </a:rPr>
              <a:t>可逆相变型光盘</a:t>
            </a:r>
            <a:endParaRPr kumimoji="0" lang="zh-CN" altLang="en-US" sz="2400" b="1" i="0" u="none" strike="noStrike" kern="0" cap="none" spc="0" normalizeH="0" baseline="0" noProof="0" dirty="0" smtClean="0">
              <a:ln>
                <a:noFill/>
              </a:ln>
              <a:solidFill>
                <a:schemeClr val="tx1"/>
              </a:solidFill>
              <a:effectLst/>
              <a:uLnTx/>
              <a:uFillTx/>
              <a:latin typeface="+mn-lt"/>
              <a:ea typeface="+mn-ea"/>
            </a:endParaRPr>
          </a:p>
          <a:p>
            <a:pPr marL="914400" marR="0" lvl="1" indent="-452755" algn="l" defTabSz="914400" rtl="0" eaLnBrk="0" fontAlgn="base" latinLnBrk="0" hangingPunct="0">
              <a:lnSpc>
                <a:spcPct val="110000"/>
              </a:lnSpc>
              <a:spcBef>
                <a:spcPct val="0"/>
              </a:spcBef>
              <a:spcAft>
                <a:spcPct val="0"/>
              </a:spcAft>
              <a:buClr>
                <a:schemeClr val="tx2"/>
              </a:buClr>
              <a:buSzTx/>
              <a:buFont typeface="Wingdings" panose="05000000000000000000" pitchFamily="2" charset="2"/>
              <a:buBlip>
                <a:blip r:embed="rId1"/>
              </a:buBlip>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p:txBody>
      </p:sp>
    </p:spTree>
  </p:cSld>
  <p:clrMapOvr>
    <a:masterClrMapping/>
  </p:clrMapOvr>
  <p:transition spd="slow">
    <p:pull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9" name="Rectangle 3"/>
          <p:cNvSpPr>
            <a:spLocks noGrp="1" noChangeArrowheads="1"/>
          </p:cNvSpPr>
          <p:nvPr>
            <p:ph idx="1"/>
          </p:nvPr>
        </p:nvSpPr>
        <p:spPr>
          <a:xfrm>
            <a:off x="485775" y="1076325"/>
            <a:ext cx="8437563" cy="6051550"/>
          </a:xfrm>
        </p:spPr>
        <p:txBody>
          <a:bodyPr vert="horz" wrap="square" lIns="91440" tIns="45720" rIns="91440" bIns="45720" numCol="1" anchor="t" anchorCtr="0" compatLnSpc="1">
            <a:spAutoFit/>
          </a:bodyPr>
          <a:lstStyle/>
          <a:p>
            <a:pPr marL="460375" marR="0" lvl="0" indent="-460375" algn="l" defTabSz="914400" rtl="0" eaLnBrk="0" fontAlgn="base" latinLnBrk="0" hangingPunct="0">
              <a:lnSpc>
                <a:spcPct val="110000"/>
              </a:lnSpc>
              <a:spcBef>
                <a:spcPts val="0"/>
              </a:spcBef>
              <a:spcAft>
                <a:spcPct val="0"/>
              </a:spcAft>
              <a:buClr>
                <a:schemeClr val="tx2"/>
              </a:buClr>
              <a:buSzTx/>
              <a:buFont typeface="Wingdings" panose="05000000000000000000" pitchFamily="2" charset="2"/>
              <a:buBlip>
                <a:blip r:embed="rId1"/>
              </a:buBli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主机</a:t>
            </a: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与</a:t>
            </a:r>
            <a:r>
              <a:rPr kumimoji="0"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设备之间必须有一层“界面” </a:t>
            </a:r>
            <a:endPar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98525" marR="0" lvl="1" indent="-361950" algn="l" defTabSz="914400" rtl="0" eaLnBrk="0" fontAlgn="base" latinLnBrk="0" hangingPunct="0">
              <a:lnSpc>
                <a:spcPct val="110000"/>
              </a:lnSpc>
              <a:spcBef>
                <a:spcPts val="0"/>
              </a:spcBef>
              <a:spcAft>
                <a:spcPct val="0"/>
              </a:spcAft>
              <a:buClr>
                <a:schemeClr val="tx2"/>
              </a:buClr>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用来满足</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操作存在的</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异步、实时、设备无关等特性 </a:t>
            </a: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98525" marR="0" lvl="1" indent="-361950" algn="l" defTabSz="914400" rtl="0" eaLnBrk="0" fontAlgn="base" latinLnBrk="0" hangingPunct="0">
              <a:lnSpc>
                <a:spcPct val="110000"/>
              </a:lnSpc>
              <a:spcBef>
                <a:spcPts val="0"/>
              </a:spcBef>
              <a:spcAft>
                <a:spcPct val="0"/>
              </a:spcAft>
              <a:buClr>
                <a:schemeClr val="tx2"/>
              </a:buClr>
              <a:buSzTx/>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屏蔽数据交换的复杂性与多样性所带来巨大差异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提供一致</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访问界面</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60375" marR="0" lvl="0" indent="-460375" algn="l" defTabSz="914400" rtl="0" eaLnBrk="0" fontAlgn="base" latinLnBrk="0" hangingPunct="0">
              <a:lnSpc>
                <a:spcPct val="110000"/>
              </a:lnSpc>
              <a:spcBef>
                <a:spcPts val="0"/>
              </a:spcBef>
              <a:spcAft>
                <a:spcPct val="0"/>
              </a:spcAft>
              <a:buClr>
                <a:schemeClr val="tx2"/>
              </a:buClr>
              <a:buSzTx/>
              <a:buFont typeface="Wingdings" panose="05000000000000000000" pitchFamily="2" charset="2"/>
              <a:buBlip>
                <a:blip r:embed="rId1"/>
              </a:buBli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该“界面” 是非常</a:t>
            </a: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重要的</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中间环节 </a:t>
            </a:r>
            <a:r>
              <a:rPr kumimoji="0"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800" b="1" i="0" u="none" strike="noStrike" kern="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rPr>
              <a:t>I/O</a:t>
            </a:r>
            <a:r>
              <a:rPr kumimoji="0" lang="zh-CN" altLang="en-US" sz="2800" b="1" i="0" u="none" strike="noStrike" kern="0" cap="none" spc="0" normalizeH="0" baseline="0" noProof="0" dirty="0">
                <a:ln>
                  <a:noFill/>
                </a:ln>
                <a:solidFill>
                  <a:srgbClr val="FFFF00"/>
                </a:solidFill>
                <a:effectLst/>
                <a:uLnTx/>
                <a:uFillTx/>
                <a:latin typeface="Times New Roman" panose="02020603050405020304" pitchFamily="18" charset="0"/>
                <a:ea typeface="+mn-ea"/>
                <a:cs typeface="Times New Roman" panose="02020603050405020304" pitchFamily="18" charset="0"/>
              </a:rPr>
              <a:t>接口 </a:t>
            </a:r>
            <a:endParaRPr kumimoji="0" lang="en-US" altLang="zh-CN"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cs typeface="Times New Roman" panose="02020603050405020304" pitchFamily="18" charset="0"/>
            </a:endParaRPr>
          </a:p>
          <a:p>
            <a:pPr marL="460375" marR="0" lvl="0" indent="-460375" algn="l" defTabSz="914400" rtl="0" eaLnBrk="0" fontAlgn="base" latinLnBrk="0" hangingPunct="0">
              <a:lnSpc>
                <a:spcPct val="110000"/>
              </a:lnSpc>
              <a:spcBef>
                <a:spcPts val="0"/>
              </a:spcBef>
              <a:spcAft>
                <a:spcPct val="0"/>
              </a:spcAft>
              <a:buClr>
                <a:schemeClr val="tx2"/>
              </a:buClr>
              <a:buSzTx/>
              <a:buFont typeface="Wingdings" panose="05000000000000000000" pitchFamily="2" charset="2"/>
              <a:buBlip>
                <a:blip r:embed="rId1"/>
              </a:buBlip>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为什么</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设备不直接挂接在系统总线上，而是通过</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接口作为桥梁实现与系统总线的连接？</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83920" marR="0" lvl="0" indent="-342900" algn="l" defTabSz="914400" rtl="0" eaLnBrk="0" fontAlgn="base" latinLnBrk="0" hangingPunct="0">
              <a:lnSpc>
                <a:spcPct val="110000"/>
              </a:lnSpc>
              <a:spcBef>
                <a:spcPts val="0"/>
              </a:spcBef>
              <a:spcAft>
                <a:spcPct val="0"/>
              </a:spcAft>
              <a:buClr>
                <a:schemeClr val="tx2"/>
              </a:buClr>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各种</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设备使用不同的操作方法，由</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CPU</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直接控制不同的</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设备，不切实际 </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83920" marR="0" lvl="0" indent="-342900" algn="l" defTabSz="914400" rtl="0" eaLnBrk="0" fontAlgn="base" latinLnBrk="0" hangingPunct="0">
              <a:lnSpc>
                <a:spcPct val="110000"/>
              </a:lnSpc>
              <a:spcBef>
                <a:spcPts val="0"/>
              </a:spcBef>
              <a:spcAft>
                <a:spcPct val="0"/>
              </a:spcAft>
              <a:buClr>
                <a:schemeClr val="tx2"/>
              </a:buClr>
              <a:buSzTx/>
              <a:buFont typeface="Wingdings" panose="05000000000000000000" pitchFamily="2" charset="2"/>
              <a:buChar char="n"/>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设备的数据传送速度比存储器和处理器的速度慢得多，使用高速的系统总线与慢速的</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设备直接连接，不切实际 </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83920" marR="0" lvl="0" indent="-342900" algn="l" defTabSz="914400" rtl="0" eaLnBrk="0" fontAlgn="base" latinLnBrk="0" hangingPunct="0">
              <a:lnSpc>
                <a:spcPct val="110000"/>
              </a:lnSpc>
              <a:spcBef>
                <a:spcPts val="0"/>
              </a:spcBef>
              <a:spcAft>
                <a:spcPct val="0"/>
              </a:spcAft>
              <a:buClr>
                <a:schemeClr val="tx2"/>
              </a:buClr>
              <a:buSzTx/>
              <a:buFont typeface="Wingdings" panose="05000000000000000000" pitchFamily="2" charset="2"/>
              <a:buChar char="n"/>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设备经常使用与处理器不同的数据格式和字长度 </a:t>
            </a: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14400" marR="0" lvl="1" indent="-452755" algn="l" defTabSz="914400" rtl="0" eaLnBrk="0" fontAlgn="base" latinLnBrk="0" hangingPunct="0">
              <a:lnSpc>
                <a:spcPct val="110000"/>
              </a:lnSpc>
              <a:spcBef>
                <a:spcPts val="0"/>
              </a:spcBef>
              <a:spcAft>
                <a:spcPct val="0"/>
              </a:spcAft>
              <a:buClr>
                <a:schemeClr val="tx2"/>
              </a:buClr>
              <a:buSzTx/>
              <a:buFont typeface="Wingdings" panose="05000000000000000000" pitchFamily="2" charset="2"/>
              <a:buBlip>
                <a:blip r:embed="rId2"/>
              </a:buBlip>
              <a:defRPr/>
            </a:pPr>
            <a:endPar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101379" name="Rectangle 57"/>
          <p:cNvSpPr txBox="1"/>
          <p:nvPr/>
        </p:nvSpPr>
        <p:spPr>
          <a:xfrm>
            <a:off x="579438" y="173038"/>
            <a:ext cx="8181975" cy="728662"/>
          </a:xfrm>
          <a:prstGeom prst="rect">
            <a:avLst/>
          </a:prstGeom>
          <a:noFill/>
          <a:ln w="9525">
            <a:noFill/>
          </a:ln>
        </p:spPr>
        <p:txBody>
          <a:bodyPr anchor="b"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4800" dirty="0">
                <a:solidFill>
                  <a:srgbClr val="FF0000"/>
                </a:solidFill>
              </a:rPr>
              <a:t>回顾－</a:t>
            </a:r>
            <a:r>
              <a:rPr lang="en-US" altLang="zh-CN" sz="4800" dirty="0">
                <a:solidFill>
                  <a:srgbClr val="FF0000"/>
                </a:solidFill>
              </a:rPr>
              <a:t>I/O</a:t>
            </a:r>
            <a:r>
              <a:rPr lang="zh-CN" altLang="en-US" sz="4800" dirty="0">
                <a:solidFill>
                  <a:srgbClr val="FF0000"/>
                </a:solidFill>
              </a:rPr>
              <a:t>接口</a:t>
            </a:r>
            <a:endParaRPr lang="zh-CN" altLang="en-US" sz="5400" dirty="0">
              <a:solidFill>
                <a:srgbClr val="FF0000"/>
              </a:solidFill>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6979">
                                            <p:txEl>
                                              <p:charRg st="81" end="107"/>
                                            </p:txEl>
                                          </p:spTgt>
                                        </p:tgtEl>
                                        <p:attrNameLst>
                                          <p:attrName>style.visibility</p:attrName>
                                        </p:attrNameLst>
                                      </p:cBhvr>
                                      <p:to>
                                        <p:strVal val="visible"/>
                                      </p:to>
                                    </p:set>
                                    <p:animEffect transition="in" filter="blinds(horizontal)">
                                      <p:cBhvr>
                                        <p:cTn id="7" dur="500"/>
                                        <p:tgtEl>
                                          <p:spTgt spid="126979">
                                            <p:txEl>
                                              <p:charRg st="81" end="10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6979">
                                            <p:txEl>
                                              <p:charRg st="107" end="152"/>
                                            </p:txEl>
                                          </p:spTgt>
                                        </p:tgtEl>
                                        <p:attrNameLst>
                                          <p:attrName>style.visibility</p:attrName>
                                        </p:attrNameLst>
                                      </p:cBhvr>
                                      <p:to>
                                        <p:strVal val="visible"/>
                                      </p:to>
                                    </p:set>
                                    <p:animEffect transition="in" filter="blinds(horizontal)">
                                      <p:cBhvr>
                                        <p:cTn id="12" dur="500"/>
                                        <p:tgtEl>
                                          <p:spTgt spid="126979">
                                            <p:txEl>
                                              <p:charRg st="107" end="15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26979">
                                            <p:txEl>
                                              <p:charRg st="152" end="192"/>
                                            </p:txEl>
                                          </p:spTgt>
                                        </p:tgtEl>
                                        <p:attrNameLst>
                                          <p:attrName>style.visibility</p:attrName>
                                        </p:attrNameLst>
                                      </p:cBhvr>
                                      <p:to>
                                        <p:strVal val="visible"/>
                                      </p:to>
                                    </p:set>
                                    <p:animEffect transition="in" filter="blinds(horizontal)">
                                      <p:cBhvr>
                                        <p:cTn id="15" dur="500"/>
                                        <p:tgtEl>
                                          <p:spTgt spid="126979">
                                            <p:txEl>
                                              <p:charRg st="152" end="19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26979">
                                            <p:txEl>
                                              <p:charRg st="192" end="248"/>
                                            </p:txEl>
                                          </p:spTgt>
                                        </p:tgtEl>
                                        <p:attrNameLst>
                                          <p:attrName>style.visibility</p:attrName>
                                        </p:attrNameLst>
                                      </p:cBhvr>
                                      <p:to>
                                        <p:strVal val="visible"/>
                                      </p:to>
                                    </p:set>
                                    <p:animEffect transition="in" filter="blinds(horizontal)">
                                      <p:cBhvr>
                                        <p:cTn id="18" dur="500"/>
                                        <p:tgtEl>
                                          <p:spTgt spid="126979">
                                            <p:txEl>
                                              <p:charRg st="192" end="248"/>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26979">
                                            <p:txEl>
                                              <p:charRg st="248" end="274"/>
                                            </p:txEl>
                                          </p:spTgt>
                                        </p:tgtEl>
                                        <p:attrNameLst>
                                          <p:attrName>style.visibility</p:attrName>
                                        </p:attrNameLst>
                                      </p:cBhvr>
                                      <p:to>
                                        <p:strVal val="visible"/>
                                      </p:to>
                                    </p:set>
                                    <p:animEffect transition="in" filter="blinds(horizontal)">
                                      <p:cBhvr>
                                        <p:cTn id="21" dur="500"/>
                                        <p:tgtEl>
                                          <p:spTgt spid="126979">
                                            <p:txEl>
                                              <p:charRg st="248" end="2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Text Box 2"/>
          <p:cNvSpPr txBox="1"/>
          <p:nvPr/>
        </p:nvSpPr>
        <p:spPr>
          <a:xfrm>
            <a:off x="533400" y="160338"/>
            <a:ext cx="7629525" cy="585787"/>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Blip>
                <a:blip r:embed="rId1"/>
              </a:buBlip>
            </a:pPr>
            <a:r>
              <a:rPr lang="en-US" altLang="zh-CN" sz="3200" dirty="0">
                <a:latin typeface="Times New Roman" panose="02020603050405020304" pitchFamily="18" charset="0"/>
              </a:rPr>
              <a:t>I/O</a:t>
            </a:r>
            <a:r>
              <a:rPr lang="zh-CN" altLang="en-US" sz="3200" dirty="0">
                <a:latin typeface="Times New Roman" panose="02020603050405020304" pitchFamily="18" charset="0"/>
              </a:rPr>
              <a:t>与主机交换信息的三种控制传送方式</a:t>
            </a:r>
            <a:endParaRPr lang="zh-CN" altLang="en-US" sz="3200" dirty="0">
              <a:latin typeface="Times New Roman" panose="02020603050405020304" pitchFamily="18" charset="0"/>
            </a:endParaRPr>
          </a:p>
        </p:txBody>
      </p:sp>
      <p:grpSp>
        <p:nvGrpSpPr>
          <p:cNvPr id="2" name="Group 3"/>
          <p:cNvGrpSpPr/>
          <p:nvPr/>
        </p:nvGrpSpPr>
        <p:grpSpPr>
          <a:xfrm>
            <a:off x="300038" y="4657725"/>
            <a:ext cx="8158162" cy="2203450"/>
            <a:chOff x="189" y="2934"/>
            <a:chExt cx="5139" cy="1388"/>
          </a:xfrm>
        </p:grpSpPr>
        <p:sp>
          <p:nvSpPr>
            <p:cNvPr id="4299780" name="Line 4"/>
            <p:cNvSpPr>
              <a:spLocks noChangeShapeType="1"/>
            </p:cNvSpPr>
            <p:nvPr/>
          </p:nvSpPr>
          <p:spPr bwMode="auto">
            <a:xfrm>
              <a:off x="717" y="3782"/>
              <a:ext cx="2251" cy="0"/>
            </a:xfrm>
            <a:prstGeom prst="line">
              <a:avLst/>
            </a:prstGeom>
            <a:noFill/>
            <a:ln w="3810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781" name="Line 5"/>
            <p:cNvSpPr>
              <a:spLocks noChangeShapeType="1"/>
            </p:cNvSpPr>
            <p:nvPr/>
          </p:nvSpPr>
          <p:spPr bwMode="auto">
            <a:xfrm>
              <a:off x="3077" y="3782"/>
              <a:ext cx="2251" cy="0"/>
            </a:xfrm>
            <a:prstGeom prst="line">
              <a:avLst/>
            </a:prstGeom>
            <a:noFill/>
            <a:ln w="3810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782" name="Line 6"/>
            <p:cNvSpPr>
              <a:spLocks noChangeShapeType="1"/>
            </p:cNvSpPr>
            <p:nvPr/>
          </p:nvSpPr>
          <p:spPr bwMode="auto">
            <a:xfrm>
              <a:off x="2973" y="3254"/>
              <a:ext cx="0" cy="535"/>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783" name="Line 7"/>
            <p:cNvSpPr>
              <a:spLocks noChangeShapeType="1"/>
            </p:cNvSpPr>
            <p:nvPr/>
          </p:nvSpPr>
          <p:spPr bwMode="auto">
            <a:xfrm>
              <a:off x="3072" y="3254"/>
              <a:ext cx="0" cy="535"/>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784" name="Line 8"/>
            <p:cNvSpPr>
              <a:spLocks noChangeShapeType="1"/>
            </p:cNvSpPr>
            <p:nvPr/>
          </p:nvSpPr>
          <p:spPr bwMode="auto">
            <a:xfrm>
              <a:off x="2973" y="3782"/>
              <a:ext cx="0" cy="250"/>
            </a:xfrm>
            <a:prstGeom prst="line">
              <a:avLst/>
            </a:prstGeom>
            <a:noFill/>
            <a:ln w="38100">
              <a:solidFill>
                <a:schemeClr val="tx1"/>
              </a:solidFill>
              <a:round/>
              <a:head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785" name="Line 9"/>
            <p:cNvSpPr>
              <a:spLocks noChangeShapeType="1"/>
            </p:cNvSpPr>
            <p:nvPr/>
          </p:nvSpPr>
          <p:spPr bwMode="auto">
            <a:xfrm>
              <a:off x="3072" y="3878"/>
              <a:ext cx="0" cy="354"/>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786" name="Line 10"/>
            <p:cNvSpPr>
              <a:spLocks noChangeShapeType="1"/>
            </p:cNvSpPr>
            <p:nvPr/>
          </p:nvSpPr>
          <p:spPr bwMode="auto">
            <a:xfrm>
              <a:off x="717" y="3247"/>
              <a:ext cx="0" cy="535"/>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56" name="Text Box 11"/>
            <p:cNvSpPr txBox="1"/>
            <p:nvPr/>
          </p:nvSpPr>
          <p:spPr>
            <a:xfrm>
              <a:off x="1507" y="3510"/>
              <a:ext cx="107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latin typeface="Times New Roman" panose="02020603050405020304" pitchFamily="18" charset="0"/>
                </a:rPr>
                <a:t>存取周期结束</a:t>
              </a:r>
              <a:endParaRPr lang="zh-CN" altLang="en-US" sz="2000" dirty="0">
                <a:latin typeface="Times New Roman" panose="02020603050405020304" pitchFamily="18" charset="0"/>
              </a:endParaRPr>
            </a:p>
          </p:txBody>
        </p:sp>
        <p:sp>
          <p:nvSpPr>
            <p:cNvPr id="4299788" name="Line 12"/>
            <p:cNvSpPr>
              <a:spLocks noChangeShapeType="1"/>
            </p:cNvSpPr>
            <p:nvPr/>
          </p:nvSpPr>
          <p:spPr bwMode="auto">
            <a:xfrm>
              <a:off x="2778" y="3638"/>
              <a:ext cx="195"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58" name="Text Box 13"/>
            <p:cNvSpPr txBox="1"/>
            <p:nvPr/>
          </p:nvSpPr>
          <p:spPr>
            <a:xfrm>
              <a:off x="1101" y="3256"/>
              <a:ext cx="148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CPU  </a:t>
              </a:r>
              <a:r>
                <a:rPr lang="zh-CN" altLang="en-US" sz="2000" dirty="0">
                  <a:latin typeface="Times New Roman" panose="02020603050405020304" pitchFamily="18" charset="0"/>
                </a:rPr>
                <a:t>执行现行程序</a:t>
              </a:r>
              <a:endParaRPr lang="zh-CN" altLang="en-US" sz="2000" dirty="0">
                <a:latin typeface="Times New Roman" panose="02020603050405020304" pitchFamily="18" charset="0"/>
              </a:endParaRPr>
            </a:p>
          </p:txBody>
        </p:sp>
        <p:sp>
          <p:nvSpPr>
            <p:cNvPr id="4299790" name="Line 14"/>
            <p:cNvSpPr>
              <a:spLocks noChangeShapeType="1"/>
            </p:cNvSpPr>
            <p:nvPr/>
          </p:nvSpPr>
          <p:spPr bwMode="auto">
            <a:xfrm rot="10800000">
              <a:off x="717" y="3350"/>
              <a:ext cx="195"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791" name="Line 15"/>
            <p:cNvSpPr>
              <a:spLocks noChangeShapeType="1"/>
            </p:cNvSpPr>
            <p:nvPr/>
          </p:nvSpPr>
          <p:spPr bwMode="auto">
            <a:xfrm>
              <a:off x="2778" y="3350"/>
              <a:ext cx="195"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792" name="Line 16"/>
            <p:cNvSpPr>
              <a:spLocks noChangeShapeType="1"/>
            </p:cNvSpPr>
            <p:nvPr/>
          </p:nvSpPr>
          <p:spPr bwMode="auto">
            <a:xfrm rot="10800000">
              <a:off x="3072" y="3350"/>
              <a:ext cx="195"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62" name="Text Box 17"/>
            <p:cNvSpPr txBox="1"/>
            <p:nvPr/>
          </p:nvSpPr>
          <p:spPr>
            <a:xfrm>
              <a:off x="3260" y="3256"/>
              <a:ext cx="148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CPU  </a:t>
              </a:r>
              <a:r>
                <a:rPr lang="zh-CN" altLang="en-US" sz="2000" dirty="0">
                  <a:latin typeface="Times New Roman" panose="02020603050405020304" pitchFamily="18" charset="0"/>
                </a:rPr>
                <a:t>执行现行程序</a:t>
              </a:r>
              <a:endParaRPr lang="zh-CN" altLang="en-US" sz="2000" dirty="0">
                <a:latin typeface="Times New Roman" panose="02020603050405020304" pitchFamily="18" charset="0"/>
              </a:endParaRPr>
            </a:p>
          </p:txBody>
        </p:sp>
        <p:sp>
          <p:nvSpPr>
            <p:cNvPr id="103563" name="Text Box 18"/>
            <p:cNvSpPr txBox="1"/>
            <p:nvPr/>
          </p:nvSpPr>
          <p:spPr>
            <a:xfrm>
              <a:off x="2157" y="3784"/>
              <a:ext cx="819"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DMA</a:t>
              </a:r>
              <a:r>
                <a:rPr lang="zh-CN" altLang="en-US" sz="2000" dirty="0">
                  <a:latin typeface="Times New Roman" panose="02020603050405020304" pitchFamily="18" charset="0"/>
                </a:rPr>
                <a:t>请求</a:t>
              </a:r>
              <a:endParaRPr lang="zh-CN" altLang="en-US" sz="2000" dirty="0">
                <a:latin typeface="Times New Roman" panose="02020603050405020304" pitchFamily="18" charset="0"/>
              </a:endParaRPr>
            </a:p>
          </p:txBody>
        </p:sp>
        <p:sp>
          <p:nvSpPr>
            <p:cNvPr id="4299795" name="Line 19"/>
            <p:cNvSpPr>
              <a:spLocks noChangeShapeType="1"/>
            </p:cNvSpPr>
            <p:nvPr/>
          </p:nvSpPr>
          <p:spPr bwMode="auto">
            <a:xfrm>
              <a:off x="1677" y="3772"/>
              <a:ext cx="0" cy="238"/>
            </a:xfrm>
            <a:prstGeom prst="line">
              <a:avLst/>
            </a:prstGeom>
            <a:noFill/>
            <a:ln w="3810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65" name="Text Box 20"/>
            <p:cNvSpPr txBox="1"/>
            <p:nvPr/>
          </p:nvSpPr>
          <p:spPr>
            <a:xfrm>
              <a:off x="1009" y="3774"/>
              <a:ext cx="66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latin typeface="Times New Roman" panose="02020603050405020304" pitchFamily="18" charset="0"/>
                </a:rPr>
                <a:t>启动</a:t>
              </a:r>
              <a:r>
                <a:rPr lang="en-US" altLang="zh-CN" sz="2000" dirty="0">
                  <a:latin typeface="Times New Roman" panose="02020603050405020304" pitchFamily="18" charset="0"/>
                </a:rPr>
                <a:t>I/O</a:t>
              </a:r>
              <a:endParaRPr lang="en-US" altLang="zh-CN" sz="2000" dirty="0">
                <a:latin typeface="Times New Roman" panose="02020603050405020304" pitchFamily="18" charset="0"/>
              </a:endParaRPr>
            </a:p>
          </p:txBody>
        </p:sp>
        <p:sp>
          <p:nvSpPr>
            <p:cNvPr id="4299797" name="Line 21"/>
            <p:cNvSpPr>
              <a:spLocks noChangeShapeType="1"/>
            </p:cNvSpPr>
            <p:nvPr/>
          </p:nvSpPr>
          <p:spPr bwMode="auto">
            <a:xfrm>
              <a:off x="1677" y="4035"/>
              <a:ext cx="0" cy="179"/>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798" name="Line 22"/>
            <p:cNvSpPr>
              <a:spLocks noChangeShapeType="1"/>
            </p:cNvSpPr>
            <p:nvPr/>
          </p:nvSpPr>
          <p:spPr bwMode="auto">
            <a:xfrm flipH="1">
              <a:off x="1677" y="4118"/>
              <a:ext cx="192"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68" name="Text Box 23"/>
            <p:cNvSpPr txBox="1"/>
            <p:nvPr/>
          </p:nvSpPr>
          <p:spPr>
            <a:xfrm>
              <a:off x="1969" y="4014"/>
              <a:ext cx="66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I/O</a:t>
              </a:r>
              <a:r>
                <a:rPr lang="zh-CN" altLang="en-US" sz="2000" dirty="0">
                  <a:latin typeface="Times New Roman" panose="02020603050405020304" pitchFamily="18" charset="0"/>
                </a:rPr>
                <a:t>准备</a:t>
              </a:r>
              <a:endParaRPr lang="zh-CN" altLang="en-US" sz="2000" dirty="0">
                <a:latin typeface="Times New Roman" panose="02020603050405020304" pitchFamily="18" charset="0"/>
              </a:endParaRPr>
            </a:p>
          </p:txBody>
        </p:sp>
        <p:sp>
          <p:nvSpPr>
            <p:cNvPr id="4299800" name="Line 24"/>
            <p:cNvSpPr>
              <a:spLocks noChangeShapeType="1"/>
            </p:cNvSpPr>
            <p:nvPr/>
          </p:nvSpPr>
          <p:spPr bwMode="auto">
            <a:xfrm rot="10800000" flipH="1">
              <a:off x="2781" y="4118"/>
              <a:ext cx="192"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01" name="Line 25"/>
            <p:cNvSpPr>
              <a:spLocks noChangeShapeType="1"/>
            </p:cNvSpPr>
            <p:nvPr/>
          </p:nvSpPr>
          <p:spPr bwMode="auto">
            <a:xfrm flipH="1">
              <a:off x="3076" y="4118"/>
              <a:ext cx="192"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71" name="Text Box 26"/>
            <p:cNvSpPr txBox="1"/>
            <p:nvPr/>
          </p:nvSpPr>
          <p:spPr>
            <a:xfrm>
              <a:off x="3220" y="4014"/>
              <a:ext cx="66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I/O</a:t>
              </a:r>
              <a:r>
                <a:rPr lang="zh-CN" altLang="en-US" sz="2000" dirty="0">
                  <a:latin typeface="Times New Roman" panose="02020603050405020304" pitchFamily="18" charset="0"/>
                </a:rPr>
                <a:t>准备</a:t>
              </a:r>
              <a:endParaRPr lang="zh-CN" altLang="en-US" sz="2000" dirty="0">
                <a:latin typeface="Times New Roman" panose="02020603050405020304" pitchFamily="18" charset="0"/>
              </a:endParaRPr>
            </a:p>
          </p:txBody>
        </p:sp>
        <p:sp>
          <p:nvSpPr>
            <p:cNvPr id="4299803" name="Freeform 27"/>
            <p:cNvSpPr/>
            <p:nvPr/>
          </p:nvSpPr>
          <p:spPr bwMode="auto">
            <a:xfrm>
              <a:off x="2541" y="3062"/>
              <a:ext cx="483" cy="202"/>
            </a:xfrm>
            <a:custGeom>
              <a:avLst/>
              <a:gdLst/>
              <a:ahLst/>
              <a:cxnLst>
                <a:cxn ang="0">
                  <a:pos x="528" y="240"/>
                </a:cxn>
                <a:cxn ang="0">
                  <a:pos x="480" y="144"/>
                </a:cxn>
                <a:cxn ang="0">
                  <a:pos x="336" y="48"/>
                </a:cxn>
                <a:cxn ang="0">
                  <a:pos x="192" y="0"/>
                </a:cxn>
                <a:cxn ang="0">
                  <a:pos x="0" y="0"/>
                </a:cxn>
              </a:cxnLst>
              <a:rect l="0" t="0" r="r" b="b"/>
              <a:pathLst>
                <a:path w="528" h="240">
                  <a:moveTo>
                    <a:pt x="528" y="240"/>
                  </a:moveTo>
                  <a:lnTo>
                    <a:pt x="480" y="144"/>
                  </a:lnTo>
                  <a:lnTo>
                    <a:pt x="336" y="48"/>
                  </a:lnTo>
                  <a:lnTo>
                    <a:pt x="192" y="0"/>
                  </a:lnTo>
                  <a:lnTo>
                    <a:pt x="0" y="0"/>
                  </a:lnTo>
                </a:path>
              </a:pathLst>
            </a:custGeom>
            <a:noFill/>
            <a:ln w="28575" cmpd="sng">
              <a:solidFill>
                <a:schemeClr val="tx1"/>
              </a:solidFill>
              <a:round/>
              <a:headEnd type="oval"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73" name="Text Box 28"/>
            <p:cNvSpPr txBox="1"/>
            <p:nvPr/>
          </p:nvSpPr>
          <p:spPr>
            <a:xfrm>
              <a:off x="1485" y="2934"/>
              <a:ext cx="107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latin typeface="Times New Roman" panose="02020603050405020304" pitchFamily="18" charset="0"/>
                </a:rPr>
                <a:t>一个存取周期</a:t>
              </a:r>
              <a:endParaRPr lang="zh-CN" altLang="en-US" sz="2000" dirty="0">
                <a:latin typeface="Times New Roman" panose="02020603050405020304" pitchFamily="18" charset="0"/>
              </a:endParaRPr>
            </a:p>
          </p:txBody>
        </p:sp>
        <p:sp>
          <p:nvSpPr>
            <p:cNvPr id="4299805" name="Freeform 29"/>
            <p:cNvSpPr/>
            <p:nvPr/>
          </p:nvSpPr>
          <p:spPr bwMode="auto">
            <a:xfrm>
              <a:off x="3024" y="4080"/>
              <a:ext cx="960" cy="192"/>
            </a:xfrm>
            <a:custGeom>
              <a:avLst/>
              <a:gdLst/>
              <a:ahLst/>
              <a:cxnLst>
                <a:cxn ang="0">
                  <a:pos x="0" y="0"/>
                </a:cxn>
                <a:cxn ang="0">
                  <a:pos x="0" y="96"/>
                </a:cxn>
                <a:cxn ang="0">
                  <a:pos x="48" y="192"/>
                </a:cxn>
                <a:cxn ang="0">
                  <a:pos x="864" y="192"/>
                </a:cxn>
                <a:cxn ang="0">
                  <a:pos x="1056" y="48"/>
                </a:cxn>
              </a:cxnLst>
              <a:rect l="0" t="0" r="r" b="b"/>
              <a:pathLst>
                <a:path w="1056" h="192">
                  <a:moveTo>
                    <a:pt x="0" y="0"/>
                  </a:moveTo>
                  <a:lnTo>
                    <a:pt x="0" y="96"/>
                  </a:lnTo>
                  <a:lnTo>
                    <a:pt x="48" y="192"/>
                  </a:lnTo>
                  <a:lnTo>
                    <a:pt x="864" y="192"/>
                  </a:lnTo>
                  <a:lnTo>
                    <a:pt x="1056" y="48"/>
                  </a:lnTo>
                </a:path>
              </a:pathLst>
            </a:custGeom>
            <a:noFill/>
            <a:ln w="19050" cmpd="sng">
              <a:solidFill>
                <a:schemeClr val="tx1"/>
              </a:solidFill>
              <a:round/>
              <a:headEnd type="oval"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75" name="Text Box 30"/>
            <p:cNvSpPr txBox="1"/>
            <p:nvPr/>
          </p:nvSpPr>
          <p:spPr>
            <a:xfrm>
              <a:off x="3984" y="3880"/>
              <a:ext cx="1146" cy="442"/>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latin typeface="Times New Roman" panose="02020603050405020304" pitchFamily="18" charset="0"/>
                </a:rPr>
                <a:t>实现</a:t>
              </a:r>
              <a:r>
                <a:rPr lang="en-US" altLang="zh-CN" sz="2000" dirty="0">
                  <a:latin typeface="Times New Roman" panose="02020603050405020304" pitchFamily="18" charset="0"/>
                </a:rPr>
                <a:t>I/O</a:t>
              </a:r>
              <a:r>
                <a:rPr lang="zh-CN" altLang="en-US" sz="2000" dirty="0">
                  <a:latin typeface="Times New Roman" panose="02020603050405020304" pitchFamily="18" charset="0"/>
                </a:rPr>
                <a:t>与主存</a:t>
              </a:r>
              <a:endParaRPr lang="zh-CN" altLang="en-US" sz="2000" dirty="0">
                <a:latin typeface="Times New Roman" panose="02020603050405020304" pitchFamily="18" charset="0"/>
              </a:endParaRPr>
            </a:p>
            <a:p>
              <a:pPr marL="0" lvl="0" indent="0" eaLnBrk="1" hangingPunct="1">
                <a:lnSpc>
                  <a:spcPct val="100000"/>
                </a:lnSpc>
                <a:spcBef>
                  <a:spcPct val="0"/>
                </a:spcBef>
                <a:buClrTx/>
                <a:buFontTx/>
                <a:buNone/>
              </a:pPr>
              <a:r>
                <a:rPr lang="zh-CN" altLang="en-US" sz="2000" dirty="0">
                  <a:latin typeface="Times New Roman" panose="02020603050405020304" pitchFamily="18" charset="0"/>
                </a:rPr>
                <a:t>之间的传送</a:t>
              </a:r>
              <a:endParaRPr lang="zh-CN" altLang="en-US" sz="2000" dirty="0">
                <a:latin typeface="Times New Roman" panose="02020603050405020304" pitchFamily="18" charset="0"/>
              </a:endParaRPr>
            </a:p>
          </p:txBody>
        </p:sp>
        <p:sp>
          <p:nvSpPr>
            <p:cNvPr id="103576" name="Text Box 31"/>
            <p:cNvSpPr txBox="1"/>
            <p:nvPr/>
          </p:nvSpPr>
          <p:spPr>
            <a:xfrm>
              <a:off x="189" y="3559"/>
              <a:ext cx="11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endParaRPr lang="zh-CN" altLang="en-US" sz="2000" dirty="0">
                <a:latin typeface="Times New Roman" panose="02020603050405020304" pitchFamily="18" charset="0"/>
              </a:endParaRPr>
            </a:p>
          </p:txBody>
        </p:sp>
        <p:sp>
          <p:nvSpPr>
            <p:cNvPr id="4299808" name="Line 32"/>
            <p:cNvSpPr>
              <a:spLocks noChangeShapeType="1"/>
            </p:cNvSpPr>
            <p:nvPr/>
          </p:nvSpPr>
          <p:spPr bwMode="auto">
            <a:xfrm>
              <a:off x="2973" y="4032"/>
              <a:ext cx="0" cy="179"/>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3" name="Group 33"/>
          <p:cNvGrpSpPr/>
          <p:nvPr/>
        </p:nvGrpSpPr>
        <p:grpSpPr>
          <a:xfrm>
            <a:off x="300038" y="763588"/>
            <a:ext cx="8318500" cy="1430337"/>
            <a:chOff x="189" y="481"/>
            <a:chExt cx="5240" cy="901"/>
          </a:xfrm>
        </p:grpSpPr>
        <p:grpSp>
          <p:nvGrpSpPr>
            <p:cNvPr id="103525" name="Group 34"/>
            <p:cNvGrpSpPr/>
            <p:nvPr/>
          </p:nvGrpSpPr>
          <p:grpSpPr>
            <a:xfrm>
              <a:off x="189" y="481"/>
              <a:ext cx="5240" cy="901"/>
              <a:chOff x="189" y="481"/>
              <a:chExt cx="5240" cy="901"/>
            </a:xfrm>
          </p:grpSpPr>
          <p:sp>
            <p:nvSpPr>
              <p:cNvPr id="103530" name="Text Box 35"/>
              <p:cNvSpPr txBox="1"/>
              <p:nvPr/>
            </p:nvSpPr>
            <p:spPr>
              <a:xfrm>
                <a:off x="189" y="680"/>
                <a:ext cx="11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endParaRPr lang="zh-CN" altLang="en-US" sz="2000" dirty="0">
                  <a:latin typeface="Times New Roman" panose="02020603050405020304" pitchFamily="18" charset="0"/>
                </a:endParaRPr>
              </a:p>
            </p:txBody>
          </p:sp>
          <p:sp>
            <p:nvSpPr>
              <p:cNvPr id="4299812" name="Line 36"/>
              <p:cNvSpPr>
                <a:spLocks noChangeShapeType="1"/>
              </p:cNvSpPr>
              <p:nvPr/>
            </p:nvSpPr>
            <p:spPr bwMode="auto">
              <a:xfrm>
                <a:off x="717" y="518"/>
                <a:ext cx="0" cy="432"/>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13" name="Line 37"/>
              <p:cNvSpPr>
                <a:spLocks noChangeShapeType="1"/>
              </p:cNvSpPr>
              <p:nvPr/>
            </p:nvSpPr>
            <p:spPr bwMode="auto">
              <a:xfrm>
                <a:off x="1821" y="518"/>
                <a:ext cx="0" cy="432"/>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14" name="Line 38"/>
              <p:cNvSpPr>
                <a:spLocks noChangeShapeType="1"/>
              </p:cNvSpPr>
              <p:nvPr/>
            </p:nvSpPr>
            <p:spPr bwMode="auto">
              <a:xfrm>
                <a:off x="4461" y="518"/>
                <a:ext cx="0" cy="864"/>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15" name="Line 39"/>
              <p:cNvSpPr>
                <a:spLocks noChangeShapeType="1"/>
              </p:cNvSpPr>
              <p:nvPr/>
            </p:nvSpPr>
            <p:spPr bwMode="auto">
              <a:xfrm flipH="1">
                <a:off x="717" y="710"/>
                <a:ext cx="190"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16" name="Line 40"/>
              <p:cNvSpPr>
                <a:spLocks noChangeShapeType="1"/>
              </p:cNvSpPr>
              <p:nvPr/>
            </p:nvSpPr>
            <p:spPr bwMode="auto">
              <a:xfrm rot="10800000" flipH="1">
                <a:off x="1631" y="710"/>
                <a:ext cx="190"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36" name="Text Box 41"/>
              <p:cNvSpPr txBox="1"/>
              <p:nvPr/>
            </p:nvSpPr>
            <p:spPr>
              <a:xfrm>
                <a:off x="883" y="503"/>
                <a:ext cx="784" cy="442"/>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CPU</a:t>
                </a:r>
                <a:r>
                  <a:rPr lang="en-US" altLang="zh-CN" sz="900" dirty="0">
                    <a:latin typeface="Times New Roman" panose="02020603050405020304" pitchFamily="18" charset="0"/>
                  </a:rPr>
                  <a:t> </a:t>
                </a:r>
                <a:r>
                  <a:rPr lang="zh-CN" altLang="en-US" sz="2000" dirty="0">
                    <a:latin typeface="Times New Roman" panose="02020603050405020304" pitchFamily="18" charset="0"/>
                  </a:rPr>
                  <a:t>执行</a:t>
                </a:r>
                <a:endParaRPr lang="zh-CN" altLang="en-US" sz="2000" dirty="0">
                  <a:latin typeface="Times New Roman" panose="02020603050405020304" pitchFamily="18" charset="0"/>
                </a:endParaRPr>
              </a:p>
              <a:p>
                <a:pPr marL="0" lvl="0" indent="0" eaLnBrk="1" hangingPunct="1">
                  <a:lnSpc>
                    <a:spcPct val="100000"/>
                  </a:lnSpc>
                  <a:spcBef>
                    <a:spcPct val="0"/>
                  </a:spcBef>
                  <a:buClrTx/>
                  <a:buFontTx/>
                  <a:buNone/>
                </a:pPr>
                <a:r>
                  <a:rPr lang="zh-CN" altLang="en-US" sz="2000" dirty="0">
                    <a:latin typeface="Times New Roman" panose="02020603050405020304" pitchFamily="18" charset="0"/>
                  </a:rPr>
                  <a:t>现行程序</a:t>
                </a:r>
                <a:endParaRPr lang="zh-CN" altLang="en-US" sz="2000" dirty="0">
                  <a:latin typeface="Times New Roman" panose="02020603050405020304" pitchFamily="18" charset="0"/>
                </a:endParaRPr>
              </a:p>
            </p:txBody>
          </p:sp>
          <p:sp>
            <p:nvSpPr>
              <p:cNvPr id="4299818" name="Line 42"/>
              <p:cNvSpPr>
                <a:spLocks noChangeShapeType="1"/>
              </p:cNvSpPr>
              <p:nvPr/>
            </p:nvSpPr>
            <p:spPr bwMode="auto">
              <a:xfrm flipH="1">
                <a:off x="1821" y="710"/>
                <a:ext cx="190"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19" name="Line 43"/>
              <p:cNvSpPr>
                <a:spLocks noChangeShapeType="1"/>
              </p:cNvSpPr>
              <p:nvPr/>
            </p:nvSpPr>
            <p:spPr bwMode="auto">
              <a:xfrm rot="10800000" flipH="1">
                <a:off x="4273" y="710"/>
                <a:ext cx="190"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20" name="Line 44"/>
              <p:cNvSpPr>
                <a:spLocks noChangeShapeType="1"/>
              </p:cNvSpPr>
              <p:nvPr/>
            </p:nvSpPr>
            <p:spPr bwMode="auto">
              <a:xfrm flipH="1">
                <a:off x="4463" y="710"/>
                <a:ext cx="190"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40" name="Text Box 45"/>
              <p:cNvSpPr txBox="1"/>
              <p:nvPr/>
            </p:nvSpPr>
            <p:spPr>
              <a:xfrm>
                <a:off x="2051" y="606"/>
                <a:ext cx="211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solidFill>
                      <a:srgbClr val="F7F727"/>
                    </a:solidFill>
                    <a:latin typeface="Times New Roman" panose="02020603050405020304" pitchFamily="18" charset="0"/>
                  </a:rPr>
                  <a:t>CPU</a:t>
                </a:r>
                <a:r>
                  <a:rPr lang="zh-CN" altLang="en-US" sz="2000" dirty="0">
                    <a:solidFill>
                      <a:srgbClr val="F7F727"/>
                    </a:solidFill>
                    <a:latin typeface="Times New Roman" panose="02020603050405020304" pitchFamily="18" charset="0"/>
                  </a:rPr>
                  <a:t>查询等待并传输</a:t>
                </a:r>
                <a:r>
                  <a:rPr lang="en-US" altLang="zh-CN" sz="2000" dirty="0">
                    <a:solidFill>
                      <a:srgbClr val="F7F727"/>
                    </a:solidFill>
                    <a:latin typeface="Times New Roman" panose="02020603050405020304" pitchFamily="18" charset="0"/>
                  </a:rPr>
                  <a:t>I/O</a:t>
                </a:r>
                <a:r>
                  <a:rPr lang="zh-CN" altLang="en-US" sz="2000" dirty="0">
                    <a:solidFill>
                      <a:srgbClr val="F7F727"/>
                    </a:solidFill>
                    <a:latin typeface="Times New Roman" panose="02020603050405020304" pitchFamily="18" charset="0"/>
                  </a:rPr>
                  <a:t>数据</a:t>
                </a:r>
                <a:endParaRPr lang="zh-CN" altLang="en-US" sz="2000" dirty="0">
                  <a:solidFill>
                    <a:srgbClr val="F7F727"/>
                  </a:solidFill>
                  <a:latin typeface="Times New Roman" panose="02020603050405020304" pitchFamily="18" charset="0"/>
                </a:endParaRPr>
              </a:p>
            </p:txBody>
          </p:sp>
          <p:sp>
            <p:nvSpPr>
              <p:cNvPr id="103541" name="Text Box 46"/>
              <p:cNvSpPr txBox="1"/>
              <p:nvPr/>
            </p:nvSpPr>
            <p:spPr>
              <a:xfrm>
                <a:off x="4605" y="481"/>
                <a:ext cx="824" cy="442"/>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CPU </a:t>
                </a:r>
                <a:r>
                  <a:rPr lang="en-US" altLang="zh-CN" sz="900" dirty="0">
                    <a:latin typeface="Times New Roman" panose="02020603050405020304" pitchFamily="18" charset="0"/>
                  </a:rPr>
                  <a:t> </a:t>
                </a:r>
                <a:r>
                  <a:rPr lang="zh-CN" altLang="en-US" sz="2000" dirty="0">
                    <a:latin typeface="Times New Roman" panose="02020603050405020304" pitchFamily="18" charset="0"/>
                  </a:rPr>
                  <a:t>执行</a:t>
                </a:r>
                <a:endParaRPr lang="zh-CN" altLang="en-US" sz="2000" dirty="0">
                  <a:latin typeface="Times New Roman" panose="02020603050405020304" pitchFamily="18" charset="0"/>
                </a:endParaRPr>
              </a:p>
              <a:p>
                <a:pPr marL="0" lvl="0" indent="0" eaLnBrk="1" hangingPunct="1">
                  <a:lnSpc>
                    <a:spcPct val="100000"/>
                  </a:lnSpc>
                  <a:spcBef>
                    <a:spcPct val="0"/>
                  </a:spcBef>
                  <a:buClrTx/>
                  <a:buFontTx/>
                  <a:buNone/>
                </a:pPr>
                <a:r>
                  <a:rPr lang="zh-CN" altLang="en-US" sz="2000" dirty="0">
                    <a:latin typeface="Times New Roman" panose="02020603050405020304" pitchFamily="18" charset="0"/>
                  </a:rPr>
                  <a:t>现行程序</a:t>
                </a:r>
                <a:endParaRPr lang="zh-CN" altLang="en-US" sz="2000" dirty="0">
                  <a:latin typeface="Times New Roman" panose="02020603050405020304" pitchFamily="18" charset="0"/>
                </a:endParaRPr>
              </a:p>
            </p:txBody>
          </p:sp>
          <p:sp>
            <p:nvSpPr>
              <p:cNvPr id="4299823" name="Line 47"/>
              <p:cNvSpPr>
                <a:spLocks noChangeShapeType="1"/>
              </p:cNvSpPr>
              <p:nvPr/>
            </p:nvSpPr>
            <p:spPr bwMode="auto">
              <a:xfrm>
                <a:off x="1821" y="950"/>
                <a:ext cx="0" cy="238"/>
              </a:xfrm>
              <a:prstGeom prst="line">
                <a:avLst/>
              </a:prstGeom>
              <a:noFill/>
              <a:ln w="3810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24" name="Line 48"/>
              <p:cNvSpPr>
                <a:spLocks noChangeShapeType="1"/>
              </p:cNvSpPr>
              <p:nvPr/>
            </p:nvSpPr>
            <p:spPr bwMode="auto">
              <a:xfrm>
                <a:off x="1821" y="1152"/>
                <a:ext cx="0" cy="138"/>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44" name="Text Box 49"/>
              <p:cNvSpPr txBox="1"/>
              <p:nvPr/>
            </p:nvSpPr>
            <p:spPr>
              <a:xfrm>
                <a:off x="1101" y="952"/>
                <a:ext cx="66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latin typeface="Times New Roman" panose="02020603050405020304" pitchFamily="18" charset="0"/>
                  </a:rPr>
                  <a:t>启动</a:t>
                </a:r>
                <a:r>
                  <a:rPr lang="en-US" altLang="zh-CN" sz="2000" dirty="0">
                    <a:latin typeface="Times New Roman" panose="02020603050405020304" pitchFamily="18" charset="0"/>
                  </a:rPr>
                  <a:t>I/O</a:t>
                </a:r>
                <a:endParaRPr lang="en-US" altLang="zh-CN" sz="2000" dirty="0">
                  <a:latin typeface="Times New Roman" panose="02020603050405020304" pitchFamily="18" charset="0"/>
                </a:endParaRPr>
              </a:p>
            </p:txBody>
          </p:sp>
          <p:grpSp>
            <p:nvGrpSpPr>
              <p:cNvPr id="103545" name="Group 50"/>
              <p:cNvGrpSpPr/>
              <p:nvPr/>
            </p:nvGrpSpPr>
            <p:grpSpPr>
              <a:xfrm>
                <a:off x="717" y="954"/>
                <a:ext cx="4704" cy="6"/>
                <a:chOff x="336" y="954"/>
                <a:chExt cx="4704" cy="6"/>
              </a:xfrm>
            </p:grpSpPr>
            <p:sp>
              <p:nvSpPr>
                <p:cNvPr id="4299827" name="Line 51"/>
                <p:cNvSpPr>
                  <a:spLocks noChangeShapeType="1"/>
                </p:cNvSpPr>
                <p:nvPr/>
              </p:nvSpPr>
              <p:spPr bwMode="auto">
                <a:xfrm>
                  <a:off x="336" y="954"/>
                  <a:ext cx="1104" cy="0"/>
                </a:xfrm>
                <a:prstGeom prst="line">
                  <a:avLst/>
                </a:prstGeom>
                <a:noFill/>
                <a:ln w="3810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28" name="Line 52"/>
                <p:cNvSpPr>
                  <a:spLocks noChangeShapeType="1"/>
                </p:cNvSpPr>
                <p:nvPr/>
              </p:nvSpPr>
              <p:spPr bwMode="auto">
                <a:xfrm>
                  <a:off x="1440" y="960"/>
                  <a:ext cx="2640" cy="0"/>
                </a:xfrm>
                <a:prstGeom prst="line">
                  <a:avLst/>
                </a:prstGeom>
                <a:noFill/>
                <a:ln w="3810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29" name="Line 53"/>
                <p:cNvSpPr>
                  <a:spLocks noChangeShapeType="1"/>
                </p:cNvSpPr>
                <p:nvPr/>
              </p:nvSpPr>
              <p:spPr bwMode="auto">
                <a:xfrm>
                  <a:off x="4080" y="960"/>
                  <a:ext cx="960" cy="0"/>
                </a:xfrm>
                <a:prstGeom prst="line">
                  <a:avLst/>
                </a:prstGeom>
                <a:noFill/>
                <a:ln w="3810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grpSp>
          <p:nvGrpSpPr>
            <p:cNvPr id="103526" name="Group 54"/>
            <p:cNvGrpSpPr/>
            <p:nvPr/>
          </p:nvGrpSpPr>
          <p:grpSpPr>
            <a:xfrm>
              <a:off x="1821" y="1096"/>
              <a:ext cx="2640" cy="250"/>
              <a:chOff x="1821" y="1096"/>
              <a:chExt cx="2640" cy="250"/>
            </a:xfrm>
          </p:grpSpPr>
          <p:sp>
            <p:nvSpPr>
              <p:cNvPr id="103527" name="Text Box 55"/>
              <p:cNvSpPr txBox="1"/>
              <p:nvPr/>
            </p:nvSpPr>
            <p:spPr>
              <a:xfrm>
                <a:off x="2431" y="1096"/>
                <a:ext cx="118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I/O </a:t>
                </a:r>
                <a:r>
                  <a:rPr lang="zh-CN" altLang="en-US" sz="2000" dirty="0">
                    <a:latin typeface="Times New Roman" panose="02020603050405020304" pitchFamily="18" charset="0"/>
                  </a:rPr>
                  <a:t>准备及传送</a:t>
                </a:r>
                <a:endParaRPr lang="zh-CN" altLang="en-US" sz="2000" dirty="0">
                  <a:latin typeface="Times New Roman" panose="02020603050405020304" pitchFamily="18" charset="0"/>
                </a:endParaRPr>
              </a:p>
            </p:txBody>
          </p:sp>
          <p:sp>
            <p:nvSpPr>
              <p:cNvPr id="4299832" name="Line 56"/>
              <p:cNvSpPr>
                <a:spLocks noChangeShapeType="1"/>
              </p:cNvSpPr>
              <p:nvPr/>
            </p:nvSpPr>
            <p:spPr bwMode="auto">
              <a:xfrm>
                <a:off x="3597" y="1200"/>
                <a:ext cx="864"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33" name="Line 57"/>
              <p:cNvSpPr>
                <a:spLocks noChangeShapeType="1"/>
              </p:cNvSpPr>
              <p:nvPr/>
            </p:nvSpPr>
            <p:spPr bwMode="auto">
              <a:xfrm>
                <a:off x="1821" y="1200"/>
                <a:ext cx="624" cy="0"/>
              </a:xfrm>
              <a:prstGeom prst="line">
                <a:avLst/>
              </a:prstGeom>
              <a:noFill/>
              <a:ln w="19050">
                <a:solidFill>
                  <a:schemeClr val="tx1"/>
                </a:solidFill>
                <a:round/>
                <a:head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grpSp>
        <p:nvGrpSpPr>
          <p:cNvPr id="7" name="Group 58"/>
          <p:cNvGrpSpPr/>
          <p:nvPr/>
        </p:nvGrpSpPr>
        <p:grpSpPr>
          <a:xfrm>
            <a:off x="300038" y="2238375"/>
            <a:ext cx="8310562" cy="2505075"/>
            <a:chOff x="189" y="1410"/>
            <a:chExt cx="5235" cy="1578"/>
          </a:xfrm>
        </p:grpSpPr>
        <p:sp>
          <p:nvSpPr>
            <p:cNvPr id="4299835" name="Line 59"/>
            <p:cNvSpPr>
              <a:spLocks noChangeShapeType="1"/>
            </p:cNvSpPr>
            <p:nvPr/>
          </p:nvSpPr>
          <p:spPr bwMode="auto">
            <a:xfrm>
              <a:off x="720" y="2071"/>
              <a:ext cx="2160" cy="0"/>
            </a:xfrm>
            <a:prstGeom prst="line">
              <a:avLst/>
            </a:prstGeom>
            <a:noFill/>
            <a:ln w="3810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36" name="Line 60"/>
            <p:cNvSpPr>
              <a:spLocks noChangeShapeType="1"/>
            </p:cNvSpPr>
            <p:nvPr/>
          </p:nvSpPr>
          <p:spPr bwMode="auto">
            <a:xfrm>
              <a:off x="2880" y="1543"/>
              <a:ext cx="0" cy="535"/>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37" name="Line 61"/>
            <p:cNvSpPr>
              <a:spLocks noChangeShapeType="1"/>
            </p:cNvSpPr>
            <p:nvPr/>
          </p:nvSpPr>
          <p:spPr bwMode="auto">
            <a:xfrm>
              <a:off x="720" y="1536"/>
              <a:ext cx="0" cy="535"/>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496" name="Text Box 62"/>
            <p:cNvSpPr txBox="1"/>
            <p:nvPr/>
          </p:nvSpPr>
          <p:spPr>
            <a:xfrm>
              <a:off x="1236" y="1799"/>
              <a:ext cx="139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latin typeface="Times New Roman" panose="02020603050405020304" pitchFamily="18" charset="0"/>
                </a:rPr>
                <a:t>指令执行周期结束</a:t>
              </a:r>
              <a:endParaRPr lang="zh-CN" altLang="en-US" sz="2000" dirty="0">
                <a:latin typeface="Times New Roman" panose="02020603050405020304" pitchFamily="18" charset="0"/>
              </a:endParaRPr>
            </a:p>
          </p:txBody>
        </p:sp>
        <p:sp>
          <p:nvSpPr>
            <p:cNvPr id="4299839" name="Line 63"/>
            <p:cNvSpPr>
              <a:spLocks noChangeShapeType="1"/>
            </p:cNvSpPr>
            <p:nvPr/>
          </p:nvSpPr>
          <p:spPr bwMode="auto">
            <a:xfrm>
              <a:off x="2685" y="1927"/>
              <a:ext cx="195"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498" name="Text Box 64"/>
            <p:cNvSpPr txBox="1"/>
            <p:nvPr/>
          </p:nvSpPr>
          <p:spPr>
            <a:xfrm>
              <a:off x="1056" y="1545"/>
              <a:ext cx="148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CPU  </a:t>
              </a:r>
              <a:r>
                <a:rPr lang="zh-CN" altLang="en-US" sz="2000" dirty="0">
                  <a:latin typeface="Times New Roman" panose="02020603050405020304" pitchFamily="18" charset="0"/>
                </a:rPr>
                <a:t>执行现行程序</a:t>
              </a:r>
              <a:endParaRPr lang="zh-CN" altLang="en-US" sz="2000" dirty="0">
                <a:latin typeface="Times New Roman" panose="02020603050405020304" pitchFamily="18" charset="0"/>
              </a:endParaRPr>
            </a:p>
          </p:txBody>
        </p:sp>
        <p:sp>
          <p:nvSpPr>
            <p:cNvPr id="4299841" name="Line 65"/>
            <p:cNvSpPr>
              <a:spLocks noChangeShapeType="1"/>
            </p:cNvSpPr>
            <p:nvPr/>
          </p:nvSpPr>
          <p:spPr bwMode="auto">
            <a:xfrm>
              <a:off x="3168" y="1543"/>
              <a:ext cx="0" cy="535"/>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42" name="Line 66"/>
            <p:cNvSpPr>
              <a:spLocks noChangeShapeType="1"/>
            </p:cNvSpPr>
            <p:nvPr/>
          </p:nvSpPr>
          <p:spPr bwMode="auto">
            <a:xfrm>
              <a:off x="3168" y="2071"/>
              <a:ext cx="2256" cy="0"/>
            </a:xfrm>
            <a:prstGeom prst="line">
              <a:avLst/>
            </a:prstGeom>
            <a:noFill/>
            <a:ln w="3810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01" name="Text Box 67"/>
            <p:cNvSpPr txBox="1"/>
            <p:nvPr/>
          </p:nvSpPr>
          <p:spPr>
            <a:xfrm>
              <a:off x="3356" y="1545"/>
              <a:ext cx="148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CPU  </a:t>
              </a:r>
              <a:r>
                <a:rPr lang="zh-CN" altLang="en-US" sz="2000" dirty="0">
                  <a:latin typeface="Times New Roman" panose="02020603050405020304" pitchFamily="18" charset="0"/>
                </a:rPr>
                <a:t>执行现行程序</a:t>
              </a:r>
              <a:endParaRPr lang="zh-CN" altLang="en-US" sz="2000" dirty="0">
                <a:latin typeface="Times New Roman" panose="02020603050405020304" pitchFamily="18" charset="0"/>
              </a:endParaRPr>
            </a:p>
          </p:txBody>
        </p:sp>
        <p:sp>
          <p:nvSpPr>
            <p:cNvPr id="4299844" name="Line 68"/>
            <p:cNvSpPr>
              <a:spLocks noChangeShapeType="1"/>
            </p:cNvSpPr>
            <p:nvPr/>
          </p:nvSpPr>
          <p:spPr bwMode="auto">
            <a:xfrm flipH="1">
              <a:off x="2736" y="2071"/>
              <a:ext cx="144" cy="336"/>
            </a:xfrm>
            <a:prstGeom prst="line">
              <a:avLst/>
            </a:prstGeom>
            <a:noFill/>
            <a:ln w="3810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45" name="Freeform 69"/>
            <p:cNvSpPr/>
            <p:nvPr/>
          </p:nvSpPr>
          <p:spPr bwMode="auto">
            <a:xfrm>
              <a:off x="2736" y="2071"/>
              <a:ext cx="864" cy="336"/>
            </a:xfrm>
            <a:custGeom>
              <a:avLst/>
              <a:gdLst/>
              <a:ahLst/>
              <a:cxnLst>
                <a:cxn ang="0">
                  <a:pos x="0" y="336"/>
                </a:cxn>
                <a:cxn ang="0">
                  <a:pos x="864" y="336"/>
                </a:cxn>
                <a:cxn ang="0">
                  <a:pos x="432" y="0"/>
                </a:cxn>
              </a:cxnLst>
              <a:rect l="0" t="0" r="r" b="b"/>
              <a:pathLst>
                <a:path w="864" h="336">
                  <a:moveTo>
                    <a:pt x="0" y="336"/>
                  </a:moveTo>
                  <a:lnTo>
                    <a:pt x="864" y="336"/>
                  </a:lnTo>
                  <a:lnTo>
                    <a:pt x="432" y="0"/>
                  </a:lnTo>
                </a:path>
              </a:pathLst>
            </a:custGeom>
            <a:noFill/>
            <a:ln w="38100" cmpd="sng">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46" name="Line 70"/>
            <p:cNvSpPr>
              <a:spLocks noChangeShapeType="1"/>
            </p:cNvSpPr>
            <p:nvPr/>
          </p:nvSpPr>
          <p:spPr bwMode="auto">
            <a:xfrm>
              <a:off x="2736" y="2458"/>
              <a:ext cx="864" cy="0"/>
            </a:xfrm>
            <a:prstGeom prst="line">
              <a:avLst/>
            </a:prstGeom>
            <a:noFill/>
            <a:ln w="28575">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47" name="Line 71"/>
            <p:cNvSpPr>
              <a:spLocks noChangeShapeType="1"/>
            </p:cNvSpPr>
            <p:nvPr/>
          </p:nvSpPr>
          <p:spPr bwMode="auto">
            <a:xfrm>
              <a:off x="3600" y="2307"/>
              <a:ext cx="0" cy="292"/>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48" name="Line 72"/>
            <p:cNvSpPr>
              <a:spLocks noChangeShapeType="1"/>
            </p:cNvSpPr>
            <p:nvPr/>
          </p:nvSpPr>
          <p:spPr bwMode="auto">
            <a:xfrm flipV="1">
              <a:off x="2736" y="2069"/>
              <a:ext cx="0" cy="293"/>
            </a:xfrm>
            <a:prstGeom prst="line">
              <a:avLst/>
            </a:prstGeom>
            <a:noFill/>
            <a:ln w="3810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49" name="Line 73"/>
            <p:cNvSpPr>
              <a:spLocks noChangeShapeType="1"/>
            </p:cNvSpPr>
            <p:nvPr/>
          </p:nvSpPr>
          <p:spPr bwMode="auto">
            <a:xfrm>
              <a:off x="1628" y="2071"/>
              <a:ext cx="0" cy="238"/>
            </a:xfrm>
            <a:prstGeom prst="line">
              <a:avLst/>
            </a:prstGeom>
            <a:noFill/>
            <a:ln w="3810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08" name="Text Box 74"/>
            <p:cNvSpPr txBox="1"/>
            <p:nvPr/>
          </p:nvSpPr>
          <p:spPr>
            <a:xfrm>
              <a:off x="960" y="2073"/>
              <a:ext cx="66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latin typeface="Times New Roman" panose="02020603050405020304" pitchFamily="18" charset="0"/>
                </a:rPr>
                <a:t>启动</a:t>
              </a:r>
              <a:r>
                <a:rPr lang="en-US" altLang="zh-CN" sz="2000" dirty="0">
                  <a:latin typeface="Times New Roman" panose="02020603050405020304" pitchFamily="18" charset="0"/>
                </a:rPr>
                <a:t>I/O</a:t>
              </a:r>
              <a:endParaRPr lang="en-US" altLang="zh-CN" sz="2000" dirty="0">
                <a:latin typeface="Times New Roman" panose="02020603050405020304" pitchFamily="18" charset="0"/>
              </a:endParaRPr>
            </a:p>
          </p:txBody>
        </p:sp>
        <p:sp>
          <p:nvSpPr>
            <p:cNvPr id="103509" name="Text Box 75"/>
            <p:cNvSpPr txBox="1"/>
            <p:nvPr/>
          </p:nvSpPr>
          <p:spPr>
            <a:xfrm>
              <a:off x="1976" y="2079"/>
              <a:ext cx="75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latin typeface="Times New Roman" panose="02020603050405020304" pitchFamily="18" charset="0"/>
                </a:rPr>
                <a:t>中断请求</a:t>
              </a:r>
              <a:endParaRPr lang="zh-CN" altLang="en-US" sz="2000" dirty="0">
                <a:latin typeface="Times New Roman" panose="02020603050405020304" pitchFamily="18" charset="0"/>
              </a:endParaRPr>
            </a:p>
          </p:txBody>
        </p:sp>
        <p:sp>
          <p:nvSpPr>
            <p:cNvPr id="4299852" name="Line 76"/>
            <p:cNvSpPr>
              <a:spLocks noChangeShapeType="1"/>
            </p:cNvSpPr>
            <p:nvPr/>
          </p:nvSpPr>
          <p:spPr bwMode="auto">
            <a:xfrm flipH="1">
              <a:off x="3600" y="2458"/>
              <a:ext cx="192"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11" name="Text Box 77"/>
            <p:cNvSpPr txBox="1"/>
            <p:nvPr/>
          </p:nvSpPr>
          <p:spPr>
            <a:xfrm>
              <a:off x="3744" y="2316"/>
              <a:ext cx="66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I/O</a:t>
              </a:r>
              <a:r>
                <a:rPr lang="zh-CN" altLang="en-US" sz="2000" dirty="0">
                  <a:latin typeface="Times New Roman" panose="02020603050405020304" pitchFamily="18" charset="0"/>
                </a:rPr>
                <a:t>准备</a:t>
              </a:r>
              <a:endParaRPr lang="zh-CN" altLang="en-US" sz="2000" dirty="0">
                <a:latin typeface="Times New Roman" panose="02020603050405020304" pitchFamily="18" charset="0"/>
              </a:endParaRPr>
            </a:p>
          </p:txBody>
        </p:sp>
        <p:sp>
          <p:nvSpPr>
            <p:cNvPr id="4299854" name="Line 78"/>
            <p:cNvSpPr>
              <a:spLocks noChangeShapeType="1"/>
            </p:cNvSpPr>
            <p:nvPr/>
          </p:nvSpPr>
          <p:spPr bwMode="auto">
            <a:xfrm>
              <a:off x="1632" y="2352"/>
              <a:ext cx="0" cy="247"/>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55" name="Line 79"/>
            <p:cNvSpPr>
              <a:spLocks noChangeShapeType="1"/>
            </p:cNvSpPr>
            <p:nvPr/>
          </p:nvSpPr>
          <p:spPr bwMode="auto">
            <a:xfrm flipH="1">
              <a:off x="1632" y="2468"/>
              <a:ext cx="192"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14" name="Text Box 80"/>
            <p:cNvSpPr txBox="1"/>
            <p:nvPr/>
          </p:nvSpPr>
          <p:spPr>
            <a:xfrm>
              <a:off x="1828" y="2364"/>
              <a:ext cx="66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I/O</a:t>
              </a:r>
              <a:r>
                <a:rPr lang="zh-CN" altLang="en-US" sz="2000" dirty="0">
                  <a:latin typeface="Times New Roman" panose="02020603050405020304" pitchFamily="18" charset="0"/>
                </a:rPr>
                <a:t>准备</a:t>
              </a:r>
              <a:endParaRPr lang="zh-CN" altLang="en-US" sz="2000" dirty="0">
                <a:latin typeface="Times New Roman" panose="02020603050405020304" pitchFamily="18" charset="0"/>
              </a:endParaRPr>
            </a:p>
          </p:txBody>
        </p:sp>
        <p:sp>
          <p:nvSpPr>
            <p:cNvPr id="4299857" name="Line 81"/>
            <p:cNvSpPr>
              <a:spLocks noChangeShapeType="1"/>
            </p:cNvSpPr>
            <p:nvPr/>
          </p:nvSpPr>
          <p:spPr bwMode="auto">
            <a:xfrm rot="10800000" flipH="1">
              <a:off x="2544" y="2468"/>
              <a:ext cx="192"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16" name="Text Box 82"/>
            <p:cNvSpPr txBox="1"/>
            <p:nvPr/>
          </p:nvSpPr>
          <p:spPr>
            <a:xfrm>
              <a:off x="2877" y="2546"/>
              <a:ext cx="2026" cy="442"/>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CPU </a:t>
              </a:r>
              <a:r>
                <a:rPr lang="zh-CN" altLang="en-US" sz="2000" dirty="0">
                  <a:latin typeface="Times New Roman" panose="02020603050405020304" pitchFamily="18" charset="0"/>
                </a:rPr>
                <a:t>处理中断服务程序</a:t>
              </a:r>
              <a:endParaRPr lang="zh-CN" altLang="en-US" sz="2000" dirty="0">
                <a:latin typeface="Times New Roman" panose="02020603050405020304" pitchFamily="18" charset="0"/>
              </a:endParaRPr>
            </a:p>
            <a:p>
              <a:pPr marL="0" lvl="0" indent="0" eaLnBrk="1" hangingPunct="1">
                <a:lnSpc>
                  <a:spcPct val="100000"/>
                </a:lnSpc>
                <a:spcBef>
                  <a:spcPct val="0"/>
                </a:spcBef>
                <a:buClrTx/>
                <a:buFontTx/>
                <a:buNone/>
              </a:pPr>
              <a:r>
                <a:rPr lang="zh-CN" altLang="en-US" sz="2000" dirty="0">
                  <a:latin typeface="Times New Roman" panose="02020603050405020304" pitchFamily="18" charset="0"/>
                </a:rPr>
                <a:t>实现 </a:t>
              </a:r>
              <a:r>
                <a:rPr lang="en-US" altLang="zh-CN" sz="2000" dirty="0">
                  <a:latin typeface="Times New Roman" panose="02020603050405020304" pitchFamily="18" charset="0"/>
                </a:rPr>
                <a:t>I/O </a:t>
              </a:r>
              <a:r>
                <a:rPr lang="zh-CN" altLang="en-US" sz="2000" dirty="0">
                  <a:latin typeface="Times New Roman" panose="02020603050405020304" pitchFamily="18" charset="0"/>
                </a:rPr>
                <a:t>与主机之间的传送</a:t>
              </a:r>
              <a:endParaRPr lang="zh-CN" altLang="en-US" sz="2000" dirty="0">
                <a:latin typeface="Times New Roman" panose="02020603050405020304" pitchFamily="18" charset="0"/>
              </a:endParaRPr>
            </a:p>
          </p:txBody>
        </p:sp>
        <p:sp>
          <p:nvSpPr>
            <p:cNvPr id="103517" name="Text Box 83"/>
            <p:cNvSpPr txBox="1"/>
            <p:nvPr/>
          </p:nvSpPr>
          <p:spPr>
            <a:xfrm>
              <a:off x="2891" y="1410"/>
              <a:ext cx="276" cy="442"/>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solidFill>
                    <a:srgbClr val="F7F727"/>
                  </a:solidFill>
                  <a:latin typeface="Times New Roman" panose="02020603050405020304" pitchFamily="18" charset="0"/>
                </a:rPr>
                <a:t>间</a:t>
              </a:r>
              <a:endParaRPr lang="zh-CN" altLang="en-US" sz="2000" dirty="0">
                <a:solidFill>
                  <a:srgbClr val="F7F727"/>
                </a:solidFill>
                <a:latin typeface="Times New Roman" panose="02020603050405020304" pitchFamily="18" charset="0"/>
              </a:endParaRPr>
            </a:p>
            <a:p>
              <a:pPr marL="0" lvl="0" indent="0" eaLnBrk="1" hangingPunct="1">
                <a:lnSpc>
                  <a:spcPct val="100000"/>
                </a:lnSpc>
                <a:spcBef>
                  <a:spcPct val="0"/>
                </a:spcBef>
                <a:buClrTx/>
                <a:buFontTx/>
                <a:buNone/>
              </a:pPr>
              <a:r>
                <a:rPr lang="zh-CN" altLang="en-US" sz="2000" dirty="0">
                  <a:solidFill>
                    <a:srgbClr val="F7F727"/>
                  </a:solidFill>
                  <a:latin typeface="Times New Roman" panose="02020603050405020304" pitchFamily="18" charset="0"/>
                </a:rPr>
                <a:t>断</a:t>
              </a:r>
              <a:endParaRPr lang="zh-CN" altLang="en-US" sz="2000" dirty="0">
                <a:solidFill>
                  <a:srgbClr val="F7F727"/>
                </a:solidFill>
                <a:latin typeface="Times New Roman" panose="02020603050405020304" pitchFamily="18" charset="0"/>
              </a:endParaRPr>
            </a:p>
          </p:txBody>
        </p:sp>
        <p:sp>
          <p:nvSpPr>
            <p:cNvPr id="4299860" name="Line 84"/>
            <p:cNvSpPr>
              <a:spLocks noChangeShapeType="1"/>
            </p:cNvSpPr>
            <p:nvPr/>
          </p:nvSpPr>
          <p:spPr bwMode="auto">
            <a:xfrm>
              <a:off x="3024" y="1872"/>
              <a:ext cx="0" cy="144"/>
            </a:xfrm>
            <a:prstGeom prst="line">
              <a:avLst/>
            </a:prstGeom>
            <a:noFill/>
            <a:ln w="19050">
              <a:solidFill>
                <a:schemeClr val="tx1"/>
              </a:solidFill>
              <a:round/>
              <a:tailEnd type="stealth"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519" name="Text Box 85"/>
            <p:cNvSpPr txBox="1"/>
            <p:nvPr/>
          </p:nvSpPr>
          <p:spPr>
            <a:xfrm>
              <a:off x="189" y="1784"/>
              <a:ext cx="11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endParaRPr lang="zh-CN" altLang="en-US" sz="2000" dirty="0">
                <a:latin typeface="Times New Roman" panose="02020603050405020304" pitchFamily="18" charset="0"/>
              </a:endParaRPr>
            </a:p>
          </p:txBody>
        </p:sp>
        <p:sp>
          <p:nvSpPr>
            <p:cNvPr id="4299862" name="Line 86"/>
            <p:cNvSpPr>
              <a:spLocks noChangeShapeType="1"/>
            </p:cNvSpPr>
            <p:nvPr/>
          </p:nvSpPr>
          <p:spPr bwMode="auto">
            <a:xfrm>
              <a:off x="2736" y="2362"/>
              <a:ext cx="0" cy="247"/>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63" name="Line 87"/>
            <p:cNvSpPr>
              <a:spLocks noChangeShapeType="1"/>
            </p:cNvSpPr>
            <p:nvPr/>
          </p:nvSpPr>
          <p:spPr bwMode="auto">
            <a:xfrm rot="10800000">
              <a:off x="717" y="1639"/>
              <a:ext cx="195"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64" name="Line 88"/>
            <p:cNvSpPr>
              <a:spLocks noChangeShapeType="1"/>
            </p:cNvSpPr>
            <p:nvPr/>
          </p:nvSpPr>
          <p:spPr bwMode="auto">
            <a:xfrm>
              <a:off x="2637" y="1639"/>
              <a:ext cx="195"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65" name="Line 89"/>
            <p:cNvSpPr>
              <a:spLocks noChangeShapeType="1"/>
            </p:cNvSpPr>
            <p:nvPr/>
          </p:nvSpPr>
          <p:spPr bwMode="auto">
            <a:xfrm rot="10800000">
              <a:off x="3165" y="1639"/>
              <a:ext cx="195" cy="0"/>
            </a:xfrm>
            <a:prstGeom prst="line">
              <a:avLst/>
            </a:prstGeom>
            <a:noFill/>
            <a:ln w="19050">
              <a:solidFill>
                <a:schemeClr val="tx1"/>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66" name="Line 90"/>
            <p:cNvSpPr>
              <a:spLocks noChangeShapeType="1"/>
            </p:cNvSpPr>
            <p:nvPr/>
          </p:nvSpPr>
          <p:spPr bwMode="auto">
            <a:xfrm flipH="1">
              <a:off x="3168" y="2471"/>
              <a:ext cx="144" cy="144"/>
            </a:xfrm>
            <a:prstGeom prst="line">
              <a:avLst/>
            </a:prstGeom>
            <a:noFill/>
            <a:ln w="19050">
              <a:solidFill>
                <a:schemeClr val="tx1"/>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8" name="Group 91"/>
          <p:cNvGrpSpPr/>
          <p:nvPr/>
        </p:nvGrpSpPr>
        <p:grpSpPr>
          <a:xfrm>
            <a:off x="1747838" y="1508125"/>
            <a:ext cx="1143000" cy="400050"/>
            <a:chOff x="1101" y="944"/>
            <a:chExt cx="720" cy="252"/>
          </a:xfrm>
        </p:grpSpPr>
        <p:sp>
          <p:nvSpPr>
            <p:cNvPr id="4299868" name="Line 92"/>
            <p:cNvSpPr>
              <a:spLocks noChangeShapeType="1"/>
            </p:cNvSpPr>
            <p:nvPr/>
          </p:nvSpPr>
          <p:spPr bwMode="auto">
            <a:xfrm>
              <a:off x="1821" y="944"/>
              <a:ext cx="0" cy="238"/>
            </a:xfrm>
            <a:prstGeom prst="line">
              <a:avLst/>
            </a:prstGeom>
            <a:noFill/>
            <a:ln w="38100">
              <a:solidFill>
                <a:schemeClr val="folHlink"/>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492" name="Text Box 93"/>
            <p:cNvSpPr txBox="1"/>
            <p:nvPr/>
          </p:nvSpPr>
          <p:spPr>
            <a:xfrm>
              <a:off x="1101" y="946"/>
              <a:ext cx="66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latin typeface="Times New Roman" panose="02020603050405020304" pitchFamily="18" charset="0"/>
                </a:rPr>
                <a:t>启动</a:t>
              </a:r>
              <a:r>
                <a:rPr lang="en-US" altLang="zh-CN" sz="2000" dirty="0">
                  <a:latin typeface="Times New Roman" panose="02020603050405020304" pitchFamily="18" charset="0"/>
                </a:rPr>
                <a:t>I/O</a:t>
              </a:r>
              <a:endParaRPr lang="en-US" altLang="zh-CN" sz="2000" dirty="0">
                <a:latin typeface="Times New Roman" panose="02020603050405020304" pitchFamily="18" charset="0"/>
              </a:endParaRPr>
            </a:p>
          </p:txBody>
        </p:sp>
      </p:grpSp>
      <p:grpSp>
        <p:nvGrpSpPr>
          <p:cNvPr id="9" name="Group 94"/>
          <p:cNvGrpSpPr/>
          <p:nvPr/>
        </p:nvGrpSpPr>
        <p:grpSpPr>
          <a:xfrm>
            <a:off x="1524000" y="3294063"/>
            <a:ext cx="1060450" cy="400050"/>
            <a:chOff x="960" y="2065"/>
            <a:chExt cx="668" cy="252"/>
          </a:xfrm>
        </p:grpSpPr>
        <p:sp>
          <p:nvSpPr>
            <p:cNvPr id="4299871" name="Line 95"/>
            <p:cNvSpPr>
              <a:spLocks noChangeShapeType="1"/>
            </p:cNvSpPr>
            <p:nvPr/>
          </p:nvSpPr>
          <p:spPr bwMode="auto">
            <a:xfrm>
              <a:off x="1628" y="2065"/>
              <a:ext cx="0" cy="238"/>
            </a:xfrm>
            <a:prstGeom prst="line">
              <a:avLst/>
            </a:prstGeom>
            <a:noFill/>
            <a:ln w="38100">
              <a:solidFill>
                <a:schemeClr val="folHlink"/>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490" name="Text Box 96"/>
            <p:cNvSpPr txBox="1"/>
            <p:nvPr/>
          </p:nvSpPr>
          <p:spPr>
            <a:xfrm>
              <a:off x="960" y="2067"/>
              <a:ext cx="66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solidFill>
                    <a:schemeClr val="tx2"/>
                  </a:solidFill>
                  <a:latin typeface="Times New Roman" panose="02020603050405020304" pitchFamily="18" charset="0"/>
                </a:rPr>
                <a:t>启动</a:t>
              </a:r>
              <a:r>
                <a:rPr lang="en-US" altLang="zh-CN" sz="2000" dirty="0">
                  <a:solidFill>
                    <a:schemeClr val="tx2"/>
                  </a:solidFill>
                  <a:latin typeface="Times New Roman" panose="02020603050405020304" pitchFamily="18" charset="0"/>
                </a:rPr>
                <a:t>I/O</a:t>
              </a:r>
              <a:endParaRPr lang="en-US" altLang="zh-CN" sz="2000" dirty="0">
                <a:solidFill>
                  <a:schemeClr val="tx2"/>
                </a:solidFill>
                <a:latin typeface="Times New Roman" panose="02020603050405020304" pitchFamily="18" charset="0"/>
              </a:endParaRPr>
            </a:p>
          </p:txBody>
        </p:sp>
      </p:grpSp>
      <p:sp>
        <p:nvSpPr>
          <p:cNvPr id="4299873" name="Line 97"/>
          <p:cNvSpPr/>
          <p:nvPr/>
        </p:nvSpPr>
        <p:spPr>
          <a:xfrm>
            <a:off x="1143000" y="1514475"/>
            <a:ext cx="1752600" cy="0"/>
          </a:xfrm>
          <a:prstGeom prst="line">
            <a:avLst/>
          </a:prstGeom>
          <a:ln w="38100" cap="flat" cmpd="sng">
            <a:solidFill>
              <a:srgbClr val="CC0000"/>
            </a:solidFill>
            <a:prstDash val="solid"/>
            <a:headEnd type="none" w="med" len="med"/>
            <a:tailEnd type="none" w="med" len="med"/>
          </a:ln>
        </p:spPr>
      </p:sp>
      <p:sp>
        <p:nvSpPr>
          <p:cNvPr id="4299874" name="Line 98"/>
          <p:cNvSpPr/>
          <p:nvPr/>
        </p:nvSpPr>
        <p:spPr>
          <a:xfrm>
            <a:off x="7086600" y="1524000"/>
            <a:ext cx="1524000" cy="0"/>
          </a:xfrm>
          <a:prstGeom prst="line">
            <a:avLst/>
          </a:prstGeom>
          <a:ln w="38100" cap="flat" cmpd="sng">
            <a:solidFill>
              <a:srgbClr val="CC0000"/>
            </a:solidFill>
            <a:prstDash val="solid"/>
            <a:headEnd type="none" w="med" len="med"/>
            <a:tailEnd type="none" w="med" len="med"/>
          </a:ln>
        </p:spPr>
      </p:sp>
      <p:sp>
        <p:nvSpPr>
          <p:cNvPr id="4299875" name="Freeform 99"/>
          <p:cNvSpPr/>
          <p:nvPr/>
        </p:nvSpPr>
        <p:spPr bwMode="auto">
          <a:xfrm>
            <a:off x="1138238" y="3289300"/>
            <a:ext cx="1452563" cy="4763"/>
          </a:xfrm>
          <a:custGeom>
            <a:avLst/>
            <a:gdLst>
              <a:gd name="T0" fmla="*/ 0 w 915"/>
              <a:gd name="T1" fmla="*/ 3 h 3"/>
              <a:gd name="T2" fmla="*/ 915 w 915"/>
              <a:gd name="T3" fmla="*/ 0 h 3"/>
              <a:gd name="T4" fmla="*/ 0 60000 65536"/>
              <a:gd name="T5" fmla="*/ 0 60000 65536"/>
              <a:gd name="T6" fmla="*/ 0 w 915"/>
              <a:gd name="T7" fmla="*/ 0 h 3"/>
              <a:gd name="T8" fmla="*/ 915 w 915"/>
              <a:gd name="T9" fmla="*/ 3 h 3"/>
            </a:gdLst>
            <a:ahLst/>
            <a:cxnLst>
              <a:cxn ang="T4">
                <a:pos x="T0" y="T1"/>
              </a:cxn>
              <a:cxn ang="T5">
                <a:pos x="T2" y="T3"/>
              </a:cxn>
            </a:cxnLst>
            <a:rect l="T6" t="T7" r="T8" b="T9"/>
            <a:pathLst>
              <a:path w="915" h="3">
                <a:moveTo>
                  <a:pt x="0" y="3"/>
                </a:moveTo>
                <a:lnTo>
                  <a:pt x="915" y="0"/>
                </a:lnTo>
              </a:path>
            </a:pathLst>
          </a:custGeom>
          <a:noFill/>
          <a:ln w="38100">
            <a:solidFill>
              <a:srgbClr val="CC0000"/>
            </a:solidFill>
            <a:round/>
          </a:ln>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10" name="Group 100"/>
          <p:cNvGrpSpPr/>
          <p:nvPr/>
        </p:nvGrpSpPr>
        <p:grpSpPr>
          <a:xfrm>
            <a:off x="2590800" y="3289300"/>
            <a:ext cx="1752600" cy="868363"/>
            <a:chOff x="1632" y="2067"/>
            <a:chExt cx="1104" cy="547"/>
          </a:xfrm>
        </p:grpSpPr>
        <p:sp>
          <p:nvSpPr>
            <p:cNvPr id="4299877" name="Freeform 101"/>
            <p:cNvSpPr/>
            <p:nvPr/>
          </p:nvSpPr>
          <p:spPr bwMode="auto">
            <a:xfrm>
              <a:off x="1632" y="2067"/>
              <a:ext cx="1098" cy="3"/>
            </a:xfrm>
            <a:custGeom>
              <a:avLst/>
              <a:gdLst>
                <a:gd name="T0" fmla="*/ 0 w 1098"/>
                <a:gd name="T1" fmla="*/ 3 h 3"/>
                <a:gd name="T2" fmla="*/ 1098 w 1098"/>
                <a:gd name="T3" fmla="*/ 0 h 3"/>
                <a:gd name="T4" fmla="*/ 0 60000 65536"/>
                <a:gd name="T5" fmla="*/ 0 60000 65536"/>
                <a:gd name="T6" fmla="*/ 0 w 1098"/>
                <a:gd name="T7" fmla="*/ 0 h 3"/>
                <a:gd name="T8" fmla="*/ 1098 w 1098"/>
                <a:gd name="T9" fmla="*/ 3 h 3"/>
              </a:gdLst>
              <a:ahLst/>
              <a:cxnLst>
                <a:cxn ang="T4">
                  <a:pos x="T0" y="T1"/>
                </a:cxn>
                <a:cxn ang="T5">
                  <a:pos x="T2" y="T3"/>
                </a:cxn>
              </a:cxnLst>
              <a:rect l="T6" t="T7" r="T8" b="T9"/>
              <a:pathLst>
                <a:path w="1098" h="3">
                  <a:moveTo>
                    <a:pt x="0" y="3"/>
                  </a:moveTo>
                  <a:lnTo>
                    <a:pt x="1098" y="0"/>
                  </a:lnTo>
                </a:path>
              </a:pathLst>
            </a:custGeom>
            <a:noFill/>
            <a:ln w="38100">
              <a:solidFill>
                <a:srgbClr val="CC0000"/>
              </a:solidFill>
              <a:round/>
            </a:ln>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103483" name="Group 102"/>
            <p:cNvGrpSpPr/>
            <p:nvPr/>
          </p:nvGrpSpPr>
          <p:grpSpPr>
            <a:xfrm>
              <a:off x="1632" y="2352"/>
              <a:ext cx="1104" cy="262"/>
              <a:chOff x="1632" y="2352"/>
              <a:chExt cx="1104" cy="262"/>
            </a:xfrm>
          </p:grpSpPr>
          <p:sp>
            <p:nvSpPr>
              <p:cNvPr id="4299879" name="Line 103"/>
              <p:cNvSpPr>
                <a:spLocks noChangeShapeType="1"/>
              </p:cNvSpPr>
              <p:nvPr/>
            </p:nvSpPr>
            <p:spPr bwMode="auto">
              <a:xfrm>
                <a:off x="1632" y="2352"/>
                <a:ext cx="0" cy="247"/>
              </a:xfrm>
              <a:prstGeom prst="line">
                <a:avLst/>
              </a:prstGeom>
              <a:noFill/>
              <a:ln w="19050">
                <a:solidFill>
                  <a:schemeClr val="folHlink"/>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80" name="Line 104"/>
              <p:cNvSpPr>
                <a:spLocks noChangeShapeType="1"/>
              </p:cNvSpPr>
              <p:nvPr/>
            </p:nvSpPr>
            <p:spPr bwMode="auto">
              <a:xfrm flipH="1">
                <a:off x="1632" y="2468"/>
                <a:ext cx="192" cy="0"/>
              </a:xfrm>
              <a:prstGeom prst="line">
                <a:avLst/>
              </a:prstGeom>
              <a:noFill/>
              <a:ln w="19050">
                <a:solidFill>
                  <a:schemeClr val="folHlink"/>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486" name="Text Box 105"/>
              <p:cNvSpPr txBox="1"/>
              <p:nvPr/>
            </p:nvSpPr>
            <p:spPr>
              <a:xfrm>
                <a:off x="1828" y="2364"/>
                <a:ext cx="66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I/O</a:t>
                </a:r>
                <a:r>
                  <a:rPr lang="zh-CN" altLang="en-US" sz="2000" dirty="0">
                    <a:latin typeface="Times New Roman" panose="02020603050405020304" pitchFamily="18" charset="0"/>
                  </a:rPr>
                  <a:t>准备</a:t>
                </a:r>
                <a:endParaRPr lang="zh-CN" altLang="en-US" sz="2000" dirty="0">
                  <a:latin typeface="Times New Roman" panose="02020603050405020304" pitchFamily="18" charset="0"/>
                </a:endParaRPr>
              </a:p>
            </p:txBody>
          </p:sp>
          <p:sp>
            <p:nvSpPr>
              <p:cNvPr id="4299882" name="Line 106"/>
              <p:cNvSpPr>
                <a:spLocks noChangeShapeType="1"/>
              </p:cNvSpPr>
              <p:nvPr/>
            </p:nvSpPr>
            <p:spPr bwMode="auto">
              <a:xfrm rot="10800000" flipH="1">
                <a:off x="2544" y="2468"/>
                <a:ext cx="192" cy="0"/>
              </a:xfrm>
              <a:prstGeom prst="line">
                <a:avLst/>
              </a:prstGeom>
              <a:noFill/>
              <a:ln w="19050">
                <a:solidFill>
                  <a:schemeClr val="folHlink"/>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83" name="Line 107"/>
              <p:cNvSpPr>
                <a:spLocks noChangeShapeType="1"/>
              </p:cNvSpPr>
              <p:nvPr/>
            </p:nvSpPr>
            <p:spPr bwMode="auto">
              <a:xfrm>
                <a:off x="2736" y="2362"/>
                <a:ext cx="0" cy="247"/>
              </a:xfrm>
              <a:prstGeom prst="line">
                <a:avLst/>
              </a:prstGeom>
              <a:noFill/>
              <a:ln w="19050">
                <a:solidFill>
                  <a:schemeClr val="folHlink"/>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grpSp>
        <p:nvGrpSpPr>
          <p:cNvPr id="12" name="Group 108"/>
          <p:cNvGrpSpPr/>
          <p:nvPr/>
        </p:nvGrpSpPr>
        <p:grpSpPr>
          <a:xfrm>
            <a:off x="3136900" y="3289300"/>
            <a:ext cx="1206500" cy="465138"/>
            <a:chOff x="1976" y="2063"/>
            <a:chExt cx="760" cy="293"/>
          </a:xfrm>
        </p:grpSpPr>
        <p:sp>
          <p:nvSpPr>
            <p:cNvPr id="4299885" name="Line 109"/>
            <p:cNvSpPr>
              <a:spLocks noChangeShapeType="1"/>
            </p:cNvSpPr>
            <p:nvPr/>
          </p:nvSpPr>
          <p:spPr bwMode="auto">
            <a:xfrm flipV="1">
              <a:off x="2736" y="2063"/>
              <a:ext cx="0" cy="293"/>
            </a:xfrm>
            <a:prstGeom prst="line">
              <a:avLst/>
            </a:prstGeom>
            <a:noFill/>
            <a:ln w="38100">
              <a:solidFill>
                <a:schemeClr val="folHlink"/>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481" name="Text Box 110"/>
            <p:cNvSpPr txBox="1"/>
            <p:nvPr/>
          </p:nvSpPr>
          <p:spPr>
            <a:xfrm>
              <a:off x="1976" y="2073"/>
              <a:ext cx="75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solidFill>
                    <a:schemeClr val="tx2"/>
                  </a:solidFill>
                  <a:latin typeface="Times New Roman" panose="02020603050405020304" pitchFamily="18" charset="0"/>
                </a:rPr>
                <a:t>中断请求</a:t>
              </a:r>
              <a:endParaRPr lang="zh-CN" altLang="en-US" sz="2000" dirty="0">
                <a:solidFill>
                  <a:schemeClr val="tx2"/>
                </a:solidFill>
                <a:latin typeface="Times New Roman" panose="02020603050405020304" pitchFamily="18" charset="0"/>
              </a:endParaRPr>
            </a:p>
          </p:txBody>
        </p:sp>
      </p:grpSp>
      <p:sp>
        <p:nvSpPr>
          <p:cNvPr id="4299887" name="Line 111"/>
          <p:cNvSpPr>
            <a:spLocks noChangeShapeType="1"/>
          </p:cNvSpPr>
          <p:nvPr/>
        </p:nvSpPr>
        <p:spPr bwMode="auto">
          <a:xfrm flipH="1">
            <a:off x="4343400" y="3278188"/>
            <a:ext cx="228600" cy="533400"/>
          </a:xfrm>
          <a:prstGeom prst="line">
            <a:avLst/>
          </a:prstGeom>
          <a:noFill/>
          <a:ln w="38100">
            <a:solidFill>
              <a:schemeClr val="folHlink"/>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88" name="Line 112"/>
          <p:cNvSpPr>
            <a:spLocks noChangeShapeType="1"/>
          </p:cNvSpPr>
          <p:nvPr/>
        </p:nvSpPr>
        <p:spPr bwMode="auto">
          <a:xfrm flipH="1" flipV="1">
            <a:off x="5029200" y="3276600"/>
            <a:ext cx="685800" cy="533400"/>
          </a:xfrm>
          <a:prstGeom prst="line">
            <a:avLst/>
          </a:prstGeom>
          <a:noFill/>
          <a:ln w="38100">
            <a:solidFill>
              <a:schemeClr val="folHlink"/>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89" name="Line 113"/>
          <p:cNvSpPr/>
          <p:nvPr/>
        </p:nvSpPr>
        <p:spPr>
          <a:xfrm>
            <a:off x="5029200" y="3292475"/>
            <a:ext cx="3581400" cy="0"/>
          </a:xfrm>
          <a:prstGeom prst="line">
            <a:avLst/>
          </a:prstGeom>
          <a:ln w="38100" cap="flat" cmpd="sng">
            <a:solidFill>
              <a:srgbClr val="CC0000"/>
            </a:solidFill>
            <a:prstDash val="solid"/>
            <a:headEnd type="none" w="med" len="med"/>
            <a:tailEnd type="none" w="med" len="med"/>
          </a:ln>
        </p:spPr>
      </p:sp>
      <p:sp>
        <p:nvSpPr>
          <p:cNvPr id="4299890" name="Line 114"/>
          <p:cNvSpPr/>
          <p:nvPr/>
        </p:nvSpPr>
        <p:spPr>
          <a:xfrm>
            <a:off x="1143000" y="6005513"/>
            <a:ext cx="1524000" cy="0"/>
          </a:xfrm>
          <a:prstGeom prst="line">
            <a:avLst/>
          </a:prstGeom>
          <a:ln w="38100" cap="flat" cmpd="sng">
            <a:solidFill>
              <a:srgbClr val="CC0000"/>
            </a:solidFill>
            <a:prstDash val="solid"/>
            <a:headEnd type="none" w="med" len="med"/>
            <a:tailEnd type="none" w="med" len="med"/>
          </a:ln>
        </p:spPr>
      </p:sp>
      <p:grpSp>
        <p:nvGrpSpPr>
          <p:cNvPr id="13" name="Group 115"/>
          <p:cNvGrpSpPr/>
          <p:nvPr/>
        </p:nvGrpSpPr>
        <p:grpSpPr>
          <a:xfrm>
            <a:off x="1597025" y="5984875"/>
            <a:ext cx="1069975" cy="406400"/>
            <a:chOff x="1006" y="3770"/>
            <a:chExt cx="674" cy="256"/>
          </a:xfrm>
        </p:grpSpPr>
        <p:sp>
          <p:nvSpPr>
            <p:cNvPr id="4299892" name="Line 116"/>
            <p:cNvSpPr>
              <a:spLocks noChangeShapeType="1"/>
            </p:cNvSpPr>
            <p:nvPr/>
          </p:nvSpPr>
          <p:spPr bwMode="auto">
            <a:xfrm>
              <a:off x="1680" y="3770"/>
              <a:ext cx="0" cy="238"/>
            </a:xfrm>
            <a:prstGeom prst="line">
              <a:avLst/>
            </a:prstGeom>
            <a:noFill/>
            <a:ln w="38100">
              <a:solidFill>
                <a:schemeClr val="folHlink"/>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479" name="Text Box 117"/>
            <p:cNvSpPr txBox="1"/>
            <p:nvPr/>
          </p:nvSpPr>
          <p:spPr>
            <a:xfrm>
              <a:off x="1006" y="3776"/>
              <a:ext cx="66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solidFill>
                    <a:schemeClr val="tx2"/>
                  </a:solidFill>
                  <a:latin typeface="Times New Roman" panose="02020603050405020304" pitchFamily="18" charset="0"/>
                </a:rPr>
                <a:t>启动</a:t>
              </a:r>
              <a:r>
                <a:rPr lang="en-US" altLang="zh-CN" sz="2000" dirty="0">
                  <a:solidFill>
                    <a:schemeClr val="tx2"/>
                  </a:solidFill>
                  <a:latin typeface="Times New Roman" panose="02020603050405020304" pitchFamily="18" charset="0"/>
                </a:rPr>
                <a:t>I/O</a:t>
              </a:r>
              <a:endParaRPr lang="en-US" altLang="zh-CN" sz="2000" dirty="0">
                <a:solidFill>
                  <a:schemeClr val="tx2"/>
                </a:solidFill>
                <a:latin typeface="Times New Roman" panose="02020603050405020304" pitchFamily="18" charset="0"/>
              </a:endParaRPr>
            </a:p>
          </p:txBody>
        </p:sp>
      </p:grpSp>
      <p:grpSp>
        <p:nvGrpSpPr>
          <p:cNvPr id="14" name="Group 118"/>
          <p:cNvGrpSpPr/>
          <p:nvPr/>
        </p:nvGrpSpPr>
        <p:grpSpPr>
          <a:xfrm>
            <a:off x="4343400" y="3810000"/>
            <a:ext cx="1371600" cy="104775"/>
            <a:chOff x="2736" y="2400"/>
            <a:chExt cx="864" cy="66"/>
          </a:xfrm>
        </p:grpSpPr>
        <p:sp>
          <p:nvSpPr>
            <p:cNvPr id="4299895" name="Line 119"/>
            <p:cNvSpPr>
              <a:spLocks noChangeShapeType="1"/>
            </p:cNvSpPr>
            <p:nvPr/>
          </p:nvSpPr>
          <p:spPr bwMode="auto">
            <a:xfrm>
              <a:off x="2736" y="2400"/>
              <a:ext cx="864" cy="0"/>
            </a:xfrm>
            <a:prstGeom prst="line">
              <a:avLst/>
            </a:prstGeom>
            <a:noFill/>
            <a:ln w="57150">
              <a:solidFill>
                <a:schemeClr val="folHlink"/>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896" name="Line 120"/>
            <p:cNvSpPr>
              <a:spLocks noChangeShapeType="1"/>
            </p:cNvSpPr>
            <p:nvPr/>
          </p:nvSpPr>
          <p:spPr bwMode="auto">
            <a:xfrm>
              <a:off x="2736" y="2466"/>
              <a:ext cx="864" cy="0"/>
            </a:xfrm>
            <a:prstGeom prst="line">
              <a:avLst/>
            </a:prstGeom>
            <a:noFill/>
            <a:ln w="57150">
              <a:solidFill>
                <a:schemeClr val="folHlink"/>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15" name="Group 121"/>
          <p:cNvGrpSpPr/>
          <p:nvPr/>
        </p:nvGrpSpPr>
        <p:grpSpPr>
          <a:xfrm>
            <a:off x="2662238" y="6005513"/>
            <a:ext cx="2062162" cy="763587"/>
            <a:chOff x="1677" y="3783"/>
            <a:chExt cx="1299" cy="481"/>
          </a:xfrm>
        </p:grpSpPr>
        <p:sp>
          <p:nvSpPr>
            <p:cNvPr id="103469" name="Line 122"/>
            <p:cNvSpPr/>
            <p:nvPr/>
          </p:nvSpPr>
          <p:spPr>
            <a:xfrm>
              <a:off x="1680" y="3783"/>
              <a:ext cx="1296" cy="0"/>
            </a:xfrm>
            <a:prstGeom prst="line">
              <a:avLst/>
            </a:prstGeom>
            <a:ln w="38100" cap="flat" cmpd="sng">
              <a:solidFill>
                <a:srgbClr val="CC0000"/>
              </a:solidFill>
              <a:prstDash val="solid"/>
              <a:headEnd type="none" w="med" len="med"/>
              <a:tailEnd type="none" w="med" len="med"/>
            </a:ln>
          </p:spPr>
        </p:sp>
        <p:grpSp>
          <p:nvGrpSpPr>
            <p:cNvPr id="103470" name="Group 123"/>
            <p:cNvGrpSpPr/>
            <p:nvPr/>
          </p:nvGrpSpPr>
          <p:grpSpPr>
            <a:xfrm>
              <a:off x="1677" y="4014"/>
              <a:ext cx="1296" cy="250"/>
              <a:chOff x="1677" y="4008"/>
              <a:chExt cx="1296" cy="250"/>
            </a:xfrm>
          </p:grpSpPr>
          <p:sp>
            <p:nvSpPr>
              <p:cNvPr id="4299900" name="Line 124"/>
              <p:cNvSpPr>
                <a:spLocks noChangeShapeType="1"/>
              </p:cNvSpPr>
              <p:nvPr/>
            </p:nvSpPr>
            <p:spPr bwMode="auto">
              <a:xfrm>
                <a:off x="1677" y="4029"/>
                <a:ext cx="0" cy="179"/>
              </a:xfrm>
              <a:prstGeom prst="line">
                <a:avLst/>
              </a:prstGeom>
              <a:noFill/>
              <a:ln w="19050">
                <a:solidFill>
                  <a:schemeClr val="folHlink"/>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901" name="Line 125"/>
              <p:cNvSpPr>
                <a:spLocks noChangeShapeType="1"/>
              </p:cNvSpPr>
              <p:nvPr/>
            </p:nvSpPr>
            <p:spPr bwMode="auto">
              <a:xfrm flipH="1">
                <a:off x="1677" y="4112"/>
                <a:ext cx="192" cy="0"/>
              </a:xfrm>
              <a:prstGeom prst="line">
                <a:avLst/>
              </a:prstGeom>
              <a:noFill/>
              <a:ln w="19050">
                <a:solidFill>
                  <a:schemeClr val="folHlink"/>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473" name="Text Box 126"/>
              <p:cNvSpPr txBox="1"/>
              <p:nvPr/>
            </p:nvSpPr>
            <p:spPr>
              <a:xfrm>
                <a:off x="1969" y="4008"/>
                <a:ext cx="66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I/O</a:t>
                </a:r>
                <a:r>
                  <a:rPr lang="zh-CN" altLang="en-US" sz="2000" dirty="0">
                    <a:latin typeface="Times New Roman" panose="02020603050405020304" pitchFamily="18" charset="0"/>
                  </a:rPr>
                  <a:t>准备</a:t>
                </a:r>
                <a:endParaRPr lang="zh-CN" altLang="en-US" sz="2000" dirty="0">
                  <a:latin typeface="Times New Roman" panose="02020603050405020304" pitchFamily="18" charset="0"/>
                </a:endParaRPr>
              </a:p>
            </p:txBody>
          </p:sp>
          <p:sp>
            <p:nvSpPr>
              <p:cNvPr id="4299903" name="Line 127"/>
              <p:cNvSpPr>
                <a:spLocks noChangeShapeType="1"/>
              </p:cNvSpPr>
              <p:nvPr/>
            </p:nvSpPr>
            <p:spPr bwMode="auto">
              <a:xfrm rot="10800000" flipH="1">
                <a:off x="2781" y="4112"/>
                <a:ext cx="192" cy="0"/>
              </a:xfrm>
              <a:prstGeom prst="line">
                <a:avLst/>
              </a:prstGeom>
              <a:noFill/>
              <a:ln w="19050">
                <a:solidFill>
                  <a:schemeClr val="folHlink"/>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904" name="Line 128"/>
              <p:cNvSpPr>
                <a:spLocks noChangeShapeType="1"/>
              </p:cNvSpPr>
              <p:nvPr/>
            </p:nvSpPr>
            <p:spPr bwMode="auto">
              <a:xfrm>
                <a:off x="2973" y="4026"/>
                <a:ext cx="0" cy="179"/>
              </a:xfrm>
              <a:prstGeom prst="line">
                <a:avLst/>
              </a:prstGeom>
              <a:noFill/>
              <a:ln w="19050">
                <a:solidFill>
                  <a:schemeClr val="folHlink"/>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grpSp>
        <p:nvGrpSpPr>
          <p:cNvPr id="17" name="Group 129"/>
          <p:cNvGrpSpPr/>
          <p:nvPr/>
        </p:nvGrpSpPr>
        <p:grpSpPr>
          <a:xfrm>
            <a:off x="2349500" y="4657725"/>
            <a:ext cx="2519363" cy="1362075"/>
            <a:chOff x="1485" y="2934"/>
            <a:chExt cx="1587" cy="858"/>
          </a:xfrm>
        </p:grpSpPr>
        <p:sp>
          <p:nvSpPr>
            <p:cNvPr id="4299906" name="Rectangle 130"/>
            <p:cNvSpPr>
              <a:spLocks noChangeArrowheads="1"/>
            </p:cNvSpPr>
            <p:nvPr/>
          </p:nvSpPr>
          <p:spPr bwMode="auto">
            <a:xfrm>
              <a:off x="2976" y="3264"/>
              <a:ext cx="96" cy="528"/>
            </a:xfrm>
            <a:prstGeom prst="rect">
              <a:avLst/>
            </a:prstGeom>
            <a:solidFill>
              <a:schemeClr val="folHlink"/>
            </a:solidFill>
            <a:ln w="9525">
              <a:solidFill>
                <a:schemeClr val="folHlink"/>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103466" name="Group 131"/>
            <p:cNvGrpSpPr/>
            <p:nvPr/>
          </p:nvGrpSpPr>
          <p:grpSpPr>
            <a:xfrm>
              <a:off x="1485" y="2934"/>
              <a:ext cx="1539" cy="330"/>
              <a:chOff x="1485" y="2934"/>
              <a:chExt cx="1539" cy="330"/>
            </a:xfrm>
          </p:grpSpPr>
          <p:sp>
            <p:nvSpPr>
              <p:cNvPr id="4299908" name="Freeform 132"/>
              <p:cNvSpPr/>
              <p:nvPr/>
            </p:nvSpPr>
            <p:spPr bwMode="auto">
              <a:xfrm>
                <a:off x="2541" y="3062"/>
                <a:ext cx="483" cy="202"/>
              </a:xfrm>
              <a:custGeom>
                <a:avLst/>
                <a:gdLst/>
                <a:ahLst/>
                <a:cxnLst>
                  <a:cxn ang="0">
                    <a:pos x="528" y="240"/>
                  </a:cxn>
                  <a:cxn ang="0">
                    <a:pos x="480" y="144"/>
                  </a:cxn>
                  <a:cxn ang="0">
                    <a:pos x="336" y="48"/>
                  </a:cxn>
                  <a:cxn ang="0">
                    <a:pos x="192" y="0"/>
                  </a:cxn>
                  <a:cxn ang="0">
                    <a:pos x="0" y="0"/>
                  </a:cxn>
                </a:cxnLst>
                <a:rect l="0" t="0" r="r" b="b"/>
                <a:pathLst>
                  <a:path w="528" h="240">
                    <a:moveTo>
                      <a:pt x="528" y="240"/>
                    </a:moveTo>
                    <a:lnTo>
                      <a:pt x="480" y="144"/>
                    </a:lnTo>
                    <a:lnTo>
                      <a:pt x="336" y="48"/>
                    </a:lnTo>
                    <a:lnTo>
                      <a:pt x="192" y="0"/>
                    </a:lnTo>
                    <a:lnTo>
                      <a:pt x="0" y="0"/>
                    </a:lnTo>
                  </a:path>
                </a:pathLst>
              </a:custGeom>
              <a:noFill/>
              <a:ln w="28575" cmpd="sng">
                <a:solidFill>
                  <a:schemeClr val="folHlink"/>
                </a:solidFill>
                <a:round/>
                <a:headEnd type="oval" w="sm" len="sm"/>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468" name="Text Box 133"/>
              <p:cNvSpPr txBox="1"/>
              <p:nvPr/>
            </p:nvSpPr>
            <p:spPr>
              <a:xfrm>
                <a:off x="1485" y="2934"/>
                <a:ext cx="107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000" dirty="0">
                    <a:solidFill>
                      <a:srgbClr val="F7F727"/>
                    </a:solidFill>
                    <a:latin typeface="Times New Roman" panose="02020603050405020304" pitchFamily="18" charset="0"/>
                  </a:rPr>
                  <a:t>一个存取周期</a:t>
                </a:r>
                <a:endParaRPr lang="zh-CN" altLang="en-US" sz="2000" dirty="0">
                  <a:solidFill>
                    <a:srgbClr val="F7F727"/>
                  </a:solidFill>
                  <a:latin typeface="Times New Roman" panose="02020603050405020304" pitchFamily="18" charset="0"/>
                </a:endParaRPr>
              </a:p>
            </p:txBody>
          </p:sp>
        </p:grpSp>
      </p:grpSp>
      <p:grpSp>
        <p:nvGrpSpPr>
          <p:cNvPr id="19" name="Group 134"/>
          <p:cNvGrpSpPr/>
          <p:nvPr/>
        </p:nvGrpSpPr>
        <p:grpSpPr>
          <a:xfrm>
            <a:off x="3424238" y="6003925"/>
            <a:ext cx="1300162" cy="400050"/>
            <a:chOff x="2157" y="3776"/>
            <a:chExt cx="819" cy="252"/>
          </a:xfrm>
        </p:grpSpPr>
        <p:sp>
          <p:nvSpPr>
            <p:cNvPr id="4299911" name="Line 135"/>
            <p:cNvSpPr>
              <a:spLocks noChangeShapeType="1"/>
            </p:cNvSpPr>
            <p:nvPr/>
          </p:nvSpPr>
          <p:spPr bwMode="auto">
            <a:xfrm>
              <a:off x="2973" y="3776"/>
              <a:ext cx="0" cy="250"/>
            </a:xfrm>
            <a:prstGeom prst="line">
              <a:avLst/>
            </a:prstGeom>
            <a:noFill/>
            <a:ln w="38100">
              <a:solidFill>
                <a:schemeClr val="folHlink"/>
              </a:solidFill>
              <a:round/>
              <a:head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3464" name="Text Box 136"/>
            <p:cNvSpPr txBox="1"/>
            <p:nvPr/>
          </p:nvSpPr>
          <p:spPr>
            <a:xfrm>
              <a:off x="2157" y="3778"/>
              <a:ext cx="819"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DMA</a:t>
              </a:r>
              <a:r>
                <a:rPr lang="zh-CN" altLang="en-US" sz="2000" dirty="0">
                  <a:latin typeface="Times New Roman" panose="02020603050405020304" pitchFamily="18" charset="0"/>
                </a:rPr>
                <a:t>请求</a:t>
              </a:r>
              <a:endParaRPr lang="zh-CN" altLang="en-US" sz="2000" dirty="0">
                <a:latin typeface="Times New Roman" panose="02020603050405020304" pitchFamily="18" charset="0"/>
              </a:endParaRPr>
            </a:p>
          </p:txBody>
        </p:sp>
      </p:grpSp>
      <p:sp>
        <p:nvSpPr>
          <p:cNvPr id="4299913" name="Line 137"/>
          <p:cNvSpPr/>
          <p:nvPr/>
        </p:nvSpPr>
        <p:spPr>
          <a:xfrm>
            <a:off x="4876800" y="6005513"/>
            <a:ext cx="3581400" cy="0"/>
          </a:xfrm>
          <a:prstGeom prst="line">
            <a:avLst/>
          </a:prstGeom>
          <a:ln w="38100" cap="flat" cmpd="sng">
            <a:solidFill>
              <a:srgbClr val="CC0000"/>
            </a:solidFill>
            <a:prstDash val="solid"/>
            <a:headEnd type="none" w="med" len="med"/>
            <a:tailEnd type="none" w="med" len="med"/>
          </a:ln>
        </p:spPr>
      </p:sp>
      <p:sp>
        <p:nvSpPr>
          <p:cNvPr id="4299914" name="Freeform 138"/>
          <p:cNvSpPr/>
          <p:nvPr/>
        </p:nvSpPr>
        <p:spPr bwMode="auto">
          <a:xfrm>
            <a:off x="4333875" y="3289300"/>
            <a:ext cx="233363" cy="1588"/>
          </a:xfrm>
          <a:custGeom>
            <a:avLst/>
            <a:gdLst>
              <a:gd name="T0" fmla="*/ 0 w 147"/>
              <a:gd name="T1" fmla="*/ 0 h 1"/>
              <a:gd name="T2" fmla="*/ 147 w 147"/>
              <a:gd name="T3" fmla="*/ 0 h 1"/>
              <a:gd name="T4" fmla="*/ 0 60000 65536"/>
              <a:gd name="T5" fmla="*/ 0 60000 65536"/>
              <a:gd name="T6" fmla="*/ 0 w 147"/>
              <a:gd name="T7" fmla="*/ 0 h 1"/>
              <a:gd name="T8" fmla="*/ 147 w 147"/>
              <a:gd name="T9" fmla="*/ 1 h 1"/>
            </a:gdLst>
            <a:ahLst/>
            <a:cxnLst>
              <a:cxn ang="T4">
                <a:pos x="T0" y="T1"/>
              </a:cxn>
              <a:cxn ang="T5">
                <a:pos x="T2" y="T3"/>
              </a:cxn>
            </a:cxnLst>
            <a:rect l="T6" t="T7" r="T8" b="T9"/>
            <a:pathLst>
              <a:path w="147" h="1">
                <a:moveTo>
                  <a:pt x="0" y="0"/>
                </a:moveTo>
                <a:lnTo>
                  <a:pt x="147" y="0"/>
                </a:lnTo>
              </a:path>
            </a:pathLst>
          </a:custGeom>
          <a:noFill/>
          <a:ln w="38100">
            <a:solidFill>
              <a:srgbClr val="CC0000"/>
            </a:solidFill>
            <a:round/>
          </a:ln>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915" name="Text Box 139"/>
          <p:cNvSpPr txBox="1"/>
          <p:nvPr/>
        </p:nvSpPr>
        <p:spPr>
          <a:xfrm>
            <a:off x="212725" y="968375"/>
            <a:ext cx="793750" cy="11874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400" dirty="0">
                <a:solidFill>
                  <a:srgbClr val="F7F727"/>
                </a:solidFill>
                <a:latin typeface="Times New Roman" panose="02020603050405020304" pitchFamily="18" charset="0"/>
              </a:rPr>
              <a:t>程序</a:t>
            </a:r>
            <a:endParaRPr lang="zh-CN" altLang="en-US" sz="2400" dirty="0">
              <a:solidFill>
                <a:srgbClr val="F7F727"/>
              </a:solidFill>
              <a:latin typeface="Times New Roman" panose="02020603050405020304" pitchFamily="18" charset="0"/>
            </a:endParaRPr>
          </a:p>
          <a:p>
            <a:pPr marL="0" lvl="0" indent="0" eaLnBrk="1" hangingPunct="1">
              <a:lnSpc>
                <a:spcPct val="100000"/>
              </a:lnSpc>
              <a:spcBef>
                <a:spcPct val="0"/>
              </a:spcBef>
              <a:buClrTx/>
              <a:buFontTx/>
              <a:buNone/>
            </a:pPr>
            <a:r>
              <a:rPr lang="zh-CN" altLang="en-US" sz="2400" dirty="0">
                <a:solidFill>
                  <a:srgbClr val="F7F727"/>
                </a:solidFill>
                <a:latin typeface="Times New Roman" panose="02020603050405020304" pitchFamily="18" charset="0"/>
              </a:rPr>
              <a:t>查询</a:t>
            </a:r>
            <a:endParaRPr lang="zh-CN" altLang="en-US" sz="2400" dirty="0">
              <a:solidFill>
                <a:srgbClr val="F7F727"/>
              </a:solidFill>
              <a:latin typeface="Times New Roman" panose="02020603050405020304" pitchFamily="18" charset="0"/>
            </a:endParaRPr>
          </a:p>
          <a:p>
            <a:pPr marL="0" lvl="0" indent="0" eaLnBrk="1" hangingPunct="1">
              <a:lnSpc>
                <a:spcPct val="100000"/>
              </a:lnSpc>
              <a:spcBef>
                <a:spcPct val="0"/>
              </a:spcBef>
              <a:buClrTx/>
              <a:buFontTx/>
              <a:buNone/>
            </a:pPr>
            <a:r>
              <a:rPr lang="zh-CN" altLang="en-US" sz="2400" dirty="0">
                <a:solidFill>
                  <a:srgbClr val="F7F727"/>
                </a:solidFill>
                <a:latin typeface="Times New Roman" panose="02020603050405020304" pitchFamily="18" charset="0"/>
              </a:rPr>
              <a:t>方式</a:t>
            </a:r>
            <a:endParaRPr lang="zh-CN" altLang="en-US" sz="2400" dirty="0">
              <a:solidFill>
                <a:srgbClr val="F7F727"/>
              </a:solidFill>
              <a:latin typeface="Times New Roman" panose="02020603050405020304" pitchFamily="18" charset="0"/>
            </a:endParaRPr>
          </a:p>
        </p:txBody>
      </p:sp>
      <p:sp>
        <p:nvSpPr>
          <p:cNvPr id="4299916" name="Text Box 140"/>
          <p:cNvSpPr txBox="1"/>
          <p:nvPr/>
        </p:nvSpPr>
        <p:spPr>
          <a:xfrm>
            <a:off x="212725" y="2784475"/>
            <a:ext cx="793750" cy="11874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400" dirty="0">
                <a:solidFill>
                  <a:srgbClr val="F7F727"/>
                </a:solidFill>
                <a:latin typeface="Times New Roman" panose="02020603050405020304" pitchFamily="18" charset="0"/>
              </a:rPr>
              <a:t>程序</a:t>
            </a:r>
            <a:endParaRPr lang="zh-CN" altLang="en-US" sz="2400" dirty="0">
              <a:solidFill>
                <a:srgbClr val="F7F727"/>
              </a:solidFill>
              <a:latin typeface="Times New Roman" panose="02020603050405020304" pitchFamily="18" charset="0"/>
            </a:endParaRPr>
          </a:p>
          <a:p>
            <a:pPr marL="0" lvl="0" indent="0" eaLnBrk="1" hangingPunct="1">
              <a:lnSpc>
                <a:spcPct val="100000"/>
              </a:lnSpc>
              <a:spcBef>
                <a:spcPct val="0"/>
              </a:spcBef>
              <a:buClrTx/>
              <a:buFontTx/>
              <a:buNone/>
            </a:pPr>
            <a:r>
              <a:rPr lang="zh-CN" altLang="en-US" sz="2400" dirty="0">
                <a:solidFill>
                  <a:srgbClr val="F7F727"/>
                </a:solidFill>
                <a:latin typeface="Times New Roman" panose="02020603050405020304" pitchFamily="18" charset="0"/>
              </a:rPr>
              <a:t>中断</a:t>
            </a:r>
            <a:endParaRPr lang="zh-CN" altLang="en-US" sz="2400" dirty="0">
              <a:solidFill>
                <a:srgbClr val="F7F727"/>
              </a:solidFill>
              <a:latin typeface="Times New Roman" panose="02020603050405020304" pitchFamily="18" charset="0"/>
            </a:endParaRPr>
          </a:p>
          <a:p>
            <a:pPr marL="0" lvl="0" indent="0" eaLnBrk="1" hangingPunct="1">
              <a:lnSpc>
                <a:spcPct val="100000"/>
              </a:lnSpc>
              <a:spcBef>
                <a:spcPct val="0"/>
              </a:spcBef>
              <a:buClrTx/>
              <a:buFontTx/>
              <a:buNone/>
            </a:pPr>
            <a:r>
              <a:rPr lang="zh-CN" altLang="en-US" sz="2400" dirty="0">
                <a:solidFill>
                  <a:srgbClr val="F7F727"/>
                </a:solidFill>
                <a:latin typeface="Times New Roman" panose="02020603050405020304" pitchFamily="18" charset="0"/>
              </a:rPr>
              <a:t>方式</a:t>
            </a:r>
            <a:endParaRPr lang="zh-CN" altLang="en-US" sz="2400" dirty="0">
              <a:solidFill>
                <a:srgbClr val="F7F727"/>
              </a:solidFill>
              <a:latin typeface="Times New Roman" panose="02020603050405020304" pitchFamily="18" charset="0"/>
            </a:endParaRPr>
          </a:p>
        </p:txBody>
      </p:sp>
      <p:sp>
        <p:nvSpPr>
          <p:cNvPr id="4299917" name="Text Box 141"/>
          <p:cNvSpPr txBox="1"/>
          <p:nvPr/>
        </p:nvSpPr>
        <p:spPr>
          <a:xfrm>
            <a:off x="225425" y="5608638"/>
            <a:ext cx="989013" cy="82232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400" dirty="0">
                <a:solidFill>
                  <a:srgbClr val="F7F727"/>
                </a:solidFill>
                <a:latin typeface="Times New Roman" panose="02020603050405020304" pitchFamily="18" charset="0"/>
              </a:rPr>
              <a:t>DMA </a:t>
            </a:r>
            <a:endParaRPr lang="en-US" altLang="zh-CN" sz="2400" dirty="0">
              <a:solidFill>
                <a:srgbClr val="F7F727"/>
              </a:solidFill>
              <a:latin typeface="Times New Roman" panose="02020603050405020304" pitchFamily="18" charset="0"/>
            </a:endParaRPr>
          </a:p>
          <a:p>
            <a:pPr marL="0" lvl="0" indent="0" eaLnBrk="1" hangingPunct="1">
              <a:lnSpc>
                <a:spcPct val="100000"/>
              </a:lnSpc>
              <a:spcBef>
                <a:spcPct val="0"/>
              </a:spcBef>
              <a:buClrTx/>
              <a:buFontTx/>
              <a:buNone/>
            </a:pPr>
            <a:r>
              <a:rPr lang="zh-CN" altLang="en-US" sz="2400" dirty="0">
                <a:solidFill>
                  <a:srgbClr val="F7F727"/>
                </a:solidFill>
                <a:latin typeface="Times New Roman" panose="02020603050405020304" pitchFamily="18" charset="0"/>
              </a:rPr>
              <a:t>方式</a:t>
            </a:r>
            <a:endParaRPr lang="zh-CN" altLang="en-US" sz="2400" dirty="0">
              <a:solidFill>
                <a:srgbClr val="F7F727"/>
              </a:solidFill>
              <a:latin typeface="Times New Roman" panose="02020603050405020304" pitchFamily="18" charset="0"/>
            </a:endParaRPr>
          </a:p>
        </p:txBody>
      </p:sp>
      <p:grpSp>
        <p:nvGrpSpPr>
          <p:cNvPr id="20" name="Group 142"/>
          <p:cNvGrpSpPr/>
          <p:nvPr/>
        </p:nvGrpSpPr>
        <p:grpSpPr>
          <a:xfrm>
            <a:off x="2890838" y="1524000"/>
            <a:ext cx="4195762" cy="685800"/>
            <a:chOff x="1821" y="960"/>
            <a:chExt cx="2643" cy="432"/>
          </a:xfrm>
        </p:grpSpPr>
        <p:grpSp>
          <p:nvGrpSpPr>
            <p:cNvPr id="103455" name="Group 143"/>
            <p:cNvGrpSpPr/>
            <p:nvPr/>
          </p:nvGrpSpPr>
          <p:grpSpPr>
            <a:xfrm>
              <a:off x="1821" y="960"/>
              <a:ext cx="2643" cy="386"/>
              <a:chOff x="1821" y="960"/>
              <a:chExt cx="2643" cy="386"/>
            </a:xfrm>
          </p:grpSpPr>
          <p:sp>
            <p:nvSpPr>
              <p:cNvPr id="4299920" name="Line 144"/>
              <p:cNvSpPr>
                <a:spLocks noChangeShapeType="1"/>
              </p:cNvSpPr>
              <p:nvPr/>
            </p:nvSpPr>
            <p:spPr bwMode="auto">
              <a:xfrm>
                <a:off x="1824" y="960"/>
                <a:ext cx="2640" cy="0"/>
              </a:xfrm>
              <a:prstGeom prst="line">
                <a:avLst/>
              </a:prstGeom>
              <a:noFill/>
              <a:ln w="76200">
                <a:solidFill>
                  <a:schemeClr val="folHlink"/>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103459" name="Group 145"/>
              <p:cNvGrpSpPr/>
              <p:nvPr/>
            </p:nvGrpSpPr>
            <p:grpSpPr>
              <a:xfrm>
                <a:off x="1821" y="1096"/>
                <a:ext cx="2640" cy="250"/>
                <a:chOff x="1821" y="1096"/>
                <a:chExt cx="2640" cy="250"/>
              </a:xfrm>
            </p:grpSpPr>
            <p:sp>
              <p:nvSpPr>
                <p:cNvPr id="103460" name="Text Box 146"/>
                <p:cNvSpPr txBox="1"/>
                <p:nvPr/>
              </p:nvSpPr>
              <p:spPr>
                <a:xfrm>
                  <a:off x="2431" y="1096"/>
                  <a:ext cx="1186" cy="250"/>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000" dirty="0">
                      <a:latin typeface="Times New Roman" panose="02020603050405020304" pitchFamily="18" charset="0"/>
                    </a:rPr>
                    <a:t>I/O </a:t>
                  </a:r>
                  <a:r>
                    <a:rPr lang="zh-CN" altLang="en-US" sz="2000" dirty="0">
                      <a:latin typeface="Times New Roman" panose="02020603050405020304" pitchFamily="18" charset="0"/>
                    </a:rPr>
                    <a:t>准备及传送</a:t>
                  </a:r>
                  <a:endParaRPr lang="zh-CN" altLang="en-US" sz="2000" dirty="0">
                    <a:latin typeface="Times New Roman" panose="02020603050405020304" pitchFamily="18" charset="0"/>
                  </a:endParaRPr>
                </a:p>
              </p:txBody>
            </p:sp>
            <p:sp>
              <p:nvSpPr>
                <p:cNvPr id="4299923" name="Line 147"/>
                <p:cNvSpPr>
                  <a:spLocks noChangeShapeType="1"/>
                </p:cNvSpPr>
                <p:nvPr/>
              </p:nvSpPr>
              <p:spPr bwMode="auto">
                <a:xfrm>
                  <a:off x="3597" y="1200"/>
                  <a:ext cx="864" cy="0"/>
                </a:xfrm>
                <a:prstGeom prst="line">
                  <a:avLst/>
                </a:prstGeom>
                <a:noFill/>
                <a:ln w="19050">
                  <a:solidFill>
                    <a:schemeClr val="folHlink"/>
                  </a:solidFill>
                  <a:round/>
                  <a:tail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924" name="Line 148"/>
                <p:cNvSpPr>
                  <a:spLocks noChangeShapeType="1"/>
                </p:cNvSpPr>
                <p:nvPr/>
              </p:nvSpPr>
              <p:spPr bwMode="auto">
                <a:xfrm>
                  <a:off x="1821" y="1200"/>
                  <a:ext cx="624" cy="0"/>
                </a:xfrm>
                <a:prstGeom prst="line">
                  <a:avLst/>
                </a:prstGeom>
                <a:noFill/>
                <a:ln w="19050">
                  <a:solidFill>
                    <a:schemeClr val="folHlink"/>
                  </a:solidFill>
                  <a:round/>
                  <a:headEnd type="stealth" w="med" len="me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sp>
          <p:nvSpPr>
            <p:cNvPr id="4299925" name="Line 149"/>
            <p:cNvSpPr>
              <a:spLocks noChangeShapeType="1"/>
            </p:cNvSpPr>
            <p:nvPr/>
          </p:nvSpPr>
          <p:spPr bwMode="auto">
            <a:xfrm>
              <a:off x="4464" y="960"/>
              <a:ext cx="0" cy="432"/>
            </a:xfrm>
            <a:prstGeom prst="line">
              <a:avLst/>
            </a:prstGeom>
            <a:noFill/>
            <a:ln w="19050">
              <a:solidFill>
                <a:schemeClr val="folHlink"/>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299926" name="Line 150"/>
            <p:cNvSpPr>
              <a:spLocks noChangeShapeType="1"/>
            </p:cNvSpPr>
            <p:nvPr/>
          </p:nvSpPr>
          <p:spPr bwMode="auto">
            <a:xfrm>
              <a:off x="1824" y="960"/>
              <a:ext cx="0" cy="432"/>
            </a:xfrm>
            <a:prstGeom prst="line">
              <a:avLst/>
            </a:prstGeom>
            <a:noFill/>
            <a:ln w="19050">
              <a:solidFill>
                <a:schemeClr val="folHlink"/>
              </a:solidFill>
              <a:round/>
            </a:ln>
            <a:effectLst/>
          </p:spPr>
          <p:txBody>
            <a:bodyPr wrap="none"/>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84120" name="AutoShape 152"/>
          <p:cNvSpPr/>
          <p:nvPr/>
        </p:nvSpPr>
        <p:spPr>
          <a:xfrm>
            <a:off x="6905625" y="1460500"/>
            <a:ext cx="2324100" cy="1477963"/>
          </a:xfrm>
          <a:prstGeom prst="star24">
            <a:avLst>
              <a:gd name="adj" fmla="val 37500"/>
            </a:avLst>
          </a:prstGeom>
          <a:solidFill>
            <a:schemeClr val="accent1"/>
          </a:solidFill>
          <a:ln w="9525" cap="flat" cmpd="sng">
            <a:solidFill>
              <a:srgbClr val="FF99FF"/>
            </a:solidFill>
            <a:prstDash val="solid"/>
            <a:miter/>
            <a:headEnd type="none" w="med" len="med"/>
            <a:tailEnd type="none" w="med" len="med"/>
          </a:ln>
        </p:spPr>
        <p:txBody>
          <a:bodyPr anchor="ctr" anchorCtr="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solidFill>
                  <a:schemeClr val="bg2"/>
                </a:solidFill>
                <a:latin typeface="Times New Roman" panose="02020603050405020304" pitchFamily="18" charset="0"/>
              </a:rPr>
              <a:t>以</a:t>
            </a:r>
            <a:r>
              <a:rPr lang="en-US" altLang="zh-CN" sz="2400" dirty="0">
                <a:solidFill>
                  <a:schemeClr val="bg2"/>
                </a:solidFill>
                <a:latin typeface="Times New Roman" panose="02020603050405020304" pitchFamily="18" charset="0"/>
              </a:rPr>
              <a:t>CPU</a:t>
            </a:r>
            <a:r>
              <a:rPr lang="zh-CN" altLang="en-US" sz="2400" dirty="0">
                <a:solidFill>
                  <a:schemeClr val="bg2"/>
                </a:solidFill>
                <a:latin typeface="Times New Roman" panose="02020603050405020304" pitchFamily="18" charset="0"/>
              </a:rPr>
              <a:t>为中心</a:t>
            </a:r>
            <a:endParaRPr lang="zh-CN" altLang="en-US" sz="2400" dirty="0">
              <a:solidFill>
                <a:schemeClr val="bg2"/>
              </a:solidFill>
              <a:latin typeface="Times New Roman" panose="02020603050405020304" pitchFamily="18" charset="0"/>
            </a:endParaRPr>
          </a:p>
        </p:txBody>
      </p:sp>
      <p:sp>
        <p:nvSpPr>
          <p:cNvPr id="84121" name="AutoShape 153"/>
          <p:cNvSpPr/>
          <p:nvPr/>
        </p:nvSpPr>
        <p:spPr>
          <a:xfrm>
            <a:off x="6877050" y="3041650"/>
            <a:ext cx="2324100" cy="1477963"/>
          </a:xfrm>
          <a:prstGeom prst="star24">
            <a:avLst>
              <a:gd name="adj" fmla="val 37500"/>
            </a:avLst>
          </a:prstGeom>
          <a:solidFill>
            <a:schemeClr val="accent1"/>
          </a:solidFill>
          <a:ln w="9525" cap="flat" cmpd="sng">
            <a:solidFill>
              <a:srgbClr val="FF99FF"/>
            </a:solidFill>
            <a:prstDash val="solid"/>
            <a:miter/>
            <a:headEnd type="none" w="med" len="med"/>
            <a:tailEnd type="none" w="med" len="med"/>
          </a:ln>
        </p:spPr>
        <p:txBody>
          <a:bodyPr anchor="ctr" anchorCtr="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solidFill>
                  <a:schemeClr val="bg2"/>
                </a:solidFill>
                <a:latin typeface="Times New Roman" panose="02020603050405020304" pitchFamily="18" charset="0"/>
              </a:rPr>
              <a:t>以</a:t>
            </a:r>
            <a:r>
              <a:rPr lang="en-US" altLang="zh-CN" sz="2400" dirty="0">
                <a:solidFill>
                  <a:schemeClr val="bg2"/>
                </a:solidFill>
                <a:latin typeface="Times New Roman" panose="02020603050405020304" pitchFamily="18" charset="0"/>
              </a:rPr>
              <a:t>CPU</a:t>
            </a:r>
            <a:r>
              <a:rPr lang="zh-CN" altLang="en-US" sz="2400" dirty="0">
                <a:solidFill>
                  <a:schemeClr val="bg2"/>
                </a:solidFill>
                <a:latin typeface="Times New Roman" panose="02020603050405020304" pitchFamily="18" charset="0"/>
              </a:rPr>
              <a:t>为中心</a:t>
            </a:r>
            <a:endParaRPr lang="zh-CN" altLang="en-US" sz="2400" dirty="0">
              <a:solidFill>
                <a:schemeClr val="bg2"/>
              </a:solidFill>
              <a:latin typeface="Times New Roman" panose="02020603050405020304" pitchFamily="18" charset="0"/>
            </a:endParaRPr>
          </a:p>
        </p:txBody>
      </p:sp>
      <p:sp>
        <p:nvSpPr>
          <p:cNvPr id="84122" name="AutoShape 154"/>
          <p:cNvSpPr/>
          <p:nvPr/>
        </p:nvSpPr>
        <p:spPr>
          <a:xfrm>
            <a:off x="6913563" y="4670425"/>
            <a:ext cx="2325687" cy="1477963"/>
          </a:xfrm>
          <a:prstGeom prst="star24">
            <a:avLst>
              <a:gd name="adj" fmla="val 37500"/>
            </a:avLst>
          </a:prstGeom>
          <a:solidFill>
            <a:schemeClr val="accent1"/>
          </a:solidFill>
          <a:ln w="9525" cap="flat" cmpd="sng">
            <a:solidFill>
              <a:srgbClr val="FF99CC"/>
            </a:solidFill>
            <a:prstDash val="solid"/>
            <a:miter/>
            <a:headEnd type="none" w="med" len="med"/>
            <a:tailEnd type="none" w="med" len="med"/>
          </a:ln>
        </p:spPr>
        <p:txBody>
          <a:bodyPr anchor="ctr" anchorCtr="0">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solidFill>
                  <a:schemeClr val="bg2"/>
                </a:solidFill>
                <a:latin typeface="Times New Roman" panose="02020603050405020304" pitchFamily="18" charset="0"/>
              </a:rPr>
              <a:t>以主存为中心</a:t>
            </a:r>
            <a:endParaRPr lang="zh-CN" altLang="en-US" sz="2400" dirty="0">
              <a:solidFill>
                <a:schemeClr val="bg2"/>
              </a:solidFill>
              <a:latin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99915"/>
                                        </p:tgtEl>
                                        <p:attrNameLst>
                                          <p:attrName>style.visibility</p:attrName>
                                        </p:attrNameLst>
                                      </p:cBhvr>
                                      <p:to>
                                        <p:strVal val="visible"/>
                                      </p:to>
                                    </p:set>
                                    <p:animEffect transition="in" filter="blinds(horizontal)">
                                      <p:cBhvr>
                                        <p:cTn id="7" dur="500"/>
                                        <p:tgtEl>
                                          <p:spTgt spid="429991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out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4299873"/>
                                        </p:tgtEl>
                                        <p:attrNameLst>
                                          <p:attrName>style.visibility</p:attrName>
                                        </p:attrNameLst>
                                      </p:cBhvr>
                                      <p:to>
                                        <p:strVal val="visible"/>
                                      </p:to>
                                    </p:set>
                                    <p:animEffect transition="in" filter="strips(downRight)">
                                      <p:cBhvr>
                                        <p:cTn id="17" dur="500"/>
                                        <p:tgtEl>
                                          <p:spTgt spid="429987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strips(downRight)">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4299874"/>
                                        </p:tgtEl>
                                        <p:attrNameLst>
                                          <p:attrName>style.visibility</p:attrName>
                                        </p:attrNameLst>
                                      </p:cBhvr>
                                      <p:to>
                                        <p:strVal val="visible"/>
                                      </p:to>
                                    </p:set>
                                    <p:animEffect transition="in" filter="strips(downRight)">
                                      <p:cBhvr>
                                        <p:cTn id="32" dur="500"/>
                                        <p:tgtEl>
                                          <p:spTgt spid="429987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299916"/>
                                        </p:tgtEl>
                                        <p:attrNameLst>
                                          <p:attrName>style.visibility</p:attrName>
                                        </p:attrNameLst>
                                      </p:cBhvr>
                                      <p:to>
                                        <p:strVal val="visible"/>
                                      </p:to>
                                    </p:set>
                                    <p:animEffect transition="in" filter="blinds(horizontal)">
                                      <p:cBhvr>
                                        <p:cTn id="37" dur="500"/>
                                        <p:tgtEl>
                                          <p:spTgt spid="4299916"/>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arn(outVertical)">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4299875"/>
                                        </p:tgtEl>
                                        <p:attrNameLst>
                                          <p:attrName>style.visibility</p:attrName>
                                        </p:attrNameLst>
                                      </p:cBhvr>
                                      <p:to>
                                        <p:strVal val="visible"/>
                                      </p:to>
                                    </p:set>
                                    <p:animEffect transition="in" filter="strips(downRight)">
                                      <p:cBhvr>
                                        <p:cTn id="47" dur="500"/>
                                        <p:tgtEl>
                                          <p:spTgt spid="4299875"/>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blinds(horizontal)">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6"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strips(downRight)">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blinds(horizontal)">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6" fill="hold" nodeType="clickEffect">
                                  <p:stCondLst>
                                    <p:cond delay="0"/>
                                  </p:stCondLst>
                                  <p:childTnLst>
                                    <p:set>
                                      <p:cBhvr>
                                        <p:cTn id="66" dur="1" fill="hold">
                                          <p:stCondLst>
                                            <p:cond delay="0"/>
                                          </p:stCondLst>
                                        </p:cTn>
                                        <p:tgtEl>
                                          <p:spTgt spid="4299914"/>
                                        </p:tgtEl>
                                        <p:attrNameLst>
                                          <p:attrName>style.visibility</p:attrName>
                                        </p:attrNameLst>
                                      </p:cBhvr>
                                      <p:to>
                                        <p:strVal val="visible"/>
                                      </p:to>
                                    </p:set>
                                    <p:animEffect transition="in" filter="strips(downRight)">
                                      <p:cBhvr>
                                        <p:cTn id="67" dur="500"/>
                                        <p:tgtEl>
                                          <p:spTgt spid="4299914"/>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12" fill="hold" nodeType="clickEffect">
                                  <p:stCondLst>
                                    <p:cond delay="0"/>
                                  </p:stCondLst>
                                  <p:childTnLst>
                                    <p:set>
                                      <p:cBhvr>
                                        <p:cTn id="71" dur="1" fill="hold">
                                          <p:stCondLst>
                                            <p:cond delay="0"/>
                                          </p:stCondLst>
                                        </p:cTn>
                                        <p:tgtEl>
                                          <p:spTgt spid="4299887"/>
                                        </p:tgtEl>
                                        <p:attrNameLst>
                                          <p:attrName>style.visibility</p:attrName>
                                        </p:attrNameLst>
                                      </p:cBhvr>
                                      <p:to>
                                        <p:strVal val="visible"/>
                                      </p:to>
                                    </p:set>
                                    <p:animEffect transition="in" filter="strips(downLeft)">
                                      <p:cBhvr>
                                        <p:cTn id="72" dur="500"/>
                                        <p:tgtEl>
                                          <p:spTgt spid="4299887"/>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6" fill="hold"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strips(downRight)">
                                      <p:cBhvr>
                                        <p:cTn id="77" dur="500"/>
                                        <p:tgtEl>
                                          <p:spTgt spid="14"/>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9" fill="hold" nodeType="clickEffect">
                                  <p:stCondLst>
                                    <p:cond delay="0"/>
                                  </p:stCondLst>
                                  <p:childTnLst>
                                    <p:set>
                                      <p:cBhvr>
                                        <p:cTn id="81" dur="1" fill="hold">
                                          <p:stCondLst>
                                            <p:cond delay="0"/>
                                          </p:stCondLst>
                                        </p:cTn>
                                        <p:tgtEl>
                                          <p:spTgt spid="4299888"/>
                                        </p:tgtEl>
                                        <p:attrNameLst>
                                          <p:attrName>style.visibility</p:attrName>
                                        </p:attrNameLst>
                                      </p:cBhvr>
                                      <p:to>
                                        <p:strVal val="visible"/>
                                      </p:to>
                                    </p:set>
                                    <p:animEffect transition="in" filter="strips(upLeft)">
                                      <p:cBhvr>
                                        <p:cTn id="82" dur="500"/>
                                        <p:tgtEl>
                                          <p:spTgt spid="4299888"/>
                                        </p:tgtEl>
                                      </p:cBhvr>
                                    </p:animEffect>
                                  </p:childTnLst>
                                </p:cTn>
                              </p:par>
                            </p:childTnLst>
                          </p:cTn>
                        </p:par>
                      </p:childTnLst>
                    </p:cTn>
                  </p:par>
                  <p:par>
                    <p:cTn id="83" fill="hold">
                      <p:stCondLst>
                        <p:cond delay="indefinite"/>
                      </p:stCondLst>
                      <p:childTnLst>
                        <p:par>
                          <p:cTn id="84" fill="hold">
                            <p:stCondLst>
                              <p:cond delay="0"/>
                            </p:stCondLst>
                            <p:childTnLst>
                              <p:par>
                                <p:cTn id="85" presetID="18" presetClass="entr" presetSubtype="6" fill="hold" nodeType="clickEffect">
                                  <p:stCondLst>
                                    <p:cond delay="0"/>
                                  </p:stCondLst>
                                  <p:childTnLst>
                                    <p:set>
                                      <p:cBhvr>
                                        <p:cTn id="86" dur="1" fill="hold">
                                          <p:stCondLst>
                                            <p:cond delay="0"/>
                                          </p:stCondLst>
                                        </p:cTn>
                                        <p:tgtEl>
                                          <p:spTgt spid="4299889"/>
                                        </p:tgtEl>
                                        <p:attrNameLst>
                                          <p:attrName>style.visibility</p:attrName>
                                        </p:attrNameLst>
                                      </p:cBhvr>
                                      <p:to>
                                        <p:strVal val="visible"/>
                                      </p:to>
                                    </p:set>
                                    <p:animEffect transition="in" filter="strips(downRight)">
                                      <p:cBhvr>
                                        <p:cTn id="87" dur="500"/>
                                        <p:tgtEl>
                                          <p:spTgt spid="4299889"/>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4299917"/>
                                        </p:tgtEl>
                                        <p:attrNameLst>
                                          <p:attrName>style.visibility</p:attrName>
                                        </p:attrNameLst>
                                      </p:cBhvr>
                                      <p:to>
                                        <p:strVal val="visible"/>
                                      </p:to>
                                    </p:set>
                                    <p:animEffect transition="in" filter="blinds(horizontal)">
                                      <p:cBhvr>
                                        <p:cTn id="92" dur="500"/>
                                        <p:tgtEl>
                                          <p:spTgt spid="4299917"/>
                                        </p:tgtEl>
                                      </p:cBhvr>
                                    </p:animEffect>
                                  </p:childTnLst>
                                </p:cTn>
                              </p:par>
                            </p:childTnLst>
                          </p:cTn>
                        </p:par>
                      </p:childTnLst>
                    </p:cTn>
                  </p:par>
                  <p:par>
                    <p:cTn id="93" fill="hold">
                      <p:stCondLst>
                        <p:cond delay="indefinite"/>
                      </p:stCondLst>
                      <p:childTnLst>
                        <p:par>
                          <p:cTn id="94" fill="hold">
                            <p:stCondLst>
                              <p:cond delay="0"/>
                            </p:stCondLst>
                            <p:childTnLst>
                              <p:par>
                                <p:cTn id="95" presetID="16" presetClass="entr" presetSubtype="37" fill="hold" nodeType="clickEffect">
                                  <p:stCondLst>
                                    <p:cond delay="0"/>
                                  </p:stCondLst>
                                  <p:childTnLst>
                                    <p:set>
                                      <p:cBhvr>
                                        <p:cTn id="96" dur="1" fill="hold">
                                          <p:stCondLst>
                                            <p:cond delay="0"/>
                                          </p:stCondLst>
                                        </p:cTn>
                                        <p:tgtEl>
                                          <p:spTgt spid="2"/>
                                        </p:tgtEl>
                                        <p:attrNameLst>
                                          <p:attrName>style.visibility</p:attrName>
                                        </p:attrNameLst>
                                      </p:cBhvr>
                                      <p:to>
                                        <p:strVal val="visible"/>
                                      </p:to>
                                    </p:set>
                                    <p:animEffect transition="in" filter="barn(outVertical)">
                                      <p:cBhvr>
                                        <p:cTn id="97" dur="500"/>
                                        <p:tgtEl>
                                          <p:spTgt spid="2"/>
                                        </p:tgtEl>
                                      </p:cBhvr>
                                    </p:animEffect>
                                  </p:childTnLst>
                                </p:cTn>
                              </p:par>
                            </p:childTnLst>
                          </p:cTn>
                        </p:par>
                      </p:childTnLst>
                    </p:cTn>
                  </p:par>
                  <p:par>
                    <p:cTn id="98" fill="hold">
                      <p:stCondLst>
                        <p:cond delay="indefinite"/>
                      </p:stCondLst>
                      <p:childTnLst>
                        <p:par>
                          <p:cTn id="99" fill="hold">
                            <p:stCondLst>
                              <p:cond delay="0"/>
                            </p:stCondLst>
                            <p:childTnLst>
                              <p:par>
                                <p:cTn id="100" presetID="18" presetClass="entr" presetSubtype="6" fill="hold" nodeType="clickEffect">
                                  <p:stCondLst>
                                    <p:cond delay="0"/>
                                  </p:stCondLst>
                                  <p:childTnLst>
                                    <p:set>
                                      <p:cBhvr>
                                        <p:cTn id="101" dur="1" fill="hold">
                                          <p:stCondLst>
                                            <p:cond delay="0"/>
                                          </p:stCondLst>
                                        </p:cTn>
                                        <p:tgtEl>
                                          <p:spTgt spid="4299890"/>
                                        </p:tgtEl>
                                        <p:attrNameLst>
                                          <p:attrName>style.visibility</p:attrName>
                                        </p:attrNameLst>
                                      </p:cBhvr>
                                      <p:to>
                                        <p:strVal val="visible"/>
                                      </p:to>
                                    </p:set>
                                    <p:animEffect transition="in" filter="strips(downRight)">
                                      <p:cBhvr>
                                        <p:cTn id="102" dur="500"/>
                                        <p:tgtEl>
                                          <p:spTgt spid="4299890"/>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13"/>
                                        </p:tgtEl>
                                        <p:attrNameLst>
                                          <p:attrName>style.visibility</p:attrName>
                                        </p:attrNameLst>
                                      </p:cBhvr>
                                      <p:to>
                                        <p:strVal val="visible"/>
                                      </p:to>
                                    </p:set>
                                    <p:animEffect transition="in" filter="blinds(horizontal)">
                                      <p:cBhvr>
                                        <p:cTn id="107" dur="500"/>
                                        <p:tgtEl>
                                          <p:spTgt spid="13"/>
                                        </p:tgtEl>
                                      </p:cBhvr>
                                    </p:animEffect>
                                  </p:childTnLst>
                                </p:cTn>
                              </p:par>
                            </p:childTnLst>
                          </p:cTn>
                        </p:par>
                      </p:childTnLst>
                    </p:cTn>
                  </p:par>
                  <p:par>
                    <p:cTn id="108" fill="hold">
                      <p:stCondLst>
                        <p:cond delay="indefinite"/>
                      </p:stCondLst>
                      <p:childTnLst>
                        <p:par>
                          <p:cTn id="109" fill="hold">
                            <p:stCondLst>
                              <p:cond delay="0"/>
                            </p:stCondLst>
                            <p:childTnLst>
                              <p:par>
                                <p:cTn id="110" presetID="18" presetClass="entr" presetSubtype="6" fill="hold" nodeType="clickEffect">
                                  <p:stCondLst>
                                    <p:cond delay="0"/>
                                  </p:stCondLst>
                                  <p:childTnLst>
                                    <p:set>
                                      <p:cBhvr>
                                        <p:cTn id="111" dur="1" fill="hold">
                                          <p:stCondLst>
                                            <p:cond delay="0"/>
                                          </p:stCondLst>
                                        </p:cTn>
                                        <p:tgtEl>
                                          <p:spTgt spid="15"/>
                                        </p:tgtEl>
                                        <p:attrNameLst>
                                          <p:attrName>style.visibility</p:attrName>
                                        </p:attrNameLst>
                                      </p:cBhvr>
                                      <p:to>
                                        <p:strVal val="visible"/>
                                      </p:to>
                                    </p:set>
                                    <p:animEffect transition="in" filter="strips(downRight)">
                                      <p:cBhvr>
                                        <p:cTn id="112" dur="500"/>
                                        <p:tgtEl>
                                          <p:spTgt spid="15"/>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nodeType="clickEffect">
                                  <p:stCondLst>
                                    <p:cond delay="0"/>
                                  </p:stCondLst>
                                  <p:childTnLst>
                                    <p:set>
                                      <p:cBhvr>
                                        <p:cTn id="116" dur="1" fill="hold">
                                          <p:stCondLst>
                                            <p:cond delay="0"/>
                                          </p:stCondLst>
                                        </p:cTn>
                                        <p:tgtEl>
                                          <p:spTgt spid="19"/>
                                        </p:tgtEl>
                                        <p:attrNameLst>
                                          <p:attrName>style.visibility</p:attrName>
                                        </p:attrNameLst>
                                      </p:cBhvr>
                                      <p:to>
                                        <p:strVal val="visible"/>
                                      </p:to>
                                    </p:set>
                                    <p:animEffect transition="in" filter="blinds(horizontal)">
                                      <p:cBhvr>
                                        <p:cTn id="117" dur="500"/>
                                        <p:tgtEl>
                                          <p:spTgt spid="19"/>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nodeType="clickEffect">
                                  <p:stCondLst>
                                    <p:cond delay="0"/>
                                  </p:stCondLst>
                                  <p:childTnLst>
                                    <p:set>
                                      <p:cBhvr>
                                        <p:cTn id="121" dur="1" fill="hold">
                                          <p:stCondLst>
                                            <p:cond delay="0"/>
                                          </p:stCondLst>
                                        </p:cTn>
                                        <p:tgtEl>
                                          <p:spTgt spid="17"/>
                                        </p:tgtEl>
                                        <p:attrNameLst>
                                          <p:attrName>style.visibility</p:attrName>
                                        </p:attrNameLst>
                                      </p:cBhvr>
                                      <p:to>
                                        <p:strVal val="visible"/>
                                      </p:to>
                                    </p:set>
                                    <p:animEffect transition="in" filter="blinds(horizontal)">
                                      <p:cBhvr>
                                        <p:cTn id="122" dur="500"/>
                                        <p:tgtEl>
                                          <p:spTgt spid="17"/>
                                        </p:tgtEl>
                                      </p:cBhvr>
                                    </p:animEffect>
                                  </p:childTnLst>
                                </p:cTn>
                              </p:par>
                            </p:childTnLst>
                          </p:cTn>
                        </p:par>
                      </p:childTnLst>
                    </p:cTn>
                  </p:par>
                  <p:par>
                    <p:cTn id="123" fill="hold">
                      <p:stCondLst>
                        <p:cond delay="indefinite"/>
                      </p:stCondLst>
                      <p:childTnLst>
                        <p:par>
                          <p:cTn id="124" fill="hold">
                            <p:stCondLst>
                              <p:cond delay="0"/>
                            </p:stCondLst>
                            <p:childTnLst>
                              <p:par>
                                <p:cTn id="125" presetID="18" presetClass="entr" presetSubtype="6" fill="hold" nodeType="clickEffect">
                                  <p:stCondLst>
                                    <p:cond delay="0"/>
                                  </p:stCondLst>
                                  <p:childTnLst>
                                    <p:set>
                                      <p:cBhvr>
                                        <p:cTn id="126" dur="1" fill="hold">
                                          <p:stCondLst>
                                            <p:cond delay="0"/>
                                          </p:stCondLst>
                                        </p:cTn>
                                        <p:tgtEl>
                                          <p:spTgt spid="4299913"/>
                                        </p:tgtEl>
                                        <p:attrNameLst>
                                          <p:attrName>style.visibility</p:attrName>
                                        </p:attrNameLst>
                                      </p:cBhvr>
                                      <p:to>
                                        <p:strVal val="visible"/>
                                      </p:to>
                                    </p:set>
                                    <p:animEffect transition="in" filter="strips(downRight)">
                                      <p:cBhvr>
                                        <p:cTn id="127" dur="500"/>
                                        <p:tgtEl>
                                          <p:spTgt spid="4299913"/>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84120"/>
                                        </p:tgtEl>
                                        <p:attrNameLst>
                                          <p:attrName>style.visibility</p:attrName>
                                        </p:attrNameLst>
                                      </p:cBhvr>
                                      <p:to>
                                        <p:strVal val="visible"/>
                                      </p:to>
                                    </p:set>
                                    <p:animEffect transition="in" filter="blinds(horizontal)">
                                      <p:cBhvr>
                                        <p:cTn id="132" dur="500"/>
                                        <p:tgtEl>
                                          <p:spTgt spid="84120"/>
                                        </p:tgtEl>
                                      </p:cBhvr>
                                    </p:animEffect>
                                  </p:childTnLst>
                                </p:cTn>
                              </p:par>
                            </p:childTnLst>
                          </p:cTn>
                        </p:par>
                        <p:par>
                          <p:cTn id="133" fill="hold">
                            <p:stCondLst>
                              <p:cond delay="500"/>
                            </p:stCondLst>
                            <p:childTnLst>
                              <p:par>
                                <p:cTn id="134" presetID="3" presetClass="entr" presetSubtype="10" fill="hold" grpId="0" nodeType="afterEffect">
                                  <p:stCondLst>
                                    <p:cond delay="0"/>
                                  </p:stCondLst>
                                  <p:childTnLst>
                                    <p:set>
                                      <p:cBhvr>
                                        <p:cTn id="135" dur="1" fill="hold">
                                          <p:stCondLst>
                                            <p:cond delay="0"/>
                                          </p:stCondLst>
                                        </p:cTn>
                                        <p:tgtEl>
                                          <p:spTgt spid="84121"/>
                                        </p:tgtEl>
                                        <p:attrNameLst>
                                          <p:attrName>style.visibility</p:attrName>
                                        </p:attrNameLst>
                                      </p:cBhvr>
                                      <p:to>
                                        <p:strVal val="visible"/>
                                      </p:to>
                                    </p:set>
                                    <p:animEffect transition="in" filter="blinds(horizontal)">
                                      <p:cBhvr>
                                        <p:cTn id="136" dur="500"/>
                                        <p:tgtEl>
                                          <p:spTgt spid="84121"/>
                                        </p:tgtEl>
                                      </p:cBhvr>
                                    </p:animEffect>
                                  </p:childTnLst>
                                </p:cTn>
                              </p:par>
                            </p:childTnLst>
                          </p:cTn>
                        </p:par>
                      </p:childTnLst>
                    </p:cTn>
                  </p:par>
                  <p:par>
                    <p:cTn id="137" fill="hold">
                      <p:stCondLst>
                        <p:cond delay="indefinite"/>
                      </p:stCondLst>
                      <p:childTnLst>
                        <p:par>
                          <p:cTn id="138" fill="hold">
                            <p:stCondLst>
                              <p:cond delay="0"/>
                            </p:stCondLst>
                            <p:childTnLst>
                              <p:par>
                                <p:cTn id="139" presetID="3" presetClass="entr" presetSubtype="10" fill="hold" grpId="0" nodeType="clickEffect">
                                  <p:stCondLst>
                                    <p:cond delay="0"/>
                                  </p:stCondLst>
                                  <p:childTnLst>
                                    <p:set>
                                      <p:cBhvr>
                                        <p:cTn id="140" dur="1" fill="hold">
                                          <p:stCondLst>
                                            <p:cond delay="0"/>
                                          </p:stCondLst>
                                        </p:cTn>
                                        <p:tgtEl>
                                          <p:spTgt spid="84122"/>
                                        </p:tgtEl>
                                        <p:attrNameLst>
                                          <p:attrName>style.visibility</p:attrName>
                                        </p:attrNameLst>
                                      </p:cBhvr>
                                      <p:to>
                                        <p:strVal val="visible"/>
                                      </p:to>
                                    </p:set>
                                    <p:animEffect transition="in" filter="blinds(horizontal)">
                                      <p:cBhvr>
                                        <p:cTn id="141" dur="500"/>
                                        <p:tgtEl>
                                          <p:spTgt spid="84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9915" grpId="0"/>
      <p:bldP spid="4299916" grpId="0"/>
      <p:bldP spid="4299917" grpId="0"/>
      <p:bldP spid="84120" grpId="0" animBg="1"/>
      <p:bldP spid="84121" grpId="0" animBg="1"/>
      <p:bldP spid="8412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Text Box 2"/>
          <p:cNvSpPr txBox="1"/>
          <p:nvPr/>
        </p:nvSpPr>
        <p:spPr>
          <a:xfrm>
            <a:off x="369888" y="1106488"/>
            <a:ext cx="8591550" cy="5057775"/>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just" eaLnBrk="1" hangingPunct="1">
              <a:lnSpc>
                <a:spcPct val="110000"/>
              </a:lnSpc>
              <a:spcBef>
                <a:spcPts val="600"/>
              </a:spcBef>
              <a:buClrTx/>
              <a:buFontTx/>
              <a:buBlip>
                <a:blip r:embed="rId1"/>
              </a:buBlip>
            </a:pPr>
            <a:r>
              <a:rPr lang="zh-CN" altLang="en-US" sz="3200" dirty="0">
                <a:solidFill>
                  <a:srgbClr val="08080C"/>
                </a:solidFill>
                <a:latin typeface="Times New Roman" panose="02020603050405020304" pitchFamily="18" charset="0"/>
                <a:ea typeface="华文中宋" panose="02010600040101010101" pitchFamily="2" charset="-122"/>
              </a:rPr>
              <a:t> </a:t>
            </a:r>
            <a:r>
              <a:rPr lang="zh-CN" altLang="en-US" sz="3200" dirty="0">
                <a:latin typeface="Times New Roman" panose="02020603050405020304" pitchFamily="18" charset="0"/>
              </a:rPr>
              <a:t>中断的类型</a:t>
            </a:r>
            <a:endParaRPr lang="zh-CN" altLang="en-US" sz="2800" dirty="0">
              <a:latin typeface="Times New Roman" panose="02020603050405020304" pitchFamily="18" charset="0"/>
            </a:endParaRPr>
          </a:p>
          <a:p>
            <a:pPr marL="457200" lvl="1" indent="0" algn="just" eaLnBrk="1" hangingPunct="1">
              <a:lnSpc>
                <a:spcPct val="110000"/>
              </a:lnSpc>
              <a:spcBef>
                <a:spcPts val="600"/>
              </a:spcBef>
              <a:buClrTx/>
              <a:buFontTx/>
              <a:buBlip>
                <a:blip r:embed="rId2"/>
              </a:buBlip>
            </a:pPr>
            <a:r>
              <a:rPr lang="zh-CN" altLang="en-US" sz="2800" dirty="0">
                <a:latin typeface="Times New Roman" panose="02020603050405020304" pitchFamily="18" charset="0"/>
              </a:rPr>
              <a:t> </a:t>
            </a:r>
            <a:r>
              <a:rPr lang="zh-CN" altLang="en-US" sz="2800" dirty="0">
                <a:solidFill>
                  <a:srgbClr val="F7F727"/>
                </a:solidFill>
                <a:latin typeface="Times New Roman" panose="02020603050405020304" pitchFamily="18" charset="0"/>
              </a:rPr>
              <a:t>内中断</a:t>
            </a:r>
            <a:r>
              <a:rPr lang="en-US" altLang="zh-CN" sz="2800" dirty="0">
                <a:solidFill>
                  <a:srgbClr val="F7F727"/>
                </a:solidFill>
                <a:latin typeface="Times New Roman" panose="02020603050405020304" pitchFamily="18" charset="0"/>
              </a:rPr>
              <a:t>(</a:t>
            </a:r>
            <a:r>
              <a:rPr lang="zh-CN" altLang="en-US" sz="2800" dirty="0">
                <a:solidFill>
                  <a:srgbClr val="F7F727"/>
                </a:solidFill>
                <a:latin typeface="Times New Roman" panose="02020603050405020304" pitchFamily="18" charset="0"/>
              </a:rPr>
              <a:t>异常</a:t>
            </a:r>
            <a:r>
              <a:rPr lang="en-US" altLang="zh-CN" sz="2800" dirty="0">
                <a:solidFill>
                  <a:srgbClr val="F7F727"/>
                </a:solidFill>
                <a:latin typeface="Times New Roman" panose="02020603050405020304" pitchFamily="18" charset="0"/>
              </a:rPr>
              <a:t>)</a:t>
            </a:r>
            <a:r>
              <a:rPr lang="zh-CN" altLang="en-US" sz="2800" dirty="0">
                <a:latin typeface="Times New Roman" panose="02020603050405020304" pitchFamily="18" charset="0"/>
              </a:rPr>
              <a:t>：由</a:t>
            </a:r>
            <a:r>
              <a:rPr lang="en-US" altLang="zh-CN" sz="2800" dirty="0">
                <a:latin typeface="Times New Roman" panose="02020603050405020304" pitchFamily="18" charset="0"/>
              </a:rPr>
              <a:t>CPU</a:t>
            </a:r>
            <a:r>
              <a:rPr lang="zh-CN" altLang="en-US" sz="2800" dirty="0">
                <a:latin typeface="Times New Roman" panose="02020603050405020304" pitchFamily="18" charset="0"/>
              </a:rPr>
              <a:t>内部硬件或软件原因引起的中断</a:t>
            </a:r>
            <a:endParaRPr lang="zh-CN" altLang="en-US" sz="2800" dirty="0">
              <a:latin typeface="Times New Roman" panose="02020603050405020304" pitchFamily="18" charset="0"/>
            </a:endParaRPr>
          </a:p>
          <a:p>
            <a:pPr marL="914400" lvl="2" indent="0" algn="just" eaLnBrk="1" hangingPunct="1">
              <a:lnSpc>
                <a:spcPct val="110000"/>
              </a:lnSpc>
              <a:spcBef>
                <a:spcPts val="600"/>
              </a:spcBef>
            </a:pPr>
            <a:r>
              <a:rPr lang="zh-CN" altLang="en-US" sz="2400" dirty="0">
                <a:latin typeface="Times New Roman" panose="02020603050405020304" pitchFamily="18" charset="0"/>
              </a:rPr>
              <a:t> 硬件故障中断：电源掉电、各种校验错等</a:t>
            </a:r>
            <a:endParaRPr lang="zh-CN" altLang="en-US" sz="2400" dirty="0">
              <a:latin typeface="Times New Roman" panose="02020603050405020304" pitchFamily="18" charset="0"/>
            </a:endParaRPr>
          </a:p>
          <a:p>
            <a:pPr marL="914400" lvl="2" indent="0" algn="just" eaLnBrk="1" hangingPunct="1">
              <a:lnSpc>
                <a:spcPct val="110000"/>
              </a:lnSpc>
              <a:spcBef>
                <a:spcPts val="600"/>
              </a:spcBef>
            </a:pPr>
            <a:r>
              <a:rPr lang="zh-CN" altLang="en-US" sz="2400" dirty="0">
                <a:latin typeface="Times New Roman" panose="02020603050405020304" pitchFamily="18" charset="0"/>
              </a:rPr>
              <a:t> 陷阱(</a:t>
            </a:r>
            <a:r>
              <a:rPr lang="en-US" altLang="zh-CN" sz="2400" dirty="0">
                <a:latin typeface="Times New Roman" panose="02020603050405020304" pitchFamily="18" charset="0"/>
              </a:rPr>
              <a:t>Trap)：</a:t>
            </a:r>
            <a:r>
              <a:rPr lang="zh-CN" altLang="en-US" sz="2400" dirty="0">
                <a:latin typeface="Times New Roman" panose="02020603050405020304" pitchFamily="18" charset="0"/>
              </a:rPr>
              <a:t>又称程序性中断。由于程序本身运行的原因引起的中断。如:非法操作码、阶码溢出、除数为“0”、栈溢出、缺页、地址越界、访问违例等</a:t>
            </a:r>
            <a:endParaRPr lang="zh-CN" altLang="en-US" sz="2400" dirty="0">
              <a:latin typeface="Times New Roman" panose="02020603050405020304" pitchFamily="18" charset="0"/>
            </a:endParaRPr>
          </a:p>
          <a:p>
            <a:pPr marL="457200" lvl="1" indent="0" algn="just" eaLnBrk="1" hangingPunct="1">
              <a:lnSpc>
                <a:spcPct val="110000"/>
              </a:lnSpc>
              <a:spcBef>
                <a:spcPts val="600"/>
              </a:spcBef>
              <a:buClrTx/>
              <a:buFontTx/>
              <a:buNone/>
            </a:pPr>
            <a:r>
              <a:rPr lang="zh-CN" altLang="en-US" sz="2800" dirty="0">
                <a:latin typeface="Times New Roman" panose="02020603050405020304" pitchFamily="18" charset="0"/>
              </a:rPr>
              <a:t> </a:t>
            </a:r>
            <a:r>
              <a:rPr lang="zh-CN" altLang="en-US" sz="2400" dirty="0">
                <a:solidFill>
                  <a:srgbClr val="F7F727"/>
                </a:solidFill>
                <a:latin typeface="Times New Roman" panose="02020603050405020304" pitchFamily="18" charset="0"/>
              </a:rPr>
              <a:t>注意：</a:t>
            </a:r>
            <a:r>
              <a:rPr lang="zh-CN" altLang="en-US" sz="2400" dirty="0">
                <a:latin typeface="Times New Roman" panose="02020603050405020304" pitchFamily="18" charset="0"/>
              </a:rPr>
              <a:t>在操作系统中的异常，包括自愿中断和陷阱</a:t>
            </a:r>
            <a:endParaRPr lang="zh-CN" altLang="en-US" sz="2400" dirty="0">
              <a:latin typeface="Times New Roman" panose="02020603050405020304" pitchFamily="18" charset="0"/>
            </a:endParaRPr>
          </a:p>
          <a:p>
            <a:pPr marL="457200" lvl="1" indent="0" algn="just" eaLnBrk="1" hangingPunct="1">
              <a:lnSpc>
                <a:spcPct val="110000"/>
              </a:lnSpc>
              <a:spcBef>
                <a:spcPts val="600"/>
              </a:spcBef>
              <a:buClrTx/>
              <a:buFontTx/>
              <a:buBlip>
                <a:blip r:embed="rId2"/>
              </a:buBlip>
            </a:pPr>
            <a:r>
              <a:rPr lang="zh-CN" altLang="en-US" sz="2800" dirty="0">
                <a:solidFill>
                  <a:srgbClr val="F7F727"/>
                </a:solidFill>
                <a:latin typeface="Times New Roman" panose="02020603050405020304" pitchFamily="18" charset="0"/>
              </a:rPr>
              <a:t> 外中断</a:t>
            </a:r>
            <a:r>
              <a:rPr lang="en-US" altLang="zh-CN" sz="2800" dirty="0">
                <a:solidFill>
                  <a:srgbClr val="F7F727"/>
                </a:solidFill>
                <a:latin typeface="Times New Roman" panose="02020603050405020304" pitchFamily="18" charset="0"/>
              </a:rPr>
              <a:t>(</a:t>
            </a:r>
            <a:r>
              <a:rPr lang="zh-CN" altLang="en-US" sz="2800" dirty="0">
                <a:solidFill>
                  <a:srgbClr val="F7F727"/>
                </a:solidFill>
                <a:latin typeface="Times New Roman" panose="02020603050405020304" pitchFamily="18" charset="0"/>
              </a:rPr>
              <a:t>中断</a:t>
            </a:r>
            <a:r>
              <a:rPr lang="en-US" altLang="zh-CN" sz="2800" dirty="0">
                <a:solidFill>
                  <a:srgbClr val="F7F727"/>
                </a:solidFill>
                <a:latin typeface="Times New Roman" panose="02020603050405020304" pitchFamily="18" charset="0"/>
              </a:rPr>
              <a:t>)</a:t>
            </a:r>
            <a:r>
              <a:rPr lang="zh-CN" altLang="en-US" sz="2800" dirty="0">
                <a:latin typeface="Times New Roman" panose="02020603050405020304" pitchFamily="18" charset="0"/>
              </a:rPr>
              <a:t>：</a:t>
            </a:r>
            <a:r>
              <a:rPr lang="en-US" altLang="zh-CN" sz="2800" dirty="0">
                <a:latin typeface="Times New Roman" panose="02020603050405020304" pitchFamily="18" charset="0"/>
              </a:rPr>
              <a:t>CPU</a:t>
            </a:r>
            <a:r>
              <a:rPr lang="zh-CN" altLang="en-US" sz="2800" dirty="0">
                <a:latin typeface="Times New Roman" panose="02020603050405020304" pitchFamily="18" charset="0"/>
              </a:rPr>
              <a:t>外部设备引起的中断</a:t>
            </a:r>
            <a:endParaRPr lang="zh-CN" altLang="en-US" sz="2800" dirty="0">
              <a:latin typeface="Times New Roman" panose="02020603050405020304" pitchFamily="18" charset="0"/>
            </a:endParaRPr>
          </a:p>
          <a:p>
            <a:pPr marL="457200" lvl="1" indent="0" algn="just" eaLnBrk="1" hangingPunct="1">
              <a:lnSpc>
                <a:spcPct val="110000"/>
              </a:lnSpc>
              <a:spcBef>
                <a:spcPts val="600"/>
              </a:spcBef>
              <a:buClrTx/>
              <a:buFontTx/>
              <a:buNone/>
            </a:pPr>
            <a:r>
              <a:rPr lang="zh-CN" altLang="en-US" sz="2800" dirty="0">
                <a:latin typeface="Times New Roman" panose="02020603050405020304" pitchFamily="18" charset="0"/>
              </a:rPr>
              <a:t>   </a:t>
            </a:r>
            <a:r>
              <a:rPr lang="zh-CN" altLang="en-US" sz="2400" dirty="0">
                <a:latin typeface="Times New Roman" panose="02020603050405020304" pitchFamily="18" charset="0"/>
              </a:rPr>
              <a:t>如：</a:t>
            </a:r>
            <a:r>
              <a:rPr lang="en-US" altLang="zh-CN" sz="2400" dirty="0">
                <a:latin typeface="Times New Roman" panose="02020603050405020304" pitchFamily="18" charset="0"/>
              </a:rPr>
              <a:t>I/O</a:t>
            </a:r>
            <a:r>
              <a:rPr lang="zh-CN" altLang="en-US" sz="2400" dirty="0">
                <a:latin typeface="Times New Roman" panose="02020603050405020304" pitchFamily="18" charset="0"/>
              </a:rPr>
              <a:t>传输中断、</a:t>
            </a:r>
            <a:r>
              <a:rPr lang="en-US" altLang="zh-CN" sz="2400" dirty="0">
                <a:latin typeface="Times New Roman" panose="02020603050405020304" pitchFamily="18" charset="0"/>
              </a:rPr>
              <a:t>I/O</a:t>
            </a:r>
            <a:r>
              <a:rPr lang="zh-CN" altLang="en-US" sz="2400" dirty="0">
                <a:latin typeface="Times New Roman" panose="02020603050405020304" pitchFamily="18" charset="0"/>
              </a:rPr>
              <a:t>故障中断、定时中断等</a:t>
            </a:r>
            <a:endParaRPr lang="zh-CN" altLang="en-US" sz="2400" dirty="0">
              <a:latin typeface="Times New Roman" panose="02020603050405020304" pitchFamily="18" charset="0"/>
            </a:endParaRPr>
          </a:p>
        </p:txBody>
      </p:sp>
      <p:sp>
        <p:nvSpPr>
          <p:cNvPr id="4303875" name="Text Box 3"/>
          <p:cNvSpPr txBox="1">
            <a:spLocks noChangeArrowheads="1"/>
          </p:cNvSpPr>
          <p:nvPr/>
        </p:nvSpPr>
        <p:spPr bwMode="auto">
          <a:xfrm>
            <a:off x="682625" y="247650"/>
            <a:ext cx="7772400" cy="677863"/>
          </a:xfrm>
          <a:prstGeom prst="rect">
            <a:avLst/>
          </a:prstGeom>
          <a:noFill/>
          <a:ln w="9525">
            <a:noFill/>
            <a:miter lim="800000"/>
          </a:ln>
          <a:effectLst/>
        </p:spPr>
        <p:txBody>
          <a:bodyPr>
            <a:spAutoFit/>
          </a:bodyPr>
          <a:lstStyle/>
          <a:p>
            <a:pPr marR="0" algn="ctr" defTabSz="914400" eaLnBrk="1" hangingPunct="1">
              <a:lnSpc>
                <a:spcPct val="80000"/>
              </a:lnSpc>
              <a:spcBef>
                <a:spcPct val="20000"/>
              </a:spcBef>
              <a:buClrTx/>
              <a:buSzTx/>
              <a:buFontTx/>
              <a:buNone/>
              <a:defRPr/>
            </a:pPr>
            <a:r>
              <a:rPr kumimoji="0" lang="zh-CN" altLang="en-US" sz="4800" kern="1200" cap="none" spc="0" normalizeH="0" baseline="0" noProof="0" dirty="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rPr>
              <a:t>回顾－中断的有关问题</a:t>
            </a:r>
            <a:r>
              <a:rPr kumimoji="1" lang="zh-CN" altLang="en-US" sz="4400" kern="1200" cap="none" spc="0" normalizeH="0" baseline="0" noProof="0" dirty="0">
                <a:solidFill>
                  <a:schemeClr val="tx1"/>
                </a:solidFill>
                <a:latin typeface="Times New Roman" panose="02020603050405020304" pitchFamily="18" charset="0"/>
                <a:ea typeface="宋体" panose="02010600030101010101" pitchFamily="2" charset="-122"/>
                <a:cs typeface="+mn-cs"/>
              </a:rPr>
              <a:t>            </a:t>
            </a:r>
            <a:endParaRPr kumimoji="1" lang="zh-CN" altLang="en-US" sz="4400" kern="1200" cap="none" spc="0" normalizeH="0" baseline="0" noProof="0" dirty="0">
              <a:solidFill>
                <a:schemeClr val="tx1"/>
              </a:solidFill>
              <a:latin typeface="Times New Roman" panose="02020603050405020304" pitchFamily="18" charset="0"/>
              <a:ea typeface="宋体" panose="02010600030101010101" pitchFamily="2" charset="-122"/>
              <a:cs typeface="+mn-cs"/>
            </a:endParaRPr>
          </a:p>
        </p:txBody>
      </p:sp>
    </p:spTree>
  </p:cSld>
  <p:clrMapOvr>
    <a:masterClrMapping/>
  </p:clrMapOvr>
  <p:transition>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noChangeArrowheads="1"/>
          </p:cNvSpPr>
          <p:nvPr>
            <p:ph idx="1"/>
          </p:nvPr>
        </p:nvSpPr>
        <p:spPr>
          <a:xfrm>
            <a:off x="542925" y="1185863"/>
            <a:ext cx="8305800" cy="5403850"/>
          </a:xfrm>
        </p:spPr>
        <p:txBody>
          <a:bodyPr vert="horz" wrap="square" lIns="91440" tIns="45720" rIns="91440" bIns="45720" numCol="1" anchor="t" anchorCtr="0" compatLnSpc="1">
            <a:spAutoFit/>
          </a:bodyPr>
          <a:lstStyle/>
          <a:p>
            <a:pPr marL="450850" marR="0" lvl="0" indent="-450850" algn="l" defTabSz="914400" rtl="0" eaLnBrk="1" fontAlgn="base" latinLnBrk="0" hangingPunct="1">
              <a:lnSpc>
                <a:spcPct val="110000"/>
              </a:lnSpc>
              <a:spcBef>
                <a:spcPct val="20000"/>
              </a:spcBef>
              <a:spcAft>
                <a:spcPct val="0"/>
              </a:spcAft>
              <a:buClr>
                <a:schemeClr val="tx2"/>
              </a:buClr>
              <a:buSzTx/>
              <a:buFont typeface="Wingdings" panose="05000000000000000000" pitchFamily="2" charset="2"/>
              <a:buBlip>
                <a:blip r:embed="rId1"/>
              </a:buBlip>
              <a:defRPr/>
            </a:pPr>
            <a:r>
              <a:rPr kumimoji="0" lang="zh-CN" altLang="en-US" sz="3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产生与响应中断的条件</a:t>
            </a:r>
            <a:endParaRPr kumimoji="0" lang="zh-CN" altLang="en-US" sz="3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809625" marR="0" lvl="1" indent="-450850" algn="l" defTabSz="914400" rtl="0" eaLnBrk="1" fontAlgn="base" latinLnBrk="0" hangingPunct="1">
              <a:lnSpc>
                <a:spcPct val="110000"/>
              </a:lnSpc>
              <a:spcBef>
                <a:spcPct val="20000"/>
              </a:spcBef>
              <a:spcAft>
                <a:spcPct val="0"/>
              </a:spcAft>
              <a:buClr>
                <a:schemeClr val="tx2"/>
              </a:buClr>
              <a:buSzTx/>
              <a:buFont typeface="Wingdings" panose="05000000000000000000" pitchFamily="2" charset="2"/>
              <a:buBlip>
                <a:blip r:embed="rId2"/>
              </a:buBlip>
              <a:defRPr/>
            </a:pPr>
            <a:r>
              <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对于外部硬件中断来说，必须满足三个条件：</a:t>
            </a:r>
            <a:endPar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228725" marR="0" lvl="2" indent="-514350" algn="l" defTabSz="914400" rtl="0" eaLnBrk="1" fontAlgn="base" latinLnBrk="0" hangingPunct="1">
              <a:lnSpc>
                <a:spcPct val="110000"/>
              </a:lnSpc>
              <a:spcBef>
                <a:spcPct val="20000"/>
              </a:spcBef>
              <a:spcAft>
                <a:spcPct val="0"/>
              </a:spcAft>
              <a:buClr>
                <a:schemeClr val="tx1"/>
              </a:buClr>
              <a:buSzTx/>
              <a:buFont typeface="华文新魏" panose="02010800040101010101" pitchFamily="2" charset="-122"/>
              <a:buAutoNum type="circleNumDbPlain"/>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向处理器发出中断请求</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228725" marR="0" lvl="2" indent="-514350" algn="l" defTabSz="914400" rtl="0" eaLnBrk="1" fontAlgn="base" latinLnBrk="0" hangingPunct="1">
              <a:lnSpc>
                <a:spcPct val="110000"/>
              </a:lnSpc>
              <a:spcBef>
                <a:spcPct val="20000"/>
              </a:spcBef>
              <a:spcAft>
                <a:spcPct val="0"/>
              </a:spcAft>
              <a:buClr>
                <a:schemeClr val="tx1"/>
              </a:buClr>
              <a:buSzTx/>
              <a:buFont typeface="华文新魏" panose="02010800040101010101" pitchFamily="2" charset="-122"/>
              <a:buAutoNum type="circleNumDbPlain"/>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处理器的中断允许有效</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1228725" marR="0" lvl="2" indent="-514350" algn="l" defTabSz="914400" rtl="0" eaLnBrk="1" fontAlgn="base" latinLnBrk="0" hangingPunct="1">
              <a:lnSpc>
                <a:spcPct val="110000"/>
              </a:lnSpc>
              <a:spcBef>
                <a:spcPct val="20000"/>
              </a:spcBef>
              <a:spcAft>
                <a:spcPct val="0"/>
              </a:spcAft>
              <a:buClr>
                <a:schemeClr val="tx1"/>
              </a:buClr>
              <a:buSzTx/>
              <a:buFont typeface="华文新魏" panose="02010800040101010101" pitchFamily="2" charset="-122"/>
              <a:buAutoNum type="circleNumDbPlain"/>
              <a:defRPr/>
            </a:pP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当前指令执行结束</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450850" marR="0" lvl="0" indent="-450850" algn="l" defTabSz="914400" rtl="0" eaLnBrk="1" fontAlgn="base" latinLnBrk="0" hangingPunct="1">
              <a:lnSpc>
                <a:spcPct val="110000"/>
              </a:lnSpc>
              <a:spcBef>
                <a:spcPct val="20000"/>
              </a:spcBef>
              <a:spcAft>
                <a:spcPct val="0"/>
              </a:spcAft>
              <a:buClr>
                <a:schemeClr val="tx2"/>
              </a:buClr>
              <a:buSzTx/>
              <a:buFont typeface="Wingdings" panose="05000000000000000000" pitchFamily="2" charset="2"/>
              <a:buBlip>
                <a:blip r:embed="rId1"/>
              </a:buBlip>
              <a:defRPr/>
            </a:pPr>
            <a:r>
              <a:rPr kumimoji="0" lang="zh-CN" altLang="en-US" sz="3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中断处理的基本过程</a:t>
            </a:r>
            <a:endParaRPr kumimoji="0" lang="en-US" altLang="zh-CN" sz="36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809625" marR="0" lvl="1" indent="-355600" algn="l" defTabSz="914400" rtl="0" eaLnBrk="1" fontAlgn="base" latinLnBrk="0" hangingPunct="1">
              <a:lnSpc>
                <a:spcPct val="110000"/>
              </a:lnSpc>
              <a:spcBef>
                <a:spcPct val="20000"/>
              </a:spcBef>
              <a:spcAft>
                <a:spcPct val="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中断响应：</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软件</a:t>
            </a:r>
            <a:r>
              <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硬件</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a:p>
            <a:pPr marL="809625" marR="0" lvl="1" indent="-355600" algn="l" defTabSz="914400" rtl="0" eaLnBrk="1" fontAlgn="base" latinLnBrk="0" hangingPunct="1">
              <a:lnSpc>
                <a:spcPct val="110000"/>
              </a:lnSpc>
              <a:spcBef>
                <a:spcPct val="20000"/>
              </a:spcBef>
              <a:spcAft>
                <a:spcPct val="0"/>
              </a:spcAft>
              <a:buClr>
                <a:schemeClr val="tx2"/>
              </a:buClr>
              <a:buSzTx/>
              <a:buFont typeface="Wingdings" panose="05000000000000000000" pitchFamily="2" charset="2"/>
              <a:buBlip>
                <a:blip r:embed="rId2"/>
              </a:buBlip>
              <a:defRPr/>
            </a:pPr>
            <a:r>
              <a:rPr kumimoji="0" lang="zh-CN" altLang="en-US" sz="2800" b="1" i="0" u="none" strike="noStrike" kern="0" cap="none" spc="0" normalizeH="0" baseline="0" noProof="0" dirty="0" smtClean="0">
                <a:ln>
                  <a:noFill/>
                </a:ln>
                <a:solidFill>
                  <a:srgbClr val="FFFF00"/>
                </a:solidFill>
                <a:effectLst/>
                <a:uLnTx/>
                <a:uFillTx/>
                <a:latin typeface="Times New Roman" panose="02020603050405020304" pitchFamily="18" charset="0"/>
                <a:ea typeface="+mn-ea"/>
              </a:rPr>
              <a:t>中断服务：</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rPr>
              <a:t>软件</a:t>
            </a: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p:txBody>
      </p:sp>
      <p:sp>
        <p:nvSpPr>
          <p:cNvPr id="4390917" name="Text Box 5"/>
          <p:cNvSpPr txBox="1">
            <a:spLocks noGrp="1" noChangeArrowheads="1"/>
          </p:cNvSpPr>
          <p:nvPr>
            <p:ph type="title"/>
          </p:nvPr>
        </p:nvSpPr>
        <p:spPr>
          <a:xfrm>
            <a:off x="381000" y="263525"/>
            <a:ext cx="8393113" cy="714375"/>
          </a:xfrm>
        </p:spPr>
        <p:txBody>
          <a:bodyPr vert="horz" wrap="square" lIns="91440" tIns="45720" rIns="91440" bIns="45720" numCol="1" anchor="t" anchorCtr="0" compatLnSpc="1">
            <a:spAutoFit/>
          </a:bodyPr>
          <a:lstStyle/>
          <a:p>
            <a:pPr marL="0" marR="0" lvl="0" indent="0" algn="ctr" defTabSz="914400" rtl="0" eaLnBrk="1" fontAlgn="base" latinLnBrk="0" hangingPunct="1">
              <a:lnSpc>
                <a:spcPct val="80000"/>
              </a:lnSpc>
              <a:spcBef>
                <a:spcPct val="2000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回顾－中断的有关问题</a:t>
            </a:r>
            <a:r>
              <a:rPr kumimoji="1"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            </a:t>
            </a:r>
            <a:endParaRPr kumimoji="1"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Tree>
  </p:cSld>
  <p:clrMapOvr>
    <a:masterClrMapping/>
  </p:clrMapOvr>
  <p:transition>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1122" name="Rectangle 2"/>
          <p:cNvSpPr>
            <a:spLocks noGrp="1" noChangeArrowheads="1"/>
          </p:cNvSpPr>
          <p:nvPr>
            <p:ph type="title"/>
          </p:nvPr>
        </p:nvSpPr>
        <p:spPr>
          <a:xfrm>
            <a:off x="396875" y="304800"/>
            <a:ext cx="8509000" cy="71437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uLnTx/>
                <a:uFillTx/>
                <a:latin typeface="+mj-lt"/>
                <a:ea typeface="+mj-ea"/>
                <a:cs typeface="+mj-cs"/>
              </a:rPr>
              <a:t>回顾</a:t>
            </a: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a:t>
            </a:r>
            <a:r>
              <a:rPr kumimoji="0" lang="zh-CN" altLang="en-US" sz="4800" b="1" i="0" u="none" strike="noStrike" kern="0" cap="none" spc="0" normalizeH="0" baseline="0" noProof="0" smtClean="0">
                <a:ln>
                  <a:noFill/>
                </a:ln>
                <a:solidFill>
                  <a:srgbClr val="FF0000"/>
                </a:solidFill>
                <a:effectLst/>
                <a:uLnTx/>
                <a:uFillTx/>
                <a:latin typeface="+mj-lt"/>
                <a:ea typeface="+mj-ea"/>
                <a:cs typeface="+mj-cs"/>
              </a:rPr>
              <a:t>中断控制器的基本结构</a:t>
            </a:r>
            <a:endParaRPr kumimoji="0" lang="zh-CN" altLang="en-US" sz="4800" b="1" i="0" u="none" strike="noStrike" kern="0" cap="none" spc="0" normalizeH="0" baseline="0" noProof="0" smtClean="0">
              <a:ln>
                <a:noFill/>
              </a:ln>
              <a:solidFill>
                <a:srgbClr val="FF0000"/>
              </a:solidFill>
              <a:effectLst/>
              <a:uLnTx/>
              <a:uFillTx/>
              <a:latin typeface="+mj-lt"/>
              <a:ea typeface="+mj-ea"/>
              <a:cs typeface="+mj-cs"/>
            </a:endParaRPr>
          </a:p>
        </p:txBody>
      </p:sp>
      <p:sp>
        <p:nvSpPr>
          <p:cNvPr id="107523" name="Text Box 3"/>
          <p:cNvSpPr txBox="1"/>
          <p:nvPr/>
        </p:nvSpPr>
        <p:spPr>
          <a:xfrm>
            <a:off x="1784350" y="5335588"/>
            <a:ext cx="2259013" cy="528637"/>
          </a:xfrm>
          <a:prstGeom prst="rect">
            <a:avLst/>
          </a:prstGeom>
          <a:noFill/>
          <a:ln w="9525" cap="flat" cmpd="sng">
            <a:solidFill>
              <a:schemeClr val="tx1"/>
            </a:solidFill>
            <a:prstDash val="solid"/>
            <a:miter/>
            <a:headEnd type="none" w="med" len="med"/>
            <a:tailEnd type="none" w="med" len="med"/>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r>
              <a:rPr lang="zh-CN" altLang="en-US" sz="2800" dirty="0">
                <a:latin typeface="Times New Roman" panose="02020603050405020304" pitchFamily="18" charset="0"/>
              </a:rPr>
              <a:t>屏蔽寄存器</a:t>
            </a:r>
            <a:endParaRPr lang="zh-CN" altLang="en-US" sz="2800" dirty="0">
              <a:latin typeface="Times New Roman" panose="02020603050405020304" pitchFamily="18" charset="0"/>
            </a:endParaRPr>
          </a:p>
        </p:txBody>
      </p:sp>
      <p:sp>
        <p:nvSpPr>
          <p:cNvPr id="107524" name="Text Box 4"/>
          <p:cNvSpPr txBox="1"/>
          <p:nvPr/>
        </p:nvSpPr>
        <p:spPr>
          <a:xfrm>
            <a:off x="4802188" y="5380038"/>
            <a:ext cx="2690812" cy="528637"/>
          </a:xfrm>
          <a:prstGeom prst="rect">
            <a:avLst/>
          </a:prstGeom>
          <a:noFill/>
          <a:ln w="9525" cap="flat" cmpd="sng">
            <a:solidFill>
              <a:schemeClr val="tx1"/>
            </a:solidFill>
            <a:prstDash val="solid"/>
            <a:miter/>
            <a:headEnd type="none" w="med" len="med"/>
            <a:tailEnd type="none" w="med" len="med"/>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r>
              <a:rPr lang="zh-CN" altLang="en-US" sz="2800" dirty="0">
                <a:latin typeface="Times New Roman" panose="02020603050405020304" pitchFamily="18" charset="0"/>
              </a:rPr>
              <a:t>中断请求寄存器</a:t>
            </a:r>
            <a:endParaRPr lang="zh-CN" altLang="en-US" sz="2800" dirty="0">
              <a:latin typeface="Times New Roman" panose="02020603050405020304" pitchFamily="18" charset="0"/>
            </a:endParaRPr>
          </a:p>
        </p:txBody>
      </p:sp>
      <p:sp>
        <p:nvSpPr>
          <p:cNvPr id="107525" name="Line 5"/>
          <p:cNvSpPr/>
          <p:nvPr/>
        </p:nvSpPr>
        <p:spPr>
          <a:xfrm>
            <a:off x="1903413" y="4621213"/>
            <a:ext cx="0" cy="727075"/>
          </a:xfrm>
          <a:prstGeom prst="line">
            <a:avLst/>
          </a:prstGeom>
          <a:ln w="9525" cap="flat" cmpd="sng">
            <a:solidFill>
              <a:schemeClr val="tx1"/>
            </a:solidFill>
            <a:prstDash val="solid"/>
            <a:headEnd type="triangle" w="med" len="med"/>
            <a:tailEnd type="none" w="med" len="med"/>
          </a:ln>
        </p:spPr>
      </p:sp>
      <p:sp>
        <p:nvSpPr>
          <p:cNvPr id="107526" name="AutoShape 6"/>
          <p:cNvSpPr/>
          <p:nvPr/>
        </p:nvSpPr>
        <p:spPr>
          <a:xfrm rot="-5400000">
            <a:off x="1793875" y="4198938"/>
            <a:ext cx="442913" cy="442912"/>
          </a:xfrm>
          <a:prstGeom prst="flowChartDelay">
            <a:avLst/>
          </a:prstGeom>
          <a:no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107527" name="Line 7"/>
          <p:cNvSpPr/>
          <p:nvPr/>
        </p:nvSpPr>
        <p:spPr>
          <a:xfrm flipV="1">
            <a:off x="2143125" y="4621213"/>
            <a:ext cx="0" cy="471487"/>
          </a:xfrm>
          <a:prstGeom prst="line">
            <a:avLst/>
          </a:prstGeom>
          <a:ln w="9525" cap="flat" cmpd="sng">
            <a:solidFill>
              <a:schemeClr val="tx1"/>
            </a:solidFill>
            <a:prstDash val="solid"/>
            <a:headEnd type="none" w="med" len="med"/>
            <a:tailEnd type="triangle" w="med" len="med"/>
          </a:ln>
        </p:spPr>
      </p:sp>
      <p:sp>
        <p:nvSpPr>
          <p:cNvPr id="107528" name="Line 8"/>
          <p:cNvSpPr/>
          <p:nvPr/>
        </p:nvSpPr>
        <p:spPr>
          <a:xfrm>
            <a:off x="2159000" y="5092700"/>
            <a:ext cx="2836863" cy="0"/>
          </a:xfrm>
          <a:prstGeom prst="line">
            <a:avLst/>
          </a:prstGeom>
          <a:ln w="9525" cap="flat" cmpd="sng">
            <a:solidFill>
              <a:schemeClr val="tx1"/>
            </a:solidFill>
            <a:prstDash val="solid"/>
            <a:headEnd type="none" w="med" len="med"/>
            <a:tailEnd type="none" w="med" len="med"/>
          </a:ln>
        </p:spPr>
      </p:sp>
      <p:sp>
        <p:nvSpPr>
          <p:cNvPr id="107529" name="Line 9"/>
          <p:cNvSpPr/>
          <p:nvPr/>
        </p:nvSpPr>
        <p:spPr>
          <a:xfrm>
            <a:off x="4995863" y="5092700"/>
            <a:ext cx="0" cy="282575"/>
          </a:xfrm>
          <a:prstGeom prst="line">
            <a:avLst/>
          </a:prstGeom>
          <a:ln w="9525" cap="flat" cmpd="sng">
            <a:solidFill>
              <a:schemeClr val="tx1"/>
            </a:solidFill>
            <a:prstDash val="solid"/>
            <a:headEnd type="none" w="med" len="med"/>
            <a:tailEnd type="none" w="med" len="med"/>
          </a:ln>
        </p:spPr>
      </p:sp>
      <p:sp>
        <p:nvSpPr>
          <p:cNvPr id="107530" name="AutoShape 10"/>
          <p:cNvSpPr/>
          <p:nvPr/>
        </p:nvSpPr>
        <p:spPr>
          <a:xfrm rot="-5400000">
            <a:off x="3806825" y="4178300"/>
            <a:ext cx="415925" cy="442913"/>
          </a:xfrm>
          <a:prstGeom prst="flowChartDelay">
            <a:avLst/>
          </a:prstGeom>
          <a:noFill/>
          <a:ln w="9525" cap="flat" cmpd="sng">
            <a:solidFill>
              <a:schemeClr val="tx1"/>
            </a:solidFill>
            <a:prstDash val="solid"/>
            <a:miter/>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107531" name="Line 11"/>
          <p:cNvSpPr/>
          <p:nvPr/>
        </p:nvSpPr>
        <p:spPr>
          <a:xfrm flipH="1">
            <a:off x="3889375" y="4606925"/>
            <a:ext cx="0" cy="739775"/>
          </a:xfrm>
          <a:prstGeom prst="line">
            <a:avLst/>
          </a:prstGeom>
          <a:ln w="9525" cap="flat" cmpd="sng">
            <a:solidFill>
              <a:schemeClr val="tx1"/>
            </a:solidFill>
            <a:prstDash val="solid"/>
            <a:headEnd type="triangle" w="med" len="med"/>
            <a:tailEnd type="none" w="med" len="med"/>
          </a:ln>
        </p:spPr>
      </p:sp>
      <p:sp>
        <p:nvSpPr>
          <p:cNvPr id="107532" name="Line 12"/>
          <p:cNvSpPr/>
          <p:nvPr/>
        </p:nvSpPr>
        <p:spPr>
          <a:xfrm flipV="1">
            <a:off x="4148138" y="4606925"/>
            <a:ext cx="0" cy="284163"/>
          </a:xfrm>
          <a:prstGeom prst="line">
            <a:avLst/>
          </a:prstGeom>
          <a:ln w="9525" cap="flat" cmpd="sng">
            <a:solidFill>
              <a:schemeClr val="tx1"/>
            </a:solidFill>
            <a:prstDash val="solid"/>
            <a:headEnd type="none" w="med" len="med"/>
            <a:tailEnd type="triangle" w="med" len="med"/>
          </a:ln>
        </p:spPr>
      </p:sp>
      <p:sp>
        <p:nvSpPr>
          <p:cNvPr id="107533" name="Line 13"/>
          <p:cNvSpPr/>
          <p:nvPr/>
        </p:nvSpPr>
        <p:spPr>
          <a:xfrm>
            <a:off x="4148138" y="4889500"/>
            <a:ext cx="3011487" cy="0"/>
          </a:xfrm>
          <a:prstGeom prst="line">
            <a:avLst/>
          </a:prstGeom>
          <a:ln w="9525" cap="flat" cmpd="sng">
            <a:solidFill>
              <a:schemeClr val="tx1"/>
            </a:solidFill>
            <a:prstDash val="solid"/>
            <a:headEnd type="none" w="med" len="med"/>
            <a:tailEnd type="none" w="med" len="med"/>
          </a:ln>
        </p:spPr>
      </p:sp>
      <p:sp>
        <p:nvSpPr>
          <p:cNvPr id="107534" name="Line 14"/>
          <p:cNvSpPr/>
          <p:nvPr/>
        </p:nvSpPr>
        <p:spPr>
          <a:xfrm>
            <a:off x="7159625" y="4891088"/>
            <a:ext cx="0" cy="484187"/>
          </a:xfrm>
          <a:prstGeom prst="line">
            <a:avLst/>
          </a:prstGeom>
          <a:ln w="9525" cap="flat" cmpd="sng">
            <a:solidFill>
              <a:schemeClr val="tx1"/>
            </a:solidFill>
            <a:prstDash val="solid"/>
            <a:headEnd type="none" w="med" len="med"/>
            <a:tailEnd type="none" w="med" len="med"/>
          </a:ln>
        </p:spPr>
      </p:sp>
      <p:sp>
        <p:nvSpPr>
          <p:cNvPr id="107535" name="Line 15"/>
          <p:cNvSpPr/>
          <p:nvPr/>
        </p:nvSpPr>
        <p:spPr>
          <a:xfrm flipH="1" flipV="1">
            <a:off x="1995488" y="3843338"/>
            <a:ext cx="1587" cy="349250"/>
          </a:xfrm>
          <a:prstGeom prst="line">
            <a:avLst/>
          </a:prstGeom>
          <a:ln w="9525" cap="flat" cmpd="sng">
            <a:solidFill>
              <a:schemeClr val="tx1"/>
            </a:solidFill>
            <a:prstDash val="solid"/>
            <a:headEnd type="none" w="med" len="med"/>
            <a:tailEnd type="triangle" w="med" len="med"/>
          </a:ln>
        </p:spPr>
      </p:sp>
      <p:sp>
        <p:nvSpPr>
          <p:cNvPr id="107536" name="Line 16"/>
          <p:cNvSpPr/>
          <p:nvPr/>
        </p:nvSpPr>
        <p:spPr>
          <a:xfrm flipV="1">
            <a:off x="4000500" y="3841750"/>
            <a:ext cx="1588" cy="336550"/>
          </a:xfrm>
          <a:prstGeom prst="line">
            <a:avLst/>
          </a:prstGeom>
          <a:ln w="9525" cap="flat" cmpd="sng">
            <a:solidFill>
              <a:schemeClr val="tx1"/>
            </a:solidFill>
            <a:prstDash val="solid"/>
            <a:headEnd type="none" w="med" len="med"/>
            <a:tailEnd type="triangle" w="med" len="med"/>
          </a:ln>
        </p:spPr>
      </p:sp>
      <p:sp>
        <p:nvSpPr>
          <p:cNvPr id="107537" name="Text Box 17"/>
          <p:cNvSpPr txBox="1"/>
          <p:nvPr/>
        </p:nvSpPr>
        <p:spPr>
          <a:xfrm>
            <a:off x="2600325" y="4173538"/>
            <a:ext cx="806450" cy="45720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p:txBody>
      </p:sp>
      <p:sp>
        <p:nvSpPr>
          <p:cNvPr id="107538" name="Text Box 18"/>
          <p:cNvSpPr txBox="1"/>
          <p:nvPr/>
        </p:nvSpPr>
        <p:spPr>
          <a:xfrm>
            <a:off x="1806575" y="3400425"/>
            <a:ext cx="2447925" cy="498475"/>
          </a:xfrm>
          <a:prstGeom prst="rect">
            <a:avLst/>
          </a:prstGeom>
          <a:noFill/>
          <a:ln w="9525" cap="flat" cmpd="sng">
            <a:solidFill>
              <a:schemeClr val="tx1"/>
            </a:solidFill>
            <a:prstDash val="solid"/>
            <a:miter/>
            <a:headEnd type="none" w="med" len="med"/>
            <a:tailEnd type="none" w="med" len="med"/>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r>
              <a:rPr lang="zh-CN" altLang="en-US" sz="2600" dirty="0">
                <a:latin typeface="Times New Roman" panose="02020603050405020304" pitchFamily="18" charset="0"/>
              </a:rPr>
              <a:t>判 优 线 路</a:t>
            </a:r>
            <a:endParaRPr lang="zh-CN" altLang="en-US" sz="2600" dirty="0">
              <a:latin typeface="Times New Roman" panose="02020603050405020304" pitchFamily="18" charset="0"/>
            </a:endParaRPr>
          </a:p>
        </p:txBody>
      </p:sp>
      <p:sp>
        <p:nvSpPr>
          <p:cNvPr id="107539" name="Line 19"/>
          <p:cNvSpPr/>
          <p:nvPr/>
        </p:nvSpPr>
        <p:spPr>
          <a:xfrm flipV="1">
            <a:off x="3005138" y="2995613"/>
            <a:ext cx="0" cy="428625"/>
          </a:xfrm>
          <a:prstGeom prst="line">
            <a:avLst/>
          </a:prstGeom>
          <a:ln w="9525" cap="flat" cmpd="sng">
            <a:solidFill>
              <a:schemeClr val="tx1"/>
            </a:solidFill>
            <a:prstDash val="solid"/>
            <a:headEnd type="none" w="med" len="med"/>
            <a:tailEnd type="triangle" w="med" len="med"/>
          </a:ln>
        </p:spPr>
      </p:sp>
      <p:sp>
        <p:nvSpPr>
          <p:cNvPr id="107540" name="Text Box 20"/>
          <p:cNvSpPr txBox="1"/>
          <p:nvPr/>
        </p:nvSpPr>
        <p:spPr>
          <a:xfrm>
            <a:off x="1355725" y="2538413"/>
            <a:ext cx="3357563" cy="498475"/>
          </a:xfrm>
          <a:prstGeom prst="rect">
            <a:avLst/>
          </a:prstGeom>
          <a:noFill/>
          <a:ln w="9525" cap="flat" cmpd="sng">
            <a:solidFill>
              <a:schemeClr val="tx1"/>
            </a:solidFill>
            <a:prstDash val="solid"/>
            <a:miter/>
            <a:headEnd type="none" w="med" len="med"/>
            <a:tailEnd type="none" w="med" len="med"/>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r>
              <a:rPr lang="zh-CN" altLang="en-US" sz="2600" dirty="0">
                <a:latin typeface="Times New Roman" panose="02020603050405020304" pitchFamily="18" charset="0"/>
              </a:rPr>
              <a:t>向量地址形成线路</a:t>
            </a:r>
            <a:endParaRPr lang="zh-CN" altLang="en-US" sz="2600" dirty="0">
              <a:latin typeface="Times New Roman" panose="02020603050405020304" pitchFamily="18" charset="0"/>
            </a:endParaRPr>
          </a:p>
        </p:txBody>
      </p:sp>
      <p:sp>
        <p:nvSpPr>
          <p:cNvPr id="107541" name="Line 21"/>
          <p:cNvSpPr/>
          <p:nvPr/>
        </p:nvSpPr>
        <p:spPr>
          <a:xfrm>
            <a:off x="4256088" y="3644900"/>
            <a:ext cx="1841500" cy="0"/>
          </a:xfrm>
          <a:prstGeom prst="line">
            <a:avLst/>
          </a:prstGeom>
          <a:ln w="9525" cap="flat" cmpd="sng">
            <a:solidFill>
              <a:schemeClr val="tx1"/>
            </a:solidFill>
            <a:prstDash val="solid"/>
            <a:headEnd type="none" w="med" len="med"/>
            <a:tailEnd type="none" w="med" len="med"/>
          </a:ln>
        </p:spPr>
      </p:sp>
      <p:sp>
        <p:nvSpPr>
          <p:cNvPr id="107542" name="Line 22"/>
          <p:cNvSpPr/>
          <p:nvPr/>
        </p:nvSpPr>
        <p:spPr>
          <a:xfrm>
            <a:off x="6099175" y="3138488"/>
            <a:ext cx="0" cy="527050"/>
          </a:xfrm>
          <a:prstGeom prst="line">
            <a:avLst/>
          </a:prstGeom>
          <a:ln w="9525" cap="flat" cmpd="sng">
            <a:solidFill>
              <a:schemeClr val="tx1"/>
            </a:solidFill>
            <a:prstDash val="solid"/>
            <a:headEnd type="triangle" w="med" len="med"/>
            <a:tailEnd type="none" w="med" len="med"/>
          </a:ln>
        </p:spPr>
      </p:sp>
      <p:sp>
        <p:nvSpPr>
          <p:cNvPr id="107543" name="AutoShape 23"/>
          <p:cNvSpPr/>
          <p:nvPr/>
        </p:nvSpPr>
        <p:spPr>
          <a:xfrm>
            <a:off x="2928938" y="1992313"/>
            <a:ext cx="292100" cy="544512"/>
          </a:xfrm>
          <a:prstGeom prst="upArrow">
            <a:avLst>
              <a:gd name="adj1" fmla="val 50000"/>
              <a:gd name="adj2" fmla="val 46603"/>
            </a:avLst>
          </a:prstGeom>
          <a:noFill/>
          <a:ln w="9525" cap="flat" cmpd="sng">
            <a:solidFill>
              <a:schemeClr val="tx1"/>
            </a:solidFill>
            <a:prstDash val="solid"/>
            <a:miter/>
            <a:headEnd type="none" w="med" len="med"/>
            <a:tailEnd type="none" w="med" len="med"/>
          </a:ln>
        </p:spPr>
        <p:txBody>
          <a:bodyPr vert="eaVert"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107544" name="Text Box 24"/>
          <p:cNvSpPr txBox="1"/>
          <p:nvPr/>
        </p:nvSpPr>
        <p:spPr>
          <a:xfrm>
            <a:off x="3162300" y="2089150"/>
            <a:ext cx="2503488" cy="45720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50000"/>
              </a:spcBef>
              <a:buClrTx/>
              <a:buFontTx/>
              <a:buNone/>
            </a:pPr>
            <a:r>
              <a:rPr lang="zh-CN" altLang="en-US" sz="2400" dirty="0">
                <a:solidFill>
                  <a:srgbClr val="FFFF00"/>
                </a:solidFill>
                <a:latin typeface="Times New Roman" panose="02020603050405020304" pitchFamily="18" charset="0"/>
              </a:rPr>
              <a:t>向量地址</a:t>
            </a:r>
            <a:r>
              <a:rPr lang="en-US" altLang="zh-CN" sz="2400" dirty="0">
                <a:solidFill>
                  <a:srgbClr val="FFFF00"/>
                </a:solidFill>
                <a:latin typeface="Times New Roman" panose="02020603050405020304" pitchFamily="18" charset="0"/>
              </a:rPr>
              <a:t>(</a:t>
            </a:r>
            <a:r>
              <a:rPr lang="zh-CN" altLang="en-US" sz="2400" dirty="0">
                <a:solidFill>
                  <a:srgbClr val="FFFF00"/>
                </a:solidFill>
                <a:latin typeface="Times New Roman" panose="02020603050405020304" pitchFamily="18" charset="0"/>
              </a:rPr>
              <a:t>中断号</a:t>
            </a:r>
            <a:r>
              <a:rPr lang="en-US" altLang="zh-CN" sz="2400" dirty="0">
                <a:solidFill>
                  <a:srgbClr val="FFFF00"/>
                </a:solidFill>
                <a:latin typeface="Times New Roman" panose="02020603050405020304" pitchFamily="18" charset="0"/>
              </a:rPr>
              <a:t>)</a:t>
            </a:r>
            <a:endParaRPr lang="en-US" altLang="zh-CN" sz="2400" dirty="0">
              <a:solidFill>
                <a:srgbClr val="FFFF00"/>
              </a:solidFill>
              <a:latin typeface="Times New Roman" panose="02020603050405020304" pitchFamily="18" charset="0"/>
            </a:endParaRPr>
          </a:p>
        </p:txBody>
      </p:sp>
      <p:sp>
        <p:nvSpPr>
          <p:cNvPr id="107545" name="Text Box 25"/>
          <p:cNvSpPr txBox="1"/>
          <p:nvPr/>
        </p:nvSpPr>
        <p:spPr>
          <a:xfrm>
            <a:off x="5770563" y="2111375"/>
            <a:ext cx="3230562" cy="45720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r>
              <a:rPr lang="zh-CN" altLang="en-US" sz="2400" dirty="0">
                <a:solidFill>
                  <a:srgbClr val="FFFF00"/>
                </a:solidFill>
                <a:latin typeface="Times New Roman" panose="02020603050405020304" pitchFamily="18" charset="0"/>
              </a:rPr>
              <a:t>中断请求信号</a:t>
            </a:r>
            <a:r>
              <a:rPr lang="en-US" altLang="zh-CN" sz="2400" dirty="0">
                <a:solidFill>
                  <a:srgbClr val="FFFF00"/>
                </a:solidFill>
                <a:latin typeface="Times New Roman" panose="02020603050405020304" pitchFamily="18" charset="0"/>
              </a:rPr>
              <a:t>INT</a:t>
            </a:r>
            <a:endParaRPr lang="en-US" altLang="zh-CN" sz="2400" dirty="0">
              <a:solidFill>
                <a:srgbClr val="FFFF00"/>
              </a:solidFill>
              <a:latin typeface="Times New Roman" panose="02020603050405020304" pitchFamily="18" charset="0"/>
            </a:endParaRPr>
          </a:p>
        </p:txBody>
      </p:sp>
      <p:sp>
        <p:nvSpPr>
          <p:cNvPr id="107546" name="Text Box 26"/>
          <p:cNvSpPr txBox="1"/>
          <p:nvPr/>
        </p:nvSpPr>
        <p:spPr>
          <a:xfrm>
            <a:off x="5510213" y="2693988"/>
            <a:ext cx="1149350" cy="466725"/>
          </a:xfrm>
          <a:prstGeom prst="rect">
            <a:avLst/>
          </a:prstGeom>
          <a:noFill/>
          <a:ln w="9525" cap="flat" cmpd="sng">
            <a:solidFill>
              <a:schemeClr val="tx1"/>
            </a:solidFill>
            <a:prstDash val="solid"/>
            <a:miter/>
            <a:headEnd type="none" w="med" len="med"/>
            <a:tailEnd type="none" w="med" len="med"/>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r>
              <a:rPr lang="en-US" altLang="zh-CN" sz="2400" dirty="0">
                <a:latin typeface="Times New Roman" panose="02020603050405020304" pitchFamily="18" charset="0"/>
              </a:rPr>
              <a:t>INTR</a:t>
            </a:r>
            <a:endParaRPr lang="en-US" altLang="zh-CN" sz="2400" dirty="0">
              <a:latin typeface="Times New Roman" panose="02020603050405020304" pitchFamily="18" charset="0"/>
            </a:endParaRPr>
          </a:p>
        </p:txBody>
      </p:sp>
      <p:sp>
        <p:nvSpPr>
          <p:cNvPr id="107547" name="Line 27"/>
          <p:cNvSpPr/>
          <p:nvPr/>
        </p:nvSpPr>
        <p:spPr>
          <a:xfrm flipV="1">
            <a:off x="6097588" y="1992313"/>
            <a:ext cx="0" cy="690562"/>
          </a:xfrm>
          <a:prstGeom prst="line">
            <a:avLst/>
          </a:prstGeom>
          <a:ln w="9525" cap="flat" cmpd="sng">
            <a:solidFill>
              <a:schemeClr val="tx1"/>
            </a:solidFill>
            <a:prstDash val="solid"/>
            <a:headEnd type="none" w="med" len="med"/>
            <a:tailEnd type="triangle" w="med" len="med"/>
          </a:ln>
        </p:spPr>
      </p:sp>
      <p:sp>
        <p:nvSpPr>
          <p:cNvPr id="107548" name="Line 28"/>
          <p:cNvSpPr/>
          <p:nvPr/>
        </p:nvSpPr>
        <p:spPr>
          <a:xfrm>
            <a:off x="1309688" y="4906963"/>
            <a:ext cx="2716212" cy="0"/>
          </a:xfrm>
          <a:prstGeom prst="line">
            <a:avLst/>
          </a:prstGeom>
          <a:ln w="38100" cap="flat" cmpd="sng">
            <a:solidFill>
              <a:srgbClr val="FFFF00"/>
            </a:solidFill>
            <a:prstDash val="solid"/>
            <a:headEnd type="none" w="med" len="med"/>
            <a:tailEnd type="none" w="med" len="med"/>
          </a:ln>
        </p:spPr>
      </p:sp>
      <p:sp>
        <p:nvSpPr>
          <p:cNvPr id="107549" name="Line 29"/>
          <p:cNvSpPr/>
          <p:nvPr/>
        </p:nvSpPr>
        <p:spPr>
          <a:xfrm flipV="1">
            <a:off x="2009775" y="4635500"/>
            <a:ext cx="0" cy="282575"/>
          </a:xfrm>
          <a:prstGeom prst="line">
            <a:avLst/>
          </a:prstGeom>
          <a:ln w="38100" cap="flat" cmpd="sng">
            <a:solidFill>
              <a:srgbClr val="FFFF00"/>
            </a:solidFill>
            <a:prstDash val="solid"/>
            <a:headEnd type="oval" w="med" len="med"/>
            <a:tailEnd type="triangle" w="med" len="med"/>
          </a:ln>
        </p:spPr>
      </p:sp>
      <p:sp>
        <p:nvSpPr>
          <p:cNvPr id="107550" name="Line 30"/>
          <p:cNvSpPr/>
          <p:nvPr/>
        </p:nvSpPr>
        <p:spPr>
          <a:xfrm flipV="1">
            <a:off x="4030663" y="4611688"/>
            <a:ext cx="0" cy="296862"/>
          </a:xfrm>
          <a:prstGeom prst="line">
            <a:avLst/>
          </a:prstGeom>
          <a:ln w="38100" cap="flat" cmpd="sng">
            <a:solidFill>
              <a:srgbClr val="FFFF00"/>
            </a:solidFill>
            <a:prstDash val="solid"/>
            <a:headEnd type="none" w="med" len="med"/>
            <a:tailEnd type="triangle" w="med" len="med"/>
          </a:ln>
        </p:spPr>
      </p:sp>
      <p:sp>
        <p:nvSpPr>
          <p:cNvPr id="107551" name="Oval 31"/>
          <p:cNvSpPr/>
          <p:nvPr/>
        </p:nvSpPr>
        <p:spPr>
          <a:xfrm>
            <a:off x="1982788" y="4864100"/>
            <a:ext cx="61912" cy="61913"/>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sp>
        <p:nvSpPr>
          <p:cNvPr id="107552" name="Text Box 32"/>
          <p:cNvSpPr txBox="1"/>
          <p:nvPr/>
        </p:nvSpPr>
        <p:spPr>
          <a:xfrm>
            <a:off x="333375" y="4902200"/>
            <a:ext cx="1476375" cy="1373188"/>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50000"/>
              </a:spcBef>
              <a:buClrTx/>
              <a:buFontTx/>
              <a:buNone/>
            </a:pPr>
            <a:r>
              <a:rPr lang="en-US" altLang="zh-CN" sz="2800" dirty="0">
                <a:solidFill>
                  <a:srgbClr val="FFFF00"/>
                </a:solidFill>
                <a:latin typeface="Times New Roman" panose="02020603050405020304" pitchFamily="18" charset="0"/>
              </a:rPr>
              <a:t>CPU</a:t>
            </a:r>
            <a:r>
              <a:rPr lang="zh-CN" altLang="en-US" sz="2800" dirty="0">
                <a:solidFill>
                  <a:srgbClr val="FFFF00"/>
                </a:solidFill>
                <a:latin typeface="Times New Roman" panose="02020603050405020304" pitchFamily="18" charset="0"/>
              </a:rPr>
              <a:t>发出中</a:t>
            </a:r>
            <a:r>
              <a:rPr lang="zh-CN" altLang="en-US" sz="2800" dirty="0">
                <a:solidFill>
                  <a:srgbClr val="FFFF00"/>
                </a:solidFill>
                <a:latin typeface="Times New Roman" panose="02020603050405020304" pitchFamily="18" charset="0"/>
              </a:rPr>
              <a:t>断查询</a:t>
            </a:r>
            <a:endParaRPr lang="zh-CN" altLang="en-US" sz="2800" dirty="0">
              <a:solidFill>
                <a:srgbClr val="FFFF00"/>
              </a:solidFill>
              <a:latin typeface="Times New Roman" panose="02020603050405020304" pitchFamily="18" charset="0"/>
            </a:endParaRPr>
          </a:p>
        </p:txBody>
      </p:sp>
      <p:sp>
        <p:nvSpPr>
          <p:cNvPr id="107553" name="AutoShape 33"/>
          <p:cNvSpPr/>
          <p:nvPr/>
        </p:nvSpPr>
        <p:spPr>
          <a:xfrm>
            <a:off x="2689225" y="5900738"/>
            <a:ext cx="331788" cy="593725"/>
          </a:xfrm>
          <a:prstGeom prst="upArrow">
            <a:avLst>
              <a:gd name="adj1" fmla="val 50000"/>
              <a:gd name="adj2" fmla="val 44736"/>
            </a:avLst>
          </a:prstGeom>
          <a:noFill/>
          <a:ln w="9525" cap="flat" cmpd="sng">
            <a:solidFill>
              <a:schemeClr val="tx1"/>
            </a:solidFill>
            <a:prstDash val="solid"/>
            <a:miter/>
            <a:headEnd type="none" w="med" len="med"/>
            <a:tailEnd type="none" w="med" len="med"/>
          </a:ln>
        </p:spPr>
        <p:txBody>
          <a:bodyPr vert="eaVert" wrap="none" anchor="ctr" anchorCtr="0"/>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endParaRPr lang="zh-CN" altLang="en-US" sz="2400" dirty="0">
              <a:solidFill>
                <a:schemeClr val="tx2"/>
              </a:solidFill>
              <a:latin typeface="Arial" panose="020B0604020202020204" pitchFamily="34" charset="0"/>
              <a:ea typeface="宋体" panose="02010600030101010101" pitchFamily="2" charset="-122"/>
            </a:endParaRPr>
          </a:p>
        </p:txBody>
      </p:sp>
      <p:grpSp>
        <p:nvGrpSpPr>
          <p:cNvPr id="107554" name="Group 51"/>
          <p:cNvGrpSpPr/>
          <p:nvPr/>
        </p:nvGrpSpPr>
        <p:grpSpPr>
          <a:xfrm>
            <a:off x="5075238" y="5764213"/>
            <a:ext cx="2035175" cy="668337"/>
            <a:chOff x="3197" y="3661"/>
            <a:chExt cx="1282" cy="224"/>
          </a:xfrm>
        </p:grpSpPr>
        <p:sp>
          <p:nvSpPr>
            <p:cNvPr id="107558" name="Line 34"/>
            <p:cNvSpPr/>
            <p:nvPr/>
          </p:nvSpPr>
          <p:spPr>
            <a:xfrm flipV="1">
              <a:off x="3197" y="3728"/>
              <a:ext cx="0" cy="152"/>
            </a:xfrm>
            <a:prstGeom prst="line">
              <a:avLst/>
            </a:prstGeom>
            <a:ln w="9525" cap="flat" cmpd="sng">
              <a:solidFill>
                <a:schemeClr val="tx1"/>
              </a:solidFill>
              <a:prstDash val="solid"/>
              <a:headEnd type="none" w="med" len="med"/>
              <a:tailEnd type="triangle" w="med" len="med"/>
            </a:ln>
          </p:spPr>
        </p:sp>
        <p:sp>
          <p:nvSpPr>
            <p:cNvPr id="107559" name="Line 35"/>
            <p:cNvSpPr/>
            <p:nvPr/>
          </p:nvSpPr>
          <p:spPr>
            <a:xfrm flipV="1">
              <a:off x="3360" y="3717"/>
              <a:ext cx="0" cy="152"/>
            </a:xfrm>
            <a:prstGeom prst="line">
              <a:avLst/>
            </a:prstGeom>
            <a:ln w="9525" cap="flat" cmpd="sng">
              <a:solidFill>
                <a:schemeClr val="tx1"/>
              </a:solidFill>
              <a:prstDash val="solid"/>
              <a:headEnd type="none" w="med" len="med"/>
              <a:tailEnd type="triangle" w="med" len="med"/>
            </a:ln>
          </p:spPr>
        </p:sp>
        <p:sp>
          <p:nvSpPr>
            <p:cNvPr id="107560" name="Line 36"/>
            <p:cNvSpPr/>
            <p:nvPr/>
          </p:nvSpPr>
          <p:spPr>
            <a:xfrm flipV="1">
              <a:off x="4092" y="3733"/>
              <a:ext cx="0" cy="152"/>
            </a:xfrm>
            <a:prstGeom prst="line">
              <a:avLst/>
            </a:prstGeom>
            <a:ln w="9525" cap="flat" cmpd="sng">
              <a:solidFill>
                <a:schemeClr val="tx1"/>
              </a:solidFill>
              <a:prstDash val="solid"/>
              <a:headEnd type="none" w="med" len="med"/>
              <a:tailEnd type="triangle" w="med" len="med"/>
            </a:ln>
          </p:spPr>
        </p:sp>
        <p:sp>
          <p:nvSpPr>
            <p:cNvPr id="107561" name="Line 37"/>
            <p:cNvSpPr/>
            <p:nvPr/>
          </p:nvSpPr>
          <p:spPr>
            <a:xfrm flipV="1">
              <a:off x="4290" y="3719"/>
              <a:ext cx="0" cy="152"/>
            </a:xfrm>
            <a:prstGeom prst="line">
              <a:avLst/>
            </a:prstGeom>
            <a:ln w="9525" cap="flat" cmpd="sng">
              <a:solidFill>
                <a:schemeClr val="tx1"/>
              </a:solidFill>
              <a:prstDash val="solid"/>
              <a:headEnd type="none" w="med" len="med"/>
              <a:tailEnd type="triangle" w="med" len="med"/>
            </a:ln>
          </p:spPr>
        </p:sp>
        <p:sp>
          <p:nvSpPr>
            <p:cNvPr id="107562" name="Line 38"/>
            <p:cNvSpPr/>
            <p:nvPr/>
          </p:nvSpPr>
          <p:spPr>
            <a:xfrm flipV="1">
              <a:off x="4479" y="3731"/>
              <a:ext cx="0" cy="152"/>
            </a:xfrm>
            <a:prstGeom prst="line">
              <a:avLst/>
            </a:prstGeom>
            <a:ln w="9525" cap="flat" cmpd="sng">
              <a:solidFill>
                <a:schemeClr val="tx1"/>
              </a:solidFill>
              <a:prstDash val="solid"/>
              <a:headEnd type="none" w="med" len="med"/>
              <a:tailEnd type="triangle" w="med" len="med"/>
            </a:ln>
          </p:spPr>
        </p:sp>
        <p:sp>
          <p:nvSpPr>
            <p:cNvPr id="107563" name="Text Box 39"/>
            <p:cNvSpPr txBox="1"/>
            <p:nvPr/>
          </p:nvSpPr>
          <p:spPr>
            <a:xfrm>
              <a:off x="3497" y="3661"/>
              <a:ext cx="596" cy="153"/>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50000"/>
                </a:spcBef>
                <a:buClrTx/>
                <a:buFontTx/>
                <a:buNone/>
              </a:pP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p:txBody>
        </p:sp>
      </p:grpSp>
      <p:sp>
        <p:nvSpPr>
          <p:cNvPr id="107555" name="Text Box 42"/>
          <p:cNvSpPr txBox="1"/>
          <p:nvPr/>
        </p:nvSpPr>
        <p:spPr>
          <a:xfrm>
            <a:off x="2700338" y="1417638"/>
            <a:ext cx="3933825" cy="531812"/>
          </a:xfrm>
          <a:prstGeom prst="rect">
            <a:avLst/>
          </a:prstGeom>
          <a:noFill/>
          <a:ln w="12700" cap="flat" cmpd="sng">
            <a:solidFill>
              <a:schemeClr val="tx1"/>
            </a:solidFill>
            <a:prstDash val="solid"/>
            <a:miter/>
            <a:headEnd type="none" w="med" len="med"/>
            <a:tailEnd type="none" w="med" len="med"/>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50000"/>
              </a:spcBef>
              <a:buClrTx/>
              <a:buFontTx/>
              <a:buNone/>
            </a:pPr>
            <a:r>
              <a:rPr lang="en-US" altLang="zh-CN" sz="2800" dirty="0">
                <a:solidFill>
                  <a:srgbClr val="FFFF00"/>
                </a:solidFill>
                <a:latin typeface="Times New Roman" panose="02020603050405020304" pitchFamily="18" charset="0"/>
                <a:cs typeface="Arial" panose="020B0604020202020204" pitchFamily="34" charset="0"/>
              </a:rPr>
              <a:t>CPU</a:t>
            </a:r>
            <a:endParaRPr lang="en-US" altLang="zh-CN" sz="2800" dirty="0">
              <a:solidFill>
                <a:srgbClr val="FFFF00"/>
              </a:solidFill>
              <a:latin typeface="Times New Roman" panose="02020603050405020304" pitchFamily="18" charset="0"/>
              <a:ea typeface="Arial" panose="020B0604020202020204" pitchFamily="34" charset="0"/>
            </a:endParaRPr>
          </a:p>
        </p:txBody>
      </p:sp>
      <p:sp>
        <p:nvSpPr>
          <p:cNvPr id="261170" name="Rectangle 50"/>
          <p:cNvSpPr/>
          <p:nvPr/>
        </p:nvSpPr>
        <p:spPr>
          <a:xfrm>
            <a:off x="131763" y="3840163"/>
            <a:ext cx="1962150" cy="519112"/>
          </a:xfrm>
          <a:prstGeom prst="rect">
            <a:avLst/>
          </a:prstGeom>
          <a:noFill/>
          <a:ln w="12700">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zh-CN" altLang="en-US" sz="2800" dirty="0">
                <a:solidFill>
                  <a:srgbClr val="FF0000"/>
                </a:solidFill>
                <a:latin typeface="Times New Roman" panose="02020603050405020304" pitchFamily="18" charset="0"/>
              </a:rPr>
              <a:t>总线仲裁！</a:t>
            </a:r>
            <a:endParaRPr lang="zh-CN" altLang="en-US" sz="2800" dirty="0">
              <a:solidFill>
                <a:srgbClr val="FF0000"/>
              </a:solidFill>
              <a:latin typeface="Times New Roman" panose="02020603050405020304" pitchFamily="18" charset="0"/>
            </a:endParaRPr>
          </a:p>
        </p:txBody>
      </p:sp>
      <p:sp>
        <p:nvSpPr>
          <p:cNvPr id="43" name="AutoShape 23"/>
          <p:cNvSpPr/>
          <p:nvPr/>
        </p:nvSpPr>
        <p:spPr>
          <a:xfrm>
            <a:off x="4713288" y="3157538"/>
            <a:ext cx="4368800" cy="2076450"/>
          </a:xfrm>
          <a:prstGeom prst="cloudCallout">
            <a:avLst>
              <a:gd name="adj1" fmla="val -16639"/>
              <a:gd name="adj2" fmla="val -6616"/>
            </a:avLst>
          </a:prstGeom>
          <a:solidFill>
            <a:srgbClr val="FFFF00"/>
          </a:solidFill>
          <a:ln w="9525">
            <a:noFill/>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solidFill>
                  <a:schemeClr val="bg2"/>
                </a:solidFill>
                <a:latin typeface="Arial" panose="020B0604020202020204" pitchFamily="34" charset="0"/>
              </a:rPr>
              <a:t>禁止中断</a:t>
            </a:r>
            <a:r>
              <a:rPr lang="en-US" altLang="zh-CN" sz="2400" dirty="0">
                <a:solidFill>
                  <a:schemeClr val="bg2"/>
                </a:solidFill>
                <a:latin typeface="Arial" panose="020B0604020202020204" pitchFamily="34" charset="0"/>
              </a:rPr>
              <a:t>(</a:t>
            </a:r>
            <a:r>
              <a:rPr lang="zh-CN" altLang="en-US" sz="2400" dirty="0">
                <a:solidFill>
                  <a:schemeClr val="bg2"/>
                </a:solidFill>
                <a:latin typeface="Arial" panose="020B0604020202020204" pitchFamily="34" charset="0"/>
              </a:rPr>
              <a:t>关中断</a:t>
            </a:r>
            <a:r>
              <a:rPr lang="en-US" altLang="zh-CN" sz="2400" dirty="0">
                <a:solidFill>
                  <a:schemeClr val="bg2"/>
                </a:solidFill>
                <a:latin typeface="Arial" panose="020B0604020202020204" pitchFamily="34" charset="0"/>
              </a:rPr>
              <a:t>)</a:t>
            </a:r>
            <a:r>
              <a:rPr lang="zh-CN" altLang="en-US" sz="2400" dirty="0">
                <a:solidFill>
                  <a:schemeClr val="bg2"/>
                </a:solidFill>
                <a:latin typeface="Arial" panose="020B0604020202020204" pitchFamily="34" charset="0"/>
              </a:rPr>
              <a:t>和中断屏蔽是同一个概念吗？若不同，其区别是什么？</a:t>
            </a:r>
            <a:endParaRPr lang="zh-CN" altLang="en-US" sz="2400" dirty="0">
              <a:solidFill>
                <a:schemeClr val="bg2"/>
              </a:solidFill>
              <a:latin typeface="Arial" panose="020B0604020202020204" pitchFamily="34"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1170"/>
                                        </p:tgtEl>
                                        <p:attrNameLst>
                                          <p:attrName>style.visibility</p:attrName>
                                        </p:attrNameLst>
                                      </p:cBhvr>
                                      <p:to>
                                        <p:strVal val="visible"/>
                                      </p:to>
                                    </p:set>
                                    <p:animEffect transition="in" filter="blinds(horizontal)">
                                      <p:cBhvr>
                                        <p:cTn id="7" dur="500"/>
                                        <p:tgtEl>
                                          <p:spTgt spid="26117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linds(horizontal)">
                                      <p:cBhvr>
                                        <p:cTn id="1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70" grpId="0"/>
      <p:bldP spid="4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Text Box 2"/>
          <p:cNvSpPr txBox="1">
            <a:spLocks noChangeArrowheads="1"/>
          </p:cNvSpPr>
          <p:nvPr/>
        </p:nvSpPr>
        <p:spPr bwMode="auto">
          <a:xfrm>
            <a:off x="447675" y="1555750"/>
            <a:ext cx="8534400" cy="5472113"/>
          </a:xfrm>
          <a:prstGeom prst="rect">
            <a:avLst/>
          </a:prstGeom>
          <a:noFill/>
          <a:ln>
            <a:noFill/>
          </a:ln>
        </p:spPr>
        <p:txBody>
          <a:bodyPr>
            <a:spAutoFit/>
          </a:bodyPr>
          <a:lstStyle>
            <a:lvl1pPr eaLnBrk="0" hangingPunct="0">
              <a:defRPr sz="2400" b="1">
                <a:solidFill>
                  <a:schemeClr val="tx2"/>
                </a:solidFill>
                <a:latin typeface="Arial" panose="020B0604020202020204" pitchFamily="34" charset="0"/>
                <a:ea typeface="宋体" panose="02010600030101010101" pitchFamily="2" charset="-122"/>
              </a:defRPr>
            </a:lvl1pPr>
            <a:lvl2pPr eaLnBrk="0" hangingPunct="0">
              <a:defRPr sz="2400" b="1">
                <a:solidFill>
                  <a:schemeClr val="tx2"/>
                </a:solidFill>
                <a:latin typeface="Arial" panose="020B0604020202020204" pitchFamily="34" charset="0"/>
                <a:ea typeface="宋体" panose="02010600030101010101" pitchFamily="2" charset="-122"/>
              </a:defRPr>
            </a:lvl2pPr>
            <a:lvl3pPr marL="1143000" indent="-228600" eaLnBrk="0" hangingPunct="0">
              <a:defRPr sz="2400" b="1">
                <a:solidFill>
                  <a:schemeClr val="tx2"/>
                </a:solidFill>
                <a:latin typeface="Arial" panose="020B0604020202020204" pitchFamily="34" charset="0"/>
                <a:ea typeface="宋体" panose="02010600030101010101" pitchFamily="2" charset="-122"/>
              </a:defRPr>
            </a:lvl3pPr>
            <a:lvl4pPr marL="1600200" indent="-228600" eaLnBrk="0" hangingPunct="0">
              <a:defRPr sz="2400" b="1">
                <a:solidFill>
                  <a:schemeClr val="tx2"/>
                </a:solidFill>
                <a:latin typeface="Arial" panose="020B0604020202020204" pitchFamily="34" charset="0"/>
                <a:ea typeface="宋体" panose="02010600030101010101" pitchFamily="2" charset="-122"/>
              </a:defRPr>
            </a:lvl4pPr>
            <a:lvl5pPr marL="2057400" indent="-228600" eaLnBrk="0" hangingPunct="0">
              <a:defRPr sz="2400" b="1">
                <a:solidFill>
                  <a:schemeClr val="tx2"/>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809625" marR="0" lvl="1" indent="-352425" algn="just" defTabSz="914400" rtl="0" eaLnBrk="1" fontAlgn="base" latinLnBrk="0" hangingPunct="1">
              <a:lnSpc>
                <a:spcPct val="95000"/>
              </a:lnSpc>
              <a:spcBef>
                <a:spcPct val="0"/>
              </a:spcBef>
              <a:spcAft>
                <a:spcPct val="0"/>
              </a:spcAft>
              <a:buClr>
                <a:schemeClr val="tx2"/>
              </a:buClr>
              <a:buSzTx/>
              <a:buFont typeface="Wingdings" panose="05000000000000000000" pitchFamily="2" charset="2"/>
              <a:buChar char="n"/>
              <a:defRPr/>
            </a:pPr>
            <a:r>
              <a:rPr kumimoji="1" lang="zh-CN" altLang="en-US" sz="2800" b="1" i="0" u="none" strike="noStrike" kern="1200" cap="none" spc="0" normalizeH="0" baseline="0" noProof="0" dirty="0" smtClean="0">
                <a:ln>
                  <a:noFill/>
                </a:ln>
                <a:solidFill>
                  <a:srgbClr val="F7F727"/>
                </a:solidFill>
                <a:effectLst/>
                <a:uLnTx/>
                <a:uFillTx/>
                <a:latin typeface="Times New Roman" panose="02020603050405020304" pitchFamily="18" charset="0"/>
                <a:ea typeface="华文新魏" panose="02010800040101010101" pitchFamily="2" charset="-122"/>
                <a:cs typeface="+mn-cs"/>
              </a:rPr>
              <a:t>单重中断系统</a:t>
            </a:r>
            <a:r>
              <a:rPr kumimoji="1"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：执行中断服务程序时，不能再响应其它中断的系统称之为单重中断系统</a:t>
            </a:r>
            <a:endParaRPr kumimoji="1"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809625" marR="0" lvl="1" indent="-352425" algn="l" defTabSz="914400" rtl="0" eaLnBrk="1" fontAlgn="base" latinLnBrk="0" hangingPunct="1">
              <a:lnSpc>
                <a:spcPct val="95000"/>
              </a:lnSpc>
              <a:spcBef>
                <a:spcPct val="0"/>
              </a:spcBef>
              <a:spcAft>
                <a:spcPct val="0"/>
              </a:spcAft>
              <a:buClrTx/>
              <a:buSzTx/>
              <a:buFontTx/>
              <a:buBlip>
                <a:blip r:embed="rId1"/>
              </a:buBlip>
              <a:defRPr/>
            </a:pPr>
            <a:r>
              <a:rPr kumimoji="1"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1" lang="zh-CN" altLang="en-US" sz="2800" b="1" i="0" u="none" strike="noStrike" kern="1200" cap="none" spc="0" normalizeH="0" baseline="0" noProof="0" dirty="0" smtClean="0">
                <a:ln>
                  <a:noFill/>
                </a:ln>
                <a:solidFill>
                  <a:srgbClr val="F7F727"/>
                </a:solidFill>
                <a:effectLst/>
                <a:uLnTx/>
                <a:uFillTx/>
                <a:latin typeface="Times New Roman" panose="02020603050405020304" pitchFamily="18" charset="0"/>
                <a:ea typeface="华文新魏" panose="02010800040101010101" pitchFamily="2" charset="-122"/>
                <a:cs typeface="+mn-cs"/>
              </a:rPr>
              <a:t>多重中断系统</a:t>
            </a:r>
            <a:r>
              <a:rPr kumimoji="1"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：执行中断服务程序时，还可响应更高优先级中断的系统称之为多重中断系统——</a:t>
            </a:r>
            <a:r>
              <a:rPr kumimoji="1" lang="zh-CN" altLang="en-US" sz="2800" b="1" i="0" u="none" strike="noStrike" kern="1200" cap="none" spc="0" normalizeH="0" baseline="0" noProof="0" dirty="0" smtClean="0">
                <a:ln>
                  <a:noFill/>
                </a:ln>
                <a:solidFill>
                  <a:srgbClr val="F7F727"/>
                </a:solidFill>
                <a:effectLst/>
                <a:uLnTx/>
                <a:uFillTx/>
                <a:latin typeface="Times New Roman" panose="02020603050405020304" pitchFamily="18" charset="0"/>
                <a:ea typeface="华文新魏" panose="02010800040101010101" pitchFamily="2" charset="-122"/>
                <a:cs typeface="+mn-cs"/>
              </a:rPr>
              <a:t>中断嵌套</a:t>
            </a:r>
            <a:endParaRPr kumimoji="1" lang="zh-CN" altLang="en-US" sz="2800" b="1" i="0" u="none" strike="noStrike" kern="1200" cap="none" spc="0" normalizeH="0" baseline="0" noProof="0" dirty="0" smtClean="0">
              <a:ln>
                <a:noFill/>
              </a:ln>
              <a:solidFill>
                <a:srgbClr val="F7F727"/>
              </a:solidFill>
              <a:effectLst/>
              <a:uLnTx/>
              <a:uFillTx/>
              <a:latin typeface="Times New Roman" panose="02020603050405020304" pitchFamily="18" charset="0"/>
              <a:ea typeface="华文新魏" panose="02010800040101010101" pitchFamily="2" charset="-122"/>
              <a:cs typeface="+mn-cs"/>
            </a:endParaRPr>
          </a:p>
          <a:p>
            <a:pPr marL="457200" marR="0" lvl="1" indent="0" algn="l" defTabSz="914400" rtl="0" eaLnBrk="1" fontAlgn="base" latinLnBrk="0" hangingPunct="1">
              <a:lnSpc>
                <a:spcPct val="95000"/>
              </a:lnSpc>
              <a:spcBef>
                <a:spcPct val="0"/>
              </a:spcBef>
              <a:spcAft>
                <a:spcPct val="0"/>
              </a:spcAft>
              <a:buClrTx/>
              <a:buSzTx/>
              <a:buFontTx/>
              <a:buBlip>
                <a:blip r:embed="rId1"/>
              </a:buBlip>
              <a:defRPr/>
            </a:pPr>
            <a:r>
              <a:rPr kumimoji="1" lang="zh-CN" altLang="en-US" sz="2800" b="1" i="0" u="none" strike="noStrike" kern="1200" cap="none" spc="0" normalizeH="0" baseline="0" noProof="0" dirty="0" smtClean="0">
                <a:ln>
                  <a:noFill/>
                </a:ln>
                <a:solidFill>
                  <a:srgbClr val="F7F727"/>
                </a:solidFill>
                <a:effectLst/>
                <a:uLnTx/>
                <a:uFillTx/>
                <a:latin typeface="Times New Roman" panose="02020603050405020304" pitchFamily="18" charset="0"/>
                <a:ea typeface="华文新魏" panose="02010800040101010101" pitchFamily="2" charset="-122"/>
                <a:cs typeface="+mn-cs"/>
              </a:rPr>
              <a:t>中断优先级的概念</a:t>
            </a:r>
            <a:endParaRPr kumimoji="1" lang="zh-CN" altLang="en-US" sz="2800" b="1" i="0" u="none" strike="noStrike" kern="1200" cap="none" spc="0" normalizeH="0" baseline="0" noProof="0" dirty="0" smtClean="0">
              <a:ln>
                <a:noFill/>
              </a:ln>
              <a:solidFill>
                <a:srgbClr val="F7F727"/>
              </a:solidFill>
              <a:effectLst/>
              <a:uLnTx/>
              <a:uFillTx/>
              <a:latin typeface="Times New Roman" panose="02020603050405020304" pitchFamily="18" charset="0"/>
              <a:ea typeface="华文新魏" panose="02010800040101010101" pitchFamily="2" charset="-122"/>
              <a:cs typeface="+mn-cs"/>
            </a:endParaRPr>
          </a:p>
          <a:p>
            <a:pPr marL="1143000" marR="0" lvl="2" indent="-228600" algn="l" defTabSz="914400" rtl="0" eaLnBrk="1" fontAlgn="base" latinLnBrk="0" hangingPunct="1">
              <a:lnSpc>
                <a:spcPct val="95000"/>
              </a:lnSpc>
              <a:spcBef>
                <a:spcPct val="0"/>
              </a:spcBef>
              <a:spcAft>
                <a:spcPct val="0"/>
              </a:spcAft>
              <a:buClr>
                <a:schemeClr val="folHlink"/>
              </a:buClr>
              <a:buSzTx/>
              <a:buFont typeface="Times New Roman" panose="02020603050405020304" pitchFamily="18" charset="0"/>
              <a:buChar char="♣"/>
              <a:defRPr/>
            </a:pPr>
            <a:r>
              <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1" lang="zh-CN" altLang="en-US" sz="2400" b="1" i="0" u="none" strike="noStrike" kern="1200" cap="none" spc="0" normalizeH="0" baseline="0" noProof="0" dirty="0" smtClean="0">
                <a:ln>
                  <a:noFill/>
                </a:ln>
                <a:solidFill>
                  <a:srgbClr val="FFFF00"/>
                </a:solidFill>
                <a:effectLst/>
                <a:uLnTx/>
                <a:uFillTx/>
                <a:latin typeface="Times New Roman" panose="02020603050405020304" pitchFamily="18" charset="0"/>
                <a:ea typeface="华文新魏" panose="02010800040101010101" pitchFamily="2" charset="-122"/>
                <a:cs typeface="+mn-cs"/>
              </a:rPr>
              <a:t> 中断响应优先级</a:t>
            </a:r>
            <a:r>
              <a:rPr kumimoji="1"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由软件查询程序或硬件优先排队电路决定。反映多个中断同时请求时，究竟选择哪个中断响应</a:t>
            </a:r>
            <a:endPar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1143000" marR="0" lvl="2" indent="-228600" algn="l" defTabSz="914400" rtl="0" eaLnBrk="1" fontAlgn="base" latinLnBrk="0" hangingPunct="1">
              <a:lnSpc>
                <a:spcPct val="95000"/>
              </a:lnSpc>
              <a:spcBef>
                <a:spcPct val="0"/>
              </a:spcBef>
              <a:spcAft>
                <a:spcPct val="0"/>
              </a:spcAft>
              <a:buClr>
                <a:schemeClr val="folHlink"/>
              </a:buClr>
              <a:buSzTx/>
              <a:buFont typeface="Times New Roman" panose="02020603050405020304" pitchFamily="18" charset="0"/>
              <a:buChar char="♣"/>
              <a:defRPr/>
            </a:pPr>
            <a:r>
              <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1" lang="zh-CN" altLang="en-US" sz="2400" b="1" i="0" u="none" strike="noStrike" kern="1200" cap="none" spc="0" normalizeH="0" baseline="0" noProof="0" dirty="0" smtClean="0">
                <a:ln>
                  <a:noFill/>
                </a:ln>
                <a:solidFill>
                  <a:srgbClr val="FFFF00"/>
                </a:solidFill>
                <a:effectLst/>
                <a:uLnTx/>
                <a:uFillTx/>
                <a:latin typeface="Times New Roman" panose="02020603050405020304" pitchFamily="18" charset="0"/>
                <a:ea typeface="华文新魏" panose="02010800040101010101" pitchFamily="2" charset="-122"/>
                <a:cs typeface="+mn-cs"/>
              </a:rPr>
              <a:t>中断处理优先级</a:t>
            </a:r>
            <a:r>
              <a:rPr kumimoji="1"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由中断服务程序动态修改各自的中断屏蔽字决定，反映本中断与其它中断之间的关系</a:t>
            </a:r>
            <a:endPar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1143000" marR="0" lvl="2" indent="-228600" algn="l" defTabSz="914400" rtl="0" eaLnBrk="1" fontAlgn="base" latinLnBrk="0" hangingPunct="1">
              <a:lnSpc>
                <a:spcPct val="95000"/>
              </a:lnSpc>
              <a:spcBef>
                <a:spcPct val="0"/>
              </a:spcBef>
              <a:spcAft>
                <a:spcPct val="0"/>
              </a:spcAft>
              <a:buClr>
                <a:schemeClr val="folHlink"/>
              </a:buClr>
              <a:buSzTx/>
              <a:buFont typeface="Times New Roman" panose="02020603050405020304" pitchFamily="18" charset="0"/>
              <a:buChar char="♣"/>
              <a:defRPr/>
            </a:pPr>
            <a:endPar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457200" marR="0" lvl="1" indent="0" algn="l" defTabSz="914400" rtl="0" eaLnBrk="1" fontAlgn="base" latinLnBrk="0" hangingPunct="1">
              <a:lnSpc>
                <a:spcPct val="95000"/>
              </a:lnSpc>
              <a:spcBef>
                <a:spcPct val="0"/>
              </a:spcBef>
              <a:spcAft>
                <a:spcPct val="0"/>
              </a:spcAft>
              <a:buClrTx/>
              <a:buSzTx/>
              <a:buFontTx/>
              <a:buBlip>
                <a:blip r:embed="rId1"/>
              </a:buBlip>
              <a:defRPr/>
            </a:pPr>
            <a:endParaRPr kumimoji="1"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0" marR="0" lvl="0" indent="0" algn="just" defTabSz="914400" rtl="0" eaLnBrk="1" fontAlgn="base" latinLnBrk="0" hangingPunct="1">
              <a:lnSpc>
                <a:spcPct val="95000"/>
              </a:lnSpc>
              <a:spcBef>
                <a:spcPct val="0"/>
              </a:spcBef>
              <a:spcAft>
                <a:spcPct val="0"/>
              </a:spcAft>
              <a:buClrTx/>
              <a:buSzTx/>
              <a:buFontTx/>
              <a:buNone/>
              <a:defRPr/>
            </a:pPr>
            <a:r>
              <a:rPr kumimoji="1" lang="zh-CN" altLang="en-US" sz="3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   </a:t>
            </a:r>
            <a:endParaRPr kumimoji="1" lang="zh-CN" altLang="en-US" sz="3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4304899" name="Text Box 3"/>
          <p:cNvSpPr txBox="1">
            <a:spLocks noChangeArrowheads="1"/>
          </p:cNvSpPr>
          <p:nvPr/>
        </p:nvSpPr>
        <p:spPr bwMode="auto">
          <a:xfrm>
            <a:off x="698500" y="207963"/>
            <a:ext cx="7848600" cy="677863"/>
          </a:xfrm>
          <a:prstGeom prst="rect">
            <a:avLst/>
          </a:prstGeom>
          <a:noFill/>
          <a:ln w="9525">
            <a:noFill/>
            <a:miter lim="800000"/>
          </a:ln>
          <a:effectLst/>
        </p:spPr>
        <p:txBody>
          <a:bodyPr>
            <a:spAutoFit/>
          </a:bodyPr>
          <a:lstStyle/>
          <a:p>
            <a:pPr marR="0" algn="ctr" defTabSz="914400" eaLnBrk="1" hangingPunct="1">
              <a:lnSpc>
                <a:spcPct val="80000"/>
              </a:lnSpc>
              <a:spcBef>
                <a:spcPct val="20000"/>
              </a:spcBef>
              <a:buClrTx/>
              <a:buSzTx/>
              <a:buFontTx/>
              <a:buNone/>
              <a:defRPr/>
            </a:pPr>
            <a:r>
              <a:rPr kumimoji="0" lang="zh-CN" altLang="en-US" sz="4800" kern="1200" cap="none" spc="0" normalizeH="0" baseline="0" noProof="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rPr>
              <a:t>回顾－中断的有关问题</a:t>
            </a:r>
            <a:r>
              <a:rPr kumimoji="1" lang="zh-CN" altLang="en-US" sz="4400" kern="1200" cap="none" spc="0" normalizeH="0" baseline="0" noProof="0">
                <a:solidFill>
                  <a:schemeClr val="tx1"/>
                </a:solidFill>
                <a:latin typeface="Times New Roman" panose="02020603050405020304" pitchFamily="18" charset="0"/>
                <a:ea typeface="宋体" panose="02010600030101010101" pitchFamily="2" charset="-122"/>
                <a:cs typeface="+mn-cs"/>
              </a:rPr>
              <a:t>            </a:t>
            </a:r>
            <a:endParaRPr kumimoji="1" lang="zh-CN" altLang="en-US" sz="4400" kern="1200" cap="none" spc="0" normalizeH="0" baseline="0" noProof="0">
              <a:solidFill>
                <a:schemeClr val="tx1"/>
              </a:solidFill>
              <a:latin typeface="Times New Roman" panose="02020603050405020304" pitchFamily="18" charset="0"/>
              <a:ea typeface="宋体" panose="02010600030101010101" pitchFamily="2" charset="-122"/>
              <a:cs typeface="+mn-cs"/>
            </a:endParaRPr>
          </a:p>
        </p:txBody>
      </p:sp>
      <p:sp>
        <p:nvSpPr>
          <p:cNvPr id="109572" name="Text Box 4"/>
          <p:cNvSpPr txBox="1"/>
          <p:nvPr/>
        </p:nvSpPr>
        <p:spPr>
          <a:xfrm>
            <a:off x="504825" y="1006475"/>
            <a:ext cx="6985000" cy="45720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75000"/>
              </a:lnSpc>
              <a:spcBef>
                <a:spcPct val="50000"/>
              </a:spcBef>
              <a:buClrTx/>
              <a:buFontTx/>
              <a:buBlip>
                <a:blip r:embed="rId2"/>
              </a:buBlip>
            </a:pPr>
            <a:r>
              <a:rPr lang="zh-CN" altLang="en-US" sz="2800" dirty="0"/>
              <a:t> </a:t>
            </a:r>
            <a:r>
              <a:rPr lang="zh-CN" altLang="en-US" sz="3200" dirty="0"/>
              <a:t>中断系统</a:t>
            </a:r>
            <a:endParaRPr lang="zh-CN" altLang="en-US" sz="3200" dirty="0"/>
          </a:p>
        </p:txBody>
      </p:sp>
      <p:sp>
        <p:nvSpPr>
          <p:cNvPr id="4304902" name="AutoShape 6"/>
          <p:cNvSpPr>
            <a:spLocks noChangeAspect="1" noChangeArrowheads="1"/>
          </p:cNvSpPr>
          <p:nvPr/>
        </p:nvSpPr>
        <p:spPr bwMode="auto">
          <a:xfrm>
            <a:off x="250825" y="4035425"/>
            <a:ext cx="8353425" cy="2854325"/>
          </a:xfrm>
          <a:prstGeom prst="rect">
            <a:avLst/>
          </a:prstGeom>
          <a:noFill/>
          <a:ln w="9525">
            <a:no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87062" name="Rectangle 22"/>
          <p:cNvSpPr/>
          <p:nvPr/>
        </p:nvSpPr>
        <p:spPr>
          <a:xfrm>
            <a:off x="1589088" y="5834063"/>
            <a:ext cx="5761037" cy="83185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400" dirty="0">
                <a:solidFill>
                  <a:srgbClr val="FFFF00"/>
                </a:solidFill>
                <a:latin typeface="Arial" panose="020B0604020202020204" pitchFamily="34" charset="0"/>
              </a:rPr>
              <a:t>中断响应优先级通常由硬件排队电路决定；而中断处理优先级由软件设置屏蔽码决定</a:t>
            </a:r>
            <a:endParaRPr lang="zh-CN" altLang="en-US" sz="2400" dirty="0">
              <a:solidFill>
                <a:srgbClr val="FFFF00"/>
              </a:solidFill>
              <a:latin typeface="Arial" panose="020B0604020202020204" pitchFamily="34" charset="0"/>
            </a:endParaRPr>
          </a:p>
        </p:txBody>
      </p:sp>
      <p:sp>
        <p:nvSpPr>
          <p:cNvPr id="2" name="椭圆形标注 1"/>
          <p:cNvSpPr/>
          <p:nvPr/>
        </p:nvSpPr>
        <p:spPr bwMode="auto">
          <a:xfrm>
            <a:off x="1463675" y="2378075"/>
            <a:ext cx="6156325" cy="3200400"/>
          </a:xfrm>
          <a:prstGeom prst="wedgeEllipseCallout">
            <a:avLst/>
          </a:prstGeom>
          <a:noFill/>
          <a:ln w="9525" cap="flat" cmpd="sng" algn="ctr">
            <a:noFill/>
            <a:prstDash val="solid"/>
            <a:round/>
            <a:headEnd type="none" w="med" len="med"/>
            <a:tailEnd type="none" w="med" len="me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9576" name="云形标注 3"/>
          <p:cNvSpPr/>
          <p:nvPr/>
        </p:nvSpPr>
        <p:spPr>
          <a:xfrm>
            <a:off x="4427538" y="3205163"/>
            <a:ext cx="4252912" cy="1265237"/>
          </a:xfrm>
          <a:prstGeom prst="cloudCallout">
            <a:avLst>
              <a:gd name="adj1" fmla="val -14250"/>
              <a:gd name="adj2" fmla="val 27028"/>
            </a:avLst>
          </a:prstGeom>
          <a:solidFill>
            <a:srgbClr val="FFFF00"/>
          </a:solid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400" dirty="0">
                <a:solidFill>
                  <a:schemeClr val="bg2"/>
                </a:solidFill>
              </a:rPr>
              <a:t>单重中断和多重中断的处理有何不同？</a:t>
            </a:r>
            <a:endParaRPr lang="zh-CN" altLang="en-US" sz="2400" dirty="0">
              <a:solidFill>
                <a:schemeClr val="bg2"/>
              </a:solidFill>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7062"/>
                                        </p:tgtEl>
                                        <p:attrNameLst>
                                          <p:attrName>style.visibility</p:attrName>
                                        </p:attrNameLst>
                                      </p:cBhvr>
                                      <p:to>
                                        <p:strVal val="visible"/>
                                      </p:to>
                                    </p:set>
                                    <p:animEffect transition="in" filter="blinds(horizontal)">
                                      <p:cBhvr>
                                        <p:cTn id="7" dur="500"/>
                                        <p:tgtEl>
                                          <p:spTgt spid="87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6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 name="Group 48"/>
          <p:cNvGrpSpPr/>
          <p:nvPr/>
        </p:nvGrpSpPr>
        <p:grpSpPr>
          <a:xfrm>
            <a:off x="4727575" y="60325"/>
            <a:ext cx="4073525" cy="6615113"/>
            <a:chOff x="2978" y="38"/>
            <a:chExt cx="2566" cy="4167"/>
          </a:xfrm>
        </p:grpSpPr>
        <p:grpSp>
          <p:nvGrpSpPr>
            <p:cNvPr id="110616" name="Group 26"/>
            <p:cNvGrpSpPr/>
            <p:nvPr/>
          </p:nvGrpSpPr>
          <p:grpSpPr>
            <a:xfrm>
              <a:off x="3276" y="38"/>
              <a:ext cx="2268" cy="4167"/>
              <a:chOff x="1824" y="-94"/>
              <a:chExt cx="2268" cy="4167"/>
            </a:xfrm>
          </p:grpSpPr>
          <p:sp>
            <p:nvSpPr>
              <p:cNvPr id="2" name="AutoShape 7"/>
              <p:cNvSpPr>
                <a:spLocks noChangeAspect="1" noChangeArrowheads="1"/>
              </p:cNvSpPr>
              <p:nvPr/>
            </p:nvSpPr>
            <p:spPr bwMode="auto">
              <a:xfrm>
                <a:off x="1824" y="589"/>
                <a:ext cx="2268" cy="3200"/>
              </a:xfrm>
              <a:prstGeom prst="rect">
                <a:avLst/>
              </a:prstGeom>
              <a:noFill/>
              <a:ln>
                <a:noFill/>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0619" name="Text Box 9"/>
              <p:cNvSpPr txBox="1"/>
              <p:nvPr/>
            </p:nvSpPr>
            <p:spPr>
              <a:xfrm>
                <a:off x="2039" y="84"/>
                <a:ext cx="1858" cy="249"/>
              </a:xfrm>
              <a:prstGeom prst="rect">
                <a:avLst/>
              </a:prstGeom>
              <a:solidFill>
                <a:schemeClr val="tx2"/>
              </a:solidFill>
              <a:ln w="12700" cap="flat" cmpd="sng">
                <a:solidFill>
                  <a:srgbClr val="000000"/>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关中断</a:t>
                </a:r>
                <a:endParaRPr lang="zh-CN" altLang="en-US" sz="2000" dirty="0"/>
              </a:p>
            </p:txBody>
          </p:sp>
          <p:sp>
            <p:nvSpPr>
              <p:cNvPr id="110620" name="Line 10"/>
              <p:cNvSpPr/>
              <p:nvPr/>
            </p:nvSpPr>
            <p:spPr>
              <a:xfrm>
                <a:off x="2999" y="-94"/>
                <a:ext cx="1" cy="166"/>
              </a:xfrm>
              <a:prstGeom prst="line">
                <a:avLst/>
              </a:prstGeom>
              <a:ln w="28575" cap="flat" cmpd="sng">
                <a:solidFill>
                  <a:srgbClr val="FFFF00"/>
                </a:solidFill>
                <a:prstDash val="solid"/>
                <a:headEnd type="none" w="med" len="med"/>
                <a:tailEnd type="arrow" w="med" len="med"/>
              </a:ln>
            </p:spPr>
          </p:sp>
          <p:sp>
            <p:nvSpPr>
              <p:cNvPr id="110621" name="Text Box 11"/>
              <p:cNvSpPr txBox="1"/>
              <p:nvPr/>
            </p:nvSpPr>
            <p:spPr>
              <a:xfrm>
                <a:off x="2054" y="487"/>
                <a:ext cx="1858" cy="249"/>
              </a:xfrm>
              <a:prstGeom prst="rect">
                <a:avLst/>
              </a:prstGeom>
              <a:solidFill>
                <a:schemeClr val="tx2"/>
              </a:solidFill>
              <a:ln w="12700" cap="flat" cmpd="sng">
                <a:solidFill>
                  <a:srgbClr val="000000"/>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保护断点</a:t>
                </a:r>
                <a:endParaRPr lang="zh-CN" altLang="en-US" sz="2000" dirty="0"/>
              </a:p>
            </p:txBody>
          </p:sp>
          <p:sp>
            <p:nvSpPr>
              <p:cNvPr id="110622" name="Text Box 12"/>
              <p:cNvSpPr txBox="1"/>
              <p:nvPr/>
            </p:nvSpPr>
            <p:spPr>
              <a:xfrm>
                <a:off x="2054" y="1334"/>
                <a:ext cx="1858" cy="250"/>
              </a:xfrm>
              <a:prstGeom prst="rect">
                <a:avLst/>
              </a:prstGeom>
              <a:solidFill>
                <a:schemeClr val="tx2"/>
              </a:solidFill>
              <a:ln w="12700" cap="flat" cmpd="sng">
                <a:solidFill>
                  <a:schemeClr val="bg2"/>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撤销本次中断请求</a:t>
                </a:r>
                <a:endParaRPr lang="zh-CN" altLang="en-US" sz="2000" dirty="0">
                  <a:solidFill>
                    <a:srgbClr val="000514"/>
                  </a:solidFill>
                </a:endParaRPr>
              </a:p>
            </p:txBody>
          </p:sp>
          <p:sp>
            <p:nvSpPr>
              <p:cNvPr id="110623" name="Text Box 13"/>
              <p:cNvSpPr txBox="1"/>
              <p:nvPr/>
            </p:nvSpPr>
            <p:spPr>
              <a:xfrm>
                <a:off x="2054" y="2200"/>
                <a:ext cx="1858" cy="249"/>
              </a:xfrm>
              <a:prstGeom prst="rect">
                <a:avLst/>
              </a:prstGeom>
              <a:solidFill>
                <a:schemeClr val="tx2"/>
              </a:solidFill>
              <a:ln w="12700" cap="flat" cmpd="sng">
                <a:solidFill>
                  <a:schemeClr val="bg2"/>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中断服务</a:t>
                </a:r>
                <a:endParaRPr lang="zh-CN" altLang="en-US" sz="2000" dirty="0"/>
              </a:p>
            </p:txBody>
          </p:sp>
          <p:sp>
            <p:nvSpPr>
              <p:cNvPr id="110624" name="Text Box 14"/>
              <p:cNvSpPr txBox="1"/>
              <p:nvPr/>
            </p:nvSpPr>
            <p:spPr>
              <a:xfrm>
                <a:off x="2054" y="2999"/>
                <a:ext cx="1858" cy="250"/>
              </a:xfrm>
              <a:prstGeom prst="rect">
                <a:avLst/>
              </a:prstGeom>
              <a:solidFill>
                <a:schemeClr val="tx2"/>
              </a:solidFill>
              <a:ln w="12700" cap="flat" cmpd="sng">
                <a:solidFill>
                  <a:schemeClr val="bg2"/>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恢复现场和旧屏蔽字</a:t>
                </a:r>
                <a:endParaRPr lang="zh-CN" altLang="en-US" sz="2000" dirty="0"/>
              </a:p>
            </p:txBody>
          </p:sp>
          <p:sp>
            <p:nvSpPr>
              <p:cNvPr id="110625" name="Text Box 15"/>
              <p:cNvSpPr txBox="1"/>
              <p:nvPr/>
            </p:nvSpPr>
            <p:spPr>
              <a:xfrm>
                <a:off x="2054" y="3415"/>
                <a:ext cx="1858" cy="249"/>
              </a:xfrm>
              <a:prstGeom prst="rect">
                <a:avLst/>
              </a:prstGeom>
              <a:solidFill>
                <a:schemeClr val="tx2"/>
              </a:solidFill>
              <a:ln w="12700" cap="flat" cmpd="sng">
                <a:solidFill>
                  <a:schemeClr val="bg2"/>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开中断</a:t>
                </a:r>
                <a:endParaRPr lang="zh-CN" altLang="en-US" sz="2000" dirty="0"/>
              </a:p>
            </p:txBody>
          </p:sp>
          <p:sp>
            <p:nvSpPr>
              <p:cNvPr id="110626" name="Text Box 16"/>
              <p:cNvSpPr txBox="1"/>
              <p:nvPr/>
            </p:nvSpPr>
            <p:spPr>
              <a:xfrm>
                <a:off x="2054" y="3824"/>
                <a:ext cx="1858" cy="249"/>
              </a:xfrm>
              <a:prstGeom prst="rect">
                <a:avLst/>
              </a:prstGeom>
              <a:solidFill>
                <a:schemeClr val="tx2"/>
              </a:solidFill>
              <a:ln w="12700" cap="flat" cmpd="sng">
                <a:solidFill>
                  <a:schemeClr val="bg2"/>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中断返回（恢复断点）</a:t>
                </a:r>
                <a:endParaRPr lang="zh-CN" altLang="en-US" sz="2000" dirty="0"/>
              </a:p>
            </p:txBody>
          </p:sp>
          <p:sp>
            <p:nvSpPr>
              <p:cNvPr id="110627" name="Line 17"/>
              <p:cNvSpPr/>
              <p:nvPr/>
            </p:nvSpPr>
            <p:spPr>
              <a:xfrm>
                <a:off x="2998" y="328"/>
                <a:ext cx="1" cy="166"/>
              </a:xfrm>
              <a:prstGeom prst="line">
                <a:avLst/>
              </a:prstGeom>
              <a:ln w="28575" cap="flat" cmpd="sng">
                <a:solidFill>
                  <a:srgbClr val="FFFF00"/>
                </a:solidFill>
                <a:prstDash val="solid"/>
                <a:headEnd type="none" w="med" len="med"/>
                <a:tailEnd type="arrow" w="med" len="med"/>
              </a:ln>
            </p:spPr>
          </p:sp>
          <p:sp>
            <p:nvSpPr>
              <p:cNvPr id="110628" name="Line 18"/>
              <p:cNvSpPr/>
              <p:nvPr/>
            </p:nvSpPr>
            <p:spPr>
              <a:xfrm>
                <a:off x="2998" y="1163"/>
                <a:ext cx="1" cy="166"/>
              </a:xfrm>
              <a:prstGeom prst="line">
                <a:avLst/>
              </a:prstGeom>
              <a:ln w="28575" cap="flat" cmpd="sng">
                <a:solidFill>
                  <a:srgbClr val="FFFF00"/>
                </a:solidFill>
                <a:prstDash val="solid"/>
                <a:headEnd type="none" w="med" len="med"/>
                <a:tailEnd type="arrow" w="med" len="med"/>
              </a:ln>
            </p:spPr>
          </p:sp>
          <p:sp>
            <p:nvSpPr>
              <p:cNvPr id="110629" name="Line 19"/>
              <p:cNvSpPr/>
              <p:nvPr/>
            </p:nvSpPr>
            <p:spPr>
              <a:xfrm>
                <a:off x="2999" y="2030"/>
                <a:ext cx="1" cy="166"/>
              </a:xfrm>
              <a:prstGeom prst="line">
                <a:avLst/>
              </a:prstGeom>
              <a:ln w="28575" cap="flat" cmpd="sng">
                <a:solidFill>
                  <a:srgbClr val="FFFF00"/>
                </a:solidFill>
                <a:prstDash val="solid"/>
                <a:headEnd type="none" w="med" len="med"/>
                <a:tailEnd type="arrow" w="med" len="med"/>
              </a:ln>
            </p:spPr>
          </p:sp>
          <p:sp>
            <p:nvSpPr>
              <p:cNvPr id="110630" name="Line 20"/>
              <p:cNvSpPr/>
              <p:nvPr/>
            </p:nvSpPr>
            <p:spPr>
              <a:xfrm>
                <a:off x="2999" y="2840"/>
                <a:ext cx="1" cy="167"/>
              </a:xfrm>
              <a:prstGeom prst="line">
                <a:avLst/>
              </a:prstGeom>
              <a:ln w="28575" cap="flat" cmpd="sng">
                <a:solidFill>
                  <a:srgbClr val="FFFF00"/>
                </a:solidFill>
                <a:prstDash val="solid"/>
                <a:headEnd type="none" w="med" len="med"/>
                <a:tailEnd type="arrow" w="med" len="med"/>
              </a:ln>
            </p:spPr>
          </p:sp>
          <p:sp>
            <p:nvSpPr>
              <p:cNvPr id="110631" name="Line 21"/>
              <p:cNvSpPr/>
              <p:nvPr/>
            </p:nvSpPr>
            <p:spPr>
              <a:xfrm>
                <a:off x="2998" y="3243"/>
                <a:ext cx="1" cy="166"/>
              </a:xfrm>
              <a:prstGeom prst="line">
                <a:avLst/>
              </a:prstGeom>
              <a:ln w="28575" cap="flat" cmpd="sng">
                <a:solidFill>
                  <a:srgbClr val="FFFF00"/>
                </a:solidFill>
                <a:prstDash val="solid"/>
                <a:headEnd type="none" w="med" len="med"/>
                <a:tailEnd type="arrow" w="med" len="med"/>
              </a:ln>
            </p:spPr>
          </p:sp>
          <p:sp>
            <p:nvSpPr>
              <p:cNvPr id="110632" name="Line 22"/>
              <p:cNvSpPr/>
              <p:nvPr/>
            </p:nvSpPr>
            <p:spPr>
              <a:xfrm>
                <a:off x="2998" y="3665"/>
                <a:ext cx="1" cy="166"/>
              </a:xfrm>
              <a:prstGeom prst="line">
                <a:avLst/>
              </a:prstGeom>
              <a:ln w="28575" cap="flat" cmpd="sng">
                <a:solidFill>
                  <a:srgbClr val="FFFF00"/>
                </a:solidFill>
                <a:prstDash val="solid"/>
                <a:headEnd type="none" w="med" len="med"/>
                <a:tailEnd type="arrow" w="med" len="med"/>
              </a:ln>
            </p:spPr>
          </p:sp>
          <p:sp>
            <p:nvSpPr>
              <p:cNvPr id="110633" name="Text Box 11"/>
              <p:cNvSpPr txBox="1"/>
              <p:nvPr/>
            </p:nvSpPr>
            <p:spPr>
              <a:xfrm>
                <a:off x="2054" y="907"/>
                <a:ext cx="1858" cy="249"/>
              </a:xfrm>
              <a:prstGeom prst="rect">
                <a:avLst/>
              </a:prstGeom>
              <a:solidFill>
                <a:schemeClr val="tx2"/>
              </a:solidFill>
              <a:ln w="12700" cap="flat" cmpd="sng">
                <a:solidFill>
                  <a:srgbClr val="000000"/>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保护现场、设新屏蔽字</a:t>
                </a:r>
                <a:endParaRPr lang="zh-CN" altLang="en-US" sz="2000" dirty="0"/>
              </a:p>
            </p:txBody>
          </p:sp>
          <p:sp>
            <p:nvSpPr>
              <p:cNvPr id="110634" name="Line 17"/>
              <p:cNvSpPr/>
              <p:nvPr/>
            </p:nvSpPr>
            <p:spPr>
              <a:xfrm>
                <a:off x="2998" y="736"/>
                <a:ext cx="1" cy="166"/>
              </a:xfrm>
              <a:prstGeom prst="line">
                <a:avLst/>
              </a:prstGeom>
              <a:ln w="28575" cap="flat" cmpd="sng">
                <a:solidFill>
                  <a:srgbClr val="FFFF00"/>
                </a:solidFill>
                <a:prstDash val="solid"/>
                <a:headEnd type="none" w="med" len="med"/>
                <a:tailEnd type="arrow" w="med" len="med"/>
              </a:ln>
            </p:spPr>
          </p:sp>
          <p:sp>
            <p:nvSpPr>
              <p:cNvPr id="110635" name="Text Box 15"/>
              <p:cNvSpPr txBox="1"/>
              <p:nvPr/>
            </p:nvSpPr>
            <p:spPr>
              <a:xfrm>
                <a:off x="2054" y="1771"/>
                <a:ext cx="1858" cy="249"/>
              </a:xfrm>
              <a:prstGeom prst="rect">
                <a:avLst/>
              </a:prstGeom>
              <a:solidFill>
                <a:schemeClr val="tx2"/>
              </a:solidFill>
              <a:ln w="12700" cap="flat" cmpd="sng">
                <a:solidFill>
                  <a:schemeClr val="bg2"/>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开中断</a:t>
                </a:r>
                <a:endParaRPr lang="zh-CN" altLang="en-US" sz="2000" dirty="0"/>
              </a:p>
            </p:txBody>
          </p:sp>
          <p:sp>
            <p:nvSpPr>
              <p:cNvPr id="110636" name="Line 21"/>
              <p:cNvSpPr/>
              <p:nvPr/>
            </p:nvSpPr>
            <p:spPr>
              <a:xfrm>
                <a:off x="2998" y="1599"/>
                <a:ext cx="1" cy="166"/>
              </a:xfrm>
              <a:prstGeom prst="line">
                <a:avLst/>
              </a:prstGeom>
              <a:ln w="28575" cap="flat" cmpd="sng">
                <a:solidFill>
                  <a:srgbClr val="FFFF00"/>
                </a:solidFill>
                <a:prstDash val="solid"/>
                <a:headEnd type="none" w="med" len="med"/>
                <a:tailEnd type="arrow" w="med" len="med"/>
              </a:ln>
            </p:spPr>
          </p:sp>
          <p:sp>
            <p:nvSpPr>
              <p:cNvPr id="110637" name="Text Box 15"/>
              <p:cNvSpPr txBox="1"/>
              <p:nvPr/>
            </p:nvSpPr>
            <p:spPr>
              <a:xfrm>
                <a:off x="2054" y="2599"/>
                <a:ext cx="1858" cy="249"/>
              </a:xfrm>
              <a:prstGeom prst="rect">
                <a:avLst/>
              </a:prstGeom>
              <a:solidFill>
                <a:schemeClr val="tx2"/>
              </a:solidFill>
              <a:ln w="12700" cap="flat" cmpd="sng">
                <a:solidFill>
                  <a:schemeClr val="bg2"/>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关中断</a:t>
                </a:r>
                <a:endParaRPr lang="zh-CN" altLang="en-US" sz="2000" dirty="0"/>
              </a:p>
            </p:txBody>
          </p:sp>
          <p:sp>
            <p:nvSpPr>
              <p:cNvPr id="110638" name="Line 21"/>
              <p:cNvSpPr/>
              <p:nvPr/>
            </p:nvSpPr>
            <p:spPr>
              <a:xfrm>
                <a:off x="2998" y="2427"/>
                <a:ext cx="1" cy="166"/>
              </a:xfrm>
              <a:prstGeom prst="line">
                <a:avLst/>
              </a:prstGeom>
              <a:ln w="28575" cap="flat" cmpd="sng">
                <a:solidFill>
                  <a:srgbClr val="FFFF00"/>
                </a:solidFill>
                <a:prstDash val="solid"/>
                <a:headEnd type="none" w="med" len="med"/>
                <a:tailEnd type="arrow" w="med" len="med"/>
              </a:ln>
            </p:spPr>
          </p:sp>
        </p:grpSp>
        <p:sp>
          <p:nvSpPr>
            <p:cNvPr id="110617" name="Rectangle 28"/>
            <p:cNvSpPr/>
            <p:nvPr/>
          </p:nvSpPr>
          <p:spPr>
            <a:xfrm>
              <a:off x="2978" y="1313"/>
              <a:ext cx="488" cy="1672"/>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solidFill>
                    <a:srgbClr val="F7F727"/>
                  </a:solidFill>
                  <a:latin typeface="Times New Roman" panose="02020603050405020304" pitchFamily="18" charset="0"/>
                </a:rPr>
                <a:t>多重中断系统</a:t>
              </a:r>
              <a:endParaRPr lang="zh-CN" altLang="en-US" sz="2800" dirty="0">
                <a:solidFill>
                  <a:srgbClr val="F7F727"/>
                </a:solidFill>
                <a:latin typeface="Times New Roman" panose="02020603050405020304" pitchFamily="18" charset="0"/>
              </a:endParaRPr>
            </a:p>
          </p:txBody>
        </p:sp>
      </p:grpSp>
      <p:grpSp>
        <p:nvGrpSpPr>
          <p:cNvPr id="5" name="组合 4"/>
          <p:cNvGrpSpPr/>
          <p:nvPr/>
        </p:nvGrpSpPr>
        <p:grpSpPr>
          <a:xfrm>
            <a:off x="498475" y="1366838"/>
            <a:ext cx="4073525" cy="5264150"/>
            <a:chOff x="498475" y="1366938"/>
            <a:chExt cx="4073525" cy="5264150"/>
          </a:xfrm>
        </p:grpSpPr>
        <p:grpSp>
          <p:nvGrpSpPr>
            <p:cNvPr id="110597" name="Group 29"/>
            <p:cNvGrpSpPr/>
            <p:nvPr/>
          </p:nvGrpSpPr>
          <p:grpSpPr>
            <a:xfrm>
              <a:off x="971550" y="1366938"/>
              <a:ext cx="3600450" cy="5264150"/>
              <a:chOff x="3492" y="817"/>
              <a:chExt cx="2268" cy="3316"/>
            </a:xfrm>
          </p:grpSpPr>
          <p:sp>
            <p:nvSpPr>
              <p:cNvPr id="4390919" name="AutoShape 7"/>
              <p:cNvSpPr>
                <a:spLocks noChangeAspect="1" noChangeArrowheads="1"/>
              </p:cNvSpPr>
              <p:nvPr/>
            </p:nvSpPr>
            <p:spPr bwMode="auto">
              <a:xfrm>
                <a:off x="3492" y="817"/>
                <a:ext cx="2268" cy="3200"/>
              </a:xfrm>
              <a:prstGeom prst="rect">
                <a:avLst/>
              </a:prstGeom>
              <a:noFill/>
              <a:ln>
                <a:noFill/>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0600" name="Text Box 9"/>
              <p:cNvSpPr txBox="1"/>
              <p:nvPr/>
            </p:nvSpPr>
            <p:spPr>
              <a:xfrm>
                <a:off x="3707" y="996"/>
                <a:ext cx="1858" cy="249"/>
              </a:xfrm>
              <a:prstGeom prst="rect">
                <a:avLst/>
              </a:prstGeom>
              <a:solidFill>
                <a:schemeClr val="tx2"/>
              </a:solidFill>
              <a:ln w="12700" cap="flat" cmpd="sng">
                <a:solidFill>
                  <a:srgbClr val="000000"/>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关中断</a:t>
                </a:r>
                <a:endParaRPr lang="zh-CN" altLang="en-US" sz="2000" dirty="0"/>
              </a:p>
            </p:txBody>
          </p:sp>
          <p:sp>
            <p:nvSpPr>
              <p:cNvPr id="110601" name="Line 10"/>
              <p:cNvSpPr/>
              <p:nvPr/>
            </p:nvSpPr>
            <p:spPr>
              <a:xfrm>
                <a:off x="4667" y="818"/>
                <a:ext cx="1" cy="166"/>
              </a:xfrm>
              <a:prstGeom prst="line">
                <a:avLst/>
              </a:prstGeom>
              <a:ln w="28575" cap="flat" cmpd="sng">
                <a:solidFill>
                  <a:srgbClr val="FFFF00"/>
                </a:solidFill>
                <a:prstDash val="solid"/>
                <a:headEnd type="none" w="med" len="med"/>
                <a:tailEnd type="arrow" w="med" len="med"/>
              </a:ln>
            </p:spPr>
          </p:sp>
          <p:sp>
            <p:nvSpPr>
              <p:cNvPr id="110602" name="Text Box 11"/>
              <p:cNvSpPr txBox="1"/>
              <p:nvPr/>
            </p:nvSpPr>
            <p:spPr>
              <a:xfrm>
                <a:off x="3722" y="1399"/>
                <a:ext cx="1858" cy="249"/>
              </a:xfrm>
              <a:prstGeom prst="rect">
                <a:avLst/>
              </a:prstGeom>
              <a:solidFill>
                <a:schemeClr val="tx2"/>
              </a:solidFill>
              <a:ln w="12700" cap="flat" cmpd="sng">
                <a:solidFill>
                  <a:srgbClr val="000000"/>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保护断点</a:t>
                </a:r>
                <a:endParaRPr lang="zh-CN" altLang="en-US" sz="2000" dirty="0"/>
              </a:p>
            </p:txBody>
          </p:sp>
          <p:sp>
            <p:nvSpPr>
              <p:cNvPr id="110603" name="Text Box 12"/>
              <p:cNvSpPr txBox="1"/>
              <p:nvPr/>
            </p:nvSpPr>
            <p:spPr>
              <a:xfrm>
                <a:off x="3722" y="2246"/>
                <a:ext cx="1858" cy="250"/>
              </a:xfrm>
              <a:prstGeom prst="rect">
                <a:avLst/>
              </a:prstGeom>
              <a:solidFill>
                <a:schemeClr val="tx2"/>
              </a:solidFill>
              <a:ln w="12700" cap="flat" cmpd="sng">
                <a:solidFill>
                  <a:schemeClr val="bg2"/>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撤销本次中断请求</a:t>
                </a:r>
                <a:endParaRPr lang="zh-CN" altLang="en-US" sz="2000" dirty="0">
                  <a:solidFill>
                    <a:srgbClr val="000514"/>
                  </a:solidFill>
                </a:endParaRPr>
              </a:p>
            </p:txBody>
          </p:sp>
          <p:sp>
            <p:nvSpPr>
              <p:cNvPr id="110604" name="Text Box 13"/>
              <p:cNvSpPr txBox="1"/>
              <p:nvPr/>
            </p:nvSpPr>
            <p:spPr>
              <a:xfrm>
                <a:off x="3722" y="2656"/>
                <a:ext cx="1858" cy="249"/>
              </a:xfrm>
              <a:prstGeom prst="rect">
                <a:avLst/>
              </a:prstGeom>
              <a:solidFill>
                <a:schemeClr val="tx2"/>
              </a:solidFill>
              <a:ln w="12700" cap="flat" cmpd="sng">
                <a:solidFill>
                  <a:schemeClr val="bg2"/>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中断服务</a:t>
                </a:r>
                <a:endParaRPr lang="zh-CN" altLang="en-US" sz="2000" dirty="0"/>
              </a:p>
            </p:txBody>
          </p:sp>
          <p:sp>
            <p:nvSpPr>
              <p:cNvPr id="110605" name="Text Box 14"/>
              <p:cNvSpPr txBox="1"/>
              <p:nvPr/>
            </p:nvSpPr>
            <p:spPr>
              <a:xfrm>
                <a:off x="3722" y="3059"/>
                <a:ext cx="1858" cy="250"/>
              </a:xfrm>
              <a:prstGeom prst="rect">
                <a:avLst/>
              </a:prstGeom>
              <a:solidFill>
                <a:schemeClr val="tx2"/>
              </a:solidFill>
              <a:ln w="12700" cap="flat" cmpd="sng">
                <a:solidFill>
                  <a:schemeClr val="bg2"/>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恢复现场</a:t>
                </a:r>
                <a:endParaRPr lang="zh-CN" altLang="en-US" sz="2000" dirty="0"/>
              </a:p>
            </p:txBody>
          </p:sp>
          <p:sp>
            <p:nvSpPr>
              <p:cNvPr id="110606" name="Text Box 15"/>
              <p:cNvSpPr txBox="1"/>
              <p:nvPr/>
            </p:nvSpPr>
            <p:spPr>
              <a:xfrm>
                <a:off x="3722" y="3475"/>
                <a:ext cx="1858" cy="249"/>
              </a:xfrm>
              <a:prstGeom prst="rect">
                <a:avLst/>
              </a:prstGeom>
              <a:solidFill>
                <a:schemeClr val="tx2"/>
              </a:solidFill>
              <a:ln w="12700" cap="flat" cmpd="sng">
                <a:solidFill>
                  <a:schemeClr val="bg2"/>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开中断</a:t>
                </a:r>
                <a:endParaRPr lang="zh-CN" altLang="en-US" sz="2000" dirty="0"/>
              </a:p>
            </p:txBody>
          </p:sp>
          <p:sp>
            <p:nvSpPr>
              <p:cNvPr id="110607" name="Text Box 16"/>
              <p:cNvSpPr txBox="1"/>
              <p:nvPr/>
            </p:nvSpPr>
            <p:spPr>
              <a:xfrm>
                <a:off x="3722" y="3884"/>
                <a:ext cx="1858" cy="249"/>
              </a:xfrm>
              <a:prstGeom prst="rect">
                <a:avLst/>
              </a:prstGeom>
              <a:solidFill>
                <a:schemeClr val="tx2"/>
              </a:solidFill>
              <a:ln w="12700" cap="flat" cmpd="sng">
                <a:solidFill>
                  <a:schemeClr val="bg2"/>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中断返回（恢复断点）</a:t>
                </a:r>
                <a:endParaRPr lang="zh-CN" altLang="en-US" sz="2000" dirty="0"/>
              </a:p>
            </p:txBody>
          </p:sp>
          <p:sp>
            <p:nvSpPr>
              <p:cNvPr id="110608" name="Line 17"/>
              <p:cNvSpPr/>
              <p:nvPr/>
            </p:nvSpPr>
            <p:spPr>
              <a:xfrm>
                <a:off x="4666" y="1240"/>
                <a:ext cx="1" cy="166"/>
              </a:xfrm>
              <a:prstGeom prst="line">
                <a:avLst/>
              </a:prstGeom>
              <a:ln w="28575" cap="flat" cmpd="sng">
                <a:solidFill>
                  <a:srgbClr val="FFFF00"/>
                </a:solidFill>
                <a:prstDash val="solid"/>
                <a:headEnd type="none" w="med" len="med"/>
                <a:tailEnd type="arrow" w="med" len="med"/>
              </a:ln>
            </p:spPr>
          </p:sp>
          <p:sp>
            <p:nvSpPr>
              <p:cNvPr id="110609" name="Line 18"/>
              <p:cNvSpPr/>
              <p:nvPr/>
            </p:nvSpPr>
            <p:spPr>
              <a:xfrm>
                <a:off x="4666" y="2075"/>
                <a:ext cx="1" cy="166"/>
              </a:xfrm>
              <a:prstGeom prst="line">
                <a:avLst/>
              </a:prstGeom>
              <a:ln w="28575" cap="flat" cmpd="sng">
                <a:solidFill>
                  <a:srgbClr val="FFFF00"/>
                </a:solidFill>
                <a:prstDash val="solid"/>
                <a:headEnd type="none" w="med" len="med"/>
                <a:tailEnd type="arrow" w="med" len="med"/>
              </a:ln>
            </p:spPr>
          </p:sp>
          <p:sp>
            <p:nvSpPr>
              <p:cNvPr id="110610" name="Line 19"/>
              <p:cNvSpPr/>
              <p:nvPr/>
            </p:nvSpPr>
            <p:spPr>
              <a:xfrm>
                <a:off x="4667" y="2486"/>
                <a:ext cx="1" cy="166"/>
              </a:xfrm>
              <a:prstGeom prst="line">
                <a:avLst/>
              </a:prstGeom>
              <a:ln w="28575" cap="flat" cmpd="sng">
                <a:solidFill>
                  <a:srgbClr val="FFFF00"/>
                </a:solidFill>
                <a:prstDash val="solid"/>
                <a:headEnd type="none" w="med" len="med"/>
                <a:tailEnd type="arrow" w="med" len="med"/>
              </a:ln>
            </p:spPr>
          </p:sp>
          <p:sp>
            <p:nvSpPr>
              <p:cNvPr id="110611" name="Line 20"/>
              <p:cNvSpPr/>
              <p:nvPr/>
            </p:nvSpPr>
            <p:spPr>
              <a:xfrm>
                <a:off x="4667" y="2900"/>
                <a:ext cx="1" cy="167"/>
              </a:xfrm>
              <a:prstGeom prst="line">
                <a:avLst/>
              </a:prstGeom>
              <a:ln w="28575" cap="flat" cmpd="sng">
                <a:solidFill>
                  <a:srgbClr val="FFFF00"/>
                </a:solidFill>
                <a:prstDash val="solid"/>
                <a:headEnd type="none" w="med" len="med"/>
                <a:tailEnd type="arrow" w="med" len="med"/>
              </a:ln>
            </p:spPr>
          </p:sp>
          <p:sp>
            <p:nvSpPr>
              <p:cNvPr id="110612" name="Line 21"/>
              <p:cNvSpPr/>
              <p:nvPr/>
            </p:nvSpPr>
            <p:spPr>
              <a:xfrm>
                <a:off x="4666" y="3303"/>
                <a:ext cx="1" cy="166"/>
              </a:xfrm>
              <a:prstGeom prst="line">
                <a:avLst/>
              </a:prstGeom>
              <a:ln w="28575" cap="flat" cmpd="sng">
                <a:solidFill>
                  <a:srgbClr val="FFFF00"/>
                </a:solidFill>
                <a:prstDash val="solid"/>
                <a:headEnd type="none" w="med" len="med"/>
                <a:tailEnd type="arrow" w="med" len="med"/>
              </a:ln>
            </p:spPr>
          </p:sp>
          <p:sp>
            <p:nvSpPr>
              <p:cNvPr id="110613" name="Line 22"/>
              <p:cNvSpPr/>
              <p:nvPr/>
            </p:nvSpPr>
            <p:spPr>
              <a:xfrm>
                <a:off x="4666" y="3725"/>
                <a:ext cx="1" cy="166"/>
              </a:xfrm>
              <a:prstGeom prst="line">
                <a:avLst/>
              </a:prstGeom>
              <a:ln w="28575" cap="flat" cmpd="sng">
                <a:solidFill>
                  <a:srgbClr val="FFFF00"/>
                </a:solidFill>
                <a:prstDash val="solid"/>
                <a:headEnd type="none" w="med" len="med"/>
                <a:tailEnd type="arrow" w="med" len="med"/>
              </a:ln>
            </p:spPr>
          </p:sp>
          <p:sp>
            <p:nvSpPr>
              <p:cNvPr id="110614" name="Text Box 11"/>
              <p:cNvSpPr txBox="1"/>
              <p:nvPr/>
            </p:nvSpPr>
            <p:spPr>
              <a:xfrm>
                <a:off x="3722" y="1819"/>
                <a:ext cx="1858" cy="249"/>
              </a:xfrm>
              <a:prstGeom prst="rect">
                <a:avLst/>
              </a:prstGeom>
              <a:solidFill>
                <a:schemeClr val="tx2"/>
              </a:solidFill>
              <a:ln w="12700" cap="flat" cmpd="sng">
                <a:solidFill>
                  <a:srgbClr val="000000"/>
                </a:solidFill>
                <a:prstDash val="solid"/>
                <a:miter/>
                <a:headEnd type="none" w="med" len="med"/>
                <a:tailEnd type="none" w="med" len="med"/>
              </a:ln>
            </p:spPr>
            <p:txBody>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000" dirty="0">
                    <a:solidFill>
                      <a:srgbClr val="000514"/>
                    </a:solidFill>
                  </a:rPr>
                  <a:t>保护现场</a:t>
                </a:r>
                <a:endParaRPr lang="zh-CN" altLang="en-US" sz="2000" dirty="0"/>
              </a:p>
            </p:txBody>
          </p:sp>
          <p:sp>
            <p:nvSpPr>
              <p:cNvPr id="110615" name="Line 17"/>
              <p:cNvSpPr/>
              <p:nvPr/>
            </p:nvSpPr>
            <p:spPr>
              <a:xfrm>
                <a:off x="4666" y="1648"/>
                <a:ext cx="1" cy="166"/>
              </a:xfrm>
              <a:prstGeom prst="line">
                <a:avLst/>
              </a:prstGeom>
              <a:ln w="28575" cap="flat" cmpd="sng">
                <a:solidFill>
                  <a:srgbClr val="FFFF00"/>
                </a:solidFill>
                <a:prstDash val="solid"/>
                <a:headEnd type="none" w="med" len="med"/>
                <a:tailEnd type="arrow" w="med" len="med"/>
              </a:ln>
            </p:spPr>
          </p:sp>
        </p:grpSp>
        <p:sp>
          <p:nvSpPr>
            <p:cNvPr id="110598" name="Rectangle 47"/>
            <p:cNvSpPr/>
            <p:nvPr/>
          </p:nvSpPr>
          <p:spPr>
            <a:xfrm>
              <a:off x="498475" y="2122488"/>
              <a:ext cx="774700" cy="265430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solidFill>
                    <a:srgbClr val="F7F727"/>
                  </a:solidFill>
                  <a:latin typeface="Times New Roman" panose="02020603050405020304" pitchFamily="18" charset="0"/>
                </a:rPr>
                <a:t>单重中断系统</a:t>
              </a:r>
              <a:endParaRPr lang="zh-CN" altLang="en-US" sz="2800" dirty="0">
                <a:solidFill>
                  <a:srgbClr val="F7F727"/>
                </a:solidFill>
                <a:latin typeface="Times New Roman" panose="02020603050405020304" pitchFamily="18" charset="0"/>
              </a:endParaRPr>
            </a:p>
          </p:txBody>
        </p:sp>
      </p:grpSp>
      <p:sp>
        <p:nvSpPr>
          <p:cNvPr id="110596" name="Text Box 4"/>
          <p:cNvSpPr txBox="1"/>
          <p:nvPr/>
        </p:nvSpPr>
        <p:spPr>
          <a:xfrm>
            <a:off x="269875" y="633413"/>
            <a:ext cx="6985000" cy="461962"/>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75000"/>
              </a:lnSpc>
              <a:spcBef>
                <a:spcPct val="50000"/>
              </a:spcBef>
              <a:buClrTx/>
              <a:buFontTx/>
              <a:buBlip>
                <a:blip r:embed="rId1"/>
              </a:buBlip>
            </a:pPr>
            <a:r>
              <a:rPr lang="zh-CN" altLang="en-US" sz="3200" dirty="0"/>
              <a:t> 单重中断与多重中断处理</a:t>
            </a:r>
            <a:endParaRPr lang="zh-CN" altLang="en-US" sz="3200"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90917" name="Text Box 5"/>
          <p:cNvSpPr txBox="1">
            <a:spLocks noGrp="1" noChangeArrowheads="1"/>
          </p:cNvSpPr>
          <p:nvPr>
            <p:ph type="title" idx="4294967295"/>
          </p:nvPr>
        </p:nvSpPr>
        <p:spPr>
          <a:xfrm>
            <a:off x="381000" y="263525"/>
            <a:ext cx="8393113" cy="714375"/>
          </a:xfrm>
        </p:spPr>
        <p:txBody>
          <a:bodyPr wrap="square" lIns="91440" tIns="45720" rIns="91440" bIns="45720" numCol="1" anchor="t" anchorCtr="0" compatLnSpc="1">
            <a:spAutoFit/>
          </a:bodyPr>
          <a:lstStyle/>
          <a:p>
            <a:pPr marL="0" marR="0" lvl="0" indent="0" algn="ctr" defTabSz="914400" rtl="0" eaLnBrk="1" fontAlgn="base" latinLnBrk="0" hangingPunct="1">
              <a:lnSpc>
                <a:spcPct val="80000"/>
              </a:lnSpc>
              <a:spcBef>
                <a:spcPct val="2000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a:t>
            </a:r>
            <a:r>
              <a:rPr kumimoji="0" lang="en-US" altLang="zh-CN"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DMA</a:t>
            </a: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的有关问题</a:t>
            </a:r>
            <a:r>
              <a:rPr kumimoji="1" lang="zh-CN" altLang="en-US" sz="4800" b="1" i="0" u="none" strike="noStrike" kern="0" cap="none" spc="0" normalizeH="0" baseline="0" noProof="0" smtClean="0">
                <a:ln>
                  <a:noFill/>
                </a:ln>
                <a:solidFill>
                  <a:srgbClr val="FF0000"/>
                </a:solidFill>
                <a:effectLst/>
                <a:uLnTx/>
                <a:uFillTx/>
                <a:latin typeface="+mj-lt"/>
                <a:ea typeface="+mj-ea"/>
                <a:cs typeface="+mj-cs"/>
              </a:rPr>
              <a:t>            </a:t>
            </a:r>
            <a:endParaRPr kumimoji="1" lang="zh-CN" altLang="en-US" sz="4800" b="1" i="0" u="none" strike="noStrike" kern="0" cap="none" spc="0" normalizeH="0" baseline="0" noProof="0" smtClean="0">
              <a:ln>
                <a:noFill/>
              </a:ln>
              <a:solidFill>
                <a:srgbClr val="FF0000"/>
              </a:solidFill>
              <a:effectLst/>
              <a:uLnTx/>
              <a:uFillTx/>
              <a:latin typeface="+mj-lt"/>
              <a:ea typeface="+mj-ea"/>
              <a:cs typeface="+mj-cs"/>
            </a:endParaRPr>
          </a:p>
        </p:txBody>
      </p:sp>
      <p:sp>
        <p:nvSpPr>
          <p:cNvPr id="250887" name="Rectangle 7"/>
          <p:cNvSpPr>
            <a:spLocks noGrp="1"/>
          </p:cNvSpPr>
          <p:nvPr>
            <p:ph idx="1"/>
          </p:nvPr>
        </p:nvSpPr>
        <p:spPr>
          <a:xfrm>
            <a:off x="427038" y="1158875"/>
            <a:ext cx="8482012" cy="5283200"/>
          </a:xfrm>
          <a:ln/>
        </p:spPr>
        <p:txBody>
          <a:bodyPr vert="horz" wrap="square" lIns="91440" tIns="45720" rIns="91440" bIns="45720" anchor="t" anchorCtr="0">
            <a:spAutoFit/>
          </a:bodyPr>
          <a:p>
            <a:pPr>
              <a:lnSpc>
                <a:spcPct val="110000"/>
              </a:lnSpc>
              <a:spcBef>
                <a:spcPct val="0"/>
              </a:spcBef>
            </a:pPr>
            <a:r>
              <a:rPr lang="en-US" altLang="zh-CN" sz="2800" dirty="0">
                <a:latin typeface="Times New Roman" panose="02020603050405020304" pitchFamily="18" charset="0"/>
              </a:rPr>
              <a:t>DMA</a:t>
            </a:r>
            <a:r>
              <a:rPr lang="zh-CN" altLang="en-US" sz="2800" dirty="0">
                <a:latin typeface="Times New Roman" panose="02020603050405020304" pitchFamily="18" charset="0"/>
              </a:rPr>
              <a:t>方式的基本思想</a:t>
            </a:r>
            <a:endParaRPr lang="zh-CN" altLang="en-US" sz="2800" dirty="0">
              <a:latin typeface="Times New Roman" panose="02020603050405020304" pitchFamily="18" charset="0"/>
            </a:endParaRPr>
          </a:p>
          <a:p>
            <a:pPr lvl="1">
              <a:lnSpc>
                <a:spcPct val="110000"/>
              </a:lnSpc>
              <a:spcBef>
                <a:spcPct val="0"/>
              </a:spcBef>
            </a:pPr>
            <a:r>
              <a:rPr lang="zh-CN" altLang="en-US" sz="2400" dirty="0">
                <a:latin typeface="Times New Roman" panose="02020603050405020304" pitchFamily="18" charset="0"/>
              </a:rPr>
              <a:t>在高速外设和主存之间直接传送数据</a:t>
            </a:r>
            <a:endParaRPr lang="zh-CN" altLang="en-US" sz="2400" dirty="0">
              <a:latin typeface="Times New Roman" panose="02020603050405020304" pitchFamily="18" charset="0"/>
            </a:endParaRPr>
          </a:p>
          <a:p>
            <a:pPr lvl="1">
              <a:lnSpc>
                <a:spcPct val="110000"/>
              </a:lnSpc>
              <a:spcBef>
                <a:spcPct val="0"/>
              </a:spcBef>
            </a:pPr>
            <a:r>
              <a:rPr lang="zh-CN" altLang="en-US" sz="2400" dirty="0">
                <a:latin typeface="Times New Roman" panose="02020603050405020304" pitchFamily="18" charset="0"/>
              </a:rPr>
              <a:t>由专门硬件</a:t>
            </a:r>
            <a:r>
              <a:rPr lang="en-US" altLang="zh-CN" sz="2400" dirty="0">
                <a:latin typeface="Times New Roman" panose="02020603050405020304" pitchFamily="18" charset="0"/>
              </a:rPr>
              <a:t>(</a:t>
            </a:r>
            <a:r>
              <a:rPr lang="zh-CN" altLang="en-US" sz="2400" dirty="0">
                <a:latin typeface="Times New Roman" panose="02020603050405020304" pitchFamily="18" charset="0"/>
              </a:rPr>
              <a:t>即：</a:t>
            </a:r>
            <a:r>
              <a:rPr lang="en-US" altLang="zh-CN" sz="2400" dirty="0">
                <a:latin typeface="Times New Roman" panose="02020603050405020304" pitchFamily="18" charset="0"/>
              </a:rPr>
              <a:t>DMA</a:t>
            </a:r>
            <a:r>
              <a:rPr lang="zh-CN" altLang="en-US" sz="2400" dirty="0">
                <a:latin typeface="Times New Roman" panose="02020603050405020304" pitchFamily="18" charset="0"/>
              </a:rPr>
              <a:t>接口</a:t>
            </a:r>
            <a:r>
              <a:rPr lang="en-US" altLang="zh-CN" sz="2400" dirty="0">
                <a:latin typeface="Times New Roman" panose="02020603050405020304" pitchFamily="18" charset="0"/>
              </a:rPr>
              <a:t>)</a:t>
            </a:r>
            <a:r>
              <a:rPr lang="zh-CN" altLang="en-US" sz="2400" dirty="0">
                <a:latin typeface="Times New Roman" panose="02020603050405020304" pitchFamily="18" charset="0"/>
              </a:rPr>
              <a:t>控制总线进行传输</a:t>
            </a:r>
            <a:endParaRPr lang="zh-CN" altLang="en-US" sz="2400" dirty="0">
              <a:latin typeface="Times New Roman" panose="02020603050405020304" pitchFamily="18" charset="0"/>
            </a:endParaRPr>
          </a:p>
          <a:p>
            <a:pPr>
              <a:lnSpc>
                <a:spcPct val="110000"/>
              </a:lnSpc>
              <a:spcBef>
                <a:spcPct val="0"/>
              </a:spcBef>
            </a:pPr>
            <a:r>
              <a:rPr lang="en-US" altLang="zh-CN" sz="2800" dirty="0">
                <a:latin typeface="Times New Roman" panose="02020603050405020304" pitchFamily="18" charset="0"/>
              </a:rPr>
              <a:t>DMA</a:t>
            </a:r>
            <a:r>
              <a:rPr lang="zh-CN" altLang="en-US" sz="2800" dirty="0">
                <a:latin typeface="Times New Roman" panose="02020603050405020304" pitchFamily="18" charset="0"/>
              </a:rPr>
              <a:t>的三种数据传送方式</a:t>
            </a:r>
            <a:endParaRPr lang="zh-CN" altLang="en-US" sz="2800" dirty="0">
              <a:latin typeface="Times New Roman" panose="02020603050405020304" pitchFamily="18" charset="0"/>
            </a:endParaRPr>
          </a:p>
          <a:p>
            <a:pPr lvl="1">
              <a:lnSpc>
                <a:spcPct val="110000"/>
              </a:lnSpc>
              <a:spcBef>
                <a:spcPct val="0"/>
              </a:spcBef>
              <a:buNone/>
            </a:pPr>
            <a:r>
              <a:rPr lang="en-US" altLang="zh-CN" sz="2400" dirty="0">
                <a:latin typeface="Times New Roman" panose="02020603050405020304" pitchFamily="18" charset="0"/>
              </a:rPr>
              <a:t>(1) CPU</a:t>
            </a:r>
            <a:r>
              <a:rPr lang="zh-CN" altLang="en-US" sz="2400" dirty="0">
                <a:latin typeface="Times New Roman" panose="02020603050405020304" pitchFamily="18" charset="0"/>
              </a:rPr>
              <a:t>停止法</a:t>
            </a:r>
            <a:r>
              <a:rPr lang="en-US" altLang="zh-CN" sz="2400" dirty="0">
                <a:latin typeface="Times New Roman" panose="02020603050405020304" pitchFamily="18" charset="0"/>
              </a:rPr>
              <a:t>(</a:t>
            </a:r>
            <a:r>
              <a:rPr lang="zh-CN" altLang="en-US" sz="2400" dirty="0">
                <a:latin typeface="Times New Roman" panose="02020603050405020304" pitchFamily="18" charset="0"/>
              </a:rPr>
              <a:t>成组传送</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a:lnSpc>
                <a:spcPct val="110000"/>
              </a:lnSpc>
              <a:spcBef>
                <a:spcPct val="0"/>
              </a:spcBef>
              <a:buNone/>
            </a:pPr>
            <a:r>
              <a:rPr lang="en-US" altLang="zh-CN" sz="2400" dirty="0">
                <a:latin typeface="Times New Roman" panose="02020603050405020304" pitchFamily="18" charset="0"/>
              </a:rPr>
              <a:t>    </a:t>
            </a:r>
            <a:r>
              <a:rPr lang="en-US" altLang="zh-CN" sz="2200" dirty="0">
                <a:latin typeface="Times New Roman" panose="02020603050405020304" pitchFamily="18" charset="0"/>
              </a:rPr>
              <a:t>DMA</a:t>
            </a:r>
            <a:r>
              <a:rPr lang="zh-CN" altLang="en-US" sz="2200" dirty="0">
                <a:latin typeface="Times New Roman" panose="02020603050405020304" pitchFamily="18" charset="0"/>
              </a:rPr>
              <a:t>传输时，</a:t>
            </a:r>
            <a:r>
              <a:rPr lang="en-US" altLang="zh-CN" sz="2200" dirty="0">
                <a:latin typeface="Times New Roman" panose="02020603050405020304" pitchFamily="18" charset="0"/>
              </a:rPr>
              <a:t>CPU</a:t>
            </a:r>
            <a:r>
              <a:rPr lang="zh-CN" altLang="en-US" sz="2200" dirty="0">
                <a:latin typeface="Times New Roman" panose="02020603050405020304" pitchFamily="18" charset="0"/>
              </a:rPr>
              <a:t>脱离总线，停止访问主存，直到</a:t>
            </a:r>
            <a:r>
              <a:rPr lang="en-US" altLang="zh-CN" sz="2200" dirty="0">
                <a:latin typeface="Times New Roman" panose="02020603050405020304" pitchFamily="18" charset="0"/>
              </a:rPr>
              <a:t>DMA</a:t>
            </a:r>
            <a:r>
              <a:rPr lang="zh-CN" altLang="en-US" sz="2200" dirty="0">
                <a:latin typeface="Times New Roman" panose="02020603050405020304" pitchFamily="18" charset="0"/>
              </a:rPr>
              <a:t>传送</a:t>
            </a:r>
            <a:endParaRPr lang="zh-CN" altLang="en-US" sz="2200" dirty="0">
              <a:latin typeface="Times New Roman" panose="02020603050405020304" pitchFamily="18" charset="0"/>
            </a:endParaRPr>
          </a:p>
          <a:p>
            <a:pPr lvl="1">
              <a:lnSpc>
                <a:spcPct val="110000"/>
              </a:lnSpc>
              <a:spcBef>
                <a:spcPct val="0"/>
              </a:spcBef>
              <a:buNone/>
            </a:pPr>
            <a:r>
              <a:rPr lang="zh-CN" altLang="en-US" sz="2200" dirty="0">
                <a:latin typeface="Times New Roman" panose="02020603050405020304" pitchFamily="18" charset="0"/>
              </a:rPr>
              <a:t>一块数据结束</a:t>
            </a:r>
            <a:endParaRPr lang="zh-CN" altLang="en-US" sz="2200" dirty="0">
              <a:latin typeface="Times New Roman" panose="02020603050405020304" pitchFamily="18" charset="0"/>
            </a:endParaRPr>
          </a:p>
          <a:p>
            <a:pPr lvl="1">
              <a:lnSpc>
                <a:spcPct val="110000"/>
              </a:lnSpc>
              <a:spcBef>
                <a:spcPct val="0"/>
              </a:spcBef>
              <a:buNone/>
            </a:pPr>
            <a:r>
              <a:rPr lang="en-US" altLang="zh-CN" sz="2400" dirty="0">
                <a:latin typeface="Times New Roman" panose="02020603050405020304" pitchFamily="18" charset="0"/>
              </a:rPr>
              <a:t>(2) </a:t>
            </a:r>
            <a:r>
              <a:rPr lang="zh-CN" altLang="en-US" sz="2400" dirty="0">
                <a:latin typeface="Times New Roman" panose="02020603050405020304" pitchFamily="18" charset="0"/>
              </a:rPr>
              <a:t>周期挪用</a:t>
            </a:r>
            <a:r>
              <a:rPr lang="en-US" altLang="zh-CN" sz="2400" dirty="0">
                <a:latin typeface="Times New Roman" panose="02020603050405020304" pitchFamily="18" charset="0"/>
              </a:rPr>
              <a:t>(</a:t>
            </a:r>
            <a:r>
              <a:rPr lang="zh-CN" altLang="en-US" sz="2400" dirty="0">
                <a:latin typeface="Times New Roman" panose="02020603050405020304" pitchFamily="18" charset="0"/>
              </a:rPr>
              <a:t>窃取</a:t>
            </a:r>
            <a:r>
              <a:rPr lang="en-US" altLang="zh-CN" sz="2400" dirty="0">
                <a:latin typeface="Times New Roman" panose="02020603050405020304" pitchFamily="18" charset="0"/>
              </a:rPr>
              <a:t>)</a:t>
            </a:r>
            <a:r>
              <a:rPr lang="zh-CN" altLang="en-US" sz="2400" dirty="0">
                <a:latin typeface="Times New Roman" panose="02020603050405020304" pitchFamily="18" charset="0"/>
              </a:rPr>
              <a:t>法</a:t>
            </a:r>
            <a:r>
              <a:rPr lang="en-US" altLang="zh-CN" sz="2400" dirty="0">
                <a:latin typeface="Times New Roman" panose="02020603050405020304" pitchFamily="18" charset="0"/>
              </a:rPr>
              <a:t>(</a:t>
            </a:r>
            <a:r>
              <a:rPr lang="zh-CN" altLang="en-US" sz="2400" dirty="0">
                <a:latin typeface="Times New Roman" panose="02020603050405020304" pitchFamily="18" charset="0"/>
              </a:rPr>
              <a:t>单字传送</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a:lnSpc>
                <a:spcPct val="110000"/>
              </a:lnSpc>
              <a:spcBef>
                <a:spcPct val="0"/>
              </a:spcBef>
              <a:buNone/>
            </a:pPr>
            <a:r>
              <a:rPr lang="en-US" altLang="zh-CN" sz="2200" dirty="0">
                <a:latin typeface="Times New Roman" panose="02020603050405020304" pitchFamily="18" charset="0"/>
              </a:rPr>
              <a:t>    DMA</a:t>
            </a:r>
            <a:r>
              <a:rPr lang="zh-CN" altLang="en-US" sz="2200" dirty="0">
                <a:latin typeface="Times New Roman" panose="02020603050405020304" pitchFamily="18" charset="0"/>
              </a:rPr>
              <a:t>传输时，</a:t>
            </a:r>
            <a:r>
              <a:rPr lang="en-US" altLang="zh-CN" sz="2200" dirty="0">
                <a:latin typeface="Times New Roman" panose="02020603050405020304" pitchFamily="18" charset="0"/>
              </a:rPr>
              <a:t>CPU</a:t>
            </a:r>
            <a:r>
              <a:rPr lang="zh-CN" altLang="en-US" sz="2200" dirty="0">
                <a:latin typeface="Times New Roman" panose="02020603050405020304" pitchFamily="18" charset="0"/>
              </a:rPr>
              <a:t>让出一个总线事务周期，由</a:t>
            </a:r>
            <a:r>
              <a:rPr lang="en-US" altLang="zh-CN" sz="2200" dirty="0">
                <a:latin typeface="Times New Roman" panose="02020603050405020304" pitchFamily="18" charset="0"/>
              </a:rPr>
              <a:t>DMA</a:t>
            </a:r>
            <a:r>
              <a:rPr lang="zh-CN" altLang="en-US" sz="2200" dirty="0">
                <a:latin typeface="Times New Roman" panose="02020603050405020304" pitchFamily="18" charset="0"/>
              </a:rPr>
              <a:t>控制总线</a:t>
            </a:r>
            <a:endParaRPr lang="zh-CN" altLang="en-US" sz="2200" dirty="0">
              <a:latin typeface="Times New Roman" panose="02020603050405020304" pitchFamily="18" charset="0"/>
            </a:endParaRPr>
          </a:p>
          <a:p>
            <a:pPr lvl="1">
              <a:lnSpc>
                <a:spcPct val="110000"/>
              </a:lnSpc>
              <a:spcBef>
                <a:spcPct val="0"/>
              </a:spcBef>
              <a:buNone/>
            </a:pPr>
            <a:r>
              <a:rPr lang="zh-CN" altLang="en-US" sz="2200" dirty="0">
                <a:latin typeface="Times New Roman" panose="02020603050405020304" pitchFamily="18" charset="0"/>
              </a:rPr>
              <a:t>来访问主存，传送完一个数据后立即释放总线</a:t>
            </a:r>
            <a:endParaRPr lang="zh-CN" altLang="en-US" sz="2200" dirty="0">
              <a:latin typeface="Times New Roman" panose="02020603050405020304" pitchFamily="18" charset="0"/>
            </a:endParaRPr>
          </a:p>
          <a:p>
            <a:pPr lvl="1">
              <a:lnSpc>
                <a:spcPct val="110000"/>
              </a:lnSpc>
              <a:spcBef>
                <a:spcPct val="0"/>
              </a:spcBef>
              <a:buNone/>
            </a:pPr>
            <a:r>
              <a:rPr lang="en-US" altLang="zh-CN" sz="2400" dirty="0">
                <a:latin typeface="Times New Roman" panose="02020603050405020304" pitchFamily="18" charset="0"/>
              </a:rPr>
              <a:t>(3)</a:t>
            </a:r>
            <a:r>
              <a:rPr lang="zh-CN" altLang="en-US" sz="2400" dirty="0">
                <a:latin typeface="Times New Roman" panose="02020603050405020304" pitchFamily="18" charset="0"/>
              </a:rPr>
              <a:t>交替分时访问法</a:t>
            </a:r>
            <a:endParaRPr lang="zh-CN" altLang="en-US" sz="2400" dirty="0">
              <a:latin typeface="Times New Roman" panose="02020603050405020304" pitchFamily="18" charset="0"/>
            </a:endParaRPr>
          </a:p>
          <a:p>
            <a:pPr lvl="1">
              <a:lnSpc>
                <a:spcPct val="110000"/>
              </a:lnSpc>
              <a:spcBef>
                <a:spcPct val="0"/>
              </a:spcBef>
              <a:buNone/>
            </a:pPr>
            <a:r>
              <a:rPr lang="zh-CN" altLang="en-US" sz="2200" dirty="0">
                <a:latin typeface="Times New Roman" panose="02020603050405020304" pitchFamily="18" charset="0"/>
              </a:rPr>
              <a:t>    每个存储周期分成两个时间片，一个给</a:t>
            </a:r>
            <a:r>
              <a:rPr lang="en-US" altLang="zh-CN" sz="2200" dirty="0">
                <a:latin typeface="Times New Roman" panose="02020603050405020304" pitchFamily="18" charset="0"/>
              </a:rPr>
              <a:t>CPU</a:t>
            </a:r>
            <a:r>
              <a:rPr lang="zh-CN" altLang="en-US" sz="2200" dirty="0">
                <a:latin typeface="Times New Roman" panose="02020603050405020304" pitchFamily="18" charset="0"/>
              </a:rPr>
              <a:t>，一个给</a:t>
            </a:r>
            <a:r>
              <a:rPr lang="en-US" altLang="zh-CN" sz="2200" dirty="0">
                <a:latin typeface="Times New Roman" panose="02020603050405020304" pitchFamily="18" charset="0"/>
              </a:rPr>
              <a:t>DMA</a:t>
            </a:r>
            <a:r>
              <a:rPr lang="zh-CN" altLang="en-US" sz="2200" dirty="0">
                <a:latin typeface="Times New Roman" panose="02020603050405020304" pitchFamily="18" charset="0"/>
              </a:rPr>
              <a:t>，</a:t>
            </a:r>
            <a:endParaRPr lang="zh-CN" altLang="en-US" sz="2200" dirty="0">
              <a:latin typeface="Times New Roman" panose="02020603050405020304" pitchFamily="18" charset="0"/>
            </a:endParaRPr>
          </a:p>
          <a:p>
            <a:pPr lvl="1">
              <a:lnSpc>
                <a:spcPct val="110000"/>
              </a:lnSpc>
              <a:spcBef>
                <a:spcPct val="0"/>
              </a:spcBef>
              <a:buNone/>
            </a:pPr>
            <a:r>
              <a:rPr lang="zh-CN" altLang="en-US" sz="2200" dirty="0">
                <a:latin typeface="Times New Roman" panose="02020603050405020304" pitchFamily="18" charset="0"/>
              </a:rPr>
              <a:t>这样在每个存储周期内，</a:t>
            </a:r>
            <a:r>
              <a:rPr lang="en-US" altLang="zh-CN" sz="2200" dirty="0">
                <a:latin typeface="Times New Roman" panose="02020603050405020304" pitchFamily="18" charset="0"/>
              </a:rPr>
              <a:t>CPU</a:t>
            </a:r>
            <a:r>
              <a:rPr lang="zh-CN" altLang="en-US" sz="2200" dirty="0">
                <a:latin typeface="Times New Roman" panose="02020603050405020304" pitchFamily="18" charset="0"/>
              </a:rPr>
              <a:t>和</a:t>
            </a:r>
            <a:r>
              <a:rPr lang="en-US" altLang="zh-CN" sz="2200" dirty="0">
                <a:latin typeface="Times New Roman" panose="02020603050405020304" pitchFamily="18" charset="0"/>
              </a:rPr>
              <a:t>DMA</a:t>
            </a:r>
            <a:r>
              <a:rPr lang="zh-CN" altLang="en-US" sz="2200" dirty="0">
                <a:latin typeface="Times New Roman" panose="02020603050405020304" pitchFamily="18" charset="0"/>
              </a:rPr>
              <a:t>都可访问存储器</a:t>
            </a:r>
            <a:endParaRPr lang="zh-CN" altLang="en-US" sz="2200" dirty="0">
              <a:latin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50887">
                                            <p:txEl>
                                              <p:charRg st="81" end="115"/>
                                            </p:txEl>
                                          </p:spTgt>
                                        </p:tgtEl>
                                        <p:attrNameLst>
                                          <p:attrName>style.visibility</p:attrName>
                                        </p:attrNameLst>
                                      </p:cBhvr>
                                      <p:to>
                                        <p:strVal val="visible"/>
                                      </p:to>
                                    </p:set>
                                    <p:animEffect transition="in" filter="checkerboard(across)">
                                      <p:cBhvr>
                                        <p:cTn id="7" dur="500"/>
                                        <p:tgtEl>
                                          <p:spTgt spid="250887">
                                            <p:txEl>
                                              <p:charRg st="81" end="115"/>
                                            </p:txEl>
                                          </p:spTgt>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250887">
                                            <p:txEl>
                                              <p:charRg st="115" end="122"/>
                                            </p:txEl>
                                          </p:spTgt>
                                        </p:tgtEl>
                                        <p:attrNameLst>
                                          <p:attrName>style.visibility</p:attrName>
                                        </p:attrNameLst>
                                      </p:cBhvr>
                                      <p:to>
                                        <p:strVal val="visible"/>
                                      </p:to>
                                    </p:set>
                                    <p:animEffect transition="in" filter="checkerboard(across)">
                                      <p:cBhvr>
                                        <p:cTn id="11" dur="500"/>
                                        <p:tgtEl>
                                          <p:spTgt spid="250887">
                                            <p:txEl>
                                              <p:charRg st="115" end="12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nodeType="clickEffect">
                                  <p:stCondLst>
                                    <p:cond delay="0"/>
                                  </p:stCondLst>
                                  <p:childTnLst>
                                    <p:set>
                                      <p:cBhvr>
                                        <p:cTn id="15" dur="1" fill="hold">
                                          <p:stCondLst>
                                            <p:cond delay="0"/>
                                          </p:stCondLst>
                                        </p:cTn>
                                        <p:tgtEl>
                                          <p:spTgt spid="250887">
                                            <p:txEl>
                                              <p:charRg st="142" end="176"/>
                                            </p:txEl>
                                          </p:spTgt>
                                        </p:tgtEl>
                                        <p:attrNameLst>
                                          <p:attrName>style.visibility</p:attrName>
                                        </p:attrNameLst>
                                      </p:cBhvr>
                                      <p:to>
                                        <p:strVal val="visible"/>
                                      </p:to>
                                    </p:set>
                                    <p:animEffect transition="in" filter="checkerboard(across)">
                                      <p:cBhvr>
                                        <p:cTn id="16" dur="500"/>
                                        <p:tgtEl>
                                          <p:spTgt spid="250887">
                                            <p:txEl>
                                              <p:charRg st="142" end="176"/>
                                            </p:txEl>
                                          </p:spTgt>
                                        </p:tgtEl>
                                      </p:cBhvr>
                                    </p:animEffect>
                                  </p:childTnLst>
                                </p:cTn>
                              </p:par>
                            </p:childTnLst>
                          </p:cTn>
                        </p:par>
                        <p:par>
                          <p:cTn id="17" fill="hold">
                            <p:stCondLst>
                              <p:cond delay="500"/>
                            </p:stCondLst>
                            <p:childTnLst>
                              <p:par>
                                <p:cTn id="18" presetID="5" presetClass="entr" presetSubtype="10" fill="hold" nodeType="afterEffect">
                                  <p:stCondLst>
                                    <p:cond delay="0"/>
                                  </p:stCondLst>
                                  <p:childTnLst>
                                    <p:set>
                                      <p:cBhvr>
                                        <p:cTn id="19" dur="1" fill="hold">
                                          <p:stCondLst>
                                            <p:cond delay="0"/>
                                          </p:stCondLst>
                                        </p:cTn>
                                        <p:tgtEl>
                                          <p:spTgt spid="250887">
                                            <p:txEl>
                                              <p:charRg st="176" end="197"/>
                                            </p:txEl>
                                          </p:spTgt>
                                        </p:tgtEl>
                                        <p:attrNameLst>
                                          <p:attrName>style.visibility</p:attrName>
                                        </p:attrNameLst>
                                      </p:cBhvr>
                                      <p:to>
                                        <p:strVal val="visible"/>
                                      </p:to>
                                    </p:set>
                                    <p:animEffect transition="in" filter="checkerboard(across)">
                                      <p:cBhvr>
                                        <p:cTn id="20" dur="500"/>
                                        <p:tgtEl>
                                          <p:spTgt spid="250887">
                                            <p:txEl>
                                              <p:charRg st="176" end="19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250887">
                                            <p:txEl>
                                              <p:charRg st="208" end="241"/>
                                            </p:txEl>
                                          </p:spTgt>
                                        </p:tgtEl>
                                        <p:attrNameLst>
                                          <p:attrName>style.visibility</p:attrName>
                                        </p:attrNameLst>
                                      </p:cBhvr>
                                      <p:to>
                                        <p:strVal val="visible"/>
                                      </p:to>
                                    </p:set>
                                    <p:animEffect transition="in" filter="checkerboard(across)">
                                      <p:cBhvr>
                                        <p:cTn id="25" dur="500"/>
                                        <p:tgtEl>
                                          <p:spTgt spid="250887">
                                            <p:txEl>
                                              <p:charRg st="208" end="241"/>
                                            </p:txEl>
                                          </p:spTgt>
                                        </p:tgtEl>
                                      </p:cBhvr>
                                    </p:animEffect>
                                  </p:childTnLst>
                                </p:cTn>
                              </p:par>
                            </p:childTnLst>
                          </p:cTn>
                        </p:par>
                        <p:par>
                          <p:cTn id="26" fill="hold">
                            <p:stCondLst>
                              <p:cond delay="500"/>
                            </p:stCondLst>
                            <p:childTnLst>
                              <p:par>
                                <p:cTn id="27" presetID="5" presetClass="entr" presetSubtype="10" fill="hold" nodeType="afterEffect">
                                  <p:stCondLst>
                                    <p:cond delay="0"/>
                                  </p:stCondLst>
                                  <p:childTnLst>
                                    <p:set>
                                      <p:cBhvr>
                                        <p:cTn id="28" dur="1" fill="hold">
                                          <p:stCondLst>
                                            <p:cond delay="0"/>
                                          </p:stCondLst>
                                        </p:cTn>
                                        <p:tgtEl>
                                          <p:spTgt spid="250887">
                                            <p:txEl>
                                              <p:charRg st="241" end="267"/>
                                            </p:txEl>
                                          </p:spTgt>
                                        </p:tgtEl>
                                        <p:attrNameLst>
                                          <p:attrName>style.visibility</p:attrName>
                                        </p:attrNameLst>
                                      </p:cBhvr>
                                      <p:to>
                                        <p:strVal val="visible"/>
                                      </p:to>
                                    </p:set>
                                    <p:animEffect transition="in" filter="checkerboard(across)">
                                      <p:cBhvr>
                                        <p:cTn id="29" dur="500"/>
                                        <p:tgtEl>
                                          <p:spTgt spid="250887">
                                            <p:txEl>
                                              <p:charRg st="241" end="26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0098" name="Rectangle 2"/>
          <p:cNvSpPr>
            <a:spLocks noGrp="1" noChangeArrowheads="1"/>
          </p:cNvSpPr>
          <p:nvPr>
            <p:ph type="title"/>
          </p:nvPr>
        </p:nvSpPr>
        <p:spPr>
          <a:xfrm>
            <a:off x="511175" y="244475"/>
            <a:ext cx="8124825" cy="661988"/>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85000"/>
              </a:lnSpc>
              <a:spcBef>
                <a:spcPct val="0"/>
              </a:spcBef>
              <a:spcAft>
                <a:spcPct val="0"/>
              </a:spcAft>
              <a:buClrTx/>
              <a:buSzTx/>
              <a:buFontTx/>
              <a:buNone/>
              <a:defRPr/>
            </a:pPr>
            <a:r>
              <a:rPr kumimoji="0" lang="zh-CN" altLang="en-US" sz="4400" b="1" i="0" u="none" strike="noStrike" kern="0" cap="none" spc="0" normalizeH="0" baseline="0" noProof="0" dirty="0" smtClean="0">
                <a:ln>
                  <a:noFill/>
                </a:ln>
                <a:solidFill>
                  <a:srgbClr val="FF0000"/>
                </a:solidFill>
                <a:effectLst/>
                <a:uLnTx/>
                <a:uFillTx/>
                <a:latin typeface="+mj-lt"/>
                <a:ea typeface="+mj-ea"/>
                <a:cs typeface="+mj-cs"/>
              </a:rPr>
              <a:t>回顾</a:t>
            </a:r>
            <a:r>
              <a:rPr kumimoji="0" lang="zh-CN" altLang="en-US" sz="4400" b="1" i="0" u="none" strike="noStrike" kern="0" cap="none" spc="0" normalizeH="0" baseline="0" noProof="0" dirty="0" smtClean="0">
                <a:ln>
                  <a:noFill/>
                </a:ln>
                <a:solidFill>
                  <a:srgbClr val="FF0000"/>
                </a:solidFill>
                <a:effectLst>
                  <a:outerShdw blurRad="38100" dist="38100" dir="2700000" algn="tl">
                    <a:srgbClr val="000000"/>
                  </a:outerShdw>
                </a:effectLst>
                <a:uLnTx/>
                <a:uFillTx/>
                <a:latin typeface="+mj-lt"/>
                <a:ea typeface="+mj-ea"/>
                <a:cs typeface="+mj-cs"/>
              </a:rPr>
              <a:t>－</a:t>
            </a:r>
            <a:r>
              <a:rPr kumimoji="0" lang="zh-CN" altLang="en-US" sz="4400" b="1" i="0" u="none" strike="noStrike" kern="0" cap="none" spc="0" normalizeH="0" baseline="0" noProof="0" dirty="0" smtClean="0">
                <a:ln>
                  <a:noFill/>
                </a:ln>
                <a:solidFill>
                  <a:srgbClr val="FF0000"/>
                </a:solidFill>
                <a:effectLst/>
                <a:uLnTx/>
                <a:uFillTx/>
                <a:latin typeface="+mj-lt"/>
                <a:ea typeface="+mj-ea"/>
                <a:cs typeface="+mj-cs"/>
              </a:rPr>
              <a:t> </a:t>
            </a:r>
            <a:r>
              <a:rPr kumimoji="0" lang="en-US" altLang="zh-CN" sz="4400" b="1" i="0" u="none" strike="noStrike" kern="0" cap="none" spc="0" normalizeH="0" baseline="0" noProof="0" dirty="0" smtClean="0">
                <a:ln>
                  <a:noFill/>
                </a:ln>
                <a:solidFill>
                  <a:srgbClr val="FF0000"/>
                </a:solidFill>
                <a:effectLst/>
                <a:uLnTx/>
                <a:uFillTx/>
                <a:latin typeface="+mj-lt"/>
                <a:ea typeface="+mj-ea"/>
                <a:cs typeface="+mj-cs"/>
              </a:rPr>
              <a:t>DMA</a:t>
            </a:r>
            <a:r>
              <a:rPr kumimoji="0" lang="zh-CN" altLang="en-US" sz="4400" b="1" i="0" u="none" strike="noStrike" kern="0" cap="none" spc="0" normalizeH="0" baseline="0" noProof="0" dirty="0" smtClean="0">
                <a:ln>
                  <a:noFill/>
                </a:ln>
                <a:solidFill>
                  <a:srgbClr val="FF0000"/>
                </a:solidFill>
                <a:effectLst/>
                <a:uLnTx/>
                <a:uFillTx/>
                <a:latin typeface="+mj-lt"/>
                <a:ea typeface="+mj-ea"/>
                <a:cs typeface="+mj-cs"/>
              </a:rPr>
              <a:t>的工作过程</a:t>
            </a:r>
            <a:endParaRPr kumimoji="0" lang="zh-CN" altLang="en-US" sz="4400" b="1" i="0" u="none" strike="noStrike" kern="0" cap="none" spc="0" normalizeH="0" baseline="0" noProof="0" dirty="0" smtClean="0">
              <a:ln>
                <a:noFill/>
              </a:ln>
              <a:solidFill>
                <a:srgbClr val="FF0000"/>
              </a:solidFill>
              <a:effectLst/>
              <a:uLnTx/>
              <a:uFillTx/>
              <a:latin typeface="+mj-lt"/>
              <a:ea typeface="+mj-ea"/>
              <a:cs typeface="+mj-cs"/>
            </a:endParaRPr>
          </a:p>
        </p:txBody>
      </p:sp>
      <p:sp>
        <p:nvSpPr>
          <p:cNvPr id="260099" name="Rectangle 3"/>
          <p:cNvSpPr>
            <a:spLocks noGrp="1"/>
          </p:cNvSpPr>
          <p:nvPr>
            <p:ph idx="1"/>
          </p:nvPr>
        </p:nvSpPr>
        <p:spPr>
          <a:xfrm>
            <a:off x="563563" y="1077913"/>
            <a:ext cx="8151812" cy="5416550"/>
          </a:xfrm>
          <a:ln/>
        </p:spPr>
        <p:txBody>
          <a:bodyPr vert="horz" wrap="square" lIns="91440" tIns="45720" rIns="91440" bIns="45720" anchor="t" anchorCtr="0">
            <a:spAutoFit/>
          </a:bodyPr>
          <a:p>
            <a:pPr marL="342900" indent="-342900">
              <a:lnSpc>
                <a:spcPct val="100000"/>
              </a:lnSpc>
              <a:spcBef>
                <a:spcPct val="20000"/>
              </a:spcBef>
              <a:buNone/>
            </a:pPr>
            <a:r>
              <a:rPr lang="en-US" altLang="zh-CN" sz="2800" dirty="0">
                <a:latin typeface="Times New Roman" panose="02020603050405020304" pitchFamily="18" charset="0"/>
              </a:rPr>
              <a:t>(1) DMA</a:t>
            </a:r>
            <a:r>
              <a:rPr lang="zh-CN" altLang="en-US" sz="2800" dirty="0">
                <a:latin typeface="Times New Roman" panose="02020603050405020304" pitchFamily="18" charset="0"/>
              </a:rPr>
              <a:t>控制器的预置</a:t>
            </a:r>
            <a:r>
              <a:rPr lang="en-US" altLang="zh-CN" sz="2800" dirty="0">
                <a:latin typeface="Times New Roman" panose="02020603050405020304" pitchFamily="18" charset="0"/>
              </a:rPr>
              <a:t>(</a:t>
            </a:r>
            <a:r>
              <a:rPr lang="zh-CN" altLang="en-US" sz="2800" dirty="0">
                <a:latin typeface="Times New Roman" panose="02020603050405020304" pitchFamily="18" charset="0"/>
              </a:rPr>
              <a:t>初始化</a:t>
            </a:r>
            <a:r>
              <a:rPr lang="en-US" altLang="zh-CN" sz="2800" dirty="0">
                <a:latin typeface="Times New Roman" panose="02020603050405020304" pitchFamily="18" charset="0"/>
              </a:rPr>
              <a:t>) </a:t>
            </a:r>
            <a:r>
              <a:rPr lang="en-US" altLang="zh-CN" sz="2800" dirty="0"/>
              <a:t>—</a:t>
            </a:r>
            <a:r>
              <a:rPr lang="zh-CN" altLang="en-US" sz="2800" dirty="0">
                <a:latin typeface="Times New Roman" panose="02020603050405020304" pitchFamily="18" charset="0"/>
              </a:rPr>
              <a:t>软件实现</a:t>
            </a:r>
            <a:endParaRPr lang="zh-CN" altLang="en-US" sz="2800" dirty="0">
              <a:latin typeface="Times New Roman" panose="02020603050405020304" pitchFamily="18" charset="0"/>
            </a:endParaRPr>
          </a:p>
          <a:p>
            <a:pPr marL="742950" lvl="1" indent="-285750">
              <a:lnSpc>
                <a:spcPct val="100000"/>
              </a:lnSpc>
              <a:spcBef>
                <a:spcPct val="20000"/>
              </a:spcBef>
            </a:pPr>
            <a:r>
              <a:rPr lang="zh-CN" altLang="en-US" sz="2400" dirty="0">
                <a:latin typeface="Times New Roman" panose="02020603050405020304" pitchFamily="18" charset="0"/>
              </a:rPr>
              <a:t>准备内存</a:t>
            </a:r>
            <a:endParaRPr lang="zh-CN" altLang="en-US" sz="2400" dirty="0">
              <a:latin typeface="Times New Roman" panose="02020603050405020304" pitchFamily="18" charset="0"/>
            </a:endParaRPr>
          </a:p>
          <a:p>
            <a:pPr marL="742950" lvl="1" indent="-285750">
              <a:lnSpc>
                <a:spcPct val="100000"/>
              </a:lnSpc>
              <a:spcBef>
                <a:spcPct val="20000"/>
              </a:spcBef>
            </a:pPr>
            <a:r>
              <a:rPr lang="zh-CN" altLang="en-US" sz="2400" dirty="0">
                <a:latin typeface="Times New Roman" panose="02020603050405020304" pitchFamily="18" charset="0"/>
              </a:rPr>
              <a:t>设置参数</a:t>
            </a:r>
            <a:endParaRPr lang="zh-CN" altLang="en-US" sz="2400" dirty="0">
              <a:latin typeface="Times New Roman" panose="02020603050405020304" pitchFamily="18" charset="0"/>
            </a:endParaRPr>
          </a:p>
          <a:p>
            <a:pPr marL="742950" lvl="1" indent="-285750">
              <a:lnSpc>
                <a:spcPct val="100000"/>
              </a:lnSpc>
              <a:spcBef>
                <a:spcPct val="20000"/>
              </a:spcBef>
            </a:pPr>
            <a:r>
              <a:rPr lang="zh-CN" altLang="en-US" sz="2400" dirty="0">
                <a:latin typeface="Times New Roman" panose="02020603050405020304" pitchFamily="18" charset="0"/>
              </a:rPr>
              <a:t>启动外设</a:t>
            </a:r>
            <a:r>
              <a:rPr lang="zh-CN" altLang="en-US" sz="2500" dirty="0">
                <a:latin typeface="Times New Roman" panose="02020603050405020304" pitchFamily="18" charset="0"/>
              </a:rPr>
              <a:t>  </a:t>
            </a:r>
            <a:endParaRPr lang="zh-CN" altLang="en-US" sz="2500" dirty="0">
              <a:latin typeface="Times New Roman" panose="02020603050405020304" pitchFamily="18" charset="0"/>
            </a:endParaRPr>
          </a:p>
          <a:p>
            <a:pPr marL="342900" indent="-342900">
              <a:lnSpc>
                <a:spcPct val="100000"/>
              </a:lnSpc>
              <a:spcBef>
                <a:spcPct val="20000"/>
              </a:spcBef>
              <a:buNone/>
            </a:pPr>
            <a:r>
              <a:rPr lang="en-US" altLang="zh-CN" sz="2800" dirty="0">
                <a:latin typeface="Times New Roman" panose="02020603050405020304" pitchFamily="18" charset="0"/>
              </a:rPr>
              <a:t>(2)</a:t>
            </a:r>
            <a:r>
              <a:rPr lang="en-US" altLang="zh-CN" sz="2800" dirty="0">
                <a:solidFill>
                  <a:srgbClr val="0000FF"/>
                </a:solidFill>
                <a:latin typeface="Times New Roman" panose="02020603050405020304" pitchFamily="18" charset="0"/>
              </a:rPr>
              <a:t> </a:t>
            </a:r>
            <a:r>
              <a:rPr lang="en-US" altLang="zh-CN" sz="2800" dirty="0">
                <a:latin typeface="Times New Roman" panose="02020603050405020304" pitchFamily="18" charset="0"/>
              </a:rPr>
              <a:t>DMA</a:t>
            </a:r>
            <a:r>
              <a:rPr lang="zh-CN" altLang="en-US" sz="2800" dirty="0">
                <a:latin typeface="Times New Roman" panose="02020603050405020304" pitchFamily="18" charset="0"/>
              </a:rPr>
              <a:t>数据传送</a:t>
            </a:r>
            <a:r>
              <a:rPr lang="en-US" altLang="zh-CN" sz="2800" dirty="0"/>
              <a:t>—</a:t>
            </a:r>
            <a:r>
              <a:rPr lang="zh-CN" altLang="en-US" sz="2800" dirty="0">
                <a:latin typeface="Times New Roman" panose="02020603050405020304" pitchFamily="18" charset="0"/>
              </a:rPr>
              <a:t>硬件实现</a:t>
            </a:r>
            <a:endParaRPr lang="zh-CN" altLang="en-US" sz="2800" dirty="0">
              <a:latin typeface="Times New Roman" panose="02020603050405020304" pitchFamily="18" charset="0"/>
            </a:endParaRPr>
          </a:p>
          <a:p>
            <a:pPr marL="742950" lvl="1" indent="-285750">
              <a:lnSpc>
                <a:spcPct val="100000"/>
              </a:lnSpc>
              <a:spcBef>
                <a:spcPct val="20000"/>
              </a:spcBef>
            </a:pPr>
            <a:r>
              <a:rPr lang="en-US" altLang="zh-CN" sz="2400" dirty="0">
                <a:latin typeface="Times New Roman" panose="02020603050405020304" pitchFamily="18" charset="0"/>
              </a:rPr>
              <a:t>DMA</a:t>
            </a:r>
            <a:r>
              <a:rPr lang="zh-CN" altLang="en-US" sz="2400" dirty="0">
                <a:latin typeface="Times New Roman" panose="02020603050405020304" pitchFamily="18" charset="0"/>
              </a:rPr>
              <a:t>请求：</a:t>
            </a:r>
            <a:r>
              <a:rPr lang="zh-CN" altLang="en-US" sz="2400" dirty="0">
                <a:solidFill>
                  <a:srgbClr val="FFFF00"/>
                </a:solidFill>
                <a:latin typeface="Times New Roman" panose="02020603050405020304" pitchFamily="18" charset="0"/>
              </a:rPr>
              <a:t>选通</a:t>
            </a:r>
            <a:r>
              <a:rPr lang="en-US" altLang="en-US" sz="2400" dirty="0">
                <a:solidFill>
                  <a:srgbClr val="FFFF00"/>
                </a:solidFill>
              </a:rPr>
              <a:t>→</a:t>
            </a:r>
            <a:r>
              <a:rPr lang="en-US" altLang="zh-CN" sz="2400" dirty="0">
                <a:solidFill>
                  <a:srgbClr val="FFFF00"/>
                </a:solidFill>
                <a:latin typeface="Times New Roman" panose="02020603050405020304" pitchFamily="18" charset="0"/>
              </a:rPr>
              <a:t>DMA</a:t>
            </a:r>
            <a:r>
              <a:rPr lang="zh-CN" altLang="en-US" sz="2400" dirty="0">
                <a:solidFill>
                  <a:srgbClr val="FFFF00"/>
                </a:solidFill>
                <a:latin typeface="Times New Roman" panose="02020603050405020304" pitchFamily="18" charset="0"/>
              </a:rPr>
              <a:t>请求</a:t>
            </a:r>
            <a:r>
              <a:rPr lang="en-US" altLang="en-US" sz="2400" dirty="0">
                <a:solidFill>
                  <a:srgbClr val="FFFF00"/>
                </a:solidFill>
              </a:rPr>
              <a:t>→</a:t>
            </a:r>
            <a:r>
              <a:rPr lang="zh-CN" altLang="en-US" sz="2400" dirty="0">
                <a:solidFill>
                  <a:srgbClr val="FFFF00"/>
                </a:solidFill>
                <a:latin typeface="Times New Roman" panose="02020603050405020304" pitchFamily="18" charset="0"/>
              </a:rPr>
              <a:t>总线请求</a:t>
            </a:r>
            <a:endParaRPr lang="zh-CN" altLang="en-US" sz="2400" dirty="0">
              <a:solidFill>
                <a:srgbClr val="FFFF00"/>
              </a:solidFill>
              <a:latin typeface="Times New Roman" panose="02020603050405020304" pitchFamily="18" charset="0"/>
            </a:endParaRPr>
          </a:p>
          <a:p>
            <a:pPr marL="742950" lvl="1" indent="-285750">
              <a:lnSpc>
                <a:spcPct val="100000"/>
              </a:lnSpc>
              <a:spcBef>
                <a:spcPct val="20000"/>
              </a:spcBef>
            </a:pPr>
            <a:r>
              <a:rPr lang="en-US" altLang="zh-CN" sz="2400" dirty="0">
                <a:latin typeface="Times New Roman" panose="02020603050405020304" pitchFamily="18" charset="0"/>
              </a:rPr>
              <a:t>DMA</a:t>
            </a:r>
            <a:r>
              <a:rPr lang="zh-CN" altLang="en-US" sz="2400" dirty="0">
                <a:latin typeface="Times New Roman" panose="02020603050405020304" pitchFamily="18" charset="0"/>
              </a:rPr>
              <a:t>响应：</a:t>
            </a:r>
            <a:r>
              <a:rPr lang="zh-CN" altLang="en-US" sz="2400" dirty="0">
                <a:solidFill>
                  <a:srgbClr val="FFFF00"/>
                </a:solidFill>
                <a:latin typeface="Times New Roman" panose="02020603050405020304" pitchFamily="18" charset="0"/>
              </a:rPr>
              <a:t>总线响应</a:t>
            </a:r>
            <a:r>
              <a:rPr lang="en-US" altLang="zh-CN" sz="2400" dirty="0">
                <a:solidFill>
                  <a:srgbClr val="FFFF00"/>
                </a:solidFill>
                <a:latin typeface="Times New Roman" panose="02020603050405020304" pitchFamily="18" charset="0"/>
              </a:rPr>
              <a:t>(CPU</a:t>
            </a:r>
            <a:r>
              <a:rPr lang="zh-CN" altLang="en-US" sz="2400" dirty="0">
                <a:solidFill>
                  <a:srgbClr val="FFFF00"/>
                </a:solidFill>
                <a:latin typeface="Times New Roman" panose="02020603050405020304" pitchFamily="18" charset="0"/>
              </a:rPr>
              <a:t>让出总线</a:t>
            </a:r>
            <a:r>
              <a:rPr lang="en-US" altLang="zh-CN" sz="2400" dirty="0">
                <a:solidFill>
                  <a:srgbClr val="FFFF00"/>
                </a:solidFill>
                <a:latin typeface="Times New Roman" panose="02020603050405020304" pitchFamily="18" charset="0"/>
              </a:rPr>
              <a:t>) </a:t>
            </a:r>
            <a:r>
              <a:rPr lang="en-US" altLang="en-US" sz="2400" dirty="0">
                <a:solidFill>
                  <a:srgbClr val="FFFF00"/>
                </a:solidFill>
              </a:rPr>
              <a:t>→</a:t>
            </a:r>
            <a:r>
              <a:rPr lang="en-US" altLang="zh-CN" sz="2400" dirty="0">
                <a:solidFill>
                  <a:srgbClr val="FFFF00"/>
                </a:solidFill>
                <a:latin typeface="Times New Roman" panose="02020603050405020304" pitchFamily="18" charset="0"/>
              </a:rPr>
              <a:t> DMA</a:t>
            </a:r>
            <a:r>
              <a:rPr lang="zh-CN" altLang="en-US" sz="2400" dirty="0">
                <a:solidFill>
                  <a:srgbClr val="FFFF00"/>
                </a:solidFill>
                <a:latin typeface="Times New Roman" panose="02020603050405020304" pitchFamily="18" charset="0"/>
              </a:rPr>
              <a:t>响应</a:t>
            </a:r>
            <a:endParaRPr lang="zh-CN" altLang="en-US" sz="2400" dirty="0">
              <a:solidFill>
                <a:srgbClr val="FFFF00"/>
              </a:solidFill>
              <a:latin typeface="Times New Roman" panose="02020603050405020304" pitchFamily="18" charset="0"/>
            </a:endParaRPr>
          </a:p>
          <a:p>
            <a:pPr marL="742950" lvl="1" indent="-285750">
              <a:lnSpc>
                <a:spcPct val="100000"/>
              </a:lnSpc>
              <a:spcBef>
                <a:spcPct val="20000"/>
              </a:spcBef>
            </a:pPr>
            <a:r>
              <a:rPr lang="en-US" altLang="zh-CN" sz="2400" dirty="0">
                <a:latin typeface="Times New Roman" panose="02020603050405020304" pitchFamily="18" charset="0"/>
              </a:rPr>
              <a:t>DMA</a:t>
            </a:r>
            <a:r>
              <a:rPr lang="zh-CN" altLang="en-US" sz="2400" dirty="0">
                <a:latin typeface="Times New Roman" panose="02020603050405020304" pitchFamily="18" charset="0"/>
              </a:rPr>
              <a:t>传送：</a:t>
            </a:r>
            <a:r>
              <a:rPr lang="en-US" altLang="zh-CN" sz="2400" dirty="0">
                <a:solidFill>
                  <a:srgbClr val="FFFF00"/>
                </a:solidFill>
                <a:latin typeface="Times New Roman" panose="02020603050405020304" pitchFamily="18" charset="0"/>
              </a:rPr>
              <a:t>DMA</a:t>
            </a:r>
            <a:r>
              <a:rPr lang="zh-CN" altLang="en-US" sz="2400" dirty="0">
                <a:solidFill>
                  <a:srgbClr val="FFFF00"/>
                </a:solidFill>
                <a:latin typeface="Times New Roman" panose="02020603050405020304" pitchFamily="18" charset="0"/>
              </a:rPr>
              <a:t>控制总线进行数据传送</a:t>
            </a:r>
            <a:endParaRPr lang="zh-CN" altLang="en-US" sz="2400" dirty="0">
              <a:solidFill>
                <a:srgbClr val="FFFF00"/>
              </a:solidFill>
              <a:latin typeface="Times New Roman" panose="02020603050405020304" pitchFamily="18" charset="0"/>
            </a:endParaRPr>
          </a:p>
          <a:p>
            <a:pPr marL="342900" indent="-342900">
              <a:lnSpc>
                <a:spcPct val="100000"/>
              </a:lnSpc>
              <a:spcBef>
                <a:spcPct val="20000"/>
              </a:spcBef>
              <a:buNone/>
            </a:pPr>
            <a:r>
              <a:rPr lang="en-US" altLang="zh-CN" sz="2800" dirty="0">
                <a:latin typeface="Times New Roman" panose="02020603050405020304" pitchFamily="18" charset="0"/>
              </a:rPr>
              <a:t>(3) DMA</a:t>
            </a:r>
            <a:r>
              <a:rPr lang="zh-CN" altLang="en-US" sz="2800" dirty="0">
                <a:latin typeface="Times New Roman" panose="02020603050405020304" pitchFamily="18" charset="0"/>
              </a:rPr>
              <a:t>结束处理</a:t>
            </a:r>
            <a:r>
              <a:rPr lang="en-US" altLang="zh-CN" sz="2800" dirty="0"/>
              <a:t>—</a:t>
            </a:r>
            <a:r>
              <a:rPr lang="zh-CN" altLang="en-US" sz="2800" dirty="0">
                <a:latin typeface="Times New Roman" panose="02020603050405020304" pitchFamily="18" charset="0"/>
              </a:rPr>
              <a:t>软件实现</a:t>
            </a:r>
            <a:endParaRPr lang="zh-CN" altLang="en-US" sz="2800" dirty="0">
              <a:latin typeface="Times New Roman" panose="02020603050405020304" pitchFamily="18" charset="0"/>
            </a:endParaRPr>
          </a:p>
          <a:p>
            <a:pPr marL="742950" lvl="1" indent="-285750">
              <a:lnSpc>
                <a:spcPct val="100000"/>
              </a:lnSpc>
              <a:spcBef>
                <a:spcPct val="20000"/>
              </a:spcBef>
            </a:pPr>
            <a:r>
              <a:rPr lang="zh-CN" altLang="en-US" sz="2400" dirty="0">
                <a:latin typeface="Times New Roman" panose="02020603050405020304" pitchFamily="18" charset="0"/>
              </a:rPr>
              <a:t>根据计数值为“</a:t>
            </a:r>
            <a:r>
              <a:rPr lang="en-US" altLang="zh-CN" sz="2400" dirty="0">
                <a:latin typeface="Times New Roman" panose="02020603050405020304" pitchFamily="18" charset="0"/>
              </a:rPr>
              <a:t>0”</a:t>
            </a:r>
            <a:r>
              <a:rPr lang="zh-CN" altLang="en-US" sz="2400" dirty="0">
                <a:latin typeface="Times New Roman" panose="02020603050405020304" pitchFamily="18" charset="0"/>
              </a:rPr>
              <a:t>，发出</a:t>
            </a:r>
            <a:r>
              <a:rPr lang="en-US" altLang="zh-CN" sz="2400" dirty="0">
                <a:latin typeface="Times New Roman" panose="02020603050405020304" pitchFamily="18" charset="0"/>
              </a:rPr>
              <a:t>DMA</a:t>
            </a:r>
            <a:r>
              <a:rPr lang="zh-CN" altLang="en-US" sz="2400" dirty="0">
                <a:latin typeface="Times New Roman" panose="02020603050405020304" pitchFamily="18" charset="0"/>
              </a:rPr>
              <a:t>结束信号去接口控制产生</a:t>
            </a:r>
            <a:r>
              <a:rPr lang="en-US" altLang="zh-CN" sz="2400" dirty="0">
                <a:latin typeface="Times New Roman" panose="02020603050405020304" pitchFamily="18" charset="0"/>
              </a:rPr>
              <a:t>DMA</a:t>
            </a:r>
            <a:r>
              <a:rPr lang="zh-CN" altLang="en-US" sz="2400" dirty="0">
                <a:latin typeface="Times New Roman" panose="02020603050405020304" pitchFamily="18" charset="0"/>
              </a:rPr>
              <a:t>中断请求信号，转入中断服务程序，做一些数据校验等后处理工作</a:t>
            </a:r>
            <a:endParaRPr lang="zh-CN" altLang="en-US" sz="2400" dirty="0">
              <a:latin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60099">
                                            <p:txEl>
                                              <p:charRg st="25" end="30"/>
                                            </p:txEl>
                                          </p:spTgt>
                                        </p:tgtEl>
                                        <p:attrNameLst>
                                          <p:attrName>style.visibility</p:attrName>
                                        </p:attrNameLst>
                                      </p:cBhvr>
                                      <p:to>
                                        <p:strVal val="visible"/>
                                      </p:to>
                                    </p:set>
                                    <p:animEffect transition="in" filter="checkerboard(across)">
                                      <p:cBhvr>
                                        <p:cTn id="7" dur="500"/>
                                        <p:tgtEl>
                                          <p:spTgt spid="260099">
                                            <p:txEl>
                                              <p:charRg st="25" end="3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260099">
                                            <p:txEl>
                                              <p:charRg st="30" end="35"/>
                                            </p:txEl>
                                          </p:spTgt>
                                        </p:tgtEl>
                                        <p:attrNameLst>
                                          <p:attrName>style.visibility</p:attrName>
                                        </p:attrNameLst>
                                      </p:cBhvr>
                                      <p:to>
                                        <p:strVal val="visible"/>
                                      </p:to>
                                    </p:set>
                                    <p:animEffect transition="in" filter="checkerboard(across)">
                                      <p:cBhvr>
                                        <p:cTn id="10" dur="500"/>
                                        <p:tgtEl>
                                          <p:spTgt spid="260099">
                                            <p:txEl>
                                              <p:charRg st="30" end="35"/>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260099">
                                            <p:txEl>
                                              <p:charRg st="35" end="42"/>
                                            </p:txEl>
                                          </p:spTgt>
                                        </p:tgtEl>
                                        <p:attrNameLst>
                                          <p:attrName>style.visibility</p:attrName>
                                        </p:attrNameLst>
                                      </p:cBhvr>
                                      <p:to>
                                        <p:strVal val="visible"/>
                                      </p:to>
                                    </p:set>
                                    <p:animEffect transition="in" filter="checkerboard(across)">
                                      <p:cBhvr>
                                        <p:cTn id="13" dur="500"/>
                                        <p:tgtEl>
                                          <p:spTgt spid="260099">
                                            <p:txEl>
                                              <p:charRg st="35" end="4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260099">
                                            <p:txEl>
                                              <p:charRg st="59" end="79"/>
                                            </p:txEl>
                                          </p:spTgt>
                                        </p:tgtEl>
                                        <p:attrNameLst>
                                          <p:attrName>style.visibility</p:attrName>
                                        </p:attrNameLst>
                                      </p:cBhvr>
                                      <p:to>
                                        <p:strVal val="visible"/>
                                      </p:to>
                                    </p:set>
                                    <p:animEffect transition="in" filter="checkerboard(across)">
                                      <p:cBhvr>
                                        <p:cTn id="18" dur="500"/>
                                        <p:tgtEl>
                                          <p:spTgt spid="260099">
                                            <p:txEl>
                                              <p:charRg st="59" end="79"/>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260099">
                                            <p:txEl>
                                              <p:charRg st="79" end="107"/>
                                            </p:txEl>
                                          </p:spTgt>
                                        </p:tgtEl>
                                        <p:attrNameLst>
                                          <p:attrName>style.visibility</p:attrName>
                                        </p:attrNameLst>
                                      </p:cBhvr>
                                      <p:to>
                                        <p:strVal val="visible"/>
                                      </p:to>
                                    </p:set>
                                    <p:animEffect transition="in" filter="checkerboard(across)">
                                      <p:cBhvr>
                                        <p:cTn id="21" dur="500"/>
                                        <p:tgtEl>
                                          <p:spTgt spid="260099">
                                            <p:txEl>
                                              <p:charRg st="79" end="107"/>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260099">
                                            <p:txEl>
                                              <p:charRg st="107" end="127"/>
                                            </p:txEl>
                                          </p:spTgt>
                                        </p:tgtEl>
                                        <p:attrNameLst>
                                          <p:attrName>style.visibility</p:attrName>
                                        </p:attrNameLst>
                                      </p:cBhvr>
                                      <p:to>
                                        <p:strVal val="visible"/>
                                      </p:to>
                                    </p:set>
                                    <p:animEffect transition="in" filter="checkerboard(across)">
                                      <p:cBhvr>
                                        <p:cTn id="24" dur="500"/>
                                        <p:tgtEl>
                                          <p:spTgt spid="260099">
                                            <p:txEl>
                                              <p:charRg st="107" end="12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260099">
                                            <p:txEl>
                                              <p:charRg st="144" end="203"/>
                                            </p:txEl>
                                          </p:spTgt>
                                        </p:tgtEl>
                                        <p:attrNameLst>
                                          <p:attrName>style.visibility</p:attrName>
                                        </p:attrNameLst>
                                      </p:cBhvr>
                                      <p:to>
                                        <p:strVal val="visible"/>
                                      </p:to>
                                    </p:set>
                                    <p:animEffect transition="in" filter="checkerboard(across)">
                                      <p:cBhvr>
                                        <p:cTn id="29" dur="500"/>
                                        <p:tgtEl>
                                          <p:spTgt spid="260099">
                                            <p:txEl>
                                              <p:charRg st="144" end="20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Text Box 2"/>
          <p:cNvSpPr txBox="1">
            <a:spLocks noChangeArrowheads="1"/>
          </p:cNvSpPr>
          <p:nvPr/>
        </p:nvSpPr>
        <p:spPr bwMode="auto">
          <a:xfrm>
            <a:off x="457200" y="1152525"/>
            <a:ext cx="8153400" cy="609600"/>
          </a:xfrm>
          <a:prstGeom prst="rect">
            <a:avLst/>
          </a:prstGeom>
          <a:noFill/>
          <a:ln w="9525">
            <a:noFill/>
            <a:miter lim="800000"/>
          </a:ln>
        </p:spPr>
        <p:txBody>
          <a:bodyPr>
            <a:spAutoFit/>
          </a:bodyPr>
          <a:lstStyle/>
          <a:p>
            <a:pPr marL="460375" marR="0" indent="-460375" defTabSz="914400">
              <a:lnSpc>
                <a:spcPct val="110000"/>
              </a:lnSpc>
              <a:buClr>
                <a:schemeClr val="tx2"/>
              </a:buClr>
              <a:buSzTx/>
              <a:buFontTx/>
              <a:buBlip>
                <a:blip r:embed="rId1"/>
              </a:buBlip>
              <a:defRPr/>
            </a:pPr>
            <a:r>
              <a:rPr kumimoji="0" lang="zh-CN" altLang="en-US" sz="3200" kern="1200" cap="none" spc="0" normalizeH="0" baseline="0" noProof="0" dirty="0">
                <a:solidFill>
                  <a:schemeClr val="tx1"/>
                </a:solidFill>
                <a:latin typeface="Times New Roman" panose="02020603050405020304" pitchFamily="18" charset="0"/>
                <a:ea typeface="+mn-ea"/>
                <a:cs typeface="+mn-cs"/>
              </a:rPr>
              <a:t> </a:t>
            </a:r>
            <a:r>
              <a:rPr kumimoji="0" lang="en-US" altLang="zh-CN" sz="3200" kern="1200" cap="none" spc="0" normalizeH="0" baseline="0" noProof="0" dirty="0">
                <a:solidFill>
                  <a:schemeClr val="tx1"/>
                </a:solidFill>
                <a:latin typeface="Times New Roman" panose="02020603050405020304" pitchFamily="18" charset="0"/>
                <a:ea typeface="+mn-ea"/>
                <a:cs typeface="+mn-cs"/>
              </a:rPr>
              <a:t>DMA </a:t>
            </a:r>
            <a:r>
              <a:rPr kumimoji="0" lang="zh-CN" altLang="en-US" sz="3200" kern="1200" cap="none" spc="0" normalizeH="0" baseline="0" noProof="0" dirty="0">
                <a:solidFill>
                  <a:schemeClr val="tx1"/>
                </a:solidFill>
                <a:latin typeface="Times New Roman" panose="02020603050405020304" pitchFamily="18" charset="0"/>
                <a:ea typeface="+mn-ea"/>
                <a:cs typeface="+mn-cs"/>
              </a:rPr>
              <a:t>方式与中断控制方式的比较</a:t>
            </a:r>
            <a:endParaRPr kumimoji="0" lang="zh-CN" altLang="en-US" sz="3200" kern="1200" cap="none" spc="0" normalizeH="0" baseline="0" noProof="0" dirty="0">
              <a:solidFill>
                <a:schemeClr val="tx1"/>
              </a:solidFill>
              <a:latin typeface="Times New Roman" panose="02020603050405020304" pitchFamily="18" charset="0"/>
              <a:ea typeface="+mn-ea"/>
              <a:cs typeface="+mn-cs"/>
            </a:endParaRPr>
          </a:p>
        </p:txBody>
      </p:sp>
      <p:sp>
        <p:nvSpPr>
          <p:cNvPr id="1295363" name="Text Box 3"/>
          <p:cNvSpPr txBox="1"/>
          <p:nvPr/>
        </p:nvSpPr>
        <p:spPr>
          <a:xfrm>
            <a:off x="1114425" y="2552700"/>
            <a:ext cx="2667000" cy="519113"/>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latin typeface="Times New Roman" panose="02020603050405020304" pitchFamily="18" charset="0"/>
              </a:rPr>
              <a:t>(1) 数据传送</a:t>
            </a:r>
            <a:endParaRPr lang="zh-CN" altLang="en-US" sz="2800" dirty="0">
              <a:latin typeface="Times New Roman" panose="02020603050405020304" pitchFamily="18" charset="0"/>
            </a:endParaRPr>
          </a:p>
        </p:txBody>
      </p:sp>
      <p:sp>
        <p:nvSpPr>
          <p:cNvPr id="1295364" name="Text Box 4"/>
          <p:cNvSpPr txBox="1"/>
          <p:nvPr/>
        </p:nvSpPr>
        <p:spPr>
          <a:xfrm>
            <a:off x="1076325" y="3163888"/>
            <a:ext cx="2667000" cy="519112"/>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latin typeface="Times New Roman" panose="02020603050405020304" pitchFamily="18" charset="0"/>
              </a:rPr>
              <a:t>(2) 响应时间</a:t>
            </a:r>
            <a:endParaRPr lang="zh-CN" altLang="en-US" sz="2800" dirty="0">
              <a:latin typeface="Times New Roman" panose="02020603050405020304" pitchFamily="18" charset="0"/>
            </a:endParaRPr>
          </a:p>
        </p:txBody>
      </p:sp>
      <p:sp>
        <p:nvSpPr>
          <p:cNvPr id="1295365" name="Text Box 5"/>
          <p:cNvSpPr txBox="1"/>
          <p:nvPr/>
        </p:nvSpPr>
        <p:spPr>
          <a:xfrm>
            <a:off x="1104900" y="3789363"/>
            <a:ext cx="3276600" cy="519112"/>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latin typeface="Times New Roman" panose="02020603050405020304" pitchFamily="18" charset="0"/>
              </a:rPr>
              <a:t>(3) 处理异常情况</a:t>
            </a:r>
            <a:endParaRPr lang="zh-CN" altLang="en-US" sz="2800" dirty="0">
              <a:latin typeface="Times New Roman" panose="02020603050405020304" pitchFamily="18" charset="0"/>
            </a:endParaRPr>
          </a:p>
        </p:txBody>
      </p:sp>
      <p:sp>
        <p:nvSpPr>
          <p:cNvPr id="1295366" name="Text Box 6"/>
          <p:cNvSpPr txBox="1"/>
          <p:nvPr/>
        </p:nvSpPr>
        <p:spPr>
          <a:xfrm>
            <a:off x="1114425" y="4389438"/>
            <a:ext cx="2514600" cy="519112"/>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latin typeface="Times New Roman" panose="02020603050405020304" pitchFamily="18" charset="0"/>
              </a:rPr>
              <a:t>(4) 中断请求</a:t>
            </a:r>
            <a:endParaRPr lang="zh-CN" altLang="en-US" sz="2800" dirty="0">
              <a:latin typeface="Times New Roman" panose="02020603050405020304" pitchFamily="18" charset="0"/>
            </a:endParaRPr>
          </a:p>
        </p:txBody>
      </p:sp>
      <p:sp>
        <p:nvSpPr>
          <p:cNvPr id="1295367" name="Text Box 7"/>
          <p:cNvSpPr txBox="1"/>
          <p:nvPr/>
        </p:nvSpPr>
        <p:spPr>
          <a:xfrm>
            <a:off x="1127125" y="5026025"/>
            <a:ext cx="2133600" cy="519113"/>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latin typeface="Times New Roman" panose="02020603050405020304" pitchFamily="18" charset="0"/>
              </a:rPr>
              <a:t>(5) 优先级</a:t>
            </a:r>
            <a:endParaRPr lang="zh-CN" altLang="en-US" sz="2800" dirty="0">
              <a:latin typeface="Times New Roman" panose="02020603050405020304" pitchFamily="18" charset="0"/>
            </a:endParaRPr>
          </a:p>
        </p:txBody>
      </p:sp>
      <p:grpSp>
        <p:nvGrpSpPr>
          <p:cNvPr id="2" name="Group 8"/>
          <p:cNvGrpSpPr/>
          <p:nvPr/>
        </p:nvGrpSpPr>
        <p:grpSpPr>
          <a:xfrm>
            <a:off x="3375025" y="1889125"/>
            <a:ext cx="5238750" cy="595313"/>
            <a:chOff x="2452" y="685"/>
            <a:chExt cx="3011" cy="375"/>
          </a:xfrm>
        </p:grpSpPr>
        <p:sp>
          <p:nvSpPr>
            <p:cNvPr id="113680" name="Text Box 9"/>
            <p:cNvSpPr txBox="1"/>
            <p:nvPr/>
          </p:nvSpPr>
          <p:spPr>
            <a:xfrm>
              <a:off x="2452" y="685"/>
              <a:ext cx="1507" cy="36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3200" dirty="0">
                  <a:solidFill>
                    <a:srgbClr val="FFFF00"/>
                  </a:solidFill>
                  <a:latin typeface="Times New Roman" panose="02020603050405020304" pitchFamily="18" charset="0"/>
                </a:rPr>
                <a:t>        中断方式</a:t>
              </a:r>
              <a:endParaRPr lang="zh-CN" altLang="en-US" sz="3200" dirty="0">
                <a:solidFill>
                  <a:srgbClr val="FFFF00"/>
                </a:solidFill>
                <a:latin typeface="Times New Roman" panose="02020603050405020304" pitchFamily="18" charset="0"/>
              </a:endParaRPr>
            </a:p>
          </p:txBody>
        </p:sp>
        <p:sp>
          <p:nvSpPr>
            <p:cNvPr id="113681" name="Text Box 10"/>
            <p:cNvSpPr txBox="1"/>
            <p:nvPr/>
          </p:nvSpPr>
          <p:spPr>
            <a:xfrm>
              <a:off x="4273" y="695"/>
              <a:ext cx="1190" cy="36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en-US" altLang="zh-CN" sz="3200" dirty="0">
                  <a:solidFill>
                    <a:srgbClr val="FFFF00"/>
                  </a:solidFill>
                  <a:latin typeface="Times New Roman" panose="02020603050405020304" pitchFamily="18" charset="0"/>
                </a:rPr>
                <a:t>DMA </a:t>
              </a:r>
              <a:r>
                <a:rPr lang="zh-CN" altLang="en-US" sz="3200" dirty="0">
                  <a:solidFill>
                    <a:srgbClr val="FFFF00"/>
                  </a:solidFill>
                  <a:latin typeface="Times New Roman" panose="02020603050405020304" pitchFamily="18" charset="0"/>
                </a:rPr>
                <a:t>方式</a:t>
              </a:r>
              <a:endParaRPr lang="zh-CN" altLang="en-US" sz="3200" dirty="0">
                <a:solidFill>
                  <a:srgbClr val="FFFF00"/>
                </a:solidFill>
                <a:latin typeface="Times New Roman" panose="02020603050405020304" pitchFamily="18" charset="0"/>
              </a:endParaRPr>
            </a:p>
          </p:txBody>
        </p:sp>
      </p:grpSp>
      <p:sp>
        <p:nvSpPr>
          <p:cNvPr id="1295371" name="Text Box 11"/>
          <p:cNvSpPr txBox="1"/>
          <p:nvPr/>
        </p:nvSpPr>
        <p:spPr>
          <a:xfrm>
            <a:off x="3921125" y="2552700"/>
            <a:ext cx="4556125" cy="519113"/>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latin typeface="Times New Roman" panose="02020603050405020304" pitchFamily="18" charset="0"/>
              </a:rPr>
              <a:t>    程序                    硬件</a:t>
            </a:r>
            <a:endParaRPr lang="zh-CN" altLang="en-US" sz="2800" dirty="0">
              <a:latin typeface="Times New Roman" panose="02020603050405020304" pitchFamily="18" charset="0"/>
            </a:endParaRPr>
          </a:p>
        </p:txBody>
      </p:sp>
      <p:sp>
        <p:nvSpPr>
          <p:cNvPr id="1295372" name="Text Box 12"/>
          <p:cNvSpPr txBox="1"/>
          <p:nvPr/>
        </p:nvSpPr>
        <p:spPr>
          <a:xfrm>
            <a:off x="3709988" y="3124200"/>
            <a:ext cx="5434012" cy="523875"/>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latin typeface="Times New Roman" panose="02020603050405020304" pitchFamily="18" charset="0"/>
              </a:rPr>
              <a:t>指令执行结束   存储总线周期结束</a:t>
            </a:r>
            <a:endParaRPr lang="zh-CN" altLang="en-US" sz="2800" dirty="0">
              <a:latin typeface="Times New Roman" panose="02020603050405020304" pitchFamily="18" charset="0"/>
            </a:endParaRPr>
          </a:p>
        </p:txBody>
      </p:sp>
      <p:sp>
        <p:nvSpPr>
          <p:cNvPr id="1295373" name="Text Box 13"/>
          <p:cNvSpPr txBox="1"/>
          <p:nvPr/>
        </p:nvSpPr>
        <p:spPr>
          <a:xfrm>
            <a:off x="3944938" y="3789363"/>
            <a:ext cx="5089525" cy="519112"/>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latin typeface="Times New Roman" panose="02020603050405020304" pitchFamily="18" charset="0"/>
              </a:rPr>
              <a:t>      能                       不能</a:t>
            </a:r>
            <a:endParaRPr lang="zh-CN" altLang="en-US" sz="2800" dirty="0">
              <a:latin typeface="Times New Roman" panose="02020603050405020304" pitchFamily="18" charset="0"/>
            </a:endParaRPr>
          </a:p>
        </p:txBody>
      </p:sp>
      <p:sp>
        <p:nvSpPr>
          <p:cNvPr id="1295374" name="Text Box 14"/>
          <p:cNvSpPr txBox="1"/>
          <p:nvPr/>
        </p:nvSpPr>
        <p:spPr>
          <a:xfrm>
            <a:off x="3933825" y="5026025"/>
            <a:ext cx="4251325" cy="519113"/>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latin typeface="Times New Roman" panose="02020603050405020304" pitchFamily="18" charset="0"/>
              </a:rPr>
              <a:t>      低                         高</a:t>
            </a:r>
            <a:endParaRPr lang="zh-CN" altLang="en-US" sz="2800" dirty="0">
              <a:latin typeface="Times New Roman" panose="02020603050405020304" pitchFamily="18" charset="0"/>
            </a:endParaRPr>
          </a:p>
        </p:txBody>
      </p:sp>
      <p:sp>
        <p:nvSpPr>
          <p:cNvPr id="1295375" name="Text Box 15"/>
          <p:cNvSpPr txBox="1"/>
          <p:nvPr/>
        </p:nvSpPr>
        <p:spPr>
          <a:xfrm>
            <a:off x="3952875" y="4349750"/>
            <a:ext cx="5121275" cy="519113"/>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0"/>
              </a:spcBef>
              <a:buClrTx/>
              <a:buFontTx/>
              <a:buNone/>
            </a:pPr>
            <a:r>
              <a:rPr lang="zh-CN" altLang="en-US" sz="2800" dirty="0">
                <a:latin typeface="Times New Roman" panose="02020603050405020304" pitchFamily="18" charset="0"/>
              </a:rPr>
              <a:t>传送数据              结束处理 </a:t>
            </a:r>
            <a:endParaRPr lang="zh-CN" altLang="en-US" sz="2800" dirty="0">
              <a:latin typeface="Times New Roman" panose="02020603050405020304" pitchFamily="18" charset="0"/>
            </a:endParaRPr>
          </a:p>
        </p:txBody>
      </p:sp>
      <p:sp>
        <p:nvSpPr>
          <p:cNvPr id="17" name="矩形 16"/>
          <p:cNvSpPr/>
          <p:nvPr/>
        </p:nvSpPr>
        <p:spPr>
          <a:xfrm>
            <a:off x="977900" y="5646738"/>
            <a:ext cx="7715250" cy="523875"/>
          </a:xfrm>
          <a:prstGeom prst="rect">
            <a:avLst/>
          </a:prstGeom>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(6) I/O</a:t>
            </a: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设备          低、慢速设备        高速设备</a:t>
            </a:r>
            <a:endPar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 name="Rectangle 2"/>
          <p:cNvSpPr txBox="1">
            <a:spLocks noChangeArrowheads="1"/>
          </p:cNvSpPr>
          <p:nvPr/>
        </p:nvSpPr>
        <p:spPr>
          <a:xfrm>
            <a:off x="511175" y="244475"/>
            <a:ext cx="8124825" cy="661988"/>
          </a:xfrm>
          <a:prstGeom prst="rect">
            <a:avLst/>
          </a:prstGeom>
        </p:spPr>
        <p:txBody>
          <a:bodyPr/>
          <a:lstStyle/>
          <a:p>
            <a:pPr marR="0" algn="ctr" defTabSz="914400">
              <a:lnSpc>
                <a:spcPct val="85000"/>
              </a:lnSpc>
              <a:buClrTx/>
              <a:buSzTx/>
              <a:buFontTx/>
              <a:buNone/>
              <a:defRPr/>
            </a:pPr>
            <a:r>
              <a:rPr kumimoji="0" lang="zh-CN" altLang="en-US" sz="4400" kern="0" cap="none" spc="0" normalizeH="0" baseline="0" noProof="0" dirty="0">
                <a:solidFill>
                  <a:srgbClr val="FF0000"/>
                </a:solidFill>
                <a:latin typeface="+mj-lt"/>
                <a:ea typeface="+mj-ea"/>
                <a:cs typeface="+mj-cs"/>
              </a:rPr>
              <a:t>回顾</a:t>
            </a:r>
            <a:r>
              <a:rPr kumimoji="0" lang="zh-CN" altLang="en-US" sz="4400" kern="0" cap="none" spc="0" normalizeH="0" baseline="0" noProof="0" dirty="0">
                <a:solidFill>
                  <a:srgbClr val="FF0000"/>
                </a:solidFill>
                <a:effectLst>
                  <a:outerShdw blurRad="38100" dist="38100" dir="2700000" algn="tl">
                    <a:srgbClr val="000000"/>
                  </a:outerShdw>
                </a:effectLst>
                <a:latin typeface="+mj-lt"/>
                <a:ea typeface="+mj-ea"/>
                <a:cs typeface="+mj-cs"/>
              </a:rPr>
              <a:t>－</a:t>
            </a:r>
            <a:r>
              <a:rPr kumimoji="0" lang="zh-CN" altLang="en-US" sz="4400" kern="0" cap="none" spc="0" normalizeH="0" baseline="0" noProof="0" dirty="0">
                <a:solidFill>
                  <a:srgbClr val="FF0000"/>
                </a:solidFill>
                <a:latin typeface="+mj-lt"/>
                <a:ea typeface="+mj-ea"/>
                <a:cs typeface="+mj-cs"/>
              </a:rPr>
              <a:t> 中断与</a:t>
            </a:r>
            <a:r>
              <a:rPr kumimoji="0" lang="en-US" altLang="zh-CN" sz="4400" kern="0" cap="none" spc="0" normalizeH="0" baseline="0" noProof="0" dirty="0">
                <a:solidFill>
                  <a:srgbClr val="FF0000"/>
                </a:solidFill>
                <a:latin typeface="+mj-lt"/>
                <a:ea typeface="+mj-ea"/>
                <a:cs typeface="+mj-cs"/>
              </a:rPr>
              <a:t>DMA</a:t>
            </a:r>
            <a:r>
              <a:rPr kumimoji="0" lang="zh-CN" altLang="en-US" sz="4400" kern="0" cap="none" spc="0" normalizeH="0" baseline="0" noProof="0" dirty="0">
                <a:solidFill>
                  <a:srgbClr val="FF0000"/>
                </a:solidFill>
                <a:latin typeface="+mj-lt"/>
                <a:ea typeface="+mj-ea"/>
                <a:cs typeface="+mj-cs"/>
              </a:rPr>
              <a:t>的区别</a:t>
            </a:r>
            <a:endParaRPr kumimoji="0" lang="zh-CN" altLang="en-US" sz="4400" kern="0" cap="none" spc="0" normalizeH="0" baseline="0" noProof="0" dirty="0">
              <a:solidFill>
                <a:srgbClr val="FF0000"/>
              </a:solidFill>
              <a:latin typeface="+mj-lt"/>
              <a:ea typeface="+mj-ea"/>
              <a:cs typeface="+mj-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95363"/>
                                        </p:tgtEl>
                                        <p:attrNameLst>
                                          <p:attrName>style.visibility</p:attrName>
                                        </p:attrNameLst>
                                      </p:cBhvr>
                                      <p:to>
                                        <p:strVal val="visible"/>
                                      </p:to>
                                    </p:set>
                                    <p:animEffect transition="in" filter="blinds(horizontal)">
                                      <p:cBhvr>
                                        <p:cTn id="12" dur="500"/>
                                        <p:tgtEl>
                                          <p:spTgt spid="129536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95371"/>
                                        </p:tgtEl>
                                        <p:attrNameLst>
                                          <p:attrName>style.visibility</p:attrName>
                                        </p:attrNameLst>
                                      </p:cBhvr>
                                      <p:to>
                                        <p:strVal val="visible"/>
                                      </p:to>
                                    </p:set>
                                    <p:animEffect transition="in" filter="blinds(horizontal)">
                                      <p:cBhvr>
                                        <p:cTn id="17" dur="500"/>
                                        <p:tgtEl>
                                          <p:spTgt spid="129537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95364"/>
                                        </p:tgtEl>
                                        <p:attrNameLst>
                                          <p:attrName>style.visibility</p:attrName>
                                        </p:attrNameLst>
                                      </p:cBhvr>
                                      <p:to>
                                        <p:strVal val="visible"/>
                                      </p:to>
                                    </p:set>
                                    <p:animEffect transition="in" filter="blinds(horizontal)">
                                      <p:cBhvr>
                                        <p:cTn id="22" dur="500"/>
                                        <p:tgtEl>
                                          <p:spTgt spid="129536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95372"/>
                                        </p:tgtEl>
                                        <p:attrNameLst>
                                          <p:attrName>style.visibility</p:attrName>
                                        </p:attrNameLst>
                                      </p:cBhvr>
                                      <p:to>
                                        <p:strVal val="visible"/>
                                      </p:to>
                                    </p:set>
                                    <p:animEffect transition="in" filter="blinds(horizontal)">
                                      <p:cBhvr>
                                        <p:cTn id="27" dur="500"/>
                                        <p:tgtEl>
                                          <p:spTgt spid="129537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95365"/>
                                        </p:tgtEl>
                                        <p:attrNameLst>
                                          <p:attrName>style.visibility</p:attrName>
                                        </p:attrNameLst>
                                      </p:cBhvr>
                                      <p:to>
                                        <p:strVal val="visible"/>
                                      </p:to>
                                    </p:set>
                                    <p:animEffect transition="in" filter="blinds(horizontal)">
                                      <p:cBhvr>
                                        <p:cTn id="32" dur="500"/>
                                        <p:tgtEl>
                                          <p:spTgt spid="129536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95373"/>
                                        </p:tgtEl>
                                        <p:attrNameLst>
                                          <p:attrName>style.visibility</p:attrName>
                                        </p:attrNameLst>
                                      </p:cBhvr>
                                      <p:to>
                                        <p:strVal val="visible"/>
                                      </p:to>
                                    </p:set>
                                    <p:animEffect transition="in" filter="blinds(horizontal)">
                                      <p:cBhvr>
                                        <p:cTn id="37" dur="500"/>
                                        <p:tgtEl>
                                          <p:spTgt spid="129537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95366"/>
                                        </p:tgtEl>
                                        <p:attrNameLst>
                                          <p:attrName>style.visibility</p:attrName>
                                        </p:attrNameLst>
                                      </p:cBhvr>
                                      <p:to>
                                        <p:strVal val="visible"/>
                                      </p:to>
                                    </p:set>
                                    <p:animEffect transition="in" filter="blinds(horizontal)">
                                      <p:cBhvr>
                                        <p:cTn id="42" dur="500"/>
                                        <p:tgtEl>
                                          <p:spTgt spid="129536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295375"/>
                                        </p:tgtEl>
                                        <p:attrNameLst>
                                          <p:attrName>style.visibility</p:attrName>
                                        </p:attrNameLst>
                                      </p:cBhvr>
                                      <p:to>
                                        <p:strVal val="visible"/>
                                      </p:to>
                                    </p:set>
                                    <p:animEffect transition="in" filter="blinds(horizontal)">
                                      <p:cBhvr>
                                        <p:cTn id="47" dur="500"/>
                                        <p:tgtEl>
                                          <p:spTgt spid="1295375"/>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295367"/>
                                        </p:tgtEl>
                                        <p:attrNameLst>
                                          <p:attrName>style.visibility</p:attrName>
                                        </p:attrNameLst>
                                      </p:cBhvr>
                                      <p:to>
                                        <p:strVal val="visible"/>
                                      </p:to>
                                    </p:set>
                                    <p:animEffect transition="in" filter="blinds(horizontal)">
                                      <p:cBhvr>
                                        <p:cTn id="52" dur="500"/>
                                        <p:tgtEl>
                                          <p:spTgt spid="129536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295374"/>
                                        </p:tgtEl>
                                        <p:attrNameLst>
                                          <p:attrName>style.visibility</p:attrName>
                                        </p:attrNameLst>
                                      </p:cBhvr>
                                      <p:to>
                                        <p:strVal val="visible"/>
                                      </p:to>
                                    </p:set>
                                    <p:animEffect transition="in" filter="blinds(horizontal)">
                                      <p:cBhvr>
                                        <p:cTn id="57" dur="500"/>
                                        <p:tgtEl>
                                          <p:spTgt spid="1295374"/>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5363" grpId="0"/>
      <p:bldP spid="1295364" grpId="0"/>
      <p:bldP spid="1295365" grpId="0"/>
      <p:bldP spid="1295366" grpId="0"/>
      <p:bldP spid="1295367" grpId="0"/>
      <p:bldP spid="1295371" grpId="0"/>
      <p:bldP spid="1295372" grpId="0"/>
      <p:bldP spid="1295373" grpId="0"/>
      <p:bldP spid="1295374" grpId="0"/>
      <p:bldP spid="1295375" grpId="0"/>
      <p:bldP spid="1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56418" name="Rectangle 2"/>
          <p:cNvSpPr>
            <a:spLocks noGrp="1" noChangeArrowheads="1"/>
          </p:cNvSpPr>
          <p:nvPr>
            <p:ph type="title" idx="4294967295"/>
          </p:nvPr>
        </p:nvSpPr>
        <p:spPr>
          <a:xfrm>
            <a:off x="0" y="266700"/>
            <a:ext cx="9144000" cy="714375"/>
          </a:xfrm>
        </p:spPr>
        <p:txBody>
          <a:bodyPr wrap="square" lIns="91440" tIns="45720" rIns="91440" bIns="45720" numCol="1" anchor="t"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回顾－总线</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
        <p:nvSpPr>
          <p:cNvPr id="4156419" name="AutoShape 3"/>
          <p:cNvSpPr>
            <a:spLocks noChangeArrowheads="1"/>
          </p:cNvSpPr>
          <p:nvPr/>
        </p:nvSpPr>
        <p:spPr bwMode="invGray">
          <a:xfrm rot="39573186">
            <a:off x="4633119" y="2623344"/>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20" name="AutoShape 4"/>
          <p:cNvSpPr>
            <a:spLocks noChangeArrowheads="1"/>
          </p:cNvSpPr>
          <p:nvPr/>
        </p:nvSpPr>
        <p:spPr bwMode="invGray">
          <a:xfrm rot="3465783">
            <a:off x="4633119" y="4787106"/>
            <a:ext cx="792163" cy="288925"/>
          </a:xfrm>
          <a:prstGeom prst="rightArrow">
            <a:avLst>
              <a:gd name="adj1" fmla="val 35167"/>
              <a:gd name="adj2" fmla="val 111028"/>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21" name="AutoShape 5"/>
          <p:cNvSpPr>
            <a:spLocks noChangeArrowheads="1"/>
          </p:cNvSpPr>
          <p:nvPr/>
        </p:nvSpPr>
        <p:spPr bwMode="invGray">
          <a:xfrm rot="35969022">
            <a:off x="3413919" y="2699544"/>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22" name="AutoShape 6"/>
          <p:cNvSpPr>
            <a:spLocks noChangeArrowheads="1"/>
          </p:cNvSpPr>
          <p:nvPr/>
        </p:nvSpPr>
        <p:spPr bwMode="invGray">
          <a:xfrm rot="7535209">
            <a:off x="3375819" y="4753769"/>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23" name="AutoShape 7"/>
          <p:cNvSpPr>
            <a:spLocks noChangeArrowheads="1"/>
          </p:cNvSpPr>
          <p:nvPr/>
        </p:nvSpPr>
        <p:spPr bwMode="invGray">
          <a:xfrm>
            <a:off x="5211763" y="3751263"/>
            <a:ext cx="792163" cy="288925"/>
          </a:xfrm>
          <a:prstGeom prst="rightArrow">
            <a:avLst>
              <a:gd name="adj1" fmla="val 35167"/>
              <a:gd name="adj2" fmla="val 111028"/>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24" name="AutoShape 8"/>
          <p:cNvSpPr>
            <a:spLocks noChangeArrowheads="1"/>
          </p:cNvSpPr>
          <p:nvPr/>
        </p:nvSpPr>
        <p:spPr bwMode="invGray">
          <a:xfrm rot="-10800000">
            <a:off x="2801938" y="3744913"/>
            <a:ext cx="863600" cy="288925"/>
          </a:xfrm>
          <a:prstGeom prst="rightArrow">
            <a:avLst>
              <a:gd name="adj1" fmla="val 35167"/>
              <a:gd name="adj2" fmla="val 121041"/>
            </a:avLst>
          </a:prstGeom>
          <a:gradFill rotWithShape="1">
            <a:gsLst>
              <a:gs pos="0">
                <a:schemeClr val="tx2">
                  <a:gamma/>
                  <a:shade val="89020"/>
                  <a:invGamma/>
                  <a:alpha val="0"/>
                </a:schemeClr>
              </a:gs>
              <a:gs pos="100000">
                <a:schemeClr val="tx2"/>
              </a:gs>
            </a:gsLst>
            <a:lin ang="0" scaled="1"/>
          </a:gradFill>
          <a:ln w="0"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25" name="Oval 9"/>
          <p:cNvSpPr>
            <a:spLocks noChangeArrowheads="1"/>
          </p:cNvSpPr>
          <p:nvPr/>
        </p:nvSpPr>
        <p:spPr bwMode="black">
          <a:xfrm>
            <a:off x="2547938" y="1982788"/>
            <a:ext cx="3743325" cy="3744913"/>
          </a:xfrm>
          <a:prstGeom prst="ellipse">
            <a:avLst/>
          </a:prstGeom>
          <a:noFill/>
          <a:ln w="38100" algn="ctr">
            <a:solidFill>
              <a:schemeClr val="tx1"/>
            </a:solid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114698" name="Group 10"/>
          <p:cNvGrpSpPr/>
          <p:nvPr/>
        </p:nvGrpSpPr>
        <p:grpSpPr>
          <a:xfrm>
            <a:off x="2339975" y="3697288"/>
            <a:ext cx="360363" cy="360362"/>
            <a:chOff x="1565" y="2659"/>
            <a:chExt cx="227" cy="227"/>
          </a:xfrm>
        </p:grpSpPr>
        <p:sp>
          <p:nvSpPr>
            <p:cNvPr id="4156427" name="Oval 11"/>
            <p:cNvSpPr>
              <a:spLocks noChangeArrowheads="1"/>
            </p:cNvSpPr>
            <p:nvPr/>
          </p:nvSpPr>
          <p:spPr bwMode="gray">
            <a:xfrm>
              <a:off x="1565" y="2659"/>
              <a:ext cx="227" cy="227"/>
            </a:xfrm>
            <a:prstGeom prst="ellipse">
              <a:avLst/>
            </a:prstGeom>
            <a:gradFill rotWithShape="1">
              <a:gsLst>
                <a:gs pos="0">
                  <a:srgbClr val="008080"/>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28" name="Oval 12"/>
            <p:cNvSpPr>
              <a:spLocks noChangeArrowheads="1"/>
            </p:cNvSpPr>
            <p:nvPr/>
          </p:nvSpPr>
          <p:spPr bwMode="gray">
            <a:xfrm>
              <a:off x="1575" y="2678"/>
              <a:ext cx="141" cy="142"/>
            </a:xfrm>
            <a:prstGeom prst="ellipse">
              <a:avLst/>
            </a:prstGeom>
            <a:gradFill rotWithShape="1">
              <a:gsLst>
                <a:gs pos="0">
                  <a:srgbClr val="008080">
                    <a:alpha val="0"/>
                  </a:srgbClr>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114699" name="Group 13"/>
          <p:cNvGrpSpPr/>
          <p:nvPr/>
        </p:nvGrpSpPr>
        <p:grpSpPr>
          <a:xfrm>
            <a:off x="6084888" y="3716338"/>
            <a:ext cx="360362" cy="360362"/>
            <a:chOff x="3470" y="1706"/>
            <a:chExt cx="227" cy="227"/>
          </a:xfrm>
        </p:grpSpPr>
        <p:sp>
          <p:nvSpPr>
            <p:cNvPr id="4156430" name="Oval 14"/>
            <p:cNvSpPr>
              <a:spLocks noChangeArrowheads="1"/>
            </p:cNvSpPr>
            <p:nvPr/>
          </p:nvSpPr>
          <p:spPr bwMode="gray">
            <a:xfrm>
              <a:off x="3470" y="1706"/>
              <a:ext cx="227" cy="227"/>
            </a:xfrm>
            <a:prstGeom prst="ellipse">
              <a:avLst/>
            </a:prstGeom>
            <a:gradFill rotWithShape="1">
              <a:gsLst>
                <a:gs pos="0">
                  <a:srgbClr val="008080"/>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31" name="Oval 15"/>
            <p:cNvSpPr>
              <a:spLocks noChangeArrowheads="1"/>
            </p:cNvSpPr>
            <p:nvPr/>
          </p:nvSpPr>
          <p:spPr bwMode="gray">
            <a:xfrm>
              <a:off x="3480" y="1725"/>
              <a:ext cx="141" cy="142"/>
            </a:xfrm>
            <a:prstGeom prst="ellipse">
              <a:avLst/>
            </a:prstGeom>
            <a:gradFill rotWithShape="1">
              <a:gsLst>
                <a:gs pos="0">
                  <a:srgbClr val="008080">
                    <a:alpha val="0"/>
                  </a:srgbClr>
                </a:gs>
                <a:gs pos="100000">
                  <a:srgbClr val="A9D5D5"/>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114700" name="Group 16"/>
          <p:cNvGrpSpPr/>
          <p:nvPr/>
        </p:nvGrpSpPr>
        <p:grpSpPr>
          <a:xfrm>
            <a:off x="5219700" y="5300663"/>
            <a:ext cx="360363" cy="360362"/>
            <a:chOff x="3923" y="2659"/>
            <a:chExt cx="227" cy="227"/>
          </a:xfrm>
        </p:grpSpPr>
        <p:sp>
          <p:nvSpPr>
            <p:cNvPr id="4156433" name="Oval 17"/>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34" name="Oval 18"/>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4156435" name="Oval 19"/>
          <p:cNvSpPr>
            <a:spLocks noChangeArrowheads="1"/>
          </p:cNvSpPr>
          <p:nvPr/>
        </p:nvSpPr>
        <p:spPr bwMode="gray">
          <a:xfrm>
            <a:off x="3479800" y="2935288"/>
            <a:ext cx="1944688" cy="19446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36" name="Oval 20"/>
          <p:cNvSpPr>
            <a:spLocks noChangeArrowheads="1"/>
          </p:cNvSpPr>
          <p:nvPr/>
        </p:nvSpPr>
        <p:spPr bwMode="gray">
          <a:xfrm>
            <a:off x="3484563" y="2941638"/>
            <a:ext cx="1944688" cy="1944688"/>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37" name="Oval 21"/>
          <p:cNvSpPr>
            <a:spLocks noChangeArrowheads="1"/>
          </p:cNvSpPr>
          <p:nvPr/>
        </p:nvSpPr>
        <p:spPr bwMode="gray">
          <a:xfrm>
            <a:off x="3606800" y="3062288"/>
            <a:ext cx="1690688" cy="169068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38" name="Oval 22"/>
          <p:cNvSpPr>
            <a:spLocks noChangeArrowheads="1"/>
          </p:cNvSpPr>
          <p:nvPr/>
        </p:nvSpPr>
        <p:spPr bwMode="gray">
          <a:xfrm>
            <a:off x="3589338" y="3035300"/>
            <a:ext cx="1690688" cy="1690688"/>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114705" name="Group 23"/>
          <p:cNvGrpSpPr/>
          <p:nvPr/>
        </p:nvGrpSpPr>
        <p:grpSpPr>
          <a:xfrm>
            <a:off x="3690938" y="3146425"/>
            <a:ext cx="1522412" cy="1522413"/>
            <a:chOff x="2416" y="1846"/>
            <a:chExt cx="959" cy="959"/>
          </a:xfrm>
        </p:grpSpPr>
        <p:sp>
          <p:nvSpPr>
            <p:cNvPr id="4156440" name="Oval 24"/>
            <p:cNvSpPr>
              <a:spLocks noChangeArrowheads="1"/>
            </p:cNvSpPr>
            <p:nvPr/>
          </p:nvSpPr>
          <p:spPr bwMode="gray">
            <a:xfrm>
              <a:off x="2416" y="1846"/>
              <a:ext cx="959" cy="959"/>
            </a:xfrm>
            <a:prstGeom prst="ellipse">
              <a:avLst/>
            </a:prstGeom>
            <a:solidFill>
              <a:srgbClr val="333333"/>
            </a:solidFill>
            <a:ln w="38100" algn="ctr">
              <a:noFill/>
              <a:round/>
            </a:ln>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41" name="Oval 25"/>
            <p:cNvSpPr>
              <a:spLocks noChangeArrowheads="1"/>
            </p:cNvSpPr>
            <p:nvPr/>
          </p:nvSpPr>
          <p:spPr bwMode="gray">
            <a:xfrm>
              <a:off x="2430" y="1858"/>
              <a:ext cx="927" cy="928"/>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42" name="Oval 26"/>
            <p:cNvSpPr>
              <a:spLocks noChangeArrowheads="1"/>
            </p:cNvSpPr>
            <p:nvPr/>
          </p:nvSpPr>
          <p:spPr bwMode="gray">
            <a:xfrm>
              <a:off x="2441" y="1864"/>
              <a:ext cx="906" cy="904"/>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43" name="Oval 27"/>
            <p:cNvSpPr>
              <a:spLocks noChangeArrowheads="1"/>
            </p:cNvSpPr>
            <p:nvPr/>
          </p:nvSpPr>
          <p:spPr bwMode="gray">
            <a:xfrm>
              <a:off x="2451" y="1873"/>
              <a:ext cx="861" cy="845"/>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44" name="Oval 28"/>
            <p:cNvSpPr>
              <a:spLocks noChangeArrowheads="1"/>
            </p:cNvSpPr>
            <p:nvPr/>
          </p:nvSpPr>
          <p:spPr bwMode="gray">
            <a:xfrm>
              <a:off x="2502" y="1896"/>
              <a:ext cx="765" cy="687"/>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114706" name="Text Box 29"/>
          <p:cNvSpPr txBox="1"/>
          <p:nvPr/>
        </p:nvSpPr>
        <p:spPr>
          <a:xfrm>
            <a:off x="3848100" y="3565525"/>
            <a:ext cx="1200150" cy="70167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a:lnSpc>
                <a:spcPct val="100000"/>
              </a:lnSpc>
              <a:spcBef>
                <a:spcPct val="0"/>
              </a:spcBef>
              <a:buClrTx/>
              <a:buFontTx/>
              <a:buNone/>
            </a:pPr>
            <a:r>
              <a:rPr lang="zh-CN" altLang="en-US" sz="4000" dirty="0">
                <a:solidFill>
                  <a:srgbClr val="000000"/>
                </a:solidFill>
                <a:latin typeface="Times New Roman" panose="02020603050405020304" pitchFamily="18" charset="0"/>
                <a:ea typeface="华文中宋" panose="02010600040101010101" pitchFamily="2" charset="-122"/>
              </a:rPr>
              <a:t>总线</a:t>
            </a:r>
            <a:endParaRPr lang="zh-CN" altLang="en-US" sz="4000" dirty="0">
              <a:solidFill>
                <a:srgbClr val="000000"/>
              </a:solidFill>
              <a:latin typeface="Times New Roman" panose="02020603050405020304" pitchFamily="18" charset="0"/>
              <a:ea typeface="华文中宋" panose="02010600040101010101" pitchFamily="2" charset="-122"/>
            </a:endParaRPr>
          </a:p>
        </p:txBody>
      </p:sp>
      <p:sp>
        <p:nvSpPr>
          <p:cNvPr id="114707" name="Text Box 30"/>
          <p:cNvSpPr txBox="1"/>
          <p:nvPr/>
        </p:nvSpPr>
        <p:spPr>
          <a:xfrm>
            <a:off x="5708650" y="1839913"/>
            <a:ext cx="2317750" cy="519112"/>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zh-CN" altLang="en-US" sz="2800" dirty="0"/>
              <a:t>总线基本概念</a:t>
            </a:r>
            <a:endParaRPr lang="zh-CN" altLang="en-US" sz="2800" dirty="0"/>
          </a:p>
        </p:txBody>
      </p:sp>
      <p:sp>
        <p:nvSpPr>
          <p:cNvPr id="114708" name="Text Box 31"/>
          <p:cNvSpPr txBox="1"/>
          <p:nvPr/>
        </p:nvSpPr>
        <p:spPr>
          <a:xfrm>
            <a:off x="1522413" y="1843088"/>
            <a:ext cx="1606550" cy="519112"/>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zh-CN" altLang="en-US" sz="2800" dirty="0">
                <a:latin typeface="Times New Roman" panose="02020603050405020304" pitchFamily="18" charset="0"/>
              </a:rPr>
              <a:t>总线设备</a:t>
            </a:r>
            <a:endParaRPr lang="zh-CN" altLang="en-US" sz="2800" dirty="0">
              <a:latin typeface="Times New Roman" panose="02020603050405020304" pitchFamily="18" charset="0"/>
            </a:endParaRPr>
          </a:p>
        </p:txBody>
      </p:sp>
      <p:sp>
        <p:nvSpPr>
          <p:cNvPr id="114709" name="Text Box 32"/>
          <p:cNvSpPr txBox="1"/>
          <p:nvPr/>
        </p:nvSpPr>
        <p:spPr>
          <a:xfrm>
            <a:off x="5638800" y="5364163"/>
            <a:ext cx="2317750" cy="519112"/>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342900" lvl="0" indent="-342900">
              <a:lnSpc>
                <a:spcPct val="100000"/>
              </a:lnSpc>
              <a:spcBef>
                <a:spcPct val="0"/>
              </a:spcBef>
              <a:buClrTx/>
              <a:buFontTx/>
              <a:buNone/>
            </a:pPr>
            <a:r>
              <a:rPr lang="zh-CN" altLang="en-US" sz="2800" dirty="0"/>
              <a:t>总线性能指标</a:t>
            </a:r>
            <a:endParaRPr lang="zh-CN" altLang="en-US" sz="2800" dirty="0"/>
          </a:p>
        </p:txBody>
      </p:sp>
      <p:sp>
        <p:nvSpPr>
          <p:cNvPr id="114710" name="Text Box 33"/>
          <p:cNvSpPr txBox="1"/>
          <p:nvPr/>
        </p:nvSpPr>
        <p:spPr>
          <a:xfrm>
            <a:off x="731838" y="3592513"/>
            <a:ext cx="1606550" cy="519112"/>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r">
              <a:lnSpc>
                <a:spcPct val="100000"/>
              </a:lnSpc>
              <a:spcBef>
                <a:spcPct val="0"/>
              </a:spcBef>
              <a:buClrTx/>
              <a:buFontTx/>
              <a:buNone/>
            </a:pPr>
            <a:r>
              <a:rPr lang="zh-CN" altLang="en-US" sz="2800" dirty="0"/>
              <a:t>总线仲裁</a:t>
            </a:r>
            <a:endParaRPr lang="zh-CN" altLang="en-US" sz="2800" dirty="0"/>
          </a:p>
        </p:txBody>
      </p:sp>
      <p:grpSp>
        <p:nvGrpSpPr>
          <p:cNvPr id="114711" name="Group 34"/>
          <p:cNvGrpSpPr/>
          <p:nvPr/>
        </p:nvGrpSpPr>
        <p:grpSpPr>
          <a:xfrm>
            <a:off x="3276600" y="2057400"/>
            <a:ext cx="360363" cy="360363"/>
            <a:chOff x="3923" y="2659"/>
            <a:chExt cx="227" cy="227"/>
          </a:xfrm>
        </p:grpSpPr>
        <p:sp>
          <p:nvSpPr>
            <p:cNvPr id="4156451" name="Oval 35"/>
            <p:cNvSpPr>
              <a:spLocks noChangeArrowheads="1"/>
            </p:cNvSpPr>
            <p:nvPr/>
          </p:nvSpPr>
          <p:spPr bwMode="gray">
            <a:xfrm>
              <a:off x="3923" y="2659"/>
              <a:ext cx="227" cy="227"/>
            </a:xfrm>
            <a:prstGeom prst="ellipse">
              <a:avLst/>
            </a:prstGeom>
            <a:gradFill rotWithShape="1">
              <a:gsLst>
                <a:gs pos="0">
                  <a:srgbClr val="FF0000">
                    <a:gamma/>
                    <a:tint val="33725"/>
                    <a:invGamma/>
                  </a:srgbClr>
                </a:gs>
                <a:gs pos="100000">
                  <a:srgbClr val="FF0000"/>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52" name="Oval 36"/>
            <p:cNvSpPr>
              <a:spLocks noChangeArrowheads="1"/>
            </p:cNvSpPr>
            <p:nvPr/>
          </p:nvSpPr>
          <p:spPr bwMode="gray">
            <a:xfrm>
              <a:off x="3933" y="2678"/>
              <a:ext cx="141" cy="142"/>
            </a:xfrm>
            <a:prstGeom prst="ellipse">
              <a:avLst/>
            </a:prstGeom>
            <a:gradFill rotWithShape="1">
              <a:gsLst>
                <a:gs pos="0">
                  <a:srgbClr val="FF0000">
                    <a:gamma/>
                    <a:tint val="33725"/>
                    <a:invGamma/>
                  </a:srgbClr>
                </a:gs>
                <a:gs pos="100000">
                  <a:srgbClr val="FF0000">
                    <a:alpha val="0"/>
                  </a:srgbClr>
                </a:gs>
              </a:gsLst>
              <a:path path="shape">
                <a:fillToRect l="50000" t="50000" r="50000" b="50000"/>
              </a:path>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
        <p:nvSpPr>
          <p:cNvPr id="114712" name="Rectangle 37"/>
          <p:cNvSpPr/>
          <p:nvPr/>
        </p:nvSpPr>
        <p:spPr>
          <a:xfrm>
            <a:off x="712788" y="5473700"/>
            <a:ext cx="2673350" cy="519113"/>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zh-CN" altLang="en-US" sz="2800" dirty="0"/>
              <a:t>总线操作和定时</a:t>
            </a:r>
            <a:endParaRPr lang="zh-CN" altLang="en-US" sz="2800" dirty="0"/>
          </a:p>
        </p:txBody>
      </p:sp>
      <p:sp>
        <p:nvSpPr>
          <p:cNvPr id="114713" name="Rectangle 38"/>
          <p:cNvSpPr/>
          <p:nvPr/>
        </p:nvSpPr>
        <p:spPr>
          <a:xfrm>
            <a:off x="6470650" y="3687763"/>
            <a:ext cx="1606550" cy="519112"/>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nSpc>
                <a:spcPct val="100000"/>
              </a:lnSpc>
              <a:spcBef>
                <a:spcPct val="0"/>
              </a:spcBef>
              <a:buClrTx/>
              <a:buFontTx/>
              <a:buNone/>
            </a:pPr>
            <a:r>
              <a:rPr lang="zh-CN" altLang="en-US" sz="2800" dirty="0"/>
              <a:t>总线分类</a:t>
            </a:r>
            <a:endParaRPr lang="zh-CN" altLang="en-US" sz="2800" dirty="0"/>
          </a:p>
        </p:txBody>
      </p:sp>
      <p:grpSp>
        <p:nvGrpSpPr>
          <p:cNvPr id="114714" name="Group 39"/>
          <p:cNvGrpSpPr/>
          <p:nvPr/>
        </p:nvGrpSpPr>
        <p:grpSpPr>
          <a:xfrm>
            <a:off x="3203575" y="5229225"/>
            <a:ext cx="360363" cy="360363"/>
            <a:chOff x="1565" y="2659"/>
            <a:chExt cx="227" cy="227"/>
          </a:xfrm>
        </p:grpSpPr>
        <p:sp>
          <p:nvSpPr>
            <p:cNvPr id="4156456" name="Oval 40"/>
            <p:cNvSpPr>
              <a:spLocks noChangeArrowheads="1"/>
            </p:cNvSpPr>
            <p:nvPr/>
          </p:nvSpPr>
          <p:spPr bwMode="gray">
            <a:xfrm>
              <a:off x="1565" y="2659"/>
              <a:ext cx="227" cy="227"/>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57" name="Oval 41"/>
            <p:cNvSpPr>
              <a:spLocks noChangeArrowheads="1"/>
            </p:cNvSpPr>
            <p:nvPr/>
          </p:nvSpPr>
          <p:spPr bwMode="gray">
            <a:xfrm>
              <a:off x="1575" y="2678"/>
              <a:ext cx="141" cy="142"/>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114715" name="Group 42"/>
          <p:cNvGrpSpPr/>
          <p:nvPr/>
        </p:nvGrpSpPr>
        <p:grpSpPr>
          <a:xfrm>
            <a:off x="5219700" y="2060575"/>
            <a:ext cx="360363" cy="360363"/>
            <a:chOff x="1565" y="2659"/>
            <a:chExt cx="227" cy="227"/>
          </a:xfrm>
        </p:grpSpPr>
        <p:sp>
          <p:nvSpPr>
            <p:cNvPr id="4156459" name="Oval 43"/>
            <p:cNvSpPr>
              <a:spLocks noChangeArrowheads="1"/>
            </p:cNvSpPr>
            <p:nvPr/>
          </p:nvSpPr>
          <p:spPr bwMode="gray">
            <a:xfrm>
              <a:off x="1565" y="2659"/>
              <a:ext cx="227" cy="227"/>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156460" name="Oval 44"/>
            <p:cNvSpPr>
              <a:spLocks noChangeArrowheads="1"/>
            </p:cNvSpPr>
            <p:nvPr/>
          </p:nvSpPr>
          <p:spPr bwMode="gray">
            <a:xfrm>
              <a:off x="1575" y="2678"/>
              <a:ext cx="141" cy="142"/>
            </a:xfrm>
            <a:prstGeom prst="ellipse">
              <a:avLst/>
            </a:prstGeom>
            <a:gradFill rotWithShape="1">
              <a:gsLst>
                <a:gs pos="0">
                  <a:srgbClr val="FF9999">
                    <a:gamma/>
                    <a:shade val="46275"/>
                    <a:invGamma/>
                  </a:srgbClr>
                </a:gs>
                <a:gs pos="50000">
                  <a:srgbClr val="FF9999"/>
                </a:gs>
                <a:gs pos="100000">
                  <a:srgbClr val="FF9999">
                    <a:gamma/>
                    <a:shade val="46275"/>
                    <a:invGamma/>
                  </a:srgbClr>
                </a:gs>
              </a:gsLst>
              <a:lin ang="5400000" scaled="1"/>
            </a:gradFill>
            <a:ln w="9525" algn="ctr">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p:zo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Text Box 3"/>
          <p:cNvSpPr txBox="1"/>
          <p:nvPr/>
        </p:nvSpPr>
        <p:spPr>
          <a:xfrm>
            <a:off x="738188" y="1460500"/>
            <a:ext cx="2286000" cy="523875"/>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800" dirty="0">
                <a:latin typeface="Times New Roman" panose="02020603050405020304" pitchFamily="18" charset="0"/>
              </a:rPr>
              <a:t>1. </a:t>
            </a:r>
            <a:r>
              <a:rPr lang="zh-CN" altLang="en-US" sz="2800" dirty="0">
                <a:latin typeface="Times New Roman" panose="02020603050405020304" pitchFamily="18" charset="0"/>
              </a:rPr>
              <a:t>总线宽度</a:t>
            </a:r>
            <a:endParaRPr lang="zh-CN" altLang="en-US" sz="2800" dirty="0">
              <a:latin typeface="Times New Roman" panose="02020603050405020304" pitchFamily="18" charset="0"/>
            </a:endParaRPr>
          </a:p>
        </p:txBody>
      </p:sp>
      <p:sp>
        <p:nvSpPr>
          <p:cNvPr id="115715" name="Text Box 4"/>
          <p:cNvSpPr txBox="1"/>
          <p:nvPr/>
        </p:nvSpPr>
        <p:spPr>
          <a:xfrm>
            <a:off x="738188" y="2159000"/>
            <a:ext cx="1979612" cy="52387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800" dirty="0">
                <a:latin typeface="Times New Roman" panose="02020603050405020304" pitchFamily="18" charset="0"/>
              </a:rPr>
              <a:t>2. </a:t>
            </a:r>
            <a:r>
              <a:rPr lang="zh-CN" altLang="en-US" sz="2800" dirty="0">
                <a:latin typeface="Times New Roman" panose="02020603050405020304" pitchFamily="18" charset="0"/>
              </a:rPr>
              <a:t>总线带宽</a:t>
            </a:r>
            <a:endParaRPr lang="zh-CN" altLang="en-US" sz="2800" dirty="0">
              <a:latin typeface="Times New Roman" panose="02020603050405020304" pitchFamily="18" charset="0"/>
            </a:endParaRPr>
          </a:p>
        </p:txBody>
      </p:sp>
      <p:sp>
        <p:nvSpPr>
          <p:cNvPr id="115716" name="Text Box 5"/>
          <p:cNvSpPr txBox="1"/>
          <p:nvPr/>
        </p:nvSpPr>
        <p:spPr>
          <a:xfrm>
            <a:off x="738188" y="2844800"/>
            <a:ext cx="2797175" cy="52387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800" dirty="0">
                <a:latin typeface="Times New Roman" panose="02020603050405020304" pitchFamily="18" charset="0"/>
              </a:rPr>
              <a:t>3. </a:t>
            </a:r>
            <a:r>
              <a:rPr lang="zh-CN" altLang="en-US" sz="2800" dirty="0">
                <a:latin typeface="Times New Roman" panose="02020603050405020304" pitchFamily="18" charset="0"/>
              </a:rPr>
              <a:t>时钟同步</a:t>
            </a:r>
            <a:r>
              <a:rPr lang="en-US" altLang="zh-CN" sz="2800" dirty="0">
                <a:latin typeface="Times New Roman" panose="02020603050405020304" pitchFamily="18" charset="0"/>
              </a:rPr>
              <a:t>/</a:t>
            </a:r>
            <a:r>
              <a:rPr lang="zh-CN" altLang="en-US" sz="2800" dirty="0">
                <a:latin typeface="Times New Roman" panose="02020603050405020304" pitchFamily="18" charset="0"/>
              </a:rPr>
              <a:t>异步</a:t>
            </a:r>
            <a:endParaRPr lang="zh-CN" altLang="en-US" sz="2800" dirty="0">
              <a:latin typeface="Times New Roman" panose="02020603050405020304" pitchFamily="18" charset="0"/>
            </a:endParaRPr>
          </a:p>
        </p:txBody>
      </p:sp>
      <p:sp>
        <p:nvSpPr>
          <p:cNvPr id="115717" name="Text Box 6"/>
          <p:cNvSpPr txBox="1"/>
          <p:nvPr/>
        </p:nvSpPr>
        <p:spPr>
          <a:xfrm>
            <a:off x="752475" y="3530600"/>
            <a:ext cx="1979613" cy="52387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dist" eaLnBrk="1" hangingPunct="1">
              <a:lnSpc>
                <a:spcPct val="100000"/>
              </a:lnSpc>
              <a:spcBef>
                <a:spcPct val="0"/>
              </a:spcBef>
              <a:buClrTx/>
              <a:buFontTx/>
              <a:buNone/>
            </a:pPr>
            <a:r>
              <a:rPr lang="en-US" altLang="zh-CN" sz="2800" dirty="0">
                <a:latin typeface="Times New Roman" panose="02020603050405020304" pitchFamily="18" charset="0"/>
              </a:rPr>
              <a:t>4. </a:t>
            </a:r>
            <a:r>
              <a:rPr lang="zh-CN" altLang="en-US" sz="2800" dirty="0">
                <a:latin typeface="Times New Roman" panose="02020603050405020304" pitchFamily="18" charset="0"/>
              </a:rPr>
              <a:t>总线复用</a:t>
            </a:r>
            <a:endParaRPr lang="zh-CN" altLang="en-US" sz="2800" dirty="0">
              <a:latin typeface="Times New Roman" panose="02020603050405020304" pitchFamily="18" charset="0"/>
            </a:endParaRPr>
          </a:p>
        </p:txBody>
      </p:sp>
      <p:sp>
        <p:nvSpPr>
          <p:cNvPr id="115718" name="Text Box 7"/>
          <p:cNvSpPr txBox="1"/>
          <p:nvPr/>
        </p:nvSpPr>
        <p:spPr>
          <a:xfrm>
            <a:off x="738188" y="4216400"/>
            <a:ext cx="1979612" cy="52387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800" dirty="0">
                <a:latin typeface="Times New Roman" panose="02020603050405020304" pitchFamily="18" charset="0"/>
              </a:rPr>
              <a:t>5. </a:t>
            </a:r>
            <a:r>
              <a:rPr lang="zh-CN" altLang="en-US" sz="2800" dirty="0">
                <a:latin typeface="Times New Roman" panose="02020603050405020304" pitchFamily="18" charset="0"/>
              </a:rPr>
              <a:t>信号线数</a:t>
            </a:r>
            <a:endParaRPr lang="zh-CN" altLang="en-US" sz="2800" dirty="0">
              <a:latin typeface="Times New Roman" panose="02020603050405020304" pitchFamily="18" charset="0"/>
            </a:endParaRPr>
          </a:p>
        </p:txBody>
      </p:sp>
      <p:sp>
        <p:nvSpPr>
          <p:cNvPr id="115719" name="Text Box 8"/>
          <p:cNvSpPr txBox="1"/>
          <p:nvPr/>
        </p:nvSpPr>
        <p:spPr>
          <a:xfrm>
            <a:off x="738188" y="4902200"/>
            <a:ext cx="2698750" cy="52387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800" dirty="0">
                <a:latin typeface="Times New Roman" panose="02020603050405020304" pitchFamily="18" charset="0"/>
              </a:rPr>
              <a:t>6. </a:t>
            </a:r>
            <a:r>
              <a:rPr lang="zh-CN" altLang="en-US" sz="2800" dirty="0">
                <a:latin typeface="Times New Roman" panose="02020603050405020304" pitchFamily="18" charset="0"/>
              </a:rPr>
              <a:t>总线控制方式</a:t>
            </a:r>
            <a:endParaRPr lang="zh-CN" altLang="en-US" sz="2800" dirty="0">
              <a:latin typeface="Times New Roman" panose="02020603050405020304" pitchFamily="18" charset="0"/>
            </a:endParaRPr>
          </a:p>
        </p:txBody>
      </p:sp>
      <p:sp>
        <p:nvSpPr>
          <p:cNvPr id="115720" name="Text Box 9"/>
          <p:cNvSpPr txBox="1"/>
          <p:nvPr/>
        </p:nvSpPr>
        <p:spPr>
          <a:xfrm>
            <a:off x="738188" y="5588000"/>
            <a:ext cx="1979612" cy="523875"/>
          </a:xfrm>
          <a:prstGeom prst="rect">
            <a:avLst/>
          </a:prstGeom>
          <a:noFill/>
          <a:ln w="9525">
            <a:noFill/>
          </a:ln>
        </p:spPr>
        <p:txBody>
          <a:bodyPr wrap="none">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en-US" altLang="zh-CN" sz="2800" dirty="0">
                <a:latin typeface="Times New Roman" panose="02020603050405020304" pitchFamily="18" charset="0"/>
              </a:rPr>
              <a:t>7. </a:t>
            </a:r>
            <a:r>
              <a:rPr lang="zh-CN" altLang="en-US" sz="2800" dirty="0">
                <a:latin typeface="Times New Roman" panose="02020603050405020304" pitchFamily="18" charset="0"/>
              </a:rPr>
              <a:t>其他指标</a:t>
            </a:r>
            <a:endParaRPr lang="zh-CN" altLang="en-US" sz="2800" dirty="0">
              <a:latin typeface="Times New Roman" panose="02020603050405020304" pitchFamily="18" charset="0"/>
            </a:endParaRPr>
          </a:p>
        </p:txBody>
      </p:sp>
      <p:sp>
        <p:nvSpPr>
          <p:cNvPr id="4200458" name="Text Box 10"/>
          <p:cNvSpPr txBox="1"/>
          <p:nvPr/>
        </p:nvSpPr>
        <p:spPr>
          <a:xfrm>
            <a:off x="3255963" y="1479550"/>
            <a:ext cx="5815012" cy="48895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600" dirty="0">
                <a:latin typeface="Times New Roman" panose="02020603050405020304" pitchFamily="18" charset="0"/>
              </a:rPr>
              <a:t>一次能传送的数据位数</a:t>
            </a:r>
            <a:r>
              <a:rPr lang="en-US" altLang="zh-CN" sz="2600" dirty="0">
                <a:latin typeface="Times New Roman" panose="02020603050405020304" pitchFamily="18" charset="0"/>
              </a:rPr>
              <a:t>(</a:t>
            </a:r>
            <a:r>
              <a:rPr lang="zh-CN" altLang="en-US" sz="2600" dirty="0">
                <a:solidFill>
                  <a:srgbClr val="FFFF00"/>
                </a:solidFill>
                <a:latin typeface="Times New Roman" panose="02020603050405020304" pitchFamily="18" charset="0"/>
              </a:rPr>
              <a:t>数据线</a:t>
            </a:r>
            <a:r>
              <a:rPr lang="zh-CN" altLang="en-US" sz="2600" dirty="0">
                <a:latin typeface="Times New Roman" panose="02020603050405020304" pitchFamily="18" charset="0"/>
              </a:rPr>
              <a:t>根数</a:t>
            </a:r>
            <a:r>
              <a:rPr lang="en-US" altLang="zh-CN" sz="2600" dirty="0">
                <a:latin typeface="Times New Roman" panose="02020603050405020304" pitchFamily="18" charset="0"/>
              </a:rPr>
              <a:t>)</a:t>
            </a:r>
            <a:endParaRPr lang="en-US" altLang="zh-CN" sz="2600" dirty="0">
              <a:latin typeface="Times New Roman" panose="02020603050405020304" pitchFamily="18" charset="0"/>
            </a:endParaRPr>
          </a:p>
        </p:txBody>
      </p:sp>
      <p:sp>
        <p:nvSpPr>
          <p:cNvPr id="4200459" name="Text Box 11"/>
          <p:cNvSpPr txBox="1"/>
          <p:nvPr/>
        </p:nvSpPr>
        <p:spPr>
          <a:xfrm>
            <a:off x="3359150" y="2165350"/>
            <a:ext cx="5232400" cy="48895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600" dirty="0">
                <a:solidFill>
                  <a:srgbClr val="FFFF00"/>
                </a:solidFill>
                <a:latin typeface="Times New Roman" panose="02020603050405020304" pitchFamily="18" charset="0"/>
              </a:rPr>
              <a:t>每秒传输的最大字节数</a:t>
            </a:r>
            <a:r>
              <a:rPr lang="en-US" altLang="zh-CN" sz="2600" dirty="0">
                <a:latin typeface="Times New Roman" panose="02020603050405020304" pitchFamily="18" charset="0"/>
              </a:rPr>
              <a:t>(MB/s)</a:t>
            </a:r>
            <a:endParaRPr lang="en-US" altLang="zh-CN" sz="2600" dirty="0">
              <a:latin typeface="Times New Roman" panose="02020603050405020304" pitchFamily="18" charset="0"/>
            </a:endParaRPr>
          </a:p>
        </p:txBody>
      </p:sp>
      <p:sp>
        <p:nvSpPr>
          <p:cNvPr id="4200460" name="Text Box 12"/>
          <p:cNvSpPr txBox="1"/>
          <p:nvPr/>
        </p:nvSpPr>
        <p:spPr>
          <a:xfrm>
            <a:off x="3554413" y="2841625"/>
            <a:ext cx="3243262" cy="48895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600" dirty="0">
                <a:solidFill>
                  <a:srgbClr val="FFFF00"/>
                </a:solidFill>
                <a:latin typeface="Times New Roman" panose="02020603050405020304" pitchFamily="18" charset="0"/>
              </a:rPr>
              <a:t>同步、异步</a:t>
            </a:r>
            <a:endParaRPr lang="zh-CN" altLang="en-US" sz="2600" dirty="0">
              <a:solidFill>
                <a:srgbClr val="FFFF00"/>
              </a:solidFill>
              <a:latin typeface="Times New Roman" panose="02020603050405020304" pitchFamily="18" charset="0"/>
            </a:endParaRPr>
          </a:p>
        </p:txBody>
      </p:sp>
      <p:sp>
        <p:nvSpPr>
          <p:cNvPr id="4200461" name="Text Box 13"/>
          <p:cNvSpPr txBox="1"/>
          <p:nvPr/>
        </p:nvSpPr>
        <p:spPr>
          <a:xfrm>
            <a:off x="3554413" y="3527425"/>
            <a:ext cx="4522787" cy="48895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600" dirty="0">
                <a:solidFill>
                  <a:srgbClr val="FFFF00"/>
                </a:solidFill>
                <a:latin typeface="Times New Roman" panose="02020603050405020304" pitchFamily="18" charset="0"/>
              </a:rPr>
              <a:t>地址线</a:t>
            </a:r>
            <a:r>
              <a:rPr lang="zh-CN" altLang="en-US" sz="2600" dirty="0">
                <a:solidFill>
                  <a:schemeClr val="folHlink"/>
                </a:solidFill>
                <a:latin typeface="Times New Roman" panose="02020603050405020304" pitchFamily="18" charset="0"/>
              </a:rPr>
              <a:t> </a:t>
            </a:r>
            <a:r>
              <a:rPr lang="zh-CN" altLang="en-US" sz="2600" dirty="0">
                <a:latin typeface="Times New Roman" panose="02020603050405020304" pitchFamily="18" charset="0"/>
              </a:rPr>
              <a:t>与 </a:t>
            </a:r>
            <a:r>
              <a:rPr lang="zh-CN" altLang="en-US" sz="2600" dirty="0">
                <a:solidFill>
                  <a:srgbClr val="FFFF00"/>
                </a:solidFill>
                <a:latin typeface="Times New Roman" panose="02020603050405020304" pitchFamily="18" charset="0"/>
              </a:rPr>
              <a:t>数据线</a:t>
            </a:r>
            <a:r>
              <a:rPr lang="zh-CN" altLang="en-US" sz="2600" dirty="0">
                <a:solidFill>
                  <a:schemeClr val="folHlink"/>
                </a:solidFill>
                <a:latin typeface="Times New Roman" panose="02020603050405020304" pitchFamily="18" charset="0"/>
              </a:rPr>
              <a:t> </a:t>
            </a:r>
            <a:r>
              <a:rPr lang="zh-CN" altLang="en-US" sz="2600" dirty="0">
                <a:latin typeface="Times New Roman" panose="02020603050405020304" pitchFamily="18" charset="0"/>
              </a:rPr>
              <a:t>复用</a:t>
            </a:r>
            <a:endParaRPr lang="zh-CN" altLang="en-US" sz="2600" dirty="0">
              <a:latin typeface="Times New Roman" panose="02020603050405020304" pitchFamily="18" charset="0"/>
            </a:endParaRPr>
          </a:p>
        </p:txBody>
      </p:sp>
      <p:sp>
        <p:nvSpPr>
          <p:cNvPr id="4200462" name="Text Box 14"/>
          <p:cNvSpPr txBox="1"/>
          <p:nvPr/>
        </p:nvSpPr>
        <p:spPr>
          <a:xfrm>
            <a:off x="3571875" y="4227513"/>
            <a:ext cx="5572125" cy="48895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600" dirty="0">
                <a:latin typeface="Times New Roman" panose="02020603050405020304" pitchFamily="18" charset="0"/>
              </a:rPr>
              <a:t>地址线、数据线和控制线的 </a:t>
            </a:r>
            <a:r>
              <a:rPr lang="zh-CN" altLang="en-US" sz="2600" dirty="0">
                <a:solidFill>
                  <a:srgbClr val="FFFF00"/>
                </a:solidFill>
                <a:latin typeface="Times New Roman" panose="02020603050405020304" pitchFamily="18" charset="0"/>
              </a:rPr>
              <a:t>总和</a:t>
            </a:r>
            <a:endParaRPr lang="zh-CN" altLang="en-US" sz="2600" dirty="0">
              <a:solidFill>
                <a:srgbClr val="FFFF00"/>
              </a:solidFill>
              <a:latin typeface="Times New Roman" panose="02020603050405020304" pitchFamily="18" charset="0"/>
            </a:endParaRPr>
          </a:p>
        </p:txBody>
      </p:sp>
      <p:sp>
        <p:nvSpPr>
          <p:cNvPr id="4200463" name="Text Box 15"/>
          <p:cNvSpPr txBox="1"/>
          <p:nvPr/>
        </p:nvSpPr>
        <p:spPr>
          <a:xfrm>
            <a:off x="3541713" y="5584825"/>
            <a:ext cx="2201862" cy="48895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600" dirty="0">
                <a:solidFill>
                  <a:srgbClr val="FFFF00"/>
                </a:solidFill>
                <a:latin typeface="Times New Roman" panose="02020603050405020304" pitchFamily="18" charset="0"/>
              </a:rPr>
              <a:t>负载能力</a:t>
            </a:r>
            <a:endParaRPr lang="zh-CN" altLang="en-US" sz="2600" dirty="0">
              <a:solidFill>
                <a:srgbClr val="FFFF00"/>
              </a:solidFill>
              <a:latin typeface="Times New Roman" panose="02020603050405020304" pitchFamily="18" charset="0"/>
            </a:endParaRPr>
          </a:p>
        </p:txBody>
      </p:sp>
      <p:sp>
        <p:nvSpPr>
          <p:cNvPr id="4200464" name="Text Box 16"/>
          <p:cNvSpPr txBox="1"/>
          <p:nvPr/>
        </p:nvSpPr>
        <p:spPr>
          <a:xfrm>
            <a:off x="3570288" y="4913313"/>
            <a:ext cx="5573712" cy="488950"/>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eaLnBrk="1" hangingPunct="1">
              <a:lnSpc>
                <a:spcPct val="100000"/>
              </a:lnSpc>
              <a:spcBef>
                <a:spcPct val="0"/>
              </a:spcBef>
              <a:buClrTx/>
              <a:buFontTx/>
              <a:buNone/>
            </a:pPr>
            <a:r>
              <a:rPr lang="zh-CN" altLang="en-US" sz="2600" dirty="0">
                <a:latin typeface="Times New Roman" panose="02020603050405020304" pitchFamily="18" charset="0"/>
              </a:rPr>
              <a:t>并发、自动、仲裁、逻辑、计数</a:t>
            </a:r>
            <a:endParaRPr lang="zh-CN" altLang="en-US" sz="2600" dirty="0">
              <a:latin typeface="Times New Roman" panose="02020603050405020304" pitchFamily="18" charset="0"/>
            </a:endParaRPr>
          </a:p>
        </p:txBody>
      </p:sp>
      <p:sp>
        <p:nvSpPr>
          <p:cNvPr id="4200465" name="Rectangle 17"/>
          <p:cNvSpPr>
            <a:spLocks noGrp="1" noChangeArrowheads="1"/>
          </p:cNvSpPr>
          <p:nvPr>
            <p:ph type="title" idx="4294967295"/>
          </p:nvPr>
        </p:nvSpPr>
        <p:spPr>
          <a:xfrm>
            <a:off x="0" y="317500"/>
            <a:ext cx="9144000" cy="714375"/>
          </a:xfrm>
        </p:spPr>
        <p:txBody>
          <a:bodyPr wrap="square" lIns="91422" tIns="45710" rIns="91422" bIns="45710" numCol="1" anchor="b" anchorCtr="0" compatLnSpc="1">
            <a:spAutoFit/>
          </a:bodyPr>
          <a:lstStyle/>
          <a:p>
            <a:pPr marL="0" marR="0" lvl="0" indent="0" algn="ctr" defTabSz="914400" rtl="0" eaLnBrk="1" fontAlgn="base" latinLnBrk="0" hangingPunct="1">
              <a:lnSpc>
                <a:spcPct val="85000"/>
              </a:lnSpc>
              <a:spcBef>
                <a:spcPct val="0"/>
              </a:spcBef>
              <a:spcAft>
                <a:spcPct val="0"/>
              </a:spcAft>
              <a:buClrTx/>
              <a:buSzTx/>
              <a:buFontTx/>
              <a:buNone/>
              <a:defRPr/>
            </a:pPr>
            <a:r>
              <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rPr>
              <a:t>回顾－总线的性能指标</a:t>
            </a:r>
            <a:endParaRPr kumimoji="0" lang="zh-CN" altLang="en-US" sz="4800" b="1" i="0" u="none" strike="noStrike" kern="0" cap="none" spc="0" normalizeH="0" baseline="0" noProof="0" smtClean="0">
              <a:ln>
                <a:noFill/>
              </a:ln>
              <a:solidFill>
                <a:srgbClr val="FF0000"/>
              </a:solidFill>
              <a:effectLst>
                <a:outerShdw blurRad="38100" dist="38100" dir="2700000" algn="tl">
                  <a:srgbClr val="000000"/>
                </a:outerShdw>
              </a:effectLst>
              <a:uLnTx/>
              <a:uFillTx/>
              <a:latin typeface="+mj-lt"/>
              <a:ea typeface="+mj-ea"/>
              <a:cs typeface="+mj-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00458"/>
                                        </p:tgtEl>
                                        <p:attrNameLst>
                                          <p:attrName>style.visibility</p:attrName>
                                        </p:attrNameLst>
                                      </p:cBhvr>
                                      <p:to>
                                        <p:strVal val="visible"/>
                                      </p:to>
                                    </p:set>
                                    <p:animEffect transition="in" filter="blinds(horizontal)">
                                      <p:cBhvr>
                                        <p:cTn id="7" dur="500"/>
                                        <p:tgtEl>
                                          <p:spTgt spid="42004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200459"/>
                                        </p:tgtEl>
                                        <p:attrNameLst>
                                          <p:attrName>style.visibility</p:attrName>
                                        </p:attrNameLst>
                                      </p:cBhvr>
                                      <p:to>
                                        <p:strVal val="visible"/>
                                      </p:to>
                                    </p:set>
                                    <p:animEffect transition="in" filter="blinds(horizontal)">
                                      <p:cBhvr>
                                        <p:cTn id="12" dur="500"/>
                                        <p:tgtEl>
                                          <p:spTgt spid="420045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200460"/>
                                        </p:tgtEl>
                                        <p:attrNameLst>
                                          <p:attrName>style.visibility</p:attrName>
                                        </p:attrNameLst>
                                      </p:cBhvr>
                                      <p:to>
                                        <p:strVal val="visible"/>
                                      </p:to>
                                    </p:set>
                                    <p:animEffect transition="in" filter="blinds(horizontal)">
                                      <p:cBhvr>
                                        <p:cTn id="17" dur="500"/>
                                        <p:tgtEl>
                                          <p:spTgt spid="420046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200461"/>
                                        </p:tgtEl>
                                        <p:attrNameLst>
                                          <p:attrName>style.visibility</p:attrName>
                                        </p:attrNameLst>
                                      </p:cBhvr>
                                      <p:to>
                                        <p:strVal val="visible"/>
                                      </p:to>
                                    </p:set>
                                    <p:animEffect transition="in" filter="blinds(horizontal)">
                                      <p:cBhvr>
                                        <p:cTn id="22" dur="500"/>
                                        <p:tgtEl>
                                          <p:spTgt spid="420046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200462"/>
                                        </p:tgtEl>
                                        <p:attrNameLst>
                                          <p:attrName>style.visibility</p:attrName>
                                        </p:attrNameLst>
                                      </p:cBhvr>
                                      <p:to>
                                        <p:strVal val="visible"/>
                                      </p:to>
                                    </p:set>
                                    <p:animEffect transition="in" filter="blinds(horizontal)">
                                      <p:cBhvr>
                                        <p:cTn id="27" dur="500"/>
                                        <p:tgtEl>
                                          <p:spTgt spid="420046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200464"/>
                                        </p:tgtEl>
                                        <p:attrNameLst>
                                          <p:attrName>style.visibility</p:attrName>
                                        </p:attrNameLst>
                                      </p:cBhvr>
                                      <p:to>
                                        <p:strVal val="visible"/>
                                      </p:to>
                                    </p:set>
                                    <p:animEffect transition="in" filter="blinds(horizontal)">
                                      <p:cBhvr>
                                        <p:cTn id="32" dur="500"/>
                                        <p:tgtEl>
                                          <p:spTgt spid="420046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200463"/>
                                        </p:tgtEl>
                                        <p:attrNameLst>
                                          <p:attrName>style.visibility</p:attrName>
                                        </p:attrNameLst>
                                      </p:cBhvr>
                                      <p:to>
                                        <p:strVal val="visible"/>
                                      </p:to>
                                    </p:set>
                                    <p:animEffect transition="in" filter="blinds(horizontal)">
                                      <p:cBhvr>
                                        <p:cTn id="37" dur="500"/>
                                        <p:tgtEl>
                                          <p:spTgt spid="4200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458" grpId="0"/>
      <p:bldP spid="4200459" grpId="0"/>
      <p:bldP spid="4200460" grpId="0"/>
      <p:bldP spid="4200461" grpId="0"/>
      <p:bldP spid="4200462" grpId="0"/>
      <p:bldP spid="4200463" grpId="0"/>
      <p:bldP spid="420046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p:cNvSpPr>
          <p:nvPr>
            <p:ph type="title"/>
          </p:nvPr>
        </p:nvSpPr>
        <p:spPr>
          <a:ln/>
        </p:spPr>
        <p:txBody>
          <a:bodyPr vert="horz" wrap="square" lIns="91440" tIns="45720" rIns="91440" bIns="45720" anchor="t" anchorCtr="0">
            <a:spAutoFit/>
          </a:bodyPr>
          <a:p>
            <a:r>
              <a:rPr lang="zh-CN" altLang="en-US" dirty="0">
                <a:effectLst/>
              </a:rPr>
              <a:t>回顾</a:t>
            </a:r>
            <a:r>
              <a:rPr lang="en-US" altLang="zh-CN" dirty="0">
                <a:effectLst/>
              </a:rPr>
              <a:t>—</a:t>
            </a:r>
            <a:r>
              <a:rPr lang="zh-CN" altLang="en-US" dirty="0">
                <a:effectLst/>
              </a:rPr>
              <a:t>同步总线和异步总线</a:t>
            </a:r>
            <a:endParaRPr lang="zh-CN" altLang="en-US" dirty="0">
              <a:effectLst/>
            </a:endParaRPr>
          </a:p>
        </p:txBody>
      </p:sp>
      <p:sp>
        <p:nvSpPr>
          <p:cNvPr id="117763" name="Rectangle 3"/>
          <p:cNvSpPr>
            <a:spLocks noGrp="1"/>
          </p:cNvSpPr>
          <p:nvPr>
            <p:ph idx="1"/>
          </p:nvPr>
        </p:nvSpPr>
        <p:spPr>
          <a:xfrm>
            <a:off x="485775" y="1252538"/>
            <a:ext cx="8388350" cy="5081587"/>
          </a:xfrm>
          <a:ln/>
        </p:spPr>
        <p:txBody>
          <a:bodyPr vert="horz" wrap="square" lIns="91440" tIns="45720" rIns="91440" bIns="45720" anchor="t" anchorCtr="0">
            <a:spAutoFit/>
          </a:bodyPr>
          <a:p>
            <a:pPr marL="358775" indent="-358775">
              <a:lnSpc>
                <a:spcPct val="110000"/>
              </a:lnSpc>
              <a:spcBef>
                <a:spcPts val="600"/>
              </a:spcBef>
            </a:pPr>
            <a:r>
              <a:rPr lang="zh-CN" altLang="en-US" sz="2800" dirty="0">
                <a:latin typeface="Times New Roman" panose="02020603050405020304" pitchFamily="18" charset="0"/>
              </a:rPr>
              <a:t>同步总线</a:t>
            </a:r>
            <a:endParaRPr lang="zh-CN" altLang="en-US" sz="2800" dirty="0">
              <a:latin typeface="Times New Roman" panose="02020603050405020304" pitchFamily="18" charset="0"/>
            </a:endParaRPr>
          </a:p>
          <a:p>
            <a:pPr marL="809625" lvl="1" indent="-347980">
              <a:lnSpc>
                <a:spcPct val="110000"/>
              </a:lnSpc>
              <a:spcBef>
                <a:spcPts val="600"/>
              </a:spcBef>
            </a:pPr>
            <a:r>
              <a:rPr lang="zh-CN" altLang="en-US" sz="2400" dirty="0">
                <a:latin typeface="Times New Roman" panose="02020603050405020304" pitchFamily="18" charset="0"/>
              </a:rPr>
              <a:t>特点：各个部件采用统一时钟信号进行同步，协议简单，速度快，接口逻辑少。由于时钟偏移问题，同步总线不能很长</a:t>
            </a:r>
            <a:endParaRPr lang="zh-CN" altLang="en-US" sz="2400" dirty="0">
              <a:latin typeface="Times New Roman" panose="02020603050405020304" pitchFamily="18" charset="0"/>
            </a:endParaRPr>
          </a:p>
          <a:p>
            <a:pPr marL="809625" lvl="1" indent="-347980">
              <a:lnSpc>
                <a:spcPct val="110000"/>
              </a:lnSpc>
              <a:spcBef>
                <a:spcPts val="600"/>
              </a:spcBef>
            </a:pPr>
            <a:r>
              <a:rPr lang="zh-CN" altLang="en-US" sz="2400" dirty="0">
                <a:latin typeface="Times New Roman" panose="02020603050405020304" pitchFamily="18" charset="0"/>
              </a:rPr>
              <a:t>用途：用于部件之间距离短、存取速度较一致的场合。如</a:t>
            </a:r>
            <a:r>
              <a:rPr lang="en-US" altLang="zh-CN" sz="2400" dirty="0">
                <a:latin typeface="Times New Roman" panose="02020603050405020304" pitchFamily="18" charset="0"/>
              </a:rPr>
              <a:t>CPU</a:t>
            </a:r>
            <a:r>
              <a:rPr lang="zh-CN" altLang="en-US" sz="2400" dirty="0">
                <a:latin typeface="Times New Roman" panose="02020603050405020304" pitchFamily="18" charset="0"/>
              </a:rPr>
              <a:t>内部总线、处理器局部总线等采用同步总线</a:t>
            </a:r>
            <a:endParaRPr lang="zh-CN" altLang="en-US" sz="2400" dirty="0">
              <a:latin typeface="Times New Roman" panose="02020603050405020304" pitchFamily="18" charset="0"/>
            </a:endParaRPr>
          </a:p>
          <a:p>
            <a:pPr marL="358775" indent="-358775">
              <a:lnSpc>
                <a:spcPct val="110000"/>
              </a:lnSpc>
              <a:spcBef>
                <a:spcPts val="600"/>
              </a:spcBef>
            </a:pPr>
            <a:r>
              <a:rPr lang="zh-CN" altLang="en-US" sz="2800" dirty="0">
                <a:latin typeface="Times New Roman" panose="02020603050405020304" pitchFamily="18" charset="0"/>
              </a:rPr>
              <a:t>异步总线</a:t>
            </a:r>
            <a:endParaRPr lang="zh-CN" altLang="en-US" sz="2800" dirty="0">
              <a:latin typeface="Times New Roman" panose="02020603050405020304" pitchFamily="18" charset="0"/>
            </a:endParaRPr>
          </a:p>
          <a:p>
            <a:pPr marL="809625" lvl="1" indent="-347980">
              <a:lnSpc>
                <a:spcPct val="110000"/>
              </a:lnSpc>
              <a:spcBef>
                <a:spcPts val="600"/>
              </a:spcBef>
            </a:pPr>
            <a:r>
              <a:rPr lang="zh-CN" altLang="en-US" sz="2400" dirty="0">
                <a:latin typeface="Times New Roman" panose="02020603050405020304" pitchFamily="18" charset="0"/>
              </a:rPr>
              <a:t>特点：各个部件采用应答方式进行通信，允许各个部件之间的速度有较大的差异</a:t>
            </a:r>
            <a:endParaRPr lang="zh-CN" altLang="en-US" sz="2400" dirty="0">
              <a:latin typeface="Times New Roman" panose="02020603050405020304" pitchFamily="18" charset="0"/>
            </a:endParaRPr>
          </a:p>
          <a:p>
            <a:pPr marL="809625" lvl="1" indent="-347980">
              <a:lnSpc>
                <a:spcPct val="110000"/>
              </a:lnSpc>
              <a:spcBef>
                <a:spcPts val="600"/>
              </a:spcBef>
            </a:pPr>
            <a:r>
              <a:rPr lang="zh-CN" altLang="en-US" sz="2400" dirty="0">
                <a:latin typeface="Times New Roman" panose="02020603050405020304" pitchFamily="18" charset="0"/>
              </a:rPr>
              <a:t>用途：用于具有不同存取速度的设备之间进行通信。如连接外设或者其他机器的通信总线采用异步总线</a:t>
            </a:r>
            <a:endParaRPr lang="zh-CN" altLang="en-US" sz="2400" dirty="0">
              <a:latin typeface="Times New Roman" panose="02020603050405020304" pitchFamily="18" charset="0"/>
            </a:endParaRPr>
          </a:p>
        </p:txBody>
      </p:sp>
    </p:spTree>
  </p:cSld>
  <p:clrMapOvr>
    <a:masterClrMapping/>
  </p:clrMapOvr>
  <p:transition>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6930" name="Rectangle 2"/>
          <p:cNvSpPr>
            <a:spLocks noGrp="1" noChangeArrowheads="1"/>
          </p:cNvSpPr>
          <p:nvPr>
            <p:ph type="title"/>
          </p:nvPr>
        </p:nvSpPr>
        <p:spPr>
          <a:xfrm>
            <a:off x="467360" y="177800"/>
            <a:ext cx="8268335" cy="666115"/>
          </a:xfrm>
          <a:noFill/>
          <a:ln w="9525">
            <a:noFill/>
            <a:miter lim="800000"/>
          </a:ln>
          <a:effectLst/>
        </p:spPr>
        <p:txBody>
          <a:bodyPr vert="horz" wrap="square" lIns="91440" tIns="45720" rIns="91440" bIns="45720" numCol="1" rtlCol="0" anchor="t" anchorCtr="0" compatLnSpc="1">
            <a:spAutoFit/>
          </a:bodyPr>
          <a:lstStyle/>
          <a:p>
            <a:pPr lvl="0" algn="ctr">
              <a:buClrTx/>
              <a:buSzTx/>
              <a:buFontTx/>
            </a:pPr>
            <a:r>
              <a:rPr lang="zh-CN" altLang="en-US" sz="4400" dirty="0">
                <a:effectLst/>
                <a:sym typeface="+mn-ea"/>
              </a:rPr>
              <a:t>回顾</a:t>
            </a:r>
            <a:r>
              <a:rPr lang="en-US" altLang="zh-CN" sz="4400" dirty="0">
                <a:effectLst/>
                <a:sym typeface="+mn-ea"/>
              </a:rPr>
              <a:t>—</a:t>
            </a:r>
            <a:r>
              <a:rPr lang="zh-CN" altLang="en-US" sz="4400" dirty="0">
                <a:effectLst/>
                <a:sym typeface="+mn-ea"/>
              </a:rPr>
              <a:t>增加同步总线带宽的措施</a:t>
            </a:r>
            <a:endParaRPr lang="zh-CN" altLang="en-US" sz="4400" dirty="0">
              <a:effectLst/>
              <a:sym typeface="+mn-ea"/>
            </a:endParaRPr>
          </a:p>
        </p:txBody>
      </p:sp>
      <p:sp>
        <p:nvSpPr>
          <p:cNvPr id="1276931" name="Rectangle 3"/>
          <p:cNvSpPr>
            <a:spLocks noGrp="1"/>
          </p:cNvSpPr>
          <p:nvPr>
            <p:ph idx="1"/>
          </p:nvPr>
        </p:nvSpPr>
        <p:spPr>
          <a:xfrm>
            <a:off x="467995" y="946150"/>
            <a:ext cx="8268335" cy="5643880"/>
          </a:xfrm>
          <a:noFill/>
          <a:ln w="9525">
            <a:noFill/>
          </a:ln>
        </p:spPr>
        <p:txBody>
          <a:bodyPr vert="horz" wrap="square" lIns="91440" tIns="45720" rIns="91440" bIns="45720" rtlCol="0" anchor="t" anchorCtr="0">
            <a:spAutoFit/>
          </a:bodyPr>
          <a:lstStyle/>
          <a:p>
            <a:pPr marL="358775" lvl="0" indent="-358775" algn="l" latinLnBrk="0">
              <a:lnSpc>
                <a:spcPct val="95000"/>
              </a:lnSpc>
              <a:spcBef>
                <a:spcPts val="0"/>
              </a:spcBef>
              <a:spcAft>
                <a:spcPts val="0"/>
              </a:spcAft>
              <a:buSzTx/>
              <a:buBlip>
                <a:blip r:embed="rId1"/>
              </a:buBlip>
            </a:pPr>
            <a:r>
              <a:rPr lang="zh-CN" altLang="en-US" sz="2800" dirty="0">
                <a:latin typeface="Times New Roman" panose="02020603050405020304" pitchFamily="18" charset="0"/>
                <a:sym typeface="+mn-ea"/>
              </a:rPr>
              <a:t>提高</a:t>
            </a:r>
            <a:r>
              <a:rPr lang="zh-CN" altLang="en-US" sz="2800" dirty="0">
                <a:effectLst/>
                <a:sym typeface="+mn-ea"/>
              </a:rPr>
              <a:t>总线的</a:t>
            </a:r>
            <a:r>
              <a:rPr lang="zh-CN" altLang="en-US" sz="2800" dirty="0">
                <a:latin typeface="Times New Roman" panose="02020603050405020304" pitchFamily="18" charset="0"/>
                <a:sym typeface="+mn-ea"/>
              </a:rPr>
              <a:t>时钟频率</a:t>
            </a:r>
            <a:endParaRPr lang="zh-CN" altLang="en-US" sz="2800" dirty="0">
              <a:latin typeface="Times New Roman" panose="02020603050405020304" pitchFamily="18" charset="0"/>
              <a:sym typeface="+mn-ea"/>
            </a:endParaRPr>
          </a:p>
          <a:p>
            <a:pPr marL="358775" lvl="0" indent="-358775" algn="l" latinLnBrk="0">
              <a:lnSpc>
                <a:spcPct val="95000"/>
              </a:lnSpc>
              <a:spcBef>
                <a:spcPts val="0"/>
              </a:spcBef>
              <a:spcAft>
                <a:spcPts val="0"/>
              </a:spcAft>
              <a:buSzTx/>
              <a:buBlip>
                <a:blip r:embed="rId1"/>
              </a:buBlip>
            </a:pPr>
            <a:r>
              <a:rPr lang="zh-CN" altLang="en-US" sz="2800" dirty="0">
                <a:latin typeface="Times New Roman" panose="02020603050405020304" pitchFamily="18" charset="0"/>
                <a:sym typeface="+mn-ea"/>
              </a:rPr>
              <a:t>Data bus width(</a:t>
            </a:r>
            <a:r>
              <a:rPr lang="zh-CN" altLang="en-US" sz="2800" dirty="0">
                <a:latin typeface="Times New Roman" panose="02020603050405020304" pitchFamily="18" charset="0"/>
                <a:sym typeface="+mn-ea"/>
              </a:rPr>
              <a:t>增加数据</a:t>
            </a:r>
            <a:r>
              <a:rPr lang="zh-CN" altLang="en-US" sz="2800" dirty="0">
                <a:effectLst/>
                <a:sym typeface="+mn-ea"/>
              </a:rPr>
              <a:t>总</a:t>
            </a:r>
            <a:r>
              <a:rPr lang="zh-CN" altLang="en-US" sz="2800" dirty="0">
                <a:latin typeface="Times New Roman" panose="02020603050405020304" pitchFamily="18" charset="0"/>
                <a:sym typeface="+mn-ea"/>
              </a:rPr>
              <a:t>线宽度</a:t>
            </a:r>
            <a:r>
              <a:rPr lang="zh-CN" altLang="en-US" sz="2800" dirty="0">
                <a:latin typeface="Times New Roman" panose="02020603050405020304" pitchFamily="18" charset="0"/>
                <a:sym typeface="+mn-ea"/>
              </a:rPr>
              <a:t>)</a:t>
            </a:r>
            <a:endParaRPr lang="zh-CN" altLang="en-US" sz="2800" dirty="0">
              <a:latin typeface="Times New Roman" panose="02020603050405020304" pitchFamily="18" charset="0"/>
              <a:sym typeface="+mn-ea"/>
            </a:endParaRPr>
          </a:p>
          <a:p>
            <a:pPr marL="809625" lvl="1" indent="-347980" algn="l" latinLnBrk="0">
              <a:lnSpc>
                <a:spcPct val="95000"/>
              </a:lnSpc>
              <a:spcBef>
                <a:spcPts val="0"/>
              </a:spcBef>
              <a:spcAft>
                <a:spcPts val="0"/>
              </a:spcAft>
              <a:buSzTx/>
              <a:buBlip>
                <a:blip r:embed="rId2"/>
              </a:buBlip>
            </a:pPr>
            <a:r>
              <a:rPr lang="zh-CN" altLang="en-US" sz="2400" dirty="0">
                <a:latin typeface="Times New Roman" panose="02020603050405020304" pitchFamily="18" charset="0"/>
                <a:cs typeface="+mn-ea"/>
                <a:sym typeface="+mn-ea"/>
              </a:rPr>
              <a:t>能同时传送更多位</a:t>
            </a:r>
            <a:endParaRPr lang="zh-CN" altLang="en-US" sz="2400" dirty="0">
              <a:latin typeface="Times New Roman" panose="02020603050405020304" pitchFamily="18" charset="0"/>
              <a:cs typeface="+mn-ea"/>
              <a:sym typeface="+mn-ea"/>
            </a:endParaRPr>
          </a:p>
          <a:p>
            <a:pPr marL="461645" lvl="1" indent="0" algn="l" latinLnBrk="0">
              <a:lnSpc>
                <a:spcPct val="95000"/>
              </a:lnSpc>
              <a:spcBef>
                <a:spcPts val="0"/>
              </a:spcBef>
              <a:spcAft>
                <a:spcPts val="0"/>
              </a:spcAft>
              <a:buSzTx/>
              <a:buNone/>
            </a:pPr>
            <a:r>
              <a:rPr lang="zh-CN" altLang="en-US" sz="2400" dirty="0">
                <a:latin typeface="Times New Roman" panose="02020603050405020304" pitchFamily="18" charset="0"/>
                <a:cs typeface="+mn-ea"/>
                <a:sym typeface="+mn-ea"/>
              </a:rPr>
              <a:t>    </a:t>
            </a:r>
            <a:r>
              <a:rPr lang="zh-CN" altLang="en-US" sz="2000" dirty="0">
                <a:latin typeface="Times New Roman" panose="02020603050405020304" pitchFamily="18" charset="0"/>
                <a:cs typeface="+mn-ea"/>
                <a:sym typeface="+mn-ea"/>
              </a:rPr>
              <a:t>Example: SPARCstation 20’s memory bus </a:t>
            </a:r>
            <a:r>
              <a:rPr lang="zh-CN" altLang="en-US" sz="2000" dirty="0">
                <a:latin typeface="Times New Roman" panose="02020603050405020304" pitchFamily="18" charset="0"/>
                <a:cs typeface="+mn-ea"/>
                <a:sym typeface="+mn-ea"/>
              </a:rPr>
              <a:t>有 </a:t>
            </a:r>
            <a:r>
              <a:rPr lang="zh-CN" altLang="en-US" sz="2000" dirty="0">
                <a:latin typeface="Times New Roman" panose="02020603050405020304" pitchFamily="18" charset="0"/>
                <a:cs typeface="+mn-ea"/>
                <a:sym typeface="+mn-ea"/>
              </a:rPr>
              <a:t>128 bit</a:t>
            </a:r>
            <a:endParaRPr lang="zh-CN" altLang="en-US" sz="2000" dirty="0">
              <a:latin typeface="Times New Roman" panose="02020603050405020304" pitchFamily="18" charset="0"/>
              <a:cs typeface="+mn-ea"/>
              <a:sym typeface="+mn-ea"/>
            </a:endParaRPr>
          </a:p>
          <a:p>
            <a:pPr marL="809625" lvl="1" indent="-347980" algn="l" latinLnBrk="0">
              <a:lnSpc>
                <a:spcPct val="95000"/>
              </a:lnSpc>
              <a:spcBef>
                <a:spcPts val="0"/>
              </a:spcBef>
              <a:spcAft>
                <a:spcPts val="0"/>
              </a:spcAft>
              <a:buSzTx/>
              <a:buBlip>
                <a:blip r:embed="rId2"/>
              </a:buBlip>
            </a:pPr>
            <a:r>
              <a:rPr lang="zh-CN" altLang="en-US" sz="2400" dirty="0">
                <a:latin typeface="Times New Roman" panose="02020603050405020304" pitchFamily="18" charset="0"/>
                <a:cs typeface="+mn-ea"/>
                <a:sym typeface="+mn-ea"/>
              </a:rPr>
              <a:t>Cost(</a:t>
            </a:r>
            <a:r>
              <a:rPr lang="zh-CN" altLang="en-US" sz="2400" dirty="0">
                <a:latin typeface="Times New Roman" panose="02020603050405020304" pitchFamily="18" charset="0"/>
                <a:cs typeface="+mn-ea"/>
                <a:sym typeface="+mn-ea"/>
              </a:rPr>
              <a:t>代价</a:t>
            </a:r>
            <a:r>
              <a:rPr lang="zh-CN" altLang="en-US" sz="2400" dirty="0">
                <a:latin typeface="Times New Roman" panose="02020603050405020304" pitchFamily="18" charset="0"/>
                <a:cs typeface="+mn-ea"/>
                <a:sym typeface="+mn-ea"/>
              </a:rPr>
              <a:t>)</a:t>
            </a:r>
            <a:r>
              <a:rPr lang="zh-CN" altLang="en-US" sz="2400" dirty="0">
                <a:latin typeface="Times New Roman" panose="02020603050405020304" pitchFamily="18" charset="0"/>
                <a:cs typeface="+mn-ea"/>
                <a:sym typeface="+mn-ea"/>
              </a:rPr>
              <a:t>：</a:t>
            </a:r>
            <a:r>
              <a:rPr lang="zh-CN" altLang="en-US" sz="2400" dirty="0">
                <a:latin typeface="Times New Roman" panose="02020603050405020304" pitchFamily="18" charset="0"/>
                <a:cs typeface="+mn-ea"/>
                <a:sym typeface="+mn-ea"/>
              </a:rPr>
              <a:t>more bus lines</a:t>
            </a:r>
            <a:endParaRPr lang="zh-CN" altLang="en-US" sz="2400" dirty="0">
              <a:latin typeface="Times New Roman" panose="02020603050405020304" pitchFamily="18" charset="0"/>
              <a:cs typeface="+mn-ea"/>
              <a:sym typeface="+mn-ea"/>
            </a:endParaRPr>
          </a:p>
          <a:p>
            <a:pPr marL="358775" lvl="0" indent="-358775" algn="l" latinLnBrk="0">
              <a:lnSpc>
                <a:spcPct val="95000"/>
              </a:lnSpc>
              <a:spcBef>
                <a:spcPts val="0"/>
              </a:spcBef>
              <a:spcAft>
                <a:spcPts val="0"/>
              </a:spcAft>
              <a:buSzTx/>
              <a:buBlip>
                <a:blip r:embed="rId1"/>
              </a:buBlip>
            </a:pPr>
            <a:r>
              <a:rPr lang="zh-CN" altLang="en-US" sz="2800" dirty="0">
                <a:latin typeface="Times New Roman" panose="02020603050405020304" pitchFamily="18" charset="0"/>
                <a:sym typeface="+mn-ea"/>
              </a:rPr>
              <a:t>Block transfers(</a:t>
            </a:r>
            <a:r>
              <a:rPr lang="zh-CN" altLang="en-US" sz="2800" dirty="0">
                <a:latin typeface="Times New Roman" panose="02020603050405020304" pitchFamily="18" charset="0"/>
                <a:sym typeface="+mn-ea"/>
              </a:rPr>
              <a:t>允许大</a:t>
            </a:r>
            <a:r>
              <a:rPr lang="zh-CN" altLang="en-US" sz="2800" dirty="0">
                <a:latin typeface="Times New Roman" panose="02020603050405020304" pitchFamily="18" charset="0"/>
                <a:sym typeface="+mn-ea"/>
              </a:rPr>
              <a:t>块</a:t>
            </a:r>
            <a:r>
              <a:rPr lang="zh-CN" altLang="en-US" sz="2800" dirty="0">
                <a:latin typeface="Times New Roman" panose="02020603050405020304" pitchFamily="18" charset="0"/>
                <a:sym typeface="+mn-ea"/>
              </a:rPr>
              <a:t>数据传送</a:t>
            </a:r>
            <a:r>
              <a:rPr lang="zh-CN" altLang="en-US" sz="2800" dirty="0">
                <a:latin typeface="Times New Roman" panose="02020603050405020304" pitchFamily="18" charset="0"/>
                <a:sym typeface="+mn-ea"/>
              </a:rPr>
              <a:t>)</a:t>
            </a:r>
            <a:endParaRPr lang="zh-CN" altLang="en-US" sz="2800" dirty="0">
              <a:latin typeface="Times New Roman" panose="02020603050405020304" pitchFamily="18" charset="0"/>
              <a:sym typeface="+mn-ea"/>
            </a:endParaRPr>
          </a:p>
          <a:p>
            <a:pPr marL="809625" lvl="1" indent="-347980" algn="l" latinLnBrk="0">
              <a:lnSpc>
                <a:spcPct val="95000"/>
              </a:lnSpc>
              <a:spcBef>
                <a:spcPts val="0"/>
              </a:spcBef>
              <a:spcAft>
                <a:spcPts val="0"/>
              </a:spcAft>
              <a:buSzTx/>
              <a:buBlip>
                <a:blip r:embed="rId2"/>
              </a:buBlip>
            </a:pPr>
            <a:r>
              <a:rPr lang="zh-CN" altLang="en-US" sz="2400" dirty="0">
                <a:latin typeface="Times New Roman" panose="02020603050405020304" pitchFamily="18" charset="0"/>
                <a:cs typeface="+mn-ea"/>
                <a:sym typeface="+mn-ea"/>
              </a:rPr>
              <a:t>背对背总线周期，也称</a:t>
            </a:r>
            <a:r>
              <a:rPr lang="zh-CN" altLang="en-US" sz="2400" dirty="0">
                <a:latin typeface="Times New Roman" panose="02020603050405020304" pitchFamily="18" charset="0"/>
                <a:cs typeface="+mn-ea"/>
                <a:sym typeface="+mn-ea"/>
              </a:rPr>
              <a:t>之</a:t>
            </a:r>
            <a:r>
              <a:rPr lang="zh-CN" altLang="en-US" sz="2400" dirty="0">
                <a:latin typeface="Times New Roman" panose="02020603050405020304" pitchFamily="18" charset="0"/>
                <a:cs typeface="+mn-ea"/>
                <a:sym typeface="+mn-ea"/>
              </a:rPr>
              <a:t>为</a:t>
            </a:r>
            <a:r>
              <a:rPr lang="zh-CN" altLang="en-US" sz="2400" dirty="0">
                <a:solidFill>
                  <a:srgbClr val="FFFF00"/>
                </a:solidFill>
                <a:latin typeface="Times New Roman" panose="02020603050405020304" pitchFamily="18" charset="0"/>
                <a:cs typeface="+mn-ea"/>
                <a:sym typeface="+mn-ea"/>
              </a:rPr>
              <a:t>突发</a:t>
            </a:r>
            <a:r>
              <a:rPr lang="zh-CN" altLang="en-US" sz="2400" dirty="0">
                <a:solidFill>
                  <a:srgbClr val="FFFF00"/>
                </a:solidFill>
                <a:latin typeface="Times New Roman" panose="02020603050405020304" pitchFamily="18" charset="0"/>
                <a:cs typeface="+mn-ea"/>
                <a:sym typeface="+mn-ea"/>
              </a:rPr>
              <a:t>(Burst)</a:t>
            </a:r>
            <a:r>
              <a:rPr lang="zh-CN" altLang="en-US" sz="2400" dirty="0">
                <a:latin typeface="Times New Roman" panose="02020603050405020304" pitchFamily="18" charset="0"/>
                <a:cs typeface="+mn-ea"/>
                <a:sym typeface="+mn-ea"/>
              </a:rPr>
              <a:t>传输方式 </a:t>
            </a:r>
            <a:endParaRPr lang="zh-CN" altLang="en-US" sz="2400" dirty="0">
              <a:latin typeface="Times New Roman" panose="02020603050405020304" pitchFamily="18" charset="0"/>
              <a:cs typeface="+mn-ea"/>
              <a:sym typeface="+mn-ea"/>
            </a:endParaRPr>
          </a:p>
          <a:p>
            <a:pPr marL="809625" lvl="1" indent="-347980" algn="l" latinLnBrk="0">
              <a:lnSpc>
                <a:spcPct val="95000"/>
              </a:lnSpc>
              <a:spcBef>
                <a:spcPts val="0"/>
              </a:spcBef>
              <a:spcAft>
                <a:spcPts val="0"/>
              </a:spcAft>
              <a:buSzTx/>
              <a:buBlip>
                <a:blip r:embed="rId2"/>
              </a:buBlip>
            </a:pPr>
            <a:r>
              <a:rPr lang="zh-CN" altLang="en-US" sz="2400" dirty="0">
                <a:latin typeface="Times New Roman" panose="02020603050405020304" pitchFamily="18" charset="0"/>
                <a:cs typeface="+mn-ea"/>
                <a:sym typeface="+mn-ea"/>
              </a:rPr>
              <a:t>只要</a:t>
            </a:r>
            <a:r>
              <a:rPr lang="zh-CN" altLang="en-US" sz="2400" dirty="0">
                <a:latin typeface="Times New Roman" panose="02020603050405020304" pitchFamily="18" charset="0"/>
                <a:cs typeface="+mn-ea"/>
                <a:sym typeface="+mn-ea"/>
              </a:rPr>
              <a:t>启</a:t>
            </a:r>
            <a:r>
              <a:rPr lang="zh-CN" altLang="en-US" sz="2400" dirty="0">
                <a:latin typeface="Times New Roman" panose="02020603050405020304" pitchFamily="18" charset="0"/>
                <a:cs typeface="+mn-ea"/>
                <a:sym typeface="+mn-ea"/>
              </a:rPr>
              <a:t>始送一次地址，后面</a:t>
            </a:r>
            <a:r>
              <a:rPr lang="zh-CN" altLang="en-US" sz="2400" dirty="0">
                <a:latin typeface="Times New Roman" panose="02020603050405020304" pitchFamily="18" charset="0"/>
                <a:cs typeface="+mn-ea"/>
                <a:sym typeface="+mn-ea"/>
              </a:rPr>
              <a:t>可</a:t>
            </a:r>
            <a:r>
              <a:rPr lang="zh-CN" altLang="en-US" sz="2400" dirty="0">
                <a:latin typeface="Times New Roman" panose="02020603050405020304" pitchFamily="18" charset="0"/>
                <a:cs typeface="+mn-ea"/>
                <a:sym typeface="+mn-ea"/>
              </a:rPr>
              <a:t>连续</a:t>
            </a:r>
            <a:r>
              <a:rPr lang="zh-CN" altLang="en-US" sz="2400" dirty="0">
                <a:latin typeface="Times New Roman" panose="02020603050405020304" pitchFamily="18" charset="0"/>
                <a:cs typeface="+mn-ea"/>
                <a:sym typeface="+mn-ea"/>
              </a:rPr>
              <a:t>传</a:t>
            </a:r>
            <a:r>
              <a:rPr lang="zh-CN" altLang="en-US" sz="2400" dirty="0">
                <a:latin typeface="Times New Roman" panose="02020603050405020304" pitchFamily="18" charset="0"/>
                <a:cs typeface="+mn-ea"/>
                <a:sym typeface="+mn-ea"/>
              </a:rPr>
              <a:t>送</a:t>
            </a:r>
            <a:r>
              <a:rPr lang="zh-CN" altLang="en-US" sz="2400" dirty="0">
                <a:latin typeface="Times New Roman" panose="02020603050405020304" pitchFamily="18" charset="0"/>
                <a:cs typeface="+mn-ea"/>
                <a:sym typeface="+mn-ea"/>
              </a:rPr>
              <a:t>多个</a:t>
            </a:r>
            <a:r>
              <a:rPr lang="zh-CN" altLang="en-US" sz="2400" dirty="0">
                <a:latin typeface="Times New Roman" panose="02020603050405020304" pitchFamily="18" charset="0"/>
                <a:cs typeface="+mn-ea"/>
                <a:sym typeface="+mn-ea"/>
              </a:rPr>
              <a:t>数据</a:t>
            </a:r>
            <a:endParaRPr lang="zh-CN" altLang="en-US" sz="2400" dirty="0">
              <a:latin typeface="Times New Roman" panose="02020603050405020304" pitchFamily="18" charset="0"/>
              <a:cs typeface="+mn-ea"/>
              <a:sym typeface="+mn-ea"/>
            </a:endParaRPr>
          </a:p>
          <a:p>
            <a:pPr marL="809625" lvl="1" indent="-347980" algn="l" latinLnBrk="0">
              <a:lnSpc>
                <a:spcPct val="95000"/>
              </a:lnSpc>
              <a:spcBef>
                <a:spcPts val="0"/>
              </a:spcBef>
              <a:spcAft>
                <a:spcPts val="0"/>
              </a:spcAft>
              <a:buSzTx/>
              <a:buBlip>
                <a:blip r:embed="rId2"/>
              </a:buBlip>
            </a:pPr>
            <a:r>
              <a:rPr lang="zh-CN" altLang="en-US" sz="2400" dirty="0">
                <a:latin typeface="Times New Roman" panose="02020603050405020304" pitchFamily="18" charset="0"/>
                <a:cs typeface="+mn-ea"/>
                <a:sym typeface="+mn-ea"/>
              </a:rPr>
              <a:t>Cost</a:t>
            </a:r>
            <a:r>
              <a:rPr lang="zh-CN" altLang="en-US" sz="2400" dirty="0">
                <a:latin typeface="Times New Roman" panose="02020603050405020304" pitchFamily="18" charset="0"/>
                <a:cs typeface="+mn-ea"/>
                <a:sym typeface="+mn-ea"/>
              </a:rPr>
              <a:t>：</a:t>
            </a:r>
            <a:r>
              <a:rPr lang="zh-CN" altLang="en-US" sz="2400" dirty="0">
                <a:latin typeface="Times New Roman" panose="02020603050405020304" pitchFamily="18" charset="0"/>
                <a:cs typeface="+mn-ea"/>
                <a:sym typeface="+mn-ea"/>
              </a:rPr>
              <a:t>(a)</a:t>
            </a:r>
            <a:r>
              <a:rPr lang="zh-CN" altLang="en-US" sz="2400" dirty="0">
                <a:latin typeface="Times New Roman" panose="02020603050405020304" pitchFamily="18" charset="0"/>
                <a:cs typeface="+mn-ea"/>
                <a:sym typeface="+mn-ea"/>
              </a:rPr>
              <a:t>增加复杂性	   </a:t>
            </a:r>
            <a:r>
              <a:rPr lang="en-US" altLang="zh-CN" sz="2400" dirty="0">
                <a:latin typeface="Times New Roman" panose="02020603050405020304" pitchFamily="18" charset="0"/>
                <a:cs typeface="+mn-ea"/>
                <a:sym typeface="+mn-ea"/>
              </a:rPr>
              <a:t>        </a:t>
            </a:r>
            <a:r>
              <a:rPr lang="zh-CN" altLang="en-US" sz="2400" dirty="0">
                <a:latin typeface="Times New Roman" panose="02020603050405020304" pitchFamily="18" charset="0"/>
                <a:cs typeface="+mn-ea"/>
                <a:sym typeface="+mn-ea"/>
              </a:rPr>
              <a:t> </a:t>
            </a:r>
            <a:r>
              <a:rPr lang="zh-CN" altLang="en-US" sz="2400" dirty="0">
                <a:latin typeface="Times New Roman" panose="02020603050405020304" pitchFamily="18" charset="0"/>
                <a:cs typeface="+mn-ea"/>
                <a:sym typeface="+mn-ea"/>
              </a:rPr>
              <a:t>(b)</a:t>
            </a:r>
            <a:r>
              <a:rPr lang="zh-CN" altLang="en-US" sz="2400" dirty="0">
                <a:latin typeface="Times New Roman" panose="02020603050405020304" pitchFamily="18" charset="0"/>
                <a:cs typeface="+mn-ea"/>
                <a:sym typeface="+mn-ea"/>
              </a:rPr>
              <a:t>延长响应时间</a:t>
            </a:r>
            <a:endParaRPr lang="zh-CN" altLang="en-US" sz="2400" dirty="0">
              <a:latin typeface="Times New Roman" panose="02020603050405020304" pitchFamily="18" charset="0"/>
              <a:cs typeface="+mn-ea"/>
              <a:sym typeface="+mn-ea"/>
            </a:endParaRPr>
          </a:p>
          <a:p>
            <a:pPr marL="358775" lvl="0" indent="-358775" algn="l" latinLnBrk="0">
              <a:lnSpc>
                <a:spcPct val="95000"/>
              </a:lnSpc>
              <a:spcBef>
                <a:spcPts val="0"/>
              </a:spcBef>
              <a:spcAft>
                <a:spcPts val="0"/>
              </a:spcAft>
              <a:buSzTx/>
              <a:buBlip>
                <a:blip r:embed="rId1"/>
              </a:buBlip>
            </a:pPr>
            <a:r>
              <a:rPr lang="zh-CN" altLang="en-US" sz="2800" dirty="0">
                <a:latin typeface="Times New Roman" panose="02020603050405020304" pitchFamily="18" charset="0"/>
                <a:sym typeface="+mn-ea"/>
              </a:rPr>
              <a:t>Split Bus Transaction(</a:t>
            </a:r>
            <a:r>
              <a:rPr lang="zh-CN" altLang="en-US" sz="2800" dirty="0">
                <a:latin typeface="Times New Roman" panose="02020603050405020304" pitchFamily="18" charset="0"/>
                <a:sym typeface="+mn-ea"/>
              </a:rPr>
              <a:t>拆分总线事务</a:t>
            </a:r>
            <a:r>
              <a:rPr lang="zh-CN" altLang="en-US" sz="2800" dirty="0">
                <a:latin typeface="Times New Roman" panose="02020603050405020304" pitchFamily="18" charset="0"/>
                <a:sym typeface="+mn-ea"/>
              </a:rPr>
              <a:t>)</a:t>
            </a:r>
            <a:endParaRPr lang="zh-CN" altLang="en-US" sz="2800" dirty="0">
              <a:latin typeface="Times New Roman" panose="02020603050405020304" pitchFamily="18" charset="0"/>
              <a:sym typeface="+mn-ea"/>
            </a:endParaRPr>
          </a:p>
          <a:p>
            <a:pPr marL="809625" lvl="1" indent="-347980" algn="l" latinLnBrk="0">
              <a:lnSpc>
                <a:spcPct val="95000"/>
              </a:lnSpc>
              <a:spcBef>
                <a:spcPts val="0"/>
              </a:spcBef>
              <a:spcAft>
                <a:spcPts val="0"/>
              </a:spcAft>
              <a:buSzTx/>
              <a:buBlip>
                <a:blip r:embed="rId2"/>
              </a:buBlip>
            </a:pPr>
            <a:r>
              <a:rPr lang="zh-CN" altLang="en-US" sz="2400" dirty="0">
                <a:latin typeface="Times New Roman" panose="02020603050405020304" pitchFamily="18" charset="0"/>
                <a:cs typeface="+mn-ea"/>
                <a:sym typeface="+mn-ea"/>
              </a:rPr>
              <a:t>一次总线事务时间延长，但整个系统</a:t>
            </a:r>
            <a:r>
              <a:rPr lang="zh-CN" altLang="en-US" sz="2400" dirty="0">
                <a:latin typeface="Times New Roman" panose="02020603050405020304" pitchFamily="18" charset="0"/>
                <a:cs typeface="+mn-ea"/>
                <a:sym typeface="+mn-ea"/>
              </a:rPr>
              <a:t>的</a:t>
            </a:r>
            <a:r>
              <a:rPr lang="zh-CN" altLang="en-US" sz="2400" dirty="0">
                <a:latin typeface="Times New Roman" panose="02020603050405020304" pitchFamily="18" charset="0"/>
                <a:cs typeface="+mn-ea"/>
                <a:sym typeface="+mn-ea"/>
              </a:rPr>
              <a:t>带宽增加</a:t>
            </a:r>
            <a:endParaRPr lang="zh-CN" altLang="en-US" sz="2400" dirty="0">
              <a:latin typeface="Times New Roman" panose="02020603050405020304" pitchFamily="18" charset="0"/>
              <a:cs typeface="+mn-ea"/>
              <a:sym typeface="+mn-ea"/>
            </a:endParaRPr>
          </a:p>
          <a:p>
            <a:pPr marL="809625" lvl="1" indent="-347980" algn="l" latinLnBrk="0">
              <a:lnSpc>
                <a:spcPct val="95000"/>
              </a:lnSpc>
              <a:spcBef>
                <a:spcPts val="0"/>
              </a:spcBef>
              <a:spcAft>
                <a:spcPts val="0"/>
              </a:spcAft>
              <a:buSzTx/>
              <a:buBlip>
                <a:blip r:embed="rId2"/>
              </a:buBlip>
            </a:pPr>
            <a:r>
              <a:rPr lang="zh-CN" altLang="en-US" sz="2400" dirty="0">
                <a:latin typeface="Times New Roman" panose="02020603050405020304" pitchFamily="18" charset="0"/>
                <a:cs typeface="+mn-ea"/>
                <a:sym typeface="+mn-ea"/>
              </a:rPr>
              <a:t>Cost</a:t>
            </a:r>
            <a:r>
              <a:rPr lang="zh-CN" altLang="en-US" sz="2400" dirty="0">
                <a:latin typeface="Times New Roman" panose="02020603050405020304" pitchFamily="18" charset="0"/>
                <a:cs typeface="+mn-ea"/>
                <a:sym typeface="+mn-ea"/>
              </a:rPr>
              <a:t>：</a:t>
            </a:r>
            <a:r>
              <a:rPr lang="zh-CN" altLang="en-US" sz="2400" dirty="0">
                <a:latin typeface="Times New Roman" panose="02020603050405020304" pitchFamily="18" charset="0"/>
                <a:cs typeface="+mn-ea"/>
                <a:sym typeface="+mn-ea"/>
              </a:rPr>
              <a:t> (a) </a:t>
            </a:r>
            <a:r>
              <a:rPr lang="zh-CN" altLang="en-US" sz="2400" dirty="0">
                <a:latin typeface="Times New Roman" panose="02020603050405020304" pitchFamily="18" charset="0"/>
                <a:cs typeface="+mn-ea"/>
                <a:sym typeface="+mn-ea"/>
              </a:rPr>
              <a:t>增加复杂性</a:t>
            </a:r>
            <a:r>
              <a:rPr lang="zh-CN" altLang="en-US" sz="2400" dirty="0">
                <a:latin typeface="Times New Roman" panose="02020603050405020304" pitchFamily="18" charset="0"/>
                <a:cs typeface="+mn-ea"/>
                <a:sym typeface="+mn-ea"/>
              </a:rPr>
              <a:t>      </a:t>
            </a:r>
            <a:r>
              <a:rPr lang="en-US" altLang="zh-CN" sz="2400" dirty="0">
                <a:latin typeface="Times New Roman" panose="02020603050405020304" pitchFamily="18" charset="0"/>
                <a:cs typeface="+mn-ea"/>
                <a:sym typeface="+mn-ea"/>
              </a:rPr>
              <a:t>    </a:t>
            </a:r>
            <a:r>
              <a:rPr lang="zh-CN" altLang="en-US" sz="2400" dirty="0">
                <a:latin typeface="Times New Roman" panose="02020603050405020304" pitchFamily="18" charset="0"/>
                <a:cs typeface="+mn-ea"/>
                <a:sym typeface="+mn-ea"/>
              </a:rPr>
              <a:t> </a:t>
            </a:r>
            <a:r>
              <a:rPr lang="zh-CN" altLang="en-US" sz="2400" dirty="0">
                <a:latin typeface="Times New Roman" panose="02020603050405020304" pitchFamily="18" charset="0"/>
                <a:cs typeface="+mn-ea"/>
                <a:sym typeface="+mn-ea"/>
              </a:rPr>
              <a:t>(b) </a:t>
            </a:r>
            <a:r>
              <a:rPr lang="zh-CN" altLang="en-US" sz="2400" dirty="0">
                <a:latin typeface="Times New Roman" panose="02020603050405020304" pitchFamily="18" charset="0"/>
                <a:cs typeface="+mn-ea"/>
                <a:sym typeface="+mn-ea"/>
              </a:rPr>
              <a:t>延长响应时间</a:t>
            </a:r>
            <a:endParaRPr lang="zh-CN" altLang="en-US" sz="2400" dirty="0">
              <a:latin typeface="Times New Roman" panose="02020603050405020304" pitchFamily="18" charset="0"/>
              <a:cs typeface="+mn-ea"/>
              <a:sym typeface="+mn-ea"/>
            </a:endParaRPr>
          </a:p>
          <a:p>
            <a:pPr marL="358775" lvl="0" indent="-358775" algn="l" latinLnBrk="0">
              <a:lnSpc>
                <a:spcPct val="95000"/>
              </a:lnSpc>
              <a:spcBef>
                <a:spcPts val="0"/>
              </a:spcBef>
              <a:spcAft>
                <a:spcPts val="0"/>
              </a:spcAft>
              <a:buSzTx/>
              <a:buBlip>
                <a:blip r:embed="rId1"/>
              </a:buBlip>
            </a:pPr>
            <a:r>
              <a:rPr lang="zh-CN" altLang="en-US" sz="2800" dirty="0">
                <a:latin typeface="Times New Roman" panose="02020603050405020304" pitchFamily="18" charset="0"/>
                <a:sym typeface="+mn-ea"/>
              </a:rPr>
              <a:t>不采用分时复用方式</a:t>
            </a:r>
            <a:endParaRPr lang="zh-CN" altLang="en-US" sz="2800" dirty="0">
              <a:latin typeface="Times New Roman" panose="02020603050405020304" pitchFamily="18" charset="0"/>
              <a:sym typeface="+mn-ea"/>
            </a:endParaRPr>
          </a:p>
          <a:p>
            <a:pPr marL="809625" lvl="1" indent="-347980" algn="l" latinLnBrk="0">
              <a:lnSpc>
                <a:spcPct val="95000"/>
              </a:lnSpc>
              <a:spcBef>
                <a:spcPts val="0"/>
              </a:spcBef>
              <a:spcAft>
                <a:spcPts val="0"/>
              </a:spcAft>
              <a:buSzTx/>
              <a:buBlip>
                <a:blip r:embed="rId2"/>
              </a:buBlip>
            </a:pPr>
            <a:r>
              <a:rPr lang="zh-CN" altLang="en-US" sz="2400" dirty="0">
                <a:latin typeface="Times New Roman" panose="02020603050405020304" pitchFamily="18" charset="0"/>
                <a:cs typeface="+mn-ea"/>
                <a:sym typeface="+mn-ea"/>
              </a:rPr>
              <a:t>地址</a:t>
            </a:r>
            <a:r>
              <a:rPr lang="zh-CN" altLang="en-US" sz="2400" dirty="0">
                <a:latin typeface="Times New Roman" panose="02020603050405020304" pitchFamily="18" charset="0"/>
                <a:cs typeface="+mn-ea"/>
                <a:sym typeface="+mn-ea"/>
              </a:rPr>
              <a:t>线</a:t>
            </a:r>
            <a:r>
              <a:rPr lang="zh-CN" altLang="en-US" sz="2400" dirty="0">
                <a:latin typeface="Times New Roman" panose="02020603050405020304" pitchFamily="18" charset="0"/>
                <a:cs typeface="+mn-ea"/>
                <a:sym typeface="+mn-ea"/>
              </a:rPr>
              <a:t>和数据</a:t>
            </a:r>
            <a:r>
              <a:rPr lang="zh-CN" altLang="en-US" sz="2400" dirty="0">
                <a:latin typeface="Times New Roman" panose="02020603050405020304" pitchFamily="18" charset="0"/>
                <a:cs typeface="+mn-ea"/>
                <a:sym typeface="+mn-ea"/>
              </a:rPr>
              <a:t>线不复用，两者</a:t>
            </a:r>
            <a:r>
              <a:rPr lang="zh-CN" altLang="en-US" sz="2400" dirty="0">
                <a:latin typeface="Times New Roman" panose="02020603050405020304" pitchFamily="18" charset="0"/>
                <a:cs typeface="+mn-ea"/>
                <a:sym typeface="+mn-ea"/>
              </a:rPr>
              <a:t>可以同时送出</a:t>
            </a:r>
            <a:r>
              <a:rPr lang="zh-CN" altLang="en-US" sz="2400" dirty="0">
                <a:latin typeface="Times New Roman" panose="02020603050405020304" pitchFamily="18" charset="0"/>
                <a:cs typeface="+mn-ea"/>
                <a:sym typeface="+mn-ea"/>
              </a:rPr>
              <a:t>信息</a:t>
            </a:r>
            <a:endParaRPr lang="zh-CN" altLang="en-US" sz="2400" dirty="0">
              <a:latin typeface="Times New Roman" panose="02020603050405020304" pitchFamily="18" charset="0"/>
              <a:cs typeface="+mn-ea"/>
              <a:sym typeface="+mn-ea"/>
            </a:endParaRPr>
          </a:p>
          <a:p>
            <a:pPr marL="809625" lvl="1" indent="-347980" algn="l" latinLnBrk="0">
              <a:lnSpc>
                <a:spcPct val="95000"/>
              </a:lnSpc>
              <a:spcBef>
                <a:spcPts val="0"/>
              </a:spcBef>
              <a:spcAft>
                <a:spcPts val="0"/>
              </a:spcAft>
              <a:buSzTx/>
              <a:buBlip>
                <a:blip r:embed="rId2"/>
              </a:buBlip>
            </a:pPr>
            <a:r>
              <a:rPr lang="zh-CN" altLang="en-US" sz="2400" dirty="0">
                <a:latin typeface="Times New Roman" panose="02020603050405020304" pitchFamily="18" charset="0"/>
                <a:cs typeface="+mn-ea"/>
                <a:sym typeface="+mn-ea"/>
              </a:rPr>
              <a:t>Cost</a:t>
            </a:r>
            <a:r>
              <a:rPr lang="zh-CN" altLang="en-US" sz="2400" dirty="0">
                <a:latin typeface="Times New Roman" panose="02020603050405020304" pitchFamily="18" charset="0"/>
                <a:cs typeface="+mn-ea"/>
                <a:sym typeface="+mn-ea"/>
              </a:rPr>
              <a:t>：</a:t>
            </a:r>
            <a:r>
              <a:rPr lang="zh-CN" altLang="en-US" sz="2400" dirty="0">
                <a:latin typeface="Times New Roman" panose="02020603050405020304" pitchFamily="18" charset="0"/>
                <a:cs typeface="+mn-ea"/>
                <a:sym typeface="+mn-ea"/>
              </a:rPr>
              <a:t>(a) more bus lines	(b) </a:t>
            </a:r>
            <a:r>
              <a:rPr lang="zh-CN" altLang="en-US" sz="2400" dirty="0">
                <a:latin typeface="Times New Roman" panose="02020603050405020304" pitchFamily="18" charset="0"/>
                <a:cs typeface="+mn-ea"/>
                <a:sym typeface="+mn-ea"/>
              </a:rPr>
              <a:t>增加复杂性</a:t>
            </a:r>
            <a:endParaRPr lang="zh-CN" altLang="en-US" sz="2400" dirty="0">
              <a:latin typeface="Times New Roman" panose="02020603050405020304" pitchFamily="18" charset="0"/>
              <a:cs typeface="+mn-ea"/>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276931">
                                            <p:txEl>
                                              <p:charRg st="40" end="88"/>
                                            </p:txEl>
                                          </p:spTgt>
                                        </p:tgtEl>
                                        <p:attrNameLst>
                                          <p:attrName>style.visibility</p:attrName>
                                        </p:attrNameLst>
                                      </p:cBhvr>
                                      <p:to>
                                        <p:strVal val="visible"/>
                                      </p:to>
                                    </p:set>
                                    <p:animEffect transition="in" filter="blinds(horizontal)">
                                      <p:cBhvr>
                                        <p:cTn id="7" dur="500"/>
                                        <p:tgtEl>
                                          <p:spTgt spid="1276931">
                                            <p:txEl>
                                              <p:charRg st="40" end="88"/>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276931">
                                            <p:txEl>
                                              <p:charRg st="88" end="113"/>
                                            </p:txEl>
                                          </p:spTgt>
                                        </p:tgtEl>
                                        <p:attrNameLst>
                                          <p:attrName>style.visibility</p:attrName>
                                        </p:attrNameLst>
                                      </p:cBhvr>
                                      <p:to>
                                        <p:strVal val="visible"/>
                                      </p:to>
                                    </p:set>
                                    <p:animEffect transition="in" filter="blinds(horizontal)">
                                      <p:cBhvr>
                                        <p:cTn id="10" dur="500"/>
                                        <p:tgtEl>
                                          <p:spTgt spid="1276931">
                                            <p:txEl>
                                              <p:charRg st="88" end="11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276931">
                                            <p:txEl>
                                              <p:charRg st="139" end="165"/>
                                            </p:txEl>
                                          </p:spTgt>
                                        </p:tgtEl>
                                        <p:attrNameLst>
                                          <p:attrName>style.visibility</p:attrName>
                                        </p:attrNameLst>
                                      </p:cBhvr>
                                      <p:to>
                                        <p:strVal val="visible"/>
                                      </p:to>
                                    </p:set>
                                    <p:animEffect transition="in" filter="blinds(horizontal)">
                                      <p:cBhvr>
                                        <p:cTn id="15" dur="500"/>
                                        <p:tgtEl>
                                          <p:spTgt spid="1276931">
                                            <p:txEl>
                                              <p:charRg st="139" end="16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276931">
                                            <p:txEl>
                                              <p:charRg st="165" end="183"/>
                                            </p:txEl>
                                          </p:spTgt>
                                        </p:tgtEl>
                                        <p:attrNameLst>
                                          <p:attrName>style.visibility</p:attrName>
                                        </p:attrNameLst>
                                      </p:cBhvr>
                                      <p:to>
                                        <p:strVal val="visible"/>
                                      </p:to>
                                    </p:set>
                                    <p:animEffect transition="in" filter="blinds(horizontal)">
                                      <p:cBhvr>
                                        <p:cTn id="18" dur="500"/>
                                        <p:tgtEl>
                                          <p:spTgt spid="1276931">
                                            <p:txEl>
                                              <p:charRg st="165" end="18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276931">
                                            <p:txEl>
                                              <p:charRg st="183" end="212"/>
                                            </p:txEl>
                                          </p:spTgt>
                                        </p:tgtEl>
                                        <p:attrNameLst>
                                          <p:attrName>style.visibility</p:attrName>
                                        </p:attrNameLst>
                                      </p:cBhvr>
                                      <p:to>
                                        <p:strVal val="visible"/>
                                      </p:to>
                                    </p:set>
                                    <p:animEffect transition="in" filter="blinds(horizontal)">
                                      <p:cBhvr>
                                        <p:cTn id="21" dur="500"/>
                                        <p:tgtEl>
                                          <p:spTgt spid="1276931">
                                            <p:txEl>
                                              <p:charRg st="183" end="21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276931">
                                            <p:txEl>
                                              <p:charRg st="242" end="263"/>
                                            </p:txEl>
                                          </p:spTgt>
                                        </p:tgtEl>
                                        <p:attrNameLst>
                                          <p:attrName>style.visibility</p:attrName>
                                        </p:attrNameLst>
                                      </p:cBhvr>
                                      <p:to>
                                        <p:strVal val="visible"/>
                                      </p:to>
                                    </p:set>
                                    <p:animEffect transition="in" filter="blinds(horizontal)">
                                      <p:cBhvr>
                                        <p:cTn id="26" dur="500"/>
                                        <p:tgtEl>
                                          <p:spTgt spid="1276931">
                                            <p:txEl>
                                              <p:charRg st="242" end="263"/>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1276931">
                                            <p:txEl>
                                              <p:charRg st="263" end="296"/>
                                            </p:txEl>
                                          </p:spTgt>
                                        </p:tgtEl>
                                        <p:attrNameLst>
                                          <p:attrName>style.visibility</p:attrName>
                                        </p:attrNameLst>
                                      </p:cBhvr>
                                      <p:to>
                                        <p:strVal val="visible"/>
                                      </p:to>
                                    </p:set>
                                    <p:animEffect transition="in" filter="blinds(horizontal)">
                                      <p:cBhvr>
                                        <p:cTn id="29" dur="500"/>
                                        <p:tgtEl>
                                          <p:spTgt spid="1276931">
                                            <p:txEl>
                                              <p:charRg st="263" end="296"/>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1276931">
                                            <p:txEl>
                                              <p:charRg st="296" end="306"/>
                                            </p:txEl>
                                          </p:spTgt>
                                        </p:tgtEl>
                                        <p:attrNameLst>
                                          <p:attrName>style.visibility</p:attrName>
                                        </p:attrNameLst>
                                      </p:cBhvr>
                                      <p:to>
                                        <p:strVal val="visible"/>
                                      </p:to>
                                    </p:set>
                                    <p:animEffect transition="in" filter="blinds(horizontal)">
                                      <p:cBhvr>
                                        <p:cTn id="32" dur="500"/>
                                        <p:tgtEl>
                                          <p:spTgt spid="1276931">
                                            <p:txEl>
                                              <p:charRg st="296" end="306"/>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1276931">
                                            <p:txEl>
                                              <p:charRg st="306" end="318"/>
                                            </p:txEl>
                                          </p:spTgt>
                                        </p:tgtEl>
                                        <p:attrNameLst>
                                          <p:attrName>style.visibility</p:attrName>
                                        </p:attrNameLst>
                                      </p:cBhvr>
                                      <p:to>
                                        <p:strVal val="visible"/>
                                      </p:to>
                                    </p:set>
                                    <p:animEffect transition="in" filter="blinds(horizontal)">
                                      <p:cBhvr>
                                        <p:cTn id="35" dur="500"/>
                                        <p:tgtEl>
                                          <p:spTgt spid="1276931">
                                            <p:txEl>
                                              <p:charRg st="306" end="318"/>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276931">
                                            <p:txEl>
                                              <p:charRg st="318" end="353"/>
                                            </p:txEl>
                                          </p:spTgt>
                                        </p:tgtEl>
                                        <p:attrNameLst>
                                          <p:attrName>style.visibility</p:attrName>
                                        </p:attrNameLst>
                                      </p:cBhvr>
                                      <p:to>
                                        <p:strVal val="visible"/>
                                      </p:to>
                                    </p:set>
                                    <p:animEffect transition="in" filter="blinds(horizontal)">
                                      <p:cBhvr>
                                        <p:cTn id="38" dur="500"/>
                                        <p:tgtEl>
                                          <p:spTgt spid="1276931">
                                            <p:txEl>
                                              <p:charRg st="318" end="3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Text Box 2"/>
          <p:cNvSpPr txBox="1"/>
          <p:nvPr/>
        </p:nvSpPr>
        <p:spPr>
          <a:xfrm>
            <a:off x="1574800" y="1827213"/>
            <a:ext cx="6681788" cy="4478337"/>
          </a:xfrm>
          <a:prstGeom prst="rect">
            <a:avLst/>
          </a:prstGeom>
          <a:noFill/>
          <a:ln w="9525">
            <a:noFill/>
          </a:ln>
        </p:spPr>
        <p:txBody>
          <a:bodyPr>
            <a:spAutoFit/>
          </a:bodyPr>
          <a:lstStyle>
            <a:lvl1pPr marL="460375" indent="-460375" algn="l" rtl="0" eaLnBrk="0" fontAlgn="base" hangingPunct="0">
              <a:lnSpc>
                <a:spcPct val="85000"/>
              </a:lnSpc>
              <a:spcBef>
                <a:spcPct val="25000"/>
              </a:spcBef>
              <a:spcAft>
                <a:spcPct val="0"/>
              </a:spcAft>
              <a:buClr>
                <a:schemeClr val="tx2"/>
              </a:buClr>
              <a:buFont typeface="Wingdings" panose="05000000000000000000" pitchFamily="2" charset="2"/>
              <a:buBlip>
                <a:blip r:embed="rId1"/>
              </a:buBlip>
              <a:defRPr sz="3600">
                <a:solidFill>
                  <a:schemeClr val="tx1"/>
                </a:solidFill>
                <a:latin typeface="+mn-lt"/>
                <a:ea typeface="+mn-ea"/>
                <a:cs typeface="+mn-cs"/>
              </a:defRPr>
            </a:lvl1pPr>
            <a:lvl2pPr marL="914400" indent="-452755" algn="l" rtl="0" eaLnBrk="0" fontAlgn="base" hangingPunct="0">
              <a:lnSpc>
                <a:spcPct val="85000"/>
              </a:lnSpc>
              <a:spcBef>
                <a:spcPct val="25000"/>
              </a:spcBef>
              <a:spcAft>
                <a:spcPct val="0"/>
              </a:spcAft>
              <a:buClr>
                <a:schemeClr val="tx2"/>
              </a:buClr>
              <a:buFont typeface="Wingdings" panose="05000000000000000000" pitchFamily="2" charset="2"/>
              <a:buBlip>
                <a:blip r:embed="rId2"/>
              </a:buBlip>
              <a:defRPr sz="3200" b="1">
                <a:solidFill>
                  <a:schemeClr val="tx1"/>
                </a:solidFill>
                <a:latin typeface="+mn-lt"/>
                <a:ea typeface="+mn-ea"/>
              </a:defRPr>
            </a:lvl2pPr>
            <a:lvl3pPr marL="1270000" indent="-354330" algn="l" rtl="0" eaLnBrk="0" fontAlgn="base" hangingPunct="0">
              <a:lnSpc>
                <a:spcPct val="85000"/>
              </a:lnSpc>
              <a:spcBef>
                <a:spcPct val="25000"/>
              </a:spcBef>
              <a:spcAft>
                <a:spcPct val="0"/>
              </a:spcAft>
              <a:buClr>
                <a:schemeClr val="folHlink"/>
              </a:buClr>
              <a:buFont typeface="Symbol" panose="05050102010706020507" pitchFamily="18" charset="2"/>
              <a:buChar char="§"/>
              <a:defRPr sz="2800" b="1">
                <a:solidFill>
                  <a:schemeClr val="tx1"/>
                </a:solidFill>
                <a:latin typeface="+mn-lt"/>
                <a:ea typeface="+mn-ea"/>
              </a:defRPr>
            </a:lvl3pPr>
            <a:lvl4pPr marL="1602105" indent="-330200"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3"/>
              </a:buBlip>
              <a:defRPr sz="2400" b="1">
                <a:solidFill>
                  <a:schemeClr val="tx1"/>
                </a:solidFill>
                <a:latin typeface="+mn-lt"/>
                <a:ea typeface="+mn-ea"/>
              </a:defRPr>
            </a:lvl4pPr>
            <a:lvl5pPr marL="1971675" indent="-325755" algn="l" rtl="0" eaLnBrk="0" fontAlgn="base" hangingPunct="0">
              <a:lnSpc>
                <a:spcPct val="85000"/>
              </a:lnSpc>
              <a:spcBef>
                <a:spcPct val="25000"/>
              </a:spcBef>
              <a:spcAft>
                <a:spcPct val="0"/>
              </a:spcAft>
              <a:buClr>
                <a:schemeClr val="tx2"/>
              </a:buClr>
              <a:buSzPct val="75000"/>
              <a:buFont typeface="Wingdings" panose="05000000000000000000" pitchFamily="2" charset="2"/>
              <a:buBlip>
                <a:blip r:embed="rId4"/>
              </a:buBlip>
              <a:defRPr sz="2400" b="1">
                <a:solidFill>
                  <a:schemeClr val="tx1"/>
                </a:solidFill>
                <a:latin typeface="+mn-lt"/>
                <a:ea typeface="+mn-ea"/>
              </a:defRPr>
            </a:lvl5pPr>
          </a:lstStyle>
          <a:p>
            <a:pPr marL="0" lvl="0" indent="0" algn="ctr" eaLnBrk="1" hangingPunct="1">
              <a:lnSpc>
                <a:spcPct val="100000"/>
              </a:lnSpc>
              <a:spcBef>
                <a:spcPct val="50000"/>
              </a:spcBef>
              <a:buClrTx/>
              <a:buFontTx/>
              <a:buNone/>
            </a:pPr>
            <a:r>
              <a:rPr lang="zh-CN" altLang="en-US" sz="7200" b="0" dirty="0">
                <a:solidFill>
                  <a:srgbClr val="FFFF00"/>
                </a:solidFill>
                <a:latin typeface="方正舒体" panose="02010601030101010101" pitchFamily="2" charset="-122"/>
                <a:ea typeface="方正舒体" panose="02010601030101010101" pitchFamily="2" charset="-122"/>
              </a:rPr>
              <a:t>祝同学们</a:t>
            </a:r>
            <a:endParaRPr lang="zh-CN" altLang="en-US" sz="7200" b="0" dirty="0">
              <a:solidFill>
                <a:srgbClr val="FFFF00"/>
              </a:solidFill>
              <a:latin typeface="方正舒体" panose="02010601030101010101" pitchFamily="2" charset="-122"/>
              <a:ea typeface="方正舒体" panose="02010601030101010101" pitchFamily="2" charset="-122"/>
            </a:endParaRPr>
          </a:p>
          <a:p>
            <a:pPr marL="0" lvl="0" indent="0" algn="ctr" eaLnBrk="1" hangingPunct="1">
              <a:lnSpc>
                <a:spcPct val="100000"/>
              </a:lnSpc>
              <a:spcBef>
                <a:spcPct val="50000"/>
              </a:spcBef>
              <a:buClrTx/>
              <a:buFontTx/>
              <a:buNone/>
            </a:pPr>
            <a:r>
              <a:rPr lang="zh-CN" altLang="en-US" sz="7200" b="0" dirty="0">
                <a:solidFill>
                  <a:srgbClr val="FFFF00"/>
                </a:solidFill>
                <a:latin typeface="方正舒体" panose="02010601030101010101" pitchFamily="2" charset="-122"/>
                <a:ea typeface="方正舒体" panose="02010601030101010101" pitchFamily="2" charset="-122"/>
              </a:rPr>
              <a:t>考出好成绩  ！</a:t>
            </a:r>
            <a:endParaRPr lang="zh-CN" altLang="en-US" sz="12900" b="0" dirty="0">
              <a:solidFill>
                <a:srgbClr val="FFFF00"/>
              </a:solidFill>
              <a:latin typeface="方正舒体" panose="02010601030101010101" pitchFamily="2" charset="-122"/>
              <a:ea typeface="方正舒体" panose="02010601030101010101" pitchFamily="2" charset="-122"/>
            </a:endParaRPr>
          </a:p>
          <a:p>
            <a:pPr marL="0" lvl="0" indent="0" algn="ctr" eaLnBrk="1" hangingPunct="1">
              <a:lnSpc>
                <a:spcPct val="100000"/>
              </a:lnSpc>
              <a:spcBef>
                <a:spcPct val="50000"/>
              </a:spcBef>
              <a:buClrTx/>
              <a:buFontTx/>
              <a:buNone/>
            </a:pPr>
            <a:endParaRPr lang="zh-CN" altLang="en-US" sz="2400" dirty="0">
              <a:solidFill>
                <a:srgbClr val="FFFF00"/>
              </a:solidFill>
              <a:latin typeface="方正舒体" panose="02010601030101010101" pitchFamily="2" charset="-122"/>
              <a:ea typeface="方正舒体" panose="02010601030101010101" pitchFamily="2" charset="-122"/>
            </a:endParaRPr>
          </a:p>
          <a:p>
            <a:pPr marL="0" lvl="0" indent="0" algn="ctr" eaLnBrk="1" hangingPunct="1">
              <a:lnSpc>
                <a:spcPct val="100000"/>
              </a:lnSpc>
              <a:spcBef>
                <a:spcPct val="50000"/>
              </a:spcBef>
              <a:buClrTx/>
              <a:buFontTx/>
              <a:buNone/>
            </a:pPr>
            <a:endParaRPr lang="zh-CN" altLang="en-US" sz="2400" dirty="0">
              <a:solidFill>
                <a:srgbClr val="FFFF00"/>
              </a:solidFill>
              <a:latin typeface="方正舒体" panose="02010601030101010101" pitchFamily="2" charset="-122"/>
              <a:ea typeface="方正舒体" panose="02010601030101010101" pitchFamily="2" charset="-122"/>
            </a:endParaRPr>
          </a:p>
          <a:p>
            <a:pPr marL="0" lvl="0" indent="0" algn="ctr" eaLnBrk="1" hangingPunct="1">
              <a:lnSpc>
                <a:spcPct val="100000"/>
              </a:lnSpc>
              <a:spcBef>
                <a:spcPct val="50000"/>
              </a:spcBef>
              <a:buClrTx/>
              <a:buFontTx/>
              <a:buNone/>
            </a:pPr>
            <a:endParaRPr lang="zh-CN" altLang="en-US" sz="2400" dirty="0">
              <a:solidFill>
                <a:srgbClr val="FFFF00"/>
              </a:solidFill>
              <a:latin typeface="方正舒体" panose="02010601030101010101" pitchFamily="2" charset="-122"/>
              <a:ea typeface="方正舒体" panose="02010601030101010101" pitchFamily="2" charset="-122"/>
            </a:endParaRPr>
          </a:p>
        </p:txBody>
      </p:sp>
    </p:spTree>
  </p:cSld>
  <p:clrMapOvr>
    <a:masterClrMapping/>
  </p:clrMapOvr>
  <p:transition advTm="2656">
    <p:pull dir="r"/>
  </p:transition>
</p:sld>
</file>

<file path=ppt/tags/tag1.xml><?xml version="1.0" encoding="utf-8"?>
<p:tagLst xmlns:p="http://schemas.openxmlformats.org/presentationml/2006/main">
  <p:tag name="KSO_WPP_MARK_KEY" val="0b9702fc-8756-4a2f-9345-10f66d4bc2c3"/>
  <p:tag name="COMMONDATA" val="eyJoZGlkIjoiMTc3NzFjOGIwNzlkOWNiOWFkMzZmOTMyMDMwZjAzZGEifQ=="/>
</p:tagLst>
</file>

<file path=ppt/theme/theme1.xml><?xml version="1.0" encoding="utf-8"?>
<a:theme xmlns:a="http://schemas.openxmlformats.org/drawingml/2006/main" name="Trustworthy Computing">
  <a:themeElements>
    <a:clrScheme name="Trustworthy Computing 1">
      <a:dk1>
        <a:srgbClr val="000000"/>
      </a:dk1>
      <a:lt1>
        <a:srgbClr val="FFFFFF"/>
      </a:lt1>
      <a:dk2>
        <a:srgbClr val="0068D0"/>
      </a:dk2>
      <a:lt2>
        <a:srgbClr val="FFCC29"/>
      </a:lt2>
      <a:accent1>
        <a:srgbClr val="FCEB98"/>
      </a:accent1>
      <a:accent2>
        <a:srgbClr val="6554E2"/>
      </a:accent2>
      <a:accent3>
        <a:srgbClr val="AAB9E4"/>
      </a:accent3>
      <a:accent4>
        <a:srgbClr val="DADADA"/>
      </a:accent4>
      <a:accent5>
        <a:srgbClr val="FDF3CA"/>
      </a:accent5>
      <a:accent6>
        <a:srgbClr val="5B4BCD"/>
      </a:accent6>
      <a:hlink>
        <a:srgbClr val="65CD76"/>
      </a:hlink>
      <a:folHlink>
        <a:srgbClr val="ED9061"/>
      </a:folHlink>
    </a:clrScheme>
    <a:fontScheme name="Trustworthy Computing">
      <a:majorFont>
        <a:latin typeface="华文新魏"/>
        <a:ea typeface="华文新魏"/>
        <a:cs typeface=""/>
      </a:majorFont>
      <a:minorFont>
        <a:latin typeface="华文新魏"/>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en-US" sz="2400" b="1" i="0" u="none" strike="noStrike" cap="none" normalizeH="0" baseline="0" smtClean="0">
            <a:ln>
              <a:noFill/>
            </a:ln>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en-US" sz="2400" b="1" i="0" u="none" strike="noStrike" cap="none" normalizeH="0" baseline="0" smtClean="0">
            <a:ln>
              <a:noFill/>
            </a:ln>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defRPr>
        </a:defPPr>
      </a:lstStyle>
    </a:lnDef>
  </a:objectDefaults>
  <a:extraClrSchemeLst>
    <a:extraClrScheme>
      <a:clrScheme name="Trustworthy Computing 1">
        <a:dk1>
          <a:srgbClr val="000000"/>
        </a:dk1>
        <a:lt1>
          <a:srgbClr val="FFFFFF"/>
        </a:lt1>
        <a:dk2>
          <a:srgbClr val="0068D0"/>
        </a:dk2>
        <a:lt2>
          <a:srgbClr val="FFCC29"/>
        </a:lt2>
        <a:accent1>
          <a:srgbClr val="FCEB98"/>
        </a:accent1>
        <a:accent2>
          <a:srgbClr val="6554E2"/>
        </a:accent2>
        <a:accent3>
          <a:srgbClr val="AAB9E4"/>
        </a:accent3>
        <a:accent4>
          <a:srgbClr val="DADADA"/>
        </a:accent4>
        <a:accent5>
          <a:srgbClr val="FDF3CA"/>
        </a:accent5>
        <a:accent6>
          <a:srgbClr val="5B4BCD"/>
        </a:accent6>
        <a:hlink>
          <a:srgbClr val="65CD76"/>
        </a:hlink>
        <a:folHlink>
          <a:srgbClr val="ED906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12690</Words>
  <Application>WPS 演示</Application>
  <PresentationFormat>全屏显示(4:3)</PresentationFormat>
  <Paragraphs>1365</Paragraphs>
  <Slides>75</Slides>
  <Notes>37</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3</vt:i4>
      </vt:variant>
      <vt:variant>
        <vt:lpstr>幻灯片标题</vt:lpstr>
      </vt:variant>
      <vt:variant>
        <vt:i4>75</vt:i4>
      </vt:variant>
    </vt:vector>
  </HeadingPairs>
  <TitlesOfParts>
    <vt:vector size="95" baseType="lpstr">
      <vt:lpstr>Arial</vt:lpstr>
      <vt:lpstr>宋体</vt:lpstr>
      <vt:lpstr>Wingdings</vt:lpstr>
      <vt:lpstr>华文新魏</vt:lpstr>
      <vt:lpstr>Symbol</vt:lpstr>
      <vt:lpstr>Times New Roman</vt:lpstr>
      <vt:lpstr>隶书</vt:lpstr>
      <vt:lpstr>Franklin Gothic Medium</vt:lpstr>
      <vt:lpstr>华文中宋</vt:lpstr>
      <vt:lpstr>Monotype Sorts</vt:lpstr>
      <vt:lpstr>Wingdings</vt:lpstr>
      <vt:lpstr>Verdana</vt:lpstr>
      <vt:lpstr>方正舒体</vt:lpstr>
      <vt:lpstr>微软雅黑</vt:lpstr>
      <vt:lpstr>Arial Unicode MS</vt:lpstr>
      <vt:lpstr>Times New Roman</vt:lpstr>
      <vt:lpstr>Trustworthy Computing</vt:lpstr>
      <vt:lpstr>Word.Picture.8</vt:lpstr>
      <vt:lpstr>Paint.Picture</vt:lpstr>
      <vt:lpstr>Word.Document.8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增加同步总线带宽的措施</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 Generation Technology Day</dc:title>
  <dc:creator>Bill Gates, Jeff Ressler, Steven Van Roekel</dc:creator>
  <dc:description>PPT Designer: Maryfj
PPT Template Designer: BBFM
Date: February 13, 2001
Length:75 min
Location: San Francisco
Key objectives:
Supporting Messages / Outline: 
XML Web Services = newest, biggest industry phenomenon
Outstanding momentum around .NET Platform means big developer opportunity
VS.NET drives the new phenomenon through unrivaled innovation
Products: .NET Framework VS .NET
Objectives:
VB Excitement among developers
Great VB news: tech and beyond
Generate Windows 2000 momentum
Audience: A2000+ VB devs and X IT press</dc:description>
  <cp:lastModifiedBy>春蚕</cp:lastModifiedBy>
  <cp:revision>3701</cp:revision>
  <cp:lastPrinted>2002-10-14T17:57:47Z</cp:lastPrinted>
  <dcterms:created xsi:type="dcterms:W3CDTF">1999-06-08T20:00:09Z</dcterms:created>
  <dcterms:modified xsi:type="dcterms:W3CDTF">2023-06-15T01:33:17Z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9E211A3069F344BA8460667616A87B7D_13</vt:lpwstr>
  </property>
  <property fmtid="{D5CDD505-2E9C-101B-9397-08002B2CF9AE}" pid="3" name="KSOProductBuildVer">
    <vt:lpwstr>2052-11.1.0.14036</vt:lpwstr>
  </property>
</Properties>
</file>