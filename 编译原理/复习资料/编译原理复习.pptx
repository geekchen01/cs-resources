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345" r:id="rId2"/>
    <p:sldId id="387" r:id="rId3"/>
    <p:sldId id="388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0514" autoAdjust="0"/>
  </p:normalViewPr>
  <p:slideViewPr>
    <p:cSldViewPr snapToGrid="0">
      <p:cViewPr varScale="1">
        <p:scale>
          <a:sx n="79" d="100"/>
          <a:sy n="79" d="100"/>
        </p:scale>
        <p:origin x="15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B5F8B-A421-402D-BD50-AED65D1D8948}" type="datetimeFigureOut">
              <a:rPr lang="zh-CN" altLang="en-US" smtClean="0"/>
              <a:t>2023/11/13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C61CE-634D-4F64-ACD8-85A675627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3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4D2479A3-4298-49EF-83A0-3FD5C55812F3}" type="slidenum"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/>
              <a:t>1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zh-CN" sz="1500" dirty="0"/>
          </a:p>
        </p:txBody>
      </p:sp>
    </p:spTree>
    <p:extLst>
      <p:ext uri="{BB962C8B-B14F-4D97-AF65-F5344CB8AC3E}">
        <p14:creationId xmlns:p14="http://schemas.microsoft.com/office/powerpoint/2010/main" val="3432669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考核方式：考试与考查相结合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组织方式：笔试、现场或在线测试，笔试部分采用闭卷形式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成绩评定：百分制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记分标准：考试占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％，实验占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％，作业占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课程成绩构成：</a:t>
            </a:r>
          </a:p>
          <a:p>
            <a:r>
              <a:rPr lang="zh-CN" altLang="en-US" dirty="0"/>
              <a:t>闭卷笔试：</a:t>
            </a:r>
            <a:r>
              <a:rPr lang="en-US" altLang="zh-CN" dirty="0"/>
              <a:t>70%</a:t>
            </a:r>
          </a:p>
          <a:p>
            <a:r>
              <a:rPr lang="zh-CN" altLang="en-US" dirty="0"/>
              <a:t>上机实习：</a:t>
            </a:r>
            <a:r>
              <a:rPr lang="en-US" altLang="zh-CN" dirty="0"/>
              <a:t>25%</a:t>
            </a:r>
            <a:r>
              <a:rPr lang="zh-CN" altLang="en-US" dirty="0"/>
              <a:t>，其中</a:t>
            </a:r>
            <a:r>
              <a:rPr lang="en-US" altLang="zh-CN" dirty="0"/>
              <a:t>LEX</a:t>
            </a:r>
            <a:r>
              <a:rPr lang="zh-CN" altLang="en-US" dirty="0"/>
              <a:t>、</a:t>
            </a:r>
            <a:r>
              <a:rPr lang="en-US" altLang="zh-CN" dirty="0"/>
              <a:t>JAVACC</a:t>
            </a:r>
            <a:r>
              <a:rPr lang="zh-CN" altLang="en-US" dirty="0"/>
              <a:t>、</a:t>
            </a:r>
            <a:r>
              <a:rPr lang="en-US" altLang="zh-CN" dirty="0"/>
              <a:t>BISON</a:t>
            </a:r>
            <a:r>
              <a:rPr lang="zh-CN" altLang="en-US" dirty="0"/>
              <a:t>占</a:t>
            </a:r>
            <a:r>
              <a:rPr lang="en-US" altLang="zh-CN" dirty="0"/>
              <a:t>9%</a:t>
            </a:r>
            <a:r>
              <a:rPr lang="zh-CN" altLang="en-US" dirty="0"/>
              <a:t>，综合实验占</a:t>
            </a:r>
            <a:r>
              <a:rPr lang="en-US" altLang="zh-CN" dirty="0"/>
              <a:t>16%</a:t>
            </a:r>
          </a:p>
          <a:p>
            <a:r>
              <a:rPr lang="zh-CN" altLang="en-US" dirty="0"/>
              <a:t>书面作业：</a:t>
            </a:r>
            <a:r>
              <a:rPr lang="en-US" altLang="zh-CN" dirty="0"/>
              <a:t>5%</a:t>
            </a:r>
          </a:p>
          <a:p>
            <a:endParaRPr lang="en-US" altLang="zh-CN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所有人 上面是到目前为止线上学习时间统计。如课程开课时要求的，本课程要求每位同学在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中完成一定量的线上自主学习，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平台将自动统计每位同学的学习时间，要求每位同学的线上学习时间达到如下要求：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.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观看视频个数不少于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，课程视频总数预计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左右。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视频观看时长不少于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分钟，视频总时长预计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分钟左右。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讨论区发帖、发表回复和评论的总数不少于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，灌水帖将被删除不计入统计。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认真完成课程调查问卷，缺席调查的次数不能多余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上述统计以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平台自动统计数据为准。每位同学的线上学习时间必须满足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or B) and C and 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。如果线上学习不能在规定日期前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结课考试前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达到上面的要求，将不能参加期末考试，不能获得笔试成绩。请大家开一下统计信息，抓紧时间达到线上学习标准。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29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139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fld id="{86570B5D-B026-419A-A2AB-8FD8A347DA82}" type="slidenum">
              <a:rPr lang="en-US" altLang="zh-CN" smtClean="0">
                <a:latin typeface="Times New Roman" panose="02020603050405020304" pitchFamily="18" charset="0"/>
                <a:ea typeface="宋体" panose="02010600030101010101" pitchFamily="2" charset="-122"/>
              </a:rPr>
              <a:pPr/>
              <a:t>3</a:t>
            </a:fld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535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248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59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8BC71B7-4C3F-4A4E-969B-BABD0FA30E8A}" type="slidenum">
              <a:rPr lang="en-US" altLang="zh-CN" smtClean="0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GB" sz="2800"/>
              <a:t>在大学学什么？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GB" sz="2400"/>
              <a:t>重要目标之一：学思维方法</a:t>
            </a:r>
          </a:p>
          <a:p>
            <a:pPr eaLnBrk="1" hangingPunct="1"/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398284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2F6C56-8D4B-48B5-A980-1526BDE2D15A}" type="slidenum">
              <a:rPr lang="en-US" altLang="zh-CN" smtClean="0">
                <a:latin typeface="Times New Roman" panose="02020603050405020304" pitchFamily="18" charset="0"/>
              </a:rPr>
              <a:pPr/>
              <a:t>25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716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6C61CE-634D-4F64-ACD8-85A675627EA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26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ctr">
            <a:noAutofit/>
          </a:bodyPr>
          <a:lstStyle>
            <a:lvl1pPr algn="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ctr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7D89-5AA5-4B63-A9BD-2E180BB66858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63B8F-7FBB-4100-AD0E-90D420565753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B2C3F-2196-46CA-8FED-C3FBCB935B65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ADDB-0AB1-463C-A00D-42B31939B118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A65C-12EF-4891-B6CB-00F894C445BD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BABA0-08DB-4D5C-8CE5-B957E759D9C4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13AAF-A42D-4DBB-A115-0456D9109EBD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8BC3-48D8-4AAC-BEA5-E7FCD52B0604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6AAB-831A-44DE-96E4-F01EA63632AF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3552-E759-43EF-AFB8-80E66A55D22F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D2D6E-29BA-48CD-905D-5A95EDCC5FE4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A9CE-2280-4ABA-A915-9E1C95A04C34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55479-0977-4220-BE1F-E689A3FAA3EB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5194-219E-457A-BF25-38665E8B9A5E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8939-E277-4B81-945D-F828A69D3CE8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2A86-E49F-4DDA-8432-4966C50E3B71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363600"/>
            <a:ext cx="7887600" cy="132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823259"/>
            <a:ext cx="7887600" cy="435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27600" y="6357600"/>
            <a:ext cx="308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E62E-F970-45BA-8A60-2B0AB7581D77}" type="datetime1">
              <a:rPr lang="en-US" altLang="zh-CN" smtClean="0"/>
              <a:t>11/13/2023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0000" y="6357600"/>
            <a:ext cx="205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8400" y="6357600"/>
            <a:ext cx="205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6468349" y="0"/>
            <a:ext cx="2685485" cy="68664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视频区域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ourse163.org/course/NUDT-100310100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hyperlink" Target="https://www.icourse163.org/spoc/course/NUDT-1449959190?tid=147098649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chapt9.ppt#-1,29,9.3.2 DAG&#30340;&#24212;&#29992;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PJD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编译原理</a:t>
            </a:r>
            <a:endParaRPr lang="en-GB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复习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6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GB"/>
              <a:t>课程安排</a:t>
            </a:r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课程考核</a:t>
            </a:r>
          </a:p>
          <a:p>
            <a:pPr lvl="1"/>
            <a:r>
              <a:rPr lang="zh-CN" altLang="zh-CN" dirty="0"/>
              <a:t>闭卷笔试：</a:t>
            </a:r>
            <a:r>
              <a:rPr lang="en-US" altLang="zh-CN" dirty="0"/>
              <a:t>70</a:t>
            </a:r>
            <a:r>
              <a:rPr lang="zh-CN" altLang="zh-CN" dirty="0"/>
              <a:t>%</a:t>
            </a:r>
            <a:endParaRPr lang="en-US" altLang="zh-CN" dirty="0"/>
          </a:p>
          <a:p>
            <a:pPr lvl="1"/>
            <a:r>
              <a:rPr lang="zh-CN" altLang="zh-CN" dirty="0"/>
              <a:t>上机实习：25%</a:t>
            </a:r>
            <a:endParaRPr lang="en-US" altLang="zh-CN" dirty="0"/>
          </a:p>
          <a:p>
            <a:pPr lvl="2"/>
            <a:r>
              <a:rPr lang="zh-CN" altLang="en-US" dirty="0"/>
              <a:t>单元实验： </a:t>
            </a:r>
            <a:r>
              <a:rPr lang="en-US" altLang="zh-CN" dirty="0"/>
              <a:t>10%</a:t>
            </a:r>
          </a:p>
          <a:p>
            <a:pPr lvl="2"/>
            <a:r>
              <a:rPr lang="zh-CN" altLang="en-US" dirty="0"/>
              <a:t>综合实验：</a:t>
            </a:r>
            <a:r>
              <a:rPr lang="en-US" altLang="zh-CN" dirty="0"/>
              <a:t>15%</a:t>
            </a:r>
          </a:p>
          <a:p>
            <a:pPr lvl="1"/>
            <a:r>
              <a:rPr lang="zh-CN" altLang="zh-CN" dirty="0"/>
              <a:t>书面作业：5%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849086" y="4826675"/>
            <a:ext cx="7668514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要求每位同学的线上学习时间达到如下要求：</a:t>
            </a:r>
          </a:p>
          <a:p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A . 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观看视频个数不少于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160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，课程视频总数预计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230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左右。</a:t>
            </a:r>
          </a:p>
          <a:p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B. 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视频观看时长不少于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800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分钟，视频总时长预计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2000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分钟左右。</a:t>
            </a:r>
          </a:p>
          <a:p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C. 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讨论区发帖、发表回复和评论的总数不少于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，灌水帖将被删除不计入统计。</a:t>
            </a:r>
          </a:p>
          <a:p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D. 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认真完成课程调查问卷，缺席调查的次数不能多余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6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次。</a:t>
            </a:r>
          </a:p>
          <a:p>
            <a:r>
              <a:rPr lang="zh-CN" altLang="en-US" dirty="0">
                <a:solidFill>
                  <a:srgbClr val="C00000"/>
                </a:solidFill>
                <a:latin typeface="+mj-ea"/>
              </a:rPr>
              <a:t>必须满足 </a:t>
            </a:r>
            <a:r>
              <a:rPr lang="en-US" altLang="zh-CN" dirty="0">
                <a:solidFill>
                  <a:srgbClr val="C00000"/>
                </a:solidFill>
                <a:latin typeface="+mj-ea"/>
              </a:rPr>
              <a:t>(A or B) and C and D</a:t>
            </a:r>
            <a:r>
              <a:rPr lang="zh-CN" altLang="en-US" dirty="0">
                <a:solidFill>
                  <a:srgbClr val="C00000"/>
                </a:solidFill>
                <a:latin typeface="+mj-ea"/>
              </a:rPr>
              <a:t>，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统计以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SPOC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平台自动统计数据为准。</a:t>
            </a:r>
          </a:p>
        </p:txBody>
      </p:sp>
    </p:spTree>
    <p:extLst>
      <p:ext uri="{BB962C8B-B14F-4D97-AF65-F5344CB8AC3E}">
        <p14:creationId xmlns:p14="http://schemas.microsoft.com/office/powerpoint/2010/main" val="324966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课程学习平台</a:t>
            </a:r>
            <a:endParaRPr lang="en-US" altLang="zh-CN" dirty="0"/>
          </a:p>
        </p:txBody>
      </p:sp>
      <p:sp>
        <p:nvSpPr>
          <p:cNvPr id="138243" name="内容占位符 2"/>
          <p:cNvSpPr>
            <a:spLocks noGrp="1"/>
          </p:cNvSpPr>
          <p:nvPr>
            <p:ph idx="1"/>
          </p:nvPr>
        </p:nvSpPr>
        <p:spPr>
          <a:xfrm>
            <a:off x="630000" y="1823259"/>
            <a:ext cx="4907200" cy="4352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大规模开放课程</a:t>
            </a:r>
            <a:r>
              <a:rPr lang="en-US" altLang="zh-CN" dirty="0"/>
              <a:t>(MOOC)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平台：</a:t>
            </a:r>
            <a:r>
              <a:rPr lang="zh-CN" altLang="zh-CN" dirty="0"/>
              <a:t>中国大学</a:t>
            </a:r>
            <a:r>
              <a:rPr lang="en-US" altLang="zh-CN" dirty="0"/>
              <a:t>MOOC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课程：</a:t>
            </a:r>
            <a:r>
              <a:rPr lang="zh-CN" altLang="en-US" dirty="0">
                <a:solidFill>
                  <a:srgbClr val="C00000"/>
                </a:solidFill>
              </a:rPr>
              <a:t>编译原理</a:t>
            </a:r>
            <a:r>
              <a:rPr lang="zh-CN" altLang="en-US" dirty="0"/>
              <a:t>，国防科技大学  王挺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网址：</a:t>
            </a:r>
            <a:r>
              <a:rPr lang="en-US" altLang="zh-CN" dirty="0">
                <a:hlinkClick r:id="rId3"/>
              </a:rPr>
              <a:t>https://www.icourse163.org/course/NUDT-1003101005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小规模私有课程</a:t>
            </a:r>
            <a:r>
              <a:rPr lang="en-US" altLang="zh-CN" dirty="0"/>
              <a:t>(SPOC)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平台：</a:t>
            </a:r>
            <a:r>
              <a:rPr lang="zh-CN" altLang="zh-CN" dirty="0"/>
              <a:t>中国大学</a:t>
            </a:r>
            <a:r>
              <a:rPr lang="en-US" altLang="zh-CN" dirty="0"/>
              <a:t>MOOC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课程：</a:t>
            </a:r>
            <a:r>
              <a:rPr lang="zh-CN" altLang="en-US" dirty="0">
                <a:solidFill>
                  <a:srgbClr val="C00000"/>
                </a:solidFill>
              </a:rPr>
              <a:t>编译原理，</a:t>
            </a:r>
            <a:r>
              <a:rPr lang="en-US" altLang="zh-CN" dirty="0">
                <a:solidFill>
                  <a:srgbClr val="C00000"/>
                </a:solidFill>
              </a:rPr>
              <a:t>SPOC</a:t>
            </a:r>
            <a:r>
              <a:rPr lang="zh-CN" altLang="en-US" dirty="0"/>
              <a:t>，国防科技大学计算机学院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网址：</a:t>
            </a:r>
            <a:r>
              <a:rPr lang="en-US" altLang="zh-CN" dirty="0"/>
              <a:t> </a:t>
            </a:r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次开课 </a:t>
            </a:r>
            <a:r>
              <a:rPr lang="en-US" altLang="zh-CN" dirty="0">
                <a:hlinkClick r:id="rId4"/>
              </a:rPr>
              <a:t>https://www.icourse163.org/spoc/course/NUDT-1449959190?tid=1470986494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课程密码：</a:t>
            </a:r>
            <a:r>
              <a:rPr lang="en-US" altLang="zh-CN" dirty="0"/>
              <a:t>nudtcp2023f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5</a:t>
            </a:r>
            <a:r>
              <a:rPr lang="zh-CN" altLang="en-US" b="1" dirty="0">
                <a:solidFill>
                  <a:srgbClr val="C00000"/>
                </a:solidFill>
              </a:rPr>
              <a:t>次单元测试、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次结课考试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622" y="4300081"/>
            <a:ext cx="3060000" cy="1721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622" y="1995159"/>
            <a:ext cx="3060000" cy="1998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001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第一章  引  论 </a:t>
            </a:r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翻译程序</a:t>
            </a:r>
          </a:p>
          <a:p>
            <a:pPr eaLnBrk="1" hangingPunct="1"/>
            <a:r>
              <a:rPr lang="zh-CN" altLang="en-US" dirty="0"/>
              <a:t>编译程序</a:t>
            </a:r>
          </a:p>
          <a:p>
            <a:pPr eaLnBrk="1" hangingPunct="1"/>
            <a:r>
              <a:rPr lang="zh-CN" altLang="en-US" dirty="0"/>
              <a:t>编译程序五个阶段：各阶段任务、遵循的原则</a:t>
            </a:r>
          </a:p>
          <a:p>
            <a:pPr eaLnBrk="1" hangingPunct="1"/>
            <a:r>
              <a:rPr lang="zh-CN" altLang="en-US" dirty="0"/>
              <a:t>编译程序总框</a:t>
            </a:r>
          </a:p>
          <a:p>
            <a:pPr eaLnBrk="1" hangingPunct="1"/>
            <a:r>
              <a:rPr lang="zh-CN" altLang="en-US" dirty="0"/>
              <a:t>表格的作用</a:t>
            </a:r>
          </a:p>
          <a:p>
            <a:pPr eaLnBrk="1" hangingPunct="1"/>
            <a:r>
              <a:rPr lang="zh-CN" altLang="en-US" dirty="0"/>
              <a:t>遍与阶段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1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5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75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5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75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75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第二章 高级语言概述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</a:t>
            </a:r>
          </a:p>
          <a:p>
            <a:pPr eaLnBrk="1" hangingPunct="1"/>
            <a:r>
              <a:rPr lang="zh-CN" altLang="en-US"/>
              <a:t>词法规则</a:t>
            </a:r>
          </a:p>
          <a:p>
            <a:pPr eaLnBrk="1" hangingPunct="1"/>
            <a:r>
              <a:rPr lang="zh-CN" altLang="en-US"/>
              <a:t>单词符号种类</a:t>
            </a:r>
          </a:p>
          <a:p>
            <a:pPr eaLnBrk="1" hangingPunct="1"/>
            <a:r>
              <a:rPr lang="zh-CN" altLang="en-US"/>
              <a:t>语法规则</a:t>
            </a:r>
          </a:p>
          <a:p>
            <a:pPr eaLnBrk="1" hangingPunct="1"/>
            <a:r>
              <a:rPr lang="zh-CN" altLang="en-US"/>
              <a:t>语法单位种类</a:t>
            </a:r>
          </a:p>
          <a:p>
            <a:pPr eaLnBrk="1" hangingPunct="1"/>
            <a:r>
              <a:rPr lang="zh-CN" altLang="en-US"/>
              <a:t>语义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3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第二章 高级语言概述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高级语言的分类、程序结构</a:t>
            </a:r>
          </a:p>
          <a:p>
            <a:pPr eaLnBrk="1" hangingPunct="1"/>
            <a:r>
              <a:rPr lang="zh-CN" altLang="en-US"/>
              <a:t>初等数据类型</a:t>
            </a:r>
          </a:p>
          <a:p>
            <a:pPr eaLnBrk="1" hangingPunct="1"/>
            <a:r>
              <a:rPr lang="zh-CN" altLang="en-US"/>
              <a:t>标识符</a:t>
            </a:r>
          </a:p>
          <a:p>
            <a:pPr eaLnBrk="1" hangingPunct="1"/>
            <a:r>
              <a:rPr lang="zh-CN" altLang="en-US"/>
              <a:t>名字及其属性</a:t>
            </a:r>
          </a:p>
          <a:p>
            <a:pPr eaLnBrk="1" hangingPunct="1"/>
            <a:r>
              <a:rPr lang="zh-CN" altLang="en-US"/>
              <a:t>数据结构、抽象数据类型 </a:t>
            </a:r>
          </a:p>
          <a:p>
            <a:pPr eaLnBrk="1" hangingPunct="1"/>
            <a:r>
              <a:rPr lang="zh-CN" altLang="en-US"/>
              <a:t>表达式：中缀、前缀、后缀</a:t>
            </a:r>
          </a:p>
          <a:p>
            <a:pPr eaLnBrk="1" hangingPunct="1"/>
            <a:r>
              <a:rPr lang="zh-CN" altLang="en-US"/>
              <a:t>语句及其分类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3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第二章 高级语言概述</a:t>
            </a:r>
          </a:p>
        </p:txBody>
      </p:sp>
      <p:sp>
        <p:nvSpPr>
          <p:cNvPr id="84997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zh-CN" altLang="en-US" dirty="0"/>
              <a:t>上下文无关文法</a:t>
            </a:r>
            <a:r>
              <a:rPr lang="en-US" altLang="zh-CN" dirty="0"/>
              <a:t>--</a:t>
            </a:r>
            <a:r>
              <a:rPr lang="zh-CN" altLang="en-US" dirty="0"/>
              <a:t>四元组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G=(V</a:t>
            </a:r>
            <a:r>
              <a:rPr lang="en-US" altLang="zh-CN" baseline="-25000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P)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直接推出、推导、句型、句子、语言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给出语言的文法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最左推导、最右推导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语法树</a:t>
            </a:r>
          </a:p>
          <a:p>
            <a:pPr eaLnBrk="1" hangingPunct="1"/>
            <a:r>
              <a:rPr lang="zh-CN" altLang="en-US" noProof="1">
                <a:solidFill>
                  <a:srgbClr val="C00000"/>
                </a:solidFill>
              </a:rPr>
              <a:t>二义</a:t>
            </a:r>
            <a:r>
              <a:rPr lang="zh-CN" altLang="zh-CN" dirty="0">
                <a:solidFill>
                  <a:srgbClr val="C00000"/>
                </a:solidFill>
              </a:rPr>
              <a:t>性</a:t>
            </a:r>
            <a:endParaRPr lang="zh-CN" altLang="en-US" noProof="1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B0F0"/>
                </a:solidFill>
              </a:rPr>
              <a:t>Chomsky</a:t>
            </a:r>
            <a:r>
              <a:rPr lang="zh-CN" altLang="en-US" dirty="0">
                <a:solidFill>
                  <a:srgbClr val="00B0F0"/>
                </a:solidFill>
              </a:rPr>
              <a:t>形式语言体系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60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 词法分析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词法分析的任务</a:t>
            </a:r>
          </a:p>
          <a:p>
            <a:pPr eaLnBrk="1" hangingPunct="1"/>
            <a:r>
              <a:rPr lang="zh-CN" altLang="en-US" dirty="0"/>
              <a:t>词法分析器、扫描器</a:t>
            </a:r>
          </a:p>
          <a:p>
            <a:pPr eaLnBrk="1" hangingPunct="1"/>
            <a:r>
              <a:rPr lang="zh-CN" altLang="en-US" dirty="0"/>
              <a:t>词法分析器的功能和输出形式</a:t>
            </a:r>
          </a:p>
          <a:p>
            <a:pPr eaLnBrk="1" hangingPunct="1"/>
            <a:r>
              <a:rPr lang="zh-CN" altLang="en-US" dirty="0"/>
              <a:t>词法分析作为一个独立子程序</a:t>
            </a:r>
          </a:p>
          <a:p>
            <a:pPr eaLnBrk="1" hangingPunct="1"/>
            <a:r>
              <a:rPr lang="zh-CN" altLang="en-US" strike="sngStrike" dirty="0">
                <a:solidFill>
                  <a:srgbClr val="00B0F0"/>
                </a:solidFill>
              </a:rPr>
              <a:t>预处理</a:t>
            </a:r>
            <a:endParaRPr lang="zh-CN" altLang="en-US" strike="sngStrike" noProof="1">
              <a:solidFill>
                <a:srgbClr val="00B0F0"/>
              </a:solidFill>
            </a:endParaRPr>
          </a:p>
          <a:p>
            <a:pPr eaLnBrk="1" hangingPunct="1"/>
            <a:r>
              <a:rPr lang="zh-CN" altLang="en-US" strike="sngStrike" dirty="0">
                <a:solidFill>
                  <a:srgbClr val="00B0F0"/>
                </a:solidFill>
              </a:rPr>
              <a:t>超前搜索</a:t>
            </a:r>
            <a:r>
              <a:rPr lang="en-US" altLang="zh-CN" strike="sngStrike" dirty="0">
                <a:solidFill>
                  <a:srgbClr val="00B0F0"/>
                </a:solidFill>
              </a:rPr>
              <a:t>--</a:t>
            </a:r>
            <a:r>
              <a:rPr lang="zh-CN" altLang="en-US" strike="sngStrike" dirty="0">
                <a:solidFill>
                  <a:srgbClr val="00B0F0"/>
                </a:solidFill>
              </a:rPr>
              <a:t>在词法分析过程中，有时为了确定词性，需超前扫描若干个字符，这个动作称为超前搜索。</a:t>
            </a:r>
            <a:endParaRPr lang="zh-CN" altLang="en-US" strike="sngStrike" noProof="1">
              <a:solidFill>
                <a:srgbClr val="00B0F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第三章  词法分析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zh-CN" altLang="en-US" noProof="1"/>
              <a:t>状态转换图</a:t>
            </a:r>
            <a:endParaRPr lang="zh-CN" altLang="en-US" dirty="0"/>
          </a:p>
          <a:p>
            <a:pPr eaLnBrk="1" hangingPunct="1"/>
            <a:r>
              <a:rPr lang="zh-CN" altLang="en-US" dirty="0"/>
              <a:t>正规式和正规集</a:t>
            </a:r>
          </a:p>
          <a:p>
            <a:pPr eaLnBrk="1" hangingPunct="1"/>
            <a:r>
              <a:rPr lang="zh-CN" altLang="en-US" dirty="0"/>
              <a:t>确定有限自动机</a:t>
            </a:r>
            <a:r>
              <a:rPr lang="en-US" altLang="zh-CN" dirty="0"/>
              <a:t>(DFA) : M=(S, </a:t>
            </a:r>
            <a:r>
              <a:rPr lang="en-US" altLang="zh-CN" dirty="0">
                <a:sym typeface="Symbol" panose="05050102010706020507" pitchFamily="18" charset="2"/>
              </a:rPr>
              <a:t>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en-US" altLang="zh-CN" dirty="0"/>
              <a:t>, S</a:t>
            </a:r>
            <a:r>
              <a:rPr lang="en-US" altLang="zh-CN" baseline="-25000" dirty="0"/>
              <a:t>0</a:t>
            </a:r>
            <a:r>
              <a:rPr lang="en-US" altLang="zh-CN" dirty="0"/>
              <a:t>, Z)</a:t>
            </a:r>
          </a:p>
          <a:p>
            <a:pPr eaLnBrk="1" hangingPunct="1"/>
            <a:r>
              <a:rPr lang="zh-CN" altLang="en-US" dirty="0"/>
              <a:t>非确定有限自动机</a:t>
            </a:r>
            <a:r>
              <a:rPr lang="en-US" altLang="zh-CN" dirty="0"/>
              <a:t>(NFA) : M=(S, </a:t>
            </a:r>
            <a:r>
              <a:rPr lang="en-US" altLang="zh-CN" dirty="0">
                <a:sym typeface="Symbol" panose="05050102010706020507" pitchFamily="18" charset="2"/>
              </a:rPr>
              <a:t>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en-US" altLang="zh-CN" dirty="0"/>
              <a:t>, S</a:t>
            </a:r>
            <a:r>
              <a:rPr lang="en-US" altLang="zh-CN" baseline="-25000" dirty="0"/>
              <a:t>0</a:t>
            </a:r>
            <a:r>
              <a:rPr lang="en-US" altLang="zh-CN" dirty="0"/>
              <a:t>, Z)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NFA</a:t>
            </a:r>
            <a:r>
              <a:rPr lang="zh-CN" altLang="en-US" dirty="0">
                <a:solidFill>
                  <a:srgbClr val="C00000"/>
                </a:solidFill>
              </a:rPr>
              <a:t>确定化为</a:t>
            </a:r>
            <a:r>
              <a:rPr lang="en-US" altLang="zh-CN" dirty="0">
                <a:solidFill>
                  <a:srgbClr val="C00000"/>
                </a:solidFill>
              </a:rPr>
              <a:t>DFA</a:t>
            </a:r>
            <a:r>
              <a:rPr lang="zh-CN" altLang="en-US" dirty="0">
                <a:solidFill>
                  <a:srgbClr val="C00000"/>
                </a:solidFill>
              </a:rPr>
              <a:t>的方法</a:t>
            </a:r>
            <a:r>
              <a:rPr lang="en-US" altLang="zh-CN" dirty="0">
                <a:solidFill>
                  <a:srgbClr val="C00000"/>
                </a:solidFill>
              </a:rPr>
              <a:t>——</a:t>
            </a:r>
            <a:r>
              <a:rPr lang="zh-CN" altLang="en-US" dirty="0">
                <a:solidFill>
                  <a:srgbClr val="C00000"/>
                </a:solidFill>
              </a:rPr>
              <a:t>子集法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DFA</a:t>
            </a:r>
            <a:r>
              <a:rPr lang="zh-CN" altLang="en-US" dirty="0">
                <a:solidFill>
                  <a:srgbClr val="C00000"/>
                </a:solidFill>
              </a:rPr>
              <a:t>的化简  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正规式与有限自动机的等价性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strike="sngStrike" dirty="0">
                <a:solidFill>
                  <a:srgbClr val="00B0F0"/>
                </a:solidFill>
              </a:rPr>
              <a:t>正规文法与有限自动机的等价性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第四章  语法分析</a:t>
            </a:r>
            <a:r>
              <a:rPr lang="en-US" altLang="zh-CN"/>
              <a:t>—</a:t>
            </a:r>
            <a:r>
              <a:rPr lang="zh-CN" altLang="en-US"/>
              <a:t>自上而下分析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语法分析器及其功能</a:t>
            </a:r>
          </a:p>
          <a:p>
            <a:pPr eaLnBrk="1" hangingPunct="1"/>
            <a:r>
              <a:rPr lang="zh-CN" altLang="en-US"/>
              <a:t>语法分析的方法</a:t>
            </a:r>
          </a:p>
          <a:p>
            <a:pPr lvl="1" eaLnBrk="1" hangingPunct="1"/>
            <a:r>
              <a:rPr lang="zh-CN" altLang="en-US"/>
              <a:t>自下而上分析法</a:t>
            </a:r>
          </a:p>
          <a:p>
            <a:pPr lvl="1" eaLnBrk="1" hangingPunct="1"/>
            <a:r>
              <a:rPr lang="zh-CN" altLang="en-US"/>
              <a:t>自上而下分析法</a:t>
            </a:r>
          </a:p>
          <a:p>
            <a:pPr eaLnBrk="1" hangingPunct="1"/>
            <a:r>
              <a:rPr lang="zh-CN" altLang="en-US"/>
              <a:t>自上而下分析</a:t>
            </a:r>
            <a:r>
              <a:rPr lang="en-US" altLang="zh-CN"/>
              <a:t>——</a:t>
            </a:r>
            <a:r>
              <a:rPr lang="zh-CN" altLang="en-US"/>
              <a:t>所谓自上而下分析法是指从开始符出发，向下推导，推出句子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8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第四章  语法分析</a:t>
            </a:r>
            <a:r>
              <a:rPr lang="en-US" altLang="zh-CN"/>
              <a:t>—</a:t>
            </a:r>
            <a:r>
              <a:rPr lang="zh-CN" altLang="en-US"/>
              <a:t>自上而下分析</a:t>
            </a:r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C00000"/>
                </a:solidFill>
              </a:rPr>
              <a:t>LL(1)</a:t>
            </a:r>
            <a:r>
              <a:rPr lang="zh-CN" altLang="en-US">
                <a:solidFill>
                  <a:srgbClr val="C00000"/>
                </a:solidFill>
              </a:rPr>
              <a:t>分析法</a:t>
            </a:r>
          </a:p>
          <a:p>
            <a:pPr lvl="1" eaLnBrk="1" hangingPunct="1"/>
            <a:r>
              <a:rPr lang="zh-CN" altLang="en-US">
                <a:solidFill>
                  <a:srgbClr val="C00000"/>
                </a:solidFill>
              </a:rPr>
              <a:t>消除文法的左递归、提取公共左因子</a:t>
            </a:r>
          </a:p>
          <a:p>
            <a:pPr eaLnBrk="1" hangingPunct="1"/>
            <a:r>
              <a:rPr lang="en-US" altLang="zh-CN">
                <a:solidFill>
                  <a:srgbClr val="C00000"/>
                </a:solidFill>
              </a:rPr>
              <a:t>LL(1)</a:t>
            </a:r>
            <a:r>
              <a:rPr lang="zh-CN" altLang="en-US">
                <a:solidFill>
                  <a:srgbClr val="C00000"/>
                </a:solidFill>
              </a:rPr>
              <a:t>文法及其充分必要条件</a:t>
            </a:r>
            <a:endParaRPr lang="en-US" altLang="zh-CN">
              <a:solidFill>
                <a:srgbClr val="C00000"/>
              </a:solidFill>
            </a:endParaRPr>
          </a:p>
          <a:p>
            <a:pPr eaLnBrk="1" hangingPunct="1"/>
            <a:r>
              <a:rPr lang="zh-CN" altLang="en-US">
                <a:solidFill>
                  <a:srgbClr val="C00000"/>
                </a:solidFill>
              </a:rPr>
              <a:t>构造递归下降子程序</a:t>
            </a:r>
          </a:p>
          <a:p>
            <a:pPr eaLnBrk="1" hangingPunct="1"/>
            <a:r>
              <a:rPr lang="zh-CN" altLang="en-US">
                <a:solidFill>
                  <a:srgbClr val="C00000"/>
                </a:solidFill>
              </a:rPr>
              <a:t>预测分析程序、预测分析表的构造</a:t>
            </a:r>
          </a:p>
          <a:p>
            <a:pPr lvl="1" eaLnBrk="1" hangingPunct="1"/>
            <a:r>
              <a:rPr lang="en-US" altLang="zh-CN">
                <a:solidFill>
                  <a:srgbClr val="C00000"/>
                </a:solidFill>
              </a:rPr>
              <a:t>FIRST(</a:t>
            </a:r>
            <a:r>
              <a:rPr lang="en-US" altLang="zh-CN">
                <a:solidFill>
                  <a:srgbClr val="C00000"/>
                </a:solidFill>
                <a:sym typeface="Symbol" panose="05050102010706020507" pitchFamily="18" charset="2"/>
              </a:rPr>
              <a:t></a:t>
            </a:r>
            <a:r>
              <a:rPr lang="en-US" altLang="zh-CN">
                <a:solidFill>
                  <a:srgbClr val="C00000"/>
                </a:solidFill>
              </a:rPr>
              <a:t>)</a:t>
            </a:r>
            <a:r>
              <a:rPr lang="zh-CN" altLang="en-US">
                <a:solidFill>
                  <a:srgbClr val="C00000"/>
                </a:solidFill>
              </a:rPr>
              <a:t>、</a:t>
            </a:r>
            <a:r>
              <a:rPr lang="en-US" altLang="zh-CN">
                <a:solidFill>
                  <a:srgbClr val="C00000"/>
                </a:solidFill>
              </a:rPr>
              <a:t>FOLLOW(A)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4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44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44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第五章  语法分析</a:t>
            </a:r>
            <a:r>
              <a:rPr lang="en-US" altLang="zh-CN"/>
              <a:t>——</a:t>
            </a:r>
            <a:r>
              <a:rPr lang="zh-CN" altLang="en-US"/>
              <a:t>自下而上分析 </a:t>
            </a:r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noProof="1"/>
              <a:t>移进－归约</a:t>
            </a:r>
          </a:p>
          <a:p>
            <a:pPr eaLnBrk="1" hangingPunct="1"/>
            <a:r>
              <a:rPr lang="zh-CN" altLang="en-US" noProof="1"/>
              <a:t>分析树</a:t>
            </a:r>
          </a:p>
          <a:p>
            <a:pPr eaLnBrk="1" hangingPunct="1"/>
            <a:r>
              <a:rPr lang="zh-CN" altLang="en-US">
                <a:solidFill>
                  <a:srgbClr val="C00000"/>
                </a:solidFill>
              </a:rPr>
              <a:t>短语、直接短语、句柄、素短语、最左素短语</a:t>
            </a:r>
          </a:p>
          <a:p>
            <a:pPr eaLnBrk="1" hangingPunct="1"/>
            <a:r>
              <a:rPr lang="zh-CN" altLang="en-US"/>
              <a:t>规范归约、规范推导、规范句型</a:t>
            </a:r>
            <a:endParaRPr lang="zh-CN" altLang="en-US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23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第五章  语法分析</a:t>
            </a:r>
            <a:r>
              <a:rPr lang="en-US" altLang="zh-CN"/>
              <a:t>——</a:t>
            </a:r>
            <a:r>
              <a:rPr lang="zh-CN" altLang="en-US"/>
              <a:t>自下而上分析</a:t>
            </a: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noProof="1"/>
              <a:t>算符优先分析法</a:t>
            </a:r>
            <a:endParaRPr lang="zh-CN" altLang="en-US" dirty="0"/>
          </a:p>
          <a:p>
            <a:pPr lvl="1" eaLnBrk="1" hangingPunct="1"/>
            <a:r>
              <a:rPr lang="zh-CN" altLang="en-US" noProof="1"/>
              <a:t>定义算符之间的某种优先关系，借助于这种关系寻找“可归约串”和进行归约</a:t>
            </a:r>
            <a:endParaRPr lang="zh-CN" altLang="zh-CN" noProof="1"/>
          </a:p>
          <a:p>
            <a:pPr eaLnBrk="1" hangingPunct="1"/>
            <a:r>
              <a:rPr lang="zh-CN" altLang="en-US" dirty="0"/>
              <a:t>算符文法、算符优先文法</a:t>
            </a:r>
            <a:endParaRPr lang="zh-CN" altLang="zh-CN" noProof="1"/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优先关系表及其构造方法</a:t>
            </a:r>
          </a:p>
          <a:p>
            <a:pPr lvl="1" eaLnBrk="1" hangingPunct="1"/>
            <a:r>
              <a:rPr lang="en-US" altLang="zh-CN" dirty="0">
                <a:solidFill>
                  <a:srgbClr val="C00000"/>
                </a:solidFill>
              </a:rPr>
              <a:t>FIRSTVT(P)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>
                <a:solidFill>
                  <a:srgbClr val="C00000"/>
                </a:solidFill>
              </a:rPr>
              <a:t>LASTVT(P)</a:t>
            </a:r>
            <a:endParaRPr lang="zh-CN" altLang="en-US" dirty="0">
              <a:solidFill>
                <a:srgbClr val="C00000"/>
              </a:solidFill>
            </a:endParaRPr>
          </a:p>
          <a:p>
            <a:pPr eaLnBrk="1" hangingPunct="1"/>
            <a:r>
              <a:rPr lang="zh-CN" altLang="en-US" dirty="0"/>
              <a:t>算符优先算法</a:t>
            </a:r>
          </a:p>
          <a:p>
            <a:pPr lvl="1" eaLnBrk="1" hangingPunct="1"/>
            <a:r>
              <a:rPr lang="zh-CN" altLang="en-US" dirty="0"/>
              <a:t>最左素短语</a:t>
            </a:r>
            <a:endParaRPr lang="zh-CN" altLang="en-US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5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4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4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4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第五章  语法分析</a:t>
            </a:r>
            <a:r>
              <a:rPr lang="en-US" altLang="zh-CN"/>
              <a:t>——</a:t>
            </a:r>
            <a:r>
              <a:rPr lang="zh-CN" altLang="en-US"/>
              <a:t>自下而上分析</a:t>
            </a:r>
          </a:p>
        </p:txBody>
      </p:sp>
      <p:sp>
        <p:nvSpPr>
          <p:cNvPr id="21513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LR</a:t>
            </a:r>
            <a:r>
              <a:rPr lang="zh-CN" altLang="en-US" dirty="0">
                <a:solidFill>
                  <a:schemeClr val="tx1"/>
                </a:solidFill>
              </a:rPr>
              <a:t>分析器的工作机制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使用</a:t>
            </a:r>
            <a:r>
              <a:rPr lang="en-US" altLang="zh-CN" dirty="0">
                <a:solidFill>
                  <a:srgbClr val="C00000"/>
                </a:solidFill>
              </a:rPr>
              <a:t>LR</a:t>
            </a:r>
            <a:r>
              <a:rPr lang="zh-CN" altLang="en-US" dirty="0">
                <a:solidFill>
                  <a:srgbClr val="C00000"/>
                </a:solidFill>
              </a:rPr>
              <a:t>分表进行移进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归约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LR</a:t>
            </a:r>
            <a:r>
              <a:rPr lang="zh-CN" altLang="en-US" dirty="0">
                <a:solidFill>
                  <a:schemeClr val="tx1"/>
                </a:solidFill>
              </a:rPr>
              <a:t>分析表的构造方法及原理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识别活前缀的</a:t>
            </a:r>
            <a:r>
              <a:rPr lang="en-US" altLang="zh-CN" dirty="0">
                <a:solidFill>
                  <a:srgbClr val="C00000"/>
                </a:solidFill>
              </a:rPr>
              <a:t>DFA</a:t>
            </a:r>
            <a:endParaRPr lang="en-US" altLang="en-US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dirty="0">
                <a:solidFill>
                  <a:srgbClr val="C00000"/>
                </a:solidFill>
              </a:rPr>
              <a:t>项目集规范族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rgbClr val="C00000"/>
                </a:solidFill>
              </a:rPr>
              <a:t>LR(0)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en-US" dirty="0">
                <a:solidFill>
                  <a:srgbClr val="C00000"/>
                </a:solidFill>
              </a:rPr>
              <a:t>SLR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en-US" dirty="0">
                <a:solidFill>
                  <a:srgbClr val="C00000"/>
                </a:solidFill>
              </a:rPr>
              <a:t>LR(1)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00B0F0"/>
                </a:solidFill>
              </a:rPr>
              <a:t>LALR(1)</a:t>
            </a:r>
            <a:r>
              <a:rPr lang="zh-CN" altLang="en-US" dirty="0">
                <a:solidFill>
                  <a:srgbClr val="C00000"/>
                </a:solidFill>
              </a:rPr>
              <a:t>分析表构造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5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5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5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5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5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第六章  属性文法和语法制导翻译 </a:t>
            </a:r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属性文法、语义规则 </a:t>
            </a:r>
          </a:p>
          <a:p>
            <a:pPr lvl="1"/>
            <a:r>
              <a:rPr lang="zh-CN" altLang="en-US"/>
              <a:t>综合属性、继承属性</a:t>
            </a:r>
          </a:p>
          <a:p>
            <a:r>
              <a:rPr lang="zh-CN" altLang="en-US"/>
              <a:t>带注释的语法树 </a:t>
            </a:r>
          </a:p>
          <a:p>
            <a:r>
              <a:rPr lang="zh-CN" altLang="en-US">
                <a:solidFill>
                  <a:srgbClr val="C00000"/>
                </a:solidFill>
              </a:rPr>
              <a:t>属性的计算</a:t>
            </a:r>
          </a:p>
          <a:p>
            <a:pPr lvl="1"/>
            <a:r>
              <a:rPr lang="zh-CN" altLang="en-US">
                <a:solidFill>
                  <a:srgbClr val="C00000"/>
                </a:solidFill>
              </a:rPr>
              <a:t>依赖图 、 树遍历 、一遍扫描</a:t>
            </a:r>
          </a:p>
          <a:p>
            <a:r>
              <a:rPr lang="en-US" altLang="zh-CN"/>
              <a:t>L</a:t>
            </a:r>
            <a:r>
              <a:rPr lang="zh-CN" altLang="en-US"/>
              <a:t>－属性文法 、</a:t>
            </a:r>
            <a:r>
              <a:rPr lang="en-US" altLang="zh-CN"/>
              <a:t>S</a:t>
            </a:r>
            <a:r>
              <a:rPr lang="zh-CN" altLang="en-US"/>
              <a:t>－属性文法  </a:t>
            </a:r>
          </a:p>
          <a:p>
            <a:r>
              <a:rPr lang="zh-CN" altLang="en-US"/>
              <a:t>语法制导翻译法 </a:t>
            </a:r>
          </a:p>
          <a:p>
            <a:r>
              <a:rPr lang="zh-CN" altLang="en-US"/>
              <a:t>抽象语法树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5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1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1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1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1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16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16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7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第六章  属性文法和语法制导翻译 </a:t>
            </a:r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</a:t>
            </a:r>
            <a:r>
              <a:rPr lang="zh-CN" altLang="en-US"/>
              <a:t>－属性文法：自顶向下翻译</a:t>
            </a:r>
          </a:p>
          <a:p>
            <a:pPr eaLnBrk="1" hangingPunct="1"/>
            <a:r>
              <a:rPr lang="en-US" altLang="zh-CN"/>
              <a:t>S</a:t>
            </a:r>
            <a:r>
              <a:rPr lang="zh-CN" altLang="en-US"/>
              <a:t>－属性文法 ：自下而上计算 </a:t>
            </a:r>
          </a:p>
          <a:p>
            <a:pPr eaLnBrk="1" hangingPunct="1"/>
            <a:r>
              <a:rPr lang="zh-CN" altLang="en-US"/>
              <a:t>属性文法与翻译模式 </a:t>
            </a:r>
          </a:p>
          <a:p>
            <a:pPr eaLnBrk="1" hangingPunct="1"/>
            <a:r>
              <a:rPr lang="zh-CN" altLang="en-US"/>
              <a:t>语义动作</a:t>
            </a:r>
          </a:p>
          <a:p>
            <a:pPr eaLnBrk="1" hangingPunct="1"/>
            <a:r>
              <a:rPr lang="zh-CN" altLang="en-US">
                <a:solidFill>
                  <a:srgbClr val="C00000"/>
                </a:solidFill>
              </a:rPr>
              <a:t>翻译模式的设计</a:t>
            </a:r>
          </a:p>
          <a:p>
            <a:pPr eaLnBrk="1" hangingPunct="1"/>
            <a:r>
              <a:rPr lang="zh-CN" altLang="en-US"/>
              <a:t>自下而上计算继承属性 </a:t>
            </a:r>
          </a:p>
          <a:p>
            <a:pPr lvl="1" eaLnBrk="1" hangingPunct="1"/>
            <a:r>
              <a:rPr lang="zh-CN" altLang="en-US"/>
              <a:t>从翻译模式中去掉嵌入在产生式中间的动作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0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7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70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7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7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70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70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第七章  语义分析和中间代码产生 </a:t>
            </a:r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zh-CN" altLang="en-US" sz="2600" dirty="0"/>
              <a:t>中间语言的作用和形式</a:t>
            </a:r>
          </a:p>
          <a:p>
            <a:pPr eaLnBrk="1" hangingPunct="1"/>
            <a:r>
              <a:rPr lang="zh-CN" altLang="en-US" sz="2600" dirty="0"/>
              <a:t>逆波兰表示</a:t>
            </a:r>
          </a:p>
          <a:p>
            <a:pPr eaLnBrk="1" hangingPunct="1"/>
            <a:r>
              <a:rPr lang="zh-CN" altLang="en-US" sz="2600" dirty="0"/>
              <a:t>图表示法</a:t>
            </a:r>
          </a:p>
          <a:p>
            <a:pPr lvl="1" eaLnBrk="1" hangingPunct="1"/>
            <a:r>
              <a:rPr lang="en-US" altLang="zh-CN" sz="2200" dirty="0"/>
              <a:t>DAG</a:t>
            </a:r>
            <a:r>
              <a:rPr lang="zh-CN" altLang="en-US" sz="2200" dirty="0"/>
              <a:t>、抽象语法树</a:t>
            </a:r>
          </a:p>
          <a:p>
            <a:pPr eaLnBrk="1" hangingPunct="1"/>
            <a:r>
              <a:rPr lang="zh-CN" altLang="en-US" sz="2600" dirty="0"/>
              <a:t>三地址代码</a:t>
            </a:r>
          </a:p>
          <a:p>
            <a:pPr lvl="1" eaLnBrk="1" hangingPunct="1"/>
            <a:r>
              <a:rPr lang="zh-CN" altLang="en-US" sz="2200" dirty="0"/>
              <a:t>三元式、间接三元式、四元式</a:t>
            </a:r>
          </a:p>
          <a:p>
            <a:pPr eaLnBrk="1" hangingPunct="1"/>
            <a:r>
              <a:rPr lang="zh-CN" altLang="en-US" sz="2600" dirty="0">
                <a:solidFill>
                  <a:srgbClr val="C00000"/>
                </a:solidFill>
              </a:rPr>
              <a:t>把程序翻译成四元式</a:t>
            </a:r>
          </a:p>
          <a:p>
            <a:pPr eaLnBrk="1" hangingPunct="1"/>
            <a:r>
              <a:rPr lang="zh-CN" altLang="en-US" sz="2600" dirty="0">
                <a:solidFill>
                  <a:srgbClr val="C00000"/>
                </a:solidFill>
              </a:rPr>
              <a:t>设计翻译模式</a:t>
            </a:r>
            <a:r>
              <a:rPr lang="en-US" altLang="zh-CN" sz="2600" dirty="0">
                <a:solidFill>
                  <a:srgbClr val="C00000"/>
                </a:solidFill>
              </a:rPr>
              <a:t>——</a:t>
            </a:r>
            <a:r>
              <a:rPr lang="zh-CN" altLang="en-US" sz="2600" dirty="0">
                <a:solidFill>
                  <a:srgbClr val="C00000"/>
                </a:solidFill>
              </a:rPr>
              <a:t>语义子程序</a:t>
            </a:r>
          </a:p>
          <a:p>
            <a:pPr lvl="1" eaLnBrk="1" hangingPunct="1"/>
            <a:r>
              <a:rPr lang="zh-CN" altLang="en-US" sz="2200" dirty="0">
                <a:solidFill>
                  <a:srgbClr val="C00000"/>
                </a:solidFill>
              </a:rPr>
              <a:t>一遍扫描翻译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67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60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60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60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60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60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60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60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60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第八章  符号表 </a:t>
            </a: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trike="sngStrike" dirty="0">
                <a:solidFill>
                  <a:srgbClr val="00B0F0"/>
                </a:solidFill>
              </a:rPr>
              <a:t>符号表的作用</a:t>
            </a:r>
          </a:p>
          <a:p>
            <a:pPr eaLnBrk="1" hangingPunct="1"/>
            <a:r>
              <a:rPr lang="zh-CN" altLang="en-US" strike="sngStrike" dirty="0">
                <a:solidFill>
                  <a:srgbClr val="00B0F0"/>
                </a:solidFill>
              </a:rPr>
              <a:t>符号表的每一项</a:t>
            </a:r>
            <a:r>
              <a:rPr lang="en-US" altLang="zh-CN" strike="sngStrike" dirty="0">
                <a:solidFill>
                  <a:srgbClr val="00B0F0"/>
                </a:solidFill>
              </a:rPr>
              <a:t>(</a:t>
            </a:r>
            <a:r>
              <a:rPr lang="zh-CN" altLang="en-US" strike="sngStrike" dirty="0">
                <a:solidFill>
                  <a:srgbClr val="00B0F0"/>
                </a:solidFill>
              </a:rPr>
              <a:t>入口</a:t>
            </a:r>
            <a:r>
              <a:rPr lang="en-US" altLang="zh-CN" strike="sngStrike" dirty="0">
                <a:solidFill>
                  <a:srgbClr val="00B0F0"/>
                </a:solidFill>
              </a:rPr>
              <a:t>)</a:t>
            </a:r>
            <a:r>
              <a:rPr lang="zh-CN" altLang="en-US" strike="sngStrike" dirty="0">
                <a:solidFill>
                  <a:srgbClr val="00B0F0"/>
                </a:solidFill>
              </a:rPr>
              <a:t>包含</a:t>
            </a:r>
          </a:p>
          <a:p>
            <a:pPr lvl="1" eaLnBrk="1" hangingPunct="1"/>
            <a:r>
              <a:rPr lang="zh-CN" altLang="en-US" strike="sngStrike" dirty="0">
                <a:solidFill>
                  <a:srgbClr val="00B0F0"/>
                </a:solidFill>
              </a:rPr>
              <a:t>名字栏、信息栏</a:t>
            </a:r>
          </a:p>
          <a:p>
            <a:pPr eaLnBrk="1" hangingPunct="1"/>
            <a:r>
              <a:rPr lang="zh-CN" altLang="en-US" strike="sngStrike" noProof="1">
                <a:solidFill>
                  <a:srgbClr val="00B0F0"/>
                </a:solidFill>
              </a:rPr>
              <a:t>符号表的操作</a:t>
            </a:r>
          </a:p>
          <a:p>
            <a:pPr eaLnBrk="1" hangingPunct="1"/>
            <a:r>
              <a:rPr lang="zh-CN" altLang="en-US" strike="sngStrike" noProof="1">
                <a:solidFill>
                  <a:srgbClr val="00B0F0"/>
                </a:solidFill>
              </a:rPr>
              <a:t>符号表的整理和查找</a:t>
            </a:r>
          </a:p>
          <a:p>
            <a:pPr eaLnBrk="1" hangingPunct="1"/>
            <a:r>
              <a:rPr lang="zh-CN" altLang="en-US" strike="sngStrike" noProof="1">
                <a:solidFill>
                  <a:srgbClr val="00B0F0"/>
                </a:solidFill>
              </a:rPr>
              <a:t>符号表的内容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44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第九章  运行时存储空间组织 </a:t>
            </a: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过程的活动、生存期、递归 </a:t>
            </a:r>
          </a:p>
          <a:p>
            <a:pPr eaLnBrk="1" hangingPunct="1"/>
            <a:r>
              <a:rPr lang="zh-CN" altLang="en-US" noProof="1">
                <a:solidFill>
                  <a:srgbClr val="C00000"/>
                </a:solidFill>
              </a:rPr>
              <a:t>参数</a:t>
            </a:r>
            <a:r>
              <a:rPr lang="zh-CN" altLang="zh-CN">
                <a:solidFill>
                  <a:srgbClr val="C00000"/>
                </a:solidFill>
              </a:rPr>
              <a:t>传递</a:t>
            </a:r>
            <a:endParaRPr lang="zh-CN" altLang="en-US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noProof="1">
                <a:solidFill>
                  <a:srgbClr val="C00000"/>
                </a:solidFill>
              </a:rPr>
              <a:t>传地址</a:t>
            </a:r>
            <a:r>
              <a:rPr lang="zh-CN" altLang="zh-CN" noProof="1">
                <a:solidFill>
                  <a:srgbClr val="C00000"/>
                </a:solidFill>
              </a:rPr>
              <a:t>、</a:t>
            </a:r>
            <a:r>
              <a:rPr lang="zh-CN" altLang="en-US" noProof="1">
                <a:solidFill>
                  <a:srgbClr val="C00000"/>
                </a:solidFill>
              </a:rPr>
              <a:t>得结果</a:t>
            </a:r>
            <a:r>
              <a:rPr lang="zh-CN" altLang="zh-CN" noProof="1">
                <a:solidFill>
                  <a:srgbClr val="C00000"/>
                </a:solidFill>
              </a:rPr>
              <a:t>、</a:t>
            </a:r>
            <a:r>
              <a:rPr lang="zh-CN" altLang="en-US" noProof="1">
                <a:solidFill>
                  <a:srgbClr val="C00000"/>
                </a:solidFill>
              </a:rPr>
              <a:t>传值</a:t>
            </a:r>
            <a:r>
              <a:rPr lang="zh-CN" altLang="zh-CN" noProof="1">
                <a:solidFill>
                  <a:srgbClr val="C00000"/>
                </a:solidFill>
              </a:rPr>
              <a:t>、</a:t>
            </a:r>
            <a:r>
              <a:rPr lang="zh-CN" altLang="en-US" noProof="1">
                <a:solidFill>
                  <a:srgbClr val="C00000"/>
                </a:solidFill>
              </a:rPr>
              <a:t>传名</a:t>
            </a:r>
            <a:endParaRPr lang="en-US" altLang="en-US">
              <a:solidFill>
                <a:srgbClr val="C00000"/>
              </a:solidFill>
            </a:endParaRPr>
          </a:p>
          <a:p>
            <a:pPr eaLnBrk="1" hangingPunct="1"/>
            <a:r>
              <a:rPr lang="zh-CN" altLang="en-US"/>
              <a:t>运行时存储器的划分、数据空间的分配策略</a:t>
            </a:r>
          </a:p>
          <a:p>
            <a:pPr lvl="1" eaLnBrk="1" hangingPunct="1"/>
            <a:r>
              <a:rPr lang="zh-CN" altLang="en-US"/>
              <a:t>静态分配策略</a:t>
            </a:r>
            <a:r>
              <a:rPr lang="en-US" altLang="zh-CN"/>
              <a:t>(FORTRAN)</a:t>
            </a:r>
          </a:p>
          <a:p>
            <a:pPr lvl="2" eaLnBrk="1" hangingPunct="1"/>
            <a:r>
              <a:rPr lang="zh-CN" altLang="en-US"/>
              <a:t>局部数据区的内容</a:t>
            </a:r>
          </a:p>
          <a:p>
            <a:pPr lvl="1" eaLnBrk="1" hangingPunct="1"/>
            <a:r>
              <a:rPr lang="zh-CN" altLang="en-US"/>
              <a:t>动态分配策略</a:t>
            </a:r>
            <a:r>
              <a:rPr lang="en-US" altLang="zh-CN"/>
              <a:t>(PASCAL)</a:t>
            </a:r>
          </a:p>
          <a:p>
            <a:pPr lvl="2" eaLnBrk="1" hangingPunct="1"/>
            <a:r>
              <a:rPr lang="zh-CN" altLang="en-US"/>
              <a:t>栈式动态分配、堆式动态分配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8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5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5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5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5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05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第九章  运行时存储空间组织 </a:t>
            </a:r>
          </a:p>
        </p:txBody>
      </p:sp>
      <p:sp>
        <p:nvSpPr>
          <p:cNvPr id="88071" name="Rectangle 205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noProof="1"/>
              <a:t>活动记录</a:t>
            </a:r>
            <a:r>
              <a:rPr lang="zh-CN" altLang="zh-CN" dirty="0"/>
              <a:t>及其内容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简单的栈式存储分配 </a:t>
            </a:r>
          </a:p>
          <a:p>
            <a:pPr lvl="1" eaLnBrk="1" hangingPunct="1"/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zh-CN" altLang="en-US" noProof="1">
                <a:solidFill>
                  <a:srgbClr val="C00000"/>
                </a:solidFill>
              </a:rPr>
              <a:t>活动记录</a:t>
            </a:r>
            <a:r>
              <a:rPr lang="zh-CN" altLang="zh-CN" dirty="0">
                <a:solidFill>
                  <a:srgbClr val="C00000"/>
                </a:solidFill>
              </a:rPr>
              <a:t>内容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嵌套过程语言的栈式实现 </a:t>
            </a:r>
          </a:p>
          <a:p>
            <a:pPr lvl="1" eaLnBrk="1" hangingPunct="1"/>
            <a:r>
              <a:rPr lang="zh-CN" altLang="en-US" dirty="0">
                <a:solidFill>
                  <a:srgbClr val="C00000"/>
                </a:solidFill>
              </a:rPr>
              <a:t>非局部名字的访问的实现</a:t>
            </a:r>
          </a:p>
          <a:p>
            <a:pPr lvl="2" eaLnBrk="1" hangingPunct="1"/>
            <a:r>
              <a:rPr lang="zh-CN" altLang="en-US" dirty="0">
                <a:solidFill>
                  <a:srgbClr val="C00000"/>
                </a:solidFill>
              </a:rPr>
              <a:t>静态链  </a:t>
            </a:r>
          </a:p>
          <a:p>
            <a:pPr lvl="2" eaLnBrk="1" hangingPunct="1"/>
            <a:r>
              <a:rPr lang="en-US" altLang="zh-CN" dirty="0">
                <a:solidFill>
                  <a:srgbClr val="C00000"/>
                </a:solidFill>
              </a:rPr>
              <a:t>DISPLAY</a:t>
            </a:r>
            <a:r>
              <a:rPr lang="zh-CN" altLang="en-US" dirty="0">
                <a:solidFill>
                  <a:srgbClr val="C00000"/>
                </a:solidFill>
              </a:rPr>
              <a:t>表</a:t>
            </a:r>
          </a:p>
          <a:p>
            <a:pPr eaLnBrk="1" hangingPunct="1"/>
            <a:r>
              <a:rPr lang="zh-CN" altLang="en-US" noProof="1">
                <a:solidFill>
                  <a:srgbClr val="C00000"/>
                </a:solidFill>
              </a:rPr>
              <a:t>嵌套过程语言活动记录</a:t>
            </a:r>
            <a:endParaRPr lang="en-US" altLang="en-US" dirty="0">
              <a:solidFill>
                <a:srgbClr val="C00000"/>
              </a:solidFill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80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8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8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8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8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80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80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第十章  优 化 </a:t>
            </a:r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优化</a:t>
            </a:r>
          </a:p>
          <a:p>
            <a:pPr lvl="1" eaLnBrk="1" hangingPunct="1"/>
            <a:r>
              <a:rPr lang="zh-CN" altLang="en-US"/>
              <a:t>等价、有效、合算 </a:t>
            </a:r>
          </a:p>
          <a:p>
            <a:pPr eaLnBrk="1" hangingPunct="1"/>
            <a:r>
              <a:rPr lang="zh-CN" altLang="en-US"/>
              <a:t>优化的三个不同级别</a:t>
            </a:r>
          </a:p>
          <a:p>
            <a:pPr eaLnBrk="1" hangingPunct="1"/>
            <a:r>
              <a:rPr lang="zh-CN" altLang="en-US"/>
              <a:t>基本块</a:t>
            </a:r>
          </a:p>
          <a:p>
            <a:pPr eaLnBrk="1" hangingPunct="1"/>
            <a:r>
              <a:rPr lang="zh-CN" altLang="en-US"/>
              <a:t>局部优化</a:t>
            </a:r>
          </a:p>
          <a:p>
            <a:pPr lvl="1" eaLnBrk="1" hangingPunct="1"/>
            <a:r>
              <a:rPr lang="zh-CN" altLang="en-US"/>
              <a:t>合并已知量、删除无用赋值、删除多余运算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34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5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45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第九章   代码优化</a:t>
            </a:r>
          </a:p>
        </p:txBody>
      </p:sp>
      <p:sp>
        <p:nvSpPr>
          <p:cNvPr id="72711" name="Rectangle 103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划分四元式程序为基本块、程序流图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给定基本块，画出</a:t>
            </a:r>
            <a:r>
              <a:rPr lang="en-US" altLang="zh-CN" dirty="0">
                <a:solidFill>
                  <a:srgbClr val="C00000"/>
                </a:solidFill>
              </a:rPr>
              <a:t>DAG</a:t>
            </a:r>
            <a:r>
              <a:rPr lang="zh-CN" altLang="en-US" dirty="0">
                <a:solidFill>
                  <a:srgbClr val="C00000"/>
                </a:solidFill>
              </a:rPr>
              <a:t>图，并给出优化后的四元式序列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循环优化</a:t>
            </a:r>
            <a:endParaRPr lang="zh-CN" altLang="en-US" dirty="0">
              <a:solidFill>
                <a:srgbClr val="C00000"/>
              </a:solidFill>
              <a:hlinkClick r:id="rId2" action="ppaction://hlinkpres?slideindex=29&amp;slidetitle=9.3.2 DAG的应用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35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第十一章  代码生成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目标代码三种形式</a:t>
            </a:r>
          </a:p>
          <a:p>
            <a:pPr eaLnBrk="1" hangingPunct="1"/>
            <a:r>
              <a:rPr lang="zh-CN" altLang="en-US"/>
              <a:t>生成目标代码时应考虑的问题</a:t>
            </a:r>
          </a:p>
          <a:p>
            <a:pPr eaLnBrk="1" hangingPunct="1"/>
            <a:r>
              <a:rPr lang="zh-CN" altLang="en-US"/>
              <a:t>简单代码生成器的核心问题</a:t>
            </a:r>
          </a:p>
          <a:p>
            <a:pPr lvl="1" eaLnBrk="1" hangingPunct="1"/>
            <a:r>
              <a:rPr lang="zh-CN" altLang="en-US"/>
              <a:t>寄存器的分配</a:t>
            </a:r>
          </a:p>
          <a:p>
            <a:pPr eaLnBrk="1" hangingPunct="1"/>
            <a:r>
              <a:rPr lang="zh-CN" altLang="en-US"/>
              <a:t>待用信息</a:t>
            </a:r>
          </a:p>
          <a:p>
            <a:pPr eaLnBrk="1" hangingPunct="1"/>
            <a:r>
              <a:rPr lang="zh-CN" altLang="en-US"/>
              <a:t>寄存器描述数组</a:t>
            </a:r>
            <a:r>
              <a:rPr lang="en-US" altLang="zh-CN"/>
              <a:t>RVALUE</a:t>
            </a:r>
          </a:p>
          <a:p>
            <a:pPr eaLnBrk="1" hangingPunct="1"/>
            <a:r>
              <a:rPr lang="zh-CN" altLang="en-US"/>
              <a:t>变量地址描述数组</a:t>
            </a:r>
            <a:r>
              <a:rPr lang="en-US" altLang="zh-CN"/>
              <a:t>AVALUE</a:t>
            </a:r>
          </a:p>
          <a:p>
            <a:pPr eaLnBrk="1" hangingPunct="1"/>
            <a:r>
              <a:rPr lang="zh-CN" altLang="en-US">
                <a:solidFill>
                  <a:srgbClr val="C00000"/>
                </a:solidFill>
              </a:rPr>
              <a:t>代码生成算法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26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6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6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回归：学习目的</a:t>
            </a:r>
          </a:p>
        </p:txBody>
      </p:sp>
      <p:sp>
        <p:nvSpPr>
          <p:cNvPr id="114697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zh-CN" altLang="en-GB" sz="2000"/>
              <a:t>在大学学什么？</a:t>
            </a:r>
          </a:p>
          <a:p>
            <a:pPr lvl="1" eaLnBrk="1" hangingPunct="1"/>
            <a:r>
              <a:rPr lang="en-GB" altLang="en-GB" sz="2000"/>
              <a:t>Critical thinking is the intellectually disciplined process of actively and skillfully conceptualizing, applying, analyzing, synthesizing, and/or evaluating information gathered from, or generated by, observation, experience, reflection, reasoning, or communication, as a guide to belief and action. </a:t>
            </a:r>
            <a:r>
              <a:rPr lang="en-US" altLang="en-GB" sz="2000"/>
              <a:t>[criticalthinking.org]</a:t>
            </a:r>
            <a:endParaRPr lang="zh-CN" altLang="en-GB" sz="2000"/>
          </a:p>
          <a:p>
            <a:pPr lvl="1" eaLnBrk="1" hangingPunct="1"/>
            <a:r>
              <a:rPr lang="zh-CN" altLang="en-GB" sz="2000"/>
              <a:t>批判性思维：逻辑清晰严密的思考</a:t>
            </a:r>
            <a:endParaRPr lang="en-GB" altLang="zh-CN" sz="2000"/>
          </a:p>
          <a:p>
            <a:pPr eaLnBrk="1" hangingPunct="1"/>
            <a:r>
              <a:rPr lang="zh-CN" altLang="en-GB" sz="2000"/>
              <a:t>从计算机科学中学什么？</a:t>
            </a:r>
          </a:p>
          <a:p>
            <a:pPr lvl="1" eaLnBrk="1" hangingPunct="1"/>
            <a:r>
              <a:rPr lang="zh-CN" altLang="en-GB" sz="1800"/>
              <a:t>理解计算系统</a:t>
            </a:r>
          </a:p>
          <a:p>
            <a:pPr lvl="1" eaLnBrk="1" hangingPunct="1"/>
            <a:r>
              <a:rPr lang="zh-CN" altLang="en-GB" sz="1800"/>
              <a:t>设计计算系统</a:t>
            </a:r>
            <a:endParaRPr lang="en-GB" altLang="zh-CN" sz="1800"/>
          </a:p>
          <a:p>
            <a:pPr lvl="1" eaLnBrk="1" hangingPunct="1"/>
            <a:r>
              <a:rPr lang="zh-CN" altLang="en-GB" sz="1800"/>
              <a:t>训练计算思维</a:t>
            </a:r>
            <a:r>
              <a:rPr lang="en-GB" altLang="zh-CN" sz="1800"/>
              <a:t>(Computational Thinking)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82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回归：</a:t>
            </a:r>
            <a:r>
              <a:rPr lang="zh-CN" altLang="en-GB"/>
              <a:t>计算思维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392612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zh-CN" altLang="en-GB" sz="2600"/>
              <a:t>计算思维是什么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>
                <a:solidFill>
                  <a:srgbClr val="CC0000"/>
                </a:solidFill>
              </a:rPr>
              <a:t>计算思维</a:t>
            </a:r>
            <a:r>
              <a:rPr lang="zh-CN" altLang="en-GB" sz="2200"/>
              <a:t>是运用计算机科学的基础概念去求解问题、设计系统和理解人类的行为，它包括了一系列广泛的计算机科学的思维方法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GB" sz="2600"/>
              <a:t>包括一系列广泛的计算机科学的思维方法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>
                <a:solidFill>
                  <a:schemeClr val="accent2"/>
                </a:solidFill>
              </a:rPr>
              <a:t>抽象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>
                <a:solidFill>
                  <a:schemeClr val="accent2"/>
                </a:solidFill>
              </a:rPr>
              <a:t>自动化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>
                <a:solidFill>
                  <a:schemeClr val="accent2"/>
                </a:solidFill>
              </a:rPr>
              <a:t>问题分解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>
                <a:solidFill>
                  <a:schemeClr val="accent2"/>
                </a:solidFill>
              </a:rPr>
              <a:t>递归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>
                <a:solidFill>
                  <a:schemeClr val="accent2"/>
                </a:solidFill>
              </a:rPr>
              <a:t>权衡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/>
              <a:t>保护、冗余、容错、纠错和恢复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/>
              <a:t>利用启发式推理来寻求解答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GB" sz="2200"/>
              <a:t>在不确定情况下的规划、学习和调度 </a:t>
            </a:r>
          </a:p>
        </p:txBody>
      </p:sp>
      <p:sp>
        <p:nvSpPr>
          <p:cNvPr id="108549" name="AutoShape 5"/>
          <p:cNvSpPr>
            <a:spLocks noChangeArrowheads="1"/>
          </p:cNvSpPr>
          <p:nvPr/>
        </p:nvSpPr>
        <p:spPr bwMode="auto">
          <a:xfrm>
            <a:off x="3924300" y="4437063"/>
            <a:ext cx="863600" cy="360362"/>
          </a:xfrm>
          <a:prstGeom prst="rightArrow">
            <a:avLst>
              <a:gd name="adj1" fmla="val 50000"/>
              <a:gd name="adj2" fmla="val 59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5076825" y="4292600"/>
            <a:ext cx="302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GB" sz="2800">
                <a:latin typeface="Verdana" panose="020B0604030504040204" pitchFamily="34" charset="0"/>
              </a:rPr>
              <a:t>在编译课程中体会</a:t>
            </a:r>
            <a:endParaRPr lang="en-GB" altLang="zh-CN" sz="2800">
              <a:latin typeface="Verdana" panose="020B0604030504040204" pitchFamily="34" charset="0"/>
            </a:endParaRPr>
          </a:p>
        </p:txBody>
      </p:sp>
      <p:grpSp>
        <p:nvGrpSpPr>
          <p:cNvPr id="27655" name="Group 9"/>
          <p:cNvGrpSpPr>
            <a:grpSpLocks/>
          </p:cNvGrpSpPr>
          <p:nvPr/>
        </p:nvGrpSpPr>
        <p:grpSpPr bwMode="auto">
          <a:xfrm>
            <a:off x="7596188" y="0"/>
            <a:ext cx="1608137" cy="2124075"/>
            <a:chOff x="4875" y="0"/>
            <a:chExt cx="918" cy="1266"/>
          </a:xfrm>
        </p:grpSpPr>
        <p:pic>
          <p:nvPicPr>
            <p:cNvPr id="27656" name="Picture 7" descr="wi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2" y="0"/>
              <a:ext cx="780" cy="1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7" name="Text Box 8"/>
            <p:cNvSpPr txBox="1">
              <a:spLocks noChangeArrowheads="1"/>
            </p:cNvSpPr>
            <p:nvPr/>
          </p:nvSpPr>
          <p:spPr bwMode="auto">
            <a:xfrm>
              <a:off x="4875" y="1102"/>
              <a:ext cx="918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zh-CN" sz="1200">
                  <a:latin typeface="Verdana" panose="020B0604030504040204" pitchFamily="34" charset="0"/>
                  <a:ea typeface="宋体" panose="02010600030101010101" pitchFamily="2" charset="-122"/>
                </a:rPr>
                <a:t>Jeannette M. Wing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32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  <p:bldP spid="108549" grpId="0" animBg="1"/>
      <p:bldP spid="1085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回归：计算</a:t>
            </a:r>
            <a:endParaRPr lang="zh-CN" altLang="en-GB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181975" cy="4267200"/>
          </a:xfrm>
        </p:spPr>
        <p:txBody>
          <a:bodyPr/>
          <a:lstStyle/>
          <a:p>
            <a:pPr eaLnBrk="1" hangingPunct="1"/>
            <a:r>
              <a:rPr lang="zh-CN" altLang="en-GB" dirty="0"/>
              <a:t>什么是</a:t>
            </a:r>
            <a:r>
              <a:rPr lang="zh-CN" altLang="en-GB" dirty="0">
                <a:solidFill>
                  <a:schemeClr val="accent2"/>
                </a:solidFill>
              </a:rPr>
              <a:t>计算</a:t>
            </a:r>
            <a:r>
              <a:rPr lang="zh-CN" altLang="en-GB" dirty="0"/>
              <a:t>？</a:t>
            </a:r>
          </a:p>
          <a:p>
            <a:pPr lvl="1" eaLnBrk="1" hangingPunct="1"/>
            <a:r>
              <a:rPr lang="en-GB" altLang="zh-CN" dirty="0"/>
              <a:t>Computation is a sequence of representations.</a:t>
            </a:r>
          </a:p>
          <a:p>
            <a:pPr eaLnBrk="1" hangingPunct="1"/>
            <a:r>
              <a:rPr lang="zh-CN" altLang="en-GB" dirty="0"/>
              <a:t>在编译课程学习中体会</a:t>
            </a:r>
            <a:r>
              <a:rPr lang="zh-CN" altLang="en-GB" dirty="0">
                <a:solidFill>
                  <a:schemeClr val="accent2"/>
                </a:solidFill>
              </a:rPr>
              <a:t>计算</a:t>
            </a:r>
            <a:r>
              <a:rPr lang="zh-CN" altLang="en-GB" dirty="0"/>
              <a:t>的内涵</a:t>
            </a:r>
          </a:p>
          <a:p>
            <a:pPr eaLnBrk="1" hangingPunct="1"/>
            <a:r>
              <a:rPr lang="zh-CN" altLang="en-GB" dirty="0"/>
              <a:t>学好编译，让你更配得上</a:t>
            </a:r>
            <a:r>
              <a:rPr lang="zh-CN" altLang="en-GB" dirty="0">
                <a:solidFill>
                  <a:schemeClr val="accent2"/>
                </a:solidFill>
              </a:rPr>
              <a:t>计算</a:t>
            </a:r>
            <a:r>
              <a:rPr lang="zh-CN" altLang="en-GB" dirty="0"/>
              <a:t>机专业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331075" y="0"/>
            <a:ext cx="1662113" cy="2293938"/>
            <a:chOff x="4618" y="0"/>
            <a:chExt cx="1047" cy="1445"/>
          </a:xfrm>
        </p:grpSpPr>
        <p:pic>
          <p:nvPicPr>
            <p:cNvPr id="29702" name="Picture 4" descr="150px-PJD">
              <a:hlinkClick r:id="rId3" tooltip="(By Louis Fabian Bachrach)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0"/>
              <a:ext cx="878" cy="1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03" name="Text Box 5"/>
            <p:cNvSpPr txBox="1">
              <a:spLocks noChangeArrowheads="1"/>
            </p:cNvSpPr>
            <p:nvPr/>
          </p:nvSpPr>
          <p:spPr bwMode="auto">
            <a:xfrm>
              <a:off x="4618" y="1253"/>
              <a:ext cx="10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zh-CN" sz="1400">
                  <a:latin typeface="Verdana" panose="020B0604030504040204" pitchFamily="34" charset="0"/>
                  <a:ea typeface="宋体" panose="02010600030101010101" pitchFamily="2" charset="-122"/>
                </a:rPr>
                <a:t>Peter J. Denning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2612578" y="4231424"/>
            <a:ext cx="2052000" cy="1045199"/>
          </a:xfrm>
          <a:prstGeom prst="chevron">
            <a:avLst>
              <a:gd name="adj" fmla="val 25746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rPr>
              <a:t>软件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686067" y="4231424"/>
            <a:ext cx="2052000" cy="1045199"/>
          </a:xfrm>
          <a:prstGeom prst="homePlate">
            <a:avLst>
              <a:gd name="adj" fmla="val 3045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en-US" altLang="zh-CN" sz="2400" dirty="0">
              <a:solidFill>
                <a:srgbClr val="F8F8F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>
            <a:off x="4539089" y="4231424"/>
            <a:ext cx="2052000" cy="1045199"/>
          </a:xfrm>
          <a:prstGeom prst="chevron">
            <a:avLst>
              <a:gd name="adj" fmla="val 25746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rPr>
              <a:t>计算机系统</a:t>
            </a:r>
          </a:p>
        </p:txBody>
      </p:sp>
      <p:sp>
        <p:nvSpPr>
          <p:cNvPr id="11" name="AutoShape 12"/>
          <p:cNvSpPr>
            <a:spLocks noChangeArrowheads="1"/>
          </p:cNvSpPr>
          <p:nvPr/>
        </p:nvSpPr>
        <p:spPr bwMode="auto">
          <a:xfrm>
            <a:off x="6465600" y="4231424"/>
            <a:ext cx="2052000" cy="1045199"/>
          </a:xfrm>
          <a:prstGeom prst="chevron">
            <a:avLst>
              <a:gd name="adj" fmla="val 25780"/>
            </a:avLst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pPr algn="ctr" defTabSz="1213719">
              <a:defRPr/>
            </a:pPr>
            <a:r>
              <a:rPr lang="zh-CN" altLang="en-US" sz="2400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rPr>
              <a:t>计算</a:t>
            </a:r>
            <a:endParaRPr lang="en-US" altLang="zh-CN" sz="2400" dirty="0">
              <a:solidFill>
                <a:srgbClr val="F8F8F8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53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uiExpand="1" build="p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平面(MOOC)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C-PPT模板" id="{52A9F7C9-966B-4A8B-A1C7-6E16B2577468}" vid="{3D64D331-574C-4511-9C06-47C9CEF20C9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MOOC-PPT模板</Template>
  <TotalTime>2733</TotalTime>
  <Words>1641</Words>
  <Application>Microsoft Office PowerPoint</Application>
  <PresentationFormat>全屏显示(4:3)</PresentationFormat>
  <Paragraphs>261</Paragraphs>
  <Slides>26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微软雅黑</vt:lpstr>
      <vt:lpstr>Arial</vt:lpstr>
      <vt:lpstr>Calibri</vt:lpstr>
      <vt:lpstr>Times New Roman</vt:lpstr>
      <vt:lpstr>Verdana</vt:lpstr>
      <vt:lpstr>Wingdings</vt:lpstr>
      <vt:lpstr>Wingdings 3</vt:lpstr>
      <vt:lpstr>平面(MOOC)</vt:lpstr>
      <vt:lpstr>编译原理</vt:lpstr>
      <vt:lpstr>课程安排</vt:lpstr>
      <vt:lpstr>课程学习平台</vt:lpstr>
      <vt:lpstr>第一章  引  论 </vt:lpstr>
      <vt:lpstr>第二章 高级语言概述</vt:lpstr>
      <vt:lpstr>第二章 高级语言概述</vt:lpstr>
      <vt:lpstr>第二章 高级语言概述</vt:lpstr>
      <vt:lpstr>第三章  词法分析</vt:lpstr>
      <vt:lpstr>第三章  词法分析</vt:lpstr>
      <vt:lpstr>第四章  语法分析—自上而下分析</vt:lpstr>
      <vt:lpstr>第四章  语法分析—自上而下分析</vt:lpstr>
      <vt:lpstr>第五章  语法分析——自下而上分析 </vt:lpstr>
      <vt:lpstr>第五章  语法分析——自下而上分析</vt:lpstr>
      <vt:lpstr>第五章  语法分析——自下而上分析</vt:lpstr>
      <vt:lpstr>第六章  属性文法和语法制导翻译 </vt:lpstr>
      <vt:lpstr>第六章  属性文法和语法制导翻译 </vt:lpstr>
      <vt:lpstr>第七章  语义分析和中间代码产生 </vt:lpstr>
      <vt:lpstr>第八章  符号表 </vt:lpstr>
      <vt:lpstr>第九章  运行时存储空间组织 </vt:lpstr>
      <vt:lpstr>第九章  运行时存储空间组织 </vt:lpstr>
      <vt:lpstr>第十章  优 化 </vt:lpstr>
      <vt:lpstr>第九章   代码优化</vt:lpstr>
      <vt:lpstr>第十一章  代码生成</vt:lpstr>
      <vt:lpstr>回归：学习目的</vt:lpstr>
      <vt:lpstr>回归：计算思维</vt:lpstr>
      <vt:lpstr>回归：计算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Ting Wang</dc:creator>
  <cp:lastModifiedBy>洛 陈</cp:lastModifiedBy>
  <cp:revision>244</cp:revision>
  <dcterms:created xsi:type="dcterms:W3CDTF">2016-03-17T03:50:07Z</dcterms:created>
  <dcterms:modified xsi:type="dcterms:W3CDTF">2023-11-13T00:13:37Z</dcterms:modified>
</cp:coreProperties>
</file>