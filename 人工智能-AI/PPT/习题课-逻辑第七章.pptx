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94" r:id="rId2"/>
    <p:sldId id="696" r:id="rId3"/>
    <p:sldId id="690" r:id="rId4"/>
    <p:sldId id="699" r:id="rId5"/>
    <p:sldId id="603" r:id="rId6"/>
    <p:sldId id="640" r:id="rId7"/>
    <p:sldId id="607" r:id="rId8"/>
    <p:sldId id="605" r:id="rId9"/>
    <p:sldId id="649" r:id="rId10"/>
    <p:sldId id="614" r:id="rId11"/>
    <p:sldId id="611" r:id="rId12"/>
    <p:sldId id="625" r:id="rId13"/>
    <p:sldId id="571" r:id="rId14"/>
    <p:sldId id="628" r:id="rId15"/>
    <p:sldId id="573" r:id="rId16"/>
    <p:sldId id="641" r:id="rId17"/>
    <p:sldId id="769" r:id="rId18"/>
    <p:sldId id="700" r:id="rId19"/>
    <p:sldId id="779" r:id="rId20"/>
    <p:sldId id="780" r:id="rId21"/>
    <p:sldId id="781" r:id="rId22"/>
    <p:sldId id="782" r:id="rId23"/>
    <p:sldId id="783" r:id="rId24"/>
    <p:sldId id="784" r:id="rId25"/>
    <p:sldId id="785" r:id="rId26"/>
    <p:sldId id="786" r:id="rId27"/>
    <p:sldId id="787" r:id="rId28"/>
    <p:sldId id="788" r:id="rId29"/>
    <p:sldId id="789" r:id="rId30"/>
    <p:sldId id="790" r:id="rId31"/>
    <p:sldId id="791" r:id="rId32"/>
    <p:sldId id="792" r:id="rId33"/>
    <p:sldId id="793" r:id="rId34"/>
    <p:sldId id="794" r:id="rId35"/>
    <p:sldId id="795" r:id="rId36"/>
    <p:sldId id="759" r:id="rId37"/>
    <p:sldId id="778" r:id="rId38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挺" initials="w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CC"/>
    <a:srgbClr val="006600"/>
    <a:srgbClr val="CC0066"/>
    <a:srgbClr val="FF3300"/>
    <a:srgbClr val="77933C"/>
    <a:srgbClr val="C00000"/>
    <a:srgbClr val="66FFFF"/>
    <a:srgbClr val="E6AF00"/>
    <a:srgbClr val="FFFF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87228" autoAdjust="0"/>
  </p:normalViewPr>
  <p:slideViewPr>
    <p:cSldViewPr showGuides="1">
      <p:cViewPr varScale="1">
        <p:scale>
          <a:sx n="138" d="100"/>
          <a:sy n="138" d="100"/>
        </p:scale>
        <p:origin x="266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0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F75A202-5001-43C1-A481-9635AB26C61A}" type="slidenum">
              <a:rPr lang="en-GB" altLang="zh-CN"/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FD632CF-5949-4012-AD78-7444C454F04C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9CA0CB-FB7A-426C-9179-E889FF4C95C7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Knowledge-based agents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Wumpus</a:t>
            </a:r>
            <a:r>
              <a:rPr lang="en-US" altLang="zh-CN" dirty="0">
                <a:ea typeface="宋体" panose="02010600030101010101" pitchFamily="2" charset="-122"/>
              </a:rPr>
              <a:t> world example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Logic in general - models and entailment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Propositional (Boolean) logic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Equivalence, validity, satisfiability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Inference </a:t>
            </a:r>
          </a:p>
          <a:p>
            <a:endParaRPr lang="en-US" altLang="zh-CN" dirty="0"/>
          </a:p>
          <a:p>
            <a:r>
              <a:rPr lang="en-US" altLang="zh-CN" dirty="0"/>
              <a:t>7.1 Knowledge-Based Agent</a:t>
            </a:r>
          </a:p>
          <a:p>
            <a:r>
              <a:rPr lang="en-US" altLang="zh-CN" dirty="0"/>
              <a:t>7.2 The </a:t>
            </a:r>
            <a:r>
              <a:rPr lang="en-US" altLang="zh-CN" dirty="0" err="1"/>
              <a:t>Wumpus</a:t>
            </a:r>
            <a:r>
              <a:rPr lang="en-US" altLang="zh-CN" dirty="0"/>
              <a:t> World</a:t>
            </a:r>
          </a:p>
          <a:p>
            <a:r>
              <a:rPr lang="en-US" altLang="zh-CN" dirty="0"/>
              <a:t>7.3 Logic</a:t>
            </a:r>
          </a:p>
          <a:p>
            <a:r>
              <a:rPr lang="en-US" altLang="zh-CN" dirty="0"/>
              <a:t>7.4 Propositional Logic: A Very Simple Logic</a:t>
            </a:r>
          </a:p>
          <a:p>
            <a:r>
              <a:rPr lang="en-US" altLang="zh-CN" dirty="0"/>
              <a:t>7.5 Reasoning Patterns in Propositional Logic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632CF-5949-4012-AD78-7444C454F04C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4E9412-9E2E-4F5B-96E0-9DAC0A35A742}" type="slidenum">
              <a:rPr lang="en-US" altLang="zh-CN"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740275"/>
            <a:ext cx="5467350" cy="4491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命题逻辑</a:t>
            </a:r>
            <a:r>
              <a:rPr lang="en-US" altLang="zh-CN" sz="2800" dirty="0"/>
              <a:t>(Propositional logic)</a:t>
            </a:r>
            <a:r>
              <a:rPr lang="zh-CN" altLang="zh-CN" sz="2800" dirty="0"/>
              <a:t>虽然简单但很强大的</a:t>
            </a:r>
            <a:r>
              <a:rPr lang="zh-CN" altLang="en-US" sz="2800" dirty="0"/>
              <a:t>逻辑系统</a:t>
            </a:r>
            <a:endParaRPr lang="en-US" altLang="zh-CN" sz="2800" dirty="0"/>
          </a:p>
          <a:p>
            <a:pPr>
              <a:lnSpc>
                <a:spcPct val="85000"/>
              </a:lnSpc>
            </a:pPr>
            <a:endParaRPr lang="en-US" altLang="zh-CN" sz="2800" dirty="0"/>
          </a:p>
          <a:p>
            <a:pPr>
              <a:lnSpc>
                <a:spcPct val="85000"/>
              </a:lnSpc>
            </a:pPr>
            <a:r>
              <a:rPr lang="zh-CN" altLang="en-US" sz="2800" dirty="0"/>
              <a:t>语法</a:t>
            </a:r>
            <a:r>
              <a:rPr lang="en-US" altLang="zh-CN" sz="2800" dirty="0"/>
              <a:t>(Syntax)</a:t>
            </a:r>
          </a:p>
          <a:p>
            <a:pPr lvl="1">
              <a:lnSpc>
                <a:spcPct val="85000"/>
              </a:lnSpc>
            </a:pPr>
            <a:r>
              <a:rPr lang="en-US" altLang="zh-CN" sz="2200" dirty="0"/>
              <a:t>The proposition symbols P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, P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</a:t>
            </a:r>
            <a:r>
              <a:rPr lang="en-US" altLang="zh-CN" sz="2200" dirty="0" err="1"/>
              <a:t>etc</a:t>
            </a:r>
            <a:r>
              <a:rPr lang="en-US" altLang="zh-CN" sz="2200" dirty="0"/>
              <a:t> are sentences</a:t>
            </a:r>
          </a:p>
          <a:p>
            <a:pPr lvl="1">
              <a:lnSpc>
                <a:spcPct val="85000"/>
              </a:lnSpc>
            </a:pPr>
            <a:r>
              <a:rPr lang="en-US" altLang="zh-CN" sz="2200" dirty="0"/>
              <a:t>If S is a sentence, </a:t>
            </a:r>
            <a:r>
              <a:rPr lang="en-US" altLang="zh-CN" sz="2200" dirty="0">
                <a:sym typeface="Symbol" panose="05050102010706020507" pitchFamily="18" charset="2"/>
              </a:rPr>
              <a:t></a:t>
            </a:r>
            <a:r>
              <a:rPr lang="en-US" altLang="zh-CN" sz="2200" dirty="0"/>
              <a:t>S is a sentence (</a:t>
            </a:r>
            <a:r>
              <a:rPr lang="en-US" altLang="zh-CN" sz="2200" dirty="0">
                <a:solidFill>
                  <a:schemeClr val="accent2"/>
                </a:solidFill>
              </a:rPr>
              <a:t>negation,</a:t>
            </a:r>
            <a:r>
              <a:rPr lang="zh-CN" altLang="en-US" sz="2200" dirty="0">
                <a:solidFill>
                  <a:schemeClr val="accent2"/>
                </a:solidFill>
              </a:rPr>
              <a:t>非</a:t>
            </a:r>
            <a:r>
              <a:rPr lang="en-US" altLang="zh-CN" sz="2200" dirty="0"/>
              <a:t>)</a:t>
            </a:r>
          </a:p>
          <a:p>
            <a:pPr lvl="1">
              <a:lnSpc>
                <a:spcPct val="85000"/>
              </a:lnSpc>
            </a:pPr>
            <a:r>
              <a:rPr lang="en-US" altLang="zh-CN" sz="2200" dirty="0"/>
              <a:t>If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and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are sentences,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anose="05050102010706020507" pitchFamily="18" charset="2"/>
              </a:rPr>
              <a:t></a:t>
            </a:r>
            <a:r>
              <a:rPr lang="en-US" altLang="zh-CN" sz="2200" dirty="0"/>
              <a:t>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is a sentence (</a:t>
            </a:r>
            <a:r>
              <a:rPr lang="en-US" altLang="zh-CN" sz="2200" dirty="0">
                <a:solidFill>
                  <a:schemeClr val="accent2"/>
                </a:solidFill>
              </a:rPr>
              <a:t>conjunction,</a:t>
            </a:r>
            <a:r>
              <a:rPr lang="zh-CN" altLang="en-US" sz="2200" dirty="0">
                <a:solidFill>
                  <a:schemeClr val="accent2"/>
                </a:solidFill>
              </a:rPr>
              <a:t>合取</a:t>
            </a:r>
            <a:r>
              <a:rPr lang="en-US" altLang="zh-CN" sz="2200" dirty="0"/>
              <a:t>)</a:t>
            </a:r>
          </a:p>
          <a:p>
            <a:pPr lvl="1">
              <a:lnSpc>
                <a:spcPct val="85000"/>
              </a:lnSpc>
            </a:pPr>
            <a:r>
              <a:rPr lang="en-US" altLang="zh-CN" sz="2200" dirty="0"/>
              <a:t>If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and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are sentences,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anose="05050102010706020507" pitchFamily="18" charset="2"/>
              </a:rPr>
              <a:t></a:t>
            </a:r>
            <a:r>
              <a:rPr lang="en-US" altLang="zh-CN" sz="2200" dirty="0"/>
              <a:t>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is a sentence (</a:t>
            </a:r>
            <a:r>
              <a:rPr lang="en-US" altLang="zh-CN" sz="2200" dirty="0">
                <a:solidFill>
                  <a:schemeClr val="accent2"/>
                </a:solidFill>
              </a:rPr>
              <a:t>disjunction,</a:t>
            </a:r>
            <a:r>
              <a:rPr lang="zh-CN" altLang="en-US" sz="2200" dirty="0">
                <a:solidFill>
                  <a:schemeClr val="accent2"/>
                </a:solidFill>
              </a:rPr>
              <a:t>析取</a:t>
            </a:r>
            <a:r>
              <a:rPr lang="en-US" altLang="zh-CN" sz="2200" dirty="0"/>
              <a:t>)</a:t>
            </a:r>
          </a:p>
          <a:p>
            <a:pPr lvl="1">
              <a:lnSpc>
                <a:spcPct val="85000"/>
              </a:lnSpc>
            </a:pPr>
            <a:r>
              <a:rPr lang="en-US" altLang="zh-CN" sz="2200" dirty="0"/>
              <a:t>If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and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are sentences,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anose="05050102010706020507" pitchFamily="18" charset="2"/>
              </a:rPr>
              <a:t></a:t>
            </a:r>
            <a:r>
              <a:rPr lang="en-US" altLang="zh-CN" sz="2200" dirty="0"/>
              <a:t>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is a sentence (</a:t>
            </a:r>
            <a:r>
              <a:rPr lang="en-US" altLang="zh-CN" sz="2200" dirty="0">
                <a:solidFill>
                  <a:schemeClr val="accent2"/>
                </a:solidFill>
              </a:rPr>
              <a:t>implication,</a:t>
            </a:r>
            <a:r>
              <a:rPr lang="zh-CN" altLang="en-US" sz="2200" dirty="0">
                <a:solidFill>
                  <a:schemeClr val="accent2"/>
                </a:solidFill>
              </a:rPr>
              <a:t>条件</a:t>
            </a:r>
            <a:r>
              <a:rPr lang="en-US" altLang="zh-CN" sz="2200" dirty="0"/>
              <a:t>)</a:t>
            </a:r>
          </a:p>
          <a:p>
            <a:pPr lvl="1">
              <a:lnSpc>
                <a:spcPct val="85000"/>
              </a:lnSpc>
            </a:pPr>
            <a:r>
              <a:rPr lang="en-US" altLang="zh-CN" sz="2200" dirty="0"/>
              <a:t>If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and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are sentences, S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anose="05050102010706020507" pitchFamily="18" charset="2"/>
              </a:rPr>
              <a:t></a:t>
            </a:r>
            <a:r>
              <a:rPr lang="en-US" altLang="zh-CN" sz="2200" dirty="0"/>
              <a:t> S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is a sentence (</a:t>
            </a:r>
            <a:r>
              <a:rPr lang="en-US" altLang="zh-CN" sz="2200" dirty="0" err="1">
                <a:solidFill>
                  <a:schemeClr val="accent2"/>
                </a:solidFill>
              </a:rPr>
              <a:t>biconditiona</a:t>
            </a:r>
            <a:r>
              <a:rPr lang="en-US" altLang="zh-CN" sz="2200" dirty="0">
                <a:solidFill>
                  <a:schemeClr val="accent2"/>
                </a:solidFill>
              </a:rPr>
              <a:t>,</a:t>
            </a:r>
            <a:r>
              <a:rPr lang="zh-CN" altLang="en-US" sz="2200" dirty="0">
                <a:solidFill>
                  <a:schemeClr val="accent2"/>
                </a:solidFill>
              </a:rPr>
              <a:t>双条件</a:t>
            </a:r>
            <a:r>
              <a:rPr lang="en-US" altLang="zh-CN" sz="2200" dirty="0"/>
              <a:t>)</a:t>
            </a:r>
          </a:p>
          <a:p>
            <a:pPr lvl="1">
              <a:lnSpc>
                <a:spcPct val="85000"/>
              </a:lnSpc>
            </a:pPr>
            <a:endParaRPr lang="en-US" altLang="zh-CN" sz="2200" dirty="0"/>
          </a:p>
          <a:p>
            <a:pPr lvl="1">
              <a:lnSpc>
                <a:spcPct val="85000"/>
              </a:lnSpc>
            </a:pPr>
            <a:endParaRPr lang="en-US" altLang="zh-CN" sz="2200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13299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004E38-CFAF-451E-BB26-79E381CB3B87}" type="slidenum">
              <a:rPr lang="en-US" altLang="zh-CN"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740275"/>
            <a:ext cx="5467350" cy="4491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103643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17CDF9-21F9-4B49-BA53-07E49684CFE6}" type="slidenum">
              <a:rPr lang="en-US" altLang="zh-CN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6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84213" y="4740275"/>
                <a:ext cx="5467350" cy="4491038"/>
              </a:xfrm>
              <a:noFill/>
              <a:ln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dirty="0">
                    <a:solidFill>
                      <a:srgbClr val="C00000"/>
                    </a:solidFill>
                  </a:rPr>
                  <a:t>模型检验</a:t>
                </a:r>
                <a:r>
                  <a:rPr lang="zh-CN" altLang="zh-CN" sz="1200" dirty="0"/>
                  <a:t>，</a:t>
                </a:r>
                <a:r>
                  <a:rPr lang="zh-CN" altLang="en-US" sz="1200" dirty="0"/>
                  <a:t>一种</a:t>
                </a:r>
                <a:r>
                  <a:rPr lang="zh-CN" altLang="zh-CN" sz="1200" dirty="0"/>
                  <a:t>用蕴</a:t>
                </a:r>
                <a:r>
                  <a:rPr lang="zh-CN" altLang="en-US" sz="1200" dirty="0"/>
                  <a:t>含</a:t>
                </a:r>
                <a:r>
                  <a:rPr lang="zh-CN" altLang="zh-CN" sz="1200" dirty="0"/>
                  <a:t>推导出结论</a:t>
                </a:r>
                <a:r>
                  <a:rPr lang="zh-CN" altLang="en-US" sz="1200" dirty="0"/>
                  <a:t>从而</a:t>
                </a:r>
                <a:r>
                  <a:rPr lang="zh-CN" altLang="zh-CN" sz="1200" dirty="0"/>
                  <a:t>实现逻辑推理</a:t>
                </a:r>
                <a:r>
                  <a:rPr lang="zh-CN" altLang="en-US" sz="1200" dirty="0"/>
                  <a:t>的</a:t>
                </a:r>
                <a:r>
                  <a:rPr lang="zh-CN" altLang="zh-CN" sz="1200" dirty="0"/>
                  <a:t>算法</a:t>
                </a:r>
                <a:r>
                  <a:rPr lang="zh-CN" altLang="en-US" sz="1200" dirty="0"/>
                  <a:t>，</a:t>
                </a:r>
                <a:r>
                  <a:rPr lang="zh-CN" altLang="zh-CN" sz="1200" dirty="0"/>
                  <a:t>通过枚举所有可能的模型来检验</a:t>
                </a:r>
                <a:r>
                  <a:rPr lang="en-US" altLang="zh-CN" sz="1200" i="1" dirty="0"/>
                  <a:t>KB</a:t>
                </a:r>
                <a:r>
                  <a:rPr lang="zh-CN" altLang="zh-CN" sz="1200" dirty="0"/>
                  <a:t>为真的情况下</a:t>
                </a:r>
                <a:r>
                  <a:rPr lang="en-US" altLang="zh-CN" sz="1200" i="1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1" dirty="0"/>
                  <a:t> </a:t>
                </a:r>
                <a:r>
                  <a:rPr lang="zh-CN" altLang="zh-CN" sz="1200" dirty="0"/>
                  <a:t>都为真，即</a:t>
                </a:r>
                <a:r>
                  <a:rPr lang="en-US" altLang="zh-CN" sz="1200" dirty="0"/>
                  <a:t>M(</a:t>
                </a:r>
                <a:r>
                  <a:rPr lang="en-US" altLang="zh-CN" sz="1200" i="1" dirty="0"/>
                  <a:t>KB</a:t>
                </a:r>
                <a:r>
                  <a:rPr lang="en-US" altLang="zh-CN" sz="1200" dirty="0"/>
                  <a:t>)</a:t>
                </a:r>
                <a14:m>
                  <m:oMath xmlns:m="http://schemas.openxmlformats.org/officeDocument/2006/math">
                    <m:r>
                      <a:rPr lang="en-US" altLang="zh-CN" sz="1200" b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sz="1200" i="1" dirty="0"/>
                  <a:t>M</a:t>
                </a:r>
                <a:r>
                  <a:rPr lang="en-US" altLang="zh-CN" sz="1200" dirty="0"/>
                  <a:t>(</a:t>
                </a:r>
                <a:r>
                  <a:rPr lang="en-US" altLang="zh-CN" sz="1200" i="1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dirty="0"/>
                  <a:t>)</a:t>
                </a:r>
                <a:r>
                  <a:rPr lang="zh-CN" altLang="zh-CN" sz="1200" dirty="0"/>
                  <a:t>。</a:t>
                </a:r>
                <a:endParaRPr lang="zh-CN" altLang="en-US" sz="1200" dirty="0"/>
              </a:p>
              <a:p>
                <a:endParaRPr lang="zh-CN" altLang="zh-CN" dirty="0"/>
              </a:p>
            </p:txBody>
          </p:sp>
        </mc:Choice>
        <mc:Fallback xmlns="">
          <p:sp>
            <p:nvSpPr>
              <p:cNvPr id="69636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84213" y="4740275"/>
                <a:ext cx="5467350" cy="4491038"/>
              </a:xfr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dirty="0" smtClean="0">
                    <a:solidFill>
                      <a:srgbClr val="C00000"/>
                    </a:solidFill>
                  </a:rPr>
                  <a:t>模型</a:t>
                </a:r>
                <a:r>
                  <a:rPr lang="zh-CN" altLang="zh-CN" sz="1200" dirty="0">
                    <a:solidFill>
                      <a:srgbClr val="C00000"/>
                    </a:solidFill>
                  </a:rPr>
                  <a:t>检验</a:t>
                </a:r>
                <a:r>
                  <a:rPr lang="zh-CN" altLang="zh-CN" sz="1200" dirty="0" smtClean="0"/>
                  <a:t>，</a:t>
                </a:r>
                <a:r>
                  <a:rPr lang="zh-CN" altLang="en-US" sz="1200" dirty="0" smtClean="0"/>
                  <a:t>一种</a:t>
                </a:r>
                <a:r>
                  <a:rPr lang="zh-CN" altLang="zh-CN" sz="1200" dirty="0"/>
                  <a:t>用</a:t>
                </a:r>
                <a:r>
                  <a:rPr lang="zh-CN" altLang="zh-CN" sz="1200" dirty="0" smtClean="0"/>
                  <a:t>蕴</a:t>
                </a:r>
                <a:r>
                  <a:rPr lang="zh-CN" altLang="en-US" sz="1200" dirty="0"/>
                  <a:t>含</a:t>
                </a:r>
                <a:r>
                  <a:rPr lang="zh-CN" altLang="zh-CN" sz="1200" dirty="0" smtClean="0"/>
                  <a:t>推导</a:t>
                </a:r>
                <a:r>
                  <a:rPr lang="zh-CN" altLang="zh-CN" sz="1200" dirty="0"/>
                  <a:t>出</a:t>
                </a:r>
                <a:r>
                  <a:rPr lang="zh-CN" altLang="zh-CN" sz="1200" dirty="0" smtClean="0"/>
                  <a:t>结论</a:t>
                </a:r>
                <a:r>
                  <a:rPr lang="zh-CN" altLang="en-US" sz="1200" dirty="0" smtClean="0"/>
                  <a:t>从而</a:t>
                </a:r>
                <a:r>
                  <a:rPr lang="zh-CN" altLang="zh-CN" sz="1200" dirty="0" smtClean="0"/>
                  <a:t>实现逻辑推理</a:t>
                </a:r>
                <a:r>
                  <a:rPr lang="zh-CN" altLang="en-US" sz="1200" dirty="0" smtClean="0"/>
                  <a:t>的</a:t>
                </a:r>
                <a:r>
                  <a:rPr lang="zh-CN" altLang="zh-CN" sz="1200" dirty="0" smtClean="0"/>
                  <a:t>算法</a:t>
                </a:r>
                <a:r>
                  <a:rPr lang="zh-CN" altLang="en-US" sz="1200" dirty="0" smtClean="0"/>
                  <a:t>，</a:t>
                </a:r>
                <a:r>
                  <a:rPr lang="zh-CN" altLang="zh-CN" sz="1200" dirty="0" smtClean="0"/>
                  <a:t>通过</a:t>
                </a:r>
                <a:r>
                  <a:rPr lang="zh-CN" altLang="zh-CN" sz="1200" dirty="0"/>
                  <a:t>枚举所有可能的模型来检验</a:t>
                </a:r>
                <a:r>
                  <a:rPr lang="en-US" altLang="zh-CN" sz="1200" i="1" dirty="0"/>
                  <a:t>KB</a:t>
                </a:r>
                <a:r>
                  <a:rPr lang="zh-CN" altLang="zh-CN" sz="1200" dirty="0"/>
                  <a:t>为真的情况下</a:t>
                </a:r>
                <a:r>
                  <a:rPr lang="en-US" altLang="zh-CN" sz="1200" i="1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1" dirty="0"/>
                  <a:t> </a:t>
                </a:r>
                <a:r>
                  <a:rPr lang="zh-CN" altLang="zh-CN" sz="1200" dirty="0"/>
                  <a:t>都为真，即</a:t>
                </a:r>
                <a:r>
                  <a:rPr lang="en-US" altLang="zh-CN" sz="1200" dirty="0"/>
                  <a:t>M(</a:t>
                </a:r>
                <a:r>
                  <a:rPr lang="en-US" altLang="zh-CN" sz="1200" i="1" dirty="0"/>
                  <a:t>KB</a:t>
                </a:r>
                <a:r>
                  <a:rPr lang="en-US" altLang="zh-CN" sz="1200" dirty="0"/>
                  <a:t>)</a:t>
                </a:r>
                <a:r>
                  <a:rPr lang="en-US" altLang="zh-CN" sz="1200" b="0" i="0">
                    <a:latin typeface="Cambria Math" panose="02040503050406030204" pitchFamily="18" charset="0"/>
                  </a:rPr>
                  <a:t>⊆</a:t>
                </a:r>
                <a:r>
                  <a:rPr lang="en-US" altLang="zh-CN" sz="1200" i="1" dirty="0"/>
                  <a:t>M</a:t>
                </a:r>
                <a:r>
                  <a:rPr lang="en-US" altLang="zh-CN" sz="1200" dirty="0"/>
                  <a:t>(</a:t>
                </a:r>
                <a:r>
                  <a:rPr lang="en-US" altLang="zh-CN" sz="1200" i="1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dirty="0"/>
                  <a:t>)</a:t>
                </a:r>
                <a:r>
                  <a:rPr lang="zh-CN" altLang="zh-CN" sz="1200" dirty="0"/>
                  <a:t>。</a:t>
                </a:r>
                <a:endParaRPr lang="zh-CN" altLang="en-US" sz="1200" dirty="0"/>
              </a:p>
              <a:p>
                <a:endParaRPr lang="zh-CN" altLang="zh-CN" dirty="0" smtClean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766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E.g., (A </a:t>
            </a:r>
            <a:r>
              <a:rPr lang="en-US" altLang="zh-CN">
                <a:sym typeface="Symbol" panose="05050102010706020507" pitchFamily="18" charset="2"/>
              </a:rPr>
              <a:t>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B) 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 (B </a:t>
            </a:r>
            <a:r>
              <a:rPr lang="en-US" altLang="zh-CN">
                <a:sym typeface="Symbol" panose="05050102010706020507" pitchFamily="18" charset="2"/>
              </a:rPr>
              <a:t>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C) : </a:t>
            </a:r>
          </a:p>
          <a:p>
            <a:r>
              <a:rPr lang="en-US" altLang="zh-CN"/>
              <a:t>Basic intuition, </a:t>
            </a:r>
            <a:r>
              <a:rPr lang="en-US" altLang="zh-CN">
                <a:solidFill>
                  <a:srgbClr val="FF3300"/>
                </a:solidFill>
              </a:rPr>
              <a:t>resolve</a:t>
            </a:r>
            <a:r>
              <a:rPr lang="en-US" altLang="zh-CN"/>
              <a:t> B,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  to get A </a:t>
            </a:r>
            <a:r>
              <a:rPr lang="en-US" altLang="zh-CN">
                <a:sym typeface="Symbol" panose="05050102010706020507" pitchFamily="18" charset="2"/>
              </a:rPr>
              <a:t> </a:t>
            </a:r>
            <a:r>
              <a:rPr lang="en-US" altLang="zh-CN"/>
              <a:t>C (why?)</a:t>
            </a:r>
            <a:endParaRPr lang="en-US" altLang="zh-CN">
              <a:solidFill>
                <a:srgbClr val="FF0000"/>
              </a:solidFill>
            </a:endParaRPr>
          </a:p>
          <a:p>
            <a:endParaRPr lang="zh-CN" altLang="en-US"/>
          </a:p>
        </p:txBody>
      </p:sp>
      <p:sp>
        <p:nvSpPr>
          <p:cNvPr id="128004" name="灯片编号占位符 3"/>
          <p:cNvSpPr txBox="1">
            <a:spLocks noGrp="1"/>
          </p:cNvSpPr>
          <p:nvPr/>
        </p:nvSpPr>
        <p:spPr bwMode="auto">
          <a:xfrm>
            <a:off x="3873500" y="948055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0C7D383-D990-4C45-BC32-96A665E8B4B4}" type="slidenum">
              <a:rPr kumimoji="1" lang="en-US" altLang="zh-CN" sz="1200">
                <a:latin typeface="Times New Roman" panose="02020603050405020304" pitchFamily="18" charset="0"/>
              </a:rPr>
              <a:pPr algn="r" eaLnBrk="1" hangingPunct="1"/>
              <a:t>7</a:t>
            </a:fld>
            <a:endParaRPr kumimoji="1" lang="en-US" altLang="zh-CN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2938FA-1AC0-4984-8B9D-D55F67173710}" type="slidenum">
              <a:rPr lang="en-US" altLang="zh-CN"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740275"/>
            <a:ext cx="5467350" cy="4491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Application of inference rules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Legitimate generation of new sentences from old</a:t>
            </a:r>
          </a:p>
          <a:p>
            <a:pPr lvl="1"/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Proof</a:t>
            </a:r>
            <a:r>
              <a:rPr lang="en-US" altLang="zh-CN" dirty="0">
                <a:ea typeface="宋体" panose="02010600030101010101" pitchFamily="2" charset="-122"/>
              </a:rPr>
              <a:t> = a sequence of inference rule applications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Can use inference rules as operators in a standard search algorithm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Typically require transformation of sentences into a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normal form</a:t>
            </a:r>
          </a:p>
          <a:p>
            <a:pPr lvl="1"/>
            <a:endParaRPr lang="en-US" altLang="zh-CN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sz="1200" b="1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proof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—a chain of conclusions that leads to the desired goal</a:t>
            </a:r>
          </a:p>
          <a:p>
            <a:endParaRPr lang="en-US" altLang="zh-CN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993300"/>
                </a:solidFill>
                <a:ea typeface="宋体" panose="02010600030101010101" pitchFamily="2" charset="-122"/>
              </a:rPr>
              <a:t>Inference</a:t>
            </a:r>
            <a:r>
              <a:rPr lang="en-US" altLang="zh-CN" dirty="0">
                <a:solidFill>
                  <a:srgbClr val="9933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is the process of applying successive inference rules from I to KB, each rule adding its conclusion to KB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828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按照</a:t>
            </a:r>
            <a:r>
              <a:rPr kumimoji="1" lang="zh-CN" altLang="en-US" sz="12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自然推理系统进行证明</a:t>
            </a:r>
            <a:endParaRPr kumimoji="1" lang="en-US" altLang="zh-CN" sz="12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dirty="0"/>
              <a:t> B 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C├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 </a:t>
            </a:r>
            <a:r>
              <a:rPr lang="en-US" altLang="zh-CN" dirty="0"/>
              <a:t>C</a:t>
            </a:r>
          </a:p>
          <a:p>
            <a:endParaRPr kumimoji="1" lang="en-US" altLang="zh-CN" sz="12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A├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1200" dirty="0">
                <a:latin typeface="+mn-ea"/>
              </a:rPr>
              <a:t>A		 	∈(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肯定前提规则 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A├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1200" dirty="0">
                <a:latin typeface="+mn-ea"/>
              </a:rPr>
              <a:t>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C</a:t>
            </a:r>
            <a:r>
              <a:rPr lang="en-US" altLang="zh-CN" sz="1200" dirty="0">
                <a:latin typeface="+mn-ea"/>
              </a:rPr>
              <a:t> 		1 ∨</a:t>
            </a:r>
            <a:r>
              <a:rPr lang="en-US" altLang="zh-CN" sz="1200" baseline="-25000" dirty="0">
                <a:latin typeface="+mn-ea"/>
              </a:rPr>
              <a:t>+ </a:t>
            </a:r>
            <a:r>
              <a:rPr lang="en-US" altLang="zh-CN" sz="1200" dirty="0">
                <a:latin typeface="+mn-ea"/>
              </a:rPr>
              <a:t>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∨引入规则 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B, A├ 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C 		2 ∈</a:t>
            </a:r>
            <a:r>
              <a:rPr lang="en-US" altLang="zh-CN" sz="1200" baseline="-25000" dirty="0">
                <a:latin typeface="+mn-ea"/>
              </a:rPr>
              <a:t>+</a:t>
            </a:r>
            <a:r>
              <a:rPr lang="en-US" altLang="zh-CN" sz="1200" dirty="0">
                <a:latin typeface="+mn-ea"/>
              </a:rPr>
              <a:t>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前提引入规则 </a:t>
            </a:r>
            <a:r>
              <a:rPr lang="en-US" altLang="zh-CN" sz="1200" dirty="0">
                <a:latin typeface="+mn-ea"/>
              </a:rPr>
              <a:t>)</a:t>
            </a:r>
            <a:endParaRPr lang="en-US" altLang="zh-CN" sz="1200" baseline="-25000" dirty="0">
              <a:latin typeface="+mn-ea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B,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</a:t>
            </a:r>
            <a:r>
              <a:rPr lang="en-US" altLang="zh-CN" sz="1200" dirty="0">
                <a:latin typeface="+mn-ea"/>
              </a:rPr>
              <a:t>B├ B,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</a:t>
            </a:r>
            <a:r>
              <a:rPr lang="en-US" altLang="zh-CN" sz="1200" dirty="0">
                <a:latin typeface="+mn-ea"/>
              </a:rPr>
              <a:t>B		∈ 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肯定前提规则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B,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</a:t>
            </a:r>
            <a:r>
              <a:rPr lang="en-US" altLang="zh-CN" sz="1200" dirty="0">
                <a:latin typeface="+mn-ea"/>
              </a:rPr>
              <a:t>B├ 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C 		4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</a:t>
            </a:r>
            <a:r>
              <a:rPr lang="en-US" altLang="zh-CN" sz="1200" baseline="-25000" dirty="0">
                <a:latin typeface="+mn-ea"/>
                <a:sym typeface="Symbol" panose="05050102010706020507" pitchFamily="18" charset="2"/>
              </a:rPr>
              <a:t>-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消去规则 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 B,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1200" dirty="0">
                <a:latin typeface="+mn-ea"/>
              </a:rPr>
              <a:t>A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</a:t>
            </a:r>
            <a:r>
              <a:rPr lang="en-US" altLang="zh-CN" sz="1200" dirty="0">
                <a:latin typeface="+mn-ea"/>
              </a:rPr>
              <a:t>B├ 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C		3,5∨</a:t>
            </a:r>
            <a:r>
              <a:rPr lang="en-US" altLang="zh-CN" sz="1200" baseline="-25000" dirty="0">
                <a:latin typeface="+mn-ea"/>
              </a:rPr>
              <a:t>-</a:t>
            </a:r>
            <a:r>
              <a:rPr lang="en-US" altLang="zh-CN" sz="1200" dirty="0">
                <a:latin typeface="+mn-ea"/>
              </a:rPr>
              <a:t>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∨消去规则 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C, </a:t>
            </a:r>
            <a:r>
              <a:rPr lang="en-US" altLang="zh-CN" sz="1200" dirty="0">
                <a:latin typeface="+mn-ea"/>
              </a:rPr>
              <a:t>A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</a:t>
            </a:r>
            <a:r>
              <a:rPr lang="en-US" altLang="zh-CN" sz="1200" dirty="0">
                <a:latin typeface="+mn-ea"/>
              </a:rPr>
              <a:t>B├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C		∈ 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肯定前提规则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C, </a:t>
            </a:r>
            <a:r>
              <a:rPr lang="en-US" altLang="zh-CN" sz="1200" dirty="0">
                <a:latin typeface="+mn-ea"/>
              </a:rPr>
              <a:t>A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</a:t>
            </a:r>
            <a:r>
              <a:rPr lang="en-US" altLang="zh-CN" sz="1200" dirty="0">
                <a:latin typeface="+mn-ea"/>
              </a:rPr>
              <a:t>B├ 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C		7 ∨</a:t>
            </a:r>
            <a:r>
              <a:rPr lang="en-US" altLang="zh-CN" sz="1200" baseline="-25000" dirty="0">
                <a:latin typeface="+mn-ea"/>
              </a:rPr>
              <a:t>+</a:t>
            </a:r>
            <a:r>
              <a:rPr lang="en-US" altLang="zh-CN" sz="1200" dirty="0">
                <a:latin typeface="+mn-ea"/>
              </a:rPr>
              <a:t> 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∨引入规则 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1200" dirty="0">
                <a:latin typeface="+mn-ea"/>
              </a:rPr>
              <a:t>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B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,</a:t>
            </a:r>
            <a:r>
              <a:rPr lang="en-US" altLang="zh-CN" sz="1200" dirty="0">
                <a:latin typeface="+mn-ea"/>
              </a:rPr>
              <a:t> B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latin typeface="+mn-ea"/>
              </a:rPr>
              <a:t>C├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1200" dirty="0">
                <a:latin typeface="+mn-ea"/>
              </a:rPr>
              <a:t>A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 </a:t>
            </a:r>
            <a:r>
              <a:rPr lang="en-US" altLang="zh-CN" sz="1200" dirty="0">
                <a:latin typeface="+mn-ea"/>
              </a:rPr>
              <a:t>C	6,8 ∨</a:t>
            </a:r>
            <a:r>
              <a:rPr lang="en-US" altLang="zh-CN" sz="1200" baseline="-25000" dirty="0">
                <a:latin typeface="+mn-ea"/>
              </a:rPr>
              <a:t>-</a:t>
            </a:r>
            <a:r>
              <a:rPr lang="en-US" altLang="zh-CN" sz="1200" dirty="0">
                <a:latin typeface="+mn-ea"/>
              </a:rPr>
              <a:t> (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∨消去规则</a:t>
            </a:r>
            <a:r>
              <a:rPr lang="en-US" altLang="zh-CN" sz="1200" dirty="0">
                <a:latin typeface="+mn-ea"/>
              </a:rPr>
              <a:t>)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632CF-5949-4012-AD78-7444C454F04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928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dirty="0"/>
              <a:t>　　</a:t>
            </a:r>
            <a:r>
              <a:rPr lang="en-GB" altLang="zh-CN" b="1" dirty="0" err="1"/>
              <a:t>定义</a:t>
            </a:r>
            <a:r>
              <a:rPr lang="en-GB" altLang="zh-CN" b="1" dirty="0"/>
              <a:t> </a:t>
            </a:r>
            <a:r>
              <a:rPr lang="en-GB" altLang="zh-CN" dirty="0" err="1"/>
              <a:t>命题变项及其否定统称作</a:t>
            </a:r>
            <a:r>
              <a:rPr lang="en-GB" altLang="zh-CN" b="1" dirty="0" err="1"/>
              <a:t>文字</a:t>
            </a:r>
            <a:r>
              <a:rPr lang="en-GB" altLang="zh-CN" b="1" dirty="0"/>
              <a:t>。</a:t>
            </a:r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284134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0220BF-5094-414A-9DDC-61D26FAF6522}" type="slidenum">
              <a:rPr lang="en-US" altLang="zh-CN"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740275"/>
            <a:ext cx="5467350" cy="4491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ts val="1200"/>
              </a:spcBef>
            </a:pPr>
            <a:r>
              <a:rPr lang="zh-CN" altLang="zh-CN" sz="1200" dirty="0">
                <a:latin typeface="+mn-ea"/>
              </a:rPr>
              <a:t>消去等价词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</a:t>
            </a:r>
            <a:r>
              <a:rPr lang="zh-CN" altLang="zh-CN" sz="1200" dirty="0">
                <a:latin typeface="+mn-ea"/>
              </a:rPr>
              <a:t>，用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en-US" altLang="zh-CN" sz="1200" i="1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 </a:t>
            </a:r>
            <a:r>
              <a:rPr lang="en-US" altLang="zh-CN" sz="1200" dirty="0">
                <a:latin typeface="+mn-ea"/>
              </a:rPr>
              <a:t>)</a:t>
            </a:r>
            <a:r>
              <a:rPr lang="zh-CN" altLang="zh-CN" sz="1200" dirty="0">
                <a:latin typeface="+mn-ea"/>
              </a:rPr>
              <a:t>∧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</a:t>
            </a:r>
            <a:r>
              <a:rPr lang="en-US" altLang="zh-CN" sz="1200" i="1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en-US" altLang="zh-CN" sz="1200" dirty="0">
                <a:latin typeface="+mn-ea"/>
              </a:rPr>
              <a:t>) </a:t>
            </a:r>
            <a:r>
              <a:rPr lang="zh-CN" altLang="zh-CN" sz="1200" dirty="0">
                <a:latin typeface="+mn-ea"/>
              </a:rPr>
              <a:t>取代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en-US" altLang="zh-CN" sz="1200" i="1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 </a:t>
            </a:r>
            <a:r>
              <a:rPr lang="en-US" altLang="zh-CN" sz="1200" dirty="0">
                <a:latin typeface="+mn-ea"/>
              </a:rPr>
              <a:t>)</a:t>
            </a:r>
          </a:p>
          <a:p>
            <a:pPr marL="457200" indent="-457200">
              <a:spcBef>
                <a:spcPts val="1200"/>
              </a:spcBef>
            </a:pPr>
            <a:r>
              <a:rPr lang="zh-CN" altLang="zh-CN" sz="1200" dirty="0">
                <a:latin typeface="+mn-ea"/>
              </a:rPr>
              <a:t>消去蕴含词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</a:t>
            </a:r>
            <a:r>
              <a:rPr lang="zh-CN" altLang="zh-CN" sz="1200" dirty="0">
                <a:latin typeface="+mn-ea"/>
              </a:rPr>
              <a:t>，用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zh-CN" altLang="zh-CN" sz="1200" dirty="0">
                <a:latin typeface="+mn-ea"/>
              </a:rPr>
              <a:t>∨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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zh-CN" sz="1200" dirty="0">
                <a:latin typeface="+mn-ea"/>
              </a:rPr>
              <a:t>取代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en-US" altLang="zh-CN" sz="1200" i="1" dirty="0">
                <a:latin typeface="+mn-ea"/>
              </a:rPr>
              <a:t> 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1200" dirty="0">
                <a:latin typeface="+mn-ea"/>
              </a:rPr>
              <a:t> </a:t>
            </a:r>
            <a:r>
              <a:rPr lang="en-US" altLang="zh-CN" sz="1200" i="1" dirty="0">
                <a:latin typeface="+mn-ea"/>
                <a:sym typeface="Symbol" panose="05050102010706020507" pitchFamily="18" charset="2"/>
              </a:rPr>
              <a:t></a:t>
            </a:r>
          </a:p>
          <a:p>
            <a:pPr marL="457200" indent="-457200">
              <a:spcBef>
                <a:spcPts val="1200"/>
              </a:spcBef>
            </a:pPr>
            <a:r>
              <a:rPr lang="zh-CN" altLang="zh-CN" sz="1200" dirty="0">
                <a:latin typeface="+mn-ea"/>
              </a:rPr>
              <a:t>反复应用</a:t>
            </a:r>
            <a:r>
              <a:rPr lang="zh-CN" altLang="zh-CN" sz="1200" dirty="0"/>
              <a:t>双重否定消去</a:t>
            </a:r>
            <a:r>
              <a:rPr lang="zh-CN" altLang="en-US" sz="1200" dirty="0"/>
              <a:t>和</a:t>
            </a:r>
            <a:r>
              <a:rPr lang="en-US" altLang="zh-CN" sz="1200" dirty="0">
                <a:latin typeface="+mn-ea"/>
              </a:rPr>
              <a:t>De Morgan</a:t>
            </a:r>
            <a:r>
              <a:rPr lang="zh-CN" altLang="en-US" sz="1200" dirty="0">
                <a:latin typeface="+mn-ea"/>
              </a:rPr>
              <a:t>律</a:t>
            </a:r>
            <a:r>
              <a:rPr lang="zh-CN" altLang="zh-CN" sz="1200" dirty="0">
                <a:latin typeface="+mn-ea"/>
              </a:rPr>
              <a:t>将</a:t>
            </a:r>
            <a:r>
              <a:rPr lang="en-US" altLang="zh-CN" sz="1200" dirty="0">
                <a:latin typeface="+mn-ea"/>
                <a:sym typeface="Symbol" panose="05050102010706020507" pitchFamily="18" charset="2"/>
              </a:rPr>
              <a:t></a:t>
            </a:r>
            <a:r>
              <a:rPr lang="zh-CN" altLang="zh-CN" sz="1200" dirty="0">
                <a:latin typeface="+mn-ea"/>
              </a:rPr>
              <a:t>否定词内移</a:t>
            </a:r>
            <a:endParaRPr lang="en-US" altLang="zh-CN" sz="1200" dirty="0">
              <a:latin typeface="+mn-ea"/>
            </a:endParaRPr>
          </a:p>
          <a:p>
            <a:pPr marL="457200" indent="-457200">
              <a:spcBef>
                <a:spcPts val="1200"/>
              </a:spcBef>
            </a:pPr>
            <a:r>
              <a:rPr lang="zh-CN" altLang="zh-CN" sz="1200" dirty="0"/>
              <a:t>使用分配律</a:t>
            </a:r>
            <a:r>
              <a:rPr lang="zh-CN" altLang="en-US" sz="1200" dirty="0"/>
              <a:t>，</a:t>
            </a:r>
            <a:r>
              <a:rPr lang="zh-CN" altLang="zh-CN" sz="1200" dirty="0"/>
              <a:t>将∨对∧进行分配</a:t>
            </a:r>
            <a:endParaRPr lang="en-US" altLang="zh-CN" sz="1200" dirty="0"/>
          </a:p>
          <a:p>
            <a:pPr marL="457200" indent="-457200">
              <a:spcBef>
                <a:spcPts val="1200"/>
              </a:spcBef>
            </a:pPr>
            <a:endParaRPr lang="en-US" altLang="zh-CN" sz="1200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en-US" altLang="zh-CN" sz="1200" dirty="0">
                <a:ea typeface="宋体" panose="02010600030101010101" pitchFamily="2" charset="-122"/>
              </a:rPr>
              <a:t>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1200" dirty="0">
                <a:ea typeface="宋体" panose="02010600030101010101" pitchFamily="2" charset="-122"/>
              </a:rPr>
              <a:t> (P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zh-CN" sz="1200" dirty="0">
                <a:ea typeface="宋体" panose="02010600030101010101" pitchFamily="2" charset="-122"/>
              </a:rPr>
              <a:t>(B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1200" dirty="0">
                <a:ea typeface="宋体" panose="02010600030101010101" pitchFamily="2" charset="-122"/>
              </a:rPr>
              <a:t> (P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1200" dirty="0">
                <a:ea typeface="宋体" panose="02010600030101010101" pitchFamily="2" charset="-122"/>
              </a:rPr>
              <a:t> ((P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1200" dirty="0">
                <a:ea typeface="宋体" panose="02010600030101010101" pitchFamily="2" charset="-122"/>
              </a:rPr>
              <a:t> 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zh-CN" sz="1200" dirty="0">
                <a:ea typeface="宋体" panose="02010600030101010101" pitchFamily="2" charset="-122"/>
              </a:rPr>
              <a:t>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1200" dirty="0">
                <a:ea typeface="宋体" panose="02010600030101010101" pitchFamily="2" charset="-122"/>
              </a:rPr>
              <a:t> 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(P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1200" dirty="0">
                <a:ea typeface="宋体" panose="02010600030101010101" pitchFamily="2" charset="-122"/>
              </a:rPr>
              <a:t>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zh-CN" sz="1200" dirty="0">
                <a:ea typeface="宋体" panose="02010600030101010101" pitchFamily="2" charset="-122"/>
              </a:rPr>
              <a:t>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1200" dirty="0">
                <a:ea typeface="宋体" panose="02010600030101010101" pitchFamily="2" charset="-122"/>
              </a:rPr>
              <a:t> ((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zh-CN" sz="1200" dirty="0">
                <a:ea typeface="宋体" panose="02010600030101010101" pitchFamily="2" charset="-122"/>
              </a:rPr>
              <a:t>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1200" dirty="0">
                <a:ea typeface="宋体" panose="02010600030101010101" pitchFamily="2" charset="-122"/>
              </a:rPr>
              <a:t> 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P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1,2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1200" dirty="0">
                <a:ea typeface="宋体" panose="02010600030101010101" pitchFamily="2" charset="-122"/>
              </a:rPr>
              <a:t> (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1200" dirty="0">
                <a:ea typeface="宋体" panose="02010600030101010101" pitchFamily="2" charset="-122"/>
              </a:rPr>
              <a:t>P</a:t>
            </a:r>
            <a:r>
              <a:rPr lang="en-US" altLang="zh-CN" sz="1200" baseline="-25000" dirty="0">
                <a:ea typeface="宋体" panose="02010600030101010101" pitchFamily="2" charset="-122"/>
              </a:rPr>
              <a:t>2,1</a:t>
            </a:r>
            <a:r>
              <a:rPr lang="en-US" altLang="zh-CN" sz="1200" dirty="0"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1200" dirty="0">
                <a:ea typeface="宋体" panose="02010600030101010101" pitchFamily="2" charset="-122"/>
              </a:rPr>
              <a:t> B</a:t>
            </a:r>
            <a:r>
              <a:rPr lang="en-US" altLang="zh-CN" sz="1200" baseline="-25000" dirty="0">
                <a:ea typeface="宋体" panose="02010600030101010101" pitchFamily="2" charset="-122"/>
              </a:rPr>
              <a:t>1,1</a:t>
            </a:r>
            <a:r>
              <a:rPr lang="en-US" altLang="zh-CN" sz="1200" dirty="0">
                <a:ea typeface="宋体" panose="02010600030101010101" pitchFamily="2" charset="-122"/>
              </a:rPr>
              <a:t>)</a:t>
            </a:r>
          </a:p>
          <a:p>
            <a:pPr marL="457200" indent="-457200">
              <a:spcBef>
                <a:spcPts val="1200"/>
              </a:spcBef>
            </a:pPr>
            <a:endParaRPr lang="en-US" altLang="zh-CN" sz="1200" dirty="0">
              <a:latin typeface="+mn-ea"/>
            </a:endParaRPr>
          </a:p>
          <a:p>
            <a:endParaRPr lang="en-US" altLang="zh-CN" sz="1200" dirty="0">
              <a:ea typeface="宋体" panose="02010600030101010101" pitchFamily="2" charset="-122"/>
            </a:endParaRPr>
          </a:p>
          <a:p>
            <a:endParaRPr lang="en-US" altLang="zh-CN" sz="1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0320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首先，把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KB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转换为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CNF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。接着，对结果子句运用归结规则。对含有互补文字的子句进行归结产生新子句，如果该新子句尚未出现过，则将它加入子句集中。此过程将一直持续，直到以下两件事情之一发生：</a:t>
            </a: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没有可以添加的新语句，这种情况下，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KB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不蕴涵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，或者</a:t>
            </a: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两个子句归结出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空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子句，这种情况下，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KB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蕴涵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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632CF-5949-4012-AD78-7444C454F04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80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632CF-5949-4012-AD78-7444C454F04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8411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89CA0CB-FB7A-426C-9179-E889FF4C95C7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/>
          <p:nvPr/>
        </p:nvGrpSpPr>
        <p:grpSpPr bwMode="auto">
          <a:xfrm>
            <a:off x="-7938" y="-7938"/>
            <a:ext cx="9170988" cy="6873876"/>
            <a:chOff x="-8466" y="-8468"/>
            <a:chExt cx="9171316" cy="6874935"/>
          </a:xfrm>
        </p:grpSpPr>
        <p:cxnSp>
          <p:nvCxnSpPr>
            <p:cNvPr id="5" name="Straight Connector 27"/>
            <p:cNvCxnSpPr/>
            <p:nvPr/>
          </p:nvCxnSpPr>
          <p:spPr>
            <a:xfrm flipV="1">
              <a:off x="5130456" y="4175239"/>
              <a:ext cx="4022869" cy="268328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8"/>
            <p:cNvCxnSpPr/>
            <p:nvPr/>
          </p:nvCxnSpPr>
          <p:spPr>
            <a:xfrm>
              <a:off x="7043462" y="-529"/>
              <a:ext cx="1217656" cy="685905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/>
            <p:cNvSpPr/>
            <p:nvPr/>
          </p:nvSpPr>
          <p:spPr>
            <a:xfrm>
              <a:off x="6892644" y="-529"/>
              <a:ext cx="2268619" cy="686699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/>
            <p:cNvSpPr/>
            <p:nvPr/>
          </p:nvSpPr>
          <p:spPr>
            <a:xfrm>
              <a:off x="7205393" y="-8468"/>
              <a:ext cx="1947932" cy="6866996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/>
            <p:cNvSpPr/>
            <p:nvPr/>
          </p:nvSpPr>
          <p:spPr>
            <a:xfrm>
              <a:off x="6638635" y="3919613"/>
              <a:ext cx="2513103" cy="2938915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/>
            <p:cNvSpPr/>
            <p:nvPr/>
          </p:nvSpPr>
          <p:spPr>
            <a:xfrm>
              <a:off x="7010123" y="-8468"/>
              <a:ext cx="2143202" cy="6866996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/>
            <p:cNvSpPr/>
            <p:nvPr/>
          </p:nvSpPr>
          <p:spPr>
            <a:xfrm>
              <a:off x="8296044" y="-8468"/>
              <a:ext cx="857281" cy="6866996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/>
            <p:cNvSpPr/>
            <p:nvPr/>
          </p:nvSpPr>
          <p:spPr>
            <a:xfrm>
              <a:off x="8094425" y="-8468"/>
              <a:ext cx="1066838" cy="6866996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/>
            <p:cNvSpPr/>
            <p:nvPr/>
          </p:nvSpPr>
          <p:spPr>
            <a:xfrm>
              <a:off x="8069024" y="4894488"/>
              <a:ext cx="1093826" cy="1964040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/>
            <p:cNvSpPr/>
            <p:nvPr/>
          </p:nvSpPr>
          <p:spPr>
            <a:xfrm>
              <a:off x="-8466" y="-8468"/>
              <a:ext cx="863632" cy="5698416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7585" y="2404534"/>
            <a:ext cx="6362727" cy="1646302"/>
          </a:xfrm>
        </p:spPr>
        <p:txBody>
          <a:bodyPr>
            <a:noAutofit/>
          </a:bodyPr>
          <a:lstStyle>
            <a:lvl1pPr algn="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7585" y="4050834"/>
            <a:ext cx="6362727" cy="1096899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FBB78-3332-4880-866E-0A3F9B2B4E8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5F621-1619-4F8E-88C5-5F30FD27FF7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714A08-4464-4D29-A3F1-407A8CD8ED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28799"/>
            <a:ext cx="3799139" cy="441256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4008" y="1628800"/>
            <a:ext cx="3799140" cy="44125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BB4C6-7EA4-4BDB-9E38-34E28C0211A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33375"/>
            <a:ext cx="7850188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5D328-724C-4051-A690-C7F0AFBC61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22AC5-6335-4364-9FE7-701C83AB7E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D05C2-C8A5-45E2-8FB2-84FA06ACEB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D88B9-75DB-484E-AD45-E2F04DE115D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CFFFC-631F-4202-8192-0C161233A1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74047-D290-4C6D-9AF0-9046F940AA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>
            <a:spLocks noChangeArrowheads="1"/>
          </p:cNvSpPr>
          <p:nvPr/>
        </p:nvSpPr>
        <p:spPr bwMode="auto"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en-US" altLang="zh-CN" sz="8000">
                <a:solidFill>
                  <a:srgbClr val="95B3D7"/>
                </a:solidFill>
              </a:rPr>
              <a:t>“</a:t>
            </a:r>
          </a:p>
        </p:txBody>
      </p:sp>
      <p:sp>
        <p:nvSpPr>
          <p:cNvPr id="6" name="TextBox 24"/>
          <p:cNvSpPr txBox="1">
            <a:spLocks noChangeArrowheads="1"/>
          </p:cNvSpPr>
          <p:nvPr/>
        </p:nvSpPr>
        <p:spPr bwMode="auto">
          <a:xfrm>
            <a:off x="6748463" y="2886075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en-US" altLang="zh-CN" sz="8000">
                <a:solidFill>
                  <a:srgbClr val="95B3D7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ABEBF-AF30-4B84-A53E-806883FF45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4C3AA-91EF-4DFC-B3DD-3099D4946A1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>
            <a:spLocks noChangeArrowheads="1"/>
          </p:cNvSpPr>
          <p:nvPr/>
        </p:nvSpPr>
        <p:spPr bwMode="auto">
          <a:xfrm>
            <a:off x="482600" y="79057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en-US" altLang="zh-CN" sz="8000">
                <a:solidFill>
                  <a:srgbClr val="95B3D7"/>
                </a:solidFill>
              </a:rPr>
              <a:t>“</a:t>
            </a:r>
          </a:p>
        </p:txBody>
      </p:sp>
      <p:sp>
        <p:nvSpPr>
          <p:cNvPr id="6" name="TextBox 24"/>
          <p:cNvSpPr txBox="1">
            <a:spLocks noChangeArrowheads="1"/>
          </p:cNvSpPr>
          <p:nvPr/>
        </p:nvSpPr>
        <p:spPr bwMode="auto">
          <a:xfrm>
            <a:off x="6748463" y="2886075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en-US" altLang="zh-CN" sz="8000">
                <a:solidFill>
                  <a:srgbClr val="95B3D7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A2997-739A-4FC7-B7BB-42378CF144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1FC56-377A-4419-A270-F2A799A49D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31DEB-084E-4111-A2C4-D3B32AFACE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7DC47-552C-4D62-8E8D-F9F5566F4DD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938" y="4013200"/>
            <a:ext cx="457201" cy="2852738"/>
          </a:xfrm>
          <a:custGeom>
            <a:avLst/>
            <a:gdLst/>
            <a:ahLst/>
            <a:cxnLst/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 userDrawn="1"/>
        </p:nvSpPr>
        <p:spPr>
          <a:xfrm>
            <a:off x="8459788" y="-7938"/>
            <a:ext cx="693737" cy="6865938"/>
          </a:xfrm>
          <a:custGeom>
            <a:avLst/>
            <a:gdLst/>
            <a:ahLst/>
            <a:cxnLst/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 userDrawn="1"/>
        </p:nvSpPr>
        <p:spPr>
          <a:xfrm>
            <a:off x="8459788" y="-7938"/>
            <a:ext cx="701675" cy="6865938"/>
          </a:xfrm>
          <a:custGeom>
            <a:avLst/>
            <a:gdLst/>
            <a:ahLst/>
            <a:cxnLst/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Freeform 15"/>
          <p:cNvSpPr/>
          <p:nvPr userDrawn="1"/>
        </p:nvSpPr>
        <p:spPr>
          <a:xfrm>
            <a:off x="8243888" y="4894263"/>
            <a:ext cx="919162" cy="1963737"/>
          </a:xfrm>
          <a:custGeom>
            <a:avLst/>
            <a:gdLst/>
            <a:ahLst/>
            <a:cxnLst/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lumMod val="75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33375"/>
            <a:ext cx="7850188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84313"/>
            <a:ext cx="7850188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9563" y="6232525"/>
            <a:ext cx="846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232525"/>
            <a:ext cx="57181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4788" y="6232525"/>
            <a:ext cx="633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2243756A-8E00-4D8E-8C7D-8C9A0878340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200"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0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0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95830" y="1628775"/>
            <a:ext cx="4622800" cy="1645920"/>
          </a:xfrm>
        </p:spPr>
        <p:txBody>
          <a:bodyPr/>
          <a:lstStyle/>
          <a:p>
            <a:pPr eaLnBrk="1" hangingPunct="1"/>
            <a:r>
              <a:rPr lang="zh-CN" altLang="en-US" dirty="0"/>
              <a:t>人工智能</a:t>
            </a:r>
            <a:br>
              <a:rPr lang="zh-CN" altLang="en-US" dirty="0"/>
            </a:br>
            <a:r>
              <a:rPr lang="zh-CN" altLang="en-US" dirty="0"/>
              <a:t>第七章习题讲解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FBB78-3332-4880-866E-0A3F9B2B4E82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en-US" altLang="zh-CN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相关知识回顾</a:t>
            </a:r>
            <a:endParaRPr lang="en-US" altLang="zh-CN" dirty="0"/>
          </a:p>
          <a:p>
            <a:r>
              <a:rPr lang="zh-CN" altLang="en-US" dirty="0"/>
              <a:t>习题讲解</a:t>
            </a:r>
            <a:endParaRPr lang="en-US" altLang="zh-CN" dirty="0"/>
          </a:p>
          <a:p>
            <a:r>
              <a:rPr lang="zh-CN" altLang="en-US" dirty="0"/>
              <a:t>作业情况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dirty="0"/>
              <a:t>命题逻辑</a:t>
            </a:r>
            <a:r>
              <a:rPr lang="en-US" altLang="zh-CN" dirty="0"/>
              <a:t>(Propositional logic)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 sz="2800" dirty="0"/>
              <a:t>语法</a:t>
            </a:r>
            <a:r>
              <a:rPr lang="en-US" altLang="zh-CN" sz="2800" dirty="0"/>
              <a:t>(Syntax)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4274" y="1907071"/>
            <a:ext cx="7560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→ </a:t>
            </a:r>
            <a:r>
              <a:rPr lang="en-US" altLang="zh-CN" sz="2400" i="1" dirty="0" err="1">
                <a:latin typeface="+mn-lt"/>
              </a:rPr>
              <a:t>AtomicSentence</a:t>
            </a:r>
            <a:r>
              <a:rPr lang="en-US" altLang="zh-CN" sz="2400" dirty="0">
                <a:latin typeface="+mn-lt"/>
              </a:rPr>
              <a:t> | </a:t>
            </a:r>
            <a:r>
              <a:rPr lang="en-US" altLang="zh-CN" sz="2400" i="1" dirty="0" err="1">
                <a:latin typeface="+mn-lt"/>
              </a:rPr>
              <a:t>ComplexSentence</a:t>
            </a:r>
            <a:endParaRPr lang="en-US" altLang="zh-CN" sz="2400" i="1" dirty="0">
              <a:latin typeface="+mn-lt"/>
            </a:endParaRPr>
          </a:p>
          <a:p>
            <a:r>
              <a:rPr lang="en-US" altLang="zh-CN" sz="2400" i="1" dirty="0" err="1">
                <a:latin typeface="+mn-lt"/>
              </a:rPr>
              <a:t>AtomicSentence</a:t>
            </a:r>
            <a:r>
              <a:rPr lang="en-US" altLang="zh-CN" sz="2400" dirty="0">
                <a:latin typeface="+mn-lt"/>
              </a:rPr>
              <a:t> → </a:t>
            </a:r>
            <a:r>
              <a:rPr lang="en-US" altLang="zh-CN" sz="2400" i="1" dirty="0">
                <a:latin typeface="+mn-lt"/>
              </a:rPr>
              <a:t>True</a:t>
            </a:r>
            <a:r>
              <a:rPr lang="en-US" altLang="zh-CN" sz="2400" dirty="0">
                <a:latin typeface="+mn-lt"/>
              </a:rPr>
              <a:t> | </a:t>
            </a:r>
            <a:r>
              <a:rPr lang="en-US" altLang="zh-CN" sz="2400" i="1" dirty="0">
                <a:latin typeface="+mn-lt"/>
              </a:rPr>
              <a:t>False</a:t>
            </a:r>
            <a:r>
              <a:rPr lang="en-US" altLang="zh-CN" sz="2400" dirty="0">
                <a:latin typeface="+mn-lt"/>
              </a:rPr>
              <a:t> | </a:t>
            </a:r>
            <a:r>
              <a:rPr lang="en-US" altLang="zh-CN" sz="2400" i="1" dirty="0">
                <a:latin typeface="+mn-lt"/>
              </a:rPr>
              <a:t>P</a:t>
            </a:r>
            <a:r>
              <a:rPr lang="en-US" altLang="zh-CN" sz="2400" dirty="0">
                <a:latin typeface="+mn-lt"/>
              </a:rPr>
              <a:t> | </a:t>
            </a:r>
            <a:r>
              <a:rPr lang="en-US" altLang="zh-CN" sz="2400" i="1" dirty="0">
                <a:latin typeface="+mn-lt"/>
              </a:rPr>
              <a:t>Q</a:t>
            </a:r>
            <a:r>
              <a:rPr lang="en-US" altLang="zh-CN" sz="2400" dirty="0">
                <a:latin typeface="+mn-lt"/>
              </a:rPr>
              <a:t> | </a:t>
            </a:r>
            <a:r>
              <a:rPr lang="en-US" altLang="zh-CN" sz="2400" i="1" dirty="0">
                <a:latin typeface="+mn-lt"/>
              </a:rPr>
              <a:t>R</a:t>
            </a:r>
            <a:r>
              <a:rPr lang="en-US" altLang="zh-CN" sz="2400" dirty="0">
                <a:latin typeface="+mn-lt"/>
              </a:rPr>
              <a:t> | . . .</a:t>
            </a:r>
          </a:p>
          <a:p>
            <a:r>
              <a:rPr lang="en-US" altLang="zh-CN" sz="2400" i="1" dirty="0" err="1">
                <a:latin typeface="+mn-lt"/>
              </a:rPr>
              <a:t>ComplexSentence</a:t>
            </a:r>
            <a:r>
              <a:rPr lang="en-US" altLang="zh-CN" sz="2400" dirty="0">
                <a:latin typeface="+mn-lt"/>
              </a:rPr>
              <a:t> → </a:t>
            </a:r>
            <a:r>
              <a:rPr lang="en-US" altLang="zh-CN" sz="2400" b="1" dirty="0">
                <a:latin typeface="+mn-lt"/>
              </a:rPr>
              <a:t>( </a:t>
            </a:r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) </a:t>
            </a:r>
            <a:r>
              <a:rPr lang="en-US" altLang="zh-CN" sz="2400" dirty="0">
                <a:latin typeface="+mn-lt"/>
              </a:rPr>
              <a:t>| </a:t>
            </a:r>
            <a:r>
              <a:rPr lang="en-US" altLang="zh-CN" sz="2400" b="1" dirty="0">
                <a:latin typeface="+mn-lt"/>
              </a:rPr>
              <a:t>[ </a:t>
            </a:r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]</a:t>
            </a:r>
          </a:p>
          <a:p>
            <a:r>
              <a:rPr lang="en-US" altLang="zh-CN" sz="2400" dirty="0">
                <a:latin typeface="+mn-lt"/>
              </a:rPr>
              <a:t>		| </a:t>
            </a:r>
            <a:r>
              <a:rPr lang="zh-CN" altLang="en-US" sz="2400" dirty="0">
                <a:latin typeface="+mn-lt"/>
              </a:rPr>
              <a:t>￢</a:t>
            </a:r>
            <a:r>
              <a:rPr lang="en-US" altLang="zh-CN" sz="2400" i="1" dirty="0">
                <a:latin typeface="+mn-lt"/>
              </a:rPr>
              <a:t>Sentence</a:t>
            </a:r>
          </a:p>
          <a:p>
            <a:r>
              <a:rPr lang="en-US" altLang="zh-CN" sz="2400" dirty="0">
                <a:latin typeface="+mn-lt"/>
              </a:rPr>
              <a:t>		| </a:t>
            </a:r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∧ </a:t>
            </a:r>
            <a:r>
              <a:rPr lang="en-US" altLang="zh-CN" sz="2400" i="1" dirty="0">
                <a:latin typeface="+mn-lt"/>
              </a:rPr>
              <a:t>Sentence</a:t>
            </a:r>
          </a:p>
          <a:p>
            <a:r>
              <a:rPr lang="en-US" altLang="zh-CN" sz="2400" dirty="0">
                <a:latin typeface="+mn-lt"/>
              </a:rPr>
              <a:t>		| </a:t>
            </a:r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∨ </a:t>
            </a:r>
            <a:r>
              <a:rPr lang="en-US" altLang="zh-CN" sz="2400" i="1" dirty="0">
                <a:latin typeface="+mn-lt"/>
              </a:rPr>
              <a:t>Sentence</a:t>
            </a:r>
          </a:p>
          <a:p>
            <a:r>
              <a:rPr lang="en-US" altLang="zh-CN" sz="2400" dirty="0">
                <a:latin typeface="+mn-lt"/>
              </a:rPr>
              <a:t>		| </a:t>
            </a:r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⇒ </a:t>
            </a:r>
            <a:r>
              <a:rPr lang="en-US" altLang="zh-CN" sz="2400" i="1" dirty="0">
                <a:latin typeface="+mn-lt"/>
              </a:rPr>
              <a:t>Sentence</a:t>
            </a:r>
          </a:p>
          <a:p>
            <a:r>
              <a:rPr lang="en-US" altLang="zh-CN" sz="2400" dirty="0">
                <a:latin typeface="+mn-lt"/>
              </a:rPr>
              <a:t>		| </a:t>
            </a:r>
            <a:r>
              <a:rPr lang="en-US" altLang="zh-CN" sz="2400" i="1" dirty="0">
                <a:latin typeface="+mn-lt"/>
              </a:rPr>
              <a:t>Sentence</a:t>
            </a:r>
            <a:r>
              <a:rPr lang="en-US" altLang="zh-CN" sz="2400" dirty="0">
                <a:latin typeface="+mn-lt"/>
              </a:rPr>
              <a:t> ⇔ </a:t>
            </a:r>
            <a:r>
              <a:rPr lang="en-US" altLang="zh-CN" sz="2400" i="1" dirty="0">
                <a:latin typeface="+mn-lt"/>
              </a:rPr>
              <a:t>Sentence</a:t>
            </a:r>
          </a:p>
          <a:p>
            <a:r>
              <a:rPr lang="en-US" altLang="zh-CN" sz="2400" dirty="0">
                <a:latin typeface="+mn-lt"/>
              </a:rPr>
              <a:t>OPERATOR PRECEDENCE : </a:t>
            </a:r>
            <a:r>
              <a:rPr lang="zh-CN" altLang="en-US" sz="2400" dirty="0">
                <a:latin typeface="+mn-lt"/>
              </a:rPr>
              <a:t>￢</a:t>
            </a:r>
            <a:r>
              <a:rPr lang="en-US" altLang="zh-CN" sz="2400" dirty="0">
                <a:latin typeface="+mn-lt"/>
              </a:rPr>
              <a:t>, ∧, ∨,⇒,⇔</a:t>
            </a:r>
            <a:endParaRPr lang="zh-CN" altLang="en-US" sz="2400" i="1" dirty="0">
              <a:latin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4661" y="5303361"/>
            <a:ext cx="7585731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╞ </a:t>
            </a:r>
            <a:r>
              <a:rPr lang="en-US" altLang="zh-CN" sz="2400" dirty="0">
                <a:solidFill>
                  <a:srgbClr val="C00000"/>
                </a:solidFill>
              </a:rPr>
              <a:t>(Entailment)</a:t>
            </a:r>
            <a:r>
              <a:rPr lang="zh-CN" altLang="en-US" sz="2400" dirty="0"/>
              <a:t>描述的是</a:t>
            </a:r>
            <a:r>
              <a:rPr lang="zh-CN" altLang="en-US" sz="2400" dirty="0">
                <a:solidFill>
                  <a:srgbClr val="C00000"/>
                </a:solidFill>
              </a:rPr>
              <a:t>句子之间的语义蕴含</a:t>
            </a:r>
            <a:r>
              <a:rPr lang="zh-CN" altLang="en-US" sz="2400" dirty="0"/>
              <a:t>关系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zh-CN" altLang="en-US" sz="2400" dirty="0">
                <a:solidFill>
                  <a:srgbClr val="C00000"/>
                </a:solidFill>
              </a:rPr>
              <a:t>语义</a:t>
            </a:r>
            <a:r>
              <a:rPr lang="en-US" altLang="zh-CN" sz="2400" dirty="0">
                <a:solidFill>
                  <a:srgbClr val="C00000"/>
                </a:solidFill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├ (</a:t>
            </a:r>
            <a:r>
              <a:rPr lang="en-US" altLang="zh-CN" sz="2400" dirty="0">
                <a:solidFill>
                  <a:srgbClr val="C00000"/>
                </a:solidFill>
              </a:rPr>
              <a:t>inference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)</a:t>
            </a:r>
            <a:r>
              <a:rPr lang="zh-CN" altLang="en-US" sz="2400" dirty="0"/>
              <a:t>描述的是</a:t>
            </a:r>
            <a:r>
              <a:rPr lang="zh-CN" altLang="en-US" sz="2400" dirty="0">
                <a:solidFill>
                  <a:srgbClr val="C00000"/>
                </a:solidFill>
              </a:rPr>
              <a:t>句子之间推导</a:t>
            </a:r>
            <a:r>
              <a:rPr lang="zh-CN" altLang="en-US" sz="2400" dirty="0"/>
              <a:t>关系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zh-CN" altLang="en-US" sz="2400" dirty="0">
                <a:solidFill>
                  <a:srgbClr val="C00000"/>
                </a:solidFill>
              </a:rPr>
              <a:t>语法</a:t>
            </a:r>
            <a:r>
              <a:rPr lang="en-US" altLang="zh-CN" sz="2400" dirty="0">
                <a:solidFill>
                  <a:srgbClr val="C00000"/>
                </a:solidFill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400" dirty="0">
                <a:solidFill>
                  <a:srgbClr val="C00000"/>
                </a:solidFill>
              </a:rPr>
              <a:t>⇒ (implication)</a:t>
            </a:r>
            <a:r>
              <a:rPr lang="zh-CN" altLang="en-US" sz="2400" dirty="0"/>
              <a:t>描述的是</a:t>
            </a:r>
            <a:r>
              <a:rPr lang="zh-CN" altLang="en-US" sz="2400" dirty="0">
                <a:solidFill>
                  <a:srgbClr val="C00000"/>
                </a:solidFill>
              </a:rPr>
              <a:t>句子内部构成关系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zh-CN" altLang="en-US" sz="2400" dirty="0">
                <a:solidFill>
                  <a:srgbClr val="C00000"/>
                </a:solidFill>
              </a:rPr>
              <a:t>语法</a:t>
            </a:r>
            <a:r>
              <a:rPr lang="en-US" altLang="zh-CN" sz="24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14661" y="6264979"/>
            <a:ext cx="34291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/>
                <a:ea typeface="微软雅黑"/>
              </a:rPr>
              <a:t>⇒ (implication)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/>
              </a:rPr>
              <a:t>描述的是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316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  <p:bldP spid="2" grpId="0"/>
      <p:bldP spid="3" grpId="0" build="p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内容占位符 2"/>
          <p:cNvGraphicFramePr>
            <a:graphicFrameLocks/>
          </p:cNvGraphicFramePr>
          <p:nvPr/>
        </p:nvGraphicFramePr>
        <p:xfrm>
          <a:off x="730524" y="1971560"/>
          <a:ext cx="7624071" cy="187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P∧Q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P∨Q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r>
                        <a:rPr lang="en-US" altLang="zh-CN" sz="2400" b="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  <a:sym typeface="Symbol" panose="05050102010706020507" pitchFamily="18" charset="2"/>
                        </a:rPr>
                        <a:t></a:t>
                      </a:r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r>
                        <a:rPr lang="en-US" altLang="zh-CN" sz="2400" b="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  <a:sym typeface="Symbol" panose="05050102010706020507" pitchFamily="18" charset="2"/>
                        </a:rPr>
                        <a:t></a:t>
                      </a:r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 dirty="0"/>
              <a:t>逻辑连接词的真值表</a:t>
            </a:r>
            <a:endParaRPr lang="en-US" altLang="zh-CN" dirty="0"/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</p:nvPr>
        </p:nvGraphicFramePr>
        <p:xfrm>
          <a:off x="730524" y="1971560"/>
          <a:ext cx="7624071" cy="187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9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P∧Q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P∨Q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r>
                        <a:rPr lang="en-US" altLang="zh-CN" sz="2400" b="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  <a:sym typeface="Symbol" panose="05050102010706020507" pitchFamily="18" charset="2"/>
                        </a:rPr>
                        <a:t></a:t>
                      </a:r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r>
                        <a:rPr lang="en-US" altLang="zh-CN" sz="2400" b="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  <a:sym typeface="Symbol" panose="05050102010706020507" pitchFamily="18" charset="2"/>
                        </a:rPr>
                        <a:t></a:t>
                      </a:r>
                      <a:r>
                        <a:rPr lang="en-US" sz="2400" b="0" u="none" strike="noStrike" dirty="0">
                          <a:effectLst/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i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875084" y="2319263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991592" y="2319263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151447" y="2319263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5267955" y="2319263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7427812" y="2319263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108100" y="2319263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6384463" y="2319263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875084" y="2676462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1991592" y="2676462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4151447" y="2676462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5267955" y="2676462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7427812" y="2676462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3108100" y="2676462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6384463" y="2676462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875084" y="3053890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21" name="矩形 20"/>
          <p:cNvSpPr/>
          <p:nvPr/>
        </p:nvSpPr>
        <p:spPr>
          <a:xfrm>
            <a:off x="1991592" y="3053890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4151447" y="3053890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23" name="矩形 22"/>
          <p:cNvSpPr/>
          <p:nvPr/>
        </p:nvSpPr>
        <p:spPr>
          <a:xfrm>
            <a:off x="5267955" y="3053890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24" name="矩形 23"/>
          <p:cNvSpPr/>
          <p:nvPr/>
        </p:nvSpPr>
        <p:spPr>
          <a:xfrm>
            <a:off x="7427812" y="3053890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3108100" y="3053890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26" name="矩形 25"/>
          <p:cNvSpPr/>
          <p:nvPr/>
        </p:nvSpPr>
        <p:spPr>
          <a:xfrm>
            <a:off x="6384463" y="3053890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27" name="矩形 26"/>
          <p:cNvSpPr/>
          <p:nvPr/>
        </p:nvSpPr>
        <p:spPr>
          <a:xfrm>
            <a:off x="875084" y="3411089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1991592" y="3411089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4151447" y="3411089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5267955" y="3411089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31" name="矩形 30"/>
          <p:cNvSpPr/>
          <p:nvPr/>
        </p:nvSpPr>
        <p:spPr>
          <a:xfrm>
            <a:off x="7427812" y="3411089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3108100" y="3411089"/>
            <a:ext cx="772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en-US" sz="2400" dirty="0"/>
          </a:p>
        </p:txBody>
      </p:sp>
      <p:sp>
        <p:nvSpPr>
          <p:cNvPr id="33" name="矩形 32"/>
          <p:cNvSpPr/>
          <p:nvPr/>
        </p:nvSpPr>
        <p:spPr>
          <a:xfrm>
            <a:off x="6384463" y="3411089"/>
            <a:ext cx="699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427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命题逻辑的推理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从语义角度：模型检验</a:t>
            </a:r>
            <a:endParaRPr lang="en-US" altLang="zh-CN" dirty="0"/>
          </a:p>
          <a:p>
            <a:r>
              <a:rPr lang="zh-CN" altLang="en-US" dirty="0"/>
              <a:t>从语法角度：定理证明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940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模型检验</a:t>
            </a:r>
            <a:r>
              <a:rPr lang="en-US" altLang="zh-CN"/>
              <a:t>(Model checking)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sz="2800" dirty="0"/>
                  <a:t>模型检验</a:t>
                </a:r>
                <a:endParaRPr lang="en-US" altLang="zh-CN" sz="2800" dirty="0"/>
              </a:p>
              <a:p>
                <a:pPr lvl="1"/>
                <a:r>
                  <a:rPr lang="zh-CN" altLang="en-US" sz="2400" dirty="0"/>
                  <a:t>一种</a:t>
                </a:r>
                <a:r>
                  <a:rPr lang="zh-CN" altLang="zh-CN" sz="2400" dirty="0"/>
                  <a:t>用蕴</a:t>
                </a:r>
                <a:r>
                  <a:rPr lang="zh-CN" altLang="en-US" sz="2400" dirty="0"/>
                  <a:t>含</a:t>
                </a:r>
                <a:r>
                  <a:rPr lang="zh-CN" altLang="zh-CN" sz="2400" dirty="0"/>
                  <a:t>推导出结论</a:t>
                </a:r>
                <a:r>
                  <a:rPr lang="zh-CN" altLang="en-US" sz="2400" dirty="0"/>
                  <a:t>从而</a:t>
                </a:r>
                <a:r>
                  <a:rPr lang="zh-CN" altLang="zh-CN" sz="2400" dirty="0"/>
                  <a:t>实现逻辑推理</a:t>
                </a:r>
                <a:r>
                  <a:rPr lang="zh-CN" altLang="en-US" sz="2400" dirty="0"/>
                  <a:t>的</a:t>
                </a:r>
                <a:r>
                  <a:rPr lang="zh-CN" altLang="zh-CN" sz="2400" dirty="0"/>
                  <a:t>算法</a:t>
                </a:r>
                <a:endParaRPr lang="en-US" altLang="zh-CN" sz="2400" dirty="0"/>
              </a:p>
              <a:p>
                <a:pPr lvl="1"/>
                <a:r>
                  <a:rPr lang="zh-CN" altLang="zh-CN" sz="2400" dirty="0"/>
                  <a:t>通过枚举所有可能的模型来检验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𝐾𝐵</m:t>
                    </m:r>
                  </m:oMath>
                </a14:m>
                <a:r>
                  <a:rPr lang="zh-CN" altLang="zh-CN" sz="2400" dirty="0"/>
                  <a:t>为真的情况下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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都为真，即</a:t>
                </a:r>
                <a:r>
                  <a:rPr lang="en-US" altLang="zh-CN" sz="2400" dirty="0"/>
                  <a:t>M(KB)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sz="2400" dirty="0"/>
                  <a:t>M(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2400" dirty="0"/>
                  <a:t>)</a:t>
                </a:r>
              </a:p>
              <a:p>
                <a:r>
                  <a:rPr lang="zh-CN" altLang="en-US" sz="2800" dirty="0"/>
                  <a:t>枚举命题符号的真值组合</a:t>
                </a:r>
                <a:endParaRPr lang="en-US" altLang="zh-CN" sz="2800" dirty="0"/>
              </a:p>
              <a:p>
                <a:r>
                  <a:rPr lang="zh-CN" altLang="en-US" sz="2800" dirty="0"/>
                  <a:t>句子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</a:t>
                </a:r>
                <a:r>
                  <a:rPr lang="zh-CN" altLang="en-US" sz="2800" dirty="0">
                    <a:sym typeface="Symbol" panose="05050102010706020507" pitchFamily="18" charset="2"/>
                  </a:rPr>
                  <a:t>和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2800" dirty="0"/>
                  <a:t>等价 </a:t>
                </a:r>
                <a:r>
                  <a:rPr lang="en-US" altLang="zh-CN" sz="2800" dirty="0" err="1"/>
                  <a:t>iff</a:t>
                </a:r>
                <a:r>
                  <a:rPr lang="en-US" altLang="zh-CN" sz="2800" dirty="0"/>
                  <a:t> M(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2800" dirty="0"/>
                  <a:t>)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/>
                  <a:t>M(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</a:t>
                </a:r>
                <a:r>
                  <a:rPr lang="en-US" altLang="zh-CN" sz="2800" dirty="0"/>
                  <a:t>)</a:t>
                </a:r>
              </a:p>
            </p:txBody>
          </p:sp>
        </mc:Choice>
        <mc:Fallback xmlns="">
          <p:sp>
            <p:nvSpPr>
              <p:cNvPr id="3481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32" t="-1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9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824788" y="6232525"/>
            <a:ext cx="635000" cy="276293"/>
          </a:xfrm>
        </p:spPr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740352" y="2204864"/>
          <a:ext cx="1173036" cy="43688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73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sym typeface="Symbol" panose="05050102010706020507" pitchFamily="18" charset="2"/>
                        </a:rPr>
                        <a:t>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6978" name="标题 1"/>
          <p:cNvSpPr>
            <a:spLocks noGrp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示例：模型检验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(A 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B)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(B 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C) </a:t>
            </a:r>
            <a:r>
              <a:rPr lang="zh-CN" altLang="en-US" dirty="0">
                <a:solidFill>
                  <a:srgbClr val="C00000"/>
                </a:solidFill>
              </a:rPr>
              <a:t>╞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 </a:t>
            </a:r>
            <a:r>
              <a:rPr lang="en-US" altLang="zh-CN" dirty="0"/>
              <a:t>C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0760" y="2205106"/>
          <a:ext cx="2736306" cy="4368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B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817062" y="2204864"/>
          <a:ext cx="2160244" cy="436880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8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sym typeface="Symbol" panose="05050102010706020507" pitchFamily="18" charset="2"/>
                        </a:rPr>
                        <a:t>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B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B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sym typeface="Symbol" panose="05050102010706020507" pitchFamily="18" charset="2"/>
                        </a:rPr>
                        <a:t>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932040" y="2200873"/>
          <a:ext cx="2809864" cy="43688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09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2400" dirty="0">
                          <a:solidFill>
                            <a:srgbClr val="FFFFFF"/>
                          </a:solidFill>
                        </a:rPr>
                        <a:t>(A</a:t>
                      </a:r>
                      <a:r>
                        <a:rPr lang="en-US" altLang="zh-CN" sz="2400" dirty="0">
                          <a:solidFill>
                            <a:srgbClr val="FFFFFF"/>
                          </a:solidFill>
                          <a:sym typeface="Symbol" panose="05050102010706020507" pitchFamily="18" charset="2"/>
                        </a:rPr>
                        <a:t></a:t>
                      </a:r>
                      <a:r>
                        <a:rPr lang="en-US" altLang="zh-CN" sz="2400" dirty="0">
                          <a:solidFill>
                            <a:srgbClr val="FFFFFF"/>
                          </a:solidFill>
                        </a:rPr>
                        <a:t>B)</a:t>
                      </a:r>
                      <a:r>
                        <a:rPr lang="en-US" altLang="zh-CN" sz="2400" dirty="0">
                          <a:solidFill>
                            <a:srgbClr val="FFFFFF"/>
                          </a:solidFill>
                          <a:sym typeface="Symbol" panose="05050102010706020507" pitchFamily="18" charset="2"/>
                        </a:rPr>
                        <a:t></a:t>
                      </a:r>
                      <a:r>
                        <a:rPr lang="en-US" altLang="zh-CN" sz="2400" dirty="0">
                          <a:solidFill>
                            <a:srgbClr val="FFFFFF"/>
                          </a:solidFill>
                        </a:rPr>
                        <a:t>(B</a:t>
                      </a:r>
                      <a:r>
                        <a:rPr lang="en-US" altLang="zh-CN" sz="2400" dirty="0">
                          <a:solidFill>
                            <a:srgbClr val="FFFFFF"/>
                          </a:solidFill>
                          <a:sym typeface="Symbol" panose="05050102010706020507" pitchFamily="18" charset="2"/>
                        </a:rPr>
                        <a:t></a:t>
                      </a:r>
                      <a:r>
                        <a:rPr lang="en-US" altLang="zh-CN" sz="2400" dirty="0">
                          <a:solidFill>
                            <a:srgbClr val="FFFFFF"/>
                          </a:solidFill>
                        </a:rPr>
                        <a:t>C) 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false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1pPr>
                      <a:lvl2pPr marL="742950" indent="-2714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2pPr>
                      <a:lvl3pPr marL="1143000" indent="-233363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3pPr>
                      <a:lvl4pPr marL="1600200" indent="-293688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4pPr>
                      <a:lvl5pPr marL="2057400" indent="-36195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5pPr>
                      <a:lvl6pPr marL="25146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6pPr>
                      <a:lvl7pPr marL="29718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7pPr>
                      <a:lvl8pPr marL="34290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8pPr>
                      <a:lvl9pPr marL="3886200" indent="-361950" fontAlgn="base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true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Verdana" panose="020B0604030504040204" pitchFamily="34" charset="0"/>
                        <a:ea typeface="微软雅黑" panose="020B0503020204020204" pitchFamily="34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7051" name="Line 75"/>
          <p:cNvSpPr>
            <a:spLocks noChangeShapeType="1"/>
          </p:cNvSpPr>
          <p:nvPr/>
        </p:nvSpPr>
        <p:spPr bwMode="auto">
          <a:xfrm>
            <a:off x="72496" y="3140143"/>
            <a:ext cx="8964000" cy="0"/>
          </a:xfrm>
          <a:prstGeom prst="line">
            <a:avLst/>
          </a:prstGeom>
          <a:noFill/>
          <a:ln w="5080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52" name="Line 76"/>
          <p:cNvSpPr>
            <a:spLocks noChangeShapeType="1"/>
          </p:cNvSpPr>
          <p:nvPr/>
        </p:nvSpPr>
        <p:spPr bwMode="auto">
          <a:xfrm>
            <a:off x="72496" y="5084831"/>
            <a:ext cx="8964000" cy="0"/>
          </a:xfrm>
          <a:prstGeom prst="line">
            <a:avLst/>
          </a:prstGeom>
          <a:noFill/>
          <a:ln w="5080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53" name="Line 77"/>
          <p:cNvSpPr>
            <a:spLocks noChangeShapeType="1"/>
          </p:cNvSpPr>
          <p:nvPr/>
        </p:nvSpPr>
        <p:spPr bwMode="auto">
          <a:xfrm>
            <a:off x="72496" y="6021456"/>
            <a:ext cx="8964000" cy="0"/>
          </a:xfrm>
          <a:prstGeom prst="line">
            <a:avLst/>
          </a:prstGeom>
          <a:noFill/>
          <a:ln w="5080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54" name="Line 78"/>
          <p:cNvSpPr>
            <a:spLocks noChangeShapeType="1"/>
          </p:cNvSpPr>
          <p:nvPr/>
        </p:nvSpPr>
        <p:spPr bwMode="auto">
          <a:xfrm>
            <a:off x="72496" y="6508818"/>
            <a:ext cx="8964000" cy="0"/>
          </a:xfrm>
          <a:prstGeom prst="line">
            <a:avLst/>
          </a:prstGeom>
          <a:noFill/>
          <a:ln w="5080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724128" y="2738293"/>
            <a:ext cx="1152128" cy="395610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724128" y="4659861"/>
            <a:ext cx="1152128" cy="395610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724128" y="5625846"/>
            <a:ext cx="1152128" cy="395610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724128" y="6100685"/>
            <a:ext cx="1152128" cy="395610"/>
          </a:xfrm>
          <a:prstGeom prst="ellipse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502091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51" grpId="0" animBg="1"/>
      <p:bldP spid="127052" grpId="0" animBg="1"/>
      <p:bldP spid="127053" grpId="0" animBg="1"/>
      <p:bldP spid="127054" grpId="0" animBg="1"/>
      <p:bldP spid="6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命题逻辑的推理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从语义角度：模型检验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从语法角度：定理证明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从</a:t>
            </a:r>
            <a:r>
              <a:rPr lang="zh-CN" altLang="zh-CN" dirty="0">
                <a:solidFill>
                  <a:schemeClr val="tx1"/>
                </a:solidFill>
              </a:rPr>
              <a:t>知识库的语句</a:t>
            </a:r>
            <a:r>
              <a:rPr lang="zh-CN" altLang="en-US" dirty="0">
                <a:solidFill>
                  <a:schemeClr val="tx1"/>
                </a:solidFill>
              </a:rPr>
              <a:t>出发，应用</a:t>
            </a:r>
            <a:r>
              <a:rPr lang="zh-CN" altLang="en-US" dirty="0">
                <a:solidFill>
                  <a:srgbClr val="0070C0"/>
                </a:solidFill>
              </a:rPr>
              <a:t>推理规则</a:t>
            </a:r>
            <a:r>
              <a:rPr lang="zh-CN" altLang="en-US" dirty="0">
                <a:solidFill>
                  <a:schemeClr val="tx1"/>
                </a:solidFill>
              </a:rPr>
              <a:t>，构建目标语句的证明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403648" y="3763417"/>
            <a:ext cx="4320480" cy="27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zh-CN" sz="2400" dirty="0"/>
              <a:t>The grand aim of science is to cover the greatest number of experimental facts by logical deduction from the smallest number of hypotheses or axioms. </a:t>
            </a:r>
          </a:p>
          <a:p>
            <a:pPr algn="r"/>
            <a:r>
              <a:rPr lang="en-US" altLang="zh-CN" sz="2400" dirty="0"/>
              <a:t>—Albert Einstein</a:t>
            </a:r>
            <a:endParaRPr lang="zh-CN" altLang="en-US" sz="2400" dirty="0"/>
          </a:p>
        </p:txBody>
      </p:sp>
      <p:pic>
        <p:nvPicPr>
          <p:cNvPr id="1026" name="Picture 2" descr="Einstein 1921 by F Schmutzer - restorat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182" y="3763417"/>
            <a:ext cx="2057143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72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zh-CN" dirty="0"/>
              <a:t>推</a:t>
            </a:r>
            <a:r>
              <a:rPr lang="zh-CN" altLang="en-US" dirty="0"/>
              <a:t>理</a:t>
            </a:r>
            <a:r>
              <a:rPr lang="en-US" altLang="zh-CN" dirty="0"/>
              <a:t>(Inference)</a:t>
            </a:r>
            <a:r>
              <a:rPr lang="zh-CN" altLang="zh-CN" dirty="0"/>
              <a:t>和证明</a:t>
            </a:r>
            <a:r>
              <a:rPr lang="en-US" altLang="zh-CN" dirty="0"/>
              <a:t>(Proof)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推</a:t>
            </a:r>
            <a:r>
              <a:rPr lang="zh-CN" altLang="en-US" dirty="0"/>
              <a:t>理</a:t>
            </a:r>
            <a:r>
              <a:rPr lang="en-US" altLang="zh-CN" dirty="0"/>
              <a:t>(Inference)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latin typeface="+mn-ea"/>
              </a:rPr>
              <a:t>给定：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推理规则集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>
                <a:solidFill>
                  <a:srgbClr val="0070C0"/>
                </a:solidFill>
                <a:latin typeface="+mn-ea"/>
              </a:rPr>
              <a:t>知识库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KB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语句集合</a:t>
            </a:r>
            <a:r>
              <a:rPr lang="en-US" altLang="zh-CN" dirty="0">
                <a:latin typeface="+mn-ea"/>
              </a:rPr>
              <a:t>)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从</a:t>
            </a:r>
            <a:r>
              <a:rPr lang="en-US" altLang="zh-CN" dirty="0">
                <a:solidFill>
                  <a:srgbClr val="0070C0"/>
                </a:solidFill>
                <a:latin typeface="+mn-ea"/>
              </a:rPr>
              <a:t>KB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/>
              <a:t>已知的知识</a:t>
            </a:r>
            <a:r>
              <a:rPr lang="en-US" altLang="zh-CN" dirty="0"/>
              <a:t>)</a:t>
            </a:r>
            <a:r>
              <a:rPr lang="zh-CN" altLang="en-US" dirty="0"/>
              <a:t>出发，不断应用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中的</a:t>
            </a:r>
            <a:r>
              <a:rPr lang="zh-CN" altLang="en-US" dirty="0">
                <a:solidFill>
                  <a:srgbClr val="C00000"/>
                </a:solidFill>
              </a:rPr>
              <a:t>推理规则</a:t>
            </a:r>
            <a:r>
              <a:rPr lang="zh-CN" altLang="en-US" dirty="0"/>
              <a:t>，得到新的结论，并将其加入</a:t>
            </a:r>
            <a:r>
              <a:rPr lang="en-US" altLang="zh-CN" dirty="0">
                <a:solidFill>
                  <a:srgbClr val="0070C0"/>
                </a:solidFill>
              </a:rPr>
              <a:t>KB</a:t>
            </a:r>
          </a:p>
          <a:p>
            <a:r>
              <a:rPr lang="zh-CN" altLang="zh-CN" dirty="0"/>
              <a:t>证明</a:t>
            </a:r>
            <a:r>
              <a:rPr lang="en-US" altLang="zh-CN" dirty="0"/>
              <a:t>(Proof)</a:t>
            </a:r>
          </a:p>
          <a:p>
            <a:pPr lvl="1"/>
            <a:r>
              <a:rPr lang="zh-CN" altLang="en-US" dirty="0"/>
              <a:t>应用</a:t>
            </a:r>
            <a:r>
              <a:rPr lang="zh-CN" altLang="en-US" dirty="0">
                <a:solidFill>
                  <a:srgbClr val="C00000"/>
                </a:solidFill>
              </a:rPr>
              <a:t>推理规则</a:t>
            </a:r>
            <a:r>
              <a:rPr lang="zh-CN" altLang="en-US" dirty="0"/>
              <a:t>得到一系列的结论，最终到达目标语句</a:t>
            </a:r>
            <a:endParaRPr lang="en-US" altLang="zh-CN" dirty="0"/>
          </a:p>
          <a:p>
            <a:pPr lvl="1"/>
            <a:r>
              <a:rPr lang="zh-CN" altLang="en-US" dirty="0"/>
              <a:t>通过推理得到目标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687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逻辑等价</a:t>
            </a:r>
            <a:r>
              <a:rPr lang="en-US" altLang="zh-CN" dirty="0"/>
              <a:t>(logical equivalence)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zh-CN" dirty="0"/>
                  <a:t>如果两语句</a:t>
                </a:r>
                <a:r>
                  <a:rPr lang="en-US" altLang="zh-CN" i="1" dirty="0">
                    <a:sym typeface="Symbol" panose="05050102010706020507" pitchFamily="18" charset="2"/>
                  </a:rPr>
                  <a:t></a:t>
                </a:r>
                <a:r>
                  <a:rPr lang="en-US" altLang="zh-CN" i="1" dirty="0"/>
                  <a:t> </a:t>
                </a:r>
                <a:r>
                  <a:rPr lang="zh-CN" altLang="zh-CN" dirty="0"/>
                  <a:t>和</a:t>
                </a:r>
                <a:r>
                  <a:rPr lang="en-US" altLang="zh-CN" i="1" dirty="0">
                    <a:sym typeface="Symbol" panose="05050102010706020507" pitchFamily="18" charset="2"/>
                  </a:rPr>
                  <a:t> </a:t>
                </a:r>
                <a:r>
                  <a:rPr lang="zh-CN" altLang="zh-CN" dirty="0"/>
                  <a:t>在同样的模型集合中为真，则它们是逻辑等价的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 err="1"/>
                  <a:t>iff</a:t>
                </a:r>
                <a:r>
                  <a:rPr lang="en-US" altLang="zh-CN" dirty="0"/>
                  <a:t> </a:t>
                </a:r>
                <a:r>
                  <a:rPr lang="en-US" altLang="zh-CN" i="1" dirty="0">
                    <a:sym typeface="Symbol" panose="05050102010706020507" pitchFamily="18" charset="2"/>
                  </a:rPr>
                  <a:t></a:t>
                </a:r>
                <a:r>
                  <a:rPr lang="zh-CN" altLang="en-US" dirty="0"/>
                  <a:t>╞ </a:t>
                </a:r>
                <a:r>
                  <a:rPr lang="en-US" altLang="zh-CN" i="1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 and </a:t>
                </a:r>
                <a:r>
                  <a:rPr lang="en-US" altLang="zh-CN" i="1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╞ 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474" y="3727900"/>
            <a:ext cx="5940439" cy="303510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81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/>
          </p:cNvSpPr>
          <p:nvPr>
            <p:ph type="title"/>
          </p:nvPr>
        </p:nvSpPr>
        <p:spPr>
          <a:xfrm>
            <a:off x="609600" y="44624"/>
            <a:ext cx="7850188" cy="1011238"/>
          </a:xfrm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示例：定理证明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13172" y="1073428"/>
            <a:ext cx="7850188" cy="4557712"/>
          </a:xfrm>
        </p:spPr>
        <p:txBody>
          <a:bodyPr/>
          <a:lstStyle/>
          <a:p>
            <a:r>
              <a:rPr lang="en-US" altLang="zh-CN" sz="2800" dirty="0"/>
              <a:t>(A 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B) 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 (B 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C) </a:t>
            </a:r>
            <a:r>
              <a:rPr lang="en-US" altLang="zh-CN" sz="2800" dirty="0">
                <a:sym typeface="Symbol" panose="05050102010706020507" pitchFamily="18" charset="2"/>
              </a:rPr>
              <a:t> </a:t>
            </a:r>
            <a:r>
              <a:rPr lang="en-US" altLang="zh-CN" sz="2800" dirty="0"/>
              <a:t>A </a:t>
            </a:r>
            <a:r>
              <a:rPr lang="en-US" altLang="zh-CN" sz="2800" dirty="0">
                <a:sym typeface="Symbol" panose="05050102010706020507" pitchFamily="18" charset="2"/>
              </a:rPr>
              <a:t> </a:t>
            </a:r>
            <a:r>
              <a:rPr lang="en-US" altLang="zh-CN" sz="2800" dirty="0"/>
              <a:t>C</a:t>
            </a:r>
          </a:p>
          <a:p>
            <a:r>
              <a:rPr lang="zh-CN" altLang="en-US" sz="2800" dirty="0"/>
              <a:t>证明：</a:t>
            </a:r>
            <a:endParaRPr lang="en-US" altLang="zh-CN" sz="2800" dirty="0"/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(A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Verdana" panose="020B0604030504040204" pitchFamily="34" charset="0"/>
              </a:rPr>
              <a:t>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Verdana" panose="020B0604030504040204" pitchFamily="34" charset="0"/>
              </a:rPr>
              <a:t>B)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Verdana" panose="020B0604030504040204" pitchFamily="34" charset="0"/>
              </a:rPr>
              <a:t> (B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Verdana" panose="020B0604030504040204" pitchFamily="34" charset="0"/>
              </a:rPr>
              <a:t>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Verdana" panose="020B0604030504040204" pitchFamily="34" charset="0"/>
              </a:rPr>
              <a:t>C)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 </a:t>
            </a:r>
            <a:r>
              <a:rPr lang="en-US" altLang="zh-CN" sz="2400" dirty="0">
                <a:latin typeface="Verdana" panose="020B0604030504040204" pitchFamily="34" charset="0"/>
              </a:rPr>
              <a:t>A 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 </a:t>
            </a:r>
            <a:r>
              <a:rPr lang="en-US" altLang="zh-CN" sz="2400" dirty="0">
                <a:latin typeface="Verdana" panose="020B0604030504040204" pitchFamily="34" charset="0"/>
              </a:rPr>
              <a:t>C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((A  B)  (B  C))  (A  C)</a:t>
            </a:r>
            <a:endParaRPr lang="en-US" altLang="zh-CN" sz="2400" dirty="0">
              <a:latin typeface="Verdana" panose="020B0604030504040204" pitchFamily="34" charset="0"/>
            </a:endParaRP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((A  B)  (B  C))  (A  C)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(A  B)  (B  C)  (A  C)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(A  B)  A  (B  C)  C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((A  B)  A )  ( (B  C)  C )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((A  A)  (B  A))  ((B  C ) (C  C))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(B  A)  (B  C )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B  A  B  C</a:t>
            </a:r>
          </a:p>
          <a:p>
            <a:pPr marL="0" indent="0" eaLnBrk="1" hangingPunct="1">
              <a:spcBef>
                <a:spcPct val="20000"/>
              </a:spcBef>
              <a:buNone/>
            </a:pP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T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-1" r="44242"/>
          <a:stretch/>
        </p:blipFill>
        <p:spPr>
          <a:xfrm>
            <a:off x="5831632" y="0"/>
            <a:ext cx="3312368" cy="303510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917615408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归结</a:t>
            </a:r>
            <a:r>
              <a:rPr lang="en-US" altLang="zh-CN" dirty="0"/>
              <a:t>(resolution)</a:t>
            </a:r>
            <a:r>
              <a:rPr lang="zh-CN" altLang="zh-CN" dirty="0"/>
              <a:t>证明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推理规则</a:t>
                </a:r>
                <a:r>
                  <a:rPr lang="zh-CN" altLang="en-US" dirty="0"/>
                  <a:t>是否</a:t>
                </a:r>
                <a:r>
                  <a:rPr lang="zh-CN" altLang="zh-CN" dirty="0"/>
                  <a:t>充分</a:t>
                </a:r>
                <a:r>
                  <a:rPr lang="zh-CN" altLang="en-US" dirty="0"/>
                  <a:t>决定了</a:t>
                </a:r>
                <a:r>
                  <a:rPr lang="zh-CN" altLang="zh-CN" dirty="0"/>
                  <a:t>推理</a:t>
                </a:r>
                <a:r>
                  <a:rPr lang="zh-CN" altLang="en-US" dirty="0"/>
                  <a:t>的完备性</a:t>
                </a:r>
                <a:endParaRPr lang="en-US" altLang="zh-CN" dirty="0"/>
              </a:p>
              <a:p>
                <a:r>
                  <a:rPr lang="zh-CN" altLang="zh-CN" dirty="0">
                    <a:solidFill>
                      <a:srgbClr val="C00000"/>
                    </a:solidFill>
                  </a:rPr>
                  <a:t>归结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(resolution) </a:t>
                </a:r>
                <a:r>
                  <a:rPr lang="zh-CN" altLang="zh-CN" dirty="0"/>
                  <a:t>和任何一个完备的搜索算法相结合</a:t>
                </a:r>
                <a:r>
                  <a:rPr lang="zh-CN" altLang="en-US" dirty="0"/>
                  <a:t>，即可实现</a:t>
                </a:r>
                <a:r>
                  <a:rPr lang="zh-CN" altLang="zh-CN" dirty="0"/>
                  <a:t>完备的推理算法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ea typeface="宋体" panose="02010600030101010101" pitchFamily="2" charset="-122"/>
                              <a:sym typeface="Symbol" panose="05050102010706020507" pitchFamily="18" charset="2"/>
                            </a:rPr>
                            <m:t>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65" t="-1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39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941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</a:rPr>
                  <a:t>文字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+mn-ea"/>
                  </a:rPr>
                  <a:t>(Literal)</a:t>
                </a:r>
              </a:p>
              <a:p>
                <a:pPr lvl="1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</a:rPr>
                  <a:t>原子语句或原子语句的否定，如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ea"/>
                </a:endParaRPr>
              </a:p>
              <a:p>
                <a:pPr>
                  <a:spcBef>
                    <a:spcPct val="40000"/>
                  </a:spcBef>
                </a:pP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</a:rPr>
                  <a:t>互补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+mn-ea"/>
                  </a:rPr>
                  <a:t>(Complementary)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</a:rPr>
                  <a:t>文字</a:t>
                </a:r>
                <a:endParaRPr lang="en-US" altLang="zh-CN" sz="2800" dirty="0">
                  <a:solidFill>
                    <a:schemeClr val="tx1"/>
                  </a:solidFill>
                  <a:latin typeface="+mn-ea"/>
                </a:endParaRPr>
              </a:p>
              <a:p>
                <a:pPr lvl="1">
                  <a:spcBef>
                    <a:spcPct val="40000"/>
                  </a:spcBef>
                </a:pPr>
                <a:r>
                  <a:rPr lang="zh-CN" altLang="zh-CN" sz="2400" dirty="0">
                    <a:solidFill>
                      <a:schemeClr val="tx1"/>
                    </a:solidFill>
                  </a:rPr>
                  <a:t>一个文字是另一个文字的否定式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，如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ea"/>
                </a:endParaRPr>
              </a:p>
              <a:p>
                <a:pPr>
                  <a:spcBef>
                    <a:spcPct val="40000"/>
                  </a:spcBef>
                </a:pPr>
                <a:r>
                  <a:rPr lang="zh-CN" altLang="zh-CN" sz="2800" dirty="0">
                    <a:solidFill>
                      <a:schemeClr val="tx1"/>
                    </a:solidFill>
                  </a:rPr>
                  <a:t>子句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(Clause)</a:t>
                </a:r>
              </a:p>
              <a:p>
                <a:pPr lvl="1">
                  <a:spcBef>
                    <a:spcPct val="4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</a:rPr>
                  <a:t>文字的析取式，如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+mn-ea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∨…∨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+mn-ea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CN" sz="2400" b="0" dirty="0">
                  <a:solidFill>
                    <a:schemeClr val="tx1"/>
                  </a:solidFill>
                  <a:latin typeface="+mn-ea"/>
                  <a:ea typeface="Cambria Math" panose="02040503050406030204" pitchFamily="18" charset="0"/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</a:rPr>
                  <a:t>合取范式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+mn-ea"/>
                  </a:rPr>
                  <a:t>(Conjunctive Normal Form, CNF)</a:t>
                </a:r>
              </a:p>
              <a:p>
                <a:pPr lvl="1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</a:rPr>
                  <a:t>子句的合取式，如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+mn-ea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+mn-ea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ea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69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32" t="-1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36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9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41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归结</a:t>
            </a:r>
            <a:r>
              <a:rPr lang="en-US" altLang="zh-CN" dirty="0"/>
              <a:t>(resolution)</a:t>
            </a:r>
            <a:r>
              <a:rPr lang="zh-CN" altLang="zh-CN" dirty="0"/>
              <a:t>证明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zh-CN" altLang="en-US" sz="2400" dirty="0"/>
                  <a:t>单元归结</a:t>
                </a:r>
                <a:r>
                  <a:rPr lang="en-US" altLang="zh-CN" sz="2400" dirty="0"/>
                  <a:t>(unit resolution)</a:t>
                </a:r>
                <a:r>
                  <a:rPr lang="zh-CN" altLang="en-US" sz="2400" dirty="0"/>
                  <a:t>推理规则</a:t>
                </a:r>
                <a:endParaRPr lang="en-US" altLang="zh-CN" sz="2400" dirty="0"/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    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zh-CN" altLang="zh-CN" sz="2400" dirty="0"/>
                  <a:t>每个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400" dirty="0"/>
                  <a:t>都是文字，而且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400" dirty="0"/>
                  <a:t>是</a:t>
                </a:r>
                <a:r>
                  <a:rPr lang="zh-CN" altLang="zh-CN" sz="2400" dirty="0">
                    <a:solidFill>
                      <a:srgbClr val="C00000"/>
                    </a:solidFill>
                  </a:rPr>
                  <a:t>互补文字</a:t>
                </a:r>
                <a:endParaRPr lang="en-US" altLang="zh-CN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全归结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(full resolution)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推理规则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∨…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zh-CN" altLang="zh-CN" sz="2400" dirty="0"/>
                  <a:t>每个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400" dirty="0"/>
                  <a:t>都是文字，而且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dirty="0"/>
                  <a:t>是</a:t>
                </a:r>
                <a:r>
                  <a:rPr lang="zh-CN" altLang="zh-CN" sz="2400" dirty="0">
                    <a:solidFill>
                      <a:srgbClr val="C00000"/>
                    </a:solidFill>
                  </a:rPr>
                  <a:t>互补文字</a:t>
                </a:r>
                <a:endParaRPr lang="en-US" altLang="zh-CN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归并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(factoring)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：每个文字只能出现一次，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化简为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65" t="-1070" b="-1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146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将语句转换成</a:t>
            </a:r>
            <a:r>
              <a:rPr lang="en-US" altLang="zh-CN" dirty="0"/>
              <a:t>CNF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命题逻辑的每个语句逻辑上都等价于某</a:t>
            </a:r>
            <a:r>
              <a:rPr lang="zh-CN" altLang="en-US" sz="2800" dirty="0">
                <a:solidFill>
                  <a:srgbClr val="C00000"/>
                </a:solidFill>
              </a:rPr>
              <a:t>子句的合取式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en-US" sz="2800" dirty="0">
                <a:solidFill>
                  <a:srgbClr val="C00000"/>
                </a:solidFill>
              </a:rPr>
              <a:t>合取范式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80318" y="2492896"/>
          <a:ext cx="8136904" cy="381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转换   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aseline="-25000" dirty="0">
                          <a:ea typeface="宋体" panose="02010600030101010101" pitchFamily="2" charset="-122"/>
                        </a:rPr>
                        <a:t>1,1 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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</a:rPr>
                        <a:t> (P</a:t>
                      </a:r>
                      <a:r>
                        <a:rPr lang="en-US" altLang="zh-CN" sz="2400" baseline="-25000" dirty="0">
                          <a:ea typeface="宋体" panose="02010600030101010101" pitchFamily="2" charset="-122"/>
                        </a:rPr>
                        <a:t>1,2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</a:rPr>
                        <a:t> P</a:t>
                      </a:r>
                      <a:r>
                        <a:rPr lang="en-US" altLang="zh-CN" sz="2400" baseline="-25000" dirty="0">
                          <a:ea typeface="宋体" panose="02010600030101010101" pitchFamily="2" charset="-122"/>
                        </a:rPr>
                        <a:t>2,1</a:t>
                      </a:r>
                      <a:r>
                        <a:rPr lang="en-US" altLang="zh-CN" sz="2400" dirty="0"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i="1" dirty="0">
                        <a:latin typeface="+mn-ea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5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dirty="0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80318" y="2924942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消去等价词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</a:t>
            </a:r>
            <a:r>
              <a:rPr lang="zh-CN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，用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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 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)</a:t>
            </a:r>
            <a:r>
              <a:rPr lang="zh-CN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∧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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) </a:t>
            </a:r>
            <a:r>
              <a:rPr lang="zh-CN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取代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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微软雅黑"/>
                <a:ea typeface="微软雅黑"/>
                <a:sym typeface="Symbol" panose="05050102010706020507" pitchFamily="18" charset="2"/>
              </a:rPr>
              <a:t> 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80318" y="3752799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latin typeface="+mn-ea"/>
              </a:rPr>
              <a:t>消去蕴含词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</a:t>
            </a:r>
            <a:r>
              <a:rPr lang="zh-CN" altLang="zh-CN" sz="2400" dirty="0">
                <a:latin typeface="+mn-ea"/>
              </a:rPr>
              <a:t>，用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zh-CN" altLang="zh-CN" sz="2400" dirty="0">
                <a:latin typeface="+mn-ea"/>
              </a:rPr>
              <a:t>∨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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zh-CN" sz="2400" dirty="0">
                <a:latin typeface="+mn-ea"/>
              </a:rPr>
              <a:t>取代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</a:t>
            </a:r>
            <a:r>
              <a:rPr lang="en-US" altLang="zh-CN" sz="2400" i="1" dirty="0">
                <a:latin typeface="+mn-ea"/>
              </a:rPr>
              <a:t> 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i="1" dirty="0">
                <a:latin typeface="+mn-ea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0318" y="4580656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latin typeface="+mn-ea"/>
              </a:rPr>
              <a:t>反复应用</a:t>
            </a:r>
            <a:r>
              <a:rPr lang="zh-CN" altLang="zh-CN" sz="2400" dirty="0"/>
              <a:t>双重否定消去</a:t>
            </a:r>
            <a:r>
              <a:rPr lang="zh-CN" altLang="en-US" sz="2400" dirty="0"/>
              <a:t>和</a:t>
            </a:r>
            <a:r>
              <a:rPr lang="en-US" altLang="zh-CN" sz="2400" dirty="0">
                <a:latin typeface="+mn-ea"/>
              </a:rPr>
              <a:t>De Morgan</a:t>
            </a:r>
            <a:r>
              <a:rPr lang="zh-CN" altLang="en-US" sz="2400" dirty="0">
                <a:latin typeface="+mn-ea"/>
              </a:rPr>
              <a:t>律</a:t>
            </a:r>
            <a:r>
              <a:rPr lang="zh-CN" altLang="zh-CN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</a:t>
            </a:r>
            <a:r>
              <a:rPr lang="zh-CN" altLang="zh-CN" sz="2400" dirty="0">
                <a:latin typeface="+mn-ea"/>
              </a:rPr>
              <a:t>否定词内移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0318" y="5408512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solidFill>
                  <a:prstClr val="black"/>
                </a:solidFill>
                <a:latin typeface="Arial"/>
                <a:ea typeface="微软雅黑"/>
              </a:rPr>
              <a:t>使用分配律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/>
              </a:rPr>
              <a:t>，</a:t>
            </a:r>
            <a:r>
              <a:rPr lang="zh-CN" altLang="zh-CN" sz="2400" dirty="0">
                <a:solidFill>
                  <a:prstClr val="black"/>
                </a:solidFill>
                <a:latin typeface="Arial"/>
                <a:ea typeface="微软雅黑"/>
              </a:rPr>
              <a:t>将∨对∧进行分配</a:t>
            </a:r>
            <a:endParaRPr lang="en-US" altLang="zh-CN" sz="2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65956" y="2907328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ea typeface="宋体" panose="02010600030101010101" pitchFamily="2" charset="-122"/>
              </a:rPr>
              <a:t> (P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((P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ea typeface="宋体" panose="02010600030101010101" pitchFamily="2" charset="-122"/>
              </a:rPr>
              <a:t> 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65956" y="3735185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(P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565956" y="4563042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565956" y="5390898"/>
            <a:ext cx="3960000" cy="82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</a:p>
          <a:p>
            <a:pPr lvl="0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1,2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a typeface="宋体" panose="02010600030101010101" pitchFamily="2" charset="-122"/>
              </a:rPr>
              <a:t> (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2,1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ea typeface="宋体" panose="02010600030101010101" pitchFamily="2" charset="-122"/>
              </a:rPr>
              <a:t> B</a:t>
            </a:r>
            <a:r>
              <a:rPr lang="en-US" altLang="zh-CN" sz="2400" baseline="-25000" dirty="0">
                <a:ea typeface="宋体" panose="02010600030101010101" pitchFamily="2" charset="-122"/>
              </a:rPr>
              <a:t>1,1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14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归结</a:t>
            </a:r>
            <a:r>
              <a:rPr lang="en-US" altLang="zh-CN"/>
              <a:t>(resolution)</a:t>
            </a:r>
            <a:r>
              <a:rPr lang="zh-CN" altLang="en-US"/>
              <a:t>算法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为</a:t>
            </a:r>
            <a:r>
              <a:rPr lang="zh-CN" altLang="zh-CN" sz="2800" dirty="0"/>
              <a:t>证明</a:t>
            </a:r>
            <a:r>
              <a:rPr lang="en-US" altLang="zh-CN" sz="2800" i="1" dirty="0"/>
              <a:t>KB</a:t>
            </a:r>
            <a:r>
              <a:rPr lang="en-US" altLang="zh-CN" sz="2800" dirty="0"/>
              <a:t> ╞ </a:t>
            </a:r>
            <a:r>
              <a:rPr lang="en-US" altLang="zh-CN" sz="2800" i="1" dirty="0">
                <a:sym typeface="Symbol" panose="05050102010706020507" pitchFamily="18" charset="2"/>
              </a:rPr>
              <a:t></a:t>
            </a:r>
            <a:r>
              <a:rPr lang="zh-CN" altLang="zh-CN" sz="2800" dirty="0"/>
              <a:t>，</a:t>
            </a:r>
            <a:r>
              <a:rPr lang="zh-CN" altLang="en-US" sz="2800" dirty="0"/>
              <a:t>去</a:t>
            </a:r>
            <a:r>
              <a:rPr lang="zh-CN" altLang="zh-CN" sz="2800" dirty="0"/>
              <a:t>证明</a:t>
            </a:r>
            <a:r>
              <a:rPr lang="en-US" altLang="zh-CN" sz="2800" dirty="0"/>
              <a:t>(</a:t>
            </a:r>
            <a:r>
              <a:rPr lang="en-US" altLang="zh-CN" sz="2800" i="1" dirty="0"/>
              <a:t>KB</a:t>
            </a:r>
            <a:r>
              <a:rPr lang="zh-CN" altLang="zh-CN" sz="2800" dirty="0"/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i="1" dirty="0">
                <a:sym typeface="Symbol" panose="05050102010706020507" pitchFamily="18" charset="2"/>
              </a:rPr>
              <a:t></a:t>
            </a:r>
            <a:r>
              <a:rPr lang="en-US" altLang="zh-CN" sz="2800" dirty="0"/>
              <a:t>)</a:t>
            </a:r>
            <a:r>
              <a:rPr lang="zh-CN" altLang="zh-CN" sz="2800" dirty="0"/>
              <a:t>是不可满足的</a:t>
            </a:r>
            <a:endParaRPr lang="en-US" altLang="zh-CN" sz="2800" dirty="0"/>
          </a:p>
          <a:p>
            <a:pPr lvl="1"/>
            <a:r>
              <a:rPr lang="zh-CN" altLang="en-US" sz="2400" dirty="0"/>
              <a:t>首先，把</a:t>
            </a:r>
            <a:r>
              <a:rPr lang="en-US" altLang="zh-CN" sz="2400" dirty="0"/>
              <a:t>(</a:t>
            </a:r>
            <a:r>
              <a:rPr lang="en-US" altLang="zh-CN" sz="2400" i="1" dirty="0"/>
              <a:t>KB</a:t>
            </a:r>
            <a:r>
              <a:rPr lang="zh-CN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sym typeface="Symbol" panose="05050102010706020507" pitchFamily="18" charset="2"/>
              </a:rPr>
              <a:t></a:t>
            </a:r>
            <a:r>
              <a:rPr lang="en-US" altLang="zh-CN" sz="2400" dirty="0"/>
              <a:t>)</a:t>
            </a:r>
            <a:r>
              <a:rPr lang="zh-CN" altLang="en-US" sz="2400" dirty="0"/>
              <a:t>转换为</a:t>
            </a:r>
            <a:r>
              <a:rPr lang="en-US" altLang="zh-CN" sz="2400" dirty="0"/>
              <a:t>CNF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对结果子句运用归结规则。对含有互补文字的子句进行归结产生新子句，如果该新子句尚未出现过，则将它加入子句集中。</a:t>
            </a:r>
            <a:endParaRPr lang="en-US" altLang="zh-CN" sz="2400" dirty="0"/>
          </a:p>
          <a:p>
            <a:pPr lvl="1"/>
            <a:r>
              <a:rPr lang="zh-CN" altLang="en-US" sz="2400" dirty="0"/>
              <a:t>持续此过程将直到以下两种情况之一发生：</a:t>
            </a:r>
          </a:p>
          <a:p>
            <a:pPr lvl="2"/>
            <a:r>
              <a:rPr lang="zh-CN" altLang="en-US" dirty="0"/>
              <a:t>没有可以添加的新语句，此时，</a:t>
            </a:r>
            <a:r>
              <a:rPr lang="en-US" altLang="zh-CN" dirty="0"/>
              <a:t>KB</a:t>
            </a:r>
            <a:r>
              <a:rPr lang="zh-CN" altLang="en-US" dirty="0"/>
              <a:t>不蕴涵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endParaRPr lang="zh-CN" altLang="en-US" dirty="0"/>
          </a:p>
          <a:p>
            <a:pPr lvl="2"/>
            <a:r>
              <a:rPr lang="zh-CN" altLang="en-US" dirty="0"/>
              <a:t>两个子句归结出空子句，此时，</a:t>
            </a:r>
            <a:r>
              <a:rPr lang="en-US" altLang="zh-CN" dirty="0"/>
              <a:t>KB</a:t>
            </a:r>
            <a:r>
              <a:rPr lang="zh-CN" altLang="en-US" dirty="0"/>
              <a:t>蕴涵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zh-CN" altLang="en-US" dirty="0"/>
              <a:t> </a:t>
            </a:r>
          </a:p>
          <a:p>
            <a:r>
              <a:rPr lang="zh-CN" altLang="en-US" sz="2800" dirty="0"/>
              <a:t>空子句：没有析取子式的析取式，等价于</a:t>
            </a:r>
            <a:r>
              <a:rPr lang="en-US" altLang="zh-CN" sz="2800" dirty="0"/>
              <a:t>False</a:t>
            </a: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9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.2</a:t>
            </a:r>
          </a:p>
          <a:p>
            <a:pPr marL="0" indent="0">
              <a:buNone/>
            </a:pPr>
            <a:r>
              <a:rPr lang="zh-CN" altLang="en-US" sz="2400" dirty="0"/>
              <a:t>已知如下信息，能否证明麒麟是神？是否有魔力？有角？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如果麒麟是神，那么它是长生不老的，但如果它不是神，那么它是一种必然会死的哺乳动物。如果麒麟要么长生不老的，要么是哺乳动物，那么它有角。如果麒麟有角，那么它有魔力。（</a:t>
            </a:r>
            <a:r>
              <a:rPr lang="zh-CN" altLang="en-US" sz="2400" dirty="0">
                <a:solidFill>
                  <a:srgbClr val="FF0000"/>
                </a:solidFill>
              </a:rPr>
              <a:t>答案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>
                <a:solidFill>
                  <a:srgbClr val="FF0000"/>
                </a:solidFill>
              </a:rPr>
              <a:t>分，过程</a:t>
            </a:r>
            <a:r>
              <a:rPr lang="en-US" altLang="zh-CN" sz="2400" dirty="0">
                <a:solidFill>
                  <a:srgbClr val="FF0000"/>
                </a:solidFill>
              </a:rPr>
              <a:t>45</a:t>
            </a:r>
            <a:r>
              <a:rPr lang="zh-CN" altLang="en-US" sz="2400" dirty="0">
                <a:solidFill>
                  <a:srgbClr val="FF0000"/>
                </a:solidFill>
              </a:rPr>
              <a:t>分</a:t>
            </a:r>
            <a:r>
              <a:rPr lang="zh-CN" altLang="en-US" sz="2400" dirty="0"/>
              <a:t>）</a:t>
            </a:r>
          </a:p>
          <a:p>
            <a:pPr marL="0" algn="l">
              <a:buClrTx/>
              <a:buSzTx/>
              <a:buFontTx/>
              <a:buNone/>
            </a:pP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7.2(</a:t>
            </a:r>
            <a:r>
              <a:rPr lang="zh-CN" altLang="en-US" dirty="0"/>
              <a:t>用归结方法证明结论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请将每句话用命题逻辑表示</a:t>
            </a:r>
            <a:endParaRPr lang="en-US" altLang="zh-CN" dirty="0"/>
          </a:p>
          <a:p>
            <a:pPr lvl="1"/>
            <a:r>
              <a:rPr lang="zh-CN" altLang="en-US" dirty="0"/>
              <a:t>将各语句都转化为</a:t>
            </a:r>
            <a:r>
              <a:rPr lang="en-US" altLang="zh-CN" dirty="0"/>
              <a:t>CNF</a:t>
            </a:r>
          </a:p>
          <a:p>
            <a:pPr lvl="1"/>
            <a:r>
              <a:rPr lang="zh-CN" altLang="en-US" dirty="0"/>
              <a:t>根据</a:t>
            </a:r>
            <a:r>
              <a:rPr lang="en-US" altLang="zh-CN" dirty="0"/>
              <a:t>CNF </a:t>
            </a:r>
            <a:r>
              <a:rPr lang="zh-CN" altLang="en-US" dirty="0"/>
              <a:t>语句列出所有的析取子句</a:t>
            </a:r>
            <a:endParaRPr lang="en-US" altLang="zh-CN" dirty="0"/>
          </a:p>
          <a:p>
            <a:pPr lvl="1"/>
            <a:r>
              <a:rPr lang="zh-CN" altLang="en-US" dirty="0"/>
              <a:t>利用反证法和归结原理证明结论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11973" y="11863"/>
            <a:ext cx="29899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独角兽：</a:t>
            </a:r>
            <a:r>
              <a:rPr lang="en-US" altLang="zh-CN" sz="2400" dirty="0"/>
              <a:t>unicorn</a:t>
            </a:r>
          </a:p>
          <a:p>
            <a:r>
              <a:rPr lang="zh-CN" altLang="en-US" sz="2400" dirty="0"/>
              <a:t>长生不老：</a:t>
            </a:r>
            <a:r>
              <a:rPr lang="en-US" altLang="zh-CN" sz="2400" dirty="0"/>
              <a:t>Immortal</a:t>
            </a:r>
          </a:p>
          <a:p>
            <a:r>
              <a:rPr lang="zh-CN" altLang="en-US" sz="2400" dirty="0"/>
              <a:t>哺乳动物：</a:t>
            </a:r>
            <a:r>
              <a:rPr lang="en-US" altLang="zh-CN" sz="2400" dirty="0"/>
              <a:t> Mammal</a:t>
            </a:r>
          </a:p>
          <a:p>
            <a:r>
              <a:rPr lang="zh-CN" altLang="en-US" sz="2400" dirty="0"/>
              <a:t>神：</a:t>
            </a:r>
            <a:r>
              <a:rPr lang="en-US" altLang="zh-CN" sz="2400" dirty="0"/>
              <a:t>Mythical</a:t>
            </a:r>
          </a:p>
          <a:p>
            <a:r>
              <a:rPr lang="zh-CN" altLang="en-US" sz="2400" dirty="0"/>
              <a:t>有角：</a:t>
            </a:r>
            <a:r>
              <a:rPr lang="en-US" altLang="zh-CN" sz="2400" dirty="0"/>
              <a:t>Horned</a:t>
            </a:r>
          </a:p>
          <a:p>
            <a:r>
              <a:rPr lang="zh-CN" altLang="en-US" sz="2400" dirty="0"/>
              <a:t>有魔力：</a:t>
            </a:r>
            <a:r>
              <a:rPr lang="en-US" altLang="zh-CN" sz="2400" dirty="0"/>
              <a:t>Magical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6" y="4373275"/>
            <a:ext cx="9000475" cy="176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479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</p:spPr>
            <p:txBody>
              <a:bodyPr/>
              <a:lstStyle/>
              <a:p>
                <a:r>
                  <a:rPr lang="en-US" altLang="zh-CN" sz="2400" dirty="0"/>
                  <a:t>Step 1. </a:t>
                </a:r>
                <a:r>
                  <a:rPr lang="zh-CN" altLang="en-US" sz="2400" dirty="0"/>
                  <a:t>将每句话用命题逻辑表示（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10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分</a:t>
                </a:r>
                <a:r>
                  <a:rPr lang="zh-CN" altLang="en-US" sz="2400" dirty="0"/>
                  <a:t>）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lvl="1"/>
                <a:r>
                  <a:rPr lang="en-US" altLang="zh-CN" sz="2000" dirty="0"/>
                  <a:t>1.</a:t>
                </a:r>
                <a:r>
                  <a:rPr lang="zh-CN" altLang="en-US" sz="2000" dirty="0"/>
                  <a:t>如果麒麟是神，那么它是长生不老的：</a:t>
                </a:r>
                <a:endParaRPr lang="en-US" altLang="zh-CN" sz="2000" dirty="0"/>
              </a:p>
              <a:p>
                <a:pPr marL="914400" lvl="2" indent="0">
                  <a:buNone/>
                </a:pPr>
                <a:r>
                  <a:rPr lang="en-US" altLang="zh-CN" sz="2000" dirty="0"/>
                  <a:t>Mythical</a:t>
                </a:r>
                <a:r>
                  <a:rPr lang="en-US" altLang="zh-CN" sz="2000" dirty="0">
                    <a:sym typeface="Symbol" panose="05050102010706020507" pitchFamily="18" charset="2"/>
                  </a:rPr>
                  <a:t> Immortal</a:t>
                </a:r>
                <a:endParaRPr lang="en-US" altLang="zh-CN" sz="2000" dirty="0"/>
              </a:p>
              <a:p>
                <a:pPr lvl="1"/>
                <a:r>
                  <a:rPr lang="en-US" altLang="zh-CN" sz="2000" dirty="0"/>
                  <a:t>2.</a:t>
                </a:r>
                <a:r>
                  <a:rPr lang="zh-CN" altLang="en-US" sz="2000" dirty="0"/>
                  <a:t>如果它不是神，那么它是一种必然会死的哺乳动物</a:t>
                </a:r>
                <a:r>
                  <a:rPr lang="en-US" altLang="zh-CN" sz="2000" dirty="0"/>
                  <a:t>:</a:t>
                </a:r>
              </a:p>
              <a:p>
                <a:pPr marL="914400" lvl="2" indent="0">
                  <a:buNone/>
                </a:pPr>
                <a:r>
                  <a:rPr lang="en-US" altLang="zh-CN" sz="2000" dirty="0">
                    <a:latin typeface="+mj-lt"/>
                    <a:sym typeface="Symbol" panose="05050102010706020507" pitchFamily="18" charset="2"/>
                  </a:rPr>
                  <a:t>Mythical  Immortal Mammal</a:t>
                </a:r>
                <a:endParaRPr lang="en-US" altLang="zh-CN" sz="2000" dirty="0">
                  <a:latin typeface="+mj-lt"/>
                </a:endParaRPr>
              </a:p>
              <a:p>
                <a:pPr lvl="1"/>
                <a:r>
                  <a:rPr lang="en-US" altLang="zh-CN" sz="2000" dirty="0"/>
                  <a:t>3.</a:t>
                </a:r>
                <a:r>
                  <a:rPr lang="zh-CN" altLang="en-US" sz="2000" dirty="0"/>
                  <a:t>麒麟要么长生不老的，要么是哺乳动物，那么它有角</a:t>
                </a:r>
                <a:r>
                  <a:rPr lang="en-US" altLang="zh-CN" sz="2000" dirty="0"/>
                  <a:t>:</a:t>
                </a:r>
              </a:p>
              <a:p>
                <a:pPr marL="914400" lvl="2" indent="0">
                  <a:buNone/>
                </a:pPr>
                <a:r>
                  <a:rPr lang="en-US" altLang="zh-CN" sz="2000" dirty="0">
                    <a:latin typeface="+mj-lt"/>
                  </a:rPr>
                  <a:t>Immortal</a:t>
                </a:r>
                <a:r>
                  <a:rPr lang="en-US" altLang="zh-CN" sz="2000" dirty="0"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000" dirty="0">
                    <a:latin typeface="+mj-lt"/>
                  </a:rPr>
                  <a:t>Mammal</a:t>
                </a:r>
                <a:r>
                  <a:rPr lang="en-US" altLang="zh-CN" sz="2000" dirty="0">
                    <a:latin typeface="+mj-lt"/>
                    <a:sym typeface="Symbol" panose="05050102010706020507" pitchFamily="18" charset="2"/>
                  </a:rPr>
                  <a:t> Horned</a:t>
                </a:r>
                <a:endParaRPr lang="en-US" altLang="zh-CN" sz="2000" dirty="0">
                  <a:latin typeface="+mj-lt"/>
                </a:endParaRPr>
              </a:p>
              <a:p>
                <a:pPr lvl="1"/>
                <a:r>
                  <a:rPr lang="en-US" altLang="zh-CN" sz="2000" dirty="0"/>
                  <a:t>4.</a:t>
                </a:r>
                <a:r>
                  <a:rPr lang="zh-CN" altLang="en-US" sz="2000" dirty="0"/>
                  <a:t>如果麒麟有角，那么它有魔力</a:t>
                </a:r>
                <a:r>
                  <a:rPr lang="en-US" altLang="zh-CN" sz="2000" dirty="0"/>
                  <a:t>:</a:t>
                </a:r>
              </a:p>
              <a:p>
                <a:pPr marL="914400" lvl="2" indent="0">
                  <a:buNone/>
                </a:pPr>
                <a:r>
                  <a:rPr lang="en-US" altLang="zh-CN" sz="2000" dirty="0"/>
                  <a:t>Horned</a:t>
                </a:r>
                <a:r>
                  <a:rPr lang="en-US" altLang="zh-CN" sz="2000" dirty="0">
                    <a:sym typeface="Symbol" panose="05050102010706020507" pitchFamily="18" charset="2"/>
                  </a:rPr>
                  <a:t> Magical</a:t>
                </a:r>
                <a:endParaRPr lang="zh-CN" altLang="en-US" sz="2000" dirty="0"/>
              </a:p>
              <a:p>
                <a:pPr marL="0" algn="l">
                  <a:buClrTx/>
                  <a:buSzTx/>
                  <a:buFontTx/>
                  <a:buNone/>
                </a:pPr>
                <a:endParaRPr lang="en-US" altLang="zh-CN" sz="24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  <a:blipFill>
                <a:blip r:embed="rId2"/>
                <a:stretch>
                  <a:fillRect l="-582" t="-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051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</p:spPr>
            <p:txBody>
              <a:bodyPr/>
              <a:lstStyle/>
              <a:p>
                <a:r>
                  <a:rPr lang="en-US" altLang="zh-CN" sz="2400" dirty="0"/>
                  <a:t>Step 2. </a:t>
                </a:r>
                <a:r>
                  <a:rPr lang="zh-CN" altLang="en-US" sz="2400" dirty="0"/>
                  <a:t>将各语句都转化为</a:t>
                </a:r>
                <a:r>
                  <a:rPr lang="en-US" altLang="zh-CN" sz="2400" dirty="0"/>
                  <a:t>CNF</a:t>
                </a:r>
                <a:r>
                  <a:rPr lang="zh-CN" altLang="en-US" sz="2400" dirty="0"/>
                  <a:t>：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10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分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lvl="1"/>
                <a:r>
                  <a:rPr lang="en-US" altLang="zh-CN" sz="2000" dirty="0">
                    <a:latin typeface="+mj-lt"/>
                  </a:rPr>
                  <a:t>Mythical</a:t>
                </a:r>
                <a:r>
                  <a:rPr lang="en-US" altLang="zh-CN" sz="2000" dirty="0">
                    <a:latin typeface="+mj-lt"/>
                    <a:sym typeface="Symbol" panose="05050102010706020507" pitchFamily="18" charset="2"/>
                  </a:rPr>
                  <a:t> Immortal</a:t>
                </a:r>
                <a:endParaRPr lang="en-US" altLang="zh-CN" sz="2000" dirty="0">
                  <a:latin typeface="+mj-lt"/>
                </a:endParaRPr>
              </a:p>
              <a:p>
                <a:pPr marL="457200" lvl="1" indent="0"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   Mythical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Immortal</a:t>
                </a:r>
                <a:endParaRPr lang="en-US" altLang="zh-CN" sz="2000" dirty="0">
                  <a:solidFill>
                    <a:srgbClr val="FF0000"/>
                  </a:solidFill>
                  <a:latin typeface="+mj-lt"/>
                </a:endParaRPr>
              </a:p>
              <a:p>
                <a:pPr lvl="1"/>
                <a:r>
                  <a:rPr lang="en-US" altLang="zh-CN" sz="2000" dirty="0">
                    <a:latin typeface="+mj-lt"/>
                    <a:sym typeface="Symbol" panose="05050102010706020507" pitchFamily="18" charset="2"/>
                  </a:rPr>
                  <a:t>Mythical  Immortal  Mammal</a:t>
                </a:r>
                <a:endParaRPr lang="en-US" altLang="zh-CN" sz="2000" dirty="0">
                  <a:latin typeface="+mj-lt"/>
                </a:endParaRPr>
              </a:p>
              <a:p>
                <a:pPr marL="457200" lvl="1" indent="0"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</a:rPr>
                  <a:t>  （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Mythical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Mammal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</a:rPr>
                  <a:t>）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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（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Mythical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rgbClr val="FF0000"/>
                        </a:solidFill>
                        <a:latin typeface="+mj-lt"/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rgbClr val="FF0000"/>
                        </a:solidFill>
                        <a:latin typeface="+mj-lt"/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）</a:t>
                </a:r>
                <a:endParaRPr lang="en-US" altLang="zh-CN" sz="2000" dirty="0">
                  <a:solidFill>
                    <a:srgbClr val="FF0000"/>
                  </a:solidFill>
                  <a:latin typeface="+mj-lt"/>
                </a:endParaRPr>
              </a:p>
              <a:p>
                <a:pPr lvl="1"/>
                <a:r>
                  <a:rPr lang="en-US" altLang="zh-CN" sz="2000" dirty="0">
                    <a:latin typeface="+mj-lt"/>
                  </a:rPr>
                  <a:t>Immortal</a:t>
                </a:r>
                <a:r>
                  <a:rPr lang="en-US" altLang="zh-CN" sz="2000" dirty="0"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latin typeface="+mj-lt"/>
                  </a:rPr>
                  <a:t>Mammal</a:t>
                </a:r>
                <a:r>
                  <a:rPr lang="en-US" altLang="zh-CN" sz="2000" dirty="0">
                    <a:latin typeface="+mj-lt"/>
                    <a:sym typeface="Symbol" panose="05050102010706020507" pitchFamily="18" charset="2"/>
                  </a:rPr>
                  <a:t> Horned</a:t>
                </a:r>
                <a:endParaRPr lang="en-US" altLang="zh-CN" sz="2000" dirty="0">
                  <a:latin typeface="+mj-lt"/>
                </a:endParaRPr>
              </a:p>
              <a:p>
                <a:pPr marL="457200" lvl="1" indent="0"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</a:rPr>
                  <a:t>  （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Immortal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Horned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</a:rPr>
                  <a:t>）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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（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Mammal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rgbClr val="FF0000"/>
                        </a:solidFill>
                        <a:latin typeface="+mj-lt"/>
                        <a:sym typeface="Symbol" panose="05050102010706020507" pitchFamily="18" charset="2"/>
                      </a:rPr>
                      <m:t>Horned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）</a:t>
                </a:r>
                <a:endParaRPr lang="en-US" altLang="zh-CN" sz="2000" dirty="0">
                  <a:solidFill>
                    <a:srgbClr val="FF0000"/>
                  </a:solidFill>
                  <a:latin typeface="+mj-lt"/>
                </a:endParaRPr>
              </a:p>
              <a:p>
                <a:pPr lvl="1"/>
                <a:r>
                  <a:rPr lang="en-US" altLang="zh-CN" sz="2000" dirty="0">
                    <a:latin typeface="+mj-lt"/>
                  </a:rPr>
                  <a:t>Horned</a:t>
                </a:r>
                <a:r>
                  <a:rPr lang="en-US" altLang="zh-CN" sz="2000" dirty="0">
                    <a:latin typeface="+mj-lt"/>
                    <a:sym typeface="Symbol" panose="05050102010706020507" pitchFamily="18" charset="2"/>
                  </a:rPr>
                  <a:t> Magical</a:t>
                </a:r>
              </a:p>
              <a:p>
                <a:pPr marL="457200" lvl="1" indent="0"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   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  <a:sym typeface="Symbol" panose="05050102010706020507" pitchFamily="18" charset="2"/>
                  </a:rPr>
                  <a:t>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rgbClr val="FF0000"/>
                        </a:solidFill>
                        <a:latin typeface="+mj-lt"/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+mj-lt"/>
                  </a:rPr>
                  <a:t>Magical</a:t>
                </a:r>
                <a:endParaRPr lang="zh-CN" altLang="en-US" sz="2000" dirty="0">
                  <a:solidFill>
                    <a:srgbClr val="FF0000"/>
                  </a:solidFill>
                  <a:latin typeface="+mj-lt"/>
                </a:endParaRPr>
              </a:p>
              <a:p>
                <a:pPr lvl="1"/>
                <a:endParaRPr lang="en-US" altLang="zh-CN" sz="2000" dirty="0"/>
              </a:p>
              <a:p>
                <a:pPr marL="0" algn="l">
                  <a:buClrTx/>
                  <a:buSzTx/>
                  <a:buFontTx/>
                  <a:buNone/>
                </a:pPr>
                <a:endParaRPr lang="en-US" altLang="zh-CN" sz="24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  <a:blipFill>
                <a:blip r:embed="rId2"/>
                <a:stretch>
                  <a:fillRect l="-582" t="-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0F19CD-B5F6-2667-0C52-2E20ACE33F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44242"/>
          <a:stretch/>
        </p:blipFill>
        <p:spPr>
          <a:xfrm>
            <a:off x="5831632" y="0"/>
            <a:ext cx="3312368" cy="303510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23790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</p:spPr>
            <p:txBody>
              <a:bodyPr/>
              <a:lstStyle/>
              <a:p>
                <a:r>
                  <a:rPr lang="en-US" altLang="zh-CN" sz="2400" dirty="0"/>
                  <a:t>Step 3. </a:t>
                </a:r>
                <a:r>
                  <a:rPr lang="zh-CN" altLang="en-US" sz="2400" dirty="0"/>
                  <a:t>根据</a:t>
                </a:r>
                <a:r>
                  <a:rPr lang="en-US" altLang="zh-CN" sz="2400" dirty="0"/>
                  <a:t>CNF </a:t>
                </a:r>
                <a:r>
                  <a:rPr lang="zh-CN" altLang="en-US" sz="2400" dirty="0"/>
                  <a:t>语句列出所有的析取子句：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5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分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3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+mj-lt"/>
                    <a:sym typeface="Symbol" panose="05050102010706020507" pitchFamily="18" charset="2"/>
                  </a:rPr>
                  <a:t>Mammal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  <a:latin typeface="+mj-lt"/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4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Immortal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 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5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Mammal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6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Magical</a:t>
                </a:r>
              </a:p>
              <a:p>
                <a:pPr marL="0" algn="l">
                  <a:buClrTx/>
                  <a:buSzTx/>
                  <a:buFontTx/>
                  <a:buNone/>
                </a:pPr>
                <a:endParaRPr lang="en-US" altLang="zh-CN" sz="24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  <a:blipFill>
                <a:blip r:embed="rId2"/>
                <a:stretch>
                  <a:fillRect l="-582" t="-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4884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1" y="0"/>
                <a:ext cx="8449250" cy="6619875"/>
              </a:xfrm>
            </p:spPr>
            <p:txBody>
              <a:bodyPr/>
              <a:lstStyle/>
              <a:p>
                <a:r>
                  <a:rPr lang="en-US" altLang="zh-CN" sz="2400" dirty="0"/>
                  <a:t>Step 4. </a:t>
                </a:r>
                <a:r>
                  <a:rPr lang="zh-CN" altLang="en-US" sz="2400" dirty="0"/>
                  <a:t>利用反证法和归结原理证明结论（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20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分</a:t>
                </a:r>
                <a:r>
                  <a:rPr lang="zh-CN" altLang="en-US" sz="2400" dirty="0"/>
                  <a:t>）</a:t>
                </a:r>
                <a:endParaRPr lang="en-US" altLang="zh-CN" sz="2400" dirty="0"/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3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Mammal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4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Immortal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 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5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Mammal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6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Magical</a:t>
                </a:r>
              </a:p>
              <a:p>
                <a:pPr lvl="1"/>
                <a:r>
                  <a:rPr lang="zh-CN" altLang="en-US" sz="2000" dirty="0">
                    <a:solidFill>
                      <a:schemeClr val="tx1"/>
                    </a:solidFill>
                  </a:rPr>
                  <a:t>运用反证法证明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Magical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正确，将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 smtClean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Magical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加入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KB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7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 smtClean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Magical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8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	6,7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9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Immortal 	4,8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10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	1,9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11</a:t>
                </a:r>
                <a:r>
                  <a:rPr lang="zh-CN" alt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Mammal	3,10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12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		5,11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13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NIL			8,12</a:t>
                </a:r>
              </a:p>
              <a:p>
                <a:pPr lvl="1"/>
                <a:endParaRPr lang="zh-CN" altLang="en-US" sz="2000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zh-CN" sz="2000" dirty="0"/>
              </a:p>
              <a:p>
                <a:pPr marL="0" algn="l">
                  <a:buClrTx/>
                  <a:buSzTx/>
                  <a:buFontTx/>
                  <a:buNone/>
                </a:pPr>
                <a:endParaRPr lang="en-US" altLang="zh-CN" sz="24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1" y="0"/>
                <a:ext cx="8449250" cy="6619875"/>
              </a:xfrm>
              <a:blipFill>
                <a:blip r:embed="rId2"/>
                <a:stretch>
                  <a:fillRect l="-577" t="-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760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1" y="0"/>
                <a:ext cx="8449250" cy="6619875"/>
              </a:xfrm>
            </p:spPr>
            <p:txBody>
              <a:bodyPr/>
              <a:lstStyle/>
              <a:p>
                <a:r>
                  <a:rPr lang="en-US" altLang="zh-CN" sz="2400" dirty="0"/>
                  <a:t>Step 4. </a:t>
                </a:r>
                <a:r>
                  <a:rPr lang="zh-CN" altLang="en-US" sz="2400" dirty="0"/>
                  <a:t>利用反证法和归结原理证明结论（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20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分</a:t>
                </a:r>
                <a:r>
                  <a:rPr lang="zh-CN" altLang="en-US" sz="2400" dirty="0"/>
                  <a:t>）</a:t>
                </a:r>
                <a:endParaRPr lang="en-US" altLang="zh-CN" sz="2400" dirty="0"/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3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Mammal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 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4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Immortal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 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5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Mammal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6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Magical</a:t>
                </a:r>
              </a:p>
              <a:p>
                <a:pPr lvl="1"/>
                <a:r>
                  <a:rPr lang="zh-CN" altLang="en-US" sz="2000" dirty="0">
                    <a:solidFill>
                      <a:schemeClr val="tx1"/>
                    </a:solidFill>
                  </a:rPr>
                  <a:t>运用反证法证明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正确，将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 smtClean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加入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KB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13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 smtClean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 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14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Immortal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	4,13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15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Mythical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	1,14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16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Mammal </a:t>
                </a:r>
                <a:r>
                  <a:rPr lang="en-US" altLang="zh-C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3,15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17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		5,16</a:t>
                </a:r>
              </a:p>
              <a:p>
                <a:pPr lvl="1"/>
                <a:r>
                  <a:rPr lang="en-US" altLang="zh-CN" sz="2000" dirty="0">
                    <a:solidFill>
                      <a:schemeClr val="tx1"/>
                    </a:solidFill>
                  </a:rPr>
                  <a:t>18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NIL			13,17</a:t>
                </a:r>
              </a:p>
              <a:p>
                <a:pPr lvl="1"/>
                <a:endParaRPr lang="zh-CN" altLang="en-US" sz="2000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zh-CN" sz="2000" dirty="0"/>
              </a:p>
              <a:p>
                <a:pPr marL="0" algn="l">
                  <a:buClrTx/>
                  <a:buSzTx/>
                  <a:buFontTx/>
                  <a:buNone/>
                </a:pPr>
                <a:endParaRPr lang="en-US" altLang="zh-CN" sz="24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1" y="0"/>
                <a:ext cx="8449250" cy="6619875"/>
              </a:xfrm>
              <a:blipFill>
                <a:blip r:embed="rId2"/>
                <a:stretch>
                  <a:fillRect l="-577" t="-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726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9062"/>
                <a:ext cx="8568951" cy="6619875"/>
              </a:xfrm>
            </p:spPr>
            <p:txBody>
              <a:bodyPr/>
              <a:lstStyle/>
              <a:p>
                <a:r>
                  <a:rPr lang="en-US" altLang="zh-CN" sz="2000" dirty="0"/>
                  <a:t>Step 4. </a:t>
                </a:r>
                <a:r>
                  <a:rPr lang="zh-CN" altLang="en-US" sz="2000" dirty="0"/>
                  <a:t>利用反证法和归结原理证明结论（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20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分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3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Mammal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4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Immortal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Horned 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5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Mammal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zh-CN" sz="18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6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</a:t>
                </a:r>
              </a:p>
              <a:p>
                <a:pPr lvl="1"/>
                <a:r>
                  <a:rPr lang="zh-CN" altLang="en-US" sz="1800" dirty="0">
                    <a:solidFill>
                      <a:schemeClr val="tx1"/>
                    </a:solidFill>
                  </a:rPr>
                  <a:t>将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Mythical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加入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KB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</a:rPr>
                  <a:t>19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Mythical 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</a:rPr>
                  <a:t>20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	1,2		30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		1,27</a:t>
                </a:r>
                <a:endParaRPr lang="en-US" altLang="zh-CN" sz="18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21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	1,2		31</a:t>
                </a:r>
                <a:r>
                  <a:rPr lang="zh-CN" altLang="en-US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Mammal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Horned		3,23</a:t>
                </a:r>
                <a:endParaRPr lang="en-US" altLang="zh-CN" sz="18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22</a:t>
                </a:r>
                <a:r>
                  <a:rPr lang="zh-CN" altLang="en-US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Mammal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	1,3		32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 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		3,28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</a:rPr>
                  <a:t>23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Horned	1,4		33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Horned					5,26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24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Immortal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			2,19		34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Mammal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		22,27</a:t>
                </a:r>
                <a:endParaRPr lang="en-US" altLang="zh-CN" sz="18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25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Mythical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		3,5		35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		22,28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</a:rPr>
                  <a:t>26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Mammal				3,19		36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 Magical					24,27</a:t>
                </a:r>
                <a:endParaRPr lang="en-US" altLang="zh-CN" sz="18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27</a:t>
                </a:r>
                <a:r>
                  <a:rPr lang="zh-CN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Immortal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	4,6		38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Horned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Magical		4,35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</a:rPr>
                  <a:t>28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Mammal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Magical	5,6		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没有新子句产生，也没有归结出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NIL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</a:rPr>
                  <a:t>29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Immortal</a:t>
                </a:r>
                <a:r>
                  <a:rPr lang="en-US" altLang="zh-C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Horned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		1,25		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故不能判断</a:t>
                </a:r>
                <a:r>
                  <a:rPr lang="en-US" altLang="zh-CN" sz="1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Mythical </a:t>
                </a:r>
                <a:r>
                  <a:rPr lang="zh-CN" altLang="en-US" sz="1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是否成立</a:t>
                </a:r>
                <a:endParaRPr lang="en-US" altLang="zh-CN" sz="18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zh-CN" altLang="en-US" sz="2000" dirty="0">
                  <a:solidFill>
                    <a:schemeClr val="tx1"/>
                  </a:solidFill>
                </a:endParaRPr>
              </a:p>
              <a:p>
                <a:pPr lvl="1"/>
                <a:endParaRPr lang="en-US" altLang="zh-CN" sz="2000" dirty="0"/>
              </a:p>
              <a:p>
                <a:pPr marL="0" algn="l">
                  <a:buClrTx/>
                  <a:buSzTx/>
                  <a:buFontTx/>
                  <a:buNone/>
                </a:pPr>
                <a:endParaRPr lang="en-US" altLang="zh-CN" sz="2400" dirty="0"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9062"/>
                <a:ext cx="8568951" cy="6619875"/>
              </a:xfrm>
              <a:blipFill>
                <a:blip r:embed="rId2"/>
                <a:stretch>
                  <a:fillRect l="-284" t="-553" r="-21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29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.2</a:t>
            </a:r>
          </a:p>
          <a:p>
            <a:pPr marL="0" indent="0">
              <a:buNone/>
            </a:pPr>
            <a:r>
              <a:rPr lang="zh-CN" altLang="en-US" sz="2400" dirty="0"/>
              <a:t>已知如下信息，能否证明麒麟是神？是否有魔力？有角？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如果麒麟是神，那么它是长生不老的，但如果它不是神，那么它是一种必然会死的哺乳动物。如果麒麟要么长生不老的，要么是哺乳动物，那么它有角。如果麒麟有角，那么它有魔力。（</a:t>
            </a:r>
            <a:r>
              <a:rPr lang="zh-CN" altLang="en-US" sz="2400" dirty="0">
                <a:solidFill>
                  <a:srgbClr val="FF0000"/>
                </a:solidFill>
              </a:rPr>
              <a:t>答案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>
                <a:solidFill>
                  <a:srgbClr val="FF0000"/>
                </a:solidFill>
              </a:rPr>
              <a:t>分，过程</a:t>
            </a:r>
            <a:r>
              <a:rPr lang="en-US" altLang="zh-CN" sz="2400" dirty="0">
                <a:solidFill>
                  <a:srgbClr val="FF0000"/>
                </a:solidFill>
              </a:rPr>
              <a:t>45</a:t>
            </a:r>
            <a:r>
              <a:rPr lang="zh-CN" altLang="en-US" sz="2400" dirty="0">
                <a:solidFill>
                  <a:srgbClr val="FF0000"/>
                </a:solidFill>
              </a:rPr>
              <a:t>分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 algn="ctr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综上：可以证明麒麟有魔力，有角，但不能证明麒麟是神。</a:t>
            </a:r>
          </a:p>
          <a:p>
            <a:pPr marL="0" algn="l">
              <a:buClrTx/>
              <a:buSzTx/>
              <a:buFontTx/>
              <a:buNone/>
            </a:pP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986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判定下列的每个语句是否有效、不可满足或二者都不是。用真值表或图</a:t>
            </a:r>
            <a:r>
              <a:rPr lang="en-US" altLang="zh-CN" sz="2400" dirty="0"/>
              <a:t>7.11</a:t>
            </a:r>
            <a:r>
              <a:rPr lang="zh-CN" altLang="en-US" sz="2400" dirty="0"/>
              <a:t>的等价规则验证你的结论。（</a:t>
            </a:r>
            <a:r>
              <a:rPr lang="en-US" altLang="zh-CN" sz="2400" dirty="0">
                <a:solidFill>
                  <a:srgbClr val="FF0000"/>
                </a:solidFill>
              </a:rPr>
              <a:t>e</a:t>
            </a:r>
            <a:r>
              <a:rPr lang="zh-CN" altLang="en-US" sz="2400" dirty="0">
                <a:solidFill>
                  <a:srgbClr val="FF0000"/>
                </a:solidFill>
              </a:rPr>
              <a:t>题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>
                <a:solidFill>
                  <a:srgbClr val="FF0000"/>
                </a:solidFill>
              </a:rPr>
              <a:t>分，其他题</a:t>
            </a:r>
            <a:r>
              <a:rPr lang="en-US" altLang="zh-CN" sz="2400" dirty="0">
                <a:solidFill>
                  <a:srgbClr val="FF0000"/>
                </a:solidFill>
              </a:rPr>
              <a:t>7</a:t>
            </a:r>
            <a:r>
              <a:rPr lang="zh-CN" altLang="en-US" sz="2400" dirty="0">
                <a:solidFill>
                  <a:srgbClr val="FF0000"/>
                </a:solidFill>
              </a:rPr>
              <a:t>分，每小题答案占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FF0000"/>
                </a:solidFill>
              </a:rPr>
              <a:t>分</a:t>
            </a:r>
            <a:r>
              <a:rPr lang="zh-CN" altLang="en-US" sz="2400" dirty="0"/>
              <a:t>）</a:t>
            </a:r>
          </a:p>
          <a:p>
            <a:pPr marL="0" algn="l">
              <a:buClrTx/>
              <a:buSzTx/>
              <a:buFontTx/>
              <a:buNone/>
            </a:pP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5215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a. Smoke</a:t>
            </a:r>
            <a:r>
              <a:rPr lang="en-US" altLang="zh-CN" sz="2400" dirty="0">
                <a:latin typeface="+mj-lt"/>
                <a:sym typeface="Symbol" panose="05050102010706020507" pitchFamily="18" charset="2"/>
              </a:rPr>
              <a:t> Smoke</a:t>
            </a:r>
            <a:endParaRPr lang="zh-CN" altLang="en-US" sz="2400" dirty="0"/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由真值表：同真同假，则蕴含为真；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综上，在所有模型中，蕴含表达式均为真，因此其是有效的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marL="0" algn="l">
              <a:buClrTx/>
              <a:buSzTx/>
              <a:buFontTx/>
              <a:buNone/>
            </a:pP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27</a:t>
            </a:fld>
            <a:endParaRPr lang="en-US" altLang="zh-CN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EC9D29-4AFC-70FA-22B5-74256A8E8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79585"/>
              </p:ext>
            </p:extLst>
          </p:nvPr>
        </p:nvGraphicFramePr>
        <p:xfrm>
          <a:off x="1524000" y="249289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6629371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06746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Smoke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Smoke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Smoke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7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995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883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b. Smoke</a:t>
            </a:r>
            <a:r>
              <a:rPr lang="en-US" altLang="zh-CN" sz="2400" dirty="0">
                <a:latin typeface="+mj-lt"/>
                <a:sym typeface="Symbol" panose="05050102010706020507" pitchFamily="18" charset="2"/>
              </a:rPr>
              <a:t> Fire</a:t>
            </a:r>
          </a:p>
          <a:p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  <a:sym typeface="Symbol" panose="05050102010706020507" pitchFamily="18" charset="2"/>
              </a:rPr>
              <a:t>	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  <a:sym typeface="Symbol" panose="05050102010706020507" pitchFamily="18" charset="2"/>
              </a:rPr>
              <a:t>由真值表：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当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Smoke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且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Fire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均为真时，蕴含为真；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当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Smoke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为真且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Fire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为假时，蕴含为假；</a:t>
            </a:r>
          </a:p>
          <a:p>
            <a:pPr marL="0" indent="0">
              <a:buNone/>
            </a:pPr>
            <a:r>
              <a:rPr lang="zh-CN" altLang="zh-CN" sz="2000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综上，在某些模型中蕴含表达式为真，因此其是可满足的。</a:t>
            </a:r>
            <a:endParaRPr lang="en-US" altLang="zh-CN" sz="2000" dirty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28</a:t>
            </a:fld>
            <a:endParaRPr lang="en-US" altLang="zh-CN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423A7F8-067C-F2E6-7305-2092E002C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376928"/>
              </p:ext>
            </p:extLst>
          </p:nvPr>
        </p:nvGraphicFramePr>
        <p:xfrm>
          <a:off x="1524000" y="242088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816649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43524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20830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Smoke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Fire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Smoke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Fire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093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8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9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5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205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425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c. (Smoke</a:t>
            </a:r>
            <a:r>
              <a:rPr lang="en-US" altLang="zh-CN" sz="2400" dirty="0">
                <a:latin typeface="+mj-lt"/>
                <a:sym typeface="Symbol" panose="05050102010706020507" pitchFamily="18" charset="2"/>
              </a:rPr>
              <a:t> Fire) (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Smoke</a:t>
            </a:r>
            <a:r>
              <a:rPr lang="en-US" altLang="zh-CN" sz="2400" dirty="0">
                <a:latin typeface="+mj-lt"/>
                <a:sym typeface="Symbol" panose="05050102010706020507" pitchFamily="18" charset="2"/>
              </a:rPr>
              <a:t> 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Fire</a:t>
            </a:r>
            <a:r>
              <a:rPr lang="en-US" altLang="zh-CN" sz="2400" dirty="0">
                <a:latin typeface="+mj-lt"/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	</a:t>
            </a:r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zh-CN" altLang="en-US" sz="2400" dirty="0"/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由真值表：当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且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均为真时，两个表达式均为真，则蕴含为真；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当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为假且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为真时，则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(¬Smoke⟹¬Fire)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为假，则蕴含为假；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综上，在某些模型中蕴含表达式为真，因此其是可满足的。</a:t>
            </a:r>
          </a:p>
          <a:p>
            <a:pPr marL="0" algn="l">
              <a:buClrTx/>
              <a:buSzTx/>
              <a:buFontTx/>
              <a:buNone/>
            </a:pP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29</a:t>
            </a:fld>
            <a:endParaRPr lang="en-US" altLang="zh-CN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19BA2BF-34F1-3441-5796-9F52DDDCD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06617"/>
              </p:ext>
            </p:extLst>
          </p:nvPr>
        </p:nvGraphicFramePr>
        <p:xfrm>
          <a:off x="683568" y="2397760"/>
          <a:ext cx="7298031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971">
                  <a:extLst>
                    <a:ext uri="{9D8B030D-6E8A-4147-A177-3AD203B41FA5}">
                      <a16:colId xmlns:a16="http://schemas.microsoft.com/office/drawing/2014/main" val="8209553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69169069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893341379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123538212"/>
                    </a:ext>
                  </a:extLst>
                </a:gridCol>
                <a:gridCol w="2296612">
                  <a:extLst>
                    <a:ext uri="{9D8B030D-6E8A-4147-A177-3AD203B41FA5}">
                      <a16:colId xmlns:a16="http://schemas.microsoft.com/office/drawing/2014/main" val="2693663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Smoke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Fire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Smoke</a:t>
                      </a:r>
                      <a:r>
                        <a:rPr lang="en-US" altLang="zh-C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Fire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Smoke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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 Fire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</a:rPr>
                        <a:t>(Smoke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Fire) (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Smoke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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 Fire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375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31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25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01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27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036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</p:spPr>
            <p:txBody>
              <a:bodyPr/>
              <a:lstStyle/>
              <a:p>
                <a:r>
                  <a:rPr lang="en-US" altLang="zh-CN" sz="2400" dirty="0"/>
                  <a:t>7</a:t>
                </a:r>
                <a:r>
                  <a:rPr lang="zh-CN" altLang="en-US" sz="2400" dirty="0"/>
                  <a:t>.</a:t>
                </a:r>
                <a:r>
                  <a:rPr lang="en-US" altLang="zh-CN" sz="2400" dirty="0"/>
                  <a:t>10</a:t>
                </a:r>
              </a:p>
              <a:p>
                <a:r>
                  <a:rPr lang="en-US" altLang="zh-CN" sz="2400" dirty="0"/>
                  <a:t>d. Smoke</a:t>
                </a:r>
                <a:r>
                  <a:rPr lang="en-US" altLang="zh-CN" sz="2400" dirty="0">
                    <a:latin typeface="+mj-lt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 </m:t>
                    </m:r>
                  </m:oMath>
                </a14:m>
                <a:r>
                  <a:rPr lang="en-US" altLang="zh-CN" sz="2400" dirty="0">
                    <a:latin typeface="+mj-lt"/>
                    <a:sym typeface="Symbol" panose="05050102010706020507" pitchFamily="18" charset="2"/>
                  </a:rPr>
                  <a:t>Fire</a:t>
                </a:r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</m:t>
                    </m:r>
                  </m:oMath>
                </a14:m>
                <a:r>
                  <a:rPr lang="en-US" altLang="zh-CN" sz="2400" dirty="0">
                    <a:sym typeface="Symbol" panose="05050102010706020507" pitchFamily="18" charset="2"/>
                  </a:rPr>
                  <a:t> Fire</a:t>
                </a:r>
                <a:endParaRPr lang="en-US" altLang="zh-CN" sz="2400" dirty="0">
                  <a:latin typeface="+mj-lt"/>
                  <a:sym typeface="Symbol" panose="05050102010706020507" pitchFamily="18" charset="2"/>
                </a:endParaRPr>
              </a:p>
              <a:p>
                <a:endParaRPr lang="en-US" altLang="zh-CN" dirty="0">
                  <a:latin typeface="+mj-lt"/>
                  <a:sym typeface="Symbol" panose="05050102010706020507" pitchFamily="18" charset="2"/>
                </a:endParaRPr>
              </a:p>
              <a:p>
                <a:pPr marL="514350" indent="-514350">
                  <a:buAutoNum type="alphaLcPeriod"/>
                </a:pPr>
                <a:endParaRPr lang="en-US" altLang="zh-CN" dirty="0">
                  <a:latin typeface="+mj-lt"/>
                  <a:sym typeface="Symbol" panose="05050102010706020507" pitchFamily="18" charset="2"/>
                </a:endParaRPr>
              </a:p>
              <a:p>
                <a:pPr marL="514350" indent="-514350">
                  <a:buAutoNum type="alphaLcPeriod"/>
                </a:pPr>
                <a:endParaRPr lang="en-US" altLang="zh-CN" dirty="0">
                  <a:latin typeface="+mj-lt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j-lt"/>
                    <a:sym typeface="Symbol" panose="05050102010706020507" pitchFamily="18" charset="2"/>
                  </a:rPr>
                  <a:t>	</a:t>
                </a:r>
              </a:p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j-ea"/>
                    <a:ea typeface="+mj-ea"/>
                    <a:sym typeface="Symbol" panose="05050102010706020507" pitchFamily="18" charset="2"/>
                  </a:rPr>
                  <a:t>由真值表：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Fire</a:t>
                </a:r>
                <a:r>
                  <a:rPr lang="zh-CN" altLang="en-US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¬Fire</a:t>
                </a:r>
                <a:r>
                  <a:rPr lang="zh-CN" altLang="en-US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为真，则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Fire∨¬Fire</a:t>
                </a:r>
                <a:r>
                  <a:rPr lang="zh-CN" altLang="en-US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为真，则</a:t>
                </a:r>
                <a:r>
                  <a:rPr lang="en-US" altLang="zh-CN" sz="2000" kern="100" dirty="0" err="1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Smoke∨Fire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∨¬Fire</a:t>
                </a:r>
                <a:r>
                  <a:rPr lang="zh-CN" altLang="en-US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为真；综上，在所有模型中，语句表达式均为真，因此其是有效的。</a:t>
                </a:r>
                <a:endParaRPr lang="en-US" altLang="zh-CN" sz="2000" dirty="0">
                  <a:solidFill>
                    <a:srgbClr val="FF0000"/>
                  </a:solidFill>
                  <a:latin typeface="+mj-ea"/>
                  <a:ea typeface="+mj-ea"/>
                  <a:sym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  <a:blipFill>
                <a:blip r:embed="rId2"/>
                <a:stretch>
                  <a:fillRect l="-728" t="-809" r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2DFBD6F-1A94-9D1F-9629-B04336703B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2067589"/>
                  </p:ext>
                </p:extLst>
              </p:nvPr>
            </p:nvGraphicFramePr>
            <p:xfrm>
              <a:off x="1259632" y="2348880"/>
              <a:ext cx="6096000" cy="206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208364634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37795655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133610588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626603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Smoke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kern="1200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a:t>Fire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CN" sz="1800" dirty="0" smtClean="0">
                                  <a:solidFill>
                                    <a:schemeClr val="bg1"/>
                                  </a:solidFill>
                                  <a:sym typeface="Symbol" panose="05050102010706020507" pitchFamily="18" charset="2"/>
                                </a:rPr>
                                <m:t></m:t>
                              </m:r>
                            </m:oMath>
                          </a14:m>
                          <a:r>
                            <a:rPr lang="en-US" altLang="zh-CN" sz="1800" dirty="0">
                              <a:solidFill>
                                <a:schemeClr val="bg1"/>
                              </a:solidFill>
                              <a:sym typeface="Symbol" panose="05050102010706020507" pitchFamily="18" charset="2"/>
                            </a:rPr>
                            <a:t> Fire</a:t>
                          </a:r>
                          <a:endParaRPr lang="zh-CN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</a:rPr>
                            <a:t>Smoke</a:t>
                          </a:r>
                          <a:r>
                            <a:rPr lang="en-US" altLang="zh-CN" sz="1600" b="1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 </m:t>
                              </m:r>
                            </m:oMath>
                          </a14:m>
                          <a:r>
                            <a:rPr lang="en-US" altLang="zh-CN" sz="1600" b="1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a:t>Fire</a:t>
                          </a:r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sym typeface="Symbol" panose="05050102010706020507" pitchFamily="18" charset="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CN" sz="1600" dirty="0">
                                  <a:solidFill>
                                    <a:schemeClr val="bg1"/>
                                  </a:solidFill>
                                  <a:sym typeface="Symbol" panose="05050102010706020507" pitchFamily="18" charset="2"/>
                                </a:rPr>
                                <m:t></m:t>
                              </m:r>
                            </m:oMath>
                          </a14:m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sym typeface="Symbol" panose="05050102010706020507" pitchFamily="18" charset="2"/>
                            </a:rPr>
                            <a:t> Fire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3801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623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372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04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9885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2DFBD6F-1A94-9D1F-9629-B04336703B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2067589"/>
                  </p:ext>
                </p:extLst>
              </p:nvPr>
            </p:nvGraphicFramePr>
            <p:xfrm>
              <a:off x="1259632" y="2348880"/>
              <a:ext cx="6096000" cy="206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208364634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37795655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133610588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62660312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/>
                            <a:t>Smoke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kern="1200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Symbol" panose="05050102010706020507" pitchFamily="18" charset="2"/>
                            </a:rPr>
                            <a:t>Fire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800" t="-5263" r="-101600" b="-27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0800" t="-5263" r="-1600" b="-27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8013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7623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372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04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9885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68573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e</a:t>
            </a:r>
            <a:r>
              <a:rPr lang="en-US" altLang="zh-CN" sz="2000" dirty="0"/>
              <a:t>.((</a:t>
            </a:r>
            <a:r>
              <a:rPr lang="en-US" altLang="zh-CN" sz="2000" dirty="0" err="1"/>
              <a:t>Smoke∧Heat</a:t>
            </a:r>
            <a:r>
              <a:rPr lang="en-US" altLang="zh-CN" sz="2000" dirty="0"/>
              <a:t>)⟹Fire)⟺((</a:t>
            </a:r>
            <a:r>
              <a:rPr lang="en-US" altLang="zh-CN" sz="2000" dirty="0" err="1"/>
              <a:t>Smoke⟹Fire</a:t>
            </a:r>
            <a:r>
              <a:rPr lang="en-US" altLang="zh-CN" sz="2000" dirty="0"/>
              <a:t>)∨(</a:t>
            </a:r>
            <a:r>
              <a:rPr lang="en-US" altLang="zh-CN" sz="2000" dirty="0" err="1"/>
              <a:t>Heat⟹Fire</a:t>
            </a:r>
            <a:r>
              <a:rPr lang="en-US" altLang="zh-CN" sz="2000" dirty="0"/>
              <a:t>))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400" dirty="0"/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  <a:sym typeface="Symbol" panose="05050102010706020507" pitchFamily="18" charset="2"/>
              </a:rPr>
              <a:t>	</a:t>
            </a:r>
          </a:p>
          <a:p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 </a:t>
            </a:r>
            <a:r>
              <a:rPr lang="en-US" altLang="zh-CN" sz="2000" dirty="0"/>
              <a:t>Smoke ∨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 </a:t>
            </a:r>
            <a:r>
              <a:rPr lang="en-US" altLang="zh-CN" sz="2000" dirty="0"/>
              <a:t> Heat </a:t>
            </a:r>
            <a:r>
              <a:rPr lang="en-US" altLang="zh-CN" sz="2000"/>
              <a:t>∨</a:t>
            </a:r>
            <a:r>
              <a:rPr lang="en-US" altLang="zh-CN" sz="20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/>
              <a:t> </a:t>
            </a:r>
            <a:r>
              <a:rPr lang="en-US" altLang="zh-CN" sz="2000" dirty="0"/>
              <a:t>Fire</a:t>
            </a:r>
            <a:r>
              <a:rPr lang="en-US" altLang="zh-CN" sz="2000"/>
              <a:t>)⟺ (</a:t>
            </a:r>
            <a:r>
              <a:rPr lang="en-US" altLang="zh-CN" sz="2000">
                <a:solidFill>
                  <a:schemeClr val="tx1"/>
                </a:solidFill>
                <a:sym typeface="Symbol" panose="05050102010706020507" pitchFamily="18" charset="2"/>
              </a:rPr>
              <a:t> </a:t>
            </a:r>
            <a:r>
              <a:rPr lang="en-US" altLang="zh-CN" sz="2000"/>
              <a:t>Smoke ∨</a:t>
            </a:r>
            <a:r>
              <a:rPr lang="en-US" altLang="zh-CN" sz="2000">
                <a:solidFill>
                  <a:schemeClr val="tx1"/>
                </a:solidFill>
                <a:sym typeface="Symbol" panose="05050102010706020507" pitchFamily="18" charset="2"/>
              </a:rPr>
              <a:t> </a:t>
            </a:r>
            <a:r>
              <a:rPr lang="en-US" altLang="zh-CN" sz="2000"/>
              <a:t> Heat ∨</a:t>
            </a:r>
            <a:r>
              <a:rPr lang="en-US" altLang="zh-CN" sz="20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/>
              <a:t>Fire)</a:t>
            </a: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31</a:t>
            </a:fld>
            <a:endParaRPr lang="en-US" altLang="zh-CN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A9F0D03-5E15-F56E-30A9-B0CD381F7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495576"/>
              </p:ext>
            </p:extLst>
          </p:nvPr>
        </p:nvGraphicFramePr>
        <p:xfrm>
          <a:off x="179512" y="2276872"/>
          <a:ext cx="8278688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186546805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56134479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80898627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83297887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349524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6181658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255041541"/>
                    </a:ext>
                  </a:extLst>
                </a:gridCol>
                <a:gridCol w="1437928">
                  <a:extLst>
                    <a:ext uri="{9D8B030D-6E8A-4147-A177-3AD203B41FA5}">
                      <a16:colId xmlns:a16="http://schemas.microsoft.com/office/drawing/2014/main" val="1595002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Smoke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Heat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((</a:t>
                      </a:r>
                      <a:r>
                        <a:rPr lang="en-US" altLang="zh-CN" sz="1600" dirty="0" err="1"/>
                        <a:t>Smoke∧Heat</a:t>
                      </a: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(</a:t>
                      </a:r>
                      <a:r>
                        <a:rPr lang="en-US" altLang="zh-CN" sz="1600" dirty="0" err="1"/>
                        <a:t>Smoke∧Heat</a:t>
                      </a:r>
                      <a:r>
                        <a:rPr lang="en-US" altLang="zh-CN" sz="1600" dirty="0"/>
                        <a:t>)⟹Fire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Smoke⟹Fire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Heat⟹Fire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 Value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7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756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56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3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57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29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9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119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20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619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e</a:t>
            </a:r>
            <a:r>
              <a:rPr lang="en-US" altLang="zh-CN" sz="2000" dirty="0"/>
              <a:t>.((</a:t>
            </a:r>
            <a:r>
              <a:rPr lang="en-US" altLang="zh-CN" sz="2000" dirty="0" err="1"/>
              <a:t>Smoke∧Heat</a:t>
            </a:r>
            <a:r>
              <a:rPr lang="en-US" altLang="zh-CN" sz="2000" dirty="0"/>
              <a:t>)⟹Fire)⟺((</a:t>
            </a:r>
            <a:r>
              <a:rPr lang="en-US" altLang="zh-CN" sz="2000" dirty="0" err="1"/>
              <a:t>Smoke⟹Fire</a:t>
            </a:r>
            <a:r>
              <a:rPr lang="en-US" altLang="zh-CN" sz="2000" dirty="0"/>
              <a:t>)∨(</a:t>
            </a:r>
            <a:r>
              <a:rPr lang="en-US" altLang="zh-CN" sz="2000" dirty="0" err="1"/>
              <a:t>Heat⟹Fire</a:t>
            </a:r>
            <a:r>
              <a:rPr lang="en-US" altLang="zh-CN" sz="2000" dirty="0"/>
              <a:t>))</a:t>
            </a:r>
          </a:p>
          <a:p>
            <a:pPr marL="0" indent="0">
              <a:buNone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由真值表：当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为真时，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)⟹Fire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为真，则双向蕴含式为真；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当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为假时，若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与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均为真，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为真，则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)⟹Fire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为假，则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)∨(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为假，两个表达式同为假，则双向蕴含式为真；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当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为假时，若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与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均为假，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为假，则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)⟹Fire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为真，则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)∨(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为真，两个表达式同为真，则双向蕴含式为真；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当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为假时，若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或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仅其中之一为真，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为假，则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Smoke∧Heat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)⟹Fire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或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其中之一为真，则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)∨(</a:t>
            </a:r>
            <a:r>
              <a:rPr lang="en-US" altLang="zh-CN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Heat⟹Fire</a:t>
            </a:r>
            <a:r>
              <a:rPr lang="en-US" altLang="zh-CN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))</a:t>
            </a: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为真，两个表达式同为真，则双向蕴含式为真；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综上，在所有模型中，双向蕴含表达式均为真，因此其是有效的。</a:t>
            </a:r>
          </a:p>
          <a:p>
            <a:pPr marL="0" algn="l">
              <a:buClrTx/>
              <a:buSzTx/>
              <a:buFontTx/>
              <a:buNone/>
            </a:pPr>
            <a:endParaRPr lang="en-US" altLang="zh-CN" sz="24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1812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f. (</a:t>
            </a:r>
            <a:r>
              <a:rPr lang="en-US" altLang="zh-CN" sz="2400" dirty="0" err="1"/>
              <a:t>Smoke⟹Fire</a:t>
            </a:r>
            <a:r>
              <a:rPr lang="en-US" altLang="zh-CN" sz="2400" dirty="0"/>
              <a:t>)⟹((</a:t>
            </a:r>
            <a:r>
              <a:rPr lang="en-US" altLang="zh-CN" sz="2400" dirty="0" err="1"/>
              <a:t>Smoke∧Heat</a:t>
            </a:r>
            <a:r>
              <a:rPr lang="en-US" altLang="zh-CN" sz="2400" dirty="0"/>
              <a:t>)⟹Fire)</a:t>
            </a:r>
          </a:p>
          <a:p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  <a:sym typeface="Symbol" panose="05050102010706020507" pitchFamily="18" charset="2"/>
              </a:rPr>
              <a:t>	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33</a:t>
            </a:fld>
            <a:endParaRPr lang="en-US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E1A35A8-9B44-A12C-8D87-F428FD25A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97175"/>
              </p:ext>
            </p:extLst>
          </p:nvPr>
        </p:nvGraphicFramePr>
        <p:xfrm>
          <a:off x="443230" y="2313622"/>
          <a:ext cx="80149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442">
                  <a:extLst>
                    <a:ext uri="{9D8B030D-6E8A-4147-A177-3AD203B41FA5}">
                      <a16:colId xmlns:a16="http://schemas.microsoft.com/office/drawing/2014/main" val="37615814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0830874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2001484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847774247"/>
                    </a:ext>
                  </a:extLst>
                </a:gridCol>
                <a:gridCol w="2262338">
                  <a:extLst>
                    <a:ext uri="{9D8B030D-6E8A-4147-A177-3AD203B41FA5}">
                      <a16:colId xmlns:a16="http://schemas.microsoft.com/office/drawing/2014/main" val="2061239862"/>
                    </a:ext>
                  </a:extLst>
                </a:gridCol>
                <a:gridCol w="1335828">
                  <a:extLst>
                    <a:ext uri="{9D8B030D-6E8A-4147-A177-3AD203B41FA5}">
                      <a16:colId xmlns:a16="http://schemas.microsoft.com/office/drawing/2014/main" val="403086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Smoke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Heat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Smoke⟹Fire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((</a:t>
                      </a:r>
                      <a:r>
                        <a:rPr lang="en-US" altLang="zh-CN" sz="1600" dirty="0" err="1"/>
                        <a:t>Smoke∧Heat</a:t>
                      </a:r>
                      <a:r>
                        <a:rPr lang="en-US" altLang="zh-CN" sz="1600" dirty="0"/>
                        <a:t>)⟹Fire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Final Value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98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7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02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30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2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07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875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2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530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112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344930"/>
            <a:ext cx="8377555" cy="5274945"/>
          </a:xfrm>
        </p:spPr>
        <p:txBody>
          <a:bodyPr/>
          <a:lstStyle/>
          <a:p>
            <a:r>
              <a:rPr lang="en-US" altLang="zh-CN" sz="2400" dirty="0"/>
              <a:t>7</a:t>
            </a:r>
            <a:r>
              <a:rPr lang="zh-CN" altLang="en-US" sz="2400" dirty="0"/>
              <a:t>.</a:t>
            </a:r>
            <a:r>
              <a:rPr lang="en-US" altLang="zh-CN" sz="2400" dirty="0"/>
              <a:t>10</a:t>
            </a:r>
          </a:p>
          <a:p>
            <a:r>
              <a:rPr lang="en-US" altLang="zh-CN" sz="2400" dirty="0"/>
              <a:t>f. (</a:t>
            </a:r>
            <a:r>
              <a:rPr lang="en-US" altLang="zh-CN" sz="2400" dirty="0" err="1"/>
              <a:t>Smoke⟹Fire</a:t>
            </a:r>
            <a:r>
              <a:rPr lang="en-US" altLang="zh-CN" sz="2400" dirty="0"/>
              <a:t>)⟹((</a:t>
            </a:r>
            <a:r>
              <a:rPr lang="en-US" altLang="zh-CN" sz="2400" dirty="0" err="1"/>
              <a:t>Smoke∧Heat</a:t>
            </a:r>
            <a:r>
              <a:rPr lang="en-US" altLang="zh-CN" sz="2400" dirty="0"/>
              <a:t>)⟹Fire)</a:t>
            </a:r>
          </a:p>
          <a:p>
            <a:endParaRPr lang="en-US" altLang="zh-CN" sz="2400" dirty="0"/>
          </a:p>
          <a:p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由真值表：当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为假时，两个表达式都为真；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   当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为真时，若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为真，两个表达式都为真；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   当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为真时，若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Fire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为假，有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Smoke⟹Fire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为假，蕴含为真；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   综上，在所有模型中，蕴含表达式均为真，因此其是有效的。</a:t>
            </a:r>
          </a:p>
          <a:p>
            <a:endParaRPr lang="en-US" altLang="zh-CN" sz="2400" dirty="0"/>
          </a:p>
          <a:p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en-US" altLang="zh-CN" sz="2400" dirty="0">
              <a:latin typeface="+mj-lt"/>
              <a:sym typeface="Symbol" panose="05050102010706020507" pitchFamily="18" charset="2"/>
            </a:endParaRPr>
          </a:p>
          <a:p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514350" indent="-514350">
              <a:buAutoNum type="alphaLcPeriod"/>
            </a:pPr>
            <a:endParaRPr lang="en-US" altLang="zh-CN" dirty="0">
              <a:latin typeface="+mj-lt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  <a:sym typeface="Symbol" panose="05050102010706020507" pitchFamily="18" charset="2"/>
              </a:rPr>
              <a:t>	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21355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</p:spPr>
            <p:txBody>
              <a:bodyPr/>
              <a:lstStyle/>
              <a:p>
                <a:r>
                  <a:rPr lang="en-US" altLang="zh-CN" sz="2400" dirty="0"/>
                  <a:t>7</a:t>
                </a:r>
                <a:r>
                  <a:rPr lang="zh-CN" altLang="en-US" sz="2400" dirty="0"/>
                  <a:t>.</a:t>
                </a:r>
                <a:r>
                  <a:rPr lang="en-US" altLang="zh-CN" sz="2400" dirty="0"/>
                  <a:t>10</a:t>
                </a:r>
              </a:p>
              <a:p>
                <a:r>
                  <a:rPr lang="en-US" altLang="zh-CN" sz="2400" dirty="0"/>
                  <a:t>g. </a:t>
                </a:r>
                <a:r>
                  <a:rPr lang="en-US" altLang="zh-CN" sz="2400" dirty="0" err="1"/>
                  <a:t>Big∨Dumb</a:t>
                </a:r>
                <a:r>
                  <a:rPr lang="en-US" altLang="zh-CN" sz="2400" dirty="0"/>
                  <a:t>∨(</a:t>
                </a:r>
                <a:r>
                  <a:rPr lang="en-US" altLang="zh-CN" sz="2400" dirty="0" err="1"/>
                  <a:t>Big⟹Dumb</a:t>
                </a:r>
                <a:r>
                  <a:rPr lang="en-US" altLang="zh-CN" sz="2400" dirty="0"/>
                  <a:t>)</a:t>
                </a:r>
              </a:p>
              <a:p>
                <a:endParaRPr lang="en-US" altLang="zh-CN" sz="2400" dirty="0"/>
              </a:p>
              <a:p>
                <a:endParaRPr lang="en-US" altLang="zh-CN" sz="2400" dirty="0">
                  <a:latin typeface="+mj-lt"/>
                  <a:sym typeface="Symbol" panose="05050102010706020507" pitchFamily="18" charset="2"/>
                </a:endParaRPr>
              </a:p>
              <a:p>
                <a:endParaRPr lang="en-US" altLang="zh-CN" sz="2400" dirty="0">
                  <a:latin typeface="+mj-lt"/>
                  <a:sym typeface="Symbol" panose="05050102010706020507" pitchFamily="18" charset="2"/>
                </a:endParaRPr>
              </a:p>
              <a:p>
                <a:endParaRPr lang="en-US" altLang="zh-CN" sz="2400" dirty="0">
                  <a:latin typeface="+mj-lt"/>
                  <a:sym typeface="Symbol" panose="05050102010706020507" pitchFamily="18" charset="2"/>
                </a:endParaRPr>
              </a:p>
              <a:p>
                <a:endParaRPr lang="en-US" altLang="zh-CN" dirty="0">
                  <a:latin typeface="+mj-lt"/>
                  <a:sym typeface="Symbol" panose="05050102010706020507" pitchFamily="18" charset="2"/>
                </a:endParaRPr>
              </a:p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+mj-ea"/>
                    <a:ea typeface="+mj-ea"/>
                    <a:sym typeface="Symbol" panose="05050102010706020507" pitchFamily="18" charset="2"/>
                  </a:rPr>
                  <a:t>由真值表：</a:t>
                </a:r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Big</a:t>
                </a:r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Dumb</a:t>
                </a:r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至少有一为真时，则表达式为真；</a:t>
                </a:r>
              </a:p>
              <a:p>
                <a:pPr marL="0" indent="0" algn="just">
                  <a:lnSpc>
                    <a:spcPct val="115000"/>
                  </a:lnSpc>
                  <a:buNone/>
                </a:pPr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Big</a:t>
                </a:r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Dumb</a:t>
                </a:r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均为假时，则</a:t>
                </a:r>
                <a14:m>
                  <m:oMath xmlns:m="http://schemas.openxmlformats.org/officeDocument/2006/math">
                    <m:r>
                      <a:rPr lang="en-US" altLang="zh-CN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𝐵𝑖𝑔</m:t>
                    </m:r>
                    <m:r>
                      <a:rPr lang="en-US" altLang="zh-CN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altLang="zh-CN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𝐷𝑢𝑚𝑏</m:t>
                    </m:r>
                    <m:r>
                      <a:rPr lang="en-US" altLang="zh-CN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000" kern="1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为真，则表达式为真；</a:t>
                </a:r>
              </a:p>
              <a:p>
                <a:pPr marL="0" indent="0">
                  <a:buNone/>
                </a:pPr>
                <a:r>
                  <a:rPr lang="zh-CN" altLang="zh-CN" sz="2000" dirty="0">
                    <a:solidFill>
                      <a:srgbClr val="FF0000"/>
                    </a:solidFill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综上，在所有模型中，表达式均为真，因此其是有效的。</a:t>
                </a:r>
                <a:endParaRPr lang="en-US" altLang="zh-CN" sz="2000" dirty="0">
                  <a:solidFill>
                    <a:srgbClr val="FF0000"/>
                  </a:solidFill>
                  <a:latin typeface="+mj-ea"/>
                  <a:ea typeface="+mj-ea"/>
                  <a:sym typeface="Symbol" panose="05050102010706020507" pitchFamily="18" charset="2"/>
                </a:endParaRPr>
              </a:p>
              <a:p>
                <a:pPr marL="514350" indent="-514350">
                  <a:buAutoNum type="alphaLcPeriod"/>
                </a:pPr>
                <a:endParaRPr lang="en-US" altLang="zh-CN" dirty="0">
                  <a:latin typeface="+mj-lt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j-lt"/>
                    <a:sym typeface="Symbol" panose="05050102010706020507" pitchFamily="18" charset="2"/>
                  </a:rPr>
                  <a:t>	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215" y="1344930"/>
                <a:ext cx="8377555" cy="5274945"/>
              </a:xfrm>
              <a:blipFill>
                <a:blip r:embed="rId2"/>
                <a:stretch>
                  <a:fillRect l="-728" t="-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35</a:t>
            </a:fld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F14F45-7727-06A1-10DF-F39A40096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831515"/>
              </p:ext>
            </p:extLst>
          </p:nvPr>
        </p:nvGraphicFramePr>
        <p:xfrm>
          <a:off x="609600" y="2420888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104">
                  <a:extLst>
                    <a:ext uri="{9D8B030D-6E8A-4147-A177-3AD203B41FA5}">
                      <a16:colId xmlns:a16="http://schemas.microsoft.com/office/drawing/2014/main" val="271886638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19643232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80901343"/>
                    </a:ext>
                  </a:extLst>
                </a:gridCol>
                <a:gridCol w="3742184">
                  <a:extLst>
                    <a:ext uri="{9D8B030D-6E8A-4147-A177-3AD203B41FA5}">
                      <a16:colId xmlns:a16="http://schemas.microsoft.com/office/drawing/2014/main" val="2689474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Big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Dumb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Big⟹Dumb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Big∨Dumb</a:t>
                      </a:r>
                      <a:r>
                        <a:rPr lang="en-US" altLang="zh-CN" sz="1600" dirty="0"/>
                        <a:t>∨(</a:t>
                      </a:r>
                      <a:r>
                        <a:rPr lang="en-US" altLang="zh-CN" sz="1600" dirty="0" err="1"/>
                        <a:t>Big⟹Dumb</a:t>
                      </a:r>
                      <a:r>
                        <a:rPr lang="en-US" altLang="zh-CN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53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740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47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49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833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818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7850188" cy="1011238"/>
          </a:xfrm>
        </p:spPr>
        <p:txBody>
          <a:bodyPr/>
          <a:lstStyle/>
          <a:p>
            <a:r>
              <a:rPr lang="zh-CN" altLang="en-US" dirty="0"/>
              <a:t>成绩统计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5F621-1619-4F8E-88C5-5F30FD27FF75}" type="slidenum">
              <a:rPr lang="en-US" altLang="zh-CN" smtClean="0"/>
              <a:t>36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E3B817-36F0-256C-DA4E-F6E1FF48C3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32" y="781424"/>
            <a:ext cx="3741168" cy="284045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5E04C85-6246-CBE1-E5AF-22FBFB401F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228" y="781424"/>
            <a:ext cx="3676972" cy="28721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79542AC-E4BA-A97C-D173-803D013D7A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751" y="3751010"/>
            <a:ext cx="3450497" cy="273660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95830" y="1628775"/>
            <a:ext cx="4622800" cy="1645920"/>
          </a:xfrm>
        </p:spPr>
        <p:txBody>
          <a:bodyPr/>
          <a:lstStyle/>
          <a:p>
            <a:pPr eaLnBrk="1" hangingPunct="1"/>
            <a:r>
              <a:rPr lang="zh-CN" altLang="en-US" dirty="0"/>
              <a:t>谢谢大家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FBB78-3332-4880-866E-0A3F9B2B4E82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I0ODRlOTgzZTg4MjNhNjBlMDVhYzI2MzkzZGEyYmMifQ=="/>
</p:tagLst>
</file>

<file path=ppt/theme/theme1.xml><?xml version="1.0" encoding="utf-8"?>
<a:theme xmlns:a="http://schemas.openxmlformats.org/drawingml/2006/main" name="平面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271</TotalTime>
  <Words>4078</Words>
  <Application>Microsoft Office PowerPoint</Application>
  <PresentationFormat>全屏显示(4:3)</PresentationFormat>
  <Paragraphs>769</Paragraphs>
  <Slides>37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 Unicode MS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Verdana</vt:lpstr>
      <vt:lpstr>Wingdings</vt:lpstr>
      <vt:lpstr>Wingdings 3</vt:lpstr>
      <vt:lpstr>平面</vt:lpstr>
      <vt:lpstr>人工智能 第七章习题讲解</vt:lpstr>
      <vt:lpstr>目录</vt:lpstr>
      <vt:lpstr>命题逻辑(Propositional logic)</vt:lpstr>
      <vt:lpstr>逻辑连接词的真值表</vt:lpstr>
      <vt:lpstr>命题逻辑的推理</vt:lpstr>
      <vt:lpstr>模型检验(Model checking)</vt:lpstr>
      <vt:lpstr>示例：模型检验</vt:lpstr>
      <vt:lpstr>命题逻辑的推理</vt:lpstr>
      <vt:lpstr>推理(Inference)和证明(Proof)</vt:lpstr>
      <vt:lpstr>逻辑等价(logical equivalence)</vt:lpstr>
      <vt:lpstr>示例：定理证明</vt:lpstr>
      <vt:lpstr>归结(resolution)证明</vt:lpstr>
      <vt:lpstr>基本概念</vt:lpstr>
      <vt:lpstr>归结(resolution)证明</vt:lpstr>
      <vt:lpstr>将语句转换成CNF</vt:lpstr>
      <vt:lpstr>归结(resolution)算法</vt:lpstr>
      <vt:lpstr>作业</vt:lpstr>
      <vt:lpstr>作业</vt:lpstr>
      <vt:lpstr>参考答案</vt:lpstr>
      <vt:lpstr>参考答案</vt:lpstr>
      <vt:lpstr>参考答案</vt:lpstr>
      <vt:lpstr>PowerPoint 演示文稿</vt:lpstr>
      <vt:lpstr>PowerPoint 演示文稿</vt:lpstr>
      <vt:lpstr>PowerPoint 演示文稿</vt:lpstr>
      <vt:lpstr>作业</vt:lpstr>
      <vt:lpstr>作业</vt:lpstr>
      <vt:lpstr>作业</vt:lpstr>
      <vt:lpstr>作业</vt:lpstr>
      <vt:lpstr>作业</vt:lpstr>
      <vt:lpstr>作业</vt:lpstr>
      <vt:lpstr>作业</vt:lpstr>
      <vt:lpstr>作业</vt:lpstr>
      <vt:lpstr>作业</vt:lpstr>
      <vt:lpstr>作业</vt:lpstr>
      <vt:lpstr>作业</vt:lpstr>
      <vt:lpstr>成绩统计</vt:lpstr>
      <vt:lpstr>谢谢大家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雨昂 杨</cp:lastModifiedBy>
  <cp:revision>808</cp:revision>
  <dcterms:created xsi:type="dcterms:W3CDTF">1999-05-06T08:46:00Z</dcterms:created>
  <dcterms:modified xsi:type="dcterms:W3CDTF">2024-01-06T05:35:11Z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FA97D7B9F58841CF9086862A2EFECC88_12</vt:lpwstr>
  </property>
  <property fmtid="{D5CDD505-2E9C-101B-9397-08002B2CF9AE}" pid="3" name="KSOProductBuildVer">
    <vt:lpwstr>2052-12.1.0.16120</vt:lpwstr>
  </property>
</Properties>
</file>