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4"/>
  </p:handoutMasterIdLst>
  <p:sldIdLst>
    <p:sldId id="294" r:id="rId3"/>
    <p:sldId id="696" r:id="rId5"/>
    <p:sldId id="746" r:id="rId6"/>
    <p:sldId id="749" r:id="rId7"/>
    <p:sldId id="751" r:id="rId8"/>
    <p:sldId id="757" r:id="rId9"/>
    <p:sldId id="758" r:id="rId10"/>
    <p:sldId id="753" r:id="rId11"/>
    <p:sldId id="756" r:id="rId12"/>
    <p:sldId id="759" r:id="rId13"/>
    <p:sldId id="769" r:id="rId14"/>
    <p:sldId id="760" r:id="rId15"/>
    <p:sldId id="761" r:id="rId16"/>
    <p:sldId id="762" r:id="rId17"/>
    <p:sldId id="770" r:id="rId18"/>
    <p:sldId id="763" r:id="rId19"/>
    <p:sldId id="767" r:id="rId20"/>
    <p:sldId id="768" r:id="rId21"/>
    <p:sldId id="777" r:id="rId22"/>
    <p:sldId id="778" r:id="rId23"/>
  </p:sldIdLst>
  <p:sldSz cx="9144000" cy="6858000" type="screen4x3"/>
  <p:notesSz cx="6858000" cy="9144000"/>
  <p:custDataLst>
    <p:tags r:id="rId29"/>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王挺" initials="wt"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33CC"/>
    <a:srgbClr val="006600"/>
    <a:srgbClr val="CC0066"/>
    <a:srgbClr val="FF3300"/>
    <a:srgbClr val="77933C"/>
    <a:srgbClr val="C00000"/>
    <a:srgbClr val="66FFFF"/>
    <a:srgbClr val="E6AF00"/>
    <a:srgbClr val="FFFFFF"/>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05" autoAdjust="0"/>
    <p:restoredTop sz="87228" autoAdjust="0"/>
  </p:normalViewPr>
  <p:slideViewPr>
    <p:cSldViewPr showGuides="1">
      <p:cViewPr varScale="1">
        <p:scale>
          <a:sx n="83" d="100"/>
          <a:sy n="83" d="100"/>
        </p:scale>
        <p:origin x="3552" y="64"/>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66" d="100"/>
        <a:sy n="66" d="100"/>
      </p:scale>
      <p:origin x="0" y="0"/>
    </p:cViewPr>
  </p:sorterViewPr>
  <p:notesViewPr>
    <p:cSldViewPr>
      <p:cViewPr varScale="1">
        <p:scale>
          <a:sx n="64" d="100"/>
          <a:sy n="64" d="100"/>
        </p:scale>
        <p:origin x="-2400"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tags" Target="tags/tag15.xml"/><Relationship Id="rId28" Type="http://schemas.openxmlformats.org/officeDocument/2006/relationships/commentAuthors" Target="commentAuthors.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28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1" sz="1200">
                <a:latin typeface="Times New Roman" panose="02020603050405020304" pitchFamily="18" charset="0"/>
                <a:ea typeface="宋体" panose="02010600030101010101" pitchFamily="2" charset="-122"/>
              </a:defRPr>
            </a:lvl1pPr>
          </a:lstStyle>
          <a:p>
            <a:pPr>
              <a:defRPr/>
            </a:pPr>
            <a:endParaRPr lang="en-GB"/>
          </a:p>
        </p:txBody>
      </p:sp>
      <p:sp>
        <p:nvSpPr>
          <p:cNvPr id="162819"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a:latin typeface="Times New Roman" panose="02020603050405020304" pitchFamily="18" charset="0"/>
                <a:ea typeface="宋体" panose="02010600030101010101" pitchFamily="2" charset="-122"/>
              </a:defRPr>
            </a:lvl1pPr>
          </a:lstStyle>
          <a:p>
            <a:pPr>
              <a:defRPr/>
            </a:pPr>
            <a:endParaRPr lang="en-GB"/>
          </a:p>
        </p:txBody>
      </p:sp>
      <p:sp>
        <p:nvSpPr>
          <p:cNvPr id="162820"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1" sz="1200">
                <a:latin typeface="Times New Roman" panose="02020603050405020304" pitchFamily="18" charset="0"/>
                <a:ea typeface="宋体" panose="02010600030101010101" pitchFamily="2" charset="-122"/>
              </a:defRPr>
            </a:lvl1pPr>
          </a:lstStyle>
          <a:p>
            <a:pPr>
              <a:defRPr/>
            </a:pPr>
            <a:endParaRPr lang="en-GB"/>
          </a:p>
        </p:txBody>
      </p:sp>
      <p:sp>
        <p:nvSpPr>
          <p:cNvPr id="162821"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1" sz="1200">
                <a:latin typeface="Times New Roman" panose="02020603050405020304" pitchFamily="18" charset="0"/>
                <a:ea typeface="宋体" panose="02010600030101010101" pitchFamily="2" charset="-122"/>
              </a:defRPr>
            </a:lvl1pPr>
          </a:lstStyle>
          <a:p>
            <a:pPr>
              <a:defRPr/>
            </a:pPr>
            <a:fld id="{7F75A202-5001-43C1-A481-9635AB26C61A}" type="slidenum">
              <a:rPr lang="en-GB" altLang="zh-CN"/>
            </a:fld>
            <a:endParaRPr lang="en-GB"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1" sz="1200">
                <a:latin typeface="Times New Roman" panose="02020603050405020304" pitchFamily="18" charset="0"/>
                <a:ea typeface="宋体" panose="02010600030101010101" pitchFamily="2" charset="-122"/>
              </a:defRPr>
            </a:lvl1pPr>
          </a:lstStyle>
          <a:p>
            <a:pPr>
              <a:defRPr/>
            </a:pPr>
            <a:endParaRPr lang="en-US" altLang="zh-CN"/>
          </a:p>
        </p:txBody>
      </p:sp>
      <p:sp>
        <p:nvSpPr>
          <p:cNvPr id="58371"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a:latin typeface="Times New Roman" panose="02020603050405020304" pitchFamily="18" charset="0"/>
                <a:ea typeface="宋体" panose="02010600030101010101" pitchFamily="2" charset="-122"/>
              </a:defRPr>
            </a:lvl1pPr>
          </a:lstStyle>
          <a:p>
            <a:pPr>
              <a:defRPr/>
            </a:pPr>
            <a:endParaRPr lang="en-US" altLang="zh-CN"/>
          </a:p>
        </p:txBody>
      </p:sp>
      <p:sp>
        <p:nvSpPr>
          <p:cNvPr id="61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58373"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58374"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1" sz="1200">
                <a:latin typeface="Times New Roman" panose="02020603050405020304" pitchFamily="18" charset="0"/>
                <a:ea typeface="宋体" panose="02010600030101010101" pitchFamily="2" charset="-122"/>
              </a:defRPr>
            </a:lvl1pPr>
          </a:lstStyle>
          <a:p>
            <a:pPr>
              <a:defRPr/>
            </a:pPr>
            <a:endParaRPr lang="en-US" altLang="zh-CN"/>
          </a:p>
        </p:txBody>
      </p:sp>
      <p:sp>
        <p:nvSpPr>
          <p:cNvPr id="58375"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1" sz="1200">
                <a:latin typeface="Times New Roman" panose="02020603050405020304" pitchFamily="18" charset="0"/>
                <a:ea typeface="宋体" panose="02010600030101010101" pitchFamily="2" charset="-122"/>
              </a:defRPr>
            </a:lvl1pPr>
          </a:lstStyle>
          <a:p>
            <a:pPr>
              <a:defRPr/>
            </a:pPr>
            <a:fld id="{FFD632CF-5949-4012-AD78-7444C454F04C}"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389CA0CB-FB7A-426C-9179-E889FF4C95C7}" type="slidenum">
              <a:rPr lang="en-US" altLang="zh-CN" smtClean="0"/>
            </a:fld>
            <a:endParaRPr lang="en-US" altLang="zh-CN" smtClean="0"/>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ea typeface="宋体" panose="02010600030101010101" pitchFamily="2" charset="-122"/>
              </a:rPr>
              <a:t>Knowledge-based agents</a:t>
            </a:r>
            <a:endParaRPr lang="en-US" altLang="zh-CN" dirty="0" smtClean="0">
              <a:ea typeface="宋体" panose="02010600030101010101" pitchFamily="2" charset="-122"/>
            </a:endParaRPr>
          </a:p>
          <a:p>
            <a:r>
              <a:rPr lang="en-US" altLang="zh-CN" dirty="0" err="1" smtClean="0">
                <a:ea typeface="宋体" panose="02010600030101010101" pitchFamily="2" charset="-122"/>
              </a:rPr>
              <a:t>Wumpus</a:t>
            </a:r>
            <a:r>
              <a:rPr lang="en-US" altLang="zh-CN" dirty="0" smtClean="0">
                <a:ea typeface="宋体" panose="02010600030101010101" pitchFamily="2" charset="-122"/>
              </a:rPr>
              <a:t> world example</a:t>
            </a:r>
            <a:endParaRPr lang="en-US" altLang="zh-CN" dirty="0" smtClean="0">
              <a:ea typeface="宋体" panose="02010600030101010101" pitchFamily="2" charset="-122"/>
            </a:endParaRPr>
          </a:p>
          <a:p>
            <a:r>
              <a:rPr lang="en-US" altLang="zh-CN" dirty="0" smtClean="0">
                <a:ea typeface="宋体" panose="02010600030101010101" pitchFamily="2" charset="-122"/>
              </a:rPr>
              <a:t>Logic in general - models and entailment</a:t>
            </a:r>
            <a:endParaRPr lang="en-US" altLang="zh-CN" dirty="0" smtClean="0">
              <a:ea typeface="宋体" panose="02010600030101010101" pitchFamily="2" charset="-122"/>
            </a:endParaRPr>
          </a:p>
          <a:p>
            <a:r>
              <a:rPr lang="en-US" altLang="zh-CN" dirty="0" smtClean="0">
                <a:ea typeface="宋体" panose="02010600030101010101" pitchFamily="2" charset="-122"/>
              </a:rPr>
              <a:t>Propositional (Boolean) logic</a:t>
            </a:r>
            <a:endParaRPr lang="en-US" altLang="zh-CN" dirty="0" smtClean="0">
              <a:ea typeface="宋体" panose="02010600030101010101" pitchFamily="2" charset="-122"/>
            </a:endParaRPr>
          </a:p>
          <a:p>
            <a:r>
              <a:rPr lang="en-US" altLang="zh-CN" dirty="0" smtClean="0">
                <a:ea typeface="宋体" panose="02010600030101010101" pitchFamily="2" charset="-122"/>
              </a:rPr>
              <a:t>Equivalence, validity, satisfiability</a:t>
            </a:r>
            <a:endParaRPr lang="en-US" altLang="zh-CN" dirty="0" smtClean="0">
              <a:ea typeface="宋体" panose="02010600030101010101" pitchFamily="2" charset="-122"/>
            </a:endParaRPr>
          </a:p>
          <a:p>
            <a:r>
              <a:rPr lang="en-US" altLang="zh-CN" dirty="0" smtClean="0">
                <a:ea typeface="宋体" panose="02010600030101010101" pitchFamily="2" charset="-122"/>
              </a:rPr>
              <a:t>Inference </a:t>
            </a:r>
            <a:endParaRPr lang="en-US" altLang="zh-CN" dirty="0" smtClean="0">
              <a:ea typeface="宋体" panose="02010600030101010101" pitchFamily="2" charset="-122"/>
            </a:endParaRPr>
          </a:p>
          <a:p>
            <a:endParaRPr lang="en-US" altLang="zh-CN" dirty="0" smtClean="0"/>
          </a:p>
          <a:p>
            <a:r>
              <a:rPr lang="en-US" altLang="zh-CN" dirty="0" smtClean="0"/>
              <a:t>7.1 Knowledge-Based Agent</a:t>
            </a:r>
            <a:endParaRPr lang="en-US" altLang="zh-CN" dirty="0" smtClean="0"/>
          </a:p>
          <a:p>
            <a:r>
              <a:rPr lang="en-US" altLang="zh-CN" dirty="0" smtClean="0"/>
              <a:t>7.2 The </a:t>
            </a:r>
            <a:r>
              <a:rPr lang="en-US" altLang="zh-CN" dirty="0" err="1" smtClean="0"/>
              <a:t>Wumpus</a:t>
            </a:r>
            <a:r>
              <a:rPr lang="en-US" altLang="zh-CN" dirty="0" smtClean="0"/>
              <a:t> World</a:t>
            </a:r>
            <a:endParaRPr lang="en-US" altLang="zh-CN" dirty="0" smtClean="0"/>
          </a:p>
          <a:p>
            <a:r>
              <a:rPr lang="en-US" altLang="zh-CN" dirty="0" smtClean="0"/>
              <a:t>7.3 Logic</a:t>
            </a:r>
            <a:endParaRPr lang="en-US" altLang="zh-CN" dirty="0" smtClean="0"/>
          </a:p>
          <a:p>
            <a:r>
              <a:rPr lang="en-US" altLang="zh-CN" dirty="0" smtClean="0"/>
              <a:t>7.4 Propositional Logic: A Very Simple Logic</a:t>
            </a:r>
            <a:endParaRPr lang="en-US" altLang="zh-CN" dirty="0" smtClean="0"/>
          </a:p>
          <a:p>
            <a:r>
              <a:rPr lang="en-US" altLang="zh-CN" dirty="0" smtClean="0"/>
              <a:t>7.5 Reasoning Patterns in Propositional Logic</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FFD632CF-5949-4012-AD78-7444C454F04C}"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ea typeface="宋体" panose="02010600030101010101" pitchFamily="2" charset="-122"/>
              </a:rPr>
              <a:t>Knowledge-based agents</a:t>
            </a:r>
            <a:endParaRPr lang="en-US" altLang="zh-CN" dirty="0" smtClean="0">
              <a:ea typeface="宋体" panose="02010600030101010101" pitchFamily="2" charset="-122"/>
            </a:endParaRPr>
          </a:p>
          <a:p>
            <a:r>
              <a:rPr lang="en-US" altLang="zh-CN" dirty="0" err="1" smtClean="0">
                <a:ea typeface="宋体" panose="02010600030101010101" pitchFamily="2" charset="-122"/>
              </a:rPr>
              <a:t>Wumpus</a:t>
            </a:r>
            <a:r>
              <a:rPr lang="en-US" altLang="zh-CN" dirty="0" smtClean="0">
                <a:ea typeface="宋体" panose="02010600030101010101" pitchFamily="2" charset="-122"/>
              </a:rPr>
              <a:t> world example</a:t>
            </a:r>
            <a:endParaRPr lang="en-US" altLang="zh-CN" dirty="0" smtClean="0">
              <a:ea typeface="宋体" panose="02010600030101010101" pitchFamily="2" charset="-122"/>
            </a:endParaRPr>
          </a:p>
          <a:p>
            <a:r>
              <a:rPr lang="en-US" altLang="zh-CN" dirty="0" smtClean="0">
                <a:ea typeface="宋体" panose="02010600030101010101" pitchFamily="2" charset="-122"/>
              </a:rPr>
              <a:t>Logic in general - models and entailment</a:t>
            </a:r>
            <a:endParaRPr lang="en-US" altLang="zh-CN" dirty="0" smtClean="0">
              <a:ea typeface="宋体" panose="02010600030101010101" pitchFamily="2" charset="-122"/>
            </a:endParaRPr>
          </a:p>
          <a:p>
            <a:r>
              <a:rPr lang="en-US" altLang="zh-CN" dirty="0" smtClean="0">
                <a:ea typeface="宋体" panose="02010600030101010101" pitchFamily="2" charset="-122"/>
              </a:rPr>
              <a:t>Propositional (Boolean) logic</a:t>
            </a:r>
            <a:endParaRPr lang="en-US" altLang="zh-CN" dirty="0" smtClean="0">
              <a:ea typeface="宋体" panose="02010600030101010101" pitchFamily="2" charset="-122"/>
            </a:endParaRPr>
          </a:p>
          <a:p>
            <a:r>
              <a:rPr lang="en-US" altLang="zh-CN" dirty="0" smtClean="0">
                <a:ea typeface="宋体" panose="02010600030101010101" pitchFamily="2" charset="-122"/>
              </a:rPr>
              <a:t>Equivalence, validity, satisfiability</a:t>
            </a:r>
            <a:endParaRPr lang="en-US" altLang="zh-CN" dirty="0" smtClean="0">
              <a:ea typeface="宋体" panose="02010600030101010101" pitchFamily="2" charset="-122"/>
            </a:endParaRPr>
          </a:p>
          <a:p>
            <a:r>
              <a:rPr lang="en-US" altLang="zh-CN" dirty="0" smtClean="0">
                <a:ea typeface="宋体" panose="02010600030101010101" pitchFamily="2" charset="-122"/>
              </a:rPr>
              <a:t>Inference </a:t>
            </a:r>
            <a:endParaRPr lang="en-US" altLang="zh-CN" dirty="0" smtClean="0">
              <a:ea typeface="宋体" panose="02010600030101010101" pitchFamily="2" charset="-122"/>
            </a:endParaRPr>
          </a:p>
          <a:p>
            <a:endParaRPr lang="en-US" altLang="zh-CN" dirty="0" smtClean="0"/>
          </a:p>
          <a:p>
            <a:r>
              <a:rPr lang="en-US" altLang="zh-CN" dirty="0" smtClean="0"/>
              <a:t>7.1 Knowledge-Based Agent</a:t>
            </a:r>
            <a:endParaRPr lang="en-US" altLang="zh-CN" dirty="0" smtClean="0"/>
          </a:p>
          <a:p>
            <a:r>
              <a:rPr lang="en-US" altLang="zh-CN" dirty="0" smtClean="0"/>
              <a:t>7.2 The </a:t>
            </a:r>
            <a:r>
              <a:rPr lang="en-US" altLang="zh-CN" dirty="0" err="1" smtClean="0"/>
              <a:t>Wumpus</a:t>
            </a:r>
            <a:r>
              <a:rPr lang="en-US" altLang="zh-CN" dirty="0" smtClean="0"/>
              <a:t> World</a:t>
            </a:r>
            <a:endParaRPr lang="en-US" altLang="zh-CN" dirty="0" smtClean="0"/>
          </a:p>
          <a:p>
            <a:r>
              <a:rPr lang="en-US" altLang="zh-CN" dirty="0" smtClean="0"/>
              <a:t>7.3 Logic</a:t>
            </a:r>
            <a:endParaRPr lang="en-US" altLang="zh-CN" dirty="0" smtClean="0"/>
          </a:p>
          <a:p>
            <a:r>
              <a:rPr lang="en-US" altLang="zh-CN" dirty="0" smtClean="0"/>
              <a:t>7.4 Propositional Logic: A Very Simple Logic</a:t>
            </a:r>
            <a:endParaRPr lang="en-US" altLang="zh-CN" dirty="0" smtClean="0"/>
          </a:p>
          <a:p>
            <a:r>
              <a:rPr lang="en-US" altLang="zh-CN" dirty="0" smtClean="0"/>
              <a:t>7.5 Reasoning Patterns in Propositional Logic</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FFD632CF-5949-4012-AD78-7444C454F04C}"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r>
                  <a:rPr lang="zh-CN" altLang="en-US" sz="2800" dirty="0" smtClean="0"/>
                  <a:t>全称量词实例化</a:t>
                </a:r>
                <a:r>
                  <a:rPr lang="en-US" altLang="zh-CN" sz="2800" dirty="0" smtClean="0"/>
                  <a:t> (</a:t>
                </a:r>
                <a:r>
                  <a:rPr lang="en-US" altLang="zh-CN" sz="2800" dirty="0"/>
                  <a:t>Universal </a:t>
                </a:r>
                <a:r>
                  <a:rPr lang="en-US" altLang="zh-CN" sz="2800" dirty="0" smtClean="0"/>
                  <a:t>Instantiation) </a:t>
                </a:r>
                <a:endParaRPr lang="en-US" altLang="zh-CN" sz="2800" dirty="0" smtClean="0"/>
              </a:p>
              <a:p>
                <a:pPr lvl="1"/>
                <a:r>
                  <a:rPr lang="zh-CN" altLang="en-US" sz="2400" dirty="0"/>
                  <a:t>软工专业的人都很聪明。</a:t>
                </a:r>
                <a:endParaRPr lang="en-US" altLang="zh-CN" sz="2400" dirty="0"/>
              </a:p>
              <a:p>
                <a:pPr lvl="1"/>
                <a14:m>
                  <m:oMathPara xmlns:m="http://schemas.openxmlformats.org/officeDocument/2006/math">
                    <m:oMathParaPr>
                      <m:jc m:val="centerGroup"/>
                    </m:oMathParaPr>
                    <m:oMath xmlns:m="http://schemas.openxmlformats.org/officeDocument/2006/math">
                      <m:r>
                        <a:rPr lang="en-US" altLang="zh-CN" sz="2400">
                          <a:latin typeface="Cambria Math" panose="02040503050406030204" pitchFamily="18" charset="0"/>
                        </a:rPr>
                        <m:t>∀</m:t>
                      </m:r>
                      <m:r>
                        <a:rPr lang="en-US" altLang="zh-CN" sz="2400">
                          <a:latin typeface="Cambria Math" panose="02040503050406030204" pitchFamily="18" charset="0"/>
                        </a:rPr>
                        <m:t>𝑥</m:t>
                      </m:r>
                      <m:r>
                        <a:rPr lang="en-US" altLang="zh-CN" sz="2400">
                          <a:latin typeface="Cambria Math" panose="02040503050406030204" pitchFamily="18" charset="0"/>
                        </a:rPr>
                        <m:t>(</m:t>
                      </m:r>
                      <m:r>
                        <a:rPr lang="en-US" altLang="zh-CN" sz="2400">
                          <a:latin typeface="Cambria Math" panose="02040503050406030204" pitchFamily="18" charset="0"/>
                        </a:rPr>
                        <m:t>𝐴𝑡</m:t>
                      </m:r>
                      <m:r>
                        <a:rPr lang="en-US" altLang="zh-CN" sz="2400">
                          <a:latin typeface="Cambria Math" panose="02040503050406030204" pitchFamily="18" charset="0"/>
                        </a:rPr>
                        <m:t>(</m:t>
                      </m:r>
                      <m:r>
                        <a:rPr lang="en-US" altLang="zh-CN" sz="2400">
                          <a:latin typeface="Cambria Math" panose="02040503050406030204" pitchFamily="18" charset="0"/>
                        </a:rPr>
                        <m:t>𝑥</m:t>
                      </m:r>
                      <m:r>
                        <a:rPr lang="en-US" altLang="zh-CN" sz="2400">
                          <a:latin typeface="Cambria Math" panose="02040503050406030204" pitchFamily="18" charset="0"/>
                        </a:rPr>
                        <m:t>, </m:t>
                      </m:r>
                      <m:r>
                        <a:rPr lang="en-US" altLang="zh-CN" sz="2400">
                          <a:latin typeface="Cambria Math" panose="02040503050406030204" pitchFamily="18" charset="0"/>
                        </a:rPr>
                        <m:t>𝑆𝐸</m:t>
                      </m:r>
                      <m:r>
                        <a:rPr lang="en-US" altLang="zh-CN" sz="2400">
                          <a:latin typeface="Cambria Math" panose="02040503050406030204" pitchFamily="18" charset="0"/>
                        </a:rPr>
                        <m:t>)</m:t>
                      </m:r>
                      <m:r>
                        <a:rPr lang="en-US" altLang="zh-CN" sz="2400" i="1" smtClean="0">
                          <a:latin typeface="Cambria Math" panose="02040503050406030204" pitchFamily="18" charset="0"/>
                        </a:rPr>
                        <m:t>⇒</m:t>
                      </m:r>
                      <m:r>
                        <a:rPr lang="en-US" altLang="zh-CN" sz="2400">
                          <a:latin typeface="Cambria Math" panose="02040503050406030204" pitchFamily="18" charset="0"/>
                        </a:rPr>
                        <m:t>𝑆𝑚𝑎𝑟𝑡</m:t>
                      </m:r>
                      <m:r>
                        <a:rPr lang="en-US" altLang="zh-CN" sz="2400">
                          <a:latin typeface="Cambria Math" panose="02040503050406030204" pitchFamily="18" charset="0"/>
                        </a:rPr>
                        <m:t>(</m:t>
                      </m:r>
                      <m:r>
                        <a:rPr lang="en-US" altLang="zh-CN" sz="2400">
                          <a:latin typeface="Cambria Math" panose="02040503050406030204" pitchFamily="18" charset="0"/>
                        </a:rPr>
                        <m:t>𝑥</m:t>
                      </m:r>
                      <m:r>
                        <a:rPr lang="en-US" altLang="zh-CN" sz="2400">
                          <a:latin typeface="Cambria Math" panose="02040503050406030204" pitchFamily="18" charset="0"/>
                        </a:rPr>
                        <m:t>)))</m:t>
                      </m:r>
                    </m:oMath>
                  </m:oMathPara>
                </a14:m>
                <a:endParaRPr lang="en-US" altLang="zh-CN" sz="2400" dirty="0"/>
              </a:p>
              <a:p>
                <a:pPr lvl="1"/>
                <a:r>
                  <a:rPr lang="zh-CN" altLang="en-US" sz="2400" dirty="0" smtClean="0"/>
                  <a:t>相当于在</a:t>
                </a:r>
                <a:r>
                  <a:rPr lang="zh-CN" altLang="en-US" sz="2400" dirty="0"/>
                  <a:t>所有对象上的</a:t>
                </a:r>
                <a:r>
                  <a:rPr lang="zh-CN" altLang="en-US" sz="2400" dirty="0" smtClean="0"/>
                  <a:t>合取</a:t>
                </a:r>
                <a:endParaRPr lang="en-US" altLang="zh-CN" sz="2400" dirty="0" smtClean="0"/>
              </a:p>
              <a:p>
                <a:pPr lvl="1"/>
                <a:r>
                  <a:rPr lang="zh-CN" altLang="zh-CN" sz="2400" dirty="0" smtClean="0"/>
                  <a:t>置换</a:t>
                </a:r>
                <a14:m>
                  <m:oMath xmlns:m="http://schemas.openxmlformats.org/officeDocument/2006/math">
                    <m:d>
                      <m:dPr>
                        <m:begChr m:val="{"/>
                        <m:endChr m:val="}"/>
                        <m:ctrlPr>
                          <a:rPr lang="en-US" altLang="zh-CN" sz="2400" i="1">
                            <a:latin typeface="Cambria Math" panose="02040503050406030204" pitchFamily="18" charset="0"/>
                          </a:rPr>
                        </m:ctrlPr>
                      </m:dPr>
                      <m:e>
                        <m:r>
                          <a:rPr lang="en-US" altLang="zh-CN" sz="2400" i="1">
                            <a:latin typeface="Cambria Math" panose="02040503050406030204" pitchFamily="18" charset="0"/>
                          </a:rPr>
                          <m:t>𝑣</m:t>
                        </m:r>
                        <m:r>
                          <a:rPr lang="en-US" altLang="zh-CN" sz="2400" i="1">
                            <a:latin typeface="Cambria Math" panose="02040503050406030204" pitchFamily="18" charset="0"/>
                          </a:rPr>
                          <m:t>/</m:t>
                        </m:r>
                        <m:r>
                          <a:rPr lang="en-US" altLang="zh-CN" sz="2400" i="1">
                            <a:latin typeface="Cambria Math" panose="02040503050406030204" pitchFamily="18" charset="0"/>
                          </a:rPr>
                          <m:t>𝑔</m:t>
                        </m:r>
                      </m:e>
                    </m:d>
                  </m:oMath>
                </a14:m>
                <a:r>
                  <a:rPr lang="zh-CN" altLang="en-US" sz="2400" dirty="0" smtClean="0"/>
                  <a:t>：将</a:t>
                </a:r>
                <a14:m>
                  <m:oMath xmlns:m="http://schemas.openxmlformats.org/officeDocument/2006/math">
                    <m:r>
                      <a:rPr lang="en-US" altLang="zh-CN" sz="2400" i="1">
                        <a:latin typeface="Cambria Math" panose="02040503050406030204" pitchFamily="18" charset="0"/>
                      </a:rPr>
                      <m:t>𝑣</m:t>
                    </m:r>
                  </m:oMath>
                </a14:m>
                <a:r>
                  <a:rPr lang="zh-CN" altLang="en-US" sz="2400" dirty="0" smtClean="0"/>
                  <a:t>替换成</a:t>
                </a:r>
                <a:r>
                  <a:rPr lang="zh-CN" altLang="en-US" sz="2400" dirty="0"/>
                  <a:t>基项</a:t>
                </a:r>
                <a:r>
                  <a:rPr lang="en-US" altLang="zh-CN" sz="2400" dirty="0" smtClean="0"/>
                  <a:t>(</a:t>
                </a:r>
                <a:r>
                  <a:rPr lang="zh-CN" altLang="en-US" sz="2400" dirty="0" smtClean="0"/>
                  <a:t>没有变量的项</a:t>
                </a:r>
                <a:r>
                  <a:rPr lang="en-US" altLang="zh-CN" sz="2400" dirty="0" smtClean="0"/>
                  <a:t>)</a:t>
                </a:r>
                <a:r>
                  <a:rPr lang="zh-CN" altLang="en-US" sz="2400" dirty="0" smtClean="0"/>
                  <a:t> </a:t>
                </a:r>
                <a14:m>
                  <m:oMath xmlns:m="http://schemas.openxmlformats.org/officeDocument/2006/math">
                    <m:r>
                      <a:rPr lang="en-US" altLang="zh-CN" sz="2400" i="1">
                        <a:latin typeface="Cambria Math" panose="02040503050406030204" pitchFamily="18" charset="0"/>
                      </a:rPr>
                      <m:t>𝑔</m:t>
                    </m:r>
                  </m:oMath>
                </a14:m>
                <a:endParaRPr lang="en-US" altLang="zh-CN" sz="2400" dirty="0" smtClean="0"/>
              </a:p>
              <a:p>
                <a:pPr lvl="1"/>
                <a:r>
                  <a:rPr lang="en-US" altLang="zh-CN" sz="2400" dirty="0"/>
                  <a:t>SUBST(</a:t>
                </a:r>
                <a:r>
                  <a:rPr lang="en-US" altLang="zh-CN" sz="2400" i="1" dirty="0"/>
                  <a:t>θ</a:t>
                </a:r>
                <a:r>
                  <a:rPr lang="en-US" altLang="zh-CN" sz="2400" dirty="0"/>
                  <a:t>, </a:t>
                </a:r>
                <a:r>
                  <a:rPr lang="en-US" altLang="zh-CN" sz="2400" i="1" dirty="0">
                    <a:sym typeface="Symbol" panose="05050102010706020507" pitchFamily="18" charset="2"/>
                  </a:rPr>
                  <a:t></a:t>
                </a:r>
                <a:r>
                  <a:rPr lang="en-US" altLang="zh-CN" sz="2400" i="1" dirty="0"/>
                  <a:t> </a:t>
                </a:r>
                <a:r>
                  <a:rPr lang="en-US" altLang="zh-CN" sz="2400" dirty="0" smtClean="0"/>
                  <a:t>)</a:t>
                </a:r>
                <a:r>
                  <a:rPr lang="zh-CN" altLang="en-US" sz="2400" dirty="0" smtClean="0"/>
                  <a:t>：</a:t>
                </a:r>
                <a:r>
                  <a:rPr lang="zh-CN" altLang="zh-CN" sz="2400" dirty="0" smtClean="0"/>
                  <a:t>把置换</a:t>
                </a:r>
                <a:r>
                  <a:rPr lang="en-US" altLang="zh-CN" sz="2400" i="1" dirty="0" smtClean="0"/>
                  <a:t>θ</a:t>
                </a:r>
                <a:r>
                  <a:rPr lang="zh-CN" altLang="zh-CN" sz="2400" dirty="0"/>
                  <a:t>应用</a:t>
                </a:r>
                <a:r>
                  <a:rPr lang="zh-CN" altLang="zh-CN" sz="2400" dirty="0" smtClean="0"/>
                  <a:t>于</a:t>
                </a:r>
                <a:r>
                  <a:rPr lang="zh-CN" altLang="en-US" sz="2400" dirty="0" smtClean="0"/>
                  <a:t>语句</a:t>
                </a:r>
                <a:r>
                  <a:rPr lang="en-US" altLang="zh-CN" sz="2400" i="1" dirty="0" smtClean="0">
                    <a:sym typeface="Symbol" panose="05050102010706020507" pitchFamily="18" charset="2"/>
                  </a:rPr>
                  <a:t></a:t>
                </a:r>
                <a:endParaRPr lang="en-US" altLang="zh-CN" sz="2400" i="1" dirty="0" smtClean="0">
                  <a:sym typeface="Symbol" panose="05050102010706020507" pitchFamily="18" charset="2"/>
                </a:endParaRPr>
              </a:p>
              <a:p>
                <a:endParaRPr lang="zh-CN" altLang="en-US" dirty="0"/>
              </a:p>
            </p:txBody>
          </p:sp>
        </mc:Choice>
        <mc:Fallback>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pPr>
              <a:defRPr/>
            </a:pPr>
            <a:fld id="{FFD632CF-5949-4012-AD78-7444C454F04C}"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err="1" smtClean="0">
                <a:solidFill>
                  <a:schemeClr val="tx1"/>
                </a:solidFill>
                <a:effectLst/>
                <a:latin typeface="Times New Roman" panose="02020603050405020304" pitchFamily="18" charset="0"/>
                <a:ea typeface="宋体" panose="02010600030101010101" pitchFamily="2" charset="-122"/>
                <a:cs typeface="+mn-cs"/>
              </a:rPr>
              <a:t>Thoralf</a:t>
            </a:r>
            <a:r>
              <a:rPr lang="en-US" altLang="zh-CN" sz="1200" b="1" i="0" kern="1200" dirty="0" smtClean="0">
                <a:solidFill>
                  <a:schemeClr val="tx1"/>
                </a:solidFill>
                <a:effectLst/>
                <a:latin typeface="Times New Roman" panose="02020603050405020304" pitchFamily="18" charset="0"/>
                <a:ea typeface="宋体" panose="02010600030101010101" pitchFamily="2" charset="-122"/>
                <a:cs typeface="+mn-cs"/>
              </a:rPr>
              <a:t> Albert </a:t>
            </a:r>
            <a:r>
              <a:rPr lang="en-US" altLang="zh-CN" sz="1200" b="1" i="0" kern="1200" dirty="0" err="1" smtClean="0">
                <a:solidFill>
                  <a:schemeClr val="tx1"/>
                </a:solidFill>
                <a:effectLst/>
                <a:latin typeface="Times New Roman" panose="02020603050405020304" pitchFamily="18" charset="0"/>
                <a:ea typeface="宋体" panose="02010600030101010101" pitchFamily="2" charset="-122"/>
                <a:cs typeface="+mn-cs"/>
              </a:rPr>
              <a:t>Skolem</a:t>
            </a:r>
            <a:endParaRPr lang="en-US" altLang="zh-CN" sz="1200" b="1" i="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Norwegian logician</a:t>
            </a:r>
            <a:endPar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FFD632CF-5949-4012-AD78-7444C454F04C}"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64E614B-4B87-412B-91E8-8DF1C57FABE2}"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1000" dirty="0" smtClean="0">
                <a:ea typeface="宋体" panose="02010600030101010101" pitchFamily="2" charset="-122"/>
              </a:rPr>
              <a:t>P(a)</a:t>
            </a:r>
            <a:endParaRPr lang="en-US" altLang="zh-CN" sz="1000" dirty="0" smtClean="0">
              <a:ea typeface="宋体" panose="02010600030101010101" pitchFamily="2" charset="-122"/>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sz="1200" dirty="0" smtClean="0">
                <a:latin typeface="+mn-ea"/>
              </a:rPr>
              <a:t>We can get the inference immediately if we can find a substitution.</a:t>
            </a:r>
            <a:endParaRPr lang="en-US" altLang="zh-CN" sz="1200" dirty="0" smtClean="0">
              <a:latin typeface="+mn-ea"/>
            </a:endParaRPr>
          </a:p>
          <a:p>
            <a:endParaRPr lang="en-US" altLang="zh-CN" dirty="0" smtClean="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pPr>
                  <a:lnSpc>
                    <a:spcPct val="90000"/>
                  </a:lnSpc>
                </a:pPr>
                <a:r>
                  <a:rPr lang="zh-CN" altLang="en-US" sz="2800" dirty="0" smtClean="0">
                    <a:latin typeface="+mn-ea"/>
                  </a:rPr>
                  <a:t>合一</a:t>
                </a:r>
                <a:r>
                  <a:rPr lang="zh-CN" altLang="en-US" sz="2800" dirty="0">
                    <a:latin typeface="+mn-ea"/>
                  </a:rPr>
                  <a:t>的</a:t>
                </a:r>
                <a:r>
                  <a:rPr lang="zh-CN" altLang="en-US" sz="2800" dirty="0" smtClean="0">
                    <a:latin typeface="+mn-ea"/>
                  </a:rPr>
                  <a:t>结果可能不唯一</a:t>
                </a:r>
                <a:endParaRPr lang="en-US" altLang="zh-CN" sz="2800" dirty="0" smtClean="0">
                  <a:latin typeface="+mn-ea"/>
                </a:endParaRPr>
              </a:p>
              <a:p>
                <a:pPr lvl="1">
                  <a:lnSpc>
                    <a:spcPct val="90000"/>
                  </a:lnSpc>
                </a:pPr>
                <a14:m>
                  <m:oMathPara xmlns:m="http://schemas.openxmlformats.org/officeDocument/2006/math">
                    <m:oMathParaPr>
                      <m:jc m:val="left"/>
                    </m:oMathParaPr>
                    <m:oMath xmlns:m="http://schemas.openxmlformats.org/officeDocument/2006/math">
                      <m:r>
                        <a:rPr lang="en-US" altLang="zh-CN" i="1" dirty="0" smtClean="0">
                          <a:latin typeface="Cambria Math" panose="02040503050406030204" pitchFamily="18" charset="0"/>
                        </a:rPr>
                        <m:t>𝑈𝑁𝐼𝐹𝑌</m:t>
                      </m:r>
                      <m:r>
                        <a:rPr lang="en-US" altLang="zh-CN" i="1" dirty="0" smtClean="0">
                          <a:latin typeface="Cambria Math" panose="02040503050406030204" pitchFamily="18" charset="0"/>
                        </a:rPr>
                        <m:t> (</m:t>
                      </m:r>
                      <m:r>
                        <a:rPr lang="en-US" altLang="zh-CN" i="1" dirty="0">
                          <a:latin typeface="Cambria Math" panose="02040503050406030204" pitchFamily="18" charset="0"/>
                        </a:rPr>
                        <m:t>𝐾𝑛𝑜𝑤𝑠</m:t>
                      </m:r>
                      <m:r>
                        <a:rPr lang="en-US" altLang="zh-CN" i="1" dirty="0">
                          <a:latin typeface="Cambria Math" panose="02040503050406030204" pitchFamily="18" charset="0"/>
                        </a:rPr>
                        <m:t>(</m:t>
                      </m:r>
                      <m:r>
                        <a:rPr lang="en-US" altLang="zh-CN" i="1" dirty="0" err="1">
                          <a:latin typeface="Cambria Math" panose="02040503050406030204" pitchFamily="18" charset="0"/>
                        </a:rPr>
                        <m:t>𝐽𝑜ℎ𝑛</m:t>
                      </m:r>
                      <m:r>
                        <a:rPr lang="en-US" altLang="zh-CN" i="1" dirty="0" err="1">
                          <a:latin typeface="Cambria Math" panose="02040503050406030204" pitchFamily="18" charset="0"/>
                        </a:rPr>
                        <m:t>,</m:t>
                      </m:r>
                      <m:r>
                        <a:rPr lang="en-US" altLang="zh-CN" i="1" dirty="0" err="1">
                          <a:latin typeface="Cambria Math" panose="02040503050406030204" pitchFamily="18" charset="0"/>
                        </a:rPr>
                        <m:t>𝑥</m:t>
                      </m:r>
                      <m:r>
                        <a:rPr lang="en-US" altLang="zh-CN" i="1" dirty="0">
                          <a:latin typeface="Cambria Math" panose="02040503050406030204" pitchFamily="18" charset="0"/>
                        </a:rPr>
                        <m:t>), </m:t>
                      </m:r>
                      <m:r>
                        <a:rPr lang="en-US" altLang="zh-CN" i="1" dirty="0">
                          <a:latin typeface="Cambria Math" panose="02040503050406030204" pitchFamily="18" charset="0"/>
                        </a:rPr>
                        <m:t>𝐾𝑛𝑜𝑤𝑠</m:t>
                      </m:r>
                      <m:r>
                        <a:rPr lang="en-US" altLang="zh-CN" i="1" dirty="0">
                          <a:latin typeface="Cambria Math" panose="02040503050406030204" pitchFamily="18" charset="0"/>
                        </a:rPr>
                        <m:t>(</m:t>
                      </m:r>
                      <m:r>
                        <a:rPr lang="en-US" altLang="zh-CN" i="1" dirty="0" err="1">
                          <a:latin typeface="Cambria Math" panose="02040503050406030204" pitchFamily="18" charset="0"/>
                        </a:rPr>
                        <m:t>𝑦</m:t>
                      </m:r>
                      <m:r>
                        <a:rPr lang="en-US" altLang="zh-CN" i="1" dirty="0" err="1">
                          <a:latin typeface="Cambria Math" panose="02040503050406030204" pitchFamily="18" charset="0"/>
                        </a:rPr>
                        <m:t>,</m:t>
                      </m:r>
                      <m:r>
                        <a:rPr lang="en-US" altLang="zh-CN" i="1" dirty="0" err="1">
                          <a:latin typeface="Cambria Math" panose="02040503050406030204" pitchFamily="18" charset="0"/>
                        </a:rPr>
                        <m:t>𝑧</m:t>
                      </m:r>
                      <m:r>
                        <a:rPr lang="en-US" altLang="zh-CN" i="1" dirty="0">
                          <a:latin typeface="Cambria Math" panose="02040503050406030204" pitchFamily="18" charset="0"/>
                        </a:rPr>
                        <m:t>))</m:t>
                      </m:r>
                    </m:oMath>
                  </m:oMathPara>
                </a14:m>
                <a:endParaRPr lang="en-US" altLang="zh-CN" dirty="0">
                  <a:latin typeface="+mn-ea"/>
                </a:endParaRPr>
              </a:p>
              <a:p>
                <a:pPr lvl="1">
                  <a:lnSpc>
                    <a:spcPct val="90000"/>
                  </a:lnSpc>
                </a:pPr>
                <a14:m>
                  <m:oMath xmlns:m="http://schemas.openxmlformats.org/officeDocument/2006/math">
                    <m:r>
                      <a:rPr lang="en-US" altLang="zh-CN" i="1" dirty="0" smtClean="0">
                        <a:solidFill>
                          <a:srgbClr val="FF0066"/>
                        </a:solidFill>
                        <a:latin typeface="Cambria Math" panose="02040503050406030204" pitchFamily="18" charset="0"/>
                      </a:rPr>
                      <m:t>{</m:t>
                    </m:r>
                    <m:r>
                      <a:rPr lang="en-US" altLang="zh-CN" i="1" dirty="0">
                        <a:solidFill>
                          <a:srgbClr val="FF0066"/>
                        </a:solidFill>
                        <a:latin typeface="Cambria Math" panose="02040503050406030204" pitchFamily="18" charset="0"/>
                      </a:rPr>
                      <m:t>𝑦</m:t>
                    </m:r>
                    <m:r>
                      <a:rPr lang="en-US" altLang="zh-CN" i="1" dirty="0">
                        <a:solidFill>
                          <a:srgbClr val="FF0066"/>
                        </a:solidFill>
                        <a:latin typeface="Cambria Math" panose="02040503050406030204" pitchFamily="18" charset="0"/>
                      </a:rPr>
                      <m:t>/</m:t>
                    </m:r>
                    <m:r>
                      <a:rPr lang="en-US" altLang="zh-CN" i="1" dirty="0">
                        <a:solidFill>
                          <a:srgbClr val="FF0066"/>
                        </a:solidFill>
                        <a:latin typeface="Cambria Math" panose="02040503050406030204" pitchFamily="18" charset="0"/>
                      </a:rPr>
                      <m:t>𝐽𝑜ℎ𝑛</m:t>
                    </m:r>
                    <m:r>
                      <a:rPr lang="en-US" altLang="zh-CN" i="1" dirty="0">
                        <a:solidFill>
                          <a:srgbClr val="FF0066"/>
                        </a:solidFill>
                        <a:latin typeface="Cambria Math" panose="02040503050406030204" pitchFamily="18" charset="0"/>
                      </a:rPr>
                      <m:t>, </m:t>
                    </m:r>
                    <m:r>
                      <a:rPr lang="en-US" altLang="zh-CN" i="1" dirty="0">
                        <a:solidFill>
                          <a:srgbClr val="FF0066"/>
                        </a:solidFill>
                        <a:latin typeface="Cambria Math" panose="02040503050406030204" pitchFamily="18" charset="0"/>
                      </a:rPr>
                      <m:t>𝑥</m:t>
                    </m:r>
                    <m:r>
                      <a:rPr lang="en-US" altLang="zh-CN" i="1" dirty="0">
                        <a:solidFill>
                          <a:srgbClr val="FF0066"/>
                        </a:solidFill>
                        <a:latin typeface="Cambria Math" panose="02040503050406030204" pitchFamily="18" charset="0"/>
                      </a:rPr>
                      <m:t>/</m:t>
                    </m:r>
                    <m:r>
                      <a:rPr lang="en-US" altLang="zh-CN" i="1" dirty="0">
                        <a:solidFill>
                          <a:srgbClr val="FF0066"/>
                        </a:solidFill>
                        <a:latin typeface="Cambria Math" panose="02040503050406030204" pitchFamily="18" charset="0"/>
                      </a:rPr>
                      <m:t>𝑧</m:t>
                    </m:r>
                    <m:r>
                      <a:rPr lang="en-US" altLang="zh-CN" i="1" dirty="0">
                        <a:solidFill>
                          <a:srgbClr val="FF0066"/>
                        </a:solidFill>
                        <a:latin typeface="Cambria Math" panose="02040503050406030204" pitchFamily="18" charset="0"/>
                      </a:rPr>
                      <m:t>} </m:t>
                    </m:r>
                    <m:r>
                      <a:rPr lang="zh-CN" altLang="en-US" i="1" dirty="0">
                        <a:latin typeface="Cambria Math" panose="02040503050406030204" pitchFamily="18" charset="0"/>
                      </a:rPr>
                      <m:t>或</m:t>
                    </m:r>
                  </m:oMath>
                </a14:m>
                <a:r>
                  <a:rPr lang="en-US" altLang="zh-CN" dirty="0" smtClean="0">
                    <a:latin typeface="+mn-ea"/>
                  </a:rPr>
                  <a:t> </a:t>
                </a:r>
                <a14:m>
                  <m:oMath xmlns:m="http://schemas.openxmlformats.org/officeDocument/2006/math">
                    <m:r>
                      <a:rPr lang="en-US" altLang="zh-CN" i="1" dirty="0" smtClean="0">
                        <a:solidFill>
                          <a:schemeClr val="hlink"/>
                        </a:solidFill>
                        <a:latin typeface="Cambria Math" panose="02040503050406030204" pitchFamily="18" charset="0"/>
                      </a:rPr>
                      <m:t>{</m:t>
                    </m:r>
                    <m:r>
                      <a:rPr lang="en-US" altLang="zh-CN" i="1" dirty="0" smtClean="0">
                        <a:solidFill>
                          <a:schemeClr val="hlink"/>
                        </a:solidFill>
                        <a:latin typeface="Cambria Math" panose="02040503050406030204" pitchFamily="18" charset="0"/>
                      </a:rPr>
                      <m:t>𝑥</m:t>
                    </m:r>
                    <m:r>
                      <a:rPr lang="en-US" altLang="zh-CN" i="1" dirty="0" smtClean="0">
                        <a:solidFill>
                          <a:schemeClr val="hlink"/>
                        </a:solidFill>
                        <a:latin typeface="Cambria Math" panose="02040503050406030204" pitchFamily="18" charset="0"/>
                      </a:rPr>
                      <m:t>/</m:t>
                    </m:r>
                    <m:r>
                      <a:rPr lang="en-US" altLang="zh-CN" i="1" dirty="0" smtClean="0">
                        <a:solidFill>
                          <a:schemeClr val="hlink"/>
                        </a:solidFill>
                        <a:latin typeface="Cambria Math" panose="02040503050406030204" pitchFamily="18" charset="0"/>
                      </a:rPr>
                      <m:t>𝐽𝑜ℎ𝑛</m:t>
                    </m:r>
                    <m:r>
                      <a:rPr lang="en-US" altLang="zh-CN" i="1" dirty="0" smtClean="0">
                        <a:solidFill>
                          <a:schemeClr val="hlink"/>
                        </a:solidFill>
                        <a:latin typeface="Cambria Math" panose="02040503050406030204" pitchFamily="18" charset="0"/>
                      </a:rPr>
                      <m:t>, </m:t>
                    </m:r>
                    <m:r>
                      <a:rPr lang="en-US" altLang="zh-CN" i="1" dirty="0" smtClean="0">
                        <a:solidFill>
                          <a:schemeClr val="hlink"/>
                        </a:solidFill>
                        <a:latin typeface="Cambria Math" panose="02040503050406030204" pitchFamily="18" charset="0"/>
                      </a:rPr>
                      <m:t>𝑦</m:t>
                    </m:r>
                    <m:r>
                      <a:rPr lang="en-US" altLang="zh-CN" i="1" dirty="0" smtClean="0">
                        <a:solidFill>
                          <a:schemeClr val="hlink"/>
                        </a:solidFill>
                        <a:latin typeface="Cambria Math" panose="02040503050406030204" pitchFamily="18" charset="0"/>
                      </a:rPr>
                      <m:t>/</m:t>
                    </m:r>
                    <m:r>
                      <a:rPr lang="en-US" altLang="zh-CN" i="1" dirty="0" smtClean="0">
                        <a:solidFill>
                          <a:schemeClr val="hlink"/>
                        </a:solidFill>
                        <a:latin typeface="Cambria Math" panose="02040503050406030204" pitchFamily="18" charset="0"/>
                      </a:rPr>
                      <m:t>𝐽𝑜ℎ𝑛</m:t>
                    </m:r>
                    <m:r>
                      <a:rPr lang="en-US" altLang="zh-CN" i="1" dirty="0" smtClean="0">
                        <a:solidFill>
                          <a:schemeClr val="hlink"/>
                        </a:solidFill>
                        <a:latin typeface="Cambria Math" panose="02040503050406030204" pitchFamily="18" charset="0"/>
                      </a:rPr>
                      <m:t>, </m:t>
                    </m:r>
                    <m:r>
                      <a:rPr lang="en-US" altLang="zh-CN" i="1" dirty="0" smtClean="0">
                        <a:solidFill>
                          <a:schemeClr val="hlink"/>
                        </a:solidFill>
                        <a:latin typeface="Cambria Math" panose="02040503050406030204" pitchFamily="18" charset="0"/>
                      </a:rPr>
                      <m:t>𝑧</m:t>
                    </m:r>
                    <m:r>
                      <a:rPr lang="en-US" altLang="zh-CN" i="1" dirty="0" smtClean="0">
                        <a:solidFill>
                          <a:schemeClr val="hlink"/>
                        </a:solidFill>
                        <a:latin typeface="Cambria Math" panose="02040503050406030204" pitchFamily="18" charset="0"/>
                      </a:rPr>
                      <m:t>/</m:t>
                    </m:r>
                    <m:r>
                      <a:rPr lang="en-US" altLang="zh-CN" i="1" dirty="0" smtClean="0">
                        <a:solidFill>
                          <a:schemeClr val="hlink"/>
                        </a:solidFill>
                        <a:latin typeface="Cambria Math" panose="02040503050406030204" pitchFamily="18" charset="0"/>
                      </a:rPr>
                      <m:t>𝐽𝑜ℎ𝑛</m:t>
                    </m:r>
                    <m:r>
                      <a:rPr lang="en-US" altLang="zh-CN" i="1" dirty="0" smtClean="0">
                        <a:solidFill>
                          <a:schemeClr val="hlink"/>
                        </a:solidFill>
                        <a:latin typeface="Cambria Math" panose="02040503050406030204" pitchFamily="18" charset="0"/>
                      </a:rPr>
                      <m:t>}</m:t>
                    </m:r>
                  </m:oMath>
                </a14:m>
                <a:endParaRPr lang="en-US" altLang="zh-CN" dirty="0">
                  <a:solidFill>
                    <a:schemeClr val="hlink"/>
                  </a:solidFill>
                  <a:latin typeface="+mn-ea"/>
                </a:endParaRPr>
              </a:p>
              <a:p>
                <a:pPr lvl="1">
                  <a:lnSpc>
                    <a:spcPct val="90000"/>
                  </a:lnSpc>
                </a:pPr>
                <a14:m>
                  <m:oMath xmlns:m="http://schemas.openxmlformats.org/officeDocument/2006/math">
                    <m:r>
                      <a:rPr lang="en-US" altLang="zh-CN" i="1" dirty="0" smtClean="0">
                        <a:solidFill>
                          <a:srgbClr val="FF0066"/>
                        </a:solidFill>
                        <a:latin typeface="Cambria Math" panose="02040503050406030204" pitchFamily="18" charset="0"/>
                      </a:rPr>
                      <m:t>𝐾𝑛𝑜𝑤𝑠</m:t>
                    </m:r>
                    <m:r>
                      <a:rPr lang="en-US" altLang="zh-CN" i="1" dirty="0" smtClean="0">
                        <a:solidFill>
                          <a:srgbClr val="FF0066"/>
                        </a:solidFill>
                        <a:latin typeface="Cambria Math" panose="02040503050406030204" pitchFamily="18" charset="0"/>
                      </a:rPr>
                      <m:t> (</m:t>
                    </m:r>
                    <m:r>
                      <a:rPr lang="en-US" altLang="zh-CN" i="1" dirty="0">
                        <a:solidFill>
                          <a:srgbClr val="FF0066"/>
                        </a:solidFill>
                        <a:latin typeface="Cambria Math" panose="02040503050406030204" pitchFamily="18" charset="0"/>
                      </a:rPr>
                      <m:t>𝐽𝑜ℎ𝑛</m:t>
                    </m:r>
                    <m:r>
                      <a:rPr lang="en-US" altLang="zh-CN" i="1" dirty="0">
                        <a:solidFill>
                          <a:srgbClr val="FF0066"/>
                        </a:solidFill>
                        <a:latin typeface="Cambria Math" panose="02040503050406030204" pitchFamily="18" charset="0"/>
                      </a:rPr>
                      <m:t>, </m:t>
                    </m:r>
                    <m:r>
                      <a:rPr lang="en-US" altLang="zh-CN" i="1" dirty="0">
                        <a:solidFill>
                          <a:srgbClr val="FF0066"/>
                        </a:solidFill>
                        <a:latin typeface="Cambria Math" panose="02040503050406030204" pitchFamily="18" charset="0"/>
                      </a:rPr>
                      <m:t>𝑧</m:t>
                    </m:r>
                    <m:r>
                      <a:rPr lang="en-US" altLang="zh-CN" i="1" dirty="0">
                        <a:solidFill>
                          <a:srgbClr val="FF0066"/>
                        </a:solidFill>
                        <a:latin typeface="Cambria Math" panose="02040503050406030204" pitchFamily="18" charset="0"/>
                      </a:rPr>
                      <m:t>) </m:t>
                    </m:r>
                  </m:oMath>
                </a14:m>
                <a:r>
                  <a:rPr lang="zh-CN" altLang="en-US" dirty="0" smtClean="0">
                    <a:latin typeface="+mn-ea"/>
                  </a:rPr>
                  <a:t>或</a:t>
                </a:r>
                <a:r>
                  <a:rPr lang="en-US" altLang="zh-CN" dirty="0" smtClean="0">
                    <a:latin typeface="+mn-ea"/>
                  </a:rPr>
                  <a:t> </a:t>
                </a:r>
                <a14:m>
                  <m:oMath xmlns:m="http://schemas.openxmlformats.org/officeDocument/2006/math">
                    <m:r>
                      <a:rPr lang="en-US" altLang="zh-CN" i="1" dirty="0" smtClean="0">
                        <a:solidFill>
                          <a:schemeClr val="hlink"/>
                        </a:solidFill>
                        <a:latin typeface="Cambria Math" panose="02040503050406030204" pitchFamily="18" charset="0"/>
                      </a:rPr>
                      <m:t>𝐾𝑛𝑜𝑤𝑠</m:t>
                    </m:r>
                    <m:r>
                      <a:rPr lang="en-US" altLang="zh-CN" i="1" dirty="0" smtClean="0">
                        <a:solidFill>
                          <a:schemeClr val="hlink"/>
                        </a:solidFill>
                        <a:latin typeface="Cambria Math" panose="02040503050406030204" pitchFamily="18" charset="0"/>
                      </a:rPr>
                      <m:t> (</m:t>
                    </m:r>
                    <m:r>
                      <a:rPr lang="en-US" altLang="zh-CN" i="1" dirty="0" smtClean="0">
                        <a:solidFill>
                          <a:schemeClr val="hlink"/>
                        </a:solidFill>
                        <a:latin typeface="Cambria Math" panose="02040503050406030204" pitchFamily="18" charset="0"/>
                      </a:rPr>
                      <m:t>𝐽𝑜ℎ𝑛</m:t>
                    </m:r>
                    <m:r>
                      <a:rPr lang="en-US" altLang="zh-CN" i="1" dirty="0" smtClean="0">
                        <a:solidFill>
                          <a:schemeClr val="hlink"/>
                        </a:solidFill>
                        <a:latin typeface="Cambria Math" panose="02040503050406030204" pitchFamily="18" charset="0"/>
                      </a:rPr>
                      <m:t>, </m:t>
                    </m:r>
                    <m:r>
                      <a:rPr lang="en-US" altLang="zh-CN" i="1" dirty="0" smtClean="0">
                        <a:solidFill>
                          <a:schemeClr val="hlink"/>
                        </a:solidFill>
                        <a:latin typeface="Cambria Math" panose="02040503050406030204" pitchFamily="18" charset="0"/>
                      </a:rPr>
                      <m:t>𝐽𝑜ℎ𝑛</m:t>
                    </m:r>
                    <m:r>
                      <a:rPr lang="en-US" altLang="zh-CN" i="1" dirty="0" smtClean="0">
                        <a:solidFill>
                          <a:schemeClr val="hlink"/>
                        </a:solidFill>
                        <a:latin typeface="Cambria Math" panose="02040503050406030204" pitchFamily="18" charset="0"/>
                      </a:rPr>
                      <m:t>)</m:t>
                    </m:r>
                  </m:oMath>
                </a14:m>
                <a:endParaRPr lang="en-US" altLang="zh-CN" dirty="0">
                  <a:solidFill>
                    <a:schemeClr val="hlink"/>
                  </a:solidFill>
                  <a:latin typeface="+mn-ea"/>
                </a:endParaRPr>
              </a:p>
              <a:p>
                <a:pPr lvl="2">
                  <a:lnSpc>
                    <a:spcPct val="90000"/>
                  </a:lnSpc>
                </a:pPr>
                <a:r>
                  <a:rPr lang="en-US" altLang="zh-CN" sz="2400" dirty="0">
                    <a:latin typeface="+mn-ea"/>
                  </a:rPr>
                  <a:t>Second could be obtained from first with extra subs</a:t>
                </a:r>
                <a:endParaRPr lang="en-US" altLang="zh-CN" sz="2400" dirty="0">
                  <a:latin typeface="+mn-ea"/>
                </a:endParaRPr>
              </a:p>
              <a:p>
                <a:pPr lvl="2">
                  <a:lnSpc>
                    <a:spcPct val="90000"/>
                  </a:lnSpc>
                </a:pPr>
                <a:r>
                  <a:rPr lang="en-US" altLang="zh-CN" sz="2400" dirty="0">
                    <a:latin typeface="+mn-ea"/>
                  </a:rPr>
                  <a:t>First unifier is more </a:t>
                </a:r>
                <a:r>
                  <a:rPr lang="en-US" altLang="zh-CN" sz="2400" dirty="0">
                    <a:solidFill>
                      <a:schemeClr val="accent2"/>
                    </a:solidFill>
                    <a:latin typeface="+mn-ea"/>
                  </a:rPr>
                  <a:t>general</a:t>
                </a:r>
                <a:r>
                  <a:rPr lang="en-US" altLang="zh-CN" sz="2400" dirty="0">
                    <a:latin typeface="+mn-ea"/>
                  </a:rPr>
                  <a:t> than second because it places fewer restrictions on the values of the variables</a:t>
                </a:r>
                <a:endParaRPr lang="en-US" altLang="zh-CN" sz="2400" dirty="0">
                  <a:latin typeface="+mn-ea"/>
                </a:endParaRPr>
              </a:p>
              <a:p>
                <a:pPr>
                  <a:lnSpc>
                    <a:spcPct val="90000"/>
                  </a:lnSpc>
                </a:pPr>
                <a:r>
                  <a:rPr lang="en-US" altLang="zh-CN" sz="2800" dirty="0">
                    <a:latin typeface="+mn-ea"/>
                  </a:rPr>
                  <a:t>There is a </a:t>
                </a:r>
                <a:r>
                  <a:rPr lang="en-US" altLang="zh-CN" sz="2800" i="1" dirty="0">
                    <a:solidFill>
                      <a:schemeClr val="accent2"/>
                    </a:solidFill>
                    <a:latin typeface="+mn-ea"/>
                  </a:rPr>
                  <a:t>most general unifier</a:t>
                </a:r>
                <a:r>
                  <a:rPr lang="en-US" altLang="zh-CN" sz="2800" i="1" dirty="0">
                    <a:latin typeface="+mn-ea"/>
                  </a:rPr>
                  <a:t> </a:t>
                </a:r>
                <a:r>
                  <a:rPr lang="en-US" altLang="en-US" sz="2800" i="1" dirty="0">
                    <a:latin typeface="+mn-ea"/>
                  </a:rPr>
                  <a:t>(MGU)</a:t>
                </a:r>
                <a:r>
                  <a:rPr lang="en-US" altLang="en-US" sz="2800" dirty="0">
                    <a:latin typeface="+mn-ea"/>
                  </a:rPr>
                  <a:t> </a:t>
                </a:r>
                <a:r>
                  <a:rPr lang="en-US" altLang="zh-CN" sz="2800" dirty="0">
                    <a:latin typeface="+mn-ea"/>
                  </a:rPr>
                  <a:t>for every unifiable pair of expressions	</a:t>
                </a:r>
                <a:endParaRPr lang="en-US" altLang="zh-CN" sz="2800" dirty="0">
                  <a:latin typeface="+mn-ea"/>
                </a:endParaRPr>
              </a:p>
              <a:p>
                <a:endParaRPr lang="zh-CN" altLang="en-US" dirty="0"/>
              </a:p>
            </p:txBody>
          </p:sp>
        </mc:Choice>
        <mc:Fallback>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b="-32639"/>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pPr>
              <a:defRPr/>
            </a:pPr>
            <a:fld id="{FFD632CF-5949-4012-AD78-7444C454F04C}"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E0220BF-5094-414A-9DDC-61D26FAF6522}"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p:sp>
      <mc:AlternateContent xmlns:mc="http://schemas.openxmlformats.org/markup-compatibility/2006">
        <mc:Choice xmlns:a14="http://schemas.microsoft.com/office/drawing/2010/main" Requires="a14">
          <p:sp>
            <p:nvSpPr>
              <p:cNvPr id="73732" name="Rectangle 3"/>
              <p:cNvSpPr>
                <a:spLocks noGrp="1" noChangeArrowheads="1"/>
              </p:cNvSpPr>
              <p:nvPr>
                <p:ph type="body" idx="1"/>
              </p:nvPr>
            </p:nvSpPr>
            <p:spPr>
              <a:xfrm>
                <a:off x="684213" y="4740275"/>
                <a:ext cx="5467350" cy="44910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smtClean="0"/>
                  <a:t>Everyone </a:t>
                </a:r>
                <a:r>
                  <a:rPr lang="en-US" altLang="zh-CN" dirty="0"/>
                  <a:t>who loves all animals is loved by </a:t>
                </a:r>
                <a:r>
                  <a:rPr lang="en-US" altLang="zh-CN" dirty="0" smtClean="0"/>
                  <a:t>someone.</a:t>
                </a:r>
                <a:endParaRPr lang="en-US" altLang="zh-CN" i="1" dirty="0" smtClean="0">
                  <a:latin typeface="Cambria Math" panose="02040503050406030204" pitchFamily="18" charset="0"/>
                  <a:ea typeface="Cambria Math" panose="02040503050406030204" pitchFamily="18" charset="0"/>
                </a:endParaRPr>
              </a:p>
              <a:p>
                <a14:m>
                  <m:oMathPara xmlns:m="http://schemas.openxmlformats.org/officeDocument/2006/math">
                    <m:oMathParaPr>
                      <m:jc m:val="left"/>
                    </m:oMathParaPr>
                    <m:oMath xmlns:m="http://schemas.openxmlformats.org/officeDocument/2006/math">
                      <m:r>
                        <a:rPr lang="es-ES" altLang="zh-CN" i="1" smtClean="0">
                          <a:latin typeface="Cambria Math" panose="02040503050406030204" pitchFamily="18" charset="0"/>
                          <a:ea typeface="Cambria Math" panose="02040503050406030204" pitchFamily="18" charset="0"/>
                        </a:rPr>
                        <m:t>∀</m:t>
                      </m:r>
                      <m:r>
                        <a:rPr lang="es-ES" altLang="zh-CN" i="1">
                          <a:latin typeface="Cambria Math" panose="02040503050406030204" pitchFamily="18" charset="0"/>
                        </a:rPr>
                        <m:t>𝑥</m:t>
                      </m:r>
                      <m:r>
                        <a:rPr lang="es-ES" altLang="zh-CN" i="1">
                          <a:latin typeface="Cambria Math" panose="02040503050406030204" pitchFamily="18" charset="0"/>
                        </a:rPr>
                        <m:t> [∀</m:t>
                      </m:r>
                      <m:r>
                        <a:rPr lang="es-ES" altLang="zh-CN" i="1">
                          <a:latin typeface="Cambria Math" panose="02040503050406030204" pitchFamily="18" charset="0"/>
                        </a:rPr>
                        <m:t>𝑦</m:t>
                      </m:r>
                      <m:r>
                        <a:rPr lang="es-ES" altLang="zh-CN" i="1">
                          <a:latin typeface="Cambria Math" panose="02040503050406030204" pitchFamily="18" charset="0"/>
                        </a:rPr>
                        <m:t> </m:t>
                      </m:r>
                      <m:r>
                        <a:rPr lang="es-ES" altLang="zh-CN" i="1">
                          <a:latin typeface="Cambria Math" panose="02040503050406030204" pitchFamily="18" charset="0"/>
                        </a:rPr>
                        <m:t>𝐴𝑛𝑖𝑚𝑎𝑙</m:t>
                      </m:r>
                      <m:r>
                        <a:rPr lang="es-ES" altLang="zh-CN" i="1">
                          <a:latin typeface="Cambria Math" panose="02040503050406030204" pitchFamily="18" charset="0"/>
                        </a:rPr>
                        <m:t>(</m:t>
                      </m:r>
                      <m:r>
                        <a:rPr lang="es-ES" altLang="zh-CN" i="1">
                          <a:latin typeface="Cambria Math" panose="02040503050406030204" pitchFamily="18" charset="0"/>
                        </a:rPr>
                        <m:t>𝑦</m:t>
                      </m:r>
                      <m:r>
                        <a:rPr lang="es-ES" altLang="zh-CN" i="1">
                          <a:latin typeface="Cambria Math" panose="02040503050406030204" pitchFamily="18" charset="0"/>
                        </a:rPr>
                        <m:t>)⇒</m:t>
                      </m:r>
                      <m:r>
                        <a:rPr lang="es-ES" altLang="zh-CN" i="1">
                          <a:latin typeface="Cambria Math" panose="02040503050406030204" pitchFamily="18" charset="0"/>
                        </a:rPr>
                        <m:t>𝐿𝑜𝑣𝑒𝑠</m:t>
                      </m:r>
                      <m:r>
                        <a:rPr lang="es-ES" altLang="zh-CN" i="1">
                          <a:latin typeface="Cambria Math" panose="02040503050406030204" pitchFamily="18" charset="0"/>
                        </a:rPr>
                        <m:t>(</m:t>
                      </m:r>
                      <m:r>
                        <a:rPr lang="es-ES" altLang="zh-CN" i="1">
                          <a:latin typeface="Cambria Math" panose="02040503050406030204" pitchFamily="18" charset="0"/>
                        </a:rPr>
                        <m:t>𝑥</m:t>
                      </m:r>
                      <m:r>
                        <a:rPr lang="es-ES" altLang="zh-CN" i="1">
                          <a:latin typeface="Cambria Math" panose="02040503050406030204" pitchFamily="18" charset="0"/>
                        </a:rPr>
                        <m:t>, </m:t>
                      </m:r>
                      <m:r>
                        <a:rPr lang="es-ES" altLang="zh-CN" i="1">
                          <a:latin typeface="Cambria Math" panose="02040503050406030204" pitchFamily="18" charset="0"/>
                        </a:rPr>
                        <m:t>𝑦</m:t>
                      </m:r>
                      <m:r>
                        <a:rPr lang="es-ES" altLang="zh-CN" i="1">
                          <a:latin typeface="Cambria Math" panose="02040503050406030204" pitchFamily="18" charset="0"/>
                        </a:rPr>
                        <m:t>)] ⇒ [∃</m:t>
                      </m:r>
                      <m:r>
                        <a:rPr lang="es-ES" altLang="zh-CN" i="1">
                          <a:latin typeface="Cambria Math" panose="02040503050406030204" pitchFamily="18" charset="0"/>
                        </a:rPr>
                        <m:t>𝑦</m:t>
                      </m:r>
                      <m:r>
                        <a:rPr lang="es-ES" altLang="zh-CN" i="1">
                          <a:latin typeface="Cambria Math" panose="02040503050406030204" pitchFamily="18" charset="0"/>
                        </a:rPr>
                        <m:t> </m:t>
                      </m:r>
                      <m:r>
                        <a:rPr lang="es-ES" altLang="zh-CN" i="1">
                          <a:latin typeface="Cambria Math" panose="02040503050406030204" pitchFamily="18" charset="0"/>
                        </a:rPr>
                        <m:t>𝐿𝑜𝑣𝑒𝑠</m:t>
                      </m:r>
                      <m:r>
                        <a:rPr lang="es-ES" altLang="zh-CN" i="1">
                          <a:latin typeface="Cambria Math" panose="02040503050406030204" pitchFamily="18" charset="0"/>
                        </a:rPr>
                        <m:t>(</m:t>
                      </m:r>
                      <m:r>
                        <a:rPr lang="es-ES" altLang="zh-CN" i="1">
                          <a:latin typeface="Cambria Math" panose="02040503050406030204" pitchFamily="18" charset="0"/>
                        </a:rPr>
                        <m:t>𝑦</m:t>
                      </m:r>
                      <m:r>
                        <a:rPr lang="es-ES" altLang="zh-CN" i="1">
                          <a:latin typeface="Cambria Math" panose="02040503050406030204" pitchFamily="18" charset="0"/>
                        </a:rPr>
                        <m:t>, </m:t>
                      </m:r>
                      <m:r>
                        <a:rPr lang="es-ES" altLang="zh-CN" i="1">
                          <a:latin typeface="Cambria Math" panose="02040503050406030204" pitchFamily="18" charset="0"/>
                        </a:rPr>
                        <m:t>𝑥</m:t>
                      </m:r>
                      <m:r>
                        <a:rPr lang="es-ES" altLang="zh-CN" i="1">
                          <a:latin typeface="Cambria Math" panose="02040503050406030204" pitchFamily="18" charset="0"/>
                        </a:rPr>
                        <m:t>)]</m:t>
                      </m:r>
                    </m:oMath>
                  </m:oMathPara>
                </a14:m>
                <a:endParaRPr lang="zh-CN" altLang="en-US" dirty="0"/>
              </a:p>
              <a:p>
                <a:pPr marL="457200" indent="-457200">
                  <a:spcBef>
                    <a:spcPts val="1200"/>
                  </a:spcBef>
                </a:pPr>
                <a:endParaRPr lang="en-US" altLang="zh-CN" sz="1200" dirty="0" smtClean="0">
                  <a:latin typeface="+mn-ea"/>
                </a:endParaRPr>
              </a:p>
              <a:p>
                <a:pPr marL="457200" indent="-457200">
                  <a:spcBef>
                    <a:spcPts val="1200"/>
                  </a:spcBef>
                </a:pPr>
                <a:endParaRPr lang="en-US" altLang="zh-CN" sz="1200" dirty="0" smtClean="0">
                  <a:latin typeface="+mn-ea"/>
                </a:endParaRPr>
              </a:p>
              <a:p>
                <a:pPr lvl="0"/>
                <a:r>
                  <a:rPr lang="zh-CN" altLang="zh-CN" dirty="0" smtClean="0"/>
                  <a:t>消除蕴含词</a:t>
                </a:r>
                <a:endParaRPr lang="en-US" altLang="zh-CN" dirty="0" smtClean="0"/>
              </a:p>
              <a:p>
                <a:pPr lvl="0"/>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y</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Animal</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y</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Loves</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y</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y</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Loves</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y</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fr-FR"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0"/>
                <a:endParaRPr lang="en-US" altLang="zh-CN" dirty="0" smtClean="0"/>
              </a:p>
              <a:p>
                <a:pPr lvl="0"/>
                <a:r>
                  <a:rPr lang="zh-CN" altLang="zh-CN" dirty="0" smtClean="0"/>
                  <a:t>将</a:t>
                </a:r>
                <a:r>
                  <a:rPr lang="en-US" altLang="zh-CN" dirty="0" smtClean="0">
                    <a:sym typeface="Symbol" panose="05050102010706020507" pitchFamily="18" charset="2"/>
                  </a:rPr>
                  <a:t></a:t>
                </a:r>
                <a:r>
                  <a:rPr lang="zh-CN" altLang="zh-CN" dirty="0" smtClean="0"/>
                  <a:t>内移</a:t>
                </a:r>
                <a:endParaRPr lang="en-US" altLang="zh-CN" dirty="0" smtClean="0"/>
              </a:p>
              <a:p>
                <a:pPr lvl="0"/>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y</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Animal</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y</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Loves</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y</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y</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Loves</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y</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b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b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y</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Animal</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y</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Loves</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y</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y</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Loves</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y</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b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b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y</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Animal</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y</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Loves</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y</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y</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Loves</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y</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fr-FR"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0"/>
                <a:endParaRPr lang="en-US" altLang="zh-CN" dirty="0" smtClean="0"/>
              </a:p>
              <a:p>
                <a:pPr lvl="0"/>
                <a:r>
                  <a:rPr lang="zh-CN" altLang="zh-CN" dirty="0" smtClean="0"/>
                  <a:t>变量标准化</a:t>
                </a:r>
                <a:endParaRPr lang="en-US" altLang="zh-CN" dirty="0" smtClean="0"/>
              </a:p>
              <a:p>
                <a:pPr lvl="0"/>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y</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Animal</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y</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Loves</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y</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z</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Loves</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z</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fr-FR"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0"/>
                <a:endParaRPr lang="en-US" altLang="zh-CN" dirty="0" smtClean="0"/>
              </a:p>
              <a:p>
                <a:pPr lvl="0"/>
                <a:r>
                  <a:rPr lang="en-US" altLang="zh-CN" dirty="0" err="1" smtClean="0"/>
                  <a:t>Skolem</a:t>
                </a:r>
                <a:r>
                  <a:rPr lang="zh-CN" altLang="zh-CN" dirty="0" smtClean="0"/>
                  <a:t>化</a:t>
                </a:r>
                <a:endParaRPr lang="en-US" altLang="zh-CN" dirty="0" smtClean="0"/>
              </a:p>
              <a:p>
                <a:pPr lvl="0"/>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Animal</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A</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Loves</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A</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Loves</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B</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fr-FR"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0"/>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Animal</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F</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Loves</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F</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Loves</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G</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z</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fr-FR"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0"/>
                <a:endParaRPr lang="en-US" altLang="zh-CN" dirty="0" smtClean="0"/>
              </a:p>
              <a:p>
                <a:pPr lvl="0"/>
                <a:r>
                  <a:rPr lang="zh-CN" altLang="zh-CN" dirty="0" smtClean="0"/>
                  <a:t>删除全称量词</a:t>
                </a:r>
                <a:endParaRPr lang="en-US" altLang="zh-CN" dirty="0" smtClean="0"/>
              </a:p>
              <a:p>
                <a:pPr lvl="0"/>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Animal</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F</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Loves</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F</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Loves</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G</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z</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fr-FR"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lvl="0"/>
                <a:endParaRPr lang="en-US" altLang="zh-CN" dirty="0" smtClean="0"/>
              </a:p>
              <a:p>
                <a:pPr lvl="0"/>
                <a:r>
                  <a:rPr lang="zh-CN" altLang="en-US" dirty="0" smtClean="0"/>
                  <a:t>将∨对∧进行分配</a:t>
                </a:r>
                <a:endParaRPr lang="zh-CN" altLang="en-US" dirty="0" smtClean="0"/>
              </a:p>
              <a:p>
                <a:pPr marL="457200" indent="-457200">
                  <a:spcBef>
                    <a:spcPts val="1200"/>
                  </a:spcBef>
                </a:pP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i="1" kern="1200" dirty="0" smtClean="0">
                    <a:solidFill>
                      <a:schemeClr val="tx1"/>
                    </a:solidFill>
                    <a:effectLst/>
                    <a:latin typeface="Times New Roman" panose="02020603050405020304" pitchFamily="18" charset="0"/>
                    <a:ea typeface="宋体" panose="02010600030101010101" pitchFamily="2" charset="-122"/>
                    <a:cs typeface="+mn-cs"/>
                  </a:rPr>
                  <a:t>Animal</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i="1" kern="1200" dirty="0" smtClean="0">
                    <a:solidFill>
                      <a:schemeClr val="tx1"/>
                    </a:solidFill>
                    <a:effectLst/>
                    <a:latin typeface="Times New Roman" panose="02020603050405020304" pitchFamily="18" charset="0"/>
                    <a:ea typeface="宋体" panose="02010600030101010101" pitchFamily="2" charset="-122"/>
                    <a:cs typeface="+mn-cs"/>
                  </a:rPr>
                  <a:t>F</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i="1" kern="1200" dirty="0" smtClean="0">
                    <a:solidFill>
                      <a:schemeClr val="tx1"/>
                    </a:solidFill>
                    <a:effectLst/>
                    <a:latin typeface="Times New Roman" panose="02020603050405020304" pitchFamily="18" charset="0"/>
                    <a:ea typeface="宋体" panose="02010600030101010101" pitchFamily="2" charset="-122"/>
                    <a:cs typeface="+mn-cs"/>
                  </a:rPr>
                  <a:t>Loves</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i="1" kern="1200" dirty="0" smtClean="0">
                    <a:solidFill>
                      <a:schemeClr val="tx1"/>
                    </a:solidFill>
                    <a:effectLst/>
                    <a:latin typeface="Times New Roman" panose="02020603050405020304" pitchFamily="18" charset="0"/>
                    <a:ea typeface="宋体" panose="02010600030101010101" pitchFamily="2" charset="-122"/>
                    <a:cs typeface="+mn-cs"/>
                  </a:rPr>
                  <a:t>G</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en-US"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fr-FR" altLang="zh-CN" sz="1200" kern="1200" dirty="0" smtClean="0">
                    <a:solidFill>
                      <a:schemeClr val="tx1"/>
                    </a:solidFill>
                    <a:effectLst/>
                    <a:latin typeface="Times New Roman" panose="02020603050405020304" pitchFamily="18" charset="0"/>
                    <a:ea typeface="宋体" panose="02010600030101010101" pitchFamily="2" charset="-122"/>
                    <a:cs typeface="+mn-cs"/>
                    <a:sym typeface="Symbol" panose="05050102010706020507" pitchFamily="18" charset="2"/>
                  </a:rPr>
                  <a:t></a:t>
                </a:r>
                <a:r>
                  <a:rPr lang="en-US" altLang="zh-CN" sz="1200" i="1" kern="1200" dirty="0" smtClean="0">
                    <a:solidFill>
                      <a:schemeClr val="tx1"/>
                    </a:solidFill>
                    <a:effectLst/>
                    <a:latin typeface="Times New Roman" panose="02020603050405020304" pitchFamily="18" charset="0"/>
                    <a:ea typeface="宋体" panose="02010600030101010101" pitchFamily="2" charset="-122"/>
                    <a:cs typeface="+mn-cs"/>
                  </a:rPr>
                  <a:t>Loves</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en-US" altLang="zh-CN" sz="1200" i="1" kern="1200" dirty="0" smtClean="0">
                    <a:solidFill>
                      <a:schemeClr val="tx1"/>
                    </a:solidFill>
                    <a:effectLst/>
                    <a:latin typeface="Times New Roman" panose="02020603050405020304" pitchFamily="18" charset="0"/>
                    <a:ea typeface="宋体" panose="02010600030101010101" pitchFamily="2" charset="-122"/>
                    <a:cs typeface="+mn-cs"/>
                  </a:rPr>
                  <a:t>F</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i="1" kern="1200" dirty="0" smtClean="0">
                    <a:solidFill>
                      <a:schemeClr val="tx1"/>
                    </a:solidFill>
                    <a:effectLst/>
                    <a:latin typeface="Times New Roman" panose="02020603050405020304" pitchFamily="18" charset="0"/>
                    <a:ea typeface="宋体" panose="02010600030101010101" pitchFamily="2" charset="-122"/>
                    <a:cs typeface="+mn-cs"/>
                  </a:rPr>
                  <a:t>Loves</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i="1" kern="1200" dirty="0" smtClean="0">
                    <a:solidFill>
                      <a:schemeClr val="tx1"/>
                    </a:solidFill>
                    <a:effectLst/>
                    <a:latin typeface="Times New Roman" panose="02020603050405020304" pitchFamily="18" charset="0"/>
                    <a:ea typeface="宋体" panose="02010600030101010101" pitchFamily="2" charset="-122"/>
                    <a:cs typeface="+mn-cs"/>
                  </a:rPr>
                  <a:t>G</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en-US" altLang="zh-CN" sz="1200" i="1" kern="1200" dirty="0" smtClean="0">
                    <a:solidFill>
                      <a:schemeClr val="tx1"/>
                    </a:solidFill>
                    <a:effectLst/>
                    <a:latin typeface="Times New Roman" panose="02020603050405020304" pitchFamily="18" charset="0"/>
                    <a:ea typeface="宋体" panose="02010600030101010101" pitchFamily="2" charset="-122"/>
                    <a:cs typeface="+mn-cs"/>
                  </a:rPr>
                  <a:t>x</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en-US" altLang="zh-CN" sz="1200" dirty="0" smtClean="0">
                  <a:latin typeface="+mn-ea"/>
                </a:endParaRPr>
              </a:p>
              <a:p>
                <a:endParaRPr lang="en-US" altLang="zh-CN" sz="1200" dirty="0" smtClean="0">
                  <a:ea typeface="宋体" panose="02010600030101010101" pitchFamily="2" charset="-122"/>
                </a:endParaRPr>
              </a:p>
              <a:p>
                <a:endParaRPr lang="en-US" altLang="zh-CN" sz="1200" dirty="0">
                  <a:ea typeface="宋体" panose="02010600030101010101" pitchFamily="2" charset="-122"/>
                </a:endParaRPr>
              </a:p>
            </p:txBody>
          </p:sp>
        </mc:Choice>
        <mc:Fallback>
          <p:sp>
            <p:nvSpPr>
              <p:cNvPr id="73732" name="Rectangle 3"/>
              <p:cNvSpPr>
                <a:spLocks noRot="1" noChangeAspect="1" noMove="1" noResize="1" noEditPoints="1" noAdjustHandles="1" noChangeArrowheads="1" noChangeShapeType="1" noTextEdit="1"/>
              </p:cNvSpPr>
              <p:nvPr>
                <p:ph type="body" idx="1"/>
              </p:nvPr>
            </p:nvSpPr>
            <p:spPr>
              <a:xfrm>
                <a:off x="684213" y="4740275"/>
                <a:ext cx="5467350" cy="4491038"/>
              </a:xfrm>
              <a:blipFill rotWithShape="1">
                <a:blip r:embed="rId3"/>
                <a:stretch>
                  <a:fillRect l="-6" r="6" b="-40177"/>
                </a:stretch>
              </a:blip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txBox="1">
            <a:spLocks noGrp="1" noChangeArrowheads="1"/>
          </p:cNvSpPr>
          <p:nvPr/>
        </p:nvSpPr>
        <p:spPr bwMode="auto">
          <a:xfrm>
            <a:off x="3887788" y="8686800"/>
            <a:ext cx="2970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CD36488C-4D42-4FA8-83FC-4A0946BBC393}" type="slidenum">
              <a:rPr kumimoji="1" lang="en-US" altLang="zh-CN" sz="1200">
                <a:latin typeface="Times New Roman" panose="02020603050405020304" pitchFamily="18" charset="0"/>
              </a:rPr>
            </a:fld>
            <a:endParaRPr kumimoji="1" lang="en-US" altLang="zh-CN" sz="1200">
              <a:latin typeface="Times New Roman" panose="02020603050405020304" pitchFamily="18" charset="0"/>
            </a:endParaRPr>
          </a:p>
        </p:txBody>
      </p:sp>
      <p:sp>
        <p:nvSpPr>
          <p:cNvPr id="95235" name="Rectangle 2"/>
          <p:cNvSpPr>
            <a:spLocks noGrp="1" noRot="1" noChangeAspect="1" noChangeArrowheads="1" noTextEdit="1"/>
          </p:cNvSpPr>
          <p:nvPr>
            <p:ph type="sldImg"/>
          </p:nvPr>
        </p:nvSpPr>
        <p:spPr/>
      </p:sp>
      <p:sp>
        <p:nvSpPr>
          <p:cNvPr id="95236" name="Rectangle 3"/>
          <p:cNvSpPr>
            <a:spLocks noGrp="1" noChangeArrowheads="1"/>
          </p:cNvSpPr>
          <p:nvPr>
            <p:ph type="body" idx="1"/>
          </p:nvPr>
        </p:nvSpPr>
        <p:spPr>
          <a:xfrm>
            <a:off x="687388"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200" kern="1200" dirty="0" smtClean="0">
                <a:solidFill>
                  <a:schemeClr val="tx1"/>
                </a:solidFill>
                <a:effectLst/>
                <a:latin typeface="Times New Roman" panose="02020603050405020304" pitchFamily="18" charset="0"/>
                <a:ea typeface="宋体" panose="02010600030101010101" pitchFamily="2" charset="-122"/>
                <a:cs typeface="+mn-cs"/>
              </a:rPr>
              <a:t>一</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阶逻辑子句的归结规则简单而言是前面给出的命题归结规则的升级版本。</a:t>
            </a:r>
            <a:endParaRPr lang="en-US"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对于已经完成变量标准化没有共享变量的两个子句，如果包含互补文字则可对它们进行归结。如果一个命题文字是另一个命题文字的否定式，则这两个命题文字是互补的；如果一个一阶逻辑文字能和另一个一阶逻辑文字的否定式</a:t>
            </a:r>
            <a:r>
              <a:rPr lang="zh-CN" altLang="zh-CN" sz="1200" i="1" kern="1200" dirty="0" smtClean="0">
                <a:solidFill>
                  <a:schemeClr val="tx1"/>
                </a:solidFill>
                <a:effectLst/>
                <a:latin typeface="Times New Roman" panose="02020603050405020304" pitchFamily="18" charset="0"/>
                <a:ea typeface="宋体" panose="02010600030101010101" pitchFamily="2" charset="-122"/>
                <a:cs typeface="+mn-cs"/>
              </a:rPr>
              <a:t>合一</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，则这两个一阶逻辑文字是互补的。那么，我们可以得到</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endParaRPr lang="zh-CN" altLang="zh-CN" dirty="0" smtClean="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389CA0CB-FB7A-426C-9179-E889FF4C95C7}" type="slidenum">
              <a:rPr lang="en-US" altLang="zh-CN" smtClean="0"/>
            </a:fld>
            <a:endParaRPr lang="en-US" altLang="zh-CN" smtClean="0"/>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6"/>
          <p:cNvGrpSpPr/>
          <p:nvPr/>
        </p:nvGrpSpPr>
        <p:grpSpPr bwMode="auto">
          <a:xfrm>
            <a:off x="-7938" y="-7938"/>
            <a:ext cx="9170988" cy="6873876"/>
            <a:chOff x="-8466" y="-8468"/>
            <a:chExt cx="9171316" cy="6874935"/>
          </a:xfrm>
        </p:grpSpPr>
        <p:cxnSp>
          <p:nvCxnSpPr>
            <p:cNvPr id="5" name="Straight Connector 27"/>
            <p:cNvCxnSpPr/>
            <p:nvPr/>
          </p:nvCxnSpPr>
          <p:spPr>
            <a:xfrm flipV="1">
              <a:off x="5130456" y="4175239"/>
              <a:ext cx="4022869" cy="2683288"/>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8"/>
            <p:cNvCxnSpPr/>
            <p:nvPr/>
          </p:nvCxnSpPr>
          <p:spPr>
            <a:xfrm>
              <a:off x="7043462" y="-529"/>
              <a:ext cx="1217656" cy="685905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7" name="Freeform 29"/>
            <p:cNvSpPr/>
            <p:nvPr/>
          </p:nvSpPr>
          <p:spPr>
            <a:xfrm>
              <a:off x="6892644" y="-529"/>
              <a:ext cx="2268619" cy="686699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Freeform 30"/>
            <p:cNvSpPr/>
            <p:nvPr/>
          </p:nvSpPr>
          <p:spPr>
            <a:xfrm>
              <a:off x="7205393" y="-8468"/>
              <a:ext cx="1947932" cy="6866996"/>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Freeform 31"/>
            <p:cNvSpPr/>
            <p:nvPr/>
          </p:nvSpPr>
          <p:spPr>
            <a:xfrm>
              <a:off x="6638635" y="3919613"/>
              <a:ext cx="2513103" cy="2938915"/>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32"/>
            <p:cNvSpPr/>
            <p:nvPr/>
          </p:nvSpPr>
          <p:spPr>
            <a:xfrm>
              <a:off x="7010123" y="-8468"/>
              <a:ext cx="2143202" cy="6866996"/>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33"/>
            <p:cNvSpPr/>
            <p:nvPr/>
          </p:nvSpPr>
          <p:spPr>
            <a:xfrm>
              <a:off x="8296044" y="-8468"/>
              <a:ext cx="857281" cy="6866996"/>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34"/>
            <p:cNvSpPr/>
            <p:nvPr/>
          </p:nvSpPr>
          <p:spPr>
            <a:xfrm>
              <a:off x="8094425" y="-8468"/>
              <a:ext cx="1066838" cy="6866996"/>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35"/>
            <p:cNvSpPr/>
            <p:nvPr/>
          </p:nvSpPr>
          <p:spPr>
            <a:xfrm>
              <a:off x="8069024" y="4894488"/>
              <a:ext cx="1093826" cy="1964040"/>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7"/>
            <p:cNvSpPr/>
            <p:nvPr/>
          </p:nvSpPr>
          <p:spPr>
            <a:xfrm>
              <a:off x="-8466" y="-8468"/>
              <a:ext cx="863632" cy="5698416"/>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017585" y="2404534"/>
            <a:ext cx="6362727" cy="1646302"/>
          </a:xfrm>
        </p:spPr>
        <p:txBody>
          <a:bodyPr>
            <a:noAutofit/>
          </a:bodyPr>
          <a:lstStyle>
            <a:lvl1pPr algn="r">
              <a:defRPr sz="4000">
                <a:solidFill>
                  <a:schemeClr val="accent1"/>
                </a:solidFill>
              </a:defRPr>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1017585" y="4050834"/>
            <a:ext cx="6362727" cy="1096899"/>
          </a:xfrm>
        </p:spPr>
        <p:txBody>
          <a:bodyPr>
            <a:normAutofit/>
          </a:bodyPr>
          <a:lstStyle>
            <a:lvl1pPr marL="0" indent="0" algn="r">
              <a:spcBef>
                <a:spcPts val="0"/>
              </a:spcBef>
              <a:buNone/>
              <a:defRPr sz="2800">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smtClean="0"/>
              <a:t>单击此处编辑母版副标题样式</a:t>
            </a:r>
            <a:endParaRPr lang="en-US" dirty="0"/>
          </a:p>
        </p:txBody>
      </p:sp>
      <p:sp>
        <p:nvSpPr>
          <p:cNvPr id="15" name="Date Placeholder 3"/>
          <p:cNvSpPr>
            <a:spLocks noGrp="1"/>
          </p:cNvSpPr>
          <p:nvPr>
            <p:ph type="dt" sz="half" idx="10"/>
          </p:nvPr>
        </p:nvSpPr>
        <p:spPr/>
        <p:txBody>
          <a:bodyPr/>
          <a:lstStyle>
            <a:lvl1pPr>
              <a:defRPr/>
            </a:lvl1pPr>
          </a:lstStyle>
          <a:p>
            <a:pPr>
              <a:defRPr/>
            </a:pPr>
            <a:endParaRPr lang="en-US" altLang="zh-CN"/>
          </a:p>
        </p:txBody>
      </p:sp>
      <p:sp>
        <p:nvSpPr>
          <p:cNvPr id="16" name="Footer Placeholder 4"/>
          <p:cNvSpPr>
            <a:spLocks noGrp="1"/>
          </p:cNvSpPr>
          <p:nvPr>
            <p:ph type="ftr" sz="quarter" idx="11"/>
          </p:nvPr>
        </p:nvSpPr>
        <p:spPr/>
        <p:txBody>
          <a:bodyPr/>
          <a:lstStyle>
            <a:lvl1pPr>
              <a:defRPr/>
            </a:lvl1pPr>
          </a:lstStyle>
          <a:p>
            <a:pPr>
              <a:defRPr/>
            </a:pPr>
            <a:endParaRPr lang="en-US" altLang="zh-CN"/>
          </a:p>
        </p:txBody>
      </p:sp>
      <p:sp>
        <p:nvSpPr>
          <p:cNvPr id="17" name="Slide Number Placeholder 5"/>
          <p:cNvSpPr>
            <a:spLocks noGrp="1"/>
          </p:cNvSpPr>
          <p:nvPr>
            <p:ph type="sldNum" sz="quarter" idx="12"/>
          </p:nvPr>
        </p:nvSpPr>
        <p:spPr/>
        <p:txBody>
          <a:bodyPr/>
          <a:lstStyle>
            <a:lvl1pPr>
              <a:defRPr/>
            </a:lvl1pPr>
          </a:lstStyle>
          <a:p>
            <a:pPr>
              <a:defRPr/>
            </a:pPr>
            <a:fld id="{B17FBB78-3332-4880-866E-0A3F9B2B4E82}"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lvl1pPr>
          </a:lstStyle>
          <a:p>
            <a:pPr>
              <a:defRPr/>
            </a:pPr>
            <a:fld id="{8675F621-1619-4F8E-88C5-5F30FD27FF75}" type="slidenum">
              <a:rPr lang="en-US" altLang="zh-CN"/>
            </a:fld>
            <a:endParaRPr lang="en-US" altLang="zh-CN"/>
          </a:p>
        </p:txBody>
      </p:sp>
      <p:sp>
        <p:nvSpPr>
          <p:cNvPr id="2" name="Title 1"/>
          <p:cNvSpPr>
            <a:spLocks noGrp="1"/>
          </p:cNvSpPr>
          <p:nvPr>
            <p:ph type="title"/>
          </p:nvPr>
        </p:nvSpPr>
        <p:spPr/>
        <p:txBody>
          <a:bodyPr>
            <a:normAutofit/>
          </a:bodyPr>
          <a:lstStyle>
            <a:lvl1pPr>
              <a:defRPr sz="4400"/>
            </a:lvl1pPr>
          </a:lstStyle>
          <a:p>
            <a:r>
              <a:rPr lang="zh-CN" altLang="en-US" dirty="0"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GB"/>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09598" y="4527448"/>
            <a:ext cx="6347715" cy="860400"/>
          </a:xfrm>
        </p:spPr>
        <p:txBody>
          <a:bodyPr/>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3714A08-4464-4D29-A3F1-407A8CD8ED93}"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28799"/>
            <a:ext cx="3799139" cy="4412562"/>
          </a:xfrm>
        </p:spPr>
        <p:txBody>
          <a:bodyPr>
            <a:normAutofit/>
          </a:bodyPr>
          <a:lstStyle>
            <a:lvl1pPr>
              <a:defRPr sz="2800"/>
            </a:lvl1pPr>
            <a:lvl2pPr>
              <a:defRPr sz="2400"/>
            </a:lvl2pPr>
            <a:lvl3pPr>
              <a:defRPr sz="2000"/>
            </a:lvl3pPr>
            <a:lvl4pPr>
              <a:defRPr sz="1800"/>
            </a:lvl4pPr>
            <a:lvl5pPr>
              <a:defRPr sz="1800"/>
            </a:lvl5pPr>
            <a:lvl6pPr>
              <a:defRPr sz="1200"/>
            </a:lvl6pPr>
            <a:lvl7pPr>
              <a:defRPr sz="1200"/>
            </a:lvl7pPr>
            <a:lvl8pPr>
              <a:defRPr sz="1200"/>
            </a:lvl8pPr>
            <a:lvl9pPr>
              <a:defRPr sz="1200"/>
            </a:lvl9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4" name="Content Placeholder 3"/>
          <p:cNvSpPr>
            <a:spLocks noGrp="1"/>
          </p:cNvSpPr>
          <p:nvPr>
            <p:ph sz="half" idx="2"/>
          </p:nvPr>
        </p:nvSpPr>
        <p:spPr>
          <a:xfrm>
            <a:off x="4644008" y="1628800"/>
            <a:ext cx="3799140" cy="4412563"/>
          </a:xfrm>
        </p:spPr>
        <p:txBody>
          <a:bodyPr>
            <a:normAutofit/>
          </a:bodyPr>
          <a:lstStyle>
            <a:lvl1pPr>
              <a:defRPr sz="2800"/>
            </a:lvl1pPr>
            <a:lvl2pPr>
              <a:defRPr sz="2400"/>
            </a:lvl2pPr>
            <a:lvl3pPr>
              <a:defRPr sz="2000"/>
            </a:lvl3pPr>
            <a:lvl4pPr>
              <a:defRPr sz="1800"/>
            </a:lvl4pPr>
            <a:lvl5pPr>
              <a:defRPr sz="1800"/>
            </a:lvl5pPr>
            <a:lvl6pPr>
              <a:defRPr sz="1200"/>
            </a:lvl6pPr>
            <a:lvl7pPr>
              <a:defRPr sz="1200"/>
            </a:lvl7pPr>
            <a:lvl8pPr>
              <a:defRPr sz="1200"/>
            </a:lvl8pPr>
            <a:lvl9pPr>
              <a:defRPr sz="1200"/>
            </a:lvl9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7ABBB4C6-7EA4-4BDB-9E38-34E28C0211A6}" type="slidenum">
              <a:rPr lang="en-US" altLang="zh-CN"/>
            </a:fld>
            <a:endParaRPr lang="en-US" altLang="zh-CN"/>
          </a:p>
        </p:txBody>
      </p:sp>
      <p:sp>
        <p:nvSpPr>
          <p:cNvPr id="8" name="Title Placeholder 1"/>
          <p:cNvSpPr>
            <a:spLocks noGrp="1"/>
          </p:cNvSpPr>
          <p:nvPr>
            <p:ph type="title"/>
          </p:nvPr>
        </p:nvSpPr>
        <p:spPr bwMode="auto">
          <a:xfrm>
            <a:off x="609600" y="333375"/>
            <a:ext cx="7850188" cy="101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endParaRPr lang="en-US" altLang="zh-CN" smtClean="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609599" y="2737246"/>
            <a:ext cx="3090672" cy="3304117"/>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altLang="zh-CN"/>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3A05D328-724C-4051-A690-C7F0AFBC61C6}"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zh-CN" altLang="en-US" smtClean="0"/>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endParaRPr lang="en-US" altLang="zh-CN"/>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AB722AC5-6335-4364-9FE7-701C83AB7E93}"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ltLang="zh-CN"/>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90AD05C2-C8A5-45E2-8FB2-84FA06ACEB5A}"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9C6D88B9-75DB-484E-AD45-E2F04DE115D6}"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609599" y="609600"/>
            <a:ext cx="6347714" cy="3845718"/>
          </a:xfrm>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0" smtClean="0"/>
              <a:t>单击图标添加图片</a:t>
            </a:r>
            <a:endParaRPr lang="en-US" noProof="0"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lvl1pPr>
              <a:defRPr/>
            </a:lvl1pPr>
          </a:lstStyle>
          <a:p>
            <a:pPr>
              <a:defRPr/>
            </a:pPr>
            <a:endParaRPr lang="en-US" altLang="zh-CN"/>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973CFFFC-631F-4202-8192-0C161233A158}"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ormAutofit/>
          </a:bodyPr>
          <a:lstStyle>
            <a:lvl1pPr algn="l">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D074047-D290-4C6D-9AF0-9046F940AA17}"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23"/>
          <p:cNvSpPr txBox="1">
            <a:spLocks noChangeArrowheads="1"/>
          </p:cNvSpPr>
          <p:nvPr/>
        </p:nvSpPr>
        <p:spPr bwMode="auto">
          <a:xfrm>
            <a:off x="482600" y="790575"/>
            <a:ext cx="457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defRPr/>
            </a:pPr>
            <a:r>
              <a:rPr lang="en-US" altLang="zh-CN" sz="8000" smtClean="0">
                <a:solidFill>
                  <a:srgbClr val="95B3D7"/>
                </a:solidFill>
              </a:rPr>
              <a:t>“</a:t>
            </a:r>
            <a:endParaRPr lang="en-US" altLang="zh-CN" sz="8000" smtClean="0">
              <a:solidFill>
                <a:srgbClr val="95B3D7"/>
              </a:solidFill>
            </a:endParaRPr>
          </a:p>
        </p:txBody>
      </p:sp>
      <p:sp>
        <p:nvSpPr>
          <p:cNvPr id="6" name="TextBox 24"/>
          <p:cNvSpPr txBox="1">
            <a:spLocks noChangeArrowheads="1"/>
          </p:cNvSpPr>
          <p:nvPr/>
        </p:nvSpPr>
        <p:spPr bwMode="auto">
          <a:xfrm>
            <a:off x="6748463" y="2886075"/>
            <a:ext cx="4572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defRPr/>
            </a:pPr>
            <a:r>
              <a:rPr lang="en-US" altLang="zh-CN" sz="8000" smtClean="0">
                <a:solidFill>
                  <a:srgbClr val="95B3D7"/>
                </a:solidFill>
              </a:rPr>
              <a:t>”</a:t>
            </a:r>
            <a:endParaRPr lang="en-US" altLang="zh-CN" sz="8000" smtClean="0">
              <a:solidFill>
                <a:srgbClr val="95B3D7"/>
              </a:solidFill>
            </a:endParaRPr>
          </a:p>
        </p:txBody>
      </p:sp>
      <p:sp>
        <p:nvSpPr>
          <p:cNvPr id="2" name="Title 1"/>
          <p:cNvSpPr>
            <a:spLocks noGrp="1"/>
          </p:cNvSpPr>
          <p:nvPr>
            <p:ph type="title"/>
          </p:nvPr>
        </p:nvSpPr>
        <p:spPr>
          <a:xfrm>
            <a:off x="774885" y="609600"/>
            <a:ext cx="6072182" cy="3022600"/>
          </a:xfrm>
        </p:spPr>
        <p:txBody>
          <a:bodyPr>
            <a:normAutofit/>
          </a:bodyPr>
          <a:lstStyle>
            <a:lvl1pPr algn="l">
              <a:defRPr sz="4400" b="0" cap="none"/>
            </a:lvl1pPr>
          </a:lstStyle>
          <a:p>
            <a:r>
              <a:rPr lang="zh-CN" altLang="en-US" smtClean="0"/>
              <a:t>单击此处编辑母版标题样式</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endParaRPr lang="zh-CN" altLang="en-US" smtClean="0"/>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7" name="Date Placeholder 3"/>
          <p:cNvSpPr>
            <a:spLocks noGrp="1"/>
          </p:cNvSpPr>
          <p:nvPr>
            <p:ph type="dt" sz="half" idx="14"/>
          </p:nvPr>
        </p:nvSpPr>
        <p:spPr/>
        <p:txBody>
          <a:bodyPr/>
          <a:lstStyle>
            <a:lvl1pPr>
              <a:defRPr/>
            </a:lvl1pPr>
          </a:lstStyle>
          <a:p>
            <a:pPr>
              <a:defRPr/>
            </a:pPr>
            <a:endParaRPr lang="en-US" altLang="zh-CN"/>
          </a:p>
        </p:txBody>
      </p:sp>
      <p:sp>
        <p:nvSpPr>
          <p:cNvPr id="8" name="Footer Placeholder 4"/>
          <p:cNvSpPr>
            <a:spLocks noGrp="1"/>
          </p:cNvSpPr>
          <p:nvPr>
            <p:ph type="ftr" sz="quarter" idx="15"/>
          </p:nvPr>
        </p:nvSpPr>
        <p:spPr/>
        <p:txBody>
          <a:bodyPr/>
          <a:lstStyle>
            <a:lvl1pPr>
              <a:defRPr/>
            </a:lvl1pPr>
          </a:lstStyle>
          <a:p>
            <a:pPr>
              <a:defRPr/>
            </a:pPr>
            <a:endParaRPr lang="en-GB"/>
          </a:p>
        </p:txBody>
      </p:sp>
      <p:sp>
        <p:nvSpPr>
          <p:cNvPr id="9" name="Slide Number Placeholder 5"/>
          <p:cNvSpPr>
            <a:spLocks noGrp="1"/>
          </p:cNvSpPr>
          <p:nvPr>
            <p:ph type="sldNum" sz="quarter" idx="16"/>
          </p:nvPr>
        </p:nvSpPr>
        <p:spPr/>
        <p:txBody>
          <a:bodyPr/>
          <a:lstStyle>
            <a:lvl1pPr>
              <a:defRPr/>
            </a:lvl1pPr>
          </a:lstStyle>
          <a:p>
            <a:pPr>
              <a:defRPr/>
            </a:pPr>
            <a:fld id="{2FBABEBF-AF30-4B84-A53E-806883FF4517}"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09598" y="4527448"/>
            <a:ext cx="6347715" cy="1513914"/>
          </a:xfrm>
        </p:spPr>
        <p:txBody>
          <a:bodyP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D6B4C3AA-91EF-4DFC-B3DD-3099D4946A10}" type="slidenum">
              <a:rPr lang="en-US"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a:spLocks noChangeArrowheads="1"/>
          </p:cNvSpPr>
          <p:nvPr/>
        </p:nvSpPr>
        <p:spPr bwMode="auto">
          <a:xfrm>
            <a:off x="482600" y="790575"/>
            <a:ext cx="457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defRPr/>
            </a:pPr>
            <a:r>
              <a:rPr lang="en-US" altLang="zh-CN" sz="8000" smtClean="0">
                <a:solidFill>
                  <a:srgbClr val="95B3D7"/>
                </a:solidFill>
              </a:rPr>
              <a:t>“</a:t>
            </a:r>
            <a:endParaRPr lang="en-US" altLang="zh-CN" sz="8000" smtClean="0">
              <a:solidFill>
                <a:srgbClr val="95B3D7"/>
              </a:solidFill>
            </a:endParaRPr>
          </a:p>
        </p:txBody>
      </p:sp>
      <p:sp>
        <p:nvSpPr>
          <p:cNvPr id="6" name="TextBox 24"/>
          <p:cNvSpPr txBox="1">
            <a:spLocks noChangeArrowheads="1"/>
          </p:cNvSpPr>
          <p:nvPr/>
        </p:nvSpPr>
        <p:spPr bwMode="auto">
          <a:xfrm>
            <a:off x="6748463" y="2886075"/>
            <a:ext cx="4572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defRPr/>
            </a:pPr>
            <a:r>
              <a:rPr lang="en-US" altLang="zh-CN" sz="8000" smtClean="0">
                <a:solidFill>
                  <a:srgbClr val="95B3D7"/>
                </a:solidFill>
              </a:rPr>
              <a:t>”</a:t>
            </a:r>
            <a:endParaRPr lang="en-US" altLang="zh-CN" sz="8000" smtClean="0">
              <a:solidFill>
                <a:srgbClr val="95B3D7"/>
              </a:solidFill>
            </a:endParaRPr>
          </a:p>
        </p:txBody>
      </p:sp>
      <p:sp>
        <p:nvSpPr>
          <p:cNvPr id="2" name="Title 1"/>
          <p:cNvSpPr>
            <a:spLocks noGrp="1"/>
          </p:cNvSpPr>
          <p:nvPr>
            <p:ph type="title"/>
          </p:nvPr>
        </p:nvSpPr>
        <p:spPr>
          <a:xfrm>
            <a:off x="774885" y="609600"/>
            <a:ext cx="6072182" cy="3022600"/>
          </a:xfrm>
        </p:spPr>
        <p:txBody>
          <a:bodyPr>
            <a:normAutofit/>
          </a:bodyPr>
          <a:lstStyle>
            <a:lvl1pPr algn="l">
              <a:defRPr sz="4400" b="0" cap="none"/>
            </a:lvl1pPr>
          </a:lstStyle>
          <a:p>
            <a:r>
              <a:rPr lang="zh-CN" altLang="en-US" smtClean="0"/>
              <a:t>单击此处编辑母版标题样式</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endParaRPr lang="zh-CN" altLang="en-US" smtClean="0"/>
          </a:p>
        </p:txBody>
      </p:sp>
      <p:sp>
        <p:nvSpPr>
          <p:cNvPr id="3" name="Text Placeholder 2"/>
          <p:cNvSpPr>
            <a:spLocks noGrp="1"/>
          </p:cNvSpPr>
          <p:nvPr>
            <p:ph type="body" idx="1"/>
          </p:nvPr>
        </p:nvSpPr>
        <p:spPr>
          <a:xfrm>
            <a:off x="609598" y="4527448"/>
            <a:ext cx="6347715" cy="1513914"/>
          </a:xfrm>
        </p:spPr>
        <p:txBody>
          <a:bodyPr>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7" name="Date Placeholder 3"/>
          <p:cNvSpPr>
            <a:spLocks noGrp="1"/>
          </p:cNvSpPr>
          <p:nvPr>
            <p:ph type="dt" sz="half" idx="14"/>
          </p:nvPr>
        </p:nvSpPr>
        <p:spPr/>
        <p:txBody>
          <a:bodyPr/>
          <a:lstStyle>
            <a:lvl1pPr>
              <a:defRPr/>
            </a:lvl1pPr>
          </a:lstStyle>
          <a:p>
            <a:pPr>
              <a:defRPr/>
            </a:pPr>
            <a:endParaRPr lang="en-US" altLang="zh-CN"/>
          </a:p>
        </p:txBody>
      </p:sp>
      <p:sp>
        <p:nvSpPr>
          <p:cNvPr id="8" name="Footer Placeholder 4"/>
          <p:cNvSpPr>
            <a:spLocks noGrp="1"/>
          </p:cNvSpPr>
          <p:nvPr>
            <p:ph type="ftr" sz="quarter" idx="15"/>
          </p:nvPr>
        </p:nvSpPr>
        <p:spPr/>
        <p:txBody>
          <a:bodyPr/>
          <a:lstStyle>
            <a:lvl1pPr>
              <a:defRPr/>
            </a:lvl1pPr>
          </a:lstStyle>
          <a:p>
            <a:pPr>
              <a:defRPr/>
            </a:pPr>
            <a:endParaRPr lang="en-GB"/>
          </a:p>
        </p:txBody>
      </p:sp>
      <p:sp>
        <p:nvSpPr>
          <p:cNvPr id="9" name="Slide Number Placeholder 5"/>
          <p:cNvSpPr>
            <a:spLocks noGrp="1"/>
          </p:cNvSpPr>
          <p:nvPr>
            <p:ph type="sldNum" sz="quarter" idx="16"/>
          </p:nvPr>
        </p:nvSpPr>
        <p:spPr/>
        <p:txBody>
          <a:bodyPr/>
          <a:lstStyle>
            <a:lvl1pPr>
              <a:defRPr/>
            </a:lvl1pPr>
          </a:lstStyle>
          <a:p>
            <a:pPr>
              <a:defRPr/>
            </a:pPr>
            <a:fld id="{D00A2997-739A-4FC7-B7BB-42378CF1442E}" type="slidenum">
              <a:rPr lang="en-US" altLang="zh-CN"/>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ormAutofit/>
          </a:bodyPr>
          <a:lstStyle>
            <a:lvl1pPr algn="l">
              <a:defRPr sz="4400" b="0" cap="none"/>
            </a:lvl1pPr>
          </a:lstStyle>
          <a:p>
            <a:r>
              <a:rPr lang="zh-CN" altLang="en-US" smtClean="0"/>
              <a:t>单击此处编辑母版标题样式</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endParaRPr lang="zh-CN" altLang="en-US" smtClean="0"/>
          </a:p>
        </p:txBody>
      </p:sp>
      <p:sp>
        <p:nvSpPr>
          <p:cNvPr id="3" name="Text Placeholder 2"/>
          <p:cNvSpPr>
            <a:spLocks noGrp="1"/>
          </p:cNvSpPr>
          <p:nvPr>
            <p:ph type="body" idx="1"/>
          </p:nvPr>
        </p:nvSpPr>
        <p:spPr>
          <a:xfrm>
            <a:off x="609598" y="4527448"/>
            <a:ext cx="6347715" cy="1513914"/>
          </a:xfrm>
        </p:spPr>
        <p:txBody>
          <a:bodyPr>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5" name="Date Placeholder 3"/>
          <p:cNvSpPr>
            <a:spLocks noGrp="1"/>
          </p:cNvSpPr>
          <p:nvPr>
            <p:ph type="dt" sz="half" idx="14"/>
          </p:nvPr>
        </p:nvSpPr>
        <p:spPr/>
        <p:txBody>
          <a:bodyPr/>
          <a:lstStyle>
            <a:lvl1pPr>
              <a:defRPr/>
            </a:lvl1pPr>
          </a:lstStyle>
          <a:p>
            <a:pPr>
              <a:defRPr/>
            </a:pPr>
            <a:endParaRPr lang="en-US" altLang="zh-CN"/>
          </a:p>
        </p:txBody>
      </p:sp>
      <p:sp>
        <p:nvSpPr>
          <p:cNvPr id="6" name="Footer Placeholder 4"/>
          <p:cNvSpPr>
            <a:spLocks noGrp="1"/>
          </p:cNvSpPr>
          <p:nvPr>
            <p:ph type="ftr" sz="quarter" idx="15"/>
          </p:nvPr>
        </p:nvSpPr>
        <p:spPr/>
        <p:txBody>
          <a:bodyPr/>
          <a:lstStyle>
            <a:lvl1pPr>
              <a:defRPr/>
            </a:lvl1pPr>
          </a:lstStyle>
          <a:p>
            <a:pPr>
              <a:defRPr/>
            </a:pPr>
            <a:endParaRPr lang="en-GB"/>
          </a:p>
        </p:txBody>
      </p:sp>
      <p:sp>
        <p:nvSpPr>
          <p:cNvPr id="7" name="Slide Number Placeholder 5"/>
          <p:cNvSpPr>
            <a:spLocks noGrp="1"/>
          </p:cNvSpPr>
          <p:nvPr>
            <p:ph type="sldNum" sz="quarter" idx="16"/>
          </p:nvPr>
        </p:nvSpPr>
        <p:spPr/>
        <p:txBody>
          <a:bodyPr/>
          <a:lstStyle>
            <a:lvl1pPr>
              <a:defRPr/>
            </a:lvl1pPr>
          </a:lstStyle>
          <a:p>
            <a:pPr>
              <a:defRPr/>
            </a:pPr>
            <a:fld id="{F7D1FC56-377A-4419-A270-F2A799A49D99}" type="slidenum">
              <a:rPr lang="en-US" altLang="zh-CN"/>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EF331DEB-084E-4111-A2C4-D3B32AFACE4A}" type="slidenum">
              <a:rPr lang="en-US" altLang="zh-CN"/>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A6E7DC47-552C-4D62-8E8D-F9F5566F4DD1}"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7938" y="4013200"/>
            <a:ext cx="457201" cy="2852738"/>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userDrawn="1"/>
        </p:nvSpPr>
        <p:spPr>
          <a:xfrm>
            <a:off x="8459788" y="-7938"/>
            <a:ext cx="693737" cy="6865938"/>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userDrawn="1"/>
        </p:nvSpPr>
        <p:spPr>
          <a:xfrm>
            <a:off x="8459788" y="-7938"/>
            <a:ext cx="701675" cy="6865938"/>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userDrawn="1"/>
        </p:nvSpPr>
        <p:spPr>
          <a:xfrm>
            <a:off x="8243888" y="4894263"/>
            <a:ext cx="919162" cy="196373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30" name="Title Placeholder 1"/>
          <p:cNvSpPr>
            <a:spLocks noGrp="1"/>
          </p:cNvSpPr>
          <p:nvPr>
            <p:ph type="title"/>
          </p:nvPr>
        </p:nvSpPr>
        <p:spPr bwMode="auto">
          <a:xfrm>
            <a:off x="609600" y="333375"/>
            <a:ext cx="7850188" cy="101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endParaRPr lang="en-US" altLang="zh-CN" smtClean="0"/>
          </a:p>
        </p:txBody>
      </p:sp>
      <p:sp>
        <p:nvSpPr>
          <p:cNvPr id="1031" name="Text Placeholder 2"/>
          <p:cNvSpPr>
            <a:spLocks noGrp="1"/>
          </p:cNvSpPr>
          <p:nvPr>
            <p:ph type="body" idx="1"/>
          </p:nvPr>
        </p:nvSpPr>
        <p:spPr bwMode="auto">
          <a:xfrm>
            <a:off x="609600" y="1484313"/>
            <a:ext cx="7850188" cy="455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ltLang="zh-CN" smtClean="0"/>
          </a:p>
        </p:txBody>
      </p:sp>
      <p:sp>
        <p:nvSpPr>
          <p:cNvPr id="4" name="Date Placeholder 3"/>
          <p:cNvSpPr>
            <a:spLocks noGrp="1"/>
          </p:cNvSpPr>
          <p:nvPr>
            <p:ph type="dt" sz="half" idx="2"/>
          </p:nvPr>
        </p:nvSpPr>
        <p:spPr>
          <a:xfrm>
            <a:off x="6659563" y="6232525"/>
            <a:ext cx="846137" cy="365125"/>
          </a:xfrm>
          <a:prstGeom prst="rect">
            <a:avLst/>
          </a:prstGeom>
        </p:spPr>
        <p:txBody>
          <a:bodyPr vert="horz" lIns="91440" tIns="45720" rIns="91440" bIns="45720" rtlCol="0" anchor="ctr"/>
          <a:lstStyle>
            <a:lvl1pPr algn="r">
              <a:defRPr sz="1600">
                <a:solidFill>
                  <a:schemeClr val="tx1">
                    <a:tint val="75000"/>
                  </a:schemeClr>
                </a:solidFill>
              </a:defRPr>
            </a:lvl1pPr>
          </a:lstStyle>
          <a:p>
            <a:pPr>
              <a:defRPr/>
            </a:pPr>
            <a:endParaRPr lang="en-US" altLang="zh-CN"/>
          </a:p>
        </p:txBody>
      </p:sp>
      <p:sp>
        <p:nvSpPr>
          <p:cNvPr id="5" name="Footer Placeholder 4"/>
          <p:cNvSpPr>
            <a:spLocks noGrp="1"/>
          </p:cNvSpPr>
          <p:nvPr>
            <p:ph type="ftr" sz="quarter" idx="3"/>
          </p:nvPr>
        </p:nvSpPr>
        <p:spPr>
          <a:xfrm>
            <a:off x="609600" y="6232525"/>
            <a:ext cx="5718175" cy="365125"/>
          </a:xfrm>
          <a:prstGeom prst="rect">
            <a:avLst/>
          </a:prstGeom>
        </p:spPr>
        <p:txBody>
          <a:bodyPr vert="horz" lIns="91440" tIns="45720" rIns="91440" bIns="45720" rtlCol="0" anchor="ctr"/>
          <a:lstStyle>
            <a:lvl1pPr algn="l">
              <a:defRPr sz="1600">
                <a:solidFill>
                  <a:schemeClr val="tx1">
                    <a:tint val="75000"/>
                  </a:schemeClr>
                </a:solidFill>
              </a:defRPr>
            </a:lvl1pPr>
          </a:lstStyle>
          <a:p>
            <a:pPr>
              <a:defRPr/>
            </a:pPr>
            <a:endParaRPr lang="en-GB"/>
          </a:p>
        </p:txBody>
      </p:sp>
      <p:sp>
        <p:nvSpPr>
          <p:cNvPr id="6" name="Slide Number Placeholder 5"/>
          <p:cNvSpPr>
            <a:spLocks noGrp="1"/>
          </p:cNvSpPr>
          <p:nvPr>
            <p:ph type="sldNum" sz="quarter" idx="4"/>
          </p:nvPr>
        </p:nvSpPr>
        <p:spPr>
          <a:xfrm>
            <a:off x="7824788" y="6232525"/>
            <a:ext cx="633412" cy="365125"/>
          </a:xfrm>
          <a:prstGeom prst="rect">
            <a:avLst/>
          </a:prstGeom>
        </p:spPr>
        <p:txBody>
          <a:bodyPr vert="horz" lIns="91440" tIns="45720" rIns="91440" bIns="45720" rtlCol="0" anchor="ctr"/>
          <a:lstStyle>
            <a:lvl1pPr algn="r">
              <a:defRPr sz="1600">
                <a:solidFill>
                  <a:schemeClr val="accent1"/>
                </a:solidFill>
              </a:defRPr>
            </a:lvl1pPr>
          </a:lstStyle>
          <a:p>
            <a:pPr>
              <a:defRPr/>
            </a:pPr>
            <a:fld id="{2243756A-8E00-4D8E-8C7D-8C9A08783402}"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iming>
    <p:tnLst>
      <p:par>
        <p:cTn id="1" dur="indefinite" restart="never" nodeType="tmRoot"/>
      </p:par>
    </p:tnLst>
  </p:timing>
  <p:hf hdr="0" ftr="0" dt="0"/>
  <p:txStyles>
    <p:titleStyle>
      <a:lvl1pPr algn="l" defTabSz="457200" rtl="0" eaLnBrk="0" fontAlgn="base" hangingPunct="0">
        <a:spcBef>
          <a:spcPct val="0"/>
        </a:spcBef>
        <a:spcAft>
          <a:spcPct val="0"/>
        </a:spcAft>
        <a:defRPr sz="4400" kern="1200">
          <a:solidFill>
            <a:schemeClr val="accent1"/>
          </a:solidFill>
          <a:latin typeface="+mj-lt"/>
          <a:ea typeface="+mj-ea"/>
          <a:cs typeface="+mj-cs"/>
        </a:defRPr>
      </a:lvl1pPr>
      <a:lvl2pPr algn="l" defTabSz="457200" rtl="0" eaLnBrk="0" fontAlgn="base" hangingPunct="0">
        <a:spcBef>
          <a:spcPct val="0"/>
        </a:spcBef>
        <a:spcAft>
          <a:spcPct val="0"/>
        </a:spcAft>
        <a:defRPr sz="4400">
          <a:solidFill>
            <a:schemeClr val="accent1"/>
          </a:solidFill>
          <a:latin typeface="Arial" panose="020B0604020202020204" pitchFamily="34" charset="0"/>
          <a:ea typeface="微软雅黑" panose="020B0503020204020204" pitchFamily="34" charset="-122"/>
        </a:defRPr>
      </a:lvl2pPr>
      <a:lvl3pPr algn="l" defTabSz="457200" rtl="0" eaLnBrk="0" fontAlgn="base" hangingPunct="0">
        <a:spcBef>
          <a:spcPct val="0"/>
        </a:spcBef>
        <a:spcAft>
          <a:spcPct val="0"/>
        </a:spcAft>
        <a:defRPr sz="4400">
          <a:solidFill>
            <a:schemeClr val="accent1"/>
          </a:solidFill>
          <a:latin typeface="Arial" panose="020B0604020202020204" pitchFamily="34" charset="0"/>
          <a:ea typeface="微软雅黑" panose="020B0503020204020204" pitchFamily="34" charset="-122"/>
        </a:defRPr>
      </a:lvl3pPr>
      <a:lvl4pPr algn="l" defTabSz="457200" rtl="0" eaLnBrk="0" fontAlgn="base" hangingPunct="0">
        <a:spcBef>
          <a:spcPct val="0"/>
        </a:spcBef>
        <a:spcAft>
          <a:spcPct val="0"/>
        </a:spcAft>
        <a:defRPr sz="4400">
          <a:solidFill>
            <a:schemeClr val="accent1"/>
          </a:solidFill>
          <a:latin typeface="Arial" panose="020B0604020202020204" pitchFamily="34" charset="0"/>
          <a:ea typeface="微软雅黑" panose="020B0503020204020204" pitchFamily="34" charset="-122"/>
        </a:defRPr>
      </a:lvl4pPr>
      <a:lvl5pPr algn="l" defTabSz="457200" rtl="0" eaLnBrk="0" fontAlgn="base" hangingPunct="0">
        <a:spcBef>
          <a:spcPct val="0"/>
        </a:spcBef>
        <a:spcAft>
          <a:spcPct val="0"/>
        </a:spcAft>
        <a:defRPr sz="4400">
          <a:solidFill>
            <a:schemeClr val="accent1"/>
          </a:solidFill>
          <a:latin typeface="Arial" panose="020B0604020202020204" pitchFamily="34" charset="0"/>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0" fontAlgn="base" hangingPunct="0">
        <a:spcBef>
          <a:spcPts val="600"/>
        </a:spcBef>
        <a:spcAft>
          <a:spcPct val="0"/>
        </a:spcAft>
        <a:buClr>
          <a:schemeClr val="accent1"/>
        </a:buClr>
        <a:buSzPct val="80000"/>
        <a:buFont typeface="Wingdings 3" panose="05040102010807070707" pitchFamily="18" charset="2"/>
        <a:buChar char=""/>
        <a:defRPr sz="3200" kern="1200">
          <a:solidFill>
            <a:srgbClr val="404040"/>
          </a:solidFill>
          <a:latin typeface="+mn-lt"/>
          <a:ea typeface="+mn-ea"/>
          <a:cs typeface="+mn-cs"/>
        </a:defRPr>
      </a:lvl1pPr>
      <a:lvl2pPr marL="742950" indent="-285750" algn="l" defTabSz="457200" rtl="0" eaLnBrk="0" fontAlgn="base" hangingPunct="0">
        <a:spcBef>
          <a:spcPts val="600"/>
        </a:spcBef>
        <a:spcAft>
          <a:spcPct val="0"/>
        </a:spcAft>
        <a:buClr>
          <a:schemeClr val="accent1"/>
        </a:buClr>
        <a:buSzPct val="80000"/>
        <a:buFont typeface="Wingdings 3" panose="05040102010807070707" pitchFamily="18" charset="2"/>
        <a:buChar char=""/>
        <a:defRPr sz="2800" kern="1200">
          <a:solidFill>
            <a:srgbClr val="404040"/>
          </a:solidFill>
          <a:latin typeface="+mn-lt"/>
          <a:ea typeface="+mn-ea"/>
          <a:cs typeface="+mn-cs"/>
        </a:defRPr>
      </a:lvl2pPr>
      <a:lvl3pPr marL="1143000" indent="-228600" algn="l" defTabSz="457200" rtl="0" eaLnBrk="0" fontAlgn="base" hangingPunct="0">
        <a:spcBef>
          <a:spcPts val="600"/>
        </a:spcBef>
        <a:spcAft>
          <a:spcPct val="0"/>
        </a:spcAft>
        <a:buClr>
          <a:schemeClr val="accent1"/>
        </a:buClr>
        <a:buSzPct val="80000"/>
        <a:buFont typeface="Wingdings 3" panose="05040102010807070707" pitchFamily="18" charset="2"/>
        <a:buChar char=""/>
        <a:defRPr sz="2400" kern="1200">
          <a:solidFill>
            <a:srgbClr val="404040"/>
          </a:solidFill>
          <a:latin typeface="+mn-lt"/>
          <a:ea typeface="+mn-ea"/>
          <a:cs typeface="+mn-cs"/>
        </a:defRPr>
      </a:lvl3pPr>
      <a:lvl4pPr marL="1600200" indent="-228600" algn="l" defTabSz="457200" rtl="0" eaLnBrk="0" fontAlgn="base" hangingPunct="0">
        <a:spcBef>
          <a:spcPts val="600"/>
        </a:spcBef>
        <a:spcAft>
          <a:spcPct val="0"/>
        </a:spcAft>
        <a:buClr>
          <a:schemeClr val="accent1"/>
        </a:buClr>
        <a:buSzPct val="80000"/>
        <a:buFont typeface="Wingdings 3" panose="05040102010807070707" pitchFamily="18" charset="2"/>
        <a:buChar char=""/>
        <a:defRPr sz="2000" kern="1200">
          <a:solidFill>
            <a:srgbClr val="404040"/>
          </a:solidFill>
          <a:latin typeface="+mn-lt"/>
          <a:ea typeface="+mn-ea"/>
          <a:cs typeface="+mn-cs"/>
        </a:defRPr>
      </a:lvl4pPr>
      <a:lvl5pPr marL="2057400" indent="-228600" algn="l" defTabSz="457200" rtl="0" eaLnBrk="0" fontAlgn="base" hangingPunct="0">
        <a:spcBef>
          <a:spcPts val="600"/>
        </a:spcBef>
        <a:spcAft>
          <a:spcPct val="0"/>
        </a:spcAft>
        <a:buClr>
          <a:schemeClr val="accent1"/>
        </a:buClr>
        <a:buSzPct val="80000"/>
        <a:buFont typeface="Wingdings 3" panose="05040102010807070707" pitchFamily="18" charset="2"/>
        <a:buChar char=""/>
        <a:defRPr sz="2000" kern="1200">
          <a:solidFill>
            <a:srgbClr val="404040"/>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pitchFamily="18"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pitchFamily="18"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pitchFamily="18"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pitchFamily="18"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2.xml"/><Relationship Id="rId5" Type="http://schemas.openxmlformats.org/officeDocument/2006/relationships/tags" Target="../tags/tag4.xml"/><Relationship Id="rId4" Type="http://schemas.openxmlformats.org/officeDocument/2006/relationships/image" Target="../media/image1.png"/><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0" Type="http://schemas.openxmlformats.org/officeDocument/2006/relationships/notesSlide" Target="../notesSlides/notesSlide4.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png"/><Relationship Id="rId7" Type="http://schemas.openxmlformats.org/officeDocument/2006/relationships/image" Target="../media/image19.png"/><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6" Type="http://schemas.openxmlformats.org/officeDocument/2006/relationships/notesSlide" Target="../notesSlides/notesSlide6.xml"/><Relationship Id="rId15" Type="http://schemas.openxmlformats.org/officeDocument/2006/relationships/slideLayout" Target="../slideLayouts/slideLayout2.xml"/><Relationship Id="rId14" Type="http://schemas.openxmlformats.org/officeDocument/2006/relationships/image" Target="../media/image26.png"/><Relationship Id="rId13" Type="http://schemas.openxmlformats.org/officeDocument/2006/relationships/image" Target="../media/image25.png"/><Relationship Id="rId12" Type="http://schemas.openxmlformats.org/officeDocument/2006/relationships/image" Target="../media/image24.png"/><Relationship Id="rId11" Type="http://schemas.openxmlformats.org/officeDocument/2006/relationships/image" Target="../media/image23.png"/><Relationship Id="rId10" Type="http://schemas.openxmlformats.org/officeDocument/2006/relationships/image" Target="../media/image22.png"/><Relationship Id="rId1" Type="http://schemas.openxmlformats.org/officeDocument/2006/relationships/image" Target="../media/image13.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0.png"/><Relationship Id="rId7" Type="http://schemas.openxmlformats.org/officeDocument/2006/relationships/image" Target="../media/image39.png"/><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0" Type="http://schemas.openxmlformats.org/officeDocument/2006/relationships/notesSlide" Target="../notesSlides/notesSlide8.xml"/><Relationship Id="rId1" Type="http://schemas.openxmlformats.org/officeDocument/2006/relationships/image" Target="../media/image33.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image" Target="../media/image48.png"/><Relationship Id="rId5" Type="http://schemas.openxmlformats.org/officeDocument/2006/relationships/tags" Target="../tags/tag7.xml"/><Relationship Id="rId4" Type="http://schemas.openxmlformats.org/officeDocument/2006/relationships/image" Target="../media/image47.png"/><Relationship Id="rId3" Type="http://schemas.openxmlformats.org/officeDocument/2006/relationships/tags" Target="../tags/tag6.xml"/><Relationship Id="rId2" Type="http://schemas.openxmlformats.org/officeDocument/2006/relationships/image" Target="../media/image46.png"/><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3.emf"/><Relationship Id="rId2" Type="http://schemas.openxmlformats.org/officeDocument/2006/relationships/tags" Target="../tags/tag11.xml"/><Relationship Id="rId1" Type="http://schemas.openxmlformats.org/officeDocument/2006/relationships/image" Target="../media/image5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1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tags" Target="../tags/tag14.xml"/><Relationship Id="rId4" Type="http://schemas.openxmlformats.org/officeDocument/2006/relationships/image" Target="../media/image57.png"/><Relationship Id="rId3" Type="http://schemas.openxmlformats.org/officeDocument/2006/relationships/tags" Target="../tags/tag13.xml"/><Relationship Id="rId2" Type="http://schemas.openxmlformats.org/officeDocument/2006/relationships/image" Target="../media/image56.png"/><Relationship Id="rId1" Type="http://schemas.openxmlformats.org/officeDocument/2006/relationships/tags" Target="../tags/tag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2195830" y="1628775"/>
            <a:ext cx="4622800" cy="1645920"/>
          </a:xfrm>
        </p:spPr>
        <p:txBody>
          <a:bodyPr/>
          <a:lstStyle/>
          <a:p>
            <a:pPr eaLnBrk="1" hangingPunct="1"/>
            <a:r>
              <a:rPr lang="zh-CN" altLang="en-US" dirty="0" smtClean="0"/>
              <a:t>人工智能</a:t>
            </a:r>
            <a:br>
              <a:rPr lang="zh-CN" altLang="en-US" dirty="0" smtClean="0"/>
            </a:br>
            <a:r>
              <a:rPr lang="zh-CN" altLang="en-US" dirty="0" smtClean="0"/>
              <a:t>第八九</a:t>
            </a:r>
            <a:r>
              <a:rPr lang="zh-CN" altLang="en-US" dirty="0" smtClean="0"/>
              <a:t>章习题</a:t>
            </a:r>
            <a:r>
              <a:rPr lang="zh-CN" altLang="en-US" dirty="0" smtClean="0"/>
              <a:t>讲解</a:t>
            </a:r>
            <a:endParaRPr lang="zh-CN" altLang="en-US" dirty="0" smtClean="0"/>
          </a:p>
        </p:txBody>
      </p:sp>
      <p:sp>
        <p:nvSpPr>
          <p:cNvPr id="4" name="灯片编号占位符 3"/>
          <p:cNvSpPr>
            <a:spLocks noGrp="1"/>
          </p:cNvSpPr>
          <p:nvPr>
            <p:ph type="sldNum" sz="quarter" idx="12"/>
          </p:nvPr>
        </p:nvSpPr>
        <p:spPr/>
        <p:txBody>
          <a:bodyPr/>
          <a:lstStyle/>
          <a:p>
            <a:pPr>
              <a:defRPr/>
            </a:pPr>
            <a:fld id="{B17FBB78-3332-4880-866E-0A3F9B2B4E82}" type="slidenum">
              <a:rPr lang="en-US" altLang="zh-CN" smtClean="0"/>
            </a:fld>
            <a:endParaRPr lang="en-US" altLang="zh-CN"/>
          </a:p>
        </p:txBody>
      </p:sp>
      <p:sp>
        <p:nvSpPr>
          <p:cNvPr id="2" name="副标题 1"/>
          <p:cNvSpPr/>
          <p:nvPr>
            <p:ph type="subTitle" idx="1"/>
          </p:nvPr>
        </p:nvSpPr>
        <p:spPr/>
        <p:txBody>
          <a:bodyPr/>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zh-CN" altLang="en-US" smtClean="0"/>
              <a:t>目录</a:t>
            </a:r>
            <a:endParaRPr lang="en-US" altLang="zh-CN" dirty="0"/>
          </a:p>
        </p:txBody>
      </p:sp>
      <p:sp>
        <p:nvSpPr>
          <p:cNvPr id="5123" name="Rectangle 3"/>
          <p:cNvSpPr>
            <a:spLocks noGrp="1" noChangeArrowheads="1"/>
          </p:cNvSpPr>
          <p:nvPr>
            <p:ph idx="1"/>
          </p:nvPr>
        </p:nvSpPr>
        <p:spPr/>
        <p:txBody>
          <a:bodyPr/>
          <a:lstStyle/>
          <a:p>
            <a:r>
              <a:rPr lang="zh-CN" altLang="en-US" dirty="0" smtClean="0"/>
              <a:t>相关知识回顾</a:t>
            </a:r>
            <a:endParaRPr lang="en-US" altLang="zh-CN" dirty="0" smtClean="0"/>
          </a:p>
          <a:p>
            <a:r>
              <a:rPr lang="zh-CN" altLang="en-US" dirty="0" smtClean="0"/>
              <a:t>作业情况</a:t>
            </a:r>
            <a:endParaRPr lang="en-US" altLang="zh-CN" dirty="0" smtClean="0"/>
          </a:p>
          <a:p>
            <a:r>
              <a:rPr lang="zh-CN" altLang="en-US" dirty="0" smtClean="0"/>
              <a:t>习题讲解</a:t>
            </a:r>
            <a:endParaRPr lang="en-US" altLang="zh-CN" dirty="0" smtClean="0"/>
          </a:p>
          <a:p>
            <a:pPr marL="0" indent="0">
              <a:buNone/>
            </a:pPr>
            <a:endParaRPr lang="en-US" altLang="zh-CN" dirty="0"/>
          </a:p>
        </p:txBody>
      </p:sp>
      <p:sp>
        <p:nvSpPr>
          <p:cNvPr id="3" name="灯片编号占位符 2"/>
          <p:cNvSpPr>
            <a:spLocks noGrp="1"/>
          </p:cNvSpPr>
          <p:nvPr>
            <p:ph type="sldNum" sz="quarter" idx="12"/>
          </p:nvPr>
        </p:nvSpPr>
        <p:spPr/>
        <p:txBody>
          <a:bodyPr/>
          <a:lstStyle/>
          <a:p>
            <a:pPr>
              <a:defRPr/>
            </a:pPr>
            <a:fld id="{8675F621-1619-4F8E-88C5-5F30FD27FF75}" type="slidenum">
              <a:rPr lang="en-US" altLang="zh-CN" smtClean="0"/>
            </a:fld>
            <a:endParaRPr lang="en-US" altLang="zh-CN"/>
          </a:p>
        </p:txBody>
      </p:sp>
    </p:spTree>
  </p:cSld>
  <p:clrMapOvr>
    <a:masterClrMapping/>
  </p:clrMapOvr>
  <p:transition advClick="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Rectangle 2"/>
          <p:cNvSpPr>
            <a:spLocks noGrp="1" noChangeArrowheads="1"/>
          </p:cNvSpPr>
          <p:nvPr>
            <p:ph type="title"/>
            <p:custDataLst>
              <p:tags r:id="rId1"/>
            </p:custDataLst>
          </p:nvPr>
        </p:nvSpPr>
        <p:spPr>
          <a:extLst>
            <a:ext uri="{91240B29-F687-4F45-9708-019B960494DF}">
              <a14:hiddenLine xmlns:a14="http://schemas.microsoft.com/office/drawing/2010/main" w="9525">
                <a:solidFill>
                  <a:schemeClr val="tx1"/>
                </a:solidFill>
                <a:prstDash val="solid"/>
                <a:miter lim="800000"/>
                <a:headEnd/>
                <a:tailEnd/>
              </a14:hiddenLine>
            </a:ext>
          </a:extLst>
        </p:spPr>
        <p:txBody>
          <a:bodyPr>
            <a:normAutofit/>
          </a:bodyPr>
          <a:lstStyle/>
          <a:p>
            <a:r>
              <a:rPr lang="zh-CN" altLang="en-US" dirty="0" smtClean="0"/>
              <a:t>一阶逻辑的语法</a:t>
            </a:r>
            <a:endParaRPr lang="en-US" altLang="zh-CN" dirty="0"/>
          </a:p>
        </p:txBody>
      </p:sp>
      <mc:AlternateContent xmlns:mc="http://schemas.openxmlformats.org/markup-compatibility/2006" xmlns:a14="http://schemas.microsoft.com/office/drawing/2010/main">
        <mc:Choice Requires="a14">
          <p:graphicFrame>
            <p:nvGraphicFramePr>
              <p:cNvPr id="13" name="内容占位符 12"/>
              <p:cNvGraphicFramePr>
                <a:graphicFrameLocks noGrp="1"/>
              </p:cNvGraphicFramePr>
              <p:nvPr>
                <p:ph idx="1"/>
                <p:custDataLst>
                  <p:tags r:id="rId2"/>
                </p:custDataLst>
              </p:nvPr>
            </p:nvGraphicFramePr>
            <p:xfrm>
              <a:off x="323528" y="2204864"/>
              <a:ext cx="8208912" cy="3108960"/>
            </p:xfrm>
            <a:graphic>
              <a:graphicData uri="http://schemas.openxmlformats.org/drawingml/2006/table">
                <a:tbl>
                  <a:tblPr bandRow="1">
                    <a:tableStyleId>{5C22544A-7EE6-4342-B048-85BDC9FD1C3A}</a:tableStyleId>
                  </a:tblPr>
                  <a:tblGrid>
                    <a:gridCol w="4249116"/>
                    <a:gridCol w="3959796"/>
                  </a:tblGrid>
                  <a:tr h="370840">
                    <a:tc>
                      <a:txBody>
                        <a:bodyPr/>
                        <a:lstStyle/>
                        <a:p>
                          <a:pPr algn="ctr">
                            <a:lnSpc>
                              <a:spcPct val="100000"/>
                            </a:lnSpc>
                          </a:pPr>
                          <a:r>
                            <a:rPr lang="zh-CN" altLang="en-US" sz="2400" dirty="0" smtClean="0">
                              <a:latin typeface="微软雅黑" panose="020B0503020204020204" pitchFamily="34" charset="-122"/>
                            </a:rPr>
                            <a:t>常量符号</a:t>
                          </a:r>
                          <a:r>
                            <a:rPr lang="en-US" altLang="zh-CN" sz="2400" dirty="0" smtClean="0">
                              <a:latin typeface="微软雅黑" panose="020B0503020204020204" pitchFamily="34" charset="-122"/>
                            </a:rPr>
                            <a:t>(Constant symbols)</a:t>
                          </a:r>
                          <a:endParaRPr lang="zh-CN" altLang="en-US" sz="2400" dirty="0"/>
                        </a:p>
                      </a:txBody>
                      <a:tcPr/>
                    </a:tc>
                    <a:tc>
                      <a:txBody>
                        <a:bodyPr/>
                        <a:lstStyle/>
                        <a:p>
                          <a:pPr>
                            <a:lnSpc>
                              <a:spcPct val="100000"/>
                            </a:lnSpc>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rPr>
                                  <m:t>𝐴</m:t>
                                </m:r>
                                <m:r>
                                  <a:rPr lang="en-US" altLang="zh-CN" sz="2400" i="1" dirty="0" smtClean="0">
                                    <a:latin typeface="Cambria Math" panose="02040503050406030204" pitchFamily="18" charset="0"/>
                                  </a:rPr>
                                  <m:t>, </m:t>
                                </m:r>
                                <m:r>
                                  <a:rPr lang="en-US" altLang="zh-CN" sz="2400" b="0" i="1" dirty="0" smtClean="0">
                                    <a:latin typeface="Cambria Math" panose="02040503050406030204" pitchFamily="18" charset="0"/>
                                  </a:rPr>
                                  <m:t>𝐵</m:t>
                                </m:r>
                                <m:r>
                                  <a:rPr lang="en-US" altLang="zh-CN" sz="2400" i="1" dirty="0" smtClean="0">
                                    <a:latin typeface="Cambria Math" panose="02040503050406030204" pitchFamily="18" charset="0"/>
                                  </a:rPr>
                                  <m:t>, </m:t>
                                </m:r>
                                <m:r>
                                  <a:rPr lang="en-US" altLang="zh-CN" sz="2400" i="1" dirty="0" smtClean="0">
                                    <a:latin typeface="Cambria Math" panose="02040503050406030204" pitchFamily="18" charset="0"/>
                                  </a:rPr>
                                  <m:t>2</m:t>
                                </m:r>
                                <m:r>
                                  <a:rPr lang="en-US" altLang="zh-CN" sz="2400" i="1" dirty="0" smtClean="0">
                                    <a:latin typeface="Cambria Math" panose="02040503050406030204" pitchFamily="18" charset="0"/>
                                  </a:rPr>
                                  <m:t>, </m:t>
                                </m:r>
                                <m:r>
                                  <a:rPr lang="en-US" altLang="zh-CN" sz="2400" i="1" dirty="0" smtClean="0">
                                    <a:latin typeface="Cambria Math" panose="02040503050406030204" pitchFamily="18" charset="0"/>
                                  </a:rPr>
                                  <m:t>𝑁𝑈𝐷𝑇</m:t>
                                </m:r>
                                <m:r>
                                  <a:rPr lang="en-US" altLang="zh-CN" sz="2400" i="1" dirty="0" smtClean="0">
                                    <a:latin typeface="Cambria Math" panose="02040503050406030204" pitchFamily="18" charset="0"/>
                                  </a:rPr>
                                  <m:t>,… </m:t>
                                </m:r>
                              </m:oMath>
                            </m:oMathPara>
                          </a14:m>
                          <a:endParaRPr lang="en-US" altLang="zh-CN" sz="2400" dirty="0" smtClean="0"/>
                        </a:p>
                      </a:txBody>
                      <a:tcPr anchor="ctr"/>
                    </a:tc>
                  </a:tr>
                  <a:tr h="370840">
                    <a:tc>
                      <a:txBody>
                        <a:bodyPr/>
                        <a:lstStyle/>
                        <a:p>
                          <a:pPr algn="ctr">
                            <a:lnSpc>
                              <a:spcPct val="100000"/>
                            </a:lnSpc>
                          </a:pPr>
                          <a:r>
                            <a:rPr lang="zh-CN" altLang="en-US" sz="2400" dirty="0" smtClean="0">
                              <a:latin typeface="微软雅黑" panose="020B0503020204020204" pitchFamily="34" charset="-122"/>
                            </a:rPr>
                            <a:t>变量符号</a:t>
                          </a:r>
                          <a:r>
                            <a:rPr lang="en-US" altLang="zh-CN" sz="2400" dirty="0" smtClean="0">
                              <a:latin typeface="微软雅黑" panose="020B0503020204020204" pitchFamily="34" charset="-122"/>
                            </a:rPr>
                            <a:t>(Variables symbols)</a:t>
                          </a:r>
                          <a:endParaRPr lang="en-US" altLang="zh-CN" sz="2400" dirty="0">
                            <a:latin typeface="微软雅黑" panose="020B0503020204020204" pitchFamily="34" charset="-122"/>
                          </a:endParaRPr>
                        </a:p>
                      </a:txBody>
                      <a:tcPr/>
                    </a:tc>
                    <a:tc>
                      <a:txBody>
                        <a:bodyPr/>
                        <a:lstStyle/>
                        <a:p>
                          <a:pPr>
                            <a:lnSpc>
                              <a:spcPct val="100000"/>
                            </a:lnSpc>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rPr>
                                  <m:t>𝑥</m:t>
                                </m:r>
                                <m:r>
                                  <a:rPr lang="en-US" altLang="zh-CN" sz="2400" i="1" dirty="0" smtClean="0">
                                    <a:latin typeface="Cambria Math" panose="02040503050406030204" pitchFamily="18" charset="0"/>
                                  </a:rPr>
                                  <m:t>, </m:t>
                                </m:r>
                                <m:r>
                                  <a:rPr lang="en-US" altLang="zh-CN" sz="2400" i="1" dirty="0" smtClean="0">
                                    <a:latin typeface="Cambria Math" panose="02040503050406030204" pitchFamily="18" charset="0"/>
                                  </a:rPr>
                                  <m:t>𝑦</m:t>
                                </m:r>
                                <m:r>
                                  <a:rPr lang="en-US" altLang="zh-CN" sz="2400" i="1" dirty="0" smtClean="0">
                                    <a:latin typeface="Cambria Math" panose="02040503050406030204" pitchFamily="18" charset="0"/>
                                  </a:rPr>
                                  <m:t>,…</m:t>
                                </m:r>
                              </m:oMath>
                            </m:oMathPara>
                          </a14:m>
                          <a:endParaRPr lang="en-US" altLang="zh-CN" sz="2400" dirty="0" smtClean="0"/>
                        </a:p>
                      </a:txBody>
                      <a:tcPr anchor="ctr"/>
                    </a:tc>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400" dirty="0" smtClean="0">
                              <a:latin typeface="微软雅黑" panose="020B0503020204020204" pitchFamily="34" charset="-122"/>
                            </a:rPr>
                            <a:t>函词符号</a:t>
                          </a:r>
                          <a:r>
                            <a:rPr lang="en-US" altLang="zh-CN" sz="2400" dirty="0" smtClean="0">
                              <a:latin typeface="微软雅黑" panose="020B0503020204020204" pitchFamily="34" charset="-122"/>
                            </a:rPr>
                            <a:t>(function symbols)</a:t>
                          </a:r>
                          <a:endParaRPr lang="en-US" altLang="zh-CN" sz="2400" dirty="0" smtClean="0">
                            <a:latin typeface="微软雅黑" panose="020B0503020204020204" pitchFamily="34" charset="-122"/>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rPr>
                                  <m:t>𝑆𝑞𝑟𝑡</m:t>
                                </m:r>
                                <m:r>
                                  <a:rPr lang="en-US" altLang="zh-CN" sz="2400" i="1" dirty="0" smtClean="0">
                                    <a:latin typeface="Cambria Math" panose="02040503050406030204" pitchFamily="18" charset="0"/>
                                  </a:rPr>
                                  <m:t>, </m:t>
                                </m:r>
                                <m:r>
                                  <a:rPr lang="en-US" altLang="zh-CN" sz="2400" i="1" dirty="0" err="1" smtClean="0">
                                    <a:latin typeface="Cambria Math" panose="02040503050406030204" pitchFamily="18" charset="0"/>
                                  </a:rPr>
                                  <m:t>𝐿𝑒𝑓𝑡𝐿𝑒𝑔𝑂𝑓</m:t>
                                </m:r>
                                <m:r>
                                  <a:rPr lang="en-US" altLang="zh-CN" sz="2400" i="1" dirty="0" smtClean="0">
                                    <a:latin typeface="Cambria Math" panose="02040503050406030204" pitchFamily="18" charset="0"/>
                                  </a:rPr>
                                  <m:t>, </m:t>
                                </m:r>
                                <m:r>
                                  <a:rPr lang="en-US" altLang="zh-CN" sz="2400" i="1" dirty="0" smtClean="0">
                                    <a:latin typeface="Cambria Math" panose="02040503050406030204" pitchFamily="18" charset="0"/>
                                  </a:rPr>
                                  <m:t>𝑓</m:t>
                                </m:r>
                                <m:r>
                                  <a:rPr lang="en-US" altLang="zh-CN" sz="2400" i="1" dirty="0" smtClean="0">
                                    <a:latin typeface="Cambria Math" panose="02040503050406030204" pitchFamily="18" charset="0"/>
                                  </a:rPr>
                                  <m:t>, </m:t>
                                </m:r>
                                <m:r>
                                  <a:rPr lang="en-US" altLang="zh-CN" sz="2400" i="1" dirty="0" smtClean="0">
                                    <a:latin typeface="Cambria Math" panose="02040503050406030204" pitchFamily="18" charset="0"/>
                                  </a:rPr>
                                  <m:t>𝑔</m:t>
                                </m:r>
                                <m:r>
                                  <a:rPr lang="en-US" altLang="zh-CN" sz="2400" i="1" dirty="0" smtClean="0">
                                    <a:latin typeface="Cambria Math" panose="02040503050406030204" pitchFamily="18" charset="0"/>
                                  </a:rPr>
                                  <m:t>, </m:t>
                                </m:r>
                                <m:r>
                                  <a:rPr lang="en-US" altLang="zh-CN" sz="2400" i="1" dirty="0" smtClean="0">
                                    <a:latin typeface="Cambria Math" panose="02040503050406030204" pitchFamily="18" charset="0"/>
                                  </a:rPr>
                                  <m:t>ℎ</m:t>
                                </m:r>
                                <m:r>
                                  <a:rPr lang="en-US" altLang="zh-CN" sz="2400" i="1" dirty="0" smtClean="0">
                                    <a:latin typeface="Cambria Math" panose="02040503050406030204" pitchFamily="18" charset="0"/>
                                  </a:rPr>
                                  <m:t>,…</m:t>
                                </m:r>
                              </m:oMath>
                            </m:oMathPara>
                          </a14:m>
                          <a:endParaRPr lang="en-US" altLang="zh-CN" sz="2400" dirty="0" smtClean="0">
                            <a:latin typeface="微软雅黑" panose="020B0503020204020204" pitchFamily="34" charset="-122"/>
                          </a:endParaRPr>
                        </a:p>
                      </a:txBody>
                      <a:tcPr anchor="ctr"/>
                    </a:tc>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400" dirty="0" smtClean="0">
                              <a:latin typeface="微软雅黑" panose="020B0503020204020204" pitchFamily="34" charset="-122"/>
                            </a:rPr>
                            <a:t>谓词符号</a:t>
                          </a:r>
                          <a:r>
                            <a:rPr lang="en-US" altLang="zh-CN" sz="2400" dirty="0" smtClean="0">
                              <a:latin typeface="微软雅黑" panose="020B0503020204020204" pitchFamily="34" charset="-122"/>
                            </a:rPr>
                            <a:t>(predicate symbols) </a:t>
                          </a:r>
                          <a:endParaRPr lang="en-US" altLang="zh-CN" sz="2400" dirty="0" smtClean="0">
                            <a:latin typeface="微软雅黑" panose="020B0503020204020204" pitchFamily="34" charset="-122"/>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rPr>
                                  <m:t>𝐵𝑟𝑜𝑡ℎ𝑒𝑟</m:t>
                                </m:r>
                                <m:r>
                                  <a:rPr lang="en-US" altLang="zh-CN" sz="2400" i="1" dirty="0" smtClean="0">
                                    <a:latin typeface="Cambria Math" panose="02040503050406030204" pitchFamily="18" charset="0"/>
                                  </a:rPr>
                                  <m:t>, </m:t>
                                </m:r>
                                <m:r>
                                  <a:rPr lang="en-US" altLang="zh-CN" sz="2400" i="1" dirty="0" smtClean="0">
                                    <a:latin typeface="Cambria Math" panose="02040503050406030204" pitchFamily="18" charset="0"/>
                                  </a:rPr>
                                  <m:t>𝑃</m:t>
                                </m:r>
                                <m:r>
                                  <a:rPr lang="en-US" altLang="zh-CN" sz="2400" i="1" dirty="0" smtClean="0">
                                    <a:latin typeface="Cambria Math" panose="02040503050406030204" pitchFamily="18" charset="0"/>
                                  </a:rPr>
                                  <m:t>, </m:t>
                                </m:r>
                                <m:r>
                                  <a:rPr lang="en-US" altLang="zh-CN" sz="2400" i="1" dirty="0" smtClean="0">
                                    <a:latin typeface="Cambria Math" panose="02040503050406030204" pitchFamily="18" charset="0"/>
                                  </a:rPr>
                                  <m:t>𝑄</m:t>
                                </m:r>
                                <m:r>
                                  <a:rPr lang="en-US" altLang="zh-CN" sz="2400" i="1" dirty="0" smtClean="0">
                                    <a:latin typeface="Cambria Math" panose="02040503050406030204" pitchFamily="18" charset="0"/>
                                  </a:rPr>
                                  <m:t>, </m:t>
                                </m:r>
                                <m:r>
                                  <a:rPr lang="en-US" altLang="zh-CN" sz="2400" i="1" dirty="0" smtClean="0">
                                    <a:latin typeface="Cambria Math" panose="02040503050406030204" pitchFamily="18" charset="0"/>
                                  </a:rPr>
                                  <m:t>𝑅</m:t>
                                </m:r>
                                <m:r>
                                  <a:rPr lang="en-US" altLang="zh-CN" sz="2400" i="1" dirty="0" smtClean="0">
                                    <a:latin typeface="Cambria Math" panose="02040503050406030204" pitchFamily="18" charset="0"/>
                                  </a:rPr>
                                  <m:t>, …</m:t>
                                </m:r>
                              </m:oMath>
                            </m:oMathPara>
                          </a14:m>
                          <a:endParaRPr lang="en-US" altLang="zh-CN" sz="2400" dirty="0" smtClean="0">
                            <a:latin typeface="微软雅黑" panose="020B0503020204020204" pitchFamily="34" charset="-122"/>
                          </a:endParaRPr>
                        </a:p>
                      </a:txBody>
                      <a:tcPr anchor="ctr"/>
                    </a:tc>
                  </a:tr>
                  <a:tr h="370840">
                    <a:tc>
                      <a:txBody>
                        <a:bodyPr/>
                        <a:lstStyle/>
                        <a:p>
                          <a:pPr algn="ctr">
                            <a:lnSpc>
                              <a:spcPct val="100000"/>
                            </a:lnSpc>
                          </a:pPr>
                          <a:r>
                            <a:rPr lang="zh-CN" altLang="en-US" sz="2400" dirty="0" smtClean="0">
                              <a:latin typeface="微软雅黑" panose="020B0503020204020204" pitchFamily="34" charset="-122"/>
                            </a:rPr>
                            <a:t>连接词</a:t>
                          </a:r>
                          <a:endParaRPr lang="en-US" altLang="zh-CN" sz="2400" dirty="0" smtClean="0">
                            <a:latin typeface="微软雅黑" panose="020B0503020204020204" pitchFamily="34" charset="-122"/>
                          </a:endParaRPr>
                        </a:p>
                        <a:p>
                          <a:pPr algn="ctr">
                            <a:lnSpc>
                              <a:spcPct val="100000"/>
                            </a:lnSpc>
                          </a:pPr>
                          <a:r>
                            <a:rPr lang="en-US" altLang="zh-CN" sz="2400" dirty="0" smtClean="0">
                              <a:latin typeface="微软雅黑" panose="020B0503020204020204" pitchFamily="34" charset="-122"/>
                            </a:rPr>
                            <a:t>(Connectives)</a:t>
                          </a:r>
                          <a:endParaRPr lang="en-US" altLang="zh-CN" sz="2400" dirty="0">
                            <a:latin typeface="微软雅黑" panose="020B0503020204020204" pitchFamily="34" charset="-122"/>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sym typeface="Symbol" panose="05050102010706020507" pitchFamily="18" charset="2"/>
                                  </a:rPr>
                                  <m:t>, , , , </m:t>
                                </m:r>
                              </m:oMath>
                            </m:oMathPara>
                          </a14:m>
                          <a:endParaRPr lang="en-US" altLang="zh-CN" sz="2400" dirty="0" smtClean="0">
                            <a:latin typeface="微软雅黑" panose="020B0503020204020204" pitchFamily="34" charset="-122"/>
                          </a:endParaRPr>
                        </a:p>
                      </a:txBody>
                      <a:tcPr anchor="ctr"/>
                    </a:tc>
                  </a:tr>
                  <a:tr h="370840">
                    <a:tc>
                      <a:txBody>
                        <a:bodyPr/>
                        <a:lstStyle/>
                        <a:p>
                          <a:pPr algn="ctr">
                            <a:lnSpc>
                              <a:spcPct val="100000"/>
                            </a:lnSpc>
                          </a:pPr>
                          <a:r>
                            <a:rPr lang="zh-CN" altLang="en-US" sz="2400" dirty="0" smtClean="0">
                              <a:latin typeface="微软雅黑" panose="020B0503020204020204" pitchFamily="34" charset="-122"/>
                            </a:rPr>
                            <a:t>量词</a:t>
                          </a:r>
                          <a:r>
                            <a:rPr lang="en-US" altLang="zh-CN" sz="2400" dirty="0" smtClean="0">
                              <a:latin typeface="微软雅黑" panose="020B0503020204020204" pitchFamily="34" charset="-122"/>
                            </a:rPr>
                            <a:t>(Quantifiers)</a:t>
                          </a:r>
                          <a:endParaRPr lang="en-US" altLang="zh-CN" sz="2400" dirty="0" smtClean="0">
                            <a:latin typeface="微软雅黑" panose="020B0503020204020204" pitchFamily="34" charset="-122"/>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sym typeface="Symbol" panose="05050102010706020507" pitchFamily="18" charset="2"/>
                                  </a:rPr>
                                  <m:t>, </m:t>
                                </m:r>
                              </m:oMath>
                            </m:oMathPara>
                          </a14:m>
                          <a:endParaRPr lang="en-US" altLang="zh-CN" sz="2400" dirty="0" smtClean="0">
                            <a:latin typeface="微软雅黑" panose="020B0503020204020204" pitchFamily="34" charset="-122"/>
                            <a:sym typeface="Symbol" panose="05050102010706020507" pitchFamily="18" charset="2"/>
                          </a:endParaRPr>
                        </a:p>
                      </a:txBody>
                      <a:tcPr anchor="ctr"/>
                    </a:tc>
                  </a:tr>
                </a:tbl>
              </a:graphicData>
            </a:graphic>
          </p:graphicFrame>
        </mc:Choice>
        <mc:Fallback xmlns="">
          <p:graphicFrame>
            <p:nvGraphicFramePr>
              <p:cNvPr id="13" name="内容占位符 12"/>
              <p:cNvGraphicFramePr>
                <a:graphicFrameLocks noGrp="1"/>
              </p:cNvGraphicFramePr>
              <p:nvPr>
                <p:ph idx="1"/>
                <p:custDataLst>
                  <p:tags r:id="rId3"/>
                </p:custDataLst>
              </p:nvPr>
            </p:nvGraphicFramePr>
            <p:xfrm>
              <a:off x="323528" y="2204864"/>
              <a:ext cx="8208912" cy="3108960"/>
            </p:xfrm>
            <a:graphic>
              <a:graphicData uri="http://schemas.openxmlformats.org/drawingml/2006/table">
                <a:tbl>
                  <a:tblPr bandRow="1">
                    <a:tableStyleId>{5C22544A-7EE6-4342-B048-85BDC9FD1C3A}</a:tableStyleId>
                  </a:tblPr>
                  <a:tblGrid>
                    <a:gridCol w="4249116"/>
                    <a:gridCol w="3959796"/>
                  </a:tblGrid>
                  <a:tr h="457200">
                    <a:tc>
                      <a:txBody>
                        <a:bodyPr/>
                        <a:lstStyle/>
                        <a:p>
                          <a:pPr algn="ctr">
                            <a:lnSpc>
                              <a:spcPct val="100000"/>
                            </a:lnSpc>
                          </a:pPr>
                          <a:r>
                            <a:rPr lang="zh-CN" altLang="en-US" sz="2400" dirty="0" smtClean="0">
                              <a:latin typeface="微软雅黑" panose="020B0503020204020204" pitchFamily="34" charset="-122"/>
                            </a:rPr>
                            <a:t>常量符号</a:t>
                          </a:r>
                          <a:r>
                            <a:rPr lang="en-US" altLang="zh-CN" sz="2400" dirty="0" smtClean="0">
                              <a:latin typeface="微软雅黑" panose="020B0503020204020204" pitchFamily="34" charset="-122"/>
                            </a:rPr>
                            <a:t>(Constant symbols)</a:t>
                          </a:r>
                          <a:endParaRPr lang="zh-CN" altLang="en-US" sz="2400" dirty="0"/>
                        </a:p>
                      </a:txBody>
                      <a:tcPr/>
                    </a:tc>
                    <a:tc>
                      <a:txBody>
                        <a:bodyPr/>
                        <a:lstStyle/>
                        <a:p>
                          <a:endParaRPr lang="zh-CN"/>
                        </a:p>
                      </a:txBody>
                      <a:tcPr anchor="ctr">
                        <a:blipFill>
                          <a:blip r:embed="rId4"/>
                        </a:blipFill>
                      </a:tcPr>
                    </a:tc>
                  </a:tr>
                  <a:tr h="457200">
                    <a:tc>
                      <a:txBody>
                        <a:bodyPr/>
                        <a:lstStyle/>
                        <a:p>
                          <a:pPr algn="ctr">
                            <a:lnSpc>
                              <a:spcPct val="100000"/>
                            </a:lnSpc>
                          </a:pPr>
                          <a:r>
                            <a:rPr lang="zh-CN" altLang="en-US" sz="2400" dirty="0" smtClean="0">
                              <a:latin typeface="微软雅黑" panose="020B0503020204020204" pitchFamily="34" charset="-122"/>
                            </a:rPr>
                            <a:t>变量符号</a:t>
                          </a:r>
                          <a:r>
                            <a:rPr lang="en-US" altLang="zh-CN" sz="2400" dirty="0" smtClean="0">
                              <a:latin typeface="微软雅黑" panose="020B0503020204020204" pitchFamily="34" charset="-122"/>
                            </a:rPr>
                            <a:t>(Variables symbols)</a:t>
                          </a:r>
                          <a:endParaRPr lang="en-US" altLang="zh-CN" sz="2400" dirty="0">
                            <a:latin typeface="微软雅黑" panose="020B0503020204020204" pitchFamily="34" charset="-122"/>
                          </a:endParaRPr>
                        </a:p>
                      </a:txBody>
                      <a:tcPr/>
                    </a:tc>
                    <a:tc>
                      <a:txBody>
                        <a:bodyPr/>
                        <a:lstStyle/>
                        <a:p>
                          <a:endParaRPr lang="zh-CN"/>
                        </a:p>
                      </a:txBody>
                      <a:tcPr anchor="ctr">
                        <a:blipFill>
                          <a:blip r:embed="rId4"/>
                        </a:blipFill>
                      </a:tcPr>
                    </a:tc>
                  </a:tr>
                  <a:tr h="457200">
                    <a:tc>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400" dirty="0" smtClean="0">
                              <a:latin typeface="微软雅黑" panose="020B0503020204020204" pitchFamily="34" charset="-122"/>
                            </a:rPr>
                            <a:t>函词符号</a:t>
                          </a:r>
                          <a:r>
                            <a:rPr lang="en-US" altLang="zh-CN" sz="2400" dirty="0" smtClean="0">
                              <a:latin typeface="微软雅黑" panose="020B0503020204020204" pitchFamily="34" charset="-122"/>
                            </a:rPr>
                            <a:t>(function symbols)</a:t>
                          </a:r>
                          <a:endParaRPr lang="en-US" altLang="zh-CN" sz="2400" dirty="0" smtClean="0">
                            <a:latin typeface="微软雅黑" panose="020B0503020204020204" pitchFamily="34" charset="-122"/>
                          </a:endParaRPr>
                        </a:p>
                      </a:txBody>
                      <a:tcPr/>
                    </a:tc>
                    <a:tc>
                      <a:txBody>
                        <a:bodyPr/>
                        <a:lstStyle/>
                        <a:p>
                          <a:endParaRPr lang="zh-CN"/>
                        </a:p>
                      </a:txBody>
                      <a:tcPr anchor="ctr">
                        <a:blipFill>
                          <a:blip r:embed="rId4"/>
                        </a:blipFill>
                      </a:tcPr>
                    </a:tc>
                  </a:tr>
                  <a:tr h="457200">
                    <a:tc>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400" dirty="0" smtClean="0">
                              <a:latin typeface="微软雅黑" panose="020B0503020204020204" pitchFamily="34" charset="-122"/>
                            </a:rPr>
                            <a:t>谓词符号</a:t>
                          </a:r>
                          <a:r>
                            <a:rPr lang="en-US" altLang="zh-CN" sz="2400" dirty="0" smtClean="0">
                              <a:latin typeface="微软雅黑" panose="020B0503020204020204" pitchFamily="34" charset="-122"/>
                            </a:rPr>
                            <a:t>(predicate symbols) </a:t>
                          </a:r>
                          <a:endParaRPr lang="en-US" altLang="zh-CN" sz="2400" dirty="0" smtClean="0">
                            <a:latin typeface="微软雅黑" panose="020B0503020204020204" pitchFamily="34" charset="-122"/>
                          </a:endParaRPr>
                        </a:p>
                      </a:txBody>
                      <a:tcPr/>
                    </a:tc>
                    <a:tc>
                      <a:txBody>
                        <a:bodyPr/>
                        <a:lstStyle/>
                        <a:p>
                          <a:endParaRPr lang="zh-CN"/>
                        </a:p>
                      </a:txBody>
                      <a:tcPr anchor="ctr">
                        <a:blipFill>
                          <a:blip r:embed="rId4"/>
                        </a:blipFill>
                      </a:tcPr>
                    </a:tc>
                  </a:tr>
                  <a:tr h="822960">
                    <a:tc>
                      <a:txBody>
                        <a:bodyPr/>
                        <a:lstStyle/>
                        <a:p>
                          <a:pPr algn="ctr">
                            <a:lnSpc>
                              <a:spcPct val="100000"/>
                            </a:lnSpc>
                          </a:pPr>
                          <a:r>
                            <a:rPr lang="zh-CN" altLang="en-US" sz="2400" dirty="0" smtClean="0">
                              <a:latin typeface="微软雅黑" panose="020B0503020204020204" pitchFamily="34" charset="-122"/>
                            </a:rPr>
                            <a:t>连接词</a:t>
                          </a:r>
                          <a:endParaRPr lang="en-US" altLang="zh-CN" sz="2400" dirty="0" smtClean="0">
                            <a:latin typeface="微软雅黑" panose="020B0503020204020204" pitchFamily="34" charset="-122"/>
                          </a:endParaRPr>
                        </a:p>
                        <a:p>
                          <a:pPr algn="ctr">
                            <a:lnSpc>
                              <a:spcPct val="100000"/>
                            </a:lnSpc>
                          </a:pPr>
                          <a:r>
                            <a:rPr lang="en-US" altLang="zh-CN" sz="2400" dirty="0" smtClean="0">
                              <a:latin typeface="微软雅黑" panose="020B0503020204020204" pitchFamily="34" charset="-122"/>
                            </a:rPr>
                            <a:t>(Connectives)</a:t>
                          </a:r>
                          <a:endParaRPr lang="en-US" altLang="zh-CN" sz="2400" dirty="0">
                            <a:latin typeface="微软雅黑" panose="020B0503020204020204" pitchFamily="34" charset="-122"/>
                          </a:endParaRPr>
                        </a:p>
                      </a:txBody>
                      <a:tcPr/>
                    </a:tc>
                    <a:tc>
                      <a:txBody>
                        <a:bodyPr/>
                        <a:lstStyle/>
                        <a:p>
                          <a:endParaRPr lang="zh-CN"/>
                        </a:p>
                      </a:txBody>
                      <a:tcPr anchor="ctr">
                        <a:blipFill>
                          <a:blip r:embed="rId4"/>
                        </a:blipFill>
                      </a:tcPr>
                    </a:tc>
                  </a:tr>
                  <a:tr h="539115">
                    <a:tc>
                      <a:txBody>
                        <a:bodyPr/>
                        <a:lstStyle/>
                        <a:p>
                          <a:pPr algn="ctr">
                            <a:lnSpc>
                              <a:spcPct val="100000"/>
                            </a:lnSpc>
                          </a:pPr>
                          <a:r>
                            <a:rPr lang="zh-CN" altLang="en-US" sz="2400" dirty="0" smtClean="0">
                              <a:latin typeface="微软雅黑" panose="020B0503020204020204" pitchFamily="34" charset="-122"/>
                            </a:rPr>
                            <a:t>量词</a:t>
                          </a:r>
                          <a:r>
                            <a:rPr lang="en-US" altLang="zh-CN" sz="2400" dirty="0" smtClean="0">
                              <a:latin typeface="微软雅黑" panose="020B0503020204020204" pitchFamily="34" charset="-122"/>
                            </a:rPr>
                            <a:t>(Quantifiers)</a:t>
                          </a:r>
                          <a:endParaRPr lang="en-US" altLang="zh-CN" sz="2400" dirty="0" smtClean="0">
                            <a:latin typeface="微软雅黑" panose="020B0503020204020204" pitchFamily="34" charset="-122"/>
                          </a:endParaRPr>
                        </a:p>
                      </a:txBody>
                      <a:tcPr/>
                    </a:tc>
                    <a:tc>
                      <a:txBody>
                        <a:bodyPr/>
                        <a:lstStyle/>
                        <a:p>
                          <a:endParaRPr lang="zh-CN"/>
                        </a:p>
                      </a:txBody>
                      <a:tcPr anchor="ctr">
                        <a:blipFill>
                          <a:blip r:embed="rId4"/>
                        </a:blipFill>
                      </a:tcPr>
                    </a:tc>
                  </a:tr>
                </a:tbl>
              </a:graphicData>
            </a:graphic>
          </p:graphicFrame>
        </mc:Fallback>
      </mc:AlternateContent>
      <p:sp>
        <p:nvSpPr>
          <p:cNvPr id="14" name="灯片编号占位符 13"/>
          <p:cNvSpPr>
            <a:spLocks noGrp="1"/>
          </p:cNvSpPr>
          <p:nvPr>
            <p:ph type="sldNum" sz="quarter" idx="12"/>
            <p:custDataLst>
              <p:tags r:id="rId5"/>
            </p:custDataLst>
          </p:nvPr>
        </p:nvSpPr>
        <p:spPr/>
        <p:txBody>
          <a:bodyPr/>
          <a:lstStyle/>
          <a:p>
            <a:pPr>
              <a:defRPr/>
            </a:pPr>
            <a:fld id="{8675F621-1619-4F8E-88C5-5F30FD27FF75}" type="slidenum">
              <a:rPr lang="en-US" altLang="zh-CN" smtClean="0"/>
            </a:fld>
            <a:endParaRPr lang="en-US" altLang="zh-CN"/>
          </a:p>
        </p:txBody>
      </p:sp>
    </p:spTree>
  </p:cSld>
  <p:clrMapOvr>
    <a:masterClrMapping/>
  </p:clrMapOvr>
  <p:transition advClick="0"/>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5"/>
          <p:cNvSpPr>
            <a:spLocks noGrp="1" noChangeArrowheads="1"/>
          </p:cNvSpPr>
          <p:nvPr>
            <p:ph type="title"/>
          </p:nvPr>
        </p:nvSpPr>
        <p:spPr/>
        <p:txBody>
          <a:bodyPr/>
          <a:lstStyle/>
          <a:p>
            <a:r>
              <a:rPr lang="zh-CN" altLang="en-US" dirty="0" smtClean="0"/>
              <a:t>全称量词转换</a:t>
            </a:r>
            <a:endParaRPr lang="en-US" altLang="zh-CN" dirty="0"/>
          </a:p>
        </p:txBody>
      </p:sp>
      <mc:AlternateContent xmlns:mc="http://schemas.openxmlformats.org/markup-compatibility/2006">
        <mc:Choice xmlns:a14="http://schemas.microsoft.com/office/drawing/2010/main" Requires="a14">
          <p:sp>
            <p:nvSpPr>
              <p:cNvPr id="22534" name="Rectangle 6"/>
              <p:cNvSpPr>
                <a:spLocks noGrp="1" noChangeArrowheads="1"/>
              </p:cNvSpPr>
              <p:nvPr>
                <p:ph idx="1"/>
              </p:nvPr>
            </p:nvSpPr>
            <p:spPr/>
            <p:txBody>
              <a:bodyPr/>
              <a:lstStyle/>
              <a:p>
                <a:r>
                  <a:rPr lang="zh-CN" altLang="en-US" sz="2800" dirty="0" smtClean="0"/>
                  <a:t>全称量词实例化</a:t>
                </a:r>
                <a:r>
                  <a:rPr lang="en-US" altLang="zh-CN" sz="2800" dirty="0" smtClean="0"/>
                  <a:t> (</a:t>
                </a:r>
                <a:r>
                  <a:rPr lang="en-US" altLang="zh-CN" sz="2800" dirty="0"/>
                  <a:t>Universal </a:t>
                </a:r>
                <a:r>
                  <a:rPr lang="en-US" altLang="zh-CN" sz="2800" dirty="0" smtClean="0"/>
                  <a:t>Instantiation) </a:t>
                </a:r>
                <a:endParaRPr lang="en-US" altLang="zh-CN" sz="2800" dirty="0" smtClean="0"/>
              </a:p>
              <a:p>
                <a:pPr lvl="1"/>
                <a:r>
                  <a:rPr lang="zh-CN" altLang="en-US" sz="2400" dirty="0" smtClean="0"/>
                  <a:t>计算机学院的</a:t>
                </a:r>
                <a:r>
                  <a:rPr lang="zh-CN" altLang="en-US" sz="2400" dirty="0"/>
                  <a:t>人都很聪明。</a:t>
                </a:r>
                <a:endParaRPr lang="en-US" altLang="zh-CN" sz="2400" dirty="0" smtClean="0"/>
              </a:p>
              <a:p>
                <a:pPr lvl="1"/>
                <a14:m>
                  <m:oMath xmlns:m="http://schemas.openxmlformats.org/officeDocument/2006/math">
                    <m:r>
                      <a:rPr lang="en-US" altLang="zh-CN" sz="2400">
                        <a:latin typeface="Cambria Math" panose="02040503050406030204" pitchFamily="18" charset="0"/>
                      </a:rPr>
                      <m:t>∀</m:t>
                    </m:r>
                    <m:r>
                      <a:rPr lang="en-US" altLang="zh-CN" sz="2400">
                        <a:latin typeface="Cambria Math" panose="02040503050406030204" pitchFamily="18" charset="0"/>
                      </a:rPr>
                      <m:t>𝑥</m:t>
                    </m:r>
                    <m:r>
                      <a:rPr lang="en-US" altLang="zh-CN" sz="2400">
                        <a:latin typeface="Cambria Math" panose="02040503050406030204" pitchFamily="18" charset="0"/>
                      </a:rPr>
                      <m:t>(</m:t>
                    </m:r>
                    <m:r>
                      <a:rPr lang="en-US" altLang="zh-CN" sz="2400">
                        <a:latin typeface="Cambria Math" panose="02040503050406030204" pitchFamily="18" charset="0"/>
                      </a:rPr>
                      <m:t>𝐴𝑡</m:t>
                    </m:r>
                    <m:r>
                      <a:rPr lang="en-US" altLang="zh-CN" sz="2400">
                        <a:latin typeface="Cambria Math" panose="02040503050406030204" pitchFamily="18" charset="0"/>
                      </a:rPr>
                      <m:t>(</m:t>
                    </m:r>
                    <m:r>
                      <a:rPr lang="en-US" altLang="zh-CN" sz="2400">
                        <a:latin typeface="Cambria Math" panose="02040503050406030204" pitchFamily="18" charset="0"/>
                      </a:rPr>
                      <m:t>𝑥</m:t>
                    </m:r>
                    <m:r>
                      <a:rPr lang="en-US" altLang="zh-CN" sz="2400">
                        <a:latin typeface="Cambria Math" panose="02040503050406030204" pitchFamily="18" charset="0"/>
                      </a:rPr>
                      <m:t>, </m:t>
                    </m:r>
                    <m:r>
                      <a:rPr lang="en-US" altLang="zh-CN" sz="2400" b="0" i="1" smtClean="0">
                        <a:latin typeface="Cambria Math" panose="02040503050406030204" pitchFamily="18" charset="0"/>
                      </a:rPr>
                      <m:t>𝐶𝑆</m:t>
                    </m:r>
                    <m:r>
                      <a:rPr lang="en-US" altLang="zh-CN" sz="2400">
                        <a:latin typeface="Cambria Math" panose="02040503050406030204" pitchFamily="18" charset="0"/>
                      </a:rPr>
                      <m:t>)</m:t>
                    </m:r>
                    <m:r>
                      <a:rPr lang="en-US" altLang="zh-CN" sz="2400" i="1" smtClean="0">
                        <a:latin typeface="Cambria Math" panose="02040503050406030204" pitchFamily="18" charset="0"/>
                      </a:rPr>
                      <m:t>⇒</m:t>
                    </m:r>
                    <m:r>
                      <a:rPr lang="en-US" altLang="zh-CN" sz="2400">
                        <a:latin typeface="Cambria Math" panose="02040503050406030204" pitchFamily="18" charset="0"/>
                      </a:rPr>
                      <m:t>𝑆𝑚𝑎𝑟𝑡</m:t>
                    </m:r>
                    <m:r>
                      <a:rPr lang="en-US" altLang="zh-CN" sz="2400">
                        <a:latin typeface="Cambria Math" panose="02040503050406030204" pitchFamily="18" charset="0"/>
                      </a:rPr>
                      <m:t>(</m:t>
                    </m:r>
                    <m:r>
                      <a:rPr lang="en-US" altLang="zh-CN" sz="2400">
                        <a:latin typeface="Cambria Math" panose="02040503050406030204" pitchFamily="18" charset="0"/>
                      </a:rPr>
                      <m:t>𝑥</m:t>
                    </m:r>
                    <m:r>
                      <a:rPr lang="en-US" altLang="zh-CN" sz="2400">
                        <a:latin typeface="Cambria Math" panose="02040503050406030204" pitchFamily="18" charset="0"/>
                      </a:rPr>
                      <m:t>)))</m:t>
                    </m:r>
                  </m:oMath>
                </a14:m>
                <a:endParaRPr lang="en-US" altLang="zh-CN" sz="2400" dirty="0"/>
              </a:p>
              <a:p>
                <a:pPr lvl="1"/>
                <a:r>
                  <a:rPr lang="zh-CN" altLang="zh-CN" sz="2400" dirty="0" smtClean="0">
                    <a:solidFill>
                      <a:srgbClr val="C00000"/>
                    </a:solidFill>
                  </a:rPr>
                  <a:t>置换</a:t>
                </a:r>
                <a14:m>
                  <m:oMath xmlns:m="http://schemas.openxmlformats.org/officeDocument/2006/math">
                    <m:d>
                      <m:dPr>
                        <m:begChr m:val="{"/>
                        <m:endChr m:val="}"/>
                        <m:ctrlPr>
                          <a:rPr lang="en-US" altLang="zh-CN" sz="2400" i="1">
                            <a:solidFill>
                              <a:srgbClr val="C00000"/>
                            </a:solidFill>
                            <a:latin typeface="Cambria Math" panose="02040503050406030204" pitchFamily="18" charset="0"/>
                          </a:rPr>
                        </m:ctrlPr>
                      </m:dPr>
                      <m:e>
                        <m:r>
                          <a:rPr lang="en-US" altLang="zh-CN" sz="2400" i="1" smtClean="0">
                            <a:solidFill>
                              <a:srgbClr val="FF0000"/>
                            </a:solidFill>
                            <a:latin typeface="Cambria Math" panose="02040503050406030204" pitchFamily="18" charset="0"/>
                          </a:rPr>
                          <m:t>𝑣</m:t>
                        </m:r>
                        <m:r>
                          <a:rPr lang="en-US" altLang="zh-CN" sz="2400" i="1">
                            <a:solidFill>
                              <a:srgbClr val="C00000"/>
                            </a:solidFill>
                            <a:latin typeface="Cambria Math" panose="02040503050406030204" pitchFamily="18" charset="0"/>
                          </a:rPr>
                          <m:t>/</m:t>
                        </m:r>
                        <m:r>
                          <a:rPr lang="en-US" altLang="zh-CN" sz="2400" i="1" smtClean="0">
                            <a:solidFill>
                              <a:srgbClr val="0070C0"/>
                            </a:solidFill>
                            <a:latin typeface="Cambria Math" panose="02040503050406030204" pitchFamily="18" charset="0"/>
                          </a:rPr>
                          <m:t>𝑔</m:t>
                        </m:r>
                      </m:e>
                    </m:d>
                  </m:oMath>
                </a14:m>
                <a:endParaRPr lang="en-US" altLang="zh-CN" sz="2400" dirty="0" smtClean="0"/>
              </a:p>
              <a:p>
                <a:pPr lvl="2"/>
                <a:r>
                  <a:rPr lang="zh-CN" altLang="en-US" dirty="0" smtClean="0"/>
                  <a:t>将</a:t>
                </a:r>
                <a14:m>
                  <m:oMath xmlns:m="http://schemas.openxmlformats.org/officeDocument/2006/math">
                    <m:r>
                      <a:rPr lang="en-US" altLang="zh-CN" i="1" smtClean="0">
                        <a:solidFill>
                          <a:srgbClr val="FF0000"/>
                        </a:solidFill>
                        <a:latin typeface="Cambria Math" panose="02040503050406030204" pitchFamily="18" charset="0"/>
                      </a:rPr>
                      <m:t>𝑣</m:t>
                    </m:r>
                  </m:oMath>
                </a14:m>
                <a:r>
                  <a:rPr lang="zh-CN" altLang="en-US" dirty="0"/>
                  <a:t>替换</a:t>
                </a:r>
                <a:r>
                  <a:rPr lang="zh-CN" altLang="en-US" dirty="0" smtClean="0"/>
                  <a:t>成</a:t>
                </a:r>
                <a:r>
                  <a:rPr lang="zh-CN" altLang="en-US" dirty="0" smtClean="0">
                    <a:solidFill>
                      <a:schemeClr val="tx1"/>
                    </a:solidFill>
                  </a:rPr>
                  <a:t>项</a:t>
                </a:r>
                <a14:m>
                  <m:oMath xmlns:m="http://schemas.openxmlformats.org/officeDocument/2006/math">
                    <m:r>
                      <a:rPr lang="en-US" altLang="zh-CN" i="1" smtClean="0">
                        <a:solidFill>
                          <a:srgbClr val="0070C0"/>
                        </a:solidFill>
                        <a:latin typeface="Cambria Math" panose="02040503050406030204" pitchFamily="18" charset="0"/>
                      </a:rPr>
                      <m:t>𝑔</m:t>
                    </m:r>
                  </m:oMath>
                </a14:m>
                <a:endParaRPr lang="en-US" altLang="zh-CN" dirty="0" smtClean="0">
                  <a:solidFill>
                    <a:srgbClr val="0070C0"/>
                  </a:solidFill>
                </a:endParaRPr>
              </a:p>
              <a:p>
                <a:pPr lvl="2"/>
                <a:r>
                  <a:rPr lang="zh-CN" altLang="en-US" dirty="0" smtClean="0"/>
                  <a:t>对于全称量词，可将</a:t>
                </a:r>
                <a:r>
                  <a:rPr lang="zh-CN" altLang="en-US" dirty="0" smtClean="0">
                    <a:solidFill>
                      <a:srgbClr val="FF0000"/>
                    </a:solidFill>
                  </a:rPr>
                  <a:t>变量</a:t>
                </a:r>
                <a:r>
                  <a:rPr lang="zh-CN" altLang="en-US" dirty="0" smtClean="0"/>
                  <a:t>替换成任何</a:t>
                </a:r>
                <a:r>
                  <a:rPr lang="zh-CN" altLang="en-US" dirty="0" smtClean="0">
                    <a:solidFill>
                      <a:srgbClr val="0070C0"/>
                    </a:solidFill>
                  </a:rPr>
                  <a:t>基项</a:t>
                </a:r>
                <a:r>
                  <a:rPr lang="en-US" altLang="zh-CN" dirty="0" smtClean="0"/>
                  <a:t>(</a:t>
                </a:r>
                <a:r>
                  <a:rPr lang="zh-CN" altLang="en-US" dirty="0" smtClean="0"/>
                  <a:t>不含变元的项</a:t>
                </a:r>
                <a:r>
                  <a:rPr lang="en-US" altLang="zh-CN" dirty="0" smtClean="0"/>
                  <a:t>)</a:t>
                </a:r>
                <a:endParaRPr lang="en-US" altLang="zh-CN" dirty="0" smtClean="0"/>
              </a:p>
              <a:p>
                <a:pPr lvl="1"/>
                <a14:m>
                  <m:oMath xmlns:m="http://schemas.openxmlformats.org/officeDocument/2006/math">
                    <m:r>
                      <a:rPr lang="en-US" altLang="zh-CN" sz="2400" i="1" dirty="0" smtClean="0">
                        <a:solidFill>
                          <a:srgbClr val="C00000"/>
                        </a:solidFill>
                        <a:latin typeface="Cambria Math" panose="02040503050406030204" pitchFamily="18" charset="0"/>
                      </a:rPr>
                      <m:t>𝑆𝑈𝐵𝑆𝑇</m:t>
                    </m:r>
                    <m:r>
                      <a:rPr lang="en-US" altLang="zh-CN" sz="2400" i="1" dirty="0" smtClean="0">
                        <a:solidFill>
                          <a:srgbClr val="C00000"/>
                        </a:solidFill>
                        <a:latin typeface="Cambria Math" panose="02040503050406030204" pitchFamily="18" charset="0"/>
                      </a:rPr>
                      <m:t>(</m:t>
                    </m:r>
                    <m:r>
                      <a:rPr lang="en-US" altLang="zh-CN" sz="2400" i="1" dirty="0" smtClean="0">
                        <a:solidFill>
                          <a:srgbClr val="C00000"/>
                        </a:solidFill>
                        <a:latin typeface="Cambria Math" panose="02040503050406030204" pitchFamily="18" charset="0"/>
                      </a:rPr>
                      <m:t>𝜃</m:t>
                    </m:r>
                    <m:r>
                      <a:rPr lang="en-US" altLang="zh-CN" sz="2400" i="1" dirty="0" smtClean="0">
                        <a:solidFill>
                          <a:srgbClr val="C00000"/>
                        </a:solidFill>
                        <a:latin typeface="Cambria Math" panose="02040503050406030204" pitchFamily="18" charset="0"/>
                      </a:rPr>
                      <m:t>, </m:t>
                    </m:r>
                    <m:r>
                      <a:rPr lang="zh-CN" altLang="en-US" sz="2400" i="1" dirty="0" smtClean="0">
                        <a:solidFill>
                          <a:srgbClr val="C00000"/>
                        </a:solidFill>
                        <a:latin typeface="Cambria Math" panose="02040503050406030204" pitchFamily="18" charset="0"/>
                      </a:rPr>
                      <m:t>𝛼</m:t>
                    </m:r>
                    <m:r>
                      <a:rPr lang="en-US" altLang="zh-CN" sz="2400" i="1" dirty="0" smtClean="0">
                        <a:solidFill>
                          <a:srgbClr val="C00000"/>
                        </a:solidFill>
                        <a:latin typeface="Cambria Math" panose="02040503050406030204" pitchFamily="18" charset="0"/>
                      </a:rPr>
                      <m:t> )</m:t>
                    </m:r>
                  </m:oMath>
                </a14:m>
                <a:r>
                  <a:rPr lang="zh-CN" altLang="en-US" sz="2400" dirty="0" smtClean="0"/>
                  <a:t>：</a:t>
                </a:r>
                <a:r>
                  <a:rPr lang="zh-CN" altLang="zh-CN" sz="2400" dirty="0" smtClean="0"/>
                  <a:t>把置换</a:t>
                </a:r>
                <a14:m>
                  <m:oMath xmlns:m="http://schemas.openxmlformats.org/officeDocument/2006/math">
                    <m:r>
                      <a:rPr lang="en-US" altLang="zh-CN" sz="2400" i="1" dirty="0" smtClean="0">
                        <a:latin typeface="Cambria Math" panose="02040503050406030204" pitchFamily="18" charset="0"/>
                      </a:rPr>
                      <m:t>𝜃</m:t>
                    </m:r>
                  </m:oMath>
                </a14:m>
                <a:r>
                  <a:rPr lang="zh-CN" altLang="zh-CN" sz="2400" dirty="0"/>
                  <a:t>应用</a:t>
                </a:r>
                <a:r>
                  <a:rPr lang="zh-CN" altLang="zh-CN" sz="2400" dirty="0" smtClean="0"/>
                  <a:t>于</a:t>
                </a:r>
                <a:r>
                  <a:rPr lang="zh-CN" altLang="en-US" sz="2400" dirty="0" smtClean="0"/>
                  <a:t>语句</a:t>
                </a:r>
                <a:r>
                  <a:rPr lang="en-US" altLang="zh-CN" sz="2400" i="1" dirty="0" smtClean="0">
                    <a:sym typeface="Symbol" panose="05050102010706020507" pitchFamily="18" charset="2"/>
                  </a:rPr>
                  <a:t> </a:t>
                </a:r>
                <a:r>
                  <a:rPr lang="zh-CN" altLang="en-US" sz="2400" dirty="0" smtClean="0">
                    <a:sym typeface="Symbol" panose="05050102010706020507" pitchFamily="18" charset="2"/>
                  </a:rPr>
                  <a:t>的结果</a:t>
                </a:r>
                <a:endParaRPr lang="en-US" altLang="zh-CN" sz="2400" dirty="0" smtClean="0">
                  <a:sym typeface="Symbol" panose="05050102010706020507" pitchFamily="18" charset="2"/>
                </a:endParaRPr>
              </a:p>
            </p:txBody>
          </p:sp>
        </mc:Choice>
        <mc:Fallback>
          <p:sp>
            <p:nvSpPr>
              <p:cNvPr id="22534" name="Rectangle 6"/>
              <p:cNvSpPr>
                <a:spLocks noRot="1" noChangeAspect="1" noMove="1" noResize="1" noEditPoints="1" noAdjustHandles="1" noChangeArrowheads="1" noChangeShapeType="1" noTextEdit="1"/>
              </p:cNvSpPr>
              <p:nvPr>
                <p:ph idx="1"/>
              </p:nvPr>
            </p:nvSpPr>
            <p:spPr>
              <a:blipFill rotWithShape="1">
                <a:blip r:embed="rId1"/>
                <a:stretch>
                  <a:fillRect t="-7" r="4"/>
                </a:stretch>
              </a:blipFill>
            </p:spPr>
            <p:txBody>
              <a:bodyPr/>
              <a:lstStyle/>
              <a:p>
                <a:r>
                  <a:rPr lang="zh-CN" altLang="en-US">
                    <a:noFill/>
                  </a:rPr>
                  <a:t> </a:t>
                </a:r>
              </a:p>
            </p:txBody>
          </p:sp>
        </mc:Fallback>
      </mc:AlternateContent>
      <p:sp>
        <p:nvSpPr>
          <p:cNvPr id="2" name="灯片编号占位符 1"/>
          <p:cNvSpPr>
            <a:spLocks noGrp="1"/>
          </p:cNvSpPr>
          <p:nvPr>
            <p:ph type="sldNum" sz="quarter" idx="12"/>
          </p:nvPr>
        </p:nvSpPr>
        <p:spPr/>
        <p:txBody>
          <a:bodyPr/>
          <a:lstStyle/>
          <a:p>
            <a:fld id="{8675F621-1619-4F8E-88C5-5F30FD27FF75}" type="slidenum">
              <a:rPr lang="en-US" altLang="zh-CN" smtClean="0"/>
            </a:fld>
            <a:endParaRPr lang="en-US" altLang="zh-CN"/>
          </a:p>
        </p:txBody>
      </p:sp>
      <p:graphicFrame>
        <p:nvGraphicFramePr>
          <p:cNvPr id="9" name="表格 8"/>
          <p:cNvGraphicFramePr>
            <a:graphicFrameLocks noGrp="1"/>
          </p:cNvGraphicFramePr>
          <p:nvPr/>
        </p:nvGraphicFramePr>
        <p:xfrm>
          <a:off x="394234" y="4653136"/>
          <a:ext cx="8280920" cy="2103120"/>
        </p:xfrm>
        <a:graphic>
          <a:graphicData uri="http://schemas.openxmlformats.org/drawingml/2006/table">
            <a:tbl>
              <a:tblPr firstRow="1" bandRow="1">
                <a:tableStyleId>{5C22544A-7EE6-4342-B048-85BDC9FD1C3A}</a:tableStyleId>
              </a:tblPr>
              <a:tblGrid>
                <a:gridCol w="5400600"/>
                <a:gridCol w="2880320"/>
              </a:tblGrid>
              <a:tr h="225438">
                <a:tc>
                  <a:txBody>
                    <a:bodyPr/>
                    <a:lstStyle/>
                    <a:p>
                      <a:pPr algn="ctr"/>
                      <a:r>
                        <a:rPr lang="zh-CN" altLang="en-US" dirty="0" smtClean="0"/>
                        <a:t>实例</a:t>
                      </a:r>
                      <a:endParaRPr lang="zh-CN" altLang="en-US" dirty="0"/>
                    </a:p>
                  </a:txBody>
                  <a:tcPr/>
                </a:tc>
                <a:tc>
                  <a:txBody>
                    <a:bodyPr/>
                    <a:lstStyle/>
                    <a:p>
                      <a:pPr algn="ctr"/>
                      <a:r>
                        <a:rPr lang="zh-CN" altLang="zh-CN" sz="1800" dirty="0" smtClean="0"/>
                        <a:t>置换</a:t>
                      </a:r>
                      <a:endParaRPr lang="zh-CN" altLang="en-US" dirty="0"/>
                    </a:p>
                  </a:txBody>
                  <a:tcPr/>
                </a:tc>
              </a:tr>
              <a:tr h="281798">
                <a:tc>
                  <a:txBody>
                    <a:bodyPr/>
                    <a:lstStyle/>
                    <a:p>
                      <a:endParaRPr lang="zh-CN" altLang="en-US" sz="2400" dirty="0"/>
                    </a:p>
                  </a:txBody>
                  <a:tcPr/>
                </a:tc>
                <a:tc>
                  <a:txBody>
                    <a:bodyPr/>
                    <a:lstStyle/>
                    <a:p>
                      <a:endParaRPr lang="zh-CN" altLang="en-US" sz="2400" dirty="0"/>
                    </a:p>
                  </a:txBody>
                  <a:tcPr/>
                </a:tc>
              </a:tr>
              <a:tr h="281798">
                <a:tc>
                  <a:txBody>
                    <a:bodyPr/>
                    <a:lstStyle/>
                    <a:p>
                      <a:endParaRPr lang="zh-CN" altLang="en-US" sz="2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lang="zh-CN" altLang="en-US" sz="2400" dirty="0"/>
                    </a:p>
                  </a:txBody>
                  <a:tcPr/>
                </a:tc>
              </a:tr>
              <a:tr h="502031">
                <a:tc>
                  <a:txBody>
                    <a:bodyPr/>
                    <a:lstStyle/>
                    <a:p>
                      <a:endParaRPr lang="en-US" altLang="zh-CN" sz="2400" dirty="0" smtClean="0"/>
                    </a:p>
                    <a:p>
                      <a:endParaRPr lang="zh-CN" altLang="en-US" sz="2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lang="zh-CN" altLang="en-US" sz="2400" dirty="0"/>
                    </a:p>
                  </a:txBody>
                  <a:tcPr anchor="ctr" anchorCtr="1"/>
                </a:tc>
              </a:tr>
            </a:tbl>
          </a:graphicData>
        </a:graphic>
      </p:graphicFrame>
      <mc:AlternateContent xmlns:mc="http://schemas.openxmlformats.org/markup-compatibility/2006">
        <mc:Choice xmlns:a14="http://schemas.microsoft.com/office/drawing/2010/main" Requires="a14">
          <p:sp>
            <p:nvSpPr>
              <p:cNvPr id="3" name="文本框 2"/>
              <p:cNvSpPr txBox="1"/>
              <p:nvPr/>
            </p:nvSpPr>
            <p:spPr>
              <a:xfrm>
                <a:off x="5560187" y="2570118"/>
                <a:ext cx="2912785" cy="960519"/>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f>
                        <m:fPr>
                          <m:ctrlPr>
                            <a:rPr lang="en-US" altLang="zh-CN" sz="2800" i="1" smtClean="0">
                              <a:latin typeface="Cambria Math" panose="02040503050406030204" pitchFamily="18" charset="0"/>
                            </a:rPr>
                          </m:ctrlPr>
                        </m:fPr>
                        <m:num>
                          <m:r>
                            <a:rPr lang="en-US" altLang="zh-CN" sz="280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𝑣</m:t>
                          </m:r>
                          <m:r>
                            <a:rPr lang="en-US" altLang="zh-CN" sz="2800" b="0" i="1" smtClean="0">
                              <a:latin typeface="Cambria Math" panose="02040503050406030204" pitchFamily="18" charset="0"/>
                              <a:ea typeface="Cambria Math" panose="02040503050406030204" pitchFamily="18" charset="0"/>
                            </a:rPr>
                            <m:t>  </m:t>
                          </m:r>
                          <m:r>
                            <a:rPr lang="zh-CN" altLang="en-US" sz="2800" b="0" i="1" smtClean="0">
                              <a:latin typeface="Cambria Math" panose="02040503050406030204" pitchFamily="18" charset="0"/>
                              <a:ea typeface="Cambria Math" panose="02040503050406030204" pitchFamily="18" charset="0"/>
                            </a:rPr>
                            <m:t>𝛼</m:t>
                          </m:r>
                        </m:num>
                        <m:den>
                          <m:r>
                            <a:rPr lang="en-US" altLang="zh-CN" sz="2800" b="0" i="1" smtClean="0">
                              <a:latin typeface="Cambria Math" panose="02040503050406030204" pitchFamily="18" charset="0"/>
                            </a:rPr>
                            <m:t>𝑆𝑈𝐵𝑆𝑇</m:t>
                          </m:r>
                          <m:r>
                            <a:rPr lang="en-US" altLang="zh-CN" sz="2800" b="0" i="1" smtClean="0">
                              <a:latin typeface="Cambria Math" panose="02040503050406030204" pitchFamily="18" charset="0"/>
                            </a:rPr>
                            <m:t>(</m:t>
                          </m:r>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𝑣</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𝑔</m:t>
                              </m:r>
                            </m:e>
                          </m:d>
                          <m:r>
                            <a:rPr lang="en-US" altLang="zh-CN" sz="2800" b="0" i="1" smtClean="0">
                              <a:latin typeface="Cambria Math" panose="02040503050406030204" pitchFamily="18" charset="0"/>
                            </a:rPr>
                            <m:t>,</m:t>
                          </m:r>
                          <m:r>
                            <a:rPr lang="zh-CN" altLang="en-US" sz="2800" b="0" i="1" smtClean="0">
                              <a:latin typeface="Cambria Math" panose="02040503050406030204" pitchFamily="18" charset="0"/>
                            </a:rPr>
                            <m:t>𝛼</m:t>
                          </m:r>
                          <m:r>
                            <a:rPr lang="en-US" altLang="zh-CN" sz="2800" b="0" i="1" smtClean="0">
                              <a:latin typeface="Cambria Math" panose="02040503050406030204" pitchFamily="18" charset="0"/>
                            </a:rPr>
                            <m:t>)</m:t>
                          </m:r>
                        </m:den>
                      </m:f>
                    </m:oMath>
                  </m:oMathPara>
                </a14:m>
                <a:endParaRPr lang="zh-CN" altLang="en-US" sz="2800" dirty="0"/>
              </a:p>
            </p:txBody>
          </p:sp>
        </mc:Choice>
        <mc:Fallback>
          <p:sp>
            <p:nvSpPr>
              <p:cNvPr id="3" name="文本框 2"/>
              <p:cNvSpPr txBox="1">
                <a:spLocks noRot="1" noChangeAspect="1" noMove="1" noResize="1" noEditPoints="1" noAdjustHandles="1" noChangeArrowheads="1" noChangeShapeType="1" noTextEdit="1"/>
              </p:cNvSpPr>
              <p:nvPr/>
            </p:nvSpPr>
            <p:spPr>
              <a:xfrm>
                <a:off x="5560187" y="2570118"/>
                <a:ext cx="2912785" cy="960519"/>
              </a:xfrm>
              <a:prstGeom prst="rect">
                <a:avLst/>
              </a:prstGeom>
              <a:blipFill rotWithShape="1">
                <a:blip r:embed="rId2"/>
                <a:stretch>
                  <a:fillRect l="-4" t="-28" r="6" b="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矩形 9"/>
              <p:cNvSpPr/>
              <p:nvPr/>
            </p:nvSpPr>
            <p:spPr>
              <a:xfrm>
                <a:off x="6420891" y="5013176"/>
                <a:ext cx="1438920" cy="461665"/>
              </a:xfrm>
              <a:prstGeom prst="rect">
                <a:avLst/>
              </a:prstGeom>
            </p:spPr>
            <p:txBody>
              <a:bodyPr wrap="none">
                <a:spAutoFit/>
              </a:bodyPr>
              <a:lstStyle/>
              <a:p>
                <a:pPr lvl="0" defTabSz="457200" eaLnBrk="1" fontAlgn="auto"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r>
                        <a:rPr lang="en-US" altLang="zh-CN" sz="2400" i="1">
                          <a:solidFill>
                            <a:srgbClr val="0070C0"/>
                          </a:solidFill>
                          <a:latin typeface="Cambria Math" panose="02040503050406030204" pitchFamily="18" charset="0"/>
                        </a:rPr>
                        <m:t>𝐽𝑎𝑐𝑘</m:t>
                      </m:r>
                      <m:r>
                        <a:rPr lang="en-US" altLang="zh-CN" sz="2400" i="1">
                          <a:solidFill>
                            <a:prstClr val="black"/>
                          </a:solidFill>
                          <a:latin typeface="Cambria Math" panose="02040503050406030204" pitchFamily="18" charset="0"/>
                        </a:rPr>
                        <m:t>}</m:t>
                      </m:r>
                    </m:oMath>
                  </m:oMathPara>
                </a14:m>
                <a:endParaRPr lang="zh-CN" altLang="en-US" sz="2400" dirty="0">
                  <a:solidFill>
                    <a:prstClr val="black"/>
                  </a:solidFill>
                  <a:latin typeface="Arial" panose="020B0604020202020204"/>
                  <a:ea typeface="微软雅黑" panose="020B0503020204020204" pitchFamily="34" charset="-122"/>
                </a:endParaRPr>
              </a:p>
            </p:txBody>
          </p:sp>
        </mc:Choice>
        <mc:Fallback>
          <p:sp>
            <p:nvSpPr>
              <p:cNvPr id="10" name="矩形 9"/>
              <p:cNvSpPr>
                <a:spLocks noRot="1" noChangeAspect="1" noMove="1" noResize="1" noEditPoints="1" noAdjustHandles="1" noChangeArrowheads="1" noChangeShapeType="1" noTextEdit="1"/>
              </p:cNvSpPr>
              <p:nvPr/>
            </p:nvSpPr>
            <p:spPr>
              <a:xfrm>
                <a:off x="6420891" y="5013176"/>
                <a:ext cx="1438920" cy="461665"/>
              </a:xfrm>
              <a:prstGeom prst="rect">
                <a:avLst/>
              </a:prstGeom>
              <a:blipFill rotWithShape="1">
                <a:blip r:embed="rId3"/>
                <a:stretch>
                  <a:fillRect l="-28" t="-105" r="29" b="1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6228184" y="5474841"/>
                <a:ext cx="1933350" cy="461665"/>
              </a:xfrm>
              <a:prstGeom prst="rect">
                <a:avLst/>
              </a:prstGeom>
            </p:spPr>
            <p:txBody>
              <a:bodyPr wrap="none">
                <a:spAutoFit/>
              </a:bodyPr>
              <a:lstStyle/>
              <a:p>
                <a:pPr lvl="0" defTabSz="4572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US"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r>
                        <a:rPr lang="en-US" altLang="zh-CN" sz="2400">
                          <a:solidFill>
                            <a:srgbClr val="0070C0"/>
                          </a:solidFill>
                          <a:latin typeface="Cambria Math" panose="02040503050406030204" pitchFamily="18" charset="0"/>
                        </a:rPr>
                        <m:t>𝑀𝑖𝑐ℎ𝑒𝑎𝑙</m:t>
                      </m:r>
                      <m:r>
                        <a:rPr lang="en-US" altLang="zh-CN" sz="2400" i="1">
                          <a:solidFill>
                            <a:prstClr val="black"/>
                          </a:solidFill>
                          <a:latin typeface="Cambria Math" panose="02040503050406030204" pitchFamily="18" charset="0"/>
                        </a:rPr>
                        <m:t>}</m:t>
                      </m:r>
                    </m:oMath>
                  </m:oMathPara>
                </a14:m>
                <a:endParaRPr lang="zh-CN" altLang="en-US" sz="2400" dirty="0">
                  <a:solidFill>
                    <a:prstClr val="black"/>
                  </a:solidFill>
                  <a:latin typeface="Arial" panose="020B0604020202020204"/>
                  <a:ea typeface="微软雅黑" panose="020B0503020204020204" pitchFamily="34" charset="-122"/>
                </a:endParaRPr>
              </a:p>
            </p:txBody>
          </p:sp>
        </mc:Choice>
        <mc:Fallback>
          <p:sp>
            <p:nvSpPr>
              <p:cNvPr id="8" name="矩形 7"/>
              <p:cNvSpPr>
                <a:spLocks noRot="1" noChangeAspect="1" noMove="1" noResize="1" noEditPoints="1" noAdjustHandles="1" noChangeArrowheads="1" noChangeShapeType="1" noTextEdit="1"/>
              </p:cNvSpPr>
              <p:nvPr/>
            </p:nvSpPr>
            <p:spPr>
              <a:xfrm>
                <a:off x="6228184" y="5474841"/>
                <a:ext cx="1933350" cy="461665"/>
              </a:xfrm>
              <a:prstGeom prst="rect">
                <a:avLst/>
              </a:prstGeom>
              <a:blipFill rotWithShape="1">
                <a:blip r:embed="rId4"/>
                <a:stretch>
                  <a:fillRect l="-5" t="-110" r="27" b="1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矩形 11"/>
              <p:cNvSpPr/>
              <p:nvPr/>
            </p:nvSpPr>
            <p:spPr>
              <a:xfrm>
                <a:off x="5796136" y="6100338"/>
                <a:ext cx="2943883" cy="461665"/>
              </a:xfrm>
              <a:prstGeom prst="rect">
                <a:avLst/>
              </a:prstGeom>
            </p:spPr>
            <p:txBody>
              <a:bodyPr wrap="none">
                <a:spAutoFit/>
              </a:bodyPr>
              <a:lstStyle/>
              <a:p>
                <a:pPr lvl="0" defTabSz="4572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US"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r>
                        <a:rPr lang="en-US" altLang="zh-CN" sz="2400" i="1">
                          <a:solidFill>
                            <a:srgbClr val="0070C0"/>
                          </a:solidFill>
                          <a:latin typeface="Cambria Math" panose="02040503050406030204" pitchFamily="18" charset="0"/>
                        </a:rPr>
                        <m:t>𝐵𝑟𝑜𝑡ℎ𝑒𝑟</m:t>
                      </m:r>
                      <m:d>
                        <m:dPr>
                          <m:ctrlPr>
                            <a:rPr lang="en-US" altLang="zh-CN" sz="2400" i="1">
                              <a:solidFill>
                                <a:srgbClr val="0070C0"/>
                              </a:solidFill>
                              <a:latin typeface="Cambria Math" panose="02040503050406030204" pitchFamily="18" charset="0"/>
                            </a:rPr>
                          </m:ctrlPr>
                        </m:dPr>
                        <m:e>
                          <m:r>
                            <a:rPr lang="en-US" altLang="zh-CN" sz="2400">
                              <a:solidFill>
                                <a:srgbClr val="0070C0"/>
                              </a:solidFill>
                              <a:latin typeface="Cambria Math" panose="02040503050406030204" pitchFamily="18" charset="0"/>
                            </a:rPr>
                            <m:t>𝐶ℎ𝑟𝑖𝑠</m:t>
                          </m:r>
                        </m:e>
                      </m:d>
                      <m:r>
                        <a:rPr lang="en-US" altLang="zh-CN" sz="2400" i="1">
                          <a:solidFill>
                            <a:prstClr val="black"/>
                          </a:solidFill>
                          <a:latin typeface="Cambria Math" panose="02040503050406030204" pitchFamily="18" charset="0"/>
                        </a:rPr>
                        <m:t>}</m:t>
                      </m:r>
                    </m:oMath>
                  </m:oMathPara>
                </a14:m>
                <a:endParaRPr lang="zh-CN" altLang="en-US" sz="2400" dirty="0">
                  <a:solidFill>
                    <a:prstClr val="black"/>
                  </a:solidFill>
                  <a:latin typeface="Arial" panose="020B0604020202020204"/>
                  <a:ea typeface="微软雅黑" panose="020B0503020204020204" pitchFamily="34" charset="-122"/>
                </a:endParaRPr>
              </a:p>
            </p:txBody>
          </p:sp>
        </mc:Choice>
        <mc:Fallback>
          <p:sp>
            <p:nvSpPr>
              <p:cNvPr id="12" name="矩形 11"/>
              <p:cNvSpPr>
                <a:spLocks noRot="1" noChangeAspect="1" noMove="1" noResize="1" noEditPoints="1" noAdjustHandles="1" noChangeArrowheads="1" noChangeShapeType="1" noTextEdit="1"/>
              </p:cNvSpPr>
              <p:nvPr/>
            </p:nvSpPr>
            <p:spPr>
              <a:xfrm>
                <a:off x="5796136" y="6100338"/>
                <a:ext cx="2943883" cy="461665"/>
              </a:xfrm>
              <a:prstGeom prst="rect">
                <a:avLst/>
              </a:prstGeom>
              <a:blipFill rotWithShape="1">
                <a:blip r:embed="rId5"/>
                <a:stretch>
                  <a:fillRect l="-17" t="-114" r="17" b="11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矩形 13"/>
              <p:cNvSpPr/>
              <p:nvPr/>
            </p:nvSpPr>
            <p:spPr>
              <a:xfrm>
                <a:off x="1043608" y="5013175"/>
                <a:ext cx="4095608" cy="461665"/>
              </a:xfrm>
              <a:prstGeom prst="rect">
                <a:avLst/>
              </a:prstGeom>
            </p:spPr>
            <p:txBody>
              <a:bodyPr wrap="none">
                <a:spAutoFit/>
              </a:bodyPr>
              <a:lstStyle/>
              <a:p>
                <a:pPr lvl="0" defTabSz="457200" eaLnBrk="1" fontAlgn="auto"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CN" sz="2400">
                          <a:solidFill>
                            <a:prstClr val="black"/>
                          </a:solidFill>
                          <a:latin typeface="Cambria Math" panose="02040503050406030204" pitchFamily="18" charset="0"/>
                        </a:rPr>
                        <m:t>𝐴𝑡</m:t>
                      </m:r>
                      <m:d>
                        <m:dPr>
                          <m:ctrlPr>
                            <a:rPr lang="en-US" altLang="zh-CN" sz="2400" i="1">
                              <a:solidFill>
                                <a:prstClr val="black"/>
                              </a:solidFill>
                              <a:latin typeface="Cambria Math" panose="02040503050406030204" pitchFamily="18" charset="0"/>
                            </a:rPr>
                          </m:ctrlPr>
                        </m:dPr>
                        <m:e>
                          <m:r>
                            <a:rPr lang="en-US" altLang="zh-CN" sz="2400">
                              <a:solidFill>
                                <a:srgbClr val="0070C0"/>
                              </a:solidFill>
                              <a:latin typeface="Cambria Math" panose="02040503050406030204" pitchFamily="18" charset="0"/>
                            </a:rPr>
                            <m:t>𝐽𝑎𝑐𝑘</m:t>
                          </m:r>
                          <m:r>
                            <a:rPr lang="en-US" altLang="zh-CN" sz="2400">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𝐶𝑆</m:t>
                          </m:r>
                        </m:e>
                      </m:d>
                      <m:r>
                        <a:rPr lang="en-US" altLang="zh-CN" sz="2400" i="1">
                          <a:solidFill>
                            <a:prstClr val="black"/>
                          </a:solidFill>
                          <a:latin typeface="Cambria Math" panose="02040503050406030204" pitchFamily="18" charset="0"/>
                        </a:rPr>
                        <m:t>⇒</m:t>
                      </m:r>
                      <m:r>
                        <a:rPr lang="en-US" altLang="zh-CN" sz="2400">
                          <a:solidFill>
                            <a:prstClr val="black"/>
                          </a:solidFill>
                          <a:latin typeface="Cambria Math" panose="02040503050406030204" pitchFamily="18" charset="0"/>
                        </a:rPr>
                        <m:t>𝑆𝑚𝑎𝑟𝑡</m:t>
                      </m:r>
                      <m:d>
                        <m:dPr>
                          <m:ctrlPr>
                            <a:rPr lang="en-US" altLang="zh-CN" sz="2400" i="1">
                              <a:solidFill>
                                <a:prstClr val="black"/>
                              </a:solidFill>
                              <a:latin typeface="Cambria Math" panose="02040503050406030204" pitchFamily="18" charset="0"/>
                            </a:rPr>
                          </m:ctrlPr>
                        </m:dPr>
                        <m:e>
                          <m:r>
                            <a:rPr lang="en-US" altLang="zh-CN" sz="2400">
                              <a:solidFill>
                                <a:srgbClr val="0070C0"/>
                              </a:solidFill>
                              <a:latin typeface="Cambria Math" panose="02040503050406030204" pitchFamily="18" charset="0"/>
                            </a:rPr>
                            <m:t>𝐽𝑎𝑐𝑘</m:t>
                          </m:r>
                        </m:e>
                      </m:d>
                    </m:oMath>
                  </m:oMathPara>
                </a14:m>
                <a:endParaRPr lang="zh-CN" altLang="en-US" sz="2400" dirty="0">
                  <a:solidFill>
                    <a:prstClr val="black"/>
                  </a:solidFill>
                  <a:latin typeface="Arial" panose="020B0604020202020204"/>
                  <a:ea typeface="微软雅黑" panose="020B0503020204020204" pitchFamily="34" charset="-122"/>
                </a:endParaRPr>
              </a:p>
            </p:txBody>
          </p:sp>
        </mc:Choice>
        <mc:Fallback>
          <p:sp>
            <p:nvSpPr>
              <p:cNvPr id="14" name="矩形 13"/>
              <p:cNvSpPr>
                <a:spLocks noRot="1" noChangeAspect="1" noMove="1" noResize="1" noEditPoints="1" noAdjustHandles="1" noChangeArrowheads="1" noChangeShapeType="1" noTextEdit="1"/>
              </p:cNvSpPr>
              <p:nvPr/>
            </p:nvSpPr>
            <p:spPr>
              <a:xfrm>
                <a:off x="1043608" y="5013175"/>
                <a:ext cx="4095608" cy="461665"/>
              </a:xfrm>
              <a:prstGeom prst="rect">
                <a:avLst/>
              </a:prstGeom>
              <a:blipFill rotWithShape="1">
                <a:blip r:embed="rId6"/>
                <a:stretch>
                  <a:fillRect l="-7" t="-105" r="4" b="10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矩形 15"/>
              <p:cNvSpPr/>
              <p:nvPr/>
            </p:nvSpPr>
            <p:spPr>
              <a:xfrm>
                <a:off x="512181" y="5474840"/>
                <a:ext cx="5224498" cy="461665"/>
              </a:xfrm>
              <a:prstGeom prst="rect">
                <a:avLst/>
              </a:prstGeom>
            </p:spPr>
            <p:txBody>
              <a:bodyPr wrap="square">
                <a:spAutoFit/>
              </a:bodyPr>
              <a:lstStyle/>
              <a:p>
                <a:pPr lvl="0" defTabSz="457200" eaLnBrk="1" fontAlgn="auto"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CN" sz="2400">
                          <a:solidFill>
                            <a:prstClr val="black"/>
                          </a:solidFill>
                          <a:latin typeface="Cambria Math" panose="02040503050406030204" pitchFamily="18" charset="0"/>
                        </a:rPr>
                        <m:t>𝐴𝑡</m:t>
                      </m:r>
                      <m:r>
                        <a:rPr lang="en-US" altLang="zh-CN" sz="2400">
                          <a:solidFill>
                            <a:prstClr val="black"/>
                          </a:solidFill>
                          <a:latin typeface="Cambria Math" panose="02040503050406030204" pitchFamily="18" charset="0"/>
                        </a:rPr>
                        <m:t>(</m:t>
                      </m:r>
                      <m:r>
                        <a:rPr lang="en-US" altLang="zh-CN" sz="2400">
                          <a:solidFill>
                            <a:srgbClr val="0070C0"/>
                          </a:solidFill>
                          <a:latin typeface="Cambria Math" panose="02040503050406030204" pitchFamily="18" charset="0"/>
                        </a:rPr>
                        <m:t>𝑀𝑖𝑐ℎ𝑒𝑎𝑙</m:t>
                      </m:r>
                      <m:r>
                        <a:rPr lang="en-US" altLang="zh-CN" sz="2400">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𝐶𝑆</m:t>
                      </m:r>
                      <m:r>
                        <a:rPr lang="en-US" altLang="zh-CN" sz="2400">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m:t>
                      </m:r>
                      <m:r>
                        <a:rPr lang="en-US" altLang="zh-CN" sz="2400">
                          <a:solidFill>
                            <a:prstClr val="black"/>
                          </a:solidFill>
                          <a:latin typeface="Cambria Math" panose="02040503050406030204" pitchFamily="18" charset="0"/>
                        </a:rPr>
                        <m:t>𝑆𝑚𝑎𝑟𝑡</m:t>
                      </m:r>
                      <m:r>
                        <a:rPr lang="en-US" altLang="zh-CN" sz="2400">
                          <a:solidFill>
                            <a:prstClr val="black"/>
                          </a:solidFill>
                          <a:latin typeface="Cambria Math" panose="02040503050406030204" pitchFamily="18" charset="0"/>
                        </a:rPr>
                        <m:t>(</m:t>
                      </m:r>
                      <m:r>
                        <a:rPr lang="en-US" altLang="zh-CN" sz="2400">
                          <a:solidFill>
                            <a:srgbClr val="0070C0"/>
                          </a:solidFill>
                          <a:latin typeface="Cambria Math" panose="02040503050406030204" pitchFamily="18" charset="0"/>
                        </a:rPr>
                        <m:t>𝑀𝑖𝑐ℎ𝑒𝑎𝑙</m:t>
                      </m:r>
                      <m:r>
                        <a:rPr lang="en-US" altLang="zh-CN" sz="2400">
                          <a:solidFill>
                            <a:prstClr val="black"/>
                          </a:solidFill>
                          <a:latin typeface="Cambria Math" panose="02040503050406030204" pitchFamily="18" charset="0"/>
                        </a:rPr>
                        <m:t>)</m:t>
                      </m:r>
                    </m:oMath>
                  </m:oMathPara>
                </a14:m>
                <a:endParaRPr lang="zh-CN" altLang="en-US" sz="2400" dirty="0">
                  <a:solidFill>
                    <a:prstClr val="black"/>
                  </a:solidFill>
                  <a:latin typeface="Arial" panose="020B0604020202020204"/>
                  <a:ea typeface="微软雅黑" panose="020B0503020204020204" pitchFamily="34" charset="-122"/>
                </a:endParaRPr>
              </a:p>
            </p:txBody>
          </p:sp>
        </mc:Choice>
        <mc:Fallback>
          <p:sp>
            <p:nvSpPr>
              <p:cNvPr id="16" name="矩形 15"/>
              <p:cNvSpPr>
                <a:spLocks noRot="1" noChangeAspect="1" noMove="1" noResize="1" noEditPoints="1" noAdjustHandles="1" noChangeArrowheads="1" noChangeShapeType="1" noTextEdit="1"/>
              </p:cNvSpPr>
              <p:nvPr/>
            </p:nvSpPr>
            <p:spPr>
              <a:xfrm>
                <a:off x="512181" y="5474840"/>
                <a:ext cx="5224498" cy="461665"/>
              </a:xfrm>
              <a:prstGeom prst="rect">
                <a:avLst/>
              </a:prstGeom>
              <a:blipFill rotWithShape="1">
                <a:blip r:embed="rId7"/>
                <a:stretch>
                  <a:fillRect l="-7" t="-109" r="2" b="1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矩形 17"/>
              <p:cNvSpPr/>
              <p:nvPr/>
            </p:nvSpPr>
            <p:spPr>
              <a:xfrm>
                <a:off x="805412" y="5919935"/>
                <a:ext cx="4572000" cy="822469"/>
              </a:xfrm>
              <a:prstGeom prst="rect">
                <a:avLst/>
              </a:prstGeom>
            </p:spPr>
            <p:txBody>
              <a:bodyPr>
                <a:spAutoFit/>
              </a:bodyPr>
              <a:lstStyle/>
              <a:p>
                <a:pPr lvl="0" defTabSz="457200" eaLnBrk="1" fontAlgn="auto"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CN" sz="2400">
                          <a:solidFill>
                            <a:prstClr val="black"/>
                          </a:solidFill>
                          <a:latin typeface="Cambria Math" panose="02040503050406030204" pitchFamily="18" charset="0"/>
                        </a:rPr>
                        <m:t>𝐴𝑡</m:t>
                      </m:r>
                      <m:r>
                        <a:rPr lang="en-US" altLang="zh-CN" sz="2400" i="1">
                          <a:solidFill>
                            <a:prstClr val="black"/>
                          </a:solidFill>
                          <a:latin typeface="Cambria Math" panose="02040503050406030204" pitchFamily="18" charset="0"/>
                        </a:rPr>
                        <m:t>(</m:t>
                      </m:r>
                      <m:r>
                        <a:rPr lang="en-US" altLang="zh-CN" sz="2400" i="1">
                          <a:solidFill>
                            <a:srgbClr val="0070C0"/>
                          </a:solidFill>
                          <a:latin typeface="Cambria Math" panose="02040503050406030204" pitchFamily="18" charset="0"/>
                        </a:rPr>
                        <m:t>𝐵𝑟𝑜𝑡ℎ𝑒𝑟</m:t>
                      </m:r>
                      <m:r>
                        <a:rPr lang="en-US" altLang="zh-CN" sz="2400" i="1">
                          <a:solidFill>
                            <a:srgbClr val="0070C0"/>
                          </a:solidFill>
                          <a:latin typeface="Cambria Math" panose="02040503050406030204" pitchFamily="18" charset="0"/>
                        </a:rPr>
                        <m:t>(</m:t>
                      </m:r>
                      <m:r>
                        <a:rPr lang="en-US" altLang="zh-CN" sz="2400">
                          <a:solidFill>
                            <a:srgbClr val="0070C0"/>
                          </a:solidFill>
                          <a:latin typeface="Cambria Math" panose="02040503050406030204" pitchFamily="18" charset="0"/>
                        </a:rPr>
                        <m:t>𝐶ℎ𝑟𝑖𝑠</m:t>
                      </m:r>
                      <m:r>
                        <a:rPr lang="en-US" altLang="zh-CN" sz="2400">
                          <a:solidFill>
                            <a:srgbClr val="0070C0"/>
                          </a:solidFill>
                          <a:latin typeface="Cambria Math" panose="02040503050406030204" pitchFamily="18" charset="0"/>
                        </a:rPr>
                        <m:t>),</m:t>
                      </m:r>
                      <m:r>
                        <a:rPr lang="en-US" altLang="zh-CN" sz="2400" i="1">
                          <a:solidFill>
                            <a:prstClr val="black"/>
                          </a:solidFill>
                          <a:latin typeface="Cambria Math" panose="02040503050406030204" pitchFamily="18" charset="0"/>
                        </a:rPr>
                        <m:t>𝐶𝑆</m:t>
                      </m:r>
                      <m:r>
                        <a:rPr lang="en-US" altLang="zh-CN" sz="2400" smtClean="0">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m:t>
                      </m:r>
                      <m:r>
                        <a:rPr lang="en-US" altLang="zh-CN" sz="2400">
                          <a:solidFill>
                            <a:prstClr val="black"/>
                          </a:solidFill>
                          <a:latin typeface="Cambria Math" panose="02040503050406030204" pitchFamily="18" charset="0"/>
                        </a:rPr>
                        <m:t>𝑆𝑚𝑎𝑟𝑡</m:t>
                      </m:r>
                      <m:r>
                        <a:rPr lang="en-US" altLang="zh-CN" sz="2400">
                          <a:solidFill>
                            <a:prstClr val="black"/>
                          </a:solidFill>
                          <a:latin typeface="Cambria Math" panose="02040503050406030204" pitchFamily="18" charset="0"/>
                        </a:rPr>
                        <m:t>(</m:t>
                      </m:r>
                      <m:r>
                        <a:rPr lang="en-US" altLang="zh-CN" sz="2400" i="1">
                          <a:solidFill>
                            <a:srgbClr val="0070C0"/>
                          </a:solidFill>
                          <a:latin typeface="Cambria Math" panose="02040503050406030204" pitchFamily="18" charset="0"/>
                        </a:rPr>
                        <m:t>𝐵𝑟𝑜𝑡ℎ𝑒𝑟</m:t>
                      </m:r>
                      <m:d>
                        <m:dPr>
                          <m:ctrlPr>
                            <a:rPr lang="en-US" altLang="zh-CN" sz="2400" i="1">
                              <a:solidFill>
                                <a:srgbClr val="0070C0"/>
                              </a:solidFill>
                              <a:latin typeface="Cambria Math" panose="02040503050406030204" pitchFamily="18" charset="0"/>
                            </a:rPr>
                          </m:ctrlPr>
                        </m:dPr>
                        <m:e>
                          <m:r>
                            <a:rPr lang="en-US" altLang="zh-CN" sz="2400">
                              <a:solidFill>
                                <a:srgbClr val="0070C0"/>
                              </a:solidFill>
                              <a:latin typeface="Cambria Math" panose="02040503050406030204" pitchFamily="18" charset="0"/>
                            </a:rPr>
                            <m:t>𝐶ℎ𝑟𝑖𝑠</m:t>
                          </m:r>
                        </m:e>
                      </m:d>
                      <m:r>
                        <a:rPr lang="en-US" altLang="zh-CN" sz="2400">
                          <a:solidFill>
                            <a:prstClr val="black"/>
                          </a:solidFill>
                          <a:latin typeface="Cambria Math" panose="02040503050406030204" pitchFamily="18" charset="0"/>
                        </a:rPr>
                        <m:t> )</m:t>
                      </m:r>
                    </m:oMath>
                  </m:oMathPara>
                </a14:m>
                <a:endParaRPr lang="zh-CN" altLang="en-US" sz="2400" dirty="0">
                  <a:solidFill>
                    <a:prstClr val="black"/>
                  </a:solidFill>
                  <a:latin typeface="Arial" panose="020B0604020202020204"/>
                  <a:ea typeface="微软雅黑" panose="020B0503020204020204" pitchFamily="34" charset="-122"/>
                </a:endParaRPr>
              </a:p>
            </p:txBody>
          </p:sp>
        </mc:Choice>
        <mc:Fallback>
          <p:sp>
            <p:nvSpPr>
              <p:cNvPr id="18" name="矩形 17"/>
              <p:cNvSpPr>
                <a:spLocks noRot="1" noChangeAspect="1" noMove="1" noResize="1" noEditPoints="1" noAdjustHandles="1" noChangeArrowheads="1" noChangeShapeType="1" noTextEdit="1"/>
              </p:cNvSpPr>
              <p:nvPr/>
            </p:nvSpPr>
            <p:spPr>
              <a:xfrm>
                <a:off x="805412" y="5919935"/>
                <a:ext cx="4572000" cy="822469"/>
              </a:xfrm>
              <a:prstGeom prst="rect">
                <a:avLst/>
              </a:prstGeom>
              <a:blipFill rotWithShape="1">
                <a:blip r:embed="rId8"/>
                <a:stretch>
                  <a:fillRect l="-5" t="-57" r="5" b="74"/>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bldLst>
      <p:bldP spid="22534" grpId="0" uiExpand="1" build="p"/>
      <p:bldP spid="3" grpId="0"/>
      <p:bldP spid="10" grpId="0"/>
      <p:bldP spid="8" grpId="0"/>
      <p:bldP spid="12" grpId="0"/>
      <p:bldP spid="14" grpId="0"/>
      <p:bldP spid="16" grpId="0"/>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zh-CN" altLang="en-US" dirty="0" smtClean="0"/>
              <a:t>存在量词转换</a:t>
            </a:r>
            <a:endParaRPr lang="en-US" altLang="zh-CN" dirty="0"/>
          </a:p>
        </p:txBody>
      </p:sp>
      <mc:AlternateContent xmlns:mc="http://schemas.openxmlformats.org/markup-compatibility/2006">
        <mc:Choice xmlns:a14="http://schemas.microsoft.com/office/drawing/2010/main" Requires="a14">
          <p:sp>
            <p:nvSpPr>
              <p:cNvPr id="23555" name="Rectangle 3"/>
              <p:cNvSpPr>
                <a:spLocks noGrp="1" noChangeArrowheads="1"/>
              </p:cNvSpPr>
              <p:nvPr>
                <p:ph idx="1"/>
              </p:nvPr>
            </p:nvSpPr>
            <p:spPr/>
            <p:txBody>
              <a:bodyPr/>
              <a:lstStyle/>
              <a:p>
                <a:r>
                  <a:rPr lang="zh-CN" altLang="en-US" sz="2800" dirty="0" smtClean="0"/>
                  <a:t>存在量词实例化</a:t>
                </a:r>
                <a:r>
                  <a:rPr lang="en-US" altLang="zh-CN" sz="2800" dirty="0" smtClean="0"/>
                  <a:t>(Existential Instantiation)</a:t>
                </a:r>
                <a:endParaRPr lang="en-US" altLang="zh-CN" sz="2800" dirty="0" smtClean="0"/>
              </a:p>
              <a:p>
                <a:pPr lvl="1"/>
                <a:r>
                  <a:rPr lang="zh-CN" altLang="en-US" sz="2400" dirty="0"/>
                  <a:t>计算机学院有人不及格。</a:t>
                </a:r>
                <a:endParaRPr lang="en-US" altLang="zh-CN" sz="2400" dirty="0"/>
              </a:p>
              <a:p>
                <a:pPr lvl="1"/>
                <a14:m>
                  <m:oMath xmlns:m="http://schemas.openxmlformats.org/officeDocument/2006/math">
                    <m:r>
                      <a:rPr lang="en-US" altLang="zh-CN" sz="2400">
                        <a:latin typeface="Cambria Math" panose="02040503050406030204" pitchFamily="18" charset="0"/>
                      </a:rPr>
                      <m:t>∃</m:t>
                    </m:r>
                    <m:r>
                      <a:rPr lang="en-US" altLang="zh-CN" sz="2400">
                        <a:latin typeface="Cambria Math" panose="02040503050406030204" pitchFamily="18" charset="0"/>
                      </a:rPr>
                      <m:t>𝑥</m:t>
                    </m:r>
                    <m:r>
                      <a:rPr lang="en-US" altLang="zh-CN" sz="2400">
                        <a:latin typeface="Cambria Math" panose="02040503050406030204" pitchFamily="18" charset="0"/>
                      </a:rPr>
                      <m:t>(</m:t>
                    </m:r>
                    <m:r>
                      <a:rPr lang="en-US" altLang="zh-CN" sz="2400">
                        <a:latin typeface="Cambria Math" panose="02040503050406030204" pitchFamily="18" charset="0"/>
                      </a:rPr>
                      <m:t>𝐴𝑡</m:t>
                    </m:r>
                    <m:r>
                      <a:rPr lang="en-US" altLang="zh-CN" sz="2400">
                        <a:latin typeface="Cambria Math" panose="02040503050406030204" pitchFamily="18" charset="0"/>
                      </a:rPr>
                      <m:t>(</m:t>
                    </m:r>
                    <m:r>
                      <a:rPr lang="en-US" altLang="zh-CN" sz="2400">
                        <a:latin typeface="Cambria Math" panose="02040503050406030204" pitchFamily="18" charset="0"/>
                      </a:rPr>
                      <m:t>𝑥</m:t>
                    </m:r>
                    <m:r>
                      <a:rPr lang="en-US" altLang="zh-CN" sz="2400">
                        <a:latin typeface="Cambria Math" panose="02040503050406030204" pitchFamily="18" charset="0"/>
                      </a:rPr>
                      <m:t>,</m:t>
                    </m:r>
                    <m:r>
                      <a:rPr lang="en-US" altLang="zh-CN" sz="2400" i="1">
                        <a:latin typeface="Cambria Math" panose="02040503050406030204" pitchFamily="18" charset="0"/>
                      </a:rPr>
                      <m:t>𝐶𝑆</m:t>
                    </m:r>
                    <m:r>
                      <a:rPr lang="en-US" altLang="zh-CN" sz="2400">
                        <a:latin typeface="Cambria Math" panose="02040503050406030204" pitchFamily="18" charset="0"/>
                      </a:rPr>
                      <m:t>)∧</m:t>
                    </m:r>
                    <m:r>
                      <a:rPr lang="en-US" altLang="zh-CN" sz="2400">
                        <a:latin typeface="Cambria Math" panose="02040503050406030204" pitchFamily="18" charset="0"/>
                      </a:rPr>
                      <m:t>𝐹𝑎𝑖𝑙𝑒𝑑</m:t>
                    </m:r>
                    <m:r>
                      <a:rPr lang="en-US" altLang="zh-CN" sz="2400">
                        <a:latin typeface="Cambria Math" panose="02040503050406030204" pitchFamily="18" charset="0"/>
                      </a:rPr>
                      <m:t>(</m:t>
                    </m:r>
                    <m:r>
                      <a:rPr lang="en-US" altLang="zh-CN" sz="2400">
                        <a:latin typeface="Cambria Math" panose="02040503050406030204" pitchFamily="18" charset="0"/>
                      </a:rPr>
                      <m:t>𝑥</m:t>
                    </m:r>
                    <m:r>
                      <a:rPr lang="en-US" altLang="zh-CN" sz="2400">
                        <a:latin typeface="Cambria Math" panose="02040503050406030204" pitchFamily="18" charset="0"/>
                      </a:rPr>
                      <m:t>)))</m:t>
                    </m:r>
                  </m:oMath>
                </a14:m>
                <a:endParaRPr lang="en-US" altLang="zh-CN" sz="2400" dirty="0" smtClean="0"/>
              </a:p>
              <a:p>
                <a:pPr lvl="1"/>
                <a:r>
                  <a:rPr lang="zh-CN" altLang="en-US" sz="2400" dirty="0" smtClean="0"/>
                  <a:t>假设这个人是</a:t>
                </a:r>
                <a14:m>
                  <m:oMath xmlns:m="http://schemas.openxmlformats.org/officeDocument/2006/math">
                    <m:r>
                      <a:rPr lang="en-US" altLang="zh-CN" sz="2400" i="1" smtClean="0">
                        <a:solidFill>
                          <a:srgbClr val="C00000"/>
                        </a:solidFill>
                        <a:latin typeface="Cambria Math" panose="02040503050406030204" pitchFamily="18" charset="0"/>
                      </a:rPr>
                      <m:t>𝑘</m:t>
                    </m:r>
                  </m:oMath>
                </a14:m>
                <a:r>
                  <a:rPr lang="en-US" altLang="zh-CN" sz="2400" dirty="0" smtClean="0"/>
                  <a:t>: </a:t>
                </a:r>
                <a14:m>
                  <m:oMath xmlns:m="http://schemas.openxmlformats.org/officeDocument/2006/math">
                    <m:r>
                      <a:rPr lang="en-US" altLang="zh-CN" sz="2400">
                        <a:latin typeface="Cambria Math" panose="02040503050406030204" pitchFamily="18" charset="0"/>
                      </a:rPr>
                      <m:t>𝐴𝑡</m:t>
                    </m:r>
                    <m:r>
                      <a:rPr lang="en-US" altLang="zh-CN" sz="2400">
                        <a:latin typeface="Cambria Math" panose="02040503050406030204" pitchFamily="18" charset="0"/>
                      </a:rPr>
                      <m:t>(</m:t>
                    </m:r>
                    <m:r>
                      <a:rPr lang="en-US" altLang="zh-CN" sz="2400" b="0" i="1" smtClean="0">
                        <a:solidFill>
                          <a:srgbClr val="C00000"/>
                        </a:solidFill>
                        <a:latin typeface="Cambria Math" panose="02040503050406030204" pitchFamily="18" charset="0"/>
                      </a:rPr>
                      <m:t>𝑘</m:t>
                    </m:r>
                    <m:r>
                      <a:rPr lang="en-US" altLang="zh-CN" sz="2400" i="1">
                        <a:latin typeface="Cambria Math" panose="02040503050406030204" pitchFamily="18" charset="0"/>
                      </a:rPr>
                      <m:t>,</m:t>
                    </m:r>
                    <m:r>
                      <a:rPr lang="en-US" altLang="zh-CN" sz="2400" i="1">
                        <a:latin typeface="Cambria Math" panose="02040503050406030204" pitchFamily="18" charset="0"/>
                      </a:rPr>
                      <m:t>𝐶𝑆</m:t>
                    </m:r>
                    <m:r>
                      <a:rPr lang="en-US" altLang="zh-CN" sz="2400">
                        <a:latin typeface="Cambria Math" panose="02040503050406030204" pitchFamily="18" charset="0"/>
                      </a:rPr>
                      <m:t>)∧</m:t>
                    </m:r>
                    <m:r>
                      <a:rPr lang="en-US" altLang="zh-CN" sz="2400">
                        <a:latin typeface="Cambria Math" panose="02040503050406030204" pitchFamily="18" charset="0"/>
                      </a:rPr>
                      <m:t>𝐹𝑎𝑖𝑙𝑒𝑑</m:t>
                    </m:r>
                    <m:r>
                      <a:rPr lang="en-US" altLang="zh-CN" sz="2400">
                        <a:latin typeface="Cambria Math" panose="02040503050406030204" pitchFamily="18" charset="0"/>
                      </a:rPr>
                      <m:t>(</m:t>
                    </m:r>
                    <m:r>
                      <a:rPr lang="en-US" altLang="zh-CN" sz="2400" b="0" i="1" smtClean="0">
                        <a:solidFill>
                          <a:srgbClr val="C00000"/>
                        </a:solidFill>
                        <a:latin typeface="Cambria Math" panose="02040503050406030204" pitchFamily="18" charset="0"/>
                      </a:rPr>
                      <m:t>𝑘</m:t>
                    </m:r>
                    <m:r>
                      <a:rPr lang="en-US" altLang="zh-CN" sz="2400">
                        <a:latin typeface="Cambria Math" panose="02040503050406030204" pitchFamily="18" charset="0"/>
                      </a:rPr>
                      <m:t>)</m:t>
                    </m:r>
                  </m:oMath>
                </a14:m>
                <a:endParaRPr lang="en-US" altLang="zh-CN" sz="2400" dirty="0"/>
              </a:p>
              <a:p>
                <a:r>
                  <a:rPr lang="zh-CN" altLang="en-US" sz="2800" dirty="0" smtClean="0"/>
                  <a:t>用没有在</a:t>
                </a:r>
                <a:r>
                  <a:rPr lang="en-US" altLang="zh-CN" sz="2800" dirty="0" smtClean="0"/>
                  <a:t>KB</a:t>
                </a:r>
                <a:r>
                  <a:rPr lang="zh-CN" altLang="en-US" sz="2800" dirty="0" smtClean="0"/>
                  <a:t>出现的新的常量符号替换变量</a:t>
                </a:r>
                <a:endParaRPr lang="en-US" altLang="zh-CN" sz="2800" dirty="0"/>
              </a:p>
              <a:p>
                <a:r>
                  <a:rPr lang="zh-CN" altLang="en-US" sz="2800" dirty="0" smtClean="0"/>
                  <a:t>该常量符号称为 </a:t>
                </a:r>
                <a:r>
                  <a:rPr lang="en-US" altLang="zh-CN" sz="2800" i="1" dirty="0" err="1" smtClean="0">
                    <a:solidFill>
                      <a:srgbClr val="C00000"/>
                    </a:solidFill>
                  </a:rPr>
                  <a:t>Skolem</a:t>
                </a:r>
                <a:r>
                  <a:rPr lang="en-US" altLang="zh-CN" sz="2800" dirty="0" smtClean="0">
                    <a:solidFill>
                      <a:srgbClr val="C00000"/>
                    </a:solidFill>
                  </a:rPr>
                  <a:t> </a:t>
                </a:r>
                <a:r>
                  <a:rPr lang="zh-CN" altLang="en-US" sz="2800" dirty="0" smtClean="0">
                    <a:solidFill>
                      <a:srgbClr val="C00000"/>
                    </a:solidFill>
                  </a:rPr>
                  <a:t>常量</a:t>
                </a:r>
                <a:r>
                  <a:rPr lang="en-US" altLang="zh-CN" sz="2800" dirty="0">
                    <a:solidFill>
                      <a:schemeClr val="tx1"/>
                    </a:solidFill>
                  </a:rPr>
                  <a:t>(</a:t>
                </a:r>
                <a:r>
                  <a:rPr lang="en-US" altLang="zh-CN" sz="2800" dirty="0" err="1">
                    <a:solidFill>
                      <a:schemeClr val="tx1"/>
                    </a:solidFill>
                  </a:rPr>
                  <a:t>Skolem</a:t>
                </a:r>
                <a:r>
                  <a:rPr lang="en-US" altLang="zh-CN" sz="2800" dirty="0">
                    <a:solidFill>
                      <a:schemeClr val="tx1"/>
                    </a:solidFill>
                  </a:rPr>
                  <a:t> constant)</a:t>
                </a:r>
                <a:endParaRPr lang="en-US" altLang="zh-CN" sz="2800" dirty="0" smtClean="0">
                  <a:solidFill>
                    <a:schemeClr val="tx1"/>
                  </a:solidFill>
                </a:endParaRPr>
              </a:p>
              <a:p>
                <a:r>
                  <a:rPr lang="zh-CN" altLang="en-US" sz="2800" dirty="0" smtClean="0"/>
                  <a:t>注意</a:t>
                </a:r>
                <a:endParaRPr lang="en-US" altLang="zh-CN" sz="2800" dirty="0" smtClean="0"/>
              </a:p>
              <a:p>
                <a:pPr lvl="1"/>
                <a:r>
                  <a:rPr lang="zh-CN" altLang="zh-CN" sz="2400" dirty="0"/>
                  <a:t>全称量词实例化可以多次</a:t>
                </a:r>
                <a:r>
                  <a:rPr lang="zh-CN" altLang="zh-CN" sz="2400" dirty="0" smtClean="0"/>
                  <a:t>应用</a:t>
                </a:r>
                <a:r>
                  <a:rPr lang="zh-CN" altLang="en-US" sz="2400" dirty="0" smtClean="0"/>
                  <a:t>，得到</a:t>
                </a:r>
                <a:r>
                  <a:rPr lang="zh-CN" altLang="zh-CN" sz="2400" dirty="0" smtClean="0"/>
                  <a:t>不同的</a:t>
                </a:r>
                <a:r>
                  <a:rPr lang="zh-CN" altLang="en-US" sz="2400" dirty="0" smtClean="0"/>
                  <a:t>实例</a:t>
                </a:r>
                <a:endParaRPr lang="en-US" altLang="zh-CN" sz="2400" dirty="0" smtClean="0"/>
              </a:p>
              <a:p>
                <a:pPr lvl="1"/>
                <a:r>
                  <a:rPr lang="zh-CN" altLang="zh-CN" sz="2400" dirty="0" smtClean="0"/>
                  <a:t>存在量词</a:t>
                </a:r>
                <a:r>
                  <a:rPr lang="zh-CN" altLang="zh-CN" sz="2400" dirty="0"/>
                  <a:t>实例化只能应用一次</a:t>
                </a:r>
                <a:r>
                  <a:rPr lang="zh-CN" altLang="zh-CN" sz="2400" dirty="0" smtClean="0"/>
                  <a:t>，</a:t>
                </a:r>
                <a:r>
                  <a:rPr lang="zh-CN" altLang="en-US" sz="2400" dirty="0" smtClean="0"/>
                  <a:t>得到一个实例代替原来的</a:t>
                </a:r>
                <a:r>
                  <a:rPr lang="zh-CN" altLang="zh-CN" sz="2400" dirty="0" smtClean="0"/>
                  <a:t>存在</a:t>
                </a:r>
                <a:r>
                  <a:rPr lang="zh-CN" altLang="en-US" sz="2400" dirty="0" smtClean="0"/>
                  <a:t>量词</a:t>
                </a:r>
                <a:r>
                  <a:rPr lang="zh-CN" altLang="zh-CN" sz="2400" dirty="0" smtClean="0"/>
                  <a:t>语句</a:t>
                </a:r>
                <a:endParaRPr lang="en-US" altLang="zh-CN" sz="2400" dirty="0"/>
              </a:p>
            </p:txBody>
          </p:sp>
        </mc:Choice>
        <mc:Fallback>
          <p:sp>
            <p:nvSpPr>
              <p:cNvPr id="23555" name="Rectangle 3"/>
              <p:cNvSpPr>
                <a:spLocks noRot="1" noChangeAspect="1" noMove="1" noResize="1" noEditPoints="1" noAdjustHandles="1" noChangeArrowheads="1" noChangeShapeType="1" noTextEdit="1"/>
              </p:cNvSpPr>
              <p:nvPr>
                <p:ph idx="1"/>
              </p:nvPr>
            </p:nvSpPr>
            <p:spPr>
              <a:blipFill rotWithShape="1">
                <a:blip r:embed="rId1"/>
                <a:stretch>
                  <a:fillRect t="-7" r="4" b="-9335"/>
                </a:stretch>
              </a:blipFill>
            </p:spPr>
            <p:txBody>
              <a:bodyPr/>
              <a:lstStyle/>
              <a:p>
                <a:r>
                  <a:rPr lang="zh-CN" altLang="en-US">
                    <a:noFill/>
                  </a:rPr>
                  <a:t> </a:t>
                </a:r>
              </a:p>
            </p:txBody>
          </p:sp>
        </mc:Fallback>
      </mc:AlternateContent>
      <p:sp>
        <p:nvSpPr>
          <p:cNvPr id="2" name="灯片编号占位符 1"/>
          <p:cNvSpPr>
            <a:spLocks noGrp="1"/>
          </p:cNvSpPr>
          <p:nvPr>
            <p:ph type="sldNum" sz="quarter" idx="12"/>
          </p:nvPr>
        </p:nvSpPr>
        <p:spPr/>
        <p:txBody>
          <a:bodyPr/>
          <a:lstStyle/>
          <a:p>
            <a:fld id="{8675F621-1619-4F8E-88C5-5F30FD27FF75}" type="slidenum">
              <a:rPr lang="en-US" altLang="zh-CN" smtClean="0"/>
            </a:fld>
            <a:endParaRPr lang="en-US" altLang="zh-CN"/>
          </a:p>
        </p:txBody>
      </p:sp>
      <mc:AlternateContent xmlns:mc="http://schemas.openxmlformats.org/markup-compatibility/2006">
        <mc:Choice xmlns:a14="http://schemas.microsoft.com/office/drawing/2010/main" Requires="a14">
          <p:sp>
            <p:nvSpPr>
              <p:cNvPr id="8" name="文本框 7"/>
              <p:cNvSpPr txBox="1"/>
              <p:nvPr/>
            </p:nvSpPr>
            <p:spPr>
              <a:xfrm>
                <a:off x="5724128" y="1988840"/>
                <a:ext cx="2896306" cy="95962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f>
                        <m:fPr>
                          <m:ctrlPr>
                            <a:rPr lang="en-US" altLang="zh-CN" sz="2800" i="1" smtClean="0">
                              <a:latin typeface="Cambria Math" panose="02040503050406030204" pitchFamily="18" charset="0"/>
                            </a:rPr>
                          </m:ctrlPr>
                        </m:fPr>
                        <m:num>
                          <m:r>
                            <a:rPr lang="en-US" altLang="zh-CN" sz="2800" i="1">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𝑣</m:t>
                          </m:r>
                          <m:r>
                            <a:rPr lang="en-US" altLang="zh-CN" sz="2800" b="0" i="1" smtClean="0">
                              <a:latin typeface="Cambria Math" panose="02040503050406030204" pitchFamily="18" charset="0"/>
                              <a:ea typeface="Cambria Math" panose="02040503050406030204" pitchFamily="18" charset="0"/>
                            </a:rPr>
                            <m:t>  </m:t>
                          </m:r>
                          <m:r>
                            <a:rPr lang="zh-CN" altLang="en-US" sz="2800" b="0" i="1" smtClean="0">
                              <a:latin typeface="Cambria Math" panose="02040503050406030204" pitchFamily="18" charset="0"/>
                              <a:ea typeface="Cambria Math" panose="02040503050406030204" pitchFamily="18" charset="0"/>
                            </a:rPr>
                            <m:t>𝛼</m:t>
                          </m:r>
                        </m:num>
                        <m:den>
                          <m:r>
                            <a:rPr lang="en-US" altLang="zh-CN" sz="2800" b="0" i="1" smtClean="0">
                              <a:latin typeface="Cambria Math" panose="02040503050406030204" pitchFamily="18" charset="0"/>
                            </a:rPr>
                            <m:t>𝑆𝑈𝐵𝑆𝑇</m:t>
                          </m:r>
                          <m:r>
                            <a:rPr lang="en-US" altLang="zh-CN" sz="2800" b="0" i="1" smtClean="0">
                              <a:latin typeface="Cambria Math" panose="02040503050406030204" pitchFamily="18" charset="0"/>
                            </a:rPr>
                            <m:t>(</m:t>
                          </m:r>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𝑣</m:t>
                              </m:r>
                              <m:r>
                                <a:rPr lang="en-US" altLang="zh-CN" sz="2800" b="0" i="1" smtClean="0">
                                  <a:latin typeface="Cambria Math" panose="02040503050406030204" pitchFamily="18" charset="0"/>
                                </a:rPr>
                                <m:t>/</m:t>
                              </m:r>
                              <m:r>
                                <a:rPr lang="en-US" altLang="zh-CN" sz="2800" b="0" i="1" smtClean="0">
                                  <a:solidFill>
                                    <a:srgbClr val="C00000"/>
                                  </a:solidFill>
                                  <a:latin typeface="Cambria Math" panose="02040503050406030204" pitchFamily="18" charset="0"/>
                                </a:rPr>
                                <m:t>𝑘</m:t>
                              </m:r>
                            </m:e>
                          </m:d>
                          <m:r>
                            <a:rPr lang="en-US" altLang="zh-CN" sz="2800" b="0" i="1" smtClean="0">
                              <a:latin typeface="Cambria Math" panose="02040503050406030204" pitchFamily="18" charset="0"/>
                            </a:rPr>
                            <m:t>,</m:t>
                          </m:r>
                          <m:r>
                            <a:rPr lang="zh-CN" altLang="en-US" sz="2800" b="0" i="1" smtClean="0">
                              <a:latin typeface="Cambria Math" panose="02040503050406030204" pitchFamily="18" charset="0"/>
                            </a:rPr>
                            <m:t>𝛼</m:t>
                          </m:r>
                          <m:r>
                            <a:rPr lang="en-US" altLang="zh-CN" sz="2800" b="0" i="1" smtClean="0">
                              <a:latin typeface="Cambria Math" panose="02040503050406030204" pitchFamily="18" charset="0"/>
                            </a:rPr>
                            <m:t>)</m:t>
                          </m:r>
                        </m:den>
                      </m:f>
                    </m:oMath>
                  </m:oMathPara>
                </a14:m>
                <a:endParaRPr lang="zh-CN" altLang="en-US" sz="2800" dirty="0"/>
              </a:p>
            </p:txBody>
          </p:sp>
        </mc:Choice>
        <mc:Fallback>
          <p:sp>
            <p:nvSpPr>
              <p:cNvPr id="8" name="文本框 7"/>
              <p:cNvSpPr txBox="1">
                <a:spLocks noRot="1" noChangeAspect="1" noMove="1" noResize="1" noEditPoints="1" noAdjustHandles="1" noChangeArrowheads="1" noChangeShapeType="1" noTextEdit="1"/>
              </p:cNvSpPr>
              <p:nvPr/>
            </p:nvSpPr>
            <p:spPr>
              <a:xfrm>
                <a:off x="5724128" y="1988840"/>
                <a:ext cx="2896306" cy="959622"/>
              </a:xfrm>
              <a:prstGeom prst="rect">
                <a:avLst/>
              </a:prstGeom>
              <a:blipFill rotWithShape="1">
                <a:blip r:embed="rId2"/>
                <a:stretch>
                  <a:fillRect l="-8" t="-2" r="11" b="16"/>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bldLst>
      <p:bldP spid="23555" grpId="0" uiExpand="1" build="p"/>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extLst>
            <a:ext uri="{91240B29-F687-4F45-9708-019B960494DF}">
              <a14:hiddenLine xmlns:a14="http://schemas.microsoft.com/office/drawing/2010/main" w="9525">
                <a:solidFill>
                  <a:schemeClr val="tx1"/>
                </a:solidFill>
                <a:prstDash val="solid"/>
                <a:miter lim="800000"/>
                <a:headEnd/>
                <a:tailEnd/>
              </a14:hiddenLine>
            </a:ext>
          </a:extLst>
        </p:spPr>
        <p:txBody>
          <a:bodyPr/>
          <a:lstStyle/>
          <a:p>
            <a:r>
              <a:rPr lang="zh-CN" altLang="en-US" dirty="0" smtClean="0"/>
              <a:t>示例：合一</a:t>
            </a:r>
            <a:r>
              <a:rPr lang="en-US" altLang="zh-CN" dirty="0" smtClean="0"/>
              <a:t>(Unification)</a:t>
            </a:r>
            <a:endParaRPr lang="en-US" altLang="zh-CN" dirty="0"/>
          </a:p>
        </p:txBody>
      </p:sp>
      <mc:AlternateContent xmlns:mc="http://schemas.openxmlformats.org/markup-compatibility/2006">
        <mc:Choice xmlns:a14="http://schemas.microsoft.com/office/drawing/2010/main" Requires="a14">
          <p:sp>
            <p:nvSpPr>
              <p:cNvPr id="29699" name="Rectangle 3"/>
              <p:cNvSpPr>
                <a:spLocks noGrp="1" noChangeArrowheads="1"/>
              </p:cNvSpPr>
              <p:nvPr>
                <p:ph idx="1"/>
              </p:nvPr>
            </p:nvSpPr>
            <p:spPr/>
            <p:txBody>
              <a:bodyPr/>
              <a:lstStyle/>
              <a:p>
                <a:pPr>
                  <a:tabLst>
                    <a:tab pos="2330450" algn="l"/>
                  </a:tabLst>
                </a:pPr>
                <a:r>
                  <a:rPr lang="zh-CN" altLang="en-US" dirty="0" smtClean="0">
                    <a:latin typeface="+mn-ea"/>
                  </a:rPr>
                  <a:t>对于输入的语句</a:t>
                </a:r>
                <a14:m>
                  <m:oMath xmlns:m="http://schemas.openxmlformats.org/officeDocument/2006/math">
                    <m:r>
                      <a:rPr lang="en-US" altLang="zh-CN" i="1" dirty="0" smtClean="0">
                        <a:latin typeface="Cambria Math" panose="02040503050406030204" pitchFamily="18" charset="0"/>
                      </a:rPr>
                      <m:t>𝑝</m:t>
                    </m:r>
                  </m:oMath>
                </a14:m>
                <a:r>
                  <a:rPr lang="zh-CN" altLang="en-US" dirty="0" smtClean="0">
                    <a:latin typeface="+mn-ea"/>
                  </a:rPr>
                  <a:t>和</a:t>
                </a:r>
                <a14:m>
                  <m:oMath xmlns:m="http://schemas.openxmlformats.org/officeDocument/2006/math">
                    <m:r>
                      <a:rPr lang="en-US" altLang="zh-CN" i="1" dirty="0" smtClean="0">
                        <a:latin typeface="Cambria Math" panose="02040503050406030204" pitchFamily="18" charset="0"/>
                      </a:rPr>
                      <m:t>𝑞</m:t>
                    </m:r>
                  </m:oMath>
                </a14:m>
                <a:r>
                  <a:rPr lang="zh-CN" altLang="en-US" dirty="0" smtClean="0">
                    <a:latin typeface="+mn-ea"/>
                  </a:rPr>
                  <a:t>找到置换</a:t>
                </a:r>
                <a14:m>
                  <m:oMath xmlns:m="http://schemas.openxmlformats.org/officeDocument/2006/math">
                    <m:r>
                      <a:rPr lang="en-US" altLang="zh-CN" i="1" dirty="0" smtClean="0">
                        <a:solidFill>
                          <a:srgbClr val="C00000"/>
                        </a:solidFill>
                        <a:latin typeface="Cambria Math" panose="02040503050406030204" pitchFamily="18" charset="0"/>
                      </a:rPr>
                      <m:t>𝑈𝑁𝐼𝐹𝑌</m:t>
                    </m:r>
                    <m:r>
                      <a:rPr lang="en-US" altLang="zh-CN" i="1" dirty="0" smtClean="0">
                        <a:solidFill>
                          <a:srgbClr val="C00000"/>
                        </a:solidFill>
                        <a:latin typeface="Cambria Math" panose="02040503050406030204" pitchFamily="18" charset="0"/>
                      </a:rPr>
                      <m:t>(</m:t>
                    </m:r>
                    <m:r>
                      <a:rPr lang="en-US" altLang="zh-CN" i="1" dirty="0" err="1" smtClean="0">
                        <a:solidFill>
                          <a:srgbClr val="C00000"/>
                        </a:solidFill>
                        <a:latin typeface="Cambria Math" panose="02040503050406030204" pitchFamily="18" charset="0"/>
                      </a:rPr>
                      <m:t>𝑝</m:t>
                    </m:r>
                    <m:r>
                      <a:rPr lang="en-US" altLang="zh-CN" i="1" dirty="0" err="1" smtClean="0">
                        <a:solidFill>
                          <a:srgbClr val="C00000"/>
                        </a:solidFill>
                        <a:latin typeface="Cambria Math" panose="02040503050406030204" pitchFamily="18" charset="0"/>
                      </a:rPr>
                      <m:t>,</m:t>
                    </m:r>
                    <m:r>
                      <a:rPr lang="en-US" altLang="zh-CN" i="1" dirty="0" err="1" smtClean="0">
                        <a:solidFill>
                          <a:srgbClr val="C00000"/>
                        </a:solidFill>
                        <a:latin typeface="Cambria Math" panose="02040503050406030204" pitchFamily="18" charset="0"/>
                      </a:rPr>
                      <m:t>𝑞</m:t>
                    </m:r>
                    <m:r>
                      <a:rPr lang="en-US" altLang="zh-CN" i="1" dirty="0">
                        <a:solidFill>
                          <a:srgbClr val="C00000"/>
                        </a:solidFill>
                        <a:latin typeface="Cambria Math" panose="02040503050406030204" pitchFamily="18" charset="0"/>
                      </a:rPr>
                      <m:t>)=</m:t>
                    </m:r>
                    <m:r>
                      <a:rPr lang="el-GR" altLang="zh-CN" i="1" dirty="0" smtClean="0">
                        <a:solidFill>
                          <a:srgbClr val="C00000"/>
                        </a:solidFill>
                        <a:latin typeface="Cambria Math" panose="02040503050406030204" pitchFamily="18" charset="0"/>
                      </a:rPr>
                      <m:t>𝜃</m:t>
                    </m:r>
                  </m:oMath>
                </a14:m>
                <a:r>
                  <a:rPr lang="en-US" altLang="zh-CN" i="1" dirty="0">
                    <a:solidFill>
                      <a:srgbClr val="C00000"/>
                    </a:solidFill>
                    <a:latin typeface="+mn-ea"/>
                  </a:rPr>
                  <a:t> </a:t>
                </a:r>
                <a:r>
                  <a:rPr lang="zh-CN" altLang="en-US" dirty="0" smtClean="0">
                    <a:latin typeface="+mn-ea"/>
                  </a:rPr>
                  <a:t>使得</a:t>
                </a:r>
                <a14:m>
                  <m:oMath xmlns:m="http://schemas.openxmlformats.org/officeDocument/2006/math">
                    <m:r>
                      <a:rPr lang="en-US" altLang="zh-CN" i="1" dirty="0" smtClean="0">
                        <a:latin typeface="Cambria Math" panose="02040503050406030204" pitchFamily="18" charset="0"/>
                      </a:rPr>
                      <m:t>𝑆𝑈𝐵𝑆𝑇</m:t>
                    </m:r>
                    <m:r>
                      <a:rPr lang="en-US" altLang="zh-CN" i="1" dirty="0" smtClean="0">
                        <a:latin typeface="Cambria Math" panose="02040503050406030204" pitchFamily="18" charset="0"/>
                      </a:rPr>
                      <m:t>(</m:t>
                    </m:r>
                    <m:r>
                      <a:rPr lang="el-GR" altLang="zh-CN" i="1" dirty="0" smtClean="0">
                        <a:solidFill>
                          <a:srgbClr val="C00000"/>
                        </a:solidFill>
                        <a:latin typeface="Cambria Math" panose="02040503050406030204" pitchFamily="18" charset="0"/>
                      </a:rPr>
                      <m:t>𝜃</m:t>
                    </m:r>
                    <m:r>
                      <a:rPr lang="en-US" altLang="zh-CN" i="1" dirty="0">
                        <a:latin typeface="Cambria Math" panose="02040503050406030204" pitchFamily="18" charset="0"/>
                      </a:rPr>
                      <m:t>,</m:t>
                    </m:r>
                    <m:r>
                      <a:rPr lang="en-US" altLang="zh-CN" i="1" dirty="0">
                        <a:latin typeface="Cambria Math" panose="02040503050406030204" pitchFamily="18" charset="0"/>
                      </a:rPr>
                      <m:t>𝑝</m:t>
                    </m:r>
                    <m:r>
                      <a:rPr lang="en-US" altLang="zh-CN" i="1" dirty="0">
                        <a:latin typeface="Cambria Math" panose="02040503050406030204" pitchFamily="18" charset="0"/>
                      </a:rPr>
                      <m:t>)=</m:t>
                    </m:r>
                    <m:r>
                      <a:rPr lang="en-US" altLang="zh-CN" i="1" dirty="0">
                        <a:latin typeface="Cambria Math" panose="02040503050406030204" pitchFamily="18" charset="0"/>
                      </a:rPr>
                      <m:t>𝑆𝑈𝐵𝑆𝑇</m:t>
                    </m:r>
                    <m:r>
                      <a:rPr lang="en-US" altLang="zh-CN" i="1" dirty="0">
                        <a:latin typeface="Cambria Math" panose="02040503050406030204" pitchFamily="18" charset="0"/>
                      </a:rPr>
                      <m:t>(</m:t>
                    </m:r>
                    <m:r>
                      <a:rPr lang="el-GR" altLang="zh-CN" i="1" dirty="0" smtClean="0">
                        <a:solidFill>
                          <a:srgbClr val="C00000"/>
                        </a:solidFill>
                        <a:latin typeface="Cambria Math" panose="02040503050406030204" pitchFamily="18" charset="0"/>
                      </a:rPr>
                      <m:t>𝜃</m:t>
                    </m:r>
                    <m:r>
                      <a:rPr lang="en-US" altLang="zh-CN" i="1" dirty="0">
                        <a:latin typeface="Cambria Math" panose="02040503050406030204" pitchFamily="18" charset="0"/>
                      </a:rPr>
                      <m:t>,</m:t>
                    </m:r>
                    <m:r>
                      <a:rPr lang="en-US" altLang="zh-CN" i="1" dirty="0">
                        <a:latin typeface="Cambria Math" panose="02040503050406030204" pitchFamily="18" charset="0"/>
                      </a:rPr>
                      <m:t>𝑞</m:t>
                    </m:r>
                    <m:r>
                      <a:rPr lang="en-US" altLang="zh-CN" i="1" dirty="0" smtClean="0">
                        <a:latin typeface="Cambria Math" panose="02040503050406030204" pitchFamily="18" charset="0"/>
                      </a:rPr>
                      <m:t>)</m:t>
                    </m:r>
                  </m:oMath>
                </a14:m>
                <a:endParaRPr lang="en-US" altLang="zh-CN" i="1" dirty="0" smtClean="0">
                  <a:latin typeface="+mn-ea"/>
                </a:endParaRPr>
              </a:p>
              <a:p>
                <a:pPr>
                  <a:tabLst>
                    <a:tab pos="2330450" algn="l"/>
                  </a:tabLst>
                </a:pPr>
                <a:endParaRPr lang="en-US" altLang="zh-CN" sz="2800" dirty="0">
                  <a:latin typeface="+mn-ea"/>
                </a:endParaRPr>
              </a:p>
            </p:txBody>
          </p:sp>
        </mc:Choice>
        <mc:Fallback>
          <p:sp>
            <p:nvSpPr>
              <p:cNvPr id="29699" name="Rectangle 3"/>
              <p:cNvSpPr>
                <a:spLocks noRot="1" noChangeAspect="1" noMove="1" noResize="1" noEditPoints="1" noAdjustHandles="1" noChangeArrowheads="1" noChangeShapeType="1" noTextEdit="1"/>
              </p:cNvSpPr>
              <p:nvPr>
                <p:ph idx="1"/>
              </p:nvPr>
            </p:nvSpPr>
            <p:spPr>
              <a:blipFill rotWithShape="1">
                <a:blip r:embed="rId1"/>
                <a:stretch>
                  <a:fillRect t="-7" r="4"/>
                </a:stretch>
              </a:blipFill>
            </p:spPr>
            <p:txBody>
              <a:bodyPr/>
              <a:lstStyle/>
              <a:p>
                <a:r>
                  <a:rPr lang="zh-CN" altLang="en-US">
                    <a:noFill/>
                  </a:rPr>
                  <a:t> </a:t>
                </a:r>
              </a:p>
            </p:txBody>
          </p:sp>
        </mc:Fallback>
      </mc:AlternateContent>
      <p:sp>
        <p:nvSpPr>
          <p:cNvPr id="2" name="灯片编号占位符 1"/>
          <p:cNvSpPr>
            <a:spLocks noGrp="1"/>
          </p:cNvSpPr>
          <p:nvPr>
            <p:ph type="sldNum" sz="quarter" idx="12"/>
          </p:nvPr>
        </p:nvSpPr>
        <p:spPr/>
        <p:txBody>
          <a:bodyPr/>
          <a:lstStyle/>
          <a:p>
            <a:pPr>
              <a:defRPr/>
            </a:pPr>
            <a:fld id="{8675F621-1619-4F8E-88C5-5F30FD27FF75}" type="slidenum">
              <a:rPr lang="en-US" altLang="zh-CN" smtClean="0"/>
            </a:fld>
            <a:endParaRPr lang="en-US" altLang="zh-CN"/>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nvGraphicFramePr>
            <p:xfrm>
              <a:off x="323528" y="3212976"/>
              <a:ext cx="8424936" cy="2590800"/>
            </p:xfrm>
            <a:graphic>
              <a:graphicData uri="http://schemas.openxmlformats.org/drawingml/2006/table">
                <a:tbl>
                  <a:tblPr firstRow="1" bandRow="1">
                    <a:tableStyleId>{5C22544A-7EE6-4342-B048-85BDC9FD1C3A}</a:tableStyleId>
                  </a:tblPr>
                  <a:tblGrid>
                    <a:gridCol w="2376264"/>
                    <a:gridCol w="3312368"/>
                    <a:gridCol w="2736304"/>
                  </a:tblGrid>
                  <a:tr h="370840">
                    <a:tc>
                      <a:txBody>
                        <a:bodyPr/>
                        <a:lstStyle/>
                        <a:p>
                          <a14:m>
                            <m:oMathPara xmlns:m="http://schemas.openxmlformats.org/officeDocument/2006/math">
                              <m:oMathParaPr>
                                <m:jc m:val="centerGroup"/>
                              </m:oMathParaPr>
                              <m:oMath xmlns:m="http://schemas.openxmlformats.org/officeDocument/2006/math">
                                <m:r>
                                  <a:rPr lang="en-US" altLang="zh-CN" sz="2800" i="1" dirty="0" smtClean="0">
                                    <a:latin typeface="Cambria Math" panose="02040503050406030204" pitchFamily="18" charset="0"/>
                                  </a:rPr>
                                  <m:t>𝑝</m:t>
                                </m:r>
                              </m:oMath>
                            </m:oMathPara>
                          </a14:m>
                          <a:endParaRPr lang="zh-CN" altLang="en-US" sz="2800" dirty="0"/>
                        </a:p>
                      </a:txBody>
                      <a:tcPr/>
                    </a:tc>
                    <a:tc>
                      <a:txBody>
                        <a:bodyPr/>
                        <a:lstStyle/>
                        <a:p>
                          <a14:m>
                            <m:oMathPara xmlns:m="http://schemas.openxmlformats.org/officeDocument/2006/math">
                              <m:oMathParaPr>
                                <m:jc m:val="centerGroup"/>
                              </m:oMathParaPr>
                              <m:oMath xmlns:m="http://schemas.openxmlformats.org/officeDocument/2006/math">
                                <m:r>
                                  <a:rPr lang="en-US" altLang="zh-CN" sz="2800" i="1" dirty="0" smtClean="0">
                                    <a:latin typeface="Cambria Math" panose="02040503050406030204" pitchFamily="18" charset="0"/>
                                  </a:rPr>
                                  <m:t>𝑞</m:t>
                                </m:r>
                              </m:oMath>
                            </m:oMathPara>
                          </a14:m>
                          <a:endParaRPr lang="zh-CN" altLang="en-US" sz="2800" dirty="0"/>
                        </a:p>
                      </a:txBody>
                      <a:tcPr/>
                    </a:tc>
                    <a:tc>
                      <a:txBody>
                        <a:bodyPr/>
                        <a:lstStyle/>
                        <a:p>
                          <a14:m>
                            <m:oMathPara xmlns:m="http://schemas.openxmlformats.org/officeDocument/2006/math">
                              <m:oMathParaPr>
                                <m:jc m:val="centerGroup"/>
                              </m:oMathParaPr>
                              <m:oMath xmlns:m="http://schemas.openxmlformats.org/officeDocument/2006/math">
                                <m:r>
                                  <a:rPr lang="en-US" altLang="zh-CN" sz="2800" i="1" dirty="0" smtClean="0">
                                    <a:latin typeface="Cambria Math" panose="02040503050406030204" pitchFamily="18" charset="0"/>
                                  </a:rPr>
                                  <m:t>𝑈𝑁𝐼𝐹𝑌</m:t>
                                </m:r>
                                <m:r>
                                  <a:rPr lang="en-US" altLang="zh-CN" sz="2800" i="1" dirty="0" smtClean="0">
                                    <a:latin typeface="Cambria Math" panose="02040503050406030204" pitchFamily="18" charset="0"/>
                                  </a:rPr>
                                  <m:t>(</m:t>
                                </m:r>
                                <m:r>
                                  <a:rPr lang="en-US" altLang="zh-CN" sz="2800" i="1" dirty="0" err="1" smtClean="0">
                                    <a:latin typeface="Cambria Math" panose="02040503050406030204" pitchFamily="18" charset="0"/>
                                  </a:rPr>
                                  <m:t>𝑝</m:t>
                                </m:r>
                                <m:r>
                                  <a:rPr lang="en-US" altLang="zh-CN" sz="2800" i="1" dirty="0" err="1" smtClean="0">
                                    <a:latin typeface="Cambria Math" panose="02040503050406030204" pitchFamily="18" charset="0"/>
                                  </a:rPr>
                                  <m:t>,</m:t>
                                </m:r>
                                <m:r>
                                  <a:rPr lang="en-US" altLang="zh-CN" sz="2800" i="1" dirty="0" err="1" smtClean="0">
                                    <a:latin typeface="Cambria Math" panose="02040503050406030204" pitchFamily="18" charset="0"/>
                                  </a:rPr>
                                  <m:t>𝑞</m:t>
                                </m:r>
                                <m:r>
                                  <a:rPr lang="en-US" altLang="zh-CN" sz="2800" i="1" dirty="0">
                                    <a:latin typeface="Cambria Math" panose="02040503050406030204" pitchFamily="18" charset="0"/>
                                  </a:rPr>
                                  <m:t>)</m:t>
                                </m:r>
                              </m:oMath>
                            </m:oMathPara>
                          </a14:m>
                          <a:endParaRPr lang="zh-CN" altLang="en-US" sz="2800" dirty="0"/>
                        </a:p>
                      </a:txBody>
                      <a:tcPr/>
                    </a:tc>
                  </a:tr>
                  <a:tr h="370840">
                    <a:tc>
                      <a:txBody>
                        <a:bodyPr/>
                        <a:lstStyle/>
                        <a:p>
                          <a:endParaRPr lang="zh-CN" altLang="en-US" sz="2800"/>
                        </a:p>
                      </a:txBody>
                      <a:tcPr/>
                    </a:tc>
                    <a:tc>
                      <a:txBody>
                        <a:bodyPr/>
                        <a:lstStyle/>
                        <a:p>
                          <a:endParaRPr lang="zh-CN" altLang="en-US" sz="2800" dirty="0"/>
                        </a:p>
                      </a:txBody>
                      <a:tcPr/>
                    </a:tc>
                    <a:tc>
                      <a:txBody>
                        <a:bodyPr/>
                        <a:lstStyle/>
                        <a:p>
                          <a:endParaRPr lang="zh-CN" altLang="en-US" sz="2800"/>
                        </a:p>
                      </a:txBody>
                      <a:tcPr/>
                    </a:tc>
                  </a:tr>
                  <a:tr h="370840">
                    <a:tc>
                      <a:txBody>
                        <a:bodyPr/>
                        <a:lstStyle/>
                        <a:p>
                          <a:endParaRPr lang="zh-CN" altLang="en-US" sz="2800"/>
                        </a:p>
                      </a:txBody>
                      <a:tcPr/>
                    </a:tc>
                    <a:tc>
                      <a:txBody>
                        <a:bodyPr/>
                        <a:lstStyle/>
                        <a:p>
                          <a:endParaRPr lang="zh-CN" altLang="en-US" sz="2800"/>
                        </a:p>
                      </a:txBody>
                      <a:tcPr/>
                    </a:tc>
                    <a:tc>
                      <a:txBody>
                        <a:bodyPr/>
                        <a:lstStyle/>
                        <a:p>
                          <a:endParaRPr lang="zh-CN" altLang="en-US" sz="2800"/>
                        </a:p>
                      </a:txBody>
                      <a:tcPr/>
                    </a:tc>
                  </a:tr>
                  <a:tr h="370840">
                    <a:tc>
                      <a:txBody>
                        <a:bodyPr/>
                        <a:lstStyle/>
                        <a:p>
                          <a:endParaRPr lang="zh-CN" altLang="en-US" sz="2800"/>
                        </a:p>
                      </a:txBody>
                      <a:tcPr/>
                    </a:tc>
                    <a:tc>
                      <a:txBody>
                        <a:bodyPr/>
                        <a:lstStyle/>
                        <a:p>
                          <a:endParaRPr lang="zh-CN" altLang="en-US" sz="2800"/>
                        </a:p>
                      </a:txBody>
                      <a:tcPr/>
                    </a:tc>
                    <a:tc>
                      <a:txBody>
                        <a:bodyPr/>
                        <a:lstStyle/>
                        <a:p>
                          <a:endParaRPr lang="zh-CN" altLang="en-US" sz="2800" dirty="0"/>
                        </a:p>
                      </a:txBody>
                      <a:tcPr/>
                    </a:tc>
                  </a:tr>
                  <a:tr h="370840">
                    <a:tc>
                      <a:txBody>
                        <a:bodyPr/>
                        <a:lstStyle/>
                        <a:p>
                          <a:endParaRPr lang="zh-CN" altLang="en-US" sz="2800"/>
                        </a:p>
                      </a:txBody>
                      <a:tcPr/>
                    </a:tc>
                    <a:tc>
                      <a:txBody>
                        <a:bodyPr/>
                        <a:lstStyle/>
                        <a:p>
                          <a:endParaRPr lang="zh-CN" altLang="en-US" sz="2800"/>
                        </a:p>
                      </a:txBody>
                      <a:tcPr/>
                    </a:tc>
                    <a:tc>
                      <a:txBody>
                        <a:bodyPr/>
                        <a:lstStyle/>
                        <a:p>
                          <a:endParaRPr lang="zh-CN" altLang="en-US" sz="2800" dirty="0"/>
                        </a:p>
                      </a:txBody>
                      <a:tcPr/>
                    </a:tc>
                  </a:tr>
                </a:tbl>
              </a:graphicData>
            </a:graphic>
          </p:graphicFrame>
        </mc:Choice>
        <mc:Fallback xmlns="">
          <p:graphicFrame>
            <p:nvGraphicFramePr>
              <p:cNvPr id="3" name="表格 2"/>
              <p:cNvGraphicFramePr>
                <a:graphicFrameLocks noGrp="1"/>
              </p:cNvGraphicFramePr>
              <p:nvPr/>
            </p:nvGraphicFramePr>
            <p:xfrm>
              <a:off x="323528" y="3212976"/>
              <a:ext cx="8424936" cy="2590800"/>
            </p:xfrm>
            <a:graphic>
              <a:graphicData uri="http://schemas.openxmlformats.org/drawingml/2006/table">
                <a:tbl>
                  <a:tblPr firstRow="1" bandRow="1">
                    <a:tableStyleId>{5C22544A-7EE6-4342-B048-85BDC9FD1C3A}</a:tableStyleId>
                  </a:tblPr>
                  <a:tblGrid>
                    <a:gridCol w="2376264"/>
                    <a:gridCol w="3312368"/>
                    <a:gridCol w="2736304"/>
                  </a:tblGrid>
                  <a:tr h="518160">
                    <a:tc>
                      <a:txBody>
                        <a:bodyPr/>
                        <a:lstStyle/>
                        <a:p>
                          <a:endParaRPr lang="zh-CN"/>
                        </a:p>
                      </a:txBody>
                      <a:tcPr>
                        <a:blipFill>
                          <a:blip r:embed="rId2"/>
                        </a:blipFill>
                      </a:tcPr>
                    </a:tc>
                    <a:tc>
                      <a:txBody>
                        <a:bodyPr/>
                        <a:lstStyle/>
                        <a:p>
                          <a:endParaRPr lang="zh-CN"/>
                        </a:p>
                      </a:txBody>
                      <a:tcPr>
                        <a:blipFill>
                          <a:blip r:embed="rId2"/>
                        </a:blipFill>
                      </a:tcPr>
                    </a:tc>
                    <a:tc>
                      <a:txBody>
                        <a:bodyPr/>
                        <a:lstStyle/>
                        <a:p>
                          <a:endParaRPr lang="zh-CN"/>
                        </a:p>
                      </a:txBody>
                      <a:tcPr>
                        <a:blipFill>
                          <a:blip r:embed="rId2"/>
                        </a:blipFill>
                      </a:tcPr>
                    </a:tc>
                  </a:tr>
                  <a:tr h="370840">
                    <a:tc>
                      <a:txBody>
                        <a:bodyPr/>
                        <a:lstStyle/>
                        <a:p>
                          <a:endParaRPr lang="zh-CN" altLang="en-US" sz="2800"/>
                        </a:p>
                      </a:txBody>
                      <a:tcPr/>
                    </a:tc>
                    <a:tc>
                      <a:txBody>
                        <a:bodyPr/>
                        <a:lstStyle/>
                        <a:p>
                          <a:endParaRPr lang="zh-CN" altLang="en-US" sz="2800" dirty="0"/>
                        </a:p>
                      </a:txBody>
                      <a:tcPr/>
                    </a:tc>
                    <a:tc>
                      <a:txBody>
                        <a:bodyPr/>
                        <a:lstStyle/>
                        <a:p>
                          <a:endParaRPr lang="zh-CN" altLang="en-US" sz="2800"/>
                        </a:p>
                      </a:txBody>
                      <a:tcPr/>
                    </a:tc>
                  </a:tr>
                  <a:tr h="370840">
                    <a:tc>
                      <a:txBody>
                        <a:bodyPr/>
                        <a:lstStyle/>
                        <a:p>
                          <a:endParaRPr lang="zh-CN" altLang="en-US" sz="2800"/>
                        </a:p>
                      </a:txBody>
                      <a:tcPr/>
                    </a:tc>
                    <a:tc>
                      <a:txBody>
                        <a:bodyPr/>
                        <a:lstStyle/>
                        <a:p>
                          <a:endParaRPr lang="zh-CN" altLang="en-US" sz="2800"/>
                        </a:p>
                      </a:txBody>
                      <a:tcPr/>
                    </a:tc>
                    <a:tc>
                      <a:txBody>
                        <a:bodyPr/>
                        <a:lstStyle/>
                        <a:p>
                          <a:endParaRPr lang="zh-CN" altLang="en-US" sz="2800"/>
                        </a:p>
                      </a:txBody>
                      <a:tcPr/>
                    </a:tc>
                  </a:tr>
                  <a:tr h="370840">
                    <a:tc>
                      <a:txBody>
                        <a:bodyPr/>
                        <a:lstStyle/>
                        <a:p>
                          <a:endParaRPr lang="zh-CN" altLang="en-US" sz="2800"/>
                        </a:p>
                      </a:txBody>
                      <a:tcPr/>
                    </a:tc>
                    <a:tc>
                      <a:txBody>
                        <a:bodyPr/>
                        <a:lstStyle/>
                        <a:p>
                          <a:endParaRPr lang="zh-CN" altLang="en-US" sz="2800"/>
                        </a:p>
                      </a:txBody>
                      <a:tcPr/>
                    </a:tc>
                    <a:tc>
                      <a:txBody>
                        <a:bodyPr/>
                        <a:lstStyle/>
                        <a:p>
                          <a:endParaRPr lang="zh-CN" altLang="en-US" sz="2800" dirty="0"/>
                        </a:p>
                      </a:txBody>
                      <a:tcPr/>
                    </a:tc>
                  </a:tr>
                  <a:tr h="370840">
                    <a:tc>
                      <a:txBody>
                        <a:bodyPr/>
                        <a:lstStyle/>
                        <a:p>
                          <a:endParaRPr lang="zh-CN" altLang="en-US" sz="2800"/>
                        </a:p>
                      </a:txBody>
                      <a:tcPr/>
                    </a:tc>
                    <a:tc>
                      <a:txBody>
                        <a:bodyPr/>
                        <a:lstStyle/>
                        <a:p>
                          <a:endParaRPr lang="zh-CN" altLang="en-US" sz="2800"/>
                        </a:p>
                      </a:txBody>
                      <a:tcPr/>
                    </a:tc>
                    <a:tc>
                      <a:txBody>
                        <a:bodyPr/>
                        <a:lstStyle/>
                        <a:p>
                          <a:endParaRPr lang="zh-CN" altLang="en-US" sz="2800" dirty="0"/>
                        </a:p>
                      </a:txBody>
                      <a:tcPr/>
                    </a:tc>
                  </a:tr>
                </a:tbl>
              </a:graphicData>
            </a:graphic>
          </p:graphicFrame>
        </mc:Fallback>
      </mc:AlternateContent>
      <mc:AlternateContent xmlns:mc="http://schemas.openxmlformats.org/markup-compatibility/2006">
        <mc:Choice xmlns:a14="http://schemas.microsoft.com/office/drawing/2010/main" Requires="a14">
          <p:sp>
            <p:nvSpPr>
              <p:cNvPr id="1397778" name="Rectangle 18"/>
              <p:cNvSpPr>
                <a:spLocks noChangeArrowheads="1"/>
              </p:cNvSpPr>
              <p:nvPr/>
            </p:nvSpPr>
            <p:spPr bwMode="auto">
              <a:xfrm>
                <a:off x="6889898" y="3720940"/>
                <a:ext cx="10743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14:m>
                  <m:oMathPara xmlns:m="http://schemas.openxmlformats.org/officeDocument/2006/math">
                    <m:oMathParaPr>
                      <m:jc m:val="centerGroup"/>
                    </m:oMathParaPr>
                    <m:oMath xmlns:m="http://schemas.openxmlformats.org/officeDocument/2006/math">
                      <m:r>
                        <a:rPr lang="en-US" altLang="zh-CN" sz="2400" b="1" i="1" dirty="0" smtClean="0">
                          <a:solidFill>
                            <a:srgbClr val="C00000"/>
                          </a:solidFill>
                          <a:latin typeface="Cambria Math" panose="02040503050406030204" pitchFamily="18" charset="0"/>
                        </a:rPr>
                        <m:t>{</m:t>
                      </m:r>
                      <m:r>
                        <a:rPr lang="en-US" altLang="zh-CN" sz="2400" b="1" i="1" dirty="0" smtClean="0">
                          <a:solidFill>
                            <a:srgbClr val="C00000"/>
                          </a:solidFill>
                          <a:latin typeface="Cambria Math" panose="02040503050406030204" pitchFamily="18" charset="0"/>
                        </a:rPr>
                        <m:t>𝒙</m:t>
                      </m:r>
                      <m:r>
                        <a:rPr lang="en-US" altLang="zh-CN" sz="2400" b="1" i="1" dirty="0" smtClean="0">
                          <a:solidFill>
                            <a:srgbClr val="C00000"/>
                          </a:solidFill>
                          <a:latin typeface="Cambria Math" panose="02040503050406030204" pitchFamily="18" charset="0"/>
                        </a:rPr>
                        <m:t>/</m:t>
                      </m:r>
                      <m:r>
                        <a:rPr lang="en-US" altLang="zh-CN" sz="2400" b="1" i="1" dirty="0" smtClean="0">
                          <a:solidFill>
                            <a:srgbClr val="C00000"/>
                          </a:solidFill>
                          <a:latin typeface="Cambria Math" panose="02040503050406030204" pitchFamily="18" charset="0"/>
                        </a:rPr>
                        <m:t>𝒂</m:t>
                      </m:r>
                      <m:r>
                        <a:rPr lang="en-US" altLang="zh-CN" sz="2400" b="1" i="1" dirty="0" smtClean="0">
                          <a:solidFill>
                            <a:srgbClr val="C00000"/>
                          </a:solidFill>
                          <a:latin typeface="Cambria Math" panose="02040503050406030204" pitchFamily="18" charset="0"/>
                        </a:rPr>
                        <m:t>}</m:t>
                      </m:r>
                    </m:oMath>
                  </m:oMathPara>
                </a14:m>
                <a:endParaRPr lang="en-US" altLang="zh-CN" sz="2400" b="1" dirty="0">
                  <a:solidFill>
                    <a:srgbClr val="C00000"/>
                  </a:solidFill>
                  <a:latin typeface="Comic Sans MS" panose="030F0702030302020204" pitchFamily="66" charset="0"/>
                </a:endParaRPr>
              </a:p>
            </p:txBody>
          </p:sp>
        </mc:Choice>
        <mc:Fallback>
          <p:sp>
            <p:nvSpPr>
              <p:cNvPr id="1397778" name="Rectangle 18"/>
              <p:cNvSpPr>
                <a:spLocks noRot="1" noChangeAspect="1" noMove="1" noResize="1" noEditPoints="1" noAdjustHandles="1" noChangeArrowheads="1" noChangeShapeType="1" noTextEdit="1"/>
              </p:cNvSpPr>
              <p:nvPr/>
            </p:nvSpPr>
            <p:spPr bwMode="auto">
              <a:xfrm>
                <a:off x="6889898" y="3720940"/>
                <a:ext cx="1074333" cy="461665"/>
              </a:xfrm>
              <a:prstGeom prst="rect">
                <a:avLst/>
              </a:prstGeom>
              <a:blipFill rotWithShape="1">
                <a:blip r:embed="rId3"/>
                <a:stretch>
                  <a:fillRect l="-14" t="-103" r="6" b="10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97779" name="Rectangle 19"/>
              <p:cNvSpPr>
                <a:spLocks noChangeArrowheads="1"/>
              </p:cNvSpPr>
              <p:nvPr/>
            </p:nvSpPr>
            <p:spPr bwMode="auto">
              <a:xfrm>
                <a:off x="6889898" y="4242103"/>
                <a:ext cx="10679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14:m>
                  <m:oMathPara xmlns:m="http://schemas.openxmlformats.org/officeDocument/2006/math">
                    <m:oMathParaPr>
                      <m:jc m:val="centerGroup"/>
                    </m:oMathParaPr>
                    <m:oMath xmlns:m="http://schemas.openxmlformats.org/officeDocument/2006/math">
                      <m:r>
                        <a:rPr lang="en-US" altLang="zh-CN" sz="2400" b="1" i="1" dirty="0" smtClean="0">
                          <a:solidFill>
                            <a:srgbClr val="C00000"/>
                          </a:solidFill>
                          <a:latin typeface="Cambria Math" panose="02040503050406030204" pitchFamily="18" charset="0"/>
                        </a:rPr>
                        <m:t>{</m:t>
                      </m:r>
                      <m:r>
                        <a:rPr lang="en-US" altLang="zh-CN" sz="2400" b="1" i="1" dirty="0" smtClean="0">
                          <a:solidFill>
                            <a:srgbClr val="C00000"/>
                          </a:solidFill>
                          <a:latin typeface="Cambria Math" panose="02040503050406030204" pitchFamily="18" charset="0"/>
                        </a:rPr>
                        <m:t>𝒙</m:t>
                      </m:r>
                      <m:r>
                        <a:rPr lang="en-US" altLang="zh-CN" sz="2400" b="1" i="1" dirty="0" smtClean="0">
                          <a:solidFill>
                            <a:srgbClr val="C00000"/>
                          </a:solidFill>
                          <a:latin typeface="Cambria Math" panose="02040503050406030204" pitchFamily="18" charset="0"/>
                        </a:rPr>
                        <m:t>/</m:t>
                      </m:r>
                      <m:r>
                        <a:rPr lang="en-US" altLang="zh-CN" sz="2400" b="1" i="1" dirty="0" smtClean="0">
                          <a:solidFill>
                            <a:srgbClr val="C00000"/>
                          </a:solidFill>
                          <a:latin typeface="Cambria Math" panose="02040503050406030204" pitchFamily="18" charset="0"/>
                        </a:rPr>
                        <m:t>𝒚</m:t>
                      </m:r>
                      <m:r>
                        <a:rPr lang="en-US" altLang="zh-CN" sz="2400" b="1" i="1" dirty="0" smtClean="0">
                          <a:solidFill>
                            <a:srgbClr val="C00000"/>
                          </a:solidFill>
                          <a:latin typeface="Cambria Math" panose="02040503050406030204" pitchFamily="18" charset="0"/>
                        </a:rPr>
                        <m:t>}</m:t>
                      </m:r>
                    </m:oMath>
                  </m:oMathPara>
                </a14:m>
                <a:endParaRPr lang="en-US" altLang="zh-CN" sz="2400" b="1" dirty="0">
                  <a:solidFill>
                    <a:srgbClr val="C00000"/>
                  </a:solidFill>
                  <a:latin typeface="Comic Sans MS" panose="030F0702030302020204" pitchFamily="66" charset="0"/>
                </a:endParaRPr>
              </a:p>
            </p:txBody>
          </p:sp>
        </mc:Choice>
        <mc:Fallback>
          <p:sp>
            <p:nvSpPr>
              <p:cNvPr id="1397779" name="Rectangle 19"/>
              <p:cNvSpPr>
                <a:spLocks noRot="1" noChangeAspect="1" noMove="1" noResize="1" noEditPoints="1" noAdjustHandles="1" noChangeArrowheads="1" noChangeShapeType="1" noTextEdit="1"/>
              </p:cNvSpPr>
              <p:nvPr/>
            </p:nvSpPr>
            <p:spPr bwMode="auto">
              <a:xfrm>
                <a:off x="6889898" y="4242103"/>
                <a:ext cx="1067921" cy="461665"/>
              </a:xfrm>
              <a:prstGeom prst="rect">
                <a:avLst/>
              </a:prstGeom>
              <a:blipFill rotWithShape="1">
                <a:blip r:embed="rId4"/>
                <a:stretch>
                  <a:fillRect l="-14" t="-66" r="59" b="7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97780" name="Rectangle 20"/>
              <p:cNvSpPr>
                <a:spLocks noChangeArrowheads="1"/>
              </p:cNvSpPr>
              <p:nvPr/>
            </p:nvSpPr>
            <p:spPr bwMode="auto">
              <a:xfrm>
                <a:off x="6514795" y="4756661"/>
                <a:ext cx="18181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14:m>
                  <m:oMathPara xmlns:m="http://schemas.openxmlformats.org/officeDocument/2006/math">
                    <m:oMathParaPr>
                      <m:jc m:val="centerGroup"/>
                    </m:oMathParaPr>
                    <m:oMath xmlns:m="http://schemas.openxmlformats.org/officeDocument/2006/math">
                      <m:r>
                        <a:rPr lang="en-US" altLang="zh-CN" sz="2400" b="1" i="1" dirty="0" smtClean="0">
                          <a:solidFill>
                            <a:srgbClr val="C00000"/>
                          </a:solidFill>
                          <a:latin typeface="Cambria Math" panose="02040503050406030204" pitchFamily="18" charset="0"/>
                        </a:rPr>
                        <m:t>{</m:t>
                      </m:r>
                      <m:r>
                        <a:rPr lang="en-US" altLang="zh-CN" sz="2400" b="1" i="1" dirty="0" smtClean="0">
                          <a:solidFill>
                            <a:srgbClr val="C00000"/>
                          </a:solidFill>
                          <a:latin typeface="Cambria Math" panose="02040503050406030204" pitchFamily="18" charset="0"/>
                        </a:rPr>
                        <m:t>𝒛</m:t>
                      </m:r>
                      <m:r>
                        <a:rPr lang="en-US" altLang="zh-CN" sz="2400" b="1" i="1" dirty="0" smtClean="0">
                          <a:solidFill>
                            <a:srgbClr val="C00000"/>
                          </a:solidFill>
                          <a:latin typeface="Cambria Math" panose="02040503050406030204" pitchFamily="18" charset="0"/>
                        </a:rPr>
                        <m:t>/</m:t>
                      </m:r>
                      <m:r>
                        <a:rPr lang="en-US" altLang="zh-CN" sz="2400" b="1" i="1" dirty="0" smtClean="0">
                          <a:solidFill>
                            <a:srgbClr val="C00000"/>
                          </a:solidFill>
                          <a:latin typeface="Cambria Math" panose="02040503050406030204" pitchFamily="18" charset="0"/>
                        </a:rPr>
                        <m:t>𝒈</m:t>
                      </m:r>
                      <m:r>
                        <a:rPr lang="en-US" altLang="zh-CN" sz="2400" b="1" i="1" dirty="0" smtClean="0">
                          <a:solidFill>
                            <a:srgbClr val="C00000"/>
                          </a:solidFill>
                          <a:latin typeface="Cambria Math" panose="02040503050406030204" pitchFamily="18" charset="0"/>
                        </a:rPr>
                        <m:t>(</m:t>
                      </m:r>
                      <m:r>
                        <a:rPr lang="en-US" altLang="zh-CN" sz="2400" b="1" i="1" dirty="0" err="1" smtClean="0">
                          <a:solidFill>
                            <a:srgbClr val="C00000"/>
                          </a:solidFill>
                          <a:latin typeface="Cambria Math" panose="02040503050406030204" pitchFamily="18" charset="0"/>
                        </a:rPr>
                        <m:t>𝒂</m:t>
                      </m:r>
                      <m:r>
                        <a:rPr lang="en-US" altLang="zh-CN" sz="2400" b="1" i="1" dirty="0" err="1" smtClean="0">
                          <a:solidFill>
                            <a:srgbClr val="C00000"/>
                          </a:solidFill>
                          <a:latin typeface="Cambria Math" panose="02040503050406030204" pitchFamily="18" charset="0"/>
                        </a:rPr>
                        <m:t>,</m:t>
                      </m:r>
                      <m:r>
                        <a:rPr lang="en-US" altLang="zh-CN" sz="2400" b="1" i="1" dirty="0" err="1" smtClean="0">
                          <a:solidFill>
                            <a:srgbClr val="C00000"/>
                          </a:solidFill>
                          <a:latin typeface="Cambria Math" panose="02040503050406030204" pitchFamily="18" charset="0"/>
                        </a:rPr>
                        <m:t>𝒚</m:t>
                      </m:r>
                      <m:r>
                        <a:rPr lang="en-US" altLang="zh-CN" sz="2400" b="1" i="1" dirty="0">
                          <a:solidFill>
                            <a:srgbClr val="C00000"/>
                          </a:solidFill>
                          <a:latin typeface="Cambria Math" panose="02040503050406030204" pitchFamily="18" charset="0"/>
                        </a:rPr>
                        <m:t>)}</m:t>
                      </m:r>
                    </m:oMath>
                  </m:oMathPara>
                </a14:m>
                <a:endParaRPr lang="en-US" altLang="zh-CN" sz="2400" b="1" dirty="0">
                  <a:solidFill>
                    <a:srgbClr val="C00000"/>
                  </a:solidFill>
                  <a:latin typeface="Comic Sans MS" panose="030F0702030302020204" pitchFamily="66" charset="0"/>
                </a:endParaRPr>
              </a:p>
            </p:txBody>
          </p:sp>
        </mc:Choice>
        <mc:Fallback>
          <p:sp>
            <p:nvSpPr>
              <p:cNvPr id="1397780" name="Rectangle 20"/>
              <p:cNvSpPr>
                <a:spLocks noRot="1" noChangeAspect="1" noMove="1" noResize="1" noEditPoints="1" noAdjustHandles="1" noChangeArrowheads="1" noChangeShapeType="1" noTextEdit="1"/>
              </p:cNvSpPr>
              <p:nvPr/>
            </p:nvSpPr>
            <p:spPr bwMode="auto">
              <a:xfrm>
                <a:off x="6514795" y="4756661"/>
                <a:ext cx="1818126" cy="461665"/>
              </a:xfrm>
              <a:prstGeom prst="rect">
                <a:avLst/>
              </a:prstGeom>
              <a:blipFill rotWithShape="1">
                <a:blip r:embed="rId5"/>
                <a:stretch>
                  <a:fillRect l="-18" t="-111" r="25" b="1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708" name="Text Box 12"/>
              <p:cNvSpPr txBox="1">
                <a:spLocks noChangeArrowheads="1"/>
              </p:cNvSpPr>
              <p:nvPr/>
            </p:nvSpPr>
            <p:spPr bwMode="auto">
              <a:xfrm>
                <a:off x="1066165" y="3720940"/>
                <a:ext cx="89716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ea typeface="微软雅黑" panose="020B0503020204020204" pitchFamily="34" charset="-122"/>
                        </a:rPr>
                        <m:t>𝑃</m:t>
                      </m:r>
                      <m:r>
                        <a:rPr lang="en-US" altLang="zh-CN" sz="2400" i="1" dirty="0" smtClean="0">
                          <a:latin typeface="Cambria Math" panose="02040503050406030204" pitchFamily="18" charset="0"/>
                          <a:ea typeface="微软雅黑" panose="020B0503020204020204" pitchFamily="34" charset="-122"/>
                        </a:rPr>
                        <m:t>(</m:t>
                      </m:r>
                      <m:r>
                        <a:rPr lang="en-US" altLang="zh-CN" sz="2400" i="1" dirty="0" smtClean="0">
                          <a:latin typeface="Cambria Math" panose="02040503050406030204" pitchFamily="18" charset="0"/>
                          <a:ea typeface="微软雅黑" panose="020B0503020204020204" pitchFamily="34" charset="-122"/>
                        </a:rPr>
                        <m:t>𝑥</m:t>
                      </m:r>
                      <m:r>
                        <a:rPr lang="en-US" altLang="zh-CN" sz="2400" i="1" dirty="0" smtClean="0">
                          <a:latin typeface="Cambria Math" panose="02040503050406030204" pitchFamily="18" charset="0"/>
                          <a:ea typeface="微软雅黑" panose="020B0503020204020204" pitchFamily="34" charset="-122"/>
                        </a:rPr>
                        <m:t>)</m:t>
                      </m:r>
                    </m:oMath>
                  </m:oMathPara>
                </a14:m>
                <a:endParaRPr lang="en-GB" altLang="zh-CN" sz="2400" dirty="0">
                  <a:ea typeface="微软雅黑" panose="020B0503020204020204" pitchFamily="34" charset="-122"/>
                </a:endParaRPr>
              </a:p>
            </p:txBody>
          </p:sp>
        </mc:Choice>
        <mc:Fallback>
          <p:sp>
            <p:nvSpPr>
              <p:cNvPr id="29708" name="Text Box 12"/>
              <p:cNvSpPr txBox="1">
                <a:spLocks noRot="1" noChangeAspect="1" noMove="1" noResize="1" noEditPoints="1" noAdjustHandles="1" noChangeArrowheads="1" noChangeShapeType="1" noTextEdit="1"/>
              </p:cNvSpPr>
              <p:nvPr/>
            </p:nvSpPr>
            <p:spPr bwMode="auto">
              <a:xfrm>
                <a:off x="1066165" y="3720940"/>
                <a:ext cx="897169" cy="461665"/>
              </a:xfrm>
              <a:prstGeom prst="rect">
                <a:avLst/>
              </a:prstGeom>
              <a:blipFill rotWithShape="1">
                <a:blip r:embed="rId6"/>
                <a:stretch>
                  <a:fillRect t="-103" r="61" b="10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709" name="Text Box 13"/>
              <p:cNvSpPr txBox="1">
                <a:spLocks noChangeArrowheads="1"/>
              </p:cNvSpPr>
              <p:nvPr/>
            </p:nvSpPr>
            <p:spPr bwMode="auto">
              <a:xfrm>
                <a:off x="333208" y="4242103"/>
                <a:ext cx="236308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ea typeface="微软雅黑" panose="020B0503020204020204" pitchFamily="34" charset="-122"/>
                        </a:rPr>
                        <m:t>𝑃</m:t>
                      </m:r>
                      <m:r>
                        <a:rPr lang="en-US" altLang="zh-CN" sz="2400" i="1" dirty="0" smtClean="0">
                          <a:latin typeface="Cambria Math" panose="02040503050406030204" pitchFamily="18" charset="0"/>
                          <a:ea typeface="微软雅黑" panose="020B0503020204020204" pitchFamily="34" charset="-122"/>
                        </a:rPr>
                        <m:t>(</m:t>
                      </m:r>
                      <m:r>
                        <a:rPr lang="en-US" altLang="zh-CN" sz="2400" i="1" dirty="0" smtClean="0">
                          <a:latin typeface="Cambria Math" panose="02040503050406030204" pitchFamily="18" charset="0"/>
                          <a:ea typeface="微软雅黑" panose="020B0503020204020204" pitchFamily="34" charset="-122"/>
                        </a:rPr>
                        <m:t>𝑓</m:t>
                      </m:r>
                      <m:r>
                        <a:rPr lang="en-US" altLang="zh-CN" sz="2400" i="1" dirty="0" smtClean="0">
                          <a:latin typeface="Cambria Math" panose="02040503050406030204" pitchFamily="18" charset="0"/>
                          <a:ea typeface="微软雅黑" panose="020B0503020204020204" pitchFamily="34" charset="-122"/>
                        </a:rPr>
                        <m:t>(</m:t>
                      </m:r>
                      <m:r>
                        <a:rPr lang="en-US" altLang="zh-CN" sz="2400" i="1" dirty="0" smtClean="0">
                          <a:latin typeface="Cambria Math" panose="02040503050406030204" pitchFamily="18" charset="0"/>
                          <a:ea typeface="微软雅黑" panose="020B0503020204020204" pitchFamily="34" charset="-122"/>
                        </a:rPr>
                        <m:t>𝑥</m:t>
                      </m:r>
                      <m:r>
                        <a:rPr lang="en-US" altLang="zh-CN" sz="2400" i="1" dirty="0" smtClean="0">
                          <a:latin typeface="Cambria Math" panose="02040503050406030204" pitchFamily="18" charset="0"/>
                          <a:ea typeface="微软雅黑" panose="020B0503020204020204" pitchFamily="34" charset="-122"/>
                        </a:rPr>
                        <m:t>),</m:t>
                      </m:r>
                      <m:r>
                        <a:rPr lang="en-US" altLang="zh-CN" sz="2400" i="1" dirty="0" err="1">
                          <a:latin typeface="Cambria Math" panose="02040503050406030204" pitchFamily="18" charset="0"/>
                          <a:ea typeface="微软雅黑" panose="020B0503020204020204" pitchFamily="34" charset="-122"/>
                        </a:rPr>
                        <m:t>𝑦</m:t>
                      </m:r>
                      <m:r>
                        <a:rPr lang="en-US" altLang="zh-CN" sz="2400" i="1" dirty="0" err="1">
                          <a:latin typeface="Cambria Math" panose="02040503050406030204" pitchFamily="18" charset="0"/>
                          <a:ea typeface="微软雅黑" panose="020B0503020204020204" pitchFamily="34" charset="-122"/>
                        </a:rPr>
                        <m:t>,</m:t>
                      </m:r>
                      <m:r>
                        <a:rPr lang="en-US" altLang="zh-CN" sz="2400" i="1" dirty="0" err="1">
                          <a:latin typeface="Cambria Math" panose="02040503050406030204" pitchFamily="18" charset="0"/>
                          <a:ea typeface="微软雅黑" panose="020B0503020204020204" pitchFamily="34" charset="-122"/>
                        </a:rPr>
                        <m:t>𝑔</m:t>
                      </m:r>
                      <m:r>
                        <a:rPr lang="en-US" altLang="zh-CN" sz="2400" i="1" dirty="0">
                          <a:latin typeface="Cambria Math" panose="02040503050406030204" pitchFamily="18" charset="0"/>
                          <a:ea typeface="微软雅黑" panose="020B0503020204020204" pitchFamily="34" charset="-122"/>
                        </a:rPr>
                        <m:t>(</m:t>
                      </m:r>
                      <m:r>
                        <a:rPr lang="en-US" altLang="zh-CN" sz="2400" i="1" dirty="0">
                          <a:latin typeface="Cambria Math" panose="02040503050406030204" pitchFamily="18" charset="0"/>
                          <a:ea typeface="微软雅黑" panose="020B0503020204020204" pitchFamily="34" charset="-122"/>
                        </a:rPr>
                        <m:t>𝑦</m:t>
                      </m:r>
                      <m:r>
                        <a:rPr lang="en-US" altLang="zh-CN" sz="2400" i="1" dirty="0">
                          <a:latin typeface="Cambria Math" panose="02040503050406030204" pitchFamily="18" charset="0"/>
                          <a:ea typeface="微软雅黑" panose="020B0503020204020204" pitchFamily="34" charset="-122"/>
                        </a:rPr>
                        <m:t>))</m:t>
                      </m:r>
                    </m:oMath>
                  </m:oMathPara>
                </a14:m>
                <a:endParaRPr lang="en-GB" altLang="zh-CN" sz="2400" dirty="0">
                  <a:ea typeface="微软雅黑" panose="020B0503020204020204" pitchFamily="34" charset="-122"/>
                </a:endParaRPr>
              </a:p>
            </p:txBody>
          </p:sp>
        </mc:Choice>
        <mc:Fallback>
          <p:sp>
            <p:nvSpPr>
              <p:cNvPr id="29709" name="Text Box 13"/>
              <p:cNvSpPr txBox="1">
                <a:spLocks noRot="1" noChangeAspect="1" noMove="1" noResize="1" noEditPoints="1" noAdjustHandles="1" noChangeArrowheads="1" noChangeShapeType="1" noTextEdit="1"/>
              </p:cNvSpPr>
              <p:nvPr/>
            </p:nvSpPr>
            <p:spPr bwMode="auto">
              <a:xfrm>
                <a:off x="333208" y="4242103"/>
                <a:ext cx="2363083" cy="461665"/>
              </a:xfrm>
              <a:prstGeom prst="rect">
                <a:avLst/>
              </a:prstGeom>
              <a:blipFill rotWithShape="1">
                <a:blip r:embed="rId7"/>
                <a:stretch>
                  <a:fillRect l="-20" t="-66" r="3" b="7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710" name="Text Box 14"/>
              <p:cNvSpPr txBox="1">
                <a:spLocks noChangeArrowheads="1"/>
              </p:cNvSpPr>
              <p:nvPr/>
            </p:nvSpPr>
            <p:spPr bwMode="auto">
              <a:xfrm>
                <a:off x="580294" y="4756661"/>
                <a:ext cx="18689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ea typeface="微软雅黑" panose="020B0503020204020204" pitchFamily="34" charset="-122"/>
                        </a:rPr>
                        <m:t>𝑃</m:t>
                      </m:r>
                      <m:r>
                        <a:rPr lang="en-US" altLang="zh-CN" sz="2400" i="1" dirty="0" smtClean="0">
                          <a:latin typeface="Cambria Math" panose="02040503050406030204" pitchFamily="18" charset="0"/>
                          <a:ea typeface="微软雅黑" panose="020B0503020204020204" pitchFamily="34" charset="-122"/>
                        </a:rPr>
                        <m:t>(</m:t>
                      </m:r>
                      <m:r>
                        <a:rPr lang="en-US" altLang="zh-CN" sz="2400" i="1" dirty="0" smtClean="0">
                          <a:latin typeface="Cambria Math" panose="02040503050406030204" pitchFamily="18" charset="0"/>
                          <a:ea typeface="微软雅黑" panose="020B0503020204020204" pitchFamily="34" charset="-122"/>
                        </a:rPr>
                        <m:t>𝑓</m:t>
                      </m:r>
                      <m:r>
                        <a:rPr lang="en-US" altLang="zh-CN" sz="2400" i="1" dirty="0" smtClean="0">
                          <a:latin typeface="Cambria Math" panose="02040503050406030204" pitchFamily="18" charset="0"/>
                          <a:ea typeface="微软雅黑" panose="020B0503020204020204" pitchFamily="34" charset="-122"/>
                        </a:rPr>
                        <m:t>(</m:t>
                      </m:r>
                      <m:r>
                        <a:rPr lang="en-US" altLang="zh-CN" sz="2400" i="1" dirty="0" smtClean="0">
                          <a:latin typeface="Cambria Math" panose="02040503050406030204" pitchFamily="18" charset="0"/>
                          <a:ea typeface="微软雅黑" panose="020B0503020204020204" pitchFamily="34" charset="-122"/>
                        </a:rPr>
                        <m:t>𝑥</m:t>
                      </m:r>
                      <m:r>
                        <a:rPr lang="en-US" altLang="zh-CN" sz="2400" i="1" dirty="0" smtClean="0">
                          <a:latin typeface="Cambria Math" panose="02040503050406030204" pitchFamily="18" charset="0"/>
                          <a:ea typeface="微软雅黑" panose="020B0503020204020204" pitchFamily="34" charset="-122"/>
                        </a:rPr>
                        <m:t>),</m:t>
                      </m:r>
                      <m:r>
                        <a:rPr lang="en-US" altLang="zh-CN" sz="2400" i="1" dirty="0" err="1">
                          <a:latin typeface="Cambria Math" panose="02040503050406030204" pitchFamily="18" charset="0"/>
                          <a:ea typeface="微软雅黑" panose="020B0503020204020204" pitchFamily="34" charset="-122"/>
                        </a:rPr>
                        <m:t>𝑧</m:t>
                      </m:r>
                      <m:r>
                        <a:rPr lang="en-US" altLang="zh-CN" sz="2400" i="1" dirty="0" err="1">
                          <a:latin typeface="Cambria Math" panose="02040503050406030204" pitchFamily="18" charset="0"/>
                          <a:ea typeface="微软雅黑" panose="020B0503020204020204" pitchFamily="34" charset="-122"/>
                        </a:rPr>
                        <m:t>,</m:t>
                      </m:r>
                      <m:r>
                        <a:rPr lang="en-US" altLang="zh-CN" sz="2400" i="1" dirty="0" err="1">
                          <a:latin typeface="Cambria Math" panose="02040503050406030204" pitchFamily="18" charset="0"/>
                          <a:ea typeface="微软雅黑" panose="020B0503020204020204" pitchFamily="34" charset="-122"/>
                        </a:rPr>
                        <m:t>𝑧</m:t>
                      </m:r>
                      <m:r>
                        <a:rPr lang="en-US" altLang="zh-CN" sz="2400" i="1" dirty="0">
                          <a:latin typeface="Cambria Math" panose="02040503050406030204" pitchFamily="18" charset="0"/>
                          <a:ea typeface="微软雅黑" panose="020B0503020204020204" pitchFamily="34" charset="-122"/>
                        </a:rPr>
                        <m:t>)</m:t>
                      </m:r>
                    </m:oMath>
                  </m:oMathPara>
                </a14:m>
                <a:endParaRPr lang="en-GB" altLang="zh-CN" sz="2400" dirty="0">
                  <a:ea typeface="微软雅黑" panose="020B0503020204020204" pitchFamily="34" charset="-122"/>
                </a:endParaRPr>
              </a:p>
            </p:txBody>
          </p:sp>
        </mc:Choice>
        <mc:Fallback>
          <p:sp>
            <p:nvSpPr>
              <p:cNvPr id="29710" name="Text Box 14"/>
              <p:cNvSpPr txBox="1">
                <a:spLocks noRot="1" noChangeAspect="1" noMove="1" noResize="1" noEditPoints="1" noAdjustHandles="1" noChangeArrowheads="1" noChangeShapeType="1" noTextEdit="1"/>
              </p:cNvSpPr>
              <p:nvPr/>
            </p:nvSpPr>
            <p:spPr bwMode="auto">
              <a:xfrm>
                <a:off x="580294" y="4756661"/>
                <a:ext cx="1868910" cy="461665"/>
              </a:xfrm>
              <a:prstGeom prst="rect">
                <a:avLst/>
              </a:prstGeom>
              <a:blipFill rotWithShape="1">
                <a:blip r:embed="rId8"/>
                <a:stretch>
                  <a:fillRect l="-29" t="-111" b="11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711" name="Text Box 15"/>
              <p:cNvSpPr txBox="1">
                <a:spLocks noChangeArrowheads="1"/>
              </p:cNvSpPr>
              <p:nvPr/>
            </p:nvSpPr>
            <p:spPr bwMode="auto">
              <a:xfrm>
                <a:off x="3980784" y="3720940"/>
                <a:ext cx="90338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ea typeface="微软雅黑" panose="020B0503020204020204" pitchFamily="34" charset="-122"/>
                        </a:rPr>
                        <m:t>𝑃</m:t>
                      </m:r>
                      <m:r>
                        <a:rPr lang="en-US" altLang="zh-CN" sz="2400" i="1" dirty="0" smtClean="0">
                          <a:latin typeface="Cambria Math" panose="02040503050406030204" pitchFamily="18" charset="0"/>
                          <a:ea typeface="微软雅黑" panose="020B0503020204020204" pitchFamily="34" charset="-122"/>
                        </a:rPr>
                        <m:t>(</m:t>
                      </m:r>
                      <m:r>
                        <a:rPr lang="en-US" altLang="zh-CN" sz="2400" i="1" dirty="0" smtClean="0">
                          <a:latin typeface="Cambria Math" panose="02040503050406030204" pitchFamily="18" charset="0"/>
                          <a:ea typeface="微软雅黑" panose="020B0503020204020204" pitchFamily="34" charset="-122"/>
                        </a:rPr>
                        <m:t>𝑎</m:t>
                      </m:r>
                      <m:r>
                        <a:rPr lang="en-US" altLang="zh-CN" sz="2400" i="1" dirty="0" smtClean="0">
                          <a:latin typeface="Cambria Math" panose="02040503050406030204" pitchFamily="18" charset="0"/>
                          <a:ea typeface="微软雅黑" panose="020B0503020204020204" pitchFamily="34" charset="-122"/>
                        </a:rPr>
                        <m:t>)</m:t>
                      </m:r>
                    </m:oMath>
                  </m:oMathPara>
                </a14:m>
                <a:endParaRPr lang="en-GB" altLang="zh-CN" sz="2400" dirty="0">
                  <a:ea typeface="微软雅黑" panose="020B0503020204020204" pitchFamily="34" charset="-122"/>
                </a:endParaRPr>
              </a:p>
            </p:txBody>
          </p:sp>
        </mc:Choice>
        <mc:Fallback>
          <p:sp>
            <p:nvSpPr>
              <p:cNvPr id="29711" name="Text Box 15"/>
              <p:cNvSpPr txBox="1">
                <a:spLocks noRot="1" noChangeAspect="1" noMove="1" noResize="1" noEditPoints="1" noAdjustHandles="1" noChangeArrowheads="1" noChangeShapeType="1" noTextEdit="1"/>
              </p:cNvSpPr>
              <p:nvPr/>
            </p:nvSpPr>
            <p:spPr bwMode="auto">
              <a:xfrm>
                <a:off x="3980784" y="3720940"/>
                <a:ext cx="903389" cy="461665"/>
              </a:xfrm>
              <a:prstGeom prst="rect">
                <a:avLst/>
              </a:prstGeom>
              <a:blipFill rotWithShape="1">
                <a:blip r:embed="rId9"/>
                <a:stretch>
                  <a:fillRect l="-67" t="-103" r="43" b="10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712" name="Text Box 16"/>
              <p:cNvSpPr txBox="1">
                <a:spLocks noChangeArrowheads="1"/>
              </p:cNvSpPr>
              <p:nvPr/>
            </p:nvSpPr>
            <p:spPr bwMode="auto">
              <a:xfrm>
                <a:off x="3254912" y="4242103"/>
                <a:ext cx="23551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ea typeface="微软雅黑" panose="020B0503020204020204" pitchFamily="34" charset="-122"/>
                        </a:rPr>
                        <m:t>𝑃</m:t>
                      </m:r>
                      <m:r>
                        <a:rPr lang="en-US" altLang="zh-CN" sz="2400" i="1" dirty="0" smtClean="0">
                          <a:latin typeface="Cambria Math" panose="02040503050406030204" pitchFamily="18" charset="0"/>
                          <a:ea typeface="微软雅黑" panose="020B0503020204020204" pitchFamily="34" charset="-122"/>
                        </a:rPr>
                        <m:t>(</m:t>
                      </m:r>
                      <m:r>
                        <a:rPr lang="en-US" altLang="zh-CN" sz="2400" i="1" dirty="0" smtClean="0">
                          <a:latin typeface="Cambria Math" panose="02040503050406030204" pitchFamily="18" charset="0"/>
                          <a:ea typeface="微软雅黑" panose="020B0503020204020204" pitchFamily="34" charset="-122"/>
                        </a:rPr>
                        <m:t>𝑓</m:t>
                      </m:r>
                      <m:r>
                        <a:rPr lang="en-US" altLang="zh-CN" sz="2400" i="1" dirty="0" smtClean="0">
                          <a:latin typeface="Cambria Math" panose="02040503050406030204" pitchFamily="18" charset="0"/>
                          <a:ea typeface="微软雅黑" panose="020B0503020204020204" pitchFamily="34" charset="-122"/>
                        </a:rPr>
                        <m:t>(</m:t>
                      </m:r>
                      <m:r>
                        <a:rPr lang="en-US" altLang="zh-CN" sz="2400" i="1" dirty="0" smtClean="0">
                          <a:latin typeface="Cambria Math" panose="02040503050406030204" pitchFamily="18" charset="0"/>
                          <a:ea typeface="微软雅黑" panose="020B0503020204020204" pitchFamily="34" charset="-122"/>
                        </a:rPr>
                        <m:t>𝑥</m:t>
                      </m:r>
                      <m:r>
                        <a:rPr lang="en-US" altLang="zh-CN" sz="2400" i="1" dirty="0" smtClean="0">
                          <a:latin typeface="Cambria Math" panose="02040503050406030204" pitchFamily="18" charset="0"/>
                          <a:ea typeface="微软雅黑" panose="020B0503020204020204" pitchFamily="34" charset="-122"/>
                        </a:rPr>
                        <m:t>),</m:t>
                      </m:r>
                      <m:r>
                        <a:rPr lang="en-US" altLang="zh-CN" sz="2400" i="1" dirty="0" err="1">
                          <a:latin typeface="Cambria Math" panose="02040503050406030204" pitchFamily="18" charset="0"/>
                          <a:ea typeface="微软雅黑" panose="020B0503020204020204" pitchFamily="34" charset="-122"/>
                        </a:rPr>
                        <m:t>𝑥</m:t>
                      </m:r>
                      <m:r>
                        <a:rPr lang="en-US" altLang="zh-CN" sz="2400" i="1" dirty="0" err="1">
                          <a:latin typeface="Cambria Math" panose="02040503050406030204" pitchFamily="18" charset="0"/>
                          <a:ea typeface="微软雅黑" panose="020B0503020204020204" pitchFamily="34" charset="-122"/>
                        </a:rPr>
                        <m:t>,</m:t>
                      </m:r>
                      <m:r>
                        <a:rPr lang="en-US" altLang="zh-CN" sz="2400" i="1" dirty="0" err="1">
                          <a:latin typeface="Cambria Math" panose="02040503050406030204" pitchFamily="18" charset="0"/>
                          <a:ea typeface="微软雅黑" panose="020B0503020204020204" pitchFamily="34" charset="-122"/>
                        </a:rPr>
                        <m:t>𝑔</m:t>
                      </m:r>
                      <m:r>
                        <a:rPr lang="en-US" altLang="zh-CN" sz="2400" i="1" dirty="0">
                          <a:latin typeface="Cambria Math" panose="02040503050406030204" pitchFamily="18" charset="0"/>
                          <a:ea typeface="微软雅黑" panose="020B0503020204020204" pitchFamily="34" charset="-122"/>
                        </a:rPr>
                        <m:t>(</m:t>
                      </m:r>
                      <m:r>
                        <a:rPr lang="en-US" altLang="zh-CN" sz="2400" i="1" dirty="0">
                          <a:latin typeface="Cambria Math" panose="02040503050406030204" pitchFamily="18" charset="0"/>
                          <a:ea typeface="微软雅黑" panose="020B0503020204020204" pitchFamily="34" charset="-122"/>
                        </a:rPr>
                        <m:t>𝑥</m:t>
                      </m:r>
                      <m:r>
                        <a:rPr lang="en-US" altLang="zh-CN" sz="2400" i="1" dirty="0">
                          <a:latin typeface="Cambria Math" panose="02040503050406030204" pitchFamily="18" charset="0"/>
                          <a:ea typeface="微软雅黑" panose="020B0503020204020204" pitchFamily="34" charset="-122"/>
                        </a:rPr>
                        <m:t>))</m:t>
                      </m:r>
                    </m:oMath>
                  </m:oMathPara>
                </a14:m>
                <a:endParaRPr lang="en-GB" altLang="zh-CN" sz="2400" dirty="0">
                  <a:ea typeface="微软雅黑" panose="020B0503020204020204" pitchFamily="34" charset="-122"/>
                </a:endParaRPr>
              </a:p>
            </p:txBody>
          </p:sp>
        </mc:Choice>
        <mc:Fallback>
          <p:sp>
            <p:nvSpPr>
              <p:cNvPr id="29712" name="Text Box 16"/>
              <p:cNvSpPr txBox="1">
                <a:spLocks noRot="1" noChangeAspect="1" noMove="1" noResize="1" noEditPoints="1" noAdjustHandles="1" noChangeArrowheads="1" noChangeShapeType="1" noTextEdit="1"/>
              </p:cNvSpPr>
              <p:nvPr/>
            </p:nvSpPr>
            <p:spPr bwMode="auto">
              <a:xfrm>
                <a:off x="3254912" y="4242103"/>
                <a:ext cx="2355132" cy="461665"/>
              </a:xfrm>
              <a:prstGeom prst="rect">
                <a:avLst/>
              </a:prstGeom>
              <a:blipFill rotWithShape="1">
                <a:blip r:embed="rId10"/>
                <a:stretch>
                  <a:fillRect l="-23" t="-66" r="19" b="7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713" name="Text Box 17"/>
              <p:cNvSpPr txBox="1">
                <a:spLocks noChangeArrowheads="1"/>
              </p:cNvSpPr>
              <p:nvPr/>
            </p:nvSpPr>
            <p:spPr bwMode="auto">
              <a:xfrm>
                <a:off x="2699792" y="4756661"/>
                <a:ext cx="32493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ea typeface="微软雅黑" panose="020B0503020204020204" pitchFamily="34" charset="-122"/>
                        </a:rPr>
                        <m:t>𝑃</m:t>
                      </m:r>
                      <m:r>
                        <a:rPr lang="en-US" altLang="zh-CN" sz="2400" i="1" dirty="0" smtClean="0">
                          <a:latin typeface="Cambria Math" panose="02040503050406030204" pitchFamily="18" charset="0"/>
                          <a:ea typeface="微软雅黑" panose="020B0503020204020204" pitchFamily="34" charset="-122"/>
                        </a:rPr>
                        <m:t>(</m:t>
                      </m:r>
                      <m:r>
                        <a:rPr lang="en-US" altLang="zh-CN" sz="2400" i="1" dirty="0" smtClean="0">
                          <a:latin typeface="Cambria Math" panose="02040503050406030204" pitchFamily="18" charset="0"/>
                          <a:ea typeface="微软雅黑" panose="020B0503020204020204" pitchFamily="34" charset="-122"/>
                        </a:rPr>
                        <m:t>𝑓</m:t>
                      </m:r>
                      <m:r>
                        <a:rPr lang="en-US" altLang="zh-CN" sz="2400" i="1" dirty="0" smtClean="0">
                          <a:latin typeface="Cambria Math" panose="02040503050406030204" pitchFamily="18" charset="0"/>
                          <a:ea typeface="微软雅黑" panose="020B0503020204020204" pitchFamily="34" charset="-122"/>
                        </a:rPr>
                        <m:t>(</m:t>
                      </m:r>
                      <m:r>
                        <a:rPr lang="en-US" altLang="zh-CN" sz="2400" i="1" dirty="0" smtClean="0">
                          <a:latin typeface="Cambria Math" panose="02040503050406030204" pitchFamily="18" charset="0"/>
                          <a:ea typeface="微软雅黑" panose="020B0503020204020204" pitchFamily="34" charset="-122"/>
                        </a:rPr>
                        <m:t>𝑥</m:t>
                      </m:r>
                      <m:r>
                        <a:rPr lang="en-US" altLang="zh-CN" sz="2400" i="1" dirty="0" smtClean="0">
                          <a:latin typeface="Cambria Math" panose="02040503050406030204" pitchFamily="18" charset="0"/>
                          <a:ea typeface="微软雅黑" panose="020B0503020204020204" pitchFamily="34" charset="-122"/>
                        </a:rPr>
                        <m:t>),</m:t>
                      </m:r>
                      <m:r>
                        <a:rPr lang="en-US" altLang="zh-CN" sz="2400" i="1" dirty="0" smtClean="0">
                          <a:latin typeface="Cambria Math" panose="02040503050406030204" pitchFamily="18" charset="0"/>
                          <a:ea typeface="微软雅黑" panose="020B0503020204020204" pitchFamily="34" charset="-122"/>
                        </a:rPr>
                        <m:t>𝑔</m:t>
                      </m:r>
                      <m:r>
                        <a:rPr lang="en-US" altLang="zh-CN" sz="2400" i="1" dirty="0" smtClean="0">
                          <a:latin typeface="Cambria Math" panose="02040503050406030204" pitchFamily="18" charset="0"/>
                          <a:ea typeface="微软雅黑" panose="020B0503020204020204" pitchFamily="34" charset="-122"/>
                        </a:rPr>
                        <m:t>(</m:t>
                      </m:r>
                      <m:r>
                        <a:rPr lang="en-US" altLang="zh-CN" sz="2400" i="1" dirty="0" err="1">
                          <a:latin typeface="Cambria Math" panose="02040503050406030204" pitchFamily="18" charset="0"/>
                          <a:ea typeface="微软雅黑" panose="020B0503020204020204" pitchFamily="34" charset="-122"/>
                        </a:rPr>
                        <m:t>𝑎</m:t>
                      </m:r>
                      <m:r>
                        <a:rPr lang="en-US" altLang="zh-CN" sz="2400" i="1" dirty="0" err="1">
                          <a:latin typeface="Cambria Math" panose="02040503050406030204" pitchFamily="18" charset="0"/>
                          <a:ea typeface="微软雅黑" panose="020B0503020204020204" pitchFamily="34" charset="-122"/>
                        </a:rPr>
                        <m:t>,</m:t>
                      </m:r>
                      <m:r>
                        <a:rPr lang="en-US" altLang="zh-CN" sz="2400" i="1" dirty="0" err="1">
                          <a:latin typeface="Cambria Math" panose="02040503050406030204" pitchFamily="18" charset="0"/>
                          <a:ea typeface="微软雅黑" panose="020B0503020204020204" pitchFamily="34" charset="-122"/>
                        </a:rPr>
                        <m:t>𝑦</m:t>
                      </m:r>
                      <m:r>
                        <a:rPr lang="en-US" altLang="zh-CN" sz="2400" i="1" dirty="0">
                          <a:latin typeface="Cambria Math" panose="02040503050406030204" pitchFamily="18" charset="0"/>
                          <a:ea typeface="微软雅黑" panose="020B0503020204020204" pitchFamily="34" charset="-122"/>
                        </a:rPr>
                        <m:t>),</m:t>
                      </m:r>
                      <m:r>
                        <a:rPr lang="en-US" altLang="zh-CN" sz="2400" i="1" dirty="0">
                          <a:latin typeface="Cambria Math" panose="02040503050406030204" pitchFamily="18" charset="0"/>
                          <a:ea typeface="微软雅黑" panose="020B0503020204020204" pitchFamily="34" charset="-122"/>
                        </a:rPr>
                        <m:t>𝑔</m:t>
                      </m:r>
                      <m:r>
                        <a:rPr lang="en-US" altLang="zh-CN" sz="2400" i="1" dirty="0">
                          <a:latin typeface="Cambria Math" panose="02040503050406030204" pitchFamily="18" charset="0"/>
                          <a:ea typeface="微软雅黑" panose="020B0503020204020204" pitchFamily="34" charset="-122"/>
                        </a:rPr>
                        <m:t>(</m:t>
                      </m:r>
                      <m:r>
                        <a:rPr lang="en-US" altLang="zh-CN" sz="2400" i="1" dirty="0" err="1">
                          <a:latin typeface="Cambria Math" panose="02040503050406030204" pitchFamily="18" charset="0"/>
                          <a:ea typeface="微软雅黑" panose="020B0503020204020204" pitchFamily="34" charset="-122"/>
                        </a:rPr>
                        <m:t>𝑎</m:t>
                      </m:r>
                      <m:r>
                        <a:rPr lang="en-US" altLang="zh-CN" sz="2400" i="1" dirty="0" err="1">
                          <a:latin typeface="Cambria Math" panose="02040503050406030204" pitchFamily="18" charset="0"/>
                          <a:ea typeface="微软雅黑" panose="020B0503020204020204" pitchFamily="34" charset="-122"/>
                        </a:rPr>
                        <m:t>,</m:t>
                      </m:r>
                      <m:r>
                        <a:rPr lang="en-US" altLang="zh-CN" sz="2400" i="1" dirty="0" err="1">
                          <a:latin typeface="Cambria Math" panose="02040503050406030204" pitchFamily="18" charset="0"/>
                          <a:ea typeface="微软雅黑" panose="020B0503020204020204" pitchFamily="34" charset="-122"/>
                        </a:rPr>
                        <m:t>𝑦</m:t>
                      </m:r>
                      <m:r>
                        <a:rPr lang="en-US" altLang="zh-CN" sz="2400" i="1" dirty="0">
                          <a:latin typeface="Cambria Math" panose="02040503050406030204" pitchFamily="18" charset="0"/>
                          <a:ea typeface="微软雅黑" panose="020B0503020204020204" pitchFamily="34" charset="-122"/>
                        </a:rPr>
                        <m:t>)) </m:t>
                      </m:r>
                    </m:oMath>
                  </m:oMathPara>
                </a14:m>
                <a:endParaRPr lang="en-GB" altLang="zh-CN" sz="2400" dirty="0">
                  <a:ea typeface="微软雅黑" panose="020B0503020204020204" pitchFamily="34" charset="-122"/>
                </a:endParaRPr>
              </a:p>
            </p:txBody>
          </p:sp>
        </mc:Choice>
        <mc:Fallback>
          <p:sp>
            <p:nvSpPr>
              <p:cNvPr id="29713" name="Text Box 17"/>
              <p:cNvSpPr txBox="1">
                <a:spLocks noRot="1" noChangeAspect="1" noMove="1" noResize="1" noEditPoints="1" noAdjustHandles="1" noChangeArrowheads="1" noChangeShapeType="1" noTextEdit="1"/>
              </p:cNvSpPr>
              <p:nvPr/>
            </p:nvSpPr>
            <p:spPr bwMode="auto">
              <a:xfrm>
                <a:off x="2699792" y="4756661"/>
                <a:ext cx="3249348" cy="461665"/>
              </a:xfrm>
              <a:prstGeom prst="rect">
                <a:avLst/>
              </a:prstGeom>
              <a:blipFill rotWithShape="1">
                <a:blip r:embed="rId11"/>
                <a:stretch>
                  <a:fillRect l="-13" t="-111" r="14" b="11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Rectangle 20"/>
              <p:cNvSpPr>
                <a:spLocks noChangeArrowheads="1"/>
              </p:cNvSpPr>
              <p:nvPr/>
            </p:nvSpPr>
            <p:spPr bwMode="auto">
              <a:xfrm>
                <a:off x="6027245" y="5287357"/>
                <a:ext cx="27932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14:m>
                  <m:oMathPara xmlns:m="http://schemas.openxmlformats.org/officeDocument/2006/math">
                    <m:oMathParaPr>
                      <m:jc m:val="centerGroup"/>
                    </m:oMathParaPr>
                    <m:oMath xmlns:m="http://schemas.openxmlformats.org/officeDocument/2006/math">
                      <m:r>
                        <a:rPr lang="en-US" altLang="zh-CN" sz="2400" b="1" i="1" dirty="0" smtClean="0">
                          <a:solidFill>
                            <a:srgbClr val="C00000"/>
                          </a:solidFill>
                          <a:latin typeface="Cambria Math" panose="02040503050406030204" pitchFamily="18" charset="0"/>
                        </a:rPr>
                        <m:t>{</m:t>
                      </m:r>
                      <m:r>
                        <a:rPr lang="en-US" altLang="zh-CN" sz="2400" b="1" i="1" dirty="0" smtClean="0">
                          <a:solidFill>
                            <a:srgbClr val="C00000"/>
                          </a:solidFill>
                          <a:latin typeface="Cambria Math" panose="02040503050406030204" pitchFamily="18" charset="0"/>
                        </a:rPr>
                        <m:t>𝒙</m:t>
                      </m:r>
                      <m:r>
                        <a:rPr lang="en-US" altLang="zh-CN" sz="2400" b="1" i="1" dirty="0" smtClean="0">
                          <a:solidFill>
                            <a:srgbClr val="C00000"/>
                          </a:solidFill>
                          <a:latin typeface="Cambria Math" panose="02040503050406030204" pitchFamily="18" charset="0"/>
                        </a:rPr>
                        <m:t>/</m:t>
                      </m:r>
                      <m:r>
                        <a:rPr lang="en-US" altLang="zh-CN" sz="2400" b="1" i="1" dirty="0" smtClean="0">
                          <a:solidFill>
                            <a:srgbClr val="C00000"/>
                          </a:solidFill>
                          <a:latin typeface="Cambria Math" panose="02040503050406030204" pitchFamily="18" charset="0"/>
                        </a:rPr>
                        <m:t>𝒇</m:t>
                      </m:r>
                      <m:r>
                        <a:rPr lang="en-US" altLang="zh-CN" sz="2400" b="1" i="1" dirty="0" smtClean="0">
                          <a:solidFill>
                            <a:srgbClr val="C00000"/>
                          </a:solidFill>
                          <a:latin typeface="Cambria Math" panose="02040503050406030204" pitchFamily="18" charset="0"/>
                        </a:rPr>
                        <m:t>(</m:t>
                      </m:r>
                      <m:r>
                        <a:rPr lang="en-US" altLang="zh-CN" sz="2400" b="1" i="1" dirty="0" smtClean="0">
                          <a:solidFill>
                            <a:srgbClr val="C00000"/>
                          </a:solidFill>
                          <a:latin typeface="Cambria Math" panose="02040503050406030204" pitchFamily="18" charset="0"/>
                        </a:rPr>
                        <m:t>𝒘</m:t>
                      </m:r>
                      <m:r>
                        <a:rPr lang="en-US" altLang="zh-CN" sz="2400" b="1" i="1" dirty="0" smtClean="0">
                          <a:solidFill>
                            <a:srgbClr val="C00000"/>
                          </a:solidFill>
                          <a:latin typeface="Cambria Math" panose="02040503050406030204" pitchFamily="18" charset="0"/>
                        </a:rPr>
                        <m:t>), </m:t>
                      </m:r>
                      <m:r>
                        <a:rPr lang="en-US" altLang="zh-CN" sz="2400" b="1" i="1" dirty="0" smtClean="0">
                          <a:solidFill>
                            <a:srgbClr val="C00000"/>
                          </a:solidFill>
                          <a:latin typeface="Cambria Math" panose="02040503050406030204" pitchFamily="18" charset="0"/>
                        </a:rPr>
                        <m:t>𝒚</m:t>
                      </m:r>
                      <m:r>
                        <a:rPr lang="en-US" altLang="zh-CN" sz="2400" b="1" i="1" dirty="0" smtClean="0">
                          <a:solidFill>
                            <a:srgbClr val="C00000"/>
                          </a:solidFill>
                          <a:latin typeface="Cambria Math" panose="02040503050406030204" pitchFamily="18" charset="0"/>
                        </a:rPr>
                        <m:t>/</m:t>
                      </m:r>
                      <m:r>
                        <a:rPr lang="en-US" altLang="zh-CN" sz="2400" b="1" i="1" dirty="0" smtClean="0">
                          <a:solidFill>
                            <a:srgbClr val="C00000"/>
                          </a:solidFill>
                          <a:latin typeface="Cambria Math" panose="02040503050406030204" pitchFamily="18" charset="0"/>
                        </a:rPr>
                        <m:t>𝒈</m:t>
                      </m:r>
                      <m:r>
                        <a:rPr lang="en-US" altLang="zh-CN" sz="2400" b="1" i="1" dirty="0" smtClean="0">
                          <a:solidFill>
                            <a:srgbClr val="C00000"/>
                          </a:solidFill>
                          <a:latin typeface="Cambria Math" panose="02040503050406030204" pitchFamily="18" charset="0"/>
                        </a:rPr>
                        <m:t>(</m:t>
                      </m:r>
                      <m:r>
                        <a:rPr lang="en-US" altLang="zh-CN" sz="2400" b="1" i="1" dirty="0" err="1" smtClean="0">
                          <a:solidFill>
                            <a:srgbClr val="C00000"/>
                          </a:solidFill>
                          <a:latin typeface="Cambria Math" panose="02040503050406030204" pitchFamily="18" charset="0"/>
                        </a:rPr>
                        <m:t>𝒂</m:t>
                      </m:r>
                      <m:r>
                        <a:rPr lang="en-US" altLang="zh-CN" sz="2400" b="1" i="1" dirty="0" err="1" smtClean="0">
                          <a:solidFill>
                            <a:srgbClr val="C00000"/>
                          </a:solidFill>
                          <a:latin typeface="Cambria Math" panose="02040503050406030204" pitchFamily="18" charset="0"/>
                        </a:rPr>
                        <m:t>,</m:t>
                      </m:r>
                      <m:r>
                        <a:rPr lang="en-US" altLang="zh-CN" sz="2400" b="1" i="1" dirty="0" smtClean="0">
                          <a:solidFill>
                            <a:srgbClr val="C00000"/>
                          </a:solidFill>
                          <a:latin typeface="Cambria Math" panose="02040503050406030204" pitchFamily="18" charset="0"/>
                        </a:rPr>
                        <m:t>𝒛</m:t>
                      </m:r>
                      <m:r>
                        <a:rPr lang="en-US" altLang="zh-CN" sz="2400" b="1" i="1" dirty="0">
                          <a:solidFill>
                            <a:srgbClr val="C00000"/>
                          </a:solidFill>
                          <a:latin typeface="Cambria Math" panose="02040503050406030204" pitchFamily="18" charset="0"/>
                        </a:rPr>
                        <m:t>)}</m:t>
                      </m:r>
                    </m:oMath>
                  </m:oMathPara>
                </a14:m>
                <a:endParaRPr lang="en-US" altLang="zh-CN" sz="2400" b="1" dirty="0">
                  <a:solidFill>
                    <a:srgbClr val="C00000"/>
                  </a:solidFill>
                  <a:latin typeface="Comic Sans MS" panose="030F0702030302020204" pitchFamily="66" charset="0"/>
                </a:endParaRPr>
              </a:p>
            </p:txBody>
          </p:sp>
        </mc:Choice>
        <mc:Fallback>
          <p:sp>
            <p:nvSpPr>
              <p:cNvPr id="22" name="Rectangle 20"/>
              <p:cNvSpPr>
                <a:spLocks noRot="1" noChangeAspect="1" noMove="1" noResize="1" noEditPoints="1" noAdjustHandles="1" noChangeArrowheads="1" noChangeShapeType="1" noTextEdit="1"/>
              </p:cNvSpPr>
              <p:nvPr/>
            </p:nvSpPr>
            <p:spPr bwMode="auto">
              <a:xfrm>
                <a:off x="6027245" y="5287357"/>
                <a:ext cx="2793227" cy="461665"/>
              </a:xfrm>
              <a:prstGeom prst="rect">
                <a:avLst/>
              </a:prstGeom>
              <a:blipFill rotWithShape="1">
                <a:blip r:embed="rId12"/>
                <a:stretch>
                  <a:fillRect l="-16" t="-75" r="12" b="-6828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Text Box 14"/>
              <p:cNvSpPr txBox="1">
                <a:spLocks noChangeArrowheads="1"/>
              </p:cNvSpPr>
              <p:nvPr/>
            </p:nvSpPr>
            <p:spPr bwMode="auto">
              <a:xfrm>
                <a:off x="576793" y="5287357"/>
                <a:ext cx="168706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ea typeface="微软雅黑" panose="020B0503020204020204" pitchFamily="34" charset="-122"/>
                        </a:rPr>
                        <m:t>𝑃</m:t>
                      </m:r>
                      <m:r>
                        <a:rPr lang="en-US" altLang="zh-CN" sz="2400" i="1" dirty="0" smtClean="0">
                          <a:latin typeface="Cambria Math" panose="02040503050406030204" pitchFamily="18" charset="0"/>
                          <a:ea typeface="微软雅黑" panose="020B0503020204020204" pitchFamily="34" charset="-122"/>
                        </a:rPr>
                        <m:t>(</m:t>
                      </m:r>
                      <m:r>
                        <a:rPr lang="en-US" altLang="zh-CN" sz="2400" b="0" i="1" dirty="0" smtClean="0">
                          <a:latin typeface="Cambria Math" panose="02040503050406030204" pitchFamily="18" charset="0"/>
                          <a:ea typeface="微软雅黑" panose="020B0503020204020204" pitchFamily="34" charset="-122"/>
                        </a:rPr>
                        <m:t>𝑓</m:t>
                      </m:r>
                      <m:r>
                        <a:rPr lang="en-US" altLang="zh-CN" sz="2400" b="0" i="1" dirty="0" smtClean="0">
                          <a:latin typeface="Cambria Math" panose="02040503050406030204" pitchFamily="18" charset="0"/>
                          <a:ea typeface="微软雅黑" panose="020B0503020204020204" pitchFamily="34" charset="-122"/>
                        </a:rPr>
                        <m:t>(</m:t>
                      </m:r>
                      <m:r>
                        <a:rPr lang="en-US" altLang="zh-CN" sz="2400" b="0" i="1" dirty="0" smtClean="0">
                          <a:latin typeface="Cambria Math" panose="02040503050406030204" pitchFamily="18" charset="0"/>
                          <a:ea typeface="微软雅黑" panose="020B0503020204020204" pitchFamily="34" charset="-122"/>
                        </a:rPr>
                        <m:t>𝑤</m:t>
                      </m:r>
                      <m:r>
                        <a:rPr lang="en-US" altLang="zh-CN" sz="2400" b="0" i="1" dirty="0" smtClean="0">
                          <a:latin typeface="Cambria Math" panose="02040503050406030204" pitchFamily="18" charset="0"/>
                          <a:ea typeface="微软雅黑" panose="020B0503020204020204" pitchFamily="34" charset="-122"/>
                        </a:rPr>
                        <m:t>),</m:t>
                      </m:r>
                      <m:r>
                        <a:rPr lang="en-US" altLang="zh-CN" sz="2400" b="0" i="1" dirty="0" smtClean="0">
                          <a:latin typeface="Cambria Math" panose="02040503050406030204" pitchFamily="18" charset="0"/>
                          <a:ea typeface="微软雅黑" panose="020B0503020204020204" pitchFamily="34" charset="-122"/>
                        </a:rPr>
                        <m:t>𝑦</m:t>
                      </m:r>
                      <m:r>
                        <a:rPr lang="en-US" altLang="zh-CN" sz="2400" i="1" dirty="0">
                          <a:latin typeface="Cambria Math" panose="02040503050406030204" pitchFamily="18" charset="0"/>
                          <a:ea typeface="微软雅黑" panose="020B0503020204020204" pitchFamily="34" charset="-122"/>
                        </a:rPr>
                        <m:t>)</m:t>
                      </m:r>
                    </m:oMath>
                  </m:oMathPara>
                </a14:m>
                <a:endParaRPr lang="en-GB" altLang="zh-CN" sz="2400" dirty="0">
                  <a:ea typeface="微软雅黑" panose="020B0503020204020204" pitchFamily="34" charset="-122"/>
                </a:endParaRPr>
              </a:p>
            </p:txBody>
          </p:sp>
        </mc:Choice>
        <mc:Fallback>
          <p:sp>
            <p:nvSpPr>
              <p:cNvPr id="23" name="Text Box 14"/>
              <p:cNvSpPr txBox="1">
                <a:spLocks noRot="1" noChangeAspect="1" noMove="1" noResize="1" noEditPoints="1" noAdjustHandles="1" noChangeArrowheads="1" noChangeShapeType="1" noTextEdit="1"/>
              </p:cNvSpPr>
              <p:nvPr/>
            </p:nvSpPr>
            <p:spPr bwMode="auto">
              <a:xfrm>
                <a:off x="576793" y="5287357"/>
                <a:ext cx="1687065" cy="461665"/>
              </a:xfrm>
              <a:prstGeom prst="rect">
                <a:avLst/>
              </a:prstGeom>
              <a:blipFill rotWithShape="1">
                <a:blip r:embed="rId13"/>
                <a:stretch>
                  <a:fillRect l="-13" t="-75" r="5" b="7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Text Box 17"/>
              <p:cNvSpPr txBox="1">
                <a:spLocks noChangeArrowheads="1"/>
              </p:cNvSpPr>
              <p:nvPr/>
            </p:nvSpPr>
            <p:spPr bwMode="auto">
              <a:xfrm>
                <a:off x="2696291" y="5287357"/>
                <a:ext cx="32493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ea typeface="微软雅黑" panose="020B0503020204020204" pitchFamily="34" charset="-122"/>
                        </a:rPr>
                        <m:t>𝑃</m:t>
                      </m:r>
                      <m:r>
                        <a:rPr lang="en-US" altLang="zh-CN" sz="2400" i="1" dirty="0" smtClean="0">
                          <a:latin typeface="Cambria Math" panose="02040503050406030204" pitchFamily="18" charset="0"/>
                          <a:ea typeface="微软雅黑" panose="020B0503020204020204" pitchFamily="34" charset="-122"/>
                        </a:rPr>
                        <m:t>(</m:t>
                      </m:r>
                      <m:r>
                        <a:rPr lang="en-US" altLang="zh-CN" sz="2400" i="1" dirty="0" smtClean="0">
                          <a:latin typeface="Cambria Math" panose="02040503050406030204" pitchFamily="18" charset="0"/>
                          <a:ea typeface="微软雅黑" panose="020B0503020204020204" pitchFamily="34" charset="-122"/>
                        </a:rPr>
                        <m:t>𝑥</m:t>
                      </m:r>
                      <m:r>
                        <a:rPr lang="en-US" altLang="zh-CN" sz="2400" i="1" dirty="0" smtClean="0">
                          <a:latin typeface="Cambria Math" panose="02040503050406030204" pitchFamily="18" charset="0"/>
                          <a:ea typeface="微软雅黑" panose="020B0503020204020204" pitchFamily="34" charset="-122"/>
                        </a:rPr>
                        <m:t>,</m:t>
                      </m:r>
                      <m:r>
                        <a:rPr lang="en-US" altLang="zh-CN" sz="2400" i="1" dirty="0" smtClean="0">
                          <a:latin typeface="Cambria Math" panose="02040503050406030204" pitchFamily="18" charset="0"/>
                          <a:ea typeface="微软雅黑" panose="020B0503020204020204" pitchFamily="34" charset="-122"/>
                        </a:rPr>
                        <m:t>𝑔</m:t>
                      </m:r>
                      <m:r>
                        <a:rPr lang="en-US" altLang="zh-CN" sz="2400" i="1" dirty="0" smtClean="0">
                          <a:latin typeface="Cambria Math" panose="02040503050406030204" pitchFamily="18" charset="0"/>
                          <a:ea typeface="微软雅黑" panose="020B0503020204020204" pitchFamily="34" charset="-122"/>
                        </a:rPr>
                        <m:t>(</m:t>
                      </m:r>
                      <m:r>
                        <a:rPr lang="en-US" altLang="zh-CN" sz="2400" i="1" dirty="0" err="1">
                          <a:latin typeface="Cambria Math" panose="02040503050406030204" pitchFamily="18" charset="0"/>
                          <a:ea typeface="微软雅黑" panose="020B0503020204020204" pitchFamily="34" charset="-122"/>
                        </a:rPr>
                        <m:t>𝑎</m:t>
                      </m:r>
                      <m:r>
                        <a:rPr lang="en-US" altLang="zh-CN" sz="2400" i="1" dirty="0" err="1">
                          <a:latin typeface="Cambria Math" panose="02040503050406030204" pitchFamily="18" charset="0"/>
                          <a:ea typeface="微软雅黑" panose="020B0503020204020204" pitchFamily="34" charset="-122"/>
                        </a:rPr>
                        <m:t>,</m:t>
                      </m:r>
                      <m:r>
                        <a:rPr lang="en-US" altLang="zh-CN" sz="2400" b="0" i="1" dirty="0" smtClean="0">
                          <a:latin typeface="Cambria Math" panose="02040503050406030204" pitchFamily="18" charset="0"/>
                          <a:ea typeface="微软雅黑" panose="020B0503020204020204" pitchFamily="34" charset="-122"/>
                        </a:rPr>
                        <m:t>𝑧</m:t>
                      </m:r>
                      <m:r>
                        <a:rPr lang="en-US" altLang="zh-CN" sz="2400" i="1" dirty="0">
                          <a:latin typeface="Cambria Math" panose="02040503050406030204" pitchFamily="18" charset="0"/>
                          <a:ea typeface="微软雅黑" panose="020B0503020204020204" pitchFamily="34" charset="-122"/>
                        </a:rPr>
                        <m:t>)) </m:t>
                      </m:r>
                    </m:oMath>
                  </m:oMathPara>
                </a14:m>
                <a:endParaRPr lang="en-GB" altLang="zh-CN" sz="2400" dirty="0">
                  <a:ea typeface="微软雅黑" panose="020B0503020204020204" pitchFamily="34" charset="-122"/>
                </a:endParaRPr>
              </a:p>
            </p:txBody>
          </p:sp>
        </mc:Choice>
        <mc:Fallback>
          <p:sp>
            <p:nvSpPr>
              <p:cNvPr id="24" name="Text Box 17"/>
              <p:cNvSpPr txBox="1">
                <a:spLocks noRot="1" noChangeAspect="1" noMove="1" noResize="1" noEditPoints="1" noAdjustHandles="1" noChangeArrowheads="1" noChangeShapeType="1" noTextEdit="1"/>
              </p:cNvSpPr>
              <p:nvPr/>
            </p:nvSpPr>
            <p:spPr bwMode="auto">
              <a:xfrm>
                <a:off x="2696291" y="5287357"/>
                <a:ext cx="3249348" cy="461665"/>
              </a:xfrm>
              <a:prstGeom prst="rect">
                <a:avLst/>
              </a:prstGeom>
              <a:blipFill rotWithShape="1">
                <a:blip r:embed="rId14"/>
                <a:stretch>
                  <a:fillRect l="-2" t="-75" r="4" b="7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timing>
    <p:tnLst>
      <p:par>
        <p:cTn id="1" dur="indefinite" restart="never" nodeType="tmRoot"/>
      </p:par>
    </p:tnLst>
    <p:bldLst>
      <p:bldP spid="29699" grpId="0" build="p"/>
      <p:bldP spid="1397778" grpId="0"/>
      <p:bldP spid="1397779" grpId="0"/>
      <p:bldP spid="1397780" grpId="0"/>
      <p:bldP spid="29708" grpId="0" bldLvl="0" animBg="1"/>
      <p:bldP spid="29709" grpId="0" bldLvl="0" animBg="1"/>
      <p:bldP spid="29710" grpId="0" bldLvl="0" animBg="1"/>
      <p:bldP spid="29711" grpId="0" bldLvl="0" animBg="1"/>
      <p:bldP spid="29712" grpId="0" bldLvl="0" animBg="1"/>
      <p:bldP spid="29713" grpId="0" bldLvl="0" animBg="1"/>
      <p:bldP spid="22" grpId="0"/>
      <p:bldP spid="23" grpId="0" bldLvl="0" animBg="1"/>
      <p:bldP spid="24"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extLst>
            <a:ext uri="{91240B29-F687-4F45-9708-019B960494DF}">
              <a14:hiddenLine xmlns:a14="http://schemas.microsoft.com/office/drawing/2010/main" w="9525">
                <a:solidFill>
                  <a:schemeClr val="tx1"/>
                </a:solidFill>
                <a:prstDash val="solid"/>
                <a:miter lim="800000"/>
                <a:headEnd/>
                <a:tailEnd/>
              </a14:hiddenLine>
            </a:ext>
          </a:extLst>
        </p:spPr>
        <p:txBody>
          <a:bodyPr/>
          <a:lstStyle/>
          <a:p>
            <a:r>
              <a:rPr lang="zh-CN" altLang="en-US" dirty="0"/>
              <a:t>合一</a:t>
            </a:r>
            <a:r>
              <a:rPr lang="en-US" altLang="zh-CN" dirty="0"/>
              <a:t>(Unification)</a:t>
            </a:r>
            <a:endParaRPr lang="en-US" altLang="zh-CN" dirty="0"/>
          </a:p>
        </p:txBody>
      </p:sp>
      <p:sp>
        <p:nvSpPr>
          <p:cNvPr id="30723" name="Rectangle 3"/>
          <p:cNvSpPr>
            <a:spLocks noGrp="1" noChangeArrowheads="1"/>
          </p:cNvSpPr>
          <p:nvPr>
            <p:ph idx="1"/>
          </p:nvPr>
        </p:nvSpPr>
        <p:spPr/>
        <p:txBody>
          <a:bodyPr/>
          <a:lstStyle/>
          <a:p>
            <a:pPr>
              <a:lnSpc>
                <a:spcPct val="90000"/>
              </a:lnSpc>
            </a:pPr>
            <a:r>
              <a:rPr lang="zh-CN" altLang="en-US" sz="2800" dirty="0" smtClean="0">
                <a:latin typeface="+mn-ea"/>
              </a:rPr>
              <a:t>合一</a:t>
            </a:r>
            <a:r>
              <a:rPr lang="zh-CN" altLang="en-US" sz="2800" dirty="0">
                <a:latin typeface="+mn-ea"/>
              </a:rPr>
              <a:t>的</a:t>
            </a:r>
            <a:r>
              <a:rPr lang="zh-CN" altLang="en-US" sz="2800" dirty="0" smtClean="0">
                <a:latin typeface="+mn-ea"/>
              </a:rPr>
              <a:t>结果可能不唯一</a:t>
            </a:r>
            <a:endParaRPr lang="en-US" altLang="zh-CN" sz="2800" dirty="0" smtClean="0">
              <a:latin typeface="+mn-ea"/>
            </a:endParaRPr>
          </a:p>
          <a:p>
            <a:pPr>
              <a:lnSpc>
                <a:spcPct val="90000"/>
              </a:lnSpc>
            </a:pPr>
            <a:r>
              <a:rPr lang="zh-CN" altLang="en-US" sz="2800" dirty="0">
                <a:latin typeface="+mn-ea"/>
              </a:rPr>
              <a:t>最</a:t>
            </a:r>
            <a:r>
              <a:rPr lang="zh-CN" altLang="en-US" sz="2800" dirty="0" smtClean="0">
                <a:latin typeface="+mn-ea"/>
              </a:rPr>
              <a:t>一般</a:t>
            </a:r>
            <a:r>
              <a:rPr lang="zh-CN" altLang="en-US" sz="2800" dirty="0">
                <a:latin typeface="+mn-ea"/>
              </a:rPr>
              <a:t>合一</a:t>
            </a:r>
            <a:r>
              <a:rPr lang="zh-CN" altLang="en-US" sz="2800" dirty="0" smtClean="0">
                <a:solidFill>
                  <a:schemeClr val="tx1"/>
                </a:solidFill>
                <a:latin typeface="+mn-ea"/>
              </a:rPr>
              <a:t>置换</a:t>
            </a:r>
            <a:r>
              <a:rPr lang="en-US" altLang="zh-CN" sz="2800" dirty="0" smtClean="0">
                <a:solidFill>
                  <a:schemeClr val="tx1"/>
                </a:solidFill>
                <a:latin typeface="+mn-ea"/>
              </a:rPr>
              <a:t>(most </a:t>
            </a:r>
            <a:r>
              <a:rPr lang="en-US" altLang="zh-CN" sz="2800" dirty="0">
                <a:solidFill>
                  <a:schemeClr val="tx1"/>
                </a:solidFill>
                <a:latin typeface="+mn-ea"/>
              </a:rPr>
              <a:t>general unifier </a:t>
            </a:r>
            <a:r>
              <a:rPr lang="en-US" altLang="zh-CN" sz="2800" dirty="0">
                <a:latin typeface="+mn-ea"/>
              </a:rPr>
              <a:t>,</a:t>
            </a:r>
            <a:r>
              <a:rPr lang="en-US" altLang="en-US" sz="2800" dirty="0" smtClean="0">
                <a:latin typeface="+mn-ea"/>
              </a:rPr>
              <a:t>MGU</a:t>
            </a:r>
            <a:r>
              <a:rPr lang="en-US" altLang="en-US" sz="2800" dirty="0">
                <a:latin typeface="+mn-ea"/>
              </a:rPr>
              <a:t>) </a:t>
            </a:r>
            <a:endParaRPr lang="en-US" altLang="en-US" sz="2800" dirty="0" smtClean="0">
              <a:latin typeface="+mn-ea"/>
            </a:endParaRPr>
          </a:p>
          <a:p>
            <a:pPr lvl="1">
              <a:lnSpc>
                <a:spcPct val="90000"/>
              </a:lnSpc>
            </a:pPr>
            <a:r>
              <a:rPr lang="zh-CN" altLang="zh-CN" sz="2400" dirty="0"/>
              <a:t>对变量的取值</a:t>
            </a:r>
            <a:r>
              <a:rPr lang="zh-CN" altLang="zh-CN" sz="2400" dirty="0" smtClean="0"/>
              <a:t>限制</a:t>
            </a:r>
            <a:r>
              <a:rPr lang="zh-CN" altLang="en-US" sz="2400" dirty="0" smtClean="0"/>
              <a:t>最少的置换</a:t>
            </a:r>
            <a:endParaRPr lang="en-US" altLang="zh-CN" sz="2400" dirty="0" smtClean="0"/>
          </a:p>
          <a:p>
            <a:pPr lvl="1">
              <a:lnSpc>
                <a:spcPct val="90000"/>
              </a:lnSpc>
            </a:pPr>
            <a:r>
              <a:rPr lang="zh-CN" altLang="zh-CN" sz="2400" dirty="0" smtClean="0"/>
              <a:t>对</a:t>
            </a:r>
            <a:r>
              <a:rPr lang="zh-CN" altLang="zh-CN" sz="2400" dirty="0"/>
              <a:t>每对可合一的表达式</a:t>
            </a:r>
            <a:r>
              <a:rPr lang="zh-CN" altLang="zh-CN" sz="2400" dirty="0" smtClean="0"/>
              <a:t>，存在</a:t>
            </a:r>
            <a:r>
              <a:rPr lang="en-US" altLang="zh-CN" sz="2400" dirty="0" smtClean="0"/>
              <a:t>MGU</a:t>
            </a:r>
            <a:endParaRPr lang="en-US" altLang="zh-CN" sz="2400" dirty="0">
              <a:latin typeface="+mn-ea"/>
            </a:endParaRPr>
          </a:p>
        </p:txBody>
      </p:sp>
      <p:sp>
        <p:nvSpPr>
          <p:cNvPr id="2" name="灯片编号占位符 1"/>
          <p:cNvSpPr>
            <a:spLocks noGrp="1"/>
          </p:cNvSpPr>
          <p:nvPr>
            <p:ph type="sldNum" sz="quarter" idx="12"/>
          </p:nvPr>
        </p:nvSpPr>
        <p:spPr/>
        <p:txBody>
          <a:bodyPr/>
          <a:lstStyle/>
          <a:p>
            <a:pPr>
              <a:defRPr/>
            </a:pPr>
            <a:fld id="{8675F621-1619-4F8E-88C5-5F30FD27FF75}" type="slidenum">
              <a:rPr lang="en-US" altLang="zh-CN" smtClean="0"/>
            </a:fld>
            <a:endParaRPr lang="en-US" altLang="zh-CN"/>
          </a:p>
        </p:txBody>
      </p:sp>
      <mc:AlternateContent xmlns:mc="http://schemas.openxmlformats.org/markup-compatibility/2006">
        <mc:Choice xmlns:a14="http://schemas.microsoft.com/office/drawing/2010/main" Requires="a14">
          <p:sp>
            <p:nvSpPr>
              <p:cNvPr id="3" name="文本框 2"/>
              <p:cNvSpPr txBox="1"/>
              <p:nvPr/>
            </p:nvSpPr>
            <p:spPr>
              <a:xfrm>
                <a:off x="1485419" y="3744593"/>
                <a:ext cx="5389873"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400" i="1" dirty="0">
                          <a:latin typeface="Cambria Math" panose="02040503050406030204" pitchFamily="18" charset="0"/>
                        </a:rPr>
                        <m:t>𝑈𝑁𝐼𝐹𝑌</m:t>
                      </m:r>
                      <m:r>
                        <a:rPr lang="en-US" altLang="zh-CN" sz="2400" i="1" dirty="0">
                          <a:latin typeface="Cambria Math" panose="02040503050406030204" pitchFamily="18" charset="0"/>
                        </a:rPr>
                        <m:t> (</m:t>
                      </m:r>
                      <m:r>
                        <a:rPr lang="en-US" altLang="zh-CN" sz="2400" i="1" dirty="0">
                          <a:latin typeface="Cambria Math" panose="02040503050406030204" pitchFamily="18" charset="0"/>
                        </a:rPr>
                        <m:t>𝐾𝑛𝑜𝑤𝑠</m:t>
                      </m:r>
                      <m:r>
                        <a:rPr lang="en-US" altLang="zh-CN" sz="2400" i="1" dirty="0">
                          <a:latin typeface="Cambria Math" panose="02040503050406030204" pitchFamily="18" charset="0"/>
                        </a:rPr>
                        <m:t>(</m:t>
                      </m:r>
                      <m:r>
                        <a:rPr lang="en-US" altLang="zh-CN" sz="2400" i="1" dirty="0" err="1">
                          <a:latin typeface="Cambria Math" panose="02040503050406030204" pitchFamily="18" charset="0"/>
                        </a:rPr>
                        <m:t>𝐽𝑜ℎ𝑛</m:t>
                      </m:r>
                      <m:r>
                        <a:rPr lang="en-US" altLang="zh-CN" sz="2400" i="1" dirty="0" err="1">
                          <a:latin typeface="Cambria Math" panose="02040503050406030204" pitchFamily="18" charset="0"/>
                        </a:rPr>
                        <m:t>,</m:t>
                      </m:r>
                      <m:r>
                        <a:rPr lang="en-US" altLang="zh-CN" sz="2400" i="1" dirty="0" err="1">
                          <a:latin typeface="Cambria Math" panose="02040503050406030204" pitchFamily="18" charset="0"/>
                        </a:rPr>
                        <m:t>𝑥</m:t>
                      </m:r>
                      <m:r>
                        <a:rPr lang="en-US" altLang="zh-CN" sz="2400" i="1" dirty="0">
                          <a:latin typeface="Cambria Math" panose="02040503050406030204" pitchFamily="18" charset="0"/>
                        </a:rPr>
                        <m:t>), </m:t>
                      </m:r>
                      <m:r>
                        <a:rPr lang="en-US" altLang="zh-CN" sz="2400" i="1" dirty="0">
                          <a:latin typeface="Cambria Math" panose="02040503050406030204" pitchFamily="18" charset="0"/>
                        </a:rPr>
                        <m:t>𝐾𝑛𝑜𝑤𝑠</m:t>
                      </m:r>
                      <m:r>
                        <a:rPr lang="en-US" altLang="zh-CN" sz="2400" i="1" dirty="0">
                          <a:latin typeface="Cambria Math" panose="02040503050406030204" pitchFamily="18" charset="0"/>
                        </a:rPr>
                        <m:t>(</m:t>
                      </m:r>
                      <m:r>
                        <a:rPr lang="en-US" altLang="zh-CN" sz="2400" i="1" dirty="0" err="1">
                          <a:latin typeface="Cambria Math" panose="02040503050406030204" pitchFamily="18" charset="0"/>
                        </a:rPr>
                        <m:t>𝑦</m:t>
                      </m:r>
                      <m:r>
                        <a:rPr lang="en-US" altLang="zh-CN" sz="2400" i="1" dirty="0" err="1">
                          <a:latin typeface="Cambria Math" panose="02040503050406030204" pitchFamily="18" charset="0"/>
                        </a:rPr>
                        <m:t>,</m:t>
                      </m:r>
                      <m:r>
                        <a:rPr lang="en-US" altLang="zh-CN" sz="2400" i="1" dirty="0" err="1">
                          <a:latin typeface="Cambria Math" panose="02040503050406030204" pitchFamily="18" charset="0"/>
                        </a:rPr>
                        <m:t>𝑧</m:t>
                      </m:r>
                      <m:r>
                        <a:rPr lang="en-US" altLang="zh-CN" sz="2400" i="1" dirty="0">
                          <a:latin typeface="Cambria Math" panose="02040503050406030204" pitchFamily="18" charset="0"/>
                        </a:rPr>
                        <m:t>))</m:t>
                      </m:r>
                    </m:oMath>
                  </m:oMathPara>
                </a14:m>
                <a:endParaRPr lang="en-US" altLang="zh-CN" sz="2400" dirty="0">
                  <a:latin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1485419" y="3744593"/>
                <a:ext cx="5389873" cy="461665"/>
              </a:xfrm>
              <a:prstGeom prst="rect">
                <a:avLst/>
              </a:prstGeom>
              <a:blipFill rotWithShape="1">
                <a:blip r:embed="rId1"/>
                <a:stretch>
                  <a:fillRect l="-3" t="-137" r="-68" b="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1053371" y="4345958"/>
                <a:ext cx="2059602"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400" i="1" dirty="0" smtClean="0">
                          <a:solidFill>
                            <a:srgbClr val="C00000"/>
                          </a:solidFill>
                          <a:latin typeface="Cambria Math" panose="02040503050406030204" pitchFamily="18" charset="0"/>
                        </a:rPr>
                        <m:t>{</m:t>
                      </m:r>
                      <m:r>
                        <a:rPr lang="en-US" altLang="zh-CN" sz="2400" i="1" dirty="0">
                          <a:solidFill>
                            <a:srgbClr val="C00000"/>
                          </a:solidFill>
                          <a:latin typeface="Cambria Math" panose="02040503050406030204" pitchFamily="18" charset="0"/>
                        </a:rPr>
                        <m:t>𝑦</m:t>
                      </m:r>
                      <m:r>
                        <a:rPr lang="en-US" altLang="zh-CN" sz="2400" i="1" dirty="0">
                          <a:solidFill>
                            <a:srgbClr val="C00000"/>
                          </a:solidFill>
                          <a:latin typeface="Cambria Math" panose="02040503050406030204" pitchFamily="18" charset="0"/>
                        </a:rPr>
                        <m:t>/</m:t>
                      </m:r>
                      <m:r>
                        <a:rPr lang="en-US" altLang="zh-CN" sz="2400" i="1" dirty="0">
                          <a:solidFill>
                            <a:srgbClr val="C00000"/>
                          </a:solidFill>
                          <a:latin typeface="Cambria Math" panose="02040503050406030204" pitchFamily="18" charset="0"/>
                        </a:rPr>
                        <m:t>𝐽𝑜ℎ𝑛</m:t>
                      </m:r>
                      <m:r>
                        <a:rPr lang="en-US" altLang="zh-CN" sz="2400" i="1" dirty="0">
                          <a:solidFill>
                            <a:srgbClr val="C00000"/>
                          </a:solidFill>
                          <a:latin typeface="Cambria Math" panose="02040503050406030204" pitchFamily="18" charset="0"/>
                        </a:rPr>
                        <m:t>, </m:t>
                      </m:r>
                      <m:r>
                        <a:rPr lang="en-US" altLang="zh-CN" sz="2400" i="1" dirty="0">
                          <a:solidFill>
                            <a:srgbClr val="C00000"/>
                          </a:solidFill>
                          <a:latin typeface="Cambria Math" panose="02040503050406030204" pitchFamily="18" charset="0"/>
                        </a:rPr>
                        <m:t>𝑥</m:t>
                      </m:r>
                      <m:r>
                        <a:rPr lang="en-US" altLang="zh-CN" sz="2400" i="1" dirty="0">
                          <a:solidFill>
                            <a:srgbClr val="C00000"/>
                          </a:solidFill>
                          <a:latin typeface="Cambria Math" panose="02040503050406030204" pitchFamily="18" charset="0"/>
                        </a:rPr>
                        <m:t>/</m:t>
                      </m:r>
                      <m:r>
                        <a:rPr lang="en-US" altLang="zh-CN" sz="2400" i="1" dirty="0">
                          <a:solidFill>
                            <a:srgbClr val="C00000"/>
                          </a:solidFill>
                          <a:latin typeface="Cambria Math" panose="02040503050406030204" pitchFamily="18" charset="0"/>
                        </a:rPr>
                        <m:t>𝑧</m:t>
                      </m:r>
                      <m:r>
                        <a:rPr lang="en-US" altLang="zh-CN" sz="2400" i="1" dirty="0">
                          <a:solidFill>
                            <a:srgbClr val="C00000"/>
                          </a:solidFill>
                          <a:latin typeface="Cambria Math" panose="02040503050406030204" pitchFamily="18" charset="0"/>
                        </a:rPr>
                        <m:t>}</m:t>
                      </m:r>
                    </m:oMath>
                  </m:oMathPara>
                </a14:m>
                <a:endParaRPr lang="zh-CN" altLang="en-US" sz="2400" dirty="0">
                  <a:solidFill>
                    <a:srgbClr val="C00000"/>
                  </a:solidFill>
                </a:endParaRPr>
              </a:p>
            </p:txBody>
          </p:sp>
        </mc:Choice>
        <mc:Fallback>
          <p:sp>
            <p:nvSpPr>
              <p:cNvPr id="4" name="文本框 3"/>
              <p:cNvSpPr txBox="1">
                <a:spLocks noRot="1" noChangeAspect="1" noMove="1" noResize="1" noEditPoints="1" noAdjustHandles="1" noChangeArrowheads="1" noChangeShapeType="1" noTextEdit="1"/>
              </p:cNvSpPr>
              <p:nvPr/>
            </p:nvSpPr>
            <p:spPr>
              <a:xfrm>
                <a:off x="1053371" y="4345958"/>
                <a:ext cx="2059602" cy="461665"/>
              </a:xfrm>
              <a:prstGeom prst="rect">
                <a:avLst/>
              </a:prstGeom>
              <a:blipFill rotWithShape="1">
                <a:blip r:embed="rId2"/>
                <a:stretch>
                  <a:fillRect l="-26" t="-4" r="10" b="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p:cNvSpPr/>
              <p:nvPr/>
            </p:nvSpPr>
            <p:spPr>
              <a:xfrm>
                <a:off x="4400441" y="4344163"/>
                <a:ext cx="4059445" cy="424732"/>
              </a:xfrm>
              <a:prstGeom prst="rect">
                <a:avLst/>
              </a:prstGeom>
            </p:spPr>
            <p:txBody>
              <a:bodyPr wrap="none">
                <a:spAutoFit/>
              </a:bodyPr>
              <a:lstStyle/>
              <a:p>
                <a:pPr lvl="1">
                  <a:lnSpc>
                    <a:spcPct val="90000"/>
                  </a:lnSpc>
                </a:pPr>
                <a14:m>
                  <m:oMathPara xmlns:m="http://schemas.openxmlformats.org/officeDocument/2006/math">
                    <m:oMathParaPr>
                      <m:jc m:val="centerGroup"/>
                    </m:oMathParaPr>
                    <m:oMath xmlns:m="http://schemas.openxmlformats.org/officeDocument/2006/math">
                      <m:r>
                        <a:rPr lang="en-US" altLang="zh-CN" sz="2400" i="1" dirty="0" smtClean="0">
                          <a:solidFill>
                            <a:srgbClr val="0070C0"/>
                          </a:solidFill>
                          <a:latin typeface="Cambria Math" panose="02040503050406030204" pitchFamily="18" charset="0"/>
                        </a:rPr>
                        <m:t>{</m:t>
                      </m:r>
                      <m:r>
                        <a:rPr lang="en-US" altLang="zh-CN" sz="2400" i="1" dirty="0" smtClean="0">
                          <a:solidFill>
                            <a:srgbClr val="0070C0"/>
                          </a:solidFill>
                          <a:latin typeface="Cambria Math" panose="02040503050406030204" pitchFamily="18" charset="0"/>
                        </a:rPr>
                        <m:t>𝑥</m:t>
                      </m:r>
                      <m:r>
                        <a:rPr lang="en-US" altLang="zh-CN" sz="2400" i="1" dirty="0" smtClean="0">
                          <a:solidFill>
                            <a:srgbClr val="0070C0"/>
                          </a:solidFill>
                          <a:latin typeface="Cambria Math" panose="02040503050406030204" pitchFamily="18" charset="0"/>
                        </a:rPr>
                        <m:t>/</m:t>
                      </m:r>
                      <m:r>
                        <a:rPr lang="en-US" altLang="zh-CN" sz="2400" i="1" dirty="0" smtClean="0">
                          <a:solidFill>
                            <a:srgbClr val="0070C0"/>
                          </a:solidFill>
                          <a:latin typeface="Cambria Math" panose="02040503050406030204" pitchFamily="18" charset="0"/>
                        </a:rPr>
                        <m:t>𝐽𝑜ℎ𝑛</m:t>
                      </m:r>
                      <m:r>
                        <a:rPr lang="en-US" altLang="zh-CN" sz="2400" i="1" dirty="0" smtClean="0">
                          <a:solidFill>
                            <a:srgbClr val="0070C0"/>
                          </a:solidFill>
                          <a:latin typeface="Cambria Math" panose="02040503050406030204" pitchFamily="18" charset="0"/>
                        </a:rPr>
                        <m:t>, </m:t>
                      </m:r>
                      <m:r>
                        <a:rPr lang="en-US" altLang="zh-CN" sz="2400" i="1" dirty="0" smtClean="0">
                          <a:solidFill>
                            <a:srgbClr val="0070C0"/>
                          </a:solidFill>
                          <a:latin typeface="Cambria Math" panose="02040503050406030204" pitchFamily="18" charset="0"/>
                        </a:rPr>
                        <m:t>𝑦</m:t>
                      </m:r>
                      <m:r>
                        <a:rPr lang="en-US" altLang="zh-CN" sz="2400" i="1" dirty="0" smtClean="0">
                          <a:solidFill>
                            <a:srgbClr val="0070C0"/>
                          </a:solidFill>
                          <a:latin typeface="Cambria Math" panose="02040503050406030204" pitchFamily="18" charset="0"/>
                        </a:rPr>
                        <m:t>/</m:t>
                      </m:r>
                      <m:r>
                        <a:rPr lang="en-US" altLang="zh-CN" sz="2400" i="1" dirty="0" smtClean="0">
                          <a:solidFill>
                            <a:srgbClr val="0070C0"/>
                          </a:solidFill>
                          <a:latin typeface="Cambria Math" panose="02040503050406030204" pitchFamily="18" charset="0"/>
                        </a:rPr>
                        <m:t>𝐽𝑜ℎ𝑛</m:t>
                      </m:r>
                      <m:r>
                        <a:rPr lang="en-US" altLang="zh-CN" sz="2400" i="1" dirty="0" smtClean="0">
                          <a:solidFill>
                            <a:srgbClr val="0070C0"/>
                          </a:solidFill>
                          <a:latin typeface="Cambria Math" panose="02040503050406030204" pitchFamily="18" charset="0"/>
                        </a:rPr>
                        <m:t>, </m:t>
                      </m:r>
                      <m:r>
                        <a:rPr lang="en-US" altLang="zh-CN" sz="2400" i="1" dirty="0" smtClean="0">
                          <a:solidFill>
                            <a:srgbClr val="0070C0"/>
                          </a:solidFill>
                          <a:latin typeface="Cambria Math" panose="02040503050406030204" pitchFamily="18" charset="0"/>
                        </a:rPr>
                        <m:t>𝑧</m:t>
                      </m:r>
                      <m:r>
                        <a:rPr lang="en-US" altLang="zh-CN" sz="2400" i="1" dirty="0" smtClean="0">
                          <a:solidFill>
                            <a:srgbClr val="0070C0"/>
                          </a:solidFill>
                          <a:latin typeface="Cambria Math" panose="02040503050406030204" pitchFamily="18" charset="0"/>
                        </a:rPr>
                        <m:t>/</m:t>
                      </m:r>
                      <m:r>
                        <a:rPr lang="en-US" altLang="zh-CN" sz="2400" i="1" dirty="0" smtClean="0">
                          <a:solidFill>
                            <a:srgbClr val="0070C0"/>
                          </a:solidFill>
                          <a:latin typeface="Cambria Math" panose="02040503050406030204" pitchFamily="18" charset="0"/>
                        </a:rPr>
                        <m:t>𝐽𝑜ℎ𝑛</m:t>
                      </m:r>
                      <m:r>
                        <a:rPr lang="en-US" altLang="zh-CN" sz="2400" i="1" dirty="0" smtClean="0">
                          <a:solidFill>
                            <a:srgbClr val="0070C0"/>
                          </a:solidFill>
                          <a:latin typeface="Cambria Math" panose="02040503050406030204" pitchFamily="18" charset="0"/>
                        </a:rPr>
                        <m:t>}</m:t>
                      </m:r>
                    </m:oMath>
                  </m:oMathPara>
                </a14:m>
                <a:endParaRPr lang="en-US" altLang="zh-CN" sz="2400" dirty="0">
                  <a:solidFill>
                    <a:srgbClr val="0070C0"/>
                  </a:solidFill>
                  <a:latin typeface="+mn-ea"/>
                </a:endParaRPr>
              </a:p>
            </p:txBody>
          </p:sp>
        </mc:Choice>
        <mc:Fallback>
          <p:sp>
            <p:nvSpPr>
              <p:cNvPr id="5" name="矩形 4"/>
              <p:cNvSpPr>
                <a:spLocks noRot="1" noChangeAspect="1" noMove="1" noResize="1" noEditPoints="1" noAdjustHandles="1" noChangeArrowheads="1" noChangeShapeType="1" noTextEdit="1"/>
              </p:cNvSpPr>
              <p:nvPr/>
            </p:nvSpPr>
            <p:spPr>
              <a:xfrm>
                <a:off x="4400441" y="4344163"/>
                <a:ext cx="4059445" cy="424732"/>
              </a:xfrm>
              <a:prstGeom prst="rect">
                <a:avLst/>
              </a:prstGeom>
              <a:blipFill rotWithShape="1">
                <a:blip r:embed="rId3"/>
                <a:stretch>
                  <a:fillRect l="-13" t="-30" r="-6841" b="11"/>
                </a:stretch>
              </a:blipFill>
            </p:spPr>
            <p:txBody>
              <a:bodyPr/>
              <a:lstStyle/>
              <a:p>
                <a:r>
                  <a:rPr lang="zh-CN" altLang="en-US">
                    <a:noFill/>
                  </a:rPr>
                  <a:t> </a:t>
                </a:r>
              </a:p>
            </p:txBody>
          </p:sp>
        </mc:Fallback>
      </mc:AlternateContent>
      <p:cxnSp>
        <p:nvCxnSpPr>
          <p:cNvPr id="7" name="直接箭头连接符 6"/>
          <p:cNvCxnSpPr>
            <a:stCxn id="3" idx="2"/>
            <a:endCxn id="12" idx="0"/>
          </p:cNvCxnSpPr>
          <p:nvPr/>
        </p:nvCxnSpPr>
        <p:spPr>
          <a:xfrm flipH="1">
            <a:off x="2266588" y="4206258"/>
            <a:ext cx="1913768" cy="96956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9" name="直接箭头连接符 8"/>
          <p:cNvCxnSpPr>
            <a:stCxn id="3" idx="2"/>
            <a:endCxn id="13" idx="0"/>
          </p:cNvCxnSpPr>
          <p:nvPr/>
        </p:nvCxnSpPr>
        <p:spPr>
          <a:xfrm>
            <a:off x="4180356" y="4206258"/>
            <a:ext cx="1454344" cy="98457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mc:Choice xmlns:a14="http://schemas.microsoft.com/office/drawing/2010/main" Requires="a14">
          <p:sp>
            <p:nvSpPr>
              <p:cNvPr id="12" name="文本框 11"/>
              <p:cNvSpPr txBox="1"/>
              <p:nvPr/>
            </p:nvSpPr>
            <p:spPr>
              <a:xfrm>
                <a:off x="1053371" y="5175822"/>
                <a:ext cx="2426433"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400" i="1" dirty="0" smtClean="0">
                          <a:solidFill>
                            <a:srgbClr val="C00000"/>
                          </a:solidFill>
                          <a:latin typeface="Cambria Math" panose="02040503050406030204" pitchFamily="18" charset="0"/>
                        </a:rPr>
                        <m:t>𝐾𝑛𝑜𝑤𝑠</m:t>
                      </m:r>
                      <m:r>
                        <a:rPr lang="en-US" altLang="zh-CN" sz="2400" i="1" dirty="0" smtClean="0">
                          <a:solidFill>
                            <a:srgbClr val="C00000"/>
                          </a:solidFill>
                          <a:latin typeface="Cambria Math" panose="02040503050406030204" pitchFamily="18" charset="0"/>
                        </a:rPr>
                        <m:t> (</m:t>
                      </m:r>
                      <m:r>
                        <a:rPr lang="en-US" altLang="zh-CN" sz="2400" i="1" dirty="0">
                          <a:solidFill>
                            <a:srgbClr val="C00000"/>
                          </a:solidFill>
                          <a:latin typeface="Cambria Math" panose="02040503050406030204" pitchFamily="18" charset="0"/>
                        </a:rPr>
                        <m:t>𝐽𝑜ℎ𝑛</m:t>
                      </m:r>
                      <m:r>
                        <a:rPr lang="en-US" altLang="zh-CN" sz="2400" i="1" dirty="0">
                          <a:solidFill>
                            <a:srgbClr val="C00000"/>
                          </a:solidFill>
                          <a:latin typeface="Cambria Math" panose="02040503050406030204" pitchFamily="18" charset="0"/>
                        </a:rPr>
                        <m:t>, </m:t>
                      </m:r>
                      <m:r>
                        <a:rPr lang="en-US" altLang="zh-CN" sz="2400" i="1" dirty="0">
                          <a:solidFill>
                            <a:srgbClr val="C00000"/>
                          </a:solidFill>
                          <a:latin typeface="Cambria Math" panose="02040503050406030204" pitchFamily="18" charset="0"/>
                        </a:rPr>
                        <m:t>𝑧</m:t>
                      </m:r>
                      <m:r>
                        <a:rPr lang="en-US" altLang="zh-CN" sz="2400" i="1" dirty="0">
                          <a:solidFill>
                            <a:srgbClr val="C00000"/>
                          </a:solidFill>
                          <a:latin typeface="Cambria Math" panose="02040503050406030204" pitchFamily="18" charset="0"/>
                        </a:rPr>
                        <m:t>)</m:t>
                      </m:r>
                    </m:oMath>
                  </m:oMathPara>
                </a14:m>
                <a:endParaRPr lang="zh-CN" altLang="en-US" sz="2400" dirty="0">
                  <a:solidFill>
                    <a:srgbClr val="C00000"/>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1053371" y="5175822"/>
                <a:ext cx="2426433" cy="461665"/>
              </a:xfrm>
              <a:prstGeom prst="rect">
                <a:avLst/>
              </a:prstGeom>
              <a:blipFill rotWithShape="1">
                <a:blip r:embed="rId4"/>
                <a:stretch>
                  <a:fillRect l="-22" t="-124" b="1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矩形 12"/>
              <p:cNvSpPr/>
              <p:nvPr/>
            </p:nvSpPr>
            <p:spPr>
              <a:xfrm>
                <a:off x="3947795" y="5190828"/>
                <a:ext cx="3373809" cy="424732"/>
              </a:xfrm>
              <a:prstGeom prst="rect">
                <a:avLst/>
              </a:prstGeom>
            </p:spPr>
            <p:txBody>
              <a:bodyPr wrap="none">
                <a:spAutoFit/>
              </a:bodyPr>
              <a:lstStyle/>
              <a:p>
                <a:pPr lvl="1">
                  <a:lnSpc>
                    <a:spcPct val="90000"/>
                  </a:lnSpc>
                </a:pPr>
                <a14:m>
                  <m:oMathPara xmlns:m="http://schemas.openxmlformats.org/officeDocument/2006/math">
                    <m:oMathParaPr>
                      <m:jc m:val="centerGroup"/>
                    </m:oMathParaPr>
                    <m:oMath xmlns:m="http://schemas.openxmlformats.org/officeDocument/2006/math">
                      <m:r>
                        <a:rPr lang="en-US" altLang="zh-CN" sz="2400" i="1" dirty="0" smtClean="0">
                          <a:solidFill>
                            <a:srgbClr val="0070C0"/>
                          </a:solidFill>
                          <a:latin typeface="Cambria Math" panose="02040503050406030204" pitchFamily="18" charset="0"/>
                        </a:rPr>
                        <m:t>𝐾𝑛𝑜𝑤𝑠</m:t>
                      </m:r>
                      <m:r>
                        <a:rPr lang="en-US" altLang="zh-CN" sz="2400" i="1" dirty="0" smtClean="0">
                          <a:solidFill>
                            <a:srgbClr val="0070C0"/>
                          </a:solidFill>
                          <a:latin typeface="Cambria Math" panose="02040503050406030204" pitchFamily="18" charset="0"/>
                        </a:rPr>
                        <m:t> (</m:t>
                      </m:r>
                      <m:r>
                        <a:rPr lang="en-US" altLang="zh-CN" sz="2400" i="1" dirty="0" smtClean="0">
                          <a:solidFill>
                            <a:srgbClr val="0070C0"/>
                          </a:solidFill>
                          <a:latin typeface="Cambria Math" panose="02040503050406030204" pitchFamily="18" charset="0"/>
                        </a:rPr>
                        <m:t>𝐽𝑜ℎ𝑛</m:t>
                      </m:r>
                      <m:r>
                        <a:rPr lang="en-US" altLang="zh-CN" sz="2400" i="1" dirty="0" smtClean="0">
                          <a:solidFill>
                            <a:srgbClr val="0070C0"/>
                          </a:solidFill>
                          <a:latin typeface="Cambria Math" panose="02040503050406030204" pitchFamily="18" charset="0"/>
                        </a:rPr>
                        <m:t>, </m:t>
                      </m:r>
                      <m:r>
                        <a:rPr lang="en-US" altLang="zh-CN" sz="2400" i="1" dirty="0" smtClean="0">
                          <a:solidFill>
                            <a:srgbClr val="0070C0"/>
                          </a:solidFill>
                          <a:latin typeface="Cambria Math" panose="02040503050406030204" pitchFamily="18" charset="0"/>
                        </a:rPr>
                        <m:t>𝐽𝑜ℎ𝑛</m:t>
                      </m:r>
                      <m:r>
                        <a:rPr lang="en-US" altLang="zh-CN" sz="2400" i="1" dirty="0" smtClean="0">
                          <a:solidFill>
                            <a:srgbClr val="0070C0"/>
                          </a:solidFill>
                          <a:latin typeface="Cambria Math" panose="02040503050406030204" pitchFamily="18" charset="0"/>
                        </a:rPr>
                        <m:t>)</m:t>
                      </m:r>
                    </m:oMath>
                  </m:oMathPara>
                </a14:m>
                <a:endParaRPr lang="en-US" altLang="zh-CN" sz="2400" dirty="0">
                  <a:solidFill>
                    <a:srgbClr val="0070C0"/>
                  </a:solidFill>
                  <a:latin typeface="+mn-ea"/>
                </a:endParaRPr>
              </a:p>
            </p:txBody>
          </p:sp>
        </mc:Choice>
        <mc:Fallback>
          <p:sp>
            <p:nvSpPr>
              <p:cNvPr id="13" name="矩形 12"/>
              <p:cNvSpPr>
                <a:spLocks noRot="1" noChangeAspect="1" noMove="1" noResize="1" noEditPoints="1" noAdjustHandles="1" noChangeArrowheads="1" noChangeShapeType="1" noTextEdit="1"/>
              </p:cNvSpPr>
              <p:nvPr/>
            </p:nvSpPr>
            <p:spPr>
              <a:xfrm>
                <a:off x="3947795" y="5190828"/>
                <a:ext cx="3373809" cy="424732"/>
              </a:xfrm>
              <a:prstGeom prst="rect">
                <a:avLst/>
              </a:prstGeom>
              <a:blipFill rotWithShape="1">
                <a:blip r:embed="rId5"/>
                <a:stretch>
                  <a:fillRect t="-80" r="-7583" b="60"/>
                </a:stretch>
              </a:blipFill>
            </p:spPr>
            <p:txBody>
              <a:bodyPr/>
              <a:lstStyle/>
              <a:p>
                <a:r>
                  <a:rPr lang="zh-CN" altLang="en-US">
                    <a:noFill/>
                  </a:rPr>
                  <a:t> </a:t>
                </a:r>
              </a:p>
            </p:txBody>
          </p:sp>
        </mc:Fallback>
      </mc:AlternateContent>
      <p:sp>
        <p:nvSpPr>
          <p:cNvPr id="6" name="线形标注 2 5"/>
          <p:cNvSpPr/>
          <p:nvPr/>
        </p:nvSpPr>
        <p:spPr>
          <a:xfrm>
            <a:off x="138873" y="4308211"/>
            <a:ext cx="914400" cy="537157"/>
          </a:xfrm>
          <a:prstGeom prst="borderCallout2">
            <a:avLst>
              <a:gd name="adj1" fmla="val 39290"/>
              <a:gd name="adj2" fmla="val 107263"/>
              <a:gd name="adj3" fmla="val 92692"/>
              <a:gd name="adj4" fmla="val 114525"/>
              <a:gd name="adj5" fmla="val 90591"/>
              <a:gd name="adj6" fmla="val 298287"/>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dirty="0">
                <a:solidFill>
                  <a:srgbClr val="C00000"/>
                </a:solidFill>
              </a:rPr>
              <a:t>MGU</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bldLst>
      <p:bldP spid="30723" grpId="0" bldLvl="5" uiExpand="1" build="p"/>
      <p:bldP spid="3" grpId="0"/>
      <p:bldP spid="4" grpId="0"/>
      <p:bldP spid="5" grpId="0"/>
      <p:bldP spid="12" grpId="0"/>
      <p:bldP spid="13" grpId="0"/>
      <p:bldP spid="6"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609600" y="-47402"/>
            <a:ext cx="7850188" cy="1011238"/>
          </a:xfrm>
        </p:spPr>
        <p:txBody>
          <a:bodyPr/>
          <a:lstStyle/>
          <a:p>
            <a:r>
              <a:rPr lang="zh-CN" altLang="en-US" dirty="0" smtClean="0"/>
              <a:t>将语句转换成</a:t>
            </a:r>
            <a:r>
              <a:rPr lang="en-US" altLang="zh-CN" dirty="0" smtClean="0"/>
              <a:t>CNF</a:t>
            </a:r>
            <a:endParaRPr lang="en-US" altLang="zh-CN" dirty="0"/>
          </a:p>
        </p:txBody>
      </p:sp>
      <mc:AlternateContent xmlns:mc="http://schemas.openxmlformats.org/markup-compatibility/2006">
        <mc:Choice xmlns:a14="http://schemas.microsoft.com/office/drawing/2010/main" Requires="a14">
          <p:sp>
            <p:nvSpPr>
              <p:cNvPr id="22" name="内容占位符 21"/>
              <p:cNvSpPr>
                <a:spLocks noGrp="1"/>
              </p:cNvSpPr>
              <p:nvPr>
                <p:ph idx="1"/>
              </p:nvPr>
            </p:nvSpPr>
            <p:spPr>
              <a:xfrm>
                <a:off x="609600" y="1103536"/>
                <a:ext cx="8349016" cy="4557712"/>
              </a:xfrm>
            </p:spPr>
            <p:txBody>
              <a:bodyPr/>
              <a:lstStyle/>
              <a:p>
                <a:pPr>
                  <a:spcBef>
                    <a:spcPts val="0"/>
                  </a:spcBef>
                </a:pPr>
                <a:r>
                  <a:rPr lang="en-US" altLang="zh-CN" sz="2400" dirty="0" smtClean="0"/>
                  <a:t>Everyone who loves all animals is loved by someone.</a:t>
                </a:r>
                <a:endParaRPr lang="en-US" altLang="zh-CN" sz="2400" i="1" dirty="0">
                  <a:latin typeface="Cambria Math" panose="02040503050406030204" pitchFamily="18" charset="0"/>
                  <a:ea typeface="Cambria Math" panose="02040503050406030204" pitchFamily="18" charset="0"/>
                </a:endParaRPr>
              </a:p>
              <a:p>
                <a:pPr>
                  <a:spcBef>
                    <a:spcPts val="0"/>
                  </a:spcBef>
                </a:pPr>
                <a14:m>
                  <m:oMath xmlns:m="http://schemas.openxmlformats.org/officeDocument/2006/math">
                    <m:r>
                      <a:rPr lang="es-ES" altLang="zh-CN" sz="2400" i="1">
                        <a:latin typeface="Cambria Math" panose="02040503050406030204" pitchFamily="18" charset="0"/>
                        <a:ea typeface="Cambria Math" panose="02040503050406030204" pitchFamily="18" charset="0"/>
                      </a:rPr>
                      <m:t>∀</m:t>
                    </m:r>
                    <m:r>
                      <a:rPr lang="es-ES" altLang="zh-CN" sz="2400" i="1">
                        <a:latin typeface="Cambria Math" panose="02040503050406030204" pitchFamily="18" charset="0"/>
                      </a:rPr>
                      <m:t>𝑥</m:t>
                    </m:r>
                    <m:r>
                      <a:rPr lang="es-ES" altLang="zh-CN" sz="2400" i="1">
                        <a:latin typeface="Cambria Math" panose="02040503050406030204" pitchFamily="18" charset="0"/>
                      </a:rPr>
                      <m:t> </m:t>
                    </m:r>
                    <m:d>
                      <m:dPr>
                        <m:ctrlPr>
                          <a:rPr lang="es-ES" altLang="zh-CN" sz="2400" i="1" smtClean="0">
                            <a:latin typeface="Cambria Math" panose="02040503050406030204" pitchFamily="18" charset="0"/>
                          </a:rPr>
                        </m:ctrlPr>
                      </m:dPr>
                      <m:e>
                        <m:d>
                          <m:dPr>
                            <m:ctrlPr>
                              <a:rPr lang="en-US" altLang="zh-CN" sz="2400" i="1" smtClean="0">
                                <a:solidFill>
                                  <a:srgbClr val="0070C0"/>
                                </a:solidFill>
                                <a:latin typeface="Cambria Math" panose="02040503050406030204" pitchFamily="18" charset="0"/>
                              </a:rPr>
                            </m:ctrlPr>
                          </m:dPr>
                          <m:e>
                            <m:r>
                              <a:rPr lang="es-ES" altLang="zh-CN" sz="2400" i="1" smtClean="0">
                                <a:solidFill>
                                  <a:srgbClr val="C00000"/>
                                </a:solidFill>
                                <a:latin typeface="Cambria Math" panose="02040503050406030204" pitchFamily="18" charset="0"/>
                              </a:rPr>
                              <m:t>∀</m:t>
                            </m:r>
                            <m:r>
                              <a:rPr lang="es-ES" altLang="zh-CN" sz="2400" i="1" smtClean="0">
                                <a:solidFill>
                                  <a:srgbClr val="C00000"/>
                                </a:solidFill>
                                <a:latin typeface="Cambria Math" panose="02040503050406030204" pitchFamily="18" charset="0"/>
                              </a:rPr>
                              <m:t>𝑦</m:t>
                            </m:r>
                            <m:d>
                              <m:dPr>
                                <m:ctrlPr>
                                  <a:rPr lang="es-ES" altLang="zh-CN" sz="2400" i="1" smtClean="0">
                                    <a:solidFill>
                                      <a:srgbClr val="C00000"/>
                                    </a:solidFill>
                                    <a:latin typeface="Cambria Math" panose="02040503050406030204" pitchFamily="18" charset="0"/>
                                  </a:rPr>
                                </m:ctrlPr>
                              </m:dPr>
                              <m:e>
                                <m:r>
                                  <a:rPr lang="es-ES" altLang="zh-CN" sz="2400" i="1">
                                    <a:solidFill>
                                      <a:srgbClr val="C00000"/>
                                    </a:solidFill>
                                    <a:latin typeface="Cambria Math" panose="02040503050406030204" pitchFamily="18" charset="0"/>
                                  </a:rPr>
                                  <m:t>𝐴𝑛𝑖𝑚𝑎𝑙</m:t>
                                </m:r>
                                <m:d>
                                  <m:dPr>
                                    <m:ctrlPr>
                                      <a:rPr lang="es-ES" altLang="zh-CN" sz="2400" i="1">
                                        <a:solidFill>
                                          <a:srgbClr val="C00000"/>
                                        </a:solidFill>
                                        <a:latin typeface="Cambria Math" panose="02040503050406030204" pitchFamily="18" charset="0"/>
                                      </a:rPr>
                                    </m:ctrlPr>
                                  </m:dPr>
                                  <m:e>
                                    <m:r>
                                      <a:rPr lang="es-ES" altLang="zh-CN" sz="2400" i="1">
                                        <a:solidFill>
                                          <a:srgbClr val="C00000"/>
                                        </a:solidFill>
                                        <a:latin typeface="Cambria Math" panose="02040503050406030204" pitchFamily="18" charset="0"/>
                                      </a:rPr>
                                      <m:t>𝑦</m:t>
                                    </m:r>
                                  </m:e>
                                </m:d>
                                <m:r>
                                  <a:rPr lang="es-ES" altLang="zh-CN" sz="2400" i="1">
                                    <a:solidFill>
                                      <a:srgbClr val="C00000"/>
                                    </a:solidFill>
                                    <a:latin typeface="Cambria Math" panose="02040503050406030204" pitchFamily="18" charset="0"/>
                                  </a:rPr>
                                  <m:t>⇒</m:t>
                                </m:r>
                                <m:r>
                                  <a:rPr lang="es-ES" altLang="zh-CN" sz="2400" i="1">
                                    <a:solidFill>
                                      <a:srgbClr val="C00000"/>
                                    </a:solidFill>
                                    <a:latin typeface="Cambria Math" panose="02040503050406030204" pitchFamily="18" charset="0"/>
                                  </a:rPr>
                                  <m:t>𝐿𝑜𝑣𝑒𝑠</m:t>
                                </m:r>
                                <m:d>
                                  <m:dPr>
                                    <m:ctrlPr>
                                      <a:rPr lang="es-ES" altLang="zh-CN" sz="2400" i="1">
                                        <a:solidFill>
                                          <a:srgbClr val="C00000"/>
                                        </a:solidFill>
                                        <a:latin typeface="Cambria Math" panose="02040503050406030204" pitchFamily="18" charset="0"/>
                                      </a:rPr>
                                    </m:ctrlPr>
                                  </m:dPr>
                                  <m:e>
                                    <m:r>
                                      <a:rPr lang="es-ES" altLang="zh-CN" sz="2400" i="1">
                                        <a:solidFill>
                                          <a:srgbClr val="C00000"/>
                                        </a:solidFill>
                                        <a:latin typeface="Cambria Math" panose="02040503050406030204" pitchFamily="18" charset="0"/>
                                      </a:rPr>
                                      <m:t>𝑥</m:t>
                                    </m:r>
                                    <m:r>
                                      <a:rPr lang="es-ES" altLang="zh-CN" sz="2400" i="1">
                                        <a:solidFill>
                                          <a:srgbClr val="C00000"/>
                                        </a:solidFill>
                                        <a:latin typeface="Cambria Math" panose="02040503050406030204" pitchFamily="18" charset="0"/>
                                      </a:rPr>
                                      <m:t>, </m:t>
                                    </m:r>
                                    <m:r>
                                      <a:rPr lang="es-ES" altLang="zh-CN" sz="2400" i="1">
                                        <a:solidFill>
                                          <a:srgbClr val="C00000"/>
                                        </a:solidFill>
                                        <a:latin typeface="Cambria Math" panose="02040503050406030204" pitchFamily="18" charset="0"/>
                                      </a:rPr>
                                      <m:t>𝑦</m:t>
                                    </m:r>
                                  </m:e>
                                </m:d>
                              </m:e>
                            </m:d>
                          </m:e>
                        </m:d>
                        <m:r>
                          <a:rPr lang="es-ES" altLang="zh-CN" sz="2400" i="1" smtClean="0">
                            <a:solidFill>
                              <a:schemeClr val="tx1"/>
                            </a:solidFill>
                            <a:latin typeface="Cambria Math" panose="02040503050406030204" pitchFamily="18" charset="0"/>
                          </a:rPr>
                          <m:t>⇒</m:t>
                        </m:r>
                        <m:r>
                          <a:rPr lang="es-ES" altLang="zh-CN" sz="2400" i="1" smtClean="0">
                            <a:solidFill>
                              <a:srgbClr val="0070C0"/>
                            </a:solidFill>
                            <a:latin typeface="Cambria Math" panose="02040503050406030204" pitchFamily="18" charset="0"/>
                          </a:rPr>
                          <m:t>∃</m:t>
                        </m:r>
                        <m:r>
                          <a:rPr lang="es-ES" altLang="zh-CN" sz="2400" i="1" smtClean="0">
                            <a:solidFill>
                              <a:srgbClr val="0070C0"/>
                            </a:solidFill>
                            <a:latin typeface="Cambria Math" panose="02040503050406030204" pitchFamily="18" charset="0"/>
                          </a:rPr>
                          <m:t>𝑦</m:t>
                        </m:r>
                        <m:r>
                          <a:rPr lang="es-ES" altLang="zh-CN" sz="2400" i="1" smtClean="0">
                            <a:solidFill>
                              <a:srgbClr val="0070C0"/>
                            </a:solidFill>
                            <a:latin typeface="Cambria Math" panose="02040503050406030204" pitchFamily="18" charset="0"/>
                          </a:rPr>
                          <m:t> </m:t>
                        </m:r>
                        <m:r>
                          <a:rPr lang="es-ES" altLang="zh-CN" sz="2400" i="1" smtClean="0">
                            <a:solidFill>
                              <a:srgbClr val="0070C0"/>
                            </a:solidFill>
                            <a:latin typeface="Cambria Math" panose="02040503050406030204" pitchFamily="18" charset="0"/>
                          </a:rPr>
                          <m:t>𝐿𝑜𝑣𝑒𝑠</m:t>
                        </m:r>
                        <m:d>
                          <m:dPr>
                            <m:ctrlPr>
                              <a:rPr lang="es-ES" altLang="zh-CN" sz="2400" i="1">
                                <a:solidFill>
                                  <a:srgbClr val="0070C0"/>
                                </a:solidFill>
                                <a:latin typeface="Cambria Math" panose="02040503050406030204" pitchFamily="18" charset="0"/>
                              </a:rPr>
                            </m:ctrlPr>
                          </m:dPr>
                          <m:e>
                            <m:r>
                              <a:rPr lang="es-ES" altLang="zh-CN" sz="2400" i="1">
                                <a:solidFill>
                                  <a:srgbClr val="0070C0"/>
                                </a:solidFill>
                                <a:latin typeface="Cambria Math" panose="02040503050406030204" pitchFamily="18" charset="0"/>
                              </a:rPr>
                              <m:t>𝑦</m:t>
                            </m:r>
                            <m:r>
                              <a:rPr lang="es-ES" altLang="zh-CN" sz="2400" i="1">
                                <a:solidFill>
                                  <a:srgbClr val="0070C0"/>
                                </a:solidFill>
                                <a:latin typeface="Cambria Math" panose="02040503050406030204" pitchFamily="18" charset="0"/>
                              </a:rPr>
                              <m:t>, </m:t>
                            </m:r>
                            <m:r>
                              <a:rPr lang="es-ES" altLang="zh-CN" sz="2400" i="1">
                                <a:solidFill>
                                  <a:srgbClr val="0070C0"/>
                                </a:solidFill>
                                <a:latin typeface="Cambria Math" panose="02040503050406030204" pitchFamily="18" charset="0"/>
                              </a:rPr>
                              <m:t>𝑥</m:t>
                            </m:r>
                          </m:e>
                        </m:d>
                      </m:e>
                    </m:d>
                  </m:oMath>
                </a14:m>
                <a:endParaRPr lang="zh-CN" altLang="en-US" sz="2000" dirty="0"/>
              </a:p>
              <a:p>
                <a:pPr>
                  <a:spcBef>
                    <a:spcPts val="0"/>
                  </a:spcBef>
                </a:pPr>
                <a:endParaRPr lang="zh-CN" altLang="en-US" sz="2000" dirty="0"/>
              </a:p>
            </p:txBody>
          </p:sp>
        </mc:Choice>
        <mc:Fallback>
          <p:sp>
            <p:nvSpPr>
              <p:cNvPr id="22" name="内容占位符 21"/>
              <p:cNvSpPr>
                <a:spLocks noRot="1" noChangeAspect="1" noMove="1" noResize="1" noEditPoints="1" noAdjustHandles="1" noChangeArrowheads="1" noChangeShapeType="1" noTextEdit="1"/>
              </p:cNvSpPr>
              <p:nvPr>
                <p:ph idx="1"/>
              </p:nvPr>
            </p:nvSpPr>
            <p:spPr>
              <a:xfrm>
                <a:off x="609600" y="1103536"/>
                <a:ext cx="8349016" cy="4557712"/>
              </a:xfrm>
              <a:blipFill rotWithShape="1">
                <a:blip r:embed="rId1"/>
                <a:stretch>
                  <a:fillRect t="-12" b="5"/>
                </a:stretch>
              </a:blipFill>
            </p:spPr>
            <p:txBody>
              <a:bodyPr/>
              <a:lstStyle/>
              <a:p>
                <a:r>
                  <a:rPr lang="zh-CN" altLang="en-US">
                    <a:noFill/>
                  </a:rPr>
                  <a:t> </a:t>
                </a:r>
              </a:p>
            </p:txBody>
          </p:sp>
        </mc:Fallback>
      </mc:AlternateContent>
      <p:sp>
        <p:nvSpPr>
          <p:cNvPr id="3" name="灯片编号占位符 2"/>
          <p:cNvSpPr>
            <a:spLocks noGrp="1"/>
          </p:cNvSpPr>
          <p:nvPr>
            <p:ph type="sldNum" sz="quarter" idx="12"/>
          </p:nvPr>
        </p:nvSpPr>
        <p:spPr/>
        <p:txBody>
          <a:bodyPr/>
          <a:lstStyle/>
          <a:p>
            <a:fld id="{8675F621-1619-4F8E-88C5-5F30FD27FF75}" type="slidenum">
              <a:rPr lang="en-US" altLang="zh-CN" smtClean="0"/>
            </a:fld>
            <a:endParaRPr lang="en-US" altLang="zh-CN"/>
          </a:p>
        </p:txBody>
      </p:sp>
      <p:graphicFrame>
        <p:nvGraphicFramePr>
          <p:cNvPr id="9" name="表格 8"/>
          <p:cNvGraphicFramePr>
            <a:graphicFrameLocks noGrp="1"/>
          </p:cNvGraphicFramePr>
          <p:nvPr/>
        </p:nvGraphicFramePr>
        <p:xfrm>
          <a:off x="107504" y="2204864"/>
          <a:ext cx="8928992" cy="4494212"/>
        </p:xfrm>
        <a:graphic>
          <a:graphicData uri="http://schemas.openxmlformats.org/drawingml/2006/table">
            <a:tbl>
              <a:tblPr firstRow="1" bandRow="1">
                <a:tableStyleId>{5C22544A-7EE6-4342-B048-85BDC9FD1C3A}</a:tableStyleId>
              </a:tblPr>
              <a:tblGrid>
                <a:gridCol w="1944216"/>
                <a:gridCol w="6984776"/>
              </a:tblGrid>
              <a:tr h="257225">
                <a:tc>
                  <a:txBody>
                    <a:bodyPr/>
                    <a:lstStyle/>
                    <a:p>
                      <a:pPr algn="ctr"/>
                      <a:r>
                        <a:rPr lang="zh-CN" altLang="en-US" sz="2400" dirty="0" smtClean="0"/>
                        <a:t>步骤</a:t>
                      </a:r>
                      <a:endParaRPr lang="zh-CN" altLang="en-US" sz="2400"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400" dirty="0" smtClean="0"/>
                        <a:t>转换</a:t>
                      </a:r>
                      <a:endParaRPr lang="en-US" altLang="zh-CN" sz="2400" dirty="0" smtClean="0">
                        <a:ea typeface="宋体" panose="02010600030101010101" pitchFamily="2" charset="-122"/>
                      </a:endParaRPr>
                    </a:p>
                  </a:txBody>
                  <a:tcPr/>
                </a:tc>
              </a:tr>
              <a:tr h="981642">
                <a:tc>
                  <a: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2400" dirty="0" smtClean="0">
                        <a:latin typeface="+mn-ea"/>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2400" dirty="0" smtClean="0">
                        <a:ea typeface="宋体" panose="02010600030101010101" pitchFamily="2" charset="-122"/>
                      </a:endParaRPr>
                    </a:p>
                  </a:txBody>
                  <a:tcPr/>
                </a:tc>
              </a:tr>
              <a:tr h="571727">
                <a:tc>
                  <a: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2400" i="1" dirty="0" smtClean="0">
                        <a:latin typeface="+mn-ea"/>
                        <a:sym typeface="Symbol" panose="05050102010706020507" pitchFamily="18" charset="2"/>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2400" dirty="0" smtClean="0">
                        <a:ea typeface="宋体" panose="02010600030101010101" pitchFamily="2" charset="-122"/>
                      </a:endParaRPr>
                    </a:p>
                  </a:txBody>
                  <a:tcPr/>
                </a:tc>
              </a:tr>
              <a:tr h="571727">
                <a:tc>
                  <a: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2400" dirty="0" smtClean="0">
                        <a:latin typeface="+mn-ea"/>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2400" dirty="0" smtClean="0">
                        <a:ea typeface="宋体" panose="02010600030101010101" pitchFamily="2" charset="-122"/>
                      </a:endParaRPr>
                    </a:p>
                  </a:txBody>
                  <a:tcPr/>
                </a:tc>
              </a:tr>
              <a:tr h="571727">
                <a:tc>
                  <a: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2400" dirty="0" smtClean="0">
                        <a:latin typeface="+mn-ea"/>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2400" dirty="0" smtClean="0">
                        <a:ea typeface="宋体" panose="02010600030101010101" pitchFamily="2" charset="-122"/>
                      </a:endParaRPr>
                    </a:p>
                  </a:txBody>
                  <a:tcPr/>
                </a:tc>
              </a:tr>
              <a:tr h="571727">
                <a:tc>
                  <a: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2400" dirty="0" smtClean="0">
                        <a:latin typeface="+mn-ea"/>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2400" dirty="0" smtClean="0">
                        <a:ea typeface="宋体" panose="02010600030101010101" pitchFamily="2" charset="-122"/>
                      </a:endParaRPr>
                    </a:p>
                  </a:txBody>
                  <a:tcPr/>
                </a:tc>
              </a:tr>
              <a:tr h="768462">
                <a:tc>
                  <a: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2400" dirty="0" smtClean="0">
                        <a:latin typeface="+mn-ea"/>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2400" dirty="0" smtClean="0">
                        <a:ea typeface="宋体" panose="02010600030101010101" pitchFamily="2" charset="-122"/>
                      </a:endParaRPr>
                    </a:p>
                  </a:txBody>
                  <a:tcPr/>
                </a:tc>
              </a:tr>
            </a:tbl>
          </a:graphicData>
        </a:graphic>
      </p:graphicFrame>
      <p:sp>
        <p:nvSpPr>
          <p:cNvPr id="6" name="矩形 5"/>
          <p:cNvSpPr/>
          <p:nvPr/>
        </p:nvSpPr>
        <p:spPr>
          <a:xfrm>
            <a:off x="174283" y="2954660"/>
            <a:ext cx="1723549" cy="461665"/>
          </a:xfrm>
          <a:prstGeom prst="rect">
            <a:avLst/>
          </a:prstGeom>
        </p:spPr>
        <p:txBody>
          <a:bodyPr wrap="none">
            <a:spAutoFit/>
          </a:bodyPr>
          <a:lstStyle/>
          <a:p>
            <a:pPr lvl="0"/>
            <a:r>
              <a:rPr lang="zh-CN" altLang="zh-CN" sz="2400" dirty="0"/>
              <a:t>消除蕴含词</a:t>
            </a:r>
            <a:endParaRPr lang="en-US" altLang="zh-CN" sz="2400" dirty="0"/>
          </a:p>
        </p:txBody>
      </p:sp>
      <p:sp>
        <p:nvSpPr>
          <p:cNvPr id="7" name="矩形 6"/>
          <p:cNvSpPr/>
          <p:nvPr/>
        </p:nvSpPr>
        <p:spPr>
          <a:xfrm>
            <a:off x="372253" y="3746748"/>
            <a:ext cx="1327608" cy="461665"/>
          </a:xfrm>
          <a:prstGeom prst="rect">
            <a:avLst/>
          </a:prstGeom>
        </p:spPr>
        <p:txBody>
          <a:bodyPr wrap="none">
            <a:spAutoFit/>
          </a:bodyPr>
          <a:lstStyle/>
          <a:p>
            <a:pPr lvl="0"/>
            <a:r>
              <a:rPr lang="zh-CN" altLang="zh-CN" sz="2400" dirty="0"/>
              <a:t>将</a:t>
            </a:r>
            <a:r>
              <a:rPr lang="en-US" altLang="zh-CN" sz="2400" dirty="0">
                <a:sym typeface="Symbol" panose="05050102010706020507" pitchFamily="18" charset="2"/>
              </a:rPr>
              <a:t></a:t>
            </a:r>
            <a:r>
              <a:rPr lang="zh-CN" altLang="zh-CN" sz="2400" dirty="0"/>
              <a:t>内移</a:t>
            </a:r>
            <a:endParaRPr lang="en-US" altLang="zh-CN" sz="2400" dirty="0"/>
          </a:p>
        </p:txBody>
      </p:sp>
      <p:sp>
        <p:nvSpPr>
          <p:cNvPr id="8" name="矩形 7"/>
          <p:cNvSpPr/>
          <p:nvPr/>
        </p:nvSpPr>
        <p:spPr>
          <a:xfrm>
            <a:off x="174283" y="4320083"/>
            <a:ext cx="1723549" cy="461665"/>
          </a:xfrm>
          <a:prstGeom prst="rect">
            <a:avLst/>
          </a:prstGeom>
        </p:spPr>
        <p:txBody>
          <a:bodyPr wrap="none">
            <a:spAutoFit/>
          </a:bodyPr>
          <a:lstStyle/>
          <a:p>
            <a:pPr lvl="0"/>
            <a:r>
              <a:rPr lang="zh-CN" altLang="zh-CN" sz="2400" dirty="0"/>
              <a:t>变量标准化</a:t>
            </a:r>
            <a:endParaRPr lang="en-US" altLang="zh-CN" sz="2400" dirty="0"/>
          </a:p>
        </p:txBody>
      </p:sp>
      <p:sp>
        <p:nvSpPr>
          <p:cNvPr id="10" name="矩形 9"/>
          <p:cNvSpPr/>
          <p:nvPr/>
        </p:nvSpPr>
        <p:spPr>
          <a:xfrm>
            <a:off x="276073" y="4869259"/>
            <a:ext cx="1519968" cy="461665"/>
          </a:xfrm>
          <a:prstGeom prst="rect">
            <a:avLst/>
          </a:prstGeom>
        </p:spPr>
        <p:txBody>
          <a:bodyPr wrap="none">
            <a:spAutoFit/>
          </a:bodyPr>
          <a:lstStyle/>
          <a:p>
            <a:pPr lvl="0"/>
            <a:r>
              <a:rPr lang="en-US" altLang="zh-CN" sz="2400" dirty="0" err="1"/>
              <a:t>Skolem</a:t>
            </a:r>
            <a:r>
              <a:rPr lang="zh-CN" altLang="zh-CN" sz="2400" dirty="0"/>
              <a:t>化</a:t>
            </a:r>
            <a:endParaRPr lang="en-US" altLang="zh-CN" sz="2400" dirty="0"/>
          </a:p>
        </p:txBody>
      </p:sp>
      <p:sp>
        <p:nvSpPr>
          <p:cNvPr id="18" name="矩形 17"/>
          <p:cNvSpPr/>
          <p:nvPr/>
        </p:nvSpPr>
        <p:spPr>
          <a:xfrm>
            <a:off x="20395" y="5474940"/>
            <a:ext cx="2031325" cy="461665"/>
          </a:xfrm>
          <a:prstGeom prst="rect">
            <a:avLst/>
          </a:prstGeom>
        </p:spPr>
        <p:txBody>
          <a:bodyPr wrap="none">
            <a:spAutoFit/>
          </a:bodyPr>
          <a:lstStyle/>
          <a:p>
            <a:pPr lvl="0"/>
            <a:r>
              <a:rPr lang="zh-CN" altLang="zh-CN" sz="2400" dirty="0"/>
              <a:t>删除全称量词</a:t>
            </a:r>
            <a:endParaRPr lang="en-US" altLang="zh-CN" sz="2400" dirty="0"/>
          </a:p>
        </p:txBody>
      </p:sp>
      <p:sp>
        <p:nvSpPr>
          <p:cNvPr id="19" name="矩形 18"/>
          <p:cNvSpPr/>
          <p:nvPr/>
        </p:nvSpPr>
        <p:spPr>
          <a:xfrm>
            <a:off x="103751" y="6123012"/>
            <a:ext cx="1864613" cy="461665"/>
          </a:xfrm>
          <a:prstGeom prst="rect">
            <a:avLst/>
          </a:prstGeom>
        </p:spPr>
        <p:txBody>
          <a:bodyPr wrap="none">
            <a:spAutoFit/>
          </a:bodyPr>
          <a:lstStyle/>
          <a:p>
            <a:pPr lvl="0"/>
            <a:r>
              <a:rPr lang="zh-CN" altLang="en-US" sz="2400" dirty="0"/>
              <a:t>将∨对</a:t>
            </a:r>
            <a:r>
              <a:rPr lang="zh-CN" altLang="en-US" sz="2400" dirty="0" smtClean="0"/>
              <a:t>∧分配</a:t>
            </a:r>
            <a:endParaRPr lang="zh-CN" altLang="en-US" sz="2400" dirty="0"/>
          </a:p>
        </p:txBody>
      </p:sp>
      <p:cxnSp>
        <p:nvCxnSpPr>
          <p:cNvPr id="4" name="直接连接符 3"/>
          <p:cNvCxnSpPr/>
          <p:nvPr/>
        </p:nvCxnSpPr>
        <p:spPr>
          <a:xfrm>
            <a:off x="2195736" y="6290669"/>
            <a:ext cx="3792214" cy="5927"/>
          </a:xfrm>
          <a:prstGeom prst="line">
            <a:avLst/>
          </a:prstGeom>
        </p:spPr>
        <p:style>
          <a:lnRef idx="3">
            <a:schemeClr val="accent2"/>
          </a:lnRef>
          <a:fillRef idx="0">
            <a:schemeClr val="accent2"/>
          </a:fillRef>
          <a:effectRef idx="2">
            <a:schemeClr val="accent2"/>
          </a:effectRef>
          <a:fontRef idx="minor">
            <a:schemeClr val="tx1"/>
          </a:fontRef>
        </p:style>
      </p:cxnSp>
      <p:cxnSp>
        <p:nvCxnSpPr>
          <p:cNvPr id="20" name="直接连接符 19"/>
          <p:cNvCxnSpPr/>
          <p:nvPr/>
        </p:nvCxnSpPr>
        <p:spPr>
          <a:xfrm>
            <a:off x="2411760" y="6635707"/>
            <a:ext cx="3996000" cy="5927"/>
          </a:xfrm>
          <a:prstGeom prst="line">
            <a:avLst/>
          </a:prstGeom>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mc:Choice xmlns:a14="http://schemas.microsoft.com/office/drawing/2010/main" Requires="a14">
          <p:sp>
            <p:nvSpPr>
              <p:cNvPr id="33" name="文本框 32"/>
              <p:cNvSpPr txBox="1"/>
              <p:nvPr/>
            </p:nvSpPr>
            <p:spPr>
              <a:xfrm>
                <a:off x="2098053" y="2536689"/>
                <a:ext cx="6564014" cy="636585"/>
              </a:xfrm>
              <a:prstGeom prst="rect">
                <a:avLst/>
              </a:prstGeom>
              <a:noFill/>
            </p:spPr>
            <p:txBody>
              <a:bodyPr wrap="square" rtlCol="0">
                <a:spAutoFit/>
              </a:bodyPr>
              <a:lstStyle/>
              <a:p>
                <a14:m>
                  <m:oMathPara xmlns:m="http://schemas.openxmlformats.org/officeDocument/2006/math">
                    <m:oMathParaPr>
                      <m:jc m:val="left"/>
                    </m:oMathParaPr>
                    <m:oMath xmlns:m="http://schemas.openxmlformats.org/officeDocument/2006/math">
                      <m:r>
                        <a:rPr lang="es-ES" altLang="zh-CN" sz="2000" i="1">
                          <a:latin typeface="Cambria Math" panose="02040503050406030204" pitchFamily="18" charset="0"/>
                          <a:ea typeface="Cambria Math" panose="02040503050406030204" pitchFamily="18" charset="0"/>
                        </a:rPr>
                        <m:t>∀</m:t>
                      </m:r>
                      <m:r>
                        <a:rPr lang="es-ES" altLang="zh-CN" sz="2000" i="1">
                          <a:latin typeface="Cambria Math" panose="02040503050406030204" pitchFamily="18" charset="0"/>
                        </a:rPr>
                        <m:t>𝑥</m:t>
                      </m:r>
                      <m:r>
                        <a:rPr lang="es-ES" altLang="zh-CN" sz="2000" i="1">
                          <a:latin typeface="Cambria Math" panose="02040503050406030204" pitchFamily="18" charset="0"/>
                        </a:rPr>
                        <m:t> </m:t>
                      </m:r>
                      <m:d>
                        <m:dPr>
                          <m:ctrlPr>
                            <a:rPr lang="es-ES" altLang="zh-CN" sz="2000" i="1">
                              <a:latin typeface="Cambria Math" panose="02040503050406030204" pitchFamily="18" charset="0"/>
                            </a:rPr>
                          </m:ctrlPr>
                        </m:dPr>
                        <m:e>
                          <m:d>
                            <m:dPr>
                              <m:ctrlPr>
                                <a:rPr lang="en-US" altLang="zh-CN" sz="2000" i="1">
                                  <a:solidFill>
                                    <a:srgbClr val="0070C0"/>
                                  </a:solidFill>
                                  <a:latin typeface="Cambria Math" panose="02040503050406030204" pitchFamily="18" charset="0"/>
                                </a:rPr>
                              </m:ctrlPr>
                            </m:dPr>
                            <m:e>
                              <m:r>
                                <a:rPr lang="es-ES" altLang="zh-CN" sz="2000" i="1">
                                  <a:solidFill>
                                    <a:srgbClr val="C00000"/>
                                  </a:solidFill>
                                  <a:latin typeface="Cambria Math" panose="02040503050406030204" pitchFamily="18" charset="0"/>
                                </a:rPr>
                                <m:t>∀</m:t>
                              </m:r>
                              <m:r>
                                <a:rPr lang="es-ES" altLang="zh-CN" sz="2000" i="1">
                                  <a:solidFill>
                                    <a:srgbClr val="C00000"/>
                                  </a:solidFill>
                                  <a:latin typeface="Cambria Math" panose="02040503050406030204" pitchFamily="18" charset="0"/>
                                </a:rPr>
                                <m:t>𝑦</m:t>
                              </m:r>
                              <m:d>
                                <m:dPr>
                                  <m:ctrlPr>
                                    <a:rPr lang="es-ES" altLang="zh-CN" sz="2000" i="1">
                                      <a:solidFill>
                                        <a:srgbClr val="C00000"/>
                                      </a:solidFill>
                                      <a:latin typeface="Cambria Math" panose="02040503050406030204" pitchFamily="18" charset="0"/>
                                    </a:rPr>
                                  </m:ctrlPr>
                                </m:dPr>
                                <m:e>
                                  <m:r>
                                    <a:rPr lang="es-ES" altLang="zh-CN" sz="2000" i="1">
                                      <a:solidFill>
                                        <a:srgbClr val="C00000"/>
                                      </a:solidFill>
                                      <a:latin typeface="Cambria Math" panose="02040503050406030204" pitchFamily="18" charset="0"/>
                                    </a:rPr>
                                    <m:t>¬</m:t>
                                  </m:r>
                                  <m:r>
                                    <a:rPr lang="es-ES" altLang="zh-CN" sz="2000" i="1">
                                      <a:solidFill>
                                        <a:srgbClr val="C00000"/>
                                      </a:solidFill>
                                      <a:latin typeface="Cambria Math" panose="02040503050406030204" pitchFamily="18" charset="0"/>
                                    </a:rPr>
                                    <m:t>𝐴𝑛𝑖𝑚𝑎𝑙</m:t>
                                  </m:r>
                                  <m:d>
                                    <m:dPr>
                                      <m:ctrlPr>
                                        <a:rPr lang="es-ES" altLang="zh-CN" sz="2000" i="1">
                                          <a:solidFill>
                                            <a:srgbClr val="C00000"/>
                                          </a:solidFill>
                                          <a:latin typeface="Cambria Math" panose="02040503050406030204" pitchFamily="18" charset="0"/>
                                        </a:rPr>
                                      </m:ctrlPr>
                                    </m:dPr>
                                    <m:e>
                                      <m:r>
                                        <a:rPr lang="es-ES" altLang="zh-CN" sz="2000" i="1">
                                          <a:solidFill>
                                            <a:srgbClr val="C00000"/>
                                          </a:solidFill>
                                          <a:latin typeface="Cambria Math" panose="02040503050406030204" pitchFamily="18" charset="0"/>
                                        </a:rPr>
                                        <m:t>𝑦</m:t>
                                      </m:r>
                                    </m:e>
                                  </m:d>
                                  <m:r>
                                    <a:rPr lang="es-ES" altLang="zh-CN" sz="2000" i="1">
                                      <a:solidFill>
                                        <a:srgbClr val="C00000"/>
                                      </a:solidFill>
                                      <a:latin typeface="Cambria Math" panose="02040503050406030204" pitchFamily="18" charset="0"/>
                                    </a:rPr>
                                    <m:t>∨</m:t>
                                  </m:r>
                                  <m:r>
                                    <a:rPr lang="es-ES" altLang="zh-CN" sz="2000" i="1">
                                      <a:solidFill>
                                        <a:srgbClr val="C00000"/>
                                      </a:solidFill>
                                      <a:latin typeface="Cambria Math" panose="02040503050406030204" pitchFamily="18" charset="0"/>
                                    </a:rPr>
                                    <m:t>𝐿𝑜𝑣𝑒𝑠</m:t>
                                  </m:r>
                                  <m:d>
                                    <m:dPr>
                                      <m:ctrlPr>
                                        <a:rPr lang="es-ES" altLang="zh-CN" sz="2000" i="1">
                                          <a:solidFill>
                                            <a:srgbClr val="C00000"/>
                                          </a:solidFill>
                                          <a:latin typeface="Cambria Math" panose="02040503050406030204" pitchFamily="18" charset="0"/>
                                        </a:rPr>
                                      </m:ctrlPr>
                                    </m:dPr>
                                    <m:e>
                                      <m:r>
                                        <a:rPr lang="es-ES" altLang="zh-CN" sz="2000" i="1">
                                          <a:solidFill>
                                            <a:srgbClr val="C00000"/>
                                          </a:solidFill>
                                          <a:latin typeface="Cambria Math" panose="02040503050406030204" pitchFamily="18" charset="0"/>
                                        </a:rPr>
                                        <m:t>𝑥</m:t>
                                      </m:r>
                                      <m:r>
                                        <a:rPr lang="es-ES" altLang="zh-CN" sz="2000" i="1">
                                          <a:solidFill>
                                            <a:srgbClr val="C00000"/>
                                          </a:solidFill>
                                          <a:latin typeface="Cambria Math" panose="02040503050406030204" pitchFamily="18" charset="0"/>
                                        </a:rPr>
                                        <m:t>, </m:t>
                                      </m:r>
                                      <m:r>
                                        <a:rPr lang="es-ES" altLang="zh-CN" sz="2000" i="1">
                                          <a:solidFill>
                                            <a:srgbClr val="C00000"/>
                                          </a:solidFill>
                                          <a:latin typeface="Cambria Math" panose="02040503050406030204" pitchFamily="18" charset="0"/>
                                        </a:rPr>
                                        <m:t>𝑦</m:t>
                                      </m:r>
                                    </m:e>
                                  </m:d>
                                </m:e>
                              </m:d>
                            </m:e>
                          </m:d>
                          <m:r>
                            <a:rPr lang="es-ES" altLang="zh-CN" sz="2000" i="1">
                              <a:latin typeface="Cambria Math" panose="02040503050406030204" pitchFamily="18" charset="0"/>
                            </a:rPr>
                            <m:t>⇒</m:t>
                          </m:r>
                          <m:r>
                            <a:rPr lang="es-ES" altLang="zh-CN" sz="2000" i="1">
                              <a:solidFill>
                                <a:srgbClr val="0070C0"/>
                              </a:solidFill>
                              <a:latin typeface="Cambria Math" panose="02040503050406030204" pitchFamily="18" charset="0"/>
                            </a:rPr>
                            <m:t>∃</m:t>
                          </m:r>
                          <m:r>
                            <a:rPr lang="es-ES" altLang="zh-CN" sz="2000" i="1">
                              <a:solidFill>
                                <a:srgbClr val="0070C0"/>
                              </a:solidFill>
                              <a:latin typeface="Cambria Math" panose="02040503050406030204" pitchFamily="18" charset="0"/>
                            </a:rPr>
                            <m:t>𝑦</m:t>
                          </m:r>
                          <m:r>
                            <a:rPr lang="es-ES" altLang="zh-CN" sz="2000" i="1">
                              <a:solidFill>
                                <a:srgbClr val="0070C0"/>
                              </a:solidFill>
                              <a:latin typeface="Cambria Math" panose="02040503050406030204" pitchFamily="18" charset="0"/>
                            </a:rPr>
                            <m:t> </m:t>
                          </m:r>
                          <m:r>
                            <a:rPr lang="es-ES" altLang="zh-CN" sz="2000" i="1">
                              <a:solidFill>
                                <a:srgbClr val="0070C0"/>
                              </a:solidFill>
                              <a:latin typeface="Cambria Math" panose="02040503050406030204" pitchFamily="18" charset="0"/>
                            </a:rPr>
                            <m:t>𝐿𝑜𝑣𝑒𝑠</m:t>
                          </m:r>
                          <m:d>
                            <m:dPr>
                              <m:ctrlPr>
                                <a:rPr lang="es-ES" altLang="zh-CN" sz="2000" i="1">
                                  <a:solidFill>
                                    <a:srgbClr val="0070C0"/>
                                  </a:solidFill>
                                  <a:latin typeface="Cambria Math" panose="02040503050406030204" pitchFamily="18" charset="0"/>
                                </a:rPr>
                              </m:ctrlPr>
                            </m:dPr>
                            <m:e>
                              <m:r>
                                <a:rPr lang="es-ES" altLang="zh-CN" sz="2000" i="1">
                                  <a:solidFill>
                                    <a:srgbClr val="0070C0"/>
                                  </a:solidFill>
                                  <a:latin typeface="Cambria Math" panose="02040503050406030204" pitchFamily="18" charset="0"/>
                                </a:rPr>
                                <m:t>𝑦</m:t>
                              </m:r>
                              <m:r>
                                <a:rPr lang="es-ES" altLang="zh-CN" sz="2000" i="1">
                                  <a:solidFill>
                                    <a:srgbClr val="0070C0"/>
                                  </a:solidFill>
                                  <a:latin typeface="Cambria Math" panose="02040503050406030204" pitchFamily="18" charset="0"/>
                                </a:rPr>
                                <m:t>, </m:t>
                              </m:r>
                              <m:r>
                                <a:rPr lang="es-ES" altLang="zh-CN" sz="2000" i="1">
                                  <a:solidFill>
                                    <a:srgbClr val="0070C0"/>
                                  </a:solidFill>
                                  <a:latin typeface="Cambria Math" panose="02040503050406030204" pitchFamily="18" charset="0"/>
                                </a:rPr>
                                <m:t>𝑥</m:t>
                              </m:r>
                            </m:e>
                          </m:d>
                        </m:e>
                      </m:d>
                    </m:oMath>
                  </m:oMathPara>
                </a14:m>
                <a:endParaRPr lang="zh-CN" altLang="en-US" sz="2000" dirty="0"/>
              </a:p>
            </p:txBody>
          </p:sp>
        </mc:Choice>
        <mc:Fallback>
          <p:sp>
            <p:nvSpPr>
              <p:cNvPr id="33" name="文本框 32"/>
              <p:cNvSpPr txBox="1">
                <a:spLocks noRot="1" noChangeAspect="1" noMove="1" noResize="1" noEditPoints="1" noAdjustHandles="1" noChangeArrowheads="1" noChangeShapeType="1" noTextEdit="1"/>
              </p:cNvSpPr>
              <p:nvPr/>
            </p:nvSpPr>
            <p:spPr>
              <a:xfrm>
                <a:off x="2098053" y="2536689"/>
                <a:ext cx="6564014" cy="636585"/>
              </a:xfrm>
              <a:prstGeom prst="rect">
                <a:avLst/>
              </a:prstGeom>
              <a:blipFill rotWithShape="1">
                <a:blip r:embed="rId2"/>
                <a:stretch>
                  <a:fillRect t="-78" b="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 name="文本框 33"/>
              <p:cNvSpPr txBox="1"/>
              <p:nvPr/>
            </p:nvSpPr>
            <p:spPr>
              <a:xfrm>
                <a:off x="2098053" y="3067061"/>
                <a:ext cx="6738387" cy="636585"/>
              </a:xfrm>
              <a:prstGeom prst="rect">
                <a:avLst/>
              </a:prstGeom>
              <a:noFill/>
            </p:spPr>
            <p:txBody>
              <a:bodyPr wrap="square" rtlCol="0">
                <a:spAutoFit/>
              </a:bodyPr>
              <a:lstStyle/>
              <a:p>
                <a14:m>
                  <m:oMathPara xmlns:m="http://schemas.openxmlformats.org/officeDocument/2006/math">
                    <m:oMathParaPr>
                      <m:jc m:val="left"/>
                    </m:oMathParaPr>
                    <m:oMath xmlns:m="http://schemas.openxmlformats.org/officeDocument/2006/math">
                      <m:r>
                        <a:rPr lang="es-ES" altLang="zh-CN" sz="2000" i="1">
                          <a:latin typeface="Cambria Math" panose="02040503050406030204" pitchFamily="18" charset="0"/>
                          <a:ea typeface="Cambria Math" panose="02040503050406030204" pitchFamily="18" charset="0"/>
                        </a:rPr>
                        <m:t>∀</m:t>
                      </m:r>
                      <m:r>
                        <a:rPr lang="es-ES" altLang="zh-CN" sz="2000" i="1">
                          <a:latin typeface="Cambria Math" panose="02040503050406030204" pitchFamily="18" charset="0"/>
                        </a:rPr>
                        <m:t>𝑥</m:t>
                      </m:r>
                      <m:r>
                        <a:rPr lang="es-ES" altLang="zh-CN" sz="2000" i="1">
                          <a:latin typeface="Cambria Math" panose="02040503050406030204" pitchFamily="18" charset="0"/>
                        </a:rPr>
                        <m:t> </m:t>
                      </m:r>
                      <m:d>
                        <m:dPr>
                          <m:ctrlPr>
                            <a:rPr lang="es-ES" altLang="zh-CN" sz="2000" i="1">
                              <a:latin typeface="Cambria Math" panose="02040503050406030204" pitchFamily="18" charset="0"/>
                            </a:rPr>
                          </m:ctrlPr>
                        </m:dPr>
                        <m:e>
                          <m:r>
                            <a:rPr lang="es-ES" altLang="zh-CN" sz="2000" i="1">
                              <a:latin typeface="Cambria Math" panose="02040503050406030204" pitchFamily="18" charset="0"/>
                            </a:rPr>
                            <m:t>¬</m:t>
                          </m:r>
                          <m:d>
                            <m:dPr>
                              <m:ctrlPr>
                                <a:rPr lang="en-US" altLang="zh-CN" sz="2000" i="1">
                                  <a:solidFill>
                                    <a:srgbClr val="0070C0"/>
                                  </a:solidFill>
                                  <a:latin typeface="Cambria Math" panose="02040503050406030204" pitchFamily="18" charset="0"/>
                                </a:rPr>
                              </m:ctrlPr>
                            </m:dPr>
                            <m:e>
                              <m:r>
                                <a:rPr lang="es-ES" altLang="zh-CN" sz="2000" i="1">
                                  <a:solidFill>
                                    <a:srgbClr val="C00000"/>
                                  </a:solidFill>
                                  <a:latin typeface="Cambria Math" panose="02040503050406030204" pitchFamily="18" charset="0"/>
                                </a:rPr>
                                <m:t>∀</m:t>
                              </m:r>
                              <m:r>
                                <a:rPr lang="es-ES" altLang="zh-CN" sz="2000" i="1">
                                  <a:solidFill>
                                    <a:srgbClr val="C00000"/>
                                  </a:solidFill>
                                  <a:latin typeface="Cambria Math" panose="02040503050406030204" pitchFamily="18" charset="0"/>
                                </a:rPr>
                                <m:t>𝑦</m:t>
                              </m:r>
                              <m:d>
                                <m:dPr>
                                  <m:ctrlPr>
                                    <a:rPr lang="es-ES" altLang="zh-CN" sz="2000" i="1">
                                      <a:solidFill>
                                        <a:srgbClr val="C00000"/>
                                      </a:solidFill>
                                      <a:latin typeface="Cambria Math" panose="02040503050406030204" pitchFamily="18" charset="0"/>
                                    </a:rPr>
                                  </m:ctrlPr>
                                </m:dPr>
                                <m:e>
                                  <m:r>
                                    <a:rPr lang="es-ES" altLang="zh-CN" sz="2000" i="1">
                                      <a:solidFill>
                                        <a:srgbClr val="C00000"/>
                                      </a:solidFill>
                                      <a:latin typeface="Cambria Math" panose="02040503050406030204" pitchFamily="18" charset="0"/>
                                    </a:rPr>
                                    <m:t>¬</m:t>
                                  </m:r>
                                  <m:r>
                                    <a:rPr lang="es-ES" altLang="zh-CN" sz="2000" i="1">
                                      <a:solidFill>
                                        <a:srgbClr val="C00000"/>
                                      </a:solidFill>
                                      <a:latin typeface="Cambria Math" panose="02040503050406030204" pitchFamily="18" charset="0"/>
                                    </a:rPr>
                                    <m:t>𝐴𝑛𝑖𝑚𝑎𝑙</m:t>
                                  </m:r>
                                  <m:d>
                                    <m:dPr>
                                      <m:ctrlPr>
                                        <a:rPr lang="es-ES" altLang="zh-CN" sz="2000" i="1">
                                          <a:solidFill>
                                            <a:srgbClr val="C00000"/>
                                          </a:solidFill>
                                          <a:latin typeface="Cambria Math" panose="02040503050406030204" pitchFamily="18" charset="0"/>
                                        </a:rPr>
                                      </m:ctrlPr>
                                    </m:dPr>
                                    <m:e>
                                      <m:r>
                                        <a:rPr lang="es-ES" altLang="zh-CN" sz="2000" i="1">
                                          <a:solidFill>
                                            <a:srgbClr val="C00000"/>
                                          </a:solidFill>
                                          <a:latin typeface="Cambria Math" panose="02040503050406030204" pitchFamily="18" charset="0"/>
                                        </a:rPr>
                                        <m:t>𝑦</m:t>
                                      </m:r>
                                    </m:e>
                                  </m:d>
                                  <m:r>
                                    <a:rPr lang="es-ES" altLang="zh-CN" sz="2000" i="1">
                                      <a:solidFill>
                                        <a:srgbClr val="C00000"/>
                                      </a:solidFill>
                                      <a:latin typeface="Cambria Math" panose="02040503050406030204" pitchFamily="18" charset="0"/>
                                    </a:rPr>
                                    <m:t>∨</m:t>
                                  </m:r>
                                  <m:r>
                                    <a:rPr lang="es-ES" altLang="zh-CN" sz="2000" i="1">
                                      <a:solidFill>
                                        <a:srgbClr val="C00000"/>
                                      </a:solidFill>
                                      <a:latin typeface="Cambria Math" panose="02040503050406030204" pitchFamily="18" charset="0"/>
                                    </a:rPr>
                                    <m:t>𝐿𝑜𝑣𝑒𝑠</m:t>
                                  </m:r>
                                  <m:d>
                                    <m:dPr>
                                      <m:ctrlPr>
                                        <a:rPr lang="es-ES" altLang="zh-CN" sz="2000" i="1">
                                          <a:solidFill>
                                            <a:srgbClr val="C00000"/>
                                          </a:solidFill>
                                          <a:latin typeface="Cambria Math" panose="02040503050406030204" pitchFamily="18" charset="0"/>
                                        </a:rPr>
                                      </m:ctrlPr>
                                    </m:dPr>
                                    <m:e>
                                      <m:r>
                                        <a:rPr lang="es-ES" altLang="zh-CN" sz="2000" i="1">
                                          <a:solidFill>
                                            <a:srgbClr val="C00000"/>
                                          </a:solidFill>
                                          <a:latin typeface="Cambria Math" panose="02040503050406030204" pitchFamily="18" charset="0"/>
                                        </a:rPr>
                                        <m:t>𝑥</m:t>
                                      </m:r>
                                      <m:r>
                                        <a:rPr lang="es-ES" altLang="zh-CN" sz="2000" i="1">
                                          <a:solidFill>
                                            <a:srgbClr val="C00000"/>
                                          </a:solidFill>
                                          <a:latin typeface="Cambria Math" panose="02040503050406030204" pitchFamily="18" charset="0"/>
                                        </a:rPr>
                                        <m:t>, </m:t>
                                      </m:r>
                                      <m:r>
                                        <a:rPr lang="es-ES" altLang="zh-CN" sz="2000" i="1">
                                          <a:solidFill>
                                            <a:srgbClr val="C00000"/>
                                          </a:solidFill>
                                          <a:latin typeface="Cambria Math" panose="02040503050406030204" pitchFamily="18" charset="0"/>
                                        </a:rPr>
                                        <m:t>𝑦</m:t>
                                      </m:r>
                                    </m:e>
                                  </m:d>
                                </m:e>
                              </m:d>
                            </m:e>
                          </m:d>
                          <m:r>
                            <a:rPr lang="es-ES" altLang="zh-CN" sz="2000" i="1">
                              <a:latin typeface="Cambria Math" panose="02040503050406030204" pitchFamily="18" charset="0"/>
                            </a:rPr>
                            <m:t>∨</m:t>
                          </m:r>
                          <m:r>
                            <a:rPr lang="es-ES" altLang="zh-CN" sz="2000" i="1">
                              <a:solidFill>
                                <a:srgbClr val="0070C0"/>
                              </a:solidFill>
                              <a:latin typeface="Cambria Math" panose="02040503050406030204" pitchFamily="18" charset="0"/>
                            </a:rPr>
                            <m:t>∃</m:t>
                          </m:r>
                          <m:r>
                            <a:rPr lang="es-ES" altLang="zh-CN" sz="2000" i="1">
                              <a:solidFill>
                                <a:srgbClr val="0070C0"/>
                              </a:solidFill>
                              <a:latin typeface="Cambria Math" panose="02040503050406030204" pitchFamily="18" charset="0"/>
                            </a:rPr>
                            <m:t>𝑦</m:t>
                          </m:r>
                          <m:r>
                            <a:rPr lang="es-ES" altLang="zh-CN" sz="2000" i="1">
                              <a:solidFill>
                                <a:srgbClr val="0070C0"/>
                              </a:solidFill>
                              <a:latin typeface="Cambria Math" panose="02040503050406030204" pitchFamily="18" charset="0"/>
                            </a:rPr>
                            <m:t> </m:t>
                          </m:r>
                          <m:r>
                            <a:rPr lang="es-ES" altLang="zh-CN" sz="2000" i="1">
                              <a:solidFill>
                                <a:srgbClr val="0070C0"/>
                              </a:solidFill>
                              <a:latin typeface="Cambria Math" panose="02040503050406030204" pitchFamily="18" charset="0"/>
                            </a:rPr>
                            <m:t>𝐿𝑜𝑣𝑒𝑠</m:t>
                          </m:r>
                          <m:d>
                            <m:dPr>
                              <m:ctrlPr>
                                <a:rPr lang="es-ES" altLang="zh-CN" sz="2000" i="1">
                                  <a:solidFill>
                                    <a:srgbClr val="0070C0"/>
                                  </a:solidFill>
                                  <a:latin typeface="Cambria Math" panose="02040503050406030204" pitchFamily="18" charset="0"/>
                                </a:rPr>
                              </m:ctrlPr>
                            </m:dPr>
                            <m:e>
                              <m:r>
                                <a:rPr lang="es-ES" altLang="zh-CN" sz="2000" i="1">
                                  <a:solidFill>
                                    <a:srgbClr val="0070C0"/>
                                  </a:solidFill>
                                  <a:latin typeface="Cambria Math" panose="02040503050406030204" pitchFamily="18" charset="0"/>
                                </a:rPr>
                                <m:t>𝑦</m:t>
                              </m:r>
                              <m:r>
                                <a:rPr lang="es-ES" altLang="zh-CN" sz="2000" i="1">
                                  <a:solidFill>
                                    <a:srgbClr val="0070C0"/>
                                  </a:solidFill>
                                  <a:latin typeface="Cambria Math" panose="02040503050406030204" pitchFamily="18" charset="0"/>
                                </a:rPr>
                                <m:t>, </m:t>
                              </m:r>
                              <m:r>
                                <a:rPr lang="es-ES" altLang="zh-CN" sz="2000" i="1">
                                  <a:solidFill>
                                    <a:srgbClr val="0070C0"/>
                                  </a:solidFill>
                                  <a:latin typeface="Cambria Math" panose="02040503050406030204" pitchFamily="18" charset="0"/>
                                </a:rPr>
                                <m:t>𝑥</m:t>
                              </m:r>
                            </m:e>
                          </m:d>
                        </m:e>
                      </m:d>
                    </m:oMath>
                  </m:oMathPara>
                </a14:m>
                <a:endParaRPr lang="zh-CN" altLang="en-US" sz="2000" dirty="0"/>
              </a:p>
            </p:txBody>
          </p:sp>
        </mc:Choice>
        <mc:Fallback>
          <p:sp>
            <p:nvSpPr>
              <p:cNvPr id="34" name="文本框 33"/>
              <p:cNvSpPr txBox="1">
                <a:spLocks noRot="1" noChangeAspect="1" noMove="1" noResize="1" noEditPoints="1" noAdjustHandles="1" noChangeArrowheads="1" noChangeShapeType="1" noTextEdit="1"/>
              </p:cNvSpPr>
              <p:nvPr/>
            </p:nvSpPr>
            <p:spPr>
              <a:xfrm>
                <a:off x="2098053" y="3067061"/>
                <a:ext cx="6738387" cy="636585"/>
              </a:xfrm>
              <a:prstGeom prst="rect">
                <a:avLst/>
              </a:prstGeom>
              <a:blipFill rotWithShape="1">
                <a:blip r:embed="rId3"/>
                <a:stretch>
                  <a:fillRect t="-2" r="6" b="5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5" name="文本框 34"/>
              <p:cNvSpPr txBox="1"/>
              <p:nvPr/>
            </p:nvSpPr>
            <p:spPr>
              <a:xfrm>
                <a:off x="2098040" y="3645535"/>
                <a:ext cx="7004050" cy="647700"/>
              </a:xfrm>
              <a:prstGeom prst="rect">
                <a:avLst/>
              </a:prstGeom>
              <a:noFill/>
            </p:spPr>
            <p:txBody>
              <a:bodyPr wrap="square" rtlCol="0">
                <a:spAutoFit/>
              </a:bodyPr>
              <a:lstStyle/>
              <a:p>
                <a14:m>
                  <m:oMathPara xmlns:m="http://schemas.openxmlformats.org/officeDocument/2006/math">
                    <m:oMathParaPr>
                      <m:jc m:val="left"/>
                    </m:oMathParaPr>
                    <m:oMath xmlns:m="http://schemas.openxmlformats.org/officeDocument/2006/math">
                      <m:r>
                        <a:rPr lang="es-ES" altLang="zh-CN" sz="2000" i="1">
                          <a:latin typeface="Cambria Math" panose="02040503050406030204" pitchFamily="18" charset="0"/>
                          <a:ea typeface="Cambria Math" panose="02040503050406030204" pitchFamily="18" charset="0"/>
                        </a:rPr>
                        <m:t>∀</m:t>
                      </m:r>
                      <m:r>
                        <a:rPr lang="es-ES" altLang="zh-CN" sz="2000" i="1">
                          <a:latin typeface="Cambria Math" panose="02040503050406030204" pitchFamily="18" charset="0"/>
                        </a:rPr>
                        <m:t>𝑥</m:t>
                      </m:r>
                      <m:r>
                        <a:rPr lang="es-ES" altLang="zh-CN" sz="2000" i="1">
                          <a:latin typeface="Cambria Math" panose="02040503050406030204" pitchFamily="18" charset="0"/>
                        </a:rPr>
                        <m:t> </m:t>
                      </m:r>
                      <m:d>
                        <m:dPr>
                          <m:ctrlPr>
                            <a:rPr lang="es-ES" altLang="zh-CN" sz="2000" i="1">
                              <a:latin typeface="Cambria Math" panose="02040503050406030204" pitchFamily="18" charset="0"/>
                            </a:rPr>
                          </m:ctrlPr>
                        </m:dPr>
                        <m:e>
                          <m:d>
                            <m:dPr>
                              <m:ctrlPr>
                                <a:rPr lang="en-US" altLang="zh-CN" sz="2000" i="1">
                                  <a:solidFill>
                                    <a:srgbClr val="0070C0"/>
                                  </a:solidFill>
                                  <a:latin typeface="Cambria Math" panose="02040503050406030204" pitchFamily="18" charset="0"/>
                                </a:rPr>
                              </m:ctrlPr>
                            </m:dPr>
                            <m:e>
                              <m:r>
                                <a:rPr lang="es-ES" altLang="zh-CN" sz="2000" b="1" i="1" smtClean="0">
                                  <a:solidFill>
                                    <a:srgbClr val="7030A0"/>
                                  </a:solidFill>
                                  <a:latin typeface="Cambria Math" panose="02040503050406030204" pitchFamily="18" charset="0"/>
                                </a:rPr>
                                <m:t>∃</m:t>
                              </m:r>
                              <m:r>
                                <a:rPr lang="es-ES" altLang="zh-CN" sz="2000" b="1" i="1">
                                  <a:solidFill>
                                    <a:srgbClr val="7030A0"/>
                                  </a:solidFill>
                                  <a:latin typeface="Cambria Math" panose="02040503050406030204" pitchFamily="18" charset="0"/>
                                </a:rPr>
                                <m:t>𝒚</m:t>
                              </m:r>
                              <m:d>
                                <m:dPr>
                                  <m:ctrlPr>
                                    <a:rPr lang="es-ES" altLang="zh-CN" sz="2000" i="1">
                                      <a:solidFill>
                                        <a:srgbClr val="C00000"/>
                                      </a:solidFill>
                                      <a:latin typeface="Cambria Math" panose="02040503050406030204" pitchFamily="18" charset="0"/>
                                    </a:rPr>
                                  </m:ctrlPr>
                                </m:dPr>
                                <m:e>
                                  <m:r>
                                    <a:rPr lang="es-ES" altLang="zh-CN" sz="2000" i="1">
                                      <a:solidFill>
                                        <a:srgbClr val="C00000"/>
                                      </a:solidFill>
                                      <a:latin typeface="Cambria Math" panose="02040503050406030204" pitchFamily="18" charset="0"/>
                                    </a:rPr>
                                    <m:t>𝐴𝑛𝑖𝑚𝑎𝑙</m:t>
                                  </m:r>
                                  <m:d>
                                    <m:dPr>
                                      <m:ctrlPr>
                                        <a:rPr lang="es-ES" altLang="zh-CN" sz="2000" i="1">
                                          <a:solidFill>
                                            <a:srgbClr val="C00000"/>
                                          </a:solidFill>
                                          <a:latin typeface="Cambria Math" panose="02040503050406030204" pitchFamily="18" charset="0"/>
                                        </a:rPr>
                                      </m:ctrlPr>
                                    </m:dPr>
                                    <m:e>
                                      <m:r>
                                        <a:rPr lang="es-ES" altLang="zh-CN" sz="2000" i="1">
                                          <a:solidFill>
                                            <a:srgbClr val="C00000"/>
                                          </a:solidFill>
                                          <a:latin typeface="Cambria Math" panose="02040503050406030204" pitchFamily="18" charset="0"/>
                                        </a:rPr>
                                        <m:t>𝑦</m:t>
                                      </m:r>
                                    </m:e>
                                  </m:d>
                                  <m:r>
                                    <a:rPr lang="es-ES" altLang="zh-CN" sz="2000" b="1" i="1" smtClean="0">
                                      <a:solidFill>
                                        <a:srgbClr val="7030A0"/>
                                      </a:solidFill>
                                      <a:latin typeface="Cambria Math" panose="02040503050406030204" pitchFamily="18" charset="0"/>
                                    </a:rPr>
                                    <m:t>∧¬</m:t>
                                  </m:r>
                                  <m:r>
                                    <a:rPr lang="es-ES" altLang="zh-CN" sz="2000" i="1">
                                      <a:solidFill>
                                        <a:srgbClr val="C00000"/>
                                      </a:solidFill>
                                      <a:latin typeface="Cambria Math" panose="02040503050406030204" pitchFamily="18" charset="0"/>
                                    </a:rPr>
                                    <m:t>𝐿𝑜𝑣𝑒𝑠</m:t>
                                  </m:r>
                                  <m:d>
                                    <m:dPr>
                                      <m:ctrlPr>
                                        <a:rPr lang="es-ES" altLang="zh-CN" sz="2000" i="1">
                                          <a:solidFill>
                                            <a:srgbClr val="C00000"/>
                                          </a:solidFill>
                                          <a:latin typeface="Cambria Math" panose="02040503050406030204" pitchFamily="18" charset="0"/>
                                        </a:rPr>
                                      </m:ctrlPr>
                                    </m:dPr>
                                    <m:e>
                                      <m:r>
                                        <a:rPr lang="es-ES" altLang="zh-CN" sz="2000" i="1">
                                          <a:solidFill>
                                            <a:srgbClr val="C00000"/>
                                          </a:solidFill>
                                          <a:latin typeface="Cambria Math" panose="02040503050406030204" pitchFamily="18" charset="0"/>
                                        </a:rPr>
                                        <m:t>𝑥</m:t>
                                      </m:r>
                                      <m:r>
                                        <a:rPr lang="es-ES" altLang="zh-CN" sz="2000" i="1">
                                          <a:solidFill>
                                            <a:srgbClr val="C00000"/>
                                          </a:solidFill>
                                          <a:latin typeface="Cambria Math" panose="02040503050406030204" pitchFamily="18" charset="0"/>
                                        </a:rPr>
                                        <m:t>, </m:t>
                                      </m:r>
                                      <m:r>
                                        <a:rPr lang="es-ES" altLang="zh-CN" sz="2000" i="1">
                                          <a:solidFill>
                                            <a:srgbClr val="C00000"/>
                                          </a:solidFill>
                                          <a:latin typeface="Cambria Math" panose="02040503050406030204" pitchFamily="18" charset="0"/>
                                        </a:rPr>
                                        <m:t>𝑦</m:t>
                                      </m:r>
                                    </m:e>
                                  </m:d>
                                </m:e>
                              </m:d>
                            </m:e>
                          </m:d>
                          <m:r>
                            <a:rPr lang="es-ES" altLang="zh-CN" sz="2000" i="1">
                              <a:latin typeface="Cambria Math" panose="02040503050406030204" pitchFamily="18" charset="0"/>
                            </a:rPr>
                            <m:t>∨</m:t>
                          </m:r>
                          <m:r>
                            <a:rPr lang="es-ES" altLang="zh-CN" sz="2000" i="1">
                              <a:solidFill>
                                <a:srgbClr val="0070C0"/>
                              </a:solidFill>
                              <a:latin typeface="Cambria Math" panose="02040503050406030204" pitchFamily="18" charset="0"/>
                            </a:rPr>
                            <m:t>∃</m:t>
                          </m:r>
                          <m:r>
                            <a:rPr lang="es-ES" altLang="zh-CN" sz="2000" i="1">
                              <a:solidFill>
                                <a:srgbClr val="0070C0"/>
                              </a:solidFill>
                              <a:latin typeface="Cambria Math" panose="02040503050406030204" pitchFamily="18" charset="0"/>
                            </a:rPr>
                            <m:t>𝑦</m:t>
                          </m:r>
                          <m:r>
                            <a:rPr lang="es-ES" altLang="zh-CN" sz="2000" i="1">
                              <a:solidFill>
                                <a:srgbClr val="0070C0"/>
                              </a:solidFill>
                              <a:latin typeface="Cambria Math" panose="02040503050406030204" pitchFamily="18" charset="0"/>
                            </a:rPr>
                            <m:t> </m:t>
                          </m:r>
                          <m:r>
                            <a:rPr lang="es-ES" altLang="zh-CN" sz="2000" i="1">
                              <a:solidFill>
                                <a:srgbClr val="0070C0"/>
                              </a:solidFill>
                              <a:latin typeface="Cambria Math" panose="02040503050406030204" pitchFamily="18" charset="0"/>
                            </a:rPr>
                            <m:t>𝐿𝑜𝑣𝑒𝑠</m:t>
                          </m:r>
                          <m:d>
                            <m:dPr>
                              <m:ctrlPr>
                                <a:rPr lang="es-ES" altLang="zh-CN" sz="2000" i="1">
                                  <a:solidFill>
                                    <a:srgbClr val="0070C0"/>
                                  </a:solidFill>
                                  <a:latin typeface="Cambria Math" panose="02040503050406030204" pitchFamily="18" charset="0"/>
                                </a:rPr>
                              </m:ctrlPr>
                            </m:dPr>
                            <m:e>
                              <m:r>
                                <a:rPr lang="es-ES" altLang="zh-CN" sz="2000" i="1">
                                  <a:solidFill>
                                    <a:srgbClr val="0070C0"/>
                                  </a:solidFill>
                                  <a:latin typeface="Cambria Math" panose="02040503050406030204" pitchFamily="18" charset="0"/>
                                </a:rPr>
                                <m:t>𝑦</m:t>
                              </m:r>
                              <m:r>
                                <a:rPr lang="es-ES" altLang="zh-CN" sz="2000" i="1">
                                  <a:solidFill>
                                    <a:srgbClr val="0070C0"/>
                                  </a:solidFill>
                                  <a:latin typeface="Cambria Math" panose="02040503050406030204" pitchFamily="18" charset="0"/>
                                </a:rPr>
                                <m:t>, </m:t>
                              </m:r>
                              <m:r>
                                <a:rPr lang="es-ES" altLang="zh-CN" sz="2000" i="1">
                                  <a:solidFill>
                                    <a:srgbClr val="0070C0"/>
                                  </a:solidFill>
                                  <a:latin typeface="Cambria Math" panose="02040503050406030204" pitchFamily="18" charset="0"/>
                                </a:rPr>
                                <m:t>𝑥</m:t>
                              </m:r>
                            </m:e>
                          </m:d>
                        </m:e>
                      </m:d>
                    </m:oMath>
                  </m:oMathPara>
                </a14:m>
                <a:endParaRPr lang="zh-CN" altLang="en-US" sz="2000" dirty="0"/>
              </a:p>
            </p:txBody>
          </p:sp>
        </mc:Choice>
        <mc:Fallback>
          <p:sp>
            <p:nvSpPr>
              <p:cNvPr id="35" name="文本框 34"/>
              <p:cNvSpPr txBox="1">
                <a:spLocks noRot="1" noChangeAspect="1" noMove="1" noResize="1" noEditPoints="1" noAdjustHandles="1" noChangeArrowheads="1" noChangeShapeType="1" noTextEdit="1"/>
              </p:cNvSpPr>
              <p:nvPr/>
            </p:nvSpPr>
            <p:spPr>
              <a:xfrm>
                <a:off x="2098040" y="3645535"/>
                <a:ext cx="7004050" cy="64770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6" name="文本框 35"/>
              <p:cNvSpPr txBox="1"/>
              <p:nvPr/>
            </p:nvSpPr>
            <p:spPr>
              <a:xfrm>
                <a:off x="2098053" y="4196566"/>
                <a:ext cx="6402840" cy="636585"/>
              </a:xfrm>
              <a:prstGeom prst="rect">
                <a:avLst/>
              </a:prstGeom>
              <a:noFill/>
            </p:spPr>
            <p:txBody>
              <a:bodyPr wrap="square" rtlCol="0">
                <a:spAutoFit/>
              </a:bodyPr>
              <a:lstStyle/>
              <a:p>
                <a14:m>
                  <m:oMathPara xmlns:m="http://schemas.openxmlformats.org/officeDocument/2006/math">
                    <m:oMathParaPr>
                      <m:jc m:val="left"/>
                    </m:oMathParaPr>
                    <m:oMath xmlns:m="http://schemas.openxmlformats.org/officeDocument/2006/math">
                      <m:r>
                        <a:rPr lang="es-ES" altLang="zh-CN" sz="2000" i="1" smtClean="0">
                          <a:latin typeface="Cambria Math" panose="02040503050406030204" pitchFamily="18" charset="0"/>
                          <a:ea typeface="Cambria Math" panose="02040503050406030204" pitchFamily="18" charset="0"/>
                        </a:rPr>
                        <m:t>∀</m:t>
                      </m:r>
                      <m:r>
                        <a:rPr lang="es-ES" altLang="zh-CN" sz="2000" i="1">
                          <a:latin typeface="Cambria Math" panose="02040503050406030204" pitchFamily="18" charset="0"/>
                        </a:rPr>
                        <m:t>𝑥</m:t>
                      </m:r>
                      <m:r>
                        <a:rPr lang="es-ES" altLang="zh-CN" sz="2000" i="1">
                          <a:latin typeface="Cambria Math" panose="02040503050406030204" pitchFamily="18" charset="0"/>
                        </a:rPr>
                        <m:t> </m:t>
                      </m:r>
                      <m:d>
                        <m:dPr>
                          <m:ctrlPr>
                            <a:rPr lang="es-ES" altLang="zh-CN" sz="2000" i="1">
                              <a:latin typeface="Cambria Math" panose="02040503050406030204" pitchFamily="18" charset="0"/>
                            </a:rPr>
                          </m:ctrlPr>
                        </m:dPr>
                        <m:e>
                          <m:d>
                            <m:dPr>
                              <m:ctrlPr>
                                <a:rPr lang="en-US" altLang="zh-CN" sz="2000" i="1">
                                  <a:solidFill>
                                    <a:srgbClr val="0070C0"/>
                                  </a:solidFill>
                                  <a:latin typeface="Cambria Math" panose="02040503050406030204" pitchFamily="18" charset="0"/>
                                </a:rPr>
                              </m:ctrlPr>
                            </m:dPr>
                            <m:e>
                              <m:r>
                                <a:rPr lang="es-ES" altLang="zh-CN" sz="2000" i="1" smtClean="0">
                                  <a:solidFill>
                                    <a:srgbClr val="C00000"/>
                                  </a:solidFill>
                                  <a:latin typeface="Cambria Math" panose="02040503050406030204" pitchFamily="18" charset="0"/>
                                </a:rPr>
                                <m:t>∃</m:t>
                              </m:r>
                              <m:r>
                                <a:rPr lang="es-ES" altLang="zh-CN" sz="2000" i="1">
                                  <a:solidFill>
                                    <a:srgbClr val="C00000"/>
                                  </a:solidFill>
                                  <a:latin typeface="Cambria Math" panose="02040503050406030204" pitchFamily="18" charset="0"/>
                                </a:rPr>
                                <m:t>𝑦</m:t>
                              </m:r>
                              <m:d>
                                <m:dPr>
                                  <m:ctrlPr>
                                    <a:rPr lang="es-ES" altLang="zh-CN" sz="2000" i="1">
                                      <a:solidFill>
                                        <a:srgbClr val="C00000"/>
                                      </a:solidFill>
                                      <a:latin typeface="Cambria Math" panose="02040503050406030204" pitchFamily="18" charset="0"/>
                                    </a:rPr>
                                  </m:ctrlPr>
                                </m:dPr>
                                <m:e>
                                  <m:r>
                                    <a:rPr lang="es-ES" altLang="zh-CN" sz="2000" i="1">
                                      <a:solidFill>
                                        <a:srgbClr val="C00000"/>
                                      </a:solidFill>
                                      <a:latin typeface="Cambria Math" panose="02040503050406030204" pitchFamily="18" charset="0"/>
                                    </a:rPr>
                                    <m:t>𝐴𝑛𝑖𝑚𝑎𝑙</m:t>
                                  </m:r>
                                  <m:d>
                                    <m:dPr>
                                      <m:ctrlPr>
                                        <a:rPr lang="es-ES" altLang="zh-CN" sz="2000" i="1">
                                          <a:solidFill>
                                            <a:srgbClr val="C00000"/>
                                          </a:solidFill>
                                          <a:latin typeface="Cambria Math" panose="02040503050406030204" pitchFamily="18" charset="0"/>
                                        </a:rPr>
                                      </m:ctrlPr>
                                    </m:dPr>
                                    <m:e>
                                      <m:r>
                                        <a:rPr lang="es-ES" altLang="zh-CN" sz="2000" i="1">
                                          <a:solidFill>
                                            <a:srgbClr val="C00000"/>
                                          </a:solidFill>
                                          <a:latin typeface="Cambria Math" panose="02040503050406030204" pitchFamily="18" charset="0"/>
                                        </a:rPr>
                                        <m:t>𝑦</m:t>
                                      </m:r>
                                    </m:e>
                                  </m:d>
                                  <m:r>
                                    <a:rPr lang="es-ES" altLang="zh-CN" sz="2000" i="1">
                                      <a:solidFill>
                                        <a:srgbClr val="C00000"/>
                                      </a:solidFill>
                                      <a:latin typeface="Cambria Math" panose="02040503050406030204" pitchFamily="18" charset="0"/>
                                    </a:rPr>
                                    <m:t>∧¬</m:t>
                                  </m:r>
                                  <m:r>
                                    <a:rPr lang="es-ES" altLang="zh-CN" sz="2000" i="1">
                                      <a:solidFill>
                                        <a:srgbClr val="C00000"/>
                                      </a:solidFill>
                                      <a:latin typeface="Cambria Math" panose="02040503050406030204" pitchFamily="18" charset="0"/>
                                    </a:rPr>
                                    <m:t>𝐿𝑜𝑣𝑒𝑠</m:t>
                                  </m:r>
                                  <m:d>
                                    <m:dPr>
                                      <m:ctrlPr>
                                        <a:rPr lang="es-ES" altLang="zh-CN" sz="2000" i="1">
                                          <a:solidFill>
                                            <a:srgbClr val="C00000"/>
                                          </a:solidFill>
                                          <a:latin typeface="Cambria Math" panose="02040503050406030204" pitchFamily="18" charset="0"/>
                                        </a:rPr>
                                      </m:ctrlPr>
                                    </m:dPr>
                                    <m:e>
                                      <m:r>
                                        <a:rPr lang="es-ES" altLang="zh-CN" sz="2000" i="1">
                                          <a:solidFill>
                                            <a:srgbClr val="C00000"/>
                                          </a:solidFill>
                                          <a:latin typeface="Cambria Math" panose="02040503050406030204" pitchFamily="18" charset="0"/>
                                        </a:rPr>
                                        <m:t>𝑥</m:t>
                                      </m:r>
                                      <m:r>
                                        <a:rPr lang="es-ES" altLang="zh-CN" sz="2000" i="1">
                                          <a:solidFill>
                                            <a:srgbClr val="C00000"/>
                                          </a:solidFill>
                                          <a:latin typeface="Cambria Math" panose="02040503050406030204" pitchFamily="18" charset="0"/>
                                        </a:rPr>
                                        <m:t>, </m:t>
                                      </m:r>
                                      <m:r>
                                        <a:rPr lang="es-ES" altLang="zh-CN" sz="2000" i="1">
                                          <a:solidFill>
                                            <a:srgbClr val="C00000"/>
                                          </a:solidFill>
                                          <a:latin typeface="Cambria Math" panose="02040503050406030204" pitchFamily="18" charset="0"/>
                                        </a:rPr>
                                        <m:t>𝑦</m:t>
                                      </m:r>
                                    </m:e>
                                  </m:d>
                                </m:e>
                              </m:d>
                            </m:e>
                          </m:d>
                          <m:r>
                            <a:rPr lang="es-ES" altLang="zh-CN" sz="2000" i="1">
                              <a:latin typeface="Cambria Math" panose="02040503050406030204" pitchFamily="18" charset="0"/>
                            </a:rPr>
                            <m:t>∨</m:t>
                          </m:r>
                          <m:r>
                            <a:rPr lang="es-ES" altLang="zh-CN" sz="2000" i="1">
                              <a:solidFill>
                                <a:srgbClr val="0070C0"/>
                              </a:solidFill>
                              <a:latin typeface="Cambria Math" panose="02040503050406030204" pitchFamily="18" charset="0"/>
                            </a:rPr>
                            <m:t>∃</m:t>
                          </m:r>
                          <m:r>
                            <a:rPr lang="en-US" altLang="zh-CN" sz="2000" b="1" i="1" smtClean="0">
                              <a:solidFill>
                                <a:srgbClr val="7030A0"/>
                              </a:solidFill>
                              <a:latin typeface="Cambria Math" panose="02040503050406030204" pitchFamily="18" charset="0"/>
                            </a:rPr>
                            <m:t>𝒛</m:t>
                          </m:r>
                          <m:r>
                            <a:rPr lang="es-ES" altLang="zh-CN" sz="2000" i="1">
                              <a:solidFill>
                                <a:srgbClr val="0070C0"/>
                              </a:solidFill>
                              <a:latin typeface="Cambria Math" panose="02040503050406030204" pitchFamily="18" charset="0"/>
                            </a:rPr>
                            <m:t> </m:t>
                          </m:r>
                          <m:r>
                            <a:rPr lang="es-ES" altLang="zh-CN" sz="2000" i="1">
                              <a:solidFill>
                                <a:srgbClr val="0070C0"/>
                              </a:solidFill>
                              <a:latin typeface="Cambria Math" panose="02040503050406030204" pitchFamily="18" charset="0"/>
                            </a:rPr>
                            <m:t>𝐿𝑜𝑣𝑒𝑠</m:t>
                          </m:r>
                          <m:d>
                            <m:dPr>
                              <m:ctrlPr>
                                <a:rPr lang="es-ES" altLang="zh-CN" sz="2000" i="1">
                                  <a:solidFill>
                                    <a:srgbClr val="0070C0"/>
                                  </a:solidFill>
                                  <a:latin typeface="Cambria Math" panose="02040503050406030204" pitchFamily="18" charset="0"/>
                                </a:rPr>
                              </m:ctrlPr>
                            </m:dPr>
                            <m:e>
                              <m:r>
                                <a:rPr lang="en-US" altLang="zh-CN" sz="2000" b="1" i="1" smtClean="0">
                                  <a:solidFill>
                                    <a:srgbClr val="7030A0"/>
                                  </a:solidFill>
                                  <a:latin typeface="Cambria Math" panose="02040503050406030204" pitchFamily="18" charset="0"/>
                                </a:rPr>
                                <m:t>𝒛</m:t>
                              </m:r>
                              <m:r>
                                <a:rPr lang="es-ES" altLang="zh-CN" sz="2000" i="1">
                                  <a:solidFill>
                                    <a:srgbClr val="0070C0"/>
                                  </a:solidFill>
                                  <a:latin typeface="Cambria Math" panose="02040503050406030204" pitchFamily="18" charset="0"/>
                                </a:rPr>
                                <m:t>, </m:t>
                              </m:r>
                              <m:r>
                                <a:rPr lang="es-ES" altLang="zh-CN" sz="2000" i="1">
                                  <a:solidFill>
                                    <a:srgbClr val="0070C0"/>
                                  </a:solidFill>
                                  <a:latin typeface="Cambria Math" panose="02040503050406030204" pitchFamily="18" charset="0"/>
                                </a:rPr>
                                <m:t>𝑥</m:t>
                              </m:r>
                            </m:e>
                          </m:d>
                        </m:e>
                      </m:d>
                    </m:oMath>
                  </m:oMathPara>
                </a14:m>
                <a:endParaRPr lang="zh-CN" altLang="en-US" sz="2000" dirty="0"/>
              </a:p>
            </p:txBody>
          </p:sp>
        </mc:Choice>
        <mc:Fallback>
          <p:sp>
            <p:nvSpPr>
              <p:cNvPr id="36" name="文本框 35"/>
              <p:cNvSpPr txBox="1">
                <a:spLocks noRot="1" noChangeAspect="1" noMove="1" noResize="1" noEditPoints="1" noAdjustHandles="1" noChangeArrowheads="1" noChangeShapeType="1" noTextEdit="1"/>
              </p:cNvSpPr>
              <p:nvPr/>
            </p:nvSpPr>
            <p:spPr>
              <a:xfrm>
                <a:off x="2098053" y="4196566"/>
                <a:ext cx="6402840" cy="636585"/>
              </a:xfrm>
              <a:prstGeom prst="rect">
                <a:avLst/>
              </a:prstGeom>
              <a:blipFill rotWithShape="1">
                <a:blip r:embed="rId5"/>
                <a:stretch>
                  <a:fillRect t="-76" r="2" b="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 name="文本框 36"/>
              <p:cNvSpPr txBox="1"/>
              <p:nvPr/>
            </p:nvSpPr>
            <p:spPr>
              <a:xfrm>
                <a:off x="2098053" y="4797738"/>
                <a:ext cx="6938443" cy="636585"/>
              </a:xfrm>
              <a:prstGeom prst="rect">
                <a:avLst/>
              </a:prstGeom>
              <a:noFill/>
            </p:spPr>
            <p:txBody>
              <a:bodyPr wrap="square" rtlCol="0">
                <a:spAutoFit/>
              </a:bodyPr>
              <a:lstStyle/>
              <a:p>
                <a14:m>
                  <m:oMathPara xmlns:m="http://schemas.openxmlformats.org/officeDocument/2006/math">
                    <m:oMathParaPr>
                      <m:jc m:val="left"/>
                    </m:oMathParaPr>
                    <m:oMath xmlns:m="http://schemas.openxmlformats.org/officeDocument/2006/math">
                      <m:r>
                        <a:rPr lang="es-ES" altLang="zh-CN" sz="2000" i="1" smtClean="0">
                          <a:latin typeface="Cambria Math" panose="02040503050406030204" pitchFamily="18" charset="0"/>
                          <a:ea typeface="Cambria Math" panose="02040503050406030204" pitchFamily="18" charset="0"/>
                        </a:rPr>
                        <m:t>∀</m:t>
                      </m:r>
                      <m:r>
                        <a:rPr lang="es-ES" altLang="zh-CN" sz="2000" i="1">
                          <a:latin typeface="Cambria Math" panose="02040503050406030204" pitchFamily="18" charset="0"/>
                        </a:rPr>
                        <m:t>𝑥</m:t>
                      </m:r>
                      <m:r>
                        <a:rPr lang="es-ES" altLang="zh-CN" sz="2000" i="1">
                          <a:latin typeface="Cambria Math" panose="02040503050406030204" pitchFamily="18" charset="0"/>
                        </a:rPr>
                        <m:t> </m:t>
                      </m:r>
                      <m:d>
                        <m:dPr>
                          <m:ctrlPr>
                            <a:rPr lang="es-ES" altLang="zh-CN" sz="2000" i="1">
                              <a:latin typeface="Cambria Math" panose="02040503050406030204" pitchFamily="18" charset="0"/>
                            </a:rPr>
                          </m:ctrlPr>
                        </m:dPr>
                        <m:e>
                          <m:d>
                            <m:dPr>
                              <m:ctrlPr>
                                <a:rPr lang="en-US" altLang="zh-CN" sz="2000" i="1">
                                  <a:solidFill>
                                    <a:srgbClr val="0070C0"/>
                                  </a:solidFill>
                                  <a:latin typeface="Cambria Math" panose="02040503050406030204" pitchFamily="18" charset="0"/>
                                </a:rPr>
                              </m:ctrlPr>
                            </m:dPr>
                            <m:e>
                              <m:d>
                                <m:dPr>
                                  <m:ctrlPr>
                                    <a:rPr lang="es-ES" altLang="zh-CN" sz="2000" i="1">
                                      <a:solidFill>
                                        <a:srgbClr val="C00000"/>
                                      </a:solidFill>
                                      <a:latin typeface="Cambria Math" panose="02040503050406030204" pitchFamily="18" charset="0"/>
                                    </a:rPr>
                                  </m:ctrlPr>
                                </m:dPr>
                                <m:e>
                                  <m:r>
                                    <a:rPr lang="es-ES" altLang="zh-CN" sz="2000" i="1">
                                      <a:solidFill>
                                        <a:srgbClr val="C00000"/>
                                      </a:solidFill>
                                      <a:latin typeface="Cambria Math" panose="02040503050406030204" pitchFamily="18" charset="0"/>
                                    </a:rPr>
                                    <m:t>𝐴𝑛𝑖𝑚𝑎𝑙</m:t>
                                  </m:r>
                                  <m:d>
                                    <m:dPr>
                                      <m:ctrlPr>
                                        <a:rPr lang="es-ES" altLang="zh-CN" sz="2000" i="1">
                                          <a:solidFill>
                                            <a:srgbClr val="C00000"/>
                                          </a:solidFill>
                                          <a:latin typeface="Cambria Math" panose="02040503050406030204" pitchFamily="18" charset="0"/>
                                        </a:rPr>
                                      </m:ctrlPr>
                                    </m:dPr>
                                    <m:e>
                                      <m:r>
                                        <a:rPr lang="zh-CN" altLang="es-ES" sz="2000" b="1" i="1" smtClean="0">
                                          <a:solidFill>
                                            <a:srgbClr val="7030A0"/>
                                          </a:solidFill>
                                          <a:latin typeface="Cambria Math" panose="02040503050406030204" pitchFamily="18" charset="0"/>
                                        </a:rPr>
                                        <m:t>𝑭</m:t>
                                      </m:r>
                                      <m:r>
                                        <a:rPr lang="es-ES" altLang="zh-CN" sz="2000" b="1" i="1">
                                          <a:solidFill>
                                            <a:srgbClr val="7030A0"/>
                                          </a:solidFill>
                                          <a:latin typeface="Cambria Math" panose="02040503050406030204" pitchFamily="18" charset="0"/>
                                        </a:rPr>
                                        <m:t>(</m:t>
                                      </m:r>
                                      <m:r>
                                        <a:rPr lang="zh-CN" altLang="es-ES" sz="2000" b="1" i="1">
                                          <a:solidFill>
                                            <a:srgbClr val="7030A0"/>
                                          </a:solidFill>
                                          <a:latin typeface="Cambria Math" panose="02040503050406030204" pitchFamily="18" charset="0"/>
                                        </a:rPr>
                                        <m:t>𝒙</m:t>
                                      </m:r>
                                      <m:r>
                                        <a:rPr lang="es-ES" altLang="zh-CN" sz="2000" b="1" i="1">
                                          <a:solidFill>
                                            <a:srgbClr val="7030A0"/>
                                          </a:solidFill>
                                          <a:latin typeface="Cambria Math" panose="02040503050406030204" pitchFamily="18" charset="0"/>
                                        </a:rPr>
                                        <m:t>)</m:t>
                                      </m:r>
                                    </m:e>
                                  </m:d>
                                  <m:r>
                                    <a:rPr lang="es-ES" altLang="zh-CN" sz="2000" i="1">
                                      <a:solidFill>
                                        <a:srgbClr val="C00000"/>
                                      </a:solidFill>
                                      <a:latin typeface="Cambria Math" panose="02040503050406030204" pitchFamily="18" charset="0"/>
                                    </a:rPr>
                                    <m:t>∧¬</m:t>
                                  </m:r>
                                  <m:r>
                                    <a:rPr lang="es-ES" altLang="zh-CN" sz="2000" i="1">
                                      <a:solidFill>
                                        <a:srgbClr val="C00000"/>
                                      </a:solidFill>
                                      <a:latin typeface="Cambria Math" panose="02040503050406030204" pitchFamily="18" charset="0"/>
                                    </a:rPr>
                                    <m:t>𝐿𝑜𝑣𝑒𝑠</m:t>
                                  </m:r>
                                  <m:d>
                                    <m:dPr>
                                      <m:ctrlPr>
                                        <a:rPr lang="es-ES" altLang="zh-CN" sz="2000" i="1">
                                          <a:solidFill>
                                            <a:srgbClr val="C00000"/>
                                          </a:solidFill>
                                          <a:latin typeface="Cambria Math" panose="02040503050406030204" pitchFamily="18" charset="0"/>
                                        </a:rPr>
                                      </m:ctrlPr>
                                    </m:dPr>
                                    <m:e>
                                      <m:r>
                                        <a:rPr lang="es-ES" altLang="zh-CN" sz="2000" i="1">
                                          <a:solidFill>
                                            <a:srgbClr val="C00000"/>
                                          </a:solidFill>
                                          <a:latin typeface="Cambria Math" panose="02040503050406030204" pitchFamily="18" charset="0"/>
                                        </a:rPr>
                                        <m:t>𝑥</m:t>
                                      </m:r>
                                      <m:r>
                                        <a:rPr lang="es-ES" altLang="zh-CN" sz="2000" i="1">
                                          <a:solidFill>
                                            <a:srgbClr val="C00000"/>
                                          </a:solidFill>
                                          <a:latin typeface="Cambria Math" panose="02040503050406030204" pitchFamily="18" charset="0"/>
                                        </a:rPr>
                                        <m:t>,</m:t>
                                      </m:r>
                                      <m:r>
                                        <a:rPr lang="zh-CN" altLang="es-ES" sz="2000" b="1" i="1" smtClean="0">
                                          <a:solidFill>
                                            <a:srgbClr val="7030A0"/>
                                          </a:solidFill>
                                          <a:latin typeface="Cambria Math" panose="02040503050406030204" pitchFamily="18" charset="0"/>
                                        </a:rPr>
                                        <m:t>𝑭</m:t>
                                      </m:r>
                                      <m:r>
                                        <a:rPr lang="es-ES" altLang="zh-CN" sz="2000" b="1" i="1">
                                          <a:solidFill>
                                            <a:srgbClr val="7030A0"/>
                                          </a:solidFill>
                                          <a:latin typeface="Cambria Math" panose="02040503050406030204" pitchFamily="18" charset="0"/>
                                        </a:rPr>
                                        <m:t>(</m:t>
                                      </m:r>
                                      <m:r>
                                        <a:rPr lang="zh-CN" altLang="es-ES" sz="2000" b="1" i="1">
                                          <a:solidFill>
                                            <a:srgbClr val="7030A0"/>
                                          </a:solidFill>
                                          <a:latin typeface="Cambria Math" panose="02040503050406030204" pitchFamily="18" charset="0"/>
                                        </a:rPr>
                                        <m:t>𝒙</m:t>
                                      </m:r>
                                      <m:r>
                                        <a:rPr lang="es-ES" altLang="zh-CN" sz="2000" b="1" i="1">
                                          <a:solidFill>
                                            <a:srgbClr val="7030A0"/>
                                          </a:solidFill>
                                          <a:latin typeface="Cambria Math" panose="02040503050406030204" pitchFamily="18" charset="0"/>
                                        </a:rPr>
                                        <m:t>)</m:t>
                                      </m:r>
                                    </m:e>
                                  </m:d>
                                </m:e>
                              </m:d>
                            </m:e>
                          </m:d>
                          <m:r>
                            <a:rPr lang="es-ES" altLang="zh-CN" sz="2000" i="1">
                              <a:latin typeface="Cambria Math" panose="02040503050406030204" pitchFamily="18" charset="0"/>
                            </a:rPr>
                            <m:t>∨</m:t>
                          </m:r>
                          <m:r>
                            <a:rPr lang="es-ES" altLang="zh-CN" sz="2000" i="1">
                              <a:solidFill>
                                <a:srgbClr val="0070C0"/>
                              </a:solidFill>
                              <a:latin typeface="Cambria Math" panose="02040503050406030204" pitchFamily="18" charset="0"/>
                            </a:rPr>
                            <m:t>𝐿𝑜𝑣𝑒𝑠</m:t>
                          </m:r>
                          <m:d>
                            <m:dPr>
                              <m:ctrlPr>
                                <a:rPr lang="es-ES" altLang="zh-CN" sz="2000" i="1">
                                  <a:solidFill>
                                    <a:srgbClr val="0070C0"/>
                                  </a:solidFill>
                                  <a:latin typeface="Cambria Math" panose="02040503050406030204" pitchFamily="18" charset="0"/>
                                </a:rPr>
                              </m:ctrlPr>
                            </m:dPr>
                            <m:e>
                              <m:r>
                                <a:rPr lang="en-US" altLang="zh-CN" sz="2000" b="1" i="1" smtClean="0">
                                  <a:solidFill>
                                    <a:srgbClr val="7030A0"/>
                                  </a:solidFill>
                                  <a:latin typeface="Cambria Math" panose="02040503050406030204" pitchFamily="18" charset="0"/>
                                </a:rPr>
                                <m:t>𝑮</m:t>
                              </m:r>
                              <m:r>
                                <a:rPr lang="en-US" altLang="zh-CN" sz="2000" b="1" i="1">
                                  <a:solidFill>
                                    <a:srgbClr val="7030A0"/>
                                  </a:solidFill>
                                  <a:latin typeface="Cambria Math" panose="02040503050406030204" pitchFamily="18" charset="0"/>
                                </a:rPr>
                                <m:t>(</m:t>
                              </m:r>
                              <m:r>
                                <a:rPr lang="zh-CN" altLang="en-US" sz="2000" b="1" i="1">
                                  <a:solidFill>
                                    <a:srgbClr val="7030A0"/>
                                  </a:solidFill>
                                  <a:latin typeface="Cambria Math" panose="02040503050406030204" pitchFamily="18" charset="0"/>
                                </a:rPr>
                                <m:t>𝒙</m:t>
                              </m:r>
                              <m:r>
                                <a:rPr lang="en-US" altLang="zh-CN" sz="2000" b="1" i="1">
                                  <a:solidFill>
                                    <a:srgbClr val="7030A0"/>
                                  </a:solidFill>
                                  <a:latin typeface="Cambria Math" panose="02040503050406030204" pitchFamily="18" charset="0"/>
                                </a:rPr>
                                <m:t>)</m:t>
                              </m:r>
                              <m:r>
                                <a:rPr lang="es-ES" altLang="zh-CN" sz="2000" i="1">
                                  <a:solidFill>
                                    <a:srgbClr val="0070C0"/>
                                  </a:solidFill>
                                  <a:latin typeface="Cambria Math" panose="02040503050406030204" pitchFamily="18" charset="0"/>
                                </a:rPr>
                                <m:t>, </m:t>
                              </m:r>
                              <m:r>
                                <a:rPr lang="es-ES" altLang="zh-CN" sz="2000" i="1">
                                  <a:solidFill>
                                    <a:srgbClr val="0070C0"/>
                                  </a:solidFill>
                                  <a:latin typeface="Cambria Math" panose="02040503050406030204" pitchFamily="18" charset="0"/>
                                </a:rPr>
                                <m:t>𝑥</m:t>
                              </m:r>
                            </m:e>
                          </m:d>
                        </m:e>
                      </m:d>
                    </m:oMath>
                  </m:oMathPara>
                </a14:m>
                <a:endParaRPr lang="zh-CN" altLang="en-US" sz="2000" dirty="0"/>
              </a:p>
            </p:txBody>
          </p:sp>
        </mc:Choice>
        <mc:Fallback>
          <p:sp>
            <p:nvSpPr>
              <p:cNvPr id="37" name="文本框 36"/>
              <p:cNvSpPr txBox="1">
                <a:spLocks noRot="1" noChangeAspect="1" noMove="1" noResize="1" noEditPoints="1" noAdjustHandles="1" noChangeArrowheads="1" noChangeShapeType="1" noTextEdit="1"/>
              </p:cNvSpPr>
              <p:nvPr/>
            </p:nvSpPr>
            <p:spPr>
              <a:xfrm>
                <a:off x="2098053" y="4797738"/>
                <a:ext cx="6938443" cy="636585"/>
              </a:xfrm>
              <a:prstGeom prst="rect">
                <a:avLst/>
              </a:prstGeom>
              <a:blipFill rotWithShape="1">
                <a:blip r:embed="rId6"/>
                <a:stretch>
                  <a:fillRect t="-49" r="6" b="9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文本框 37"/>
              <p:cNvSpPr txBox="1"/>
              <p:nvPr/>
            </p:nvSpPr>
            <p:spPr>
              <a:xfrm>
                <a:off x="2098054" y="5370459"/>
                <a:ext cx="6192688" cy="552972"/>
              </a:xfrm>
              <a:prstGeom prst="rect">
                <a:avLst/>
              </a:prstGeom>
              <a:noFill/>
            </p:spPr>
            <p:txBody>
              <a:bodyPr wrap="square" rtlCol="0">
                <a:spAutoFit/>
              </a:bodyPr>
              <a:lstStyle/>
              <a:p>
                <a14:m>
                  <m:oMathPara xmlns:m="http://schemas.openxmlformats.org/officeDocument/2006/math">
                    <m:oMathParaPr>
                      <m:jc m:val="left"/>
                    </m:oMathParaPr>
                    <m:oMath xmlns:m="http://schemas.openxmlformats.org/officeDocument/2006/math">
                      <m:d>
                        <m:dPr>
                          <m:ctrlPr>
                            <a:rPr lang="en-US" altLang="zh-CN" sz="2000" i="1">
                              <a:solidFill>
                                <a:srgbClr val="0070C0"/>
                              </a:solidFill>
                              <a:latin typeface="Cambria Math" panose="02040503050406030204" pitchFamily="18" charset="0"/>
                            </a:rPr>
                          </m:ctrlPr>
                        </m:dPr>
                        <m:e>
                          <m:d>
                            <m:dPr>
                              <m:ctrlPr>
                                <a:rPr lang="es-ES" altLang="zh-CN" sz="2000" i="1">
                                  <a:solidFill>
                                    <a:srgbClr val="C00000"/>
                                  </a:solidFill>
                                  <a:latin typeface="Cambria Math" panose="02040503050406030204" pitchFamily="18" charset="0"/>
                                </a:rPr>
                              </m:ctrlPr>
                            </m:dPr>
                            <m:e>
                              <m:r>
                                <a:rPr lang="es-ES" altLang="zh-CN" sz="2000" i="1">
                                  <a:solidFill>
                                    <a:srgbClr val="C00000"/>
                                  </a:solidFill>
                                  <a:latin typeface="Cambria Math" panose="02040503050406030204" pitchFamily="18" charset="0"/>
                                </a:rPr>
                                <m:t>𝐴𝑛𝑖𝑚𝑎𝑙</m:t>
                              </m:r>
                              <m:d>
                                <m:dPr>
                                  <m:ctrlPr>
                                    <a:rPr lang="es-ES" altLang="zh-CN" sz="2000" i="1">
                                      <a:solidFill>
                                        <a:srgbClr val="C00000"/>
                                      </a:solidFill>
                                      <a:latin typeface="Cambria Math" panose="02040503050406030204" pitchFamily="18" charset="0"/>
                                    </a:rPr>
                                  </m:ctrlPr>
                                </m:dPr>
                                <m:e>
                                  <m:r>
                                    <a:rPr lang="zh-CN" altLang="es-ES" sz="2000" i="1">
                                      <a:solidFill>
                                        <a:srgbClr val="C00000"/>
                                      </a:solidFill>
                                      <a:latin typeface="Cambria Math" panose="02040503050406030204" pitchFamily="18" charset="0"/>
                                    </a:rPr>
                                    <m:t>𝐹</m:t>
                                  </m:r>
                                  <m:r>
                                    <a:rPr lang="es-ES" altLang="zh-CN" sz="2000" i="1">
                                      <a:solidFill>
                                        <a:srgbClr val="C00000"/>
                                      </a:solidFill>
                                      <a:latin typeface="Cambria Math" panose="02040503050406030204" pitchFamily="18" charset="0"/>
                                    </a:rPr>
                                    <m:t>(</m:t>
                                  </m:r>
                                  <m:r>
                                    <a:rPr lang="zh-CN" altLang="es-ES" sz="2000" i="1">
                                      <a:solidFill>
                                        <a:srgbClr val="C00000"/>
                                      </a:solidFill>
                                      <a:latin typeface="Cambria Math" panose="02040503050406030204" pitchFamily="18" charset="0"/>
                                    </a:rPr>
                                    <m:t>𝑥</m:t>
                                  </m:r>
                                  <m:r>
                                    <a:rPr lang="es-ES" altLang="zh-CN" sz="2000" i="1">
                                      <a:solidFill>
                                        <a:srgbClr val="C00000"/>
                                      </a:solidFill>
                                      <a:latin typeface="Cambria Math" panose="02040503050406030204" pitchFamily="18" charset="0"/>
                                    </a:rPr>
                                    <m:t>)</m:t>
                                  </m:r>
                                </m:e>
                              </m:d>
                              <m:r>
                                <a:rPr lang="es-ES" altLang="zh-CN" sz="2000" i="1">
                                  <a:solidFill>
                                    <a:srgbClr val="C00000"/>
                                  </a:solidFill>
                                  <a:latin typeface="Cambria Math" panose="02040503050406030204" pitchFamily="18" charset="0"/>
                                </a:rPr>
                                <m:t>∧¬</m:t>
                              </m:r>
                              <m:r>
                                <a:rPr lang="es-ES" altLang="zh-CN" sz="2000" i="1">
                                  <a:solidFill>
                                    <a:srgbClr val="C00000"/>
                                  </a:solidFill>
                                  <a:latin typeface="Cambria Math" panose="02040503050406030204" pitchFamily="18" charset="0"/>
                                </a:rPr>
                                <m:t>𝐿𝑜𝑣𝑒𝑠</m:t>
                              </m:r>
                              <m:d>
                                <m:dPr>
                                  <m:ctrlPr>
                                    <a:rPr lang="es-ES" altLang="zh-CN" sz="2000" i="1">
                                      <a:solidFill>
                                        <a:srgbClr val="C00000"/>
                                      </a:solidFill>
                                      <a:latin typeface="Cambria Math" panose="02040503050406030204" pitchFamily="18" charset="0"/>
                                    </a:rPr>
                                  </m:ctrlPr>
                                </m:dPr>
                                <m:e>
                                  <m:r>
                                    <a:rPr lang="es-ES" altLang="zh-CN" sz="2000" i="1">
                                      <a:solidFill>
                                        <a:srgbClr val="C00000"/>
                                      </a:solidFill>
                                      <a:latin typeface="Cambria Math" panose="02040503050406030204" pitchFamily="18" charset="0"/>
                                    </a:rPr>
                                    <m:t>𝑥</m:t>
                                  </m:r>
                                  <m:r>
                                    <a:rPr lang="es-ES" altLang="zh-CN" sz="2000" i="1">
                                      <a:solidFill>
                                        <a:srgbClr val="C00000"/>
                                      </a:solidFill>
                                      <a:latin typeface="Cambria Math" panose="02040503050406030204" pitchFamily="18" charset="0"/>
                                    </a:rPr>
                                    <m:t>,</m:t>
                                  </m:r>
                                  <m:r>
                                    <a:rPr lang="zh-CN" altLang="es-ES" sz="2000" i="1">
                                      <a:solidFill>
                                        <a:srgbClr val="C00000"/>
                                      </a:solidFill>
                                      <a:latin typeface="Cambria Math" panose="02040503050406030204" pitchFamily="18" charset="0"/>
                                    </a:rPr>
                                    <m:t>𝐹</m:t>
                                  </m:r>
                                  <m:r>
                                    <a:rPr lang="es-ES" altLang="zh-CN" sz="2000" i="1">
                                      <a:solidFill>
                                        <a:srgbClr val="C00000"/>
                                      </a:solidFill>
                                      <a:latin typeface="Cambria Math" panose="02040503050406030204" pitchFamily="18" charset="0"/>
                                    </a:rPr>
                                    <m:t>(</m:t>
                                  </m:r>
                                  <m:r>
                                    <a:rPr lang="zh-CN" altLang="es-ES" sz="2000" i="1">
                                      <a:solidFill>
                                        <a:srgbClr val="C00000"/>
                                      </a:solidFill>
                                      <a:latin typeface="Cambria Math" panose="02040503050406030204" pitchFamily="18" charset="0"/>
                                    </a:rPr>
                                    <m:t>𝑥</m:t>
                                  </m:r>
                                  <m:r>
                                    <a:rPr lang="es-ES" altLang="zh-CN" sz="2000" i="1">
                                      <a:solidFill>
                                        <a:srgbClr val="C00000"/>
                                      </a:solidFill>
                                      <a:latin typeface="Cambria Math" panose="02040503050406030204" pitchFamily="18" charset="0"/>
                                    </a:rPr>
                                    <m:t>)</m:t>
                                  </m:r>
                                </m:e>
                              </m:d>
                            </m:e>
                          </m:d>
                        </m:e>
                      </m:d>
                      <m:r>
                        <a:rPr lang="es-ES" altLang="zh-CN" sz="2000" i="1">
                          <a:latin typeface="Cambria Math" panose="02040503050406030204" pitchFamily="18" charset="0"/>
                        </a:rPr>
                        <m:t>∨</m:t>
                      </m:r>
                      <m:r>
                        <a:rPr lang="es-ES" altLang="zh-CN" sz="2000" i="1">
                          <a:solidFill>
                            <a:srgbClr val="0070C0"/>
                          </a:solidFill>
                          <a:latin typeface="Cambria Math" panose="02040503050406030204" pitchFamily="18" charset="0"/>
                        </a:rPr>
                        <m:t>𝐿𝑜𝑣𝑒𝑠</m:t>
                      </m:r>
                      <m:d>
                        <m:dPr>
                          <m:ctrlPr>
                            <a:rPr lang="es-ES" altLang="zh-CN" sz="2000" i="1">
                              <a:solidFill>
                                <a:srgbClr val="0070C0"/>
                              </a:solidFill>
                              <a:latin typeface="Cambria Math" panose="02040503050406030204" pitchFamily="18" charset="0"/>
                            </a:rPr>
                          </m:ctrlPr>
                        </m:dPr>
                        <m:e>
                          <m:r>
                            <a:rPr lang="en-US" altLang="zh-CN" sz="2000" i="1" smtClean="0">
                              <a:solidFill>
                                <a:srgbClr val="0070C0"/>
                              </a:solidFill>
                              <a:latin typeface="Cambria Math" panose="02040503050406030204" pitchFamily="18" charset="0"/>
                            </a:rPr>
                            <m:t>𝐺</m:t>
                          </m:r>
                          <m:r>
                            <a:rPr lang="en-US" altLang="zh-CN" sz="2000" i="1">
                              <a:solidFill>
                                <a:srgbClr val="0070C0"/>
                              </a:solidFill>
                              <a:latin typeface="Cambria Math" panose="02040503050406030204" pitchFamily="18" charset="0"/>
                            </a:rPr>
                            <m:t>(</m:t>
                          </m:r>
                          <m:r>
                            <a:rPr lang="zh-CN" altLang="en-US" sz="2000" i="1">
                              <a:solidFill>
                                <a:srgbClr val="0070C0"/>
                              </a:solidFill>
                              <a:latin typeface="Cambria Math" panose="02040503050406030204" pitchFamily="18" charset="0"/>
                            </a:rPr>
                            <m:t>𝑥</m:t>
                          </m:r>
                          <m:r>
                            <a:rPr lang="en-US" altLang="zh-CN" sz="2000" i="1">
                              <a:solidFill>
                                <a:srgbClr val="0070C0"/>
                              </a:solidFill>
                              <a:latin typeface="Cambria Math" panose="02040503050406030204" pitchFamily="18" charset="0"/>
                            </a:rPr>
                            <m:t>)</m:t>
                          </m:r>
                          <m:r>
                            <a:rPr lang="es-ES" altLang="zh-CN" sz="2000" i="1">
                              <a:solidFill>
                                <a:srgbClr val="0070C0"/>
                              </a:solidFill>
                              <a:latin typeface="Cambria Math" panose="02040503050406030204" pitchFamily="18" charset="0"/>
                            </a:rPr>
                            <m:t>, </m:t>
                          </m:r>
                          <m:r>
                            <a:rPr lang="es-ES" altLang="zh-CN" sz="2000" i="1">
                              <a:solidFill>
                                <a:srgbClr val="0070C0"/>
                              </a:solidFill>
                              <a:latin typeface="Cambria Math" panose="02040503050406030204" pitchFamily="18" charset="0"/>
                            </a:rPr>
                            <m:t>𝑥</m:t>
                          </m:r>
                        </m:e>
                      </m:d>
                    </m:oMath>
                  </m:oMathPara>
                </a14:m>
                <a:endParaRPr lang="zh-CN" altLang="en-US" sz="2000" dirty="0"/>
              </a:p>
            </p:txBody>
          </p:sp>
        </mc:Choice>
        <mc:Fallback>
          <p:sp>
            <p:nvSpPr>
              <p:cNvPr id="38" name="文本框 37"/>
              <p:cNvSpPr txBox="1">
                <a:spLocks noRot="1" noChangeAspect="1" noMove="1" noResize="1" noEditPoints="1" noAdjustHandles="1" noChangeArrowheads="1" noChangeShapeType="1" noTextEdit="1"/>
              </p:cNvSpPr>
              <p:nvPr/>
            </p:nvSpPr>
            <p:spPr>
              <a:xfrm>
                <a:off x="2098054" y="5370459"/>
                <a:ext cx="6192688" cy="552972"/>
              </a:xfrm>
              <a:prstGeom prst="rect">
                <a:avLst/>
              </a:prstGeom>
              <a:blipFill rotWithShape="1">
                <a:blip r:embed="rId7"/>
                <a:stretch>
                  <a:fillRect t="-48" r="3" b="2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9" name="文本框 38"/>
              <p:cNvSpPr txBox="1"/>
              <p:nvPr/>
            </p:nvSpPr>
            <p:spPr>
              <a:xfrm>
                <a:off x="2098040" y="5876925"/>
                <a:ext cx="5669280" cy="781050"/>
              </a:xfrm>
              <a:prstGeom prst="rect">
                <a:avLst/>
              </a:prstGeom>
              <a:noFill/>
            </p:spPr>
            <p:txBody>
              <a:bodyPr wrap="square" rtlCol="0">
                <a:spAutoFit/>
              </a:bodyPr>
              <a:lstStyle/>
              <a:p>
                <a14:m>
                  <m:oMathPara xmlns:m="http://schemas.openxmlformats.org/officeDocument/2006/math">
                    <m:oMathParaPr>
                      <m:jc m:val="left"/>
                    </m:oMathParaPr>
                    <m:oMath xmlns:m="http://schemas.openxmlformats.org/officeDocument/2006/math">
                      <m:d>
                        <m:dPr>
                          <m:ctrlPr>
                            <a:rPr lang="es-ES" altLang="zh-CN" sz="2000" i="1" smtClean="0">
                              <a:solidFill>
                                <a:schemeClr val="tx1"/>
                              </a:solidFill>
                              <a:latin typeface="Cambria Math" panose="02040503050406030204" pitchFamily="18" charset="0"/>
                            </a:rPr>
                          </m:ctrlPr>
                        </m:dPr>
                        <m:e>
                          <m:r>
                            <a:rPr lang="es-ES" altLang="zh-CN" sz="2000" i="1">
                              <a:solidFill>
                                <a:srgbClr val="C00000"/>
                              </a:solidFill>
                              <a:latin typeface="Cambria Math" panose="02040503050406030204" pitchFamily="18" charset="0"/>
                            </a:rPr>
                            <m:t>𝐴𝑛𝑖𝑚𝑎𝑙</m:t>
                          </m:r>
                          <m:d>
                            <m:dPr>
                              <m:ctrlPr>
                                <a:rPr lang="es-ES" altLang="zh-CN" sz="2000" i="1">
                                  <a:solidFill>
                                    <a:srgbClr val="C00000"/>
                                  </a:solidFill>
                                  <a:latin typeface="Cambria Math" panose="02040503050406030204" pitchFamily="18" charset="0"/>
                                </a:rPr>
                              </m:ctrlPr>
                            </m:dPr>
                            <m:e>
                              <m:r>
                                <a:rPr lang="zh-CN" altLang="es-ES" sz="2000" i="1">
                                  <a:solidFill>
                                    <a:srgbClr val="C00000"/>
                                  </a:solidFill>
                                  <a:latin typeface="Cambria Math" panose="02040503050406030204" pitchFamily="18" charset="0"/>
                                </a:rPr>
                                <m:t>𝐹</m:t>
                              </m:r>
                              <m:r>
                                <a:rPr lang="es-ES" altLang="zh-CN" sz="2000" i="1">
                                  <a:solidFill>
                                    <a:srgbClr val="C00000"/>
                                  </a:solidFill>
                                  <a:latin typeface="Cambria Math" panose="02040503050406030204" pitchFamily="18" charset="0"/>
                                </a:rPr>
                                <m:t>(</m:t>
                              </m:r>
                              <m:r>
                                <a:rPr lang="zh-CN" altLang="es-ES" sz="2000" i="1">
                                  <a:solidFill>
                                    <a:srgbClr val="C00000"/>
                                  </a:solidFill>
                                  <a:latin typeface="Cambria Math" panose="02040503050406030204" pitchFamily="18" charset="0"/>
                                </a:rPr>
                                <m:t>𝑥</m:t>
                              </m:r>
                              <m:r>
                                <a:rPr lang="es-ES" altLang="zh-CN" sz="2000" i="1">
                                  <a:solidFill>
                                    <a:srgbClr val="C00000"/>
                                  </a:solidFill>
                                  <a:latin typeface="Cambria Math" panose="02040503050406030204" pitchFamily="18" charset="0"/>
                                </a:rPr>
                                <m:t>)</m:t>
                              </m:r>
                            </m:e>
                          </m:d>
                          <m:r>
                            <a:rPr lang="es-ES" altLang="zh-CN" sz="2000" i="1">
                              <a:latin typeface="Cambria Math" panose="02040503050406030204" pitchFamily="18" charset="0"/>
                            </a:rPr>
                            <m:t>∨</m:t>
                          </m:r>
                          <m:r>
                            <a:rPr lang="es-ES" altLang="zh-CN" sz="2000" i="1">
                              <a:solidFill>
                                <a:srgbClr val="0070C0"/>
                              </a:solidFill>
                              <a:latin typeface="Cambria Math" panose="02040503050406030204" pitchFamily="18" charset="0"/>
                            </a:rPr>
                            <m:t>𝐿𝑜𝑣𝑒𝑠</m:t>
                          </m:r>
                          <m:d>
                            <m:dPr>
                              <m:ctrlPr>
                                <a:rPr lang="es-ES" altLang="zh-CN" sz="2000" i="1">
                                  <a:solidFill>
                                    <a:srgbClr val="0070C0"/>
                                  </a:solidFill>
                                  <a:latin typeface="Cambria Math" panose="02040503050406030204" pitchFamily="18" charset="0"/>
                                </a:rPr>
                              </m:ctrlPr>
                            </m:dPr>
                            <m:e>
                              <m:r>
                                <a:rPr lang="en-US" altLang="zh-CN" sz="2000" i="1">
                                  <a:solidFill>
                                    <a:srgbClr val="0070C0"/>
                                  </a:solidFill>
                                  <a:latin typeface="Cambria Math" panose="02040503050406030204" pitchFamily="18" charset="0"/>
                                </a:rPr>
                                <m:t>𝐺</m:t>
                              </m:r>
                              <m:r>
                                <a:rPr lang="en-US" altLang="zh-CN" sz="2000" i="1">
                                  <a:solidFill>
                                    <a:srgbClr val="0070C0"/>
                                  </a:solidFill>
                                  <a:latin typeface="Cambria Math" panose="02040503050406030204" pitchFamily="18" charset="0"/>
                                </a:rPr>
                                <m:t>(</m:t>
                              </m:r>
                              <m:r>
                                <a:rPr lang="zh-CN" altLang="en-US" sz="2000" i="1">
                                  <a:solidFill>
                                    <a:srgbClr val="0070C0"/>
                                  </a:solidFill>
                                  <a:latin typeface="Cambria Math" panose="02040503050406030204" pitchFamily="18" charset="0"/>
                                </a:rPr>
                                <m:t>𝑥</m:t>
                              </m:r>
                              <m:r>
                                <a:rPr lang="en-US" altLang="zh-CN" sz="2000" i="1">
                                  <a:solidFill>
                                    <a:srgbClr val="0070C0"/>
                                  </a:solidFill>
                                  <a:latin typeface="Cambria Math" panose="02040503050406030204" pitchFamily="18" charset="0"/>
                                </a:rPr>
                                <m:t>)</m:t>
                              </m:r>
                              <m:r>
                                <a:rPr lang="es-ES" altLang="zh-CN" sz="2000" i="1">
                                  <a:solidFill>
                                    <a:srgbClr val="0070C0"/>
                                  </a:solidFill>
                                  <a:latin typeface="Cambria Math" panose="02040503050406030204" pitchFamily="18" charset="0"/>
                                </a:rPr>
                                <m:t>, </m:t>
                              </m:r>
                              <m:r>
                                <a:rPr lang="es-ES" altLang="zh-CN" sz="2000" i="1">
                                  <a:solidFill>
                                    <a:srgbClr val="0070C0"/>
                                  </a:solidFill>
                                  <a:latin typeface="Cambria Math" panose="02040503050406030204" pitchFamily="18" charset="0"/>
                                </a:rPr>
                                <m:t>𝑥</m:t>
                              </m:r>
                            </m:e>
                          </m:d>
                        </m:e>
                      </m:d>
                      <m:r>
                        <a:rPr lang="es-ES" altLang="zh-CN" sz="200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 </m:t>
                      </m:r>
                      <m:d>
                        <m:dPr>
                          <m:ctrlPr>
                            <a:rPr lang="es-ES" altLang="zh-CN" sz="2000" i="1" smtClean="0">
                              <a:solidFill>
                                <a:schemeClr val="tx1"/>
                              </a:solidFill>
                              <a:latin typeface="Cambria Math" panose="02040503050406030204" pitchFamily="18" charset="0"/>
                            </a:rPr>
                          </m:ctrlPr>
                        </m:dPr>
                        <m:e>
                          <m:r>
                            <a:rPr lang="es-ES" altLang="zh-CN" sz="2000" i="1">
                              <a:solidFill>
                                <a:srgbClr val="C00000"/>
                              </a:solidFill>
                              <a:latin typeface="Cambria Math" panose="02040503050406030204" pitchFamily="18" charset="0"/>
                            </a:rPr>
                            <m:t>¬</m:t>
                          </m:r>
                          <m:r>
                            <a:rPr lang="es-ES" altLang="zh-CN" sz="2000" i="1">
                              <a:solidFill>
                                <a:srgbClr val="C00000"/>
                              </a:solidFill>
                              <a:latin typeface="Cambria Math" panose="02040503050406030204" pitchFamily="18" charset="0"/>
                            </a:rPr>
                            <m:t>𝐿𝑜𝑣𝑒𝑠</m:t>
                          </m:r>
                          <m:d>
                            <m:dPr>
                              <m:ctrlPr>
                                <a:rPr lang="es-ES" altLang="zh-CN" sz="2000" i="1">
                                  <a:solidFill>
                                    <a:srgbClr val="C00000"/>
                                  </a:solidFill>
                                  <a:latin typeface="Cambria Math" panose="02040503050406030204" pitchFamily="18" charset="0"/>
                                </a:rPr>
                              </m:ctrlPr>
                            </m:dPr>
                            <m:e>
                              <m:r>
                                <a:rPr lang="es-ES" altLang="zh-CN" sz="2000" i="1">
                                  <a:solidFill>
                                    <a:srgbClr val="C00000"/>
                                  </a:solidFill>
                                  <a:latin typeface="Cambria Math" panose="02040503050406030204" pitchFamily="18" charset="0"/>
                                </a:rPr>
                                <m:t>𝑥</m:t>
                              </m:r>
                              <m:r>
                                <a:rPr lang="es-ES" altLang="zh-CN" sz="2000" i="1">
                                  <a:solidFill>
                                    <a:srgbClr val="C00000"/>
                                  </a:solidFill>
                                  <a:latin typeface="Cambria Math" panose="02040503050406030204" pitchFamily="18" charset="0"/>
                                </a:rPr>
                                <m:t>,</m:t>
                              </m:r>
                              <m:r>
                                <a:rPr lang="zh-CN" altLang="es-ES" sz="2000" i="1">
                                  <a:solidFill>
                                    <a:srgbClr val="C00000"/>
                                  </a:solidFill>
                                  <a:latin typeface="Cambria Math" panose="02040503050406030204" pitchFamily="18" charset="0"/>
                                </a:rPr>
                                <m:t>𝐹</m:t>
                              </m:r>
                              <m:r>
                                <a:rPr lang="es-ES" altLang="zh-CN" sz="2000" i="1">
                                  <a:solidFill>
                                    <a:srgbClr val="C00000"/>
                                  </a:solidFill>
                                  <a:latin typeface="Cambria Math" panose="02040503050406030204" pitchFamily="18" charset="0"/>
                                </a:rPr>
                                <m:t>(</m:t>
                              </m:r>
                              <m:r>
                                <a:rPr lang="zh-CN" altLang="es-ES" sz="2000" i="1">
                                  <a:solidFill>
                                    <a:srgbClr val="C00000"/>
                                  </a:solidFill>
                                  <a:latin typeface="Cambria Math" panose="02040503050406030204" pitchFamily="18" charset="0"/>
                                </a:rPr>
                                <m:t>𝑥</m:t>
                              </m:r>
                              <m:r>
                                <a:rPr lang="es-ES" altLang="zh-CN" sz="2000" i="1">
                                  <a:solidFill>
                                    <a:srgbClr val="C00000"/>
                                  </a:solidFill>
                                  <a:latin typeface="Cambria Math" panose="02040503050406030204" pitchFamily="18" charset="0"/>
                                </a:rPr>
                                <m:t>)</m:t>
                              </m:r>
                            </m:e>
                          </m:d>
                          <m:r>
                            <a:rPr lang="es-ES" altLang="zh-CN" sz="2000" i="1">
                              <a:latin typeface="Cambria Math" panose="02040503050406030204" pitchFamily="18" charset="0"/>
                            </a:rPr>
                            <m:t>∨</m:t>
                          </m:r>
                          <m:r>
                            <a:rPr lang="es-ES" altLang="zh-CN" sz="2000" i="1">
                              <a:solidFill>
                                <a:srgbClr val="0070C0"/>
                              </a:solidFill>
                              <a:latin typeface="Cambria Math" panose="02040503050406030204" pitchFamily="18" charset="0"/>
                            </a:rPr>
                            <m:t>𝐿𝑜𝑣𝑒𝑠</m:t>
                          </m:r>
                          <m:d>
                            <m:dPr>
                              <m:ctrlPr>
                                <a:rPr lang="es-ES" altLang="zh-CN" sz="2000" i="1">
                                  <a:solidFill>
                                    <a:srgbClr val="0070C0"/>
                                  </a:solidFill>
                                  <a:latin typeface="Cambria Math" panose="02040503050406030204" pitchFamily="18" charset="0"/>
                                </a:rPr>
                              </m:ctrlPr>
                            </m:dPr>
                            <m:e>
                              <m:r>
                                <a:rPr lang="en-US" altLang="zh-CN" sz="2000" i="1">
                                  <a:solidFill>
                                    <a:srgbClr val="0070C0"/>
                                  </a:solidFill>
                                  <a:latin typeface="Cambria Math" panose="02040503050406030204" pitchFamily="18" charset="0"/>
                                </a:rPr>
                                <m:t>𝐺</m:t>
                              </m:r>
                              <m:r>
                                <a:rPr lang="en-US" altLang="zh-CN" sz="2000" i="1">
                                  <a:solidFill>
                                    <a:srgbClr val="0070C0"/>
                                  </a:solidFill>
                                  <a:latin typeface="Cambria Math" panose="02040503050406030204" pitchFamily="18" charset="0"/>
                                </a:rPr>
                                <m:t>(</m:t>
                              </m:r>
                              <m:r>
                                <a:rPr lang="zh-CN" altLang="en-US" sz="2000" i="1">
                                  <a:solidFill>
                                    <a:srgbClr val="0070C0"/>
                                  </a:solidFill>
                                  <a:latin typeface="Cambria Math" panose="02040503050406030204" pitchFamily="18" charset="0"/>
                                </a:rPr>
                                <m:t>𝑥</m:t>
                              </m:r>
                              <m:r>
                                <a:rPr lang="en-US" altLang="zh-CN" sz="2000" i="1">
                                  <a:solidFill>
                                    <a:srgbClr val="0070C0"/>
                                  </a:solidFill>
                                  <a:latin typeface="Cambria Math" panose="02040503050406030204" pitchFamily="18" charset="0"/>
                                </a:rPr>
                                <m:t>)</m:t>
                              </m:r>
                              <m:r>
                                <a:rPr lang="es-ES" altLang="zh-CN" sz="2000" i="1">
                                  <a:solidFill>
                                    <a:srgbClr val="0070C0"/>
                                  </a:solidFill>
                                  <a:latin typeface="Cambria Math" panose="02040503050406030204" pitchFamily="18" charset="0"/>
                                </a:rPr>
                                <m:t>, </m:t>
                              </m:r>
                              <m:r>
                                <a:rPr lang="es-ES" altLang="zh-CN" sz="2000" i="1">
                                  <a:solidFill>
                                    <a:srgbClr val="0070C0"/>
                                  </a:solidFill>
                                  <a:latin typeface="Cambria Math" panose="02040503050406030204" pitchFamily="18" charset="0"/>
                                </a:rPr>
                                <m:t>𝑥</m:t>
                              </m:r>
                            </m:e>
                          </m:d>
                        </m:e>
                      </m:d>
                    </m:oMath>
                  </m:oMathPara>
                </a14:m>
                <a:endParaRPr lang="zh-CN" altLang="en-US" sz="2400" dirty="0"/>
              </a:p>
            </p:txBody>
          </p:sp>
        </mc:Choice>
        <mc:Fallback>
          <p:sp>
            <p:nvSpPr>
              <p:cNvPr id="39" name="文本框 38"/>
              <p:cNvSpPr txBox="1">
                <a:spLocks noRot="1" noChangeAspect="1" noMove="1" noResize="1" noEditPoints="1" noAdjustHandles="1" noChangeArrowheads="1" noChangeShapeType="1" noTextEdit="1"/>
              </p:cNvSpPr>
              <p:nvPr/>
            </p:nvSpPr>
            <p:spPr>
              <a:xfrm>
                <a:off x="2098040" y="5876925"/>
                <a:ext cx="5669280" cy="781050"/>
              </a:xfrm>
              <a:prstGeom prst="rect">
                <a:avLst/>
              </a:prstGeom>
              <a:blipFill rotWithShape="1">
                <a:blip r:embed="rId8"/>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bldLst>
      <p:bldP spid="22" grpId="0" build="p"/>
      <p:bldP spid="6" grpId="0"/>
      <p:bldP spid="7" grpId="0"/>
      <p:bldP spid="8" grpId="0"/>
      <p:bldP spid="10" grpId="0"/>
      <p:bldP spid="18" grpId="0"/>
      <p:bldP spid="19" grpId="0"/>
      <p:bldP spid="33" grpId="0"/>
      <p:bldP spid="34" grpId="0"/>
      <p:bldP spid="35" grpId="0"/>
      <p:bldP spid="36" grpId="0"/>
      <p:bldP spid="37" grpId="0"/>
      <p:bldP spid="38" grpId="0"/>
      <p:bldP spid="3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zh-CN" altLang="en-US" smtClean="0"/>
              <a:t>一阶逻辑的归结</a:t>
            </a:r>
            <a:endParaRPr lang="zh-CN" altLang="en-US" dirty="0"/>
          </a:p>
        </p:txBody>
      </p:sp>
      <mc:AlternateContent xmlns:mc="http://schemas.openxmlformats.org/markup-compatibility/2006">
        <mc:Choice xmlns:a14="http://schemas.microsoft.com/office/drawing/2010/main" Requires="a14">
          <p:sp>
            <p:nvSpPr>
              <p:cNvPr id="94211" name="Rectangle 3"/>
              <p:cNvSpPr>
                <a:spLocks noGrp="1" noChangeArrowheads="1"/>
              </p:cNvSpPr>
              <p:nvPr>
                <p:ph idx="1"/>
              </p:nvPr>
            </p:nvSpPr>
            <p:spPr/>
            <p:txBody>
              <a:bodyPr/>
              <a:lstStyle/>
              <a:p>
                <a:r>
                  <a:rPr lang="en-US" altLang="zh-CN" sz="2800" dirty="0" smtClean="0"/>
                  <a:t>CNF</a:t>
                </a:r>
                <a:r>
                  <a:rPr lang="zh-CN" altLang="en-US" sz="2800" dirty="0" smtClean="0"/>
                  <a:t>的归结推理规则</a:t>
                </a:r>
                <a:endParaRPr lang="en-US" altLang="zh-CN" sz="2800" dirty="0"/>
              </a:p>
              <a:p>
                <a:pPr marL="0" indent="0">
                  <a:buNone/>
                </a:pPr>
                <a14:m>
                  <m:oMathPara xmlns:m="http://schemas.openxmlformats.org/officeDocument/2006/math">
                    <m:oMathParaPr>
                      <m:jc m:val="centerGroup"/>
                    </m:oMathParaPr>
                    <m:oMath xmlns:m="http://schemas.openxmlformats.org/officeDocument/2006/math">
                      <m:f>
                        <m:fPr>
                          <m:ctrlPr>
                            <a:rPr lang="en-US" altLang="zh-CN" sz="2200" i="1" dirty="0" smtClean="0">
                              <a:latin typeface="Cambria Math" panose="02040503050406030204" pitchFamily="18" charset="0"/>
                            </a:rPr>
                          </m:ctrlPr>
                        </m:fPr>
                        <m:num>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𝑙</m:t>
                              </m:r>
                            </m:e>
                            <m:sub>
                              <m:r>
                                <a:rPr lang="en-US" altLang="zh-CN" sz="2200">
                                  <a:latin typeface="Cambria Math" panose="02040503050406030204" pitchFamily="18" charset="0"/>
                                </a:rPr>
                                <m:t>1</m:t>
                              </m:r>
                            </m:sub>
                          </m:sSub>
                          <m:r>
                            <a:rPr lang="en-US" altLang="zh-CN" sz="2200">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𝑙</m:t>
                              </m:r>
                            </m:e>
                            <m:sub>
                              <m:r>
                                <a:rPr lang="en-US" altLang="zh-CN" sz="2200">
                                  <a:latin typeface="Cambria Math" panose="02040503050406030204" pitchFamily="18" charset="0"/>
                                </a:rPr>
                                <m:t>𝑘</m:t>
                              </m:r>
                            </m:sub>
                          </m:sSub>
                          <m:r>
                            <a:rPr lang="en-US" altLang="zh-CN" sz="2200">
                              <a:latin typeface="Cambria Math" panose="02040503050406030204" pitchFamily="18" charset="0"/>
                            </a:rPr>
                            <m:t>,    </m:t>
                          </m:r>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𝑚</m:t>
                              </m:r>
                            </m:e>
                            <m:sub>
                              <m:r>
                                <a:rPr lang="en-US" altLang="zh-CN" sz="2200">
                                  <a:latin typeface="Cambria Math" panose="02040503050406030204" pitchFamily="18" charset="0"/>
                                </a:rPr>
                                <m:t>1</m:t>
                              </m:r>
                            </m:sub>
                          </m:sSub>
                          <m:r>
                            <a:rPr lang="en-US" altLang="zh-CN" sz="2200">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𝑚</m:t>
                              </m:r>
                            </m:e>
                            <m:sub>
                              <m:r>
                                <a:rPr lang="en-US" altLang="zh-CN" sz="2200">
                                  <a:latin typeface="Cambria Math" panose="02040503050406030204" pitchFamily="18" charset="0"/>
                                </a:rPr>
                                <m:t>𝑛</m:t>
                              </m:r>
                            </m:sub>
                          </m:sSub>
                        </m:num>
                        <m:den>
                          <m:r>
                            <a:rPr lang="en-US" altLang="zh-CN" sz="2200" dirty="0" smtClean="0">
                              <a:latin typeface="Cambria Math" panose="02040503050406030204" pitchFamily="18" charset="0"/>
                            </a:rPr>
                            <m:t>𝑆𝑈𝐵𝑆𝑇</m:t>
                          </m:r>
                          <m:r>
                            <a:rPr lang="en-US" altLang="zh-CN" sz="2200" dirty="0" smtClean="0">
                              <a:latin typeface="Cambria Math" panose="02040503050406030204" pitchFamily="18" charset="0"/>
                            </a:rPr>
                            <m:t>(</m:t>
                          </m:r>
                          <m:r>
                            <a:rPr lang="zh-CN" altLang="en-US" sz="2200" dirty="0" smtClean="0">
                              <a:latin typeface="Cambria Math" panose="02040503050406030204" pitchFamily="18" charset="0"/>
                            </a:rPr>
                            <m:t>𝜃</m:t>
                          </m:r>
                          <m:r>
                            <a:rPr lang="en-US" altLang="zh-CN" sz="2200" dirty="0" smtClean="0">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𝑙</m:t>
                              </m:r>
                            </m:e>
                            <m:sub>
                              <m:r>
                                <a:rPr lang="en-US" altLang="zh-CN" sz="2200">
                                  <a:latin typeface="Cambria Math" panose="02040503050406030204" pitchFamily="18" charset="0"/>
                                </a:rPr>
                                <m:t>1</m:t>
                              </m:r>
                            </m:sub>
                          </m:sSub>
                          <m:r>
                            <a:rPr lang="en-US" altLang="zh-CN" sz="2200">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𝑙</m:t>
                              </m:r>
                            </m:e>
                            <m:sub>
                              <m:r>
                                <a:rPr lang="en-US" altLang="zh-CN" sz="2200">
                                  <a:latin typeface="Cambria Math" panose="02040503050406030204" pitchFamily="18" charset="0"/>
                                </a:rPr>
                                <m:t>𝑖</m:t>
                              </m:r>
                              <m:r>
                                <a:rPr lang="en-US" altLang="zh-CN" sz="2200">
                                  <a:latin typeface="Cambria Math" panose="02040503050406030204" pitchFamily="18" charset="0"/>
                                </a:rPr>
                                <m:t>−</m:t>
                              </m:r>
                              <m:r>
                                <a:rPr lang="en-US" altLang="zh-CN" sz="2200">
                                  <a:latin typeface="Cambria Math" panose="02040503050406030204" pitchFamily="18" charset="0"/>
                                </a:rPr>
                                <m:t>1</m:t>
                              </m:r>
                            </m:sub>
                          </m:sSub>
                          <m:r>
                            <a:rPr lang="en-US" altLang="zh-CN" sz="2200">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𝑙</m:t>
                              </m:r>
                            </m:e>
                            <m:sub>
                              <m:r>
                                <a:rPr lang="en-US" altLang="zh-CN" sz="2200">
                                  <a:latin typeface="Cambria Math" panose="02040503050406030204" pitchFamily="18" charset="0"/>
                                </a:rPr>
                                <m:t>𝑖</m:t>
                              </m:r>
                              <m:r>
                                <a:rPr lang="en-US" altLang="zh-CN" sz="2200">
                                  <a:latin typeface="Cambria Math" panose="02040503050406030204" pitchFamily="18" charset="0"/>
                                </a:rPr>
                                <m:t>+</m:t>
                              </m:r>
                              <m:r>
                                <a:rPr lang="en-US" altLang="zh-CN" sz="2200">
                                  <a:latin typeface="Cambria Math" panose="02040503050406030204" pitchFamily="18" charset="0"/>
                                </a:rPr>
                                <m:t>1</m:t>
                              </m:r>
                            </m:sub>
                          </m:sSub>
                          <m:r>
                            <a:rPr lang="en-US" altLang="zh-CN" sz="2200">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𝑙</m:t>
                              </m:r>
                            </m:e>
                            <m:sub>
                              <m:r>
                                <a:rPr lang="en-US" altLang="zh-CN" sz="2200">
                                  <a:latin typeface="Cambria Math" panose="02040503050406030204" pitchFamily="18" charset="0"/>
                                </a:rPr>
                                <m:t>𝑘</m:t>
                              </m:r>
                            </m:sub>
                          </m:sSub>
                          <m:r>
                            <a:rPr lang="en-US" altLang="zh-CN" sz="2200">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𝑚</m:t>
                              </m:r>
                            </m:e>
                            <m:sub>
                              <m:r>
                                <a:rPr lang="en-US" altLang="zh-CN" sz="2200">
                                  <a:latin typeface="Cambria Math" panose="02040503050406030204" pitchFamily="18" charset="0"/>
                                </a:rPr>
                                <m:t>1</m:t>
                              </m:r>
                            </m:sub>
                          </m:sSub>
                          <m:r>
                            <a:rPr lang="en-US" altLang="zh-CN" sz="2200" smtClean="0">
                              <a:latin typeface="Cambria Math" panose="02040503050406030204" pitchFamily="18" charset="0"/>
                            </a:rPr>
                            <m:t>∨</m:t>
                          </m:r>
                          <m:r>
                            <a:rPr lang="en-US" altLang="zh-CN" sz="2200">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m:t>
                              </m:r>
                              <m:r>
                                <a:rPr lang="en-US" altLang="zh-CN" sz="2200">
                                  <a:latin typeface="Cambria Math" panose="02040503050406030204" pitchFamily="18" charset="0"/>
                                </a:rPr>
                                <m:t>𝑚</m:t>
                              </m:r>
                            </m:e>
                            <m:sub>
                              <m:r>
                                <a:rPr lang="en-US" altLang="zh-CN" sz="2200">
                                  <a:latin typeface="Cambria Math" panose="02040503050406030204" pitchFamily="18" charset="0"/>
                                </a:rPr>
                                <m:t>𝑗</m:t>
                              </m:r>
                              <m:r>
                                <a:rPr lang="en-US" altLang="zh-CN" sz="2200">
                                  <a:latin typeface="Cambria Math" panose="02040503050406030204" pitchFamily="18" charset="0"/>
                                </a:rPr>
                                <m:t>−</m:t>
                              </m:r>
                              <m:r>
                                <a:rPr lang="en-US" altLang="zh-CN" sz="2200">
                                  <a:latin typeface="Cambria Math" panose="02040503050406030204" pitchFamily="18" charset="0"/>
                                </a:rPr>
                                <m:t>1</m:t>
                              </m:r>
                            </m:sub>
                          </m:sSub>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m:t>
                              </m:r>
                              <m:r>
                                <a:rPr lang="en-US" altLang="zh-CN" sz="2200">
                                  <a:latin typeface="Cambria Math" panose="02040503050406030204" pitchFamily="18" charset="0"/>
                                </a:rPr>
                                <m:t>𝑚</m:t>
                              </m:r>
                            </m:e>
                            <m:sub>
                              <m:r>
                                <a:rPr lang="en-US" altLang="zh-CN" sz="2200">
                                  <a:latin typeface="Cambria Math" panose="02040503050406030204" pitchFamily="18" charset="0"/>
                                </a:rPr>
                                <m:t>𝑗</m:t>
                              </m:r>
                              <m:r>
                                <a:rPr lang="en-US" altLang="zh-CN" sz="2200">
                                  <a:latin typeface="Cambria Math" panose="02040503050406030204" pitchFamily="18" charset="0"/>
                                </a:rPr>
                                <m:t>−</m:t>
                              </m:r>
                              <m:r>
                                <a:rPr lang="en-US" altLang="zh-CN" sz="2200">
                                  <a:latin typeface="Cambria Math" panose="02040503050406030204" pitchFamily="18" charset="0"/>
                                </a:rPr>
                                <m:t>1</m:t>
                              </m:r>
                            </m:sub>
                          </m:sSub>
                          <m:r>
                            <a:rPr lang="en-US" altLang="zh-CN" sz="2200">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m:t>
                              </m:r>
                              <m:r>
                                <a:rPr lang="en-US" altLang="zh-CN" sz="2200">
                                  <a:latin typeface="Cambria Math" panose="02040503050406030204" pitchFamily="18" charset="0"/>
                                </a:rPr>
                                <m:t>𝑚</m:t>
                              </m:r>
                            </m:e>
                            <m:sub>
                              <m:r>
                                <a:rPr lang="en-US" altLang="zh-CN" sz="2200">
                                  <a:latin typeface="Cambria Math" panose="02040503050406030204" pitchFamily="18" charset="0"/>
                                </a:rPr>
                                <m:t>𝑛</m:t>
                              </m:r>
                            </m:sub>
                          </m:sSub>
                          <m:r>
                            <a:rPr lang="en-US" altLang="zh-CN" sz="2200" dirty="0" smtClean="0">
                              <a:latin typeface="Cambria Math" panose="02040503050406030204" pitchFamily="18" charset="0"/>
                            </a:rPr>
                            <m:t>)</m:t>
                          </m:r>
                        </m:den>
                      </m:f>
                    </m:oMath>
                  </m:oMathPara>
                </a14:m>
                <a:endParaRPr lang="en-US" altLang="zh-CN" sz="2200" dirty="0"/>
              </a:p>
              <a:p>
                <a:pPr marL="0" indent="0">
                  <a:buNone/>
                </a:pPr>
                <a:r>
                  <a:rPr lang="en-US" altLang="zh-CN" sz="2800" dirty="0"/>
                  <a:t>	</a:t>
                </a:r>
                <a:r>
                  <a:rPr lang="zh-CN" altLang="zh-CN" sz="2800" dirty="0" smtClean="0"/>
                  <a:t>其中</a:t>
                </a:r>
                <a14:m>
                  <m:oMath xmlns:m="http://schemas.openxmlformats.org/officeDocument/2006/math">
                    <m:r>
                      <a:rPr lang="it-IT" altLang="zh-CN" sz="2800" i="1" dirty="0" smtClean="0">
                        <a:solidFill>
                          <a:srgbClr val="C00000"/>
                        </a:solidFill>
                        <a:latin typeface="Cambria Math" panose="02040503050406030204" pitchFamily="18" charset="0"/>
                      </a:rPr>
                      <m:t>𝑈𝑁𝐼𝐹𝑌</m:t>
                    </m:r>
                    <m:r>
                      <a:rPr lang="it-IT" altLang="zh-CN" sz="2800" i="1" dirty="0" smtClean="0">
                        <a:solidFill>
                          <a:srgbClr val="C00000"/>
                        </a:solidFill>
                        <a:latin typeface="Cambria Math" panose="02040503050406030204" pitchFamily="18" charset="0"/>
                      </a:rPr>
                      <m:t>(</m:t>
                    </m:r>
                    <m:sSub>
                      <m:sSubPr>
                        <m:ctrlPr>
                          <a:rPr lang="it-IT" altLang="zh-CN" sz="2800" i="1" dirty="0" smtClean="0">
                            <a:solidFill>
                              <a:srgbClr val="C00000"/>
                            </a:solidFill>
                            <a:latin typeface="Cambria Math" panose="02040503050406030204" pitchFamily="18" charset="0"/>
                          </a:rPr>
                        </m:ctrlPr>
                      </m:sSubPr>
                      <m:e>
                        <m:r>
                          <a:rPr lang="en-US" altLang="zh-CN" sz="2800" b="0" i="1" dirty="0" smtClean="0">
                            <a:solidFill>
                              <a:srgbClr val="C00000"/>
                            </a:solidFill>
                            <a:latin typeface="Cambria Math" panose="02040503050406030204" pitchFamily="18" charset="0"/>
                          </a:rPr>
                          <m:t>𝑙</m:t>
                        </m:r>
                      </m:e>
                      <m:sub>
                        <m:r>
                          <a:rPr lang="en-US" altLang="zh-CN" sz="2800" b="0" i="1" dirty="0" smtClean="0">
                            <a:solidFill>
                              <a:srgbClr val="C00000"/>
                            </a:solidFill>
                            <a:latin typeface="Cambria Math" panose="02040503050406030204" pitchFamily="18" charset="0"/>
                          </a:rPr>
                          <m:t>𝑖</m:t>
                        </m:r>
                      </m:sub>
                    </m:sSub>
                    <m:r>
                      <a:rPr lang="it-IT" altLang="zh-CN" sz="2800" i="1" dirty="0">
                        <a:solidFill>
                          <a:srgbClr val="C00000"/>
                        </a:solidFill>
                        <a:latin typeface="Cambria Math" panose="02040503050406030204" pitchFamily="18" charset="0"/>
                      </a:rPr>
                      <m:t>, </m:t>
                    </m:r>
                    <m:r>
                      <a:rPr lang="en-US" altLang="zh-CN" sz="2800" i="1" dirty="0">
                        <a:solidFill>
                          <a:srgbClr val="C00000"/>
                        </a:solidFill>
                        <a:latin typeface="Cambria Math" panose="02040503050406030204" pitchFamily="18" charset="0"/>
                        <a:sym typeface="Symbol" panose="05050102010706020507" pitchFamily="18" charset="2"/>
                      </a:rPr>
                      <m:t></m:t>
                    </m:r>
                    <m:r>
                      <a:rPr lang="it-IT" altLang="zh-CN" sz="2800" i="1" dirty="0">
                        <a:solidFill>
                          <a:srgbClr val="C00000"/>
                        </a:solidFill>
                        <a:latin typeface="Cambria Math" panose="02040503050406030204" pitchFamily="18" charset="0"/>
                      </a:rPr>
                      <m:t>𝑚</m:t>
                    </m:r>
                    <m:r>
                      <a:rPr lang="it-IT" altLang="zh-CN" sz="2800" i="1" baseline="-25000" dirty="0">
                        <a:solidFill>
                          <a:srgbClr val="C00000"/>
                        </a:solidFill>
                        <a:latin typeface="Cambria Math" panose="02040503050406030204" pitchFamily="18" charset="0"/>
                      </a:rPr>
                      <m:t>𝑗</m:t>
                    </m:r>
                    <m:r>
                      <a:rPr lang="it-IT" altLang="zh-CN" sz="2800" i="1" dirty="0">
                        <a:solidFill>
                          <a:srgbClr val="C00000"/>
                        </a:solidFill>
                        <a:latin typeface="Cambria Math" panose="02040503050406030204" pitchFamily="18" charset="0"/>
                      </a:rPr>
                      <m:t>) = </m:t>
                    </m:r>
                    <m:r>
                      <a:rPr lang="en-US" altLang="zh-CN" sz="2800" i="1" dirty="0">
                        <a:solidFill>
                          <a:srgbClr val="C00000"/>
                        </a:solidFill>
                        <a:latin typeface="Cambria Math" panose="02040503050406030204" pitchFamily="18" charset="0"/>
                      </a:rPr>
                      <m:t>𝜃</m:t>
                    </m:r>
                  </m:oMath>
                </a14:m>
                <a:r>
                  <a:rPr lang="zh-CN" altLang="zh-CN" sz="2800" dirty="0" smtClean="0"/>
                  <a:t>。</a:t>
                </a:r>
                <a:endParaRPr lang="en-US" altLang="zh-CN" sz="2800" dirty="0" smtClean="0"/>
              </a:p>
              <a:p>
                <a:pPr>
                  <a:spcBef>
                    <a:spcPts val="1800"/>
                  </a:spcBef>
                </a:pPr>
                <a:r>
                  <a:rPr lang="zh-CN" altLang="zh-CN" sz="2800" dirty="0" smtClean="0"/>
                  <a:t>例如</a:t>
                </a:r>
                <a:r>
                  <a:rPr lang="zh-CN" altLang="zh-CN" sz="2800" dirty="0"/>
                  <a:t>，通过</a:t>
                </a:r>
                <a:r>
                  <a:rPr lang="zh-CN" altLang="zh-CN" sz="2800" dirty="0" smtClean="0">
                    <a:solidFill>
                      <a:srgbClr val="C00000"/>
                    </a:solidFill>
                  </a:rPr>
                  <a:t>合一置换</a:t>
                </a:r>
                <a14:m>
                  <m:oMath xmlns:m="http://schemas.openxmlformats.org/officeDocument/2006/math">
                    <m:r>
                      <a:rPr lang="en-US" altLang="zh-CN" sz="2800" i="1" dirty="0" smtClean="0">
                        <a:solidFill>
                          <a:srgbClr val="C00000"/>
                        </a:solidFill>
                        <a:latin typeface="Cambria Math" panose="02040503050406030204" pitchFamily="18" charset="0"/>
                      </a:rPr>
                      <m:t>𝜃</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𝑢</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𝐺</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𝑥</m:t>
                    </m:r>
                    <m:r>
                      <a:rPr lang="en-US" altLang="zh-CN" sz="2800" i="1" dirty="0" smtClean="0">
                        <a:latin typeface="Cambria Math" panose="02040503050406030204" pitchFamily="18" charset="0"/>
                      </a:rPr>
                      <m:t>), </m:t>
                    </m:r>
                    <m:r>
                      <a:rPr lang="en-US" altLang="zh-CN" sz="2800" i="1" dirty="0" smtClean="0">
                        <a:latin typeface="Cambria Math" panose="02040503050406030204" pitchFamily="18" charset="0"/>
                      </a:rPr>
                      <m:t>𝑣</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𝑥</m:t>
                    </m:r>
                    <m:r>
                      <a:rPr lang="en-US" altLang="zh-CN" sz="2800" i="1" dirty="0" smtClean="0">
                        <a:latin typeface="Cambria Math" panose="02040503050406030204" pitchFamily="18" charset="0"/>
                      </a:rPr>
                      <m:t>}</m:t>
                    </m:r>
                  </m:oMath>
                </a14:m>
                <a:r>
                  <a:rPr lang="zh-CN" altLang="zh-CN" sz="2800" dirty="0"/>
                  <a:t>消除互补文字</a:t>
                </a:r>
                <a14:m>
                  <m:oMath xmlns:m="http://schemas.openxmlformats.org/officeDocument/2006/math">
                    <m:r>
                      <a:rPr lang="en-US" altLang="zh-CN" sz="2800" i="1" dirty="0" smtClean="0">
                        <a:latin typeface="Cambria Math" panose="02040503050406030204" pitchFamily="18" charset="0"/>
                      </a:rPr>
                      <m:t>𝐿𝑜𝑣𝑒𝑠</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𝐺</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𝑥</m:t>
                    </m:r>
                    <m:r>
                      <a:rPr lang="en-US" altLang="zh-CN" sz="2800" i="1" dirty="0" smtClean="0">
                        <a:latin typeface="Cambria Math" panose="02040503050406030204" pitchFamily="18" charset="0"/>
                      </a:rPr>
                      <m:t>), </m:t>
                    </m:r>
                    <m:r>
                      <a:rPr lang="en-US" altLang="zh-CN" sz="2800" i="1" dirty="0" smtClean="0">
                        <a:latin typeface="Cambria Math" panose="02040503050406030204" pitchFamily="18" charset="0"/>
                      </a:rPr>
                      <m:t>𝑥</m:t>
                    </m:r>
                    <m:r>
                      <a:rPr lang="en-US" altLang="zh-CN" sz="2800" i="1" dirty="0" smtClean="0">
                        <a:latin typeface="Cambria Math" panose="02040503050406030204" pitchFamily="18" charset="0"/>
                      </a:rPr>
                      <m:t>)</m:t>
                    </m:r>
                  </m:oMath>
                </a14:m>
                <a:r>
                  <a:rPr lang="zh-CN" altLang="zh-CN" sz="2800" dirty="0"/>
                  <a:t>和</a:t>
                </a:r>
                <a14:m>
                  <m:oMath xmlns:m="http://schemas.openxmlformats.org/officeDocument/2006/math">
                    <m:r>
                      <a:rPr lang="en-US" altLang="zh-CN" sz="2800" i="1" dirty="0" smtClean="0">
                        <a:latin typeface="Cambria Math" panose="02040503050406030204" pitchFamily="18" charset="0"/>
                        <a:sym typeface="Symbol" panose="05050102010706020507" pitchFamily="18" charset="2"/>
                      </a:rPr>
                      <m:t></m:t>
                    </m:r>
                    <m:r>
                      <a:rPr lang="en-US" altLang="zh-CN" sz="2800" i="1" dirty="0">
                        <a:latin typeface="Cambria Math" panose="02040503050406030204" pitchFamily="18" charset="0"/>
                      </a:rPr>
                      <m:t>𝐿𝑜𝑣𝑒𝑠</m:t>
                    </m:r>
                    <m:r>
                      <a:rPr lang="en-US" altLang="zh-CN" sz="2800" i="1" dirty="0">
                        <a:latin typeface="Cambria Math" panose="02040503050406030204" pitchFamily="18" charset="0"/>
                      </a:rPr>
                      <m:t>(</m:t>
                    </m:r>
                    <m:r>
                      <a:rPr lang="en-US" altLang="zh-CN" sz="2800" i="1" dirty="0">
                        <a:latin typeface="Cambria Math" panose="02040503050406030204" pitchFamily="18" charset="0"/>
                      </a:rPr>
                      <m:t>𝑢</m:t>
                    </m:r>
                    <m:r>
                      <a:rPr lang="en-US" altLang="zh-CN" sz="2800" i="1" dirty="0">
                        <a:latin typeface="Cambria Math" panose="02040503050406030204" pitchFamily="18" charset="0"/>
                      </a:rPr>
                      <m:t>, </m:t>
                    </m:r>
                    <m:r>
                      <a:rPr lang="en-US" altLang="zh-CN" sz="2800" i="1" dirty="0">
                        <a:latin typeface="Cambria Math" panose="02040503050406030204" pitchFamily="18" charset="0"/>
                      </a:rPr>
                      <m:t>𝑣</m:t>
                    </m:r>
                    <m:r>
                      <a:rPr lang="en-US" altLang="zh-CN" sz="2800" i="1" dirty="0">
                        <a:latin typeface="Cambria Math" panose="02040503050406030204" pitchFamily="18" charset="0"/>
                      </a:rPr>
                      <m:t>)</m:t>
                    </m:r>
                  </m:oMath>
                </a14:m>
                <a:r>
                  <a:rPr lang="zh-CN" altLang="zh-CN" sz="2800" dirty="0"/>
                  <a:t>，我们可以对两个子句进行</a:t>
                </a:r>
                <a:r>
                  <a:rPr lang="zh-CN" altLang="zh-CN" sz="2800" dirty="0" smtClean="0"/>
                  <a:t>归结</a:t>
                </a:r>
                <a:endParaRPr lang="en-US" altLang="zh-CN" sz="2800" dirty="0" smtClean="0"/>
              </a:p>
            </p:txBody>
          </p:sp>
        </mc:Choice>
        <mc:Fallback>
          <p:sp>
            <p:nvSpPr>
              <p:cNvPr id="94211" name="Rectangle 3"/>
              <p:cNvSpPr>
                <a:spLocks noRot="1" noChangeAspect="1" noMove="1" noResize="1" noEditPoints="1" noAdjustHandles="1" noChangeArrowheads="1" noChangeShapeType="1" noTextEdit="1"/>
              </p:cNvSpPr>
              <p:nvPr>
                <p:ph idx="1"/>
              </p:nvPr>
            </p:nvSpPr>
            <p:spPr>
              <a:blipFill rotWithShape="1">
                <a:blip r:embed="rId1"/>
                <a:stretch>
                  <a:fillRect t="-7" r="-4971"/>
                </a:stretch>
              </a:blipFill>
            </p:spPr>
            <p:txBody>
              <a:bodyPr/>
              <a:lstStyle/>
              <a:p>
                <a:r>
                  <a:rPr lang="zh-CN" altLang="en-US">
                    <a:noFill/>
                  </a:rPr>
                  <a:t> </a:t>
                </a:r>
              </a:p>
            </p:txBody>
          </p:sp>
        </mc:Fallback>
      </mc:AlternateContent>
      <p:sp>
        <p:nvSpPr>
          <p:cNvPr id="2" name="灯片编号占位符 1"/>
          <p:cNvSpPr>
            <a:spLocks noGrp="1"/>
          </p:cNvSpPr>
          <p:nvPr>
            <p:ph type="sldNum" sz="quarter" idx="12"/>
          </p:nvPr>
        </p:nvSpPr>
        <p:spPr/>
        <p:txBody>
          <a:bodyPr/>
          <a:lstStyle/>
          <a:p>
            <a:fld id="{8675F621-1619-4F8E-88C5-5F30FD27FF75}" type="slidenum">
              <a:rPr lang="en-US" altLang="zh-CN" smtClean="0"/>
            </a:fld>
            <a:endParaRPr lang="en-US" altLang="zh-CN"/>
          </a:p>
        </p:txBody>
      </p:sp>
      <mc:AlternateContent xmlns:mc="http://schemas.openxmlformats.org/markup-compatibility/2006">
        <mc:Choice xmlns:a14="http://schemas.microsoft.com/office/drawing/2010/main" Requires="a14">
          <p:sp>
            <p:nvSpPr>
              <p:cNvPr id="3" name="矩形 2"/>
              <p:cNvSpPr/>
              <p:nvPr/>
            </p:nvSpPr>
            <p:spPr>
              <a:xfrm>
                <a:off x="2235419" y="4958079"/>
                <a:ext cx="2244461" cy="461665"/>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14:m>
                  <m:oMathPara xmlns:m="http://schemas.openxmlformats.org/officeDocument/2006/math">
                    <m:oMathParaPr>
                      <m:jc m:val="centerGroup"/>
                    </m:oMathParaPr>
                    <m:oMath xmlns:m="http://schemas.openxmlformats.org/officeDocument/2006/math">
                      <m:r>
                        <a:rPr lang="en-US" altLang="zh-CN" sz="2400" i="1" dirty="0">
                          <a:latin typeface="Cambria Math" panose="02040503050406030204" pitchFamily="18" charset="0"/>
                        </a:rPr>
                        <m:t>𝐿𝑜𝑣𝑒𝑠</m:t>
                      </m:r>
                      <m:r>
                        <a:rPr lang="en-US" altLang="zh-CN" sz="2400" i="1" dirty="0">
                          <a:latin typeface="Cambria Math" panose="02040503050406030204" pitchFamily="18" charset="0"/>
                        </a:rPr>
                        <m:t>(</m:t>
                      </m:r>
                      <m:r>
                        <a:rPr lang="en-US" altLang="zh-CN" sz="2400" i="1" dirty="0">
                          <a:latin typeface="Cambria Math" panose="02040503050406030204" pitchFamily="18" charset="0"/>
                        </a:rPr>
                        <m:t>𝐺</m:t>
                      </m:r>
                      <m:r>
                        <a:rPr lang="en-US" altLang="zh-CN" sz="2400" i="1" dirty="0">
                          <a:latin typeface="Cambria Math" panose="02040503050406030204" pitchFamily="18" charset="0"/>
                        </a:rPr>
                        <m:t>(</m:t>
                      </m:r>
                      <m:r>
                        <a:rPr lang="en-US" altLang="zh-CN" sz="2400" i="1" dirty="0">
                          <a:latin typeface="Cambria Math" panose="02040503050406030204" pitchFamily="18" charset="0"/>
                        </a:rPr>
                        <m:t>𝑥</m:t>
                      </m:r>
                      <m:r>
                        <a:rPr lang="en-US" altLang="zh-CN" sz="2400" i="1" dirty="0">
                          <a:latin typeface="Cambria Math" panose="02040503050406030204" pitchFamily="18" charset="0"/>
                        </a:rPr>
                        <m:t>), </m:t>
                      </m:r>
                      <m:r>
                        <a:rPr lang="en-US" altLang="zh-CN" sz="2400" i="1" dirty="0">
                          <a:latin typeface="Cambria Math" panose="02040503050406030204" pitchFamily="18" charset="0"/>
                        </a:rPr>
                        <m:t>𝑥</m:t>
                      </m:r>
                      <m:r>
                        <a:rPr lang="en-US" altLang="zh-CN" sz="2400" i="1" dirty="0">
                          <a:latin typeface="Cambria Math" panose="02040503050406030204" pitchFamily="18" charset="0"/>
                        </a:rPr>
                        <m:t>)</m:t>
                      </m:r>
                    </m:oMath>
                  </m:oMathPara>
                </a14:m>
                <a:endParaRPr lang="zh-CN" altLang="en-US" sz="2400" dirty="0"/>
              </a:p>
            </p:txBody>
          </p:sp>
        </mc:Choice>
        <mc:Fallback>
          <p:sp>
            <p:nvSpPr>
              <p:cNvPr id="3" name="矩形 2"/>
              <p:cNvSpPr>
                <a:spLocks noRot="1" noChangeAspect="1" noMove="1" noResize="1" noEditPoints="1" noAdjustHandles="1" noChangeArrowheads="1" noChangeShapeType="1" noTextEdit="1"/>
              </p:cNvSpPr>
              <p:nvPr/>
            </p:nvSpPr>
            <p:spPr>
              <a:xfrm>
                <a:off x="2235419" y="4958079"/>
                <a:ext cx="2244461" cy="461665"/>
              </a:xfrm>
              <a:prstGeom prst="rect">
                <a:avLst/>
              </a:prstGeom>
              <a:blipFill rotWithShape="1">
                <a:blip r:embed="rId2"/>
                <a:stretch>
                  <a:fillRect l="-434" t="-2201" r="-398" b="-2059"/>
                </a:stretch>
              </a:blipFill>
            </p:spPr>
            <p:style>
              <a:lnRef idx="2">
                <a:schemeClr val="accent1"/>
              </a:lnRef>
              <a:fillRef idx="1">
                <a:schemeClr val="lt1"/>
              </a:fillRef>
              <a:effectRef idx="0">
                <a:schemeClr val="accent1"/>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矩形 3"/>
              <p:cNvSpPr/>
              <p:nvPr/>
            </p:nvSpPr>
            <p:spPr>
              <a:xfrm>
                <a:off x="4539675" y="4958079"/>
                <a:ext cx="2014398" cy="461665"/>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14:m>
                  <m:oMathPara xmlns:m="http://schemas.openxmlformats.org/officeDocument/2006/math">
                    <m:oMathParaPr>
                      <m:jc m:val="centerGroup"/>
                    </m:oMathParaPr>
                    <m:oMath xmlns:m="http://schemas.openxmlformats.org/officeDocument/2006/math">
                      <m:r>
                        <a:rPr lang="en-US" altLang="zh-CN" sz="2400" i="1" dirty="0">
                          <a:latin typeface="Cambria Math" panose="02040503050406030204" pitchFamily="18" charset="0"/>
                          <a:sym typeface="Symbol" panose="05050102010706020507" pitchFamily="18" charset="2"/>
                        </a:rPr>
                        <m:t></m:t>
                      </m:r>
                      <m:r>
                        <a:rPr lang="en-US" altLang="zh-CN" sz="2400" i="1" dirty="0">
                          <a:latin typeface="Cambria Math" panose="02040503050406030204" pitchFamily="18" charset="0"/>
                        </a:rPr>
                        <m:t>𝐿𝑜𝑣𝑒𝑠</m:t>
                      </m:r>
                      <m:r>
                        <a:rPr lang="en-US" altLang="zh-CN" sz="2400" i="1" dirty="0">
                          <a:latin typeface="Cambria Math" panose="02040503050406030204" pitchFamily="18" charset="0"/>
                        </a:rPr>
                        <m:t>(</m:t>
                      </m:r>
                      <m:r>
                        <a:rPr lang="en-US" altLang="zh-CN" sz="2400" i="1" dirty="0">
                          <a:latin typeface="Cambria Math" panose="02040503050406030204" pitchFamily="18" charset="0"/>
                        </a:rPr>
                        <m:t>𝑢</m:t>
                      </m:r>
                      <m:r>
                        <a:rPr lang="en-US" altLang="zh-CN" sz="2400" i="1" dirty="0">
                          <a:latin typeface="Cambria Math" panose="02040503050406030204" pitchFamily="18" charset="0"/>
                        </a:rPr>
                        <m:t>, </m:t>
                      </m:r>
                      <m:r>
                        <a:rPr lang="en-US" altLang="zh-CN" sz="2400" i="1" dirty="0">
                          <a:latin typeface="Cambria Math" panose="02040503050406030204" pitchFamily="18" charset="0"/>
                        </a:rPr>
                        <m:t>𝑣</m:t>
                      </m:r>
                      <m:r>
                        <a:rPr lang="en-US" altLang="zh-CN" sz="2400" i="1" dirty="0">
                          <a:latin typeface="Cambria Math" panose="02040503050406030204" pitchFamily="18" charset="0"/>
                        </a:rPr>
                        <m:t>)</m:t>
                      </m:r>
                    </m:oMath>
                  </m:oMathPara>
                </a14:m>
                <a:endParaRPr lang="zh-CN" altLang="en-US" sz="2400" dirty="0"/>
              </a:p>
            </p:txBody>
          </p:sp>
        </mc:Choice>
        <mc:Fallback>
          <p:sp>
            <p:nvSpPr>
              <p:cNvPr id="4" name="矩形 3"/>
              <p:cNvSpPr>
                <a:spLocks noRot="1" noChangeAspect="1" noMove="1" noResize="1" noEditPoints="1" noAdjustHandles="1" noChangeArrowheads="1" noChangeShapeType="1" noTextEdit="1"/>
              </p:cNvSpPr>
              <p:nvPr/>
            </p:nvSpPr>
            <p:spPr>
              <a:xfrm>
                <a:off x="4539675" y="4958079"/>
                <a:ext cx="2014398" cy="461665"/>
              </a:xfrm>
              <a:prstGeom prst="rect">
                <a:avLst/>
              </a:prstGeom>
              <a:blipFill rotWithShape="1">
                <a:blip r:embed="rId3"/>
                <a:stretch>
                  <a:fillRect l="-476" t="-2201" r="-461" b="-6736"/>
                </a:stretch>
              </a:blipFill>
            </p:spPr>
            <p:style>
              <a:lnRef idx="2">
                <a:schemeClr val="accent1"/>
              </a:lnRef>
              <a:fillRef idx="1">
                <a:schemeClr val="lt1"/>
              </a:fillRef>
              <a:effectRef idx="0">
                <a:schemeClr val="accent1"/>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p:cNvSpPr/>
              <p:nvPr/>
            </p:nvSpPr>
            <p:spPr>
              <a:xfrm>
                <a:off x="1919215" y="5634566"/>
                <a:ext cx="2091535"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sz="2400" i="1" dirty="0">
                          <a:latin typeface="Cambria Math" panose="02040503050406030204" pitchFamily="18" charset="0"/>
                        </a:rPr>
                        <m:t>{</m:t>
                      </m:r>
                      <m:r>
                        <a:rPr lang="en-US" altLang="zh-CN" sz="2400" i="1" dirty="0">
                          <a:latin typeface="Cambria Math" panose="02040503050406030204" pitchFamily="18" charset="0"/>
                        </a:rPr>
                        <m:t>𝑢</m:t>
                      </m:r>
                      <m:r>
                        <a:rPr lang="en-US" altLang="zh-CN" sz="2400" i="1" dirty="0">
                          <a:latin typeface="Cambria Math" panose="02040503050406030204" pitchFamily="18" charset="0"/>
                        </a:rPr>
                        <m:t>/</m:t>
                      </m:r>
                      <m:r>
                        <a:rPr lang="en-US" altLang="zh-CN" sz="2400" i="1" dirty="0">
                          <a:latin typeface="Cambria Math" panose="02040503050406030204" pitchFamily="18" charset="0"/>
                        </a:rPr>
                        <m:t>𝐺</m:t>
                      </m:r>
                      <m:r>
                        <a:rPr lang="en-US" altLang="zh-CN" sz="2400" i="1" dirty="0">
                          <a:latin typeface="Cambria Math" panose="02040503050406030204" pitchFamily="18" charset="0"/>
                        </a:rPr>
                        <m:t>(</m:t>
                      </m:r>
                      <m:r>
                        <a:rPr lang="en-US" altLang="zh-CN" sz="2400" i="1" dirty="0">
                          <a:latin typeface="Cambria Math" panose="02040503050406030204" pitchFamily="18" charset="0"/>
                        </a:rPr>
                        <m:t>𝑥</m:t>
                      </m:r>
                      <m:r>
                        <a:rPr lang="en-US" altLang="zh-CN" sz="2400" i="1" dirty="0">
                          <a:latin typeface="Cambria Math" panose="02040503050406030204" pitchFamily="18" charset="0"/>
                        </a:rPr>
                        <m:t>), </m:t>
                      </m:r>
                      <m:r>
                        <a:rPr lang="en-US" altLang="zh-CN" sz="2400" i="1" dirty="0">
                          <a:latin typeface="Cambria Math" panose="02040503050406030204" pitchFamily="18" charset="0"/>
                        </a:rPr>
                        <m:t>𝑣</m:t>
                      </m:r>
                      <m:r>
                        <a:rPr lang="en-US" altLang="zh-CN" sz="2400" i="1" dirty="0">
                          <a:latin typeface="Cambria Math" panose="02040503050406030204" pitchFamily="18" charset="0"/>
                        </a:rPr>
                        <m:t>/</m:t>
                      </m:r>
                      <m:r>
                        <a:rPr lang="en-US" altLang="zh-CN" sz="2400" i="1" dirty="0">
                          <a:latin typeface="Cambria Math" panose="02040503050406030204" pitchFamily="18" charset="0"/>
                        </a:rPr>
                        <m:t>𝑥</m:t>
                      </m:r>
                      <m:r>
                        <a:rPr lang="en-US" altLang="zh-CN" sz="2400" i="1" dirty="0">
                          <a:latin typeface="Cambria Math" panose="02040503050406030204" pitchFamily="18" charset="0"/>
                        </a:rPr>
                        <m:t>}</m:t>
                      </m:r>
                    </m:oMath>
                  </m:oMathPara>
                </a14:m>
                <a:endParaRPr lang="zh-CN" altLang="en-US" sz="2400" dirty="0"/>
              </a:p>
            </p:txBody>
          </p:sp>
        </mc:Choice>
        <mc:Fallback>
          <p:sp>
            <p:nvSpPr>
              <p:cNvPr id="5" name="矩形 4"/>
              <p:cNvSpPr>
                <a:spLocks noRot="1" noChangeAspect="1" noMove="1" noResize="1" noEditPoints="1" noAdjustHandles="1" noChangeArrowheads="1" noChangeShapeType="1" noTextEdit="1"/>
              </p:cNvSpPr>
              <p:nvPr/>
            </p:nvSpPr>
            <p:spPr>
              <a:xfrm>
                <a:off x="1919215" y="5634566"/>
                <a:ext cx="2091535" cy="461665"/>
              </a:xfrm>
              <a:prstGeom prst="rect">
                <a:avLst/>
              </a:prstGeom>
              <a:blipFill rotWithShape="1">
                <a:blip r:embed="rId4"/>
                <a:stretch>
                  <a:fillRect l="-12" t="-46" r="4" b="50"/>
                </a:stretch>
              </a:blipFill>
            </p:spPr>
            <p:txBody>
              <a:bodyPr/>
              <a:lstStyle/>
              <a:p>
                <a:r>
                  <a:rPr lang="zh-CN" altLang="en-US">
                    <a:noFill/>
                  </a:rPr>
                  <a:t> </a:t>
                </a:r>
              </a:p>
            </p:txBody>
          </p:sp>
        </mc:Fallback>
      </mc:AlternateContent>
      <p:sp>
        <p:nvSpPr>
          <p:cNvPr id="8" name="矩形 7"/>
          <p:cNvSpPr/>
          <p:nvPr/>
        </p:nvSpPr>
        <p:spPr>
          <a:xfrm>
            <a:off x="3995936" y="6232525"/>
            <a:ext cx="1335827"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altLang="zh-CN" sz="2400" dirty="0" smtClean="0"/>
              <a:t>NIL</a:t>
            </a:r>
            <a:endParaRPr lang="zh-CN" altLang="zh-CN" sz="2400" dirty="0"/>
          </a:p>
        </p:txBody>
      </p:sp>
      <p:cxnSp>
        <p:nvCxnSpPr>
          <p:cNvPr id="9" name="直接连接符 8"/>
          <p:cNvCxnSpPr>
            <a:stCxn id="3" idx="2"/>
            <a:endCxn id="8" idx="0"/>
          </p:cNvCxnSpPr>
          <p:nvPr/>
        </p:nvCxnSpPr>
        <p:spPr>
          <a:xfrm>
            <a:off x="3357650" y="5419744"/>
            <a:ext cx="1306200" cy="812781"/>
          </a:xfrm>
          <a:prstGeom prst="line">
            <a:avLst/>
          </a:prstGeom>
        </p:spPr>
        <p:style>
          <a:lnRef idx="3">
            <a:schemeClr val="accent1"/>
          </a:lnRef>
          <a:fillRef idx="0">
            <a:schemeClr val="accent1"/>
          </a:fillRef>
          <a:effectRef idx="2">
            <a:schemeClr val="accent1"/>
          </a:effectRef>
          <a:fontRef idx="minor">
            <a:schemeClr val="tx1"/>
          </a:fontRef>
        </p:style>
      </p:cxnSp>
      <p:cxnSp>
        <p:nvCxnSpPr>
          <p:cNvPr id="10" name="直接连接符 9"/>
          <p:cNvCxnSpPr>
            <a:stCxn id="4" idx="2"/>
            <a:endCxn id="8" idx="0"/>
          </p:cNvCxnSpPr>
          <p:nvPr/>
        </p:nvCxnSpPr>
        <p:spPr>
          <a:xfrm flipH="1">
            <a:off x="4663850" y="5419744"/>
            <a:ext cx="883024" cy="812781"/>
          </a:xfrm>
          <a:prstGeom prst="line">
            <a:avLst/>
          </a:prstGeom>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par>
    </p:tnLst>
    <p:bldLst>
      <p:bldP spid="94211" grpId="0" build="p"/>
      <p:bldP spid="3" grpId="0" bldLvl="0" animBg="1"/>
      <p:bldP spid="4" grpId="0" bldLvl="0" animBg="1"/>
      <p:bldP spid="5" grpId="0"/>
      <p:bldP spid="8"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7850188" cy="1011238"/>
          </a:xfrm>
        </p:spPr>
        <p:txBody>
          <a:bodyPr/>
          <a:lstStyle/>
          <a:p>
            <a:r>
              <a:rPr lang="zh-CN" altLang="en-US" dirty="0" smtClean="0"/>
              <a:t>成绩</a:t>
            </a:r>
            <a:r>
              <a:rPr lang="zh-CN" altLang="en-US" dirty="0" smtClean="0"/>
              <a:t>统计</a:t>
            </a:r>
            <a:endParaRPr lang="zh-CN" altLang="en-US" dirty="0" smtClean="0"/>
          </a:p>
        </p:txBody>
      </p:sp>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fld>
            <a:endParaRPr lang="en-US" altLang="zh-CN"/>
          </a:p>
        </p:txBody>
      </p:sp>
      <p:pic>
        <p:nvPicPr>
          <p:cNvPr id="7" name="图片 6"/>
          <p:cNvPicPr>
            <a:picLocks noChangeAspect="1"/>
          </p:cNvPicPr>
          <p:nvPr>
            <p:custDataLst>
              <p:tags r:id="rId1"/>
            </p:custDataLst>
          </p:nvPr>
        </p:nvPicPr>
        <p:blipFill>
          <a:blip r:embed="rId2"/>
          <a:stretch>
            <a:fillRect/>
          </a:stretch>
        </p:blipFill>
        <p:spPr>
          <a:xfrm>
            <a:off x="179705" y="980440"/>
            <a:ext cx="3587750" cy="2766060"/>
          </a:xfrm>
          <a:prstGeom prst="rect">
            <a:avLst/>
          </a:prstGeom>
        </p:spPr>
      </p:pic>
      <p:pic>
        <p:nvPicPr>
          <p:cNvPr id="8" name="图片 7"/>
          <p:cNvPicPr>
            <a:picLocks noChangeAspect="1"/>
          </p:cNvPicPr>
          <p:nvPr>
            <p:custDataLst>
              <p:tags r:id="rId3"/>
            </p:custDataLst>
          </p:nvPr>
        </p:nvPicPr>
        <p:blipFill>
          <a:blip r:embed="rId4"/>
          <a:stretch>
            <a:fillRect/>
          </a:stretch>
        </p:blipFill>
        <p:spPr>
          <a:xfrm>
            <a:off x="4932045" y="764540"/>
            <a:ext cx="3848735" cy="3005455"/>
          </a:xfrm>
          <a:prstGeom prst="rect">
            <a:avLst/>
          </a:prstGeom>
        </p:spPr>
      </p:pic>
      <p:pic>
        <p:nvPicPr>
          <p:cNvPr id="9" name="图片 8"/>
          <p:cNvPicPr>
            <a:picLocks noChangeAspect="1"/>
          </p:cNvPicPr>
          <p:nvPr>
            <p:custDataLst>
              <p:tags r:id="rId5"/>
            </p:custDataLst>
          </p:nvPr>
        </p:nvPicPr>
        <p:blipFill>
          <a:blip r:embed="rId6"/>
          <a:stretch>
            <a:fillRect/>
          </a:stretch>
        </p:blipFill>
        <p:spPr>
          <a:xfrm>
            <a:off x="2771775" y="3716655"/>
            <a:ext cx="3438525" cy="2797175"/>
          </a:xfrm>
          <a:prstGeom prst="rect">
            <a:avLst/>
          </a:prstGeom>
        </p:spPr>
      </p:pic>
      <p:sp>
        <p:nvSpPr>
          <p:cNvPr id="11" name="文本框 10"/>
          <p:cNvSpPr txBox="1"/>
          <p:nvPr/>
        </p:nvSpPr>
        <p:spPr>
          <a:xfrm>
            <a:off x="1835785" y="3746500"/>
            <a:ext cx="3048000" cy="368300"/>
          </a:xfrm>
          <a:prstGeom prst="rect">
            <a:avLst/>
          </a:prstGeom>
          <a:noFill/>
        </p:spPr>
        <p:txBody>
          <a:bodyPr wrap="square" rtlCol="0">
            <a:spAutoFit/>
          </a:bodyPr>
          <a:p>
            <a:r>
              <a:rPr lang="en-US" altLang="zh-CN"/>
              <a:t>1</a:t>
            </a:r>
            <a:r>
              <a:rPr lang="zh-CN" altLang="en-US"/>
              <a:t>班</a:t>
            </a:r>
            <a:endParaRPr lang="zh-CN" altLang="en-US"/>
          </a:p>
        </p:txBody>
      </p:sp>
      <p:sp>
        <p:nvSpPr>
          <p:cNvPr id="12" name="文本框 11"/>
          <p:cNvSpPr txBox="1"/>
          <p:nvPr>
            <p:custDataLst>
              <p:tags r:id="rId7"/>
            </p:custDataLst>
          </p:nvPr>
        </p:nvSpPr>
        <p:spPr>
          <a:xfrm>
            <a:off x="6804660" y="3788410"/>
            <a:ext cx="3048000" cy="368300"/>
          </a:xfrm>
          <a:prstGeom prst="rect">
            <a:avLst/>
          </a:prstGeom>
          <a:noFill/>
        </p:spPr>
        <p:txBody>
          <a:bodyPr wrap="square" rtlCol="0">
            <a:spAutoFit/>
          </a:bodyPr>
          <a:p>
            <a:r>
              <a:rPr lang="en-US" altLang="zh-CN"/>
              <a:t>2</a:t>
            </a:r>
            <a:r>
              <a:rPr lang="zh-CN" altLang="en-US"/>
              <a:t>班</a:t>
            </a:r>
            <a:endParaRPr lang="zh-CN" altLang="en-US"/>
          </a:p>
        </p:txBody>
      </p:sp>
      <p:sp>
        <p:nvSpPr>
          <p:cNvPr id="13" name="文本框 12"/>
          <p:cNvSpPr txBox="1"/>
          <p:nvPr>
            <p:custDataLst>
              <p:tags r:id="rId8"/>
            </p:custDataLst>
          </p:nvPr>
        </p:nvSpPr>
        <p:spPr>
          <a:xfrm>
            <a:off x="4356100" y="6452870"/>
            <a:ext cx="3048000" cy="368300"/>
          </a:xfrm>
          <a:prstGeom prst="rect">
            <a:avLst/>
          </a:prstGeom>
          <a:noFill/>
        </p:spPr>
        <p:txBody>
          <a:bodyPr wrap="square" rtlCol="0">
            <a:spAutoFit/>
          </a:bodyPr>
          <a:p>
            <a:r>
              <a:rPr lang="en-US" altLang="zh-CN"/>
              <a:t>3</a:t>
            </a:r>
            <a:r>
              <a:rPr lang="zh-CN" altLang="en-US"/>
              <a:t>班</a:t>
            </a:r>
            <a:endParaRPr lang="zh-CN"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作业</a:t>
            </a:r>
            <a:endParaRPr lang="zh-CN" altLang="en-US" dirty="0" smtClean="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323215" y="1344930"/>
                <a:ext cx="8377555" cy="5274945"/>
              </a:xfrm>
            </p:spPr>
            <p:txBody>
              <a:bodyPr/>
              <a:lstStyle/>
              <a:p>
                <a:r>
                  <a:rPr lang="zh-CN" altLang="en-US" sz="2400" dirty="0"/>
                  <a:t>8.2</a:t>
                </a:r>
                <a:endParaRPr lang="zh-CN" altLang="en-US" sz="2400" dirty="0"/>
              </a:p>
              <a:p>
                <a:pPr marL="0" indent="0">
                  <a:buNone/>
                </a:pPr>
                <a:r>
                  <a:rPr lang="zh-CN" altLang="en-US" sz="2400" dirty="0"/>
                  <a:t>考虑某知识库只包括两条语句P(a)和P(b).此知识库是否蕴涵</a:t>
                </a:r>
                <a14:m>
                  <m:oMath xmlns:m="http://schemas.openxmlformats.org/officeDocument/2006/math">
                    <m:r>
                      <a:rPr lang="zh-CN" altLang="en-US" sz="2400" dirty="0">
                        <a:latin typeface="Cambria Math" panose="02040503050406030204" pitchFamily="18" charset="0"/>
                      </a:rPr>
                      <m:t>∀</m:t>
                    </m:r>
                    <m:r>
                      <a:rPr lang="zh-CN" altLang="en-US" sz="2400" dirty="0">
                        <a:latin typeface="Cambria Math" panose="02040503050406030204" pitchFamily="18" charset="0"/>
                      </a:rPr>
                      <m:t>𝑥</m:t>
                    </m:r>
                    <m:r>
                      <a:rPr lang="zh-CN" altLang="en-US" sz="2400" dirty="0">
                        <a:latin typeface="Cambria Math" panose="02040503050406030204" pitchFamily="18" charset="0"/>
                      </a:rPr>
                      <m:t> </m:t>
                    </m:r>
                    <m:r>
                      <a:rPr lang="zh-CN" altLang="en-US" sz="2400" dirty="0">
                        <a:latin typeface="Cambria Math" panose="02040503050406030204" pitchFamily="18" charset="0"/>
                      </a:rPr>
                      <m:t>𝑃</m:t>
                    </m:r>
                    <m:r>
                      <a:rPr lang="zh-CN" altLang="en-US" sz="2400" dirty="0">
                        <a:latin typeface="Cambria Math" panose="02040503050406030204" pitchFamily="18" charset="0"/>
                      </a:rPr>
                      <m:t>(</m:t>
                    </m:r>
                    <m:r>
                      <a:rPr lang="zh-CN" altLang="en-US" sz="2400" dirty="0">
                        <a:latin typeface="Cambria Math" panose="02040503050406030204" pitchFamily="18" charset="0"/>
                      </a:rPr>
                      <m:t>𝑥</m:t>
                    </m:r>
                    <m:r>
                      <a:rPr lang="zh-CN" altLang="en-US" sz="2400" dirty="0">
                        <a:latin typeface="Cambria Math" panose="02040503050406030204" pitchFamily="18" charset="0"/>
                      </a:rPr>
                      <m:t>)</m:t>
                    </m:r>
                  </m:oMath>
                </a14:m>
                <a:r>
                  <a:rPr lang="zh-CN" altLang="en-US" sz="2400" dirty="0"/>
                  <a:t>?请用模型解释你的答案。（</a:t>
                </a:r>
                <a:r>
                  <a:rPr lang="zh-CN" altLang="en-US" sz="2400" dirty="0">
                    <a:solidFill>
                      <a:srgbClr val="FF0000"/>
                    </a:solidFill>
                  </a:rPr>
                  <a:t>答案</a:t>
                </a:r>
                <a:r>
                  <a:rPr lang="en-US" altLang="zh-CN" sz="2400" dirty="0">
                    <a:solidFill>
                      <a:srgbClr val="FF0000"/>
                    </a:solidFill>
                  </a:rPr>
                  <a:t>5</a:t>
                </a:r>
                <a:r>
                  <a:rPr lang="zh-CN" altLang="en-US" sz="2400" dirty="0">
                    <a:solidFill>
                      <a:srgbClr val="FF0000"/>
                    </a:solidFill>
                  </a:rPr>
                  <a:t>分，过程</a:t>
                </a:r>
                <a:r>
                  <a:rPr lang="en-US" altLang="zh-CN" sz="2400" dirty="0">
                    <a:solidFill>
                      <a:srgbClr val="FF0000"/>
                    </a:solidFill>
                  </a:rPr>
                  <a:t>15</a:t>
                </a:r>
                <a:r>
                  <a:rPr lang="zh-CN" altLang="en-US" sz="2400" dirty="0">
                    <a:solidFill>
                      <a:srgbClr val="FF0000"/>
                    </a:solidFill>
                  </a:rPr>
                  <a:t>分</a:t>
                </a:r>
                <a:r>
                  <a:rPr lang="zh-CN" altLang="en-US" sz="2400" dirty="0"/>
                  <a:t>）</a:t>
                </a:r>
                <a:endParaRPr lang="zh-CN" altLang="en-US" sz="2400" dirty="0"/>
              </a:p>
              <a:p>
                <a:pPr marL="0" algn="l">
                  <a:buClrTx/>
                  <a:buSzTx/>
                  <a:buFontTx/>
                  <a:buNone/>
                </a:pPr>
                <a:r>
                  <a:rPr lang="zh-CN" altLang="en-US" sz="2400" dirty="0">
                    <a:solidFill>
                      <a:schemeClr val="accent1"/>
                    </a:solidFill>
                  </a:rPr>
                  <a:t>思路：</a:t>
                </a:r>
                <a:r>
                  <a:rPr lang="zh-CN" altLang="en-US" sz="2400" dirty="0"/>
                  <a:t>{</a:t>
                </a:r>
                <a:r>
                  <a:rPr lang="zh-CN" altLang="en-US" sz="2400" dirty="0">
                    <a:sym typeface="+mn-ea"/>
                  </a:rPr>
                  <a:t>P(a), P(b)</a:t>
                </a:r>
                <a:r>
                  <a:rPr lang="zh-CN" altLang="en-US" sz="2400" dirty="0"/>
                  <a:t>}</a:t>
                </a:r>
                <a14:m>
                  <m:oMath xmlns:m="http://schemas.openxmlformats.org/officeDocument/2006/math">
                    <m:r>
                      <a:rPr lang="zh-CN" altLang="en-US" sz="2400" dirty="0">
                        <a:latin typeface="Cambria Math" panose="02040503050406030204" pitchFamily="18" charset="0"/>
                      </a:rPr>
                      <m:t>⇒∀</m:t>
                    </m:r>
                    <m:r>
                      <a:rPr lang="zh-CN" altLang="en-US" sz="2400" dirty="0">
                        <a:latin typeface="Cambria Math" panose="02040503050406030204" pitchFamily="18" charset="0"/>
                      </a:rPr>
                      <m:t>𝑥</m:t>
                    </m:r>
                    <m:r>
                      <a:rPr lang="zh-CN" altLang="en-US" sz="2400" dirty="0">
                        <a:latin typeface="Cambria Math" panose="02040503050406030204" pitchFamily="18" charset="0"/>
                      </a:rPr>
                      <m:t> </m:t>
                    </m:r>
                    <m:r>
                      <a:rPr lang="zh-CN" altLang="en-US" sz="2400" dirty="0">
                        <a:latin typeface="Cambria Math" panose="02040503050406030204" pitchFamily="18" charset="0"/>
                      </a:rPr>
                      <m:t>𝑃</m:t>
                    </m:r>
                    <m:r>
                      <a:rPr lang="zh-CN" altLang="en-US" sz="2400" dirty="0">
                        <a:latin typeface="Cambria Math" panose="02040503050406030204" pitchFamily="18" charset="0"/>
                      </a:rPr>
                      <m:t>(</m:t>
                    </m:r>
                    <m:r>
                      <a:rPr lang="zh-CN" altLang="en-US" sz="2400" dirty="0">
                        <a:latin typeface="Cambria Math" panose="02040503050406030204" pitchFamily="18" charset="0"/>
                      </a:rPr>
                      <m:t>𝑥</m:t>
                    </m:r>
                    <m:r>
                      <a:rPr lang="zh-CN" altLang="en-US" sz="2400" dirty="0">
                        <a:latin typeface="Cambria Math" panose="02040503050406030204" pitchFamily="18" charset="0"/>
                      </a:rPr>
                      <m:t>)</m:t>
                    </m:r>
                    <m:r>
                      <a:rPr lang="zh-CN" altLang="en-US" sz="2400" dirty="0">
                        <a:solidFill>
                          <a:srgbClr val="FF0000"/>
                        </a:solidFill>
                        <a:latin typeface="Cambria Math" panose="02040503050406030204" pitchFamily="18" charset="0"/>
                      </a:rPr>
                      <m:t>?</m:t>
                    </m:r>
                  </m:oMath>
                </a14:m>
                <a:r>
                  <a:rPr lang="zh-CN" altLang="en-US" sz="2400" dirty="0"/>
                  <a:t>找到一个反例</a:t>
                </a:r>
                <a:r>
                  <a:rPr lang="en-US" altLang="zh-CN" sz="2400" dirty="0"/>
                  <a:t>.</a:t>
                </a:r>
                <a:endParaRPr lang="zh-CN" altLang="en-US" sz="2400" dirty="0"/>
              </a:p>
              <a:p>
                <a:pPr marL="0" algn="l">
                  <a:buClrTx/>
                  <a:buSzTx/>
                  <a:buFontTx/>
                  <a:buNone/>
                </a:pPr>
                <a:r>
                  <a:rPr lang="zh-CN" altLang="en-US" sz="2400" dirty="0">
                    <a:solidFill>
                      <a:srgbClr val="FF0000"/>
                    </a:solidFill>
                  </a:rPr>
                  <a:t>问题：</a:t>
                </a:r>
                <a:r>
                  <a:rPr lang="zh-CN" altLang="en-US" sz="2400" dirty="0"/>
                  <a:t>有约20%左右的同学认为蕴涵</a:t>
                </a:r>
                <a:r>
                  <a:rPr lang="en-US" altLang="zh-CN" sz="2400" dirty="0"/>
                  <a:t>.</a:t>
                </a:r>
                <a:endParaRPr lang="en-US" altLang="zh-CN" sz="2400" dirty="0"/>
              </a:p>
              <a:p>
                <a:pPr marL="0" algn="l">
                  <a:buClrTx/>
                  <a:buSzTx/>
                  <a:buFontTx/>
                  <a:buNone/>
                </a:pPr>
                <a:r>
                  <a:rPr lang="zh-CN" altLang="en-US" sz="2400" dirty="0" smtClean="0">
                    <a:solidFill>
                      <a:srgbClr val="00B050"/>
                    </a:solidFill>
                    <a:sym typeface="+mn-ea"/>
                  </a:rPr>
                  <a:t>答案：</a:t>
                </a:r>
                <a:r>
                  <a:rPr lang="en-US" altLang="zh-CN" sz="2400" dirty="0" smtClean="0">
                    <a:sym typeface="+mn-ea"/>
                  </a:rPr>
                  <a:t>此知识库不蕴涵. 要解释这一点，我们需要找到一个模型满足P(a),P(b),但</a:t>
                </a:r>
                <a14:m>
                  <m:oMath xmlns:m="http://schemas.openxmlformats.org/officeDocument/2006/math">
                    <m:r>
                      <a:rPr lang="zh-CN" altLang="en-US" sz="2400" dirty="0">
                        <a:latin typeface="Cambria Math" panose="02040503050406030204" pitchFamily="18" charset="0"/>
                      </a:rPr>
                      <m:t>∀</m:t>
                    </m:r>
                    <m:r>
                      <a:rPr lang="zh-CN" altLang="en-US" sz="2400" dirty="0">
                        <a:latin typeface="Cambria Math" panose="02040503050406030204" pitchFamily="18" charset="0"/>
                      </a:rPr>
                      <m:t>𝑥</m:t>
                    </m:r>
                    <m:r>
                      <a:rPr lang="zh-CN" altLang="en-US" sz="2400" dirty="0">
                        <a:latin typeface="Cambria Math" panose="02040503050406030204" pitchFamily="18" charset="0"/>
                      </a:rPr>
                      <m:t> </m:t>
                    </m:r>
                    <m:r>
                      <a:rPr lang="zh-CN" altLang="en-US" sz="2400" dirty="0">
                        <a:latin typeface="Cambria Math" panose="02040503050406030204" pitchFamily="18" charset="0"/>
                      </a:rPr>
                      <m:t>𝑃</m:t>
                    </m:r>
                    <m:r>
                      <a:rPr lang="zh-CN" altLang="en-US" sz="2400" dirty="0">
                        <a:latin typeface="Cambria Math" panose="02040503050406030204" pitchFamily="18" charset="0"/>
                      </a:rPr>
                      <m:t>(</m:t>
                    </m:r>
                    <m:r>
                      <a:rPr lang="zh-CN" altLang="en-US" sz="2400" dirty="0">
                        <a:latin typeface="Cambria Math" panose="02040503050406030204" pitchFamily="18" charset="0"/>
                      </a:rPr>
                      <m:t>𝑥</m:t>
                    </m:r>
                    <m:r>
                      <a:rPr lang="zh-CN" altLang="en-US" sz="2400" dirty="0">
                        <a:latin typeface="Cambria Math" panose="02040503050406030204" pitchFamily="18" charset="0"/>
                      </a:rPr>
                      <m:t>)</m:t>
                    </m:r>
                  </m:oMath>
                </a14:m>
                <a:r>
                  <a:rPr lang="en-US" altLang="zh-CN" sz="2400" dirty="0" smtClean="0">
                    <a:sym typeface="+mn-ea"/>
                  </a:rPr>
                  <a:t>为假。考虑任意一个具有三个域元素的模型，其中a和b指P(a),P(b)</a:t>
                </a:r>
                <a:r>
                  <a:rPr lang="zh-CN" altLang="en-US" sz="2400" dirty="0" smtClean="0">
                    <a:sym typeface="+mn-ea"/>
                  </a:rPr>
                  <a:t>这两</a:t>
                </a:r>
                <a:r>
                  <a:rPr lang="en-US" altLang="zh-CN" sz="2400" dirty="0" smtClean="0">
                    <a:sym typeface="+mn-ea"/>
                  </a:rPr>
                  <a:t>个元素，而且P所指的关系仅适用于这两个元素，显然对于其他元素并不适用。</a:t>
                </a:r>
                <a:endParaRPr lang="en-US" altLang="zh-CN" sz="2400" dirty="0" smtClean="0"/>
              </a:p>
              <a:p>
                <a:pPr marL="0" algn="l">
                  <a:buClrTx/>
                  <a:buSzTx/>
                  <a:buFontTx/>
                  <a:buNone/>
                </a:pPr>
                <a:endParaRPr lang="en-US" altLang="zh-CN" sz="2400" dirty="0">
                  <a:sym typeface="+mn-ea"/>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323215" y="1344930"/>
                <a:ext cx="8377555" cy="5274945"/>
              </a:xfrm>
              <a:blipFill rotWithShape="1">
                <a:blip r:embed="rId1"/>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fld>
            <a:endParaRPr lang="en-US" altLang="zh-CN"/>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参考</a:t>
            </a:r>
            <a:r>
              <a:rPr lang="zh-CN" altLang="en-US" dirty="0" smtClean="0"/>
              <a:t>答案</a:t>
            </a:r>
            <a:endParaRPr lang="zh-CN" altLang="en-US" dirty="0" smtClean="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395605" y="1196340"/>
                <a:ext cx="8404860" cy="4832985"/>
              </a:xfrm>
            </p:spPr>
            <p:txBody>
              <a:bodyPr/>
              <a:lstStyle/>
              <a:p>
                <a:r>
                  <a:rPr lang="en-US" altLang="zh-CN" sz="2400" dirty="0" smtClean="0">
                    <a:sym typeface="+mn-ea"/>
                  </a:rPr>
                  <a:t>8.20</a:t>
                </a:r>
                <a:endParaRPr lang="en-US" altLang="zh-CN" sz="2400" dirty="0" smtClean="0"/>
              </a:p>
              <a:p>
                <a:pPr marL="0" indent="0">
                  <a:buNone/>
                </a:pPr>
                <a:r>
                  <a:rPr lang="zh-CN" altLang="en-US" sz="2400" dirty="0">
                    <a:sym typeface="+mn-ea"/>
                  </a:rPr>
                  <a:t>用一阶逻辑书写算数断言：</a:t>
                </a:r>
                <a:endParaRPr lang="zh-CN" altLang="en-US" sz="2400" dirty="0"/>
              </a:p>
              <a:p>
                <a:pPr marL="0" indent="457200">
                  <a:buNone/>
                </a:pPr>
                <a:r>
                  <a:rPr lang="en-US" altLang="zh-CN" sz="2400" dirty="0">
                    <a:sym typeface="+mn-ea"/>
                  </a:rPr>
                  <a:t>a. </a:t>
                </a:r>
                <a:r>
                  <a:rPr lang="zh-CN" altLang="en-US" sz="2400" dirty="0">
                    <a:sym typeface="+mn-ea"/>
                  </a:rPr>
                  <a:t>表示属性</a:t>
                </a:r>
                <a:r>
                  <a:rPr lang="en-US" altLang="zh-CN" sz="2400" dirty="0">
                    <a:sym typeface="+mn-ea"/>
                  </a:rPr>
                  <a:t>“x</a:t>
                </a:r>
                <a:r>
                  <a:rPr lang="zh-CN" altLang="en-US" sz="2400" dirty="0">
                    <a:sym typeface="+mn-ea"/>
                  </a:rPr>
                  <a:t>是个偶数</a:t>
                </a:r>
                <a:r>
                  <a:rPr lang="en-US" altLang="zh-CN" sz="2400" dirty="0">
                    <a:sym typeface="+mn-ea"/>
                  </a:rPr>
                  <a:t>” </a:t>
                </a:r>
                <a:r>
                  <a:rPr lang="zh-CN" altLang="en-US" sz="2400" dirty="0">
                    <a:solidFill>
                      <a:schemeClr val="tx1"/>
                    </a:solidFill>
                    <a:sym typeface="+mn-ea"/>
                  </a:rPr>
                  <a:t>（</a:t>
                </a:r>
                <a:r>
                  <a:rPr lang="en-US" altLang="zh-CN" sz="2400" dirty="0">
                    <a:solidFill>
                      <a:srgbClr val="FF0000"/>
                    </a:solidFill>
                    <a:sym typeface="+mn-ea"/>
                  </a:rPr>
                  <a:t>5</a:t>
                </a:r>
                <a:r>
                  <a:rPr lang="zh-CN" altLang="en-US" sz="2400" dirty="0">
                    <a:solidFill>
                      <a:srgbClr val="FF0000"/>
                    </a:solidFill>
                    <a:sym typeface="+mn-ea"/>
                  </a:rPr>
                  <a:t>分</a:t>
                </a:r>
                <a:r>
                  <a:rPr lang="zh-CN" altLang="en-US" sz="2400" dirty="0">
                    <a:solidFill>
                      <a:schemeClr val="tx1"/>
                    </a:solidFill>
                    <a:sym typeface="+mn-ea"/>
                  </a:rPr>
                  <a:t>，</a:t>
                </a:r>
                <a:r>
                  <a:rPr lang="zh-CN" altLang="en-US" sz="2400" dirty="0">
                    <a:solidFill>
                      <a:schemeClr val="accent1"/>
                    </a:solidFill>
                    <a:sym typeface="+mn-ea"/>
                  </a:rPr>
                  <a:t>思路：</a:t>
                </a:r>
                <a:r>
                  <a:rPr lang="zh-CN" altLang="en-US" sz="2400" dirty="0">
                    <a:solidFill>
                      <a:schemeClr val="tx1"/>
                    </a:solidFill>
                    <a:sym typeface="+mn-ea"/>
                  </a:rPr>
                  <a:t>一个能被2整除的数是偶数，反过来想，一个整数乘以2必定能被2整除</a:t>
                </a:r>
                <a:r>
                  <a:rPr lang="en-US" altLang="zh-CN" sz="2400" dirty="0">
                    <a:solidFill>
                      <a:schemeClr val="tx1"/>
                    </a:solidFill>
                    <a:sym typeface="+mn-ea"/>
                  </a:rPr>
                  <a:t>.</a:t>
                </a:r>
                <a:r>
                  <a:rPr lang="zh-CN" altLang="en-US" sz="2400" dirty="0">
                    <a:solidFill>
                      <a:schemeClr val="tx1"/>
                    </a:solidFill>
                    <a:sym typeface="+mn-ea"/>
                  </a:rPr>
                  <a:t>）</a:t>
                </a:r>
                <a:endParaRPr lang="en-US" altLang="zh-CN" sz="2400" dirty="0"/>
              </a:p>
              <a:p>
                <a:pPr marL="0" indent="457200">
                  <a:buNone/>
                </a:pPr>
                <a:r>
                  <a:rPr lang="en-US" altLang="zh-CN" sz="2400" dirty="0">
                    <a:sym typeface="+mn-ea"/>
                  </a:rPr>
                  <a:t>b. </a:t>
                </a:r>
                <a:r>
                  <a:rPr lang="zh-CN" altLang="en-US" sz="2400" dirty="0">
                    <a:sym typeface="+mn-ea"/>
                  </a:rPr>
                  <a:t>表示属性</a:t>
                </a:r>
                <a:r>
                  <a:rPr lang="en-US" altLang="zh-CN" sz="2400" dirty="0">
                    <a:sym typeface="+mn-ea"/>
                  </a:rPr>
                  <a:t>“x</a:t>
                </a:r>
                <a:r>
                  <a:rPr lang="zh-CN" altLang="en-US" sz="2400" dirty="0">
                    <a:sym typeface="+mn-ea"/>
                  </a:rPr>
                  <a:t>是素数</a:t>
                </a:r>
                <a:r>
                  <a:rPr lang="en-US" altLang="zh-CN" sz="2400" dirty="0">
                    <a:sym typeface="+mn-ea"/>
                  </a:rPr>
                  <a:t>” </a:t>
                </a:r>
                <a:r>
                  <a:rPr lang="zh-CN" altLang="en-US" sz="2400" dirty="0">
                    <a:solidFill>
                      <a:schemeClr val="tx1"/>
                    </a:solidFill>
                    <a:sym typeface="+mn-ea"/>
                  </a:rPr>
                  <a:t>（</a:t>
                </a:r>
                <a:r>
                  <a:rPr lang="en-US" altLang="zh-CN" sz="2400" dirty="0">
                    <a:solidFill>
                      <a:srgbClr val="FF0000"/>
                    </a:solidFill>
                    <a:sym typeface="+mn-ea"/>
                  </a:rPr>
                  <a:t>7</a:t>
                </a:r>
                <a:r>
                  <a:rPr lang="zh-CN" altLang="en-US" sz="2400" dirty="0">
                    <a:solidFill>
                      <a:srgbClr val="FF0000"/>
                    </a:solidFill>
                    <a:sym typeface="+mn-ea"/>
                  </a:rPr>
                  <a:t>分</a:t>
                </a:r>
                <a:r>
                  <a:rPr lang="zh-CN" altLang="en-US" sz="2400" dirty="0">
                    <a:solidFill>
                      <a:schemeClr val="tx1"/>
                    </a:solidFill>
                    <a:sym typeface="+mn-ea"/>
                  </a:rPr>
                  <a:t>，</a:t>
                </a:r>
                <a:r>
                  <a:rPr lang="zh-CN" altLang="en-US" sz="2400" dirty="0">
                    <a:solidFill>
                      <a:schemeClr val="accent1"/>
                    </a:solidFill>
                    <a:sym typeface="+mn-ea"/>
                  </a:rPr>
                  <a:t>思路：</a:t>
                </a:r>
                <a:r>
                  <a:rPr lang="zh-CN" altLang="en-US" sz="2400" dirty="0">
                    <a:solidFill>
                      <a:schemeClr val="tx1"/>
                    </a:solidFill>
                    <a:sym typeface="+mn-ea"/>
                  </a:rPr>
                  <a:t>素数是大于1的自然数，它只有两个正因子，即1和自身</a:t>
                </a:r>
                <a:r>
                  <a:rPr lang="en-US" altLang="zh-CN" sz="2400" dirty="0">
                    <a:solidFill>
                      <a:schemeClr val="tx1"/>
                    </a:solidFill>
                    <a:sym typeface="+mn-ea"/>
                  </a:rPr>
                  <a:t>.</a:t>
                </a:r>
                <a:r>
                  <a:rPr lang="zh-CN" altLang="en-US" sz="2400" dirty="0">
                    <a:solidFill>
                      <a:schemeClr val="tx1"/>
                    </a:solidFill>
                    <a:sym typeface="+mn-ea"/>
                  </a:rPr>
                  <a:t>）</a:t>
                </a:r>
                <a:endParaRPr lang="en-US" altLang="zh-CN" sz="2400" dirty="0"/>
              </a:p>
              <a:p>
                <a:pPr marL="0" indent="457200">
                  <a:buNone/>
                </a:pPr>
                <a:r>
                  <a:rPr lang="en-US" altLang="zh-CN" sz="2400" dirty="0">
                    <a:sym typeface="+mn-ea"/>
                  </a:rPr>
                  <a:t>c. </a:t>
                </a:r>
                <a:r>
                  <a:rPr lang="zh-CN" altLang="en-US" sz="2400" dirty="0">
                    <a:sym typeface="+mn-ea"/>
                  </a:rPr>
                  <a:t>每个偶数都可以表示成两个素数之和（</a:t>
                </a:r>
                <a:r>
                  <a:rPr lang="en-US" altLang="zh-CN" sz="2400" dirty="0">
                    <a:solidFill>
                      <a:srgbClr val="FF0000"/>
                    </a:solidFill>
                    <a:sym typeface="+mn-ea"/>
                  </a:rPr>
                  <a:t>8</a:t>
                </a:r>
                <a:r>
                  <a:rPr lang="zh-CN" altLang="en-US" sz="2400" dirty="0">
                    <a:solidFill>
                      <a:srgbClr val="FF0000"/>
                    </a:solidFill>
                    <a:sym typeface="+mn-ea"/>
                  </a:rPr>
                  <a:t>分</a:t>
                </a:r>
                <a:r>
                  <a:rPr lang="zh-CN" altLang="en-US" sz="2400" dirty="0">
                    <a:sym typeface="+mn-ea"/>
                  </a:rPr>
                  <a:t>）</a:t>
                </a:r>
                <a:endParaRPr lang="zh-CN" altLang="en-US" sz="2400" dirty="0"/>
              </a:p>
              <a:p>
                <a:pPr marL="0" indent="457200">
                  <a:buNone/>
                </a:pPr>
                <a:r>
                  <a:rPr lang="zh-CN" altLang="en-US" sz="2400" dirty="0">
                    <a:solidFill>
                      <a:srgbClr val="FF0000"/>
                    </a:solidFill>
                    <a:sym typeface="+mn-ea"/>
                  </a:rPr>
                  <a:t>问题：</a:t>
                </a:r>
                <a:r>
                  <a:rPr lang="en-US" altLang="zh-CN" sz="2400" dirty="0">
                    <a:sym typeface="+mn-ea"/>
                  </a:rPr>
                  <a:t>少部分同学不会熟练应用一阶逻辑书写a和b</a:t>
                </a:r>
                <a:endParaRPr lang="en-US" altLang="zh-CN" sz="2400" dirty="0">
                  <a:sym typeface="+mn-ea"/>
                </a:endParaRPr>
              </a:p>
              <a:p>
                <a:pPr marL="0" indent="0">
                  <a:buNone/>
                </a:pPr>
                <a:r>
                  <a:rPr lang="zh-CN" altLang="en-US" sz="2400" dirty="0">
                    <a:solidFill>
                      <a:srgbClr val="00B050"/>
                    </a:solidFill>
                  </a:rPr>
                  <a:t>答案：</a:t>
                </a:r>
                <a:r>
                  <a:rPr lang="en-US" altLang="zh-CN" sz="2400" dirty="0" smtClean="0">
                    <a:latin typeface="Cambria Math" panose="02040503050406030204" pitchFamily="18" charset="0"/>
                    <a:cs typeface="Cambria Math" panose="02040503050406030204" pitchFamily="18" charset="0"/>
                  </a:rPr>
                  <a:t>a.</a:t>
                </a:r>
                <a14:m>
                  <m:oMath xmlns:m="http://schemas.openxmlformats.org/officeDocument/2006/math">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 </m:t>
                    </m:r>
                    <m:r>
                      <a:rPr lang="en-US" altLang="zh-CN" sz="2400" i="1" dirty="0" smtClean="0">
                        <a:latin typeface="Cambria Math" panose="02040503050406030204" pitchFamily="18" charset="0"/>
                        <a:cs typeface="Cambria Math" panose="02040503050406030204" pitchFamily="18" charset="0"/>
                      </a:rPr>
                      <m:t>𝐸𝑣𝑒𝑛</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𝑦</m:t>
                    </m:r>
                    <m:r>
                      <a:rPr lang="en-US" altLang="zh-CN" sz="2400" i="1" dirty="0" smtClean="0">
                        <a:latin typeface="Cambria Math" panose="02040503050406030204" pitchFamily="18" charset="0"/>
                        <a:cs typeface="Cambria Math" panose="02040503050406030204" pitchFamily="18" charset="0"/>
                      </a:rPr>
                      <m:t>   </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𝑦</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𝑦</m:t>
                    </m:r>
                    <m:r>
                      <a:rPr lang="en-US" altLang="zh-CN" sz="2400" i="1" dirty="0" smtClean="0">
                        <a:latin typeface="Cambria Math" panose="02040503050406030204" pitchFamily="18" charset="0"/>
                        <a:cs typeface="Cambria Math" panose="02040503050406030204" pitchFamily="18" charset="0"/>
                      </a:rPr>
                      <m:t> </m:t>
                    </m:r>
                    <m:r>
                      <a:rPr lang="en-US" altLang="zh-CN" sz="2400" i="1" dirty="0" smtClean="0">
                        <a:solidFill>
                          <a:srgbClr val="3333CC"/>
                        </a:solidFill>
                        <a:latin typeface="Cambria Math" panose="02040503050406030204" pitchFamily="18" charset="0"/>
                        <a:cs typeface="Cambria Math" panose="02040503050406030204" pitchFamily="18" charset="0"/>
                      </a:rPr>
                      <m:t>𝑜𝑟</m:t>
                    </m:r>
                    <m:r>
                      <a:rPr lang="en-US" altLang="zh-CN" sz="2400" i="1" dirty="0" smtClean="0">
                        <a:latin typeface="Cambria Math" panose="02040503050406030204" pitchFamily="18" charset="0"/>
                        <a:cs typeface="Cambria Math" panose="02040503050406030204" pitchFamily="18" charset="0"/>
                      </a:rPr>
                      <m:t> </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𝑦</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2</m:t>
                    </m:r>
                  </m:oMath>
                </a14:m>
                <a:endParaRPr lang="en-US" altLang="zh-CN" sz="2400" dirty="0" smtClean="0">
                  <a:latin typeface="Cambria Math" panose="02040503050406030204" pitchFamily="18" charset="0"/>
                  <a:cs typeface="Cambria Math" panose="02040503050406030204" pitchFamily="18" charset="0"/>
                </a:endParaRPr>
              </a:p>
              <a:p>
                <a:pPr marL="0" indent="0">
                  <a:buNone/>
                </a:pPr>
                <a:r>
                  <a:rPr lang="en-US" altLang="zh-CN" sz="2400" dirty="0" smtClean="0">
                    <a:latin typeface="Cambria Math" panose="02040503050406030204" pitchFamily="18" charset="0"/>
                    <a:cs typeface="Cambria Math" panose="02040503050406030204" pitchFamily="18" charset="0"/>
                  </a:rPr>
                  <a:t>b.</a:t>
                </a:r>
                <a14:m>
                  <m:oMath xmlns:m="http://schemas.openxmlformats.org/officeDocument/2006/math">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 </m:t>
                    </m:r>
                    <m:r>
                      <a:rPr lang="en-US" altLang="zh-CN" sz="2400" i="1" dirty="0" smtClean="0">
                        <a:latin typeface="Cambria Math" panose="02040503050406030204" pitchFamily="18" charset="0"/>
                        <a:cs typeface="Cambria Math" panose="02040503050406030204" pitchFamily="18" charset="0"/>
                      </a:rPr>
                      <m:t>𝑃𝑟𝑖𝑚𝑒</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𝑦</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𝑧</m:t>
                    </m:r>
                    <m:r>
                      <a:rPr lang="en-US" altLang="zh-CN" sz="2400" i="1" dirty="0" smtClean="0">
                        <a:latin typeface="Cambria Math" panose="02040503050406030204" pitchFamily="18" charset="0"/>
                        <a:cs typeface="Cambria Math" panose="02040503050406030204" pitchFamily="18" charset="0"/>
                      </a:rPr>
                      <m:t>  </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𝑦</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𝑧</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𝑦</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1</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𝑧</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1</m:t>
                    </m:r>
                    <m:r>
                      <a:rPr lang="en-US" altLang="zh-CN" sz="2400" i="1" dirty="0" smtClean="0">
                        <a:latin typeface="Cambria Math" panose="02040503050406030204" pitchFamily="18" charset="0"/>
                        <a:cs typeface="Cambria Math" panose="02040503050406030204" pitchFamily="18" charset="0"/>
                      </a:rPr>
                      <m:t>)</m:t>
                    </m:r>
                  </m:oMath>
                </a14:m>
                <a:r>
                  <a:rPr lang="en-US" altLang="zh-CN" sz="2400" i="1" dirty="0">
                    <a:latin typeface="Cambria Math" panose="02040503050406030204" pitchFamily="18" charset="0"/>
                    <a:cs typeface="Cambria Math" panose="02040503050406030204" pitchFamily="18" charset="0"/>
                  </a:rPr>
                  <a:t>  </a:t>
                </a:r>
                <a:r>
                  <a:rPr lang="en-US" altLang="zh-CN" sz="2400" i="1" dirty="0">
                    <a:solidFill>
                      <a:srgbClr val="3333CC"/>
                    </a:solidFill>
                    <a:latin typeface="Cambria Math" panose="02040503050406030204" pitchFamily="18" charset="0"/>
                    <a:cs typeface="Cambria Math" panose="02040503050406030204" pitchFamily="18" charset="0"/>
                  </a:rPr>
                  <a:t>or</a:t>
                </a:r>
                <a:endParaRPr lang="en-US" altLang="zh-CN" sz="2400" i="1" dirty="0">
                  <a:solidFill>
                    <a:srgbClr val="3333CC"/>
                  </a:solidFill>
                  <a:latin typeface="Cambria Math" panose="02040503050406030204" pitchFamily="18" charset="0"/>
                  <a:cs typeface="Cambria Math" panose="02040503050406030204" pitchFamily="18" charset="0"/>
                </a:endParaRPr>
              </a:p>
              <a:p>
                <a:pPr marL="0" indent="0">
                  <a:buNone/>
                </a:pPr>
                <a:r>
                  <a:rPr lang="en-US" altLang="zh-CN" sz="2400" i="1" dirty="0">
                    <a:solidFill>
                      <a:srgbClr val="3333CC"/>
                    </a:solidFill>
                    <a:latin typeface="Cambria Math" panose="02040503050406030204" pitchFamily="18" charset="0"/>
                    <a:cs typeface="Cambria Math" panose="02040503050406030204" pitchFamily="18" charset="0"/>
                  </a:rPr>
                  <a:t>    </a:t>
                </a:r>
                <a14:m>
                  <m:oMath xmlns:m="http://schemas.openxmlformats.org/officeDocument/2006/math">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 </m:t>
                    </m:r>
                    <m:r>
                      <a:rPr lang="en-US" altLang="zh-CN" sz="2400" i="1" dirty="0" smtClean="0">
                        <a:latin typeface="Cambria Math" panose="02040503050406030204" pitchFamily="18" charset="0"/>
                        <a:cs typeface="Cambria Math" panose="02040503050406030204" pitchFamily="18" charset="0"/>
                      </a:rPr>
                      <m:t>𝑃𝑟𝑖𝑚𝑒</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𝑦</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𝑧</m:t>
                    </m:r>
                    <m:r>
                      <a:rPr lang="en-US" altLang="zh-CN" sz="2400" i="1" dirty="0" smtClean="0">
                        <a:latin typeface="Cambria Math" panose="02040503050406030204" pitchFamily="18" charset="0"/>
                        <a:cs typeface="Cambria Math" panose="02040503050406030204" pitchFamily="18" charset="0"/>
                      </a:rPr>
                      <m:t>  </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𝑦</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𝑧</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𝑦</m:t>
                    </m:r>
                    <m:r>
                      <a:rPr lang="en-US" altLang="zh-CN" sz="2400" i="1" dirty="0" smtClean="0">
                        <a:latin typeface="Cambria Math" panose="02040503050406030204" pitchFamily="18" charset="0"/>
                        <a:cs typeface="Cambria Math" panose="02040503050406030204" pitchFamily="18" charset="0"/>
                      </a:rPr>
                      <m:t>&lt;</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𝑧</m:t>
                    </m:r>
                    <m:r>
                      <a:rPr lang="en-US" altLang="zh-CN" sz="2400" i="1" dirty="0" smtClean="0">
                        <a:latin typeface="Cambria Math" panose="02040503050406030204" pitchFamily="18" charset="0"/>
                        <a:cs typeface="Cambria Math" panose="02040503050406030204" pitchFamily="18" charset="0"/>
                      </a:rPr>
                      <m:t>&lt;</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𝑌</m:t>
                    </m:r>
                    <m:r>
                      <a:rPr lang="en-US" altLang="zh-CN" sz="2400" i="1" dirty="0" smtClean="0">
                        <a:latin typeface="Cambria Math" panose="02040503050406030204" pitchFamily="18" charset="0"/>
                        <a:cs typeface="Cambria Math" panose="02040503050406030204" pitchFamily="18" charset="0"/>
                      </a:rPr>
                      <m:t>&gt;</m:t>
                    </m:r>
                    <m:r>
                      <a:rPr lang="en-US" altLang="zh-CN" sz="2400" i="1" dirty="0" smtClean="0">
                        <a:latin typeface="Cambria Math" panose="02040503050406030204" pitchFamily="18" charset="0"/>
                        <a:cs typeface="Cambria Math" panose="02040503050406030204" pitchFamily="18" charset="0"/>
                      </a:rPr>
                      <m:t>0</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𝑧</m:t>
                    </m:r>
                    <m:r>
                      <a:rPr lang="en-US" altLang="zh-CN" sz="2400" i="1" dirty="0" smtClean="0">
                        <a:latin typeface="Cambria Math" panose="02040503050406030204" pitchFamily="18" charset="0"/>
                        <a:cs typeface="Cambria Math" panose="02040503050406030204" pitchFamily="18" charset="0"/>
                      </a:rPr>
                      <m:t>&gt;</m:t>
                    </m:r>
                    <m:r>
                      <a:rPr lang="en-US" altLang="zh-CN" sz="2400" i="1" dirty="0" smtClean="0">
                        <a:latin typeface="Cambria Math" panose="02040503050406030204" pitchFamily="18" charset="0"/>
                        <a:cs typeface="Cambria Math" panose="02040503050406030204" pitchFamily="18" charset="0"/>
                      </a:rPr>
                      <m:t>0</m:t>
                    </m:r>
                    <m:r>
                      <a:rPr lang="en-US" altLang="zh-CN" sz="2400" i="1" dirty="0" smtClean="0">
                        <a:latin typeface="Cambria Math" panose="02040503050406030204" pitchFamily="18" charset="0"/>
                        <a:cs typeface="Cambria Math" panose="02040503050406030204" pitchFamily="18" charset="0"/>
                      </a:rPr>
                      <m:t>))</m:t>
                    </m:r>
                  </m:oMath>
                </a14:m>
                <a:r>
                  <a:rPr lang="en-US" altLang="zh-CN" sz="2400" i="1" dirty="0">
                    <a:solidFill>
                      <a:srgbClr val="3333CC"/>
                    </a:solidFill>
                    <a:latin typeface="Cambria Math" panose="02040503050406030204" pitchFamily="18" charset="0"/>
                    <a:cs typeface="Cambria Math" panose="02040503050406030204" pitchFamily="18" charset="0"/>
                  </a:rPr>
                  <a:t> </a:t>
                </a:r>
                <a:endParaRPr lang="en-US" altLang="zh-CN" sz="2400" i="1" dirty="0">
                  <a:solidFill>
                    <a:srgbClr val="3333CC"/>
                  </a:solidFill>
                  <a:latin typeface="Cambria Math" panose="02040503050406030204" pitchFamily="18" charset="0"/>
                  <a:cs typeface="Cambria Math" panose="02040503050406030204" pitchFamily="18" charset="0"/>
                </a:endParaRPr>
              </a:p>
              <a:p>
                <a:pPr marL="0" indent="0">
                  <a:buNone/>
                </a:pPr>
                <a:r>
                  <a:rPr lang="en-US" altLang="zh-CN" sz="2400" dirty="0" smtClean="0">
                    <a:latin typeface="Cambria Math" panose="02040503050406030204" pitchFamily="18" charset="0"/>
                    <a:cs typeface="Cambria Math" panose="02040503050406030204" pitchFamily="18" charset="0"/>
                  </a:rPr>
                  <a:t>c. </a:t>
                </a:r>
                <a14:m>
                  <m:oMath xmlns:m="http://schemas.openxmlformats.org/officeDocument/2006/math">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 </m:t>
                    </m:r>
                    <m:r>
                      <a:rPr lang="en-US" altLang="zh-CN" sz="2400" i="1" dirty="0" smtClean="0">
                        <a:latin typeface="Cambria Math" panose="02040503050406030204" pitchFamily="18" charset="0"/>
                        <a:cs typeface="Cambria Math" panose="02040503050406030204" pitchFamily="18" charset="0"/>
                      </a:rPr>
                      <m:t>𝐸𝑣𝑒𝑛</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𝑦</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𝑧</m:t>
                    </m:r>
                    <m:r>
                      <a:rPr lang="en-US" altLang="zh-CN" sz="2400" i="1" dirty="0" smtClean="0">
                        <a:latin typeface="Cambria Math" panose="02040503050406030204" pitchFamily="18" charset="0"/>
                        <a:cs typeface="Cambria Math" panose="02040503050406030204" pitchFamily="18" charset="0"/>
                      </a:rPr>
                      <m:t> </m:t>
                    </m:r>
                    <m:r>
                      <a:rPr lang="en-US" altLang="zh-CN" sz="2400" i="1" dirty="0" smtClean="0">
                        <a:latin typeface="Cambria Math" panose="02040503050406030204" pitchFamily="18" charset="0"/>
                        <a:cs typeface="Cambria Math" panose="02040503050406030204" pitchFamily="18" charset="0"/>
                      </a:rPr>
                      <m:t>𝑃𝑟𝑖𝑚𝑒</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𝑦</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𝑃𝑟𝑖𝑚𝑒</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𝑧</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𝑦</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𝑧</m:t>
                    </m:r>
                    <m:r>
                      <a:rPr lang="en-US" altLang="zh-CN" sz="2400" i="1" dirty="0" smtClean="0">
                        <a:latin typeface="Cambria Math" panose="02040503050406030204" pitchFamily="18" charset="0"/>
                        <a:cs typeface="Cambria Math" panose="02040503050406030204" pitchFamily="18" charset="0"/>
                      </a:rPr>
                      <m:t>)</m:t>
                    </m:r>
                  </m:oMath>
                </a14:m>
                <a:endParaRPr lang="en-US" altLang="zh-CN" sz="2400" dirty="0" smtClean="0">
                  <a:latin typeface="Cambria Math" panose="02040503050406030204" pitchFamily="18" charset="0"/>
                  <a:cs typeface="Cambria Math" panose="02040503050406030204" pitchFamily="18"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395605" y="1196340"/>
                <a:ext cx="8404860" cy="4832985"/>
              </a:xfrm>
              <a:blipFill rotWithShape="1">
                <a:blip r:embed="rId1"/>
                <a:stretch>
                  <a:fillRect b="-13520"/>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fld>
            <a:endParaRPr lang="en-US" altLang="zh-CN"/>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作业</a:t>
            </a:r>
            <a:endParaRPr lang="zh-CN" altLang="en-US" dirty="0" smtClean="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11505" y="1196340"/>
                <a:ext cx="8254365" cy="5697855"/>
              </a:xfrm>
            </p:spPr>
            <p:txBody>
              <a:bodyPr/>
              <a:lstStyle/>
              <a:p>
                <a:r>
                  <a:rPr lang="en-US" altLang="zh-CN" sz="2400" dirty="0" smtClean="0"/>
                  <a:t>9.4</a:t>
                </a:r>
                <a:endParaRPr lang="en-US" altLang="zh-CN" sz="2400" dirty="0" smtClean="0"/>
              </a:p>
              <a:p>
                <a:pPr marL="0" algn="l">
                  <a:buClrTx/>
                  <a:buSzTx/>
                  <a:buFontTx/>
                  <a:buNone/>
                </a:pPr>
                <a:r>
                  <a:rPr lang="zh-CN" altLang="en-US" sz="2400" dirty="0"/>
                  <a:t>a.</a:t>
                </a:r>
                <a:r>
                  <a:rPr lang="en-US" altLang="zh-CN" sz="2400" dirty="0" smtClean="0">
                    <a:solidFill>
                      <a:schemeClr val="accent1"/>
                    </a:solidFill>
                    <a:latin typeface="+mj-lt"/>
                    <a:ea typeface="+mj-ea"/>
                    <a:cs typeface="+mj-cs"/>
                  </a:rPr>
                  <a:t> </a:t>
                </a:r>
                <a14:m>
                  <m:oMath xmlns:m="http://schemas.openxmlformats.org/officeDocument/2006/math">
                    <m:r>
                      <a:rPr lang="zh-CN" altLang="en-US" sz="2400" dirty="0">
                        <a:latin typeface="Cambria Math" panose="02040503050406030204" pitchFamily="18" charset="0"/>
                      </a:rPr>
                      <m:t>𝑃</m:t>
                    </m:r>
                    <m:r>
                      <a:rPr lang="zh-CN" altLang="en-US" sz="2400" dirty="0">
                        <a:latin typeface="Cambria Math" panose="02040503050406030204" pitchFamily="18" charset="0"/>
                      </a:rPr>
                      <m:t>(</m:t>
                    </m:r>
                    <m:r>
                      <a:rPr lang="zh-CN" altLang="en-US" sz="2400" dirty="0">
                        <a:latin typeface="Cambria Math" panose="02040503050406030204" pitchFamily="18" charset="0"/>
                      </a:rPr>
                      <m:t>𝐴</m:t>
                    </m:r>
                    <m:r>
                      <a:rPr lang="zh-CN" altLang="en-US" sz="2400" dirty="0">
                        <a:latin typeface="Cambria Math" panose="02040503050406030204" pitchFamily="18" charset="0"/>
                      </a:rPr>
                      <m:t>,</m:t>
                    </m:r>
                    <m:r>
                      <a:rPr lang="zh-CN" altLang="en-US" sz="2400" dirty="0">
                        <a:latin typeface="Cambria Math" panose="02040503050406030204" pitchFamily="18" charset="0"/>
                      </a:rPr>
                      <m:t>𝐵</m:t>
                    </m:r>
                    <m:r>
                      <a:rPr lang="zh-CN" altLang="en-US" sz="2400" dirty="0">
                        <a:latin typeface="Cambria Math" panose="02040503050406030204" pitchFamily="18" charset="0"/>
                      </a:rPr>
                      <m:t>,</m:t>
                    </m:r>
                    <m:r>
                      <a:rPr lang="zh-CN" altLang="en-US" sz="2400" dirty="0">
                        <a:latin typeface="Cambria Math" panose="02040503050406030204" pitchFamily="18" charset="0"/>
                      </a:rPr>
                      <m:t>𝐵</m:t>
                    </m:r>
                    <m:r>
                      <a:rPr lang="zh-CN" altLang="en-US" sz="2400" dirty="0">
                        <a:latin typeface="Cambria Math" panose="02040503050406030204" pitchFamily="18" charset="0"/>
                      </a:rPr>
                      <m:t>),</m:t>
                    </m:r>
                    <m:r>
                      <a:rPr lang="zh-CN" altLang="en-US" sz="2400" dirty="0">
                        <a:latin typeface="Cambria Math" panose="02040503050406030204" pitchFamily="18" charset="0"/>
                      </a:rPr>
                      <m:t>𝑃</m:t>
                    </m:r>
                    <m:r>
                      <a:rPr lang="zh-CN" altLang="en-US" sz="2400" dirty="0">
                        <a:latin typeface="Cambria Math" panose="02040503050406030204" pitchFamily="18" charset="0"/>
                      </a:rPr>
                      <m:t>(</m:t>
                    </m:r>
                    <m:r>
                      <a:rPr lang="zh-CN" altLang="en-US" sz="2400" dirty="0">
                        <a:latin typeface="Cambria Math" panose="02040503050406030204" pitchFamily="18" charset="0"/>
                      </a:rPr>
                      <m:t>𝑥</m:t>
                    </m:r>
                    <m:r>
                      <a:rPr lang="zh-CN" altLang="en-US" sz="2400" dirty="0">
                        <a:latin typeface="Cambria Math" panose="02040503050406030204" pitchFamily="18" charset="0"/>
                      </a:rPr>
                      <m:t>,</m:t>
                    </m:r>
                    <m:r>
                      <a:rPr lang="zh-CN" altLang="en-US" sz="2400" dirty="0">
                        <a:latin typeface="Cambria Math" panose="02040503050406030204" pitchFamily="18" charset="0"/>
                      </a:rPr>
                      <m:t>𝑦</m:t>
                    </m:r>
                    <m:r>
                      <a:rPr lang="zh-CN" altLang="en-US" sz="2400" dirty="0">
                        <a:latin typeface="Cambria Math" panose="02040503050406030204" pitchFamily="18" charset="0"/>
                      </a:rPr>
                      <m:t>,</m:t>
                    </m:r>
                    <m:r>
                      <a:rPr lang="zh-CN" altLang="en-US" sz="2400" dirty="0">
                        <a:latin typeface="Cambria Math" panose="02040503050406030204" pitchFamily="18" charset="0"/>
                      </a:rPr>
                      <m:t>𝑧</m:t>
                    </m:r>
                    <m:r>
                      <a:rPr lang="zh-CN" altLang="en-US" sz="2400" dirty="0">
                        <a:latin typeface="Cambria Math" panose="02040503050406030204" pitchFamily="18" charset="0"/>
                      </a:rPr>
                      <m:t>)</m:t>
                    </m:r>
                  </m:oMath>
                </a14:m>
                <a:endParaRPr lang="zh-CN" altLang="en-US" sz="2400" dirty="0"/>
              </a:p>
              <a:p>
                <a:pPr marL="0" algn="l">
                  <a:buClrTx/>
                  <a:buSzTx/>
                  <a:buFontTx/>
                  <a:buNone/>
                </a:pPr>
                <a:r>
                  <a:rPr lang="zh-CN" altLang="en-US" sz="2400" dirty="0"/>
                  <a:t>b</a:t>
                </a:r>
                <a:r>
                  <a:rPr lang="en-US" altLang="zh-CN" sz="2400" dirty="0"/>
                  <a:t>. </a:t>
                </a:r>
                <a14:m>
                  <m:oMath xmlns:m="http://schemas.openxmlformats.org/officeDocument/2006/math">
                    <m:r>
                      <m:rPr>
                        <m:sty m:val="p"/>
                      </m:rPr>
                      <a:rPr lang="en-US" altLang="zh-CN" sz="2400" dirty="0">
                        <a:latin typeface="Cambria Math" panose="02040503050406030204" pitchFamily="18" charset="0"/>
                      </a:rPr>
                      <m:t>Q</m:t>
                    </m:r>
                    <m:r>
                      <a:rPr lang="zh-CN" altLang="en-US" sz="2400" dirty="0">
                        <a:latin typeface="Cambria Math" panose="02040503050406030204" pitchFamily="18" charset="0"/>
                      </a:rPr>
                      <m:t>(</m:t>
                    </m:r>
                    <m:r>
                      <m:rPr>
                        <m:sty m:val="p"/>
                      </m:rPr>
                      <a:rPr lang="en-US" altLang="zh-CN" sz="2400" dirty="0">
                        <a:latin typeface="Cambria Math" panose="02040503050406030204" pitchFamily="18" charset="0"/>
                      </a:rPr>
                      <m:t>y</m:t>
                    </m:r>
                    <m:r>
                      <a:rPr lang="zh-CN" altLang="en-US" sz="2400" dirty="0">
                        <a:latin typeface="Cambria Math" panose="02040503050406030204" pitchFamily="18" charset="0"/>
                      </a:rPr>
                      <m:t>,</m:t>
                    </m:r>
                    <m:r>
                      <m:rPr>
                        <m:sty m:val="p"/>
                      </m:rPr>
                      <a:rPr lang="en-US" altLang="zh-CN" sz="2400" dirty="0">
                        <a:latin typeface="Cambria Math" panose="02040503050406030204" pitchFamily="18" charset="0"/>
                      </a:rPr>
                      <m:t>G</m:t>
                    </m:r>
                    <m:r>
                      <a:rPr lang="en-US" altLang="zh-CN" sz="2400" dirty="0">
                        <a:latin typeface="Cambria Math" panose="02040503050406030204" pitchFamily="18" charset="0"/>
                      </a:rPr>
                      <m:t>(</m:t>
                    </m:r>
                    <m:r>
                      <m:rPr>
                        <m:sty m:val="p"/>
                      </m:rPr>
                      <a:rPr lang="en-US" altLang="zh-CN" sz="2400" dirty="0">
                        <a:latin typeface="Cambria Math" panose="02040503050406030204" pitchFamily="18" charset="0"/>
                      </a:rPr>
                      <m:t>A</m:t>
                    </m:r>
                    <m:r>
                      <a:rPr lang="en-US" altLang="zh-CN" sz="2400" dirty="0">
                        <a:latin typeface="Cambria Math" panose="02040503050406030204" pitchFamily="18" charset="0"/>
                      </a:rPr>
                      <m:t>,</m:t>
                    </m:r>
                    <m:r>
                      <m:rPr>
                        <m:sty m:val="p"/>
                      </m:rPr>
                      <a:rPr lang="en-US" altLang="zh-CN" sz="2400" dirty="0">
                        <a:latin typeface="Cambria Math" panose="02040503050406030204" pitchFamily="18" charset="0"/>
                      </a:rPr>
                      <m:t>B</m:t>
                    </m:r>
                    <m:r>
                      <a:rPr lang="en-US" altLang="zh-CN" sz="2400" dirty="0">
                        <a:latin typeface="Cambria Math" panose="02040503050406030204" pitchFamily="18" charset="0"/>
                      </a:rPr>
                      <m:t>)</m:t>
                    </m:r>
                    <m:r>
                      <a:rPr lang="zh-CN" altLang="en-US" sz="2400" dirty="0">
                        <a:latin typeface="Cambria Math" panose="02040503050406030204" pitchFamily="18" charset="0"/>
                      </a:rPr>
                      <m:t>),</m:t>
                    </m:r>
                    <m:r>
                      <a:rPr lang="zh-CN" altLang="en-US" sz="2400" dirty="0">
                        <a:latin typeface="Cambria Math" panose="02040503050406030204" pitchFamily="18" charset="0"/>
                      </a:rPr>
                      <m:t>𝑃</m:t>
                    </m:r>
                    <m:r>
                      <a:rPr lang="zh-CN" altLang="en-US" sz="2400" dirty="0">
                        <a:latin typeface="Cambria Math" panose="02040503050406030204" pitchFamily="18" charset="0"/>
                      </a:rPr>
                      <m:t>(</m:t>
                    </m:r>
                    <m:r>
                      <m:rPr>
                        <m:sty m:val="p"/>
                      </m:rPr>
                      <a:rPr lang="en-US" altLang="zh-CN" sz="2400" dirty="0">
                        <a:latin typeface="Cambria Math" panose="02040503050406030204" pitchFamily="18" charset="0"/>
                      </a:rPr>
                      <m:t>G</m:t>
                    </m:r>
                    <m:r>
                      <a:rPr lang="en-US" altLang="zh-CN" sz="2400" dirty="0">
                        <a:latin typeface="Cambria Math" panose="02040503050406030204" pitchFamily="18" charset="0"/>
                      </a:rPr>
                      <m:t>(</m:t>
                    </m:r>
                    <m:r>
                      <m:rPr>
                        <m:sty m:val="p"/>
                      </m:rPr>
                      <a:rPr lang="en-US" altLang="zh-CN" sz="2400" dirty="0">
                        <a:latin typeface="Cambria Math" panose="02040503050406030204" pitchFamily="18" charset="0"/>
                      </a:rPr>
                      <m:t>x</m:t>
                    </m:r>
                    <m:r>
                      <a:rPr lang="en-US" altLang="zh-CN" sz="2400" dirty="0">
                        <a:latin typeface="Cambria Math" panose="02040503050406030204" pitchFamily="18" charset="0"/>
                      </a:rPr>
                      <m:t>,</m:t>
                    </m:r>
                    <m:r>
                      <m:rPr>
                        <m:sty m:val="p"/>
                      </m:rPr>
                      <a:rPr lang="en-US" altLang="zh-CN" sz="2400" dirty="0">
                        <a:latin typeface="Cambria Math" panose="02040503050406030204" pitchFamily="18" charset="0"/>
                      </a:rPr>
                      <m:t>x</m:t>
                    </m:r>
                    <m:r>
                      <a:rPr lang="en-US" altLang="zh-CN" sz="2400" dirty="0">
                        <a:latin typeface="Cambria Math" panose="02040503050406030204" pitchFamily="18" charset="0"/>
                      </a:rPr>
                      <m:t>)</m:t>
                    </m:r>
                    <m:r>
                      <a:rPr lang="zh-CN" altLang="en-US" sz="2400" dirty="0">
                        <a:latin typeface="Cambria Math" panose="02040503050406030204" pitchFamily="18" charset="0"/>
                      </a:rPr>
                      <m:t>,</m:t>
                    </m:r>
                    <m:r>
                      <m:rPr>
                        <m:sty m:val="p"/>
                      </m:rPr>
                      <a:rPr lang="en-US" altLang="zh-CN" sz="2400" dirty="0">
                        <a:latin typeface="Cambria Math" panose="02040503050406030204" pitchFamily="18" charset="0"/>
                      </a:rPr>
                      <m:t>y</m:t>
                    </m:r>
                    <m:r>
                      <a:rPr lang="zh-CN" altLang="en-US" sz="2400" dirty="0">
                        <a:latin typeface="Cambria Math" panose="02040503050406030204" pitchFamily="18" charset="0"/>
                      </a:rPr>
                      <m:t>)</m:t>
                    </m:r>
                  </m:oMath>
                </a14:m>
                <a:endParaRPr lang="zh-CN" altLang="en-US" sz="2400" dirty="0"/>
              </a:p>
              <a:p>
                <a:pPr marL="0" algn="l">
                  <a:buClrTx/>
                  <a:buSzTx/>
                  <a:buFontTx/>
                  <a:buNone/>
                </a:pPr>
                <a:r>
                  <a:rPr lang="en-US" altLang="zh-CN" sz="2400" dirty="0"/>
                  <a:t>c. </a:t>
                </a:r>
                <a14:m>
                  <m:oMath xmlns:m="http://schemas.openxmlformats.org/officeDocument/2006/math">
                    <m:r>
                      <m:rPr>
                        <m:sty m:val="p"/>
                      </m:rPr>
                      <a:rPr lang="en-US" altLang="zh-CN" sz="2400" dirty="0">
                        <a:latin typeface="Cambria Math" panose="02040503050406030204" pitchFamily="18" charset="0"/>
                      </a:rPr>
                      <m:t>Older</m:t>
                    </m:r>
                    <m:r>
                      <a:rPr lang="zh-CN" altLang="en-US" sz="2400" dirty="0">
                        <a:latin typeface="Cambria Math" panose="02040503050406030204" pitchFamily="18" charset="0"/>
                      </a:rPr>
                      <m:t>(</m:t>
                    </m:r>
                    <m:r>
                      <m:rPr>
                        <m:sty m:val="p"/>
                      </m:rPr>
                      <a:rPr lang="en-US" altLang="zh-CN" sz="2400" dirty="0">
                        <a:latin typeface="Cambria Math" panose="02040503050406030204" pitchFamily="18" charset="0"/>
                      </a:rPr>
                      <m:t>Father</m:t>
                    </m:r>
                    <m:r>
                      <a:rPr lang="en-US" altLang="zh-CN" sz="2400" dirty="0">
                        <a:latin typeface="Cambria Math" panose="02040503050406030204" pitchFamily="18" charset="0"/>
                      </a:rPr>
                      <m:t>(</m:t>
                    </m:r>
                    <m:r>
                      <m:rPr>
                        <m:sty m:val="p"/>
                      </m:rPr>
                      <a:rPr lang="en-US" altLang="zh-CN" sz="2400" dirty="0">
                        <a:latin typeface="Cambria Math" panose="02040503050406030204" pitchFamily="18" charset="0"/>
                      </a:rPr>
                      <m:t>y</m:t>
                    </m:r>
                    <m:r>
                      <a:rPr lang="en-US" altLang="zh-CN" sz="2400" dirty="0">
                        <a:latin typeface="Cambria Math" panose="02040503050406030204" pitchFamily="18" charset="0"/>
                      </a:rPr>
                      <m:t>)</m:t>
                    </m:r>
                    <m:r>
                      <a:rPr lang="zh-CN" altLang="en-US" sz="2400" dirty="0">
                        <a:latin typeface="Cambria Math" panose="02040503050406030204" pitchFamily="18" charset="0"/>
                      </a:rPr>
                      <m:t>,</m:t>
                    </m:r>
                    <m:r>
                      <m:rPr>
                        <m:sty m:val="p"/>
                      </m:rPr>
                      <a:rPr lang="en-US" altLang="zh-CN" sz="2400" dirty="0">
                        <a:latin typeface="Cambria Math" panose="02040503050406030204" pitchFamily="18" charset="0"/>
                      </a:rPr>
                      <m:t>y</m:t>
                    </m:r>
                    <m:r>
                      <a:rPr lang="zh-CN" altLang="en-US" sz="2400" dirty="0">
                        <a:latin typeface="Cambria Math" panose="02040503050406030204" pitchFamily="18" charset="0"/>
                      </a:rPr>
                      <m:t>),</m:t>
                    </m:r>
                    <m:r>
                      <m:rPr>
                        <m:sty m:val="p"/>
                      </m:rPr>
                      <a:rPr lang="en-US" altLang="zh-CN" sz="2400" dirty="0">
                        <a:latin typeface="Cambria Math" panose="02040503050406030204" pitchFamily="18" charset="0"/>
                      </a:rPr>
                      <m:t>Older</m:t>
                    </m:r>
                    <m:r>
                      <a:rPr lang="zh-CN" altLang="en-US" sz="2400" dirty="0">
                        <a:latin typeface="Cambria Math" panose="02040503050406030204" pitchFamily="18" charset="0"/>
                      </a:rPr>
                      <m:t>(</m:t>
                    </m:r>
                    <m:r>
                      <m:rPr>
                        <m:sty m:val="p"/>
                      </m:rPr>
                      <a:rPr lang="en-US" altLang="zh-CN" sz="2400" dirty="0">
                        <a:latin typeface="Cambria Math" panose="02040503050406030204" pitchFamily="18" charset="0"/>
                      </a:rPr>
                      <m:t>Father</m:t>
                    </m:r>
                    <m:r>
                      <a:rPr lang="en-US" altLang="zh-CN" sz="2400" dirty="0">
                        <a:latin typeface="Cambria Math" panose="02040503050406030204" pitchFamily="18" charset="0"/>
                      </a:rPr>
                      <m:t>(</m:t>
                    </m:r>
                    <m:r>
                      <m:rPr>
                        <m:sty m:val="p"/>
                      </m:rPr>
                      <a:rPr lang="en-US" altLang="zh-CN" sz="2400" dirty="0">
                        <a:latin typeface="Cambria Math" panose="02040503050406030204" pitchFamily="18" charset="0"/>
                      </a:rPr>
                      <m:t>x</m:t>
                    </m:r>
                    <m:r>
                      <a:rPr lang="en-US" altLang="zh-CN" sz="2400" dirty="0">
                        <a:latin typeface="Cambria Math" panose="02040503050406030204" pitchFamily="18" charset="0"/>
                      </a:rPr>
                      <m:t>)</m:t>
                    </m:r>
                    <m:r>
                      <a:rPr lang="zh-CN" altLang="en-US" sz="2400" dirty="0">
                        <a:latin typeface="Cambria Math" panose="02040503050406030204" pitchFamily="18" charset="0"/>
                      </a:rPr>
                      <m:t>,</m:t>
                    </m:r>
                    <m:r>
                      <m:rPr>
                        <m:sty m:val="p"/>
                      </m:rPr>
                      <a:rPr lang="en-US" altLang="zh-CN" sz="2400" dirty="0">
                        <a:latin typeface="Cambria Math" panose="02040503050406030204" pitchFamily="18" charset="0"/>
                      </a:rPr>
                      <m:t>John</m:t>
                    </m:r>
                    <m:r>
                      <a:rPr lang="zh-CN" altLang="en-US" sz="2400" dirty="0">
                        <a:latin typeface="Cambria Math" panose="02040503050406030204" pitchFamily="18" charset="0"/>
                      </a:rPr>
                      <m:t>)</m:t>
                    </m:r>
                  </m:oMath>
                </a14:m>
                <a:endParaRPr lang="zh-CN" altLang="en-US" sz="2400" dirty="0">
                  <a:latin typeface="Cambria Math" panose="02040503050406030204" pitchFamily="18" charset="0"/>
                </a:endParaRPr>
              </a:p>
              <a:p>
                <a:pPr marL="0" algn="l">
                  <a:buClrTx/>
                  <a:buSzTx/>
                  <a:buFontTx/>
                  <a:buNone/>
                </a:pPr>
                <a:r>
                  <a:rPr lang="en-US" altLang="zh-CN" sz="2400" dirty="0">
                    <a:latin typeface="Cambria Math" panose="02040503050406030204" pitchFamily="18" charset="0"/>
                  </a:rPr>
                  <a:t>d. </a:t>
                </a:r>
                <a14:m>
                  <m:oMath xmlns:m="http://schemas.openxmlformats.org/officeDocument/2006/math">
                    <m:r>
                      <m:rPr>
                        <m:sty m:val="p"/>
                      </m:rPr>
                      <a:rPr lang="en-US" altLang="zh-CN" sz="2400" dirty="0">
                        <a:latin typeface="Cambria Math" panose="02040503050406030204" pitchFamily="18" charset="0"/>
                      </a:rPr>
                      <m:t>Knows</m:t>
                    </m:r>
                    <m:r>
                      <a:rPr lang="zh-CN" altLang="en-US" sz="2400" dirty="0">
                        <a:latin typeface="Cambria Math" panose="02040503050406030204" pitchFamily="18" charset="0"/>
                      </a:rPr>
                      <m:t>(</m:t>
                    </m:r>
                    <m:r>
                      <m:rPr>
                        <m:sty m:val="p"/>
                      </m:rPr>
                      <a:rPr lang="en-US" altLang="zh-CN" sz="2400" dirty="0">
                        <a:latin typeface="Cambria Math" panose="02040503050406030204" pitchFamily="18" charset="0"/>
                      </a:rPr>
                      <m:t>Father</m:t>
                    </m:r>
                    <m:r>
                      <a:rPr lang="en-US" altLang="zh-CN" sz="2400" dirty="0">
                        <a:latin typeface="Cambria Math" panose="02040503050406030204" pitchFamily="18" charset="0"/>
                      </a:rPr>
                      <m:t>(</m:t>
                    </m:r>
                    <m:r>
                      <m:rPr>
                        <m:sty m:val="p"/>
                      </m:rPr>
                      <a:rPr lang="en-US" altLang="zh-CN" sz="2400" dirty="0">
                        <a:latin typeface="Cambria Math" panose="02040503050406030204" pitchFamily="18" charset="0"/>
                      </a:rPr>
                      <m:t>y</m:t>
                    </m:r>
                    <m:r>
                      <a:rPr lang="en-US" altLang="zh-CN" sz="2400" dirty="0">
                        <a:latin typeface="Cambria Math" panose="02040503050406030204" pitchFamily="18" charset="0"/>
                      </a:rPr>
                      <m:t>)</m:t>
                    </m:r>
                    <m:r>
                      <a:rPr lang="zh-CN" altLang="en-US" sz="2400" dirty="0">
                        <a:latin typeface="Cambria Math" panose="02040503050406030204" pitchFamily="18" charset="0"/>
                      </a:rPr>
                      <m:t>,</m:t>
                    </m:r>
                    <m:r>
                      <m:rPr>
                        <m:sty m:val="p"/>
                      </m:rPr>
                      <a:rPr lang="en-US" altLang="zh-CN" sz="2400" dirty="0">
                        <a:latin typeface="Cambria Math" panose="02040503050406030204" pitchFamily="18" charset="0"/>
                      </a:rPr>
                      <m:t>y</m:t>
                    </m:r>
                    <m:r>
                      <a:rPr lang="zh-CN" altLang="en-US" sz="2400" dirty="0">
                        <a:latin typeface="Cambria Math" panose="02040503050406030204" pitchFamily="18" charset="0"/>
                      </a:rPr>
                      <m:t>),</m:t>
                    </m:r>
                    <m:r>
                      <m:rPr>
                        <m:sty m:val="p"/>
                      </m:rPr>
                      <a:rPr lang="en-US" altLang="zh-CN" sz="2400" dirty="0">
                        <a:latin typeface="Cambria Math" panose="02040503050406030204" pitchFamily="18" charset="0"/>
                      </a:rPr>
                      <m:t>Knows</m:t>
                    </m:r>
                    <m:r>
                      <a:rPr lang="en-US" altLang="zh-CN" sz="2400" dirty="0">
                        <a:latin typeface="Cambria Math" panose="02040503050406030204" pitchFamily="18" charset="0"/>
                      </a:rPr>
                      <m:t>(</m:t>
                    </m:r>
                    <m:r>
                      <m:rPr>
                        <m:sty m:val="p"/>
                      </m:rPr>
                      <a:rPr lang="en-US" altLang="zh-CN" sz="2400" dirty="0">
                        <a:latin typeface="Cambria Math" panose="02040503050406030204" pitchFamily="18" charset="0"/>
                      </a:rPr>
                      <m:t>x</m:t>
                    </m:r>
                    <m:r>
                      <a:rPr lang="en-US" altLang="zh-CN" sz="2400" dirty="0">
                        <a:latin typeface="Cambria Math" panose="02040503050406030204" pitchFamily="18" charset="0"/>
                      </a:rPr>
                      <m:t>,</m:t>
                    </m:r>
                    <m:r>
                      <m:rPr>
                        <m:sty m:val="p"/>
                      </m:rPr>
                      <a:rPr lang="en-US" altLang="zh-CN" sz="2400" dirty="0">
                        <a:latin typeface="Cambria Math" panose="02040503050406030204" pitchFamily="18" charset="0"/>
                      </a:rPr>
                      <m:t>x</m:t>
                    </m:r>
                    <m:r>
                      <a:rPr lang="en-US" altLang="zh-CN" sz="2400" dirty="0">
                        <a:latin typeface="Cambria Math" panose="02040503050406030204" pitchFamily="18" charset="0"/>
                      </a:rPr>
                      <m:t>)</m:t>
                    </m:r>
                  </m:oMath>
                </a14:m>
                <a:endParaRPr lang="en-US" altLang="zh-CN" sz="2400" dirty="0">
                  <a:latin typeface="Cambria Math" panose="02040503050406030204" pitchFamily="18" charset="0"/>
                </a:endParaRPr>
              </a:p>
              <a:p>
                <a:pPr marL="0" algn="l">
                  <a:buClrTx/>
                  <a:buSzTx/>
                  <a:buFontTx/>
                  <a:buNone/>
                </a:pPr>
                <a:r>
                  <a:rPr lang="zh-CN" altLang="en-US" sz="2400" dirty="0" smtClean="0">
                    <a:solidFill>
                      <a:srgbClr val="FF0000"/>
                    </a:solidFill>
                    <a:latin typeface="+mj-lt"/>
                    <a:ea typeface="+mj-ea"/>
                    <a:cs typeface="+mj-cs"/>
                  </a:rPr>
                  <a:t>问题：</a:t>
                </a:r>
                <a:r>
                  <a:rPr lang="en-US" altLang="zh-CN" sz="2400" dirty="0" smtClean="0">
                    <a:solidFill>
                      <a:schemeClr val="tx1"/>
                    </a:solidFill>
                    <a:latin typeface="+mj-lt"/>
                    <a:ea typeface="+mj-ea"/>
                    <a:cs typeface="+mj-cs"/>
                  </a:rPr>
                  <a:t>100%</a:t>
                </a:r>
                <a:r>
                  <a:rPr lang="zh-CN" altLang="en-US" sz="2400" dirty="0" smtClean="0">
                    <a:solidFill>
                      <a:schemeClr val="tx1"/>
                    </a:solidFill>
                    <a:latin typeface="+mj-lt"/>
                    <a:ea typeface="+mj-ea"/>
                    <a:cs typeface="+mj-cs"/>
                  </a:rPr>
                  <a:t>的同学过程不够</a:t>
                </a:r>
                <a:r>
                  <a:rPr lang="zh-CN" altLang="en-US" sz="2400" dirty="0" smtClean="0">
                    <a:solidFill>
                      <a:schemeClr val="tx1"/>
                    </a:solidFill>
                    <a:latin typeface="+mj-lt"/>
                    <a:ea typeface="+mj-ea"/>
                    <a:cs typeface="+mj-cs"/>
                  </a:rPr>
                  <a:t>详细</a:t>
                </a:r>
                <a:endParaRPr lang="zh-CN" altLang="en-US" sz="2400" dirty="0" smtClean="0">
                  <a:solidFill>
                    <a:schemeClr val="tx1"/>
                  </a:solidFill>
                  <a:latin typeface="+mj-lt"/>
                  <a:ea typeface="+mj-ea"/>
                  <a:cs typeface="+mj-cs"/>
                </a:endParaRPr>
              </a:p>
              <a:p>
                <a:pPr marL="0" indent="0">
                  <a:buNone/>
                </a:pPr>
                <a:r>
                  <a:rPr lang="zh-CN" altLang="en-US" sz="2400" dirty="0">
                    <a:solidFill>
                      <a:schemeClr val="accent1"/>
                    </a:solidFill>
                  </a:rPr>
                  <a:t>思路：</a:t>
                </a:r>
                <a:r>
                  <a:rPr lang="zh-CN" altLang="en-US" sz="2400" dirty="0">
                    <a:solidFill>
                      <a:schemeClr val="tx1"/>
                    </a:solidFill>
                  </a:rPr>
                  <a:t>边同时</a:t>
                </a:r>
                <a:r>
                  <a:rPr lang="en-US" altLang="zh-CN" sz="2400" dirty="0">
                    <a:solidFill>
                      <a:schemeClr val="tx1"/>
                    </a:solidFill>
                  </a:rPr>
                  <a:t>“</a:t>
                </a:r>
                <a:r>
                  <a:rPr lang="zh-CN" altLang="en-US" sz="2400" dirty="0">
                    <a:solidFill>
                      <a:schemeClr val="tx1"/>
                    </a:solidFill>
                  </a:rPr>
                  <a:t>并排</a:t>
                </a:r>
                <a:r>
                  <a:rPr lang="en-US" altLang="zh-CN" sz="2400" dirty="0">
                    <a:solidFill>
                      <a:schemeClr val="tx1"/>
                    </a:solidFill>
                  </a:rPr>
                  <a:t>”</a:t>
                </a:r>
                <a:r>
                  <a:rPr lang="zh-CN" altLang="en-US" sz="2400" dirty="0">
                    <a:solidFill>
                      <a:schemeClr val="tx1"/>
                    </a:solidFill>
                  </a:rPr>
                  <a:t>地递归遍历两个表达式，边建立合一置换；如果出现：</a:t>
                </a:r>
                <a:endParaRPr lang="zh-CN" altLang="en-US" sz="2400" dirty="0">
                  <a:solidFill>
                    <a:schemeClr val="tx1"/>
                  </a:solidFill>
                </a:endParaRPr>
              </a:p>
              <a:p>
                <a:pPr marL="0" indent="0">
                  <a:buNone/>
                </a:pPr>
                <a:r>
                  <a:rPr lang="en-US" altLang="zh-CN" sz="2400" dirty="0">
                    <a:solidFill>
                      <a:schemeClr val="tx1"/>
                    </a:solidFill>
                  </a:rPr>
                  <a:t>1</a:t>
                </a:r>
                <a:r>
                  <a:rPr lang="zh-CN" altLang="en-US" sz="2400" dirty="0">
                    <a:solidFill>
                      <a:schemeClr val="tx1"/>
                    </a:solidFill>
                  </a:rPr>
                  <a:t>）一个变量需要同时取两个</a:t>
                </a:r>
                <a:r>
                  <a:rPr lang="zh-CN" altLang="en-US" sz="2400" dirty="0" smtClean="0">
                    <a:solidFill>
                      <a:schemeClr val="tx1"/>
                    </a:solidFill>
                    <a:sym typeface="+mn-ea"/>
                  </a:rPr>
                  <a:t>基项；</a:t>
                </a:r>
                <a:endParaRPr lang="zh-CN" altLang="en-US" sz="2400" dirty="0">
                  <a:solidFill>
                    <a:schemeClr val="tx1"/>
                  </a:solidFill>
                </a:endParaRPr>
              </a:p>
              <a:p>
                <a:pPr marL="0" indent="0">
                  <a:buNone/>
                </a:pPr>
                <a:r>
                  <a:rPr lang="en-US" altLang="zh-CN" sz="2400" dirty="0">
                    <a:solidFill>
                      <a:schemeClr val="tx1"/>
                    </a:solidFill>
                  </a:rPr>
                  <a:t>2</a:t>
                </a:r>
                <a:r>
                  <a:rPr lang="zh-CN" altLang="en-US" sz="2400" dirty="0">
                    <a:solidFill>
                      <a:schemeClr val="tx1"/>
                    </a:solidFill>
                  </a:rPr>
                  <a:t>）变量本身在复合项中出现（发生</a:t>
                </a:r>
                <a:r>
                  <a:rPr lang="zh-CN" altLang="en-US" sz="2400" dirty="0">
                    <a:solidFill>
                      <a:schemeClr val="tx1"/>
                    </a:solidFill>
                  </a:rPr>
                  <a:t>检验）；</a:t>
                </a:r>
                <a:endParaRPr lang="zh-CN" altLang="en-US" sz="2400" dirty="0">
                  <a:solidFill>
                    <a:schemeClr val="tx1"/>
                  </a:solidFill>
                </a:endParaRPr>
              </a:p>
              <a:p>
                <a:pPr marL="0" indent="0">
                  <a:buNone/>
                </a:pPr>
                <a:r>
                  <a:rPr lang="zh-CN" altLang="en-US" sz="2400" dirty="0">
                    <a:solidFill>
                      <a:schemeClr val="tx1"/>
                    </a:solidFill>
                  </a:rPr>
                  <a:t>则遍历失败。</a:t>
                </a:r>
                <a:endParaRPr lang="zh-CN" altLang="en-US" sz="2400" dirty="0">
                  <a:solidFill>
                    <a:schemeClr val="tx1"/>
                  </a:solidFill>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611505" y="1196340"/>
                <a:ext cx="8254365" cy="5697855"/>
              </a:xfrm>
              <a:blipFill rotWithShape="1">
                <a:blip r:embed="rId1"/>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fld>
            <a:endParaRPr lang="en-US" altLang="zh-CN"/>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560" y="-27940"/>
            <a:ext cx="7850188" cy="1011238"/>
          </a:xfrm>
        </p:spPr>
        <p:txBody>
          <a:bodyPr/>
          <a:lstStyle/>
          <a:p>
            <a:r>
              <a:rPr lang="zh-CN" altLang="en-US" dirty="0" smtClean="0"/>
              <a:t>参考答案</a:t>
            </a:r>
            <a:endParaRPr lang="zh-CN" altLang="en-US" dirty="0" smtClean="0"/>
          </a:p>
        </p:txBody>
      </p:sp>
      <p:sp>
        <p:nvSpPr>
          <p:cNvPr id="10" name="文本框 9"/>
          <p:cNvSpPr txBox="1"/>
          <p:nvPr/>
        </p:nvSpPr>
        <p:spPr>
          <a:xfrm>
            <a:off x="323215" y="1056005"/>
            <a:ext cx="9164320" cy="5631180"/>
          </a:xfrm>
          <a:prstGeom prst="rect">
            <a:avLst/>
          </a:prstGeom>
          <a:noFill/>
        </p:spPr>
        <p:txBody>
          <a:bodyPr wrap="square" rtlCol="0">
            <a:spAutoFit/>
          </a:bodyPr>
          <a:p>
            <a:r>
              <a:rPr lang="zh-CN" altLang="en-US" sz="2000">
                <a:solidFill>
                  <a:srgbClr val="FF0000"/>
                </a:solidFill>
              </a:rPr>
              <a:t>a.</a:t>
            </a:r>
            <a:r>
              <a:rPr lang="zh-CN" altLang="en-US" sz="2000"/>
              <a:t>{x/A, y/B, z/B}(顺序可以调换)</a:t>
            </a:r>
            <a:endParaRPr lang="zh-CN" altLang="en-US" sz="2000"/>
          </a:p>
          <a:p>
            <a:r>
              <a:rPr lang="zh-CN" altLang="en-US" sz="2000"/>
              <a:t>P(</a:t>
            </a:r>
            <a:r>
              <a:rPr lang="zh-CN" altLang="en-US" sz="2000" u="sng">
                <a:solidFill>
                  <a:schemeClr val="accent1"/>
                </a:solidFill>
              </a:rPr>
              <a:t>A</a:t>
            </a:r>
            <a:r>
              <a:rPr lang="zh-CN" altLang="en-US" sz="2000"/>
              <a:t>,B,B), P(</a:t>
            </a:r>
            <a:r>
              <a:rPr lang="zh-CN" altLang="en-US" sz="2000" u="sng">
                <a:solidFill>
                  <a:schemeClr val="accent1"/>
                </a:solidFill>
              </a:rPr>
              <a:t>x</a:t>
            </a:r>
            <a:r>
              <a:rPr lang="zh-CN" altLang="en-US" sz="2000"/>
              <a:t>,y,z):{x/A}</a:t>
            </a:r>
            <a:endParaRPr lang="zh-CN" altLang="en-US" sz="2000"/>
          </a:p>
          <a:p>
            <a:r>
              <a:rPr lang="zh-CN" altLang="en-US" sz="2000"/>
              <a:t>P(A,</a:t>
            </a:r>
            <a:r>
              <a:rPr lang="zh-CN" altLang="en-US" sz="2000" u="sng">
                <a:solidFill>
                  <a:schemeClr val="accent1"/>
                </a:solidFill>
              </a:rPr>
              <a:t>B</a:t>
            </a:r>
            <a:r>
              <a:rPr lang="zh-CN" altLang="en-US" sz="2000"/>
              <a:t>,B), P(x,</a:t>
            </a:r>
            <a:r>
              <a:rPr lang="zh-CN" altLang="en-US" sz="2000" u="sng">
                <a:solidFill>
                  <a:schemeClr val="accent1"/>
                </a:solidFill>
              </a:rPr>
              <a:t>y</a:t>
            </a:r>
            <a:r>
              <a:rPr lang="zh-CN" altLang="en-US" sz="2000"/>
              <a:t>,z):{x/A,y/B}</a:t>
            </a:r>
            <a:endParaRPr lang="zh-CN" altLang="en-US" sz="2000"/>
          </a:p>
          <a:p>
            <a:r>
              <a:rPr lang="zh-CN" altLang="en-US" sz="2000"/>
              <a:t>P(A,B,</a:t>
            </a:r>
            <a:r>
              <a:rPr lang="zh-CN" altLang="en-US" sz="2000" u="sng">
                <a:solidFill>
                  <a:schemeClr val="accent1"/>
                </a:solidFill>
              </a:rPr>
              <a:t>B</a:t>
            </a:r>
            <a:r>
              <a:rPr lang="zh-CN" altLang="en-US" sz="2000"/>
              <a:t>), P(x,y,</a:t>
            </a:r>
            <a:r>
              <a:rPr lang="zh-CN" altLang="en-US" sz="2000" u="sng">
                <a:solidFill>
                  <a:schemeClr val="accent1"/>
                </a:solidFill>
              </a:rPr>
              <a:t>z</a:t>
            </a:r>
            <a:r>
              <a:rPr lang="zh-CN" altLang="en-US" sz="2000"/>
              <a:t>):{x/A,y/B,z/B}</a:t>
            </a:r>
            <a:endParaRPr lang="zh-CN" altLang="en-US" sz="2000"/>
          </a:p>
          <a:p>
            <a:r>
              <a:rPr lang="zh-CN" altLang="en-US" sz="2000">
                <a:solidFill>
                  <a:srgbClr val="FF0000"/>
                </a:solidFill>
              </a:rPr>
              <a:t>b.</a:t>
            </a:r>
            <a:r>
              <a:rPr lang="zh-CN" altLang="en-US" sz="2000"/>
              <a:t>不存在合一置换</a:t>
            </a:r>
            <a:endParaRPr lang="zh-CN" altLang="en-US" sz="2000"/>
          </a:p>
          <a:p>
            <a:r>
              <a:rPr lang="zh-CN" altLang="en-US" sz="2000"/>
              <a:t>Q(</a:t>
            </a:r>
            <a:r>
              <a:rPr lang="zh-CN" altLang="en-US" sz="2000" u="sng">
                <a:solidFill>
                  <a:schemeClr val="accent1"/>
                </a:solidFill>
              </a:rPr>
              <a:t>y</a:t>
            </a:r>
            <a:r>
              <a:rPr lang="zh-CN" altLang="en-US" sz="2000"/>
              <a:t>,G(A,B)),Q(</a:t>
            </a:r>
            <a:r>
              <a:rPr lang="zh-CN" altLang="en-US" sz="2000" u="sng">
                <a:solidFill>
                  <a:schemeClr val="accent1"/>
                </a:solidFill>
              </a:rPr>
              <a:t>G(x,x)</a:t>
            </a:r>
            <a:r>
              <a:rPr lang="zh-CN" altLang="en-US" sz="2000"/>
              <a:t>,y):{y/G(x,x)}</a:t>
            </a:r>
            <a:endParaRPr lang="zh-CN" altLang="en-US" sz="2000"/>
          </a:p>
          <a:p>
            <a:r>
              <a:rPr lang="zh-CN" altLang="en-US" sz="2000"/>
              <a:t>Q(y,</a:t>
            </a:r>
            <a:r>
              <a:rPr lang="zh-CN" altLang="en-US" sz="2000" u="sng">
                <a:solidFill>
                  <a:schemeClr val="accent1"/>
                </a:solidFill>
              </a:rPr>
              <a:t>G(A,B)</a:t>
            </a:r>
            <a:r>
              <a:rPr lang="zh-CN" altLang="en-US" sz="2000"/>
              <a:t>),Q(G(x,x),</a:t>
            </a:r>
            <a:r>
              <a:rPr lang="zh-CN" altLang="en-US" sz="2000" u="sng">
                <a:solidFill>
                  <a:schemeClr val="accent1"/>
                </a:solidFill>
              </a:rPr>
              <a:t>G(x,x)</a:t>
            </a:r>
            <a:r>
              <a:rPr lang="zh-CN" altLang="en-US" sz="2000"/>
              <a:t>):{y/G(x,x)} 需要迭代：</a:t>
            </a:r>
            <a:endParaRPr lang="zh-CN" altLang="en-US" sz="2000"/>
          </a:p>
          <a:p>
            <a:pPr lvl="1"/>
            <a:r>
              <a:rPr lang="zh-CN" altLang="en-US" sz="2000"/>
              <a:t>Q(y,G(</a:t>
            </a:r>
            <a:r>
              <a:rPr lang="zh-CN" altLang="en-US" sz="2000" u="sng">
                <a:solidFill>
                  <a:schemeClr val="accent1"/>
                </a:solidFill>
              </a:rPr>
              <a:t>A</a:t>
            </a:r>
            <a:r>
              <a:rPr lang="zh-CN" altLang="en-US" sz="2000"/>
              <a:t>,B)),Q(G(x,x),G(</a:t>
            </a:r>
            <a:r>
              <a:rPr lang="zh-CN" altLang="en-US" sz="2000" u="sng">
                <a:solidFill>
                  <a:schemeClr val="accent1"/>
                </a:solidFill>
              </a:rPr>
              <a:t>x</a:t>
            </a:r>
            <a:r>
              <a:rPr lang="zh-CN" altLang="en-US" sz="2000"/>
              <a:t>,x)):{y/G(x,x), x/A}</a:t>
            </a:r>
            <a:endParaRPr lang="zh-CN" altLang="en-US" sz="2000"/>
          </a:p>
          <a:p>
            <a:pPr lvl="1"/>
            <a:r>
              <a:rPr lang="zh-CN" altLang="en-US" sz="2000"/>
              <a:t>Q(y,G(A,</a:t>
            </a:r>
            <a:r>
              <a:rPr lang="zh-CN" altLang="en-US" sz="2000" u="sng">
                <a:solidFill>
                  <a:schemeClr val="accent1"/>
                </a:solidFill>
              </a:rPr>
              <a:t>B</a:t>
            </a:r>
            <a:r>
              <a:rPr lang="zh-CN" altLang="en-US" sz="2000"/>
              <a:t>)),Q(G(x,x),G(x,</a:t>
            </a:r>
            <a:r>
              <a:rPr lang="zh-CN" altLang="en-US" sz="2000" u="sng">
                <a:solidFill>
                  <a:schemeClr val="accent1"/>
                </a:solidFill>
              </a:rPr>
              <a:t>x</a:t>
            </a:r>
            <a:r>
              <a:rPr lang="zh-CN" altLang="en-US" sz="2000"/>
              <a:t>)):{y/G(x,x), x/A} </a:t>
            </a:r>
            <a:endParaRPr lang="zh-CN" altLang="en-US" sz="2000"/>
          </a:p>
          <a:p>
            <a:pPr lvl="1"/>
            <a:r>
              <a:rPr lang="zh-CN" altLang="en-US" sz="2000"/>
              <a:t> x不能同时表示A和B，故不存在</a:t>
            </a:r>
            <a:endParaRPr lang="zh-CN" altLang="en-US" sz="2000"/>
          </a:p>
          <a:p>
            <a:r>
              <a:rPr lang="zh-CN" altLang="en-US" sz="2000">
                <a:solidFill>
                  <a:srgbClr val="FF0000"/>
                </a:solidFill>
              </a:rPr>
              <a:t>c.</a:t>
            </a:r>
            <a:r>
              <a:rPr lang="zh-CN" altLang="en-US" sz="2000"/>
              <a:t>{y/John, x/John}</a:t>
            </a:r>
            <a:endParaRPr lang="zh-CN" altLang="en-US" sz="2000"/>
          </a:p>
          <a:p>
            <a:r>
              <a:rPr lang="zh-CN" altLang="en-US" sz="2000"/>
              <a:t>Older(</a:t>
            </a:r>
            <a:r>
              <a:rPr lang="zh-CN" altLang="en-US" sz="2000" u="sng">
                <a:solidFill>
                  <a:schemeClr val="accent1"/>
                </a:solidFill>
              </a:rPr>
              <a:t>Father(y)</a:t>
            </a:r>
            <a:r>
              <a:rPr lang="zh-CN" altLang="en-US" sz="2000"/>
              <a:t>,y), Older(</a:t>
            </a:r>
            <a:r>
              <a:rPr lang="zh-CN" altLang="en-US" sz="2000" u="sng">
                <a:solidFill>
                  <a:schemeClr val="accent1"/>
                </a:solidFill>
              </a:rPr>
              <a:t>Father(x)</a:t>
            </a:r>
            <a:r>
              <a:rPr lang="zh-CN" altLang="en-US" sz="2000"/>
              <a:t>,John): {}需迭代：</a:t>
            </a:r>
            <a:endParaRPr lang="zh-CN" altLang="en-US" sz="2000"/>
          </a:p>
          <a:p>
            <a:pPr indent="457200"/>
            <a:r>
              <a:rPr lang="zh-CN" altLang="en-US" sz="2000"/>
              <a:t>Older(Father(</a:t>
            </a:r>
            <a:r>
              <a:rPr lang="zh-CN" altLang="en-US" sz="2000" u="sng">
                <a:solidFill>
                  <a:schemeClr val="accent1"/>
                </a:solidFill>
              </a:rPr>
              <a:t>y</a:t>
            </a:r>
            <a:r>
              <a:rPr lang="zh-CN" altLang="en-US" sz="2000"/>
              <a:t>),y), Older(Father(</a:t>
            </a:r>
            <a:r>
              <a:rPr lang="zh-CN" altLang="en-US" sz="2000" u="sng">
                <a:solidFill>
                  <a:schemeClr val="accent1"/>
                </a:solidFill>
              </a:rPr>
              <a:t>x</a:t>
            </a:r>
            <a:r>
              <a:rPr lang="zh-CN" altLang="en-US" sz="2000"/>
              <a:t>),John): {y/x}</a:t>
            </a:r>
            <a:endParaRPr lang="zh-CN" altLang="en-US" sz="2000"/>
          </a:p>
          <a:p>
            <a:r>
              <a:rPr lang="zh-CN" altLang="en-US" sz="2000"/>
              <a:t>Older(Father(x),</a:t>
            </a:r>
            <a:r>
              <a:rPr lang="zh-CN" altLang="en-US" sz="2000" u="sng">
                <a:solidFill>
                  <a:schemeClr val="accent1"/>
                </a:solidFill>
              </a:rPr>
              <a:t>x</a:t>
            </a:r>
            <a:r>
              <a:rPr lang="zh-CN" altLang="en-US" sz="2000"/>
              <a:t>), Older(Father(x),</a:t>
            </a:r>
            <a:r>
              <a:rPr lang="zh-CN" altLang="en-US" sz="2000" u="sng">
                <a:solidFill>
                  <a:schemeClr val="accent1"/>
                </a:solidFill>
              </a:rPr>
              <a:t>John</a:t>
            </a:r>
            <a:r>
              <a:rPr lang="zh-CN" altLang="en-US" sz="2000"/>
              <a:t>): {y/x, x/John} =&gt; {y/John, x/John} </a:t>
            </a:r>
            <a:endParaRPr lang="zh-CN" altLang="en-US" sz="2000"/>
          </a:p>
          <a:p>
            <a:r>
              <a:rPr lang="zh-CN" altLang="en-US" sz="2000">
                <a:solidFill>
                  <a:srgbClr val="FF0000"/>
                </a:solidFill>
              </a:rPr>
              <a:t>d.</a:t>
            </a:r>
            <a:r>
              <a:rPr lang="zh-CN" altLang="en-US" sz="2000"/>
              <a:t>不存在合一置换，发生检验使y和Father(y)无法合一</a:t>
            </a:r>
            <a:endParaRPr lang="zh-CN" altLang="en-US" sz="2000"/>
          </a:p>
          <a:p>
            <a:r>
              <a:rPr lang="zh-CN" altLang="en-US" sz="2000"/>
              <a:t>Knows(</a:t>
            </a:r>
            <a:r>
              <a:rPr lang="zh-CN" altLang="en-US" sz="2000" u="sng">
                <a:solidFill>
                  <a:schemeClr val="accent1"/>
                </a:solidFill>
              </a:rPr>
              <a:t>Father(y)</a:t>
            </a:r>
            <a:r>
              <a:rPr lang="zh-CN" altLang="en-US" sz="2000"/>
              <a:t>,y), Knows(</a:t>
            </a:r>
            <a:r>
              <a:rPr lang="zh-CN" altLang="en-US" sz="2000" u="sng">
                <a:solidFill>
                  <a:schemeClr val="accent1"/>
                </a:solidFill>
              </a:rPr>
              <a:t>x</a:t>
            </a:r>
            <a:r>
              <a:rPr lang="zh-CN" altLang="en-US" sz="2000"/>
              <a:t>,x):{x/Father(y)}</a:t>
            </a:r>
            <a:endParaRPr lang="zh-CN" altLang="en-US" sz="2000"/>
          </a:p>
          <a:p>
            <a:r>
              <a:rPr lang="zh-CN" altLang="en-US" sz="2000"/>
              <a:t>Knows(Father(y),</a:t>
            </a:r>
            <a:r>
              <a:rPr lang="zh-CN" altLang="en-US" sz="2000" u="sng">
                <a:solidFill>
                  <a:schemeClr val="accent1"/>
                </a:solidFill>
              </a:rPr>
              <a:t>y</a:t>
            </a:r>
            <a:r>
              <a:rPr lang="zh-CN" altLang="en-US" sz="2000"/>
              <a:t>), Knows(Father(y),</a:t>
            </a:r>
            <a:r>
              <a:rPr lang="zh-CN" altLang="en-US" sz="2000" u="sng">
                <a:solidFill>
                  <a:schemeClr val="accent1"/>
                </a:solidFill>
              </a:rPr>
              <a:t>Father(y)</a:t>
            </a:r>
            <a:r>
              <a:rPr lang="zh-CN" altLang="en-US" sz="2000"/>
              <a:t>):{x/Father(y)}</a:t>
            </a:r>
            <a:endParaRPr lang="zh-CN" altLang="en-US" sz="2000"/>
          </a:p>
          <a:p>
            <a:r>
              <a:rPr lang="zh-CN" altLang="en-US" sz="2000"/>
              <a:t>变量y在复合项Father(y)中，发生检验，无法合一</a:t>
            </a:r>
            <a:endParaRPr lang="zh-CN" altLang="en-US" sz="2000"/>
          </a:p>
        </p:txBody>
      </p:sp>
      <p:sp>
        <p:nvSpPr>
          <p:cNvPr id="12" name="内容占位符 11"/>
          <p:cNvSpPr>
            <a:spLocks noGrp="1"/>
          </p:cNvSpPr>
          <p:nvPr>
            <p:ph idx="1"/>
            <p:custDataLst>
              <p:tags r:id="rId1"/>
            </p:custDataLst>
          </p:nvPr>
        </p:nvSpPr>
        <p:spPr>
          <a:xfrm>
            <a:off x="35560" y="692785"/>
            <a:ext cx="8136255" cy="645160"/>
          </a:xfrm>
        </p:spPr>
        <p:txBody>
          <a:bodyPr/>
          <a:p>
            <a:r>
              <a:rPr lang="en-US" altLang="zh-CN" sz="2400" dirty="0" smtClean="0"/>
              <a:t>9.4 </a:t>
            </a:r>
            <a:r>
              <a:rPr lang="zh-CN" altLang="en-US" sz="2400" dirty="0" smtClean="0"/>
              <a:t>（划线遍历，</a:t>
            </a:r>
            <a:r>
              <a:rPr lang="zh-CN" altLang="en-US" sz="2400" dirty="0" smtClean="0">
                <a:solidFill>
                  <a:srgbClr val="FF0000"/>
                </a:solidFill>
              </a:rPr>
              <a:t>每小题结果</a:t>
            </a:r>
            <a:r>
              <a:rPr lang="en-US" altLang="zh-CN" sz="2400" dirty="0" smtClean="0">
                <a:solidFill>
                  <a:srgbClr val="FF0000"/>
                </a:solidFill>
              </a:rPr>
              <a:t>2</a:t>
            </a:r>
            <a:r>
              <a:rPr lang="zh-CN" altLang="en-US" sz="2400" dirty="0" smtClean="0">
                <a:solidFill>
                  <a:srgbClr val="FF0000"/>
                </a:solidFill>
              </a:rPr>
              <a:t>分，过程</a:t>
            </a:r>
            <a:r>
              <a:rPr lang="en-US" altLang="zh-CN" sz="2400" dirty="0" smtClean="0">
                <a:solidFill>
                  <a:srgbClr val="FF0000"/>
                </a:solidFill>
              </a:rPr>
              <a:t>3</a:t>
            </a:r>
            <a:r>
              <a:rPr lang="zh-CN" altLang="en-US" sz="2400" dirty="0" smtClean="0">
                <a:solidFill>
                  <a:srgbClr val="FF0000"/>
                </a:solidFill>
              </a:rPr>
              <a:t>分</a:t>
            </a:r>
            <a:r>
              <a:rPr lang="zh-CN" altLang="en-US" sz="2400" dirty="0" smtClean="0"/>
              <a:t>）</a:t>
            </a:r>
            <a:endParaRPr lang="zh-CN" altLang="en-US" sz="2400" i="1" dirty="0" smtClean="0">
              <a:latin typeface="Cambria Math" panose="02040503050406030204" pitchFamily="18" charset="0"/>
              <a:cs typeface="Cambria Math" panose="02040503050406030204"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作业</a:t>
            </a:r>
            <a:endParaRPr lang="zh-CN" altLang="en-US" dirty="0" smtClean="0"/>
          </a:p>
        </p:txBody>
      </p:sp>
      <p:sp>
        <p:nvSpPr>
          <p:cNvPr id="3" name="内容占位符 2"/>
          <p:cNvSpPr>
            <a:spLocks noGrp="1"/>
          </p:cNvSpPr>
          <p:nvPr>
            <p:ph idx="1"/>
          </p:nvPr>
        </p:nvSpPr>
        <p:spPr>
          <a:xfrm>
            <a:off x="611505" y="1196340"/>
            <a:ext cx="8254365" cy="5697855"/>
          </a:xfrm>
        </p:spPr>
        <p:txBody>
          <a:bodyPr/>
          <a:lstStyle/>
          <a:p>
            <a:r>
              <a:rPr lang="en-US" altLang="zh-CN" sz="2400" dirty="0" smtClean="0"/>
              <a:t>9.23</a:t>
            </a:r>
            <a:endParaRPr lang="en-US" altLang="zh-CN" sz="2400" dirty="0" smtClean="0"/>
          </a:p>
          <a:p>
            <a:pPr marL="0" indent="0">
              <a:buNone/>
            </a:pPr>
            <a:r>
              <a:rPr lang="zh-CN" altLang="en-US" sz="2000" dirty="0"/>
              <a:t>根据“马是动物”，可以得到“一匹马的头是一只动物的头。”通过采用下列步骤，论证这一推理是有效的:</a:t>
            </a:r>
            <a:endParaRPr lang="zh-CN" altLang="en-US" sz="2000" dirty="0"/>
          </a:p>
          <a:p>
            <a:pPr marL="0" indent="0">
              <a:buNone/>
            </a:pPr>
            <a:r>
              <a:rPr lang="zh-CN" altLang="en-US" sz="2000" dirty="0"/>
              <a:t>a.把前提和结论翻译为一阶逻辑语言。使用三个谓词HeadOf</a:t>
            </a:r>
            <a:r>
              <a:rPr lang="en-US" altLang="zh-CN" sz="2000" dirty="0"/>
              <a:t>(</a:t>
            </a:r>
            <a:r>
              <a:rPr lang="zh-CN" altLang="en-US" sz="2000" dirty="0"/>
              <a:t>h,x)(表示“h 是x的头”)、Horse(x)和Animal(x)。</a:t>
            </a:r>
            <a:endParaRPr lang="zh-CN" altLang="en-US" sz="2000" dirty="0"/>
          </a:p>
          <a:p>
            <a:pPr marL="0" indent="0">
              <a:buNone/>
            </a:pPr>
            <a:r>
              <a:rPr lang="zh-CN" altLang="en-US" sz="2000" dirty="0"/>
              <a:t>b.否定结论，把前提和否定的</a:t>
            </a:r>
            <a:r>
              <a:rPr lang="zh-CN" altLang="en-US" sz="2000" dirty="0"/>
              <a:t>结论转换成合取范式。</a:t>
            </a:r>
            <a:endParaRPr lang="zh-CN" altLang="en-US" sz="2000" dirty="0"/>
          </a:p>
          <a:p>
            <a:pPr marL="0" indent="0">
              <a:buNone/>
            </a:pPr>
            <a:r>
              <a:rPr lang="zh-CN" altLang="en-US" sz="2000" dirty="0"/>
              <a:t>c.根据前提归结证明推导出结论。</a:t>
            </a:r>
            <a:endParaRPr lang="zh-CN" altLang="en-US" sz="2000" dirty="0"/>
          </a:p>
          <a:p>
            <a:pPr marL="0" indent="0">
              <a:buNone/>
            </a:pPr>
            <a:r>
              <a:rPr lang="zh-CN" altLang="en-US" sz="2000" dirty="0" smtClean="0">
                <a:solidFill>
                  <a:srgbClr val="FF0000"/>
                </a:solidFill>
                <a:latin typeface="+mj-lt"/>
                <a:ea typeface="+mj-ea"/>
                <a:cs typeface="+mj-cs"/>
                <a:sym typeface="+mn-ea"/>
              </a:rPr>
              <a:t>问题：</a:t>
            </a:r>
            <a:r>
              <a:rPr lang="en-US" altLang="zh-CN" sz="2000" dirty="0" smtClean="0">
                <a:latin typeface="+mj-lt"/>
                <a:ea typeface="+mj-ea"/>
                <a:cs typeface="+mj-cs"/>
                <a:sym typeface="+mn-ea"/>
              </a:rPr>
              <a:t>80%以上的同学过程太过简单</a:t>
            </a:r>
            <a:endParaRPr lang="en-US" altLang="zh-CN" sz="2000" dirty="0" smtClean="0">
              <a:solidFill>
                <a:schemeClr val="tx1"/>
              </a:solidFill>
              <a:latin typeface="+mj-lt"/>
              <a:ea typeface="+mj-ea"/>
              <a:cs typeface="+mj-cs"/>
            </a:endParaRPr>
          </a:p>
          <a:p>
            <a:pPr marL="0" indent="0">
              <a:buNone/>
            </a:pPr>
            <a:r>
              <a:rPr lang="zh-CN" altLang="en-US" sz="2000" dirty="0">
                <a:solidFill>
                  <a:schemeClr val="accent1"/>
                </a:solidFill>
              </a:rPr>
              <a:t>思路：</a:t>
            </a:r>
            <a:r>
              <a:rPr lang="zh-CN" altLang="zh-CN" sz="2000" dirty="0">
                <a:sym typeface="+mn-ea"/>
              </a:rPr>
              <a:t>消除蕴含词、将</a:t>
            </a:r>
            <a:r>
              <a:rPr lang="en-US" altLang="zh-CN" sz="2000" dirty="0">
                <a:sym typeface="Symbol" panose="05050102010706020507" pitchFamily="18" charset="2"/>
              </a:rPr>
              <a:t></a:t>
            </a:r>
            <a:r>
              <a:rPr lang="zh-CN" altLang="zh-CN" sz="2000" dirty="0">
                <a:sym typeface="+mn-ea"/>
              </a:rPr>
              <a:t>内移、变量标准化、</a:t>
            </a:r>
            <a:r>
              <a:rPr lang="en-US" altLang="zh-CN" sz="2000" dirty="0" err="1">
                <a:sym typeface="+mn-ea"/>
              </a:rPr>
              <a:t>Skolem</a:t>
            </a:r>
            <a:r>
              <a:rPr lang="zh-CN" altLang="zh-CN" sz="2000" dirty="0">
                <a:sym typeface="+mn-ea"/>
              </a:rPr>
              <a:t>化、删除全称量词</a:t>
            </a:r>
            <a:endParaRPr lang="en-US" altLang="zh-CN" sz="2000" dirty="0"/>
          </a:p>
          <a:p>
            <a:pPr marL="0" indent="0">
              <a:buNone/>
            </a:pPr>
            <a:r>
              <a:rPr lang="zh-CN" altLang="en-US" sz="2000" dirty="0" smtClean="0">
                <a:sym typeface="+mn-ea"/>
              </a:rPr>
              <a:t>、</a:t>
            </a:r>
            <a:r>
              <a:rPr lang="zh-CN" altLang="en-US" sz="2000" dirty="0">
                <a:sym typeface="+mn-ea"/>
              </a:rPr>
              <a:t>将∨对</a:t>
            </a:r>
            <a:r>
              <a:rPr lang="zh-CN" altLang="en-US" sz="2000" dirty="0" smtClean="0">
                <a:sym typeface="+mn-ea"/>
              </a:rPr>
              <a:t>∧分配。</a:t>
            </a:r>
            <a:endParaRPr lang="zh-CN" altLang="en-US" sz="2000" dirty="0" smtClean="0">
              <a:sym typeface="+mn-ea"/>
            </a:endParaRPr>
          </a:p>
        </p:txBody>
      </p:sp>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fld>
            <a:endParaRPr lang="en-US" altLang="zh-CN"/>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7850188" cy="1011238"/>
          </a:xfrm>
        </p:spPr>
        <p:txBody>
          <a:bodyPr/>
          <a:lstStyle/>
          <a:p>
            <a:r>
              <a:rPr lang="zh-CN" altLang="en-US" dirty="0" smtClean="0"/>
              <a:t>参考</a:t>
            </a:r>
            <a:r>
              <a:rPr lang="zh-CN" altLang="en-US" dirty="0" smtClean="0"/>
              <a:t>答案</a:t>
            </a:r>
            <a:endParaRPr lang="zh-CN" altLang="en-US" dirty="0" smtClean="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07315" y="908685"/>
                <a:ext cx="9057640" cy="4832985"/>
              </a:xfrm>
            </p:spPr>
            <p:txBody>
              <a:bodyPr/>
              <a:lstStyle/>
              <a:p>
                <a:r>
                  <a:rPr lang="en-US" altLang="zh-CN" sz="2400" dirty="0" smtClean="0"/>
                  <a:t>9.23</a:t>
                </a:r>
                <a:endParaRPr lang="en-US" altLang="zh-CN" sz="2400" dirty="0" smtClean="0"/>
              </a:p>
              <a:p>
                <a:pPr marL="0" indent="0">
                  <a:buNone/>
                </a:pPr>
                <a:r>
                  <a:rPr lang="en-US" altLang="zh-CN" sz="2400" dirty="0">
                    <a:solidFill>
                      <a:srgbClr val="FF0000"/>
                    </a:solidFill>
                    <a:latin typeface="Cambria Math" panose="02040503050406030204" pitchFamily="18" charset="0"/>
                    <a:cs typeface="Cambria Math" panose="02040503050406030204" pitchFamily="18" charset="0"/>
                  </a:rPr>
                  <a:t>a.</a:t>
                </a:r>
                <a:r>
                  <a:rPr lang="en-US" altLang="zh-CN" sz="2400" dirty="0">
                    <a:latin typeface="Cambria Math" panose="02040503050406030204" pitchFamily="18" charset="0"/>
                    <a:cs typeface="Cambria Math" panose="02040503050406030204" pitchFamily="18" charset="0"/>
                  </a:rPr>
                  <a:t>将前提翻译为一阶逻辑语言（</a:t>
                </a:r>
                <a:r>
                  <a:rPr lang="en-US" altLang="zh-CN" sz="2400" dirty="0">
                    <a:solidFill>
                      <a:schemeClr val="accent1"/>
                    </a:solidFill>
                    <a:latin typeface="Cambria Math" panose="02040503050406030204" pitchFamily="18" charset="0"/>
                    <a:cs typeface="Cambria Math" panose="02040503050406030204" pitchFamily="18" charset="0"/>
                  </a:rPr>
                  <a:t>马是动物</a:t>
                </a:r>
                <a:r>
                  <a:rPr lang="zh-CN" altLang="en-US" sz="2400" dirty="0">
                    <a:latin typeface="Cambria Math" panose="02040503050406030204" pitchFamily="18" charset="0"/>
                    <a:cs typeface="Cambria Math" panose="02040503050406030204" pitchFamily="18" charset="0"/>
                  </a:rPr>
                  <a:t>）</a:t>
                </a:r>
                <a:r>
                  <a:rPr lang="en-US" altLang="zh-CN" sz="2400" dirty="0">
                    <a:latin typeface="Cambria Math" panose="02040503050406030204" pitchFamily="18" charset="0"/>
                    <a:cs typeface="Cambria Math" panose="02040503050406030204" pitchFamily="18" charset="0"/>
                  </a:rPr>
                  <a:t>：</a:t>
                </a:r>
                <a:endParaRPr lang="en-US" altLang="zh-CN" sz="2400" dirty="0">
                  <a:latin typeface="Cambria Math" panose="02040503050406030204" pitchFamily="18" charset="0"/>
                  <a:cs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 </m:t>
                      </m:r>
                      <m:r>
                        <a:rPr lang="en-US" altLang="zh-CN" sz="2400" i="1" dirty="0" smtClean="0">
                          <a:latin typeface="Cambria Math" panose="02040503050406030204" pitchFamily="18" charset="0"/>
                          <a:cs typeface="Cambria Math" panose="02040503050406030204" pitchFamily="18" charset="0"/>
                        </a:rPr>
                        <m:t>𝐻𝑜𝑟𝑠𝑒</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𝐴𝑛𝑖𝑚𝑎𝑙</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m:t>
                      </m:r>
                    </m:oMath>
                  </m:oMathPara>
                </a14:m>
                <a:endParaRPr lang="en-US" altLang="zh-CN" sz="2400" dirty="0">
                  <a:latin typeface="Cambria Math" panose="02040503050406030204" pitchFamily="18" charset="0"/>
                  <a:cs typeface="Cambria Math" panose="02040503050406030204" pitchFamily="18" charset="0"/>
                </a:endParaRPr>
              </a:p>
              <a:p>
                <a:pPr marL="0" indent="0">
                  <a:buNone/>
                </a:pPr>
                <a:r>
                  <a:rPr lang="en-US" altLang="zh-CN" sz="2400" dirty="0">
                    <a:latin typeface="Cambria Math" panose="02040503050406030204" pitchFamily="18" charset="0"/>
                    <a:cs typeface="Cambria Math" panose="02040503050406030204" pitchFamily="18" charset="0"/>
                  </a:rPr>
                  <a:t>将结论翻译为一阶逻辑语言（</a:t>
                </a:r>
                <a:r>
                  <a:rPr lang="en-US" altLang="zh-CN" sz="2400" dirty="0">
                    <a:solidFill>
                      <a:schemeClr val="accent1"/>
                    </a:solidFill>
                    <a:latin typeface="Cambria Math" panose="02040503050406030204" pitchFamily="18" charset="0"/>
                    <a:cs typeface="Cambria Math" panose="02040503050406030204" pitchFamily="18" charset="0"/>
                  </a:rPr>
                  <a:t>一匹马的头是动物的头</a:t>
                </a:r>
                <a:r>
                  <a:rPr lang="zh-CN" altLang="en-US" sz="2400" dirty="0">
                    <a:latin typeface="Cambria Math" panose="02040503050406030204" pitchFamily="18" charset="0"/>
                    <a:cs typeface="Cambria Math" panose="02040503050406030204" pitchFamily="18" charset="0"/>
                  </a:rPr>
                  <a:t>）</a:t>
                </a:r>
                <a:r>
                  <a:rPr lang="en-US" altLang="zh-CN" sz="2400" dirty="0">
                    <a:latin typeface="Cambria Math" panose="02040503050406030204" pitchFamily="18" charset="0"/>
                    <a:cs typeface="Cambria Math" panose="02040503050406030204" pitchFamily="18" charset="0"/>
                  </a:rPr>
                  <a:t>：</a:t>
                </a:r>
                <a:endParaRPr lang="en-US" altLang="zh-CN" sz="2400" dirty="0">
                  <a:latin typeface="Cambria Math" panose="02040503050406030204" pitchFamily="18" charset="0"/>
                  <a:cs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ℎ</m:t>
                      </m:r>
                      <m:r>
                        <a:rPr lang="en-US" altLang="zh-CN" sz="2400" i="1" dirty="0" smtClean="0">
                          <a:latin typeface="Cambria Math" panose="02040503050406030204" pitchFamily="18" charset="0"/>
                          <a:cs typeface="Cambria Math" panose="02040503050406030204" pitchFamily="18" charset="0"/>
                        </a:rPr>
                        <m:t> </m:t>
                      </m:r>
                      <m:r>
                        <a:rPr lang="en-US" altLang="zh-CN" sz="2400" i="1" dirty="0" smtClean="0">
                          <a:latin typeface="Cambria Math" panose="02040503050406030204" pitchFamily="18" charset="0"/>
                          <a:cs typeface="Cambria Math" panose="02040503050406030204" pitchFamily="18" charset="0"/>
                        </a:rPr>
                        <m:t>𝐻𝑜𝑟𝑠𝑒</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𝐻𝑒𝑎𝑑𝑂𝑓</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ℎ</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 ∃</m:t>
                      </m:r>
                      <m:r>
                        <a:rPr lang="en-US" altLang="zh-CN" sz="2400" i="1" dirty="0" smtClean="0">
                          <a:latin typeface="Cambria Math" panose="02040503050406030204" pitchFamily="18" charset="0"/>
                          <a:cs typeface="Cambria Math" panose="02040503050406030204" pitchFamily="18" charset="0"/>
                        </a:rPr>
                        <m:t>𝑦</m:t>
                      </m:r>
                      <m:r>
                        <a:rPr lang="en-US" altLang="zh-CN" sz="2400" i="1" dirty="0" smtClean="0">
                          <a:latin typeface="Cambria Math" panose="02040503050406030204" pitchFamily="18" charset="0"/>
                          <a:cs typeface="Cambria Math" panose="02040503050406030204" pitchFamily="18" charset="0"/>
                        </a:rPr>
                        <m:t> </m:t>
                      </m:r>
                      <m:r>
                        <a:rPr lang="en-US" altLang="zh-CN" sz="2400" i="1" dirty="0" smtClean="0">
                          <a:latin typeface="Cambria Math" panose="02040503050406030204" pitchFamily="18" charset="0"/>
                          <a:cs typeface="Cambria Math" panose="02040503050406030204" pitchFamily="18" charset="0"/>
                        </a:rPr>
                        <m:t>𝐴𝑛𝑖𝑚𝑎𝑙</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𝑦</m:t>
                      </m:r>
                      <m:r>
                        <a:rPr lang="en-US" altLang="zh-CN" sz="2400" i="1" dirty="0" smtClean="0">
                          <a:latin typeface="Cambria Math" panose="02040503050406030204" pitchFamily="18" charset="0"/>
                          <a:cs typeface="Cambria Math" panose="02040503050406030204" pitchFamily="18" charset="0"/>
                        </a:rPr>
                        <m:t>)∧ </m:t>
                      </m:r>
                      <m:r>
                        <a:rPr lang="en-US" altLang="zh-CN" sz="2400" i="1" dirty="0" smtClean="0">
                          <a:latin typeface="Cambria Math" panose="02040503050406030204" pitchFamily="18" charset="0"/>
                          <a:cs typeface="Cambria Math" panose="02040503050406030204" pitchFamily="18" charset="0"/>
                        </a:rPr>
                        <m:t>𝐻𝑒𝑎𝑑𝑂𝑓</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ℎ</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𝑦</m:t>
                      </m:r>
                      <m:r>
                        <a:rPr lang="en-US" altLang="zh-CN" sz="2400" i="1" dirty="0" smtClean="0">
                          <a:latin typeface="Cambria Math" panose="02040503050406030204" pitchFamily="18" charset="0"/>
                          <a:cs typeface="Cambria Math" panose="02040503050406030204" pitchFamily="18" charset="0"/>
                        </a:rPr>
                        <m:t>)</m:t>
                      </m:r>
                    </m:oMath>
                  </m:oMathPara>
                </a14:m>
                <a:endParaRPr lang="en-US" altLang="zh-CN" sz="2400" dirty="0">
                  <a:latin typeface="Cambria Math" panose="02040503050406030204" pitchFamily="18" charset="0"/>
                  <a:cs typeface="Cambria Math" panose="02040503050406030204" pitchFamily="18" charset="0"/>
                </a:endParaRPr>
              </a:p>
              <a:p>
                <a:pPr marL="0" indent="0">
                  <a:buNone/>
                </a:pPr>
                <a:r>
                  <a:rPr lang="zh-CN" altLang="en-US" sz="2400" dirty="0">
                    <a:solidFill>
                      <a:srgbClr val="FF0000"/>
                    </a:solidFill>
                    <a:latin typeface="Cambria Math" panose="02040503050406030204" pitchFamily="18" charset="0"/>
                    <a:cs typeface="Cambria Math" panose="02040503050406030204" pitchFamily="18" charset="0"/>
                  </a:rPr>
                  <a:t>（</a:t>
                </a:r>
                <a:r>
                  <a:rPr lang="en-US" altLang="zh-CN" sz="2400" dirty="0">
                    <a:solidFill>
                      <a:srgbClr val="FF0000"/>
                    </a:solidFill>
                    <a:latin typeface="Cambria Math" panose="02040503050406030204" pitchFamily="18" charset="0"/>
                    <a:cs typeface="Cambria Math" panose="02040503050406030204" pitchFamily="18" charset="0"/>
                  </a:rPr>
                  <a:t>10</a:t>
                </a:r>
                <a:r>
                  <a:rPr lang="zh-CN" altLang="en-US" sz="2400" dirty="0">
                    <a:solidFill>
                      <a:srgbClr val="FF0000"/>
                    </a:solidFill>
                    <a:latin typeface="Cambria Math" panose="02040503050406030204" pitchFamily="18" charset="0"/>
                    <a:cs typeface="Cambria Math" panose="02040503050406030204" pitchFamily="18" charset="0"/>
                  </a:rPr>
                  <a:t>分）</a:t>
                </a:r>
                <a:endParaRPr lang="en-US" altLang="zh-CN" sz="2400" dirty="0">
                  <a:solidFill>
                    <a:srgbClr val="FF0000"/>
                  </a:solidFill>
                  <a:latin typeface="Cambria Math" panose="02040503050406030204" pitchFamily="18" charset="0"/>
                  <a:cs typeface="Cambria Math" panose="02040503050406030204" pitchFamily="18" charset="0"/>
                </a:endParaRPr>
              </a:p>
              <a:p>
                <a:pPr marL="0" indent="0">
                  <a:buNone/>
                </a:pPr>
                <a:r>
                  <a:rPr lang="en-US" altLang="zh-CN" sz="2400" dirty="0">
                    <a:solidFill>
                      <a:srgbClr val="FF0000"/>
                    </a:solidFill>
                    <a:latin typeface="Cambria Math" panose="02040503050406030204" pitchFamily="18" charset="0"/>
                    <a:cs typeface="Cambria Math" panose="02040503050406030204" pitchFamily="18" charset="0"/>
                  </a:rPr>
                  <a:t>b.</a:t>
                </a:r>
                <a:r>
                  <a:rPr lang="zh-CN" altLang="en-US" sz="2400" dirty="0">
                    <a:latin typeface="Cambria Math" panose="02040503050406030204" pitchFamily="18" charset="0"/>
                    <a:cs typeface="Cambria Math" panose="02040503050406030204" pitchFamily="18" charset="0"/>
                  </a:rPr>
                  <a:t>对</a:t>
                </a:r>
                <a:r>
                  <a:rPr lang="zh-CN" altLang="en-US" sz="2400" dirty="0">
                    <a:latin typeface="Cambria Math" panose="02040503050406030204" pitchFamily="18" charset="0"/>
                    <a:cs typeface="Cambria Math" panose="02040503050406030204" pitchFamily="18" charset="0"/>
                  </a:rPr>
                  <a:t>前提消除蕴涵</a:t>
                </a:r>
                <a:r>
                  <a:rPr lang="zh-CN" altLang="en-US" sz="2400" dirty="0">
                    <a:latin typeface="Cambria Math" panose="02040503050406030204" pitchFamily="18" charset="0"/>
                    <a:cs typeface="Cambria Math" panose="02040503050406030204" pitchFamily="18" charset="0"/>
                  </a:rPr>
                  <a:t>词：</a:t>
                </a:r>
                <a:endParaRPr lang="zh-CN" altLang="en-US" sz="2400" dirty="0">
                  <a:latin typeface="Cambria Math" panose="02040503050406030204" pitchFamily="18" charset="0"/>
                  <a:cs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 ¬</m:t>
                      </m:r>
                      <m:r>
                        <a:rPr lang="en-US" altLang="zh-CN" sz="2400" i="1" dirty="0" smtClean="0">
                          <a:latin typeface="Cambria Math" panose="02040503050406030204" pitchFamily="18" charset="0"/>
                          <a:cs typeface="Cambria Math" panose="02040503050406030204" pitchFamily="18" charset="0"/>
                        </a:rPr>
                        <m:t>𝐻𝑜𝑟𝑠𝑒</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𝐴𝑛𝑖𝑚𝑎𝑙</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m:t>
                      </m:r>
                    </m:oMath>
                  </m:oMathPara>
                </a14:m>
                <a:endParaRPr lang="en-US" altLang="zh-CN" sz="2400" i="1" dirty="0" smtClean="0">
                  <a:latin typeface="Cambria Math" panose="02040503050406030204" pitchFamily="18" charset="0"/>
                  <a:cs typeface="Cambria Math" panose="02040503050406030204" pitchFamily="18" charset="0"/>
                </a:endParaRPr>
              </a:p>
              <a:p>
                <a:pPr marL="0" indent="0">
                  <a:buNone/>
                </a:pPr>
                <a:r>
                  <a:rPr lang="zh-CN" altLang="zh-CN" sz="2400" dirty="0">
                    <a:sym typeface="+mn-ea"/>
                  </a:rPr>
                  <a:t>删除全称量词</a:t>
                </a:r>
                <a:r>
                  <a:rPr lang="zh-CN" altLang="en-US" sz="2400" dirty="0">
                    <a:latin typeface="Cambria Math" panose="02040503050406030204" pitchFamily="18" charset="0"/>
                    <a:cs typeface="Cambria Math" panose="02040503050406030204" pitchFamily="18" charset="0"/>
                  </a:rPr>
                  <a:t>：</a:t>
                </a:r>
                <a:endParaRPr lang="zh-CN" altLang="en-US" sz="2400" dirty="0">
                  <a:latin typeface="Cambria Math" panose="02040503050406030204" pitchFamily="18" charset="0"/>
                  <a:cs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sz="2400" i="1" dirty="0" smtClean="0">
                          <a:latin typeface="Cambria Math" panose="02040503050406030204" pitchFamily="18" charset="0"/>
                          <a:ea typeface="MS Mincho" charset="0"/>
                          <a:cs typeface="Cambria Math" panose="02040503050406030204" pitchFamily="18" charset="0"/>
                        </a:rPr>
                        <m:t>①</m:t>
                      </m:r>
                      <m:r>
                        <a:rPr lang="en-US" altLang="zh-CN" sz="2400" i="1" dirty="0" smtClean="0">
                          <a:latin typeface="Cambria Math" panose="02040503050406030204" pitchFamily="18" charset="0"/>
                          <a:cs typeface="Cambria Math" panose="02040503050406030204" pitchFamily="18" charset="0"/>
                        </a:rPr>
                        <m:t>. ¬</m:t>
                      </m:r>
                      <m:r>
                        <a:rPr lang="en-US" altLang="zh-CN" sz="2400" i="1" dirty="0" smtClean="0">
                          <a:latin typeface="Cambria Math" panose="02040503050406030204" pitchFamily="18" charset="0"/>
                          <a:cs typeface="Cambria Math" panose="02040503050406030204" pitchFamily="18" charset="0"/>
                        </a:rPr>
                        <m:t>𝐻𝑜𝑟𝑠𝑒</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𝐴𝑛𝑖𝑚𝑎𝑙</m:t>
                      </m:r>
                      <m:r>
                        <a:rPr lang="en-US" altLang="zh-CN" sz="2400" i="1" dirty="0" smtClean="0">
                          <a:latin typeface="Cambria Math" panose="02040503050406030204" pitchFamily="18" charset="0"/>
                          <a:cs typeface="Cambria Math" panose="02040503050406030204" pitchFamily="18" charset="0"/>
                        </a:rPr>
                        <m:t>(</m:t>
                      </m:r>
                      <m:r>
                        <a:rPr lang="en-US" altLang="zh-CN" sz="2400" i="1" dirty="0" smtClean="0">
                          <a:latin typeface="Cambria Math" panose="02040503050406030204" pitchFamily="18" charset="0"/>
                          <a:cs typeface="Cambria Math" panose="02040503050406030204" pitchFamily="18" charset="0"/>
                        </a:rPr>
                        <m:t>𝑥</m:t>
                      </m:r>
                      <m:r>
                        <a:rPr lang="en-US" altLang="zh-CN" sz="2400" i="1" dirty="0" smtClean="0">
                          <a:latin typeface="Cambria Math" panose="02040503050406030204" pitchFamily="18" charset="0"/>
                          <a:cs typeface="Cambria Math" panose="02040503050406030204" pitchFamily="18" charset="0"/>
                        </a:rPr>
                        <m:t>)</m:t>
                      </m:r>
                    </m:oMath>
                  </m:oMathPara>
                </a14:m>
                <a:endParaRPr lang="en-US" altLang="zh-CN" sz="2400" i="1" dirty="0" smtClean="0">
                  <a:latin typeface="Cambria Math" panose="02040503050406030204" pitchFamily="18" charset="0"/>
                  <a:cs typeface="Cambria Math" panose="02040503050406030204" pitchFamily="18" charset="0"/>
                </a:endParaRPr>
              </a:p>
              <a:p>
                <a:pPr marL="0" indent="0">
                  <a:buNone/>
                </a:pPr>
                <a:endParaRPr lang="zh-CN" altLang="en-US" sz="2400" dirty="0">
                  <a:latin typeface="Cambria Math" panose="02040503050406030204" pitchFamily="18" charset="0"/>
                  <a:cs typeface="Cambria Math" panose="02040503050406030204" pitchFamily="18"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107315" y="908685"/>
                <a:ext cx="9057640" cy="4832985"/>
              </a:xfrm>
              <a:blipFill rotWithShape="1">
                <a:blip r:embed="rId1"/>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fld>
            <a:endParaRPr lang="en-US" altLang="zh-CN"/>
          </a:p>
        </p:txBody>
      </p:sp>
      <p:pic>
        <p:nvPicPr>
          <p:cNvPr id="5" name="图片 4"/>
          <p:cNvPicPr>
            <a:picLocks noChangeAspect="1"/>
          </p:cNvPicPr>
          <p:nvPr>
            <p:custDataLst>
              <p:tags r:id="rId2"/>
            </p:custDataLst>
          </p:nvPr>
        </p:nvPicPr>
        <p:blipFill>
          <a:blip r:embed="rId3"/>
          <a:srcRect l="6542" t="49113" r="23629" b="42366"/>
          <a:stretch>
            <a:fillRect/>
          </a:stretch>
        </p:blipFill>
        <p:spPr>
          <a:xfrm>
            <a:off x="4109085" y="3429000"/>
            <a:ext cx="4608830" cy="287655"/>
          </a:xfrm>
          <a:prstGeom prst="rect">
            <a:avLst/>
          </a:prstGeom>
          <a:ln>
            <a:solidFill>
              <a:srgbClr val="002060"/>
            </a:solidFill>
          </a:ln>
        </p:spPr>
      </p:pic>
      <p:sp>
        <p:nvSpPr>
          <p:cNvPr id="6" name="左箭头 5"/>
          <p:cNvSpPr/>
          <p:nvPr/>
        </p:nvSpPr>
        <p:spPr>
          <a:xfrm rot="19680000">
            <a:off x="3744595" y="3662680"/>
            <a:ext cx="360045" cy="75565"/>
          </a:xfrm>
          <a:prstGeom prst="lef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7850188" cy="1011238"/>
          </a:xfrm>
        </p:spPr>
        <p:txBody>
          <a:bodyPr/>
          <a:lstStyle/>
          <a:p>
            <a:r>
              <a:rPr lang="zh-CN" altLang="en-US" dirty="0" smtClean="0"/>
              <a:t>参考</a:t>
            </a:r>
            <a:r>
              <a:rPr lang="zh-CN" altLang="en-US" dirty="0" smtClean="0"/>
              <a:t>答案</a:t>
            </a:r>
            <a:endParaRPr lang="zh-CN" altLang="en-US" dirty="0" smtClean="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395605" y="900430"/>
                <a:ext cx="8747125" cy="5697220"/>
              </a:xfrm>
            </p:spPr>
            <p:txBody>
              <a:bodyPr/>
              <a:lstStyle/>
              <a:p>
                <a:r>
                  <a:rPr lang="en-US" altLang="zh-CN" sz="2400" dirty="0" smtClean="0"/>
                  <a:t>9.23</a:t>
                </a:r>
                <a:endParaRPr lang="en-US" altLang="zh-CN" sz="2400" dirty="0" smtClean="0"/>
              </a:p>
              <a:p>
                <a:pPr marL="0" indent="0">
                  <a:buNone/>
                </a:pPr>
                <a:r>
                  <a:rPr lang="zh-CN" altLang="en-US" sz="2000" dirty="0">
                    <a:latin typeface="Cambria Math" panose="02040503050406030204" pitchFamily="18" charset="0"/>
                    <a:cs typeface="Cambria Math" panose="02040503050406030204" pitchFamily="18" charset="0"/>
                  </a:rPr>
                  <a:t>否定结论：</a:t>
                </a:r>
                <a:endParaRPr lang="zh-CN" altLang="en-US" sz="2000" dirty="0">
                  <a:latin typeface="Cambria Math" panose="02040503050406030204" pitchFamily="18" charset="0"/>
                  <a:cs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sz="2000" i="1" dirty="0" smtClean="0">
                          <a:solidFill>
                            <a:srgbClr val="FFFF00"/>
                          </a:solidFill>
                          <a:highlight>
                            <a:srgbClr val="808080"/>
                          </a:highlight>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𝑥</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ℎ</m:t>
                      </m:r>
                      <m:r>
                        <a:rPr lang="en-US" altLang="zh-CN" sz="2000" i="1" dirty="0" smtClean="0">
                          <a:latin typeface="Cambria Math" panose="02040503050406030204" pitchFamily="18" charset="0"/>
                          <a:cs typeface="Cambria Math" panose="02040503050406030204" pitchFamily="18" charset="0"/>
                        </a:rPr>
                        <m:t> </m:t>
                      </m:r>
                      <m:r>
                        <a:rPr lang="en-US" altLang="zh-CN" sz="2000" i="1" dirty="0" smtClean="0">
                          <a:latin typeface="Cambria Math" panose="02040503050406030204" pitchFamily="18" charset="0"/>
                          <a:cs typeface="Cambria Math" panose="02040503050406030204" pitchFamily="18" charset="0"/>
                        </a:rPr>
                        <m:t>𝐻𝑜𝑟𝑠𝑒</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𝑥</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𝐻𝑒𝑎𝑑𝑂𝑓</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ℎ</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𝑥</m:t>
                      </m:r>
                      <m:r>
                        <a:rPr lang="en-US" altLang="zh-CN" sz="2000" i="1" dirty="0" smtClean="0">
                          <a:latin typeface="Cambria Math" panose="02040503050406030204" pitchFamily="18" charset="0"/>
                          <a:cs typeface="Cambria Math" panose="02040503050406030204" pitchFamily="18" charset="0"/>
                        </a:rPr>
                        <m:t>)⇒ ∃</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 </m:t>
                      </m:r>
                      <m:r>
                        <a:rPr lang="en-US" altLang="zh-CN" sz="2000" i="1" dirty="0" smtClean="0">
                          <a:latin typeface="Cambria Math" panose="02040503050406030204" pitchFamily="18" charset="0"/>
                          <a:cs typeface="Cambria Math" panose="02040503050406030204" pitchFamily="18" charset="0"/>
                        </a:rPr>
                        <m:t>𝐴𝑛𝑖𝑚𝑎𝑙</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 </m:t>
                      </m:r>
                      <m:r>
                        <a:rPr lang="en-US" altLang="zh-CN" sz="2000" i="1" dirty="0" smtClean="0">
                          <a:latin typeface="Cambria Math" panose="02040503050406030204" pitchFamily="18" charset="0"/>
                          <a:cs typeface="Cambria Math" panose="02040503050406030204" pitchFamily="18" charset="0"/>
                        </a:rPr>
                        <m:t>𝐻𝑒𝑎𝑑𝑂𝑓</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ℎ</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m:t>
                      </m:r>
                    </m:oMath>
                  </m:oMathPara>
                </a14:m>
                <a:endParaRPr lang="en-US" altLang="zh-CN" sz="2000" i="1" dirty="0" smtClean="0">
                  <a:latin typeface="Cambria Math" panose="02040503050406030204" pitchFamily="18" charset="0"/>
                  <a:cs typeface="Cambria Math" panose="02040503050406030204" pitchFamily="18" charset="0"/>
                </a:endParaRPr>
              </a:p>
              <a:p>
                <a:pPr marL="0" indent="0">
                  <a:buNone/>
                </a:pPr>
                <a:r>
                  <a:rPr lang="zh-CN" altLang="en-US" sz="2000" dirty="0">
                    <a:latin typeface="Cambria Math" panose="02040503050406030204" pitchFamily="18" charset="0"/>
                    <a:cs typeface="Cambria Math" panose="02040503050406030204" pitchFamily="18" charset="0"/>
                  </a:rPr>
                  <a:t>消除蕴涵词：</a:t>
                </a:r>
                <a:endParaRPr lang="en-US" altLang="zh-CN" sz="2000" dirty="0">
                  <a:latin typeface="Cambria Math" panose="02040503050406030204" pitchFamily="18" charset="0"/>
                  <a:cs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𝑥</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ℎ</m:t>
                      </m:r>
                      <m:r>
                        <a:rPr lang="en-US" altLang="zh-CN" sz="2000" i="1" dirty="0" smtClean="0">
                          <a:latin typeface="Cambria Math" panose="02040503050406030204" pitchFamily="18" charset="0"/>
                          <a:cs typeface="Cambria Math" panose="02040503050406030204" pitchFamily="18" charset="0"/>
                        </a:rPr>
                        <m:t> (</m:t>
                      </m:r>
                      <m:r>
                        <a:rPr lang="en-US" altLang="zh-CN" sz="2000" i="1" dirty="0" smtClean="0">
                          <a:solidFill>
                            <a:srgbClr val="FFFF00"/>
                          </a:solidFill>
                          <a:highlight>
                            <a:srgbClr val="808080"/>
                          </a:highlight>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𝐻𝑜𝑟𝑠𝑒</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𝑥</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𝐻𝑒𝑎𝑑𝑂𝑓</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ℎ</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𝑥</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solidFill>
                            <a:srgbClr val="FFFF00"/>
                          </a:solidFill>
                          <a:highlight>
                            <a:srgbClr val="808080"/>
                          </a:highlight>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 (</m:t>
                      </m:r>
                      <m:r>
                        <a:rPr lang="en-US" altLang="zh-CN" sz="2000" i="1" dirty="0" smtClean="0">
                          <a:latin typeface="Cambria Math" panose="02040503050406030204" pitchFamily="18" charset="0"/>
                          <a:cs typeface="Cambria Math" panose="02040503050406030204" pitchFamily="18" charset="0"/>
                        </a:rPr>
                        <m:t>𝐴𝑛𝑖𝑚𝑎𝑙</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 </m:t>
                      </m:r>
                      <m:r>
                        <a:rPr lang="en-US" altLang="zh-CN" sz="2000" i="1" dirty="0" smtClean="0">
                          <a:latin typeface="Cambria Math" panose="02040503050406030204" pitchFamily="18" charset="0"/>
                          <a:cs typeface="Cambria Math" panose="02040503050406030204" pitchFamily="18" charset="0"/>
                        </a:rPr>
                        <m:t>𝐻𝑒𝑎𝑑𝑂𝑓</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ℎ</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m:t>
                      </m:r>
                    </m:oMath>
                  </m:oMathPara>
                </a14:m>
                <a:endParaRPr lang="en-US" altLang="zh-CN" sz="2000" i="1" dirty="0" smtClean="0">
                  <a:latin typeface="Cambria Math" panose="02040503050406030204" pitchFamily="18" charset="0"/>
                  <a:cs typeface="Cambria Math" panose="02040503050406030204" pitchFamily="18" charset="0"/>
                </a:endParaRPr>
              </a:p>
              <a:p>
                <a:pPr marL="0" indent="0">
                  <a:buNone/>
                </a:pPr>
                <a:r>
                  <a:rPr lang="zh-CN" altLang="en-US" sz="2000" dirty="0">
                    <a:latin typeface="Cambria Math" panose="02040503050406030204" pitchFamily="18" charset="0"/>
                    <a:cs typeface="Cambria Math" panose="02040503050406030204" pitchFamily="18" charset="0"/>
                    <a:sym typeface="+mn-ea"/>
                  </a:rPr>
                  <a:t>将</a:t>
                </a:r>
                <a14:m>
                  <m:oMath xmlns:m="http://schemas.openxmlformats.org/officeDocument/2006/math">
                    <m:r>
                      <a:rPr lang="en-US" altLang="zh-CN" sz="2000" i="1" dirty="0" smtClean="0">
                        <a:latin typeface="Cambria Math" panose="02040503050406030204" pitchFamily="18" charset="0"/>
                        <a:cs typeface="Cambria Math" panose="02040503050406030204" pitchFamily="18" charset="0"/>
                      </a:rPr>
                      <m:t>¬</m:t>
                    </m:r>
                  </m:oMath>
                </a14:m>
                <a:r>
                  <a:rPr lang="zh-CN" altLang="en-US" sz="2000" dirty="0" smtClean="0">
                    <a:latin typeface="Cambria Math" panose="02040503050406030204" pitchFamily="18" charset="0"/>
                    <a:cs typeface="Cambria Math" panose="02040503050406030204" pitchFamily="18" charset="0"/>
                  </a:rPr>
                  <a:t>内移</a:t>
                </a:r>
                <a:r>
                  <a:rPr lang="zh-CN" altLang="en-US" sz="2000" dirty="0">
                    <a:latin typeface="Cambria Math" panose="02040503050406030204" pitchFamily="18" charset="0"/>
                    <a:cs typeface="Cambria Math" panose="02040503050406030204" pitchFamily="18" charset="0"/>
                    <a:sym typeface="+mn-ea"/>
                  </a:rPr>
                  <a:t>：</a:t>
                </a:r>
                <a:endParaRPr lang="zh-CN" altLang="en-US" sz="2000" dirty="0">
                  <a:latin typeface="Cambria Math" panose="02040503050406030204" pitchFamily="18" charset="0"/>
                  <a:cs typeface="Cambria Math" panose="02040503050406030204" pitchFamily="18" charset="0"/>
                  <a:sym typeface="+mn-ea"/>
                </a:endParaRPr>
              </a:p>
              <a:p>
                <a:pPr marL="0" indent="0">
                  <a:buNone/>
                </a:pPr>
                <a14:m>
                  <m:oMathPara xmlns:m="http://schemas.openxmlformats.org/officeDocument/2006/math">
                    <m:oMathParaPr>
                      <m:jc m:val="left"/>
                    </m:oMathParaPr>
                    <m:oMath xmlns:m="http://schemas.openxmlformats.org/officeDocument/2006/math">
                      <m:r>
                        <a:rPr lang="en-US" altLang="zh-CN" sz="2000" i="1" dirty="0" smtClean="0">
                          <a:solidFill>
                            <a:srgbClr val="FFFF00"/>
                          </a:solidFill>
                          <a:highlight>
                            <a:srgbClr val="808080"/>
                          </a:highlight>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𝑥</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ℎ</m:t>
                      </m:r>
                      <m:r>
                        <a:rPr lang="en-US" altLang="zh-CN" sz="2000" i="1" dirty="0" smtClean="0">
                          <a:solidFill>
                            <a:srgbClr val="FFFF00"/>
                          </a:solidFill>
                          <a:highlight>
                            <a:srgbClr val="808080"/>
                          </a:highlight>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 (¬(</m:t>
                      </m:r>
                      <m:r>
                        <a:rPr lang="en-US" altLang="zh-CN" sz="2000" i="1" dirty="0" smtClean="0">
                          <a:latin typeface="Cambria Math" panose="02040503050406030204" pitchFamily="18" charset="0"/>
                          <a:cs typeface="Cambria Math" panose="02040503050406030204" pitchFamily="18" charset="0"/>
                        </a:rPr>
                        <m:t>𝐻𝑜𝑟𝑠𝑒</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𝑥</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𝐻𝑒𝑎𝑑𝑂𝑓</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ℎ</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𝑥</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 (</m:t>
                      </m:r>
                      <m:r>
                        <a:rPr lang="en-US" altLang="zh-CN" sz="2000" i="1" dirty="0" smtClean="0">
                          <a:latin typeface="Cambria Math" panose="02040503050406030204" pitchFamily="18" charset="0"/>
                          <a:cs typeface="Cambria Math" panose="02040503050406030204" pitchFamily="18" charset="0"/>
                        </a:rPr>
                        <m:t>𝐴𝑛𝑖𝑚𝑎𝑙</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 </m:t>
                      </m:r>
                      <m:r>
                        <a:rPr lang="en-US" altLang="zh-CN" sz="2000" i="1" dirty="0" smtClean="0">
                          <a:latin typeface="Cambria Math" panose="02040503050406030204" pitchFamily="18" charset="0"/>
                          <a:cs typeface="Cambria Math" panose="02040503050406030204" pitchFamily="18" charset="0"/>
                        </a:rPr>
                        <m:t>𝐻𝑒𝑎𝑑𝑂𝑓</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ℎ</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m:t>
                      </m:r>
                    </m:oMath>
                  </m:oMathPara>
                </a14:m>
                <a:endParaRPr lang="en-US" altLang="zh-CN" sz="2000" i="1" dirty="0" smtClean="0">
                  <a:latin typeface="Cambria Math" panose="02040503050406030204" pitchFamily="18" charset="0"/>
                  <a:cs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𝑥</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ℎ</m:t>
                      </m:r>
                      <m:r>
                        <a:rPr lang="en-US" altLang="zh-CN" sz="2000" i="1" dirty="0" smtClean="0">
                          <a:latin typeface="Cambria Math" panose="02040503050406030204" pitchFamily="18" charset="0"/>
                          <a:cs typeface="Cambria Math" panose="02040503050406030204" pitchFamily="18" charset="0"/>
                        </a:rPr>
                        <m:t> (</m:t>
                      </m:r>
                      <m:r>
                        <a:rPr lang="en-US" altLang="zh-CN" sz="2000" i="1" dirty="0" smtClean="0">
                          <a:solidFill>
                            <a:srgbClr val="FFFF00"/>
                          </a:solidFill>
                          <a:highlight>
                            <a:srgbClr val="808080"/>
                          </a:highlight>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𝐻𝑜𝑟𝑠𝑒</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𝑥</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𝐻𝑒𝑎𝑑𝑂𝑓</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ℎ</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𝑥</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solidFill>
                            <a:srgbClr val="FFFF00"/>
                          </a:solidFill>
                          <a:highlight>
                            <a:srgbClr val="808080"/>
                          </a:highlight>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 (</m:t>
                      </m:r>
                      <m:r>
                        <a:rPr lang="en-US" altLang="zh-CN" sz="2000" i="1" dirty="0" smtClean="0">
                          <a:latin typeface="Cambria Math" panose="02040503050406030204" pitchFamily="18" charset="0"/>
                          <a:cs typeface="Cambria Math" panose="02040503050406030204" pitchFamily="18" charset="0"/>
                        </a:rPr>
                        <m:t>𝐴𝑛𝑖𝑚𝑎𝑙</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 </m:t>
                      </m:r>
                      <m:r>
                        <a:rPr lang="en-US" altLang="zh-CN" sz="2000" i="1" dirty="0" smtClean="0">
                          <a:latin typeface="Cambria Math" panose="02040503050406030204" pitchFamily="18" charset="0"/>
                          <a:cs typeface="Cambria Math" panose="02040503050406030204" pitchFamily="18" charset="0"/>
                        </a:rPr>
                        <m:t>𝐻𝑒𝑎𝑑𝑂𝑓</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ℎ</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m:t>
                      </m:r>
                    </m:oMath>
                  </m:oMathPara>
                </a14:m>
                <a:endParaRPr lang="en-US" altLang="zh-CN" sz="2000" i="1" dirty="0" smtClean="0">
                  <a:latin typeface="Cambria Math" panose="02040503050406030204" pitchFamily="18" charset="0"/>
                  <a:cs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𝑥</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ℎ</m:t>
                      </m:r>
                      <m:r>
                        <a:rPr lang="en-US" altLang="zh-CN" sz="2000" i="1" dirty="0" smtClean="0">
                          <a:latin typeface="Cambria Math" panose="02040503050406030204" pitchFamily="18" charset="0"/>
                          <a:cs typeface="Cambria Math" panose="02040503050406030204" pitchFamily="18" charset="0"/>
                        </a:rPr>
                        <m:t> (</m:t>
                      </m:r>
                      <m:r>
                        <a:rPr lang="en-US" altLang="zh-CN" sz="2000" i="1" dirty="0" smtClean="0">
                          <a:latin typeface="Cambria Math" panose="02040503050406030204" pitchFamily="18" charset="0"/>
                          <a:cs typeface="Cambria Math" panose="02040503050406030204" pitchFamily="18" charset="0"/>
                        </a:rPr>
                        <m:t>𝐻𝑜𝑟𝑠𝑒</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𝑥</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𝐻𝑒𝑎𝑑𝑂𝑓</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ℎ</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𝑥</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solidFill>
                            <a:srgbClr val="FFFF00"/>
                          </a:solidFill>
                          <a:highlight>
                            <a:srgbClr val="808080"/>
                          </a:highlight>
                          <a:latin typeface="Cambria Math" panose="02040503050406030204" pitchFamily="18" charset="0"/>
                          <a:cs typeface="Cambria Math" panose="02040503050406030204" pitchFamily="18" charset="0"/>
                        </a:rPr>
                        <m:t>∀</m:t>
                      </m:r>
                      <m:r>
                        <a:rPr lang="en-US" altLang="zh-CN" sz="2000" i="1" dirty="0" smtClean="0">
                          <a:solidFill>
                            <a:srgbClr val="FFFF00"/>
                          </a:solidFill>
                          <a:highlight>
                            <a:srgbClr val="808080"/>
                          </a:highlight>
                          <a:latin typeface="Cambria Math" panose="02040503050406030204" pitchFamily="18" charset="0"/>
                          <a:cs typeface="Cambria Math" panose="02040503050406030204" pitchFamily="18" charset="0"/>
                        </a:rPr>
                        <m:t>𝑦</m:t>
                      </m:r>
                      <m:r>
                        <a:rPr lang="en-US" altLang="zh-CN" sz="2000" i="1" dirty="0" smtClean="0">
                          <a:solidFill>
                            <a:srgbClr val="FFFF00"/>
                          </a:solidFill>
                          <a:highlight>
                            <a:srgbClr val="808080"/>
                          </a:highlight>
                          <a:latin typeface="Cambria Math" panose="02040503050406030204" pitchFamily="18" charset="0"/>
                          <a:cs typeface="Cambria Math" panose="02040503050406030204" pitchFamily="18" charset="0"/>
                        </a:rPr>
                        <m:t> ¬</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𝐴𝑛𝑖𝑚𝑎𝑙</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 </m:t>
                      </m:r>
                      <m:r>
                        <a:rPr lang="en-US" altLang="zh-CN" sz="2000" i="1" dirty="0" smtClean="0">
                          <a:latin typeface="Cambria Math" panose="02040503050406030204" pitchFamily="18" charset="0"/>
                          <a:cs typeface="Cambria Math" panose="02040503050406030204" pitchFamily="18" charset="0"/>
                        </a:rPr>
                        <m:t>𝐻𝑒𝑎𝑑𝑂𝑓</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ℎ</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m:t>
                      </m:r>
                    </m:oMath>
                  </m:oMathPara>
                </a14:m>
                <a:endParaRPr lang="en-US" altLang="zh-CN" sz="2000" i="1" dirty="0" smtClean="0">
                  <a:latin typeface="Cambria Math" panose="02040503050406030204" pitchFamily="18" charset="0"/>
                  <a:cs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𝑥</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ℎ</m:t>
                      </m:r>
                      <m:r>
                        <a:rPr lang="en-US" altLang="zh-CN" sz="2000" i="1" dirty="0" smtClean="0">
                          <a:latin typeface="Cambria Math" panose="02040503050406030204" pitchFamily="18" charset="0"/>
                          <a:cs typeface="Cambria Math" panose="02040503050406030204" pitchFamily="18" charset="0"/>
                        </a:rPr>
                        <m:t> (</m:t>
                      </m:r>
                      <m:r>
                        <a:rPr lang="en-US" altLang="zh-CN" sz="2000" i="1" dirty="0" smtClean="0">
                          <a:latin typeface="Cambria Math" panose="02040503050406030204" pitchFamily="18" charset="0"/>
                          <a:cs typeface="Cambria Math" panose="02040503050406030204" pitchFamily="18" charset="0"/>
                        </a:rPr>
                        <m:t>𝐻𝑜𝑟𝑠𝑒</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𝑥</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𝐻𝑒𝑎𝑑𝑂𝑓</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ℎ</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𝑥</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 (</m:t>
                      </m:r>
                      <m:r>
                        <a:rPr lang="en-US" altLang="zh-CN" sz="2000" i="1" dirty="0" smtClean="0">
                          <a:solidFill>
                            <a:srgbClr val="FFFF00"/>
                          </a:solidFill>
                          <a:highlight>
                            <a:srgbClr val="808080"/>
                          </a:highlight>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𝐴𝑛𝑖𝑚𝑎𝑙</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solidFill>
                            <a:srgbClr val="FFFF00"/>
                          </a:solidFill>
                          <a:highlight>
                            <a:srgbClr val="808080"/>
                          </a:highlight>
                          <a:latin typeface="Cambria Math" panose="02040503050406030204" pitchFamily="18" charset="0"/>
                          <a:cs typeface="Cambria Math" panose="02040503050406030204" pitchFamily="18" charset="0"/>
                        </a:rPr>
                        <m:t>∨¬</m:t>
                      </m:r>
                      <m:r>
                        <a:rPr lang="en-US" altLang="zh-CN" sz="2000" i="1" dirty="0" smtClean="0">
                          <a:solidFill>
                            <a:schemeClr val="accent1"/>
                          </a:solidFill>
                          <a:highlight>
                            <a:srgbClr val="00FFFF"/>
                          </a:highlight>
                          <a:latin typeface="Cambria Math" panose="02040503050406030204" pitchFamily="18" charset="0"/>
                          <a:cs typeface="Cambria Math" panose="02040503050406030204" pitchFamily="18" charset="0"/>
                        </a:rPr>
                        <m:t> </m:t>
                      </m:r>
                      <m:r>
                        <a:rPr lang="en-US" altLang="zh-CN" sz="2000" i="1" dirty="0" smtClean="0">
                          <a:latin typeface="Cambria Math" panose="02040503050406030204" pitchFamily="18" charset="0"/>
                          <a:cs typeface="Cambria Math" panose="02040503050406030204" pitchFamily="18" charset="0"/>
                        </a:rPr>
                        <m:t>𝐻𝑒𝑎𝑑𝑂𝑓</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ℎ</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m:t>
                      </m:r>
                    </m:oMath>
                  </m:oMathPara>
                </a14:m>
                <a:endParaRPr lang="en-US" altLang="zh-CN" sz="2000" i="1" dirty="0" smtClean="0">
                  <a:latin typeface="Cambria Math" panose="02040503050406030204" pitchFamily="18" charset="0"/>
                  <a:cs typeface="Cambria Math" panose="02040503050406030204" pitchFamily="18" charset="0"/>
                </a:endParaRPr>
              </a:p>
              <a:p>
                <a:pPr marL="0" indent="0">
                  <a:buNone/>
                </a:pPr>
                <a:r>
                  <a:rPr lang="zh-CN" altLang="en-US" sz="2000" dirty="0" smtClean="0">
                    <a:latin typeface="Cambria Math" panose="02040503050406030204" pitchFamily="18" charset="0"/>
                    <a:cs typeface="Cambria Math" panose="02040503050406030204" pitchFamily="18" charset="0"/>
                  </a:rPr>
                  <a:t>变量标准化：</a:t>
                </a:r>
                <a:endParaRPr lang="zh-CN" altLang="en-US" sz="2000" dirty="0" smtClean="0">
                  <a:latin typeface="Cambria Math" panose="02040503050406030204" pitchFamily="18" charset="0"/>
                  <a:cs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𝑥</m:t>
                      </m:r>
                      <m:r>
                        <a:rPr lang="en-US" altLang="zh-CN" sz="2000" i="1" dirty="0" smtClean="0">
                          <a:latin typeface="Cambria Math" panose="02040503050406030204" pitchFamily="18" charset="0"/>
                          <a:cs typeface="Cambria Math" panose="02040503050406030204" pitchFamily="18" charset="0"/>
                        </a:rPr>
                        <m:t>,</m:t>
                      </m:r>
                      <m:r>
                        <a:rPr lang="en-US" altLang="zh-CN" sz="2000" b="1" i="1" dirty="0" smtClean="0">
                          <a:latin typeface="Cambria Math" panose="02040503050406030204" pitchFamily="18" charset="0"/>
                          <a:cs typeface="Cambria Math" panose="02040503050406030204" pitchFamily="18" charset="0"/>
                        </a:rPr>
                        <m:t>ℎ</m:t>
                      </m:r>
                      <m:r>
                        <a:rPr lang="en-US" altLang="zh-CN" sz="2000" b="1" i="1" dirty="0" smtClean="0">
                          <a:latin typeface="Cambria Math" panose="02040503050406030204" pitchFamily="18" charset="0"/>
                          <a:cs typeface="Cambria Math" panose="02040503050406030204" pitchFamily="18" charset="0"/>
                        </a:rPr>
                        <m:t> </m:t>
                      </m:r>
                      <m:r>
                        <a:rPr lang="en-US" altLang="zh-CN" sz="2000" i="1" dirty="0" smtClean="0">
                          <a:solidFill>
                            <a:srgbClr val="FFFF00"/>
                          </a:solidFill>
                          <a:highlight>
                            <a:srgbClr val="808080"/>
                          </a:highlight>
                          <a:latin typeface="Cambria Math" panose="02040503050406030204" pitchFamily="18" charset="0"/>
                          <a:cs typeface="Cambria Math" panose="02040503050406030204" pitchFamily="18" charset="0"/>
                        </a:rPr>
                        <m:t>∀</m:t>
                      </m:r>
                      <m:r>
                        <a:rPr lang="en-US" altLang="zh-CN" sz="2000" i="1" dirty="0" smtClean="0">
                          <a:solidFill>
                            <a:srgbClr val="FFFF00"/>
                          </a:solidFill>
                          <a:highlight>
                            <a:srgbClr val="808080"/>
                          </a:highlight>
                          <a:latin typeface="Cambria Math" panose="02040503050406030204" pitchFamily="18" charset="0"/>
                          <a:cs typeface="Cambria Math" panose="02040503050406030204" pitchFamily="18" charset="0"/>
                        </a:rPr>
                        <m:t>𝑦</m:t>
                      </m:r>
                      <m:r>
                        <a:rPr lang="en-US" altLang="zh-CN" sz="2000" b="1" i="1" dirty="0" smtClean="0">
                          <a:latin typeface="Cambria Math" panose="02040503050406030204" pitchFamily="18" charset="0"/>
                          <a:cs typeface="Cambria Math" panose="02040503050406030204" pitchFamily="18" charset="0"/>
                        </a:rPr>
                        <m:t> </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𝐻𝑜𝑟𝑠𝑒</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𝑥</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𝐻𝑒𝑎𝑑𝑂𝑓</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ℎ</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𝑥</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𝐴𝑛𝑖𝑚𝑎𝑙</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 </m:t>
                      </m:r>
                      <m:r>
                        <a:rPr lang="en-US" altLang="zh-CN" sz="2000" i="1" dirty="0" smtClean="0">
                          <a:latin typeface="Cambria Math" panose="02040503050406030204" pitchFamily="18" charset="0"/>
                          <a:cs typeface="Cambria Math" panose="02040503050406030204" pitchFamily="18" charset="0"/>
                        </a:rPr>
                        <m:t>𝐻𝑒𝑎𝑑𝑂𝑓</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ℎ</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m:t>
                      </m:r>
                    </m:oMath>
                  </m:oMathPara>
                </a14:m>
                <a:endParaRPr lang="en-US" altLang="zh-CN" sz="2000" i="1" dirty="0" smtClean="0">
                  <a:latin typeface="Cambria Math" panose="02040503050406030204" pitchFamily="18" charset="0"/>
                  <a:cs typeface="Cambria Math" panose="02040503050406030204" pitchFamily="18" charset="0"/>
                </a:endParaRPr>
              </a:p>
              <a:p>
                <a:pPr marL="0" indent="0">
                  <a:buNone/>
                </a:pPr>
                <a:r>
                  <a:rPr lang="zh-CN" altLang="en-US" sz="2000" dirty="0" smtClean="0">
                    <a:latin typeface="Cambria Math" panose="02040503050406030204" pitchFamily="18" charset="0"/>
                    <a:cs typeface="Cambria Math" panose="02040503050406030204" pitchFamily="18" charset="0"/>
                  </a:rPr>
                  <a:t>Skolem化: </a:t>
                </a:r>
                <a:endParaRPr lang="en-US" altLang="zh-CN" sz="2000" i="1" dirty="0" smtClean="0">
                  <a:solidFill>
                    <a:srgbClr val="FFFF00"/>
                  </a:solidFill>
                  <a:highlight>
                    <a:srgbClr val="808080"/>
                  </a:highlight>
                  <a:latin typeface="Cambria Math" panose="02040503050406030204" pitchFamily="18" charset="0"/>
                  <a:cs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b="1" i="1" dirty="0" smtClean="0">
                          <a:latin typeface="Cambria Math" panose="02040503050406030204" pitchFamily="18" charset="0"/>
                          <a:cs typeface="Cambria Math" panose="02040503050406030204" pitchFamily="18" charset="0"/>
                        </a:rPr>
                        <m:t> </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𝐻𝑜𝑟𝑠𝑒</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solidFill>
                            <a:srgbClr val="FFFF00"/>
                          </a:solidFill>
                          <a:highlight>
                            <a:srgbClr val="808080"/>
                          </a:highlight>
                          <a:latin typeface="Cambria Math" panose="02040503050406030204" pitchFamily="18" charset="0"/>
                          <a:cs typeface="Cambria Math" panose="02040503050406030204" pitchFamily="18" charset="0"/>
                        </a:rPr>
                        <m:t>𝐺</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𝐻𝑒𝑎𝑑𝑂𝑓</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solidFill>
                            <a:srgbClr val="FFFF00"/>
                          </a:solidFill>
                          <a:highlight>
                            <a:srgbClr val="808080"/>
                          </a:highlight>
                          <a:latin typeface="Cambria Math" panose="02040503050406030204" pitchFamily="18" charset="0"/>
                          <a:cs typeface="Cambria Math" panose="02040503050406030204" pitchFamily="18" charset="0"/>
                        </a:rPr>
                        <m:t>𝐻</m:t>
                      </m:r>
                      <m:r>
                        <a:rPr lang="en-US" altLang="zh-CN" sz="2000" i="1" dirty="0" smtClean="0">
                          <a:solidFill>
                            <a:srgbClr val="FFFF00"/>
                          </a:solidFill>
                          <a:highlight>
                            <a:srgbClr val="808080"/>
                          </a:highlight>
                          <a:latin typeface="Cambria Math" panose="02040503050406030204" pitchFamily="18" charset="0"/>
                          <a:cs typeface="Cambria Math" panose="02040503050406030204" pitchFamily="18" charset="0"/>
                        </a:rPr>
                        <m:t>,</m:t>
                      </m:r>
                      <m:r>
                        <a:rPr lang="en-US" altLang="zh-CN" sz="2000" i="1" dirty="0" smtClean="0">
                          <a:solidFill>
                            <a:srgbClr val="FFFF00"/>
                          </a:solidFill>
                          <a:highlight>
                            <a:srgbClr val="808080"/>
                          </a:highlight>
                          <a:latin typeface="Cambria Math" panose="02040503050406030204" pitchFamily="18" charset="0"/>
                          <a:cs typeface="Cambria Math" panose="02040503050406030204" pitchFamily="18" charset="0"/>
                        </a:rPr>
                        <m:t>𝐺</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𝐴𝑛𝑖𝑚𝑎𝑙</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 </m:t>
                      </m:r>
                      <m:r>
                        <a:rPr lang="en-US" altLang="zh-CN" sz="2000" i="1" dirty="0" smtClean="0">
                          <a:latin typeface="Cambria Math" panose="02040503050406030204" pitchFamily="18" charset="0"/>
                          <a:cs typeface="Cambria Math" panose="02040503050406030204" pitchFamily="18" charset="0"/>
                        </a:rPr>
                        <m:t>𝐻𝑒𝑎𝑑𝑂𝑓</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solidFill>
                            <a:srgbClr val="FFFF00"/>
                          </a:solidFill>
                          <a:highlight>
                            <a:srgbClr val="808080"/>
                          </a:highlight>
                          <a:latin typeface="Cambria Math" panose="02040503050406030204" pitchFamily="18" charset="0"/>
                          <a:cs typeface="Cambria Math" panose="02040503050406030204" pitchFamily="18" charset="0"/>
                        </a:rPr>
                        <m:t>𝐻</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m:t>
                      </m:r>
                    </m:oMath>
                  </m:oMathPara>
                </a14:m>
                <a:endParaRPr lang="en-US" altLang="zh-CN" sz="2000" i="1" dirty="0" smtClean="0">
                  <a:latin typeface="Cambria Math" panose="02040503050406030204" pitchFamily="18" charset="0"/>
                  <a:cs typeface="Cambria Math" panose="02040503050406030204" pitchFamily="18" charset="0"/>
                </a:endParaRPr>
              </a:p>
              <a:p>
                <a:pPr marL="0" indent="0">
                  <a:buNone/>
                </a:pPr>
                <a:r>
                  <a:rPr lang="zh-CN" altLang="en-US" sz="2000" dirty="0" smtClean="0">
                    <a:latin typeface="Cambria Math" panose="02040503050406030204" pitchFamily="18" charset="0"/>
                    <a:cs typeface="Cambria Math" panose="02040503050406030204" pitchFamily="18" charset="0"/>
                  </a:rPr>
                  <a:t>删除全称量词：</a:t>
                </a:r>
                <a:endParaRPr lang="zh-CN" altLang="en-US" sz="2000" dirty="0" smtClean="0">
                  <a:latin typeface="Cambria Math" panose="02040503050406030204" pitchFamily="18" charset="0"/>
                  <a:cs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sz="2000" i="1" dirty="0" smtClean="0">
                          <a:latin typeface="Cambria Math" panose="02040503050406030204" pitchFamily="18" charset="0"/>
                          <a:cs typeface="Cambria Math" panose="02040503050406030204" pitchFamily="18" charset="0"/>
                        </a:rPr>
                        <m:t>𝐻𝑜𝑟𝑠𝑒</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𝐺</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𝐻𝑒𝑎𝑑𝑂𝑓</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𝐻</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𝐺</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𝐴𝑛𝑖𝑚𝑎𝑙</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 </m:t>
                      </m:r>
                      <m:r>
                        <a:rPr lang="en-US" altLang="zh-CN" sz="2000" i="1" dirty="0" smtClean="0">
                          <a:latin typeface="Cambria Math" panose="02040503050406030204" pitchFamily="18" charset="0"/>
                          <a:cs typeface="Cambria Math" panose="02040503050406030204" pitchFamily="18" charset="0"/>
                        </a:rPr>
                        <m:t>𝐻𝑒𝑎𝑑𝑂𝑓</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𝐻</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m:t>
                      </m:r>
                    </m:oMath>
                  </m:oMathPara>
                </a14:m>
                <a:endParaRPr lang="zh-CN" altLang="en-US" sz="2000" dirty="0" smtClean="0">
                  <a:latin typeface="Cambria Math" panose="02040503050406030204" pitchFamily="18" charset="0"/>
                  <a:cs typeface="Cambria Math" panose="02040503050406030204" pitchFamily="18" charset="0"/>
                </a:endParaRPr>
              </a:p>
              <a:p>
                <a:pPr marL="0" indent="0">
                  <a:buNone/>
                </a:pPr>
                <a:endParaRPr lang="en-US" altLang="zh-CN" sz="2000" i="1" dirty="0" smtClean="0">
                  <a:latin typeface="Cambria Math" panose="02040503050406030204" pitchFamily="18" charset="0"/>
                  <a:cs typeface="Cambria Math" panose="02040503050406030204" pitchFamily="18" charset="0"/>
                </a:endParaRPr>
              </a:p>
              <a:p>
                <a:pPr marL="0" indent="0">
                  <a:buNone/>
                </a:pPr>
                <a:endParaRPr lang="en-US" altLang="zh-CN" sz="2000" i="1" dirty="0" smtClean="0">
                  <a:latin typeface="Cambria Math" panose="02040503050406030204" pitchFamily="18" charset="0"/>
                  <a:cs typeface="Cambria Math" panose="02040503050406030204" pitchFamily="18" charset="0"/>
                </a:endParaRPr>
              </a:p>
              <a:p>
                <a:pPr marL="0" indent="0">
                  <a:buNone/>
                </a:pPr>
                <a:endParaRPr lang="en-US" altLang="zh-CN" sz="2000" dirty="0">
                  <a:latin typeface="Cambria Math" panose="02040503050406030204" pitchFamily="18" charset="0"/>
                  <a:cs typeface="Cambria Math" panose="02040503050406030204" pitchFamily="18" charset="0"/>
                </a:endParaRPr>
              </a:p>
              <a:p>
                <a:pPr marL="0" indent="0">
                  <a:buNone/>
                </a:pPr>
                <a:endParaRPr lang="en-US" altLang="zh-CN" sz="2000" i="1" dirty="0" smtClean="0">
                  <a:latin typeface="Cambria Math" panose="02040503050406030204" pitchFamily="18" charset="0"/>
                  <a:cs typeface="Cambria Math" panose="02040503050406030204" pitchFamily="18" charset="0"/>
                </a:endParaRPr>
              </a:p>
              <a:p>
                <a:pPr marL="0" indent="0">
                  <a:buNone/>
                </a:pPr>
                <a:endParaRPr lang="en-US" altLang="zh-CN" sz="2000" dirty="0">
                  <a:latin typeface="Cambria Math" panose="02040503050406030204" pitchFamily="18" charset="0"/>
                  <a:cs typeface="Cambria Math" panose="02040503050406030204" pitchFamily="18"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395605" y="900430"/>
                <a:ext cx="8747125" cy="5697220"/>
              </a:xfrm>
              <a:blipFill rotWithShape="1">
                <a:blip r:embed="rId1"/>
                <a:stretch>
                  <a:fillRect b="-2893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fld>
            <a:endParaRPr lang="en-US" altLang="zh-CN"/>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7850188" cy="1011238"/>
          </a:xfrm>
        </p:spPr>
        <p:txBody>
          <a:bodyPr/>
          <a:lstStyle/>
          <a:p>
            <a:r>
              <a:rPr lang="zh-CN" altLang="en-US" dirty="0" smtClean="0"/>
              <a:t>参考</a:t>
            </a:r>
            <a:r>
              <a:rPr lang="zh-CN" altLang="en-US" dirty="0" smtClean="0"/>
              <a:t>答案</a:t>
            </a:r>
            <a:endParaRPr lang="zh-CN" altLang="en-US" dirty="0" smtClean="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395605" y="900430"/>
                <a:ext cx="8747125" cy="5697220"/>
              </a:xfrm>
            </p:spPr>
            <p:txBody>
              <a:bodyPr/>
              <a:lstStyle/>
              <a:p>
                <a:r>
                  <a:rPr lang="en-US" altLang="zh-CN" sz="2400" dirty="0" smtClean="0"/>
                  <a:t>9.23</a:t>
                </a:r>
                <a:endParaRPr lang="en-US" altLang="zh-CN" sz="2400" dirty="0" smtClean="0"/>
              </a:p>
              <a:p>
                <a:pPr marL="0" indent="0">
                  <a:buNone/>
                </a:pPr>
                <a:r>
                  <a:rPr lang="zh-CN" altLang="en-US" sz="2000" dirty="0">
                    <a:latin typeface="Cambria Math" panose="02040503050406030204" pitchFamily="18" charset="0"/>
                    <a:cs typeface="Cambria Math" panose="02040503050406030204" pitchFamily="18" charset="0"/>
                  </a:rPr>
                  <a:t>否定结论合取范式的三个子句为：</a:t>
                </a:r>
                <a:endParaRPr lang="zh-CN" altLang="en-US" sz="2000" dirty="0">
                  <a:latin typeface="Cambria Math" panose="02040503050406030204" pitchFamily="18" charset="0"/>
                  <a:cs typeface="Cambria Math" panose="02040503050406030204" pitchFamily="18" charset="0"/>
                </a:endParaRPr>
              </a:p>
              <a:p>
                <a:pPr marL="0" indent="0">
                  <a:buNone/>
                </a:pPr>
                <a:r>
                  <a:rPr lang="en-US" altLang="zh-CN" sz="2000" dirty="0" smtClean="0">
                    <a:latin typeface="Calibri" panose="020F0502020204030204" charset="0"/>
                    <a:cs typeface="Cambria Math" panose="02040503050406030204" pitchFamily="18" charset="0"/>
                  </a:rPr>
                  <a:t>②</a:t>
                </a:r>
                <a:r>
                  <a:rPr lang="en-US" altLang="zh-CN" sz="2000" i="1" dirty="0" smtClean="0">
                    <a:latin typeface="Cambria Math" panose="02040503050406030204" pitchFamily="18" charset="0"/>
                    <a:cs typeface="Cambria Math" panose="02040503050406030204" pitchFamily="18" charset="0"/>
                  </a:rPr>
                  <a:t>. </a:t>
                </a:r>
                <a14:m>
                  <m:oMath xmlns:m="http://schemas.openxmlformats.org/officeDocument/2006/math">
                    <m:r>
                      <a:rPr lang="en-US" altLang="zh-CN" sz="2000" i="1" dirty="0" smtClean="0">
                        <a:latin typeface="Cambria Math" panose="02040503050406030204" pitchFamily="18" charset="0"/>
                        <a:cs typeface="Cambria Math" panose="02040503050406030204" pitchFamily="18" charset="0"/>
                      </a:rPr>
                      <m:t>𝐻𝑜𝑟𝑠𝑒</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𝐺</m:t>
                    </m:r>
                    <m:r>
                      <a:rPr lang="en-US" altLang="zh-CN" sz="2000" i="1" dirty="0" smtClean="0">
                        <a:latin typeface="Cambria Math" panose="02040503050406030204" pitchFamily="18" charset="0"/>
                        <a:cs typeface="Cambria Math" panose="02040503050406030204" pitchFamily="18" charset="0"/>
                      </a:rPr>
                      <m:t>)</m:t>
                    </m:r>
                  </m:oMath>
                </a14:m>
                <a:endParaRPr lang="en-US" altLang="zh-CN" sz="2000" i="1" dirty="0" smtClean="0">
                  <a:latin typeface="Cambria Math" panose="02040503050406030204" pitchFamily="18" charset="0"/>
                  <a:cs typeface="Cambria Math" panose="02040503050406030204" pitchFamily="18" charset="0"/>
                </a:endParaRPr>
              </a:p>
              <a:p>
                <a:pPr marL="0" indent="0">
                  <a:buNone/>
                </a:pPr>
                <a:r>
                  <a:rPr lang="en-US" altLang="zh-CN" sz="2000" dirty="0" smtClean="0">
                    <a:latin typeface="Calibri" panose="020F0502020204030204" charset="0"/>
                    <a:cs typeface="Cambria Math" panose="02040503050406030204" pitchFamily="18" charset="0"/>
                  </a:rPr>
                  <a:t>③</a:t>
                </a:r>
                <a:r>
                  <a:rPr lang="en-US" altLang="zh-CN" sz="2000" i="1" dirty="0" smtClean="0">
                    <a:latin typeface="Cambria Math" panose="02040503050406030204" pitchFamily="18" charset="0"/>
                    <a:cs typeface="Cambria Math" panose="02040503050406030204" pitchFamily="18" charset="0"/>
                  </a:rPr>
                  <a:t>. </a:t>
                </a:r>
                <a14:m>
                  <m:oMath xmlns:m="http://schemas.openxmlformats.org/officeDocument/2006/math">
                    <m:r>
                      <a:rPr lang="en-US" altLang="zh-CN" sz="2000" i="1" dirty="0" smtClean="0">
                        <a:latin typeface="Cambria Math" panose="02040503050406030204" pitchFamily="18" charset="0"/>
                        <a:cs typeface="Cambria Math" panose="02040503050406030204" pitchFamily="18" charset="0"/>
                      </a:rPr>
                      <m:t>𝐻𝑒𝑎𝑑𝑂𝑓</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𝐻</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𝐺</m:t>
                    </m:r>
                    <m:r>
                      <a:rPr lang="en-US" altLang="zh-CN" sz="2000" i="1" dirty="0" smtClean="0">
                        <a:latin typeface="Cambria Math" panose="02040503050406030204" pitchFamily="18" charset="0"/>
                        <a:cs typeface="Cambria Math" panose="02040503050406030204" pitchFamily="18" charset="0"/>
                      </a:rPr>
                      <m:t>)</m:t>
                    </m:r>
                  </m:oMath>
                </a14:m>
                <a:endParaRPr lang="en-US" altLang="zh-CN" sz="2000" i="1" dirty="0" smtClean="0">
                  <a:latin typeface="Cambria Math" panose="02040503050406030204" pitchFamily="18" charset="0"/>
                  <a:cs typeface="Cambria Math" panose="02040503050406030204" pitchFamily="18" charset="0"/>
                </a:endParaRPr>
              </a:p>
              <a:p>
                <a:pPr marL="0" indent="0">
                  <a:buNone/>
                </a:pPr>
                <a:r>
                  <a:rPr lang="zh-CN" altLang="en-US" sz="2000" dirty="0" smtClean="0">
                    <a:latin typeface="Cambria Math" panose="02040503050406030204" pitchFamily="18" charset="0"/>
                    <a:cs typeface="Cambria Math" panose="02040503050406030204" pitchFamily="18" charset="0"/>
                  </a:rPr>
                  <a:t>④</a:t>
                </a:r>
                <a:r>
                  <a:rPr lang="en-US" altLang="zh-CN" sz="2000" i="1" dirty="0" smtClean="0">
                    <a:latin typeface="Cambria Math" panose="02040503050406030204" pitchFamily="18" charset="0"/>
                    <a:cs typeface="Cambria Math" panose="02040503050406030204" pitchFamily="18" charset="0"/>
                  </a:rPr>
                  <a:t>.</a:t>
                </a:r>
                <a14:m>
                  <m:oMath xmlns:m="http://schemas.openxmlformats.org/officeDocument/2006/math">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𝐴𝑛𝑖𝑚𝑎𝑙</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 </m:t>
                    </m:r>
                    <m:r>
                      <a:rPr lang="en-US" altLang="zh-CN" sz="2000" i="1" dirty="0" smtClean="0">
                        <a:latin typeface="Cambria Math" panose="02040503050406030204" pitchFamily="18" charset="0"/>
                        <a:cs typeface="Cambria Math" panose="02040503050406030204" pitchFamily="18" charset="0"/>
                      </a:rPr>
                      <m:t>𝐻𝑒𝑎𝑑𝑂𝑓</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𝐻</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𝑦</m:t>
                    </m:r>
                    <m:r>
                      <a:rPr lang="en-US" altLang="zh-CN" sz="2000" i="1" dirty="0" smtClean="0">
                        <a:latin typeface="Cambria Math" panose="02040503050406030204" pitchFamily="18" charset="0"/>
                        <a:cs typeface="Cambria Math" panose="02040503050406030204" pitchFamily="18" charset="0"/>
                      </a:rPr>
                      <m:t>)</m:t>
                    </m:r>
                  </m:oMath>
                </a14:m>
                <a:endParaRPr lang="en-US" altLang="zh-CN" sz="2000" i="1" dirty="0" smtClean="0">
                  <a:latin typeface="Cambria Math" panose="02040503050406030204" pitchFamily="18" charset="0"/>
                  <a:cs typeface="Cambria Math" panose="02040503050406030204" pitchFamily="18" charset="0"/>
                </a:endParaRPr>
              </a:p>
              <a:p>
                <a:pPr marL="0" indent="0">
                  <a:buNone/>
                </a:pPr>
                <a:r>
                  <a:rPr lang="zh-CN" altLang="en-US" sz="2000" dirty="0">
                    <a:highlight>
                      <a:srgbClr val="C0C0C0"/>
                    </a:highlight>
                    <a:latin typeface="Cambria Math" panose="02040503050406030204" pitchFamily="18" charset="0"/>
                    <a:cs typeface="Cambria Math" panose="02040503050406030204" pitchFamily="18" charset="0"/>
                  </a:rPr>
                  <a:t>否定前提合取范式的一个子句为：</a:t>
                </a:r>
                <a:endParaRPr lang="zh-CN" altLang="en-US" sz="2000" dirty="0">
                  <a:highlight>
                    <a:srgbClr val="C0C0C0"/>
                  </a:highlight>
                  <a:latin typeface="Cambria Math" panose="02040503050406030204" pitchFamily="18" charset="0"/>
                  <a:cs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sz="2000" i="1" dirty="0" smtClean="0">
                          <a:highlight>
                            <a:srgbClr val="C0C0C0"/>
                          </a:highlight>
                          <a:latin typeface="Cambria Math" panose="02040503050406030204" pitchFamily="18" charset="0"/>
                          <a:ea typeface="MS Mincho" charset="0"/>
                          <a:cs typeface="Cambria Math" panose="02040503050406030204" pitchFamily="18" charset="0"/>
                        </a:rPr>
                        <m:t>①</m:t>
                      </m:r>
                      <m:r>
                        <a:rPr lang="en-US" altLang="zh-CN" sz="2000" i="1" dirty="0" smtClean="0">
                          <a:highlight>
                            <a:srgbClr val="C0C0C0"/>
                          </a:highlight>
                          <a:latin typeface="Cambria Math" panose="02040503050406030204" pitchFamily="18" charset="0"/>
                          <a:cs typeface="Cambria Math" panose="02040503050406030204" pitchFamily="18" charset="0"/>
                        </a:rPr>
                        <m:t>. ¬</m:t>
                      </m:r>
                      <m:r>
                        <a:rPr lang="en-US" altLang="zh-CN" sz="2000" i="1" dirty="0" smtClean="0">
                          <a:highlight>
                            <a:srgbClr val="C0C0C0"/>
                          </a:highlight>
                          <a:latin typeface="Cambria Math" panose="02040503050406030204" pitchFamily="18" charset="0"/>
                          <a:cs typeface="Cambria Math" panose="02040503050406030204" pitchFamily="18" charset="0"/>
                        </a:rPr>
                        <m:t>𝐻𝑜𝑟𝑠𝑒</m:t>
                      </m:r>
                      <m:r>
                        <a:rPr lang="en-US" altLang="zh-CN" sz="2000" i="1" dirty="0" smtClean="0">
                          <a:highlight>
                            <a:srgbClr val="C0C0C0"/>
                          </a:highlight>
                          <a:latin typeface="Cambria Math" panose="02040503050406030204" pitchFamily="18" charset="0"/>
                          <a:cs typeface="Cambria Math" panose="02040503050406030204" pitchFamily="18" charset="0"/>
                        </a:rPr>
                        <m:t>(</m:t>
                      </m:r>
                      <m:r>
                        <a:rPr lang="en-US" altLang="zh-CN" sz="2000" i="1" dirty="0" smtClean="0">
                          <a:highlight>
                            <a:srgbClr val="C0C0C0"/>
                          </a:highlight>
                          <a:latin typeface="Cambria Math" panose="02040503050406030204" pitchFamily="18" charset="0"/>
                          <a:cs typeface="Cambria Math" panose="02040503050406030204" pitchFamily="18" charset="0"/>
                        </a:rPr>
                        <m:t>𝑥</m:t>
                      </m:r>
                      <m:r>
                        <a:rPr lang="en-US" altLang="zh-CN" sz="2000" i="1" dirty="0" smtClean="0">
                          <a:highlight>
                            <a:srgbClr val="C0C0C0"/>
                          </a:highlight>
                          <a:latin typeface="Cambria Math" panose="02040503050406030204" pitchFamily="18" charset="0"/>
                          <a:cs typeface="Cambria Math" panose="02040503050406030204" pitchFamily="18" charset="0"/>
                        </a:rPr>
                        <m:t>)∨</m:t>
                      </m:r>
                      <m:r>
                        <a:rPr lang="en-US" altLang="zh-CN" sz="2000" i="1" dirty="0" smtClean="0">
                          <a:highlight>
                            <a:srgbClr val="C0C0C0"/>
                          </a:highlight>
                          <a:latin typeface="Cambria Math" panose="02040503050406030204" pitchFamily="18" charset="0"/>
                          <a:cs typeface="Cambria Math" panose="02040503050406030204" pitchFamily="18" charset="0"/>
                        </a:rPr>
                        <m:t>𝐴𝑛𝑖𝑚𝑎𝑙</m:t>
                      </m:r>
                      <m:r>
                        <a:rPr lang="en-US" altLang="zh-CN" sz="2000" i="1" dirty="0" smtClean="0">
                          <a:highlight>
                            <a:srgbClr val="C0C0C0"/>
                          </a:highlight>
                          <a:latin typeface="Cambria Math" panose="02040503050406030204" pitchFamily="18" charset="0"/>
                          <a:cs typeface="Cambria Math" panose="02040503050406030204" pitchFamily="18" charset="0"/>
                        </a:rPr>
                        <m:t>(</m:t>
                      </m:r>
                      <m:r>
                        <a:rPr lang="en-US" altLang="zh-CN" sz="2000" i="1" dirty="0" smtClean="0">
                          <a:highlight>
                            <a:srgbClr val="C0C0C0"/>
                          </a:highlight>
                          <a:latin typeface="Cambria Math" panose="02040503050406030204" pitchFamily="18" charset="0"/>
                          <a:cs typeface="Cambria Math" panose="02040503050406030204" pitchFamily="18" charset="0"/>
                        </a:rPr>
                        <m:t>𝑥</m:t>
                      </m:r>
                      <m:r>
                        <a:rPr lang="en-US" altLang="zh-CN" sz="2000" i="1" dirty="0" smtClean="0">
                          <a:highlight>
                            <a:srgbClr val="C0C0C0"/>
                          </a:highlight>
                          <a:latin typeface="Cambria Math" panose="02040503050406030204" pitchFamily="18" charset="0"/>
                          <a:cs typeface="Cambria Math" panose="02040503050406030204" pitchFamily="18" charset="0"/>
                        </a:rPr>
                        <m:t>)</m:t>
                      </m:r>
                    </m:oMath>
                  </m:oMathPara>
                </a14:m>
                <a:endParaRPr lang="en-US" altLang="zh-CN" sz="2000" i="1" dirty="0" smtClean="0">
                  <a:highlight>
                    <a:srgbClr val="C0C0C0"/>
                  </a:highlight>
                  <a:latin typeface="Cambria Math" panose="02040503050406030204" pitchFamily="18" charset="0"/>
                  <a:cs typeface="Cambria Math" panose="02040503050406030204" pitchFamily="18" charset="0"/>
                </a:endParaRPr>
              </a:p>
              <a:p>
                <a:pPr marL="0" indent="0">
                  <a:buNone/>
                </a:pPr>
                <a:r>
                  <a:rPr lang="zh-CN" altLang="en-US" sz="2000" dirty="0" smtClean="0">
                    <a:solidFill>
                      <a:srgbClr val="FF0000"/>
                    </a:solidFill>
                    <a:latin typeface="Cambria Math" panose="02040503050406030204" pitchFamily="18" charset="0"/>
                    <a:cs typeface="Cambria Math" panose="02040503050406030204" pitchFamily="18" charset="0"/>
                  </a:rPr>
                  <a:t>（</a:t>
                </a:r>
                <a:r>
                  <a:rPr lang="en-US" altLang="zh-CN" sz="2000" dirty="0" smtClean="0">
                    <a:solidFill>
                      <a:srgbClr val="FF0000"/>
                    </a:solidFill>
                    <a:latin typeface="Cambria Math" panose="02040503050406030204" pitchFamily="18" charset="0"/>
                    <a:cs typeface="Cambria Math" panose="02040503050406030204" pitchFamily="18" charset="0"/>
                  </a:rPr>
                  <a:t>20</a:t>
                </a:r>
                <a:r>
                  <a:rPr lang="zh-CN" altLang="en-US" sz="2000" dirty="0" smtClean="0">
                    <a:solidFill>
                      <a:srgbClr val="FF0000"/>
                    </a:solidFill>
                    <a:latin typeface="Cambria Math" panose="02040503050406030204" pitchFamily="18" charset="0"/>
                    <a:cs typeface="Cambria Math" panose="02040503050406030204" pitchFamily="18" charset="0"/>
                  </a:rPr>
                  <a:t>分，过程</a:t>
                </a:r>
                <a:r>
                  <a:rPr lang="en-US" altLang="zh-CN" sz="2000" dirty="0" smtClean="0">
                    <a:solidFill>
                      <a:srgbClr val="FF0000"/>
                    </a:solidFill>
                    <a:latin typeface="Cambria Math" panose="02040503050406030204" pitchFamily="18" charset="0"/>
                    <a:cs typeface="Cambria Math" panose="02040503050406030204" pitchFamily="18" charset="0"/>
                  </a:rPr>
                  <a:t>10</a:t>
                </a:r>
                <a:r>
                  <a:rPr lang="zh-CN" altLang="en-US" sz="2000" dirty="0" smtClean="0">
                    <a:solidFill>
                      <a:srgbClr val="FF0000"/>
                    </a:solidFill>
                    <a:latin typeface="Cambria Math" panose="02040503050406030204" pitchFamily="18" charset="0"/>
                    <a:cs typeface="Cambria Math" panose="02040503050406030204" pitchFamily="18" charset="0"/>
                  </a:rPr>
                  <a:t>分）</a:t>
                </a:r>
                <a:endParaRPr lang="en-US" altLang="zh-CN" sz="2000" dirty="0" smtClean="0">
                  <a:solidFill>
                    <a:srgbClr val="FF0000"/>
                  </a:solidFill>
                  <a:latin typeface="Cambria Math" panose="02040503050406030204" pitchFamily="18" charset="0"/>
                  <a:cs typeface="Cambria Math" panose="02040503050406030204" pitchFamily="18" charset="0"/>
                </a:endParaRPr>
              </a:p>
              <a:p>
                <a:pPr marL="0" indent="0">
                  <a:buNone/>
                </a:pPr>
                <a:r>
                  <a:rPr lang="en-US" altLang="zh-CN" sz="2000" dirty="0">
                    <a:solidFill>
                      <a:srgbClr val="FF0000"/>
                    </a:solidFill>
                    <a:latin typeface="Cambria Math" panose="02040503050406030204" pitchFamily="18" charset="0"/>
                    <a:cs typeface="Cambria Math" panose="02040503050406030204" pitchFamily="18" charset="0"/>
                  </a:rPr>
                  <a:t>c. </a:t>
                </a:r>
                <a:r>
                  <a:rPr lang="en-US" altLang="zh-CN" sz="2000" dirty="0">
                    <a:solidFill>
                      <a:schemeClr val="tx1"/>
                    </a:solidFill>
                    <a:latin typeface="Cambria Math" panose="02040503050406030204" pitchFamily="18" charset="0"/>
                    <a:cs typeface="Cambria Math" panose="02040503050406030204" pitchFamily="18" charset="0"/>
                  </a:rPr>
                  <a:t>c1.  </a:t>
                </a:r>
                <a14:m>
                  <m:oMath xmlns:m="http://schemas.openxmlformats.org/officeDocument/2006/math">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𝐴𝑛𝑖𝑚𝑎𝑙</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𝐺</m:t>
                    </m:r>
                    <m:r>
                      <a:rPr lang="en-US" altLang="zh-CN" sz="2000" i="1" dirty="0" smtClean="0">
                        <a:latin typeface="Cambria Math" panose="02040503050406030204" pitchFamily="18" charset="0"/>
                        <a:cs typeface="Cambria Math" panose="02040503050406030204" pitchFamily="18" charset="0"/>
                      </a:rPr>
                      <m:t>)</m:t>
                    </m:r>
                  </m:oMath>
                </a14:m>
                <a:r>
                  <a:rPr lang="en-US" altLang="zh-CN" sz="2000" dirty="0">
                    <a:solidFill>
                      <a:srgbClr val="FF0000"/>
                    </a:solidFill>
                    <a:latin typeface="Cambria Math" panose="02040503050406030204" pitchFamily="18" charset="0"/>
                    <a:cs typeface="Cambria Math" panose="02040503050406030204" pitchFamily="18" charset="0"/>
                  </a:rPr>
                  <a:t>      </a:t>
                </a:r>
                <a:r>
                  <a:rPr lang="en-US" altLang="zh-CN" sz="2000" dirty="0">
                    <a:solidFill>
                      <a:schemeClr val="tx1"/>
                    </a:solidFill>
                    <a:latin typeface="Cambria Math" panose="02040503050406030204" pitchFamily="18" charset="0"/>
                    <a:cs typeface="Cambria Math" panose="02040503050406030204" pitchFamily="18" charset="0"/>
                  </a:rPr>
                  <a:t>    </a:t>
                </a:r>
                <a:r>
                  <a:rPr lang="en-US" altLang="zh-CN" sz="2000" dirty="0" smtClean="0">
                    <a:latin typeface="Calibri" panose="020F0502020204030204" charset="0"/>
                    <a:cs typeface="Cambria Math" panose="02040503050406030204" pitchFamily="18" charset="0"/>
                    <a:sym typeface="+mn-ea"/>
                  </a:rPr>
                  <a:t>③</a:t>
                </a:r>
                <a:r>
                  <a:rPr lang="zh-CN" altLang="en-US" sz="2000" dirty="0">
                    <a:solidFill>
                      <a:schemeClr val="tx1"/>
                    </a:solidFill>
                    <a:latin typeface="Cambria Math" panose="02040503050406030204" pitchFamily="18" charset="0"/>
                    <a:cs typeface="Cambria Math" panose="02040503050406030204" pitchFamily="18" charset="0"/>
                  </a:rPr>
                  <a:t>和</a:t>
                </a:r>
                <a:r>
                  <a:rPr lang="zh-CN" altLang="en-US" sz="2000" dirty="0" smtClean="0">
                    <a:latin typeface="Cambria Math" panose="02040503050406030204" pitchFamily="18" charset="0"/>
                    <a:cs typeface="Cambria Math" panose="02040503050406030204" pitchFamily="18" charset="0"/>
                    <a:sym typeface="+mn-ea"/>
                  </a:rPr>
                  <a:t>④</a:t>
                </a:r>
                <a:r>
                  <a:rPr lang="zh-CN" altLang="en-US" sz="2000" dirty="0">
                    <a:solidFill>
                      <a:schemeClr val="tx1"/>
                    </a:solidFill>
                    <a:latin typeface="Cambria Math" panose="02040503050406030204" pitchFamily="18" charset="0"/>
                    <a:cs typeface="Cambria Math" panose="02040503050406030204" pitchFamily="18" charset="0"/>
                  </a:rPr>
                  <a:t>归结</a:t>
                </a:r>
                <a:r>
                  <a:rPr lang="en-US" altLang="zh-CN" sz="2000" dirty="0">
                    <a:solidFill>
                      <a:schemeClr val="tx1"/>
                    </a:solidFill>
                    <a:latin typeface="Cambria Math" panose="02040503050406030204" pitchFamily="18" charset="0"/>
                    <a:cs typeface="Cambria Math" panose="02040503050406030204" pitchFamily="18" charset="0"/>
                  </a:rPr>
                  <a:t>{y/G} </a:t>
                </a:r>
                <a:endParaRPr lang="en-US" altLang="zh-CN" sz="2000" dirty="0">
                  <a:solidFill>
                    <a:schemeClr val="tx1"/>
                  </a:solidFill>
                  <a:latin typeface="Cambria Math" panose="02040503050406030204" pitchFamily="18" charset="0"/>
                  <a:cs typeface="Cambria Math" panose="02040503050406030204" pitchFamily="18" charset="0"/>
                </a:endParaRPr>
              </a:p>
              <a:p>
                <a:pPr marL="0" indent="0">
                  <a:buNone/>
                </a:pPr>
                <a:r>
                  <a:rPr lang="en-US" altLang="zh-CN" sz="2000" dirty="0">
                    <a:solidFill>
                      <a:schemeClr val="tx1"/>
                    </a:solidFill>
                    <a:latin typeface="Cambria Math" panose="02040503050406030204" pitchFamily="18" charset="0"/>
                    <a:cs typeface="Cambria Math" panose="02040503050406030204" pitchFamily="18" charset="0"/>
                  </a:rPr>
                  <a:t>    </a:t>
                </a:r>
                <a:r>
                  <a:rPr lang="en-US" altLang="zh-CN" sz="2000" dirty="0">
                    <a:solidFill>
                      <a:schemeClr val="tx1"/>
                    </a:solidFill>
                    <a:latin typeface="Cambria Math" panose="02040503050406030204" pitchFamily="18" charset="0"/>
                    <a:cs typeface="Cambria Math" panose="02040503050406030204" pitchFamily="18" charset="0"/>
                    <a:sym typeface="+mn-ea"/>
                  </a:rPr>
                  <a:t>c2.  </a:t>
                </a:r>
                <a14:m>
                  <m:oMath xmlns:m="http://schemas.openxmlformats.org/officeDocument/2006/math">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𝐻𝑜𝑟𝑠𝑒</m:t>
                    </m:r>
                    <m:r>
                      <a:rPr lang="en-US" altLang="zh-CN" sz="2000" i="1" dirty="0" smtClean="0">
                        <a:latin typeface="Cambria Math" panose="02040503050406030204" pitchFamily="18" charset="0"/>
                        <a:cs typeface="Cambria Math" panose="02040503050406030204" pitchFamily="18" charset="0"/>
                      </a:rPr>
                      <m:t>(</m:t>
                    </m:r>
                    <m:r>
                      <a:rPr lang="en-US" altLang="zh-CN" sz="2000" i="1" dirty="0" smtClean="0">
                        <a:latin typeface="Cambria Math" panose="02040503050406030204" pitchFamily="18" charset="0"/>
                        <a:cs typeface="Cambria Math" panose="02040503050406030204" pitchFamily="18" charset="0"/>
                      </a:rPr>
                      <m:t>𝐺</m:t>
                    </m:r>
                    <m:r>
                      <a:rPr lang="en-US" altLang="zh-CN" sz="2000" i="1" dirty="0" smtClean="0">
                        <a:latin typeface="Cambria Math" panose="02040503050406030204" pitchFamily="18" charset="0"/>
                        <a:cs typeface="Cambria Math" panose="02040503050406030204" pitchFamily="18" charset="0"/>
                      </a:rPr>
                      <m:t>)</m:t>
                    </m:r>
                  </m:oMath>
                </a14:m>
                <a:r>
                  <a:rPr lang="en-US" altLang="zh-CN" sz="2000" dirty="0">
                    <a:solidFill>
                      <a:srgbClr val="FF0000"/>
                    </a:solidFill>
                    <a:latin typeface="Cambria Math" panose="02040503050406030204" pitchFamily="18" charset="0"/>
                    <a:cs typeface="Cambria Math" panose="02040503050406030204" pitchFamily="18" charset="0"/>
                    <a:sym typeface="+mn-ea"/>
                  </a:rPr>
                  <a:t>      </a:t>
                </a:r>
                <a:r>
                  <a:rPr lang="en-US" altLang="zh-CN" sz="2000" dirty="0">
                    <a:solidFill>
                      <a:schemeClr val="tx1"/>
                    </a:solidFill>
                    <a:latin typeface="Cambria Math" panose="02040503050406030204" pitchFamily="18" charset="0"/>
                    <a:cs typeface="Cambria Math" panose="02040503050406030204" pitchFamily="18" charset="0"/>
                    <a:sym typeface="+mn-ea"/>
                  </a:rPr>
                  <a:t>      c1</a:t>
                </a:r>
                <a:r>
                  <a:rPr lang="zh-CN" altLang="en-US" sz="2000" dirty="0">
                    <a:solidFill>
                      <a:schemeClr val="tx1"/>
                    </a:solidFill>
                    <a:latin typeface="Cambria Math" panose="02040503050406030204" pitchFamily="18" charset="0"/>
                    <a:cs typeface="Cambria Math" panose="02040503050406030204" pitchFamily="18" charset="0"/>
                    <a:sym typeface="+mn-ea"/>
                  </a:rPr>
                  <a:t>和</a:t>
                </a:r>
                <a:r>
                  <a:rPr lang="zh-CN" altLang="en-US" sz="2000" dirty="0">
                    <a:solidFill>
                      <a:schemeClr val="tx1"/>
                    </a:solidFill>
                    <a:latin typeface="Calibri" panose="020F0502020204030204" charset="0"/>
                    <a:cs typeface="Cambria Math" panose="02040503050406030204" pitchFamily="18" charset="0"/>
                    <a:sym typeface="+mn-ea"/>
                  </a:rPr>
                  <a:t>①</a:t>
                </a:r>
                <a:r>
                  <a:rPr lang="zh-CN" altLang="en-US" sz="2000" dirty="0">
                    <a:solidFill>
                      <a:schemeClr val="tx1"/>
                    </a:solidFill>
                    <a:latin typeface="Cambria Math" panose="02040503050406030204" pitchFamily="18" charset="0"/>
                    <a:cs typeface="Cambria Math" panose="02040503050406030204" pitchFamily="18" charset="0"/>
                    <a:sym typeface="+mn-ea"/>
                  </a:rPr>
                  <a:t>归结</a:t>
                </a:r>
                <a:r>
                  <a:rPr lang="en-US" altLang="zh-CN" sz="2000" dirty="0">
                    <a:solidFill>
                      <a:schemeClr val="tx1"/>
                    </a:solidFill>
                    <a:latin typeface="Cambria Math" panose="02040503050406030204" pitchFamily="18" charset="0"/>
                    <a:cs typeface="Cambria Math" panose="02040503050406030204" pitchFamily="18" charset="0"/>
                    <a:sym typeface="+mn-ea"/>
                  </a:rPr>
                  <a:t>{x/G} </a:t>
                </a:r>
                <a:endParaRPr lang="en-US" altLang="zh-CN" sz="2000" dirty="0">
                  <a:solidFill>
                    <a:schemeClr val="tx1"/>
                  </a:solidFill>
                  <a:latin typeface="Cambria Math" panose="02040503050406030204" pitchFamily="18" charset="0"/>
                  <a:cs typeface="Cambria Math" panose="02040503050406030204" pitchFamily="18" charset="0"/>
                  <a:sym typeface="+mn-ea"/>
                </a:endParaRPr>
              </a:p>
              <a:p>
                <a:pPr marL="0" indent="0">
                  <a:buNone/>
                </a:pPr>
                <a:r>
                  <a:rPr lang="en-US" altLang="zh-CN" sz="2000" dirty="0">
                    <a:solidFill>
                      <a:schemeClr val="tx1"/>
                    </a:solidFill>
                    <a:latin typeface="Cambria Math" panose="02040503050406030204" pitchFamily="18" charset="0"/>
                    <a:cs typeface="Cambria Math" panose="02040503050406030204" pitchFamily="18" charset="0"/>
                    <a:sym typeface="+mn-ea"/>
                  </a:rPr>
                  <a:t>    c3. </a:t>
                </a:r>
                <a:r>
                  <a:rPr lang="en-US" altLang="zh-CN" sz="2000" i="1" dirty="0" smtClean="0">
                    <a:latin typeface="Cambria Math" panose="02040503050406030204" pitchFamily="18" charset="0"/>
                    <a:cs typeface="Cambria Math" panose="02040503050406030204" pitchFamily="18" charset="0"/>
                    <a:sym typeface="+mn-ea"/>
                  </a:rPr>
                  <a:t>NIL   </a:t>
                </a:r>
                <a:r>
                  <a:rPr lang="en-US" altLang="zh-CN" sz="2000" dirty="0">
                    <a:solidFill>
                      <a:schemeClr val="tx1"/>
                    </a:solidFill>
                    <a:latin typeface="Cambria Math" panose="02040503050406030204" pitchFamily="18" charset="0"/>
                    <a:cs typeface="Cambria Math" panose="02040503050406030204" pitchFamily="18" charset="0"/>
                    <a:sym typeface="+mn-ea"/>
                  </a:rPr>
                  <a:t>                          c2</a:t>
                </a:r>
                <a:r>
                  <a:rPr lang="zh-CN" altLang="en-US" sz="2000" dirty="0">
                    <a:solidFill>
                      <a:schemeClr val="tx1"/>
                    </a:solidFill>
                    <a:latin typeface="Cambria Math" panose="02040503050406030204" pitchFamily="18" charset="0"/>
                    <a:cs typeface="Cambria Math" panose="02040503050406030204" pitchFamily="18" charset="0"/>
                    <a:sym typeface="+mn-ea"/>
                  </a:rPr>
                  <a:t>和</a:t>
                </a:r>
                <a:r>
                  <a:rPr lang="en-US" altLang="zh-CN" sz="2000" dirty="0" smtClean="0">
                    <a:latin typeface="Calibri" panose="020F0502020204030204" charset="0"/>
                    <a:cs typeface="Cambria Math" panose="02040503050406030204" pitchFamily="18" charset="0"/>
                    <a:sym typeface="+mn-ea"/>
                  </a:rPr>
                  <a:t>②</a:t>
                </a:r>
                <a:r>
                  <a:rPr lang="zh-CN" altLang="en-US" sz="2000" dirty="0">
                    <a:solidFill>
                      <a:schemeClr val="tx1"/>
                    </a:solidFill>
                    <a:latin typeface="Cambria Math" panose="02040503050406030204" pitchFamily="18" charset="0"/>
                    <a:cs typeface="Cambria Math" panose="02040503050406030204" pitchFamily="18" charset="0"/>
                    <a:sym typeface="+mn-ea"/>
                  </a:rPr>
                  <a:t>归结</a:t>
                </a:r>
                <a:r>
                  <a:rPr lang="en-US" altLang="zh-CN" sz="2000" dirty="0">
                    <a:solidFill>
                      <a:schemeClr val="tx1"/>
                    </a:solidFill>
                    <a:latin typeface="Cambria Math" panose="02040503050406030204" pitchFamily="18" charset="0"/>
                    <a:cs typeface="Cambria Math" panose="02040503050406030204" pitchFamily="18" charset="0"/>
                    <a:sym typeface="+mn-ea"/>
                  </a:rPr>
                  <a:t> {}</a:t>
                </a:r>
                <a:endParaRPr lang="zh-CN" altLang="en-US" sz="2000" dirty="0">
                  <a:solidFill>
                    <a:schemeClr val="tx1"/>
                  </a:solidFill>
                  <a:latin typeface="Cambria Math" panose="02040503050406030204" pitchFamily="18" charset="0"/>
                  <a:cs typeface="Cambria Math" panose="02040503050406030204" pitchFamily="18" charset="0"/>
                </a:endParaRPr>
              </a:p>
              <a:p>
                <a:pPr marL="0" indent="0">
                  <a:buNone/>
                </a:pPr>
                <a:r>
                  <a:rPr lang="zh-CN" altLang="en-US" sz="2000" dirty="0">
                    <a:solidFill>
                      <a:schemeClr val="tx1"/>
                    </a:solidFill>
                    <a:latin typeface="Cambria Math" panose="02040503050406030204" pitchFamily="18" charset="0"/>
                    <a:cs typeface="Cambria Math" panose="02040503050406030204" pitchFamily="18" charset="0"/>
                  </a:rPr>
                  <a:t>故根据“马是动物”，可以得到“一匹马的头是一只动物的头”</a:t>
                </a:r>
                <a:endParaRPr lang="zh-CN" altLang="en-US" sz="2000" dirty="0">
                  <a:solidFill>
                    <a:schemeClr val="tx1"/>
                  </a:solidFill>
                  <a:latin typeface="Cambria Math" panose="02040503050406030204" pitchFamily="18" charset="0"/>
                  <a:cs typeface="Cambria Math" panose="02040503050406030204" pitchFamily="18" charset="0"/>
                </a:endParaRPr>
              </a:p>
              <a:p>
                <a:pPr marL="0" indent="0">
                  <a:buNone/>
                </a:pPr>
                <a:r>
                  <a:rPr lang="zh-CN" altLang="en-US" sz="2000" dirty="0">
                    <a:solidFill>
                      <a:schemeClr val="tx1"/>
                    </a:solidFill>
                    <a:latin typeface="Cambria Math" panose="02040503050406030204" pitchFamily="18" charset="0"/>
                    <a:cs typeface="Cambria Math" panose="02040503050406030204" pitchFamily="18" charset="0"/>
                  </a:rPr>
                  <a:t>的推理有效。</a:t>
                </a:r>
                <a:endParaRPr lang="zh-CN" altLang="en-US" sz="2000" dirty="0">
                  <a:solidFill>
                    <a:schemeClr val="tx1"/>
                  </a:solidFill>
                  <a:latin typeface="Cambria Math" panose="02040503050406030204" pitchFamily="18" charset="0"/>
                  <a:cs typeface="Cambria Math" panose="02040503050406030204" pitchFamily="18" charset="0"/>
                </a:endParaRPr>
              </a:p>
              <a:p>
                <a:pPr marL="0" indent="0">
                  <a:buNone/>
                </a:pPr>
                <a:r>
                  <a:rPr lang="zh-CN" altLang="en-US" sz="2000" dirty="0" smtClean="0">
                    <a:solidFill>
                      <a:srgbClr val="FF0000"/>
                    </a:solidFill>
                    <a:latin typeface="Cambria Math" panose="02040503050406030204" pitchFamily="18" charset="0"/>
                    <a:cs typeface="Cambria Math" panose="02040503050406030204" pitchFamily="18" charset="0"/>
                  </a:rPr>
                  <a:t>（10分）</a:t>
                </a:r>
                <a:endParaRPr lang="zh-CN" altLang="en-US" sz="2000" dirty="0" smtClean="0">
                  <a:solidFill>
                    <a:srgbClr val="FF0000"/>
                  </a:solidFill>
                  <a:latin typeface="Cambria Math" panose="02040503050406030204" pitchFamily="18" charset="0"/>
                  <a:cs typeface="Cambria Math" panose="02040503050406030204" pitchFamily="18" charset="0"/>
                </a:endParaRPr>
              </a:p>
              <a:p>
                <a:pPr marL="0" indent="0">
                  <a:buNone/>
                </a:pPr>
                <a:endParaRPr lang="en-US" altLang="zh-CN" sz="2000" i="1" dirty="0" smtClean="0">
                  <a:latin typeface="Cambria Math" panose="02040503050406030204" pitchFamily="18" charset="0"/>
                  <a:cs typeface="Cambria Math" panose="02040503050406030204" pitchFamily="18" charset="0"/>
                </a:endParaRPr>
              </a:p>
              <a:p>
                <a:pPr marL="0" indent="0">
                  <a:buNone/>
                </a:pPr>
                <a:endParaRPr lang="en-US" altLang="zh-CN" sz="2000" dirty="0">
                  <a:latin typeface="Cambria Math" panose="02040503050406030204" pitchFamily="18" charset="0"/>
                  <a:cs typeface="Cambria Math" panose="02040503050406030204" pitchFamily="18"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395605" y="900430"/>
                <a:ext cx="8747125" cy="5697220"/>
              </a:xfrm>
              <a:blipFill rotWithShape="1">
                <a:blip r:embed="rId1"/>
                <a:stretch>
                  <a:fillRect b="-6353"/>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fld>
            <a:endParaRPr lang="en-US" altLang="zh-CN"/>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68035" y="-27305"/>
            <a:ext cx="3285490" cy="1011555"/>
          </a:xfrm>
        </p:spPr>
        <p:txBody>
          <a:bodyPr/>
          <a:lstStyle/>
          <a:p>
            <a:r>
              <a:rPr lang="zh-CN" altLang="en-US" dirty="0" smtClean="0"/>
              <a:t>参考</a:t>
            </a:r>
            <a:r>
              <a:rPr lang="zh-CN" altLang="en-US" dirty="0" smtClean="0"/>
              <a:t>答案</a:t>
            </a:r>
            <a:endParaRPr lang="zh-CN" altLang="en-US" dirty="0" smtClean="0"/>
          </a:p>
        </p:txBody>
      </p:sp>
      <p:sp>
        <p:nvSpPr>
          <p:cNvPr id="3" name="内容占位符 2"/>
          <p:cNvSpPr>
            <a:spLocks noGrp="1"/>
          </p:cNvSpPr>
          <p:nvPr>
            <p:ph idx="1"/>
          </p:nvPr>
        </p:nvSpPr>
        <p:spPr>
          <a:xfrm>
            <a:off x="5724525" y="836930"/>
            <a:ext cx="4277360" cy="5697220"/>
          </a:xfrm>
        </p:spPr>
        <p:txBody>
          <a:bodyPr/>
          <a:lstStyle/>
          <a:p>
            <a:pPr marL="0" indent="0">
              <a:buNone/>
            </a:pPr>
            <a:r>
              <a:rPr lang="en-US" altLang="zh-CN" sz="2400" dirty="0" smtClean="0"/>
              <a:t>9.23 </a:t>
            </a:r>
            <a:r>
              <a:rPr lang="zh-CN" altLang="en-US" sz="2400" dirty="0" smtClean="0"/>
              <a:t>最终答案</a:t>
            </a:r>
            <a:r>
              <a:rPr lang="zh-CN" altLang="en-US" sz="2400" dirty="0" smtClean="0"/>
              <a:t>样例</a:t>
            </a:r>
            <a:endParaRPr lang="zh-CN" altLang="en-US" sz="2400" dirty="0" smtClean="0"/>
          </a:p>
        </p:txBody>
      </p:sp>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fld>
            <a:endParaRPr lang="en-US" altLang="zh-CN"/>
          </a:p>
        </p:txBody>
      </p:sp>
      <p:pic>
        <p:nvPicPr>
          <p:cNvPr id="7" name="图片 6"/>
          <p:cNvPicPr>
            <a:picLocks noChangeAspect="1"/>
          </p:cNvPicPr>
          <p:nvPr>
            <p:custDataLst>
              <p:tags r:id="rId1"/>
            </p:custDataLst>
          </p:nvPr>
        </p:nvPicPr>
        <p:blipFill>
          <a:blip r:embed="rId2"/>
          <a:srcRect r="3645"/>
          <a:stretch>
            <a:fillRect/>
          </a:stretch>
        </p:blipFill>
        <p:spPr>
          <a:xfrm>
            <a:off x="107950" y="260985"/>
            <a:ext cx="4685030" cy="91376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35560" y="1116330"/>
            <a:ext cx="5563235" cy="5738495"/>
          </a:xfrm>
          <a:prstGeom prst="rect">
            <a:avLst/>
          </a:prstGeom>
        </p:spPr>
      </p:pic>
      <p:pic>
        <p:nvPicPr>
          <p:cNvPr id="6" name="图片 5"/>
          <p:cNvPicPr>
            <a:picLocks noChangeAspect="1"/>
          </p:cNvPicPr>
          <p:nvPr>
            <p:custDataLst>
              <p:tags r:id="rId5"/>
            </p:custDataLst>
          </p:nvPr>
        </p:nvPicPr>
        <p:blipFill>
          <a:blip r:embed="rId6"/>
          <a:stretch>
            <a:fillRect/>
          </a:stretch>
        </p:blipFill>
        <p:spPr>
          <a:xfrm>
            <a:off x="3708400" y="5854065"/>
            <a:ext cx="5459095" cy="1003935"/>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2195830" y="1628775"/>
            <a:ext cx="4622800" cy="1645920"/>
          </a:xfrm>
        </p:spPr>
        <p:txBody>
          <a:bodyPr/>
          <a:lstStyle/>
          <a:p>
            <a:pPr eaLnBrk="1" hangingPunct="1"/>
            <a:r>
              <a:rPr lang="zh-CN" altLang="en-US" dirty="0" smtClean="0"/>
              <a:t>谢谢大家</a:t>
            </a:r>
            <a:endParaRPr lang="zh-CN" altLang="en-US" dirty="0" smtClean="0"/>
          </a:p>
        </p:txBody>
      </p:sp>
      <p:sp>
        <p:nvSpPr>
          <p:cNvPr id="4" name="灯片编号占位符 3"/>
          <p:cNvSpPr>
            <a:spLocks noGrp="1"/>
          </p:cNvSpPr>
          <p:nvPr>
            <p:ph type="sldNum" sz="quarter" idx="12"/>
          </p:nvPr>
        </p:nvSpPr>
        <p:spPr/>
        <p:txBody>
          <a:bodyPr/>
          <a:lstStyle/>
          <a:p>
            <a:pPr>
              <a:defRPr/>
            </a:pPr>
            <a:fld id="{B17FBB78-3332-4880-866E-0A3F9B2B4E82}" type="slidenum">
              <a:rPr lang="en-US" altLang="zh-CN" smtClean="0"/>
            </a:fld>
            <a:endParaRPr lang="en-US" altLang="zh-CN"/>
          </a:p>
        </p:txBody>
      </p:sp>
      <p:sp>
        <p:nvSpPr>
          <p:cNvPr id="2" name="副标题 1"/>
          <p:cNvSpPr/>
          <p:nvPr>
            <p:ph type="subTitle" idx="1"/>
          </p:nvPr>
        </p:nvSpPr>
        <p:spPr/>
        <p:txBody>
          <a:bodyPr/>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commondata" val="eyJoZGlkIjoiMDI0ODRlOTgzZTg4MjNhNjBlMDVhYzI2MzkzZGEyYmMifQ=="/>
</p:tagLst>
</file>

<file path=ppt/theme/theme1.xml><?xml version="1.0" encoding="utf-8"?>
<a:theme xmlns:a="http://schemas.openxmlformats.org/drawingml/2006/main" name="平面">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Arial"/>
        <a:ea typeface="微软雅黑"/>
        <a:cs typeface=""/>
      </a:majorFont>
      <a:minorFont>
        <a:latin typeface="Arial"/>
        <a:ea typeface="微软雅黑"/>
        <a:cs typeface=""/>
      </a:minorFont>
    </a:fontScheme>
    <a:fmtScheme name="平面">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5806</Words>
  <Application>WPS 演示</Application>
  <PresentationFormat>全屏显示(4:3)</PresentationFormat>
  <Paragraphs>363</Paragraphs>
  <Slides>20</Slides>
  <Notes>36</Notes>
  <HiddenSlides>1</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20</vt:i4>
      </vt:variant>
    </vt:vector>
  </HeadingPairs>
  <TitlesOfParts>
    <vt:vector size="35" baseType="lpstr">
      <vt:lpstr>Arial</vt:lpstr>
      <vt:lpstr>宋体</vt:lpstr>
      <vt:lpstr>Wingdings</vt:lpstr>
      <vt:lpstr>微软雅黑</vt:lpstr>
      <vt:lpstr>Wingdings 3</vt:lpstr>
      <vt:lpstr>Times New Roman</vt:lpstr>
      <vt:lpstr>Cambria Math</vt:lpstr>
      <vt:lpstr>Symbol</vt:lpstr>
      <vt:lpstr>Arial</vt:lpstr>
      <vt:lpstr>Comic Sans MS</vt:lpstr>
      <vt:lpstr>Arial Unicode MS</vt:lpstr>
      <vt:lpstr>MS Mincho</vt:lpstr>
      <vt:lpstr>Calibri</vt:lpstr>
      <vt:lpstr>Segoe Print</vt:lpstr>
      <vt:lpstr>平面</vt:lpstr>
      <vt:lpstr>人工智能 第八九章习题讲解</vt:lpstr>
      <vt:lpstr>目录</vt:lpstr>
      <vt:lpstr>一阶逻辑的语法</vt:lpstr>
      <vt:lpstr>全称量词转换</vt:lpstr>
      <vt:lpstr>存在量词转换</vt:lpstr>
      <vt:lpstr>示例：合一(Unification)</vt:lpstr>
      <vt:lpstr>合一(Unification)</vt:lpstr>
      <vt:lpstr>将语句转换成CNF</vt:lpstr>
      <vt:lpstr>一阶逻辑的归结</vt:lpstr>
      <vt:lpstr>成绩统计</vt:lpstr>
      <vt:lpstr>作业</vt:lpstr>
      <vt:lpstr>参考答案</vt:lpstr>
      <vt:lpstr>作业</vt:lpstr>
      <vt:lpstr>参考答案</vt:lpstr>
      <vt:lpstr>作业</vt:lpstr>
      <vt:lpstr>参考答案</vt:lpstr>
      <vt:lpstr>参考答案</vt:lpstr>
      <vt:lpstr>参考答案</vt:lpstr>
      <vt:lpstr>参考答案</vt:lpstr>
      <vt:lpstr>谢谢大家</vt:lpstr>
    </vt:vector>
  </TitlesOfParts>
  <Company>csit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wt</dc:creator>
  <cp:lastModifiedBy>xp</cp:lastModifiedBy>
  <cp:revision>800</cp:revision>
  <dcterms:created xsi:type="dcterms:W3CDTF">1999-05-06T08:46:00Z</dcterms:created>
  <dcterms:modified xsi:type="dcterms:W3CDTF">2024-01-06T05:36:39Z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FA97D7B9F58841CF9086862A2EFECC88_12</vt:lpwstr>
  </property>
  <property fmtid="{D5CDD505-2E9C-101B-9397-08002B2CF9AE}" pid="3" name="KSOProductBuildVer">
    <vt:lpwstr>2052-12.1.0.16120</vt:lpwstr>
  </property>
</Properties>
</file>