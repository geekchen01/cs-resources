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7" r:id="rId1"/>
  </p:sldMasterIdLst>
  <p:notesMasterIdLst>
    <p:notesMasterId r:id="rId27"/>
  </p:notesMasterIdLst>
  <p:handoutMasterIdLst>
    <p:handoutMasterId r:id="rId28"/>
  </p:handoutMasterIdLst>
  <p:sldIdLst>
    <p:sldId id="660" r:id="rId2"/>
    <p:sldId id="732" r:id="rId3"/>
    <p:sldId id="665" r:id="rId4"/>
    <p:sldId id="666" r:id="rId5"/>
    <p:sldId id="667" r:id="rId6"/>
    <p:sldId id="669" r:id="rId7"/>
    <p:sldId id="670" r:id="rId8"/>
    <p:sldId id="671" r:id="rId9"/>
    <p:sldId id="672" r:id="rId10"/>
    <p:sldId id="673" r:id="rId11"/>
    <p:sldId id="676" r:id="rId12"/>
    <p:sldId id="677" r:id="rId13"/>
    <p:sldId id="674" r:id="rId14"/>
    <p:sldId id="668" r:id="rId15"/>
    <p:sldId id="769" r:id="rId16"/>
    <p:sldId id="679" r:id="rId17"/>
    <p:sldId id="770" r:id="rId18"/>
    <p:sldId id="771" r:id="rId19"/>
    <p:sldId id="777" r:id="rId20"/>
    <p:sldId id="778" r:id="rId21"/>
    <p:sldId id="779" r:id="rId22"/>
    <p:sldId id="780" r:id="rId23"/>
    <p:sldId id="772" r:id="rId24"/>
    <p:sldId id="773" r:id="rId25"/>
    <p:sldId id="781" r:id="rId2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挺" initials="w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CC"/>
    <a:srgbClr val="006600"/>
    <a:srgbClr val="FFFFFF"/>
    <a:srgbClr val="CC0000"/>
    <a:srgbClr val="CC0066"/>
    <a:srgbClr val="FF3300"/>
    <a:srgbClr val="66FFFF"/>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3" autoAdjust="0"/>
    <p:restoredTop sz="82918" autoAdjust="0"/>
  </p:normalViewPr>
  <p:slideViewPr>
    <p:cSldViewPr>
      <p:cViewPr varScale="1">
        <p:scale>
          <a:sx n="131" d="100"/>
          <a:sy n="131" d="100"/>
        </p:scale>
        <p:origin x="2664" y="1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4" d="100"/>
          <a:sy n="64" d="100"/>
        </p:scale>
        <p:origin x="-2400"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28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GB"/>
          </a:p>
        </p:txBody>
      </p:sp>
      <p:sp>
        <p:nvSpPr>
          <p:cNvPr id="16281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GB"/>
          </a:p>
        </p:txBody>
      </p:sp>
      <p:sp>
        <p:nvSpPr>
          <p:cNvPr id="16282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GB"/>
          </a:p>
        </p:txBody>
      </p:sp>
      <p:sp>
        <p:nvSpPr>
          <p:cNvPr id="16282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ea typeface="宋体" panose="02010600030101010101" pitchFamily="2" charset="-122"/>
              </a:defRPr>
            </a:lvl1pPr>
          </a:lstStyle>
          <a:p>
            <a:pPr>
              <a:defRPr/>
            </a:pPr>
            <a:fld id="{7F75A202-5001-43C1-A481-9635AB26C61A}" type="slidenum">
              <a:rPr lang="en-GB" altLang="zh-CN"/>
              <a:pPr>
                <a:defRPr/>
              </a:pPr>
              <a:t>‹#›</a:t>
            </a:fld>
            <a:endParaRPr lang="en-GB" altLang="zh-CN"/>
          </a:p>
        </p:txBody>
      </p:sp>
    </p:spTree>
    <p:extLst>
      <p:ext uri="{BB962C8B-B14F-4D97-AF65-F5344CB8AC3E}">
        <p14:creationId xmlns:p14="http://schemas.microsoft.com/office/powerpoint/2010/main" val="17003771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583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US" altLang="zh-CN"/>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83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583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ea typeface="宋体" panose="02010600030101010101" pitchFamily="2" charset="-122"/>
              </a:defRPr>
            </a:lvl1pPr>
          </a:lstStyle>
          <a:p>
            <a:pPr>
              <a:defRPr/>
            </a:pPr>
            <a:fld id="{FFD632CF-5949-4012-AD78-7444C454F04C}" type="slidenum">
              <a:rPr lang="en-US" altLang="zh-CN"/>
              <a:pPr>
                <a:defRPr/>
              </a:pPr>
              <a:t>‹#›</a:t>
            </a:fld>
            <a:endParaRPr lang="en-US" altLang="zh-CN"/>
          </a:p>
        </p:txBody>
      </p:sp>
    </p:spTree>
    <p:extLst>
      <p:ext uri="{BB962C8B-B14F-4D97-AF65-F5344CB8AC3E}">
        <p14:creationId xmlns:p14="http://schemas.microsoft.com/office/powerpoint/2010/main" val="573229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C4B82B8-D2B6-44F9-96D5-D23B8806BBBE}" type="slidenum">
              <a:rPr lang="en-US" altLang="zh-CN" smtClean="0"/>
              <a:pPr>
                <a:spcBef>
                  <a:spcPct val="0"/>
                </a:spcBef>
              </a:pPr>
              <a:t>1</a:t>
            </a:fld>
            <a:endParaRPr lang="en-US" altLang="zh-CN"/>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GB"/>
              <a:t>第</a:t>
            </a:r>
            <a:r>
              <a:rPr lang="en-GB" altLang="zh-CN"/>
              <a:t>1</a:t>
            </a:r>
            <a:r>
              <a:rPr lang="zh-CN" altLang="en-GB"/>
              <a:t>讲  </a:t>
            </a:r>
            <a:r>
              <a:rPr lang="zh-CN" altLang="en-US" sz="1500"/>
              <a:t>第一章 引论</a:t>
            </a:r>
            <a:r>
              <a:rPr lang="en-US" altLang="zh-CN" sz="1500"/>
              <a:t>(1)</a:t>
            </a:r>
            <a:endParaRPr lang="en-GB" altLang="zh-CN" sz="1500"/>
          </a:p>
        </p:txBody>
      </p:sp>
    </p:spTree>
    <p:extLst>
      <p:ext uri="{BB962C8B-B14F-4D97-AF65-F5344CB8AC3E}">
        <p14:creationId xmlns:p14="http://schemas.microsoft.com/office/powerpoint/2010/main" val="4150666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a typeface="宋体" panose="02010600030101010101" pitchFamily="2" charset="-122"/>
              </a:rPr>
              <a:t>Knowledge-based agents</a:t>
            </a:r>
          </a:p>
          <a:p>
            <a:r>
              <a:rPr lang="en-US" altLang="zh-CN" dirty="0" err="1">
                <a:ea typeface="宋体" panose="02010600030101010101" pitchFamily="2" charset="-122"/>
              </a:rPr>
              <a:t>Wumpus</a:t>
            </a:r>
            <a:r>
              <a:rPr lang="en-US" altLang="zh-CN" dirty="0">
                <a:ea typeface="宋体" panose="02010600030101010101" pitchFamily="2" charset="-122"/>
              </a:rPr>
              <a:t> world example</a:t>
            </a:r>
          </a:p>
          <a:p>
            <a:r>
              <a:rPr lang="en-US" altLang="zh-CN" dirty="0">
                <a:ea typeface="宋体" panose="02010600030101010101" pitchFamily="2" charset="-122"/>
              </a:rPr>
              <a:t>Logic in general - models and entailment</a:t>
            </a:r>
          </a:p>
          <a:p>
            <a:r>
              <a:rPr lang="en-US" altLang="zh-CN" dirty="0">
                <a:ea typeface="宋体" panose="02010600030101010101" pitchFamily="2" charset="-122"/>
              </a:rPr>
              <a:t>Propositional (Boolean) logic</a:t>
            </a:r>
          </a:p>
          <a:p>
            <a:r>
              <a:rPr lang="en-US" altLang="zh-CN" dirty="0">
                <a:ea typeface="宋体" panose="02010600030101010101" pitchFamily="2" charset="-122"/>
              </a:rPr>
              <a:t>Equivalence, validity, satisfiability</a:t>
            </a:r>
          </a:p>
          <a:p>
            <a:r>
              <a:rPr lang="en-US" altLang="zh-CN" dirty="0">
                <a:ea typeface="宋体" panose="02010600030101010101" pitchFamily="2" charset="-122"/>
              </a:rPr>
              <a:t>Inference </a:t>
            </a:r>
          </a:p>
          <a:p>
            <a:endParaRPr lang="en-US" altLang="zh-CN" dirty="0"/>
          </a:p>
          <a:p>
            <a:r>
              <a:rPr lang="en-US" altLang="zh-CN" dirty="0"/>
              <a:t>7.1 Knowledge-Based Agent</a:t>
            </a:r>
          </a:p>
          <a:p>
            <a:r>
              <a:rPr lang="en-US" altLang="zh-CN" dirty="0"/>
              <a:t>7.2 The </a:t>
            </a:r>
            <a:r>
              <a:rPr lang="en-US" altLang="zh-CN" dirty="0" err="1"/>
              <a:t>Wumpus</a:t>
            </a:r>
            <a:r>
              <a:rPr lang="en-US" altLang="zh-CN" dirty="0"/>
              <a:t> World</a:t>
            </a:r>
          </a:p>
          <a:p>
            <a:r>
              <a:rPr lang="en-US" altLang="zh-CN" dirty="0"/>
              <a:t>7.3 Logic</a:t>
            </a:r>
          </a:p>
          <a:p>
            <a:r>
              <a:rPr lang="en-US" altLang="zh-CN" dirty="0"/>
              <a:t>7.4 Propositional Logic: A Very Simple Logic</a:t>
            </a:r>
          </a:p>
          <a:p>
            <a:r>
              <a:rPr lang="en-US" altLang="zh-CN" dirty="0"/>
              <a:t>7.5 Reasoning Patterns in Propositional Logic</a:t>
            </a:r>
          </a:p>
          <a:p>
            <a:endParaRPr lang="zh-CN" altLang="en-US" dirty="0"/>
          </a:p>
        </p:txBody>
      </p:sp>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Times New Roman" pitchFamily="18" charset="0"/>
                <a:ea typeface="宋体" pitchFamily="2" charset="-122"/>
                <a:cs typeface="+mn-cs"/>
              </a:rPr>
              <a:t>PDDL</a:t>
            </a:r>
            <a:r>
              <a:rPr lang="zh-CN" altLang="en-US" sz="1200" b="0" i="0" u="none" strike="noStrike" kern="1200" baseline="0" dirty="0">
                <a:solidFill>
                  <a:schemeClr val="tx1"/>
                </a:solidFill>
                <a:latin typeface="Times New Roman" pitchFamily="18" charset="0"/>
                <a:ea typeface="宋体" pitchFamily="2" charset="-122"/>
                <a:cs typeface="+mn-cs"/>
              </a:rPr>
              <a:t>根据什么发生了变化来描述一个动作的效果；不提及保持不变的东西。动作的前提和效果都是文字（原子语句或原子语句的否定）的合取。前提定义了动作能被执行的状态，效果定义了执行这个动作的结果。</a:t>
            </a:r>
          </a:p>
          <a:p>
            <a:endParaRPr lang="zh-CN" altLang="en-US" dirty="0"/>
          </a:p>
        </p:txBody>
      </p:sp>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pPr>
                <a:defRPr/>
              </a:pPr>
              <a:t>8</a:t>
            </a:fld>
            <a:endParaRPr lang="en-US" altLang="zh-CN"/>
          </a:p>
        </p:txBody>
      </p:sp>
    </p:spTree>
    <p:extLst>
      <p:ext uri="{BB962C8B-B14F-4D97-AF65-F5344CB8AC3E}">
        <p14:creationId xmlns:p14="http://schemas.microsoft.com/office/powerpoint/2010/main" val="1825643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Times New Roman" pitchFamily="18" charset="0"/>
                <a:ea typeface="宋体" pitchFamily="2" charset="-122"/>
                <a:cs typeface="+mn-cs"/>
              </a:rPr>
              <a:t>动作模式隐式描述了</a:t>
            </a:r>
            <a:r>
              <a:rPr lang="en-US" altLang="zh-CN" sz="1200" b="0" i="0" u="none" strike="noStrike" kern="1200" baseline="0" dirty="0">
                <a:solidFill>
                  <a:schemeClr val="tx1"/>
                </a:solidFill>
                <a:latin typeface="Times New Roman" pitchFamily="18" charset="0"/>
                <a:ea typeface="宋体" pitchFamily="2" charset="-122"/>
                <a:cs typeface="+mn-cs"/>
              </a:rPr>
              <a:t>ACTIONS(</a:t>
            </a:r>
            <a:r>
              <a:rPr lang="en-US" altLang="zh-CN" sz="1200" b="0" i="1" u="none" strike="noStrike" kern="1200" baseline="0" dirty="0">
                <a:solidFill>
                  <a:schemeClr val="tx1"/>
                </a:solidFill>
                <a:latin typeface="Times New Roman" pitchFamily="18" charset="0"/>
                <a:ea typeface="宋体" pitchFamily="2" charset="-122"/>
                <a:cs typeface="+mn-cs"/>
              </a:rPr>
              <a:t>s</a:t>
            </a:r>
            <a:r>
              <a:rPr lang="en-US" altLang="zh-CN" sz="1200" b="0" i="0" u="none" strike="noStrike" kern="1200" baseline="0" dirty="0">
                <a:solidFill>
                  <a:schemeClr val="tx1"/>
                </a:solidFill>
                <a:latin typeface="Times New Roman" pitchFamily="18" charset="0"/>
                <a:ea typeface="宋体" pitchFamily="2" charset="-122"/>
                <a:cs typeface="+mn-cs"/>
              </a:rPr>
              <a:t>)</a:t>
            </a:r>
            <a:r>
              <a:rPr lang="zh-CN" altLang="en-US" sz="1200" b="0" i="0" u="none" strike="noStrike" kern="1200" baseline="0" dirty="0">
                <a:solidFill>
                  <a:schemeClr val="tx1"/>
                </a:solidFill>
                <a:latin typeface="Times New Roman" pitchFamily="18" charset="0"/>
                <a:ea typeface="宋体" pitchFamily="2" charset="-122"/>
                <a:cs typeface="+mn-cs"/>
              </a:rPr>
              <a:t>和</a:t>
            </a:r>
            <a:r>
              <a:rPr lang="en-US" altLang="zh-CN" sz="1200" b="0" i="0" u="none" strike="noStrike" kern="1200" baseline="0" dirty="0">
                <a:solidFill>
                  <a:schemeClr val="tx1"/>
                </a:solidFill>
                <a:latin typeface="Times New Roman" pitchFamily="18" charset="0"/>
                <a:ea typeface="宋体" pitchFamily="2" charset="-122"/>
                <a:cs typeface="+mn-cs"/>
              </a:rPr>
              <a:t>RESULT(</a:t>
            </a:r>
            <a:r>
              <a:rPr lang="en-US" altLang="zh-CN" sz="1200" b="0" i="1" u="none" strike="noStrike" kern="1200" baseline="0" dirty="0" err="1">
                <a:solidFill>
                  <a:schemeClr val="tx1"/>
                </a:solidFill>
                <a:latin typeface="Times New Roman" pitchFamily="18" charset="0"/>
                <a:ea typeface="宋体" pitchFamily="2" charset="-122"/>
                <a:cs typeface="+mn-cs"/>
              </a:rPr>
              <a:t>s</a:t>
            </a:r>
            <a:r>
              <a:rPr lang="en-US" altLang="zh-CN" sz="1200" b="0" i="0" u="none" strike="noStrike" kern="1200" baseline="0" dirty="0" err="1">
                <a:solidFill>
                  <a:schemeClr val="tx1"/>
                </a:solidFill>
                <a:latin typeface="Times New Roman" pitchFamily="18" charset="0"/>
                <a:ea typeface="宋体" pitchFamily="2" charset="-122"/>
                <a:cs typeface="+mn-cs"/>
              </a:rPr>
              <a:t>,</a:t>
            </a:r>
            <a:r>
              <a:rPr lang="en-US" altLang="zh-CN" sz="1200" b="0" i="1" u="none" strike="noStrike" kern="1200" baseline="0" dirty="0" err="1">
                <a:solidFill>
                  <a:schemeClr val="tx1"/>
                </a:solidFill>
                <a:latin typeface="Times New Roman" pitchFamily="18" charset="0"/>
                <a:ea typeface="宋体" pitchFamily="2" charset="-122"/>
                <a:cs typeface="+mn-cs"/>
              </a:rPr>
              <a:t>a</a:t>
            </a:r>
            <a:r>
              <a:rPr lang="en-US" altLang="zh-CN" sz="1200" b="0" i="0" u="none" strike="noStrike" kern="1200" baseline="0" dirty="0">
                <a:solidFill>
                  <a:schemeClr val="tx1"/>
                </a:solidFill>
                <a:latin typeface="Times New Roman" pitchFamily="18" charset="0"/>
                <a:ea typeface="宋体" pitchFamily="2" charset="-122"/>
                <a:cs typeface="+mn-cs"/>
              </a:rPr>
              <a:t>)</a:t>
            </a:r>
          </a:p>
          <a:p>
            <a:endParaRPr lang="zh-CN" altLang="en-US" dirty="0"/>
          </a:p>
        </p:txBody>
      </p:sp>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pPr>
                <a:defRPr/>
              </a:pPr>
              <a:t>9</a:t>
            </a:fld>
            <a:endParaRPr lang="en-US" altLang="zh-CN"/>
          </a:p>
        </p:txBody>
      </p:sp>
    </p:spTree>
    <p:extLst>
      <p:ext uri="{BB962C8B-B14F-4D97-AF65-F5344CB8AC3E}">
        <p14:creationId xmlns:p14="http://schemas.microsoft.com/office/powerpoint/2010/main" val="3166583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latin typeface="Times New Roman" pitchFamily="18" charset="0"/>
                <a:ea typeface="宋体" pitchFamily="2" charset="-122"/>
                <a:cs typeface="+mn-cs"/>
              </a:rPr>
              <a:t>￢</a:t>
            </a:r>
            <a:r>
              <a:rPr lang="en-US" altLang="zh-CN" sz="1200" kern="1200" dirty="0">
                <a:solidFill>
                  <a:schemeClr val="tx1"/>
                </a:solidFill>
                <a:latin typeface="Times New Roman" pitchFamily="18" charset="0"/>
                <a:ea typeface="宋体" pitchFamily="2" charset="-122"/>
                <a:cs typeface="+mn-cs"/>
              </a:rPr>
              <a:t>, ∧, ∨,⇒,⇔</a:t>
            </a: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 </a:t>
            </a:r>
            <a:r>
              <a:rPr lang="en-US" altLang="zh-CN" sz="1200" kern="1200" dirty="0">
                <a:solidFill>
                  <a:schemeClr val="tx1"/>
                </a:solidFill>
                <a:latin typeface="Times New Roman" pitchFamily="18" charset="0"/>
                <a:ea typeface="宋体" pitchFamily="2" charset="-122"/>
                <a:cs typeface="+mn-cs"/>
              </a:rPr>
              <a:t>→ </a:t>
            </a:r>
            <a:r>
              <a:rPr lang="en-US" altLang="zh-CN" dirty="0">
                <a:solidFill>
                  <a:schemeClr val="tx1"/>
                </a:solidFill>
                <a:latin typeface="+mn-ea"/>
                <a:cs typeface="Arial" panose="020B0604020202020204" pitchFamily="34" charset="0"/>
              </a:rPr>
              <a:t>├ </a:t>
            </a:r>
            <a:r>
              <a:rPr lang="en-US" altLang="zh-CN" dirty="0"/>
              <a:t>∈ </a:t>
            </a:r>
            <a:r>
              <a:rPr lang="en-US" altLang="zh-CN" dirty="0">
                <a:solidFill>
                  <a:schemeClr val="tx1"/>
                </a:solidFill>
                <a:latin typeface="+mn-ea"/>
                <a:sym typeface="Symbol" panose="05050102010706020507" pitchFamily="18" charset="2"/>
              </a:rPr>
              <a:t></a:t>
            </a:r>
            <a:endParaRPr lang="zh-CN" altLang="en-US" sz="1200" i="1" kern="1200" dirty="0">
              <a:solidFill>
                <a:schemeClr val="tx1"/>
              </a:solidFill>
              <a:latin typeface="Times New Roman" pitchFamily="18" charset="0"/>
              <a:ea typeface="宋体"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pPr>
                <a:defRPr/>
              </a:pPr>
              <a:t>10</a:t>
            </a:fld>
            <a:endParaRPr lang="en-US" altLang="zh-CN"/>
          </a:p>
        </p:txBody>
      </p:sp>
    </p:spTree>
    <p:extLst>
      <p:ext uri="{BB962C8B-B14F-4D97-AF65-F5344CB8AC3E}">
        <p14:creationId xmlns:p14="http://schemas.microsoft.com/office/powerpoint/2010/main" val="1564086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latin typeface="Times New Roman" pitchFamily="18" charset="0"/>
                <a:ea typeface="宋体" pitchFamily="2" charset="-122"/>
                <a:cs typeface="+mn-cs"/>
              </a:rPr>
              <a:t>￢</a:t>
            </a:r>
            <a:r>
              <a:rPr lang="en-US" altLang="zh-CN" sz="1200" kern="1200" dirty="0">
                <a:solidFill>
                  <a:schemeClr val="tx1"/>
                </a:solidFill>
                <a:latin typeface="Times New Roman" pitchFamily="18" charset="0"/>
                <a:ea typeface="宋体" pitchFamily="2" charset="-122"/>
                <a:cs typeface="+mn-cs"/>
              </a:rPr>
              <a:t>, ∧, ∨,⇒,⇔</a:t>
            </a: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 </a:t>
            </a:r>
            <a:r>
              <a:rPr lang="en-US" altLang="zh-CN" sz="1200" kern="1200" dirty="0">
                <a:solidFill>
                  <a:schemeClr val="tx1"/>
                </a:solidFill>
                <a:latin typeface="Times New Roman" pitchFamily="18" charset="0"/>
                <a:ea typeface="宋体" pitchFamily="2" charset="-122"/>
                <a:cs typeface="+mn-cs"/>
              </a:rPr>
              <a:t>→ </a:t>
            </a:r>
            <a:r>
              <a:rPr lang="en-US" altLang="zh-CN" dirty="0">
                <a:solidFill>
                  <a:schemeClr val="tx1"/>
                </a:solidFill>
                <a:latin typeface="+mn-ea"/>
                <a:cs typeface="Arial" panose="020B0604020202020204" pitchFamily="34" charset="0"/>
              </a:rPr>
              <a:t>├ </a:t>
            </a:r>
            <a:r>
              <a:rPr lang="en-US" altLang="zh-CN" dirty="0"/>
              <a:t>∈ </a:t>
            </a:r>
            <a:r>
              <a:rPr lang="en-US" altLang="zh-CN" dirty="0">
                <a:solidFill>
                  <a:schemeClr val="tx1"/>
                </a:solidFill>
                <a:latin typeface="+mn-ea"/>
                <a:sym typeface="Symbol" panose="05050102010706020507" pitchFamily="18" charset="2"/>
              </a:rPr>
              <a:t></a:t>
            </a:r>
            <a:endParaRPr lang="zh-CN" altLang="en-US" sz="1200" i="1" kern="1200" dirty="0">
              <a:solidFill>
                <a:schemeClr val="tx1"/>
              </a:solidFill>
              <a:latin typeface="Times New Roman" pitchFamily="18" charset="0"/>
              <a:ea typeface="宋体"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pPr>
                <a:defRPr/>
              </a:pPr>
              <a:t>11</a:t>
            </a:fld>
            <a:endParaRPr lang="en-US" altLang="zh-CN"/>
          </a:p>
        </p:txBody>
      </p:sp>
    </p:spTree>
    <p:extLst>
      <p:ext uri="{BB962C8B-B14F-4D97-AF65-F5344CB8AC3E}">
        <p14:creationId xmlns:p14="http://schemas.microsoft.com/office/powerpoint/2010/main" val="4099463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Times New Roman" pitchFamily="18" charset="0"/>
                <a:ea typeface="宋体" pitchFamily="2" charset="-122"/>
                <a:cs typeface="+mn-cs"/>
              </a:rPr>
              <a:t>当我们能找到一个动作序列，使得在蕴涵了目标的状态</a:t>
            </a:r>
            <a:r>
              <a:rPr lang="en-US" altLang="zh-CN" sz="1200" b="0" i="1" u="none" strike="noStrike" kern="1200" baseline="0" dirty="0">
                <a:solidFill>
                  <a:schemeClr val="tx1"/>
                </a:solidFill>
                <a:latin typeface="Times New Roman" pitchFamily="18" charset="0"/>
                <a:ea typeface="宋体" pitchFamily="2" charset="-122"/>
                <a:cs typeface="+mn-cs"/>
              </a:rPr>
              <a:t>s</a:t>
            </a:r>
            <a:r>
              <a:rPr lang="zh-CN" altLang="en-US" sz="1200" b="0" i="0" u="none" strike="noStrike" kern="1200" baseline="0" dirty="0">
                <a:solidFill>
                  <a:schemeClr val="tx1"/>
                </a:solidFill>
                <a:latin typeface="Times New Roman" pitchFamily="18" charset="0"/>
                <a:ea typeface="宋体" pitchFamily="2" charset="-122"/>
                <a:cs typeface="+mn-cs"/>
              </a:rPr>
              <a:t>结束，问题就得到了解决</a:t>
            </a:r>
          </a:p>
          <a:p>
            <a:endParaRPr lang="zh-CN" altLang="en-US" sz="1200" b="0" i="0" u="none" strike="noStrike" kern="1200" baseline="0" dirty="0">
              <a:solidFill>
                <a:schemeClr val="tx1"/>
              </a:solidFill>
              <a:latin typeface="Times New Roman" pitchFamily="18" charset="0"/>
              <a:ea typeface="宋体" pitchFamily="2" charset="-122"/>
              <a:cs typeface="+mn-cs"/>
            </a:endParaRPr>
          </a:p>
          <a:p>
            <a:endParaRPr lang="zh-CN" altLang="en-US" sz="1200" b="0" i="0" u="none" strike="noStrike" kern="1200" baseline="0" dirty="0">
              <a:solidFill>
                <a:schemeClr val="tx1"/>
              </a:solidFill>
              <a:latin typeface="Times New Roman" pitchFamily="18" charset="0"/>
              <a:ea typeface="宋体" pitchFamily="2" charset="-122"/>
              <a:cs typeface="+mn-cs"/>
            </a:endParaRPr>
          </a:p>
          <a:p>
            <a:r>
              <a:rPr lang="zh-CN" altLang="en-US" sz="1200" b="0" i="0" u="none" strike="noStrike" kern="1200" baseline="0" dirty="0">
                <a:solidFill>
                  <a:schemeClr val="tx1"/>
                </a:solidFill>
                <a:latin typeface="Times New Roman" pitchFamily="18" charset="0"/>
                <a:ea typeface="宋体" pitchFamily="2" charset="-122"/>
                <a:cs typeface="+mn-cs"/>
              </a:rPr>
              <a:t>变量是存在量化的</a:t>
            </a:r>
          </a:p>
          <a:p>
            <a:endParaRPr lang="zh-CN" altLang="en-US" dirty="0"/>
          </a:p>
        </p:txBody>
      </p:sp>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pPr>
                <a:defRPr/>
              </a:pPr>
              <a:t>13</a:t>
            </a:fld>
            <a:endParaRPr lang="en-US" altLang="zh-CN"/>
          </a:p>
        </p:txBody>
      </p:sp>
    </p:spTree>
    <p:extLst>
      <p:ext uri="{BB962C8B-B14F-4D97-AF65-F5344CB8AC3E}">
        <p14:creationId xmlns:p14="http://schemas.microsoft.com/office/powerpoint/2010/main" val="3887265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问题的形式化描述</a:t>
                </a:r>
                <a:endParaRPr lang="en-US" altLang="zh-CN" dirty="0"/>
              </a:p>
              <a:p>
                <a:pPr lvl="1"/>
                <a:r>
                  <a:rPr lang="zh-CN" altLang="zh-CN" dirty="0"/>
                  <a:t>初始状态</a:t>
                </a:r>
                <a:r>
                  <a:rPr lang="zh-CN" altLang="en-US" dirty="0"/>
                  <a:t>：</a:t>
                </a:r>
                <a:r>
                  <a:rPr lang="en-US" altLang="zh-CN" i="1" dirty="0"/>
                  <a:t> </a:t>
                </a:r>
                <a14:m>
                  <m:oMath xmlns:m="http://schemas.openxmlformats.org/officeDocument/2006/math">
                    <m:r>
                      <a:rPr lang="en-US" altLang="zh-CN" i="1">
                        <a:latin typeface="Cambria Math" panose="02040503050406030204" pitchFamily="18" charset="0"/>
                      </a:rPr>
                      <m:t>𝐼𝑛</m:t>
                    </m:r>
                    <m:r>
                      <a:rPr lang="en-US" altLang="zh-CN" i="1">
                        <a:latin typeface="Cambria Math" panose="02040503050406030204" pitchFamily="18" charset="0"/>
                      </a:rPr>
                      <m:t>(</m:t>
                    </m:r>
                    <m:r>
                      <a:rPr lang="en-US" altLang="zh-CN" i="1">
                        <a:latin typeface="Cambria Math" panose="02040503050406030204" pitchFamily="18" charset="0"/>
                      </a:rPr>
                      <m:t>𝐴𝑟𝑎𝑑</m:t>
                    </m:r>
                    <m:r>
                      <a:rPr lang="en-US" altLang="zh-CN" i="1">
                        <a:latin typeface="Cambria Math" panose="02040503050406030204" pitchFamily="18" charset="0"/>
                      </a:rPr>
                      <m:t>)</m:t>
                    </m:r>
                  </m:oMath>
                </a14:m>
                <a:endParaRPr lang="en-US" altLang="zh-CN" dirty="0"/>
              </a:p>
              <a:p>
                <a:pPr lvl="1"/>
                <a:r>
                  <a:rPr lang="zh-CN" altLang="zh-CN" dirty="0"/>
                  <a:t>行动</a:t>
                </a:r>
                <a:r>
                  <a:rPr lang="zh-CN" altLang="en-US" dirty="0"/>
                  <a:t>：</a:t>
                </a:r>
                <a:r>
                  <a:rPr lang="en-US" altLang="zh-CN" dirty="0"/>
                  <a:t> </a:t>
                </a:r>
                <a14:m>
                  <m:oMath xmlns:m="http://schemas.openxmlformats.org/officeDocument/2006/math">
                    <m:r>
                      <a:rPr lang="en-US" altLang="zh-CN" b="0" i="1" smtClean="0">
                        <a:latin typeface="Cambria Math" panose="02040503050406030204" pitchFamily="18" charset="0"/>
                      </a:rPr>
                      <m:t>𝐴𝐶𝑇𝐼𝑂𝑁</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𝐼𝑛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𝐴𝑟𝑎𝑑</m:t>
                            </m:r>
                          </m:e>
                        </m:d>
                      </m:e>
                    </m:d>
                    <m:r>
                      <a:rPr lang="en-US" altLang="zh-CN" b="0" i="1" smtClean="0">
                        <a:latin typeface="Cambria Math" panose="02040503050406030204" pitchFamily="18" charset="0"/>
                      </a:rPr>
                      <m:t>=</m:t>
                    </m:r>
                    <m:r>
                      <a:rPr lang="en-US" altLang="zh-CN" i="1">
                        <a:latin typeface="Cambria Math" panose="02040503050406030204" pitchFamily="18" charset="0"/>
                      </a:rPr>
                      <m:t>{</m:t>
                    </m:r>
                    <m:r>
                      <a:rPr lang="en-US" altLang="zh-CN" i="1">
                        <a:latin typeface="Cambria Math" panose="02040503050406030204" pitchFamily="18" charset="0"/>
                      </a:rPr>
                      <m:t>𝐺𝑜</m:t>
                    </m:r>
                    <m:r>
                      <a:rPr lang="en-US" altLang="zh-CN" i="1">
                        <a:latin typeface="Cambria Math" panose="02040503050406030204" pitchFamily="18" charset="0"/>
                      </a:rPr>
                      <m:t>(</m:t>
                    </m:r>
                    <m:r>
                      <a:rPr lang="en-US" altLang="zh-CN" i="1">
                        <a:latin typeface="Cambria Math" panose="02040503050406030204" pitchFamily="18" charset="0"/>
                      </a:rPr>
                      <m:t>𝑆𝑖𝑏𝑖𝑢</m:t>
                    </m:r>
                    <m:r>
                      <a:rPr lang="en-US" altLang="zh-CN" i="1">
                        <a:latin typeface="Cambria Math" panose="02040503050406030204" pitchFamily="18" charset="0"/>
                      </a:rPr>
                      <m:t>), </m:t>
                    </m:r>
                    <m:r>
                      <a:rPr lang="en-US" altLang="zh-CN" i="1">
                        <a:latin typeface="Cambria Math" panose="02040503050406030204" pitchFamily="18" charset="0"/>
                      </a:rPr>
                      <m:t>𝐺𝑜</m:t>
                    </m:r>
                    <m:r>
                      <a:rPr lang="en-US" altLang="zh-CN" i="1">
                        <a:latin typeface="Cambria Math" panose="02040503050406030204" pitchFamily="18" charset="0"/>
                      </a:rPr>
                      <m:t>(</m:t>
                    </m:r>
                    <m:r>
                      <a:rPr lang="en-US" altLang="zh-CN" i="1">
                        <a:latin typeface="Cambria Math" panose="02040503050406030204" pitchFamily="18" charset="0"/>
                      </a:rPr>
                      <m:t>𝑇𝑖𝑚𝑖𝑠𝑜𝑎𝑟𝑎</m:t>
                    </m:r>
                    <m:r>
                      <a:rPr lang="en-US" altLang="zh-CN" i="1">
                        <a:latin typeface="Cambria Math" panose="02040503050406030204" pitchFamily="18" charset="0"/>
                      </a:rPr>
                      <m:t>), </m:t>
                    </m:r>
                    <m:r>
                      <a:rPr lang="en-US" altLang="zh-CN" i="1">
                        <a:latin typeface="Cambria Math" panose="02040503050406030204" pitchFamily="18" charset="0"/>
                      </a:rPr>
                      <m:t>𝐺𝑜</m:t>
                    </m:r>
                    <m:r>
                      <a:rPr lang="en-US" altLang="zh-CN" i="1">
                        <a:latin typeface="Cambria Math" panose="02040503050406030204" pitchFamily="18" charset="0"/>
                      </a:rPr>
                      <m:t>(</m:t>
                    </m:r>
                    <m:r>
                      <a:rPr lang="en-US" altLang="zh-CN" i="1">
                        <a:latin typeface="Cambria Math" panose="02040503050406030204" pitchFamily="18" charset="0"/>
                      </a:rPr>
                      <m:t>𝑍𝑒𝑟𝑖𝑛𝑑</m:t>
                    </m:r>
                    <m:r>
                      <a:rPr lang="en-US" altLang="zh-CN" i="1">
                        <a:latin typeface="Cambria Math" panose="02040503050406030204" pitchFamily="18" charset="0"/>
                      </a:rPr>
                      <m:t>)}</m:t>
                    </m:r>
                  </m:oMath>
                </a14:m>
                <a:endParaRPr lang="en-US" altLang="zh-CN" dirty="0"/>
              </a:p>
              <a:p>
                <a:pPr lvl="1"/>
                <a:r>
                  <a:rPr lang="zh-CN" altLang="zh-CN" dirty="0"/>
                  <a:t>转移模型</a:t>
                </a:r>
                <a:r>
                  <a:rPr lang="zh-CN" altLang="en-US" dirty="0"/>
                  <a:t>：</a:t>
                </a:r>
                <a14:m>
                  <m:oMath xmlns:m="http://schemas.openxmlformats.org/officeDocument/2006/math">
                    <m:r>
                      <a:rPr lang="en-US" altLang="zh-CN" i="1">
                        <a:latin typeface="Cambria Math" panose="02040503050406030204" pitchFamily="18" charset="0"/>
                      </a:rPr>
                      <m:t>𝑅𝐸𝑆𝑈𝐿𝑇</m:t>
                    </m:r>
                    <m:r>
                      <a:rPr lang="en-US" altLang="zh-CN" i="1">
                        <a:latin typeface="Cambria Math" panose="02040503050406030204" pitchFamily="18" charset="0"/>
                      </a:rPr>
                      <m:t>(</m:t>
                    </m:r>
                    <m:r>
                      <a:rPr lang="en-US" altLang="zh-CN" i="1">
                        <a:latin typeface="Cambria Math" panose="02040503050406030204" pitchFamily="18" charset="0"/>
                      </a:rPr>
                      <m:t>𝐼𝑛</m:t>
                    </m:r>
                    <m:r>
                      <a:rPr lang="en-US" altLang="zh-CN" i="1">
                        <a:latin typeface="Cambria Math" panose="02040503050406030204" pitchFamily="18" charset="0"/>
                      </a:rPr>
                      <m:t>(</m:t>
                    </m:r>
                    <m:r>
                      <a:rPr lang="en-US" altLang="zh-CN" i="1">
                        <a:latin typeface="Cambria Math" panose="02040503050406030204" pitchFamily="18" charset="0"/>
                      </a:rPr>
                      <m:t>𝐴𝑟𝑎𝑑</m:t>
                    </m:r>
                    <m:r>
                      <a:rPr lang="en-US" altLang="zh-CN" i="1">
                        <a:latin typeface="Cambria Math" panose="02040503050406030204" pitchFamily="18" charset="0"/>
                      </a:rPr>
                      <m:t>),</m:t>
                    </m:r>
                    <m:r>
                      <a:rPr lang="en-US" altLang="zh-CN" i="1">
                        <a:latin typeface="Cambria Math" panose="02040503050406030204" pitchFamily="18" charset="0"/>
                      </a:rPr>
                      <m:t>𝐺𝑜</m:t>
                    </m:r>
                    <m:r>
                      <a:rPr lang="en-US" altLang="zh-CN" i="1">
                        <a:latin typeface="Cambria Math" panose="02040503050406030204" pitchFamily="18" charset="0"/>
                      </a:rPr>
                      <m:t>(</m:t>
                    </m:r>
                    <m:r>
                      <a:rPr lang="en-US" altLang="zh-CN" i="1">
                        <a:latin typeface="Cambria Math" panose="02040503050406030204" pitchFamily="18" charset="0"/>
                      </a:rPr>
                      <m:t>𝑍𝑒𝑟𝑖𝑛𝑑</m:t>
                    </m:r>
                    <m:r>
                      <a:rPr lang="en-US" altLang="zh-CN" i="1">
                        <a:latin typeface="Cambria Math" panose="02040503050406030204" pitchFamily="18" charset="0"/>
                      </a:rPr>
                      <m:t>)) = </m:t>
                    </m:r>
                    <m:r>
                      <a:rPr lang="en-US" altLang="zh-CN" i="1">
                        <a:latin typeface="Cambria Math" panose="02040503050406030204" pitchFamily="18" charset="0"/>
                      </a:rPr>
                      <m:t>𝐼𝑛</m:t>
                    </m:r>
                    <m:r>
                      <a:rPr lang="en-US" altLang="zh-CN" i="1">
                        <a:latin typeface="Cambria Math" panose="02040503050406030204" pitchFamily="18" charset="0"/>
                      </a:rPr>
                      <m:t>(</m:t>
                    </m:r>
                    <m:r>
                      <a:rPr lang="en-US" altLang="zh-CN" i="1">
                        <a:latin typeface="Cambria Math" panose="02040503050406030204" pitchFamily="18" charset="0"/>
                      </a:rPr>
                      <m:t>𝑍𝑒𝑟𝑖𝑛𝑑</m:t>
                    </m:r>
                    <m:r>
                      <a:rPr lang="en-US" altLang="zh-CN" i="1">
                        <a:latin typeface="Cambria Math" panose="02040503050406030204" pitchFamily="18" charset="0"/>
                      </a:rPr>
                      <m:t>)</m:t>
                    </m:r>
                  </m:oMath>
                </a14:m>
                <a:endParaRPr lang="en-US" altLang="zh-CN" dirty="0"/>
              </a:p>
              <a:p>
                <a:pPr lvl="1"/>
                <a:r>
                  <a:rPr lang="zh-CN" altLang="zh-CN" dirty="0"/>
                  <a:t>目标测试</a:t>
                </a:r>
                <a:r>
                  <a:rPr lang="zh-CN" altLang="en-US" dirty="0"/>
                  <a:t>：</a:t>
                </a:r>
                <a14:m>
                  <m:oMath xmlns:m="http://schemas.openxmlformats.org/officeDocument/2006/math">
                    <m:r>
                      <a:rPr lang="en-US" altLang="zh-CN" i="1" dirty="0">
                        <a:latin typeface="Cambria Math" panose="02040503050406030204" pitchFamily="18" charset="0"/>
                      </a:rPr>
                      <m:t>{</m:t>
                    </m:r>
                    <m:r>
                      <a:rPr lang="en-US" altLang="zh-CN" i="1">
                        <a:latin typeface="Cambria Math" panose="02040503050406030204" pitchFamily="18" charset="0"/>
                      </a:rPr>
                      <m:t>𝐼𝑛</m:t>
                    </m:r>
                    <m:r>
                      <a:rPr lang="en-US" altLang="zh-CN" i="1">
                        <a:latin typeface="Cambria Math" panose="02040503050406030204" pitchFamily="18" charset="0"/>
                      </a:rPr>
                      <m:t>(</m:t>
                    </m:r>
                    <m:r>
                      <a:rPr lang="en-US" altLang="zh-CN" i="1">
                        <a:latin typeface="Cambria Math" panose="02040503050406030204" pitchFamily="18" charset="0"/>
                      </a:rPr>
                      <m:t>𝐵𝑢𝑐h𝑎𝑟𝑒𝑠𝑡</m:t>
                    </m:r>
                    <m:r>
                      <a:rPr lang="en-US" altLang="zh-CN" i="1">
                        <a:latin typeface="Cambria Math" panose="02040503050406030204" pitchFamily="18" charset="0"/>
                      </a:rPr>
                      <m:t>)}</m:t>
                    </m:r>
                  </m:oMath>
                </a14:m>
                <a:endParaRPr lang="en-US" altLang="zh-CN" dirty="0"/>
              </a:p>
              <a:p>
                <a:pPr lvl="1"/>
                <a:r>
                  <a:rPr lang="zh-CN" altLang="zh-CN" dirty="0"/>
                  <a:t>路径</a:t>
                </a:r>
                <a:r>
                  <a:rPr lang="zh-CN" altLang="en-US" dirty="0"/>
                  <a:t>代价：</a:t>
                </a:r>
                <a14:m>
                  <m:oMath xmlns:m="http://schemas.openxmlformats.org/officeDocument/2006/math">
                    <m:r>
                      <a:rPr lang="en-US" altLang="zh-CN" i="1" dirty="0">
                        <a:latin typeface="Cambria Math" panose="02040503050406030204" pitchFamily="18" charset="0"/>
                      </a:rPr>
                      <m:t>𝑐</m:t>
                    </m:r>
                    <m:r>
                      <a:rPr lang="en-US" altLang="zh-CN" i="1" dirty="0">
                        <a:latin typeface="Cambria Math" panose="02040503050406030204" pitchFamily="18" charset="0"/>
                      </a:rPr>
                      <m:t>(</m:t>
                    </m:r>
                    <m:r>
                      <a:rPr lang="en-US" altLang="zh-CN" i="1" dirty="0">
                        <a:latin typeface="Cambria Math" panose="02040503050406030204" pitchFamily="18" charset="0"/>
                      </a:rPr>
                      <m:t>𝑠</m:t>
                    </m:r>
                    <m:r>
                      <a:rPr lang="en-US" altLang="zh-CN" i="1" dirty="0">
                        <a:latin typeface="Cambria Math" panose="02040503050406030204" pitchFamily="18" charset="0"/>
                      </a:rPr>
                      <m:t>, </m:t>
                    </m:r>
                    <m:r>
                      <a:rPr lang="en-US" altLang="zh-CN" i="1" dirty="0">
                        <a:latin typeface="Cambria Math" panose="02040503050406030204" pitchFamily="18" charset="0"/>
                      </a:rPr>
                      <m:t>𝑎</m:t>
                    </m:r>
                    <m:r>
                      <a:rPr lang="en-US" altLang="zh-CN" i="1" dirty="0">
                        <a:latin typeface="Cambria Math" panose="02040503050406030204" pitchFamily="18" charset="0"/>
                      </a:rPr>
                      <m:t>, </m:t>
                    </m:r>
                    <m:r>
                      <a:rPr lang="en-US" altLang="zh-CN" i="1" dirty="0">
                        <a:latin typeface="Cambria Math" panose="02040503050406030204" pitchFamily="18" charset="0"/>
                      </a:rPr>
                      <m:t>𝑠</m:t>
                    </m:r>
                    <m:r>
                      <a:rPr lang="en-US" altLang="zh-CN" i="1" dirty="0">
                        <a:latin typeface="Cambria Math" panose="02040503050406030204" pitchFamily="18" charset="0"/>
                      </a:rPr>
                      <m:t>’)</m:t>
                    </m:r>
                  </m:oMath>
                </a14:m>
                <a:endParaRPr lang="en-US" altLang="zh-CN" dirty="0"/>
              </a:p>
              <a:p>
                <a:pPr lvl="1"/>
                <a:endParaRPr lang="en-US" altLang="zh-CN" dirty="0"/>
              </a:p>
              <a:p>
                <a:pPr lvl="0"/>
                <a:r>
                  <a:rPr lang="en-US" altLang="zh-CN" dirty="0"/>
                  <a:t>Romania</a:t>
                </a:r>
              </a:p>
              <a:p>
                <a:pPr lvl="1">
                  <a:lnSpc>
                    <a:spcPct val="90000"/>
                  </a:lnSpc>
                </a:pPr>
                <a:r>
                  <a:rPr lang="en-US" altLang="zh-CN" sz="2600" dirty="0">
                    <a:ea typeface="宋体" panose="02010600030101010101" pitchFamily="2" charset="-122"/>
                  </a:rPr>
                  <a:t>Setup</a:t>
                </a:r>
              </a:p>
              <a:p>
                <a:pPr lvl="2">
                  <a:lnSpc>
                    <a:spcPct val="90000"/>
                  </a:lnSpc>
                </a:pPr>
                <a:r>
                  <a:rPr lang="en-US" altLang="zh-CN" sz="2400" dirty="0">
                    <a:ea typeface="宋体" panose="02010600030101010101" pitchFamily="2" charset="-122"/>
                  </a:rPr>
                  <a:t>On vacation in Romania; currently in </a:t>
                </a:r>
                <a:r>
                  <a:rPr lang="en-US" altLang="zh-CN" sz="2400" dirty="0">
                    <a:solidFill>
                      <a:schemeClr val="accent2"/>
                    </a:solidFill>
                    <a:ea typeface="宋体" panose="02010600030101010101" pitchFamily="2" charset="-122"/>
                  </a:rPr>
                  <a:t>Arad</a:t>
                </a:r>
              </a:p>
              <a:p>
                <a:pPr lvl="2">
                  <a:lnSpc>
                    <a:spcPct val="90000"/>
                  </a:lnSpc>
                </a:pPr>
                <a:r>
                  <a:rPr lang="en-US" altLang="zh-CN" sz="2400" dirty="0">
                    <a:ea typeface="宋体" panose="02010600030101010101" pitchFamily="2" charset="-122"/>
                  </a:rPr>
                  <a:t>Flight leaves tomorrow from </a:t>
                </a:r>
                <a:r>
                  <a:rPr lang="en-US" altLang="zh-CN" sz="2400" dirty="0">
                    <a:solidFill>
                      <a:schemeClr val="accent2"/>
                    </a:solidFill>
                    <a:ea typeface="宋体" panose="02010600030101010101" pitchFamily="2" charset="-122"/>
                  </a:rPr>
                  <a:t>Bucharest</a:t>
                </a:r>
              </a:p>
              <a:p>
                <a:pPr lvl="1">
                  <a:lnSpc>
                    <a:spcPct val="90000"/>
                  </a:lnSpc>
                </a:pPr>
                <a:r>
                  <a:rPr lang="en-US" altLang="zh-CN" sz="2600" dirty="0">
                    <a:ea typeface="宋体" panose="02010600030101010101" pitchFamily="2" charset="-122"/>
                  </a:rPr>
                  <a:t>Define goal</a:t>
                </a:r>
              </a:p>
              <a:p>
                <a:pPr lvl="2">
                  <a:lnSpc>
                    <a:spcPct val="90000"/>
                  </a:lnSpc>
                </a:pPr>
                <a:r>
                  <a:rPr lang="en-US" altLang="zh-CN" sz="2400" dirty="0">
                    <a:ea typeface="宋体" panose="02010600030101010101" pitchFamily="2" charset="-122"/>
                  </a:rPr>
                  <a:t>Being in </a:t>
                </a:r>
                <a:r>
                  <a:rPr lang="en-US" altLang="zh-CN" sz="2400" dirty="0">
                    <a:solidFill>
                      <a:schemeClr val="accent2"/>
                    </a:solidFill>
                    <a:ea typeface="宋体" panose="02010600030101010101" pitchFamily="2" charset="-122"/>
                  </a:rPr>
                  <a:t>Bucharest</a:t>
                </a:r>
              </a:p>
              <a:p>
                <a:pPr lvl="1">
                  <a:lnSpc>
                    <a:spcPct val="90000"/>
                  </a:lnSpc>
                </a:pPr>
                <a:r>
                  <a:rPr lang="en-US" altLang="zh-CN" sz="2600" dirty="0">
                    <a:ea typeface="宋体" panose="02010600030101010101" pitchFamily="2" charset="-122"/>
                  </a:rPr>
                  <a:t>Formulate problem</a:t>
                </a:r>
              </a:p>
              <a:p>
                <a:pPr lvl="2">
                  <a:lnSpc>
                    <a:spcPct val="90000"/>
                  </a:lnSpc>
                </a:pPr>
                <a:r>
                  <a:rPr lang="en-US" altLang="zh-CN" sz="2400" dirty="0">
                    <a:solidFill>
                      <a:schemeClr val="accent2"/>
                    </a:solidFill>
                    <a:ea typeface="宋体" panose="02010600030101010101" pitchFamily="2" charset="-122"/>
                  </a:rPr>
                  <a:t>States</a:t>
                </a:r>
                <a:r>
                  <a:rPr lang="en-US" altLang="zh-CN" sz="2400" dirty="0">
                    <a:ea typeface="宋体" panose="02010600030101010101" pitchFamily="2" charset="-122"/>
                  </a:rPr>
                  <a:t>: being in various cities</a:t>
                </a:r>
              </a:p>
              <a:p>
                <a:pPr lvl="2">
                  <a:lnSpc>
                    <a:spcPct val="90000"/>
                  </a:lnSpc>
                </a:pPr>
                <a:r>
                  <a:rPr lang="en-US" altLang="zh-CN" sz="2400" dirty="0">
                    <a:solidFill>
                      <a:schemeClr val="accent2"/>
                    </a:solidFill>
                    <a:ea typeface="宋体" panose="02010600030101010101" pitchFamily="2" charset="-122"/>
                  </a:rPr>
                  <a:t>Actions</a:t>
                </a:r>
                <a:r>
                  <a:rPr lang="en-US" altLang="zh-CN" sz="2400" dirty="0">
                    <a:ea typeface="宋体" panose="02010600030101010101" pitchFamily="2" charset="-122"/>
                  </a:rPr>
                  <a:t>: drive between adjacent cities</a:t>
                </a:r>
              </a:p>
              <a:p>
                <a:pPr lvl="1">
                  <a:lnSpc>
                    <a:spcPct val="90000"/>
                  </a:lnSpc>
                </a:pPr>
                <a:r>
                  <a:rPr lang="en-US" altLang="zh-CN" sz="2600" dirty="0">
                    <a:ea typeface="宋体" panose="02010600030101010101" pitchFamily="2" charset="-122"/>
                  </a:rPr>
                  <a:t>Find a solution</a:t>
                </a:r>
              </a:p>
              <a:p>
                <a:pPr lvl="2">
                  <a:lnSpc>
                    <a:spcPct val="90000"/>
                  </a:lnSpc>
                </a:pPr>
                <a:r>
                  <a:rPr lang="en-US" altLang="zh-CN" sz="2400" dirty="0">
                    <a:ea typeface="宋体" panose="02010600030101010101" pitchFamily="2" charset="-122"/>
                  </a:rPr>
                  <a:t>Sequence of actions, e.g. </a:t>
                </a:r>
                <a:r>
                  <a:rPr lang="en-US" altLang="zh-CN" sz="2400" dirty="0">
                    <a:solidFill>
                      <a:schemeClr val="accent2"/>
                    </a:solidFill>
                    <a:ea typeface="宋体" panose="02010600030101010101" pitchFamily="2" charset="-122"/>
                  </a:rPr>
                  <a:t>[Arad </a:t>
                </a:r>
                <a:r>
                  <a:rPr lang="en-US" altLang="zh-CN" sz="2400" dirty="0">
                    <a:solidFill>
                      <a:schemeClr val="accent2"/>
                    </a:solidFill>
                    <a:ea typeface="宋体" panose="02010600030101010101" pitchFamily="2" charset="-122"/>
                    <a:sym typeface="Symbol" panose="05050102010706020507" pitchFamily="18" charset="2"/>
                  </a:rPr>
                  <a:t> </a:t>
                </a:r>
                <a:r>
                  <a:rPr lang="en-US" altLang="zh-CN" sz="2400" dirty="0">
                    <a:solidFill>
                      <a:schemeClr val="accent2"/>
                    </a:solidFill>
                    <a:ea typeface="宋体" panose="02010600030101010101" pitchFamily="2" charset="-122"/>
                  </a:rPr>
                  <a:t>Sibiu, Sibiu </a:t>
                </a:r>
                <a:r>
                  <a:rPr lang="en-US" altLang="zh-CN" sz="2400" dirty="0">
                    <a:solidFill>
                      <a:schemeClr val="accent2"/>
                    </a:solidFill>
                    <a:ea typeface="宋体" panose="02010600030101010101" pitchFamily="2" charset="-122"/>
                    <a:sym typeface="Symbol" panose="05050102010706020507" pitchFamily="18" charset="2"/>
                  </a:rPr>
                  <a:t></a:t>
                </a:r>
                <a:r>
                  <a:rPr lang="en-US" altLang="zh-CN" sz="2400" dirty="0">
                    <a:solidFill>
                      <a:schemeClr val="accent2"/>
                    </a:solidFill>
                    <a:ea typeface="宋体" panose="02010600030101010101" pitchFamily="2" charset="-122"/>
                  </a:rPr>
                  <a:t> </a:t>
                </a:r>
                <a:r>
                  <a:rPr lang="en-US" altLang="zh-CN" sz="2400" dirty="0" err="1">
                    <a:solidFill>
                      <a:schemeClr val="accent2"/>
                    </a:solidFill>
                    <a:ea typeface="宋体" panose="02010600030101010101" pitchFamily="2" charset="-122"/>
                  </a:rPr>
                  <a:t>Fagaras</a:t>
                </a:r>
                <a:r>
                  <a:rPr lang="en-US" altLang="zh-CN" sz="2400" dirty="0">
                    <a:solidFill>
                      <a:schemeClr val="accent2"/>
                    </a:solidFill>
                    <a:ea typeface="宋体" panose="02010600030101010101" pitchFamily="2" charset="-122"/>
                  </a:rPr>
                  <a:t>, </a:t>
                </a:r>
                <a:r>
                  <a:rPr lang="en-US" altLang="zh-CN" sz="2400" dirty="0">
                    <a:solidFill>
                      <a:schemeClr val="accent2"/>
                    </a:solidFill>
                    <a:latin typeface="Arial" panose="020B0604020202020204" pitchFamily="34" charset="0"/>
                    <a:ea typeface="宋体" panose="02010600030101010101" pitchFamily="2" charset="-122"/>
                  </a:rPr>
                  <a:t>…</a:t>
                </a:r>
                <a:r>
                  <a:rPr lang="en-US" altLang="zh-CN" sz="2400" dirty="0">
                    <a:solidFill>
                      <a:schemeClr val="accent2"/>
                    </a:solidFill>
                    <a:ea typeface="宋体" panose="02010600030101010101" pitchFamily="2" charset="-122"/>
                  </a:rPr>
                  <a:t>]</a:t>
                </a:r>
              </a:p>
              <a:p>
                <a:pPr lvl="0"/>
                <a:endParaRPr lang="en-US" altLang="zh-CN" dirty="0"/>
              </a:p>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问题的形式化描述</a:t>
                </a:r>
                <a:endParaRPr lang="en-US" altLang="zh-CN" dirty="0" smtClean="0"/>
              </a:p>
              <a:p>
                <a:pPr lvl="1"/>
                <a:r>
                  <a:rPr lang="zh-CN" altLang="zh-CN" dirty="0" smtClean="0"/>
                  <a:t>初始状态</a:t>
                </a:r>
                <a:r>
                  <a:rPr lang="zh-CN" altLang="en-US" dirty="0" smtClean="0"/>
                  <a:t>：</a:t>
                </a:r>
                <a:r>
                  <a:rPr lang="en-US" altLang="zh-CN" i="1" dirty="0"/>
                  <a:t> </a:t>
                </a:r>
                <a:r>
                  <a:rPr lang="en-US" altLang="zh-CN" i="0">
                    <a:latin typeface="Cambria Math" panose="02040503050406030204" pitchFamily="18" charset="0"/>
                  </a:rPr>
                  <a:t>𝐼𝑛(𝐴𝑟𝑎𝑑)</a:t>
                </a:r>
                <a:endParaRPr lang="en-US" altLang="zh-CN" dirty="0" smtClean="0"/>
              </a:p>
              <a:p>
                <a:pPr lvl="1"/>
                <a:r>
                  <a:rPr lang="zh-CN" altLang="zh-CN" dirty="0" smtClean="0"/>
                  <a:t>行动</a:t>
                </a:r>
                <a:r>
                  <a:rPr lang="zh-CN" altLang="en-US" dirty="0" smtClean="0"/>
                  <a:t>：</a:t>
                </a:r>
                <a:r>
                  <a:rPr lang="en-US" altLang="zh-CN" dirty="0" smtClean="0"/>
                  <a:t> </a:t>
                </a:r>
                <a:r>
                  <a:rPr lang="en-US" altLang="zh-CN" b="0" i="0" smtClean="0">
                    <a:latin typeface="Cambria Math" panose="02040503050406030204" pitchFamily="18" charset="0"/>
                  </a:rPr>
                  <a:t>𝐴𝐶𝑇𝐼𝑂𝑁{𝐼𝑛(𝐴𝑟𝑎𝑑)}=</a:t>
                </a:r>
                <a:r>
                  <a:rPr lang="en-US" altLang="zh-CN" i="0">
                    <a:latin typeface="Cambria Math" panose="02040503050406030204" pitchFamily="18" charset="0"/>
                  </a:rPr>
                  <a:t>{𝐺𝑜(𝑆𝑖𝑏𝑖𝑢), 𝐺𝑜(𝑇𝑖𝑚𝑖𝑠𝑜𝑎𝑟𝑎), 𝐺𝑜(𝑍𝑒𝑟𝑖𝑛𝑑)}</a:t>
                </a:r>
                <a:endParaRPr lang="en-US" altLang="zh-CN" dirty="0" smtClean="0"/>
              </a:p>
              <a:p>
                <a:pPr lvl="1"/>
                <a:r>
                  <a:rPr lang="zh-CN" altLang="zh-CN" dirty="0" smtClean="0"/>
                  <a:t>转移模型</a:t>
                </a:r>
                <a:r>
                  <a:rPr lang="zh-CN" altLang="en-US" dirty="0" smtClean="0"/>
                  <a:t>：</a:t>
                </a:r>
                <a:r>
                  <a:rPr lang="en-US" altLang="zh-CN" i="0">
                    <a:latin typeface="Cambria Math" panose="02040503050406030204" pitchFamily="18" charset="0"/>
                  </a:rPr>
                  <a:t>𝑅𝐸𝑆𝑈𝐿𝑇(𝐼𝑛(𝐴𝑟𝑎𝑑),𝐺𝑜(𝑍𝑒𝑟𝑖𝑛𝑑)) = 𝐼𝑛(𝑍𝑒𝑟𝑖𝑛𝑑)</a:t>
                </a:r>
                <a:endParaRPr lang="en-US" altLang="zh-CN" dirty="0" smtClean="0"/>
              </a:p>
              <a:p>
                <a:pPr lvl="1"/>
                <a:r>
                  <a:rPr lang="zh-CN" altLang="zh-CN" dirty="0" smtClean="0"/>
                  <a:t>目标测试</a:t>
                </a:r>
                <a:r>
                  <a:rPr lang="zh-CN" altLang="en-US" dirty="0" smtClean="0"/>
                  <a:t>：</a:t>
                </a:r>
                <a:r>
                  <a:rPr lang="en-US" altLang="zh-CN" i="0" dirty="0">
                    <a:latin typeface="Cambria Math" panose="02040503050406030204" pitchFamily="18" charset="0"/>
                  </a:rPr>
                  <a:t>{</a:t>
                </a:r>
                <a:r>
                  <a:rPr lang="en-US" altLang="zh-CN" i="0">
                    <a:latin typeface="Cambria Math" panose="02040503050406030204" pitchFamily="18" charset="0"/>
                  </a:rPr>
                  <a:t>𝐼𝑛(𝐵𝑢𝑐ℎ𝑎𝑟𝑒𝑠𝑡)}</a:t>
                </a:r>
                <a:endParaRPr lang="en-US" altLang="zh-CN" dirty="0" smtClean="0"/>
              </a:p>
              <a:p>
                <a:pPr lvl="1"/>
                <a:r>
                  <a:rPr lang="zh-CN" altLang="zh-CN" dirty="0" smtClean="0"/>
                  <a:t>路径</a:t>
                </a:r>
                <a:r>
                  <a:rPr lang="zh-CN" altLang="en-US" dirty="0" smtClean="0"/>
                  <a:t>代价：</a:t>
                </a:r>
                <a:r>
                  <a:rPr lang="en-US" altLang="zh-CN" i="0" dirty="0">
                    <a:latin typeface="Cambria Math" panose="02040503050406030204" pitchFamily="18" charset="0"/>
                  </a:rPr>
                  <a:t>𝑐(𝑠, 𝑎, 𝑠’)</a:t>
                </a:r>
                <a:endParaRPr lang="en-US" altLang="zh-CN" dirty="0" smtClean="0"/>
              </a:p>
              <a:p>
                <a:pPr lvl="1"/>
                <a:endParaRPr lang="en-US" altLang="zh-CN" dirty="0" smtClean="0"/>
              </a:p>
              <a:p>
                <a:pPr lvl="0"/>
                <a:r>
                  <a:rPr lang="en-US" altLang="zh-CN" dirty="0" smtClean="0"/>
                  <a:t>Romania</a:t>
                </a:r>
              </a:p>
              <a:p>
                <a:pPr lvl="1">
                  <a:lnSpc>
                    <a:spcPct val="90000"/>
                  </a:lnSpc>
                </a:pPr>
                <a:r>
                  <a:rPr lang="en-US" altLang="zh-CN" sz="2600" dirty="0" smtClean="0">
                    <a:ea typeface="宋体" panose="02010600030101010101" pitchFamily="2" charset="-122"/>
                  </a:rPr>
                  <a:t>Setup</a:t>
                </a:r>
              </a:p>
              <a:p>
                <a:pPr lvl="2">
                  <a:lnSpc>
                    <a:spcPct val="90000"/>
                  </a:lnSpc>
                </a:pPr>
                <a:r>
                  <a:rPr lang="en-US" altLang="zh-CN" sz="2400" dirty="0" smtClean="0">
                    <a:ea typeface="宋体" panose="02010600030101010101" pitchFamily="2" charset="-122"/>
                  </a:rPr>
                  <a:t>On vacation in Romania; currently in </a:t>
                </a:r>
                <a:r>
                  <a:rPr lang="en-US" altLang="zh-CN" sz="2400" dirty="0" smtClean="0">
                    <a:solidFill>
                      <a:schemeClr val="accent2"/>
                    </a:solidFill>
                    <a:ea typeface="宋体" panose="02010600030101010101" pitchFamily="2" charset="-122"/>
                  </a:rPr>
                  <a:t>Arad</a:t>
                </a:r>
              </a:p>
              <a:p>
                <a:pPr lvl="2">
                  <a:lnSpc>
                    <a:spcPct val="90000"/>
                  </a:lnSpc>
                </a:pPr>
                <a:r>
                  <a:rPr lang="en-US" altLang="zh-CN" sz="2400" dirty="0" smtClean="0">
                    <a:ea typeface="宋体" panose="02010600030101010101" pitchFamily="2" charset="-122"/>
                  </a:rPr>
                  <a:t>Flight leaves tomorrow from </a:t>
                </a:r>
                <a:r>
                  <a:rPr lang="en-US" altLang="zh-CN" sz="2400" dirty="0" smtClean="0">
                    <a:solidFill>
                      <a:schemeClr val="accent2"/>
                    </a:solidFill>
                    <a:ea typeface="宋体" panose="02010600030101010101" pitchFamily="2" charset="-122"/>
                  </a:rPr>
                  <a:t>Bucharest</a:t>
                </a:r>
              </a:p>
              <a:p>
                <a:pPr lvl="1">
                  <a:lnSpc>
                    <a:spcPct val="90000"/>
                  </a:lnSpc>
                </a:pPr>
                <a:r>
                  <a:rPr lang="en-US" altLang="zh-CN" sz="2600" dirty="0" smtClean="0">
                    <a:ea typeface="宋体" panose="02010600030101010101" pitchFamily="2" charset="-122"/>
                  </a:rPr>
                  <a:t>Define goal</a:t>
                </a:r>
              </a:p>
              <a:p>
                <a:pPr lvl="2">
                  <a:lnSpc>
                    <a:spcPct val="90000"/>
                  </a:lnSpc>
                </a:pPr>
                <a:r>
                  <a:rPr lang="en-US" altLang="zh-CN" sz="2400" dirty="0" smtClean="0">
                    <a:ea typeface="宋体" panose="02010600030101010101" pitchFamily="2" charset="-122"/>
                  </a:rPr>
                  <a:t>Being in </a:t>
                </a:r>
                <a:r>
                  <a:rPr lang="en-US" altLang="zh-CN" sz="2400" dirty="0" smtClean="0">
                    <a:solidFill>
                      <a:schemeClr val="accent2"/>
                    </a:solidFill>
                    <a:ea typeface="宋体" panose="02010600030101010101" pitchFamily="2" charset="-122"/>
                  </a:rPr>
                  <a:t>Bucharest</a:t>
                </a:r>
              </a:p>
              <a:p>
                <a:pPr lvl="1">
                  <a:lnSpc>
                    <a:spcPct val="90000"/>
                  </a:lnSpc>
                </a:pPr>
                <a:r>
                  <a:rPr lang="en-US" altLang="zh-CN" sz="2600" dirty="0" smtClean="0">
                    <a:ea typeface="宋体" panose="02010600030101010101" pitchFamily="2" charset="-122"/>
                  </a:rPr>
                  <a:t>Formulate problem</a:t>
                </a:r>
              </a:p>
              <a:p>
                <a:pPr lvl="2">
                  <a:lnSpc>
                    <a:spcPct val="90000"/>
                  </a:lnSpc>
                </a:pPr>
                <a:r>
                  <a:rPr lang="en-US" altLang="zh-CN" sz="2400" dirty="0" smtClean="0">
                    <a:solidFill>
                      <a:schemeClr val="accent2"/>
                    </a:solidFill>
                    <a:ea typeface="宋体" panose="02010600030101010101" pitchFamily="2" charset="-122"/>
                  </a:rPr>
                  <a:t>States</a:t>
                </a:r>
                <a:r>
                  <a:rPr lang="en-US" altLang="zh-CN" sz="2400" dirty="0" smtClean="0">
                    <a:ea typeface="宋体" panose="02010600030101010101" pitchFamily="2" charset="-122"/>
                  </a:rPr>
                  <a:t>: being in various cities</a:t>
                </a:r>
              </a:p>
              <a:p>
                <a:pPr lvl="2">
                  <a:lnSpc>
                    <a:spcPct val="90000"/>
                  </a:lnSpc>
                </a:pPr>
                <a:r>
                  <a:rPr lang="en-US" altLang="zh-CN" sz="2400" dirty="0" smtClean="0">
                    <a:solidFill>
                      <a:schemeClr val="accent2"/>
                    </a:solidFill>
                    <a:ea typeface="宋体" panose="02010600030101010101" pitchFamily="2" charset="-122"/>
                  </a:rPr>
                  <a:t>Actions</a:t>
                </a:r>
                <a:r>
                  <a:rPr lang="en-US" altLang="zh-CN" sz="2400" dirty="0" smtClean="0">
                    <a:ea typeface="宋体" panose="02010600030101010101" pitchFamily="2" charset="-122"/>
                  </a:rPr>
                  <a:t>: drive between adjacent cities</a:t>
                </a:r>
              </a:p>
              <a:p>
                <a:pPr lvl="1">
                  <a:lnSpc>
                    <a:spcPct val="90000"/>
                  </a:lnSpc>
                </a:pPr>
                <a:r>
                  <a:rPr lang="en-US" altLang="zh-CN" sz="2600" dirty="0" smtClean="0">
                    <a:ea typeface="宋体" panose="02010600030101010101" pitchFamily="2" charset="-122"/>
                  </a:rPr>
                  <a:t>Find a solution</a:t>
                </a:r>
              </a:p>
              <a:p>
                <a:pPr lvl="2">
                  <a:lnSpc>
                    <a:spcPct val="90000"/>
                  </a:lnSpc>
                </a:pPr>
                <a:r>
                  <a:rPr lang="en-US" altLang="zh-CN" sz="2400" dirty="0" smtClean="0">
                    <a:ea typeface="宋体" panose="02010600030101010101" pitchFamily="2" charset="-122"/>
                  </a:rPr>
                  <a:t>Sequence of actions, e.g. </a:t>
                </a:r>
                <a:r>
                  <a:rPr lang="en-US" altLang="zh-CN" sz="2400" dirty="0" smtClean="0">
                    <a:solidFill>
                      <a:schemeClr val="accent2"/>
                    </a:solidFill>
                    <a:ea typeface="宋体" panose="02010600030101010101" pitchFamily="2" charset="-122"/>
                  </a:rPr>
                  <a:t>[Arad </a:t>
                </a:r>
                <a:r>
                  <a:rPr lang="en-US" altLang="zh-CN" sz="2400" dirty="0" smtClean="0">
                    <a:solidFill>
                      <a:schemeClr val="accent2"/>
                    </a:solidFill>
                    <a:ea typeface="宋体" panose="02010600030101010101" pitchFamily="2" charset="-122"/>
                    <a:sym typeface="Symbol" panose="05050102010706020507" pitchFamily="18" charset="2"/>
                  </a:rPr>
                  <a:t> </a:t>
                </a:r>
                <a:r>
                  <a:rPr lang="en-US" altLang="zh-CN" sz="2400" dirty="0" smtClean="0">
                    <a:solidFill>
                      <a:schemeClr val="accent2"/>
                    </a:solidFill>
                    <a:ea typeface="宋体" panose="02010600030101010101" pitchFamily="2" charset="-122"/>
                  </a:rPr>
                  <a:t>Sibiu, Sibiu </a:t>
                </a:r>
                <a:r>
                  <a:rPr lang="en-US" altLang="zh-CN" sz="2400" dirty="0" smtClean="0">
                    <a:solidFill>
                      <a:schemeClr val="accent2"/>
                    </a:solidFill>
                    <a:ea typeface="宋体" panose="02010600030101010101" pitchFamily="2" charset="-122"/>
                    <a:sym typeface="Symbol" panose="05050102010706020507" pitchFamily="18" charset="2"/>
                  </a:rPr>
                  <a:t></a:t>
                </a:r>
                <a:r>
                  <a:rPr lang="en-US" altLang="zh-CN" sz="2400" dirty="0" smtClean="0">
                    <a:solidFill>
                      <a:schemeClr val="accent2"/>
                    </a:solidFill>
                    <a:ea typeface="宋体" panose="02010600030101010101" pitchFamily="2" charset="-122"/>
                  </a:rPr>
                  <a:t> </a:t>
                </a:r>
                <a:r>
                  <a:rPr lang="en-US" altLang="zh-CN" sz="2400" dirty="0" err="1" smtClean="0">
                    <a:solidFill>
                      <a:schemeClr val="accent2"/>
                    </a:solidFill>
                    <a:ea typeface="宋体" panose="02010600030101010101" pitchFamily="2" charset="-122"/>
                  </a:rPr>
                  <a:t>Fagaras</a:t>
                </a:r>
                <a:r>
                  <a:rPr lang="en-US" altLang="zh-CN" sz="2400" dirty="0" smtClean="0">
                    <a:solidFill>
                      <a:schemeClr val="accent2"/>
                    </a:solidFill>
                    <a:ea typeface="宋体" panose="02010600030101010101" pitchFamily="2" charset="-122"/>
                  </a:rPr>
                  <a:t>, </a:t>
                </a:r>
                <a:r>
                  <a:rPr lang="en-US" altLang="zh-CN" sz="2400" dirty="0" smtClean="0">
                    <a:solidFill>
                      <a:schemeClr val="accent2"/>
                    </a:solidFill>
                    <a:latin typeface="Arial" panose="020B0604020202020204" pitchFamily="34" charset="0"/>
                    <a:ea typeface="宋体" panose="02010600030101010101" pitchFamily="2" charset="-122"/>
                  </a:rPr>
                  <a:t>…</a:t>
                </a:r>
                <a:r>
                  <a:rPr lang="en-US" altLang="zh-CN" sz="2400" dirty="0" smtClean="0">
                    <a:solidFill>
                      <a:schemeClr val="accent2"/>
                    </a:solidFill>
                    <a:ea typeface="宋体" panose="02010600030101010101" pitchFamily="2" charset="-122"/>
                  </a:rPr>
                  <a:t>]</a:t>
                </a:r>
              </a:p>
              <a:p>
                <a:pPr lvl="0"/>
                <a:endParaRPr lang="en-US" altLang="zh-CN" dirty="0"/>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pPr>
                <a:defRPr/>
              </a:pPr>
              <a:t>14</a:t>
            </a:fld>
            <a:endParaRPr lang="en-US" altLang="zh-CN"/>
          </a:p>
        </p:txBody>
      </p:sp>
    </p:spTree>
    <p:extLst>
      <p:ext uri="{BB962C8B-B14F-4D97-AF65-F5344CB8AC3E}">
        <p14:creationId xmlns:p14="http://schemas.microsoft.com/office/powerpoint/2010/main" val="4041361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da-DK" altLang="zh-CN" dirty="0">
                <a:latin typeface="Cambria Math" panose="02040503050406030204" pitchFamily="18" charset="0"/>
                <a:ea typeface="Cambria Math" panose="02040503050406030204" pitchFamily="18" charset="0"/>
              </a:rPr>
              <a:t>Init (At(C</a:t>
            </a:r>
            <a:r>
              <a:rPr lang="da-DK" altLang="zh-CN" sz="1000" dirty="0">
                <a:latin typeface="Cambria Math" panose="02040503050406030204" pitchFamily="18" charset="0"/>
                <a:ea typeface="Cambria Math" panose="02040503050406030204" pitchFamily="18" charset="0"/>
              </a:rPr>
              <a:t>1</a:t>
            </a:r>
            <a:r>
              <a:rPr lang="da-DK" altLang="zh-CN" dirty="0">
                <a:latin typeface="Cambria Math" panose="02040503050406030204" pitchFamily="18" charset="0"/>
                <a:ea typeface="Cambria Math" panose="02040503050406030204" pitchFamily="18" charset="0"/>
              </a:rPr>
              <a:t>, SFO) ∧ At(C</a:t>
            </a:r>
            <a:r>
              <a:rPr lang="da-DK" altLang="zh-CN" sz="1000" dirty="0">
                <a:latin typeface="Cambria Math" panose="02040503050406030204" pitchFamily="18" charset="0"/>
                <a:ea typeface="Cambria Math" panose="02040503050406030204" pitchFamily="18" charset="0"/>
              </a:rPr>
              <a:t>2</a:t>
            </a:r>
            <a:r>
              <a:rPr lang="da-DK" altLang="zh-CN" dirty="0">
                <a:latin typeface="Cambria Math" panose="02040503050406030204" pitchFamily="18" charset="0"/>
                <a:ea typeface="Cambria Math" panose="02040503050406030204" pitchFamily="18" charset="0"/>
              </a:rPr>
              <a:t>, JFK) ∧ At(P</a:t>
            </a:r>
            <a:r>
              <a:rPr lang="da-DK" altLang="zh-CN" sz="1000" dirty="0">
                <a:latin typeface="Cambria Math" panose="02040503050406030204" pitchFamily="18" charset="0"/>
                <a:ea typeface="Cambria Math" panose="02040503050406030204" pitchFamily="18" charset="0"/>
              </a:rPr>
              <a:t>1</a:t>
            </a:r>
            <a:r>
              <a:rPr lang="da-DK" altLang="zh-CN" dirty="0">
                <a:latin typeface="Cambria Math" panose="02040503050406030204" pitchFamily="18" charset="0"/>
                <a:ea typeface="Cambria Math" panose="02040503050406030204" pitchFamily="18" charset="0"/>
              </a:rPr>
              <a:t>, SFO) ∧ At(P</a:t>
            </a:r>
            <a:r>
              <a:rPr lang="da-DK" altLang="zh-CN" sz="1000" dirty="0">
                <a:latin typeface="Cambria Math" panose="02040503050406030204" pitchFamily="18" charset="0"/>
                <a:ea typeface="Cambria Math" panose="02040503050406030204" pitchFamily="18" charset="0"/>
              </a:rPr>
              <a:t>2</a:t>
            </a:r>
            <a:r>
              <a:rPr lang="da-DK" altLang="zh-CN" dirty="0">
                <a:latin typeface="Cambria Math" panose="02040503050406030204" pitchFamily="18" charset="0"/>
                <a:ea typeface="Cambria Math" panose="02040503050406030204" pitchFamily="18" charset="0"/>
              </a:rPr>
              <a:t>, JFK)</a:t>
            </a:r>
          </a:p>
          <a:p>
            <a:r>
              <a:rPr lang="en-US" altLang="zh-CN" dirty="0">
                <a:latin typeface="Cambria Math" panose="02040503050406030204" pitchFamily="18" charset="0"/>
                <a:ea typeface="Cambria Math" panose="02040503050406030204" pitchFamily="18" charset="0"/>
              </a:rPr>
              <a:t>∧ Cargo(C</a:t>
            </a:r>
            <a:r>
              <a:rPr lang="en-US" altLang="zh-CN" sz="1000" dirty="0">
                <a:latin typeface="Cambria Math" panose="02040503050406030204" pitchFamily="18" charset="0"/>
                <a:ea typeface="Cambria Math" panose="02040503050406030204" pitchFamily="18" charset="0"/>
              </a:rPr>
              <a:t>1</a:t>
            </a:r>
            <a:r>
              <a:rPr lang="en-US" altLang="zh-CN" dirty="0">
                <a:latin typeface="Cambria Math" panose="02040503050406030204" pitchFamily="18" charset="0"/>
                <a:ea typeface="Cambria Math" panose="02040503050406030204" pitchFamily="18" charset="0"/>
              </a:rPr>
              <a:t>) ∧ Cargo(C</a:t>
            </a:r>
            <a:r>
              <a:rPr lang="en-US" altLang="zh-CN" sz="1000" dirty="0">
                <a:latin typeface="Cambria Math" panose="02040503050406030204" pitchFamily="18" charset="0"/>
                <a:ea typeface="Cambria Math" panose="02040503050406030204" pitchFamily="18" charset="0"/>
              </a:rPr>
              <a:t>2</a:t>
            </a:r>
            <a:r>
              <a:rPr lang="en-US" altLang="zh-CN" dirty="0">
                <a:latin typeface="Cambria Math" panose="02040503050406030204" pitchFamily="18" charset="0"/>
                <a:ea typeface="Cambria Math" panose="02040503050406030204" pitchFamily="18" charset="0"/>
              </a:rPr>
              <a:t>) ∧ Plane(P</a:t>
            </a:r>
            <a:r>
              <a:rPr lang="en-US" altLang="zh-CN" sz="1000" dirty="0">
                <a:latin typeface="Cambria Math" panose="02040503050406030204" pitchFamily="18" charset="0"/>
                <a:ea typeface="Cambria Math" panose="02040503050406030204" pitchFamily="18" charset="0"/>
              </a:rPr>
              <a:t>1</a:t>
            </a:r>
            <a:r>
              <a:rPr lang="en-US" altLang="zh-CN" dirty="0">
                <a:latin typeface="Cambria Math" panose="02040503050406030204" pitchFamily="18" charset="0"/>
                <a:ea typeface="Cambria Math" panose="02040503050406030204" pitchFamily="18" charset="0"/>
              </a:rPr>
              <a:t>) ∧ Plane(P</a:t>
            </a:r>
            <a:r>
              <a:rPr lang="en-US" altLang="zh-CN" sz="1000" dirty="0">
                <a:latin typeface="Cambria Math" panose="02040503050406030204" pitchFamily="18" charset="0"/>
                <a:ea typeface="Cambria Math" panose="02040503050406030204" pitchFamily="18" charset="0"/>
              </a:rPr>
              <a:t>2</a:t>
            </a:r>
            <a:r>
              <a:rPr lang="en-US" altLang="zh-CN" dirty="0">
                <a:latin typeface="Cambria Math" panose="02040503050406030204" pitchFamily="18" charset="0"/>
                <a:ea typeface="Cambria Math" panose="02040503050406030204" pitchFamily="18" charset="0"/>
              </a:rPr>
              <a:t>)</a:t>
            </a:r>
          </a:p>
          <a:p>
            <a:r>
              <a:rPr lang="en-US" altLang="zh-CN" dirty="0">
                <a:latin typeface="Cambria Math" panose="02040503050406030204" pitchFamily="18" charset="0"/>
                <a:ea typeface="Cambria Math" panose="02040503050406030204" pitchFamily="18" charset="0"/>
              </a:rPr>
              <a:t>∧ Airport (JFK) ∧ Airport (SFO))</a:t>
            </a:r>
          </a:p>
          <a:p>
            <a:r>
              <a:rPr lang="da-DK" altLang="zh-CN" dirty="0">
                <a:latin typeface="Cambria Math" panose="02040503050406030204" pitchFamily="18" charset="0"/>
                <a:ea typeface="Cambria Math" panose="02040503050406030204" pitchFamily="18" charset="0"/>
              </a:rPr>
              <a:t>Goal (At(C</a:t>
            </a:r>
            <a:r>
              <a:rPr lang="da-DK" altLang="zh-CN" sz="1000" dirty="0">
                <a:latin typeface="Cambria Math" panose="02040503050406030204" pitchFamily="18" charset="0"/>
                <a:ea typeface="Cambria Math" panose="02040503050406030204" pitchFamily="18" charset="0"/>
              </a:rPr>
              <a:t>1</a:t>
            </a:r>
            <a:r>
              <a:rPr lang="da-DK" altLang="zh-CN" dirty="0">
                <a:latin typeface="Cambria Math" panose="02040503050406030204" pitchFamily="18" charset="0"/>
                <a:ea typeface="Cambria Math" panose="02040503050406030204" pitchFamily="18" charset="0"/>
              </a:rPr>
              <a:t>, JFK) ∧ At(C</a:t>
            </a:r>
            <a:r>
              <a:rPr lang="da-DK" altLang="zh-CN" sz="1000" dirty="0">
                <a:latin typeface="Cambria Math" panose="02040503050406030204" pitchFamily="18" charset="0"/>
                <a:ea typeface="Cambria Math" panose="02040503050406030204" pitchFamily="18" charset="0"/>
              </a:rPr>
              <a:t>2</a:t>
            </a:r>
            <a:r>
              <a:rPr lang="da-DK" altLang="zh-CN" dirty="0">
                <a:latin typeface="Cambria Math" panose="02040503050406030204" pitchFamily="18" charset="0"/>
                <a:ea typeface="Cambria Math" panose="02040503050406030204" pitchFamily="18" charset="0"/>
              </a:rPr>
              <a:t>, SFO))</a:t>
            </a:r>
          </a:p>
          <a:p>
            <a:r>
              <a:rPr lang="en-US" altLang="zh-CN" dirty="0">
                <a:latin typeface="Cambria Math" panose="02040503050406030204" pitchFamily="18" charset="0"/>
                <a:ea typeface="Cambria Math" panose="02040503050406030204" pitchFamily="18" charset="0"/>
              </a:rPr>
              <a:t>Action(Load (c, p, a),</a:t>
            </a:r>
          </a:p>
          <a:p>
            <a:r>
              <a:rPr lang="en-US" altLang="zh-CN" dirty="0">
                <a:latin typeface="Cambria Math" panose="02040503050406030204" pitchFamily="18" charset="0"/>
                <a:ea typeface="Cambria Math" panose="02040503050406030204" pitchFamily="18" charset="0"/>
              </a:rPr>
              <a:t>P</a:t>
            </a:r>
            <a:r>
              <a:rPr lang="en-US" altLang="zh-CN" sz="1050" dirty="0">
                <a:latin typeface="Cambria Math" panose="02040503050406030204" pitchFamily="18" charset="0"/>
                <a:ea typeface="Cambria Math" panose="02040503050406030204" pitchFamily="18" charset="0"/>
              </a:rPr>
              <a:t>RECOND</a:t>
            </a:r>
            <a:r>
              <a:rPr lang="en-US" altLang="zh-CN" dirty="0">
                <a:latin typeface="Cambria Math" panose="02040503050406030204" pitchFamily="18" charset="0"/>
                <a:ea typeface="Cambria Math" panose="02040503050406030204" pitchFamily="18" charset="0"/>
              </a:rPr>
              <a:t>: At(c, a) ∧ At(p, a) ∧ Cargo(c) ∧ Plane(p) ∧ Airport (a)</a:t>
            </a:r>
          </a:p>
          <a:p>
            <a:r>
              <a:rPr lang="en-US" altLang="zh-CN" dirty="0">
                <a:latin typeface="Cambria Math" panose="02040503050406030204" pitchFamily="18" charset="0"/>
                <a:ea typeface="Cambria Math" panose="02040503050406030204" pitchFamily="18" charset="0"/>
              </a:rPr>
              <a:t>E</a:t>
            </a:r>
            <a:r>
              <a:rPr lang="en-US" altLang="zh-CN" sz="1050" dirty="0">
                <a:latin typeface="Cambria Math" panose="02040503050406030204" pitchFamily="18" charset="0"/>
                <a:ea typeface="Cambria Math" panose="02040503050406030204" pitchFamily="18" charset="0"/>
              </a:rPr>
              <a:t>FFECT</a:t>
            </a:r>
            <a:r>
              <a:rPr lang="en-US" altLang="zh-CN" dirty="0">
                <a:latin typeface="Cambria Math" panose="02040503050406030204" pitchFamily="18" charset="0"/>
                <a:ea typeface="Cambria Math" panose="02040503050406030204" pitchFamily="18" charset="0"/>
              </a:rPr>
              <a:t>: </a:t>
            </a:r>
            <a:r>
              <a:rPr lang="zh-CN" altLang="en-US" dirty="0">
                <a:latin typeface="Cambria Math" panose="02040503050406030204" pitchFamily="18" charset="0"/>
              </a:rPr>
              <a:t>￢ </a:t>
            </a:r>
            <a:r>
              <a:rPr lang="en-US" altLang="zh-CN" dirty="0">
                <a:latin typeface="Cambria Math" panose="02040503050406030204" pitchFamily="18" charset="0"/>
                <a:ea typeface="Cambria Math" panose="02040503050406030204" pitchFamily="18" charset="0"/>
              </a:rPr>
              <a:t>At(c, a) ∧ In(c, p))</a:t>
            </a:r>
          </a:p>
          <a:p>
            <a:r>
              <a:rPr lang="en-US" altLang="zh-CN" dirty="0">
                <a:latin typeface="Cambria Math" panose="02040503050406030204" pitchFamily="18" charset="0"/>
                <a:ea typeface="Cambria Math" panose="02040503050406030204" pitchFamily="18" charset="0"/>
              </a:rPr>
              <a:t>Action(Unload(c, p, a),</a:t>
            </a:r>
          </a:p>
          <a:p>
            <a:r>
              <a:rPr lang="en-US" altLang="zh-CN" dirty="0">
                <a:latin typeface="Cambria Math" panose="02040503050406030204" pitchFamily="18" charset="0"/>
                <a:ea typeface="Cambria Math" panose="02040503050406030204" pitchFamily="18" charset="0"/>
              </a:rPr>
              <a:t>P</a:t>
            </a:r>
            <a:r>
              <a:rPr lang="en-US" altLang="zh-CN" sz="1050" dirty="0">
                <a:latin typeface="Cambria Math" panose="02040503050406030204" pitchFamily="18" charset="0"/>
                <a:ea typeface="Cambria Math" panose="02040503050406030204" pitchFamily="18" charset="0"/>
              </a:rPr>
              <a:t>RECOND</a:t>
            </a:r>
            <a:r>
              <a:rPr lang="en-US" altLang="zh-CN" dirty="0">
                <a:latin typeface="Cambria Math" panose="02040503050406030204" pitchFamily="18" charset="0"/>
                <a:ea typeface="Cambria Math" panose="02040503050406030204" pitchFamily="18" charset="0"/>
              </a:rPr>
              <a:t>: In(c, p) ∧ At(p, a) ∧ Cargo(c) ∧ Plane(p) ∧ Airport (a)</a:t>
            </a:r>
          </a:p>
          <a:p>
            <a:r>
              <a:rPr lang="en-US" altLang="zh-CN" dirty="0">
                <a:latin typeface="Cambria Math" panose="02040503050406030204" pitchFamily="18" charset="0"/>
                <a:ea typeface="Cambria Math" panose="02040503050406030204" pitchFamily="18" charset="0"/>
              </a:rPr>
              <a:t>E</a:t>
            </a:r>
            <a:r>
              <a:rPr lang="en-US" altLang="zh-CN" sz="1050" dirty="0">
                <a:latin typeface="Cambria Math" panose="02040503050406030204" pitchFamily="18" charset="0"/>
                <a:ea typeface="Cambria Math" panose="02040503050406030204" pitchFamily="18" charset="0"/>
              </a:rPr>
              <a:t>FFECT</a:t>
            </a:r>
            <a:r>
              <a:rPr lang="en-US" altLang="zh-CN" dirty="0">
                <a:latin typeface="Cambria Math" panose="02040503050406030204" pitchFamily="18" charset="0"/>
                <a:ea typeface="Cambria Math" panose="02040503050406030204" pitchFamily="18" charset="0"/>
              </a:rPr>
              <a:t>: At(c, a) ∧ </a:t>
            </a:r>
            <a:r>
              <a:rPr lang="zh-CN" altLang="en-US" dirty="0">
                <a:latin typeface="Cambria Math" panose="02040503050406030204" pitchFamily="18" charset="0"/>
              </a:rPr>
              <a:t>￢</a:t>
            </a:r>
            <a:r>
              <a:rPr lang="en-US" altLang="zh-CN" dirty="0">
                <a:latin typeface="Cambria Math" panose="02040503050406030204" pitchFamily="18" charset="0"/>
                <a:ea typeface="Cambria Math" panose="02040503050406030204" pitchFamily="18" charset="0"/>
              </a:rPr>
              <a:t>In(c, p))</a:t>
            </a:r>
          </a:p>
          <a:p>
            <a:r>
              <a:rPr lang="en-US" altLang="zh-CN" dirty="0">
                <a:latin typeface="Cambria Math" panose="02040503050406030204" pitchFamily="18" charset="0"/>
                <a:ea typeface="Cambria Math" panose="02040503050406030204" pitchFamily="18" charset="0"/>
              </a:rPr>
              <a:t>Action(Fly(p, from, to),</a:t>
            </a:r>
          </a:p>
          <a:p>
            <a:r>
              <a:rPr lang="en-US" altLang="zh-CN" dirty="0">
                <a:latin typeface="Cambria Math" panose="02040503050406030204" pitchFamily="18" charset="0"/>
                <a:ea typeface="Cambria Math" panose="02040503050406030204" pitchFamily="18" charset="0"/>
              </a:rPr>
              <a:t>P</a:t>
            </a:r>
            <a:r>
              <a:rPr lang="en-US" altLang="zh-CN" sz="1050" dirty="0">
                <a:latin typeface="Cambria Math" panose="02040503050406030204" pitchFamily="18" charset="0"/>
                <a:ea typeface="Cambria Math" panose="02040503050406030204" pitchFamily="18" charset="0"/>
              </a:rPr>
              <a:t>RECOND</a:t>
            </a:r>
            <a:r>
              <a:rPr lang="en-US" altLang="zh-CN" dirty="0">
                <a:latin typeface="Cambria Math" panose="02040503050406030204" pitchFamily="18" charset="0"/>
                <a:ea typeface="Cambria Math" panose="02040503050406030204" pitchFamily="18" charset="0"/>
              </a:rPr>
              <a:t>: At(p, from) ∧ Plane(p) ∧ Airport (from) ∧ Airport (to)</a:t>
            </a:r>
          </a:p>
          <a:p>
            <a:r>
              <a:rPr lang="en-US" altLang="zh-CN" dirty="0">
                <a:latin typeface="Cambria Math" panose="02040503050406030204" pitchFamily="18" charset="0"/>
                <a:ea typeface="Cambria Math" panose="02040503050406030204" pitchFamily="18" charset="0"/>
              </a:rPr>
              <a:t>E</a:t>
            </a:r>
            <a:r>
              <a:rPr lang="en-US" altLang="zh-CN" sz="1050" dirty="0">
                <a:latin typeface="Cambria Math" panose="02040503050406030204" pitchFamily="18" charset="0"/>
                <a:ea typeface="Cambria Math" panose="02040503050406030204" pitchFamily="18" charset="0"/>
              </a:rPr>
              <a:t>FFECT</a:t>
            </a:r>
            <a:r>
              <a:rPr lang="en-US" altLang="zh-CN" dirty="0">
                <a:latin typeface="Cambria Math" panose="02040503050406030204" pitchFamily="18" charset="0"/>
                <a:ea typeface="Cambria Math" panose="02040503050406030204" pitchFamily="18" charset="0"/>
              </a:rPr>
              <a:t>: </a:t>
            </a:r>
            <a:r>
              <a:rPr lang="zh-CN" altLang="en-US" dirty="0">
                <a:latin typeface="Cambria Math" panose="02040503050406030204" pitchFamily="18" charset="0"/>
              </a:rPr>
              <a:t>￢ </a:t>
            </a:r>
            <a:r>
              <a:rPr lang="en-US" altLang="zh-CN" dirty="0">
                <a:latin typeface="Cambria Math" panose="02040503050406030204" pitchFamily="18" charset="0"/>
                <a:ea typeface="Cambria Math" panose="02040503050406030204" pitchFamily="18" charset="0"/>
              </a:rPr>
              <a:t>At(p, from) ∧ At(p, to))</a:t>
            </a:r>
          </a:p>
          <a:p>
            <a:endParaRPr lang="en-US" altLang="zh-CN" sz="2800" dirty="0">
              <a:latin typeface="Cambria Math" panose="02040503050406030204" pitchFamily="18" charset="0"/>
              <a:ea typeface="Cambria Math" panose="02040503050406030204" pitchFamily="18" charset="0"/>
            </a:endParaRPr>
          </a:p>
          <a:p>
            <a:endParaRPr lang="en-US" altLang="zh-CN" sz="2800" dirty="0">
              <a:latin typeface="Cambria Math" panose="02040503050406030204" pitchFamily="18" charset="0"/>
              <a:ea typeface="Cambria Math" panose="02040503050406030204" pitchFamily="18" charset="0"/>
            </a:endParaRPr>
          </a:p>
          <a:p>
            <a:r>
              <a:rPr lang="en-US" altLang="zh-CN" sz="2800" dirty="0">
                <a:latin typeface="Cambria Math" panose="02040503050406030204" pitchFamily="18" charset="0"/>
                <a:ea typeface="Cambria Math" panose="02040503050406030204" pitchFamily="18" charset="0"/>
              </a:rPr>
              <a:t>Solution</a:t>
            </a:r>
          </a:p>
          <a:p>
            <a:endParaRPr lang="en-US" altLang="zh-CN" sz="2800" dirty="0">
              <a:latin typeface="Cambria Math" panose="02040503050406030204" pitchFamily="18" charset="0"/>
              <a:ea typeface="Cambria Math" panose="02040503050406030204" pitchFamily="18" charset="0"/>
            </a:endParaRPr>
          </a:p>
          <a:p>
            <a:r>
              <a:rPr lang="en-US" altLang="zh-CN" sz="1200" b="0" i="0" u="none" strike="noStrike" kern="1200" baseline="0" dirty="0">
                <a:solidFill>
                  <a:schemeClr val="tx1"/>
                </a:solidFill>
                <a:latin typeface="Times New Roman" pitchFamily="18" charset="0"/>
                <a:ea typeface="宋体" pitchFamily="2" charset="-122"/>
                <a:cs typeface="+mn-cs"/>
              </a:rPr>
              <a:t>[Load (C1, P1, SFO), Fly(P1, SFO, JFK),Unload(C1, P1, JFK),</a:t>
            </a:r>
          </a:p>
          <a:p>
            <a:r>
              <a:rPr lang="en-US" altLang="zh-CN" sz="1200" b="0" i="0" u="none" strike="noStrike" kern="1200" baseline="0" dirty="0">
                <a:solidFill>
                  <a:schemeClr val="tx1"/>
                </a:solidFill>
                <a:latin typeface="Times New Roman" pitchFamily="18" charset="0"/>
                <a:ea typeface="宋体" pitchFamily="2" charset="-122"/>
                <a:cs typeface="+mn-cs"/>
              </a:rPr>
              <a:t>Load (C2, P2, JFK), Fly(P2, JFK, SFO),Unload(C2, P2, SFO)]</a:t>
            </a:r>
            <a:endParaRPr lang="zh-CN" altLang="en-US" sz="2800" dirty="0">
              <a:latin typeface="Cambria Math" panose="02040503050406030204" pitchFamily="18" charset="0"/>
            </a:endParaRPr>
          </a:p>
          <a:p>
            <a:endParaRPr lang="zh-CN" altLang="en-US" dirty="0"/>
          </a:p>
        </p:txBody>
      </p:sp>
      <p:sp>
        <p:nvSpPr>
          <p:cNvPr id="4" name="灯片编号占位符 3"/>
          <p:cNvSpPr>
            <a:spLocks noGrp="1"/>
          </p:cNvSpPr>
          <p:nvPr>
            <p:ph type="sldNum" sz="quarter" idx="10"/>
          </p:nvPr>
        </p:nvSpPr>
        <p:spPr/>
        <p:txBody>
          <a:bodyPr/>
          <a:lstStyle/>
          <a:p>
            <a:pPr>
              <a:defRPr/>
            </a:pPr>
            <a:fld id="{FFD632CF-5949-4012-AD78-7444C454F04C}" type="slidenum">
              <a:rPr lang="en-US" altLang="zh-CN" smtClean="0"/>
              <a:pPr>
                <a:defRPr/>
              </a:pPr>
              <a:t>16</a:t>
            </a:fld>
            <a:endParaRPr lang="en-US" altLang="zh-CN"/>
          </a:p>
        </p:txBody>
      </p:sp>
    </p:spTree>
    <p:extLst>
      <p:ext uri="{BB962C8B-B14F-4D97-AF65-F5344CB8AC3E}">
        <p14:creationId xmlns:p14="http://schemas.microsoft.com/office/powerpoint/2010/main" val="2002530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89CA0CB-FB7A-426C-9179-E889FF4C95C7}" type="slidenum">
              <a:rPr lang="en-US" altLang="zh-CN" smtClean="0"/>
              <a:t>25</a:t>
            </a:fld>
            <a:endParaRPr lang="en-US" altLang="zh-CN"/>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7938" y="-7938"/>
            <a:ext cx="9170988" cy="6873876"/>
            <a:chOff x="-8466" y="-8468"/>
            <a:chExt cx="9171316" cy="6874935"/>
          </a:xfrm>
        </p:grpSpPr>
        <p:cxnSp>
          <p:nvCxnSpPr>
            <p:cNvPr id="5" name="Straight Connector 27"/>
            <p:cNvCxnSpPr/>
            <p:nvPr/>
          </p:nvCxnSpPr>
          <p:spPr>
            <a:xfrm flipV="1">
              <a:off x="5130456" y="4175239"/>
              <a:ext cx="4022869" cy="2683288"/>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8"/>
            <p:cNvCxnSpPr/>
            <p:nvPr/>
          </p:nvCxnSpPr>
          <p:spPr>
            <a:xfrm>
              <a:off x="7043462" y="-529"/>
              <a:ext cx="1217656" cy="685905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p:cNvSpPr/>
            <p:nvPr/>
          </p:nvSpPr>
          <p:spPr>
            <a:xfrm>
              <a:off x="6892644" y="-529"/>
              <a:ext cx="2268619" cy="686699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p:cNvSpPr/>
            <p:nvPr/>
          </p:nvSpPr>
          <p:spPr>
            <a:xfrm>
              <a:off x="7205393" y="-8468"/>
              <a:ext cx="1947932" cy="6866996"/>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p:cNvSpPr/>
            <p:nvPr/>
          </p:nvSpPr>
          <p:spPr>
            <a:xfrm>
              <a:off x="6638635" y="3919613"/>
              <a:ext cx="2513103" cy="2938915"/>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p:cNvSpPr/>
            <p:nvPr/>
          </p:nvSpPr>
          <p:spPr>
            <a:xfrm>
              <a:off x="7010123" y="-8468"/>
              <a:ext cx="2143202" cy="6866996"/>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p:cNvSpPr/>
            <p:nvPr/>
          </p:nvSpPr>
          <p:spPr>
            <a:xfrm>
              <a:off x="8296044" y="-8468"/>
              <a:ext cx="857281" cy="6866996"/>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p:cNvSpPr/>
            <p:nvPr/>
          </p:nvSpPr>
          <p:spPr>
            <a:xfrm>
              <a:off x="8094425" y="-8468"/>
              <a:ext cx="1066838" cy="6866996"/>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p:cNvSpPr/>
            <p:nvPr/>
          </p:nvSpPr>
          <p:spPr>
            <a:xfrm>
              <a:off x="8069024" y="4894488"/>
              <a:ext cx="1093826" cy="1964040"/>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p:cNvSpPr/>
            <p:nvPr/>
          </p:nvSpPr>
          <p:spPr>
            <a:xfrm>
              <a:off x="-8466" y="-8468"/>
              <a:ext cx="863632" cy="5698416"/>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017585" y="2404534"/>
            <a:ext cx="6362727" cy="1646302"/>
          </a:xfrm>
        </p:spPr>
        <p:txBody>
          <a:bodyPr>
            <a:noAutofit/>
          </a:bodyPr>
          <a:lstStyle>
            <a:lvl1pPr algn="r">
              <a:defRPr sz="4000">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017585" y="4050834"/>
            <a:ext cx="6362727" cy="1096899"/>
          </a:xfrm>
        </p:spPr>
        <p:txBody>
          <a:bodyPr>
            <a:normAutofit/>
          </a:bodyPr>
          <a:lstStyle>
            <a:lvl1pPr marL="0" indent="0" algn="r">
              <a:spcBef>
                <a:spcPts val="0"/>
              </a:spcBef>
              <a:buNone/>
              <a:defRPr sz="2800">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a:defRPr/>
            </a:lvl1pPr>
          </a:lstStyle>
          <a:p>
            <a:pPr>
              <a:defRPr/>
            </a:pPr>
            <a:endParaRPr lang="en-US" altLang="zh-CN"/>
          </a:p>
        </p:txBody>
      </p:sp>
      <p:sp>
        <p:nvSpPr>
          <p:cNvPr id="16" name="Footer Placeholder 4"/>
          <p:cNvSpPr>
            <a:spLocks noGrp="1"/>
          </p:cNvSpPr>
          <p:nvPr>
            <p:ph type="ftr" sz="quarter" idx="11"/>
          </p:nvPr>
        </p:nvSpPr>
        <p:spPr/>
        <p:txBody>
          <a:bodyPr/>
          <a:lstStyle>
            <a:lvl1pPr>
              <a:defRPr/>
            </a:lvl1pPr>
          </a:lstStyle>
          <a:p>
            <a:pPr>
              <a:defRPr/>
            </a:pPr>
            <a:endParaRPr lang="en-US" altLang="zh-CN"/>
          </a:p>
        </p:txBody>
      </p:sp>
      <p:sp>
        <p:nvSpPr>
          <p:cNvPr id="17" name="Slide Number Placeholder 5"/>
          <p:cNvSpPr>
            <a:spLocks noGrp="1"/>
          </p:cNvSpPr>
          <p:nvPr>
            <p:ph type="sldNum" sz="quarter" idx="12"/>
          </p:nvPr>
        </p:nvSpPr>
        <p:spPr/>
        <p:txBody>
          <a:bodyPr/>
          <a:lstStyle>
            <a:lvl1pPr>
              <a:defRPr/>
            </a:lvl1pPr>
          </a:lstStyle>
          <a:p>
            <a:pPr>
              <a:defRPr/>
            </a:pPr>
            <a:fld id="{B17FBB78-3332-4880-866E-0A3F9B2B4E82}" type="slidenum">
              <a:rPr lang="en-US" altLang="zh-CN"/>
              <a:pPr>
                <a:defRPr/>
              </a:pPr>
              <a:t>‹#›</a:t>
            </a:fld>
            <a:endParaRPr lang="en-US" altLang="zh-CN"/>
          </a:p>
        </p:txBody>
      </p:sp>
    </p:spTree>
    <p:extLst>
      <p:ext uri="{BB962C8B-B14F-4D97-AF65-F5344CB8AC3E}">
        <p14:creationId xmlns:p14="http://schemas.microsoft.com/office/powerpoint/2010/main" val="1649073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8675F621-1619-4F8E-88C5-5F30FD27FF75}" type="slidenum">
              <a:rPr lang="en-US" altLang="zh-CN"/>
              <a:pPr>
                <a:defRPr/>
              </a:pPr>
              <a:t>‹#›</a:t>
            </a:fld>
            <a:endParaRPr lang="en-US" altLang="zh-CN"/>
          </a:p>
        </p:txBody>
      </p:sp>
    </p:spTree>
    <p:extLst>
      <p:ext uri="{BB962C8B-B14F-4D97-AF65-F5344CB8AC3E}">
        <p14:creationId xmlns:p14="http://schemas.microsoft.com/office/powerpoint/2010/main" val="2317015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09598" y="4527448"/>
            <a:ext cx="6347715" cy="860400"/>
          </a:xfrm>
        </p:spPr>
        <p:txBody>
          <a:bodyPr/>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3714A08-4464-4D29-A3F1-407A8CD8ED93}" type="slidenum">
              <a:rPr lang="en-US" altLang="zh-CN"/>
              <a:pPr>
                <a:defRPr/>
              </a:pPr>
              <a:t>‹#›</a:t>
            </a:fld>
            <a:endParaRPr lang="en-US" altLang="zh-CN"/>
          </a:p>
        </p:txBody>
      </p:sp>
    </p:spTree>
    <p:extLst>
      <p:ext uri="{BB962C8B-B14F-4D97-AF65-F5344CB8AC3E}">
        <p14:creationId xmlns:p14="http://schemas.microsoft.com/office/powerpoint/2010/main" val="142975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28799"/>
            <a:ext cx="3799139" cy="4412562"/>
          </a:xfrm>
        </p:spPr>
        <p:txBody>
          <a:bodyPr>
            <a:normAutofit/>
          </a:bodyPr>
          <a:lstStyle>
            <a:lvl1pPr>
              <a:defRPr sz="2800"/>
            </a:lvl1pPr>
            <a:lvl2pPr>
              <a:defRPr sz="2400"/>
            </a:lvl2pPr>
            <a:lvl3pPr>
              <a:defRPr sz="2000"/>
            </a:lvl3pPr>
            <a:lvl4pPr>
              <a:defRPr sz="1800"/>
            </a:lvl4pPr>
            <a:lvl5pPr>
              <a:defRPr sz="1800"/>
            </a:lvl5pPr>
            <a:lvl6pPr>
              <a:defRPr sz="1200"/>
            </a:lvl6pPr>
            <a:lvl7pPr>
              <a:defRPr sz="1200"/>
            </a:lvl7pPr>
            <a:lvl8pPr>
              <a:defRPr sz="1200"/>
            </a:lvl8pPr>
            <a:lvl9pPr>
              <a:defRPr sz="12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44008" y="1628800"/>
            <a:ext cx="3799140" cy="4412563"/>
          </a:xfrm>
        </p:spPr>
        <p:txBody>
          <a:bodyPr>
            <a:normAutofit/>
          </a:bodyPr>
          <a:lstStyle>
            <a:lvl1pPr>
              <a:defRPr sz="2800"/>
            </a:lvl1pPr>
            <a:lvl2pPr>
              <a:defRPr sz="2400"/>
            </a:lvl2pPr>
            <a:lvl3pPr>
              <a:defRPr sz="2000"/>
            </a:lvl3pPr>
            <a:lvl4pPr>
              <a:defRPr sz="1800"/>
            </a:lvl4pPr>
            <a:lvl5pPr>
              <a:defRPr sz="1800"/>
            </a:lvl5pPr>
            <a:lvl6pPr>
              <a:defRPr sz="1200"/>
            </a:lvl6pPr>
            <a:lvl7pPr>
              <a:defRPr sz="1200"/>
            </a:lvl7pPr>
            <a:lvl8pPr>
              <a:defRPr sz="1200"/>
            </a:lvl8pPr>
            <a:lvl9pPr>
              <a:defRPr sz="12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7ABBB4C6-7EA4-4BDB-9E38-34E28C0211A6}" type="slidenum">
              <a:rPr lang="en-US" altLang="zh-CN"/>
              <a:pPr>
                <a:defRPr/>
              </a:pPr>
              <a:t>‹#›</a:t>
            </a:fld>
            <a:endParaRPr lang="en-US" altLang="zh-CN"/>
          </a:p>
        </p:txBody>
      </p:sp>
      <p:sp>
        <p:nvSpPr>
          <p:cNvPr id="8" name="Title Placeholder 1"/>
          <p:cNvSpPr>
            <a:spLocks noGrp="1"/>
          </p:cNvSpPr>
          <p:nvPr>
            <p:ph type="title"/>
          </p:nvPr>
        </p:nvSpPr>
        <p:spPr bwMode="auto">
          <a:xfrm>
            <a:off x="609600" y="333375"/>
            <a:ext cx="7850188"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Tree>
    <p:extLst>
      <p:ext uri="{BB962C8B-B14F-4D97-AF65-F5344CB8AC3E}">
        <p14:creationId xmlns:p14="http://schemas.microsoft.com/office/powerpoint/2010/main" val="2226711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A05D328-724C-4051-A690-C7F0AFBC61C6}" type="slidenum">
              <a:rPr lang="en-US" altLang="zh-CN"/>
              <a:pPr>
                <a:defRPr/>
              </a:pPr>
              <a:t>‹#›</a:t>
            </a:fld>
            <a:endParaRPr lang="en-US" altLang="zh-CN"/>
          </a:p>
        </p:txBody>
      </p:sp>
    </p:spTree>
    <p:extLst>
      <p:ext uri="{BB962C8B-B14F-4D97-AF65-F5344CB8AC3E}">
        <p14:creationId xmlns:p14="http://schemas.microsoft.com/office/powerpoint/2010/main" val="1577222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AB722AC5-6335-4364-9FE7-701C83AB7E93}" type="slidenum">
              <a:rPr lang="en-US" altLang="zh-CN"/>
              <a:pPr>
                <a:defRPr/>
              </a:pPr>
              <a:t>‹#›</a:t>
            </a:fld>
            <a:endParaRPr lang="en-US" altLang="zh-CN"/>
          </a:p>
        </p:txBody>
      </p:sp>
    </p:spTree>
    <p:extLst>
      <p:ext uri="{BB962C8B-B14F-4D97-AF65-F5344CB8AC3E}">
        <p14:creationId xmlns:p14="http://schemas.microsoft.com/office/powerpoint/2010/main" val="597273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zh-CN"/>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90AD05C2-C8A5-45E2-8FB2-84FA06ACEB5A}" type="slidenum">
              <a:rPr lang="en-US" altLang="zh-CN"/>
              <a:pPr>
                <a:defRPr/>
              </a:pPr>
              <a:t>‹#›</a:t>
            </a:fld>
            <a:endParaRPr lang="en-US" altLang="zh-CN"/>
          </a:p>
        </p:txBody>
      </p:sp>
    </p:spTree>
    <p:extLst>
      <p:ext uri="{BB962C8B-B14F-4D97-AF65-F5344CB8AC3E}">
        <p14:creationId xmlns:p14="http://schemas.microsoft.com/office/powerpoint/2010/main" val="2506658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C6D88B9-75DB-484E-AD45-E2F04DE115D6}" type="slidenum">
              <a:rPr lang="en-US" altLang="zh-CN"/>
              <a:pPr>
                <a:defRPr/>
              </a:pPr>
              <a:t>‹#›</a:t>
            </a:fld>
            <a:endParaRPr lang="en-US" altLang="zh-CN"/>
          </a:p>
        </p:txBody>
      </p:sp>
    </p:spTree>
    <p:extLst>
      <p:ext uri="{BB962C8B-B14F-4D97-AF65-F5344CB8AC3E}">
        <p14:creationId xmlns:p14="http://schemas.microsoft.com/office/powerpoint/2010/main" val="3018905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09599" y="609600"/>
            <a:ext cx="6347714" cy="3845718"/>
          </a:xfrm>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a:defRPr/>
            </a:lvl1pPr>
          </a:lstStyle>
          <a:p>
            <a:pPr>
              <a:defRPr/>
            </a:pPr>
            <a:endParaRPr lang="en-US" altLang="zh-CN"/>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973CFFFC-631F-4202-8192-0C161233A158}" type="slidenum">
              <a:rPr lang="en-US" altLang="zh-CN"/>
              <a:pPr>
                <a:defRPr/>
              </a:pPr>
              <a:t>‹#›</a:t>
            </a:fld>
            <a:endParaRPr lang="en-US" altLang="zh-CN"/>
          </a:p>
        </p:txBody>
      </p:sp>
    </p:spTree>
    <p:extLst>
      <p:ext uri="{BB962C8B-B14F-4D97-AF65-F5344CB8AC3E}">
        <p14:creationId xmlns:p14="http://schemas.microsoft.com/office/powerpoint/2010/main" val="1781390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D074047-D290-4C6D-9AF0-9046F940AA17}" type="slidenum">
              <a:rPr lang="en-US" altLang="zh-CN"/>
              <a:pPr>
                <a:defRPr/>
              </a:pPr>
              <a:t>‹#›</a:t>
            </a:fld>
            <a:endParaRPr lang="en-US" altLang="zh-CN"/>
          </a:p>
        </p:txBody>
      </p:sp>
    </p:spTree>
    <p:extLst>
      <p:ext uri="{BB962C8B-B14F-4D97-AF65-F5344CB8AC3E}">
        <p14:creationId xmlns:p14="http://schemas.microsoft.com/office/powerpoint/2010/main" val="1467738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23"/>
          <p:cNvSpPr txBox="1">
            <a:spLocks noChangeArrowheads="1"/>
          </p:cNvSpPr>
          <p:nvPr/>
        </p:nvSpPr>
        <p:spPr bwMode="auto">
          <a:xfrm>
            <a:off x="482600" y="790575"/>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defRPr/>
            </a:pPr>
            <a:r>
              <a:rPr lang="en-US" altLang="zh-CN" sz="8000">
                <a:solidFill>
                  <a:srgbClr val="95B3D7"/>
                </a:solidFill>
              </a:rPr>
              <a:t>“</a:t>
            </a:r>
          </a:p>
        </p:txBody>
      </p:sp>
      <p:sp>
        <p:nvSpPr>
          <p:cNvPr id="6" name="TextBox 24"/>
          <p:cNvSpPr txBox="1">
            <a:spLocks noChangeArrowheads="1"/>
          </p:cNvSpPr>
          <p:nvPr/>
        </p:nvSpPr>
        <p:spPr bwMode="auto">
          <a:xfrm>
            <a:off x="6748463" y="2886075"/>
            <a:ext cx="45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defRPr/>
            </a:pPr>
            <a:r>
              <a:rPr lang="en-US" altLang="zh-CN" sz="8000">
                <a:solidFill>
                  <a:srgbClr val="95B3D7"/>
                </a:solidFill>
              </a:rPr>
              <a:t>”</a:t>
            </a:r>
          </a:p>
        </p:txBody>
      </p:sp>
      <p:sp>
        <p:nvSpPr>
          <p:cNvPr id="2" name="Title 1"/>
          <p:cNvSpPr>
            <a:spLocks noGrp="1"/>
          </p:cNvSpPr>
          <p:nvPr>
            <p:ph type="title"/>
          </p:nvPr>
        </p:nvSpPr>
        <p:spPr>
          <a:xfrm>
            <a:off x="774885" y="609600"/>
            <a:ext cx="6072182" cy="3022600"/>
          </a:xfrm>
        </p:spPr>
        <p:txBody>
          <a:bodyP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a:defRPr/>
            </a:lvl1pPr>
          </a:lstStyle>
          <a:p>
            <a:pPr>
              <a:defRPr/>
            </a:pPr>
            <a:endParaRPr lang="en-US" altLang="zh-CN"/>
          </a:p>
        </p:txBody>
      </p:sp>
      <p:sp>
        <p:nvSpPr>
          <p:cNvPr id="8" name="Footer Placeholder 4"/>
          <p:cNvSpPr>
            <a:spLocks noGrp="1"/>
          </p:cNvSpPr>
          <p:nvPr>
            <p:ph type="ftr" sz="quarter" idx="15"/>
          </p:nvPr>
        </p:nvSpPr>
        <p:spPr/>
        <p:txBody>
          <a:bodyPr/>
          <a:lstStyle>
            <a:lvl1pPr>
              <a:defRPr/>
            </a:lvl1pPr>
          </a:lstStyle>
          <a:p>
            <a:pPr>
              <a:defRPr/>
            </a:pPr>
            <a:endParaRPr lang="en-GB"/>
          </a:p>
        </p:txBody>
      </p:sp>
      <p:sp>
        <p:nvSpPr>
          <p:cNvPr id="9" name="Slide Number Placeholder 5"/>
          <p:cNvSpPr>
            <a:spLocks noGrp="1"/>
          </p:cNvSpPr>
          <p:nvPr>
            <p:ph type="sldNum" sz="quarter" idx="16"/>
          </p:nvPr>
        </p:nvSpPr>
        <p:spPr/>
        <p:txBody>
          <a:bodyPr/>
          <a:lstStyle>
            <a:lvl1pPr>
              <a:defRPr/>
            </a:lvl1pPr>
          </a:lstStyle>
          <a:p>
            <a:pPr>
              <a:defRPr/>
            </a:pPr>
            <a:fld id="{2FBABEBF-AF30-4B84-A53E-806883FF4517}" type="slidenum">
              <a:rPr lang="en-US" altLang="zh-CN"/>
              <a:pPr>
                <a:defRPr/>
              </a:pPr>
              <a:t>‹#›</a:t>
            </a:fld>
            <a:endParaRPr lang="en-US" altLang="zh-CN"/>
          </a:p>
        </p:txBody>
      </p:sp>
    </p:spTree>
    <p:extLst>
      <p:ext uri="{BB962C8B-B14F-4D97-AF65-F5344CB8AC3E}">
        <p14:creationId xmlns:p14="http://schemas.microsoft.com/office/powerpoint/2010/main" val="7602582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09598" y="4527448"/>
            <a:ext cx="6347715" cy="1513914"/>
          </a:xfrm>
        </p:spPr>
        <p:txBody>
          <a:bodyP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D6B4C3AA-91EF-4DFC-B3DD-3099D4946A10}" type="slidenum">
              <a:rPr lang="en-US" altLang="zh-CN"/>
              <a:pPr>
                <a:defRPr/>
              </a:pPr>
              <a:t>‹#›</a:t>
            </a:fld>
            <a:endParaRPr lang="en-US" altLang="zh-CN"/>
          </a:p>
        </p:txBody>
      </p:sp>
    </p:spTree>
    <p:extLst>
      <p:ext uri="{BB962C8B-B14F-4D97-AF65-F5344CB8AC3E}">
        <p14:creationId xmlns:p14="http://schemas.microsoft.com/office/powerpoint/2010/main" val="74236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a:spLocks noChangeArrowheads="1"/>
          </p:cNvSpPr>
          <p:nvPr/>
        </p:nvSpPr>
        <p:spPr bwMode="auto">
          <a:xfrm>
            <a:off x="482600" y="790575"/>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defRPr/>
            </a:pPr>
            <a:r>
              <a:rPr lang="en-US" altLang="zh-CN" sz="8000">
                <a:solidFill>
                  <a:srgbClr val="95B3D7"/>
                </a:solidFill>
              </a:rPr>
              <a:t>“</a:t>
            </a:r>
          </a:p>
        </p:txBody>
      </p:sp>
      <p:sp>
        <p:nvSpPr>
          <p:cNvPr id="6" name="TextBox 24"/>
          <p:cNvSpPr txBox="1">
            <a:spLocks noChangeArrowheads="1"/>
          </p:cNvSpPr>
          <p:nvPr/>
        </p:nvSpPr>
        <p:spPr bwMode="auto">
          <a:xfrm>
            <a:off x="6748463" y="2886075"/>
            <a:ext cx="45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defRPr/>
            </a:pPr>
            <a:r>
              <a:rPr lang="en-US" altLang="zh-CN" sz="8000">
                <a:solidFill>
                  <a:srgbClr val="95B3D7"/>
                </a:solidFill>
              </a:rPr>
              <a:t>”</a:t>
            </a:r>
          </a:p>
        </p:txBody>
      </p:sp>
      <p:sp>
        <p:nvSpPr>
          <p:cNvPr id="2" name="Title 1"/>
          <p:cNvSpPr>
            <a:spLocks noGrp="1"/>
          </p:cNvSpPr>
          <p:nvPr>
            <p:ph type="title"/>
          </p:nvPr>
        </p:nvSpPr>
        <p:spPr>
          <a:xfrm>
            <a:off x="774885" y="609600"/>
            <a:ext cx="6072182" cy="3022600"/>
          </a:xfrm>
        </p:spPr>
        <p:txBody>
          <a:bodyP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09598" y="4527448"/>
            <a:ext cx="6347715" cy="1513914"/>
          </a:xfrm>
        </p:spPr>
        <p:txBody>
          <a:bodyPr>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a:defRPr/>
            </a:lvl1pPr>
          </a:lstStyle>
          <a:p>
            <a:pPr>
              <a:defRPr/>
            </a:pPr>
            <a:endParaRPr lang="en-US" altLang="zh-CN"/>
          </a:p>
        </p:txBody>
      </p:sp>
      <p:sp>
        <p:nvSpPr>
          <p:cNvPr id="8" name="Footer Placeholder 4"/>
          <p:cNvSpPr>
            <a:spLocks noGrp="1"/>
          </p:cNvSpPr>
          <p:nvPr>
            <p:ph type="ftr" sz="quarter" idx="15"/>
          </p:nvPr>
        </p:nvSpPr>
        <p:spPr/>
        <p:txBody>
          <a:bodyPr/>
          <a:lstStyle>
            <a:lvl1pPr>
              <a:defRPr/>
            </a:lvl1pPr>
          </a:lstStyle>
          <a:p>
            <a:pPr>
              <a:defRPr/>
            </a:pPr>
            <a:endParaRPr lang="en-GB"/>
          </a:p>
        </p:txBody>
      </p:sp>
      <p:sp>
        <p:nvSpPr>
          <p:cNvPr id="9" name="Slide Number Placeholder 5"/>
          <p:cNvSpPr>
            <a:spLocks noGrp="1"/>
          </p:cNvSpPr>
          <p:nvPr>
            <p:ph type="sldNum" sz="quarter" idx="16"/>
          </p:nvPr>
        </p:nvSpPr>
        <p:spPr/>
        <p:txBody>
          <a:bodyPr/>
          <a:lstStyle>
            <a:lvl1pPr>
              <a:defRPr/>
            </a:lvl1pPr>
          </a:lstStyle>
          <a:p>
            <a:pPr>
              <a:defRPr/>
            </a:pPr>
            <a:fld id="{D00A2997-739A-4FC7-B7BB-42378CF1442E}" type="slidenum">
              <a:rPr lang="en-US" altLang="zh-CN"/>
              <a:pPr>
                <a:defRPr/>
              </a:pPr>
              <a:t>‹#›</a:t>
            </a:fld>
            <a:endParaRPr lang="en-US" altLang="zh-CN"/>
          </a:p>
        </p:txBody>
      </p:sp>
    </p:spTree>
    <p:extLst>
      <p:ext uri="{BB962C8B-B14F-4D97-AF65-F5344CB8AC3E}">
        <p14:creationId xmlns:p14="http://schemas.microsoft.com/office/powerpoint/2010/main" val="30492752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09598" y="4527448"/>
            <a:ext cx="6347715" cy="1513914"/>
          </a:xfrm>
        </p:spPr>
        <p:txBody>
          <a:bodyPr>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a:defRPr/>
            </a:lvl1pPr>
          </a:lstStyle>
          <a:p>
            <a:pPr>
              <a:defRPr/>
            </a:pPr>
            <a:endParaRPr lang="en-US" altLang="zh-CN"/>
          </a:p>
        </p:txBody>
      </p:sp>
      <p:sp>
        <p:nvSpPr>
          <p:cNvPr id="6" name="Footer Placeholder 4"/>
          <p:cNvSpPr>
            <a:spLocks noGrp="1"/>
          </p:cNvSpPr>
          <p:nvPr>
            <p:ph type="ftr" sz="quarter" idx="15"/>
          </p:nvPr>
        </p:nvSpPr>
        <p:spPr/>
        <p:txBody>
          <a:bodyPr/>
          <a:lstStyle>
            <a:lvl1pPr>
              <a:defRPr/>
            </a:lvl1pPr>
          </a:lstStyle>
          <a:p>
            <a:pPr>
              <a:defRPr/>
            </a:pPr>
            <a:endParaRPr lang="en-GB"/>
          </a:p>
        </p:txBody>
      </p:sp>
      <p:sp>
        <p:nvSpPr>
          <p:cNvPr id="7" name="Slide Number Placeholder 5"/>
          <p:cNvSpPr>
            <a:spLocks noGrp="1"/>
          </p:cNvSpPr>
          <p:nvPr>
            <p:ph type="sldNum" sz="quarter" idx="16"/>
          </p:nvPr>
        </p:nvSpPr>
        <p:spPr/>
        <p:txBody>
          <a:bodyPr/>
          <a:lstStyle>
            <a:lvl1pPr>
              <a:defRPr/>
            </a:lvl1pPr>
          </a:lstStyle>
          <a:p>
            <a:pPr>
              <a:defRPr/>
            </a:pPr>
            <a:fld id="{F7D1FC56-377A-4419-A270-F2A799A49D99}" type="slidenum">
              <a:rPr lang="en-US" altLang="zh-CN"/>
              <a:pPr>
                <a:defRPr/>
              </a:pPr>
              <a:t>‹#›</a:t>
            </a:fld>
            <a:endParaRPr lang="en-US" altLang="zh-CN"/>
          </a:p>
        </p:txBody>
      </p:sp>
    </p:spTree>
    <p:extLst>
      <p:ext uri="{BB962C8B-B14F-4D97-AF65-F5344CB8AC3E}">
        <p14:creationId xmlns:p14="http://schemas.microsoft.com/office/powerpoint/2010/main" val="31966466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EF331DEB-084E-4111-A2C4-D3B32AFACE4A}" type="slidenum">
              <a:rPr lang="en-US" altLang="zh-CN"/>
              <a:pPr>
                <a:defRPr/>
              </a:pPr>
              <a:t>‹#›</a:t>
            </a:fld>
            <a:endParaRPr lang="en-US" altLang="zh-CN"/>
          </a:p>
        </p:txBody>
      </p:sp>
    </p:spTree>
    <p:extLst>
      <p:ext uri="{BB962C8B-B14F-4D97-AF65-F5344CB8AC3E}">
        <p14:creationId xmlns:p14="http://schemas.microsoft.com/office/powerpoint/2010/main" val="28532880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6E7DC47-552C-4D62-8E8D-F9F5566F4DD1}" type="slidenum">
              <a:rPr lang="en-US" altLang="zh-CN"/>
              <a:pPr>
                <a:defRPr/>
              </a:pPr>
              <a:t>‹#›</a:t>
            </a:fld>
            <a:endParaRPr lang="en-US" altLang="zh-CN"/>
          </a:p>
        </p:txBody>
      </p:sp>
    </p:spTree>
    <p:extLst>
      <p:ext uri="{BB962C8B-B14F-4D97-AF65-F5344CB8AC3E}">
        <p14:creationId xmlns:p14="http://schemas.microsoft.com/office/powerpoint/2010/main" val="3858838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7938" y="4013200"/>
            <a:ext cx="457201" cy="2852738"/>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userDrawn="1"/>
        </p:nvSpPr>
        <p:spPr>
          <a:xfrm>
            <a:off x="8459788" y="-7938"/>
            <a:ext cx="693737" cy="6865938"/>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userDrawn="1"/>
        </p:nvSpPr>
        <p:spPr>
          <a:xfrm>
            <a:off x="8459788" y="-7938"/>
            <a:ext cx="701675" cy="6865938"/>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userDrawn="1"/>
        </p:nvSpPr>
        <p:spPr>
          <a:xfrm>
            <a:off x="8243888" y="4894263"/>
            <a:ext cx="919162" cy="196373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30" name="Title Placeholder 1"/>
          <p:cNvSpPr>
            <a:spLocks noGrp="1"/>
          </p:cNvSpPr>
          <p:nvPr>
            <p:ph type="title"/>
          </p:nvPr>
        </p:nvSpPr>
        <p:spPr bwMode="auto">
          <a:xfrm>
            <a:off x="609600" y="333375"/>
            <a:ext cx="7850188"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31" name="Text Placeholder 2"/>
          <p:cNvSpPr>
            <a:spLocks noGrp="1"/>
          </p:cNvSpPr>
          <p:nvPr>
            <p:ph type="body" idx="1"/>
          </p:nvPr>
        </p:nvSpPr>
        <p:spPr bwMode="auto">
          <a:xfrm>
            <a:off x="609600" y="1484313"/>
            <a:ext cx="7850188" cy="455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6659563" y="6232525"/>
            <a:ext cx="846137" cy="365125"/>
          </a:xfrm>
          <a:prstGeom prst="rect">
            <a:avLst/>
          </a:prstGeom>
        </p:spPr>
        <p:txBody>
          <a:bodyPr vert="horz" lIns="91440" tIns="45720" rIns="91440" bIns="45720" rtlCol="0" anchor="ctr"/>
          <a:lstStyle>
            <a:lvl1pPr algn="r">
              <a:defRPr sz="1600">
                <a:solidFill>
                  <a:schemeClr val="tx1">
                    <a:tint val="75000"/>
                  </a:schemeClr>
                </a:solidFill>
              </a:defRPr>
            </a:lvl1pPr>
          </a:lstStyle>
          <a:p>
            <a:pPr>
              <a:defRPr/>
            </a:pPr>
            <a:endParaRPr lang="en-US" altLang="zh-CN"/>
          </a:p>
        </p:txBody>
      </p:sp>
      <p:sp>
        <p:nvSpPr>
          <p:cNvPr id="5" name="Footer Placeholder 4"/>
          <p:cNvSpPr>
            <a:spLocks noGrp="1"/>
          </p:cNvSpPr>
          <p:nvPr>
            <p:ph type="ftr" sz="quarter" idx="3"/>
          </p:nvPr>
        </p:nvSpPr>
        <p:spPr>
          <a:xfrm>
            <a:off x="609600" y="6232525"/>
            <a:ext cx="5718175" cy="365125"/>
          </a:xfrm>
          <a:prstGeom prst="rect">
            <a:avLst/>
          </a:prstGeom>
        </p:spPr>
        <p:txBody>
          <a:bodyPr vert="horz" lIns="91440" tIns="45720" rIns="91440" bIns="45720" rtlCol="0" anchor="ctr"/>
          <a:lstStyle>
            <a:lvl1pPr algn="l">
              <a:defRPr sz="1600">
                <a:solidFill>
                  <a:schemeClr val="tx1">
                    <a:tint val="75000"/>
                  </a:schemeClr>
                </a:solidFill>
              </a:defRPr>
            </a:lvl1pPr>
          </a:lstStyle>
          <a:p>
            <a:pPr>
              <a:defRPr/>
            </a:pPr>
            <a:endParaRPr lang="en-GB"/>
          </a:p>
        </p:txBody>
      </p:sp>
      <p:sp>
        <p:nvSpPr>
          <p:cNvPr id="6" name="Slide Number Placeholder 5"/>
          <p:cNvSpPr>
            <a:spLocks noGrp="1"/>
          </p:cNvSpPr>
          <p:nvPr>
            <p:ph type="sldNum" sz="quarter" idx="4"/>
          </p:nvPr>
        </p:nvSpPr>
        <p:spPr>
          <a:xfrm>
            <a:off x="7824788" y="6232525"/>
            <a:ext cx="633412" cy="365125"/>
          </a:xfrm>
          <a:prstGeom prst="rect">
            <a:avLst/>
          </a:prstGeom>
        </p:spPr>
        <p:txBody>
          <a:bodyPr vert="horz" lIns="91440" tIns="45720" rIns="91440" bIns="45720" rtlCol="0" anchor="ctr"/>
          <a:lstStyle>
            <a:lvl1pPr algn="r">
              <a:defRPr sz="1600">
                <a:solidFill>
                  <a:schemeClr val="accent1"/>
                </a:solidFill>
              </a:defRPr>
            </a:lvl1pPr>
          </a:lstStyle>
          <a:p>
            <a:pPr>
              <a:defRPr/>
            </a:pPr>
            <a:fld id="{2243756A-8E00-4D8E-8C7D-8C9A0878340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270" r:id="rId1"/>
    <p:sldLayoutId id="2147484258" r:id="rId2"/>
    <p:sldLayoutId id="2147484259" r:id="rId3"/>
    <p:sldLayoutId id="2147484260" r:id="rId4"/>
    <p:sldLayoutId id="2147484261" r:id="rId5"/>
    <p:sldLayoutId id="2147484262" r:id="rId6"/>
    <p:sldLayoutId id="2147484263" r:id="rId7"/>
    <p:sldLayoutId id="2147484264" r:id="rId8"/>
    <p:sldLayoutId id="2147484271" r:id="rId9"/>
    <p:sldLayoutId id="2147484265" r:id="rId10"/>
    <p:sldLayoutId id="2147484272" r:id="rId11"/>
    <p:sldLayoutId id="2147484266" r:id="rId12"/>
    <p:sldLayoutId id="2147484273" r:id="rId13"/>
    <p:sldLayoutId id="2147484267" r:id="rId14"/>
    <p:sldLayoutId id="2147484268" r:id="rId15"/>
    <p:sldLayoutId id="2147484269" r:id="rId16"/>
  </p:sldLayoutIdLst>
  <p:hf hdr="0" ftr="0" dt="0"/>
  <p:txStyles>
    <p:titleStyle>
      <a:lvl1pPr algn="l" defTabSz="457200" rtl="0" eaLnBrk="0" fontAlgn="base" hangingPunct="0">
        <a:spcBef>
          <a:spcPct val="0"/>
        </a:spcBef>
        <a:spcAft>
          <a:spcPct val="0"/>
        </a:spcAft>
        <a:defRPr sz="4400" kern="1200">
          <a:solidFill>
            <a:schemeClr val="accent1"/>
          </a:solidFill>
          <a:latin typeface="+mj-lt"/>
          <a:ea typeface="+mj-ea"/>
          <a:cs typeface="+mj-cs"/>
        </a:defRPr>
      </a:lvl1pPr>
      <a:lvl2pPr algn="l" defTabSz="457200" rtl="0" eaLnBrk="0" fontAlgn="base" hangingPunct="0">
        <a:spcBef>
          <a:spcPct val="0"/>
        </a:spcBef>
        <a:spcAft>
          <a:spcPct val="0"/>
        </a:spcAft>
        <a:defRPr sz="4400">
          <a:solidFill>
            <a:schemeClr val="accent1"/>
          </a:solidFill>
          <a:latin typeface="Arial" panose="020B0604020202020204" pitchFamily="34" charset="0"/>
          <a:ea typeface="微软雅黑" panose="020B0503020204020204" pitchFamily="34" charset="-122"/>
        </a:defRPr>
      </a:lvl2pPr>
      <a:lvl3pPr algn="l" defTabSz="457200" rtl="0" eaLnBrk="0" fontAlgn="base" hangingPunct="0">
        <a:spcBef>
          <a:spcPct val="0"/>
        </a:spcBef>
        <a:spcAft>
          <a:spcPct val="0"/>
        </a:spcAft>
        <a:defRPr sz="4400">
          <a:solidFill>
            <a:schemeClr val="accent1"/>
          </a:solidFill>
          <a:latin typeface="Arial" panose="020B0604020202020204" pitchFamily="34" charset="0"/>
          <a:ea typeface="微软雅黑" panose="020B0503020204020204" pitchFamily="34" charset="-122"/>
        </a:defRPr>
      </a:lvl3pPr>
      <a:lvl4pPr algn="l" defTabSz="457200" rtl="0" eaLnBrk="0" fontAlgn="base" hangingPunct="0">
        <a:spcBef>
          <a:spcPct val="0"/>
        </a:spcBef>
        <a:spcAft>
          <a:spcPct val="0"/>
        </a:spcAft>
        <a:defRPr sz="4400">
          <a:solidFill>
            <a:schemeClr val="accent1"/>
          </a:solidFill>
          <a:latin typeface="Arial" panose="020B0604020202020204" pitchFamily="34" charset="0"/>
          <a:ea typeface="微软雅黑" panose="020B0503020204020204" pitchFamily="34" charset="-122"/>
        </a:defRPr>
      </a:lvl4pPr>
      <a:lvl5pPr algn="l" defTabSz="457200" rtl="0" eaLnBrk="0" fontAlgn="base" hangingPunct="0">
        <a:spcBef>
          <a:spcPct val="0"/>
        </a:spcBef>
        <a:spcAft>
          <a:spcPct val="0"/>
        </a:spcAft>
        <a:defRPr sz="4400">
          <a:solidFill>
            <a:schemeClr val="accent1"/>
          </a:solidFill>
          <a:latin typeface="Arial" panose="020B0604020202020204" pitchFamily="34" charset="0"/>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0" fontAlgn="base" hangingPunct="0">
        <a:spcBef>
          <a:spcPts val="600"/>
        </a:spcBef>
        <a:spcAft>
          <a:spcPct val="0"/>
        </a:spcAft>
        <a:buClr>
          <a:schemeClr val="accent1"/>
        </a:buClr>
        <a:buSzPct val="80000"/>
        <a:buFont typeface="Wingdings 3" panose="05040102010807070707" pitchFamily="18" charset="2"/>
        <a:buChar char=""/>
        <a:defRPr sz="3200" kern="1200">
          <a:solidFill>
            <a:srgbClr val="404040"/>
          </a:solidFill>
          <a:latin typeface="+mn-lt"/>
          <a:ea typeface="+mn-ea"/>
          <a:cs typeface="+mn-cs"/>
        </a:defRPr>
      </a:lvl1pPr>
      <a:lvl2pPr marL="742950" indent="-285750" algn="l" defTabSz="457200" rtl="0" eaLnBrk="0" fontAlgn="base" hangingPunct="0">
        <a:spcBef>
          <a:spcPts val="600"/>
        </a:spcBef>
        <a:spcAft>
          <a:spcPct val="0"/>
        </a:spcAft>
        <a:buClr>
          <a:schemeClr val="accent1"/>
        </a:buClr>
        <a:buSzPct val="80000"/>
        <a:buFont typeface="Wingdings 3" panose="05040102010807070707" pitchFamily="18" charset="2"/>
        <a:buChar char=""/>
        <a:defRPr sz="2800" kern="1200">
          <a:solidFill>
            <a:srgbClr val="404040"/>
          </a:solidFill>
          <a:latin typeface="+mn-lt"/>
          <a:ea typeface="+mn-ea"/>
          <a:cs typeface="+mn-cs"/>
        </a:defRPr>
      </a:lvl2pPr>
      <a:lvl3pPr marL="1143000" indent="-228600" algn="l" defTabSz="457200" rtl="0" eaLnBrk="0" fontAlgn="base" hangingPunct="0">
        <a:spcBef>
          <a:spcPts val="600"/>
        </a:spcBef>
        <a:spcAft>
          <a:spcPct val="0"/>
        </a:spcAft>
        <a:buClr>
          <a:schemeClr val="accent1"/>
        </a:buClr>
        <a:buSzPct val="80000"/>
        <a:buFont typeface="Wingdings 3" panose="05040102010807070707" pitchFamily="18" charset="2"/>
        <a:buChar char=""/>
        <a:defRPr sz="2400" kern="1200">
          <a:solidFill>
            <a:srgbClr val="404040"/>
          </a:solidFill>
          <a:latin typeface="+mn-lt"/>
          <a:ea typeface="+mn-ea"/>
          <a:cs typeface="+mn-cs"/>
        </a:defRPr>
      </a:lvl3pPr>
      <a:lvl4pPr marL="1600200" indent="-228600" algn="l" defTabSz="457200" rtl="0" eaLnBrk="0" fontAlgn="base" hangingPunct="0">
        <a:spcBef>
          <a:spcPts val="600"/>
        </a:spcBef>
        <a:spcAft>
          <a:spcPct val="0"/>
        </a:spcAft>
        <a:buClr>
          <a:schemeClr val="accent1"/>
        </a:buClr>
        <a:buSzPct val="80000"/>
        <a:buFont typeface="Wingdings 3" panose="05040102010807070707" pitchFamily="18" charset="2"/>
        <a:buChar char=""/>
        <a:defRPr sz="2000" kern="1200">
          <a:solidFill>
            <a:srgbClr val="404040"/>
          </a:solidFill>
          <a:latin typeface="+mn-lt"/>
          <a:ea typeface="+mn-ea"/>
          <a:cs typeface="+mn-cs"/>
        </a:defRPr>
      </a:lvl4pPr>
      <a:lvl5pPr marL="2057400" indent="-228600" algn="l" defTabSz="457200" rtl="0" eaLnBrk="0" fontAlgn="base" hangingPunct="0">
        <a:spcBef>
          <a:spcPts val="600"/>
        </a:spcBef>
        <a:spcAft>
          <a:spcPct val="0"/>
        </a:spcAft>
        <a:buClr>
          <a:schemeClr val="accent1"/>
        </a:buClr>
        <a:buSzPct val="80000"/>
        <a:buFont typeface="Wingdings 3" panose="05040102010807070707" pitchFamily="18" charset="2"/>
        <a:buChar char=""/>
        <a:defRPr sz="20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10.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0.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17588" y="2405063"/>
            <a:ext cx="6362700" cy="1646237"/>
          </a:xfrm>
        </p:spPr>
        <p:txBody>
          <a:bodyPr/>
          <a:lstStyle/>
          <a:p>
            <a:pPr eaLnBrk="1" hangingPunct="1"/>
            <a:r>
              <a:rPr lang="zh-CN" altLang="en-US" dirty="0"/>
              <a:t>人工智能</a:t>
            </a:r>
            <a:endParaRPr lang="en-GB" altLang="zh-CN" dirty="0"/>
          </a:p>
        </p:txBody>
      </p:sp>
      <p:sp>
        <p:nvSpPr>
          <p:cNvPr id="7171" name="Rectangle 3"/>
          <p:cNvSpPr>
            <a:spLocks noGrp="1" noChangeArrowheads="1"/>
          </p:cNvSpPr>
          <p:nvPr>
            <p:ph type="subTitle" idx="1"/>
          </p:nvPr>
        </p:nvSpPr>
        <p:spPr>
          <a:xfrm>
            <a:off x="1017588" y="4051300"/>
            <a:ext cx="6362700" cy="1096963"/>
          </a:xfrm>
        </p:spPr>
        <p:txBody>
          <a:bodyPr rtlCol="0"/>
          <a:lstStyle/>
          <a:p>
            <a:pPr eaLnBrk="1" fontAlgn="auto" hangingPunct="1">
              <a:spcAft>
                <a:spcPts val="0"/>
              </a:spcAft>
              <a:defRPr/>
            </a:pPr>
            <a:r>
              <a:rPr lang="zh-CN" altLang="en-US" dirty="0"/>
              <a:t>第</a:t>
            </a:r>
            <a:r>
              <a:rPr lang="en-US" altLang="zh-CN" dirty="0"/>
              <a:t>10</a:t>
            </a:r>
            <a:r>
              <a:rPr lang="zh-CN" altLang="en-US" dirty="0"/>
              <a:t>章 经典规划</a:t>
            </a:r>
            <a:endParaRPr lang="en-GB" altLang="zh-CN" dirty="0"/>
          </a:p>
        </p:txBody>
      </p:sp>
      <p:sp>
        <p:nvSpPr>
          <p:cNvPr id="2" name="灯片编号占位符 1"/>
          <p:cNvSpPr>
            <a:spLocks noGrp="1"/>
          </p:cNvSpPr>
          <p:nvPr>
            <p:ph type="sldNum" sz="quarter" idx="12"/>
          </p:nvPr>
        </p:nvSpPr>
        <p:spPr/>
        <p:txBody>
          <a:bodyPr/>
          <a:lstStyle/>
          <a:p>
            <a:pPr>
              <a:defRPr/>
            </a:pPr>
            <a:fld id="{B17FBB78-3332-4880-866E-0A3F9B2B4E82}" type="slidenum">
              <a:rPr lang="en-US" altLang="zh-CN" smtClean="0"/>
              <a:pPr>
                <a:defRPr/>
              </a:pPr>
              <a:t>1</a:t>
            </a:fld>
            <a:endParaRPr lang="en-US" altLang="zh-CN"/>
          </a:p>
        </p:txBody>
      </p:sp>
    </p:spTree>
    <p:extLst>
      <p:ext uri="{BB962C8B-B14F-4D97-AF65-F5344CB8AC3E}">
        <p14:creationId xmlns:p14="http://schemas.microsoft.com/office/powerpoint/2010/main" val="3046084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a:t>目录</a:t>
            </a:r>
            <a:endParaRPr lang="en-US" altLang="zh-CN" dirty="0"/>
          </a:p>
        </p:txBody>
      </p:sp>
      <p:sp>
        <p:nvSpPr>
          <p:cNvPr id="5123" name="Rectangle 3"/>
          <p:cNvSpPr>
            <a:spLocks noGrp="1" noChangeArrowheads="1"/>
          </p:cNvSpPr>
          <p:nvPr>
            <p:ph idx="1"/>
          </p:nvPr>
        </p:nvSpPr>
        <p:spPr/>
        <p:txBody>
          <a:bodyPr/>
          <a:lstStyle/>
          <a:p>
            <a:r>
              <a:rPr lang="zh-CN" altLang="en-US" dirty="0"/>
              <a:t>相关知识回顾</a:t>
            </a:r>
            <a:endParaRPr lang="en-US" altLang="zh-CN" dirty="0"/>
          </a:p>
          <a:p>
            <a:r>
              <a:rPr lang="zh-CN" altLang="en-US" dirty="0"/>
              <a:t>习题讲解</a:t>
            </a:r>
            <a:endParaRPr lang="en-US" altLang="zh-CN" dirty="0"/>
          </a:p>
          <a:p>
            <a:r>
              <a:rPr lang="zh-CN" altLang="en-US" dirty="0"/>
              <a:t>作业情况</a:t>
            </a:r>
            <a:endParaRPr lang="en-US" altLang="zh-CN" dirty="0"/>
          </a:p>
          <a:p>
            <a:endParaRPr lang="en-US" altLang="zh-CN" dirty="0"/>
          </a:p>
          <a:p>
            <a:pPr marL="0" indent="0">
              <a:buNone/>
            </a:pPr>
            <a:endParaRPr lang="en-US" altLang="zh-CN" dirty="0"/>
          </a:p>
        </p:txBody>
      </p:sp>
      <p:sp>
        <p:nvSpPr>
          <p:cNvPr id="3" name="灯片编号占位符 2"/>
          <p:cNvSpPr>
            <a:spLocks noGrp="1"/>
          </p:cNvSpPr>
          <p:nvPr>
            <p:ph type="sldNum" sz="quarter" idx="12"/>
          </p:nvPr>
        </p:nvSpPr>
        <p:spPr/>
        <p:txBody>
          <a:bodyPr/>
          <a:lstStyle/>
          <a:p>
            <a:pPr>
              <a:defRPr/>
            </a:pPr>
            <a:fld id="{8675F621-1619-4F8E-88C5-5F30FD27FF75}" type="slidenum">
              <a:rPr lang="en-US" altLang="zh-CN" smtClean="0"/>
              <a:t>2</a:t>
            </a:fld>
            <a:endParaRPr lang="en-US" altLang="zh-CN"/>
          </a:p>
        </p:txBody>
      </p:sp>
    </p:spTree>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学习内容</a:t>
            </a:r>
          </a:p>
        </p:txBody>
      </p:sp>
      <p:sp>
        <p:nvSpPr>
          <p:cNvPr id="3" name="内容占位符 2"/>
          <p:cNvSpPr>
            <a:spLocks noGrp="1"/>
          </p:cNvSpPr>
          <p:nvPr>
            <p:ph idx="1"/>
          </p:nvPr>
        </p:nvSpPr>
        <p:spPr/>
        <p:txBody>
          <a:bodyPr/>
          <a:lstStyle/>
          <a:p>
            <a:r>
              <a:rPr lang="zh-CN" altLang="en-US" dirty="0"/>
              <a:t>用</a:t>
            </a:r>
            <a:r>
              <a:rPr lang="en-US" altLang="zh-CN" dirty="0"/>
              <a:t>PDDL</a:t>
            </a:r>
            <a:r>
              <a:rPr lang="zh-CN" altLang="en-US" dirty="0"/>
              <a:t>将规划问题定义为搜索问题</a:t>
            </a: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pPr>
                <a:defRPr/>
              </a:pPr>
              <a:t>3</a:t>
            </a:fld>
            <a:endParaRPr lang="en-US" altLang="zh-CN" dirty="0"/>
          </a:p>
        </p:txBody>
      </p:sp>
    </p:spTree>
    <p:extLst>
      <p:ext uri="{BB962C8B-B14F-4D97-AF65-F5344CB8AC3E}">
        <p14:creationId xmlns:p14="http://schemas.microsoft.com/office/powerpoint/2010/main" val="258415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规划问题</a:t>
            </a:r>
            <a:endParaRPr lang="zh-CN" altLang="en-US" sz="31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zh-CN" dirty="0"/>
                  <a:t>规划</a:t>
                </a:r>
                <a:r>
                  <a:rPr lang="en-US" altLang="zh-CN" dirty="0"/>
                  <a:t>(planning)</a:t>
                </a:r>
              </a:p>
              <a:p>
                <a:pPr lvl="1"/>
                <a:r>
                  <a:rPr lang="zh-CN" altLang="zh-CN" dirty="0"/>
                  <a:t>设计一个动作规划以达到目标</a:t>
                </a:r>
                <a:endParaRPr lang="en-US" altLang="zh-CN" dirty="0"/>
              </a:p>
              <a:p>
                <a:r>
                  <a:rPr lang="zh-CN" altLang="en-US" dirty="0"/>
                  <a:t>航空货物运输问题</a:t>
                </a:r>
                <a:endParaRPr lang="en-US" altLang="zh-CN" dirty="0"/>
              </a:p>
              <a:p>
                <a:pPr lvl="1"/>
                <a:r>
                  <a:rPr lang="zh-CN" altLang="en-US" dirty="0"/>
                  <a:t>条件：货物</a:t>
                </a:r>
                <a14:m>
                  <m:oMath xmlns:m="http://schemas.openxmlformats.org/officeDocument/2006/math">
                    <m:r>
                      <a:rPr lang="en-US" altLang="zh-CN" i="1" dirty="0">
                        <a:latin typeface="Cambria Math" panose="02040503050406030204" pitchFamily="18" charset="0"/>
                      </a:rPr>
                      <m:t>𝐶</m:t>
                    </m:r>
                    <m:r>
                      <a:rPr lang="en-US" altLang="zh-CN" i="1" baseline="-25000" dirty="0">
                        <a:latin typeface="Cambria Math" panose="02040503050406030204" pitchFamily="18" charset="0"/>
                      </a:rPr>
                      <m:t>1</m:t>
                    </m:r>
                  </m:oMath>
                </a14:m>
                <a:r>
                  <a:rPr lang="zh-CN" altLang="en-US" dirty="0"/>
                  <a:t>和飞机</a:t>
                </a:r>
                <a14:m>
                  <m:oMath xmlns:m="http://schemas.openxmlformats.org/officeDocument/2006/math">
                    <m:r>
                      <a:rPr lang="en-US" altLang="zh-CN" i="1" dirty="0">
                        <a:latin typeface="Cambria Math" panose="02040503050406030204" pitchFamily="18" charset="0"/>
                      </a:rPr>
                      <m:t>𝑃</m:t>
                    </m:r>
                    <m:r>
                      <a:rPr lang="en-US" altLang="zh-CN" i="1" baseline="-25000" dirty="0">
                        <a:latin typeface="Cambria Math" panose="02040503050406030204" pitchFamily="18" charset="0"/>
                      </a:rPr>
                      <m:t>1</m:t>
                    </m:r>
                  </m:oMath>
                </a14:m>
                <a:r>
                  <a:rPr lang="zh-CN" altLang="en-US" dirty="0"/>
                  <a:t>在</a:t>
                </a:r>
                <a14:m>
                  <m:oMath xmlns:m="http://schemas.openxmlformats.org/officeDocument/2006/math">
                    <m:r>
                      <a:rPr lang="en-US" altLang="zh-CN" i="1" dirty="0" smtClean="0">
                        <a:latin typeface="Cambria Math" panose="02040503050406030204" pitchFamily="18" charset="0"/>
                      </a:rPr>
                      <m:t>𝑆𝐹𝑂</m:t>
                    </m:r>
                  </m:oMath>
                </a14:m>
                <a:r>
                  <a:rPr lang="zh-CN" altLang="en-US" dirty="0"/>
                  <a:t>机场，货物</a:t>
                </a:r>
                <a14:m>
                  <m:oMath xmlns:m="http://schemas.openxmlformats.org/officeDocument/2006/math">
                    <m:r>
                      <a:rPr lang="en-US" altLang="zh-CN" i="1" dirty="0">
                        <a:latin typeface="Cambria Math" panose="02040503050406030204" pitchFamily="18" charset="0"/>
                      </a:rPr>
                      <m:t>𝐶</m:t>
                    </m:r>
                    <m:r>
                      <a:rPr lang="en-US" altLang="zh-CN" i="1" baseline="-25000" dirty="0">
                        <a:latin typeface="Cambria Math" panose="02040503050406030204" pitchFamily="18" charset="0"/>
                      </a:rPr>
                      <m:t>2</m:t>
                    </m:r>
                  </m:oMath>
                </a14:m>
                <a:r>
                  <a:rPr lang="zh-CN" altLang="en-US" dirty="0"/>
                  <a:t>和飞机</a:t>
                </a:r>
                <a14:m>
                  <m:oMath xmlns:m="http://schemas.openxmlformats.org/officeDocument/2006/math">
                    <m:r>
                      <a:rPr lang="en-US" altLang="zh-CN" i="1" dirty="0">
                        <a:latin typeface="Cambria Math" panose="02040503050406030204" pitchFamily="18" charset="0"/>
                      </a:rPr>
                      <m:t>𝑃</m:t>
                    </m:r>
                    <m:r>
                      <a:rPr lang="en-US" altLang="zh-CN" i="1" baseline="-25000" dirty="0">
                        <a:latin typeface="Cambria Math" panose="02040503050406030204" pitchFamily="18" charset="0"/>
                      </a:rPr>
                      <m:t>2</m:t>
                    </m:r>
                  </m:oMath>
                </a14:m>
                <a:r>
                  <a:rPr lang="zh-CN" altLang="en-US" dirty="0"/>
                  <a:t>在</a:t>
                </a:r>
                <a14:m>
                  <m:oMath xmlns:m="http://schemas.openxmlformats.org/officeDocument/2006/math">
                    <m:r>
                      <a:rPr lang="en-US" altLang="zh-CN" i="1" dirty="0" smtClean="0">
                        <a:latin typeface="Cambria Math" panose="02040503050406030204" pitchFamily="18" charset="0"/>
                      </a:rPr>
                      <m:t>𝐽𝐹𝐾</m:t>
                    </m:r>
                  </m:oMath>
                </a14:m>
                <a:r>
                  <a:rPr lang="zh-CN" altLang="en-US" dirty="0"/>
                  <a:t>机场</a:t>
                </a:r>
                <a:endParaRPr lang="en-US" altLang="zh-CN" dirty="0"/>
              </a:p>
              <a:p>
                <a:pPr lvl="1"/>
                <a:r>
                  <a:rPr lang="zh-CN" altLang="en-US" dirty="0"/>
                  <a:t>目标：将</a:t>
                </a:r>
                <a14:m>
                  <m:oMath xmlns:m="http://schemas.openxmlformats.org/officeDocument/2006/math">
                    <m:r>
                      <a:rPr lang="en-US" altLang="zh-CN" i="1" dirty="0">
                        <a:latin typeface="Cambria Math" panose="02040503050406030204" pitchFamily="18" charset="0"/>
                      </a:rPr>
                      <m:t>𝐶</m:t>
                    </m:r>
                    <m:r>
                      <a:rPr lang="en-US" altLang="zh-CN" i="1" baseline="-25000" dirty="0">
                        <a:latin typeface="Cambria Math" panose="02040503050406030204" pitchFamily="18" charset="0"/>
                      </a:rPr>
                      <m:t>1</m:t>
                    </m:r>
                  </m:oMath>
                </a14:m>
                <a:r>
                  <a:rPr lang="zh-CN" altLang="en-US" dirty="0"/>
                  <a:t>运到</a:t>
                </a:r>
                <a14:m>
                  <m:oMath xmlns:m="http://schemas.openxmlformats.org/officeDocument/2006/math">
                    <m:r>
                      <a:rPr lang="en-US" altLang="zh-CN" i="1" dirty="0" smtClean="0">
                        <a:latin typeface="Cambria Math" panose="02040503050406030204" pitchFamily="18" charset="0"/>
                      </a:rPr>
                      <m:t>𝐽𝐹𝐾</m:t>
                    </m:r>
                  </m:oMath>
                </a14:m>
                <a:r>
                  <a:rPr lang="zh-CN" altLang="en-US" dirty="0"/>
                  <a:t>，将</a:t>
                </a:r>
                <a14:m>
                  <m:oMath xmlns:m="http://schemas.openxmlformats.org/officeDocument/2006/math">
                    <m:r>
                      <a:rPr lang="en-US" altLang="zh-CN" i="1" dirty="0">
                        <a:latin typeface="Cambria Math" panose="02040503050406030204" pitchFamily="18" charset="0"/>
                      </a:rPr>
                      <m:t>𝐶</m:t>
                    </m:r>
                    <m:r>
                      <a:rPr lang="en-US" altLang="zh-CN" i="1" baseline="-25000" dirty="0">
                        <a:latin typeface="Cambria Math" panose="02040503050406030204" pitchFamily="18" charset="0"/>
                      </a:rPr>
                      <m:t>2</m:t>
                    </m:r>
                  </m:oMath>
                </a14:m>
                <a:r>
                  <a:rPr lang="zh-CN" altLang="en-US" dirty="0"/>
                  <a:t>运到</a:t>
                </a:r>
                <a14:m>
                  <m:oMath xmlns:m="http://schemas.openxmlformats.org/officeDocument/2006/math">
                    <m:r>
                      <a:rPr lang="en-US" altLang="zh-CN" i="1" dirty="0" smtClean="0">
                        <a:latin typeface="Cambria Math" panose="02040503050406030204" pitchFamily="18" charset="0"/>
                      </a:rPr>
                      <m:t>𝑆𝐹𝑂</m:t>
                    </m:r>
                  </m:oMath>
                </a14:m>
                <a:endParaRPr lang="en-US" altLang="zh-CN" dirty="0"/>
              </a:p>
              <a:p>
                <a:pPr lvl="1"/>
                <a:r>
                  <a:rPr lang="zh-CN" altLang="en-US" dirty="0"/>
                  <a:t>动作：</a:t>
                </a:r>
                <a14:m>
                  <m:oMath xmlns:m="http://schemas.openxmlformats.org/officeDocument/2006/math">
                    <m:r>
                      <a:rPr lang="en-US" altLang="zh-CN" i="1" dirty="0" smtClean="0">
                        <a:latin typeface="Cambria Math" panose="02040503050406030204" pitchFamily="18" charset="0"/>
                      </a:rPr>
                      <m:t>𝐿𝑜𝑎𝑑</m:t>
                    </m:r>
                  </m:oMath>
                </a14:m>
                <a:r>
                  <a:rPr lang="en-US" altLang="zh-CN" dirty="0"/>
                  <a:t>, </a:t>
                </a:r>
                <a14:m>
                  <m:oMath xmlns:m="http://schemas.openxmlformats.org/officeDocument/2006/math">
                    <m:r>
                      <a:rPr lang="en-US" altLang="zh-CN" i="1" dirty="0" smtClean="0">
                        <a:latin typeface="Cambria Math" panose="02040503050406030204" pitchFamily="18" charset="0"/>
                      </a:rPr>
                      <m:t>𝑈𝑛𝑙𝑜𝑎𝑑</m:t>
                    </m:r>
                  </m:oMath>
                </a14:m>
                <a:r>
                  <a:rPr lang="en-US" altLang="zh-CN" dirty="0"/>
                  <a:t>, </a:t>
                </a:r>
                <a14:m>
                  <m:oMath xmlns:m="http://schemas.openxmlformats.org/officeDocument/2006/math">
                    <m:r>
                      <a:rPr lang="en-US" altLang="zh-CN" i="1" dirty="0" smtClean="0">
                        <a:latin typeface="Cambria Math" panose="02040503050406030204" pitchFamily="18" charset="0"/>
                      </a:rPr>
                      <m:t>𝐹𝑙𝑦</m:t>
                    </m:r>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165" t="-187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pPr>
                <a:defRPr/>
              </a:pPr>
              <a:t>4</a:t>
            </a:fld>
            <a:endParaRPr lang="en-US" altLang="zh-CN"/>
          </a:p>
        </p:txBody>
      </p:sp>
      <mc:AlternateContent xmlns:mc="http://schemas.openxmlformats.org/markup-compatibility/2006" xmlns:a14="http://schemas.microsoft.com/office/drawing/2010/main">
        <mc:Choice Requires="a14">
          <p:sp>
            <p:nvSpPr>
              <p:cNvPr id="5" name="文本框 4"/>
              <p:cNvSpPr txBox="1"/>
              <p:nvPr/>
            </p:nvSpPr>
            <p:spPr>
              <a:xfrm>
                <a:off x="614058" y="5249792"/>
                <a:ext cx="8280920" cy="812825"/>
              </a:xfrm>
              <a:prstGeom prst="rect">
                <a:avLst/>
              </a:prstGeom>
              <a:noFill/>
            </p:spPr>
            <p:txBody>
              <a:bodyPr wrap="square" rtlCol="0">
                <a:noAutofit/>
              </a:bodyPr>
              <a:lstStyle/>
              <a:p>
                <a:r>
                  <a:rPr lang="zh-CN" altLang="zh-CN" sz="2400" dirty="0"/>
                  <a:t> </a:t>
                </a:r>
                <a14:m>
                  <m:oMath xmlns:m="http://schemas.openxmlformats.org/officeDocument/2006/math">
                    <m:r>
                      <a:rPr lang="en-US" altLang="zh-CN" sz="2400" i="1" dirty="0" smtClean="0">
                        <a:solidFill>
                          <a:srgbClr val="C00000"/>
                        </a:solidFill>
                        <a:latin typeface="Cambria Math" panose="02040503050406030204" pitchFamily="18" charset="0"/>
                      </a:rPr>
                      <m:t>[</m:t>
                    </m:r>
                    <m:r>
                      <a:rPr lang="en-US" altLang="zh-CN" sz="2400" b="0" i="1" dirty="0" smtClean="0">
                        <a:latin typeface="Cambria Math" panose="02040503050406030204" pitchFamily="18" charset="0"/>
                      </a:rPr>
                      <m:t> </m:t>
                    </m:r>
                    <m:r>
                      <a:rPr lang="en-US" altLang="zh-CN" sz="2400" i="1" dirty="0" smtClean="0">
                        <a:solidFill>
                          <a:srgbClr val="0070C0"/>
                        </a:solidFill>
                        <a:latin typeface="Cambria Math" panose="02040503050406030204" pitchFamily="18" charset="0"/>
                      </a:rPr>
                      <m:t>𝐿𝑜𝑎𝑑</m:t>
                    </m:r>
                    <m:r>
                      <a:rPr lang="en-US" altLang="zh-CN" sz="2400" i="1" dirty="0" smtClean="0">
                        <a:solidFill>
                          <a:srgbClr val="0070C0"/>
                        </a:solidFill>
                        <a:latin typeface="Cambria Math" panose="02040503050406030204" pitchFamily="18" charset="0"/>
                      </a:rPr>
                      <m:t>(</m:t>
                    </m:r>
                    <m:r>
                      <a:rPr lang="en-US" altLang="zh-CN" sz="2400" i="1" dirty="0" smtClean="0">
                        <a:solidFill>
                          <a:srgbClr val="0070C0"/>
                        </a:solidFill>
                        <a:latin typeface="Cambria Math" panose="02040503050406030204" pitchFamily="18" charset="0"/>
                      </a:rPr>
                      <m:t>𝐶</m:t>
                    </m:r>
                    <m:r>
                      <a:rPr lang="en-US" altLang="zh-CN" sz="2400" i="1" baseline="-25000" dirty="0">
                        <a:solidFill>
                          <a:srgbClr val="0070C0"/>
                        </a:solidFill>
                        <a:latin typeface="Cambria Math" panose="02040503050406030204" pitchFamily="18" charset="0"/>
                      </a:rPr>
                      <m:t>1</m:t>
                    </m:r>
                    <m:r>
                      <a:rPr lang="en-US" altLang="zh-CN" sz="2400" i="1" dirty="0">
                        <a:solidFill>
                          <a:srgbClr val="0070C0"/>
                        </a:solidFill>
                        <a:latin typeface="Cambria Math" panose="02040503050406030204" pitchFamily="18" charset="0"/>
                      </a:rPr>
                      <m:t>, </m:t>
                    </m:r>
                    <m:r>
                      <a:rPr lang="en-US" altLang="zh-CN" sz="2400" i="1" dirty="0">
                        <a:solidFill>
                          <a:srgbClr val="0070C0"/>
                        </a:solidFill>
                        <a:latin typeface="Cambria Math" panose="02040503050406030204" pitchFamily="18" charset="0"/>
                      </a:rPr>
                      <m:t>𝑃</m:t>
                    </m:r>
                    <m:r>
                      <a:rPr lang="en-US" altLang="zh-CN" sz="2400" i="1" baseline="-25000" dirty="0">
                        <a:solidFill>
                          <a:srgbClr val="0070C0"/>
                        </a:solidFill>
                        <a:latin typeface="Cambria Math" panose="02040503050406030204" pitchFamily="18" charset="0"/>
                      </a:rPr>
                      <m:t>1</m:t>
                    </m:r>
                    <m:r>
                      <a:rPr lang="en-US" altLang="zh-CN" sz="2400" i="1" dirty="0">
                        <a:solidFill>
                          <a:srgbClr val="0070C0"/>
                        </a:solidFill>
                        <a:latin typeface="Cambria Math" panose="02040503050406030204" pitchFamily="18" charset="0"/>
                      </a:rPr>
                      <m:t>, </m:t>
                    </m:r>
                    <m:r>
                      <a:rPr lang="en-US" altLang="zh-CN" sz="2400" i="1" dirty="0">
                        <a:solidFill>
                          <a:srgbClr val="0070C0"/>
                        </a:solidFill>
                        <a:latin typeface="Cambria Math" panose="02040503050406030204" pitchFamily="18" charset="0"/>
                      </a:rPr>
                      <m:t>𝑆𝐹𝑂</m:t>
                    </m:r>
                    <m:r>
                      <a:rPr lang="en-US" altLang="zh-CN" sz="2400" i="1" dirty="0">
                        <a:solidFill>
                          <a:srgbClr val="0070C0"/>
                        </a:solidFill>
                        <a:latin typeface="Cambria Math" panose="02040503050406030204" pitchFamily="18" charset="0"/>
                      </a:rPr>
                      <m:t>), </m:t>
                    </m:r>
                    <m:r>
                      <a:rPr lang="en-US" altLang="zh-CN" sz="2400" i="1" dirty="0" smtClean="0">
                        <a:solidFill>
                          <a:srgbClr val="0070C0"/>
                        </a:solidFill>
                        <a:latin typeface="Cambria Math" panose="02040503050406030204" pitchFamily="18" charset="0"/>
                      </a:rPr>
                      <m:t>𝐹𝑙𝑦</m:t>
                    </m:r>
                    <m:r>
                      <a:rPr lang="en-US" altLang="zh-CN" sz="2400" i="1" dirty="0" smtClean="0">
                        <a:solidFill>
                          <a:srgbClr val="0070C0"/>
                        </a:solidFill>
                        <a:latin typeface="Cambria Math" panose="02040503050406030204" pitchFamily="18" charset="0"/>
                      </a:rPr>
                      <m:t>(</m:t>
                    </m:r>
                    <m:r>
                      <a:rPr lang="en-US" altLang="zh-CN" sz="2400" i="1" dirty="0" smtClean="0">
                        <a:solidFill>
                          <a:srgbClr val="0070C0"/>
                        </a:solidFill>
                        <a:latin typeface="Cambria Math" panose="02040503050406030204" pitchFamily="18" charset="0"/>
                      </a:rPr>
                      <m:t>𝑃</m:t>
                    </m:r>
                    <m:r>
                      <a:rPr lang="en-US" altLang="zh-CN" sz="2400" i="1" baseline="-25000" dirty="0">
                        <a:solidFill>
                          <a:srgbClr val="0070C0"/>
                        </a:solidFill>
                        <a:latin typeface="Cambria Math" panose="02040503050406030204" pitchFamily="18" charset="0"/>
                      </a:rPr>
                      <m:t>1</m:t>
                    </m:r>
                    <m:r>
                      <a:rPr lang="en-US" altLang="zh-CN" sz="2400" i="1" dirty="0">
                        <a:solidFill>
                          <a:srgbClr val="0070C0"/>
                        </a:solidFill>
                        <a:latin typeface="Cambria Math" panose="02040503050406030204" pitchFamily="18" charset="0"/>
                      </a:rPr>
                      <m:t>, </m:t>
                    </m:r>
                    <m:r>
                      <a:rPr lang="en-US" altLang="zh-CN" sz="2400" i="1" dirty="0">
                        <a:solidFill>
                          <a:srgbClr val="0070C0"/>
                        </a:solidFill>
                        <a:latin typeface="Cambria Math" panose="02040503050406030204" pitchFamily="18" charset="0"/>
                      </a:rPr>
                      <m:t>𝑆𝐹𝑂</m:t>
                    </m:r>
                    <m:r>
                      <a:rPr lang="en-US" altLang="zh-CN" sz="2400" i="1" dirty="0">
                        <a:solidFill>
                          <a:srgbClr val="0070C0"/>
                        </a:solidFill>
                        <a:latin typeface="Cambria Math" panose="02040503050406030204" pitchFamily="18" charset="0"/>
                      </a:rPr>
                      <m:t>, </m:t>
                    </m:r>
                    <m:r>
                      <a:rPr lang="en-US" altLang="zh-CN" sz="2400" i="1" dirty="0">
                        <a:solidFill>
                          <a:srgbClr val="0070C0"/>
                        </a:solidFill>
                        <a:latin typeface="Cambria Math" panose="02040503050406030204" pitchFamily="18" charset="0"/>
                      </a:rPr>
                      <m:t>𝐽𝐹𝐾</m:t>
                    </m:r>
                    <m:r>
                      <a:rPr lang="en-US" altLang="zh-CN" sz="2400" i="1" dirty="0">
                        <a:solidFill>
                          <a:srgbClr val="0070C0"/>
                        </a:solidFill>
                        <a:latin typeface="Cambria Math" panose="02040503050406030204" pitchFamily="18" charset="0"/>
                      </a:rPr>
                      <m:t>), </m:t>
                    </m:r>
                    <m:r>
                      <a:rPr lang="en-US" altLang="zh-CN" sz="2400" i="1" dirty="0" smtClean="0">
                        <a:solidFill>
                          <a:srgbClr val="0070C0"/>
                        </a:solidFill>
                        <a:latin typeface="Cambria Math" panose="02040503050406030204" pitchFamily="18" charset="0"/>
                      </a:rPr>
                      <m:t>𝑈𝑛𝑙𝑜𝑎𝑑</m:t>
                    </m:r>
                    <m:r>
                      <a:rPr lang="en-US" altLang="zh-CN" sz="2400" i="1" dirty="0" smtClean="0">
                        <a:solidFill>
                          <a:srgbClr val="0070C0"/>
                        </a:solidFill>
                        <a:latin typeface="Cambria Math" panose="02040503050406030204" pitchFamily="18" charset="0"/>
                      </a:rPr>
                      <m:t>(</m:t>
                    </m:r>
                    <m:r>
                      <a:rPr lang="en-US" altLang="zh-CN" sz="2400" i="1" dirty="0" smtClean="0">
                        <a:solidFill>
                          <a:srgbClr val="0070C0"/>
                        </a:solidFill>
                        <a:latin typeface="Cambria Math" panose="02040503050406030204" pitchFamily="18" charset="0"/>
                      </a:rPr>
                      <m:t>𝐶</m:t>
                    </m:r>
                    <m:r>
                      <a:rPr lang="en-US" altLang="zh-CN" sz="2400" i="1" baseline="-25000" dirty="0">
                        <a:solidFill>
                          <a:srgbClr val="0070C0"/>
                        </a:solidFill>
                        <a:latin typeface="Cambria Math" panose="02040503050406030204" pitchFamily="18" charset="0"/>
                      </a:rPr>
                      <m:t>1</m:t>
                    </m:r>
                    <m:r>
                      <a:rPr lang="en-US" altLang="zh-CN" sz="2400" i="1" dirty="0">
                        <a:solidFill>
                          <a:srgbClr val="0070C0"/>
                        </a:solidFill>
                        <a:latin typeface="Cambria Math" panose="02040503050406030204" pitchFamily="18" charset="0"/>
                      </a:rPr>
                      <m:t>,</m:t>
                    </m:r>
                    <m:r>
                      <a:rPr lang="en-US" altLang="zh-CN" sz="2400" i="1" dirty="0">
                        <a:solidFill>
                          <a:srgbClr val="0070C0"/>
                        </a:solidFill>
                        <a:latin typeface="Cambria Math" panose="02040503050406030204" pitchFamily="18" charset="0"/>
                      </a:rPr>
                      <m:t>𝑃</m:t>
                    </m:r>
                    <m:r>
                      <a:rPr lang="en-US" altLang="zh-CN" sz="2400" i="1" baseline="-25000" dirty="0">
                        <a:solidFill>
                          <a:srgbClr val="0070C0"/>
                        </a:solidFill>
                        <a:latin typeface="Cambria Math" panose="02040503050406030204" pitchFamily="18" charset="0"/>
                      </a:rPr>
                      <m:t>1</m:t>
                    </m:r>
                    <m:r>
                      <a:rPr lang="en-US" altLang="zh-CN" sz="2400" i="1" dirty="0">
                        <a:solidFill>
                          <a:srgbClr val="0070C0"/>
                        </a:solidFill>
                        <a:latin typeface="Cambria Math" panose="02040503050406030204" pitchFamily="18" charset="0"/>
                      </a:rPr>
                      <m:t>,</m:t>
                    </m:r>
                    <m:r>
                      <a:rPr lang="en-US" altLang="zh-CN" sz="2400" i="1" dirty="0">
                        <a:solidFill>
                          <a:srgbClr val="0070C0"/>
                        </a:solidFill>
                        <a:latin typeface="Cambria Math" panose="02040503050406030204" pitchFamily="18" charset="0"/>
                      </a:rPr>
                      <m:t>𝐽𝐹𝐾</m:t>
                    </m:r>
                    <m:r>
                      <a:rPr lang="en-US" altLang="zh-CN" sz="2400" i="1" dirty="0">
                        <a:solidFill>
                          <a:srgbClr val="0070C0"/>
                        </a:solidFill>
                        <a:latin typeface="Cambria Math" panose="02040503050406030204" pitchFamily="18" charset="0"/>
                      </a:rPr>
                      <m:t>),  </m:t>
                    </m:r>
                    <m:r>
                      <a:rPr lang="en-US" altLang="zh-CN" sz="2400" i="1" dirty="0" smtClean="0">
                        <a:solidFill>
                          <a:srgbClr val="0070C0"/>
                        </a:solidFill>
                        <a:latin typeface="Cambria Math" panose="02040503050406030204" pitchFamily="18" charset="0"/>
                      </a:rPr>
                      <m:t>𝐿𝑜𝑎𝑑</m:t>
                    </m:r>
                    <m:r>
                      <a:rPr lang="en-US" altLang="zh-CN" sz="2400" i="1" dirty="0" smtClean="0">
                        <a:solidFill>
                          <a:srgbClr val="0070C0"/>
                        </a:solidFill>
                        <a:latin typeface="Cambria Math" panose="02040503050406030204" pitchFamily="18" charset="0"/>
                      </a:rPr>
                      <m:t>(</m:t>
                    </m:r>
                    <m:r>
                      <a:rPr lang="en-US" altLang="zh-CN" sz="2400" i="1" dirty="0" smtClean="0">
                        <a:solidFill>
                          <a:srgbClr val="0070C0"/>
                        </a:solidFill>
                        <a:latin typeface="Cambria Math" panose="02040503050406030204" pitchFamily="18" charset="0"/>
                      </a:rPr>
                      <m:t>𝐶</m:t>
                    </m:r>
                    <m:r>
                      <a:rPr lang="en-US" altLang="zh-CN" sz="2400" i="1" baseline="-25000" dirty="0">
                        <a:solidFill>
                          <a:srgbClr val="0070C0"/>
                        </a:solidFill>
                        <a:latin typeface="Cambria Math" panose="02040503050406030204" pitchFamily="18" charset="0"/>
                      </a:rPr>
                      <m:t>2</m:t>
                    </m:r>
                    <m:r>
                      <a:rPr lang="en-US" altLang="zh-CN" sz="2400" i="1" dirty="0">
                        <a:solidFill>
                          <a:srgbClr val="0070C0"/>
                        </a:solidFill>
                        <a:latin typeface="Cambria Math" panose="02040503050406030204" pitchFamily="18" charset="0"/>
                      </a:rPr>
                      <m:t>, </m:t>
                    </m:r>
                    <m:r>
                      <a:rPr lang="en-US" altLang="zh-CN" sz="2400" i="1" dirty="0">
                        <a:solidFill>
                          <a:srgbClr val="0070C0"/>
                        </a:solidFill>
                        <a:latin typeface="Cambria Math" panose="02040503050406030204" pitchFamily="18" charset="0"/>
                      </a:rPr>
                      <m:t>𝑃</m:t>
                    </m:r>
                    <m:r>
                      <a:rPr lang="en-US" altLang="zh-CN" sz="2400" i="1" baseline="-25000" dirty="0">
                        <a:solidFill>
                          <a:srgbClr val="0070C0"/>
                        </a:solidFill>
                        <a:latin typeface="Cambria Math" panose="02040503050406030204" pitchFamily="18" charset="0"/>
                      </a:rPr>
                      <m:t>2</m:t>
                    </m:r>
                    <m:r>
                      <a:rPr lang="en-US" altLang="zh-CN" sz="2400" i="1" dirty="0">
                        <a:solidFill>
                          <a:srgbClr val="0070C0"/>
                        </a:solidFill>
                        <a:latin typeface="Cambria Math" panose="02040503050406030204" pitchFamily="18" charset="0"/>
                      </a:rPr>
                      <m:t>, </m:t>
                    </m:r>
                    <m:r>
                      <a:rPr lang="en-US" altLang="zh-CN" sz="2400" i="1" dirty="0">
                        <a:solidFill>
                          <a:srgbClr val="0070C0"/>
                        </a:solidFill>
                        <a:latin typeface="Cambria Math" panose="02040503050406030204" pitchFamily="18" charset="0"/>
                      </a:rPr>
                      <m:t>𝐽𝐹𝐾</m:t>
                    </m:r>
                    <m:r>
                      <a:rPr lang="en-US" altLang="zh-CN" sz="2400" i="1" dirty="0">
                        <a:solidFill>
                          <a:srgbClr val="0070C0"/>
                        </a:solidFill>
                        <a:latin typeface="Cambria Math" panose="02040503050406030204" pitchFamily="18" charset="0"/>
                      </a:rPr>
                      <m:t>), </m:t>
                    </m:r>
                    <m:r>
                      <a:rPr lang="en-US" altLang="zh-CN" sz="2400" i="1" dirty="0" smtClean="0">
                        <a:solidFill>
                          <a:srgbClr val="0070C0"/>
                        </a:solidFill>
                        <a:latin typeface="Cambria Math" panose="02040503050406030204" pitchFamily="18" charset="0"/>
                      </a:rPr>
                      <m:t>𝐹𝑙𝑦</m:t>
                    </m:r>
                    <m:r>
                      <a:rPr lang="en-US" altLang="zh-CN" sz="2400" i="1" dirty="0" smtClean="0">
                        <a:solidFill>
                          <a:srgbClr val="0070C0"/>
                        </a:solidFill>
                        <a:latin typeface="Cambria Math" panose="02040503050406030204" pitchFamily="18" charset="0"/>
                      </a:rPr>
                      <m:t>(</m:t>
                    </m:r>
                    <m:r>
                      <a:rPr lang="en-US" altLang="zh-CN" sz="2400" i="1" dirty="0" smtClean="0">
                        <a:solidFill>
                          <a:srgbClr val="0070C0"/>
                        </a:solidFill>
                        <a:latin typeface="Cambria Math" panose="02040503050406030204" pitchFamily="18" charset="0"/>
                      </a:rPr>
                      <m:t>𝑃</m:t>
                    </m:r>
                    <m:r>
                      <a:rPr lang="en-US" altLang="zh-CN" sz="2400" i="1" baseline="-25000" dirty="0">
                        <a:solidFill>
                          <a:srgbClr val="0070C0"/>
                        </a:solidFill>
                        <a:latin typeface="Cambria Math" panose="02040503050406030204" pitchFamily="18" charset="0"/>
                      </a:rPr>
                      <m:t>2</m:t>
                    </m:r>
                    <m:r>
                      <a:rPr lang="en-US" altLang="zh-CN" sz="2400" i="1" dirty="0">
                        <a:solidFill>
                          <a:srgbClr val="0070C0"/>
                        </a:solidFill>
                        <a:latin typeface="Cambria Math" panose="02040503050406030204" pitchFamily="18" charset="0"/>
                      </a:rPr>
                      <m:t>, </m:t>
                    </m:r>
                    <m:r>
                      <a:rPr lang="en-US" altLang="zh-CN" sz="2400" i="1" dirty="0">
                        <a:solidFill>
                          <a:srgbClr val="0070C0"/>
                        </a:solidFill>
                        <a:latin typeface="Cambria Math" panose="02040503050406030204" pitchFamily="18" charset="0"/>
                      </a:rPr>
                      <m:t>𝐽𝐹𝐾</m:t>
                    </m:r>
                    <m:r>
                      <a:rPr lang="en-US" altLang="zh-CN" sz="2400" i="1" dirty="0">
                        <a:solidFill>
                          <a:srgbClr val="0070C0"/>
                        </a:solidFill>
                        <a:latin typeface="Cambria Math" panose="02040503050406030204" pitchFamily="18" charset="0"/>
                      </a:rPr>
                      <m:t>, </m:t>
                    </m:r>
                    <m:r>
                      <a:rPr lang="en-US" altLang="zh-CN" sz="2400" i="1" dirty="0">
                        <a:solidFill>
                          <a:srgbClr val="0070C0"/>
                        </a:solidFill>
                        <a:latin typeface="Cambria Math" panose="02040503050406030204" pitchFamily="18" charset="0"/>
                      </a:rPr>
                      <m:t>𝑆𝐹𝑂</m:t>
                    </m:r>
                    <m:r>
                      <a:rPr lang="en-US" altLang="zh-CN" sz="2400" i="1" dirty="0">
                        <a:solidFill>
                          <a:srgbClr val="0070C0"/>
                        </a:solidFill>
                        <a:latin typeface="Cambria Math" panose="02040503050406030204" pitchFamily="18" charset="0"/>
                      </a:rPr>
                      <m:t>), </m:t>
                    </m:r>
                    <m:r>
                      <a:rPr lang="en-US" altLang="zh-CN" sz="2400" i="1" dirty="0" smtClean="0">
                        <a:solidFill>
                          <a:srgbClr val="0070C0"/>
                        </a:solidFill>
                        <a:latin typeface="Cambria Math" panose="02040503050406030204" pitchFamily="18" charset="0"/>
                      </a:rPr>
                      <m:t>𝑈𝑛𝑙𝑜𝑎𝑑</m:t>
                    </m:r>
                    <m:d>
                      <m:dPr>
                        <m:ctrlPr>
                          <a:rPr lang="en-US" altLang="zh-CN" sz="2400" i="1" dirty="0">
                            <a:solidFill>
                              <a:srgbClr val="0070C0"/>
                            </a:solidFill>
                            <a:latin typeface="Cambria Math" panose="02040503050406030204" pitchFamily="18" charset="0"/>
                          </a:rPr>
                        </m:ctrlPr>
                      </m:dPr>
                      <m:e>
                        <m:r>
                          <a:rPr lang="en-US" altLang="zh-CN" sz="2400" i="1" dirty="0">
                            <a:solidFill>
                              <a:srgbClr val="0070C0"/>
                            </a:solidFill>
                            <a:latin typeface="Cambria Math" panose="02040503050406030204" pitchFamily="18" charset="0"/>
                          </a:rPr>
                          <m:t>𝐶</m:t>
                        </m:r>
                        <m:r>
                          <a:rPr lang="en-US" altLang="zh-CN" sz="2400" i="1" baseline="-25000" dirty="0">
                            <a:solidFill>
                              <a:srgbClr val="0070C0"/>
                            </a:solidFill>
                            <a:latin typeface="Cambria Math" panose="02040503050406030204" pitchFamily="18" charset="0"/>
                          </a:rPr>
                          <m:t>2</m:t>
                        </m:r>
                        <m:r>
                          <a:rPr lang="en-US" altLang="zh-CN" sz="2400" i="1" dirty="0">
                            <a:solidFill>
                              <a:srgbClr val="0070C0"/>
                            </a:solidFill>
                            <a:latin typeface="Cambria Math" panose="02040503050406030204" pitchFamily="18" charset="0"/>
                          </a:rPr>
                          <m:t>,</m:t>
                        </m:r>
                        <m:r>
                          <a:rPr lang="en-US" altLang="zh-CN" sz="2400" i="1" dirty="0">
                            <a:solidFill>
                              <a:srgbClr val="0070C0"/>
                            </a:solidFill>
                            <a:latin typeface="Cambria Math" panose="02040503050406030204" pitchFamily="18" charset="0"/>
                          </a:rPr>
                          <m:t>𝑃</m:t>
                        </m:r>
                        <m:r>
                          <a:rPr lang="en-US" altLang="zh-CN" sz="2400" i="1" baseline="-25000" dirty="0">
                            <a:solidFill>
                              <a:srgbClr val="0070C0"/>
                            </a:solidFill>
                            <a:latin typeface="Cambria Math" panose="02040503050406030204" pitchFamily="18" charset="0"/>
                          </a:rPr>
                          <m:t>2</m:t>
                        </m:r>
                        <m:r>
                          <a:rPr lang="en-US" altLang="zh-CN" sz="2400" i="1" dirty="0">
                            <a:solidFill>
                              <a:srgbClr val="0070C0"/>
                            </a:solidFill>
                            <a:latin typeface="Cambria Math" panose="02040503050406030204" pitchFamily="18" charset="0"/>
                          </a:rPr>
                          <m:t>,</m:t>
                        </m:r>
                        <m:r>
                          <a:rPr lang="en-US" altLang="zh-CN" sz="2400" i="1" dirty="0">
                            <a:solidFill>
                              <a:srgbClr val="0070C0"/>
                            </a:solidFill>
                            <a:latin typeface="Cambria Math" panose="02040503050406030204" pitchFamily="18" charset="0"/>
                          </a:rPr>
                          <m:t>𝑆𝐹𝑂</m:t>
                        </m:r>
                      </m:e>
                    </m:d>
                    <m:r>
                      <a:rPr lang="en-US" altLang="zh-CN" sz="2400" i="1" dirty="0" smtClean="0">
                        <a:solidFill>
                          <a:srgbClr val="C00000"/>
                        </a:solidFill>
                        <a:latin typeface="Cambria Math" panose="02040503050406030204" pitchFamily="18" charset="0"/>
                      </a:rPr>
                      <m:t>]</m:t>
                    </m:r>
                  </m:oMath>
                </a14:m>
                <a:endParaRPr lang="zh-CN" altLang="zh-CN" sz="2400" dirty="0">
                  <a:solidFill>
                    <a:srgbClr val="C00000"/>
                  </a:solidFill>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614058" y="5249792"/>
                <a:ext cx="8280920" cy="812825"/>
              </a:xfrm>
              <a:prstGeom prst="rect">
                <a:avLst/>
              </a:prstGeom>
              <a:blipFill rotWithShape="0">
                <a:blip r:embed="rId3"/>
                <a:stretch>
                  <a:fillRect l="-221" b="-12687"/>
                </a:stretch>
              </a:blipFill>
            </p:spPr>
            <p:txBody>
              <a:bodyPr/>
              <a:lstStyle/>
              <a:p>
                <a:r>
                  <a:rPr lang="zh-CN" altLang="en-US">
                    <a:noFill/>
                  </a:rPr>
                  <a:t> </a:t>
                </a:r>
              </a:p>
            </p:txBody>
          </p:sp>
        </mc:Fallback>
      </mc:AlternateContent>
      <p:grpSp>
        <p:nvGrpSpPr>
          <p:cNvPr id="7" name="组合 6"/>
          <p:cNvGrpSpPr/>
          <p:nvPr/>
        </p:nvGrpSpPr>
        <p:grpSpPr>
          <a:xfrm>
            <a:off x="5463637" y="0"/>
            <a:ext cx="3705661" cy="2030626"/>
            <a:chOff x="5473049" y="0"/>
            <a:chExt cx="3705661" cy="2030626"/>
          </a:xfrm>
        </p:grpSpPr>
        <p:pic>
          <p:nvPicPr>
            <p:cNvPr id="1026" name="Picture 2" descr="https://www.stepmap.de/landkarte/JFK-SFO-118561.png"/>
            <p:cNvPicPr>
              <a:picLocks noChangeAspect="1" noChangeArrowheads="1"/>
            </p:cNvPicPr>
            <p:nvPr/>
          </p:nvPicPr>
          <p:blipFill rotWithShape="1">
            <a:blip r:embed="rId4">
              <a:extLst>
                <a:ext uri="{28A0092B-C50C-407E-A947-70E740481C1C}">
                  <a14:useLocalDpi xmlns:a14="http://schemas.microsoft.com/office/drawing/2010/main" val="0"/>
                </a:ext>
              </a:extLst>
            </a:blip>
            <a:srcRect t="25101" b="19381"/>
            <a:stretch/>
          </p:blipFill>
          <p:spPr bwMode="auto">
            <a:xfrm>
              <a:off x="5473049" y="0"/>
              <a:ext cx="3657600" cy="203062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矩形 5"/>
                <p:cNvSpPr/>
                <p:nvPr/>
              </p:nvSpPr>
              <p:spPr>
                <a:xfrm>
                  <a:off x="5580112" y="558911"/>
                  <a:ext cx="78579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C00000"/>
                            </a:solidFill>
                            <a:latin typeface="Cambria Math" panose="02040503050406030204" pitchFamily="18" charset="0"/>
                          </a:rPr>
                          <m:t>𝑪</m:t>
                        </m:r>
                        <m:r>
                          <a:rPr lang="en-US" altLang="zh-CN" b="1" i="1" baseline="-25000" dirty="0">
                            <a:solidFill>
                              <a:srgbClr val="C00000"/>
                            </a:solidFill>
                            <a:latin typeface="Cambria Math" panose="02040503050406030204" pitchFamily="18" charset="0"/>
                          </a:rPr>
                          <m:t>𝟏</m:t>
                        </m:r>
                        <m:r>
                          <a:rPr lang="en-US" altLang="zh-CN" b="1" i="1" dirty="0" smtClean="0">
                            <a:solidFill>
                              <a:srgbClr val="C00000"/>
                            </a:solidFill>
                            <a:latin typeface="Cambria Math" panose="02040503050406030204" pitchFamily="18" charset="0"/>
                          </a:rPr>
                          <m:t> </m:t>
                        </m:r>
                        <m:r>
                          <a:rPr lang="en-US" altLang="zh-CN" b="1" i="1" dirty="0" smtClean="0">
                            <a:solidFill>
                              <a:srgbClr val="C00000"/>
                            </a:solidFill>
                            <a:latin typeface="Cambria Math" panose="02040503050406030204" pitchFamily="18" charset="0"/>
                          </a:rPr>
                          <m:t>𝑷</m:t>
                        </m:r>
                        <m:r>
                          <a:rPr lang="en-US" altLang="zh-CN" b="1" i="1" baseline="-25000" dirty="0">
                            <a:solidFill>
                              <a:srgbClr val="C00000"/>
                            </a:solidFill>
                            <a:latin typeface="Cambria Math" panose="02040503050406030204" pitchFamily="18" charset="0"/>
                          </a:rPr>
                          <m:t>𝟏</m:t>
                        </m:r>
                      </m:oMath>
                    </m:oMathPara>
                  </a14:m>
                  <a:endParaRPr lang="zh-CN" altLang="en-US" b="1" dirty="0">
                    <a:solidFill>
                      <a:srgbClr val="C00000"/>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5580112" y="558911"/>
                  <a:ext cx="785793" cy="369332"/>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8410551" y="374245"/>
                  <a:ext cx="76815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C00000"/>
                            </a:solidFill>
                            <a:latin typeface="Cambria Math" panose="02040503050406030204" pitchFamily="18" charset="0"/>
                          </a:rPr>
                          <m:t>𝑪</m:t>
                        </m:r>
                        <m:r>
                          <a:rPr lang="en-US" altLang="zh-CN" b="1" i="1" baseline="-25000" dirty="0">
                            <a:solidFill>
                              <a:srgbClr val="C00000"/>
                            </a:solidFill>
                            <a:latin typeface="Cambria Math" panose="02040503050406030204" pitchFamily="18" charset="0"/>
                          </a:rPr>
                          <m:t>𝟐</m:t>
                        </m:r>
                        <m:r>
                          <a:rPr lang="en-US" altLang="zh-CN" b="1" i="1" baseline="-25000" dirty="0" smtClean="0">
                            <a:solidFill>
                              <a:srgbClr val="C00000"/>
                            </a:solidFill>
                            <a:latin typeface="Cambria Math" panose="02040503050406030204" pitchFamily="18" charset="0"/>
                          </a:rPr>
                          <m:t> </m:t>
                        </m:r>
                        <m:r>
                          <a:rPr lang="en-US" altLang="zh-CN" b="1" i="1" dirty="0" smtClean="0">
                            <a:solidFill>
                              <a:srgbClr val="C00000"/>
                            </a:solidFill>
                            <a:latin typeface="Cambria Math" panose="02040503050406030204" pitchFamily="18" charset="0"/>
                          </a:rPr>
                          <m:t>𝑷</m:t>
                        </m:r>
                        <m:r>
                          <a:rPr lang="en-US" altLang="zh-CN" b="1" i="1" baseline="-25000" dirty="0">
                            <a:solidFill>
                              <a:srgbClr val="C00000"/>
                            </a:solidFill>
                            <a:latin typeface="Cambria Math" panose="02040503050406030204" pitchFamily="18" charset="0"/>
                          </a:rPr>
                          <m:t>𝟐</m:t>
                        </m:r>
                      </m:oMath>
                    </m:oMathPara>
                  </a14:m>
                  <a:endParaRPr lang="zh-CN" altLang="en-US" b="1" dirty="0">
                    <a:solidFill>
                      <a:srgbClr val="C00000"/>
                    </a:solidFill>
                  </a:endParaRPr>
                </a:p>
              </p:txBody>
            </p:sp>
          </mc:Choice>
          <mc:Fallback xmlns="">
            <p:sp>
              <p:nvSpPr>
                <p:cNvPr id="8" name="矩形 7"/>
                <p:cNvSpPr>
                  <a:spLocks noRot="1" noChangeAspect="1" noMove="1" noResize="1" noEditPoints="1" noAdjustHandles="1" noChangeArrowheads="1" noChangeShapeType="1" noTextEdit="1"/>
                </p:cNvSpPr>
                <p:nvPr/>
              </p:nvSpPr>
              <p:spPr>
                <a:xfrm>
                  <a:off x="8410551" y="374245"/>
                  <a:ext cx="768159" cy="369332"/>
                </a:xfrm>
                <a:prstGeom prst="rect">
                  <a:avLst/>
                </a:prstGeom>
                <a:blipFill rotWithShape="0">
                  <a:blip r:embed="rId6"/>
                  <a:stretch>
                    <a:fillRect b="-1639"/>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960690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par>
                                <p:cTn id="16" presetID="1"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22" presetClass="entr" presetSubtype="8"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left)">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PDDL </a:t>
            </a:r>
            <a:r>
              <a:rPr lang="en-US" altLang="zh-CN" sz="3100" dirty="0"/>
              <a:t>(planning domain definition language)</a:t>
            </a:r>
            <a:endParaRPr lang="zh-CN" altLang="en-US" sz="3100" dirty="0"/>
          </a:p>
        </p:txBody>
      </p:sp>
      <p:sp>
        <p:nvSpPr>
          <p:cNvPr id="3" name="内容占位符 2"/>
          <p:cNvSpPr>
            <a:spLocks noGrp="1"/>
          </p:cNvSpPr>
          <p:nvPr>
            <p:ph idx="1"/>
          </p:nvPr>
        </p:nvSpPr>
        <p:spPr/>
        <p:txBody>
          <a:bodyPr/>
          <a:lstStyle/>
          <a:p>
            <a:r>
              <a:rPr lang="zh-CN" altLang="en-US" dirty="0"/>
              <a:t>将规划问题定义为一个搜索问题</a:t>
            </a:r>
            <a:endParaRPr lang="en-US" altLang="zh-CN" dirty="0"/>
          </a:p>
          <a:p>
            <a:r>
              <a:rPr lang="en-US" altLang="zh-CN" dirty="0"/>
              <a:t>PDDL</a:t>
            </a:r>
          </a:p>
          <a:p>
            <a:pPr lvl="1"/>
            <a:r>
              <a:rPr lang="zh-CN" altLang="en-US" dirty="0"/>
              <a:t>状态</a:t>
            </a:r>
            <a:endParaRPr lang="en-US" altLang="zh-CN" dirty="0"/>
          </a:p>
          <a:p>
            <a:pPr lvl="1"/>
            <a:r>
              <a:rPr lang="zh-CN" altLang="en-US" dirty="0"/>
              <a:t>动作</a:t>
            </a:r>
            <a:endParaRPr lang="en-US" altLang="zh-CN" dirty="0"/>
          </a:p>
          <a:p>
            <a:pPr lvl="1"/>
            <a:r>
              <a:rPr lang="zh-CN" altLang="en-US" dirty="0"/>
              <a:t>转移模型</a:t>
            </a:r>
            <a:endParaRPr lang="en-US" altLang="zh-CN" dirty="0"/>
          </a:p>
          <a:p>
            <a:pPr lvl="1"/>
            <a:r>
              <a:rPr lang="zh-CN" altLang="en-US" dirty="0"/>
              <a:t>初始状态</a:t>
            </a:r>
            <a:endParaRPr lang="en-US" altLang="zh-CN" dirty="0"/>
          </a:p>
          <a:p>
            <a:pPr lvl="1"/>
            <a:r>
              <a:rPr lang="zh-CN" altLang="en-US" dirty="0"/>
              <a:t>目标</a:t>
            </a: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pPr>
                <a:defRPr/>
              </a:pPr>
              <a:t>5</a:t>
            </a:fld>
            <a:endParaRPr lang="en-US" altLang="zh-CN"/>
          </a:p>
        </p:txBody>
      </p:sp>
    </p:spTree>
    <p:extLst>
      <p:ext uri="{BB962C8B-B14F-4D97-AF65-F5344CB8AC3E}">
        <p14:creationId xmlns:p14="http://schemas.microsoft.com/office/powerpoint/2010/main" val="165009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PDDL</a:t>
            </a:r>
            <a:r>
              <a:rPr lang="en-US" altLang="zh-CN" sz="3100" dirty="0"/>
              <a:t> (planning domain definition language)</a:t>
            </a:r>
            <a:endParaRPr lang="zh-CN" altLang="en-US" sz="31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fr-FR" sz="2800" dirty="0"/>
                  <a:t>流</a:t>
                </a:r>
                <a:r>
                  <a:rPr lang="en-US" altLang="zh-CN" sz="2800" dirty="0"/>
                  <a:t>(</a:t>
                </a:r>
                <a:r>
                  <a:rPr lang="fr-FR" altLang="zh-CN" sz="2800" dirty="0"/>
                  <a:t>fluent</a:t>
                </a:r>
                <a:r>
                  <a:rPr lang="en-US" altLang="zh-CN" sz="2800" dirty="0"/>
                  <a:t>)</a:t>
                </a:r>
              </a:p>
              <a:p>
                <a:pPr lvl="1"/>
                <a:r>
                  <a:rPr lang="zh-CN" altLang="en-US" sz="2400" dirty="0"/>
                  <a:t>基元</a:t>
                </a:r>
                <a:r>
                  <a:rPr lang="en-US" altLang="zh-CN" sz="2400" dirty="0"/>
                  <a:t>(</a:t>
                </a:r>
                <a:r>
                  <a:rPr lang="zh-CN" altLang="en-US" sz="2400" dirty="0"/>
                  <a:t>无变量的</a:t>
                </a:r>
                <a:r>
                  <a:rPr lang="en-US" altLang="zh-CN" sz="2400" dirty="0"/>
                  <a:t>)</a:t>
                </a:r>
                <a:r>
                  <a:rPr lang="zh-CN" altLang="en-US" sz="2400" dirty="0"/>
                  <a:t>、无函数的原子</a:t>
                </a:r>
                <a:endParaRPr lang="en-US" altLang="zh-CN" sz="2400" dirty="0"/>
              </a:p>
              <a:p>
                <a:pPr lvl="1"/>
                <a14:m>
                  <m:oMath xmlns:m="http://schemas.openxmlformats.org/officeDocument/2006/math">
                    <m:r>
                      <a:rPr lang="en-US" altLang="zh-CN" sz="2400" dirty="0" smtClean="0">
                        <a:latin typeface="Cambria Math" panose="02040503050406030204" pitchFamily="18" charset="0"/>
                      </a:rPr>
                      <m:t>𝑃𝑜𝑜𝑟</m:t>
                    </m:r>
                  </m:oMath>
                </a14:m>
                <a:r>
                  <a:rPr lang="zh-CN" altLang="en-US" sz="2400" dirty="0"/>
                  <a:t>，</a:t>
                </a:r>
                <a14:m>
                  <m:oMath xmlns:m="http://schemas.openxmlformats.org/officeDocument/2006/math">
                    <m:r>
                      <a:rPr lang="en-US" altLang="zh-CN" sz="2400" dirty="0">
                        <a:latin typeface="Cambria Math" panose="02040503050406030204" pitchFamily="18" charset="0"/>
                      </a:rPr>
                      <m:t>𝑈𝑛𝑘𝑛𝑜𝑤𝑛</m:t>
                    </m:r>
                  </m:oMath>
                </a14:m>
                <a:endParaRPr lang="en-US" altLang="zh-CN" sz="2400" dirty="0"/>
              </a:p>
              <a:p>
                <a:pPr lvl="1"/>
                <a14:m>
                  <m:oMath xmlns:m="http://schemas.openxmlformats.org/officeDocument/2006/math">
                    <m:r>
                      <a:rPr lang="en-US" altLang="zh-CN" sz="2400" i="1" dirty="0">
                        <a:latin typeface="Cambria Math" panose="02040503050406030204" pitchFamily="18" charset="0"/>
                      </a:rPr>
                      <m:t>𝐴𝑡</m:t>
                    </m:r>
                    <m:r>
                      <a:rPr lang="en-US" altLang="zh-CN" sz="2400" i="1" dirty="0">
                        <a:latin typeface="Cambria Math" panose="02040503050406030204" pitchFamily="18" charset="0"/>
                      </a:rPr>
                      <m:t>(</m:t>
                    </m:r>
                    <m:r>
                      <a:rPr lang="en-US" altLang="zh-CN" sz="2400" i="1" dirty="0">
                        <a:latin typeface="Cambria Math" panose="02040503050406030204" pitchFamily="18" charset="0"/>
                      </a:rPr>
                      <m:t>𝑇𝑟𝑢𝑐𝑘</m:t>
                    </m:r>
                    <m:r>
                      <a:rPr lang="en-US" altLang="zh-CN" sz="2400" i="1" baseline="-25000" dirty="0">
                        <a:latin typeface="Cambria Math" panose="02040503050406030204" pitchFamily="18" charset="0"/>
                      </a:rPr>
                      <m:t>1</m:t>
                    </m:r>
                    <m:r>
                      <a:rPr lang="en-US" altLang="zh-CN" sz="2400" i="1" dirty="0">
                        <a:latin typeface="Cambria Math" panose="02040503050406030204" pitchFamily="18" charset="0"/>
                      </a:rPr>
                      <m:t>, </m:t>
                    </m:r>
                    <m:r>
                      <a:rPr lang="en-US" altLang="zh-CN" sz="2400" i="1" dirty="0">
                        <a:latin typeface="Cambria Math" panose="02040503050406030204" pitchFamily="18" charset="0"/>
                      </a:rPr>
                      <m:t>𝐶h𝑎𝑛𝑔𝑠h𝑎</m:t>
                    </m:r>
                    <m:r>
                      <a:rPr lang="en-US" altLang="zh-CN" sz="2400" i="1" dirty="0">
                        <a:latin typeface="Cambria Math" panose="02040503050406030204" pitchFamily="18" charset="0"/>
                      </a:rPr>
                      <m:t>)</m:t>
                    </m:r>
                  </m:oMath>
                </a14:m>
                <a:r>
                  <a:rPr lang="zh-CN" altLang="en-US" sz="2400" dirty="0"/>
                  <a:t>，</a:t>
                </a:r>
                <a14:m>
                  <m:oMath xmlns:m="http://schemas.openxmlformats.org/officeDocument/2006/math">
                    <m:r>
                      <a:rPr lang="en-US" altLang="zh-CN" sz="2400" i="1" dirty="0">
                        <a:latin typeface="Cambria Math" panose="02040503050406030204" pitchFamily="18" charset="0"/>
                      </a:rPr>
                      <m:t>𝐴𝑡</m:t>
                    </m:r>
                    <m:r>
                      <a:rPr lang="en-US" altLang="zh-CN" sz="2400" i="1" dirty="0">
                        <a:latin typeface="Cambria Math" panose="02040503050406030204" pitchFamily="18" charset="0"/>
                      </a:rPr>
                      <m:t>(</m:t>
                    </m:r>
                    <m:r>
                      <a:rPr lang="en-US" altLang="zh-CN" sz="2400" i="1" dirty="0">
                        <a:latin typeface="Cambria Math" panose="02040503050406030204" pitchFamily="18" charset="0"/>
                      </a:rPr>
                      <m:t>𝑇𝑟𝑢𝑐𝑘</m:t>
                    </m:r>
                    <m:r>
                      <a:rPr lang="en-US" altLang="zh-CN" sz="2400" i="1" baseline="-25000" dirty="0">
                        <a:latin typeface="Cambria Math" panose="02040503050406030204" pitchFamily="18" charset="0"/>
                      </a:rPr>
                      <m:t>2</m:t>
                    </m:r>
                    <m:r>
                      <a:rPr lang="en-US" altLang="zh-CN" sz="2400" i="1" dirty="0">
                        <a:latin typeface="Cambria Math" panose="02040503050406030204" pitchFamily="18" charset="0"/>
                      </a:rPr>
                      <m:t>, </m:t>
                    </m:r>
                    <m:r>
                      <a:rPr lang="en-US" altLang="zh-CN" sz="2400" i="1" dirty="0">
                        <a:latin typeface="Cambria Math" panose="02040503050406030204" pitchFamily="18" charset="0"/>
                      </a:rPr>
                      <m:t>𝐺𝑢𝑎𝑛𝑔𝑧h𝑜𝑢</m:t>
                    </m:r>
                    <m:r>
                      <a:rPr lang="en-US" altLang="zh-CN" sz="2400" i="1" dirty="0">
                        <a:latin typeface="Cambria Math" panose="02040503050406030204" pitchFamily="18" charset="0"/>
                      </a:rPr>
                      <m:t>)</m:t>
                    </m:r>
                  </m:oMath>
                </a14:m>
                <a:endParaRPr lang="en-US" altLang="zh-CN" sz="2400" dirty="0"/>
              </a:p>
              <a:p>
                <a:r>
                  <a:rPr lang="zh-CN" altLang="en-US" sz="2800" dirty="0"/>
                  <a:t>状态</a:t>
                </a:r>
                <a:endParaRPr lang="en-US" altLang="zh-CN" sz="2800" dirty="0"/>
              </a:p>
              <a:p>
                <a:pPr lvl="1"/>
                <a:r>
                  <a:rPr lang="zh-CN" altLang="fr-FR" sz="2400" dirty="0"/>
                  <a:t>流</a:t>
                </a:r>
                <a:r>
                  <a:rPr lang="en-US" altLang="zh-CN" sz="2400" dirty="0"/>
                  <a:t>(</a:t>
                </a:r>
                <a:r>
                  <a:rPr lang="fr-FR" altLang="zh-CN" sz="2400" dirty="0"/>
                  <a:t>fluent</a:t>
                </a:r>
                <a:r>
                  <a:rPr lang="en-US" altLang="zh-CN" sz="2400" dirty="0"/>
                  <a:t>)</a:t>
                </a:r>
                <a:r>
                  <a:rPr lang="zh-CN" altLang="fr-FR" sz="2400" dirty="0"/>
                  <a:t>的</a:t>
                </a:r>
                <a:r>
                  <a:rPr lang="zh-CN" altLang="fr-FR" sz="2400" dirty="0">
                    <a:solidFill>
                      <a:srgbClr val="C00000"/>
                    </a:solidFill>
                  </a:rPr>
                  <a:t>合取</a:t>
                </a:r>
                <a:endParaRPr lang="en-US" altLang="zh-CN" sz="2400" dirty="0">
                  <a:solidFill>
                    <a:srgbClr val="C00000"/>
                  </a:solidFill>
                </a:endParaRPr>
              </a:p>
              <a:p>
                <a:r>
                  <a:rPr lang="zh-CN" altLang="en-US" sz="2800" dirty="0"/>
                  <a:t>状态示例</a:t>
                </a:r>
                <a:endParaRPr lang="en-US" altLang="zh-CN" sz="2800" dirty="0"/>
              </a:p>
              <a:p>
                <a:pPr lvl="1"/>
                <a:r>
                  <a:rPr lang="zh-CN" altLang="en-US" sz="2400" dirty="0"/>
                  <a:t>倒霉的</a:t>
                </a:r>
                <a:r>
                  <a:rPr lang="en-US" altLang="zh-CN" sz="2400" dirty="0"/>
                  <a:t>Agent</a:t>
                </a:r>
                <a:r>
                  <a:rPr lang="zh-CN" altLang="en-US" sz="2400" dirty="0"/>
                  <a:t>的状态</a:t>
                </a:r>
                <a:endParaRPr lang="en-US" altLang="zh-CN" sz="2400" dirty="0"/>
              </a:p>
              <a:p>
                <a:pPr lvl="1"/>
                <a:r>
                  <a:rPr lang="zh-CN" altLang="zh-CN" sz="2400" dirty="0"/>
                  <a:t>包裹传递问题中的状态</a:t>
                </a: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932" t="-147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8675F621-1619-4F8E-88C5-5F30FD27FF75}" type="slidenum">
              <a:rPr lang="en-US" altLang="zh-CN" smtClean="0"/>
              <a:pPr/>
              <a:t>6</a:t>
            </a:fld>
            <a:endParaRPr lang="en-US" altLang="zh-CN" dirty="0"/>
          </a:p>
        </p:txBody>
      </p:sp>
      <mc:AlternateContent xmlns:mc="http://schemas.openxmlformats.org/markup-compatibility/2006" xmlns:a14="http://schemas.microsoft.com/office/drawing/2010/main">
        <mc:Choice Requires="a14">
          <p:sp>
            <p:nvSpPr>
              <p:cNvPr id="8" name="矩形 7"/>
              <p:cNvSpPr/>
              <p:nvPr/>
            </p:nvSpPr>
            <p:spPr>
              <a:xfrm>
                <a:off x="4258398" y="4725144"/>
                <a:ext cx="256486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dirty="0">
                          <a:latin typeface="Cambria Math" panose="02040503050406030204" pitchFamily="18" charset="0"/>
                        </a:rPr>
                        <m:t>𝑃𝑜𝑜𝑟</m:t>
                      </m:r>
                      <m:r>
                        <a:rPr lang="en-US" altLang="zh-CN" sz="2400" dirty="0">
                          <a:latin typeface="Cambria Math" panose="02040503050406030204" pitchFamily="18" charset="0"/>
                        </a:rPr>
                        <m:t>∧</m:t>
                      </m:r>
                      <m:r>
                        <a:rPr lang="en-US" altLang="zh-CN" sz="2400" dirty="0" err="1">
                          <a:latin typeface="Cambria Math" panose="02040503050406030204" pitchFamily="18" charset="0"/>
                        </a:rPr>
                        <m:t>𝑈𝑛𝑘𝑛𝑜𝑤𝑛</m:t>
                      </m:r>
                    </m:oMath>
                  </m:oMathPara>
                </a14:m>
                <a:endParaRPr lang="en-US" altLang="zh-CN" sz="2400" dirty="0"/>
              </a:p>
            </p:txBody>
          </p:sp>
        </mc:Choice>
        <mc:Fallback xmlns="">
          <p:sp>
            <p:nvSpPr>
              <p:cNvPr id="8" name="矩形 7"/>
              <p:cNvSpPr>
                <a:spLocks noRot="1" noChangeAspect="1" noMove="1" noResize="1" noEditPoints="1" noAdjustHandles="1" noChangeArrowheads="1" noChangeShapeType="1" noTextEdit="1"/>
              </p:cNvSpPr>
              <p:nvPr/>
            </p:nvSpPr>
            <p:spPr>
              <a:xfrm>
                <a:off x="4258398" y="4725144"/>
                <a:ext cx="2564869" cy="461665"/>
              </a:xfrm>
              <a:prstGeom prst="rect">
                <a:avLst/>
              </a:prstGeom>
              <a:blipFill rotWithShape="0">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203998" y="5720060"/>
                <a:ext cx="6661391"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𝐴𝑡</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𝑇𝑟𝑢𝑐𝑘</m:t>
                      </m:r>
                      <m:r>
                        <a:rPr lang="en-US" altLang="zh-CN" sz="2400" i="1" baseline="-25000" dirty="0">
                          <a:latin typeface="Cambria Math" panose="02040503050406030204" pitchFamily="18" charset="0"/>
                        </a:rPr>
                        <m:t>1</m:t>
                      </m:r>
                      <m:r>
                        <a:rPr lang="en-US" altLang="zh-CN" sz="2400" i="1" dirty="0">
                          <a:latin typeface="Cambria Math" panose="02040503050406030204" pitchFamily="18" charset="0"/>
                        </a:rPr>
                        <m:t>, </m:t>
                      </m:r>
                      <m:r>
                        <a:rPr lang="en-US" altLang="zh-CN" sz="2400" b="0" i="1" dirty="0" smtClean="0">
                          <a:latin typeface="Cambria Math" panose="02040503050406030204" pitchFamily="18" charset="0"/>
                        </a:rPr>
                        <m:t>𝐶h𝑎𝑛𝑔𝑠h𝑎</m:t>
                      </m:r>
                      <m:r>
                        <a:rPr lang="en-US" altLang="zh-CN" sz="2400" i="1" dirty="0">
                          <a:latin typeface="Cambria Math" panose="02040503050406030204" pitchFamily="18" charset="0"/>
                        </a:rPr>
                        <m:t>)∧</m:t>
                      </m:r>
                      <m:r>
                        <a:rPr lang="en-US" altLang="zh-CN" sz="2400" i="1" dirty="0">
                          <a:latin typeface="Cambria Math" panose="02040503050406030204" pitchFamily="18" charset="0"/>
                        </a:rPr>
                        <m:t>𝐴𝑡</m:t>
                      </m:r>
                      <m:r>
                        <a:rPr lang="en-US" altLang="zh-CN" sz="2400" i="1" dirty="0">
                          <a:latin typeface="Cambria Math" panose="02040503050406030204" pitchFamily="18" charset="0"/>
                        </a:rPr>
                        <m:t>(</m:t>
                      </m:r>
                      <m:r>
                        <a:rPr lang="en-US" altLang="zh-CN" sz="2400" i="1" dirty="0">
                          <a:latin typeface="Cambria Math" panose="02040503050406030204" pitchFamily="18" charset="0"/>
                        </a:rPr>
                        <m:t>𝑇𝑟𝑢𝑐𝑘</m:t>
                      </m:r>
                      <m:r>
                        <a:rPr lang="en-US" altLang="zh-CN" sz="2400" i="1" baseline="-25000" dirty="0">
                          <a:latin typeface="Cambria Math" panose="02040503050406030204" pitchFamily="18" charset="0"/>
                        </a:rPr>
                        <m:t>2</m:t>
                      </m:r>
                      <m:r>
                        <a:rPr lang="en-US" altLang="zh-CN" sz="2400" i="1" dirty="0">
                          <a:latin typeface="Cambria Math" panose="02040503050406030204" pitchFamily="18" charset="0"/>
                        </a:rPr>
                        <m:t>, </m:t>
                      </m:r>
                      <m:r>
                        <a:rPr lang="en-US" altLang="zh-CN" sz="2400" b="0" i="1" dirty="0" smtClean="0">
                          <a:latin typeface="Cambria Math" panose="02040503050406030204" pitchFamily="18" charset="0"/>
                        </a:rPr>
                        <m:t>𝐺𝑢𝑎𝑛𝑔𝑧h𝑜𝑢</m:t>
                      </m:r>
                      <m:r>
                        <a:rPr lang="en-US" altLang="zh-CN" sz="2400" i="1" dirty="0">
                          <a:latin typeface="Cambria Math" panose="02040503050406030204" pitchFamily="18" charset="0"/>
                        </a:rPr>
                        <m:t>)</m:t>
                      </m:r>
                    </m:oMath>
                  </m:oMathPara>
                </a14:m>
                <a:endParaRPr lang="en-US" altLang="zh-CN" sz="2400" dirty="0"/>
              </a:p>
            </p:txBody>
          </p:sp>
        </mc:Choice>
        <mc:Fallback xmlns="">
          <p:sp>
            <p:nvSpPr>
              <p:cNvPr id="9" name="矩形 8"/>
              <p:cNvSpPr>
                <a:spLocks noRot="1" noChangeAspect="1" noMove="1" noResize="1" noEditPoints="1" noAdjustHandles="1" noChangeArrowheads="1" noChangeShapeType="1" noTextEdit="1"/>
              </p:cNvSpPr>
              <p:nvPr/>
            </p:nvSpPr>
            <p:spPr>
              <a:xfrm>
                <a:off x="1203998" y="5720060"/>
                <a:ext cx="6661391" cy="461665"/>
              </a:xfrm>
              <a:prstGeom prst="rect">
                <a:avLst/>
              </a:prstGeom>
              <a:blipFill rotWithShape="0">
                <a:blip r:embed="rId4"/>
                <a:stretch>
                  <a:fillRect l="-183" r="-733" b="-197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02570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left)">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left)">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wipe(left)">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
                                            <p:txEl>
                                              <p:pRg st="8" end="8"/>
                                            </p:txEl>
                                          </p:spTgt>
                                        </p:tgtEl>
                                        <p:attrNameLst>
                                          <p:attrName>style.visibility</p:attrName>
                                        </p:attrNameLst>
                                      </p:cBhvr>
                                      <p:to>
                                        <p:strVal val="visible"/>
                                      </p:to>
                                    </p:set>
                                    <p:animEffect transition="in" filter="wipe(left)">
                                      <p:cBhvr>
                                        <p:cTn id="50" dur="500"/>
                                        <p:tgtEl>
                                          <p:spTgt spid="3">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PDDL </a:t>
            </a:r>
            <a:r>
              <a:rPr lang="en-US" altLang="zh-CN" sz="3100" dirty="0"/>
              <a:t>(planning domain definition language)</a:t>
            </a:r>
            <a:endParaRPr lang="zh-CN" altLang="en-US" sz="3100" dirty="0"/>
          </a:p>
        </p:txBody>
      </p:sp>
      <p:sp>
        <p:nvSpPr>
          <p:cNvPr id="3" name="内容占位符 2"/>
          <p:cNvSpPr>
            <a:spLocks noGrp="1"/>
          </p:cNvSpPr>
          <p:nvPr>
            <p:ph idx="1"/>
          </p:nvPr>
        </p:nvSpPr>
        <p:spPr/>
        <p:txBody>
          <a:bodyPr/>
          <a:lstStyle/>
          <a:p>
            <a:r>
              <a:rPr lang="zh-CN" altLang="en-US" dirty="0">
                <a:solidFill>
                  <a:srgbClr val="C00000"/>
                </a:solidFill>
              </a:rPr>
              <a:t>数据库语义</a:t>
            </a:r>
            <a:endParaRPr lang="en-US" altLang="zh-CN" dirty="0"/>
          </a:p>
          <a:p>
            <a:pPr lvl="1"/>
            <a:r>
              <a:rPr lang="zh-CN" altLang="en-US" dirty="0"/>
              <a:t>没有提到的流是假的</a:t>
            </a:r>
            <a:endParaRPr lang="en-US" altLang="zh-CN" dirty="0"/>
          </a:p>
          <a:p>
            <a:pPr lvl="1"/>
            <a:r>
              <a:rPr lang="zh-CN" altLang="en-US" dirty="0"/>
              <a:t>不同的常量指代不同的对象</a:t>
            </a:r>
            <a:endParaRPr lang="en-US" altLang="zh-CN" dirty="0"/>
          </a:p>
          <a:p>
            <a:r>
              <a:rPr lang="zh-CN" altLang="en-US" sz="2800" dirty="0"/>
              <a:t>状态</a:t>
            </a:r>
            <a:endParaRPr lang="en-US" altLang="zh-CN" sz="2800" dirty="0"/>
          </a:p>
          <a:p>
            <a:pPr lvl="1"/>
            <a:r>
              <a:rPr lang="zh-CN" altLang="fr-FR" sz="2400" dirty="0"/>
              <a:t>流</a:t>
            </a:r>
            <a:r>
              <a:rPr lang="en-US" altLang="zh-CN" sz="2400" dirty="0"/>
              <a:t>(</a:t>
            </a:r>
            <a:r>
              <a:rPr lang="fr-FR" altLang="zh-CN" sz="2400" dirty="0"/>
              <a:t>fluent</a:t>
            </a:r>
            <a:r>
              <a:rPr lang="en-US" altLang="zh-CN" sz="2400" dirty="0"/>
              <a:t>)</a:t>
            </a:r>
            <a:r>
              <a:rPr lang="zh-CN" altLang="fr-FR" sz="2400" dirty="0"/>
              <a:t>的</a:t>
            </a:r>
            <a:r>
              <a:rPr lang="zh-CN" altLang="fr-FR" sz="2400" dirty="0">
                <a:solidFill>
                  <a:srgbClr val="C00000"/>
                </a:solidFill>
              </a:rPr>
              <a:t>合取</a:t>
            </a:r>
            <a:endParaRPr lang="en-US" altLang="zh-CN" sz="2400" dirty="0">
              <a:solidFill>
                <a:srgbClr val="C00000"/>
              </a:solidFill>
            </a:endParaRPr>
          </a:p>
          <a:p>
            <a:pPr lvl="1"/>
            <a:r>
              <a:rPr lang="zh-CN" altLang="en-US" sz="2400" dirty="0"/>
              <a:t>只有正文字</a:t>
            </a: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pPr>
                <a:defRPr/>
              </a:pPr>
              <a:t>7</a:t>
            </a:fld>
            <a:endParaRPr lang="en-US" altLang="zh-CN"/>
          </a:p>
        </p:txBody>
      </p:sp>
    </p:spTree>
    <p:extLst>
      <p:ext uri="{BB962C8B-B14F-4D97-AF65-F5344CB8AC3E}">
        <p14:creationId xmlns:p14="http://schemas.microsoft.com/office/powerpoint/2010/main" val="2415460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left)">
                                      <p:cBhvr>
                                        <p:cTn id="18" dur="500"/>
                                        <p:tgtEl>
                                          <p:spTgt spid="3">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left)">
                                      <p:cBhvr>
                                        <p:cTn id="21" dur="500"/>
                                        <p:tgtEl>
                                          <p:spTgt spid="3">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left)">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PDDL </a:t>
            </a:r>
            <a:r>
              <a:rPr lang="zh-CN" altLang="en-US" dirty="0"/>
              <a:t>：动作</a:t>
            </a:r>
          </a:p>
        </p:txBody>
      </p:sp>
      <p:sp>
        <p:nvSpPr>
          <p:cNvPr id="3" name="内容占位符 2"/>
          <p:cNvSpPr>
            <a:spLocks noGrp="1"/>
          </p:cNvSpPr>
          <p:nvPr>
            <p:ph idx="1"/>
          </p:nvPr>
        </p:nvSpPr>
        <p:spPr/>
        <p:txBody>
          <a:bodyPr/>
          <a:lstStyle/>
          <a:p>
            <a:r>
              <a:rPr lang="zh-CN" altLang="en-US" sz="2800" dirty="0"/>
              <a:t>动作可用</a:t>
            </a:r>
            <a:r>
              <a:rPr lang="zh-CN" altLang="en-US" sz="2800" dirty="0">
                <a:solidFill>
                  <a:srgbClr val="C00000"/>
                </a:solidFill>
              </a:rPr>
              <a:t>动作模式</a:t>
            </a:r>
            <a:r>
              <a:rPr lang="zh-CN" altLang="en-US" sz="2800" dirty="0"/>
              <a:t>来描述</a:t>
            </a:r>
            <a:endParaRPr lang="en-US" altLang="zh-CN" sz="2800" dirty="0"/>
          </a:p>
          <a:p>
            <a:pPr lvl="1"/>
            <a:r>
              <a:rPr lang="zh-CN" altLang="en-US" sz="2400" dirty="0"/>
              <a:t>通过描述</a:t>
            </a:r>
            <a:r>
              <a:rPr lang="zh-CN" altLang="en-US" sz="2400" dirty="0">
                <a:solidFill>
                  <a:srgbClr val="0070C0"/>
                </a:solidFill>
              </a:rPr>
              <a:t>变化</a:t>
            </a:r>
            <a:r>
              <a:rPr lang="zh-CN" altLang="en-US" sz="2400" dirty="0"/>
              <a:t>来表示动作的效果</a:t>
            </a:r>
            <a:endParaRPr lang="en-US" altLang="zh-CN" sz="2400" dirty="0"/>
          </a:p>
          <a:p>
            <a:pPr lvl="1"/>
            <a:r>
              <a:rPr lang="zh-CN" altLang="en-US" sz="2400" dirty="0"/>
              <a:t>不提及保持不变的东西</a:t>
            </a:r>
            <a:endParaRPr lang="en-US" altLang="zh-CN" sz="2400" dirty="0"/>
          </a:p>
          <a:p>
            <a:r>
              <a:rPr lang="zh-CN" altLang="en-US" sz="2800" dirty="0"/>
              <a:t>例：直升机从一地飞到另地的动作模式</a:t>
            </a:r>
          </a:p>
        </p:txBody>
      </p:sp>
      <p:sp>
        <p:nvSpPr>
          <p:cNvPr id="4" name="灯片编号占位符 3"/>
          <p:cNvSpPr>
            <a:spLocks noGrp="1"/>
          </p:cNvSpPr>
          <p:nvPr>
            <p:ph type="sldNum" sz="quarter" idx="12"/>
          </p:nvPr>
        </p:nvSpPr>
        <p:spPr/>
        <p:txBody>
          <a:bodyPr/>
          <a:lstStyle/>
          <a:p>
            <a:fld id="{8675F621-1619-4F8E-88C5-5F30FD27FF75}" type="slidenum">
              <a:rPr lang="en-US" altLang="zh-CN" smtClean="0"/>
              <a:pPr/>
              <a:t>8</a:t>
            </a:fld>
            <a:endParaRPr lang="en-US" altLang="zh-CN"/>
          </a:p>
        </p:txBody>
      </p:sp>
      <mc:AlternateContent xmlns:mc="http://schemas.openxmlformats.org/markup-compatibility/2006" xmlns:a14="http://schemas.microsoft.com/office/drawing/2010/main">
        <mc:Choice Requires="a14">
          <p:sp>
            <p:nvSpPr>
              <p:cNvPr id="5" name="文本框 4"/>
              <p:cNvSpPr txBox="1"/>
              <p:nvPr/>
            </p:nvSpPr>
            <p:spPr>
              <a:xfrm>
                <a:off x="250218" y="3605473"/>
                <a:ext cx="8568952" cy="1107996"/>
              </a:xfrm>
              <a:prstGeom prst="rect">
                <a:avLst/>
              </a:prstGeom>
              <a:noFill/>
            </p:spPr>
            <p:txBody>
              <a:bodyPr wrap="square" rtlCol="0">
                <a:spAutoFit/>
              </a:bodyPr>
              <a:lstStyle/>
              <a:p>
                <a14:m>
                  <m:oMath xmlns:m="http://schemas.openxmlformats.org/officeDocument/2006/math">
                    <m:r>
                      <a:rPr lang="en-US" altLang="zh-CN" sz="2200" i="1" dirty="0" smtClean="0">
                        <a:latin typeface="Cambria Math" panose="02040503050406030204" pitchFamily="18" charset="0"/>
                      </a:rPr>
                      <m:t>𝐴𝑐𝑡𝑖𝑜𝑛</m:t>
                    </m:r>
                    <m:r>
                      <a:rPr lang="en-US" altLang="zh-CN" sz="2200" i="1" dirty="0" smtClean="0">
                        <a:latin typeface="Cambria Math" panose="02040503050406030204" pitchFamily="18" charset="0"/>
                      </a:rPr>
                      <m:t>( </m:t>
                    </m:r>
                    <m:r>
                      <a:rPr lang="en-US" altLang="zh-CN" sz="2200" i="1" dirty="0" smtClean="0">
                        <a:solidFill>
                          <a:srgbClr val="C00000"/>
                        </a:solidFill>
                        <a:latin typeface="Cambria Math" panose="02040503050406030204" pitchFamily="18" charset="0"/>
                      </a:rPr>
                      <m:t>𝐹𝑙𝑦</m:t>
                    </m:r>
                    <m:r>
                      <a:rPr lang="en-US" altLang="zh-CN" sz="2200" i="1" dirty="0" smtClean="0">
                        <a:solidFill>
                          <a:srgbClr val="C00000"/>
                        </a:solidFill>
                        <a:latin typeface="Cambria Math" panose="02040503050406030204" pitchFamily="18" charset="0"/>
                      </a:rPr>
                      <m:t>(</m:t>
                    </m:r>
                    <m:r>
                      <a:rPr lang="en-US" altLang="zh-CN" sz="2200" i="1" dirty="0" smtClean="0">
                        <a:solidFill>
                          <a:srgbClr val="C00000"/>
                        </a:solidFill>
                        <a:latin typeface="Cambria Math" panose="02040503050406030204" pitchFamily="18" charset="0"/>
                      </a:rPr>
                      <m:t>𝑝</m:t>
                    </m:r>
                    <m:r>
                      <a:rPr lang="en-US" altLang="zh-CN" sz="2200" i="1" dirty="0" smtClean="0">
                        <a:solidFill>
                          <a:srgbClr val="C00000"/>
                        </a:solidFill>
                        <a:latin typeface="Cambria Math" panose="02040503050406030204" pitchFamily="18" charset="0"/>
                      </a:rPr>
                      <m:t>, </m:t>
                    </m:r>
                    <m:r>
                      <a:rPr lang="en-US" altLang="zh-CN" sz="2200" i="1" dirty="0" smtClean="0">
                        <a:solidFill>
                          <a:srgbClr val="C00000"/>
                        </a:solidFill>
                        <a:latin typeface="Cambria Math" panose="02040503050406030204" pitchFamily="18" charset="0"/>
                      </a:rPr>
                      <m:t>𝑓𝑟𝑜𝑚</m:t>
                    </m:r>
                    <m:r>
                      <a:rPr lang="en-US" altLang="zh-CN" sz="2200" i="1" dirty="0" smtClean="0">
                        <a:solidFill>
                          <a:srgbClr val="C00000"/>
                        </a:solidFill>
                        <a:latin typeface="Cambria Math" panose="02040503050406030204" pitchFamily="18" charset="0"/>
                      </a:rPr>
                      <m:t>, </m:t>
                    </m:r>
                    <m:r>
                      <a:rPr lang="en-US" altLang="zh-CN" sz="2200" i="1" dirty="0" smtClean="0">
                        <a:solidFill>
                          <a:srgbClr val="C00000"/>
                        </a:solidFill>
                        <a:latin typeface="Cambria Math" panose="02040503050406030204" pitchFamily="18" charset="0"/>
                      </a:rPr>
                      <m:t>𝑡𝑜</m:t>
                    </m:r>
                    <m:r>
                      <a:rPr lang="en-US" altLang="zh-CN" sz="2200" i="1" dirty="0" smtClean="0">
                        <a:solidFill>
                          <a:srgbClr val="C00000"/>
                        </a:solidFill>
                        <a:latin typeface="Cambria Math" panose="02040503050406030204" pitchFamily="18" charset="0"/>
                      </a:rPr>
                      <m:t>) </m:t>
                    </m:r>
                  </m:oMath>
                </a14:m>
                <a:r>
                  <a:rPr lang="en-US" altLang="zh-CN" sz="2200" dirty="0"/>
                  <a:t>, </a:t>
                </a:r>
                <a:endParaRPr lang="zh-CN" altLang="zh-CN" sz="2200" dirty="0"/>
              </a:p>
              <a:p>
                <a:r>
                  <a:rPr lang="en-US" altLang="zh-CN" sz="2200" dirty="0">
                    <a:solidFill>
                      <a:srgbClr val="0070C0"/>
                    </a:solidFill>
                  </a:rPr>
                  <a:t>PRECOND</a:t>
                </a:r>
                <a:r>
                  <a:rPr lang="en-US" altLang="zh-CN" sz="2200" dirty="0"/>
                  <a:t>: </a:t>
                </a:r>
                <a14:m>
                  <m:oMath xmlns:m="http://schemas.openxmlformats.org/officeDocument/2006/math">
                    <m:r>
                      <a:rPr lang="en-US" altLang="zh-CN" sz="2200" i="1" dirty="0" smtClean="0">
                        <a:solidFill>
                          <a:srgbClr val="0070C0"/>
                        </a:solidFill>
                        <a:latin typeface="Cambria Math" panose="02040503050406030204" pitchFamily="18" charset="0"/>
                      </a:rPr>
                      <m:t>𝐴𝑡</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𝑝</m:t>
                    </m:r>
                    <m:r>
                      <a:rPr lang="en-US" altLang="zh-CN" sz="2200" i="1" dirty="0" smtClean="0">
                        <a:solidFill>
                          <a:srgbClr val="0070C0"/>
                        </a:solidFill>
                        <a:latin typeface="Cambria Math" panose="02040503050406030204" pitchFamily="18" charset="0"/>
                      </a:rPr>
                      <m:t>, </m:t>
                    </m:r>
                    <m:r>
                      <a:rPr lang="en-US" altLang="zh-CN" sz="2200" i="1" dirty="0" smtClean="0">
                        <a:solidFill>
                          <a:srgbClr val="0070C0"/>
                        </a:solidFill>
                        <a:latin typeface="Cambria Math" panose="02040503050406030204" pitchFamily="18" charset="0"/>
                      </a:rPr>
                      <m:t>𝑓𝑟𝑜𝑚</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𝑃𝑙𝑎𝑛𝑒</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𝑝</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𝐴𝑖𝑟𝑝𝑜𝑟𝑡</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𝑓𝑟𝑜𝑚</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𝐴𝑖𝑟𝑝𝑜𝑟𝑡</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𝑡𝑜</m:t>
                    </m:r>
                    <m:r>
                      <a:rPr lang="en-US" altLang="zh-CN" sz="2200" i="1" dirty="0" smtClean="0">
                        <a:solidFill>
                          <a:srgbClr val="0070C0"/>
                        </a:solidFill>
                        <a:latin typeface="Cambria Math" panose="02040503050406030204" pitchFamily="18" charset="0"/>
                      </a:rPr>
                      <m:t>)</m:t>
                    </m:r>
                  </m:oMath>
                </a14:m>
                <a:endParaRPr lang="zh-CN" altLang="zh-CN" sz="2200" dirty="0">
                  <a:solidFill>
                    <a:srgbClr val="0070C0"/>
                  </a:solidFill>
                </a:endParaRPr>
              </a:p>
              <a:p>
                <a:r>
                  <a:rPr lang="en-US" altLang="zh-CN" sz="2200" dirty="0">
                    <a:solidFill>
                      <a:srgbClr val="006600"/>
                    </a:solidFill>
                  </a:rPr>
                  <a:t>EFFECT</a:t>
                </a:r>
                <a:r>
                  <a:rPr lang="en-US" altLang="zh-CN" sz="2200" dirty="0"/>
                  <a:t>: </a:t>
                </a:r>
                <a14:m>
                  <m:oMath xmlns:m="http://schemas.openxmlformats.org/officeDocument/2006/math">
                    <m:r>
                      <a:rPr lang="en-US" altLang="zh-CN" sz="2200" i="1" dirty="0" smtClean="0">
                        <a:solidFill>
                          <a:srgbClr val="006600"/>
                        </a:solidFill>
                        <a:latin typeface="Cambria Math" panose="02040503050406030204" pitchFamily="18" charset="0"/>
                        <a:sym typeface="Symbol" panose="05050102010706020507" pitchFamily="18" charset="2"/>
                      </a:rPr>
                      <m:t></m:t>
                    </m:r>
                    <m:r>
                      <a:rPr lang="en-US" altLang="zh-CN" sz="2200" i="1" dirty="0" smtClean="0">
                        <a:solidFill>
                          <a:srgbClr val="006600"/>
                        </a:solidFill>
                        <a:latin typeface="Cambria Math" panose="02040503050406030204" pitchFamily="18" charset="0"/>
                      </a:rPr>
                      <m:t>𝐴𝑡</m:t>
                    </m:r>
                    <m:d>
                      <m:dPr>
                        <m:ctrlPr>
                          <a:rPr lang="en-US" altLang="zh-CN" sz="2200" i="1" dirty="0" smtClean="0">
                            <a:solidFill>
                              <a:srgbClr val="006600"/>
                            </a:solidFill>
                            <a:latin typeface="Cambria Math" panose="02040503050406030204" pitchFamily="18" charset="0"/>
                          </a:rPr>
                        </m:ctrlPr>
                      </m:dPr>
                      <m:e>
                        <m:r>
                          <a:rPr lang="en-US" altLang="zh-CN" sz="2200" i="1" dirty="0" err="1" smtClean="0">
                            <a:solidFill>
                              <a:srgbClr val="006600"/>
                            </a:solidFill>
                            <a:latin typeface="Cambria Math" panose="02040503050406030204" pitchFamily="18" charset="0"/>
                          </a:rPr>
                          <m:t>𝑝</m:t>
                        </m:r>
                        <m:r>
                          <a:rPr lang="en-US" altLang="zh-CN" sz="2200" i="1" dirty="0" err="1" smtClean="0">
                            <a:solidFill>
                              <a:srgbClr val="006600"/>
                            </a:solidFill>
                            <a:latin typeface="Cambria Math" panose="02040503050406030204" pitchFamily="18" charset="0"/>
                          </a:rPr>
                          <m:t>,</m:t>
                        </m:r>
                        <m:r>
                          <a:rPr lang="en-US" altLang="zh-CN" sz="2200" i="1" dirty="0" err="1" smtClean="0">
                            <a:solidFill>
                              <a:srgbClr val="006600"/>
                            </a:solidFill>
                            <a:latin typeface="Cambria Math" panose="02040503050406030204" pitchFamily="18" charset="0"/>
                          </a:rPr>
                          <m:t>𝑓𝑟𝑜𝑚</m:t>
                        </m:r>
                      </m:e>
                    </m:d>
                    <m:r>
                      <a:rPr lang="zh-CN" altLang="zh-CN" sz="2200" i="1" dirty="0" smtClean="0">
                        <a:solidFill>
                          <a:srgbClr val="006600"/>
                        </a:solidFill>
                        <a:latin typeface="Cambria Math" panose="02040503050406030204" pitchFamily="18" charset="0"/>
                      </a:rPr>
                      <m:t>∧</m:t>
                    </m:r>
                    <m:r>
                      <a:rPr lang="en-US" altLang="zh-CN" sz="2200" i="1" dirty="0" smtClean="0">
                        <a:solidFill>
                          <a:srgbClr val="006600"/>
                        </a:solidFill>
                        <a:latin typeface="Cambria Math" panose="02040503050406030204" pitchFamily="18" charset="0"/>
                      </a:rPr>
                      <m:t>𝐴𝑡</m:t>
                    </m:r>
                    <m:d>
                      <m:dPr>
                        <m:ctrlPr>
                          <a:rPr lang="en-US" altLang="zh-CN" sz="2200" i="1" dirty="0" smtClean="0">
                            <a:solidFill>
                              <a:srgbClr val="006600"/>
                            </a:solidFill>
                            <a:latin typeface="Cambria Math" panose="02040503050406030204" pitchFamily="18" charset="0"/>
                          </a:rPr>
                        </m:ctrlPr>
                      </m:dPr>
                      <m:e>
                        <m:r>
                          <a:rPr lang="en-US" altLang="zh-CN" sz="2200" i="1" dirty="0" err="1" smtClean="0">
                            <a:solidFill>
                              <a:srgbClr val="006600"/>
                            </a:solidFill>
                            <a:latin typeface="Cambria Math" panose="02040503050406030204" pitchFamily="18" charset="0"/>
                          </a:rPr>
                          <m:t>𝑝</m:t>
                        </m:r>
                        <m:r>
                          <a:rPr lang="en-US" altLang="zh-CN" sz="2200" i="1" dirty="0" err="1" smtClean="0">
                            <a:solidFill>
                              <a:srgbClr val="006600"/>
                            </a:solidFill>
                            <a:latin typeface="Cambria Math" panose="02040503050406030204" pitchFamily="18" charset="0"/>
                          </a:rPr>
                          <m:t>,</m:t>
                        </m:r>
                        <m:r>
                          <a:rPr lang="en-US" altLang="zh-CN" sz="2200" i="1" dirty="0" err="1" smtClean="0">
                            <a:solidFill>
                              <a:srgbClr val="006600"/>
                            </a:solidFill>
                            <a:latin typeface="Cambria Math" panose="02040503050406030204" pitchFamily="18" charset="0"/>
                          </a:rPr>
                          <m:t>𝑡𝑜</m:t>
                        </m:r>
                        <m:r>
                          <a:rPr lang="en-US" altLang="zh-CN" sz="2200" b="0" i="1" dirty="0" smtClean="0">
                            <a:solidFill>
                              <a:srgbClr val="006600"/>
                            </a:solidFill>
                            <a:latin typeface="Cambria Math" panose="02040503050406030204" pitchFamily="18" charset="0"/>
                          </a:rPr>
                          <m:t>)</m:t>
                        </m:r>
                      </m:e>
                    </m:d>
                    <m:r>
                      <a:rPr lang="en-US" altLang="zh-CN" sz="2200" b="0" i="1" dirty="0" smtClean="0">
                        <a:solidFill>
                          <a:srgbClr val="006600"/>
                        </a:solidFill>
                        <a:latin typeface="Cambria Math" panose="02040503050406030204" pitchFamily="18" charset="0"/>
                      </a:rPr>
                      <m:t> </m:t>
                    </m:r>
                  </m:oMath>
                </a14:m>
                <a:endParaRPr lang="zh-CN" altLang="zh-CN" sz="2200" dirty="0">
                  <a:solidFill>
                    <a:schemeClr val="tx1"/>
                  </a:solidFill>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50218" y="3605473"/>
                <a:ext cx="8568952" cy="1107996"/>
              </a:xfrm>
              <a:prstGeom prst="rect">
                <a:avLst/>
              </a:prstGeom>
              <a:blipFill rotWithShape="0">
                <a:blip r:embed="rId3"/>
                <a:stretch>
                  <a:fillRect l="-925" t="-2747" b="-10989"/>
                </a:stretch>
              </a:blipFill>
            </p:spPr>
            <p:txBody>
              <a:bodyPr/>
              <a:lstStyle/>
              <a:p>
                <a:r>
                  <a:rPr lang="zh-CN" altLang="en-US">
                    <a:noFill/>
                  </a:rPr>
                  <a:t> </a:t>
                </a:r>
              </a:p>
            </p:txBody>
          </p:sp>
        </mc:Fallback>
      </mc:AlternateContent>
      <p:sp>
        <p:nvSpPr>
          <p:cNvPr id="7" name="线形标注 1(无边框) 6"/>
          <p:cNvSpPr/>
          <p:nvPr/>
        </p:nvSpPr>
        <p:spPr>
          <a:xfrm>
            <a:off x="3083617" y="4890345"/>
            <a:ext cx="2376264" cy="612648"/>
          </a:xfrm>
          <a:prstGeom prst="callout1">
            <a:avLst>
              <a:gd name="adj1" fmla="val -2032"/>
              <a:gd name="adj2" fmla="val 1409"/>
              <a:gd name="adj3" fmla="val -104768"/>
              <a:gd name="adj4" fmla="val -61136"/>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dirty="0">
                <a:solidFill>
                  <a:srgbClr val="0070C0"/>
                </a:solidFill>
                <a:latin typeface="+mn-ea"/>
              </a:rPr>
              <a:t>前提定义了动作能被执行的状态</a:t>
            </a:r>
          </a:p>
        </p:txBody>
      </p:sp>
      <p:sp>
        <p:nvSpPr>
          <p:cNvPr id="8" name="线形标注 1(无边框) 7"/>
          <p:cNvSpPr/>
          <p:nvPr/>
        </p:nvSpPr>
        <p:spPr>
          <a:xfrm>
            <a:off x="609600" y="5679869"/>
            <a:ext cx="2448272" cy="612648"/>
          </a:xfrm>
          <a:prstGeom prst="callout1">
            <a:avLst>
              <a:gd name="adj1" fmla="val -17146"/>
              <a:gd name="adj2" fmla="val 26652"/>
              <a:gd name="adj3" fmla="val -165225"/>
              <a:gd name="adj4" fmla="val 12253"/>
            </a:avLst>
          </a:prstGeom>
          <a:ln w="38100">
            <a:solidFill>
              <a:srgbClr val="0066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dirty="0">
                <a:solidFill>
                  <a:srgbClr val="006600"/>
                </a:solidFill>
                <a:latin typeface="+mn-ea"/>
              </a:rPr>
              <a:t>效果定义了执行这个动作的结果</a:t>
            </a:r>
          </a:p>
        </p:txBody>
      </p:sp>
      <p:sp>
        <p:nvSpPr>
          <p:cNvPr id="9" name="文本框 8"/>
          <p:cNvSpPr txBox="1"/>
          <p:nvPr/>
        </p:nvSpPr>
        <p:spPr>
          <a:xfrm>
            <a:off x="3923928" y="5622339"/>
            <a:ext cx="3384375" cy="830997"/>
          </a:xfrm>
          <a:prstGeom prst="rect">
            <a:avLst/>
          </a:prstGeom>
          <a:noFill/>
        </p:spPr>
        <p:txBody>
          <a:bodyPr wrap="square" rtlCol="0">
            <a:spAutoFit/>
          </a:bodyPr>
          <a:lstStyle/>
          <a:p>
            <a:r>
              <a:rPr lang="zh-CN" altLang="en-US" sz="2400" dirty="0">
                <a:latin typeface="+mn-ea"/>
                <a:ea typeface="+mn-ea"/>
              </a:rPr>
              <a:t>都是文字</a:t>
            </a:r>
            <a:r>
              <a:rPr lang="en-US" altLang="zh-CN" sz="2400" dirty="0">
                <a:latin typeface="+mn-ea"/>
                <a:ea typeface="+mn-ea"/>
              </a:rPr>
              <a:t>(</a:t>
            </a:r>
            <a:r>
              <a:rPr lang="zh-CN" altLang="en-US" sz="2400" dirty="0">
                <a:latin typeface="+mn-ea"/>
                <a:ea typeface="+mn-ea"/>
              </a:rPr>
              <a:t>原子语句或原子语句的否定</a:t>
            </a:r>
            <a:r>
              <a:rPr lang="en-US" altLang="zh-CN" sz="2400" dirty="0">
                <a:latin typeface="+mn-ea"/>
                <a:ea typeface="+mn-ea"/>
              </a:rPr>
              <a:t>)</a:t>
            </a:r>
            <a:r>
              <a:rPr lang="zh-CN" altLang="en-US" sz="2400" dirty="0">
                <a:latin typeface="+mn-ea"/>
                <a:ea typeface="+mn-ea"/>
              </a:rPr>
              <a:t>的合取</a:t>
            </a:r>
          </a:p>
        </p:txBody>
      </p:sp>
    </p:spTree>
    <p:extLst>
      <p:ext uri="{BB962C8B-B14F-4D97-AF65-F5344CB8AC3E}">
        <p14:creationId xmlns:p14="http://schemas.microsoft.com/office/powerpoint/2010/main" val="1566354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left)">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up)">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7" grpId="0" animBg="1"/>
      <p:bldP spid="8" grpId="0" animBg="1"/>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PDDL </a:t>
            </a:r>
            <a:r>
              <a:rPr lang="zh-CN" altLang="en-US" dirty="0"/>
              <a:t>：动作</a:t>
            </a:r>
            <a:endParaRPr lang="zh-CN" altLang="en-US" sz="3100" dirty="0"/>
          </a:p>
        </p:txBody>
      </p:sp>
      <p:sp>
        <p:nvSpPr>
          <p:cNvPr id="3" name="内容占位符 2"/>
          <p:cNvSpPr>
            <a:spLocks noGrp="1"/>
          </p:cNvSpPr>
          <p:nvPr>
            <p:ph idx="1"/>
          </p:nvPr>
        </p:nvSpPr>
        <p:spPr/>
        <p:txBody>
          <a:bodyPr/>
          <a:lstStyle/>
          <a:p>
            <a:r>
              <a:rPr lang="zh-CN" altLang="en-US" dirty="0"/>
              <a:t>将所有的变量代入值，得到</a:t>
            </a:r>
            <a:r>
              <a:rPr lang="zh-CN" altLang="en-US" dirty="0">
                <a:solidFill>
                  <a:srgbClr val="C00000"/>
                </a:solidFill>
              </a:rPr>
              <a:t>基元动作</a:t>
            </a:r>
            <a:r>
              <a:rPr lang="en-US" altLang="zh-CN" dirty="0">
                <a:solidFill>
                  <a:schemeClr val="tx1"/>
                </a:solidFill>
              </a:rPr>
              <a:t>(ground action)</a:t>
            </a:r>
            <a:endParaRPr lang="zh-CN" altLang="en-US" dirty="0">
              <a:solidFill>
                <a:schemeClr val="tx1"/>
              </a:solidFill>
            </a:endParaRP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pPr>
                <a:defRPr/>
              </a:pPr>
              <a:t>9</a:t>
            </a:fld>
            <a:endParaRPr lang="en-US" altLang="zh-CN"/>
          </a:p>
        </p:txBody>
      </p:sp>
      <mc:AlternateContent xmlns:mc="http://schemas.openxmlformats.org/markup-compatibility/2006" xmlns:a14="http://schemas.microsoft.com/office/drawing/2010/main">
        <mc:Choice Requires="a14">
          <p:sp>
            <p:nvSpPr>
              <p:cNvPr id="5" name="文本框 4"/>
              <p:cNvSpPr txBox="1"/>
              <p:nvPr/>
            </p:nvSpPr>
            <p:spPr>
              <a:xfrm>
                <a:off x="359024" y="2809089"/>
                <a:ext cx="8568952" cy="1107996"/>
              </a:xfrm>
              <a:prstGeom prst="rect">
                <a:avLst/>
              </a:prstGeom>
              <a:noFill/>
            </p:spPr>
            <p:txBody>
              <a:bodyPr wrap="square" rtlCol="0">
                <a:spAutoFit/>
              </a:bodyPr>
              <a:lstStyle/>
              <a:p>
                <a14:m>
                  <m:oMath xmlns:m="http://schemas.openxmlformats.org/officeDocument/2006/math">
                    <m:r>
                      <a:rPr lang="en-US" altLang="zh-CN" sz="2200" i="1" dirty="0" smtClean="0">
                        <a:latin typeface="Cambria Math" panose="02040503050406030204" pitchFamily="18" charset="0"/>
                      </a:rPr>
                      <m:t>𝐴𝑐𝑡𝑖𝑜𝑛</m:t>
                    </m:r>
                    <m:r>
                      <a:rPr lang="en-US" altLang="zh-CN" sz="2200" i="1" dirty="0" smtClean="0">
                        <a:latin typeface="Cambria Math" panose="02040503050406030204" pitchFamily="18" charset="0"/>
                      </a:rPr>
                      <m:t>( </m:t>
                    </m:r>
                    <m:r>
                      <a:rPr lang="en-US" altLang="zh-CN" sz="2200" i="1" dirty="0" smtClean="0">
                        <a:solidFill>
                          <a:srgbClr val="C00000"/>
                        </a:solidFill>
                        <a:latin typeface="Cambria Math" panose="02040503050406030204" pitchFamily="18" charset="0"/>
                      </a:rPr>
                      <m:t>𝐹𝑙𝑦</m:t>
                    </m:r>
                    <m:r>
                      <a:rPr lang="en-US" altLang="zh-CN" sz="2200" i="1" dirty="0" smtClean="0">
                        <a:solidFill>
                          <a:srgbClr val="C00000"/>
                        </a:solidFill>
                        <a:latin typeface="Cambria Math" panose="02040503050406030204" pitchFamily="18" charset="0"/>
                      </a:rPr>
                      <m:t>(</m:t>
                    </m:r>
                    <m:r>
                      <a:rPr lang="en-US" altLang="zh-CN" sz="2200" i="1" dirty="0" smtClean="0">
                        <a:solidFill>
                          <a:srgbClr val="C00000"/>
                        </a:solidFill>
                        <a:latin typeface="Cambria Math" panose="02040503050406030204" pitchFamily="18" charset="0"/>
                      </a:rPr>
                      <m:t>𝑝</m:t>
                    </m:r>
                    <m:r>
                      <a:rPr lang="en-US" altLang="zh-CN" sz="2200" i="1" dirty="0" smtClean="0">
                        <a:solidFill>
                          <a:srgbClr val="C00000"/>
                        </a:solidFill>
                        <a:latin typeface="Cambria Math" panose="02040503050406030204" pitchFamily="18" charset="0"/>
                      </a:rPr>
                      <m:t>, </m:t>
                    </m:r>
                    <m:r>
                      <a:rPr lang="en-US" altLang="zh-CN" sz="2200" i="1" dirty="0" smtClean="0">
                        <a:solidFill>
                          <a:srgbClr val="C00000"/>
                        </a:solidFill>
                        <a:latin typeface="Cambria Math" panose="02040503050406030204" pitchFamily="18" charset="0"/>
                      </a:rPr>
                      <m:t>𝑓𝑟𝑜𝑚</m:t>
                    </m:r>
                    <m:r>
                      <a:rPr lang="en-US" altLang="zh-CN" sz="2200" i="1" dirty="0" smtClean="0">
                        <a:solidFill>
                          <a:srgbClr val="C00000"/>
                        </a:solidFill>
                        <a:latin typeface="Cambria Math" panose="02040503050406030204" pitchFamily="18" charset="0"/>
                      </a:rPr>
                      <m:t>, </m:t>
                    </m:r>
                    <m:r>
                      <a:rPr lang="en-US" altLang="zh-CN" sz="2200" i="1" dirty="0" smtClean="0">
                        <a:solidFill>
                          <a:srgbClr val="C00000"/>
                        </a:solidFill>
                        <a:latin typeface="Cambria Math" panose="02040503050406030204" pitchFamily="18" charset="0"/>
                      </a:rPr>
                      <m:t>𝑡𝑜</m:t>
                    </m:r>
                    <m:r>
                      <a:rPr lang="en-US" altLang="zh-CN" sz="2200" i="1" dirty="0" smtClean="0">
                        <a:solidFill>
                          <a:srgbClr val="C00000"/>
                        </a:solidFill>
                        <a:latin typeface="Cambria Math" panose="02040503050406030204" pitchFamily="18" charset="0"/>
                      </a:rPr>
                      <m:t>) </m:t>
                    </m:r>
                  </m:oMath>
                </a14:m>
                <a:r>
                  <a:rPr lang="en-US" altLang="zh-CN" sz="2200" dirty="0"/>
                  <a:t>, </a:t>
                </a:r>
                <a:endParaRPr lang="zh-CN" altLang="zh-CN" sz="2200" dirty="0"/>
              </a:p>
              <a:p>
                <a:r>
                  <a:rPr lang="en-US" altLang="zh-CN" sz="2200" dirty="0">
                    <a:solidFill>
                      <a:srgbClr val="0070C0"/>
                    </a:solidFill>
                  </a:rPr>
                  <a:t>PRECOND</a:t>
                </a:r>
                <a:r>
                  <a:rPr lang="en-US" altLang="zh-CN" sz="2200" dirty="0"/>
                  <a:t>: </a:t>
                </a:r>
                <a14:m>
                  <m:oMath xmlns:m="http://schemas.openxmlformats.org/officeDocument/2006/math">
                    <m:r>
                      <a:rPr lang="en-US" altLang="zh-CN" sz="2200" i="1" dirty="0" smtClean="0">
                        <a:solidFill>
                          <a:srgbClr val="0070C0"/>
                        </a:solidFill>
                        <a:latin typeface="Cambria Math" panose="02040503050406030204" pitchFamily="18" charset="0"/>
                      </a:rPr>
                      <m:t>𝐴𝑡</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𝑝</m:t>
                    </m:r>
                    <m:r>
                      <a:rPr lang="en-US" altLang="zh-CN" sz="2200" i="1" dirty="0" smtClean="0">
                        <a:solidFill>
                          <a:srgbClr val="0070C0"/>
                        </a:solidFill>
                        <a:latin typeface="Cambria Math" panose="02040503050406030204" pitchFamily="18" charset="0"/>
                      </a:rPr>
                      <m:t>, </m:t>
                    </m:r>
                    <m:r>
                      <a:rPr lang="en-US" altLang="zh-CN" sz="2200" i="1" dirty="0" smtClean="0">
                        <a:solidFill>
                          <a:srgbClr val="0070C0"/>
                        </a:solidFill>
                        <a:latin typeface="Cambria Math" panose="02040503050406030204" pitchFamily="18" charset="0"/>
                      </a:rPr>
                      <m:t>𝑓𝑟𝑜𝑚</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𝑃𝑙𝑎𝑛𝑒</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𝑝</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𝐴𝑖𝑟𝑝𝑜𝑟𝑡</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𝑓𝑟𝑜𝑚</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𝐴𝑖𝑟𝑝𝑜𝑟𝑡</m:t>
                    </m:r>
                    <m:r>
                      <a:rPr lang="en-US"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𝑡𝑜</m:t>
                    </m:r>
                    <m:r>
                      <a:rPr lang="en-US" altLang="zh-CN" sz="2200" i="1" dirty="0" smtClean="0">
                        <a:solidFill>
                          <a:srgbClr val="0070C0"/>
                        </a:solidFill>
                        <a:latin typeface="Cambria Math" panose="02040503050406030204" pitchFamily="18" charset="0"/>
                      </a:rPr>
                      <m:t>)</m:t>
                    </m:r>
                  </m:oMath>
                </a14:m>
                <a:endParaRPr lang="zh-CN" altLang="zh-CN" sz="2200" dirty="0">
                  <a:solidFill>
                    <a:srgbClr val="0070C0"/>
                  </a:solidFill>
                </a:endParaRPr>
              </a:p>
              <a:p>
                <a:r>
                  <a:rPr lang="en-US" altLang="zh-CN" sz="2200" dirty="0">
                    <a:solidFill>
                      <a:srgbClr val="006600"/>
                    </a:solidFill>
                  </a:rPr>
                  <a:t>EFFECT</a:t>
                </a:r>
                <a:r>
                  <a:rPr lang="en-US" altLang="zh-CN" sz="2200" dirty="0"/>
                  <a:t>: </a:t>
                </a:r>
                <a14:m>
                  <m:oMath xmlns:m="http://schemas.openxmlformats.org/officeDocument/2006/math">
                    <m:r>
                      <a:rPr lang="en-US" altLang="zh-CN" sz="2200" i="1" dirty="0" smtClean="0">
                        <a:solidFill>
                          <a:srgbClr val="006600"/>
                        </a:solidFill>
                        <a:latin typeface="Cambria Math" panose="02040503050406030204" pitchFamily="18" charset="0"/>
                        <a:sym typeface="Symbol" panose="05050102010706020507" pitchFamily="18" charset="2"/>
                      </a:rPr>
                      <m:t></m:t>
                    </m:r>
                    <m:r>
                      <a:rPr lang="en-US" altLang="zh-CN" sz="2200" i="1" dirty="0" smtClean="0">
                        <a:solidFill>
                          <a:srgbClr val="006600"/>
                        </a:solidFill>
                        <a:latin typeface="Cambria Math" panose="02040503050406030204" pitchFamily="18" charset="0"/>
                      </a:rPr>
                      <m:t>𝐴𝑡</m:t>
                    </m:r>
                    <m:d>
                      <m:dPr>
                        <m:ctrlPr>
                          <a:rPr lang="en-US" altLang="zh-CN" sz="2200" i="1" dirty="0" smtClean="0">
                            <a:solidFill>
                              <a:srgbClr val="006600"/>
                            </a:solidFill>
                            <a:latin typeface="Cambria Math" panose="02040503050406030204" pitchFamily="18" charset="0"/>
                          </a:rPr>
                        </m:ctrlPr>
                      </m:dPr>
                      <m:e>
                        <m:r>
                          <a:rPr lang="en-US" altLang="zh-CN" sz="2200" i="1" dirty="0" err="1" smtClean="0">
                            <a:solidFill>
                              <a:srgbClr val="006600"/>
                            </a:solidFill>
                            <a:latin typeface="Cambria Math" panose="02040503050406030204" pitchFamily="18" charset="0"/>
                          </a:rPr>
                          <m:t>𝑝</m:t>
                        </m:r>
                        <m:r>
                          <a:rPr lang="en-US" altLang="zh-CN" sz="2200" i="1" dirty="0" err="1" smtClean="0">
                            <a:solidFill>
                              <a:srgbClr val="006600"/>
                            </a:solidFill>
                            <a:latin typeface="Cambria Math" panose="02040503050406030204" pitchFamily="18" charset="0"/>
                          </a:rPr>
                          <m:t>,</m:t>
                        </m:r>
                        <m:r>
                          <a:rPr lang="en-US" altLang="zh-CN" sz="2200" i="1" dirty="0" err="1" smtClean="0">
                            <a:solidFill>
                              <a:srgbClr val="006600"/>
                            </a:solidFill>
                            <a:latin typeface="Cambria Math" panose="02040503050406030204" pitchFamily="18" charset="0"/>
                          </a:rPr>
                          <m:t>𝑓𝑟𝑜𝑚</m:t>
                        </m:r>
                      </m:e>
                    </m:d>
                    <m:r>
                      <a:rPr lang="zh-CN" altLang="zh-CN" sz="2200" i="1" dirty="0" smtClean="0">
                        <a:solidFill>
                          <a:srgbClr val="006600"/>
                        </a:solidFill>
                        <a:latin typeface="Cambria Math" panose="02040503050406030204" pitchFamily="18" charset="0"/>
                      </a:rPr>
                      <m:t>∧</m:t>
                    </m:r>
                    <m:r>
                      <a:rPr lang="en-US" altLang="zh-CN" sz="2200" i="1" dirty="0" smtClean="0">
                        <a:solidFill>
                          <a:srgbClr val="006600"/>
                        </a:solidFill>
                        <a:latin typeface="Cambria Math" panose="02040503050406030204" pitchFamily="18" charset="0"/>
                      </a:rPr>
                      <m:t>𝐴𝑡</m:t>
                    </m:r>
                    <m:d>
                      <m:dPr>
                        <m:ctrlPr>
                          <a:rPr lang="en-US" altLang="zh-CN" sz="2200" i="1" dirty="0" smtClean="0">
                            <a:solidFill>
                              <a:srgbClr val="006600"/>
                            </a:solidFill>
                            <a:latin typeface="Cambria Math" panose="02040503050406030204" pitchFamily="18" charset="0"/>
                          </a:rPr>
                        </m:ctrlPr>
                      </m:dPr>
                      <m:e>
                        <m:r>
                          <a:rPr lang="en-US" altLang="zh-CN" sz="2200" i="1" dirty="0" err="1" smtClean="0">
                            <a:solidFill>
                              <a:srgbClr val="006600"/>
                            </a:solidFill>
                            <a:latin typeface="Cambria Math" panose="02040503050406030204" pitchFamily="18" charset="0"/>
                          </a:rPr>
                          <m:t>𝑝</m:t>
                        </m:r>
                        <m:r>
                          <a:rPr lang="en-US" altLang="zh-CN" sz="2200" i="1" dirty="0" err="1" smtClean="0">
                            <a:solidFill>
                              <a:srgbClr val="006600"/>
                            </a:solidFill>
                            <a:latin typeface="Cambria Math" panose="02040503050406030204" pitchFamily="18" charset="0"/>
                          </a:rPr>
                          <m:t>,</m:t>
                        </m:r>
                        <m:r>
                          <a:rPr lang="en-US" altLang="zh-CN" sz="2200" i="1" dirty="0" err="1" smtClean="0">
                            <a:solidFill>
                              <a:srgbClr val="006600"/>
                            </a:solidFill>
                            <a:latin typeface="Cambria Math" panose="02040503050406030204" pitchFamily="18" charset="0"/>
                          </a:rPr>
                          <m:t>𝑡𝑜</m:t>
                        </m:r>
                      </m:e>
                    </m:d>
                    <m:r>
                      <a:rPr lang="en-US" altLang="zh-CN" sz="2200" b="0" i="1" dirty="0" smtClean="0">
                        <a:solidFill>
                          <a:srgbClr val="006600"/>
                        </a:solidFill>
                        <a:latin typeface="Cambria Math" panose="02040503050406030204" pitchFamily="18" charset="0"/>
                      </a:rPr>
                      <m:t>  </m:t>
                    </m:r>
                    <m:r>
                      <a:rPr lang="en-US" altLang="zh-CN" sz="2200" i="1" dirty="0" smtClean="0">
                        <a:solidFill>
                          <a:schemeClr val="tx1"/>
                        </a:solidFill>
                        <a:latin typeface="Cambria Math" panose="02040503050406030204" pitchFamily="18" charset="0"/>
                      </a:rPr>
                      <m:t>)</m:t>
                    </m:r>
                  </m:oMath>
                </a14:m>
                <a:endParaRPr lang="zh-CN" altLang="zh-CN" sz="2200" dirty="0">
                  <a:solidFill>
                    <a:schemeClr val="tx1"/>
                  </a:solidFill>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59024" y="2809089"/>
                <a:ext cx="8568952" cy="1107996"/>
              </a:xfrm>
              <a:prstGeom prst="rect">
                <a:avLst/>
              </a:prstGeom>
              <a:blipFill rotWithShape="0">
                <a:blip r:embed="rId3"/>
                <a:stretch>
                  <a:fillRect l="-925" t="-3297" b="-104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359024" y="4437112"/>
                <a:ext cx="8784976" cy="1107996"/>
              </a:xfrm>
              <a:prstGeom prst="rect">
                <a:avLst/>
              </a:prstGeom>
              <a:noFill/>
            </p:spPr>
            <p:txBody>
              <a:bodyPr wrap="square" rtlCol="0">
                <a:spAutoFit/>
              </a:bodyPr>
              <a:lstStyle/>
              <a:p>
                <a14:m>
                  <m:oMath xmlns:m="http://schemas.openxmlformats.org/officeDocument/2006/math">
                    <m:r>
                      <a:rPr lang="en-US" altLang="zh-CN" sz="2200" i="1" dirty="0">
                        <a:latin typeface="Cambria Math" panose="02040503050406030204" pitchFamily="18" charset="0"/>
                      </a:rPr>
                      <m:t>𝐴𝑐𝑡𝑖𝑜𝑛</m:t>
                    </m:r>
                    <m:r>
                      <a:rPr lang="en-US" altLang="zh-CN" sz="2200" i="1" dirty="0">
                        <a:latin typeface="Cambria Math" panose="02040503050406030204" pitchFamily="18" charset="0"/>
                      </a:rPr>
                      <m:t>(</m:t>
                    </m:r>
                    <m:r>
                      <a:rPr lang="en-US" altLang="zh-CN" sz="2200" i="1" dirty="0" smtClean="0">
                        <a:solidFill>
                          <a:srgbClr val="C00000"/>
                        </a:solidFill>
                        <a:latin typeface="Cambria Math" panose="02040503050406030204" pitchFamily="18" charset="0"/>
                      </a:rPr>
                      <m:t>𝐹𝑙𝑦</m:t>
                    </m:r>
                    <m:r>
                      <a:rPr lang="en-US" altLang="zh-CN" sz="2200" i="1" dirty="0" smtClean="0">
                        <a:solidFill>
                          <a:srgbClr val="C00000"/>
                        </a:solidFill>
                        <a:latin typeface="Cambria Math" panose="02040503050406030204" pitchFamily="18" charset="0"/>
                      </a:rPr>
                      <m:t>(</m:t>
                    </m:r>
                    <m:sSub>
                      <m:sSubPr>
                        <m:ctrlPr>
                          <a:rPr lang="en-US" altLang="zh-CN" sz="2200" i="1" dirty="0" smtClean="0">
                            <a:solidFill>
                              <a:srgbClr val="C00000"/>
                            </a:solidFill>
                            <a:latin typeface="Cambria Math" panose="02040503050406030204" pitchFamily="18" charset="0"/>
                          </a:rPr>
                        </m:ctrlPr>
                      </m:sSubPr>
                      <m:e>
                        <m:r>
                          <a:rPr lang="en-US" altLang="zh-CN" sz="2200" b="0" i="1" dirty="0" smtClean="0">
                            <a:solidFill>
                              <a:srgbClr val="C00000"/>
                            </a:solidFill>
                            <a:latin typeface="Cambria Math" panose="02040503050406030204" pitchFamily="18" charset="0"/>
                          </a:rPr>
                          <m:t>𝑃</m:t>
                        </m:r>
                      </m:e>
                      <m:sub>
                        <m:r>
                          <a:rPr lang="en-US" altLang="zh-CN" sz="2200" b="0" i="1" dirty="0" smtClean="0">
                            <a:solidFill>
                              <a:srgbClr val="C00000"/>
                            </a:solidFill>
                            <a:latin typeface="Cambria Math" panose="02040503050406030204" pitchFamily="18" charset="0"/>
                          </a:rPr>
                          <m:t>1</m:t>
                        </m:r>
                      </m:sub>
                    </m:sSub>
                    <m:r>
                      <a:rPr lang="en-US" altLang="zh-CN" sz="2200" i="1" dirty="0" smtClean="0">
                        <a:solidFill>
                          <a:srgbClr val="C00000"/>
                        </a:solidFill>
                        <a:latin typeface="Cambria Math" panose="02040503050406030204" pitchFamily="18" charset="0"/>
                      </a:rPr>
                      <m:t>, </m:t>
                    </m:r>
                    <m:r>
                      <a:rPr lang="en-US" altLang="zh-CN" sz="2200" b="0" i="1" dirty="0" smtClean="0">
                        <a:solidFill>
                          <a:srgbClr val="C00000"/>
                        </a:solidFill>
                        <a:latin typeface="Cambria Math" panose="02040503050406030204" pitchFamily="18" charset="0"/>
                      </a:rPr>
                      <m:t>𝑆𝐹𝑂</m:t>
                    </m:r>
                    <m:r>
                      <a:rPr lang="en-US" altLang="zh-CN" sz="2200" i="1" dirty="0" smtClean="0">
                        <a:solidFill>
                          <a:srgbClr val="C00000"/>
                        </a:solidFill>
                        <a:latin typeface="Cambria Math" panose="02040503050406030204" pitchFamily="18" charset="0"/>
                      </a:rPr>
                      <m:t>, </m:t>
                    </m:r>
                    <m:r>
                      <a:rPr lang="en-US" altLang="zh-CN" sz="2200" b="0" i="1" dirty="0" smtClean="0">
                        <a:solidFill>
                          <a:srgbClr val="C00000"/>
                        </a:solidFill>
                        <a:latin typeface="Cambria Math" panose="02040503050406030204" pitchFamily="18" charset="0"/>
                      </a:rPr>
                      <m:t>𝐽𝐹𝐾</m:t>
                    </m:r>
                    <m:r>
                      <a:rPr lang="en-US" altLang="zh-CN" sz="2200" i="1" dirty="0" smtClean="0">
                        <a:solidFill>
                          <a:srgbClr val="C00000"/>
                        </a:solidFill>
                        <a:latin typeface="Cambria Math" panose="02040503050406030204" pitchFamily="18" charset="0"/>
                      </a:rPr>
                      <m:t>) </m:t>
                    </m:r>
                  </m:oMath>
                </a14:m>
                <a:r>
                  <a:rPr lang="zh-CN" altLang="en-US" sz="2200" dirty="0"/>
                  <a:t>：</a:t>
                </a:r>
                <a:r>
                  <a:rPr lang="en-US" altLang="zh-CN" sz="2200" dirty="0"/>
                  <a:t> </a:t>
                </a:r>
                <a:endParaRPr lang="zh-CN" altLang="zh-CN" sz="2200" dirty="0"/>
              </a:p>
              <a:p>
                <a:r>
                  <a:rPr lang="en-US" altLang="zh-CN" sz="2200" dirty="0">
                    <a:solidFill>
                      <a:srgbClr val="0070C0"/>
                    </a:solidFill>
                  </a:rPr>
                  <a:t>PRECOND</a:t>
                </a:r>
                <a:r>
                  <a:rPr lang="en-US" altLang="zh-CN" sz="2200" dirty="0"/>
                  <a:t>: </a:t>
                </a:r>
                <a14:m>
                  <m:oMath xmlns:m="http://schemas.openxmlformats.org/officeDocument/2006/math">
                    <m:r>
                      <a:rPr lang="en-US" altLang="zh-CN" sz="2200" i="1" dirty="0" smtClean="0">
                        <a:solidFill>
                          <a:srgbClr val="0070C0"/>
                        </a:solidFill>
                        <a:latin typeface="Cambria Math" panose="02040503050406030204" pitchFamily="18" charset="0"/>
                      </a:rPr>
                      <m:t>𝐴𝑡</m:t>
                    </m:r>
                    <m:r>
                      <a:rPr lang="en-US" altLang="zh-CN" sz="2200" i="1" dirty="0" smtClean="0">
                        <a:solidFill>
                          <a:srgbClr val="0070C0"/>
                        </a:solidFill>
                        <a:latin typeface="Cambria Math" panose="02040503050406030204" pitchFamily="18" charset="0"/>
                      </a:rPr>
                      <m:t>(</m:t>
                    </m:r>
                    <m:sSub>
                      <m:sSubPr>
                        <m:ctrlPr>
                          <a:rPr lang="en-US" altLang="zh-CN" sz="2200" i="1" dirty="0">
                            <a:solidFill>
                              <a:srgbClr val="0070C0"/>
                            </a:solidFill>
                            <a:latin typeface="Cambria Math" panose="02040503050406030204" pitchFamily="18" charset="0"/>
                          </a:rPr>
                        </m:ctrlPr>
                      </m:sSubPr>
                      <m:e>
                        <m:r>
                          <a:rPr lang="en-US" altLang="zh-CN" sz="2200" b="0" i="1" dirty="0" smtClean="0">
                            <a:solidFill>
                              <a:srgbClr val="0070C0"/>
                            </a:solidFill>
                            <a:latin typeface="Cambria Math" panose="02040503050406030204" pitchFamily="18" charset="0"/>
                          </a:rPr>
                          <m:t>𝑃</m:t>
                        </m:r>
                      </m:e>
                      <m:sub>
                        <m:r>
                          <a:rPr lang="en-US" altLang="zh-CN" sz="2200" i="1" dirty="0">
                            <a:solidFill>
                              <a:srgbClr val="0070C0"/>
                            </a:solidFill>
                            <a:latin typeface="Cambria Math" panose="02040503050406030204" pitchFamily="18" charset="0"/>
                          </a:rPr>
                          <m:t>1</m:t>
                        </m:r>
                      </m:sub>
                    </m:sSub>
                    <m:r>
                      <a:rPr lang="en-US" altLang="zh-CN" sz="2200" i="1" dirty="0" smtClean="0">
                        <a:solidFill>
                          <a:srgbClr val="0070C0"/>
                        </a:solidFill>
                        <a:latin typeface="Cambria Math" panose="02040503050406030204" pitchFamily="18" charset="0"/>
                      </a:rPr>
                      <m:t>, </m:t>
                    </m:r>
                    <m:r>
                      <a:rPr lang="en-US" altLang="zh-CN" sz="2200" b="0" i="1" dirty="0" smtClean="0">
                        <a:solidFill>
                          <a:srgbClr val="0070C0"/>
                        </a:solidFill>
                        <a:latin typeface="Cambria Math" panose="02040503050406030204" pitchFamily="18" charset="0"/>
                      </a:rPr>
                      <m:t>𝑆𝐹𝑂</m:t>
                    </m:r>
                    <m:r>
                      <a:rPr lang="en-US" altLang="zh-CN" sz="2200" i="1" dirty="0" smtClean="0">
                        <a:solidFill>
                          <a:srgbClr val="0070C0"/>
                        </a:solidFill>
                        <a:latin typeface="Cambria Math" panose="02040503050406030204" pitchFamily="18" charset="0"/>
                      </a:rPr>
                      <m:t>)</m:t>
                    </m:r>
                    <m:r>
                      <a:rPr lang="zh-CN"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𝑃𝑙𝑎𝑛𝑒</m:t>
                    </m:r>
                    <m:r>
                      <a:rPr lang="en-US" altLang="zh-CN" sz="2200" i="1" dirty="0" smtClean="0">
                        <a:solidFill>
                          <a:srgbClr val="0070C0"/>
                        </a:solidFill>
                        <a:latin typeface="Cambria Math" panose="02040503050406030204" pitchFamily="18" charset="0"/>
                      </a:rPr>
                      <m:t>(</m:t>
                    </m:r>
                    <m:sSub>
                      <m:sSubPr>
                        <m:ctrlPr>
                          <a:rPr lang="en-US" altLang="zh-CN" sz="2200" i="1" dirty="0">
                            <a:solidFill>
                              <a:srgbClr val="0070C0"/>
                            </a:solidFill>
                            <a:latin typeface="Cambria Math" panose="02040503050406030204" pitchFamily="18" charset="0"/>
                          </a:rPr>
                        </m:ctrlPr>
                      </m:sSubPr>
                      <m:e>
                        <m:r>
                          <a:rPr lang="en-US" altLang="zh-CN" sz="2200" b="0" i="1" dirty="0" smtClean="0">
                            <a:solidFill>
                              <a:srgbClr val="0070C0"/>
                            </a:solidFill>
                            <a:latin typeface="Cambria Math" panose="02040503050406030204" pitchFamily="18" charset="0"/>
                          </a:rPr>
                          <m:t>𝑃</m:t>
                        </m:r>
                      </m:e>
                      <m:sub>
                        <m:r>
                          <a:rPr lang="en-US" altLang="zh-CN" sz="2200" i="1" dirty="0">
                            <a:solidFill>
                              <a:srgbClr val="0070C0"/>
                            </a:solidFill>
                            <a:latin typeface="Cambria Math" panose="02040503050406030204" pitchFamily="18" charset="0"/>
                          </a:rPr>
                          <m:t>1</m:t>
                        </m:r>
                      </m:sub>
                    </m:sSub>
                    <m:r>
                      <a:rPr lang="en-US" altLang="zh-CN" sz="2200" i="1" dirty="0" smtClean="0">
                        <a:solidFill>
                          <a:srgbClr val="0070C0"/>
                        </a:solidFill>
                        <a:latin typeface="Cambria Math" panose="02040503050406030204" pitchFamily="18" charset="0"/>
                      </a:rPr>
                      <m:t>)</m:t>
                    </m:r>
                    <m:r>
                      <a:rPr lang="zh-CN"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𝐴𝑖𝑟𝑝𝑜𝑟𝑡</m:t>
                    </m:r>
                    <m:r>
                      <a:rPr lang="en-US" altLang="zh-CN" sz="2200" i="1" dirty="0" smtClean="0">
                        <a:solidFill>
                          <a:srgbClr val="0070C0"/>
                        </a:solidFill>
                        <a:latin typeface="Cambria Math" panose="02040503050406030204" pitchFamily="18" charset="0"/>
                      </a:rPr>
                      <m:t>(</m:t>
                    </m:r>
                    <m:r>
                      <a:rPr lang="en-US" altLang="zh-CN" sz="2200" b="0" i="1" dirty="0" smtClean="0">
                        <a:solidFill>
                          <a:srgbClr val="0070C0"/>
                        </a:solidFill>
                        <a:latin typeface="Cambria Math" panose="02040503050406030204" pitchFamily="18" charset="0"/>
                      </a:rPr>
                      <m:t>𝑆𝐹𝑂</m:t>
                    </m:r>
                    <m:r>
                      <a:rPr lang="en-US" altLang="zh-CN" sz="2200" i="1" dirty="0" smtClean="0">
                        <a:solidFill>
                          <a:srgbClr val="0070C0"/>
                        </a:solidFill>
                        <a:latin typeface="Cambria Math" panose="02040503050406030204" pitchFamily="18" charset="0"/>
                      </a:rPr>
                      <m:t>)</m:t>
                    </m:r>
                    <m:r>
                      <a:rPr lang="zh-CN" altLang="zh-CN" sz="2200" i="1" dirty="0" smtClean="0">
                        <a:solidFill>
                          <a:srgbClr val="0070C0"/>
                        </a:solidFill>
                        <a:latin typeface="Cambria Math" panose="02040503050406030204" pitchFamily="18" charset="0"/>
                      </a:rPr>
                      <m:t>∧</m:t>
                    </m:r>
                    <m:r>
                      <a:rPr lang="en-US" altLang="zh-CN" sz="2200" i="1" dirty="0" smtClean="0">
                        <a:solidFill>
                          <a:srgbClr val="0070C0"/>
                        </a:solidFill>
                        <a:latin typeface="Cambria Math" panose="02040503050406030204" pitchFamily="18" charset="0"/>
                      </a:rPr>
                      <m:t>𝐴𝑖𝑟𝑝𝑜𝑟𝑡</m:t>
                    </m:r>
                    <m:r>
                      <a:rPr lang="en-US" altLang="zh-CN" sz="2200" i="1" dirty="0" smtClean="0">
                        <a:solidFill>
                          <a:srgbClr val="0070C0"/>
                        </a:solidFill>
                        <a:latin typeface="Cambria Math" panose="02040503050406030204" pitchFamily="18" charset="0"/>
                      </a:rPr>
                      <m:t>(</m:t>
                    </m:r>
                    <m:r>
                      <a:rPr lang="en-US" altLang="zh-CN" sz="2200" b="0" i="1" dirty="0" smtClean="0">
                        <a:solidFill>
                          <a:srgbClr val="0070C0"/>
                        </a:solidFill>
                        <a:latin typeface="Cambria Math" panose="02040503050406030204" pitchFamily="18" charset="0"/>
                      </a:rPr>
                      <m:t>𝐽𝐹𝐾</m:t>
                    </m:r>
                    <m:r>
                      <a:rPr lang="en-US" altLang="zh-CN" sz="2200" i="1" dirty="0" smtClean="0">
                        <a:solidFill>
                          <a:srgbClr val="0070C0"/>
                        </a:solidFill>
                        <a:latin typeface="Cambria Math" panose="02040503050406030204" pitchFamily="18" charset="0"/>
                      </a:rPr>
                      <m:t>)</m:t>
                    </m:r>
                  </m:oMath>
                </a14:m>
                <a:endParaRPr lang="zh-CN" altLang="zh-CN" sz="2200" dirty="0">
                  <a:solidFill>
                    <a:srgbClr val="0070C0"/>
                  </a:solidFill>
                </a:endParaRPr>
              </a:p>
              <a:p>
                <a:r>
                  <a:rPr lang="en-US" altLang="zh-CN" sz="2200" dirty="0">
                    <a:solidFill>
                      <a:srgbClr val="006600"/>
                    </a:solidFill>
                  </a:rPr>
                  <a:t>EFFECT</a:t>
                </a:r>
                <a:r>
                  <a:rPr lang="en-US" altLang="zh-CN" sz="2200" dirty="0"/>
                  <a:t>: </a:t>
                </a:r>
                <a14:m>
                  <m:oMath xmlns:m="http://schemas.openxmlformats.org/officeDocument/2006/math">
                    <m:r>
                      <a:rPr lang="en-US" altLang="zh-CN" sz="2200" i="1" dirty="0" smtClean="0">
                        <a:solidFill>
                          <a:srgbClr val="006600"/>
                        </a:solidFill>
                        <a:latin typeface="Cambria Math" panose="02040503050406030204" pitchFamily="18" charset="0"/>
                        <a:sym typeface="Symbol" panose="05050102010706020507" pitchFamily="18" charset="2"/>
                      </a:rPr>
                      <m:t></m:t>
                    </m:r>
                    <m:r>
                      <a:rPr lang="en-US" altLang="zh-CN" sz="2200" i="1" dirty="0" smtClean="0">
                        <a:solidFill>
                          <a:srgbClr val="006600"/>
                        </a:solidFill>
                        <a:latin typeface="Cambria Math" panose="02040503050406030204" pitchFamily="18" charset="0"/>
                      </a:rPr>
                      <m:t>𝐴𝑡</m:t>
                    </m:r>
                    <m:d>
                      <m:dPr>
                        <m:ctrlPr>
                          <a:rPr lang="en-US" altLang="zh-CN" sz="2200" i="1" dirty="0" smtClean="0">
                            <a:solidFill>
                              <a:srgbClr val="006600"/>
                            </a:solidFill>
                            <a:latin typeface="Cambria Math" panose="02040503050406030204" pitchFamily="18" charset="0"/>
                          </a:rPr>
                        </m:ctrlPr>
                      </m:dPr>
                      <m:e>
                        <m:sSub>
                          <m:sSubPr>
                            <m:ctrlPr>
                              <a:rPr lang="en-US" altLang="zh-CN" sz="2200" i="1" dirty="0" smtClean="0">
                                <a:solidFill>
                                  <a:srgbClr val="006600"/>
                                </a:solidFill>
                                <a:latin typeface="Cambria Math" panose="02040503050406030204" pitchFamily="18" charset="0"/>
                              </a:rPr>
                            </m:ctrlPr>
                          </m:sSubPr>
                          <m:e>
                            <m:r>
                              <a:rPr lang="en-US" altLang="zh-CN" sz="2200" i="1" dirty="0">
                                <a:solidFill>
                                  <a:srgbClr val="006600"/>
                                </a:solidFill>
                                <a:latin typeface="Cambria Math" panose="02040503050406030204" pitchFamily="18" charset="0"/>
                              </a:rPr>
                              <m:t>𝑃</m:t>
                            </m:r>
                          </m:e>
                          <m:sub>
                            <m:r>
                              <a:rPr lang="en-US" altLang="zh-CN" sz="2200" i="1" dirty="0">
                                <a:solidFill>
                                  <a:srgbClr val="006600"/>
                                </a:solidFill>
                                <a:latin typeface="Cambria Math" panose="02040503050406030204" pitchFamily="18" charset="0"/>
                              </a:rPr>
                              <m:t>1</m:t>
                            </m:r>
                          </m:sub>
                        </m:sSub>
                        <m:r>
                          <a:rPr lang="en-US" altLang="zh-CN" sz="2200" i="1" dirty="0" err="1" smtClean="0">
                            <a:solidFill>
                              <a:srgbClr val="006600"/>
                            </a:solidFill>
                            <a:latin typeface="Cambria Math" panose="02040503050406030204" pitchFamily="18" charset="0"/>
                          </a:rPr>
                          <m:t>,</m:t>
                        </m:r>
                        <m:r>
                          <a:rPr lang="en-US" altLang="zh-CN" sz="2200" b="0" i="1" dirty="0" smtClean="0">
                            <a:solidFill>
                              <a:srgbClr val="006600"/>
                            </a:solidFill>
                            <a:latin typeface="Cambria Math" panose="02040503050406030204" pitchFamily="18" charset="0"/>
                          </a:rPr>
                          <m:t>𝑆𝐹𝑂</m:t>
                        </m:r>
                      </m:e>
                    </m:d>
                    <m:r>
                      <a:rPr lang="zh-CN" altLang="zh-CN" sz="2200" i="1" dirty="0" smtClean="0">
                        <a:solidFill>
                          <a:srgbClr val="006600"/>
                        </a:solidFill>
                        <a:latin typeface="Cambria Math" panose="02040503050406030204" pitchFamily="18" charset="0"/>
                      </a:rPr>
                      <m:t>∧</m:t>
                    </m:r>
                    <m:r>
                      <a:rPr lang="en-US" altLang="zh-CN" sz="2200" i="1" dirty="0" smtClean="0">
                        <a:solidFill>
                          <a:srgbClr val="006600"/>
                        </a:solidFill>
                        <a:latin typeface="Cambria Math" panose="02040503050406030204" pitchFamily="18" charset="0"/>
                      </a:rPr>
                      <m:t>𝐴𝑡</m:t>
                    </m:r>
                    <m:d>
                      <m:dPr>
                        <m:ctrlPr>
                          <a:rPr lang="en-US" altLang="zh-CN" sz="2200" i="1" dirty="0" smtClean="0">
                            <a:solidFill>
                              <a:srgbClr val="006600"/>
                            </a:solidFill>
                            <a:latin typeface="Cambria Math" panose="02040503050406030204" pitchFamily="18" charset="0"/>
                          </a:rPr>
                        </m:ctrlPr>
                      </m:dPr>
                      <m:e>
                        <m:sSub>
                          <m:sSubPr>
                            <m:ctrlPr>
                              <a:rPr lang="en-US" altLang="zh-CN" sz="2200" i="1" dirty="0">
                                <a:solidFill>
                                  <a:srgbClr val="006600"/>
                                </a:solidFill>
                                <a:latin typeface="Cambria Math" panose="02040503050406030204" pitchFamily="18" charset="0"/>
                              </a:rPr>
                            </m:ctrlPr>
                          </m:sSubPr>
                          <m:e>
                            <m:r>
                              <a:rPr lang="en-US" altLang="zh-CN" sz="2200" b="0" i="1" dirty="0" smtClean="0">
                                <a:solidFill>
                                  <a:srgbClr val="006600"/>
                                </a:solidFill>
                                <a:latin typeface="Cambria Math" panose="02040503050406030204" pitchFamily="18" charset="0"/>
                              </a:rPr>
                              <m:t>𝑃</m:t>
                            </m:r>
                          </m:e>
                          <m:sub>
                            <m:r>
                              <a:rPr lang="en-US" altLang="zh-CN" sz="2200" i="1" dirty="0">
                                <a:solidFill>
                                  <a:srgbClr val="006600"/>
                                </a:solidFill>
                                <a:latin typeface="Cambria Math" panose="02040503050406030204" pitchFamily="18" charset="0"/>
                              </a:rPr>
                              <m:t>1</m:t>
                            </m:r>
                          </m:sub>
                        </m:sSub>
                        <m:r>
                          <a:rPr lang="en-US" altLang="zh-CN" sz="2200" i="1" dirty="0" err="1" smtClean="0">
                            <a:solidFill>
                              <a:srgbClr val="006600"/>
                            </a:solidFill>
                            <a:latin typeface="Cambria Math" panose="02040503050406030204" pitchFamily="18" charset="0"/>
                          </a:rPr>
                          <m:t>,</m:t>
                        </m:r>
                        <m:r>
                          <a:rPr lang="en-US" altLang="zh-CN" sz="2200" b="0" i="1" dirty="0" smtClean="0">
                            <a:solidFill>
                              <a:srgbClr val="006600"/>
                            </a:solidFill>
                            <a:latin typeface="Cambria Math" panose="02040503050406030204" pitchFamily="18" charset="0"/>
                          </a:rPr>
                          <m:t>𝐽𝐹𝐾</m:t>
                        </m:r>
                      </m:e>
                    </m:d>
                    <m:r>
                      <a:rPr lang="en-US" altLang="zh-CN" sz="2200" i="1" dirty="0">
                        <a:latin typeface="Cambria Math" panose="02040503050406030204" pitchFamily="18" charset="0"/>
                      </a:rPr>
                      <m:t>)</m:t>
                    </m:r>
                  </m:oMath>
                </a14:m>
                <a:endParaRPr lang="zh-CN" altLang="zh-CN" sz="2200" dirty="0"/>
              </a:p>
            </p:txBody>
          </p:sp>
        </mc:Choice>
        <mc:Fallback xmlns="">
          <p:sp>
            <p:nvSpPr>
              <p:cNvPr id="6" name="文本框 5"/>
              <p:cNvSpPr txBox="1">
                <a:spLocks noRot="1" noChangeAspect="1" noMove="1" noResize="1" noEditPoints="1" noAdjustHandles="1" noChangeArrowheads="1" noChangeShapeType="1" noTextEdit="1"/>
              </p:cNvSpPr>
              <p:nvPr/>
            </p:nvSpPr>
            <p:spPr>
              <a:xfrm>
                <a:off x="359024" y="4437112"/>
                <a:ext cx="8784976" cy="1107996"/>
              </a:xfrm>
              <a:prstGeom prst="rect">
                <a:avLst/>
              </a:prstGeom>
              <a:blipFill rotWithShape="0">
                <a:blip r:embed="rId4"/>
                <a:stretch>
                  <a:fillRect l="-902" t="-3846" b="-10440"/>
                </a:stretch>
              </a:blipFill>
            </p:spPr>
            <p:txBody>
              <a:bodyPr/>
              <a:lstStyle/>
              <a:p>
                <a:r>
                  <a:rPr lang="zh-CN" altLang="en-US">
                    <a:noFill/>
                  </a:rPr>
                  <a:t> </a:t>
                </a:r>
              </a:p>
            </p:txBody>
          </p:sp>
        </mc:Fallback>
      </mc:AlternateContent>
      <p:sp>
        <p:nvSpPr>
          <p:cNvPr id="7" name="下箭头 6"/>
          <p:cNvSpPr/>
          <p:nvPr/>
        </p:nvSpPr>
        <p:spPr>
          <a:xfrm>
            <a:off x="4613788" y="3970155"/>
            <a:ext cx="216024" cy="4509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536804" y="4421077"/>
            <a:ext cx="1415772" cy="461665"/>
          </a:xfrm>
          <a:prstGeom prst="rect">
            <a:avLst/>
          </a:prstGeom>
        </p:spPr>
        <p:txBody>
          <a:bodyPr wrap="none">
            <a:spAutoFit/>
          </a:bodyPr>
          <a:lstStyle/>
          <a:p>
            <a:r>
              <a:rPr lang="zh-CN" altLang="en-US" sz="2400" dirty="0">
                <a:solidFill>
                  <a:srgbClr val="C00000"/>
                </a:solidFill>
              </a:rPr>
              <a:t>基元动作</a:t>
            </a:r>
            <a:endParaRPr lang="zh-CN" altLang="en-US" sz="2400" dirty="0"/>
          </a:p>
        </p:txBody>
      </p:sp>
      <p:sp>
        <p:nvSpPr>
          <p:cNvPr id="9" name="矩形 8"/>
          <p:cNvSpPr/>
          <p:nvPr/>
        </p:nvSpPr>
        <p:spPr>
          <a:xfrm>
            <a:off x="5536804" y="2644342"/>
            <a:ext cx="1415772" cy="461665"/>
          </a:xfrm>
          <a:prstGeom prst="rect">
            <a:avLst/>
          </a:prstGeom>
        </p:spPr>
        <p:txBody>
          <a:bodyPr wrap="none">
            <a:spAutoFit/>
          </a:bodyPr>
          <a:lstStyle/>
          <a:p>
            <a:r>
              <a:rPr lang="zh-CN" altLang="en-US" sz="2400" dirty="0">
                <a:solidFill>
                  <a:srgbClr val="7030A0"/>
                </a:solidFill>
              </a:rPr>
              <a:t>动作模式</a:t>
            </a:r>
          </a:p>
        </p:txBody>
      </p:sp>
    </p:spTree>
    <p:extLst>
      <p:ext uri="{BB962C8B-B14F-4D97-AF65-F5344CB8AC3E}">
        <p14:creationId xmlns:p14="http://schemas.microsoft.com/office/powerpoint/2010/main" val="341023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PDDL </a:t>
            </a:r>
            <a:r>
              <a:rPr lang="zh-CN" altLang="en-US" dirty="0"/>
              <a:t>：动作</a:t>
            </a:r>
            <a:endParaRPr lang="zh-CN" altLang="en-US" sz="31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r>
                      <a:rPr lang="en-US" altLang="zh-CN" sz="2800" i="1" dirty="0" smtClean="0">
                        <a:latin typeface="Cambria Math" panose="02040503050406030204" pitchFamily="18" charset="0"/>
                      </a:rPr>
                      <m:t>𝐴𝐶𝑇𝐼𝑂𝑁𝑆</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𝑠</m:t>
                    </m:r>
                    <m:r>
                      <a:rPr lang="en-US" altLang="zh-CN" sz="2800" i="1" dirty="0">
                        <a:latin typeface="Cambria Math" panose="02040503050406030204" pitchFamily="18" charset="0"/>
                      </a:rPr>
                      <m:t>)</m:t>
                    </m:r>
                  </m:oMath>
                </a14:m>
                <a:r>
                  <a:rPr lang="zh-CN" altLang="en-US" sz="2800" dirty="0"/>
                  <a:t>：动作</a:t>
                </a:r>
                <a14:m>
                  <m:oMath xmlns:m="http://schemas.openxmlformats.org/officeDocument/2006/math">
                    <m:r>
                      <a:rPr lang="en-US" altLang="zh-CN" sz="2800" i="1" dirty="0">
                        <a:latin typeface="Cambria Math" panose="02040503050406030204" pitchFamily="18" charset="0"/>
                      </a:rPr>
                      <m:t>𝑎</m:t>
                    </m:r>
                  </m:oMath>
                </a14:m>
                <a:r>
                  <a:rPr lang="zh-CN" altLang="en-US" sz="2800" dirty="0"/>
                  <a:t>能在状态</a:t>
                </a:r>
                <a14:m>
                  <m:oMath xmlns:m="http://schemas.openxmlformats.org/officeDocument/2006/math">
                    <m:r>
                      <a:rPr lang="en-US" altLang="zh-CN" sz="2800" i="1" dirty="0">
                        <a:latin typeface="Cambria Math" panose="02040503050406030204" pitchFamily="18" charset="0"/>
                      </a:rPr>
                      <m:t>𝑠</m:t>
                    </m:r>
                  </m:oMath>
                </a14:m>
                <a:r>
                  <a:rPr lang="zh-CN" altLang="en-US" sz="2800" dirty="0"/>
                  <a:t>被执行 </a:t>
                </a:r>
                <a:r>
                  <a:rPr lang="en-US" altLang="zh-CN" sz="2800" dirty="0" err="1"/>
                  <a:t>iff</a:t>
                </a:r>
                <a:r>
                  <a:rPr lang="en-US" altLang="zh-CN" sz="2800" dirty="0"/>
                  <a:t> </a:t>
                </a:r>
                <a14:m>
                  <m:oMath xmlns:m="http://schemas.openxmlformats.org/officeDocument/2006/math">
                    <m:r>
                      <a:rPr lang="en-US" altLang="zh-CN" sz="2800" i="1" dirty="0">
                        <a:latin typeface="Cambria Math" panose="02040503050406030204" pitchFamily="18" charset="0"/>
                      </a:rPr>
                      <m:t>𝑠</m:t>
                    </m:r>
                  </m:oMath>
                </a14:m>
                <a:r>
                  <a:rPr lang="zh-CN" altLang="en-US" sz="2800" dirty="0"/>
                  <a:t>蕴涵了</a:t>
                </a:r>
                <a14:m>
                  <m:oMath xmlns:m="http://schemas.openxmlformats.org/officeDocument/2006/math">
                    <m:r>
                      <a:rPr lang="en-US" altLang="zh-CN" sz="2800" i="1" dirty="0">
                        <a:latin typeface="Cambria Math" panose="02040503050406030204" pitchFamily="18" charset="0"/>
                      </a:rPr>
                      <m:t>𝑎</m:t>
                    </m:r>
                  </m:oMath>
                </a14:m>
                <a:r>
                  <a:rPr lang="zh-CN" altLang="en-US" sz="2800" dirty="0"/>
                  <a:t>的前提 </a:t>
                </a:r>
                <a:endParaRPr lang="en-US" altLang="zh-CN" sz="28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rPr>
                        <m:t>(</m:t>
                      </m:r>
                      <m:r>
                        <a:rPr lang="en-US" altLang="zh-CN" sz="2800" i="1" dirty="0" err="1">
                          <a:latin typeface="Cambria Math" panose="02040503050406030204" pitchFamily="18" charset="0"/>
                        </a:rPr>
                        <m:t>𝑎</m:t>
                      </m:r>
                      <m:r>
                        <a:rPr lang="en-US" altLang="zh-CN" sz="2800" i="1" dirty="0" err="1">
                          <a:latin typeface="Cambria Math" panose="02040503050406030204" pitchFamily="18" charset="0"/>
                        </a:rPr>
                        <m:t>∈</m:t>
                      </m:r>
                      <m:r>
                        <a:rPr lang="en-US" altLang="zh-CN" sz="2800" i="1" dirty="0" err="1">
                          <a:latin typeface="Cambria Math" panose="02040503050406030204" pitchFamily="18" charset="0"/>
                        </a:rPr>
                        <m:t>𝐴𝐶𝑇𝐼𝑂𝑁𝑆</m:t>
                      </m:r>
                      <m:r>
                        <a:rPr lang="en-US" altLang="zh-CN" sz="2800" i="1" dirty="0">
                          <a:latin typeface="Cambria Math" panose="02040503050406030204" pitchFamily="18" charset="0"/>
                        </a:rPr>
                        <m:t>(</m:t>
                      </m:r>
                      <m:r>
                        <a:rPr lang="en-US" altLang="zh-CN" sz="2800" i="1" dirty="0">
                          <a:latin typeface="Cambria Math" panose="02040503050406030204" pitchFamily="18" charset="0"/>
                        </a:rPr>
                        <m:t>𝑠</m:t>
                      </m:r>
                      <m:r>
                        <a:rPr lang="en-US" altLang="zh-CN" sz="2800" i="1" dirty="0">
                          <a:latin typeface="Cambria Math" panose="02040503050406030204" pitchFamily="18" charset="0"/>
                        </a:rPr>
                        <m:t>)) ⇔ </m:t>
                      </m:r>
                      <m:r>
                        <a:rPr lang="en-US" altLang="zh-CN" sz="2800" i="1" dirty="0" smtClean="0">
                          <a:latin typeface="Cambria Math" panose="02040503050406030204" pitchFamily="18" charset="0"/>
                        </a:rPr>
                        <m:t>𝑠</m:t>
                      </m:r>
                      <m:r>
                        <a:rPr lang="zh-CN" altLang="en-US" sz="2800" i="1" dirty="0">
                          <a:latin typeface="Cambria Math" panose="02040503050406030204" pitchFamily="18" charset="0"/>
                        </a:rPr>
                        <m:t>╞ </m:t>
                      </m:r>
                      <m:r>
                        <a:rPr lang="en-US" altLang="zh-CN" sz="2800" i="1" dirty="0" smtClean="0">
                          <a:latin typeface="Cambria Math" panose="02040503050406030204" pitchFamily="18" charset="0"/>
                        </a:rPr>
                        <m:t>𝑃𝑅𝐸𝐶𝑂𝑁𝐷</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𝑎</m:t>
                      </m:r>
                      <m:r>
                        <a:rPr lang="en-US" altLang="zh-CN" sz="2800" i="1" dirty="0">
                          <a:latin typeface="Cambria Math" panose="02040503050406030204" pitchFamily="18" charset="0"/>
                        </a:rPr>
                        <m:t>)</m:t>
                      </m:r>
                    </m:oMath>
                  </m:oMathPara>
                </a14:m>
                <a:endParaRPr lang="en-US" altLang="zh-CN" sz="2800" dirty="0"/>
              </a:p>
              <a:p>
                <a:r>
                  <a:rPr lang="zh-CN" altLang="en-US" sz="2800" dirty="0"/>
                  <a:t>蕴涵也可用集合语义来表达：</a:t>
                </a:r>
                <a14:m>
                  <m:oMath xmlns:m="http://schemas.openxmlformats.org/officeDocument/2006/math">
                    <m:r>
                      <a:rPr lang="en-US" altLang="zh-CN" sz="2800" i="1" dirty="0" smtClean="0">
                        <a:latin typeface="Cambria Math" panose="02040503050406030204" pitchFamily="18" charset="0"/>
                      </a:rPr>
                      <m:t>𝑠</m:t>
                    </m:r>
                    <m:r>
                      <a:rPr lang="zh-CN" altLang="en-US" sz="2800" i="1" dirty="0">
                        <a:latin typeface="Cambria Math" panose="02040503050406030204" pitchFamily="18" charset="0"/>
                      </a:rPr>
                      <m:t>╞</m:t>
                    </m:r>
                    <m:r>
                      <a:rPr lang="en-US" altLang="zh-CN" sz="2800" i="1" dirty="0">
                        <a:latin typeface="Cambria Math" panose="02040503050406030204" pitchFamily="18" charset="0"/>
                      </a:rPr>
                      <m:t>𝑞</m:t>
                    </m:r>
                  </m:oMath>
                </a14:m>
                <a:r>
                  <a:rPr lang="zh-CN" altLang="en-US" sz="2800" dirty="0"/>
                  <a:t>当且仅当</a:t>
                </a:r>
                <a14:m>
                  <m:oMath xmlns:m="http://schemas.openxmlformats.org/officeDocument/2006/math">
                    <m:r>
                      <a:rPr lang="en-US" altLang="zh-CN" sz="2800" i="1" dirty="0" smtClean="0">
                        <a:latin typeface="Cambria Math" panose="02040503050406030204" pitchFamily="18" charset="0"/>
                      </a:rPr>
                      <m:t>𝑞</m:t>
                    </m:r>
                  </m:oMath>
                </a14:m>
                <a:r>
                  <a:rPr lang="zh-CN" altLang="en-US" sz="2800" dirty="0"/>
                  <a:t>中的正文字都在</a:t>
                </a:r>
                <a14:m>
                  <m:oMath xmlns:m="http://schemas.openxmlformats.org/officeDocument/2006/math">
                    <m:r>
                      <a:rPr lang="en-US" altLang="zh-CN" sz="2800" i="1" dirty="0" smtClean="0">
                        <a:latin typeface="Cambria Math" panose="02040503050406030204" pitchFamily="18" charset="0"/>
                      </a:rPr>
                      <m:t>𝑠</m:t>
                    </m:r>
                  </m:oMath>
                </a14:m>
                <a:r>
                  <a:rPr lang="zh-CN" altLang="en-US" sz="2800" dirty="0"/>
                  <a:t>中，且</a:t>
                </a:r>
                <a14:m>
                  <m:oMath xmlns:m="http://schemas.openxmlformats.org/officeDocument/2006/math">
                    <m:r>
                      <a:rPr lang="en-US" altLang="zh-CN" sz="2800" i="1" dirty="0" smtClean="0">
                        <a:latin typeface="Cambria Math" panose="02040503050406030204" pitchFamily="18" charset="0"/>
                      </a:rPr>
                      <m:t>𝑞</m:t>
                    </m:r>
                  </m:oMath>
                </a14:m>
                <a:r>
                  <a:rPr lang="zh-CN" altLang="en-US" sz="2800" dirty="0"/>
                  <a:t>中的负文字都不在</a:t>
                </a:r>
                <a14:m>
                  <m:oMath xmlns:m="http://schemas.openxmlformats.org/officeDocument/2006/math">
                    <m:r>
                      <a:rPr lang="en-US" altLang="zh-CN" sz="2800" i="1" dirty="0" smtClean="0">
                        <a:latin typeface="Cambria Math" panose="02040503050406030204" pitchFamily="18" charset="0"/>
                      </a:rPr>
                      <m:t>𝑠</m:t>
                    </m:r>
                  </m:oMath>
                </a14:m>
                <a:r>
                  <a:rPr lang="zh-CN" altLang="en-US" sz="2800" dirty="0"/>
                  <a:t>中</a:t>
                </a:r>
              </a:p>
              <a:p>
                <a:r>
                  <a:rPr lang="zh-CN" altLang="en-US" sz="2800" dirty="0"/>
                  <a:t>如果状态</a:t>
                </a:r>
                <a14:m>
                  <m:oMath xmlns:m="http://schemas.openxmlformats.org/officeDocument/2006/math">
                    <m:r>
                      <a:rPr lang="en-US" altLang="zh-CN" sz="2800" i="1" dirty="0">
                        <a:latin typeface="Cambria Math" panose="02040503050406030204" pitchFamily="18" charset="0"/>
                      </a:rPr>
                      <m:t>𝑠</m:t>
                    </m:r>
                  </m:oMath>
                </a14:m>
                <a:r>
                  <a:rPr lang="zh-CN" altLang="en-US" sz="2800" dirty="0"/>
                  <a:t>满足前提，称在状态</a:t>
                </a:r>
                <a14:m>
                  <m:oMath xmlns:m="http://schemas.openxmlformats.org/officeDocument/2006/math">
                    <m:r>
                      <a:rPr lang="en-US" altLang="zh-CN" sz="2800" i="1" dirty="0" smtClean="0">
                        <a:latin typeface="Cambria Math" panose="02040503050406030204" pitchFamily="18" charset="0"/>
                      </a:rPr>
                      <m:t>𝑠</m:t>
                    </m:r>
                  </m:oMath>
                </a14:m>
                <a:r>
                  <a:rPr lang="zh-CN" altLang="en-US" sz="2800" dirty="0"/>
                  <a:t>动作</a:t>
                </a:r>
                <a14:m>
                  <m:oMath xmlns:m="http://schemas.openxmlformats.org/officeDocument/2006/math">
                    <m:r>
                      <a:rPr lang="en-US" altLang="zh-CN" sz="2800" i="1" dirty="0" smtClean="0">
                        <a:latin typeface="Cambria Math" panose="02040503050406030204" pitchFamily="18" charset="0"/>
                      </a:rPr>
                      <m:t>𝑎</m:t>
                    </m:r>
                  </m:oMath>
                </a14:m>
                <a:r>
                  <a:rPr lang="zh-CN" altLang="en-US" sz="2800" dirty="0"/>
                  <a:t>是</a:t>
                </a:r>
                <a:r>
                  <a:rPr lang="zh-CN" altLang="en-US" sz="2800" dirty="0">
                    <a:solidFill>
                      <a:srgbClr val="C00000"/>
                    </a:solidFill>
                  </a:rPr>
                  <a:t>适用的</a:t>
                </a:r>
                <a:r>
                  <a:rPr lang="en-US" altLang="zh-CN" sz="2800" dirty="0">
                    <a:solidFill>
                      <a:srgbClr val="C00000"/>
                    </a:solidFill>
                  </a:rPr>
                  <a:t>(applicable)</a:t>
                </a:r>
                <a:endParaRPr lang="zh-CN" altLang="en-US" sz="2800" dirty="0">
                  <a:solidFill>
                    <a:srgbClr val="C00000"/>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932" t="-1471" r="-85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pPr>
                <a:defRPr/>
              </a:pPr>
              <a:t>10</a:t>
            </a:fld>
            <a:endParaRPr lang="en-US" altLang="zh-CN"/>
          </a:p>
        </p:txBody>
      </p:sp>
      <mc:AlternateContent xmlns:mc="http://schemas.openxmlformats.org/markup-compatibility/2006" xmlns:a14="http://schemas.microsoft.com/office/drawing/2010/main">
        <mc:Choice Requires="a14">
          <p:sp>
            <p:nvSpPr>
              <p:cNvPr id="5" name="矩形 4"/>
              <p:cNvSpPr/>
              <p:nvPr/>
            </p:nvSpPr>
            <p:spPr>
              <a:xfrm>
                <a:off x="1115616" y="5911816"/>
                <a:ext cx="6421758" cy="688458"/>
              </a:xfrm>
              <a:prstGeom prst="rect">
                <a:avLst/>
              </a:prstGeom>
            </p:spPr>
            <p:txBody>
              <a:bodyPr wrap="none">
                <a:spAutoFit/>
              </a:bodyPr>
              <a:lstStyle/>
              <a:p>
                <a:pPr marL="0" indent="0">
                  <a:buNone/>
                </a:pPr>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pitchFamily="18" charset="0"/>
                          <a:ea typeface="Cambria Math" panose="02040503050406030204" pitchFamily="18" charset="0"/>
                        </a:rPr>
                        <m:t>∀</m:t>
                      </m:r>
                      <m:r>
                        <a:rPr lang="en-US" altLang="zh-CN" b="1" i="1" dirty="0" smtClean="0">
                          <a:latin typeface="Cambria Math" panose="02040503050406030204" pitchFamily="18" charset="0"/>
                          <a:ea typeface="Cambria Math" panose="02040503050406030204" pitchFamily="18" charset="0"/>
                        </a:rPr>
                        <m:t>𝒑</m:t>
                      </m:r>
                      <m:r>
                        <a:rPr lang="en-US" altLang="zh-CN" b="1" i="1" dirty="0" smtClean="0">
                          <a:latin typeface="Cambria Math" panose="02040503050406030204" pitchFamily="18" charset="0"/>
                          <a:ea typeface="Cambria Math" panose="02040503050406030204" pitchFamily="18" charset="0"/>
                        </a:rPr>
                        <m:t>, </m:t>
                      </m:r>
                      <m:r>
                        <a:rPr lang="en-US" altLang="zh-CN" b="1" i="1" dirty="0" smtClean="0">
                          <a:latin typeface="Cambria Math" panose="02040503050406030204" pitchFamily="18" charset="0"/>
                          <a:ea typeface="Cambria Math" panose="02040503050406030204" pitchFamily="18" charset="0"/>
                        </a:rPr>
                        <m:t>𝒇𝒓𝒐𝒎</m:t>
                      </m:r>
                      <m:r>
                        <a:rPr lang="en-US" altLang="zh-CN" b="1" i="1" dirty="0" smtClean="0">
                          <a:latin typeface="Cambria Math" panose="02040503050406030204" pitchFamily="18" charset="0"/>
                          <a:ea typeface="Cambria Math" panose="02040503050406030204" pitchFamily="18" charset="0"/>
                        </a:rPr>
                        <m:t>, </m:t>
                      </m:r>
                      <m:r>
                        <a:rPr lang="en-US" altLang="zh-CN" b="1" i="1" dirty="0" smtClean="0">
                          <a:latin typeface="Cambria Math" panose="02040503050406030204" pitchFamily="18" charset="0"/>
                          <a:ea typeface="Cambria Math" panose="02040503050406030204" pitchFamily="18" charset="0"/>
                        </a:rPr>
                        <m:t>𝒕𝒐</m:t>
                      </m:r>
                      <m:r>
                        <a:rPr lang="en-US" altLang="zh-CN" b="1" i="1" dirty="0" smtClean="0">
                          <a:latin typeface="Cambria Math" panose="02040503050406030204" pitchFamily="18" charset="0"/>
                          <a:ea typeface="Cambria Math" panose="02040503050406030204" pitchFamily="18" charset="0"/>
                        </a:rPr>
                        <m:t>  </m:t>
                      </m:r>
                      <m:d>
                        <m:dPr>
                          <m:ctrlPr>
                            <a:rPr lang="en-US" altLang="zh-CN" i="1" dirty="0" smtClean="0">
                              <a:latin typeface="Cambria Math" panose="02040503050406030204" pitchFamily="18" charset="0"/>
                            </a:rPr>
                          </m:ctrlPr>
                        </m:dPr>
                        <m:e>
                          <m:r>
                            <a:rPr lang="en-US" altLang="zh-CN" i="1" dirty="0">
                              <a:latin typeface="Cambria Math" panose="02040503050406030204" pitchFamily="18" charset="0"/>
                            </a:rPr>
                            <m:t> </m:t>
                          </m:r>
                          <m:r>
                            <a:rPr lang="en-US" altLang="zh-CN" i="1" dirty="0">
                              <a:solidFill>
                                <a:srgbClr val="C00000"/>
                              </a:solidFill>
                              <a:latin typeface="Cambria Math" panose="02040503050406030204" pitchFamily="18" charset="0"/>
                            </a:rPr>
                            <m:t>𝐹𝑙𝑦</m:t>
                          </m:r>
                          <m:d>
                            <m:dPr>
                              <m:ctrlPr>
                                <a:rPr lang="en-US" altLang="zh-CN" i="1" dirty="0">
                                  <a:solidFill>
                                    <a:srgbClr val="C00000"/>
                                  </a:solidFill>
                                  <a:latin typeface="Cambria Math" panose="02040503050406030204" pitchFamily="18" charset="0"/>
                                </a:rPr>
                              </m:ctrlPr>
                            </m:dPr>
                            <m:e>
                              <m:r>
                                <a:rPr lang="en-US" altLang="zh-CN" i="1" dirty="0">
                                  <a:solidFill>
                                    <a:srgbClr val="C00000"/>
                                  </a:solidFill>
                                  <a:latin typeface="Cambria Math" panose="02040503050406030204" pitchFamily="18" charset="0"/>
                                </a:rPr>
                                <m:t>𝑝</m:t>
                              </m:r>
                              <m:r>
                                <a:rPr lang="en-US" altLang="zh-CN" i="1" dirty="0">
                                  <a:solidFill>
                                    <a:srgbClr val="C00000"/>
                                  </a:solidFill>
                                  <a:latin typeface="Cambria Math" panose="02040503050406030204" pitchFamily="18" charset="0"/>
                                </a:rPr>
                                <m:t>, </m:t>
                              </m:r>
                              <m:r>
                                <a:rPr lang="en-US" altLang="zh-CN" i="1" dirty="0">
                                  <a:solidFill>
                                    <a:srgbClr val="C00000"/>
                                  </a:solidFill>
                                  <a:latin typeface="Cambria Math" panose="02040503050406030204" pitchFamily="18" charset="0"/>
                                </a:rPr>
                                <m:t>𝑓𝑟𝑜𝑚</m:t>
                              </m:r>
                              <m:r>
                                <a:rPr lang="en-US" altLang="zh-CN" i="1" dirty="0">
                                  <a:solidFill>
                                    <a:srgbClr val="C00000"/>
                                  </a:solidFill>
                                  <a:latin typeface="Cambria Math" panose="02040503050406030204" pitchFamily="18" charset="0"/>
                                </a:rPr>
                                <m:t>, </m:t>
                              </m:r>
                              <m:r>
                                <a:rPr lang="en-US" altLang="zh-CN" i="1" dirty="0">
                                  <a:solidFill>
                                    <a:srgbClr val="C00000"/>
                                  </a:solidFill>
                                  <a:latin typeface="Cambria Math" panose="02040503050406030204" pitchFamily="18" charset="0"/>
                                </a:rPr>
                                <m:t>𝑡𝑜</m:t>
                              </m:r>
                            </m:e>
                          </m:d>
                          <m:r>
                            <a:rPr lang="en-US" altLang="zh-CN" i="1" dirty="0" err="1">
                              <a:latin typeface="Cambria Math" panose="02040503050406030204" pitchFamily="18" charset="0"/>
                            </a:rPr>
                            <m:t>∈</m:t>
                          </m:r>
                          <m:r>
                            <a:rPr lang="en-US" altLang="zh-CN" i="1" dirty="0" err="1">
                              <a:latin typeface="Cambria Math" panose="02040503050406030204" pitchFamily="18" charset="0"/>
                            </a:rPr>
                            <m:t>𝐴𝐶𝑇𝐼𝑂𝑁𝑆</m:t>
                          </m:r>
                          <m:d>
                            <m:dPr>
                              <m:ctrlPr>
                                <a:rPr lang="en-US" altLang="zh-CN" i="1" dirty="0" err="1">
                                  <a:latin typeface="Cambria Math" panose="02040503050406030204" pitchFamily="18" charset="0"/>
                                </a:rPr>
                              </m:ctrlPr>
                            </m:dPr>
                            <m:e>
                              <m:r>
                                <a:rPr lang="en-US" altLang="zh-CN" i="1" dirty="0">
                                  <a:latin typeface="Cambria Math" panose="02040503050406030204" pitchFamily="18" charset="0"/>
                                </a:rPr>
                                <m:t>𝑠</m:t>
                              </m:r>
                            </m:e>
                          </m:d>
                        </m:e>
                      </m:d>
                      <m:r>
                        <a:rPr lang="en-US" altLang="zh-CN" i="1" dirty="0">
                          <a:latin typeface="Cambria Math" panose="02040503050406030204" pitchFamily="18" charset="0"/>
                        </a:rPr>
                        <m:t>⇔ </m:t>
                      </m:r>
                    </m:oMath>
                  </m:oMathPara>
                </a14:m>
                <a:endParaRPr lang="en-US" altLang="zh-CN"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𝑠</m:t>
                      </m:r>
                      <m:r>
                        <a:rPr lang="zh-CN" altLang="en-US" i="1" dirty="0">
                          <a:latin typeface="Cambria Math" panose="02040503050406030204" pitchFamily="18" charset="0"/>
                        </a:rPr>
                        <m:t>╞</m:t>
                      </m:r>
                      <m:d>
                        <m:dPr>
                          <m:ctrlPr>
                            <a:rPr lang="en-US" altLang="zh-CN" i="1" dirty="0" smtClean="0">
                              <a:latin typeface="Cambria Math" panose="02040503050406030204" pitchFamily="18" charset="0"/>
                            </a:rPr>
                          </m:ctrlPr>
                        </m:dPr>
                        <m:e>
                          <m:r>
                            <a:rPr lang="en-US" altLang="zh-CN" i="1" dirty="0">
                              <a:solidFill>
                                <a:srgbClr val="0070C0"/>
                              </a:solidFill>
                              <a:latin typeface="Cambria Math" panose="02040503050406030204" pitchFamily="18" charset="0"/>
                            </a:rPr>
                            <m:t>𝐴𝑡</m:t>
                          </m:r>
                          <m:r>
                            <a:rPr lang="en-US" altLang="zh-CN" i="1" dirty="0">
                              <a:solidFill>
                                <a:srgbClr val="0070C0"/>
                              </a:solidFill>
                              <a:latin typeface="Cambria Math" panose="02040503050406030204" pitchFamily="18" charset="0"/>
                            </a:rPr>
                            <m:t>(</m:t>
                          </m:r>
                          <m:r>
                            <a:rPr lang="en-US" altLang="zh-CN" i="1" dirty="0">
                              <a:solidFill>
                                <a:srgbClr val="0070C0"/>
                              </a:solidFill>
                              <a:latin typeface="Cambria Math" panose="02040503050406030204" pitchFamily="18" charset="0"/>
                            </a:rPr>
                            <m:t>𝑝</m:t>
                          </m:r>
                          <m:r>
                            <a:rPr lang="en-US" altLang="zh-CN" i="1" dirty="0">
                              <a:solidFill>
                                <a:srgbClr val="0070C0"/>
                              </a:solidFill>
                              <a:latin typeface="Cambria Math" panose="02040503050406030204" pitchFamily="18" charset="0"/>
                            </a:rPr>
                            <m:t>, </m:t>
                          </m:r>
                          <m:r>
                            <a:rPr lang="en-US" altLang="zh-CN" i="1" dirty="0">
                              <a:solidFill>
                                <a:srgbClr val="0070C0"/>
                              </a:solidFill>
                              <a:latin typeface="Cambria Math" panose="02040503050406030204" pitchFamily="18" charset="0"/>
                            </a:rPr>
                            <m:t>𝑓𝑟𝑜𝑚</m:t>
                          </m:r>
                          <m:r>
                            <a:rPr lang="en-US" altLang="zh-CN" i="1" dirty="0">
                              <a:solidFill>
                                <a:srgbClr val="0070C0"/>
                              </a:solidFill>
                              <a:latin typeface="Cambria Math" panose="02040503050406030204" pitchFamily="18" charset="0"/>
                            </a:rPr>
                            <m:t>)∧</m:t>
                          </m:r>
                          <m:r>
                            <a:rPr lang="en-US" altLang="zh-CN" i="1" dirty="0">
                              <a:solidFill>
                                <a:srgbClr val="0070C0"/>
                              </a:solidFill>
                              <a:latin typeface="Cambria Math" panose="02040503050406030204" pitchFamily="18" charset="0"/>
                            </a:rPr>
                            <m:t>𝑃𝑙𝑎𝑛𝑒</m:t>
                          </m:r>
                          <m:r>
                            <a:rPr lang="en-US" altLang="zh-CN" i="1" dirty="0">
                              <a:solidFill>
                                <a:srgbClr val="0070C0"/>
                              </a:solidFill>
                              <a:latin typeface="Cambria Math" panose="02040503050406030204" pitchFamily="18" charset="0"/>
                            </a:rPr>
                            <m:t>(</m:t>
                          </m:r>
                          <m:r>
                            <a:rPr lang="en-US" altLang="zh-CN" i="1" dirty="0">
                              <a:solidFill>
                                <a:srgbClr val="0070C0"/>
                              </a:solidFill>
                              <a:latin typeface="Cambria Math" panose="02040503050406030204" pitchFamily="18" charset="0"/>
                            </a:rPr>
                            <m:t>𝑝</m:t>
                          </m:r>
                          <m:r>
                            <a:rPr lang="en-US" altLang="zh-CN" i="1" dirty="0">
                              <a:solidFill>
                                <a:srgbClr val="0070C0"/>
                              </a:solidFill>
                              <a:latin typeface="Cambria Math" panose="02040503050406030204" pitchFamily="18" charset="0"/>
                            </a:rPr>
                            <m:t>)∧</m:t>
                          </m:r>
                          <m:r>
                            <a:rPr lang="en-US" altLang="zh-CN" i="1" dirty="0">
                              <a:solidFill>
                                <a:srgbClr val="0070C0"/>
                              </a:solidFill>
                              <a:latin typeface="Cambria Math" panose="02040503050406030204" pitchFamily="18" charset="0"/>
                            </a:rPr>
                            <m:t>𝐴𝑖𝑟𝑝𝑜𝑟𝑡</m:t>
                          </m:r>
                          <m:r>
                            <a:rPr lang="en-US" altLang="zh-CN" i="1" dirty="0">
                              <a:solidFill>
                                <a:srgbClr val="0070C0"/>
                              </a:solidFill>
                              <a:latin typeface="Cambria Math" panose="02040503050406030204" pitchFamily="18" charset="0"/>
                            </a:rPr>
                            <m:t>(</m:t>
                          </m:r>
                          <m:r>
                            <a:rPr lang="en-US" altLang="zh-CN" i="1" dirty="0">
                              <a:solidFill>
                                <a:srgbClr val="0070C0"/>
                              </a:solidFill>
                              <a:latin typeface="Cambria Math" panose="02040503050406030204" pitchFamily="18" charset="0"/>
                            </a:rPr>
                            <m:t>𝑓𝑟𝑜𝑚</m:t>
                          </m:r>
                          <m:r>
                            <a:rPr lang="en-US" altLang="zh-CN" i="1" dirty="0">
                              <a:solidFill>
                                <a:srgbClr val="0070C0"/>
                              </a:solidFill>
                              <a:latin typeface="Cambria Math" panose="02040503050406030204" pitchFamily="18" charset="0"/>
                            </a:rPr>
                            <m:t>)∧</m:t>
                          </m:r>
                          <m:r>
                            <a:rPr lang="en-US" altLang="zh-CN" i="1" dirty="0">
                              <a:solidFill>
                                <a:srgbClr val="0070C0"/>
                              </a:solidFill>
                              <a:latin typeface="Cambria Math" panose="02040503050406030204" pitchFamily="18" charset="0"/>
                            </a:rPr>
                            <m:t>𝐴𝑖𝑟𝑝𝑜𝑟𝑡</m:t>
                          </m:r>
                          <m:r>
                            <a:rPr lang="en-US" altLang="zh-CN" i="1" dirty="0">
                              <a:solidFill>
                                <a:srgbClr val="0070C0"/>
                              </a:solidFill>
                              <a:latin typeface="Cambria Math" panose="02040503050406030204" pitchFamily="18" charset="0"/>
                            </a:rPr>
                            <m:t>(</m:t>
                          </m:r>
                          <m:r>
                            <a:rPr lang="en-US" altLang="zh-CN" i="1" dirty="0">
                              <a:solidFill>
                                <a:srgbClr val="0070C0"/>
                              </a:solidFill>
                              <a:latin typeface="Cambria Math" panose="02040503050406030204" pitchFamily="18" charset="0"/>
                            </a:rPr>
                            <m:t>𝑡𝑜</m:t>
                          </m:r>
                          <m:r>
                            <a:rPr lang="en-US" altLang="zh-CN" i="1" dirty="0">
                              <a:solidFill>
                                <a:srgbClr val="0070C0"/>
                              </a:solidFill>
                              <a:latin typeface="Cambria Math" panose="02040503050406030204" pitchFamily="18" charset="0"/>
                            </a:rPr>
                            <m:t>)</m:t>
                          </m:r>
                          <m:r>
                            <m:rPr>
                              <m:nor/>
                            </m:rPr>
                            <a:rPr lang="zh-CN" altLang="zh-CN" dirty="0">
                              <a:solidFill>
                                <a:srgbClr val="0070C0"/>
                              </a:solidFill>
                            </a:rPr>
                            <m:t> </m:t>
                          </m:r>
                        </m:e>
                      </m:d>
                    </m:oMath>
                  </m:oMathPara>
                </a14:m>
                <a:endParaRPr lang="zh-CN" altLang="zh-CN" dirty="0">
                  <a:solidFill>
                    <a:srgbClr val="0070C0"/>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1115616" y="5911816"/>
                <a:ext cx="6421758" cy="688458"/>
              </a:xfrm>
              <a:prstGeom prst="rect">
                <a:avLst/>
              </a:prstGeom>
              <a:blipFill rotWithShape="0">
                <a:blip r:embed="rId4"/>
                <a:stretch>
                  <a:fillRect b="-70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681336" y="4761128"/>
                <a:ext cx="7776864" cy="101566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14:m>
                  <m:oMath xmlns:m="http://schemas.openxmlformats.org/officeDocument/2006/math">
                    <m:r>
                      <a:rPr lang="en-US" altLang="zh-CN" sz="2000" i="1" dirty="0" smtClean="0">
                        <a:latin typeface="Cambria Math" panose="02040503050406030204" pitchFamily="18" charset="0"/>
                      </a:rPr>
                      <m:t>𝐴𝑐𝑡𝑖𝑜𝑛</m:t>
                    </m:r>
                    <m:r>
                      <a:rPr lang="en-US" altLang="zh-CN" sz="2000" i="1" dirty="0" smtClean="0">
                        <a:latin typeface="Cambria Math" panose="02040503050406030204" pitchFamily="18" charset="0"/>
                      </a:rPr>
                      <m:t>( </m:t>
                    </m:r>
                    <m:r>
                      <a:rPr lang="en-US" altLang="zh-CN" sz="2000" i="1" dirty="0" smtClean="0">
                        <a:solidFill>
                          <a:srgbClr val="C00000"/>
                        </a:solidFill>
                        <a:latin typeface="Cambria Math" panose="02040503050406030204" pitchFamily="18" charset="0"/>
                      </a:rPr>
                      <m:t>𝐹𝑙𝑦</m:t>
                    </m:r>
                    <m:r>
                      <a:rPr lang="en-US" altLang="zh-CN" sz="2000" i="1" dirty="0" smtClean="0">
                        <a:solidFill>
                          <a:srgbClr val="C00000"/>
                        </a:solidFill>
                        <a:latin typeface="Cambria Math" panose="02040503050406030204" pitchFamily="18" charset="0"/>
                      </a:rPr>
                      <m:t>(</m:t>
                    </m:r>
                    <m:r>
                      <a:rPr lang="en-US" altLang="zh-CN" sz="2000" i="1" dirty="0" smtClean="0">
                        <a:solidFill>
                          <a:srgbClr val="C00000"/>
                        </a:solidFill>
                        <a:latin typeface="Cambria Math" panose="02040503050406030204" pitchFamily="18" charset="0"/>
                      </a:rPr>
                      <m:t>𝑝</m:t>
                    </m:r>
                    <m:r>
                      <a:rPr lang="en-US" altLang="zh-CN" sz="2000" i="1" dirty="0" smtClean="0">
                        <a:solidFill>
                          <a:srgbClr val="C00000"/>
                        </a:solidFill>
                        <a:latin typeface="Cambria Math" panose="02040503050406030204" pitchFamily="18" charset="0"/>
                      </a:rPr>
                      <m:t>, </m:t>
                    </m:r>
                    <m:r>
                      <a:rPr lang="en-US" altLang="zh-CN" sz="2000" i="1" dirty="0" smtClean="0">
                        <a:solidFill>
                          <a:srgbClr val="C00000"/>
                        </a:solidFill>
                        <a:latin typeface="Cambria Math" panose="02040503050406030204" pitchFamily="18" charset="0"/>
                      </a:rPr>
                      <m:t>𝑓𝑟𝑜𝑚</m:t>
                    </m:r>
                    <m:r>
                      <a:rPr lang="en-US" altLang="zh-CN" sz="2000" i="1" dirty="0" smtClean="0">
                        <a:solidFill>
                          <a:srgbClr val="C00000"/>
                        </a:solidFill>
                        <a:latin typeface="Cambria Math" panose="02040503050406030204" pitchFamily="18" charset="0"/>
                      </a:rPr>
                      <m:t>, </m:t>
                    </m:r>
                    <m:r>
                      <a:rPr lang="en-US" altLang="zh-CN" sz="2000" i="1" dirty="0" smtClean="0">
                        <a:solidFill>
                          <a:srgbClr val="C00000"/>
                        </a:solidFill>
                        <a:latin typeface="Cambria Math" panose="02040503050406030204" pitchFamily="18" charset="0"/>
                      </a:rPr>
                      <m:t>𝑡𝑜</m:t>
                    </m:r>
                    <m:r>
                      <a:rPr lang="en-US" altLang="zh-CN" sz="2000" i="1" dirty="0" smtClean="0">
                        <a:solidFill>
                          <a:srgbClr val="C00000"/>
                        </a:solidFill>
                        <a:latin typeface="Cambria Math" panose="02040503050406030204" pitchFamily="18" charset="0"/>
                      </a:rPr>
                      <m:t>) </m:t>
                    </m:r>
                  </m:oMath>
                </a14:m>
                <a:r>
                  <a:rPr lang="en-US" altLang="zh-CN" sz="2000" dirty="0"/>
                  <a:t>, </a:t>
                </a:r>
                <a:endParaRPr lang="zh-CN" altLang="zh-CN" sz="2000" dirty="0"/>
              </a:p>
              <a:p>
                <a:r>
                  <a:rPr lang="en-US" altLang="zh-CN" sz="2000" dirty="0">
                    <a:solidFill>
                      <a:srgbClr val="0070C0"/>
                    </a:solidFill>
                  </a:rPr>
                  <a:t>PRECOND</a:t>
                </a:r>
                <a:r>
                  <a:rPr lang="en-US" altLang="zh-CN" sz="2000" dirty="0"/>
                  <a:t>: </a:t>
                </a:r>
                <a14:m>
                  <m:oMath xmlns:m="http://schemas.openxmlformats.org/officeDocument/2006/math">
                    <m:r>
                      <a:rPr lang="en-US" altLang="zh-CN" sz="2000" i="1" dirty="0" smtClean="0">
                        <a:solidFill>
                          <a:srgbClr val="0070C0"/>
                        </a:solidFill>
                        <a:latin typeface="Cambria Math" panose="02040503050406030204" pitchFamily="18" charset="0"/>
                      </a:rPr>
                      <m:t>𝐴𝑡</m:t>
                    </m:r>
                    <m:r>
                      <a:rPr lang="en-US" altLang="zh-CN" sz="2000" i="1" dirty="0" smtClean="0">
                        <a:solidFill>
                          <a:srgbClr val="0070C0"/>
                        </a:solidFill>
                        <a:latin typeface="Cambria Math" panose="02040503050406030204" pitchFamily="18" charset="0"/>
                      </a:rPr>
                      <m:t>(</m:t>
                    </m:r>
                    <m:r>
                      <a:rPr lang="en-US" altLang="zh-CN" sz="2000" i="1" dirty="0" smtClean="0">
                        <a:solidFill>
                          <a:srgbClr val="0070C0"/>
                        </a:solidFill>
                        <a:latin typeface="Cambria Math" panose="02040503050406030204" pitchFamily="18" charset="0"/>
                      </a:rPr>
                      <m:t>𝑝</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𝑓𝑟𝑜𝑚</m:t>
                    </m:r>
                    <m:r>
                      <a:rPr lang="en-US" altLang="zh-CN" sz="2000" i="1" dirty="0" smtClean="0">
                        <a:solidFill>
                          <a:srgbClr val="0070C0"/>
                        </a:solidFill>
                        <a:latin typeface="Cambria Math" panose="02040503050406030204" pitchFamily="18" charset="0"/>
                      </a:rPr>
                      <m:t>)∧</m:t>
                    </m:r>
                    <m:r>
                      <a:rPr lang="en-US" altLang="zh-CN" sz="2000" i="1" dirty="0" smtClean="0">
                        <a:solidFill>
                          <a:srgbClr val="0070C0"/>
                        </a:solidFill>
                        <a:latin typeface="Cambria Math" panose="02040503050406030204" pitchFamily="18" charset="0"/>
                      </a:rPr>
                      <m:t>𝑃𝑙𝑎𝑛𝑒</m:t>
                    </m:r>
                    <m:r>
                      <a:rPr lang="en-US" altLang="zh-CN" sz="2000" i="1" dirty="0" smtClean="0">
                        <a:solidFill>
                          <a:srgbClr val="0070C0"/>
                        </a:solidFill>
                        <a:latin typeface="Cambria Math" panose="02040503050406030204" pitchFamily="18" charset="0"/>
                      </a:rPr>
                      <m:t>(</m:t>
                    </m:r>
                    <m:r>
                      <a:rPr lang="en-US" altLang="zh-CN" sz="2000" i="1" dirty="0" smtClean="0">
                        <a:solidFill>
                          <a:srgbClr val="0070C0"/>
                        </a:solidFill>
                        <a:latin typeface="Cambria Math" panose="02040503050406030204" pitchFamily="18" charset="0"/>
                      </a:rPr>
                      <m:t>𝑝</m:t>
                    </m:r>
                    <m:r>
                      <a:rPr lang="en-US" altLang="zh-CN" sz="2000" i="1" dirty="0" smtClean="0">
                        <a:solidFill>
                          <a:srgbClr val="0070C0"/>
                        </a:solidFill>
                        <a:latin typeface="Cambria Math" panose="02040503050406030204" pitchFamily="18" charset="0"/>
                      </a:rPr>
                      <m:t>)∧</m:t>
                    </m:r>
                    <m:r>
                      <a:rPr lang="en-US" altLang="zh-CN" sz="2000" i="1" dirty="0" smtClean="0">
                        <a:solidFill>
                          <a:srgbClr val="0070C0"/>
                        </a:solidFill>
                        <a:latin typeface="Cambria Math" panose="02040503050406030204" pitchFamily="18" charset="0"/>
                      </a:rPr>
                      <m:t>𝐴𝑖𝑟𝑝𝑜𝑟𝑡</m:t>
                    </m:r>
                    <m:r>
                      <a:rPr lang="en-US" altLang="zh-CN" sz="2000" i="1" dirty="0" smtClean="0">
                        <a:solidFill>
                          <a:srgbClr val="0070C0"/>
                        </a:solidFill>
                        <a:latin typeface="Cambria Math" panose="02040503050406030204" pitchFamily="18" charset="0"/>
                      </a:rPr>
                      <m:t>(</m:t>
                    </m:r>
                    <m:r>
                      <a:rPr lang="en-US" altLang="zh-CN" sz="2000" i="1" dirty="0" smtClean="0">
                        <a:solidFill>
                          <a:srgbClr val="0070C0"/>
                        </a:solidFill>
                        <a:latin typeface="Cambria Math" panose="02040503050406030204" pitchFamily="18" charset="0"/>
                      </a:rPr>
                      <m:t>𝑓𝑟𝑜𝑚</m:t>
                    </m:r>
                    <m:r>
                      <a:rPr lang="en-US" altLang="zh-CN" sz="2000" i="1" dirty="0" smtClean="0">
                        <a:solidFill>
                          <a:srgbClr val="0070C0"/>
                        </a:solidFill>
                        <a:latin typeface="Cambria Math" panose="02040503050406030204" pitchFamily="18" charset="0"/>
                      </a:rPr>
                      <m:t>)∧</m:t>
                    </m:r>
                    <m:r>
                      <a:rPr lang="en-US" altLang="zh-CN" sz="2000" i="1" dirty="0" smtClean="0">
                        <a:solidFill>
                          <a:srgbClr val="0070C0"/>
                        </a:solidFill>
                        <a:latin typeface="Cambria Math" panose="02040503050406030204" pitchFamily="18" charset="0"/>
                      </a:rPr>
                      <m:t>𝐴𝑖𝑟𝑝𝑜𝑟𝑡</m:t>
                    </m:r>
                    <m:r>
                      <a:rPr lang="en-US" altLang="zh-CN" sz="2000" i="1" dirty="0" smtClean="0">
                        <a:solidFill>
                          <a:srgbClr val="0070C0"/>
                        </a:solidFill>
                        <a:latin typeface="Cambria Math" panose="02040503050406030204" pitchFamily="18" charset="0"/>
                      </a:rPr>
                      <m:t>(</m:t>
                    </m:r>
                    <m:r>
                      <a:rPr lang="en-US" altLang="zh-CN" sz="2000" i="1" dirty="0" smtClean="0">
                        <a:solidFill>
                          <a:srgbClr val="0070C0"/>
                        </a:solidFill>
                        <a:latin typeface="Cambria Math" panose="02040503050406030204" pitchFamily="18" charset="0"/>
                      </a:rPr>
                      <m:t>𝑡𝑜</m:t>
                    </m:r>
                    <m:r>
                      <a:rPr lang="en-US" altLang="zh-CN" sz="2000" i="1" dirty="0" smtClean="0">
                        <a:solidFill>
                          <a:srgbClr val="0070C0"/>
                        </a:solidFill>
                        <a:latin typeface="Cambria Math" panose="02040503050406030204" pitchFamily="18" charset="0"/>
                      </a:rPr>
                      <m:t>)</m:t>
                    </m:r>
                  </m:oMath>
                </a14:m>
                <a:endParaRPr lang="zh-CN" altLang="zh-CN" sz="2000" dirty="0">
                  <a:solidFill>
                    <a:srgbClr val="0070C0"/>
                  </a:solidFill>
                </a:endParaRPr>
              </a:p>
              <a:p>
                <a:r>
                  <a:rPr lang="en-US" altLang="zh-CN" sz="2000" dirty="0">
                    <a:solidFill>
                      <a:srgbClr val="006600"/>
                    </a:solidFill>
                  </a:rPr>
                  <a:t>EFFECT</a:t>
                </a:r>
                <a:r>
                  <a:rPr lang="en-US" altLang="zh-CN" sz="2000" dirty="0"/>
                  <a:t>: </a:t>
                </a:r>
                <a14:m>
                  <m:oMath xmlns:m="http://schemas.openxmlformats.org/officeDocument/2006/math">
                    <m:r>
                      <a:rPr lang="en-US" altLang="zh-CN" sz="2000" i="1" dirty="0" smtClean="0">
                        <a:solidFill>
                          <a:srgbClr val="006600"/>
                        </a:solidFill>
                        <a:latin typeface="Cambria Math" panose="02040503050406030204" pitchFamily="18" charset="0"/>
                        <a:sym typeface="Symbol" panose="05050102010706020507" pitchFamily="18" charset="2"/>
                      </a:rPr>
                      <m:t></m:t>
                    </m:r>
                    <m:r>
                      <a:rPr lang="en-US" altLang="zh-CN" sz="2000" i="1" dirty="0" smtClean="0">
                        <a:solidFill>
                          <a:srgbClr val="006600"/>
                        </a:solidFill>
                        <a:latin typeface="Cambria Math" panose="02040503050406030204" pitchFamily="18" charset="0"/>
                      </a:rPr>
                      <m:t>𝐴𝑡</m:t>
                    </m:r>
                    <m:d>
                      <m:dPr>
                        <m:ctrlPr>
                          <a:rPr lang="en-US" altLang="zh-CN" sz="2000" i="1" dirty="0" smtClean="0">
                            <a:solidFill>
                              <a:srgbClr val="006600"/>
                            </a:solidFill>
                            <a:latin typeface="Cambria Math" panose="02040503050406030204" pitchFamily="18" charset="0"/>
                          </a:rPr>
                        </m:ctrlPr>
                      </m:dPr>
                      <m:e>
                        <m:r>
                          <a:rPr lang="en-US" altLang="zh-CN" sz="2000" i="1" dirty="0" err="1" smtClean="0">
                            <a:solidFill>
                              <a:srgbClr val="006600"/>
                            </a:solidFill>
                            <a:latin typeface="Cambria Math" panose="02040503050406030204" pitchFamily="18" charset="0"/>
                          </a:rPr>
                          <m:t>𝑝</m:t>
                        </m:r>
                        <m:r>
                          <a:rPr lang="en-US" altLang="zh-CN" sz="2000" i="1" dirty="0" err="1" smtClean="0">
                            <a:solidFill>
                              <a:srgbClr val="006600"/>
                            </a:solidFill>
                            <a:latin typeface="Cambria Math" panose="02040503050406030204" pitchFamily="18" charset="0"/>
                          </a:rPr>
                          <m:t>,</m:t>
                        </m:r>
                        <m:r>
                          <a:rPr lang="en-US" altLang="zh-CN" sz="2000" i="1" dirty="0" err="1" smtClean="0">
                            <a:solidFill>
                              <a:srgbClr val="006600"/>
                            </a:solidFill>
                            <a:latin typeface="Cambria Math" panose="02040503050406030204" pitchFamily="18" charset="0"/>
                          </a:rPr>
                          <m:t>𝑓𝑟𝑜𝑚</m:t>
                        </m:r>
                      </m:e>
                    </m:d>
                    <m:r>
                      <a:rPr lang="zh-CN" altLang="zh-CN" sz="2000" i="1" dirty="0" smtClean="0">
                        <a:solidFill>
                          <a:srgbClr val="006600"/>
                        </a:solidFill>
                        <a:latin typeface="Cambria Math" panose="02040503050406030204" pitchFamily="18" charset="0"/>
                      </a:rPr>
                      <m:t>∧</m:t>
                    </m:r>
                    <m:r>
                      <a:rPr lang="en-US" altLang="zh-CN" sz="2000" i="1" dirty="0" smtClean="0">
                        <a:solidFill>
                          <a:srgbClr val="006600"/>
                        </a:solidFill>
                        <a:latin typeface="Cambria Math" panose="02040503050406030204" pitchFamily="18" charset="0"/>
                      </a:rPr>
                      <m:t>𝐴𝑡</m:t>
                    </m:r>
                    <m:d>
                      <m:dPr>
                        <m:ctrlPr>
                          <a:rPr lang="en-US" altLang="zh-CN" sz="2000" i="1" dirty="0" smtClean="0">
                            <a:solidFill>
                              <a:srgbClr val="006600"/>
                            </a:solidFill>
                            <a:latin typeface="Cambria Math" panose="02040503050406030204" pitchFamily="18" charset="0"/>
                          </a:rPr>
                        </m:ctrlPr>
                      </m:dPr>
                      <m:e>
                        <m:r>
                          <a:rPr lang="en-US" altLang="zh-CN" sz="2000" i="1" dirty="0" err="1" smtClean="0">
                            <a:solidFill>
                              <a:srgbClr val="006600"/>
                            </a:solidFill>
                            <a:latin typeface="Cambria Math" panose="02040503050406030204" pitchFamily="18" charset="0"/>
                          </a:rPr>
                          <m:t>𝑝</m:t>
                        </m:r>
                        <m:r>
                          <a:rPr lang="en-US" altLang="zh-CN" sz="2000" i="1" dirty="0" err="1" smtClean="0">
                            <a:solidFill>
                              <a:srgbClr val="006600"/>
                            </a:solidFill>
                            <a:latin typeface="Cambria Math" panose="02040503050406030204" pitchFamily="18" charset="0"/>
                          </a:rPr>
                          <m:t>,</m:t>
                        </m:r>
                        <m:r>
                          <a:rPr lang="en-US" altLang="zh-CN" sz="2000" i="1" dirty="0" err="1" smtClean="0">
                            <a:solidFill>
                              <a:srgbClr val="006600"/>
                            </a:solidFill>
                            <a:latin typeface="Cambria Math" panose="02040503050406030204" pitchFamily="18" charset="0"/>
                          </a:rPr>
                          <m:t>𝑡𝑜</m:t>
                        </m:r>
                      </m:e>
                    </m:d>
                    <m:r>
                      <a:rPr lang="en-US" altLang="zh-CN" sz="2000" b="0" i="1" dirty="0" smtClean="0">
                        <a:solidFill>
                          <a:srgbClr val="006600"/>
                        </a:solidFill>
                        <a:latin typeface="Cambria Math" panose="02040503050406030204" pitchFamily="18" charset="0"/>
                      </a:rPr>
                      <m:t>  </m:t>
                    </m:r>
                    <m:r>
                      <a:rPr lang="en-US" altLang="zh-CN" sz="2000" i="1" dirty="0" smtClean="0">
                        <a:solidFill>
                          <a:schemeClr val="tx1"/>
                        </a:solidFill>
                        <a:latin typeface="Cambria Math" panose="02040503050406030204" pitchFamily="18" charset="0"/>
                      </a:rPr>
                      <m:t>)</m:t>
                    </m:r>
                  </m:oMath>
                </a14:m>
                <a:endParaRPr lang="zh-CN" altLang="zh-CN" sz="2000" dirty="0">
                  <a:solidFill>
                    <a:schemeClr val="tx1"/>
                  </a:solidFill>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681336" y="4761128"/>
                <a:ext cx="7776864" cy="1015663"/>
              </a:xfrm>
              <a:prstGeom prst="rect">
                <a:avLst/>
              </a:prstGeom>
              <a:blipFill rotWithShape="0">
                <a:blip r:embed="rId5"/>
                <a:stretch>
                  <a:fillRect l="-782" t="-1765" b="-88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2516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left)">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wipe(left)">
                                      <p:cBhvr>
                                        <p:cTn id="3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PDDL </a:t>
            </a:r>
            <a:r>
              <a:rPr lang="zh-CN" altLang="en-US" dirty="0"/>
              <a:t>：</a:t>
            </a:r>
            <a:r>
              <a:rPr lang="zh-CN" altLang="zh-CN" dirty="0"/>
              <a:t>转移模型</a:t>
            </a:r>
            <a:endParaRPr lang="zh-CN" altLang="en-US" sz="31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r>
                      <a:rPr lang="en-US" altLang="zh-CN" b="0" i="1" dirty="0" smtClean="0">
                        <a:latin typeface="Cambria Math" panose="02040503050406030204" pitchFamily="18" charset="0"/>
                      </a:rPr>
                      <m:t>𝑅𝐸𝑆𝑈𝐿𝑇</m:t>
                    </m:r>
                  </m:oMath>
                </a14:m>
                <a:r>
                  <a:rPr lang="en-US" altLang="zh-CN" dirty="0">
                    <a:latin typeface="Cambria Math" panose="02040503050406030204" pitchFamily="18" charset="0"/>
                  </a:rPr>
                  <a:t>(s, a)</a:t>
                </a:r>
                <a:r>
                  <a:rPr lang="zh-CN" altLang="en-US" dirty="0"/>
                  <a:t>：在状态</a:t>
                </a:r>
                <a14:m>
                  <m:oMath xmlns:m="http://schemas.openxmlformats.org/officeDocument/2006/math">
                    <m:r>
                      <a:rPr lang="en-US" altLang="zh-CN" i="1" dirty="0" smtClean="0">
                        <a:latin typeface="Cambria Math" panose="02040503050406030204" pitchFamily="18" charset="0"/>
                      </a:rPr>
                      <m:t>𝑠</m:t>
                    </m:r>
                  </m:oMath>
                </a14:m>
                <a:r>
                  <a:rPr lang="zh-CN" altLang="en-US" dirty="0"/>
                  <a:t>执行动作</a:t>
                </a:r>
                <a14:m>
                  <m:oMath xmlns:m="http://schemas.openxmlformats.org/officeDocument/2006/math">
                    <m:r>
                      <a:rPr lang="en-US" altLang="zh-CN" i="1" dirty="0" smtClean="0">
                        <a:latin typeface="Cambria Math" panose="02040503050406030204" pitchFamily="18" charset="0"/>
                      </a:rPr>
                      <m:t>𝑎</m:t>
                    </m:r>
                  </m:oMath>
                </a14:m>
                <a:r>
                  <a:rPr lang="zh-CN" altLang="en-US" dirty="0"/>
                  <a:t>的结果定义为状态</a:t>
                </a:r>
                <a14:m>
                  <m:oMath xmlns:m="http://schemas.openxmlformats.org/officeDocument/2006/math">
                    <m:r>
                      <a:rPr lang="en-US" altLang="zh-CN" i="1" dirty="0" smtClean="0">
                        <a:latin typeface="Cambria Math" panose="02040503050406030204" pitchFamily="18" charset="0"/>
                      </a:rPr>
                      <m:t>𝑠</m:t>
                    </m:r>
                    <m:r>
                      <a:rPr lang="zh-CN" altLang="en-US" i="1" dirty="0" smtClean="0">
                        <a:latin typeface="Cambria Math" panose="02040503050406030204" pitchFamily="18" charset="0"/>
                      </a:rPr>
                      <m:t>’</m:t>
                    </m:r>
                  </m:oMath>
                </a14:m>
                <a:endParaRPr lang="en-US" altLang="zh-CN" dirty="0"/>
              </a:p>
              <a:p>
                <a:pPr lvl="1"/>
                <a:r>
                  <a:rPr lang="zh-CN" altLang="en-US" dirty="0"/>
                  <a:t>它由一组流表示，这组流由</a:t>
                </a:r>
                <a14:m>
                  <m:oMath xmlns:m="http://schemas.openxmlformats.org/officeDocument/2006/math">
                    <m:r>
                      <a:rPr lang="en-US" altLang="zh-CN" i="1" dirty="0" smtClean="0">
                        <a:latin typeface="Cambria Math" panose="02040503050406030204" pitchFamily="18" charset="0"/>
                      </a:rPr>
                      <m:t>𝑠</m:t>
                    </m:r>
                  </m:oMath>
                </a14:m>
                <a:r>
                  <a:rPr lang="zh-CN" altLang="en-US" dirty="0"/>
                  <a:t>开始</a:t>
                </a:r>
                <a:endParaRPr lang="en-US" altLang="zh-CN" dirty="0"/>
              </a:p>
              <a:p>
                <a:pPr lvl="1"/>
                <a:r>
                  <a:rPr lang="zh-CN" altLang="en-US" dirty="0"/>
                  <a:t>去掉动作效果中以负文字出现的</a:t>
                </a:r>
                <a:r>
                  <a:rPr lang="zh-CN" altLang="en-US" u="sng" dirty="0">
                    <a:solidFill>
                      <a:srgbClr val="0070C0"/>
                    </a:solidFill>
                  </a:rPr>
                  <a:t>流</a:t>
                </a:r>
                <a:r>
                  <a:rPr lang="en-US" altLang="zh-CN" dirty="0"/>
                  <a:t>(</a:t>
                </a:r>
                <a:r>
                  <a:rPr lang="zh-CN" altLang="en-US" dirty="0">
                    <a:solidFill>
                      <a:schemeClr val="accent1"/>
                    </a:solidFill>
                  </a:rPr>
                  <a:t>删除列表</a:t>
                </a:r>
                <a14:m>
                  <m:oMath xmlns:m="http://schemas.openxmlformats.org/officeDocument/2006/math">
                    <m:r>
                      <a:rPr lang="en-US" altLang="zh-CN" i="1" dirty="0" smtClean="0">
                        <a:solidFill>
                          <a:schemeClr val="accent1"/>
                        </a:solidFill>
                        <a:latin typeface="Cambria Math" panose="02040503050406030204" pitchFamily="18" charset="0"/>
                      </a:rPr>
                      <m:t>𝐷𝐸𝐿</m:t>
                    </m:r>
                    <m:r>
                      <a:rPr lang="en-US" altLang="zh-CN" i="1" dirty="0" smtClean="0">
                        <a:solidFill>
                          <a:schemeClr val="accent1"/>
                        </a:solidFill>
                        <a:latin typeface="Cambria Math" panose="02040503050406030204" pitchFamily="18" charset="0"/>
                      </a:rPr>
                      <m:t>(</m:t>
                    </m:r>
                    <m:r>
                      <a:rPr lang="en-US" altLang="zh-CN" i="1" dirty="0" smtClean="0">
                        <a:solidFill>
                          <a:schemeClr val="accent1"/>
                        </a:solidFill>
                        <a:latin typeface="Cambria Math" panose="02040503050406030204" pitchFamily="18" charset="0"/>
                      </a:rPr>
                      <m:t>𝑎</m:t>
                    </m:r>
                    <m:r>
                      <a:rPr lang="en-US" altLang="zh-CN" i="1" dirty="0" smtClean="0">
                        <a:solidFill>
                          <a:schemeClr val="accent1"/>
                        </a:solidFill>
                        <a:latin typeface="Cambria Math" panose="02040503050406030204" pitchFamily="18" charset="0"/>
                      </a:rPr>
                      <m:t>)</m:t>
                    </m:r>
                  </m:oMath>
                </a14:m>
                <a:r>
                  <a:rPr lang="en-US" altLang="zh-CN" dirty="0"/>
                  <a:t>)</a:t>
                </a:r>
              </a:p>
              <a:p>
                <a:pPr lvl="1"/>
                <a:r>
                  <a:rPr lang="zh-CN" altLang="en-US" dirty="0"/>
                  <a:t>增加动作效果中以正文字出现的</a:t>
                </a:r>
                <a:r>
                  <a:rPr lang="zh-CN" altLang="en-US" u="sng" dirty="0">
                    <a:solidFill>
                      <a:srgbClr val="C00000"/>
                    </a:solidFill>
                  </a:rPr>
                  <a:t>流</a:t>
                </a:r>
                <a:r>
                  <a:rPr lang="en-US" altLang="zh-CN" dirty="0"/>
                  <a:t>(</a:t>
                </a:r>
                <a:r>
                  <a:rPr lang="zh-CN" altLang="en-US" dirty="0">
                    <a:solidFill>
                      <a:srgbClr val="C00000"/>
                    </a:solidFill>
                  </a:rPr>
                  <a:t>增加列表</a:t>
                </a:r>
                <a14:m>
                  <m:oMath xmlns:m="http://schemas.openxmlformats.org/officeDocument/2006/math">
                    <m:r>
                      <a:rPr lang="en-US" altLang="zh-CN" i="1" dirty="0" smtClean="0">
                        <a:solidFill>
                          <a:srgbClr val="C00000"/>
                        </a:solidFill>
                        <a:latin typeface="Cambria Math" panose="02040503050406030204" pitchFamily="18" charset="0"/>
                      </a:rPr>
                      <m:t>𝐴𝐷𝐷</m:t>
                    </m:r>
                    <m:r>
                      <a:rPr lang="en-US" altLang="zh-CN" i="1" dirty="0" smtClean="0">
                        <a:solidFill>
                          <a:srgbClr val="C00000"/>
                        </a:solidFill>
                        <a:latin typeface="Cambria Math" panose="02040503050406030204" pitchFamily="18" charset="0"/>
                      </a:rPr>
                      <m:t>(</m:t>
                    </m:r>
                    <m:r>
                      <a:rPr lang="en-US" altLang="zh-CN" i="1" dirty="0" smtClean="0">
                        <a:solidFill>
                          <a:srgbClr val="C00000"/>
                        </a:solidFill>
                        <a:latin typeface="Cambria Math" panose="02040503050406030204" pitchFamily="18" charset="0"/>
                      </a:rPr>
                      <m:t>𝑎</m:t>
                    </m:r>
                    <m:r>
                      <a:rPr lang="en-US" altLang="zh-CN" i="1" dirty="0" smtClean="0">
                        <a:solidFill>
                          <a:srgbClr val="C00000"/>
                        </a:solidFill>
                        <a:latin typeface="Cambria Math" panose="02040503050406030204" pitchFamily="18" charset="0"/>
                      </a:rPr>
                      <m:t>)</m:t>
                    </m:r>
                  </m:oMath>
                </a14:m>
                <a:r>
                  <a:rPr lang="en-US" altLang="zh-CN" dirty="0"/>
                  <a:t>)</a:t>
                </a:r>
              </a:p>
              <a:p>
                <a:pPr marL="0" indent="0">
                  <a:buNone/>
                </a:pPr>
                <a14:m>
                  <m:oMathPara xmlns:m="http://schemas.openxmlformats.org/officeDocument/2006/math">
                    <m:oMathParaPr>
                      <m:jc m:val="center"/>
                    </m:oMathParaPr>
                    <m:oMath xmlns:m="http://schemas.openxmlformats.org/officeDocument/2006/math">
                      <m:r>
                        <a:rPr lang="en-US" altLang="zh-CN" sz="2800" i="1" dirty="0" smtClean="0">
                          <a:latin typeface="Cambria Math" panose="02040503050406030204" pitchFamily="18" charset="0"/>
                        </a:rPr>
                        <m:t>𝑠</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𝑅𝐸𝑆𝑈𝐿𝑇</m:t>
                      </m:r>
                      <m:r>
                        <a:rPr lang="en-US" altLang="zh-CN" sz="2800" i="1" dirty="0" smtClean="0">
                          <a:latin typeface="Cambria Math" panose="02040503050406030204" pitchFamily="18" charset="0"/>
                        </a:rPr>
                        <m:t>(</m:t>
                      </m:r>
                      <m:r>
                        <a:rPr lang="en-US" altLang="zh-CN" sz="2800" i="1" dirty="0" err="1">
                          <a:latin typeface="Cambria Math" panose="02040503050406030204" pitchFamily="18" charset="0"/>
                        </a:rPr>
                        <m:t>𝑠</m:t>
                      </m:r>
                      <m:r>
                        <a:rPr lang="en-US" altLang="zh-CN" sz="2800" i="1" dirty="0" err="1">
                          <a:latin typeface="Cambria Math" panose="02040503050406030204" pitchFamily="18" charset="0"/>
                        </a:rPr>
                        <m:t>,</m:t>
                      </m:r>
                      <m:r>
                        <a:rPr lang="en-US" altLang="zh-CN" sz="2800" i="1" dirty="0" err="1">
                          <a:latin typeface="Cambria Math" panose="02040503050406030204" pitchFamily="18" charset="0"/>
                        </a:rPr>
                        <m:t>𝑎</m:t>
                      </m:r>
                      <m:r>
                        <a:rPr lang="en-US" altLang="zh-CN" sz="2800" i="1" dirty="0" smtClean="0">
                          <a:latin typeface="Cambria Math" panose="02040503050406030204" pitchFamily="18" charset="0"/>
                        </a:rPr>
                        <m:t>) </m:t>
                      </m:r>
                      <m:r>
                        <a:rPr lang="en-US" altLang="zh-CN" sz="2800" i="1" dirty="0">
                          <a:latin typeface="Cambria Math" panose="02040503050406030204" pitchFamily="18" charset="0"/>
                        </a:rPr>
                        <m:t>= (</m:t>
                      </m:r>
                      <m:r>
                        <a:rPr lang="en-US" altLang="zh-CN" sz="2800" i="1" dirty="0">
                          <a:latin typeface="Cambria Math" panose="02040503050406030204" pitchFamily="18" charset="0"/>
                        </a:rPr>
                        <m:t>𝑠</m:t>
                      </m:r>
                      <m:r>
                        <a:rPr lang="en-US" altLang="zh-CN" sz="2800" i="1" dirty="0">
                          <a:latin typeface="Cambria Math" panose="02040503050406030204" pitchFamily="18" charset="0"/>
                        </a:rPr>
                        <m:t> –</m:t>
                      </m:r>
                      <m:r>
                        <a:rPr lang="en-US" altLang="zh-CN" sz="2800" i="1" dirty="0" smtClean="0">
                          <a:solidFill>
                            <a:schemeClr val="accent1"/>
                          </a:solidFill>
                          <a:latin typeface="Cambria Math" panose="02040503050406030204" pitchFamily="18" charset="0"/>
                        </a:rPr>
                        <m:t>𝐷𝐸𝐿</m:t>
                      </m:r>
                      <m:r>
                        <a:rPr lang="en-US" altLang="zh-CN" sz="2800" i="1" dirty="0" smtClean="0">
                          <a:solidFill>
                            <a:schemeClr val="accent1"/>
                          </a:solidFill>
                          <a:latin typeface="Cambria Math" panose="02040503050406030204" pitchFamily="18" charset="0"/>
                        </a:rPr>
                        <m:t>(</m:t>
                      </m:r>
                      <m:r>
                        <a:rPr lang="en-US" altLang="zh-CN" sz="2800" i="1" dirty="0" smtClean="0">
                          <a:solidFill>
                            <a:schemeClr val="accent1"/>
                          </a:solidFill>
                          <a:latin typeface="Cambria Math" panose="02040503050406030204" pitchFamily="18" charset="0"/>
                        </a:rPr>
                        <m:t>𝑎</m:t>
                      </m:r>
                      <m:r>
                        <a:rPr lang="en-US" altLang="zh-CN" sz="2800" i="1" dirty="0" smtClean="0">
                          <a:solidFill>
                            <a:schemeClr val="accent1"/>
                          </a:solidFill>
                          <a:latin typeface="Cambria Math" panose="02040503050406030204" pitchFamily="18" charset="0"/>
                        </a:rPr>
                        <m:t>))∪</m:t>
                      </m:r>
                      <m:r>
                        <a:rPr lang="en-US" altLang="zh-CN" sz="2800" i="1" dirty="0" smtClean="0">
                          <a:solidFill>
                            <a:srgbClr val="C00000"/>
                          </a:solidFill>
                          <a:latin typeface="Cambria Math" panose="02040503050406030204" pitchFamily="18" charset="0"/>
                        </a:rPr>
                        <m:t>𝐴𝐷𝐷</m:t>
                      </m:r>
                      <m:r>
                        <a:rPr lang="en-US" altLang="zh-CN" sz="2800" i="1" dirty="0" smtClean="0">
                          <a:solidFill>
                            <a:srgbClr val="C00000"/>
                          </a:solidFill>
                          <a:latin typeface="Cambria Math" panose="02040503050406030204" pitchFamily="18" charset="0"/>
                        </a:rPr>
                        <m:t>(</m:t>
                      </m:r>
                      <m:r>
                        <a:rPr lang="en-US" altLang="zh-CN" sz="2800" i="1" dirty="0" smtClean="0">
                          <a:solidFill>
                            <a:srgbClr val="C00000"/>
                          </a:solidFill>
                          <a:latin typeface="Cambria Math" panose="02040503050406030204" pitchFamily="18" charset="0"/>
                        </a:rPr>
                        <m:t>𝑎</m:t>
                      </m:r>
                      <m:r>
                        <a:rPr lang="en-US" altLang="zh-CN" sz="2800" i="1" dirty="0" smtClean="0">
                          <a:solidFill>
                            <a:srgbClr val="C00000"/>
                          </a:solidFill>
                          <a:latin typeface="Cambria Math" panose="02040503050406030204" pitchFamily="18" charset="0"/>
                        </a:rPr>
                        <m:t>)</m:t>
                      </m:r>
                    </m:oMath>
                  </m:oMathPara>
                </a14:m>
                <a:endParaRPr lang="en-US" altLang="zh-CN" sz="2800" dirty="0">
                  <a:solidFill>
                    <a:srgbClr val="C00000"/>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t="-1872" r="-132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pPr>
                <a:defRPr/>
              </a:pPr>
              <a:t>11</a:t>
            </a:fld>
            <a:endParaRPr lang="en-US" altLang="zh-CN"/>
          </a:p>
        </p:txBody>
      </p:sp>
    </p:spTree>
    <p:extLst>
      <p:ext uri="{BB962C8B-B14F-4D97-AF65-F5344CB8AC3E}">
        <p14:creationId xmlns:p14="http://schemas.microsoft.com/office/powerpoint/2010/main" val="166441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left)">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PDDL </a:t>
            </a:r>
            <a:r>
              <a:rPr lang="zh-CN" altLang="en-US" sz="4000" dirty="0"/>
              <a:t>：初始状态</a:t>
            </a:r>
            <a:endParaRPr lang="zh-CN" altLang="en-US" dirty="0"/>
          </a:p>
        </p:txBody>
      </p:sp>
      <p:sp>
        <p:nvSpPr>
          <p:cNvPr id="3" name="内容占位符 2"/>
          <p:cNvSpPr>
            <a:spLocks noGrp="1"/>
          </p:cNvSpPr>
          <p:nvPr>
            <p:ph idx="1"/>
          </p:nvPr>
        </p:nvSpPr>
        <p:spPr/>
        <p:txBody>
          <a:bodyPr/>
          <a:lstStyle/>
          <a:p>
            <a:r>
              <a:rPr lang="zh-CN" altLang="en-US" dirty="0"/>
              <a:t>一组动作模式定义了一个规划域</a:t>
            </a:r>
            <a:endParaRPr lang="en-US" altLang="zh-CN" dirty="0"/>
          </a:p>
          <a:p>
            <a:r>
              <a:rPr lang="zh-CN" altLang="en-US" dirty="0"/>
              <a:t>规划域中的具体问题：初始状态</a:t>
            </a:r>
            <a:r>
              <a:rPr lang="en-US" altLang="zh-CN" dirty="0"/>
              <a:t>+</a:t>
            </a:r>
            <a:r>
              <a:rPr lang="zh-CN" altLang="en-US" dirty="0"/>
              <a:t>目标</a:t>
            </a:r>
            <a:endParaRPr lang="en-US" altLang="zh-CN" dirty="0"/>
          </a:p>
          <a:p>
            <a:r>
              <a:rPr lang="zh-CN" altLang="en-US" dirty="0"/>
              <a:t>初始状态：基元原子的合取</a:t>
            </a:r>
            <a:endParaRPr lang="en-US" altLang="zh-CN" dirty="0"/>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pPr>
                <a:defRPr/>
              </a:pPr>
              <a:t>12</a:t>
            </a:fld>
            <a:endParaRPr lang="en-US" altLang="zh-CN"/>
          </a:p>
        </p:txBody>
      </p:sp>
      <p:sp>
        <p:nvSpPr>
          <p:cNvPr id="5" name="矩形 4"/>
          <p:cNvSpPr/>
          <p:nvPr/>
        </p:nvSpPr>
        <p:spPr>
          <a:xfrm>
            <a:off x="899592" y="3933056"/>
            <a:ext cx="6480720" cy="954107"/>
          </a:xfrm>
          <a:prstGeom prst="rect">
            <a:avLst/>
          </a:prstGeom>
        </p:spPr>
        <p:txBody>
          <a:bodyPr wrap="square">
            <a:spAutoFit/>
          </a:bodyPr>
          <a:lstStyle/>
          <a:p>
            <a:r>
              <a:rPr lang="zh-CN" altLang="en-US" sz="2800" dirty="0">
                <a:solidFill>
                  <a:srgbClr val="0070C0"/>
                </a:solidFill>
                <a:latin typeface="微软雅黑" panose="020B0503020204020204" pitchFamily="34" charset="-122"/>
              </a:rPr>
              <a:t>对于所有状态</a:t>
            </a:r>
            <a:r>
              <a:rPr lang="zh-CN" altLang="en-US" sz="2800" dirty="0">
                <a:latin typeface="微软雅黑" panose="020B0503020204020204" pitchFamily="34" charset="-122"/>
              </a:rPr>
              <a:t>，使用</a:t>
            </a:r>
            <a:r>
              <a:rPr lang="zh-CN" altLang="en-US" sz="2800" dirty="0">
                <a:solidFill>
                  <a:srgbClr val="C00000"/>
                </a:solidFill>
                <a:latin typeface="微软雅黑" panose="020B0503020204020204" pitchFamily="34" charset="-122"/>
              </a:rPr>
              <a:t>封闭世界假设</a:t>
            </a:r>
            <a:r>
              <a:rPr lang="zh-CN" altLang="en-US" sz="2800" dirty="0">
                <a:solidFill>
                  <a:srgbClr val="000000"/>
                </a:solidFill>
                <a:latin typeface="微软雅黑" panose="020B0503020204020204" pitchFamily="34" charset="-122"/>
              </a:rPr>
              <a:t>：任何没有提到的原子都是假的。</a:t>
            </a:r>
          </a:p>
        </p:txBody>
      </p:sp>
    </p:spTree>
    <p:extLst>
      <p:ext uri="{BB962C8B-B14F-4D97-AF65-F5344CB8AC3E}">
        <p14:creationId xmlns:p14="http://schemas.microsoft.com/office/powerpoint/2010/main" val="197349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PDDL </a:t>
            </a:r>
            <a:r>
              <a:rPr lang="zh-CN" altLang="en-US" dirty="0"/>
              <a:t>：目标</a:t>
            </a:r>
            <a:endParaRPr lang="zh-CN" altLang="en-US" sz="31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342900" lvl="1" indent="-342900"/>
                <a:r>
                  <a:rPr lang="zh-CN" altLang="en-US" sz="3200" dirty="0"/>
                  <a:t>目标</a:t>
                </a:r>
                <a:endParaRPr lang="en-US" altLang="zh-CN" sz="3200" dirty="0"/>
              </a:p>
              <a:p>
                <a:pPr marL="742950" lvl="2" indent="-342900"/>
                <a:r>
                  <a:rPr lang="zh-CN" altLang="en-US" sz="2800" dirty="0"/>
                  <a:t>含有变量的文字（</a:t>
                </a:r>
                <a:r>
                  <a:rPr lang="zh-CN" altLang="en-US" sz="2800" dirty="0">
                    <a:solidFill>
                      <a:srgbClr val="C00000"/>
                    </a:solidFill>
                  </a:rPr>
                  <a:t>正文字或负文字</a:t>
                </a:r>
                <a:r>
                  <a:rPr lang="zh-CN" altLang="en-US" sz="2800" dirty="0"/>
                  <a:t>）的合取</a:t>
                </a:r>
                <a:endParaRPr lang="en-US" altLang="zh-CN" sz="2800" dirty="0"/>
              </a:p>
              <a:p>
                <a:pPr marL="742950" lvl="2" indent="-342900"/>
                <a14:m>
                  <m:oMath xmlns:m="http://schemas.openxmlformats.org/officeDocument/2006/math">
                    <m:r>
                      <a:rPr lang="en-US" altLang="zh-CN" sz="2800" i="1" dirty="0">
                        <a:latin typeface="Cambria Math" panose="02040503050406030204" pitchFamily="18" charset="0"/>
                      </a:rPr>
                      <m:t>𝐴𝑡</m:t>
                    </m:r>
                    <m:r>
                      <a:rPr lang="en-US" altLang="zh-CN" sz="2800" i="1" dirty="0">
                        <a:latin typeface="Cambria Math" panose="02040503050406030204" pitchFamily="18" charset="0"/>
                      </a:rPr>
                      <m:t>(</m:t>
                    </m:r>
                    <m:r>
                      <a:rPr lang="en-US" altLang="zh-CN" sz="2800" i="1" dirty="0" err="1">
                        <a:latin typeface="Cambria Math" panose="02040503050406030204" pitchFamily="18" charset="0"/>
                      </a:rPr>
                      <m:t>𝑝</m:t>
                    </m:r>
                    <m:r>
                      <a:rPr lang="en-US" altLang="zh-CN" sz="2800" i="1" dirty="0" err="1">
                        <a:latin typeface="Cambria Math" panose="02040503050406030204" pitchFamily="18" charset="0"/>
                      </a:rPr>
                      <m:t>,</m:t>
                    </m:r>
                    <m:r>
                      <a:rPr lang="en-US" altLang="zh-CN" sz="2800" i="1" dirty="0" err="1">
                        <a:latin typeface="Cambria Math" panose="02040503050406030204" pitchFamily="18" charset="0"/>
                      </a:rPr>
                      <m:t>𝑆𝐹𝑂</m:t>
                    </m:r>
                    <m:r>
                      <a:rPr lang="en-US" altLang="zh-CN" sz="2800" i="1" dirty="0">
                        <a:latin typeface="Cambria Math" panose="02040503050406030204" pitchFamily="18" charset="0"/>
                      </a:rPr>
                      <m:t>)∧</m:t>
                    </m:r>
                    <m:r>
                      <a:rPr lang="en-US" altLang="zh-CN" sz="2800" i="1" dirty="0">
                        <a:latin typeface="Cambria Math" panose="02040503050406030204" pitchFamily="18" charset="0"/>
                      </a:rPr>
                      <m:t>𝑃𝑙𝑎𝑛𝑒</m:t>
                    </m:r>
                    <m:r>
                      <a:rPr lang="en-US" altLang="zh-CN" sz="2800" i="1" dirty="0">
                        <a:latin typeface="Cambria Math" panose="02040503050406030204" pitchFamily="18" charset="0"/>
                      </a:rPr>
                      <m:t>(</m:t>
                    </m:r>
                    <m:r>
                      <a:rPr lang="en-US" altLang="zh-CN" sz="2800" i="1" dirty="0">
                        <a:latin typeface="Cambria Math" panose="02040503050406030204" pitchFamily="18" charset="0"/>
                      </a:rPr>
                      <m:t>𝑝</m:t>
                    </m:r>
                    <m:r>
                      <a:rPr lang="en-US" altLang="zh-CN" sz="2800" i="1" dirty="0">
                        <a:latin typeface="Cambria Math" panose="02040503050406030204" pitchFamily="18" charset="0"/>
                      </a:rPr>
                      <m:t>)</m:t>
                    </m:r>
                  </m:oMath>
                </a14:m>
                <a:r>
                  <a:rPr lang="zh-CN" altLang="en-US" sz="2800" dirty="0"/>
                  <a:t>  </a:t>
                </a:r>
                <a:r>
                  <a:rPr lang="en-US" altLang="zh-CN" sz="2800" dirty="0">
                    <a:solidFill>
                      <a:srgbClr val="0070C0"/>
                    </a:solidFill>
                  </a:rPr>
                  <a:t>(</a:t>
                </a:r>
                <a:r>
                  <a:rPr lang="zh-CN" altLang="en-US" sz="2800" dirty="0">
                    <a:solidFill>
                      <a:srgbClr val="0070C0"/>
                    </a:solidFill>
                  </a:rPr>
                  <a:t>变量均为存在量化</a:t>
                </a:r>
                <a:r>
                  <a:rPr lang="en-US" altLang="zh-CN" sz="2800" dirty="0">
                    <a:solidFill>
                      <a:srgbClr val="0070C0"/>
                    </a:solidFill>
                  </a:rPr>
                  <a:t>)</a:t>
                </a:r>
                <a:endParaRPr lang="zh-CN" altLang="en-US" sz="2800" dirty="0">
                  <a:solidFill>
                    <a:srgbClr val="0070C0"/>
                  </a:solidFill>
                </a:endParaRPr>
              </a:p>
              <a:p>
                <a:r>
                  <a:rPr lang="zh-CN" altLang="en-US" dirty="0"/>
                  <a:t>目标测试：状态</a:t>
                </a:r>
                <a14:m>
                  <m:oMath xmlns:m="http://schemas.openxmlformats.org/officeDocument/2006/math">
                    <m:r>
                      <a:rPr lang="en-US" altLang="zh-CN" i="1" dirty="0" smtClean="0">
                        <a:latin typeface="Cambria Math" panose="02040503050406030204" pitchFamily="18" charset="0"/>
                      </a:rPr>
                      <m:t>𝑠</m:t>
                    </m:r>
                  </m:oMath>
                </a14:m>
                <a:r>
                  <a:rPr lang="zh-CN" altLang="en-US" dirty="0"/>
                  <a:t>是否蕴涵了目标</a:t>
                </a:r>
                <a:endParaRPr lang="en-US" altLang="zh-CN" dirty="0"/>
              </a:p>
              <a:p>
                <a:pPr lvl="1"/>
                <a14:m>
                  <m:oMath xmlns:m="http://schemas.openxmlformats.org/officeDocument/2006/math">
                    <m:r>
                      <a:rPr lang="en-US" altLang="zh-CN" i="1" dirty="0" smtClean="0">
                        <a:latin typeface="Cambria Math" panose="02040503050406030204" pitchFamily="18" charset="0"/>
                      </a:rPr>
                      <m:t>𝑃𝑙𝑎𝑛𝑒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𝑃𝑙𝑎𝑛𝑒</m:t>
                    </m:r>
                    <m:r>
                      <a:rPr lang="en-US" altLang="zh-CN" i="1" baseline="-25000" dirty="0" smtClean="0">
                        <a:latin typeface="Cambria Math" panose="02040503050406030204" pitchFamily="18" charset="0"/>
                      </a:rPr>
                      <m:t>1</m:t>
                    </m:r>
                    <m:r>
                      <a:rPr lang="en-US" altLang="zh-CN" i="1" dirty="0">
                        <a:latin typeface="Cambria Math" panose="02040503050406030204" pitchFamily="18" charset="0"/>
                      </a:rPr>
                      <m:t>)∧</m:t>
                    </m:r>
                    <m:r>
                      <a:rPr lang="en-US" altLang="zh-CN" i="1" dirty="0">
                        <a:latin typeface="Cambria Math" panose="02040503050406030204" pitchFamily="18" charset="0"/>
                      </a:rPr>
                      <m:t>𝐴𝑡</m:t>
                    </m:r>
                    <m:r>
                      <a:rPr lang="en-US" altLang="zh-CN" i="1" dirty="0">
                        <a:latin typeface="Cambria Math" panose="02040503050406030204" pitchFamily="18" charset="0"/>
                      </a:rPr>
                      <m:t>(</m:t>
                    </m:r>
                    <m:r>
                      <a:rPr lang="en-US" altLang="zh-CN" i="1" dirty="0">
                        <a:latin typeface="Cambria Math" panose="02040503050406030204" pitchFamily="18" charset="0"/>
                      </a:rPr>
                      <m:t>𝑃𝑙𝑎𝑛𝑒</m:t>
                    </m:r>
                    <m:r>
                      <a:rPr lang="en-US" altLang="zh-CN" i="1" baseline="-25000" dirty="0">
                        <a:latin typeface="Cambria Math" panose="02040503050406030204" pitchFamily="18" charset="0"/>
                      </a:rPr>
                      <m:t>1</m:t>
                    </m:r>
                    <m:r>
                      <a:rPr lang="en-US" altLang="zh-CN" i="1" dirty="0">
                        <a:latin typeface="Cambria Math" panose="02040503050406030204" pitchFamily="18" charset="0"/>
                      </a:rPr>
                      <m:t>,</m:t>
                    </m:r>
                    <m:r>
                      <a:rPr lang="en-US" altLang="zh-CN" i="1" dirty="0">
                        <a:latin typeface="Cambria Math" panose="02040503050406030204" pitchFamily="18" charset="0"/>
                      </a:rPr>
                      <m:t>𝑆𝐹𝑂</m:t>
                    </m:r>
                    <m:r>
                      <a:rPr lang="en-US" altLang="zh-CN" i="1" dirty="0" smtClean="0">
                        <a:latin typeface="Cambria Math" panose="02040503050406030204" pitchFamily="18" charset="0"/>
                      </a:rPr>
                      <m:t>)</m:t>
                    </m:r>
                  </m:oMath>
                </a14:m>
                <a:r>
                  <a:rPr lang="zh-CN" altLang="en-US" dirty="0"/>
                  <a:t>蕴含了</a:t>
                </a:r>
                <a14:m>
                  <m:oMath xmlns:m="http://schemas.openxmlformats.org/officeDocument/2006/math">
                    <m:r>
                      <a:rPr lang="en-US" altLang="zh-CN" i="1" dirty="0" smtClean="0">
                        <a:latin typeface="Cambria Math" panose="02040503050406030204" pitchFamily="18" charset="0"/>
                      </a:rPr>
                      <m:t>𝐴𝑡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𝑝</m:t>
                    </m:r>
                    <m:r>
                      <a:rPr lang="en-US" altLang="zh-CN" i="1" dirty="0">
                        <a:latin typeface="Cambria Math" panose="02040503050406030204" pitchFamily="18" charset="0"/>
                      </a:rPr>
                      <m:t>, </m:t>
                    </m:r>
                    <m:r>
                      <a:rPr lang="en-US" altLang="zh-CN" i="1" dirty="0">
                        <a:latin typeface="Cambria Math" panose="02040503050406030204" pitchFamily="18" charset="0"/>
                      </a:rPr>
                      <m:t>𝑆𝐹𝑂</m:t>
                    </m:r>
                    <m:r>
                      <a:rPr lang="en-US" altLang="zh-CN" i="1" dirty="0">
                        <a:latin typeface="Cambria Math" panose="02040503050406030204" pitchFamily="18" charset="0"/>
                      </a:rPr>
                      <m:t>)∧</m:t>
                    </m:r>
                    <m:r>
                      <a:rPr lang="en-US" altLang="zh-CN" i="1" dirty="0">
                        <a:latin typeface="Cambria Math" panose="02040503050406030204" pitchFamily="18" charset="0"/>
                      </a:rPr>
                      <m:t>𝑃𝑙𝑎𝑛𝑒</m:t>
                    </m:r>
                    <m:r>
                      <a:rPr lang="en-US" altLang="zh-CN" i="1" dirty="0">
                        <a:latin typeface="Cambria Math" panose="02040503050406030204" pitchFamily="18" charset="0"/>
                      </a:rPr>
                      <m:t>(</m:t>
                    </m:r>
                    <m:r>
                      <a:rPr lang="en-US" altLang="zh-CN" i="1" dirty="0">
                        <a:latin typeface="Cambria Math" panose="02040503050406030204" pitchFamily="18" charset="0"/>
                      </a:rPr>
                      <m:t>𝑝</m:t>
                    </m:r>
                    <m:r>
                      <a:rPr lang="en-US" altLang="zh-CN" i="1" dirty="0">
                        <a:latin typeface="Cambria Math" panose="02040503050406030204" pitchFamily="18" charset="0"/>
                      </a:rPr>
                      <m:t>)</m:t>
                    </m:r>
                  </m:oMath>
                </a14:m>
                <a:endParaRPr lang="en-US" altLang="zh-CN" dirty="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1165" t="-173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pPr>
                <a:defRPr/>
              </a:pPr>
              <a:t>13</a:t>
            </a:fld>
            <a:endParaRPr lang="en-US" altLang="zh-CN"/>
          </a:p>
        </p:txBody>
      </p:sp>
    </p:spTree>
    <p:extLst>
      <p:ext uri="{BB962C8B-B14F-4D97-AF65-F5344CB8AC3E}">
        <p14:creationId xmlns:p14="http://schemas.microsoft.com/office/powerpoint/2010/main" val="3692050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PDDL</a:t>
            </a:r>
            <a:r>
              <a:rPr lang="zh-CN" altLang="en-US" dirty="0"/>
              <a:t>描述规划问题</a:t>
            </a: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pPr>
                <a:defRPr/>
              </a:pPr>
              <a:t>14</a:t>
            </a:fld>
            <a:endParaRPr lang="en-US" altLang="zh-CN"/>
          </a:p>
        </p:txBody>
      </p:sp>
      <mc:AlternateContent xmlns:mc="http://schemas.openxmlformats.org/markup-compatibility/2006" xmlns:a14="http://schemas.microsoft.com/office/drawing/2010/main">
        <mc:Choice Requires="a14">
          <p:graphicFrame>
            <p:nvGraphicFramePr>
              <p:cNvPr id="9" name="表格 8"/>
              <p:cNvGraphicFramePr>
                <a:graphicFrameLocks noGrp="1"/>
              </p:cNvGraphicFramePr>
              <p:nvPr>
                <p:extLst>
                  <p:ext uri="{D42A27DB-BD31-4B8C-83A1-F6EECF244321}">
                    <p14:modId xmlns:p14="http://schemas.microsoft.com/office/powerpoint/2010/main" val="3239521014"/>
                  </p:ext>
                </p:extLst>
              </p:nvPr>
            </p:nvGraphicFramePr>
            <p:xfrm>
              <a:off x="51543" y="1257136"/>
              <a:ext cx="9092455" cy="4297680"/>
            </p:xfrm>
            <a:graphic>
              <a:graphicData uri="http://schemas.openxmlformats.org/drawingml/2006/table">
                <a:tbl>
                  <a:tblPr bandRow="1">
                    <a:tableStyleId>{5C22544A-7EE6-4342-B048-85BDC9FD1C3A}</a:tableStyleId>
                  </a:tblPr>
                  <a:tblGrid>
                    <a:gridCol w="1606466">
                      <a:extLst>
                        <a:ext uri="{9D8B030D-6E8A-4147-A177-3AD203B41FA5}">
                          <a16:colId xmlns:a16="http://schemas.microsoft.com/office/drawing/2014/main" val="20000"/>
                        </a:ext>
                      </a:extLst>
                    </a:gridCol>
                    <a:gridCol w="3999889">
                      <a:extLst>
                        <a:ext uri="{9D8B030D-6E8A-4147-A177-3AD203B41FA5}">
                          <a16:colId xmlns:a16="http://schemas.microsoft.com/office/drawing/2014/main" val="20001"/>
                        </a:ext>
                      </a:extLst>
                    </a:gridCol>
                    <a:gridCol w="3486100">
                      <a:extLst>
                        <a:ext uri="{9D8B030D-6E8A-4147-A177-3AD203B41FA5}">
                          <a16:colId xmlns:a16="http://schemas.microsoft.com/office/drawing/2014/main" val="20002"/>
                        </a:ext>
                      </a:extLst>
                    </a:gridCol>
                  </a:tblGrid>
                  <a:tr h="388885">
                    <a:tc>
                      <a:txBody>
                        <a:bodyPr/>
                        <a:lstStyle/>
                        <a:p>
                          <a:r>
                            <a:rPr lang="zh-CN" altLang="zh-CN" sz="2400" dirty="0"/>
                            <a:t>初始状态</a:t>
                          </a:r>
                          <a:endParaRPr lang="en-US" altLang="zh-CN" sz="2400" dirty="0"/>
                        </a:p>
                        <a:p>
                          <a:r>
                            <a:rPr lang="en-US" altLang="zh-CN" sz="2000" dirty="0"/>
                            <a:t>(Initial State)</a:t>
                          </a:r>
                          <a:endParaRPr lang="zh-CN" altLang="en-US" sz="2000" dirty="0"/>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2400" b="0" i="0" dirty="0">
                              <a:latin typeface="+mn-lt"/>
                            </a:rPr>
                            <a:t>状态集合</a:t>
                          </a:r>
                          <a14:m>
                            <m:oMath xmlns:m="http://schemas.openxmlformats.org/officeDocument/2006/math">
                              <m:r>
                                <a:rPr lang="en-US" altLang="zh-CN" sz="2400" b="0" i="1" smtClean="0">
                                  <a:latin typeface="Cambria Math" panose="02040503050406030204" pitchFamily="18" charset="0"/>
                                </a:rPr>
                                <m:t>𝑆</m:t>
                              </m:r>
                            </m:oMath>
                          </a14:m>
                          <a:endParaRPr lang="en-US" altLang="zh-CN" sz="2400" dirty="0"/>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2000" dirty="0"/>
                        </a:p>
                      </a:txBody>
                      <a:tcPr anchor="ctr"/>
                    </a:tc>
                    <a:extLst>
                      <a:ext uri="{0D108BD9-81ED-4DB2-BD59-A6C34878D82A}">
                        <a16:rowId xmlns:a16="http://schemas.microsoft.com/office/drawing/2014/main" val="10000"/>
                      </a:ext>
                    </a:extLst>
                  </a:tr>
                  <a:tr h="419996">
                    <a:tc>
                      <a:txBody>
                        <a:bodyPr/>
                        <a:lstStyle/>
                        <a:p>
                          <a:r>
                            <a:rPr lang="zh-CN" altLang="zh-CN" sz="2400" dirty="0"/>
                            <a:t>行动</a:t>
                          </a:r>
                          <a:endParaRPr lang="en-US" altLang="zh-CN" sz="2400" dirty="0"/>
                        </a:p>
                        <a:p>
                          <a:r>
                            <a:rPr lang="en-US" altLang="zh-CN" sz="2000" dirty="0"/>
                            <a:t>(Actions)</a:t>
                          </a:r>
                          <a:endParaRPr lang="zh-CN" altLang="en-US" sz="2000" dirty="0"/>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2400" dirty="0"/>
                            <a:t>函数</a:t>
                          </a:r>
                          <a14:m>
                            <m:oMath xmlns:m="http://schemas.openxmlformats.org/officeDocument/2006/math">
                              <m:r>
                                <a:rPr lang="en-US" altLang="zh-CN" sz="2400" b="0" i="1" dirty="0" smtClean="0">
                                  <a:latin typeface="Cambria Math" panose="02040503050406030204" pitchFamily="18" charset="0"/>
                                </a:rPr>
                                <m:t>𝐴𝐶𝑇𝐼𝑂𝑁</m:t>
                              </m:r>
                              <m:d>
                                <m:dPr>
                                  <m:ctrlPr>
                                    <a:rPr lang="en-US" altLang="zh-CN" sz="2400" i="1" dirty="0" smtClean="0">
                                      <a:latin typeface="Cambria Math" panose="02040503050406030204" pitchFamily="18" charset="0"/>
                                    </a:rPr>
                                  </m:ctrlPr>
                                </m:dPr>
                                <m:e>
                                  <m:r>
                                    <a:rPr lang="en-US" altLang="zh-CN" sz="2400" i="1" dirty="0" smtClean="0">
                                      <a:latin typeface="Cambria Math" panose="02040503050406030204" pitchFamily="18" charset="0"/>
                                    </a:rPr>
                                    <m:t>𝑠</m:t>
                                  </m:r>
                                </m:e>
                              </m:d>
                            </m:oMath>
                          </a14:m>
                          <a:r>
                            <a:rPr lang="en-US" altLang="zh-CN" sz="2400" dirty="0"/>
                            <a:t>:</a:t>
                          </a:r>
                          <a:r>
                            <a:rPr lang="zh-CN" altLang="en-US" sz="2400" dirty="0"/>
                            <a:t>在状态</a:t>
                          </a:r>
                          <a14:m>
                            <m:oMath xmlns:m="http://schemas.openxmlformats.org/officeDocument/2006/math">
                              <m:r>
                                <a:rPr lang="en-US" altLang="zh-CN" sz="2400" i="1" dirty="0" smtClean="0">
                                  <a:latin typeface="Cambria Math" panose="02040503050406030204" pitchFamily="18" charset="0"/>
                                </a:rPr>
                                <m:t>𝑠</m:t>
                              </m:r>
                            </m:oMath>
                          </a14:m>
                          <a:r>
                            <a:rPr lang="zh-CN" altLang="en-US" sz="2400" dirty="0"/>
                            <a:t>下可执行的动作集合</a:t>
                          </a:r>
                        </a:p>
                      </a:txBody>
                      <a:tcPr anchor="ctr"/>
                    </a:tc>
                    <a:tc>
                      <a:txBody>
                        <a:bodyPr/>
                        <a:lstStyle/>
                        <a:p>
                          <a:pPr lvl="0"/>
                          <a:endParaRPr lang="en-US" altLang="zh-CN" sz="2000" dirty="0"/>
                        </a:p>
                      </a:txBody>
                      <a:tcPr anchor="ctr"/>
                    </a:tc>
                    <a:extLst>
                      <a:ext uri="{0D108BD9-81ED-4DB2-BD59-A6C34878D82A}">
                        <a16:rowId xmlns:a16="http://schemas.microsoft.com/office/drawing/2014/main" val="10001"/>
                      </a:ext>
                    </a:extLst>
                  </a:tr>
                  <a:tr h="60666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zh-CN" sz="2400" dirty="0"/>
                            <a:t>转移模型</a:t>
                          </a:r>
                          <a:r>
                            <a:rPr lang="en-US" altLang="zh-CN" sz="2000" dirty="0"/>
                            <a:t>(Transition Model)</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2400" dirty="0"/>
                            <a:t>函数</a:t>
                          </a:r>
                          <a14:m>
                            <m:oMath xmlns:m="http://schemas.openxmlformats.org/officeDocument/2006/math">
                              <m:r>
                                <a:rPr lang="en-US" altLang="zh-CN" sz="2400" i="1" smtClean="0">
                                  <a:latin typeface="Cambria Math" panose="02040503050406030204" pitchFamily="18" charset="0"/>
                                </a:rPr>
                                <m:t>𝑅𝐸𝑆𝑈𝐿𝑇</m:t>
                              </m:r>
                              <m:d>
                                <m:dPr>
                                  <m:ctrlPr>
                                    <a:rPr lang="en-US" altLang="zh-CN" sz="2400" i="1" smtClean="0">
                                      <a:latin typeface="Cambria Math" panose="02040503050406030204" pitchFamily="18" charset="0"/>
                                    </a:rPr>
                                  </m:ctrlPr>
                                </m:dPr>
                                <m:e>
                                  <m:r>
                                    <a:rPr lang="en-US" altLang="zh-CN" sz="2400" b="0" i="1" smtClean="0">
                                      <a:latin typeface="Cambria Math" panose="02040503050406030204" pitchFamily="18" charset="0"/>
                                    </a:rPr>
                                    <m:t>𝑠</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𝑎</m:t>
                                  </m:r>
                                </m:e>
                              </m:d>
                              <m:r>
                                <a:rPr lang="en-US" altLang="zh-CN" sz="2400" b="0" i="1" smtClean="0">
                                  <a:latin typeface="Cambria Math" panose="02040503050406030204" pitchFamily="18" charset="0"/>
                                </a:rPr>
                                <m:t>:</m:t>
                              </m:r>
                            </m:oMath>
                          </a14:m>
                          <a:r>
                            <a:rPr lang="zh-CN" altLang="en-US" sz="2400" dirty="0"/>
                            <a:t>在状态</a:t>
                          </a:r>
                          <a14:m>
                            <m:oMath xmlns:m="http://schemas.openxmlformats.org/officeDocument/2006/math">
                              <m:r>
                                <a:rPr lang="en-US" altLang="zh-CN" sz="2400" i="1" dirty="0" smtClean="0">
                                  <a:latin typeface="Cambria Math" panose="02040503050406030204" pitchFamily="18" charset="0"/>
                                </a:rPr>
                                <m:t>𝑠</m:t>
                              </m:r>
                            </m:oMath>
                          </a14:m>
                          <a:r>
                            <a:rPr lang="zh-CN" altLang="en-US" sz="2400" dirty="0"/>
                            <a:t>下执行行动</a:t>
                          </a:r>
                          <a14:m>
                            <m:oMath xmlns:m="http://schemas.openxmlformats.org/officeDocument/2006/math">
                              <m:r>
                                <a:rPr lang="en-US" altLang="zh-CN" sz="2400" i="1" dirty="0" smtClean="0">
                                  <a:latin typeface="Cambria Math" panose="02040503050406030204" pitchFamily="18" charset="0"/>
                                </a:rPr>
                                <m:t>𝑎</m:t>
                              </m:r>
                            </m:oMath>
                          </a14:m>
                          <a:r>
                            <a:rPr lang="zh-CN" altLang="en-US" sz="2400" dirty="0"/>
                            <a:t>后到达的状态</a:t>
                          </a:r>
                          <a:endParaRPr lang="en-US" altLang="zh-CN" sz="2400" dirty="0"/>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2000" dirty="0"/>
                        </a:p>
                      </a:txBody>
                      <a:tcPr anchor="ctr"/>
                    </a:tc>
                    <a:extLst>
                      <a:ext uri="{0D108BD9-81ED-4DB2-BD59-A6C34878D82A}">
                        <a16:rowId xmlns:a16="http://schemas.microsoft.com/office/drawing/2014/main" val="10002"/>
                      </a:ext>
                    </a:extLst>
                  </a:tr>
                  <a:tr h="41999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zh-CN" sz="2400" dirty="0"/>
                            <a:t>目标测试</a:t>
                          </a:r>
                          <a:endParaRPr lang="en-US" altLang="zh-CN" sz="24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000" dirty="0"/>
                            <a:t>(Goal Test)</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2400" dirty="0"/>
                            <a:t>确定给定的状态是不是目标状态</a:t>
                          </a:r>
                          <a:endParaRPr lang="en-US" altLang="zh-CN" sz="2400" dirty="0"/>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2000" dirty="0"/>
                        </a:p>
                      </a:txBody>
                      <a:tcPr anchor="ctr"/>
                    </a:tc>
                    <a:extLst>
                      <a:ext uri="{0D108BD9-81ED-4DB2-BD59-A6C34878D82A}">
                        <a16:rowId xmlns:a16="http://schemas.microsoft.com/office/drawing/2014/main" val="10003"/>
                      </a:ext>
                    </a:extLst>
                  </a:tr>
                  <a:tr h="60666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zh-CN" sz="2400" dirty="0"/>
                            <a:t>路径</a:t>
                          </a:r>
                          <a:r>
                            <a:rPr lang="zh-CN" altLang="en-US" sz="2400" dirty="0"/>
                            <a:t>代价</a:t>
                          </a:r>
                          <a:endParaRPr lang="en-US" altLang="zh-CN" sz="24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000" dirty="0"/>
                            <a:t>(Path Cost)</a:t>
                          </a:r>
                          <a:endParaRPr lang="zh-CN" altLang="en-US" sz="2000" b="1" dirty="0"/>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2400" i="1" dirty="0" smtClean="0">
                                  <a:latin typeface="Cambria Math" panose="02040503050406030204" pitchFamily="18" charset="0"/>
                                </a:rPr>
                                <m:t>𝑐</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𝑠</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𝑎</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𝑠</m:t>
                              </m:r>
                              <m:r>
                                <a:rPr lang="en-US" altLang="zh-CN" sz="2400" i="1" dirty="0" smtClean="0">
                                  <a:latin typeface="Cambria Math" panose="02040503050406030204" pitchFamily="18" charset="0"/>
                                </a:rPr>
                                <m:t>’)</m:t>
                              </m:r>
                            </m:oMath>
                          </a14:m>
                          <a:r>
                            <a:rPr lang="zh-CN" altLang="en-US" sz="2400" dirty="0"/>
                            <a:t>：采用行动</a:t>
                          </a:r>
                          <a14:m>
                            <m:oMath xmlns:m="http://schemas.openxmlformats.org/officeDocument/2006/math">
                              <m:r>
                                <a:rPr lang="en-US" altLang="zh-CN" sz="2400" i="1" dirty="0" smtClean="0">
                                  <a:latin typeface="Cambria Math" panose="02040503050406030204" pitchFamily="18" charset="0"/>
                                </a:rPr>
                                <m:t>𝑎</m:t>
                              </m:r>
                            </m:oMath>
                          </a14:m>
                          <a:r>
                            <a:rPr lang="zh-CN" altLang="en-US" sz="2400" dirty="0"/>
                            <a:t>从状态</a:t>
                          </a:r>
                          <a14:m>
                            <m:oMath xmlns:m="http://schemas.openxmlformats.org/officeDocument/2006/math">
                              <m:r>
                                <a:rPr lang="en-US" altLang="zh-CN" sz="2400" i="1" dirty="0" smtClean="0">
                                  <a:latin typeface="Cambria Math" panose="02040503050406030204" pitchFamily="18" charset="0"/>
                                </a:rPr>
                                <m:t>𝑠</m:t>
                              </m:r>
                            </m:oMath>
                          </a14:m>
                          <a:r>
                            <a:rPr lang="zh-CN" altLang="en-US" sz="2400" dirty="0"/>
                            <a:t>到状态</a:t>
                          </a:r>
                          <a14:m>
                            <m:oMath xmlns:m="http://schemas.openxmlformats.org/officeDocument/2006/math">
                              <m:r>
                                <a:rPr lang="en-US" altLang="zh-CN" sz="2400" i="1" dirty="0" smtClean="0">
                                  <a:latin typeface="Cambria Math" panose="02040503050406030204" pitchFamily="18" charset="0"/>
                                </a:rPr>
                                <m:t>𝑠</m:t>
                              </m:r>
                              <m:r>
                                <a:rPr lang="en-US" altLang="zh-CN" sz="2400" i="1" dirty="0" smtClean="0">
                                  <a:latin typeface="Cambria Math" panose="02040503050406030204" pitchFamily="18" charset="0"/>
                                </a:rPr>
                                <m:t>’</m:t>
                              </m:r>
                            </m:oMath>
                          </a14:m>
                          <a:r>
                            <a:rPr lang="zh-CN" altLang="en-US" sz="2400" dirty="0"/>
                            <a:t>所需单步代价</a:t>
                          </a:r>
                          <a:endParaRPr lang="en-US" altLang="zh-CN" sz="2400" dirty="0"/>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2000" dirty="0"/>
                        </a:p>
                      </a:txBody>
                      <a:tcPr anchor="ctr"/>
                    </a:tc>
                    <a:extLst>
                      <a:ext uri="{0D108BD9-81ED-4DB2-BD59-A6C34878D82A}">
                        <a16:rowId xmlns:a16="http://schemas.microsoft.com/office/drawing/2014/main" val="10004"/>
                      </a:ext>
                    </a:extLst>
                  </a:tr>
                </a:tbl>
              </a:graphicData>
            </a:graphic>
          </p:graphicFrame>
        </mc:Choice>
        <mc:Fallback xmlns="">
          <p:graphicFrame>
            <p:nvGraphicFramePr>
              <p:cNvPr id="9" name="表格 8"/>
              <p:cNvGraphicFramePr>
                <a:graphicFrameLocks noGrp="1"/>
              </p:cNvGraphicFramePr>
              <p:nvPr>
                <p:extLst>
                  <p:ext uri="{D42A27DB-BD31-4B8C-83A1-F6EECF244321}">
                    <p14:modId xmlns:p14="http://schemas.microsoft.com/office/powerpoint/2010/main" val="3239521014"/>
                  </p:ext>
                </p:extLst>
              </p:nvPr>
            </p:nvGraphicFramePr>
            <p:xfrm>
              <a:off x="51543" y="1257136"/>
              <a:ext cx="9092455" cy="4297680"/>
            </p:xfrm>
            <a:graphic>
              <a:graphicData uri="http://schemas.openxmlformats.org/drawingml/2006/table">
                <a:tbl>
                  <a:tblPr bandRow="1">
                    <a:tableStyleId>{5C22544A-7EE6-4342-B048-85BDC9FD1C3A}</a:tableStyleId>
                  </a:tblPr>
                  <a:tblGrid>
                    <a:gridCol w="1606466"/>
                    <a:gridCol w="3999889"/>
                    <a:gridCol w="3486100"/>
                  </a:tblGrid>
                  <a:tr h="762000">
                    <a:tc>
                      <a:txBody>
                        <a:bodyPr/>
                        <a:lstStyle/>
                        <a:p>
                          <a:r>
                            <a:rPr lang="zh-CN" altLang="zh-CN" sz="2400" dirty="0" smtClean="0"/>
                            <a:t>初始状态</a:t>
                          </a:r>
                          <a:endParaRPr lang="en-US" altLang="zh-CN" sz="2400" dirty="0" smtClean="0"/>
                        </a:p>
                        <a:p>
                          <a:r>
                            <a:rPr lang="en-US" altLang="zh-CN" sz="2000" dirty="0" smtClean="0"/>
                            <a:t>(Initial State)</a:t>
                          </a:r>
                          <a:endParaRPr lang="zh-CN" altLang="en-US" sz="2000" dirty="0"/>
                        </a:p>
                      </a:txBody>
                      <a:tcPr anchor="ctr"/>
                    </a:tc>
                    <a:tc>
                      <a:txBody>
                        <a:bodyPr/>
                        <a:lstStyle/>
                        <a:p>
                          <a:endParaRPr lang="zh-CN"/>
                        </a:p>
                      </a:txBody>
                      <a:tcPr anchor="ctr">
                        <a:blipFill rotWithShape="0">
                          <a:blip r:embed="rId3"/>
                          <a:stretch>
                            <a:fillRect l="-40396" t="-6400" r="-87652" b="-482400"/>
                          </a:stretch>
                        </a:blip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2000" dirty="0" smtClean="0"/>
                        </a:p>
                      </a:txBody>
                      <a:tcPr anchor="ctr"/>
                    </a:tc>
                  </a:tr>
                  <a:tr h="822960">
                    <a:tc>
                      <a:txBody>
                        <a:bodyPr/>
                        <a:lstStyle/>
                        <a:p>
                          <a:r>
                            <a:rPr lang="zh-CN" altLang="zh-CN" sz="2400" dirty="0" smtClean="0"/>
                            <a:t>行动</a:t>
                          </a:r>
                          <a:endParaRPr lang="en-US" altLang="zh-CN" sz="2400" dirty="0" smtClean="0"/>
                        </a:p>
                        <a:p>
                          <a:r>
                            <a:rPr lang="en-US" altLang="zh-CN" sz="2000" dirty="0" smtClean="0"/>
                            <a:t>(Actions)</a:t>
                          </a:r>
                          <a:endParaRPr lang="zh-CN" altLang="en-US" sz="2000" dirty="0"/>
                        </a:p>
                      </a:txBody>
                      <a:tcPr anchor="ctr"/>
                    </a:tc>
                    <a:tc>
                      <a:txBody>
                        <a:bodyPr/>
                        <a:lstStyle/>
                        <a:p>
                          <a:endParaRPr lang="zh-CN"/>
                        </a:p>
                      </a:txBody>
                      <a:tcPr anchor="ctr">
                        <a:blipFill rotWithShape="0">
                          <a:blip r:embed="rId3"/>
                          <a:stretch>
                            <a:fillRect l="-40396" t="-98519" r="-87652" b="-346667"/>
                          </a:stretch>
                        </a:blipFill>
                      </a:tcPr>
                    </a:tc>
                    <a:tc>
                      <a:txBody>
                        <a:bodyPr/>
                        <a:lstStyle/>
                        <a:p>
                          <a:pPr lvl="0"/>
                          <a:endParaRPr lang="en-US" altLang="zh-CN" sz="2000" dirty="0" smtClean="0"/>
                        </a:p>
                      </a:txBody>
                      <a:tcPr anchor="ctr"/>
                    </a:tc>
                  </a:tr>
                  <a:tr h="10668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zh-CN" sz="2400" dirty="0" smtClean="0"/>
                            <a:t>转移模型</a:t>
                          </a:r>
                          <a:r>
                            <a:rPr lang="en-US" altLang="zh-CN" sz="2000" dirty="0" smtClean="0"/>
                            <a:t>(Transition Model)</a:t>
                          </a:r>
                        </a:p>
                      </a:txBody>
                      <a:tcPr anchor="ctr"/>
                    </a:tc>
                    <a:tc>
                      <a:txBody>
                        <a:bodyPr/>
                        <a:lstStyle/>
                        <a:p>
                          <a:endParaRPr lang="zh-CN"/>
                        </a:p>
                      </a:txBody>
                      <a:tcPr anchor="ctr">
                        <a:blipFill rotWithShape="0">
                          <a:blip r:embed="rId3"/>
                          <a:stretch>
                            <a:fillRect l="-40396" t="-152273" r="-87652" b="-165909"/>
                          </a:stretch>
                        </a:blip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2000" dirty="0" smtClean="0"/>
                        </a:p>
                      </a:txBody>
                      <a:tcPr anchor="ctr"/>
                    </a:tc>
                  </a:tr>
                  <a:tr h="82296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zh-CN" sz="2400" dirty="0" smtClean="0"/>
                            <a:t>目标测试</a:t>
                          </a:r>
                          <a:endParaRPr lang="en-US" altLang="zh-CN" sz="2400" dirty="0" smtClean="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000" dirty="0" smtClean="0"/>
                            <a:t>(Goal Test)</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2400" dirty="0" smtClean="0"/>
                            <a:t>确定给定的状态是不是目标状态</a:t>
                          </a:r>
                          <a:endParaRPr lang="en-US" altLang="zh-CN" sz="2400" dirty="0" smtClean="0"/>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2000" dirty="0" smtClean="0"/>
                        </a:p>
                      </a:txBody>
                      <a:tcPr anchor="ctr"/>
                    </a:tc>
                  </a:tr>
                  <a:tr h="82296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zh-CN" sz="2400" dirty="0" smtClean="0"/>
                            <a:t>路径</a:t>
                          </a:r>
                          <a:r>
                            <a:rPr lang="zh-CN" altLang="en-US" sz="2400" dirty="0" smtClean="0"/>
                            <a:t>代价</a:t>
                          </a:r>
                          <a:endParaRPr lang="en-US" altLang="zh-CN" sz="2400" dirty="0" smtClean="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000" dirty="0" smtClean="0"/>
                            <a:t>(Path Cost)</a:t>
                          </a:r>
                          <a:endParaRPr lang="zh-CN" altLang="en-US" sz="2000" b="1" dirty="0" smtClean="0"/>
                        </a:p>
                      </a:txBody>
                      <a:tcPr anchor="ctr"/>
                    </a:tc>
                    <a:tc>
                      <a:txBody>
                        <a:bodyPr/>
                        <a:lstStyle/>
                        <a:p>
                          <a:endParaRPr lang="zh-CN"/>
                        </a:p>
                      </a:txBody>
                      <a:tcPr anchor="ctr">
                        <a:blipFill rotWithShape="0">
                          <a:blip r:embed="rId3"/>
                          <a:stretch>
                            <a:fillRect l="-40396" t="-428889" r="-87652" b="-16296"/>
                          </a:stretch>
                        </a:blip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2000" dirty="0"/>
                        </a:p>
                      </a:txBody>
                      <a:tcPr anchor="ctr"/>
                    </a:tc>
                  </a:tr>
                </a:tbl>
              </a:graphicData>
            </a:graphic>
          </p:graphicFrame>
        </mc:Fallback>
      </mc:AlternateContent>
      <mc:AlternateContent xmlns:mc="http://schemas.openxmlformats.org/markup-compatibility/2006" xmlns:a14="http://schemas.microsoft.com/office/drawing/2010/main">
        <mc:Choice Requires="a14">
          <p:sp>
            <p:nvSpPr>
              <p:cNvPr id="3" name="文本框 2"/>
              <p:cNvSpPr txBox="1"/>
              <p:nvPr/>
            </p:nvSpPr>
            <p:spPr>
              <a:xfrm>
                <a:off x="5580111" y="1381165"/>
                <a:ext cx="2424061" cy="462306"/>
              </a:xfrm>
              <a:prstGeom prst="rect">
                <a:avLst/>
              </a:prstGeom>
              <a:noFill/>
            </p:spPr>
            <p:txBody>
              <a:bodyPr wrap="none" rtlCol="0">
                <a:spAutoFit/>
              </a:bodyPr>
              <a:lstStyle/>
              <a:p>
                <a:pPr lvl="0" defTabSz="4572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m:rPr>
                          <m:nor/>
                        </m:rPr>
                        <a:rPr lang="zh-CN" altLang="en-US" sz="2400" dirty="0"/>
                        <m:t>基元原子的合取</m:t>
                      </m:r>
                    </m:oMath>
                  </m:oMathPara>
                </a14:m>
                <a:endParaRPr lang="en-US" altLang="zh-CN" sz="2400" dirty="0">
                  <a:solidFill>
                    <a:prstClr val="black"/>
                  </a:solidFill>
                  <a:latin typeface="Arial"/>
                  <a:ea typeface="微软雅黑"/>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5580111" y="1381165"/>
                <a:ext cx="2424061" cy="462306"/>
              </a:xfrm>
              <a:prstGeom prst="rect">
                <a:avLst/>
              </a:prstGeom>
              <a:blipFill rotWithShape="0">
                <a:blip r:embed="rId4"/>
                <a:stretch>
                  <a:fillRect l="-251" r="-251" b="-17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5580111" y="2075329"/>
                <a:ext cx="3168353" cy="831061"/>
              </a:xfrm>
              <a:prstGeom prst="rect">
                <a:avLst/>
              </a:prstGeom>
              <a:noFill/>
            </p:spPr>
            <p:txBody>
              <a:bodyPr wrap="square" rtlCol="0">
                <a:spAutoFit/>
              </a:bodyPr>
              <a:lstStyle/>
              <a:p>
                <a:pPr marL="0" indent="0">
                  <a:buNone/>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m:t>
                      </m:r>
                      <m:r>
                        <a:rPr lang="en-US" altLang="zh-CN" sz="2400" i="1" dirty="0" err="1">
                          <a:latin typeface="Cambria Math" panose="02040503050406030204" pitchFamily="18" charset="0"/>
                        </a:rPr>
                        <m:t>𝑎</m:t>
                      </m:r>
                      <m:r>
                        <a:rPr lang="en-US" altLang="zh-CN" sz="2400" i="1" dirty="0" err="1">
                          <a:latin typeface="Cambria Math" panose="02040503050406030204" pitchFamily="18" charset="0"/>
                        </a:rPr>
                        <m:t>∈</m:t>
                      </m:r>
                      <m:r>
                        <a:rPr lang="en-US" altLang="zh-CN" sz="2400" i="1" dirty="0" err="1">
                          <a:latin typeface="Cambria Math" panose="02040503050406030204" pitchFamily="18" charset="0"/>
                        </a:rPr>
                        <m:t>𝐴𝐶𝑇𝐼𝑂𝑁𝑆</m:t>
                      </m:r>
                      <m:r>
                        <a:rPr lang="en-US" altLang="zh-CN" sz="2400" i="1" dirty="0">
                          <a:latin typeface="Cambria Math" panose="02040503050406030204" pitchFamily="18" charset="0"/>
                        </a:rPr>
                        <m:t>(</m:t>
                      </m:r>
                      <m:r>
                        <a:rPr lang="en-US" altLang="zh-CN" sz="2400" i="1" dirty="0">
                          <a:latin typeface="Cambria Math" panose="02040503050406030204" pitchFamily="18" charset="0"/>
                        </a:rPr>
                        <m:t>𝑠</m:t>
                      </m:r>
                      <m:r>
                        <a:rPr lang="en-US" altLang="zh-CN" sz="2400" i="1" dirty="0">
                          <a:latin typeface="Cambria Math" panose="02040503050406030204" pitchFamily="18" charset="0"/>
                        </a:rPr>
                        <m:t>)) ⇔ </m:t>
                      </m:r>
                      <m:r>
                        <a:rPr lang="en-US" altLang="zh-CN" sz="2400" i="1" dirty="0">
                          <a:latin typeface="Cambria Math" panose="02040503050406030204" pitchFamily="18" charset="0"/>
                        </a:rPr>
                        <m:t>𝑠</m:t>
                      </m:r>
                      <m:r>
                        <a:rPr lang="zh-CN" altLang="en-US" sz="2400" i="1" dirty="0">
                          <a:latin typeface="Cambria Math" panose="02040503050406030204" pitchFamily="18" charset="0"/>
                        </a:rPr>
                        <m:t> ╞ </m:t>
                      </m:r>
                      <m:r>
                        <a:rPr lang="en-US" altLang="zh-CN" sz="2400" i="1" dirty="0">
                          <a:latin typeface="Cambria Math" panose="02040503050406030204" pitchFamily="18" charset="0"/>
                        </a:rPr>
                        <m:t>𝑃𝑅𝐸𝐶𝑂𝑁𝐷</m:t>
                      </m:r>
                      <m:r>
                        <a:rPr lang="en-US" altLang="zh-CN" sz="2400" i="1" dirty="0">
                          <a:latin typeface="Cambria Math" panose="02040503050406030204" pitchFamily="18" charset="0"/>
                        </a:rPr>
                        <m:t>(</m:t>
                      </m:r>
                      <m:r>
                        <a:rPr lang="en-US" altLang="zh-CN" sz="2400" i="1" dirty="0">
                          <a:latin typeface="Cambria Math" panose="02040503050406030204" pitchFamily="18" charset="0"/>
                        </a:rPr>
                        <m:t>𝑎</m:t>
                      </m:r>
                      <m:r>
                        <a:rPr lang="en-US" altLang="zh-CN" sz="2400" i="1" dirty="0">
                          <a:latin typeface="Cambria Math" panose="02040503050406030204" pitchFamily="18" charset="0"/>
                        </a:rPr>
                        <m:t>)</m:t>
                      </m:r>
                    </m:oMath>
                  </m:oMathPara>
                </a14:m>
                <a:endParaRPr lang="en-US" altLang="zh-CN" sz="24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580111" y="2075329"/>
                <a:ext cx="3168353" cy="831061"/>
              </a:xfrm>
              <a:prstGeom prst="rect">
                <a:avLst/>
              </a:prstGeom>
              <a:blipFill rotWithShape="0">
                <a:blip r:embed="rId5"/>
                <a:stretch>
                  <a:fillRect r="-192" b="-102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5580111" y="3041082"/>
                <a:ext cx="3672409" cy="822469"/>
              </a:xfrm>
              <a:prstGeom prst="rect">
                <a:avLst/>
              </a:prstGeom>
              <a:noFill/>
            </p:spPr>
            <p:txBody>
              <a:bodyPr wrap="square" rtlCol="0">
                <a:spAutoFit/>
              </a:bodyPr>
              <a:lstStyle/>
              <a:p>
                <a:pPr marL="0" indent="0">
                  <a:buNone/>
                </a:pPr>
                <a14:m>
                  <m:oMathPara xmlns:m="http://schemas.openxmlformats.org/officeDocument/2006/math">
                    <m:oMathParaPr>
                      <m:jc m:val="center"/>
                    </m:oMathParaPr>
                    <m:oMath xmlns:m="http://schemas.openxmlformats.org/officeDocument/2006/math">
                      <m:r>
                        <a:rPr lang="en-US" altLang="zh-CN" sz="2400" i="1" dirty="0" smtClean="0">
                          <a:latin typeface="Cambria Math" panose="02040503050406030204" pitchFamily="18" charset="0"/>
                        </a:rPr>
                        <m:t>𝑅𝐸𝑆𝑈𝐿𝑇</m:t>
                      </m:r>
                      <m:d>
                        <m:dPr>
                          <m:ctrlPr>
                            <a:rPr lang="en-US" altLang="zh-CN" sz="2400" i="1" dirty="0" smtClean="0">
                              <a:latin typeface="Cambria Math" panose="02040503050406030204" pitchFamily="18" charset="0"/>
                            </a:rPr>
                          </m:ctrlPr>
                        </m:dPr>
                        <m:e>
                          <m:r>
                            <a:rPr lang="en-US" altLang="zh-CN" sz="2400" i="1" dirty="0" err="1">
                              <a:latin typeface="Cambria Math" panose="02040503050406030204" pitchFamily="18" charset="0"/>
                            </a:rPr>
                            <m:t>𝑠</m:t>
                          </m:r>
                          <m:r>
                            <a:rPr lang="en-US" altLang="zh-CN" sz="2400" i="1" dirty="0" err="1">
                              <a:latin typeface="Cambria Math" panose="02040503050406030204" pitchFamily="18" charset="0"/>
                            </a:rPr>
                            <m:t>,</m:t>
                          </m:r>
                          <m:r>
                            <a:rPr lang="en-US" altLang="zh-CN" sz="2400" i="1" dirty="0" err="1">
                              <a:latin typeface="Cambria Math" panose="02040503050406030204" pitchFamily="18" charset="0"/>
                            </a:rPr>
                            <m:t>𝑎</m:t>
                          </m:r>
                        </m:e>
                      </m:d>
                      <m:r>
                        <a:rPr lang="en-US" altLang="zh-CN" sz="2400" b="0" i="1" dirty="0" smtClean="0">
                          <a:latin typeface="Cambria Math" panose="02040503050406030204" pitchFamily="18" charset="0"/>
                        </a:rPr>
                        <m:t>=</m:t>
                      </m:r>
                      <m:r>
                        <a:rPr lang="en-US" altLang="zh-CN" sz="2400" i="1" dirty="0">
                          <a:latin typeface="Cambria Math" panose="02040503050406030204" pitchFamily="18" charset="0"/>
                        </a:rPr>
                        <m:t>(</m:t>
                      </m:r>
                      <m:r>
                        <a:rPr lang="en-US" altLang="zh-CN" sz="2400" i="1" dirty="0">
                          <a:latin typeface="Cambria Math" panose="02040503050406030204" pitchFamily="18" charset="0"/>
                        </a:rPr>
                        <m:t>𝑠</m:t>
                      </m:r>
                      <m:r>
                        <a:rPr lang="en-US" altLang="zh-CN" sz="2400" i="1" dirty="0">
                          <a:latin typeface="Cambria Math" panose="02040503050406030204" pitchFamily="18" charset="0"/>
                        </a:rPr>
                        <m:t> –</m:t>
                      </m:r>
                      <m:r>
                        <a:rPr lang="en-US" altLang="zh-CN" sz="2400" i="1" dirty="0">
                          <a:latin typeface="Cambria Math" panose="02040503050406030204" pitchFamily="18" charset="0"/>
                        </a:rPr>
                        <m:t>𝐷𝐸𝐿</m:t>
                      </m:r>
                      <m:r>
                        <a:rPr lang="en-US" altLang="zh-CN" sz="2400" i="1" dirty="0">
                          <a:latin typeface="Cambria Math" panose="02040503050406030204" pitchFamily="18" charset="0"/>
                        </a:rPr>
                        <m:t>(</m:t>
                      </m:r>
                      <m:r>
                        <a:rPr lang="en-US" altLang="zh-CN" sz="2400" i="1" dirty="0">
                          <a:latin typeface="Cambria Math" panose="02040503050406030204" pitchFamily="18" charset="0"/>
                        </a:rPr>
                        <m:t>𝑎</m:t>
                      </m:r>
                      <m:r>
                        <a:rPr lang="en-US" altLang="zh-CN" sz="2400" i="1" dirty="0">
                          <a:latin typeface="Cambria Math" panose="02040503050406030204" pitchFamily="18" charset="0"/>
                        </a:rPr>
                        <m:t>))∪</m:t>
                      </m:r>
                      <m:r>
                        <a:rPr lang="en-US" altLang="zh-CN" sz="2400" i="1" dirty="0">
                          <a:latin typeface="Cambria Math" panose="02040503050406030204" pitchFamily="18" charset="0"/>
                        </a:rPr>
                        <m:t>𝐴𝐷𝐷</m:t>
                      </m:r>
                      <m:r>
                        <a:rPr lang="en-US" altLang="zh-CN" sz="2400" i="1" dirty="0">
                          <a:latin typeface="Cambria Math" panose="02040503050406030204" pitchFamily="18" charset="0"/>
                        </a:rPr>
                        <m:t>(</m:t>
                      </m:r>
                      <m:r>
                        <a:rPr lang="en-US" altLang="zh-CN" sz="2400" i="1" dirty="0">
                          <a:latin typeface="Cambria Math" panose="02040503050406030204" pitchFamily="18" charset="0"/>
                        </a:rPr>
                        <m:t>𝑎</m:t>
                      </m:r>
                      <m:r>
                        <a:rPr lang="en-US" altLang="zh-CN" sz="2400" i="1" dirty="0">
                          <a:latin typeface="Cambria Math" panose="02040503050406030204" pitchFamily="18" charset="0"/>
                        </a:rPr>
                        <m:t>)</m:t>
                      </m:r>
                    </m:oMath>
                  </m:oMathPara>
                </a14:m>
                <a:endParaRPr lang="en-US" altLang="zh-CN" sz="2400" dirty="0"/>
              </a:p>
            </p:txBody>
          </p:sp>
        </mc:Choice>
        <mc:Fallback xmlns="">
          <p:sp>
            <p:nvSpPr>
              <p:cNvPr id="6" name="文本框 5"/>
              <p:cNvSpPr txBox="1">
                <a:spLocks noRot="1" noChangeAspect="1" noMove="1" noResize="1" noEditPoints="1" noAdjustHandles="1" noChangeArrowheads="1" noChangeShapeType="1" noTextEdit="1"/>
              </p:cNvSpPr>
              <p:nvPr/>
            </p:nvSpPr>
            <p:spPr>
              <a:xfrm>
                <a:off x="5580111" y="3041082"/>
                <a:ext cx="3672409" cy="822469"/>
              </a:xfrm>
              <a:prstGeom prst="rect">
                <a:avLst/>
              </a:prstGeom>
              <a:blipFill rotWithShape="0">
                <a:blip r:embed="rId6"/>
                <a:stretch>
                  <a:fillRect b="-10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5580111" y="4161693"/>
                <a:ext cx="3039615" cy="4619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zh-CN" altLang="en-US" sz="2400" dirty="0"/>
                        <m:t>状态是否蕴涵了目标</m:t>
                      </m:r>
                    </m:oMath>
                  </m:oMathPara>
                </a14:m>
                <a:endParaRPr lang="en-US" altLang="zh-CN"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5580111" y="4161693"/>
                <a:ext cx="3039615" cy="461986"/>
              </a:xfrm>
              <a:prstGeom prst="rect">
                <a:avLst/>
              </a:prstGeom>
              <a:blipFill rotWithShape="0">
                <a:blip r:embed="rId7"/>
                <a:stretch>
                  <a:fillRect l="-200" b="-17333"/>
                </a:stretch>
              </a:blipFill>
            </p:spPr>
            <p:txBody>
              <a:bodyPr/>
              <a:lstStyle/>
              <a:p>
                <a:r>
                  <a:rPr lang="zh-CN" altLang="en-US">
                    <a:noFill/>
                  </a:rPr>
                  <a:t> </a:t>
                </a:r>
              </a:p>
            </p:txBody>
          </p:sp>
        </mc:Fallback>
      </mc:AlternateContent>
      <p:sp>
        <p:nvSpPr>
          <p:cNvPr id="8" name="文本框 7"/>
          <p:cNvSpPr txBox="1"/>
          <p:nvPr/>
        </p:nvSpPr>
        <p:spPr>
          <a:xfrm>
            <a:off x="5622590" y="4966436"/>
            <a:ext cx="2339102" cy="461665"/>
          </a:xfrm>
          <a:prstGeom prst="rect">
            <a:avLst/>
          </a:prstGeom>
          <a:noFill/>
        </p:spPr>
        <p:txBody>
          <a:bodyPr wrap="none" rtlCol="0">
            <a:spAutoFit/>
          </a:bodyPr>
          <a:lstStyle/>
          <a:p>
            <a:r>
              <a:rPr lang="zh-CN" altLang="en-US" sz="2400" dirty="0"/>
              <a:t>每个动作的代价</a:t>
            </a:r>
            <a:endParaRPr lang="en-US" altLang="zh-CN" sz="2400" dirty="0"/>
          </a:p>
        </p:txBody>
      </p:sp>
      <p:sp>
        <p:nvSpPr>
          <p:cNvPr id="11" name="内容占位符 10"/>
          <p:cNvSpPr>
            <a:spLocks noGrp="1"/>
          </p:cNvSpPr>
          <p:nvPr>
            <p:ph idx="1"/>
          </p:nvPr>
        </p:nvSpPr>
        <p:spPr>
          <a:xfrm>
            <a:off x="1275667" y="5759613"/>
            <a:ext cx="6140649" cy="979878"/>
          </a:xfrm>
        </p:spPr>
        <p:style>
          <a:lnRef idx="2">
            <a:schemeClr val="accent1"/>
          </a:lnRef>
          <a:fillRef idx="1">
            <a:schemeClr val="lt1"/>
          </a:fillRef>
          <a:effectRef idx="0">
            <a:schemeClr val="accent1"/>
          </a:effectRef>
          <a:fontRef idx="minor">
            <a:schemeClr val="dk1"/>
          </a:fontRef>
        </p:style>
        <p:txBody>
          <a:bodyPr/>
          <a:lstStyle/>
          <a:p>
            <a:r>
              <a:rPr lang="zh-CN" altLang="en-US" sz="2800" dirty="0">
                <a:solidFill>
                  <a:schemeClr val="tx1"/>
                </a:solidFill>
              </a:rPr>
              <a:t>问题的解</a:t>
            </a:r>
            <a:endParaRPr lang="en-US" altLang="zh-CN" sz="2800" dirty="0">
              <a:solidFill>
                <a:schemeClr val="tx1"/>
              </a:solidFill>
            </a:endParaRPr>
          </a:p>
          <a:p>
            <a:pPr lvl="1"/>
            <a:r>
              <a:rPr lang="zh-CN" altLang="zh-CN" sz="2400" dirty="0"/>
              <a:t>从初始状态到目标状态的一组行动序列</a:t>
            </a:r>
            <a:endParaRPr lang="en-US" altLang="zh-CN" sz="2400" dirty="0">
              <a:solidFill>
                <a:schemeClr val="tx1"/>
              </a:solidFill>
            </a:endParaRPr>
          </a:p>
        </p:txBody>
      </p:sp>
    </p:spTree>
    <p:extLst>
      <p:ext uri="{BB962C8B-B14F-4D97-AF65-F5344CB8AC3E}">
        <p14:creationId xmlns:p14="http://schemas.microsoft.com/office/powerpoint/2010/main" val="41229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bg/>
                                          </p:spTgt>
                                        </p:tgtEl>
                                        <p:attrNameLst>
                                          <p:attrName>style.visibility</p:attrName>
                                        </p:attrNameLst>
                                      </p:cBhvr>
                                      <p:to>
                                        <p:strVal val="visible"/>
                                      </p:to>
                                    </p:set>
                                    <p:animEffect transition="in" filter="wipe(down)">
                                      <p:cBhvr>
                                        <p:cTn id="32" dur="500"/>
                                        <p:tgtEl>
                                          <p:spTgt spid="11">
                                            <p:bg/>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wipe(down)">
                                      <p:cBhvr>
                                        <p:cTn id="37" dur="500"/>
                                        <p:tgtEl>
                                          <p:spTgt spid="11">
                                            <p:txEl>
                                              <p:pRg st="0" end="0"/>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1">
                                            <p:txEl>
                                              <p:pRg st="1" end="1"/>
                                            </p:txEl>
                                          </p:spTgt>
                                        </p:tgtEl>
                                        <p:attrNameLst>
                                          <p:attrName>style.visibility</p:attrName>
                                        </p:attrNameLst>
                                      </p:cBhvr>
                                      <p:to>
                                        <p:strVal val="visible"/>
                                      </p:to>
                                    </p:set>
                                    <p:animEffect transition="in" filter="wipe(down)">
                                      <p:cBhvr>
                                        <p:cTn id="40"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11"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a:xfrm>
            <a:off x="323215" y="1344930"/>
            <a:ext cx="8377555" cy="5274945"/>
          </a:xfrm>
        </p:spPr>
        <p:txBody>
          <a:bodyPr/>
          <a:lstStyle/>
          <a:p>
            <a:r>
              <a:rPr lang="en-US" altLang="zh-CN" sz="2400" dirty="0"/>
              <a:t>10</a:t>
            </a:r>
            <a:r>
              <a:rPr lang="zh-CN" altLang="en-US" sz="2400" dirty="0"/>
              <a:t>.2</a:t>
            </a:r>
          </a:p>
          <a:p>
            <a:pPr marL="0" indent="0">
              <a:buNone/>
            </a:pPr>
            <a:r>
              <a:rPr lang="zh-CN" altLang="en-US" sz="2400" dirty="0"/>
              <a:t>给定图</a:t>
            </a:r>
            <a:r>
              <a:rPr lang="en-US" altLang="zh-CN" sz="2400" dirty="0"/>
              <a:t>10.1</a:t>
            </a:r>
            <a:r>
              <a:rPr lang="zh-CN" altLang="en-US" sz="2400" dirty="0"/>
              <a:t>的动作模式和初始状态，被</a:t>
            </a:r>
            <a:endParaRPr lang="en-US" altLang="zh-CN" sz="2400" dirty="0"/>
          </a:p>
          <a:p>
            <a:pPr marL="0" indent="0">
              <a:buNone/>
            </a:pPr>
            <a:r>
              <a:rPr lang="en-US" altLang="zh-CN" sz="2400" dirty="0">
                <a:sym typeface="+mn-ea"/>
              </a:rPr>
              <a:t>At(P1, JFK) ∧ At(P2,SFO) ∧ Plane(P1) ∧ Plane(P2)</a:t>
            </a:r>
          </a:p>
          <a:p>
            <a:pPr marL="0" indent="0">
              <a:buNone/>
            </a:pPr>
            <a:r>
              <a:rPr lang="en-US" altLang="zh-CN" sz="2400" dirty="0">
                <a:sym typeface="+mn-ea"/>
              </a:rPr>
              <a:t>	 ∧ Airport(JFK) ∧ Airport(SFO)</a:t>
            </a:r>
          </a:p>
          <a:p>
            <a:pPr marL="0" indent="0">
              <a:buNone/>
            </a:pPr>
            <a:r>
              <a:rPr lang="zh-CN" altLang="en-US" sz="2400" dirty="0">
                <a:sym typeface="+mn-ea"/>
              </a:rPr>
              <a:t>描述的状态中，</a:t>
            </a:r>
            <a:r>
              <a:rPr lang="en-US" altLang="zh-CN" sz="2400" dirty="0">
                <a:sym typeface="+mn-ea"/>
              </a:rPr>
              <a:t>Fly(p ,from ,to)</a:t>
            </a:r>
            <a:r>
              <a:rPr lang="zh-CN" altLang="en-US" sz="2400" dirty="0">
                <a:sym typeface="+mn-ea"/>
              </a:rPr>
              <a:t>的所有可用具体实例是什么？</a:t>
            </a:r>
            <a:endParaRPr lang="en-US" altLang="zh-CN" sz="2400" dirty="0">
              <a:sym typeface="+mn-ea"/>
            </a:endParaRPr>
          </a:p>
          <a:p>
            <a:pPr marL="0" indent="0">
              <a:buNone/>
            </a:pPr>
            <a:r>
              <a:rPr lang="zh-CN" altLang="en-US" sz="2400" dirty="0">
                <a:solidFill>
                  <a:srgbClr val="FF0000"/>
                </a:solidFill>
                <a:sym typeface="+mn-ea"/>
              </a:rPr>
              <a:t>（</a:t>
            </a:r>
            <a:r>
              <a:rPr lang="en-US" altLang="zh-CN" sz="2400" dirty="0">
                <a:solidFill>
                  <a:srgbClr val="FF0000"/>
                </a:solidFill>
                <a:sym typeface="+mn-ea"/>
              </a:rPr>
              <a:t>25</a:t>
            </a:r>
            <a:r>
              <a:rPr lang="zh-CN" altLang="en-US" sz="2400" dirty="0">
                <a:solidFill>
                  <a:srgbClr val="FF0000"/>
                </a:solidFill>
                <a:sym typeface="+mn-ea"/>
              </a:rPr>
              <a:t>分）</a:t>
            </a:r>
            <a:endParaRPr lang="en-US" altLang="zh-CN" sz="2400" dirty="0">
              <a:solidFill>
                <a:srgbClr val="FF0000"/>
              </a:solidFill>
              <a:sym typeface="+mn-ea"/>
            </a:endParaRP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t>15</a:t>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pPr>
                <a:defRPr/>
              </a:pPr>
              <a:t>16</a:t>
            </a:fld>
            <a:endParaRPr lang="en-US" altLang="zh-CN"/>
          </a:p>
        </p:txBody>
      </p:sp>
      <mc:AlternateContent xmlns:mc="http://schemas.openxmlformats.org/markup-compatibility/2006" xmlns:a14="http://schemas.microsoft.com/office/drawing/2010/main">
        <mc:Choice Requires="a14">
          <p:sp>
            <p:nvSpPr>
              <p:cNvPr id="8" name="矩形 7"/>
              <p:cNvSpPr/>
              <p:nvPr/>
            </p:nvSpPr>
            <p:spPr>
              <a:xfrm>
                <a:off x="1145631" y="5563556"/>
                <a:ext cx="6697860" cy="86177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7030A0"/>
                          </a:solidFill>
                          <a:latin typeface="Cambria Math" panose="02040503050406030204" pitchFamily="18" charset="0"/>
                          <a:cs typeface="Times New Roman" panose="02020603050405020304" pitchFamily="18" charset="0"/>
                        </a:rPr>
                        <m:t>[</m:t>
                      </m:r>
                      <m:r>
                        <a:rPr lang="en-US" altLang="zh-CN" b="1" i="1" dirty="0" smtClean="0">
                          <a:solidFill>
                            <a:srgbClr val="7030A0"/>
                          </a:solidFill>
                          <a:latin typeface="Cambria Math" panose="02040503050406030204" pitchFamily="18" charset="0"/>
                          <a:cs typeface="Times New Roman" panose="02020603050405020304" pitchFamily="18" charset="0"/>
                        </a:rPr>
                        <m:t>𝑳𝒐𝒂𝒅</m:t>
                      </m:r>
                      <m:r>
                        <a:rPr lang="en-US" altLang="zh-CN" b="1" i="1" dirty="0" smtClean="0">
                          <a:solidFill>
                            <a:srgbClr val="7030A0"/>
                          </a:solidFill>
                          <a:latin typeface="Cambria Math" panose="02040503050406030204" pitchFamily="18" charset="0"/>
                          <a:cs typeface="Times New Roman" panose="02020603050405020304" pitchFamily="18" charset="0"/>
                        </a:rPr>
                        <m:t> (</m:t>
                      </m:r>
                      <m:r>
                        <a:rPr lang="en-US" altLang="zh-CN" b="1" i="1" dirty="0" smtClean="0">
                          <a:solidFill>
                            <a:srgbClr val="7030A0"/>
                          </a:solidFill>
                          <a:latin typeface="Cambria Math" panose="02040503050406030204" pitchFamily="18" charset="0"/>
                          <a:cs typeface="Times New Roman" panose="02020603050405020304" pitchFamily="18" charset="0"/>
                        </a:rPr>
                        <m:t>𝑪</m:t>
                      </m:r>
                      <m:r>
                        <a:rPr lang="en-US" altLang="zh-CN" sz="1100" b="1" i="1" dirty="0">
                          <a:solidFill>
                            <a:srgbClr val="7030A0"/>
                          </a:solidFill>
                          <a:latin typeface="Cambria Math" panose="02040503050406030204" pitchFamily="18" charset="0"/>
                          <a:cs typeface="Times New Roman" panose="02020603050405020304" pitchFamily="18" charset="0"/>
                        </a:rPr>
                        <m:t>𝟏</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𝑷</m:t>
                      </m:r>
                      <m:r>
                        <a:rPr lang="en-US" altLang="zh-CN" sz="1100" b="1" i="1" dirty="0">
                          <a:solidFill>
                            <a:srgbClr val="7030A0"/>
                          </a:solidFill>
                          <a:latin typeface="Cambria Math" panose="02040503050406030204" pitchFamily="18" charset="0"/>
                          <a:cs typeface="Times New Roman" panose="02020603050405020304" pitchFamily="18" charset="0"/>
                        </a:rPr>
                        <m:t>𝟏</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𝑺𝑭𝑶</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𝑭𝒍𝒚</m:t>
                      </m:r>
                      <m:r>
                        <a:rPr lang="en-US" altLang="zh-CN" b="1" i="1" dirty="0">
                          <a:solidFill>
                            <a:srgbClr val="7030A0"/>
                          </a:solidFill>
                          <a:latin typeface="Cambria Math" panose="02040503050406030204" pitchFamily="18" charset="0"/>
                          <a:cs typeface="Times New Roman" panose="02020603050405020304" pitchFamily="18" charset="0"/>
                        </a:rPr>
                        <m:t>(</m:t>
                      </m:r>
                      <m:r>
                        <a:rPr lang="en-US" altLang="zh-CN" b="1" i="1" dirty="0">
                          <a:solidFill>
                            <a:srgbClr val="7030A0"/>
                          </a:solidFill>
                          <a:latin typeface="Cambria Math" panose="02040503050406030204" pitchFamily="18" charset="0"/>
                          <a:cs typeface="Times New Roman" panose="02020603050405020304" pitchFamily="18" charset="0"/>
                        </a:rPr>
                        <m:t>𝑷</m:t>
                      </m:r>
                      <m:r>
                        <a:rPr lang="en-US" altLang="zh-CN" sz="1100" b="1" i="1" dirty="0">
                          <a:solidFill>
                            <a:srgbClr val="7030A0"/>
                          </a:solidFill>
                          <a:latin typeface="Cambria Math" panose="02040503050406030204" pitchFamily="18" charset="0"/>
                          <a:cs typeface="Times New Roman" panose="02020603050405020304" pitchFamily="18" charset="0"/>
                        </a:rPr>
                        <m:t>𝟏</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𝑺𝑭𝑶</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𝑱𝑭𝑲</m:t>
                      </m:r>
                      <m:r>
                        <a:rPr lang="en-US" altLang="zh-CN" b="1" i="1" dirty="0">
                          <a:solidFill>
                            <a:srgbClr val="7030A0"/>
                          </a:solidFill>
                          <a:latin typeface="Cambria Math" panose="02040503050406030204" pitchFamily="18" charset="0"/>
                          <a:cs typeface="Times New Roman" panose="02020603050405020304" pitchFamily="18" charset="0"/>
                        </a:rPr>
                        <m:t>),</m:t>
                      </m:r>
                      <m:r>
                        <a:rPr lang="en-US" altLang="zh-CN" b="1" i="1" dirty="0">
                          <a:solidFill>
                            <a:srgbClr val="7030A0"/>
                          </a:solidFill>
                          <a:latin typeface="Cambria Math" panose="02040503050406030204" pitchFamily="18" charset="0"/>
                          <a:cs typeface="Times New Roman" panose="02020603050405020304" pitchFamily="18" charset="0"/>
                        </a:rPr>
                        <m:t>𝑼𝒏𝒍𝒐𝒂𝒅</m:t>
                      </m:r>
                      <m:r>
                        <a:rPr lang="en-US" altLang="zh-CN" b="1" i="1" dirty="0">
                          <a:solidFill>
                            <a:srgbClr val="7030A0"/>
                          </a:solidFill>
                          <a:latin typeface="Cambria Math" panose="02040503050406030204" pitchFamily="18" charset="0"/>
                          <a:cs typeface="Times New Roman" panose="02020603050405020304" pitchFamily="18" charset="0"/>
                        </a:rPr>
                        <m:t>(</m:t>
                      </m:r>
                      <m:r>
                        <a:rPr lang="en-US" altLang="zh-CN" b="1" i="1" dirty="0">
                          <a:solidFill>
                            <a:srgbClr val="7030A0"/>
                          </a:solidFill>
                          <a:latin typeface="Cambria Math" panose="02040503050406030204" pitchFamily="18" charset="0"/>
                          <a:cs typeface="Times New Roman" panose="02020603050405020304" pitchFamily="18" charset="0"/>
                        </a:rPr>
                        <m:t>𝑪</m:t>
                      </m:r>
                      <m:r>
                        <a:rPr lang="en-US" altLang="zh-CN" sz="1100" b="1" i="1" dirty="0">
                          <a:solidFill>
                            <a:srgbClr val="7030A0"/>
                          </a:solidFill>
                          <a:latin typeface="Cambria Math" panose="02040503050406030204" pitchFamily="18" charset="0"/>
                          <a:cs typeface="Times New Roman" panose="02020603050405020304" pitchFamily="18" charset="0"/>
                        </a:rPr>
                        <m:t>𝟏</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𝑷</m:t>
                      </m:r>
                      <m:r>
                        <a:rPr lang="en-US" altLang="zh-CN" sz="1100" b="1" i="1" dirty="0">
                          <a:solidFill>
                            <a:srgbClr val="7030A0"/>
                          </a:solidFill>
                          <a:latin typeface="Cambria Math" panose="02040503050406030204" pitchFamily="18" charset="0"/>
                          <a:cs typeface="Times New Roman" panose="02020603050405020304" pitchFamily="18" charset="0"/>
                        </a:rPr>
                        <m:t>𝟏</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𝑱𝑭𝑲</m:t>
                      </m:r>
                      <m:r>
                        <a:rPr lang="en-US" altLang="zh-CN" b="1" i="1" dirty="0" smtClean="0">
                          <a:solidFill>
                            <a:srgbClr val="7030A0"/>
                          </a:solidFill>
                          <a:latin typeface="Cambria Math" panose="02040503050406030204" pitchFamily="18" charset="0"/>
                          <a:cs typeface="Times New Roman" panose="02020603050405020304" pitchFamily="18" charset="0"/>
                        </a:rPr>
                        <m:t>),</m:t>
                      </m:r>
                    </m:oMath>
                  </m:oMathPara>
                </a14:m>
                <a:endParaRPr lang="en-US" altLang="zh-CN" b="1" i="1" dirty="0">
                  <a:solidFill>
                    <a:srgbClr val="7030A0"/>
                  </a:solidFill>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b="1" i="1" dirty="0" smtClean="0">
                          <a:solidFill>
                            <a:srgbClr val="7030A0"/>
                          </a:solidFill>
                          <a:latin typeface="Cambria Math" panose="02040503050406030204" pitchFamily="18" charset="0"/>
                          <a:cs typeface="Times New Roman" panose="02020603050405020304" pitchFamily="18" charset="0"/>
                        </a:rPr>
                        <m:t>𝑳𝒐𝒂𝒅</m:t>
                      </m:r>
                      <m:r>
                        <a:rPr lang="en-US" altLang="zh-CN" b="1" i="1" dirty="0" smtClean="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𝑪</m:t>
                      </m:r>
                      <m:r>
                        <a:rPr lang="en-US" altLang="zh-CN" sz="1100" b="1" i="1" dirty="0">
                          <a:solidFill>
                            <a:srgbClr val="7030A0"/>
                          </a:solidFill>
                          <a:latin typeface="Cambria Math" panose="02040503050406030204" pitchFamily="18" charset="0"/>
                          <a:cs typeface="Times New Roman" panose="02020603050405020304" pitchFamily="18" charset="0"/>
                        </a:rPr>
                        <m:t>𝟐</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𝑷</m:t>
                      </m:r>
                      <m:r>
                        <a:rPr lang="en-US" altLang="zh-CN" sz="1100" b="1" i="1" dirty="0">
                          <a:solidFill>
                            <a:srgbClr val="7030A0"/>
                          </a:solidFill>
                          <a:latin typeface="Cambria Math" panose="02040503050406030204" pitchFamily="18" charset="0"/>
                          <a:cs typeface="Times New Roman" panose="02020603050405020304" pitchFamily="18" charset="0"/>
                        </a:rPr>
                        <m:t>𝟐</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𝑱𝑭𝑲</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𝑭𝒍𝒚</m:t>
                      </m:r>
                      <m:r>
                        <a:rPr lang="en-US" altLang="zh-CN" b="1" i="1" dirty="0">
                          <a:solidFill>
                            <a:srgbClr val="7030A0"/>
                          </a:solidFill>
                          <a:latin typeface="Cambria Math" panose="02040503050406030204" pitchFamily="18" charset="0"/>
                          <a:cs typeface="Times New Roman" panose="02020603050405020304" pitchFamily="18" charset="0"/>
                        </a:rPr>
                        <m:t>(</m:t>
                      </m:r>
                      <m:r>
                        <a:rPr lang="en-US" altLang="zh-CN" b="1" i="1" dirty="0">
                          <a:solidFill>
                            <a:srgbClr val="7030A0"/>
                          </a:solidFill>
                          <a:latin typeface="Cambria Math" panose="02040503050406030204" pitchFamily="18" charset="0"/>
                          <a:cs typeface="Times New Roman" panose="02020603050405020304" pitchFamily="18" charset="0"/>
                        </a:rPr>
                        <m:t>𝑷</m:t>
                      </m:r>
                      <m:r>
                        <a:rPr lang="en-US" altLang="zh-CN" sz="1100" b="1" i="1" dirty="0">
                          <a:solidFill>
                            <a:srgbClr val="7030A0"/>
                          </a:solidFill>
                          <a:latin typeface="Cambria Math" panose="02040503050406030204" pitchFamily="18" charset="0"/>
                          <a:cs typeface="Times New Roman" panose="02020603050405020304" pitchFamily="18" charset="0"/>
                        </a:rPr>
                        <m:t>𝟐</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𝑱𝑭𝑲</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𝑺𝑭𝑶</m:t>
                      </m:r>
                      <m:r>
                        <a:rPr lang="en-US" altLang="zh-CN" b="1" i="1" dirty="0">
                          <a:solidFill>
                            <a:srgbClr val="7030A0"/>
                          </a:solidFill>
                          <a:latin typeface="Cambria Math" panose="02040503050406030204" pitchFamily="18" charset="0"/>
                          <a:cs typeface="Times New Roman" panose="02020603050405020304" pitchFamily="18" charset="0"/>
                        </a:rPr>
                        <m:t>),</m:t>
                      </m:r>
                      <m:r>
                        <a:rPr lang="en-US" altLang="zh-CN" b="1" i="1" dirty="0">
                          <a:solidFill>
                            <a:srgbClr val="7030A0"/>
                          </a:solidFill>
                          <a:latin typeface="Cambria Math" panose="02040503050406030204" pitchFamily="18" charset="0"/>
                          <a:cs typeface="Times New Roman" panose="02020603050405020304" pitchFamily="18" charset="0"/>
                        </a:rPr>
                        <m:t>𝑼𝒏𝒍𝒐𝒂𝒅</m:t>
                      </m:r>
                      <m:r>
                        <a:rPr lang="en-US" altLang="zh-CN" b="1" i="1" dirty="0">
                          <a:solidFill>
                            <a:srgbClr val="7030A0"/>
                          </a:solidFill>
                          <a:latin typeface="Cambria Math" panose="02040503050406030204" pitchFamily="18" charset="0"/>
                          <a:cs typeface="Times New Roman" panose="02020603050405020304" pitchFamily="18" charset="0"/>
                        </a:rPr>
                        <m:t>(</m:t>
                      </m:r>
                      <m:r>
                        <a:rPr lang="en-US" altLang="zh-CN" b="1" i="1" dirty="0">
                          <a:solidFill>
                            <a:srgbClr val="7030A0"/>
                          </a:solidFill>
                          <a:latin typeface="Cambria Math" panose="02040503050406030204" pitchFamily="18" charset="0"/>
                          <a:cs typeface="Times New Roman" panose="02020603050405020304" pitchFamily="18" charset="0"/>
                        </a:rPr>
                        <m:t>𝑪</m:t>
                      </m:r>
                      <m:r>
                        <a:rPr lang="en-US" altLang="zh-CN" sz="1100" b="1" i="1" dirty="0">
                          <a:solidFill>
                            <a:srgbClr val="7030A0"/>
                          </a:solidFill>
                          <a:latin typeface="Cambria Math" panose="02040503050406030204" pitchFamily="18" charset="0"/>
                          <a:cs typeface="Times New Roman" panose="02020603050405020304" pitchFamily="18" charset="0"/>
                        </a:rPr>
                        <m:t>𝟐</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𝑷</m:t>
                      </m:r>
                      <m:r>
                        <a:rPr lang="en-US" altLang="zh-CN" sz="1100" b="1" i="1" dirty="0">
                          <a:solidFill>
                            <a:srgbClr val="7030A0"/>
                          </a:solidFill>
                          <a:latin typeface="Cambria Math" panose="02040503050406030204" pitchFamily="18" charset="0"/>
                          <a:cs typeface="Times New Roman" panose="02020603050405020304" pitchFamily="18" charset="0"/>
                        </a:rPr>
                        <m:t>𝟐</m:t>
                      </m:r>
                      <m:r>
                        <a:rPr lang="en-US" altLang="zh-CN" b="1" i="1" dirty="0">
                          <a:solidFill>
                            <a:srgbClr val="7030A0"/>
                          </a:solidFill>
                          <a:latin typeface="Cambria Math" panose="02040503050406030204" pitchFamily="18" charset="0"/>
                          <a:cs typeface="Times New Roman" panose="02020603050405020304" pitchFamily="18" charset="0"/>
                        </a:rPr>
                        <m:t>, </m:t>
                      </m:r>
                      <m:r>
                        <a:rPr lang="en-US" altLang="zh-CN" b="1" i="1" dirty="0">
                          <a:solidFill>
                            <a:srgbClr val="7030A0"/>
                          </a:solidFill>
                          <a:latin typeface="Cambria Math" panose="02040503050406030204" pitchFamily="18" charset="0"/>
                          <a:cs typeface="Times New Roman" panose="02020603050405020304" pitchFamily="18" charset="0"/>
                        </a:rPr>
                        <m:t>𝑺𝑭𝑶</m:t>
                      </m:r>
                      <m:r>
                        <a:rPr lang="en-US" altLang="zh-CN" b="1" i="1" dirty="0">
                          <a:solidFill>
                            <a:srgbClr val="7030A0"/>
                          </a:solidFill>
                          <a:latin typeface="Cambria Math" panose="02040503050406030204" pitchFamily="18" charset="0"/>
                          <a:cs typeface="Times New Roman" panose="02020603050405020304" pitchFamily="18" charset="0"/>
                        </a:rPr>
                        <m:t>)]</m:t>
                      </m:r>
                    </m:oMath>
                  </m:oMathPara>
                </a14:m>
                <a:endParaRPr lang="zh-CN" altLang="en-US" sz="3200" b="1" i="1" dirty="0">
                  <a:solidFill>
                    <a:srgbClr val="7030A0"/>
                  </a:solidFill>
                  <a:latin typeface="Times New Roman" panose="02020603050405020304" pitchFamily="18" charset="0"/>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1145631" y="5563556"/>
                <a:ext cx="6697860" cy="861774"/>
              </a:xfrm>
              <a:prstGeom prst="rect">
                <a:avLst/>
              </a:prstGeom>
              <a:blipFill rotWithShape="0">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77069" y="1607425"/>
                <a:ext cx="8515250" cy="369331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indent="0">
                  <a:spcBef>
                    <a:spcPts val="0"/>
                  </a:spcBef>
                  <a:buNone/>
                </a:pPr>
                <a14:m>
                  <m:oMathPara xmlns:m="http://schemas.openxmlformats.org/officeDocument/2006/math">
                    <m:oMathParaPr>
                      <m:jc m:val="left"/>
                    </m:oMathParaPr>
                    <m:oMath xmlns:m="http://schemas.openxmlformats.org/officeDocument/2006/math">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𝑰𝒏𝒊𝒕</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𝑨𝒕</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𝑪</m:t>
                      </m:r>
                      <m:r>
                        <a:rPr lang="da-DK" altLang="zh-CN" sz="1200"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𝟏</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𝑺𝑭𝑶</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 </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𝑨𝒕</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𝑪</m:t>
                      </m:r>
                      <m:r>
                        <a:rPr lang="da-DK" altLang="zh-CN" sz="1200"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𝟐</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𝑱𝑭𝑲</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 </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𝑨𝒕</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𝑷</m:t>
                      </m:r>
                      <m:r>
                        <a:rPr lang="da-DK" altLang="zh-CN" sz="1200"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𝟏</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𝑺𝑭𝑶</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 </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𝑨𝒕</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𝑷</m:t>
                      </m:r>
                      <m:r>
                        <a:rPr lang="da-DK" altLang="zh-CN" sz="1200"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𝟐</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𝑱𝑭𝑲</m:t>
                      </m:r>
                      <m:r>
                        <a:rPr lang="da-DK"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da-DK" altLang="zh-CN" b="1" i="1" dirty="0">
                  <a:solidFill>
                    <a:srgbClr val="0070C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14:m>
                  <m:oMathPara xmlns:m="http://schemas.openxmlformats.org/officeDocument/2006/math">
                    <m:oMathParaPr>
                      <m:jc m:val="left"/>
                    </m:oMathParaPr>
                    <m:oMath xmlns:m="http://schemas.openxmlformats.org/officeDocument/2006/math">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𝑪𝒂𝒓𝒈𝒐</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𝑪</m:t>
                      </m:r>
                      <m:r>
                        <a:rPr lang="en-US" altLang="zh-CN" sz="1200"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𝟏</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𝑪𝒂𝒓𝒈𝒐</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𝑪</m:t>
                      </m:r>
                      <m:r>
                        <a:rPr lang="en-US" altLang="zh-CN" sz="1200"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𝟐</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𝑷𝒍𝒂𝒏𝒆</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𝑷</m:t>
                      </m:r>
                      <m:r>
                        <a:rPr lang="en-US" altLang="zh-CN" sz="1200"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𝟏</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𝑷𝒍𝒂𝒏𝒆</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𝑷</m:t>
                      </m:r>
                      <m:r>
                        <a:rPr lang="en-US" altLang="zh-CN" sz="1200"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𝟐</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altLang="zh-CN" b="1" i="1" dirty="0">
                  <a:solidFill>
                    <a:srgbClr val="0070C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14:m>
                  <m:oMathPara xmlns:m="http://schemas.openxmlformats.org/officeDocument/2006/math">
                    <m:oMathParaPr>
                      <m:jc m:val="left"/>
                    </m:oMathParaPr>
                    <m:oMath xmlns:m="http://schemas.openxmlformats.org/officeDocument/2006/math">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𝑨𝒊𝒓𝒑𝒐𝒓𝒕</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𝑱𝑭𝑲</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𝑨𝒊𝒓𝒑𝒐𝒓𝒕</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𝑺𝑭𝑶</m:t>
                      </m:r>
                      <m:r>
                        <a:rPr lang="en-US" altLang="zh-CN" b="1" i="1" dirty="0"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altLang="zh-CN" b="1" i="1" dirty="0">
                  <a:solidFill>
                    <a:srgbClr val="0070C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14:m>
                  <m:oMathPara xmlns:m="http://schemas.openxmlformats.org/officeDocument/2006/math">
                    <m:oMathParaPr>
                      <m:jc m:val="left"/>
                    </m:oMathParaPr>
                    <m:oMath xmlns:m="http://schemas.openxmlformats.org/officeDocument/2006/math">
                      <m:r>
                        <a:rPr lang="da-DK" altLang="zh-CN" b="1" i="1" dirty="0"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𝑮𝒐𝒂𝒍</m:t>
                      </m:r>
                      <m:r>
                        <a:rPr lang="da-DK" altLang="zh-CN" b="1" i="1" dirty="0"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 (</m:t>
                      </m:r>
                      <m:r>
                        <a:rPr lang="da-DK" altLang="zh-CN" b="1" i="1" dirty="0"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𝑨𝒕</m:t>
                      </m:r>
                      <m:r>
                        <a:rPr lang="da-DK" altLang="zh-CN" b="1" i="1" dirty="0"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r>
                        <a:rPr lang="da-DK" altLang="zh-CN" b="1" i="1" dirty="0"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𝑪</m:t>
                      </m:r>
                      <m:r>
                        <a:rPr lang="da-DK" altLang="zh-CN" sz="1200" b="1" i="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𝟏</m:t>
                      </m:r>
                      <m:r>
                        <a:rPr lang="da-DK" altLang="zh-CN" b="1" i="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 </m:t>
                      </m:r>
                      <m:r>
                        <a:rPr lang="da-DK" altLang="zh-CN" b="1" i="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𝑱𝑭𝑲</m:t>
                      </m:r>
                      <m:r>
                        <a:rPr lang="da-DK" altLang="zh-CN" b="1" i="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 ∧ </m:t>
                      </m:r>
                      <m:r>
                        <a:rPr lang="da-DK" altLang="zh-CN" b="1" i="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𝑨𝒕</m:t>
                      </m:r>
                      <m:r>
                        <a:rPr lang="da-DK" altLang="zh-CN" b="1" i="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r>
                        <a:rPr lang="da-DK" altLang="zh-CN" b="1" i="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𝑪</m:t>
                      </m:r>
                      <m:r>
                        <a:rPr lang="da-DK" altLang="zh-CN" sz="1200" b="1" i="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𝟐</m:t>
                      </m:r>
                      <m:r>
                        <a:rPr lang="da-DK" altLang="zh-CN" b="1" i="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 </m:t>
                      </m:r>
                      <m:r>
                        <a:rPr lang="da-DK" altLang="zh-CN" b="1" i="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𝑺𝑭𝑶</m:t>
                      </m:r>
                      <m:r>
                        <a:rPr lang="da-DK" altLang="zh-CN" b="1" i="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da-DK" altLang="zh-CN" b="1" dirty="0">
                  <a:solidFill>
                    <a:srgbClr val="C000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14:m>
                  <m:oMathPara xmlns:m="http://schemas.openxmlformats.org/officeDocument/2006/math">
                    <m:oMathParaPr>
                      <m:jc m:val="left"/>
                    </m:oMathParaPr>
                    <m:oMath xmlns:m="http://schemas.openxmlformats.org/officeDocument/2006/math">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𝑨𝒄𝒕𝒊𝒐𝒏</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𝑳𝒐𝒂𝒅</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𝒄</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𝒂</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r>
                  <a:rPr lang="en-US" altLang="zh-CN"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P</a:t>
                </a:r>
                <a:r>
                  <a:rPr lang="en-US" altLang="zh-CN" sz="1400"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RECOND</a:t>
                </a:r>
                <a:r>
                  <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𝑨𝒕</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𝒄</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𝒂</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𝑨𝒕</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𝒂</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𝑪𝒂𝒓𝒈𝒐</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𝒄</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𝑷𝒍𝒂𝒏𝒆</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𝑨𝒊𝒓𝒑𝒐𝒓𝒕</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𝒂</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r>
                  <a:rPr lang="en-US" altLang="zh-CN"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E</a:t>
                </a:r>
                <a:r>
                  <a:rPr lang="en-US" altLang="zh-CN" sz="1400"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FFECT</a:t>
                </a:r>
                <a:r>
                  <a:rPr lang="en-US" altLang="zh-CN"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a:t>
                </a:r>
                <a:r>
                  <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zh-CN" altLang="en-US" b="1" i="1" dirty="0" smtClean="0">
                        <a:solidFill>
                          <a:srgbClr val="006600"/>
                        </a:solidFill>
                        <a:latin typeface="Cambria Math" panose="02040503050406030204" pitchFamily="18" charset="0"/>
                        <a:cs typeface="Times New Roman" panose="02020603050405020304" pitchFamily="18" charset="0"/>
                      </a:rPr>
                      <m:t>￢</m:t>
                    </m:r>
                    <m:r>
                      <a:rPr lang="zh-CN" altLang="en-US" b="1" i="1" dirty="0" smtClean="0">
                        <a:solidFill>
                          <a:srgbClr val="006600"/>
                        </a:solidFill>
                        <a:latin typeface="Cambria Math" panose="02040503050406030204" pitchFamily="18" charset="0"/>
                        <a:cs typeface="Times New Roman" panose="02020603050405020304" pitchFamily="18" charset="0"/>
                      </a:rPr>
                      <m:t> </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𝑨𝒕</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𝒄</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𝒂</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𝑰𝒏</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𝒄</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14:m>
                  <m:oMathPara xmlns:m="http://schemas.openxmlformats.org/officeDocument/2006/math">
                    <m:oMathParaPr>
                      <m:jc m:val="left"/>
                    </m:oMathParaPr>
                    <m:oMath xmlns:m="http://schemas.openxmlformats.org/officeDocument/2006/math">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𝑨𝒄𝒕𝒊𝒐𝒏</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𝑼𝒏𝒍𝒐𝒂𝒅</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𝒄</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𝒂</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r>
                  <a:rPr lang="en-US" altLang="zh-CN"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P</a:t>
                </a:r>
                <a:r>
                  <a:rPr lang="en-US" altLang="zh-CN" sz="1400"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RECOND</a:t>
                </a:r>
                <a:r>
                  <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𝑰𝒏</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𝒄</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𝑨𝒕</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𝒂</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𝑪𝒂𝒓𝒈𝒐</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𝒄</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𝑷𝒍𝒂𝒏𝒆</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𝑨𝒊𝒓𝒑𝒐𝒓𝒕</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𝒂</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r>
                  <a:rPr lang="en-US" altLang="zh-CN"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E</a:t>
                </a:r>
                <a:r>
                  <a:rPr lang="en-US" altLang="zh-CN" sz="1400"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FFECT</a:t>
                </a:r>
                <a:r>
                  <a:rPr lang="en-US" altLang="zh-CN"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a:t>
                </a:r>
                <a:r>
                  <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𝑨𝒕</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𝒄</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𝒂</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zh-CN" altLang="en-US" b="1" i="1" dirty="0">
                        <a:solidFill>
                          <a:srgbClr val="006600"/>
                        </a:solidFill>
                        <a:latin typeface="Cambria Math" panose="02040503050406030204" pitchFamily="18" charset="0"/>
                        <a:cs typeface="Times New Roman" panose="02020603050405020304" pitchFamily="18" charset="0"/>
                      </a:rPr>
                      <m:t>￢</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𝑰𝒏</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𝒄</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14:m>
                  <m:oMathPara xmlns:m="http://schemas.openxmlformats.org/officeDocument/2006/math">
                    <m:oMathParaPr>
                      <m:jc m:val="left"/>
                    </m:oMathParaPr>
                    <m:oMath xmlns:m="http://schemas.openxmlformats.org/officeDocument/2006/math">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𝑨𝒄𝒕𝒊𝒐𝒏</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𝑭𝒍𝒚</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𝒇𝒓𝒐𝒎</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𝒕𝒐</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r>
                  <a:rPr lang="en-US" altLang="zh-CN"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P</a:t>
                </a:r>
                <a:r>
                  <a:rPr lang="en-US" altLang="zh-CN" sz="1400"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RECOND</a:t>
                </a:r>
                <a:r>
                  <a:rPr lang="en-US" altLang="zh-CN" b="1" i="0" dirty="0">
                    <a:solidFill>
                      <a:srgbClr val="006600"/>
                    </a:solidFill>
                    <a:latin typeface="+mj-lt"/>
                    <a:ea typeface="Cambria Math" panose="02040503050406030204" pitchFamily="18" charset="0"/>
                    <a:cs typeface="Times New Roman" panose="02020603050405020304" pitchFamily="18" charset="0"/>
                  </a:rPr>
                  <a:t>: </a:t>
                </a:r>
                <a14:m>
                  <m:oMath xmlns:m="http://schemas.openxmlformats.org/officeDocument/2006/math">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𝑨𝒕</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𝒇𝒓𝒐𝒎</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𝑷𝒍𝒂𝒏𝒆</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𝑨𝒊𝒓𝒑𝒐𝒓𝒕</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𝒇𝒓𝒐𝒎</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𝑨𝒊𝒓𝒑𝒐𝒓𝒕</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𝒕𝒐</m:t>
                    </m:r>
                    <m:r>
                      <a:rPr lang="en-US" altLang="zh-CN"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oMath>
                </a14:m>
                <a:br>
                  <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br>
                <a:r>
                  <a:rPr lang="en-US" altLang="zh-CN"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a:t>
                </a:r>
                <a:r>
                  <a:rPr lang="en-US" altLang="zh-CN"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E</a:t>
                </a:r>
                <a:r>
                  <a:rPr lang="en-US" altLang="zh-CN" sz="1400"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FFECT </a:t>
                </a:r>
                <a:r>
                  <a:rPr lang="en-US" altLang="zh-CN"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zh-CN" altLang="en-US" b="1" i="1" dirty="0" smtClean="0">
                        <a:solidFill>
                          <a:srgbClr val="006600"/>
                        </a:solidFill>
                        <a:latin typeface="Cambria Math" panose="02040503050406030204" pitchFamily="18" charset="0"/>
                        <a:cs typeface="Times New Roman" panose="02020603050405020304" pitchFamily="18" charset="0"/>
                      </a:rPr>
                      <m:t>￢</m:t>
                    </m:r>
                    <m:r>
                      <a:rPr lang="zh-CN" altLang="en-US"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𝑨𝒕</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𝒇𝒓𝒐𝒎</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𝑨𝒕</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𝒕𝒐</m:t>
                    </m:r>
                    <m:r>
                      <a:rPr lang="en-US" altLang="zh-CN"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zh-CN" altLang="en-US"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277069" y="1607425"/>
                <a:ext cx="8515250" cy="3693319"/>
              </a:xfrm>
              <a:prstGeom prst="rect">
                <a:avLst/>
              </a:prstGeom>
              <a:blipFill rotWithShape="0">
                <a:blip r:embed="rId4"/>
                <a:stretch>
                  <a:fillRect b="-13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95692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23215" y="1344930"/>
                <a:ext cx="8377555" cy="5274945"/>
              </a:xfrm>
            </p:spPr>
            <p:txBody>
              <a:bodyPr/>
              <a:lstStyle/>
              <a:p>
                <a:r>
                  <a:rPr lang="en-US" altLang="zh-CN" sz="2400" dirty="0"/>
                  <a:t>10</a:t>
                </a:r>
                <a:r>
                  <a:rPr lang="zh-CN" altLang="en-US" sz="2400" dirty="0"/>
                  <a:t>.2</a:t>
                </a:r>
              </a:p>
              <a:p>
                <a:pPr marL="0" indent="0">
                  <a:buNone/>
                </a:pPr>
                <a:r>
                  <a:rPr lang="zh-CN" altLang="en-US" sz="2400" dirty="0"/>
                  <a:t>给定图</a:t>
                </a:r>
                <a:r>
                  <a:rPr lang="en-US" altLang="zh-CN" sz="2400" dirty="0"/>
                  <a:t>10.1</a:t>
                </a:r>
                <a:r>
                  <a:rPr lang="zh-CN" altLang="en-US" sz="2400" dirty="0"/>
                  <a:t>的动作模式和初始状态，被</a:t>
                </a:r>
                <a:endParaRPr lang="en-US" altLang="zh-CN" sz="2400" dirty="0"/>
              </a:p>
              <a:p>
                <a:pPr marL="0" indent="0">
                  <a:buNone/>
                </a:pPr>
                <a:r>
                  <a:rPr lang="en-US" altLang="zh-CN" sz="2400" dirty="0">
                    <a:sym typeface="+mn-ea"/>
                  </a:rPr>
                  <a:t>At(P1, JFK) ∧ At(P2,SFO) ∧ Plane(P1) ∧ Plane(P2)</a:t>
                </a:r>
              </a:p>
              <a:p>
                <a:pPr marL="0" indent="0">
                  <a:buNone/>
                </a:pPr>
                <a:r>
                  <a:rPr lang="en-US" altLang="zh-CN" sz="2400" dirty="0">
                    <a:sym typeface="+mn-ea"/>
                  </a:rPr>
                  <a:t>	 ∧ Airport(JFK) ∧ Airport(SFO)</a:t>
                </a:r>
              </a:p>
              <a:p>
                <a:pPr marL="0" indent="0">
                  <a:buNone/>
                </a:pPr>
                <a:r>
                  <a:rPr lang="zh-CN" altLang="en-US" sz="2400" dirty="0">
                    <a:sym typeface="+mn-ea"/>
                  </a:rPr>
                  <a:t>描述的状态中，</a:t>
                </a:r>
                <a:r>
                  <a:rPr lang="en-US" altLang="zh-CN" sz="2400" dirty="0">
                    <a:sym typeface="+mn-ea"/>
                  </a:rPr>
                  <a:t>Fly(p ,from ,to)</a:t>
                </a:r>
                <a:r>
                  <a:rPr lang="zh-CN" altLang="en-US" sz="2400" dirty="0">
                    <a:sym typeface="+mn-ea"/>
                  </a:rPr>
                  <a:t>的所有可用具体实例是什么？</a:t>
                </a:r>
                <a:endParaRPr lang="en-US" altLang="zh-CN" sz="2400" dirty="0">
                  <a:sym typeface="+mn-ea"/>
                </a:endParaRPr>
              </a:p>
              <a:p>
                <a:pPr marL="0" indent="0">
                  <a:spcBef>
                    <a:spcPts val="0"/>
                  </a:spcBef>
                  <a:buNone/>
                </a:pPr>
                <a:endParaRPr lang="en-US" altLang="zh-CN" sz="14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endParaRPr>
              </a:p>
              <a:p>
                <a:pPr marL="0" indent="0">
                  <a:spcBef>
                    <a:spcPts val="0"/>
                  </a:spcBef>
                  <a:buNone/>
                </a:pPr>
                <a14:m>
                  <m:oMathPara xmlns:m="http://schemas.openxmlformats.org/officeDocument/2006/math">
                    <m:oMathParaPr>
                      <m:jc m:val="left"/>
                    </m:oMathParaPr>
                    <m:oMath xmlns:m="http://schemas.openxmlformats.org/officeDocument/2006/math">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𝑨𝒄𝒕𝒊𝒐𝒏</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𝑭𝒍𝒚</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𝒇𝒓𝒐𝒎</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𝒕𝒐</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altLang="zh-CN" sz="2000"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r>
                  <a:rPr lang="en-US" altLang="zh-CN" sz="2000"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PRECOND</a:t>
                </a:r>
                <a:r>
                  <a:rPr lang="en-US" altLang="zh-CN" sz="2000" b="1" i="0" dirty="0">
                    <a:solidFill>
                      <a:srgbClr val="006600"/>
                    </a:solidFill>
                    <a:latin typeface="+mj-lt"/>
                    <a:ea typeface="Cambria Math" panose="02040503050406030204" pitchFamily="18" charset="0"/>
                    <a:cs typeface="Times New Roman" panose="02020603050405020304" pitchFamily="18" charset="0"/>
                  </a:rPr>
                  <a:t>: </a:t>
                </a:r>
                <a14:m>
                  <m:oMath xmlns:m="http://schemas.openxmlformats.org/officeDocument/2006/math">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𝑨𝒕</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𝒇𝒓𝒐𝒎</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𝑷𝒍𝒂𝒏𝒆</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𝑨𝒊𝒓𝒑𝒐𝒓𝒕</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𝒇𝒓𝒐𝒎</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𝑨𝒊𝒓𝒑𝒐𝒓𝒕</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𝒕𝒐</m:t>
                    </m:r>
                    <m:r>
                      <a:rPr lang="en-US" altLang="zh-CN"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oMath>
                </a14:m>
                <a:br>
                  <a:rPr lang="en-US" altLang="zh-CN" sz="2000"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br>
                <a:r>
                  <a:rPr lang="en-US" altLang="zh-CN" sz="2000"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a:t>
                </a:r>
                <a:r>
                  <a:rPr lang="en-US" altLang="zh-CN" sz="2000" b="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rPr>
                  <a:t> EFFECT : </a:t>
                </a:r>
                <a14:m>
                  <m:oMath xmlns:m="http://schemas.openxmlformats.org/officeDocument/2006/math">
                    <m:r>
                      <a:rPr lang="zh-CN" altLang="en-US" sz="2000" b="1" i="1" dirty="0" smtClean="0">
                        <a:solidFill>
                          <a:srgbClr val="006600"/>
                        </a:solidFill>
                        <a:latin typeface="Cambria Math" panose="02040503050406030204" pitchFamily="18" charset="0"/>
                        <a:cs typeface="Times New Roman" panose="02020603050405020304" pitchFamily="18" charset="0"/>
                      </a:rPr>
                      <m:t>￢</m:t>
                    </m:r>
                    <m:r>
                      <a:rPr lang="zh-CN" altLang="en-US" sz="2000" b="1" i="1" dirty="0" smtClean="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𝑨𝒕</m:t>
                    </m:r>
                    <m:r>
                      <a:rPr lang="en-US" altLang="zh-CN" sz="20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sz="20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𝒇𝒓𝒐𝒎</m:t>
                    </m:r>
                    <m:r>
                      <a:rPr lang="en-US" altLang="zh-CN" sz="20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sz="20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𝑨𝒕</m:t>
                    </m:r>
                    <m:r>
                      <a:rPr lang="en-US" altLang="zh-CN" sz="20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𝒑</m:t>
                    </m:r>
                    <m:r>
                      <a:rPr lang="en-US" altLang="zh-CN" sz="20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𝒕𝒐</m:t>
                    </m:r>
                    <m:r>
                      <a:rPr lang="en-US" altLang="zh-CN" sz="2000" b="1" i="1" dirty="0">
                        <a:solidFill>
                          <a:srgbClr val="006600"/>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sz="2000"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endParaRPr lang="en-US" altLang="zh-CN" sz="2000"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14:m>
                  <m:oMathPara xmlns:m="http://schemas.openxmlformats.org/officeDocument/2006/math">
                    <m:oMathParaPr>
                      <m:jc m:val="centerGroup"/>
                    </m:oMathParaPr>
                    <m:oMath xmlns:m="http://schemas.openxmlformats.org/officeDocument/2006/math">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𝑭𝒍𝒚</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𝑷</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𝟐</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𝑺𝑭𝑶</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𝑺𝑭𝑶</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𝑭𝒍𝒚</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𝑷</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𝟐</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𝑺𝑭𝑶</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𝑱𝑭𝑲</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𝑭𝒍𝒚</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𝑷</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𝟏</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𝑱𝑭𝑲</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𝑱𝑭𝑲</m:t>
                      </m:r>
                      <m:r>
                        <a:rPr lang="en-US" altLang="zh-CN" sz="2000" b="1"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𝑭𝒍𝒚</m:t>
                      </m:r>
                      <m:r>
                        <a:rPr lang="en-US" altLang="zh-CN" sz="20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𝑷</m:t>
                      </m:r>
                      <m:r>
                        <a:rPr lang="en-US" altLang="zh-CN" sz="20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𝟏</m:t>
                      </m:r>
                      <m:r>
                        <a:rPr lang="en-US" altLang="zh-CN" sz="20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𝑱𝑭𝑲</m:t>
                      </m:r>
                      <m:r>
                        <a:rPr lang="en-US" altLang="zh-CN" sz="20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 </m:t>
                      </m:r>
                      <m:r>
                        <a:rPr lang="en-US" altLang="zh-CN" sz="20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𝑺𝑭𝑶</m:t>
                      </m:r>
                      <m:r>
                        <a:rPr lang="en-US" altLang="zh-CN" sz="20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altLang="zh-CN" sz="2000"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endParaRPr lang="en-US" altLang="zh-CN" sz="2000"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endParaRPr lang="en-US" altLang="zh-CN" sz="2000"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endParaRPr lang="en-US" altLang="zh-CN" sz="2000" b="1" i="1"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spcBef>
                    <a:spcPts val="0"/>
                  </a:spcBef>
                  <a:buNone/>
                </a:pPr>
                <a:endParaRPr lang="zh-CN" altLang="en-US" sz="1400" b="1" i="1" dirty="0">
                  <a:solidFill>
                    <a:srgbClr val="0066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endParaRPr lang="en-US" altLang="zh-CN" sz="2400" dirty="0">
                  <a:solidFill>
                    <a:srgbClr val="FF0000"/>
                  </a:solidFill>
                  <a:sym typeface="+mn-ea"/>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23215" y="1344930"/>
                <a:ext cx="8377555" cy="5274945"/>
              </a:xfrm>
              <a:blipFill>
                <a:blip r:embed="rId2"/>
                <a:stretch>
                  <a:fillRect l="-1092" t="-80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t>17</a:t>
            </a:fld>
            <a:endParaRPr lang="en-US" altLang="zh-CN"/>
          </a:p>
        </p:txBody>
      </p:sp>
    </p:spTree>
    <p:extLst>
      <p:ext uri="{BB962C8B-B14F-4D97-AF65-F5344CB8AC3E}">
        <p14:creationId xmlns:p14="http://schemas.microsoft.com/office/powerpoint/2010/main" val="541549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a:xfrm>
            <a:off x="323215" y="1344930"/>
            <a:ext cx="8377555" cy="5274945"/>
          </a:xfrm>
        </p:spPr>
        <p:txBody>
          <a:bodyPr/>
          <a:lstStyle/>
          <a:p>
            <a:r>
              <a:rPr lang="en-US" altLang="zh-CN" sz="2400" dirty="0"/>
              <a:t>10</a:t>
            </a:r>
            <a:r>
              <a:rPr lang="zh-CN" altLang="en-US" sz="2400" dirty="0"/>
              <a:t>.</a:t>
            </a:r>
            <a:r>
              <a:rPr lang="en-US" altLang="zh-CN" sz="2400" dirty="0"/>
              <a:t>3</a:t>
            </a:r>
            <a:endParaRPr lang="zh-CN" altLang="en-US" sz="2400" dirty="0"/>
          </a:p>
          <a:p>
            <a:pPr marL="0" indent="0">
              <a:buNone/>
            </a:pPr>
            <a:r>
              <a:rPr lang="zh-CN" altLang="en-US" sz="2000" dirty="0">
                <a:solidFill>
                  <a:schemeClr val="tx1"/>
                </a:solidFill>
              </a:rPr>
              <a:t>猴子与香蕉问题是关于实验室的一只猴子面对挂在天花板上的一些够不到的香蕉的问题。可用一个箱子，如果猴子爬上箱子，它就可以够到香蕉。起初，猴子位于</a:t>
            </a:r>
            <a:r>
              <a:rPr lang="en-US" altLang="zh-CN" sz="2000" dirty="0">
                <a:solidFill>
                  <a:schemeClr val="tx1"/>
                </a:solidFill>
              </a:rPr>
              <a:t>A</a:t>
            </a:r>
            <a:r>
              <a:rPr lang="zh-CN" altLang="en-US" sz="2000" dirty="0">
                <a:solidFill>
                  <a:schemeClr val="tx1"/>
                </a:solidFill>
              </a:rPr>
              <a:t>，香蕉位于</a:t>
            </a:r>
            <a:r>
              <a:rPr lang="en-US" altLang="zh-CN" sz="2000" dirty="0">
                <a:solidFill>
                  <a:schemeClr val="tx1"/>
                </a:solidFill>
              </a:rPr>
              <a:t>B</a:t>
            </a:r>
            <a:r>
              <a:rPr lang="zh-CN" altLang="en-US" sz="2000" dirty="0">
                <a:solidFill>
                  <a:schemeClr val="tx1"/>
                </a:solidFill>
              </a:rPr>
              <a:t>，箱子位于</a:t>
            </a:r>
            <a:r>
              <a:rPr lang="en-US" altLang="zh-CN" sz="2000" dirty="0">
                <a:solidFill>
                  <a:schemeClr val="tx1"/>
                </a:solidFill>
              </a:rPr>
              <a:t>C</a:t>
            </a:r>
            <a:r>
              <a:rPr lang="zh-CN" altLang="en-US" sz="2000" dirty="0">
                <a:solidFill>
                  <a:schemeClr val="tx1"/>
                </a:solidFill>
              </a:rPr>
              <a:t>。猴子和箱子的高度都是</a:t>
            </a:r>
            <a:r>
              <a:rPr lang="en-US" altLang="zh-CN" sz="2000" dirty="0">
                <a:solidFill>
                  <a:schemeClr val="tx1"/>
                </a:solidFill>
              </a:rPr>
              <a:t>Low</a:t>
            </a:r>
            <a:r>
              <a:rPr lang="zh-CN" altLang="en-US" sz="2000" dirty="0">
                <a:solidFill>
                  <a:schemeClr val="tx1"/>
                </a:solidFill>
              </a:rPr>
              <a:t>，但是如果猴子爬到箱子上面，他的高度就跟香蕉一样是</a:t>
            </a:r>
            <a:r>
              <a:rPr lang="en-US" altLang="zh-CN" sz="2000" dirty="0">
                <a:solidFill>
                  <a:schemeClr val="tx1"/>
                </a:solidFill>
              </a:rPr>
              <a:t>High</a:t>
            </a:r>
            <a:r>
              <a:rPr lang="zh-CN" altLang="en-US" sz="2000" dirty="0">
                <a:solidFill>
                  <a:schemeClr val="tx1"/>
                </a:solidFill>
              </a:rPr>
              <a:t>。猴子可用的动作包括从一个位置走到另一个位置的</a:t>
            </a:r>
            <a:r>
              <a:rPr lang="en-US" altLang="zh-CN" sz="2000" dirty="0">
                <a:solidFill>
                  <a:schemeClr val="tx1"/>
                </a:solidFill>
              </a:rPr>
              <a:t>Go</a:t>
            </a:r>
            <a:r>
              <a:rPr lang="zh-CN" altLang="en-US" sz="2000" dirty="0">
                <a:solidFill>
                  <a:schemeClr val="tx1"/>
                </a:solidFill>
              </a:rPr>
              <a:t>，将对象从一个地方推到另一个地方的</a:t>
            </a:r>
            <a:r>
              <a:rPr lang="en-US" altLang="zh-CN" sz="2000" dirty="0">
                <a:solidFill>
                  <a:schemeClr val="tx1"/>
                </a:solidFill>
              </a:rPr>
              <a:t>Push</a:t>
            </a:r>
            <a:r>
              <a:rPr lang="zh-CN" altLang="en-US" sz="2000" dirty="0">
                <a:solidFill>
                  <a:schemeClr val="tx1"/>
                </a:solidFill>
              </a:rPr>
              <a:t>，爬上一个对象的</a:t>
            </a:r>
            <a:r>
              <a:rPr lang="en-US" altLang="zh-CN" sz="2000" dirty="0" err="1">
                <a:solidFill>
                  <a:schemeClr val="tx1"/>
                </a:solidFill>
              </a:rPr>
              <a:t>ClimbUp</a:t>
            </a:r>
            <a:r>
              <a:rPr lang="zh-CN" altLang="en-US" sz="2000" dirty="0">
                <a:solidFill>
                  <a:schemeClr val="tx1"/>
                </a:solidFill>
              </a:rPr>
              <a:t>和爬下一个对象的</a:t>
            </a:r>
            <a:r>
              <a:rPr lang="en-US" altLang="zh-CN" sz="2000" dirty="0" err="1">
                <a:solidFill>
                  <a:schemeClr val="tx1"/>
                </a:solidFill>
              </a:rPr>
              <a:t>ClimbDown</a:t>
            </a:r>
            <a:r>
              <a:rPr lang="zh-CN" altLang="en-US" sz="2000" dirty="0">
                <a:solidFill>
                  <a:schemeClr val="tx1"/>
                </a:solidFill>
              </a:rPr>
              <a:t>，抓住一个对象的</a:t>
            </a:r>
            <a:r>
              <a:rPr lang="en-US" altLang="zh-CN" sz="2000" dirty="0">
                <a:solidFill>
                  <a:schemeClr val="tx1"/>
                </a:solidFill>
              </a:rPr>
              <a:t>Grasp</a:t>
            </a:r>
            <a:r>
              <a:rPr lang="zh-CN" altLang="en-US" sz="2000" dirty="0">
                <a:solidFill>
                  <a:schemeClr val="tx1"/>
                </a:solidFill>
              </a:rPr>
              <a:t>和放开一个对象的</a:t>
            </a:r>
            <a:r>
              <a:rPr lang="en-US" altLang="zh-CN" sz="2000" dirty="0">
                <a:solidFill>
                  <a:schemeClr val="tx1"/>
                </a:solidFill>
              </a:rPr>
              <a:t>Ungrasp</a:t>
            </a:r>
            <a:r>
              <a:rPr lang="zh-CN" altLang="en-US" sz="2000" dirty="0">
                <a:solidFill>
                  <a:schemeClr val="tx1"/>
                </a:solidFill>
              </a:rPr>
              <a:t>。如果猴子和对象在同一地方的同一高度，动作</a:t>
            </a:r>
            <a:r>
              <a:rPr lang="en-US" altLang="zh-CN" sz="2000" dirty="0">
                <a:solidFill>
                  <a:schemeClr val="tx1"/>
                </a:solidFill>
              </a:rPr>
              <a:t>Grasp</a:t>
            </a:r>
            <a:r>
              <a:rPr lang="zh-CN" altLang="en-US" sz="2000" dirty="0">
                <a:solidFill>
                  <a:schemeClr val="tx1"/>
                </a:solidFill>
              </a:rPr>
              <a:t>导致持有该对象。</a:t>
            </a:r>
            <a:endParaRPr lang="en-US" altLang="zh-CN" sz="2000" dirty="0">
              <a:solidFill>
                <a:schemeClr val="tx1"/>
              </a:solidFill>
              <a:sym typeface="+mn-ea"/>
            </a:endParaRPr>
          </a:p>
          <a:p>
            <a:pPr marL="0" indent="0">
              <a:buNone/>
            </a:pPr>
            <a:r>
              <a:rPr lang="en-US" altLang="zh-CN" sz="2000" dirty="0">
                <a:solidFill>
                  <a:schemeClr val="tx1"/>
                </a:solidFill>
                <a:sym typeface="+mn-ea"/>
              </a:rPr>
              <a:t>	a.</a:t>
            </a:r>
            <a:r>
              <a:rPr lang="zh-CN" altLang="en-US" sz="2000" dirty="0">
                <a:solidFill>
                  <a:schemeClr val="tx1"/>
                </a:solidFill>
                <a:sym typeface="+mn-ea"/>
              </a:rPr>
              <a:t> 写出初始状态描述</a:t>
            </a:r>
            <a:r>
              <a:rPr lang="zh-CN" altLang="en-US" sz="2000" dirty="0">
                <a:solidFill>
                  <a:srgbClr val="FF0000"/>
                </a:solidFill>
                <a:sym typeface="+mn-ea"/>
              </a:rPr>
              <a:t>（</a:t>
            </a:r>
            <a:r>
              <a:rPr lang="en-US" altLang="zh-CN" sz="2000" dirty="0">
                <a:solidFill>
                  <a:srgbClr val="FF0000"/>
                </a:solidFill>
                <a:sym typeface="+mn-ea"/>
              </a:rPr>
              <a:t>25</a:t>
            </a:r>
            <a:r>
              <a:rPr lang="zh-CN" altLang="en-US" sz="2000" dirty="0">
                <a:solidFill>
                  <a:srgbClr val="FF0000"/>
                </a:solidFill>
                <a:sym typeface="+mn-ea"/>
              </a:rPr>
              <a:t>分）</a:t>
            </a:r>
            <a:endParaRPr lang="en-US" altLang="zh-CN" sz="2000" dirty="0">
              <a:solidFill>
                <a:srgbClr val="FF0000"/>
              </a:solidFill>
              <a:sym typeface="+mn-ea"/>
            </a:endParaRPr>
          </a:p>
          <a:p>
            <a:pPr marL="0" indent="0">
              <a:buNone/>
            </a:pPr>
            <a:r>
              <a:rPr lang="en-US" altLang="zh-CN" sz="2000" dirty="0">
                <a:solidFill>
                  <a:schemeClr val="tx1"/>
                </a:solidFill>
                <a:sym typeface="+mn-ea"/>
              </a:rPr>
              <a:t>	b. </a:t>
            </a:r>
            <a:r>
              <a:rPr lang="zh-CN" altLang="en-US" sz="2000" dirty="0">
                <a:solidFill>
                  <a:schemeClr val="tx1"/>
                </a:solidFill>
                <a:sym typeface="+mn-ea"/>
              </a:rPr>
              <a:t>写出六个动作模式</a:t>
            </a:r>
            <a:r>
              <a:rPr lang="zh-CN" altLang="en-US" sz="2000" dirty="0">
                <a:solidFill>
                  <a:srgbClr val="FF0000"/>
                </a:solidFill>
                <a:sym typeface="+mn-ea"/>
              </a:rPr>
              <a:t>（</a:t>
            </a:r>
            <a:r>
              <a:rPr lang="en-US" altLang="zh-CN" sz="2000" dirty="0">
                <a:solidFill>
                  <a:srgbClr val="FF0000"/>
                </a:solidFill>
                <a:sym typeface="+mn-ea"/>
              </a:rPr>
              <a:t>30</a:t>
            </a:r>
            <a:r>
              <a:rPr lang="zh-CN" altLang="en-US" sz="2000" dirty="0">
                <a:solidFill>
                  <a:srgbClr val="FF0000"/>
                </a:solidFill>
                <a:sym typeface="+mn-ea"/>
              </a:rPr>
              <a:t>分）</a:t>
            </a:r>
            <a:endParaRPr lang="en-US" altLang="zh-CN" sz="2000" dirty="0">
              <a:solidFill>
                <a:srgbClr val="FF0000"/>
              </a:solidFill>
              <a:sym typeface="+mn-ea"/>
            </a:endParaRPr>
          </a:p>
          <a:p>
            <a:pPr marL="0" indent="0">
              <a:buNone/>
            </a:pPr>
            <a:r>
              <a:rPr lang="en-US" altLang="zh-CN" sz="2000" dirty="0">
                <a:solidFill>
                  <a:schemeClr val="tx1"/>
                </a:solidFill>
                <a:sym typeface="+mn-ea"/>
              </a:rPr>
              <a:t>	d. </a:t>
            </a:r>
            <a:r>
              <a:rPr lang="zh-CN" altLang="en-US" sz="2000" dirty="0">
                <a:solidFill>
                  <a:schemeClr val="tx1"/>
                </a:solidFill>
                <a:sym typeface="+mn-ea"/>
              </a:rPr>
              <a:t>对推（</a:t>
            </a:r>
            <a:r>
              <a:rPr lang="en-US" altLang="zh-CN" sz="2000" dirty="0">
                <a:solidFill>
                  <a:schemeClr val="tx1"/>
                </a:solidFill>
                <a:sym typeface="+mn-ea"/>
              </a:rPr>
              <a:t>push</a:t>
            </a:r>
            <a:r>
              <a:rPr lang="zh-CN" altLang="en-US" sz="2000" dirty="0">
                <a:solidFill>
                  <a:schemeClr val="tx1"/>
                </a:solidFill>
                <a:sym typeface="+mn-ea"/>
              </a:rPr>
              <a:t>）的规则可能是不正确的，因为如果对象太重的话，应当用</a:t>
            </a:r>
            <a:r>
              <a:rPr lang="en-US" altLang="zh-CN" sz="2000" dirty="0">
                <a:solidFill>
                  <a:schemeClr val="tx1"/>
                </a:solidFill>
                <a:sym typeface="+mn-ea"/>
              </a:rPr>
              <a:t>Push</a:t>
            </a:r>
            <a:r>
              <a:rPr lang="zh-CN" altLang="en-US" sz="2000" dirty="0">
                <a:solidFill>
                  <a:schemeClr val="tx1"/>
                </a:solidFill>
                <a:sym typeface="+mn-ea"/>
              </a:rPr>
              <a:t>的时候对象的位置保持不变。修改你的动作模式来解决动作问题。</a:t>
            </a:r>
            <a:r>
              <a:rPr lang="zh-CN" altLang="en-US" sz="2000" dirty="0">
                <a:solidFill>
                  <a:srgbClr val="FF0000"/>
                </a:solidFill>
                <a:sym typeface="+mn-ea"/>
              </a:rPr>
              <a:t>（</a:t>
            </a:r>
            <a:r>
              <a:rPr lang="en-US" altLang="zh-CN" sz="2000">
                <a:solidFill>
                  <a:srgbClr val="FF0000"/>
                </a:solidFill>
                <a:sym typeface="+mn-ea"/>
              </a:rPr>
              <a:t>20</a:t>
            </a:r>
            <a:r>
              <a:rPr lang="zh-CN" altLang="en-US" sz="2000">
                <a:solidFill>
                  <a:srgbClr val="FF0000"/>
                </a:solidFill>
                <a:sym typeface="+mn-ea"/>
              </a:rPr>
              <a:t>分</a:t>
            </a:r>
            <a:r>
              <a:rPr lang="zh-CN" altLang="en-US" sz="2000" dirty="0">
                <a:solidFill>
                  <a:srgbClr val="FF0000"/>
                </a:solidFill>
                <a:sym typeface="+mn-ea"/>
              </a:rPr>
              <a:t>）</a:t>
            </a:r>
            <a:endParaRPr lang="en-US" altLang="zh-CN" sz="2000" dirty="0">
              <a:solidFill>
                <a:srgbClr val="FF0000"/>
              </a:solidFill>
              <a:sym typeface="+mn-ea"/>
            </a:endParaRP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t>18</a:t>
            </a:fld>
            <a:endParaRPr lang="en-US" altLang="zh-CN"/>
          </a:p>
        </p:txBody>
      </p:sp>
    </p:spTree>
    <p:extLst>
      <p:ext uri="{BB962C8B-B14F-4D97-AF65-F5344CB8AC3E}">
        <p14:creationId xmlns:p14="http://schemas.microsoft.com/office/powerpoint/2010/main" val="3302128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a:xfrm>
            <a:off x="323215" y="1344930"/>
            <a:ext cx="8377555" cy="5274945"/>
          </a:xfrm>
        </p:spPr>
        <p:txBody>
          <a:bodyPr/>
          <a:lstStyle/>
          <a:p>
            <a:r>
              <a:rPr lang="en-US" altLang="zh-CN" sz="2400" dirty="0"/>
              <a:t>10</a:t>
            </a:r>
            <a:r>
              <a:rPr lang="zh-CN" altLang="en-US" sz="2400" dirty="0"/>
              <a:t>.</a:t>
            </a:r>
            <a:r>
              <a:rPr lang="en-US" altLang="zh-CN" sz="2400" dirty="0"/>
              <a:t>3</a:t>
            </a:r>
            <a:endParaRPr lang="zh-CN" altLang="en-US" sz="2400" dirty="0"/>
          </a:p>
          <a:p>
            <a:pPr marL="0" indent="0">
              <a:buNone/>
            </a:pPr>
            <a:r>
              <a:rPr lang="en-US" altLang="zh-CN" sz="2000" dirty="0">
                <a:solidFill>
                  <a:schemeClr val="tx1"/>
                </a:solidFill>
                <a:sym typeface="+mn-ea"/>
              </a:rPr>
              <a:t>	a.</a:t>
            </a:r>
            <a:r>
              <a:rPr lang="zh-CN" altLang="en-US" sz="2000" dirty="0">
                <a:solidFill>
                  <a:schemeClr val="tx1"/>
                </a:solidFill>
                <a:sym typeface="+mn-ea"/>
              </a:rPr>
              <a:t> 写出初始状态描述</a:t>
            </a:r>
            <a:r>
              <a:rPr lang="zh-CN" altLang="en-US" sz="2000" dirty="0">
                <a:solidFill>
                  <a:srgbClr val="FF0000"/>
                </a:solidFill>
                <a:sym typeface="+mn-ea"/>
              </a:rPr>
              <a:t>（</a:t>
            </a:r>
            <a:r>
              <a:rPr lang="en-US" altLang="zh-CN" sz="2000" dirty="0">
                <a:solidFill>
                  <a:srgbClr val="FF0000"/>
                </a:solidFill>
                <a:sym typeface="+mn-ea"/>
              </a:rPr>
              <a:t>25</a:t>
            </a:r>
            <a:r>
              <a:rPr lang="zh-CN" altLang="en-US" sz="2000" dirty="0">
                <a:solidFill>
                  <a:srgbClr val="FF0000"/>
                </a:solidFill>
                <a:sym typeface="+mn-ea"/>
              </a:rPr>
              <a:t>分）</a:t>
            </a:r>
            <a:endParaRPr lang="en-US" altLang="zh-CN" sz="2000" dirty="0">
              <a:solidFill>
                <a:srgbClr val="FF0000"/>
              </a:solidFill>
              <a:sym typeface="+mn-ea"/>
            </a:endParaRPr>
          </a:p>
          <a:p>
            <a:pPr marL="0" indent="0">
              <a:buNone/>
            </a:pPr>
            <a:r>
              <a:rPr lang="en-US" altLang="zh-CN" sz="2000" dirty="0">
                <a:solidFill>
                  <a:schemeClr val="tx1"/>
                </a:solidFill>
              </a:rPr>
              <a:t>	</a:t>
            </a:r>
            <a:r>
              <a:rPr lang="zh-CN" altLang="en-US" sz="2000" dirty="0">
                <a:solidFill>
                  <a:schemeClr val="tx1"/>
                </a:solidFill>
              </a:rPr>
              <a:t>猴子位于</a:t>
            </a:r>
            <a:r>
              <a:rPr lang="en-US" altLang="zh-CN" sz="2000" dirty="0">
                <a:solidFill>
                  <a:schemeClr val="tx1"/>
                </a:solidFill>
              </a:rPr>
              <a:t>A</a:t>
            </a:r>
            <a:r>
              <a:rPr lang="zh-CN" altLang="en-US" sz="2000" dirty="0">
                <a:solidFill>
                  <a:schemeClr val="tx1"/>
                </a:solidFill>
              </a:rPr>
              <a:t>：</a:t>
            </a:r>
            <a:r>
              <a:rPr lang="en-US" altLang="zh-CN" sz="2000" dirty="0">
                <a:solidFill>
                  <a:schemeClr val="tx1"/>
                </a:solidFill>
              </a:rPr>
              <a:t>At(Monkey , A)</a:t>
            </a:r>
          </a:p>
          <a:p>
            <a:pPr marL="0" indent="0">
              <a:buNone/>
            </a:pPr>
            <a:r>
              <a:rPr lang="en-US" altLang="zh-CN" sz="2000" dirty="0">
                <a:solidFill>
                  <a:schemeClr val="tx1"/>
                </a:solidFill>
              </a:rPr>
              <a:t>	</a:t>
            </a:r>
            <a:r>
              <a:rPr lang="zh-CN" altLang="en-US" sz="2000" dirty="0">
                <a:solidFill>
                  <a:schemeClr val="tx1"/>
                </a:solidFill>
              </a:rPr>
              <a:t>香蕉位于</a:t>
            </a:r>
            <a:r>
              <a:rPr lang="en-US" altLang="zh-CN" sz="2000" dirty="0">
                <a:solidFill>
                  <a:schemeClr val="tx1"/>
                </a:solidFill>
              </a:rPr>
              <a:t>B</a:t>
            </a:r>
            <a:r>
              <a:rPr lang="zh-CN" altLang="en-US" sz="2000" dirty="0">
                <a:solidFill>
                  <a:schemeClr val="tx1"/>
                </a:solidFill>
              </a:rPr>
              <a:t>：</a:t>
            </a:r>
            <a:r>
              <a:rPr lang="en-US" altLang="zh-CN" sz="2000" dirty="0">
                <a:solidFill>
                  <a:schemeClr val="tx1"/>
                </a:solidFill>
              </a:rPr>
              <a:t>At(Bananas , B)</a:t>
            </a:r>
          </a:p>
          <a:p>
            <a:pPr marL="0" indent="0">
              <a:buNone/>
            </a:pPr>
            <a:r>
              <a:rPr lang="en-US" altLang="zh-CN" sz="2000" dirty="0">
                <a:solidFill>
                  <a:schemeClr val="tx1"/>
                </a:solidFill>
              </a:rPr>
              <a:t>	</a:t>
            </a:r>
            <a:r>
              <a:rPr lang="zh-CN" altLang="en-US" sz="2000" dirty="0">
                <a:solidFill>
                  <a:schemeClr val="tx1"/>
                </a:solidFill>
              </a:rPr>
              <a:t>箱子位于</a:t>
            </a:r>
            <a:r>
              <a:rPr lang="en-US" altLang="zh-CN" sz="2000" dirty="0">
                <a:solidFill>
                  <a:schemeClr val="tx1"/>
                </a:solidFill>
              </a:rPr>
              <a:t>C</a:t>
            </a:r>
            <a:r>
              <a:rPr lang="zh-CN" altLang="en-US" sz="2000" dirty="0">
                <a:solidFill>
                  <a:schemeClr val="tx1"/>
                </a:solidFill>
              </a:rPr>
              <a:t>：</a:t>
            </a:r>
            <a:r>
              <a:rPr lang="en-US" altLang="zh-CN" sz="2000" dirty="0">
                <a:solidFill>
                  <a:schemeClr val="tx1"/>
                </a:solidFill>
              </a:rPr>
              <a:t>At(Box , C)</a:t>
            </a:r>
          </a:p>
          <a:p>
            <a:pPr marL="0" indent="0">
              <a:buNone/>
            </a:pPr>
            <a:r>
              <a:rPr lang="en-US" altLang="zh-CN" sz="2000" dirty="0">
                <a:solidFill>
                  <a:schemeClr val="tx1"/>
                </a:solidFill>
              </a:rPr>
              <a:t>	</a:t>
            </a:r>
            <a:r>
              <a:rPr lang="zh-CN" altLang="en-US" sz="2000" dirty="0">
                <a:solidFill>
                  <a:schemeClr val="tx1"/>
                </a:solidFill>
              </a:rPr>
              <a:t>猴子和箱子的高度都是</a:t>
            </a:r>
            <a:r>
              <a:rPr lang="en-US" altLang="zh-CN" sz="2000" dirty="0">
                <a:solidFill>
                  <a:schemeClr val="tx1"/>
                </a:solidFill>
              </a:rPr>
              <a:t>Low</a:t>
            </a:r>
            <a:r>
              <a:rPr lang="zh-CN" altLang="en-US" sz="2000" dirty="0">
                <a:solidFill>
                  <a:schemeClr val="tx1"/>
                </a:solidFill>
              </a:rPr>
              <a:t>：</a:t>
            </a:r>
            <a:r>
              <a:rPr lang="en-US" altLang="zh-CN" sz="2000" dirty="0">
                <a:solidFill>
                  <a:schemeClr val="tx1"/>
                </a:solidFill>
              </a:rPr>
              <a:t>Height(Monkey , Low)</a:t>
            </a:r>
          </a:p>
          <a:p>
            <a:pPr marL="0" indent="0">
              <a:buNone/>
            </a:pPr>
            <a:r>
              <a:rPr lang="en-US" altLang="zh-CN" sz="2000" dirty="0">
                <a:solidFill>
                  <a:schemeClr val="tx1"/>
                </a:solidFill>
              </a:rPr>
              <a:t>								 Height(Box , Low) </a:t>
            </a:r>
          </a:p>
          <a:p>
            <a:pPr marL="0" indent="0">
              <a:buNone/>
            </a:pPr>
            <a:r>
              <a:rPr lang="en-US" altLang="zh-CN" sz="2000" dirty="0">
                <a:solidFill>
                  <a:schemeClr val="tx1"/>
                </a:solidFill>
              </a:rPr>
              <a:t>	</a:t>
            </a:r>
            <a:r>
              <a:rPr lang="zh-CN" altLang="en-US" sz="2000" dirty="0">
                <a:solidFill>
                  <a:schemeClr val="tx1"/>
                </a:solidFill>
              </a:rPr>
              <a:t>香蕉的高度是</a:t>
            </a:r>
            <a:r>
              <a:rPr lang="en-US" altLang="zh-CN" sz="2000" dirty="0">
                <a:solidFill>
                  <a:schemeClr val="tx1"/>
                </a:solidFill>
              </a:rPr>
              <a:t>High</a:t>
            </a:r>
            <a:r>
              <a:rPr lang="zh-CN" altLang="en-US" sz="2000" dirty="0">
                <a:solidFill>
                  <a:schemeClr val="tx1"/>
                </a:solidFill>
              </a:rPr>
              <a:t>：</a:t>
            </a:r>
            <a:r>
              <a:rPr lang="en-US" altLang="zh-CN" sz="2000" dirty="0">
                <a:solidFill>
                  <a:schemeClr val="tx1"/>
                </a:solidFill>
              </a:rPr>
              <a:t>Height(Bananas , High) </a:t>
            </a:r>
          </a:p>
          <a:p>
            <a:pPr marL="0" indent="0">
              <a:buNone/>
            </a:pPr>
            <a:endParaRPr lang="en-US" altLang="zh-CN" sz="2000" dirty="0">
              <a:solidFill>
                <a:schemeClr val="tx1"/>
              </a:solidFill>
            </a:endParaRPr>
          </a:p>
          <a:p>
            <a:pPr marL="0" indent="0" algn="ctr">
              <a:buNone/>
            </a:pPr>
            <a:r>
              <a:rPr lang="en-US" altLang="zh-CN" sz="2000" dirty="0">
                <a:solidFill>
                  <a:srgbClr val="FF0000"/>
                </a:solidFill>
              </a:rPr>
              <a:t>At(</a:t>
            </a:r>
            <a:r>
              <a:rPr lang="en-US" altLang="zh-CN" sz="2000" dirty="0" err="1">
                <a:solidFill>
                  <a:srgbClr val="FF0000"/>
                </a:solidFill>
              </a:rPr>
              <a:t>Monkey,A</a:t>
            </a:r>
            <a:r>
              <a:rPr lang="en-US" altLang="zh-CN" sz="2000" dirty="0">
                <a:solidFill>
                  <a:srgbClr val="FF0000"/>
                </a:solidFill>
              </a:rPr>
              <a:t>) ∧ At(</a:t>
            </a:r>
            <a:r>
              <a:rPr lang="en-US" altLang="zh-CN" sz="2000" dirty="0" err="1">
                <a:solidFill>
                  <a:srgbClr val="FF0000"/>
                </a:solidFill>
              </a:rPr>
              <a:t>Bananas,B</a:t>
            </a:r>
            <a:r>
              <a:rPr lang="en-US" altLang="zh-CN" sz="2000" dirty="0">
                <a:solidFill>
                  <a:srgbClr val="FF0000"/>
                </a:solidFill>
              </a:rPr>
              <a:t>) ∧ At(</a:t>
            </a:r>
            <a:r>
              <a:rPr lang="en-US" altLang="zh-CN" sz="2000" dirty="0" err="1">
                <a:solidFill>
                  <a:srgbClr val="FF0000"/>
                </a:solidFill>
              </a:rPr>
              <a:t>Box,C</a:t>
            </a:r>
            <a:r>
              <a:rPr lang="en-US" altLang="zh-CN" sz="2000" dirty="0">
                <a:solidFill>
                  <a:srgbClr val="FF0000"/>
                </a:solidFill>
              </a:rPr>
              <a:t>) ∧</a:t>
            </a:r>
          </a:p>
          <a:p>
            <a:pPr marL="0" indent="0" algn="ctr">
              <a:buNone/>
            </a:pPr>
            <a:r>
              <a:rPr lang="en-US" altLang="zh-CN" sz="2000" dirty="0">
                <a:solidFill>
                  <a:srgbClr val="FF0000"/>
                </a:solidFill>
              </a:rPr>
              <a:t>Height(</a:t>
            </a:r>
            <a:r>
              <a:rPr lang="en-US" altLang="zh-CN" sz="2000" dirty="0" err="1">
                <a:solidFill>
                  <a:srgbClr val="FF0000"/>
                </a:solidFill>
              </a:rPr>
              <a:t>Monkey,Low</a:t>
            </a:r>
            <a:r>
              <a:rPr lang="en-US" altLang="zh-CN" sz="2000" dirty="0">
                <a:solidFill>
                  <a:srgbClr val="FF0000"/>
                </a:solidFill>
              </a:rPr>
              <a:t>) ∧ Height(</a:t>
            </a:r>
            <a:r>
              <a:rPr lang="en-US" altLang="zh-CN" sz="2000" dirty="0" err="1">
                <a:solidFill>
                  <a:srgbClr val="FF0000"/>
                </a:solidFill>
              </a:rPr>
              <a:t>Box,Low</a:t>
            </a:r>
            <a:r>
              <a:rPr lang="en-US" altLang="zh-CN" sz="2000" dirty="0">
                <a:solidFill>
                  <a:srgbClr val="FF0000"/>
                </a:solidFill>
              </a:rPr>
              <a:t>) ∧ Height(</a:t>
            </a:r>
            <a:r>
              <a:rPr lang="en-US" altLang="zh-CN" sz="2000" dirty="0" err="1">
                <a:solidFill>
                  <a:srgbClr val="FF0000"/>
                </a:solidFill>
              </a:rPr>
              <a:t>Bananas,High</a:t>
            </a:r>
            <a:r>
              <a:rPr lang="en-US" altLang="zh-CN" sz="2000" dirty="0">
                <a:solidFill>
                  <a:srgbClr val="FF0000"/>
                </a:solidFill>
              </a:rPr>
              <a:t>)</a:t>
            </a:r>
            <a:endParaRPr lang="en-US" altLang="zh-CN" sz="2000" dirty="0"/>
          </a:p>
          <a:p>
            <a:pPr marL="0" indent="0">
              <a:buNone/>
            </a:pPr>
            <a:r>
              <a:rPr lang="en-US" altLang="zh-CN" sz="2000" dirty="0">
                <a:solidFill>
                  <a:srgbClr val="FF0000"/>
                </a:solidFill>
                <a:sym typeface="+mn-ea"/>
              </a:rPr>
              <a:t>	</a:t>
            </a: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t>19</a:t>
            </a:fld>
            <a:endParaRPr lang="en-US" altLang="zh-CN"/>
          </a:p>
        </p:txBody>
      </p:sp>
      <p:pic>
        <p:nvPicPr>
          <p:cNvPr id="6" name="图片 5">
            <a:extLst>
              <a:ext uri="{FF2B5EF4-FFF2-40B4-BE49-F238E27FC236}">
                <a16:creationId xmlns:a16="http://schemas.microsoft.com/office/drawing/2014/main" id="{542A9325-29F1-2A66-F877-F4CA8EFBFB38}"/>
              </a:ext>
            </a:extLst>
          </p:cNvPr>
          <p:cNvPicPr>
            <a:picLocks noChangeAspect="1"/>
          </p:cNvPicPr>
          <p:nvPr/>
        </p:nvPicPr>
        <p:blipFill>
          <a:blip r:embed="rId2"/>
          <a:stretch>
            <a:fillRect/>
          </a:stretch>
        </p:blipFill>
        <p:spPr>
          <a:xfrm>
            <a:off x="4427984" y="-1136"/>
            <a:ext cx="4716016" cy="1796793"/>
          </a:xfrm>
          <a:prstGeom prst="rect">
            <a:avLst/>
          </a:prstGeom>
        </p:spPr>
      </p:pic>
    </p:spTree>
    <p:extLst>
      <p:ext uri="{BB962C8B-B14F-4D97-AF65-F5344CB8AC3E}">
        <p14:creationId xmlns:p14="http://schemas.microsoft.com/office/powerpoint/2010/main" val="2347734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a:xfrm>
            <a:off x="323215" y="1344930"/>
            <a:ext cx="8377555" cy="5274945"/>
          </a:xfrm>
        </p:spPr>
        <p:txBody>
          <a:bodyPr/>
          <a:lstStyle/>
          <a:p>
            <a:r>
              <a:rPr lang="en-US" altLang="zh-CN" sz="2400" dirty="0"/>
              <a:t>10</a:t>
            </a:r>
            <a:r>
              <a:rPr lang="zh-CN" altLang="en-US" sz="2400" dirty="0"/>
              <a:t>.</a:t>
            </a:r>
            <a:r>
              <a:rPr lang="en-US" altLang="zh-CN" sz="2400" dirty="0"/>
              <a:t>3</a:t>
            </a:r>
            <a:endParaRPr lang="zh-CN" altLang="en-US" sz="2400" dirty="0"/>
          </a:p>
          <a:p>
            <a:pPr marL="0" indent="0">
              <a:buNone/>
            </a:pPr>
            <a:r>
              <a:rPr lang="en-US" altLang="zh-CN" sz="2000" dirty="0">
                <a:solidFill>
                  <a:schemeClr val="tx1"/>
                </a:solidFill>
                <a:sym typeface="+mn-ea"/>
              </a:rPr>
              <a:t>	b. </a:t>
            </a:r>
            <a:r>
              <a:rPr lang="zh-CN" altLang="en-US" sz="2000" dirty="0">
                <a:solidFill>
                  <a:schemeClr val="tx1"/>
                </a:solidFill>
                <a:sym typeface="+mn-ea"/>
              </a:rPr>
              <a:t>写出六个动作模式</a:t>
            </a:r>
            <a:r>
              <a:rPr lang="zh-CN" altLang="en-US" sz="2000" dirty="0">
                <a:solidFill>
                  <a:srgbClr val="FF0000"/>
                </a:solidFill>
                <a:sym typeface="+mn-ea"/>
              </a:rPr>
              <a:t>（</a:t>
            </a:r>
            <a:r>
              <a:rPr lang="en-US" altLang="zh-CN" sz="2000" dirty="0">
                <a:solidFill>
                  <a:srgbClr val="FF0000"/>
                </a:solidFill>
                <a:sym typeface="+mn-ea"/>
              </a:rPr>
              <a:t>30</a:t>
            </a:r>
            <a:r>
              <a:rPr lang="zh-CN" altLang="en-US" sz="2000" dirty="0">
                <a:solidFill>
                  <a:srgbClr val="FF0000"/>
                </a:solidFill>
                <a:sym typeface="+mn-ea"/>
              </a:rPr>
              <a:t>分）</a:t>
            </a:r>
            <a:endParaRPr lang="en-US" altLang="zh-CN" sz="2000" dirty="0">
              <a:solidFill>
                <a:srgbClr val="FF0000"/>
              </a:solidFill>
              <a:sym typeface="+mn-ea"/>
            </a:endParaRPr>
          </a:p>
          <a:p>
            <a:pPr marL="0" indent="0">
              <a:buNone/>
            </a:pPr>
            <a:r>
              <a:rPr lang="en-US" altLang="zh-CN" sz="2000" dirty="0">
                <a:solidFill>
                  <a:schemeClr val="tx1"/>
                </a:solidFill>
                <a:sym typeface="+mn-ea"/>
              </a:rPr>
              <a:t>	1.</a:t>
            </a:r>
            <a:r>
              <a:rPr lang="zh-CN" altLang="en-US" sz="2000" dirty="0">
                <a:solidFill>
                  <a:schemeClr val="tx1"/>
                </a:solidFill>
                <a:sym typeface="+mn-ea"/>
              </a:rPr>
              <a:t>让猴子可以从一个地方到另一个地方的</a:t>
            </a:r>
            <a:r>
              <a:rPr lang="en-US" altLang="zh-CN" sz="2000" dirty="0">
                <a:solidFill>
                  <a:schemeClr val="tx1"/>
                </a:solidFill>
                <a:sym typeface="+mn-ea"/>
              </a:rPr>
              <a:t>GO</a:t>
            </a:r>
            <a:r>
              <a:rPr lang="zh-CN" altLang="en-US" sz="2000" dirty="0">
                <a:solidFill>
                  <a:schemeClr val="tx1"/>
                </a:solidFill>
                <a:sym typeface="+mn-ea"/>
              </a:rPr>
              <a:t>：</a:t>
            </a:r>
            <a:endParaRPr lang="en-US" altLang="zh-CN" sz="2000" dirty="0">
              <a:solidFill>
                <a:schemeClr val="tx1"/>
              </a:solidFill>
              <a:sym typeface="+mn-ea"/>
            </a:endParaRP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Action(</a:t>
            </a:r>
            <a:r>
              <a:rPr lang="en-US" altLang="zh-CN" sz="2000" dirty="0" err="1">
                <a:solidFill>
                  <a:schemeClr val="tx1"/>
                </a:solidFill>
                <a:latin typeface="Cambria Math" panose="02040503050406030204" pitchFamily="18" charset="0"/>
                <a:ea typeface="Cambria Math" panose="02040503050406030204" pitchFamily="18" charset="0"/>
                <a:sym typeface="+mn-ea"/>
              </a:rPr>
              <a:t>ACTION:Go</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x,y</a:t>
            </a:r>
            <a:r>
              <a:rPr lang="en-US" altLang="zh-CN" sz="2000" dirty="0">
                <a:solidFill>
                  <a:schemeClr val="tx1"/>
                </a:solidFill>
                <a:latin typeface="Cambria Math" panose="02040503050406030204" pitchFamily="18" charset="0"/>
                <a:ea typeface="Cambria Math" panose="02040503050406030204" pitchFamily="18" charset="0"/>
                <a:sym typeface="+mn-ea"/>
              </a:rPr>
              <a:t>), </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PRECOND:At</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Monkey,x</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EFFECT:At</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Monkey,y</a:t>
            </a:r>
            <a:r>
              <a:rPr lang="en-US" altLang="zh-CN" sz="2000" dirty="0">
                <a:solidFill>
                  <a:schemeClr val="tx1"/>
                </a:solidFill>
                <a:latin typeface="Cambria Math" panose="02040503050406030204" pitchFamily="18" charset="0"/>
                <a:ea typeface="Cambria Math" panose="02040503050406030204" pitchFamily="18" charset="0"/>
                <a:sym typeface="+mn-ea"/>
              </a:rPr>
              <a:t>) ∧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Monkey,x</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r>
              <a:rPr lang="en-US" altLang="zh-CN" sz="2000" dirty="0">
                <a:solidFill>
                  <a:schemeClr val="tx1"/>
                </a:solidFill>
                <a:sym typeface="+mn-ea"/>
              </a:rPr>
              <a:t>	2.</a:t>
            </a:r>
            <a:r>
              <a:rPr lang="zh-CN" altLang="en-US" sz="2000" dirty="0">
                <a:solidFill>
                  <a:schemeClr val="tx1"/>
                </a:solidFill>
                <a:sym typeface="+mn-ea"/>
              </a:rPr>
              <a:t>猴子将对象从一个地方推到另一个地方的</a:t>
            </a:r>
            <a:r>
              <a:rPr lang="en-US" altLang="zh-CN" sz="2000" dirty="0">
                <a:solidFill>
                  <a:schemeClr val="tx1"/>
                </a:solidFill>
                <a:sym typeface="+mn-ea"/>
              </a:rPr>
              <a:t>Push</a:t>
            </a:r>
            <a:r>
              <a:rPr lang="zh-CN" altLang="en-US" sz="2000" dirty="0">
                <a:solidFill>
                  <a:schemeClr val="tx1"/>
                </a:solidFill>
                <a:sym typeface="+mn-ea"/>
              </a:rPr>
              <a:t>：</a:t>
            </a:r>
            <a:endParaRPr lang="en-US" altLang="zh-CN" sz="2000" dirty="0">
              <a:solidFill>
                <a:schemeClr val="tx1"/>
              </a:solidFill>
              <a:sym typeface="+mn-ea"/>
            </a:endParaRP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Action(</a:t>
            </a:r>
            <a:r>
              <a:rPr lang="en-US" altLang="zh-CN" sz="2000" dirty="0" err="1">
                <a:solidFill>
                  <a:schemeClr val="tx1"/>
                </a:solidFill>
                <a:latin typeface="Cambria Math" panose="02040503050406030204" pitchFamily="18" charset="0"/>
                <a:ea typeface="Cambria Math" panose="02040503050406030204" pitchFamily="18" charset="0"/>
                <a:sym typeface="+mn-ea"/>
              </a:rPr>
              <a:t>ACTION:Push</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b,x,y</a:t>
            </a:r>
            <a:r>
              <a:rPr lang="en-US" altLang="zh-CN" sz="2000" dirty="0">
                <a:solidFill>
                  <a:schemeClr val="tx1"/>
                </a:solidFill>
                <a:latin typeface="Cambria Math" panose="02040503050406030204" pitchFamily="18" charset="0"/>
                <a:ea typeface="Cambria Math" panose="02040503050406030204" pitchFamily="18" charset="0"/>
                <a:sym typeface="+mn-ea"/>
              </a:rPr>
              <a:t>), </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PRECOND:At</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Monkey,x</a:t>
            </a:r>
            <a:r>
              <a:rPr lang="en-US" altLang="zh-CN" sz="2000" dirty="0">
                <a:solidFill>
                  <a:schemeClr val="tx1"/>
                </a:solidFill>
                <a:latin typeface="Cambria Math" panose="02040503050406030204" pitchFamily="18" charset="0"/>
                <a:ea typeface="Cambria Math" panose="02040503050406030204" pitchFamily="18" charset="0"/>
                <a:sym typeface="+mn-ea"/>
              </a:rPr>
              <a:t>) ∧ At(</a:t>
            </a:r>
            <a:r>
              <a:rPr lang="en-US" altLang="zh-CN" sz="2000" dirty="0" err="1">
                <a:solidFill>
                  <a:schemeClr val="tx1"/>
                </a:solidFill>
                <a:latin typeface="Cambria Math" panose="02040503050406030204" pitchFamily="18" charset="0"/>
                <a:ea typeface="Cambria Math" panose="02040503050406030204" pitchFamily="18" charset="0"/>
                <a:sym typeface="+mn-ea"/>
              </a:rPr>
              <a:t>b,x</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EFFECT:At</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b,y</a:t>
            </a:r>
            <a:r>
              <a:rPr lang="en-US" altLang="zh-CN" sz="2000" dirty="0">
                <a:solidFill>
                  <a:schemeClr val="tx1"/>
                </a:solidFill>
                <a:latin typeface="Cambria Math" panose="02040503050406030204" pitchFamily="18" charset="0"/>
                <a:ea typeface="Cambria Math" panose="02040503050406030204" pitchFamily="18" charset="0"/>
                <a:sym typeface="+mn-ea"/>
              </a:rPr>
              <a:t>) ∧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Monkey,y</a:t>
            </a:r>
            <a:r>
              <a:rPr lang="en-US" altLang="zh-CN" sz="2000" dirty="0">
                <a:solidFill>
                  <a:schemeClr val="tx1"/>
                </a:solidFill>
                <a:latin typeface="Cambria Math" panose="02040503050406030204" pitchFamily="18" charset="0"/>
                <a:ea typeface="Cambria Math" panose="02040503050406030204" pitchFamily="18" charset="0"/>
                <a:sym typeface="+mn-ea"/>
              </a:rPr>
              <a:t>) ∧ ¬At(</a:t>
            </a:r>
            <a:r>
              <a:rPr lang="en-US" altLang="zh-CN" sz="2000" dirty="0" err="1">
                <a:solidFill>
                  <a:schemeClr val="tx1"/>
                </a:solidFill>
                <a:latin typeface="Cambria Math" panose="02040503050406030204" pitchFamily="18" charset="0"/>
                <a:ea typeface="Cambria Math" panose="02040503050406030204" pitchFamily="18" charset="0"/>
                <a:sym typeface="+mn-ea"/>
              </a:rPr>
              <a:t>b,x</a:t>
            </a:r>
            <a:r>
              <a:rPr lang="en-US" altLang="zh-CN" sz="2000" dirty="0">
                <a:solidFill>
                  <a:schemeClr val="tx1"/>
                </a:solidFill>
                <a:latin typeface="Cambria Math" panose="02040503050406030204" pitchFamily="18" charset="0"/>
                <a:ea typeface="Cambria Math" panose="02040503050406030204" pitchFamily="18" charset="0"/>
                <a:sym typeface="+mn-ea"/>
              </a:rPr>
              <a:t>) ∧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Monkey,x</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endParaRPr lang="en-US" altLang="zh-CN" sz="2000" dirty="0">
              <a:solidFill>
                <a:srgbClr val="FF0000"/>
              </a:solidFill>
              <a:sym typeface="+mn-ea"/>
            </a:endParaRP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t>20</a:t>
            </a:fld>
            <a:endParaRPr lang="en-US" altLang="zh-CN"/>
          </a:p>
        </p:txBody>
      </p:sp>
    </p:spTree>
    <p:extLst>
      <p:ext uri="{BB962C8B-B14F-4D97-AF65-F5344CB8AC3E}">
        <p14:creationId xmlns:p14="http://schemas.microsoft.com/office/powerpoint/2010/main" val="3943335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a:xfrm>
            <a:off x="323215" y="1344930"/>
            <a:ext cx="8377555" cy="5274945"/>
          </a:xfrm>
        </p:spPr>
        <p:txBody>
          <a:bodyPr/>
          <a:lstStyle/>
          <a:p>
            <a:r>
              <a:rPr lang="en-US" altLang="zh-CN" sz="2400" dirty="0"/>
              <a:t>10</a:t>
            </a:r>
            <a:r>
              <a:rPr lang="zh-CN" altLang="en-US" sz="2400" dirty="0"/>
              <a:t>.</a:t>
            </a:r>
            <a:r>
              <a:rPr lang="en-US" altLang="zh-CN" sz="2400" dirty="0"/>
              <a:t>3</a:t>
            </a:r>
            <a:endParaRPr lang="zh-CN" altLang="en-US" sz="2400" dirty="0"/>
          </a:p>
          <a:p>
            <a:pPr marL="0" indent="0">
              <a:buNone/>
            </a:pPr>
            <a:r>
              <a:rPr lang="en-US" altLang="zh-CN" sz="2000" dirty="0">
                <a:solidFill>
                  <a:schemeClr val="tx1"/>
                </a:solidFill>
                <a:sym typeface="+mn-ea"/>
              </a:rPr>
              <a:t>	b. </a:t>
            </a:r>
            <a:r>
              <a:rPr lang="zh-CN" altLang="en-US" sz="2000" dirty="0">
                <a:solidFill>
                  <a:schemeClr val="tx1"/>
                </a:solidFill>
                <a:sym typeface="+mn-ea"/>
              </a:rPr>
              <a:t>写出六个动作模式</a:t>
            </a:r>
            <a:r>
              <a:rPr lang="zh-CN" altLang="en-US" sz="2000" dirty="0">
                <a:solidFill>
                  <a:srgbClr val="FF0000"/>
                </a:solidFill>
                <a:sym typeface="+mn-ea"/>
              </a:rPr>
              <a:t>（</a:t>
            </a:r>
            <a:r>
              <a:rPr lang="en-US" altLang="zh-CN" sz="2000" dirty="0">
                <a:solidFill>
                  <a:srgbClr val="FF0000"/>
                </a:solidFill>
                <a:sym typeface="+mn-ea"/>
              </a:rPr>
              <a:t>30</a:t>
            </a:r>
            <a:r>
              <a:rPr lang="zh-CN" altLang="en-US" sz="2000" dirty="0">
                <a:solidFill>
                  <a:srgbClr val="FF0000"/>
                </a:solidFill>
                <a:sym typeface="+mn-ea"/>
              </a:rPr>
              <a:t>分）</a:t>
            </a:r>
            <a:endParaRPr lang="en-US" altLang="zh-CN" sz="2000" dirty="0">
              <a:solidFill>
                <a:srgbClr val="FF0000"/>
              </a:solidFill>
              <a:sym typeface="+mn-ea"/>
            </a:endParaRPr>
          </a:p>
          <a:p>
            <a:pPr marL="0" indent="0">
              <a:buNone/>
            </a:pPr>
            <a:r>
              <a:rPr lang="en-US" altLang="zh-CN" sz="2000" dirty="0">
                <a:solidFill>
                  <a:schemeClr val="tx1"/>
                </a:solidFill>
                <a:sym typeface="+mn-ea"/>
              </a:rPr>
              <a:t>	3.</a:t>
            </a:r>
            <a:r>
              <a:rPr lang="zh-CN" altLang="en-US" sz="2000" dirty="0">
                <a:solidFill>
                  <a:schemeClr val="tx1"/>
                </a:solidFill>
                <a:sym typeface="+mn-ea"/>
              </a:rPr>
              <a:t>爬上一个对象的</a:t>
            </a:r>
            <a:r>
              <a:rPr lang="en-US" altLang="zh-CN" sz="2000" dirty="0" err="1">
                <a:solidFill>
                  <a:schemeClr val="tx1"/>
                </a:solidFill>
                <a:sym typeface="+mn-ea"/>
              </a:rPr>
              <a:t>ClimbUp</a:t>
            </a:r>
            <a:r>
              <a:rPr lang="zh-CN" altLang="en-US" sz="2000" dirty="0">
                <a:solidFill>
                  <a:schemeClr val="tx1"/>
                </a:solidFill>
                <a:sym typeface="+mn-ea"/>
              </a:rPr>
              <a:t>：</a:t>
            </a:r>
            <a:endParaRPr lang="en-US" altLang="zh-CN" sz="2000" dirty="0">
              <a:solidFill>
                <a:schemeClr val="tx1"/>
              </a:solidFill>
              <a:sym typeface="+mn-ea"/>
            </a:endParaRP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Action(</a:t>
            </a:r>
            <a:r>
              <a:rPr lang="en-US" altLang="zh-CN" sz="2000" dirty="0" err="1">
                <a:solidFill>
                  <a:schemeClr val="tx1"/>
                </a:solidFill>
                <a:latin typeface="Cambria Math" panose="02040503050406030204" pitchFamily="18" charset="0"/>
                <a:ea typeface="Cambria Math" panose="02040503050406030204" pitchFamily="18" charset="0"/>
                <a:sym typeface="+mn-ea"/>
              </a:rPr>
              <a:t>ACTION:ClimbUp</a:t>
            </a:r>
            <a:r>
              <a:rPr lang="en-US" altLang="zh-CN" sz="2000" dirty="0">
                <a:solidFill>
                  <a:schemeClr val="tx1"/>
                </a:solidFill>
                <a:latin typeface="Cambria Math" panose="02040503050406030204" pitchFamily="18" charset="0"/>
                <a:ea typeface="Cambria Math" panose="02040503050406030204" pitchFamily="18" charset="0"/>
                <a:sym typeface="+mn-ea"/>
              </a:rPr>
              <a:t>(b),</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PRECOND:At</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Monkey,x</a:t>
            </a:r>
            <a:r>
              <a:rPr lang="en-US" altLang="zh-CN" sz="2000" dirty="0">
                <a:solidFill>
                  <a:schemeClr val="tx1"/>
                </a:solidFill>
                <a:latin typeface="Cambria Math" panose="02040503050406030204" pitchFamily="18" charset="0"/>
                <a:ea typeface="Cambria Math" panose="02040503050406030204" pitchFamily="18" charset="0"/>
                <a:sym typeface="+mn-ea"/>
              </a:rPr>
              <a:t>) ∧ At(</a:t>
            </a:r>
            <a:r>
              <a:rPr lang="en-US" altLang="zh-CN" sz="2000" dirty="0" err="1">
                <a:solidFill>
                  <a:schemeClr val="tx1"/>
                </a:solidFill>
                <a:latin typeface="Cambria Math" panose="02040503050406030204" pitchFamily="18" charset="0"/>
                <a:ea typeface="Cambria Math" panose="02040503050406030204" pitchFamily="18" charset="0"/>
                <a:sym typeface="+mn-ea"/>
              </a:rPr>
              <a:t>b,x</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EFFECT:On</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Monkey,b</a:t>
            </a:r>
            <a:r>
              <a:rPr lang="en-US" altLang="zh-CN" sz="2000" dirty="0">
                <a:solidFill>
                  <a:schemeClr val="tx1"/>
                </a:solidFill>
                <a:latin typeface="Cambria Math" panose="02040503050406030204" pitchFamily="18" charset="0"/>
                <a:ea typeface="Cambria Math" panose="02040503050406030204" pitchFamily="18" charset="0"/>
                <a:sym typeface="+mn-ea"/>
              </a:rPr>
              <a:t>) ∧ ¬Height(</a:t>
            </a:r>
            <a:r>
              <a:rPr lang="en-US" altLang="zh-CN" sz="2000" dirty="0" err="1">
                <a:solidFill>
                  <a:schemeClr val="tx1"/>
                </a:solidFill>
                <a:latin typeface="Cambria Math" panose="02040503050406030204" pitchFamily="18" charset="0"/>
                <a:ea typeface="Cambria Math" panose="02040503050406030204" pitchFamily="18" charset="0"/>
                <a:sym typeface="+mn-ea"/>
              </a:rPr>
              <a:t>Monkey,High</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r>
              <a:rPr lang="en-US" altLang="zh-CN" sz="2000" dirty="0">
                <a:solidFill>
                  <a:schemeClr val="tx1"/>
                </a:solidFill>
                <a:sym typeface="+mn-ea"/>
              </a:rPr>
              <a:t>	4.</a:t>
            </a:r>
            <a:r>
              <a:rPr lang="zh-CN" altLang="en-US" sz="2000" dirty="0">
                <a:solidFill>
                  <a:schemeClr val="tx1"/>
                </a:solidFill>
                <a:sym typeface="+mn-ea"/>
              </a:rPr>
              <a:t>爬下一个对象的</a:t>
            </a:r>
            <a:r>
              <a:rPr lang="en-US" altLang="zh-CN" sz="2000" dirty="0" err="1">
                <a:solidFill>
                  <a:schemeClr val="tx1"/>
                </a:solidFill>
                <a:sym typeface="+mn-ea"/>
              </a:rPr>
              <a:t>ClimbDown</a:t>
            </a:r>
            <a:r>
              <a:rPr lang="zh-CN" altLang="en-US" sz="2000" dirty="0">
                <a:solidFill>
                  <a:schemeClr val="tx1"/>
                </a:solidFill>
                <a:sym typeface="+mn-ea"/>
              </a:rPr>
              <a:t>：</a:t>
            </a:r>
            <a:endParaRPr lang="en-US" altLang="zh-CN" sz="2000" dirty="0">
              <a:solidFill>
                <a:schemeClr val="tx1"/>
              </a:solidFill>
              <a:sym typeface="+mn-ea"/>
            </a:endParaRP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Action(</a:t>
            </a:r>
            <a:r>
              <a:rPr lang="en-US" altLang="zh-CN" sz="2000" dirty="0" err="1">
                <a:solidFill>
                  <a:schemeClr val="tx1"/>
                </a:solidFill>
                <a:latin typeface="Cambria Math" panose="02040503050406030204" pitchFamily="18" charset="0"/>
                <a:ea typeface="Cambria Math" panose="02040503050406030204" pitchFamily="18" charset="0"/>
                <a:sym typeface="+mn-ea"/>
              </a:rPr>
              <a:t>ACTION:ClimbDown</a:t>
            </a:r>
            <a:r>
              <a:rPr lang="en-US" altLang="zh-CN" sz="2000" dirty="0">
                <a:solidFill>
                  <a:schemeClr val="tx1"/>
                </a:solidFill>
                <a:latin typeface="Cambria Math" panose="02040503050406030204" pitchFamily="18" charset="0"/>
                <a:ea typeface="Cambria Math" panose="02040503050406030204" pitchFamily="18" charset="0"/>
                <a:sym typeface="+mn-ea"/>
              </a:rPr>
              <a:t>(b),</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PRECOND:On</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Monkey,b</a:t>
            </a:r>
            <a:r>
              <a:rPr lang="en-US" altLang="zh-CN" sz="2000" dirty="0">
                <a:solidFill>
                  <a:schemeClr val="tx1"/>
                </a:solidFill>
                <a:latin typeface="Cambria Math" panose="02040503050406030204" pitchFamily="18" charset="0"/>
                <a:ea typeface="Cambria Math" panose="02040503050406030204" pitchFamily="18" charset="0"/>
                <a:sym typeface="+mn-ea"/>
              </a:rPr>
              <a:t>) ∧ Height(</a:t>
            </a:r>
            <a:r>
              <a:rPr lang="en-US" altLang="zh-CN" sz="2000" dirty="0" err="1">
                <a:solidFill>
                  <a:schemeClr val="tx1"/>
                </a:solidFill>
                <a:latin typeface="Cambria Math" panose="02040503050406030204" pitchFamily="18" charset="0"/>
                <a:ea typeface="Cambria Math" panose="02040503050406030204" pitchFamily="18" charset="0"/>
                <a:sym typeface="+mn-ea"/>
              </a:rPr>
              <a:t>Monkey,High</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EFFECT:¬On(</a:t>
            </a:r>
            <a:r>
              <a:rPr lang="en-US" altLang="zh-CN" sz="2000" dirty="0" err="1">
                <a:solidFill>
                  <a:schemeClr val="tx1"/>
                </a:solidFill>
                <a:latin typeface="Cambria Math" panose="02040503050406030204" pitchFamily="18" charset="0"/>
                <a:ea typeface="Cambria Math" panose="02040503050406030204" pitchFamily="18" charset="0"/>
                <a:sym typeface="+mn-ea"/>
              </a:rPr>
              <a:t>Monkey,b</a:t>
            </a:r>
            <a:r>
              <a:rPr lang="en-US" altLang="zh-CN" sz="2000" dirty="0">
                <a:solidFill>
                  <a:schemeClr val="tx1"/>
                </a:solidFill>
                <a:latin typeface="Cambria Math" panose="02040503050406030204" pitchFamily="18" charset="0"/>
                <a:ea typeface="Cambria Math" panose="02040503050406030204" pitchFamily="18" charset="0"/>
                <a:sym typeface="+mn-ea"/>
              </a:rPr>
              <a:t>)∧¬Height(</a:t>
            </a:r>
            <a:r>
              <a:rPr lang="en-US" altLang="zh-CN" sz="2000" dirty="0" err="1">
                <a:solidFill>
                  <a:schemeClr val="tx1"/>
                </a:solidFill>
                <a:latin typeface="Cambria Math" panose="02040503050406030204" pitchFamily="18" charset="0"/>
                <a:ea typeface="Cambria Math" panose="02040503050406030204" pitchFamily="18" charset="0"/>
                <a:sym typeface="+mn-ea"/>
              </a:rPr>
              <a:t>Monkey,High</a:t>
            </a:r>
            <a:r>
              <a:rPr lang="en-US" altLang="zh-CN" sz="2000" dirty="0">
                <a:solidFill>
                  <a:schemeClr val="tx1"/>
                </a:solidFill>
                <a:latin typeface="Cambria Math" panose="02040503050406030204" pitchFamily="18" charset="0"/>
                <a:ea typeface="Cambria Math" panose="02040503050406030204" pitchFamily="18" charset="0"/>
                <a:sym typeface="+mn-ea"/>
              </a:rPr>
              <a:t>)										∧Height(</a:t>
            </a:r>
            <a:r>
              <a:rPr lang="en-US" altLang="zh-CN" sz="2000" dirty="0" err="1">
                <a:solidFill>
                  <a:schemeClr val="tx1"/>
                </a:solidFill>
                <a:latin typeface="Cambria Math" panose="02040503050406030204" pitchFamily="18" charset="0"/>
                <a:ea typeface="Cambria Math" panose="02040503050406030204" pitchFamily="18" charset="0"/>
                <a:sym typeface="+mn-ea"/>
              </a:rPr>
              <a:t>Monkey,Low</a:t>
            </a:r>
            <a:r>
              <a:rPr lang="en-US" altLang="zh-CN" sz="2000" dirty="0">
                <a:solidFill>
                  <a:schemeClr val="tx1"/>
                </a:solidFill>
                <a:latin typeface="Cambria Math" panose="02040503050406030204" pitchFamily="18" charset="0"/>
                <a:ea typeface="Cambria Math" panose="02040503050406030204" pitchFamily="18" charset="0"/>
                <a:sym typeface="+mn-ea"/>
              </a:rPr>
              <a:t>)	</a:t>
            </a:r>
            <a:endParaRPr lang="en-US" altLang="zh-CN" sz="2000" dirty="0">
              <a:solidFill>
                <a:srgbClr val="FF0000"/>
              </a:solidFill>
              <a:latin typeface="Cambria Math" panose="02040503050406030204" pitchFamily="18" charset="0"/>
              <a:ea typeface="Cambria Math" panose="02040503050406030204" pitchFamily="18" charset="0"/>
              <a:sym typeface="+mn-ea"/>
            </a:endParaRP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t>21</a:t>
            </a:fld>
            <a:endParaRPr lang="en-US" altLang="zh-CN"/>
          </a:p>
        </p:txBody>
      </p:sp>
    </p:spTree>
    <p:extLst>
      <p:ext uri="{BB962C8B-B14F-4D97-AF65-F5344CB8AC3E}">
        <p14:creationId xmlns:p14="http://schemas.microsoft.com/office/powerpoint/2010/main" val="569383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a:xfrm>
            <a:off x="323215" y="1344930"/>
            <a:ext cx="8377555" cy="5274945"/>
          </a:xfrm>
        </p:spPr>
        <p:txBody>
          <a:bodyPr/>
          <a:lstStyle/>
          <a:p>
            <a:r>
              <a:rPr lang="en-US" altLang="zh-CN" sz="2400" dirty="0"/>
              <a:t>10</a:t>
            </a:r>
            <a:r>
              <a:rPr lang="zh-CN" altLang="en-US" sz="2400" dirty="0"/>
              <a:t>.</a:t>
            </a:r>
            <a:r>
              <a:rPr lang="en-US" altLang="zh-CN" sz="2400" dirty="0"/>
              <a:t>3</a:t>
            </a:r>
            <a:endParaRPr lang="zh-CN" altLang="en-US" sz="2400" dirty="0"/>
          </a:p>
          <a:p>
            <a:pPr marL="0" indent="0">
              <a:buNone/>
            </a:pPr>
            <a:r>
              <a:rPr lang="en-US" altLang="zh-CN" sz="2000" dirty="0">
                <a:solidFill>
                  <a:schemeClr val="tx1"/>
                </a:solidFill>
                <a:sym typeface="+mn-ea"/>
              </a:rPr>
              <a:t>	b. </a:t>
            </a:r>
            <a:r>
              <a:rPr lang="zh-CN" altLang="en-US" sz="2000" dirty="0">
                <a:solidFill>
                  <a:schemeClr val="tx1"/>
                </a:solidFill>
                <a:sym typeface="+mn-ea"/>
              </a:rPr>
              <a:t>写出六个动作模式</a:t>
            </a:r>
            <a:r>
              <a:rPr lang="zh-CN" altLang="en-US" sz="2000" dirty="0">
                <a:solidFill>
                  <a:srgbClr val="FF0000"/>
                </a:solidFill>
                <a:sym typeface="+mn-ea"/>
              </a:rPr>
              <a:t>（</a:t>
            </a:r>
            <a:r>
              <a:rPr lang="en-US" altLang="zh-CN" sz="2000" dirty="0">
                <a:solidFill>
                  <a:srgbClr val="FF0000"/>
                </a:solidFill>
                <a:sym typeface="+mn-ea"/>
              </a:rPr>
              <a:t>30</a:t>
            </a:r>
            <a:r>
              <a:rPr lang="zh-CN" altLang="en-US" sz="2000" dirty="0">
                <a:solidFill>
                  <a:srgbClr val="FF0000"/>
                </a:solidFill>
                <a:sym typeface="+mn-ea"/>
              </a:rPr>
              <a:t>分）</a:t>
            </a:r>
            <a:endParaRPr lang="en-US" altLang="zh-CN" sz="2000" dirty="0">
              <a:solidFill>
                <a:srgbClr val="FF0000"/>
              </a:solidFill>
              <a:sym typeface="+mn-ea"/>
            </a:endParaRPr>
          </a:p>
          <a:p>
            <a:pPr marL="0" indent="0">
              <a:buNone/>
            </a:pPr>
            <a:r>
              <a:rPr lang="en-US" altLang="zh-CN" sz="2000" dirty="0">
                <a:solidFill>
                  <a:schemeClr val="tx1"/>
                </a:solidFill>
                <a:sym typeface="+mn-ea"/>
              </a:rPr>
              <a:t>	5.</a:t>
            </a:r>
            <a:r>
              <a:rPr lang="zh-CN" altLang="en-US" sz="2000" dirty="0">
                <a:solidFill>
                  <a:schemeClr val="tx1"/>
                </a:solidFill>
                <a:sym typeface="+mn-ea"/>
              </a:rPr>
              <a:t>抓住一个对象的</a:t>
            </a:r>
            <a:r>
              <a:rPr lang="en-US" altLang="zh-CN" sz="2000" dirty="0">
                <a:solidFill>
                  <a:schemeClr val="tx1"/>
                </a:solidFill>
                <a:sym typeface="+mn-ea"/>
              </a:rPr>
              <a:t>Grasp</a:t>
            </a:r>
            <a:r>
              <a:rPr lang="zh-CN" altLang="en-US" sz="2000" dirty="0">
                <a:solidFill>
                  <a:schemeClr val="tx1"/>
                </a:solidFill>
                <a:sym typeface="+mn-ea"/>
              </a:rPr>
              <a:t>：</a:t>
            </a:r>
            <a:endParaRPr lang="en-US" altLang="zh-CN" sz="2000" dirty="0">
              <a:solidFill>
                <a:schemeClr val="tx1"/>
              </a:solidFill>
              <a:sym typeface="+mn-ea"/>
            </a:endParaRP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Action(</a:t>
            </a:r>
            <a:r>
              <a:rPr lang="en-US" altLang="zh-CN" sz="2000" dirty="0" err="1">
                <a:solidFill>
                  <a:schemeClr val="tx1"/>
                </a:solidFill>
                <a:latin typeface="Cambria Math" panose="02040503050406030204" pitchFamily="18" charset="0"/>
                <a:ea typeface="Cambria Math" panose="02040503050406030204" pitchFamily="18" charset="0"/>
                <a:sym typeface="+mn-ea"/>
              </a:rPr>
              <a:t>ACTION:Grasp</a:t>
            </a:r>
            <a:r>
              <a:rPr lang="en-US" altLang="zh-CN" sz="2000" dirty="0">
                <a:solidFill>
                  <a:schemeClr val="tx1"/>
                </a:solidFill>
                <a:latin typeface="Cambria Math" panose="02040503050406030204" pitchFamily="18" charset="0"/>
                <a:ea typeface="Cambria Math" panose="02040503050406030204" pitchFamily="18" charset="0"/>
                <a:sym typeface="+mn-ea"/>
              </a:rPr>
              <a:t>(b),</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PRECOND:Height</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Monkey,h</a:t>
            </a:r>
            <a:r>
              <a:rPr lang="en-US" altLang="zh-CN" sz="2000" dirty="0">
                <a:solidFill>
                  <a:schemeClr val="tx1"/>
                </a:solidFill>
                <a:latin typeface="Cambria Math" panose="02040503050406030204" pitchFamily="18" charset="0"/>
                <a:ea typeface="Cambria Math" panose="02040503050406030204" pitchFamily="18" charset="0"/>
                <a:sym typeface="+mn-ea"/>
              </a:rPr>
              <a:t>) ∧ Height(</a:t>
            </a:r>
            <a:r>
              <a:rPr lang="en-US" altLang="zh-CN" sz="2000" dirty="0" err="1">
                <a:solidFill>
                  <a:schemeClr val="tx1"/>
                </a:solidFill>
                <a:latin typeface="Cambria Math" panose="02040503050406030204" pitchFamily="18" charset="0"/>
                <a:ea typeface="Cambria Math" panose="02040503050406030204" pitchFamily="18" charset="0"/>
                <a:sym typeface="+mn-ea"/>
              </a:rPr>
              <a:t>b,h</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Monkey,x</a:t>
            </a:r>
            <a:r>
              <a:rPr lang="en-US" altLang="zh-CN" sz="2000" dirty="0">
                <a:solidFill>
                  <a:schemeClr val="tx1"/>
                </a:solidFill>
                <a:latin typeface="Cambria Math" panose="02040503050406030204" pitchFamily="18" charset="0"/>
                <a:ea typeface="Cambria Math" panose="02040503050406030204" pitchFamily="18" charset="0"/>
                <a:sym typeface="+mn-ea"/>
              </a:rPr>
              <a:t>) ∧ At(</a:t>
            </a:r>
            <a:r>
              <a:rPr lang="en-US" altLang="zh-CN" sz="2000" dirty="0" err="1">
                <a:solidFill>
                  <a:schemeClr val="tx1"/>
                </a:solidFill>
                <a:latin typeface="Cambria Math" panose="02040503050406030204" pitchFamily="18" charset="0"/>
                <a:ea typeface="Cambria Math" panose="02040503050406030204" pitchFamily="18" charset="0"/>
                <a:sym typeface="+mn-ea"/>
              </a:rPr>
              <a:t>b,x</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EFFECT:Have</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Monkey,b</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r>
              <a:rPr lang="en-US" altLang="zh-CN" sz="2000" dirty="0">
                <a:solidFill>
                  <a:schemeClr val="tx1"/>
                </a:solidFill>
                <a:sym typeface="+mn-ea"/>
              </a:rPr>
              <a:t>	6.</a:t>
            </a:r>
            <a:r>
              <a:rPr lang="zh-CN" altLang="en-US" sz="2000" dirty="0">
                <a:solidFill>
                  <a:schemeClr val="tx1"/>
                </a:solidFill>
              </a:rPr>
              <a:t>放开一个对象的</a:t>
            </a:r>
            <a:r>
              <a:rPr lang="en-US" altLang="zh-CN" sz="2000" dirty="0">
                <a:solidFill>
                  <a:schemeClr val="tx1"/>
                </a:solidFill>
              </a:rPr>
              <a:t>Ungrasp </a:t>
            </a:r>
            <a:r>
              <a:rPr lang="zh-CN" altLang="en-US" sz="2000" dirty="0">
                <a:solidFill>
                  <a:schemeClr val="tx1"/>
                </a:solidFill>
                <a:sym typeface="+mn-ea"/>
              </a:rPr>
              <a:t>：</a:t>
            </a:r>
            <a:endParaRPr lang="en-US" altLang="zh-CN" sz="2000" dirty="0">
              <a:solidFill>
                <a:schemeClr val="tx1"/>
              </a:solidFill>
              <a:sym typeface="+mn-ea"/>
            </a:endParaRP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Action(</a:t>
            </a:r>
            <a:r>
              <a:rPr lang="en-US" altLang="zh-CN" sz="2000" dirty="0" err="1">
                <a:solidFill>
                  <a:schemeClr val="tx1"/>
                </a:solidFill>
                <a:latin typeface="Cambria Math" panose="02040503050406030204" pitchFamily="18" charset="0"/>
                <a:ea typeface="Cambria Math" panose="02040503050406030204" pitchFamily="18" charset="0"/>
                <a:sym typeface="+mn-ea"/>
              </a:rPr>
              <a:t>ACTION:UnGrasp</a:t>
            </a:r>
            <a:r>
              <a:rPr lang="en-US" altLang="zh-CN" sz="2000" dirty="0">
                <a:solidFill>
                  <a:schemeClr val="tx1"/>
                </a:solidFill>
                <a:latin typeface="Cambria Math" panose="02040503050406030204" pitchFamily="18" charset="0"/>
                <a:ea typeface="Cambria Math" panose="02040503050406030204" pitchFamily="18" charset="0"/>
                <a:sym typeface="+mn-ea"/>
              </a:rPr>
              <a:t>(b),</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PRECOND:Have</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Monkey,b</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EFFECT:¬Have(</a:t>
            </a:r>
            <a:r>
              <a:rPr lang="en-US" altLang="zh-CN" sz="2000" dirty="0" err="1">
                <a:solidFill>
                  <a:schemeClr val="tx1"/>
                </a:solidFill>
                <a:latin typeface="Cambria Math" panose="02040503050406030204" pitchFamily="18" charset="0"/>
                <a:ea typeface="Cambria Math" panose="02040503050406030204" pitchFamily="18" charset="0"/>
                <a:sym typeface="+mn-ea"/>
              </a:rPr>
              <a:t>Monkey,b</a:t>
            </a:r>
            <a:r>
              <a:rPr lang="en-US" altLang="zh-CN" sz="2000" dirty="0">
                <a:solidFill>
                  <a:schemeClr val="tx1"/>
                </a:solidFill>
                <a:latin typeface="Cambria Math" panose="02040503050406030204" pitchFamily="18" charset="0"/>
                <a:ea typeface="Cambria Math" panose="02040503050406030204" pitchFamily="18" charset="0"/>
                <a:sym typeface="+mn-ea"/>
              </a:rPr>
              <a:t>))</a:t>
            </a:r>
            <a:endParaRPr lang="en-US" altLang="zh-CN" sz="2000" dirty="0">
              <a:solidFill>
                <a:srgbClr val="FF0000"/>
              </a:solidFill>
              <a:latin typeface="Cambria Math" panose="02040503050406030204" pitchFamily="18" charset="0"/>
              <a:ea typeface="Cambria Math" panose="02040503050406030204" pitchFamily="18" charset="0"/>
              <a:sym typeface="+mn-ea"/>
            </a:endParaRP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t>22</a:t>
            </a:fld>
            <a:endParaRPr lang="en-US" altLang="zh-CN"/>
          </a:p>
        </p:txBody>
      </p:sp>
    </p:spTree>
    <p:extLst>
      <p:ext uri="{BB962C8B-B14F-4D97-AF65-F5344CB8AC3E}">
        <p14:creationId xmlns:p14="http://schemas.microsoft.com/office/powerpoint/2010/main" val="966392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a:xfrm>
            <a:off x="323215" y="1344930"/>
            <a:ext cx="8377555" cy="5274945"/>
          </a:xfrm>
        </p:spPr>
        <p:txBody>
          <a:bodyPr/>
          <a:lstStyle/>
          <a:p>
            <a:r>
              <a:rPr lang="en-US" altLang="zh-CN" sz="2400" dirty="0"/>
              <a:t>10</a:t>
            </a:r>
            <a:r>
              <a:rPr lang="zh-CN" altLang="en-US" sz="2400" dirty="0"/>
              <a:t>.</a:t>
            </a:r>
            <a:r>
              <a:rPr lang="en-US" altLang="zh-CN" sz="2400" dirty="0"/>
              <a:t>3</a:t>
            </a:r>
            <a:endParaRPr lang="zh-CN" altLang="en-US" sz="2400" dirty="0"/>
          </a:p>
          <a:p>
            <a:pPr marL="0" indent="0">
              <a:buNone/>
            </a:pPr>
            <a:r>
              <a:rPr lang="en-US" altLang="zh-CN" sz="2000" dirty="0">
                <a:solidFill>
                  <a:schemeClr val="tx1"/>
                </a:solidFill>
                <a:sym typeface="+mn-ea"/>
              </a:rPr>
              <a:t>	 d. </a:t>
            </a:r>
            <a:r>
              <a:rPr lang="zh-CN" altLang="en-US" sz="2000" dirty="0">
                <a:solidFill>
                  <a:schemeClr val="tx1"/>
                </a:solidFill>
                <a:sym typeface="+mn-ea"/>
              </a:rPr>
              <a:t>对推（</a:t>
            </a:r>
            <a:r>
              <a:rPr lang="en-US" altLang="zh-CN" sz="2000" dirty="0">
                <a:solidFill>
                  <a:schemeClr val="tx1"/>
                </a:solidFill>
                <a:sym typeface="+mn-ea"/>
              </a:rPr>
              <a:t>push</a:t>
            </a:r>
            <a:r>
              <a:rPr lang="zh-CN" altLang="en-US" sz="2000" dirty="0">
                <a:solidFill>
                  <a:schemeClr val="tx1"/>
                </a:solidFill>
                <a:sym typeface="+mn-ea"/>
              </a:rPr>
              <a:t>）的规则可能是不正确的，因为如果对象太重的话，应当用</a:t>
            </a:r>
            <a:r>
              <a:rPr lang="en-US" altLang="zh-CN" sz="2000" dirty="0">
                <a:solidFill>
                  <a:schemeClr val="tx1"/>
                </a:solidFill>
                <a:sym typeface="+mn-ea"/>
              </a:rPr>
              <a:t>Push</a:t>
            </a:r>
            <a:r>
              <a:rPr lang="zh-CN" altLang="en-US" sz="2000" dirty="0">
                <a:solidFill>
                  <a:schemeClr val="tx1"/>
                </a:solidFill>
                <a:sym typeface="+mn-ea"/>
              </a:rPr>
              <a:t>的时候对象的位置保持不变。修改你的动作模式来解决动作问题。</a:t>
            </a:r>
            <a:r>
              <a:rPr lang="zh-CN" altLang="en-US" sz="2000" dirty="0">
                <a:solidFill>
                  <a:srgbClr val="FF0000"/>
                </a:solidFill>
                <a:sym typeface="+mn-ea"/>
              </a:rPr>
              <a:t>（</a:t>
            </a:r>
            <a:r>
              <a:rPr lang="en-US" altLang="zh-CN" sz="2000" dirty="0">
                <a:solidFill>
                  <a:srgbClr val="FF0000"/>
                </a:solidFill>
                <a:sym typeface="+mn-ea"/>
              </a:rPr>
              <a:t>20</a:t>
            </a:r>
            <a:r>
              <a:rPr lang="zh-CN" altLang="en-US" sz="2000" dirty="0">
                <a:solidFill>
                  <a:srgbClr val="FF0000"/>
                </a:solidFill>
                <a:sym typeface="+mn-ea"/>
              </a:rPr>
              <a:t>分） </a:t>
            </a:r>
            <a:endParaRPr lang="en-US" altLang="zh-CN" sz="2000" dirty="0">
              <a:solidFill>
                <a:srgbClr val="FF0000"/>
              </a:solidFill>
              <a:sym typeface="+mn-ea"/>
            </a:endParaRPr>
          </a:p>
          <a:p>
            <a:pPr marL="0" indent="0">
              <a:buNone/>
            </a:pPr>
            <a:r>
              <a:rPr lang="en-US" altLang="zh-CN" sz="2000" dirty="0">
                <a:solidFill>
                  <a:schemeClr val="tx1"/>
                </a:solidFill>
              </a:rPr>
              <a:t>	</a:t>
            </a:r>
            <a:r>
              <a:rPr lang="zh-CN" altLang="en-US" sz="2000" dirty="0">
                <a:solidFill>
                  <a:schemeClr val="tx1"/>
                </a:solidFill>
              </a:rPr>
              <a:t>猴子位于</a:t>
            </a:r>
            <a:r>
              <a:rPr lang="en-US" altLang="zh-CN" sz="2000" dirty="0">
                <a:solidFill>
                  <a:schemeClr val="tx1"/>
                </a:solidFill>
              </a:rPr>
              <a:t>A</a:t>
            </a:r>
            <a:r>
              <a:rPr lang="zh-CN" altLang="en-US" sz="2000" dirty="0">
                <a:solidFill>
                  <a:schemeClr val="tx1"/>
                </a:solidFill>
              </a:rPr>
              <a:t>：</a:t>
            </a:r>
            <a:r>
              <a:rPr lang="en-US" altLang="zh-CN" sz="2000" dirty="0">
                <a:solidFill>
                  <a:schemeClr val="tx1"/>
                </a:solidFill>
              </a:rPr>
              <a:t>At(Monkey , A)</a:t>
            </a:r>
          </a:p>
          <a:p>
            <a:pPr marL="0" indent="0">
              <a:buNone/>
            </a:pPr>
            <a:r>
              <a:rPr lang="en-US" altLang="zh-CN" sz="2000" dirty="0">
                <a:solidFill>
                  <a:schemeClr val="tx1"/>
                </a:solidFill>
              </a:rPr>
              <a:t>	</a:t>
            </a:r>
            <a:r>
              <a:rPr lang="zh-CN" altLang="en-US" sz="2000" dirty="0">
                <a:solidFill>
                  <a:schemeClr val="tx1"/>
                </a:solidFill>
              </a:rPr>
              <a:t>香蕉位于</a:t>
            </a:r>
            <a:r>
              <a:rPr lang="en-US" altLang="zh-CN" sz="2000" dirty="0">
                <a:solidFill>
                  <a:schemeClr val="tx1"/>
                </a:solidFill>
              </a:rPr>
              <a:t>B</a:t>
            </a:r>
            <a:r>
              <a:rPr lang="zh-CN" altLang="en-US" sz="2000" dirty="0">
                <a:solidFill>
                  <a:schemeClr val="tx1"/>
                </a:solidFill>
              </a:rPr>
              <a:t>：</a:t>
            </a:r>
            <a:r>
              <a:rPr lang="en-US" altLang="zh-CN" sz="2000" dirty="0">
                <a:solidFill>
                  <a:schemeClr val="tx1"/>
                </a:solidFill>
              </a:rPr>
              <a:t>At(Bananas , B)</a:t>
            </a:r>
          </a:p>
          <a:p>
            <a:pPr marL="0" indent="0">
              <a:buNone/>
            </a:pPr>
            <a:r>
              <a:rPr lang="en-US" altLang="zh-CN" sz="2000" dirty="0">
                <a:solidFill>
                  <a:schemeClr val="tx1"/>
                </a:solidFill>
              </a:rPr>
              <a:t>	</a:t>
            </a:r>
            <a:r>
              <a:rPr lang="zh-CN" altLang="en-US" sz="2000" dirty="0">
                <a:solidFill>
                  <a:schemeClr val="tx1"/>
                </a:solidFill>
              </a:rPr>
              <a:t>箱子位于</a:t>
            </a:r>
            <a:r>
              <a:rPr lang="en-US" altLang="zh-CN" sz="2000" dirty="0">
                <a:solidFill>
                  <a:schemeClr val="tx1"/>
                </a:solidFill>
              </a:rPr>
              <a:t>C</a:t>
            </a:r>
            <a:r>
              <a:rPr lang="zh-CN" altLang="en-US" sz="2000" dirty="0">
                <a:solidFill>
                  <a:schemeClr val="tx1"/>
                </a:solidFill>
              </a:rPr>
              <a:t>：</a:t>
            </a:r>
            <a:r>
              <a:rPr lang="en-US" altLang="zh-CN" sz="2000" dirty="0">
                <a:solidFill>
                  <a:schemeClr val="tx1"/>
                </a:solidFill>
              </a:rPr>
              <a:t>At(Box , C)</a:t>
            </a:r>
          </a:p>
          <a:p>
            <a:pPr marL="0" indent="0">
              <a:buNone/>
            </a:pPr>
            <a:r>
              <a:rPr lang="en-US" altLang="zh-CN" sz="2000" dirty="0">
                <a:solidFill>
                  <a:schemeClr val="tx1"/>
                </a:solidFill>
              </a:rPr>
              <a:t>	</a:t>
            </a:r>
            <a:r>
              <a:rPr lang="zh-CN" altLang="en-US" sz="2000" dirty="0">
                <a:solidFill>
                  <a:schemeClr val="tx1"/>
                </a:solidFill>
              </a:rPr>
              <a:t>猴子和箱子的高度都是</a:t>
            </a:r>
            <a:r>
              <a:rPr lang="en-US" altLang="zh-CN" sz="2000" dirty="0">
                <a:solidFill>
                  <a:schemeClr val="tx1"/>
                </a:solidFill>
              </a:rPr>
              <a:t>Low</a:t>
            </a:r>
            <a:r>
              <a:rPr lang="zh-CN" altLang="en-US" sz="2000" dirty="0">
                <a:solidFill>
                  <a:schemeClr val="tx1"/>
                </a:solidFill>
              </a:rPr>
              <a:t>：</a:t>
            </a:r>
            <a:r>
              <a:rPr lang="en-US" altLang="zh-CN" sz="2000" dirty="0">
                <a:solidFill>
                  <a:schemeClr val="tx1"/>
                </a:solidFill>
              </a:rPr>
              <a:t>Height(Monkey , Low)</a:t>
            </a:r>
          </a:p>
          <a:p>
            <a:pPr marL="0" indent="0">
              <a:buNone/>
            </a:pPr>
            <a:r>
              <a:rPr lang="en-US" altLang="zh-CN" sz="2000" dirty="0">
                <a:solidFill>
                  <a:schemeClr val="tx1"/>
                </a:solidFill>
              </a:rPr>
              <a:t>								 Height(Box , Low) </a:t>
            </a:r>
          </a:p>
          <a:p>
            <a:pPr marL="0" indent="0">
              <a:buNone/>
            </a:pPr>
            <a:r>
              <a:rPr lang="en-US" altLang="zh-CN" sz="2000" dirty="0">
                <a:solidFill>
                  <a:schemeClr val="tx1"/>
                </a:solidFill>
              </a:rPr>
              <a:t>	</a:t>
            </a:r>
            <a:r>
              <a:rPr lang="zh-CN" altLang="en-US" sz="2000" dirty="0">
                <a:solidFill>
                  <a:schemeClr val="tx1"/>
                </a:solidFill>
              </a:rPr>
              <a:t>香蕉的高度是</a:t>
            </a:r>
            <a:r>
              <a:rPr lang="en-US" altLang="zh-CN" sz="2000" dirty="0">
                <a:solidFill>
                  <a:schemeClr val="tx1"/>
                </a:solidFill>
              </a:rPr>
              <a:t>High</a:t>
            </a:r>
            <a:r>
              <a:rPr lang="zh-CN" altLang="en-US" sz="2000" dirty="0">
                <a:solidFill>
                  <a:schemeClr val="tx1"/>
                </a:solidFill>
              </a:rPr>
              <a:t>：</a:t>
            </a:r>
            <a:r>
              <a:rPr lang="en-US" altLang="zh-CN" sz="2000" dirty="0">
                <a:solidFill>
                  <a:schemeClr val="tx1"/>
                </a:solidFill>
              </a:rPr>
              <a:t>Height(Bananas , High) </a:t>
            </a:r>
          </a:p>
          <a:p>
            <a:pPr marL="0" indent="0">
              <a:buNone/>
            </a:pPr>
            <a:r>
              <a:rPr lang="en-US" altLang="zh-CN" sz="2000" dirty="0">
                <a:solidFill>
                  <a:srgbClr val="FF0000"/>
                </a:solidFill>
              </a:rPr>
              <a:t>	</a:t>
            </a:r>
            <a:r>
              <a:rPr lang="zh-CN" altLang="en-US" sz="2000" dirty="0">
                <a:solidFill>
                  <a:srgbClr val="FF0000"/>
                </a:solidFill>
              </a:rPr>
              <a:t>箱子是可以推动的：</a:t>
            </a:r>
            <a:r>
              <a:rPr lang="en-US" altLang="zh-CN" sz="2000" dirty="0" err="1">
                <a:solidFill>
                  <a:srgbClr val="FF0000"/>
                </a:solidFill>
              </a:rPr>
              <a:t>Pushable</a:t>
            </a:r>
            <a:r>
              <a:rPr lang="en-US" altLang="zh-CN" sz="2000" dirty="0">
                <a:solidFill>
                  <a:srgbClr val="FF0000"/>
                </a:solidFill>
              </a:rPr>
              <a:t>(Box)</a:t>
            </a:r>
          </a:p>
          <a:p>
            <a:pPr marL="0" indent="0" algn="ctr">
              <a:buNone/>
            </a:pPr>
            <a:r>
              <a:rPr lang="en-US" altLang="zh-CN" sz="2000" dirty="0">
                <a:solidFill>
                  <a:schemeClr val="tx1"/>
                </a:solidFill>
              </a:rPr>
              <a:t>At(</a:t>
            </a:r>
            <a:r>
              <a:rPr lang="en-US" altLang="zh-CN" sz="2000" dirty="0" err="1">
                <a:solidFill>
                  <a:schemeClr val="tx1"/>
                </a:solidFill>
              </a:rPr>
              <a:t>Monkey,A</a:t>
            </a:r>
            <a:r>
              <a:rPr lang="en-US" altLang="zh-CN" sz="2000" dirty="0">
                <a:solidFill>
                  <a:schemeClr val="tx1"/>
                </a:solidFill>
              </a:rPr>
              <a:t>) ∧ At(</a:t>
            </a:r>
            <a:r>
              <a:rPr lang="en-US" altLang="zh-CN" sz="2000" dirty="0" err="1">
                <a:solidFill>
                  <a:schemeClr val="tx1"/>
                </a:solidFill>
              </a:rPr>
              <a:t>Bananas,B</a:t>
            </a:r>
            <a:r>
              <a:rPr lang="en-US" altLang="zh-CN" sz="2000" dirty="0">
                <a:solidFill>
                  <a:schemeClr val="tx1"/>
                </a:solidFill>
              </a:rPr>
              <a:t>) ∧ At(</a:t>
            </a:r>
            <a:r>
              <a:rPr lang="en-US" altLang="zh-CN" sz="2000" dirty="0" err="1">
                <a:solidFill>
                  <a:schemeClr val="tx1"/>
                </a:solidFill>
              </a:rPr>
              <a:t>Box,C</a:t>
            </a:r>
            <a:r>
              <a:rPr lang="en-US" altLang="zh-CN" sz="2000" dirty="0">
                <a:solidFill>
                  <a:schemeClr val="tx1"/>
                </a:solidFill>
              </a:rPr>
              <a:t>) ∧</a:t>
            </a:r>
          </a:p>
          <a:p>
            <a:pPr marL="0" indent="0" algn="ctr">
              <a:buNone/>
            </a:pPr>
            <a:r>
              <a:rPr lang="en-US" altLang="zh-CN" sz="2000" dirty="0">
                <a:solidFill>
                  <a:schemeClr val="tx1"/>
                </a:solidFill>
              </a:rPr>
              <a:t>Height(</a:t>
            </a:r>
            <a:r>
              <a:rPr lang="en-US" altLang="zh-CN" sz="2000" dirty="0" err="1">
                <a:solidFill>
                  <a:schemeClr val="tx1"/>
                </a:solidFill>
              </a:rPr>
              <a:t>Monkey,Low</a:t>
            </a:r>
            <a:r>
              <a:rPr lang="en-US" altLang="zh-CN" sz="2000" dirty="0">
                <a:solidFill>
                  <a:schemeClr val="tx1"/>
                </a:solidFill>
              </a:rPr>
              <a:t>) ∧ Height(</a:t>
            </a:r>
            <a:r>
              <a:rPr lang="en-US" altLang="zh-CN" sz="2000" dirty="0" err="1">
                <a:solidFill>
                  <a:schemeClr val="tx1"/>
                </a:solidFill>
              </a:rPr>
              <a:t>Box,Low</a:t>
            </a:r>
            <a:r>
              <a:rPr lang="en-US" altLang="zh-CN" sz="2000" dirty="0">
                <a:solidFill>
                  <a:schemeClr val="tx1"/>
                </a:solidFill>
              </a:rPr>
              <a:t>) ∧ Height(</a:t>
            </a:r>
            <a:r>
              <a:rPr lang="en-US" altLang="zh-CN" sz="2000" dirty="0" err="1">
                <a:solidFill>
                  <a:schemeClr val="tx1"/>
                </a:solidFill>
              </a:rPr>
              <a:t>Bananas,High</a:t>
            </a:r>
            <a:r>
              <a:rPr lang="en-US" altLang="zh-CN" sz="2000" dirty="0">
                <a:solidFill>
                  <a:schemeClr val="tx1"/>
                </a:solidFill>
              </a:rPr>
              <a:t>) </a:t>
            </a:r>
          </a:p>
          <a:p>
            <a:pPr marL="0" indent="0" algn="ctr">
              <a:buNone/>
            </a:pPr>
            <a:r>
              <a:rPr lang="en-US" altLang="zh-CN" sz="2000" dirty="0">
                <a:solidFill>
                  <a:srgbClr val="FF0000"/>
                </a:solidFill>
              </a:rPr>
              <a:t>∧</a:t>
            </a:r>
            <a:r>
              <a:rPr lang="en-US" altLang="zh-CN" sz="2000" dirty="0" err="1">
                <a:solidFill>
                  <a:srgbClr val="FF0000"/>
                </a:solidFill>
              </a:rPr>
              <a:t>Pushable</a:t>
            </a:r>
            <a:r>
              <a:rPr lang="en-US" altLang="zh-CN" sz="2000" dirty="0">
                <a:solidFill>
                  <a:srgbClr val="FF0000"/>
                </a:solidFill>
              </a:rPr>
              <a:t>(Box)</a:t>
            </a:r>
            <a:endParaRPr lang="en-US" altLang="zh-CN" sz="2000" dirty="0"/>
          </a:p>
          <a:p>
            <a:pPr marL="0" indent="0">
              <a:buNone/>
            </a:pPr>
            <a:r>
              <a:rPr lang="en-US" altLang="zh-CN" sz="2000" dirty="0">
                <a:solidFill>
                  <a:srgbClr val="FF0000"/>
                </a:solidFill>
                <a:sym typeface="+mn-ea"/>
              </a:rPr>
              <a:t>	</a:t>
            </a: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t>23</a:t>
            </a:fld>
            <a:endParaRPr lang="en-US" altLang="zh-CN"/>
          </a:p>
        </p:txBody>
      </p:sp>
      <p:pic>
        <p:nvPicPr>
          <p:cNvPr id="6" name="图片 5">
            <a:extLst>
              <a:ext uri="{FF2B5EF4-FFF2-40B4-BE49-F238E27FC236}">
                <a16:creationId xmlns:a16="http://schemas.microsoft.com/office/drawing/2014/main" id="{542A9325-29F1-2A66-F877-F4CA8EFBFB38}"/>
              </a:ext>
            </a:extLst>
          </p:cNvPr>
          <p:cNvPicPr>
            <a:picLocks noChangeAspect="1"/>
          </p:cNvPicPr>
          <p:nvPr/>
        </p:nvPicPr>
        <p:blipFill>
          <a:blip r:embed="rId2"/>
          <a:stretch>
            <a:fillRect/>
          </a:stretch>
        </p:blipFill>
        <p:spPr>
          <a:xfrm>
            <a:off x="4427984" y="-1136"/>
            <a:ext cx="4716016" cy="1796793"/>
          </a:xfrm>
          <a:prstGeom prst="rect">
            <a:avLst/>
          </a:prstGeom>
        </p:spPr>
      </p:pic>
    </p:spTree>
    <p:extLst>
      <p:ext uri="{BB962C8B-B14F-4D97-AF65-F5344CB8AC3E}">
        <p14:creationId xmlns:p14="http://schemas.microsoft.com/office/powerpoint/2010/main" val="1640666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a:xfrm>
            <a:off x="323215" y="1344930"/>
            <a:ext cx="8377555" cy="5274945"/>
          </a:xfrm>
        </p:spPr>
        <p:txBody>
          <a:bodyPr/>
          <a:lstStyle/>
          <a:p>
            <a:r>
              <a:rPr lang="en-US" altLang="zh-CN" sz="2400" dirty="0"/>
              <a:t>10</a:t>
            </a:r>
            <a:r>
              <a:rPr lang="zh-CN" altLang="en-US" sz="2400" dirty="0"/>
              <a:t>.</a:t>
            </a:r>
            <a:r>
              <a:rPr lang="en-US" altLang="zh-CN" sz="2400" dirty="0"/>
              <a:t>3</a:t>
            </a:r>
            <a:endParaRPr lang="zh-CN" altLang="en-US" sz="2400" dirty="0"/>
          </a:p>
          <a:p>
            <a:pPr marL="0" indent="0">
              <a:buNone/>
            </a:pPr>
            <a:r>
              <a:rPr lang="en-US" altLang="zh-CN" sz="2000" dirty="0">
                <a:solidFill>
                  <a:schemeClr val="tx1"/>
                </a:solidFill>
                <a:sym typeface="+mn-ea"/>
              </a:rPr>
              <a:t>	 d. </a:t>
            </a:r>
            <a:r>
              <a:rPr lang="zh-CN" altLang="en-US" sz="2000" dirty="0">
                <a:solidFill>
                  <a:schemeClr val="tx1"/>
                </a:solidFill>
                <a:sym typeface="+mn-ea"/>
              </a:rPr>
              <a:t>对推（</a:t>
            </a:r>
            <a:r>
              <a:rPr lang="en-US" altLang="zh-CN" sz="2000" dirty="0">
                <a:solidFill>
                  <a:schemeClr val="tx1"/>
                </a:solidFill>
                <a:sym typeface="+mn-ea"/>
              </a:rPr>
              <a:t>push</a:t>
            </a:r>
            <a:r>
              <a:rPr lang="zh-CN" altLang="en-US" sz="2000" dirty="0">
                <a:solidFill>
                  <a:schemeClr val="tx1"/>
                </a:solidFill>
                <a:sym typeface="+mn-ea"/>
              </a:rPr>
              <a:t>）的规则可能是不正确的，因为如果对象太重的话，应当用</a:t>
            </a:r>
            <a:r>
              <a:rPr lang="en-US" altLang="zh-CN" sz="2000" dirty="0">
                <a:solidFill>
                  <a:schemeClr val="tx1"/>
                </a:solidFill>
                <a:sym typeface="+mn-ea"/>
              </a:rPr>
              <a:t>Push</a:t>
            </a:r>
            <a:r>
              <a:rPr lang="zh-CN" altLang="en-US" sz="2000" dirty="0">
                <a:solidFill>
                  <a:schemeClr val="tx1"/>
                </a:solidFill>
                <a:sym typeface="+mn-ea"/>
              </a:rPr>
              <a:t>的时候对象的位置保持不变。修改你的动作模式来解决动作问题。</a:t>
            </a:r>
            <a:r>
              <a:rPr lang="zh-CN" altLang="en-US" sz="2000" dirty="0">
                <a:solidFill>
                  <a:srgbClr val="FF0000"/>
                </a:solidFill>
                <a:sym typeface="+mn-ea"/>
              </a:rPr>
              <a:t>（</a:t>
            </a:r>
            <a:r>
              <a:rPr lang="en-US" altLang="zh-CN" sz="2000" dirty="0">
                <a:solidFill>
                  <a:srgbClr val="FF0000"/>
                </a:solidFill>
                <a:sym typeface="+mn-ea"/>
              </a:rPr>
              <a:t>20</a:t>
            </a:r>
            <a:r>
              <a:rPr lang="zh-CN" altLang="en-US" sz="2000" dirty="0">
                <a:solidFill>
                  <a:srgbClr val="FF0000"/>
                </a:solidFill>
                <a:sym typeface="+mn-ea"/>
              </a:rPr>
              <a:t>分） </a:t>
            </a:r>
            <a:endParaRPr lang="en-US" altLang="zh-CN" sz="2000" dirty="0">
              <a:solidFill>
                <a:srgbClr val="FF0000"/>
              </a:solidFill>
              <a:sym typeface="+mn-ea"/>
            </a:endParaRPr>
          </a:p>
          <a:p>
            <a:pPr marL="0" indent="0">
              <a:buNone/>
            </a:pPr>
            <a:r>
              <a:rPr lang="en-US" altLang="zh-CN" sz="2000" dirty="0">
                <a:solidFill>
                  <a:schemeClr val="tx1"/>
                </a:solidFill>
                <a:sym typeface="+mn-ea"/>
              </a:rPr>
              <a:t>	1.</a:t>
            </a:r>
            <a:r>
              <a:rPr lang="zh-CN" altLang="en-US" sz="2000" dirty="0">
                <a:solidFill>
                  <a:schemeClr val="tx1"/>
                </a:solidFill>
                <a:sym typeface="+mn-ea"/>
              </a:rPr>
              <a:t>让猴子可以从一个地方到另一个地方的</a:t>
            </a:r>
            <a:r>
              <a:rPr lang="en-US" altLang="zh-CN" sz="2000" dirty="0">
                <a:solidFill>
                  <a:schemeClr val="tx1"/>
                </a:solidFill>
                <a:sym typeface="+mn-ea"/>
              </a:rPr>
              <a:t>GO</a:t>
            </a:r>
            <a:r>
              <a:rPr lang="zh-CN" altLang="en-US" sz="2000" dirty="0">
                <a:solidFill>
                  <a:schemeClr val="tx1"/>
                </a:solidFill>
                <a:sym typeface="+mn-ea"/>
              </a:rPr>
              <a:t>：</a:t>
            </a:r>
            <a:endParaRPr lang="en-US" altLang="zh-CN" sz="2000" dirty="0">
              <a:solidFill>
                <a:schemeClr val="tx1"/>
              </a:solidFill>
              <a:sym typeface="+mn-ea"/>
            </a:endParaRP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Action(</a:t>
            </a:r>
            <a:r>
              <a:rPr lang="en-US" altLang="zh-CN" sz="2000" dirty="0" err="1">
                <a:solidFill>
                  <a:schemeClr val="tx1"/>
                </a:solidFill>
                <a:latin typeface="Cambria Math" panose="02040503050406030204" pitchFamily="18" charset="0"/>
                <a:ea typeface="Cambria Math" panose="02040503050406030204" pitchFamily="18" charset="0"/>
                <a:sym typeface="+mn-ea"/>
              </a:rPr>
              <a:t>ACTION:Go</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x,y</a:t>
            </a:r>
            <a:r>
              <a:rPr lang="en-US" altLang="zh-CN" sz="2000" dirty="0">
                <a:solidFill>
                  <a:schemeClr val="tx1"/>
                </a:solidFill>
                <a:latin typeface="Cambria Math" panose="02040503050406030204" pitchFamily="18" charset="0"/>
                <a:ea typeface="Cambria Math" panose="02040503050406030204" pitchFamily="18" charset="0"/>
                <a:sym typeface="+mn-ea"/>
              </a:rPr>
              <a:t>), </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PRECOND:At</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Monkey,x</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EFFECT:At</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Monkey,y</a:t>
            </a:r>
            <a:r>
              <a:rPr lang="en-US" altLang="zh-CN" sz="2000" dirty="0">
                <a:solidFill>
                  <a:schemeClr val="tx1"/>
                </a:solidFill>
                <a:latin typeface="Cambria Math" panose="02040503050406030204" pitchFamily="18" charset="0"/>
                <a:ea typeface="Cambria Math" panose="02040503050406030204" pitchFamily="18" charset="0"/>
                <a:sym typeface="+mn-ea"/>
              </a:rPr>
              <a:t>) ∧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Monkey,x</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r>
              <a:rPr lang="en-US" altLang="zh-CN" sz="2000" dirty="0">
                <a:solidFill>
                  <a:schemeClr val="tx1"/>
                </a:solidFill>
                <a:sym typeface="+mn-ea"/>
              </a:rPr>
              <a:t>	2.</a:t>
            </a:r>
            <a:r>
              <a:rPr lang="zh-CN" altLang="en-US" sz="2000" dirty="0">
                <a:solidFill>
                  <a:schemeClr val="tx1"/>
                </a:solidFill>
                <a:sym typeface="+mn-ea"/>
              </a:rPr>
              <a:t>猴子将对象从一个地方推到另一个地方的</a:t>
            </a:r>
            <a:r>
              <a:rPr lang="en-US" altLang="zh-CN" sz="2000" dirty="0">
                <a:solidFill>
                  <a:schemeClr val="tx1"/>
                </a:solidFill>
                <a:sym typeface="+mn-ea"/>
              </a:rPr>
              <a:t>Push</a:t>
            </a:r>
            <a:r>
              <a:rPr lang="zh-CN" altLang="en-US" sz="2000" dirty="0">
                <a:solidFill>
                  <a:schemeClr val="tx1"/>
                </a:solidFill>
                <a:sym typeface="+mn-ea"/>
              </a:rPr>
              <a:t>：</a:t>
            </a:r>
            <a:endParaRPr lang="en-US" altLang="zh-CN" sz="2000" dirty="0">
              <a:solidFill>
                <a:schemeClr val="tx1"/>
              </a:solidFill>
              <a:sym typeface="+mn-ea"/>
            </a:endParaRP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Action(</a:t>
            </a:r>
            <a:r>
              <a:rPr lang="en-US" altLang="zh-CN" sz="2000" dirty="0" err="1">
                <a:solidFill>
                  <a:schemeClr val="tx1"/>
                </a:solidFill>
                <a:latin typeface="Cambria Math" panose="02040503050406030204" pitchFamily="18" charset="0"/>
                <a:ea typeface="Cambria Math" panose="02040503050406030204" pitchFamily="18" charset="0"/>
                <a:sym typeface="+mn-ea"/>
              </a:rPr>
              <a:t>ACTION:Push</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b,x,y</a:t>
            </a:r>
            <a:r>
              <a:rPr lang="en-US" altLang="zh-CN" sz="2000" dirty="0">
                <a:solidFill>
                  <a:schemeClr val="tx1"/>
                </a:solidFill>
                <a:latin typeface="Cambria Math" panose="02040503050406030204" pitchFamily="18" charset="0"/>
                <a:ea typeface="Cambria Math" panose="02040503050406030204" pitchFamily="18" charset="0"/>
                <a:sym typeface="+mn-ea"/>
              </a:rPr>
              <a:t>), </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PRECOND:At</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Monkey,x</a:t>
            </a:r>
            <a:r>
              <a:rPr lang="en-US" altLang="zh-CN" sz="2000" dirty="0">
                <a:solidFill>
                  <a:schemeClr val="tx1"/>
                </a:solidFill>
                <a:latin typeface="Cambria Math" panose="02040503050406030204" pitchFamily="18" charset="0"/>
                <a:ea typeface="Cambria Math" panose="02040503050406030204" pitchFamily="18" charset="0"/>
                <a:sym typeface="+mn-ea"/>
              </a:rPr>
              <a:t>) ∧ </a:t>
            </a:r>
            <a:r>
              <a:rPr lang="en-US" altLang="zh-CN" sz="2000" dirty="0" err="1">
                <a:solidFill>
                  <a:srgbClr val="FF0000"/>
                </a:solidFill>
                <a:latin typeface="Cambria Math" panose="02040503050406030204" pitchFamily="18" charset="0"/>
                <a:ea typeface="Cambria Math" panose="02040503050406030204" pitchFamily="18" charset="0"/>
                <a:sym typeface="+mn-ea"/>
              </a:rPr>
              <a:t>Pushable</a:t>
            </a:r>
            <a:r>
              <a:rPr lang="en-US" altLang="zh-CN" sz="2000" dirty="0">
                <a:solidFill>
                  <a:srgbClr val="FF0000"/>
                </a:solidFill>
                <a:latin typeface="Cambria Math" panose="02040503050406030204" pitchFamily="18" charset="0"/>
                <a:ea typeface="Cambria Math" panose="02040503050406030204" pitchFamily="18" charset="0"/>
                <a:sym typeface="+mn-ea"/>
              </a:rPr>
              <a:t>(b),</a:t>
            </a:r>
          </a:p>
          <a:p>
            <a:pPr marL="0" indent="0">
              <a:buNone/>
            </a:pPr>
            <a:r>
              <a:rPr lang="en-US" altLang="zh-CN" sz="2000" dirty="0">
                <a:solidFill>
                  <a:schemeClr val="tx1"/>
                </a:solidFill>
                <a:latin typeface="Cambria Math" panose="02040503050406030204" pitchFamily="18" charset="0"/>
                <a:ea typeface="Cambria Math" panose="02040503050406030204" pitchFamily="18" charset="0"/>
                <a:sym typeface="+mn-ea"/>
              </a:rPr>
              <a:t>		</a:t>
            </a:r>
            <a:r>
              <a:rPr lang="en-US" altLang="zh-CN" sz="2000" dirty="0" err="1">
                <a:solidFill>
                  <a:schemeClr val="tx1"/>
                </a:solidFill>
                <a:latin typeface="Cambria Math" panose="02040503050406030204" pitchFamily="18" charset="0"/>
                <a:ea typeface="Cambria Math" panose="02040503050406030204" pitchFamily="18" charset="0"/>
                <a:sym typeface="+mn-ea"/>
              </a:rPr>
              <a:t>EFFECT:At</a:t>
            </a:r>
            <a:r>
              <a:rPr lang="en-US" altLang="zh-CN" sz="2000" dirty="0">
                <a:solidFill>
                  <a:schemeClr val="tx1"/>
                </a:solidFill>
                <a:latin typeface="Cambria Math" panose="02040503050406030204" pitchFamily="18" charset="0"/>
                <a:ea typeface="Cambria Math" panose="02040503050406030204" pitchFamily="18" charset="0"/>
                <a:sym typeface="+mn-ea"/>
              </a:rPr>
              <a:t>(</a:t>
            </a:r>
            <a:r>
              <a:rPr lang="en-US" altLang="zh-CN" sz="2000" dirty="0" err="1">
                <a:solidFill>
                  <a:schemeClr val="tx1"/>
                </a:solidFill>
                <a:latin typeface="Cambria Math" panose="02040503050406030204" pitchFamily="18" charset="0"/>
                <a:ea typeface="Cambria Math" panose="02040503050406030204" pitchFamily="18" charset="0"/>
                <a:sym typeface="+mn-ea"/>
              </a:rPr>
              <a:t>b,y</a:t>
            </a:r>
            <a:r>
              <a:rPr lang="en-US" altLang="zh-CN" sz="2000" dirty="0">
                <a:solidFill>
                  <a:schemeClr val="tx1"/>
                </a:solidFill>
                <a:latin typeface="Cambria Math" panose="02040503050406030204" pitchFamily="18" charset="0"/>
                <a:ea typeface="Cambria Math" panose="02040503050406030204" pitchFamily="18" charset="0"/>
                <a:sym typeface="+mn-ea"/>
              </a:rPr>
              <a:t>) ∧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Monkey,y</a:t>
            </a:r>
            <a:r>
              <a:rPr lang="en-US" altLang="zh-CN" sz="2000" dirty="0">
                <a:solidFill>
                  <a:schemeClr val="tx1"/>
                </a:solidFill>
                <a:latin typeface="Cambria Math" panose="02040503050406030204" pitchFamily="18" charset="0"/>
                <a:ea typeface="Cambria Math" panose="02040503050406030204" pitchFamily="18" charset="0"/>
                <a:sym typeface="+mn-ea"/>
              </a:rPr>
              <a:t>) ∧ ¬At(</a:t>
            </a:r>
            <a:r>
              <a:rPr lang="en-US" altLang="zh-CN" sz="2000" dirty="0" err="1">
                <a:solidFill>
                  <a:schemeClr val="tx1"/>
                </a:solidFill>
                <a:latin typeface="Cambria Math" panose="02040503050406030204" pitchFamily="18" charset="0"/>
                <a:ea typeface="Cambria Math" panose="02040503050406030204" pitchFamily="18" charset="0"/>
                <a:sym typeface="+mn-ea"/>
              </a:rPr>
              <a:t>b,x</a:t>
            </a:r>
            <a:r>
              <a:rPr lang="en-US" altLang="zh-CN" sz="2000" dirty="0">
                <a:solidFill>
                  <a:schemeClr val="tx1"/>
                </a:solidFill>
                <a:latin typeface="Cambria Math" panose="02040503050406030204" pitchFamily="18" charset="0"/>
                <a:ea typeface="Cambria Math" panose="02040503050406030204" pitchFamily="18" charset="0"/>
                <a:sym typeface="+mn-ea"/>
              </a:rPr>
              <a:t>) ∧ ¬At(</a:t>
            </a:r>
            <a:r>
              <a:rPr lang="en-US" altLang="zh-CN" sz="2000" dirty="0" err="1">
                <a:solidFill>
                  <a:schemeClr val="tx1"/>
                </a:solidFill>
                <a:latin typeface="Cambria Math" panose="02040503050406030204" pitchFamily="18" charset="0"/>
                <a:ea typeface="Cambria Math" panose="02040503050406030204" pitchFamily="18" charset="0"/>
                <a:sym typeface="+mn-ea"/>
              </a:rPr>
              <a:t>Monkey,x</a:t>
            </a:r>
            <a:r>
              <a:rPr lang="en-US" altLang="zh-CN" sz="2000" dirty="0">
                <a:solidFill>
                  <a:schemeClr val="tx1"/>
                </a:solidFill>
                <a:latin typeface="Cambria Math" panose="02040503050406030204" pitchFamily="18" charset="0"/>
                <a:ea typeface="Cambria Math" panose="02040503050406030204" pitchFamily="18" charset="0"/>
                <a:sym typeface="+mn-ea"/>
              </a:rPr>
              <a:t>))</a:t>
            </a:r>
          </a:p>
          <a:p>
            <a:pPr marL="0" indent="0">
              <a:buNone/>
            </a:pPr>
            <a:endParaRPr lang="en-US" altLang="zh-CN" sz="2000" dirty="0">
              <a:solidFill>
                <a:srgbClr val="FF0000"/>
              </a:solidFill>
              <a:sym typeface="+mn-ea"/>
            </a:endParaRPr>
          </a:p>
        </p:txBody>
      </p:sp>
      <p:sp>
        <p:nvSpPr>
          <p:cNvPr id="4" name="灯片编号占位符 3"/>
          <p:cNvSpPr>
            <a:spLocks noGrp="1"/>
          </p:cNvSpPr>
          <p:nvPr>
            <p:ph type="sldNum" sz="quarter" idx="12"/>
          </p:nvPr>
        </p:nvSpPr>
        <p:spPr/>
        <p:txBody>
          <a:bodyPr/>
          <a:lstStyle/>
          <a:p>
            <a:pPr>
              <a:defRPr/>
            </a:pPr>
            <a:fld id="{8675F621-1619-4F8E-88C5-5F30FD27FF75}" type="slidenum">
              <a:rPr lang="en-US" altLang="zh-CN" smtClean="0"/>
              <a:t>24</a:t>
            </a:fld>
            <a:endParaRPr lang="en-US" altLang="zh-CN"/>
          </a:p>
        </p:txBody>
      </p:sp>
    </p:spTree>
    <p:extLst>
      <p:ext uri="{BB962C8B-B14F-4D97-AF65-F5344CB8AC3E}">
        <p14:creationId xmlns:p14="http://schemas.microsoft.com/office/powerpoint/2010/main" val="1721952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2195830" y="1628775"/>
            <a:ext cx="4622800" cy="1645920"/>
          </a:xfrm>
        </p:spPr>
        <p:txBody>
          <a:bodyPr/>
          <a:lstStyle/>
          <a:p>
            <a:pPr eaLnBrk="1" hangingPunct="1"/>
            <a:r>
              <a:rPr lang="zh-CN" altLang="en-US" dirty="0"/>
              <a:t>谢谢大家</a:t>
            </a:r>
          </a:p>
        </p:txBody>
      </p:sp>
      <p:sp>
        <p:nvSpPr>
          <p:cNvPr id="4" name="灯片编号占位符 3"/>
          <p:cNvSpPr>
            <a:spLocks noGrp="1"/>
          </p:cNvSpPr>
          <p:nvPr>
            <p:ph type="sldNum" sz="quarter" idx="12"/>
          </p:nvPr>
        </p:nvSpPr>
        <p:spPr/>
        <p:txBody>
          <a:bodyPr/>
          <a:lstStyle/>
          <a:p>
            <a:pPr>
              <a:defRPr/>
            </a:pPr>
            <a:fld id="{B17FBB78-3332-4880-866E-0A3F9B2B4E82}" type="slidenum">
              <a:rPr lang="en-US" altLang="zh-CN" smtClean="0"/>
              <a:t>25</a:t>
            </a:fld>
            <a:endParaRPr lang="en-US" altLang="zh-CN"/>
          </a:p>
        </p:txBody>
      </p:sp>
      <p:sp>
        <p:nvSpPr>
          <p:cNvPr id="2" name="副标题 1"/>
          <p:cNvSpPr>
            <a:spLocks noGrp="1"/>
          </p:cNvSpPr>
          <p:nvPr>
            <p:ph type="subTitle" idx="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heme/theme1.xml><?xml version="1.0" encoding="utf-8"?>
<a:theme xmlns:a="http://schemas.openxmlformats.org/drawingml/2006/main" name="平面">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Arial"/>
        <a:ea typeface="微软雅黑"/>
        <a:cs typeface=""/>
      </a:majorFont>
      <a:minorFont>
        <a:latin typeface="Arial"/>
        <a:ea typeface="微软雅黑"/>
        <a:cs typeface=""/>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11205</TotalTime>
  <Words>3341</Words>
  <Application>Microsoft Office PowerPoint</Application>
  <PresentationFormat>全屏显示(4:3)</PresentationFormat>
  <Paragraphs>325</Paragraphs>
  <Slides>25</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25</vt:i4>
      </vt:variant>
    </vt:vector>
  </HeadingPairs>
  <TitlesOfParts>
    <vt:vector size="32" baseType="lpstr">
      <vt:lpstr>宋体</vt:lpstr>
      <vt:lpstr>微软雅黑</vt:lpstr>
      <vt:lpstr>Arial</vt:lpstr>
      <vt:lpstr>Cambria Math</vt:lpstr>
      <vt:lpstr>Times New Roman</vt:lpstr>
      <vt:lpstr>Wingdings 3</vt:lpstr>
      <vt:lpstr>平面</vt:lpstr>
      <vt:lpstr>人工智能</vt:lpstr>
      <vt:lpstr>目录</vt:lpstr>
      <vt:lpstr>学习内容</vt:lpstr>
      <vt:lpstr>规划问题</vt:lpstr>
      <vt:lpstr>PDDL (planning domain definition language)</vt:lpstr>
      <vt:lpstr>PDDL (planning domain definition language)</vt:lpstr>
      <vt:lpstr>PDDL (planning domain definition language)</vt:lpstr>
      <vt:lpstr>PDDL ：动作</vt:lpstr>
      <vt:lpstr>PDDL ：动作</vt:lpstr>
      <vt:lpstr>PDDL ：动作</vt:lpstr>
      <vt:lpstr>PDDL ：转移模型</vt:lpstr>
      <vt:lpstr>PDDL ：初始状态</vt:lpstr>
      <vt:lpstr>PDDL ：目标</vt:lpstr>
      <vt:lpstr>PDDL描述规划问题</vt:lpstr>
      <vt:lpstr>作业</vt:lpstr>
      <vt:lpstr>作业</vt:lpstr>
      <vt:lpstr>作业</vt:lpstr>
      <vt:lpstr>作业</vt:lpstr>
      <vt:lpstr>作业</vt:lpstr>
      <vt:lpstr>作业</vt:lpstr>
      <vt:lpstr>作业</vt:lpstr>
      <vt:lpstr>作业</vt:lpstr>
      <vt:lpstr>作业</vt:lpstr>
      <vt:lpstr>作业</vt:lpstr>
      <vt:lpstr>谢谢大家</vt:lpstr>
    </vt:vector>
  </TitlesOfParts>
  <Company>csit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wt</dc:creator>
  <cp:lastModifiedBy>雨昂 杨</cp:lastModifiedBy>
  <cp:revision>614</cp:revision>
  <dcterms:created xsi:type="dcterms:W3CDTF">1999-05-06T08:46:27Z</dcterms:created>
  <dcterms:modified xsi:type="dcterms:W3CDTF">2024-01-06T05:40:51Z</dcterms:modified>
</cp:coreProperties>
</file>