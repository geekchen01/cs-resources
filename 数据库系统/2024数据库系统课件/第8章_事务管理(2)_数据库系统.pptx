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4"/>
  </p:handoutMasterIdLst>
  <p:sldIdLst>
    <p:sldId id="429" r:id="rId3"/>
    <p:sldId id="375" r:id="rId4"/>
    <p:sldId id="416" r:id="rId6"/>
    <p:sldId id="417" r:id="rId7"/>
    <p:sldId id="420" r:id="rId8"/>
    <p:sldId id="297" r:id="rId9"/>
    <p:sldId id="299" r:id="rId10"/>
    <p:sldId id="300" r:id="rId11"/>
    <p:sldId id="365" r:id="rId12"/>
    <p:sldId id="301" r:id="rId13"/>
    <p:sldId id="302" r:id="rId14"/>
    <p:sldId id="470" r:id="rId15"/>
    <p:sldId id="361" r:id="rId16"/>
    <p:sldId id="461" r:id="rId17"/>
    <p:sldId id="433" r:id="rId18"/>
    <p:sldId id="434" r:id="rId19"/>
    <p:sldId id="435" r:id="rId20"/>
    <p:sldId id="490" r:id="rId21"/>
    <p:sldId id="436" r:id="rId22"/>
    <p:sldId id="437" r:id="rId23"/>
    <p:sldId id="438" r:id="rId24"/>
    <p:sldId id="439" r:id="rId25"/>
    <p:sldId id="440" r:id="rId26"/>
    <p:sldId id="441" r:id="rId27"/>
    <p:sldId id="442" r:id="rId28"/>
    <p:sldId id="443" r:id="rId29"/>
    <p:sldId id="444" r:id="rId30"/>
    <p:sldId id="471" r:id="rId31"/>
    <p:sldId id="472" r:id="rId32"/>
    <p:sldId id="489" r:id="rId33"/>
    <p:sldId id="473" r:id="rId34"/>
    <p:sldId id="448" r:id="rId35"/>
    <p:sldId id="452" r:id="rId36"/>
    <p:sldId id="453" r:id="rId37"/>
    <p:sldId id="455" r:id="rId38"/>
    <p:sldId id="456" r:id="rId39"/>
    <p:sldId id="457" r:id="rId40"/>
    <p:sldId id="458" r:id="rId41"/>
    <p:sldId id="459" r:id="rId42"/>
    <p:sldId id="474" r:id="rId43"/>
  </p:sldIdLst>
  <p:sldSz cx="9144000" cy="6858000" type="screen4x3"/>
  <p:notesSz cx="6858000" cy="9144000"/>
  <p:custDataLst>
    <p:tags r:id="rId48"/>
  </p:custDataLst>
  <p:defaultTextStyle>
    <a:defPPr>
      <a:defRPr lang="zh-CN"/>
    </a:defPPr>
    <a:lvl1pPr marL="0" lvl="0"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vl6pPr marL="2286000" lvl="5"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6pPr>
    <a:lvl7pPr marL="2743200" lvl="6"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7pPr>
    <a:lvl8pPr marL="3200400" lvl="7"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8pPr>
    <a:lvl9pPr marL="3657600" lvl="8"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CCFF"/>
    <a:srgbClr val="FFFF00"/>
    <a:srgbClr val="000000"/>
    <a:srgbClr val="0033CC"/>
    <a:srgbClr val="FFFFA3"/>
    <a:srgbClr val="FF00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4660"/>
    <p:restoredTop sz="83088"/>
  </p:normalViewPr>
  <p:slideViewPr>
    <p:cSldViewPr showGuides="1">
      <p:cViewPr varScale="1">
        <p:scale>
          <a:sx n="45" d="100"/>
          <a:sy n="45" d="100"/>
        </p:scale>
        <p:origin x="-1042" y="-8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8" Type="http://schemas.openxmlformats.org/officeDocument/2006/relationships/tags" Target="tags/tag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5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5059" name="Rectangle 2"/>
          <p:cNvSpPr>
            <a:spLocks noRot="1" noTextEdit="1"/>
          </p:cNvSpPr>
          <p:nvPr>
            <p:ph type="sldImg"/>
          </p:nvPr>
        </p:nvSpPr>
        <p:spPr/>
      </p:sp>
      <p:sp>
        <p:nvSpPr>
          <p:cNvPr id="45060" name="Rectangle 3"/>
          <p:cNvSpPr>
            <a:spLocks noGrp="1"/>
          </p:cNvSpPr>
          <p:nvPr>
            <p:ph type="body" idx="1"/>
          </p:nvPr>
        </p:nvSpPr>
        <p:spPr/>
        <p:txBody>
          <a:bodyPr wrap="square" lIns="91440" tIns="45720" rIns="91440" bIns="45720" anchor="t" anchorCtr="0"/>
          <a:p>
            <a:pPr lvl="0" eaLnBrk="1" hangingPunct="1">
              <a:buChar char="•"/>
            </a:pPr>
            <a:r>
              <a:rPr lang="zh-CN" altLang="en-US" dirty="0"/>
              <a:t>为了保证并行操作的正确性，</a:t>
            </a:r>
            <a:r>
              <a:rPr lang="en-US" altLang="zh-CN" dirty="0"/>
              <a:t>DBMS </a:t>
            </a:r>
            <a:r>
              <a:rPr lang="zh-CN" altLang="en-US" dirty="0"/>
              <a:t>的并行控制机制必须提供一定的手段来保证调度是可串行化的。</a:t>
            </a:r>
            <a:endParaRPr lang="zh-CN" altLang="en-US" dirty="0"/>
          </a:p>
          <a:p>
            <a:pPr lvl="0" eaLnBrk="1" hangingPunct="1">
              <a:buChar char="•"/>
            </a:pPr>
            <a:r>
              <a:rPr lang="zh-CN" altLang="en-US" dirty="0"/>
              <a:t>从理论上讲，在某一事务执行时禁止其他事务执行的调度策略一定是可串行化的调度，这也是最简单的调度策略，但这种方法实际上是不可行的，因为它使用户不能充分共享数据库资源。</a:t>
            </a:r>
            <a:endParaRPr lang="zh-CN" altLang="en-US" dirty="0"/>
          </a:p>
          <a:p>
            <a:pPr lvl="0" eaLnBrk="1" hangingPunct="1">
              <a:lnSpc>
                <a:spcPct val="110000"/>
              </a:lnSpc>
            </a:pPr>
            <a:r>
              <a:rPr lang="zh-CN" altLang="en-US" b="1" dirty="0"/>
              <a:t>保证并发操作调度正确性的方法：</a:t>
            </a:r>
            <a:r>
              <a:rPr lang="zh-CN" altLang="en-US" sz="1400" b="1" dirty="0"/>
              <a:t>封锁方法</a:t>
            </a:r>
            <a:endParaRPr lang="zh-CN" altLang="en-US" sz="14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6083" name="Rectangle 2"/>
          <p:cNvSpPr>
            <a:spLocks noRot="1" noTextEdit="1"/>
          </p:cNvSpPr>
          <p:nvPr>
            <p:ph type="sldImg"/>
          </p:nvPr>
        </p:nvSpPr>
        <p:spPr/>
      </p:sp>
      <p:sp>
        <p:nvSpPr>
          <p:cNvPr id="46084" name="Rectangle 3"/>
          <p:cNvSpPr>
            <a:spLocks noGrp="1"/>
          </p:cNvSpPr>
          <p:nvPr>
            <p:ph type="body" idx="1"/>
          </p:nvPr>
        </p:nvSpPr>
        <p:spPr/>
        <p:txBody>
          <a:bodyPr wrap="square" lIns="91440" tIns="45720" rIns="91440" bIns="45720" anchor="t" anchorCtr="0"/>
          <a:p>
            <a:pPr lvl="1" eaLnBrk="1" hangingPunct="1">
              <a:lnSpc>
                <a:spcPct val="140000"/>
              </a:lnSpc>
            </a:pPr>
            <a:endParaRPr lang="en-US" altLang="zh-CN" sz="14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7107" name="Rectangle 2"/>
          <p:cNvSpPr>
            <a:spLocks noRot="1" noTextEdit="1"/>
          </p:cNvSpPr>
          <p:nvPr>
            <p:ph type="sldImg"/>
          </p:nvPr>
        </p:nvSpPr>
        <p:spPr/>
      </p:sp>
      <p:sp>
        <p:nvSpPr>
          <p:cNvPr id="47108" name="Rectangle 3"/>
          <p:cNvSpPr>
            <a:spLocks noGrp="1"/>
          </p:cNvSpPr>
          <p:nvPr>
            <p:ph type="body" idx="1"/>
          </p:nvPr>
        </p:nvSpPr>
        <p:spPr/>
        <p:txBody>
          <a:bodyPr wrap="square" lIns="91440" tIns="45720" rIns="91440" bIns="45720" anchor="t" anchorCtr="0"/>
          <a:p>
            <a:pPr lvl="0" eaLnBrk="1" hangingPunct="1"/>
            <a:endParaRPr lang="zh-CN" altLang="zh-CN" sz="14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8131" name="Rectangle 2"/>
          <p:cNvSpPr>
            <a:spLocks noRot="1" noTextEdit="1"/>
          </p:cNvSpPr>
          <p:nvPr>
            <p:ph type="sldImg"/>
          </p:nvPr>
        </p:nvSpPr>
        <p:spPr/>
      </p:sp>
      <p:sp>
        <p:nvSpPr>
          <p:cNvPr id="48132" name="Rectangle 3"/>
          <p:cNvSpPr>
            <a:spLocks noGrp="1"/>
          </p:cNvSpPr>
          <p:nvPr>
            <p:ph type="body" idx="1"/>
          </p:nvPr>
        </p:nvSpPr>
        <p:spPr/>
        <p:txBody>
          <a:bodyPr wrap="square" lIns="91440" tIns="45720" rIns="91440" bIns="45720" anchor="t" anchorCtr="0"/>
          <a:p>
            <a:pPr lvl="0" eaLnBrk="1" hangingPunct="1"/>
            <a:r>
              <a:rPr lang="zh-CN" altLang="en-US" sz="1400" dirty="0"/>
              <a:t>但两段锁协议也限制了事务的并发执行，同时也容易产生死锁。</a:t>
            </a:r>
            <a:endParaRPr lang="zh-CN" altLang="en-US" sz="14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9155" name="Rectangle 2"/>
          <p:cNvSpPr>
            <a:spLocks noRot="1" noTextEdit="1"/>
          </p:cNvSpPr>
          <p:nvPr>
            <p:ph type="sldImg"/>
          </p:nvPr>
        </p:nvSpPr>
        <p:spPr/>
      </p:sp>
      <p:sp>
        <p:nvSpPr>
          <p:cNvPr id="49156" name="Rectangle 3"/>
          <p:cNvSpPr>
            <a:spLocks noGrp="1"/>
          </p:cNvSpPr>
          <p:nvPr>
            <p:ph type="body" idx="1"/>
          </p:nvPr>
        </p:nvSpPr>
        <p:spPr/>
        <p:txBody>
          <a:bodyPr wrap="square" lIns="91440" tIns="45720" rIns="91440" bIns="45720" anchor="t" anchorCtr="0"/>
          <a:p>
            <a:pPr lvl="0" eaLnBrk="1" hangingPunct="1">
              <a:lnSpc>
                <a:spcPct val="115000"/>
              </a:lnSpc>
              <a:spcBef>
                <a:spcPct val="25000"/>
              </a:spcBef>
            </a:pPr>
            <a:r>
              <a:rPr lang="zh-CN" altLang="en-US" sz="1400" dirty="0"/>
              <a:t>封锁技术可以有效地解决并行操作的一致性问题，但也带来一些新的问题。</a:t>
            </a:r>
            <a:endParaRPr lang="zh-CN" altLang="en-US" sz="1400" dirty="0"/>
          </a:p>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0179" name="Rectangle 2"/>
          <p:cNvSpPr>
            <a:spLocks noRot="1" noTextEdit="1"/>
          </p:cNvSpPr>
          <p:nvPr>
            <p:ph type="sldImg"/>
          </p:nvPr>
        </p:nvSpPr>
        <p:spPr/>
      </p:sp>
      <p:sp>
        <p:nvSpPr>
          <p:cNvPr id="501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1203" name="Rectangle 2"/>
          <p:cNvSpPr>
            <a:spLocks noRot="1"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buChar char="•"/>
            </a:pPr>
            <a:r>
              <a:rPr lang="zh-CN" altLang="en-US" dirty="0"/>
              <a:t>产生死锁的原因是两个或多个事务都已封锁了一些数据对象，然后又都请求对已为其他事务封锁的数据对象加锁，从而出现死等待。</a:t>
            </a:r>
            <a:endParaRPr lang="zh-CN" altLang="en-US" dirty="0"/>
          </a:p>
          <a:p>
            <a:pPr lvl="0" eaLnBrk="1" hangingPunct="1">
              <a:lnSpc>
                <a:spcPct val="130000"/>
              </a:lnSpc>
              <a:spcBef>
                <a:spcPct val="60000"/>
              </a:spcBef>
              <a:buChar char="•"/>
            </a:pPr>
            <a:r>
              <a:rPr lang="zh-CN" altLang="en-US" dirty="0"/>
              <a:t>预防死锁的发生就是要破坏产生死锁的条件</a:t>
            </a:r>
            <a:endParaRPr lang="zh-CN" altLang="en-US" sz="1400" dirty="0">
              <a:solidFill>
                <a:srgbClr val="000000"/>
              </a:solidFill>
            </a:endParaRPr>
          </a:p>
          <a:p>
            <a:pPr lvl="0" eaLnBrk="1" hangingPunct="1"/>
            <a:endParaRPr lang="zh-CN" altLang="en-US" sz="1400" dirty="0"/>
          </a:p>
          <a:p>
            <a:pPr lvl="0" eaLnBrk="1" hangingPunct="1"/>
            <a:r>
              <a:rPr lang="zh-CN" altLang="en-US" sz="1400" dirty="0"/>
              <a:t>一次封锁法存在的</a:t>
            </a:r>
            <a:r>
              <a:rPr lang="zh-CN" altLang="en-US" sz="1400" dirty="0">
                <a:solidFill>
                  <a:srgbClr val="0000CC"/>
                </a:solidFill>
              </a:rPr>
              <a:t>问题</a:t>
            </a:r>
            <a:r>
              <a:rPr lang="zh-CN" altLang="en-US" sz="1400" dirty="0"/>
              <a:t>：</a:t>
            </a:r>
            <a:endParaRPr lang="zh-CN" altLang="en-US" sz="1400" dirty="0"/>
          </a:p>
          <a:p>
            <a:pPr lvl="1" eaLnBrk="1" hangingPunct="1">
              <a:spcBef>
                <a:spcPct val="0"/>
              </a:spcBef>
            </a:pPr>
            <a:r>
              <a:rPr lang="zh-CN" altLang="en-US" sz="1600" dirty="0"/>
              <a:t>降低并发度</a:t>
            </a:r>
            <a:endParaRPr lang="zh-CN" altLang="en-US" sz="1600" dirty="0"/>
          </a:p>
          <a:p>
            <a:pPr lvl="1" eaLnBrk="1" hangingPunct="1">
              <a:spcBef>
                <a:spcPct val="0"/>
              </a:spcBef>
              <a:buChar char="•"/>
            </a:pPr>
            <a:r>
              <a:rPr lang="zh-CN" altLang="en-US" sz="1600" dirty="0"/>
              <a:t>扩大封锁范围</a:t>
            </a:r>
            <a:endParaRPr lang="zh-CN" altLang="en-US" sz="1600" dirty="0"/>
          </a:p>
          <a:p>
            <a:pPr lvl="1" eaLnBrk="1" hangingPunct="1">
              <a:spcBef>
                <a:spcPct val="0"/>
              </a:spcBef>
              <a:buChar char="•"/>
            </a:pPr>
            <a:r>
              <a:rPr lang="zh-CN" altLang="en-US" sz="1600" dirty="0"/>
              <a:t>将以后要用到的全部数据加锁，势必扩大了封锁的范围，从而降低了系统的并发度。</a:t>
            </a:r>
            <a:endParaRPr lang="zh-CN" altLang="en-US" sz="1600" dirty="0"/>
          </a:p>
          <a:p>
            <a:pPr lvl="0" eaLnBrk="1" hangingPunct="1"/>
            <a:r>
              <a:rPr lang="zh-CN" altLang="en-US" dirty="0"/>
              <a:t>   难于事先精确确定封锁对象</a:t>
            </a:r>
            <a:endParaRPr lang="zh-CN" altLang="en-US" dirty="0"/>
          </a:p>
          <a:p>
            <a:pPr lvl="1" eaLnBrk="1" hangingPunct="1">
              <a:lnSpc>
                <a:spcPct val="110000"/>
              </a:lnSpc>
              <a:buChar char="•"/>
            </a:pPr>
            <a:r>
              <a:rPr lang="zh-CN" altLang="en-US" sz="1400" dirty="0"/>
              <a:t>数据库中数据是不断变化的，原来不要求封锁的数据，在执行过程中可能会变成封锁对象，所以很难事先精确地确定每个事务所要封锁的数据对象</a:t>
            </a:r>
            <a:endParaRPr lang="zh-CN" altLang="en-US" sz="1400" dirty="0"/>
          </a:p>
          <a:p>
            <a:pPr lvl="1" eaLnBrk="1" hangingPunct="1">
              <a:lnSpc>
                <a:spcPct val="110000"/>
              </a:lnSpc>
              <a:buChar char="•"/>
            </a:pPr>
            <a:r>
              <a:rPr lang="zh-CN" altLang="en-US" sz="1400" dirty="0"/>
              <a:t>解决方法：将事务在执行过程中可能要封锁的数据对象全部加锁，这就进一步降低了并发度</a:t>
            </a:r>
            <a:r>
              <a:rPr lang="zh-CN" altLang="en-US" dirty="0"/>
              <a:t>。</a:t>
            </a:r>
            <a:endParaRPr lang="zh-CN" altLang="en-US" dirty="0"/>
          </a:p>
          <a:p>
            <a:pPr lvl="1" eaLnBrk="1" hangingPunct="1">
              <a:lnSpc>
                <a:spcPct val="110000"/>
              </a:lnSpc>
              <a:buChar char="•"/>
            </a:pPr>
            <a:endParaRPr lang="zh-CN" altLang="en-US" dirty="0"/>
          </a:p>
          <a:p>
            <a:pPr lvl="0" eaLnBrk="1" hangingPunct="1"/>
            <a:r>
              <a:rPr lang="zh-CN" altLang="en-US" sz="1400" dirty="0"/>
              <a:t>顺序封锁法存在的</a:t>
            </a:r>
            <a:r>
              <a:rPr lang="zh-CN" altLang="en-US" sz="1400" dirty="0">
                <a:solidFill>
                  <a:srgbClr val="0000CC"/>
                </a:solidFill>
              </a:rPr>
              <a:t>问题</a:t>
            </a:r>
            <a:r>
              <a:rPr lang="zh-CN" altLang="en-US" sz="1400" dirty="0"/>
              <a:t>：</a:t>
            </a:r>
            <a:endParaRPr lang="zh-CN" altLang="en-US" sz="1400" dirty="0"/>
          </a:p>
          <a:p>
            <a:pPr lvl="1" eaLnBrk="1" hangingPunct="1">
              <a:spcBef>
                <a:spcPct val="0"/>
              </a:spcBef>
            </a:pPr>
            <a:r>
              <a:rPr lang="zh-CN" altLang="en-US" sz="1600" dirty="0"/>
              <a:t>维护成本高</a:t>
            </a:r>
            <a:endParaRPr lang="zh-CN" altLang="en-US" sz="1600" dirty="0"/>
          </a:p>
          <a:p>
            <a:pPr lvl="1" eaLnBrk="1" hangingPunct="1">
              <a:lnSpc>
                <a:spcPct val="110000"/>
              </a:lnSpc>
              <a:buChar char="•"/>
            </a:pPr>
            <a:r>
              <a:rPr lang="zh-CN" altLang="en-US" dirty="0"/>
              <a:t>数据库系统中可封锁的数据对象极其众多，并且随数据的插入、删除等操作而不断地变化，要维护这样极多而且变化的资源的封锁顺序非常困难，成本很高</a:t>
            </a:r>
            <a:endParaRPr lang="zh-CN" altLang="en-US" dirty="0"/>
          </a:p>
          <a:p>
            <a:pPr lvl="0" eaLnBrk="1" hangingPunct="1">
              <a:spcBef>
                <a:spcPct val="40000"/>
              </a:spcBef>
            </a:pPr>
            <a:r>
              <a:rPr lang="zh-CN" altLang="en-US" sz="1400" dirty="0"/>
              <a:t>   难于实现</a:t>
            </a:r>
            <a:endParaRPr lang="zh-CN" altLang="en-US" sz="1400" dirty="0"/>
          </a:p>
          <a:p>
            <a:pPr lvl="1" eaLnBrk="1" hangingPunct="1">
              <a:spcBef>
                <a:spcPct val="40000"/>
              </a:spcBef>
              <a:buChar char="•"/>
            </a:pPr>
            <a:r>
              <a:rPr lang="zh-CN" altLang="en-US" sz="1400" dirty="0"/>
              <a:t>事务的封锁请求可以随着事务的执行而动态地决定，很难事先确定每一个事务要封锁哪些对象，因此也就很难按规定的顺序去施加封锁。</a:t>
            </a:r>
            <a:endParaRPr lang="zh-CN" altLang="en-US" sz="1400" dirty="0"/>
          </a:p>
          <a:p>
            <a:pPr lvl="1" eaLnBrk="1" hangingPunct="1">
              <a:spcBef>
                <a:spcPct val="40000"/>
              </a:spcBef>
              <a:buChar char="•"/>
            </a:pPr>
            <a:r>
              <a:rPr lang="zh-CN" altLang="en-US" dirty="0"/>
              <a:t>   例：规定数据对象的封锁顺序为</a:t>
            </a:r>
            <a:r>
              <a:rPr lang="en-US" altLang="zh-CN" dirty="0"/>
              <a:t>A,B,C,D,E</a:t>
            </a:r>
            <a:r>
              <a:rPr lang="zh-CN" altLang="en-US" dirty="0"/>
              <a:t>。事务</a:t>
            </a:r>
            <a:r>
              <a:rPr lang="en-US" altLang="zh-CN" dirty="0"/>
              <a:t>T3</a:t>
            </a:r>
            <a:r>
              <a:rPr lang="zh-CN" altLang="en-US" dirty="0"/>
              <a:t>起初要求封锁数据对象</a:t>
            </a:r>
            <a:r>
              <a:rPr lang="en-US" altLang="zh-CN" dirty="0"/>
              <a:t>B,C,E</a:t>
            </a:r>
            <a:r>
              <a:rPr lang="zh-CN" altLang="en-US" dirty="0"/>
              <a:t>，但当它封锁了</a:t>
            </a:r>
            <a:r>
              <a:rPr lang="en-US" altLang="zh-CN" dirty="0"/>
              <a:t>B,C</a:t>
            </a:r>
            <a:r>
              <a:rPr lang="zh-CN" altLang="en-US" dirty="0"/>
              <a:t>后，才发现还需要封锁</a:t>
            </a:r>
            <a:r>
              <a:rPr lang="en-US" altLang="zh-CN" dirty="0"/>
              <a:t>A</a:t>
            </a:r>
            <a:r>
              <a:rPr lang="zh-CN" altLang="en-US" dirty="0"/>
              <a:t>，这样就破坏了封锁顺序</a:t>
            </a:r>
            <a:r>
              <a:rPr lang="en-US" altLang="zh-CN" dirty="0"/>
              <a:t>.</a:t>
            </a:r>
            <a:endParaRPr lang="en-US" altLang="zh-CN" dirty="0"/>
          </a:p>
          <a:p>
            <a:pPr lvl="0" eaLnBrk="1" hangingPunct="1">
              <a:lnSpc>
                <a:spcPct val="110000"/>
              </a:lnSpc>
            </a:pP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2227" name="Rectangle 2"/>
          <p:cNvSpPr>
            <a:spLocks noRot="1"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1" eaLnBrk="1" hangingPunct="1">
              <a:lnSpc>
                <a:spcPct val="140000"/>
              </a:lnSpc>
              <a:spcBef>
                <a:spcPct val="80000"/>
              </a:spcBef>
              <a:buChar char="•"/>
            </a:pPr>
            <a:r>
              <a:rPr lang="en-US" altLang="zh-CN" dirty="0"/>
              <a:t>DBMS</a:t>
            </a:r>
            <a:r>
              <a:rPr lang="zh-CN" altLang="en-US" dirty="0"/>
              <a:t>在解决死锁的问题上更普遍采用的是诊断并解除死锁的方法</a:t>
            </a:r>
            <a:endParaRPr lang="zh-CN" altLang="en-US" dirty="0"/>
          </a:p>
          <a:p>
            <a:pPr lvl="0" eaLnBrk="1" hangingPunct="1"/>
            <a:endParaRPr lang="zh-CN" altLang="en-US" sz="1400" dirty="0">
              <a:solidFill>
                <a:srgbClr val="0000CC"/>
              </a:solidFill>
            </a:endParaRPr>
          </a:p>
          <a:p>
            <a:pPr lvl="0" eaLnBrk="1" hangingPunct="1"/>
            <a:r>
              <a:rPr lang="zh-CN" altLang="en-US" sz="1400" dirty="0">
                <a:solidFill>
                  <a:srgbClr val="0000CC"/>
                </a:solidFill>
              </a:rPr>
              <a:t>死锁诊断－基于超时的方法</a:t>
            </a:r>
            <a:endParaRPr lang="zh-CN" altLang="en-US" sz="1400" dirty="0">
              <a:solidFill>
                <a:srgbClr val="0000CC"/>
              </a:solidFill>
            </a:endParaRPr>
          </a:p>
          <a:p>
            <a:pPr lvl="0" eaLnBrk="1" hangingPunct="1"/>
            <a:r>
              <a:rPr lang="zh-CN" altLang="en-US" sz="1400" dirty="0"/>
              <a:t>    为申请锁的事务的等待时间规定了一个上限，等待时间超过规定时间值，即在此期间内该事务没有获得申请的锁，则事务回滚并重启。</a:t>
            </a:r>
            <a:endParaRPr lang="zh-CN" altLang="en-US" sz="1400" dirty="0"/>
          </a:p>
          <a:p>
            <a:pPr lvl="0" eaLnBrk="1" hangingPunct="1"/>
            <a:r>
              <a:rPr lang="zh-CN" altLang="en-US" sz="1400" dirty="0"/>
              <a:t>    </a:t>
            </a:r>
            <a:r>
              <a:rPr lang="zh-CN" altLang="en-US" sz="1400" dirty="0">
                <a:solidFill>
                  <a:srgbClr val="0000CC"/>
                </a:solidFill>
              </a:rPr>
              <a:t>优点</a:t>
            </a:r>
            <a:r>
              <a:rPr lang="zh-CN" altLang="en-US" sz="1400" dirty="0"/>
              <a:t>：实现简单。</a:t>
            </a:r>
            <a:endParaRPr lang="zh-CN" altLang="en-US" sz="1400" dirty="0"/>
          </a:p>
          <a:p>
            <a:pPr lvl="0" eaLnBrk="1" hangingPunct="1"/>
            <a:r>
              <a:rPr lang="zh-CN" altLang="en-US" sz="1400" dirty="0"/>
              <a:t>    </a:t>
            </a:r>
            <a:r>
              <a:rPr lang="zh-CN" altLang="en-US" sz="1400" dirty="0">
                <a:solidFill>
                  <a:srgbClr val="0000CC"/>
                </a:solidFill>
              </a:rPr>
              <a:t>缺点</a:t>
            </a:r>
            <a:r>
              <a:rPr lang="zh-CN" altLang="en-US" sz="1400" dirty="0"/>
              <a:t>：</a:t>
            </a:r>
            <a:endParaRPr lang="zh-CN" altLang="en-US" sz="1400" dirty="0"/>
          </a:p>
          <a:p>
            <a:pPr lvl="1" eaLnBrk="1" hangingPunct="1">
              <a:spcBef>
                <a:spcPct val="0"/>
              </a:spcBef>
            </a:pPr>
            <a:r>
              <a:rPr lang="zh-CN" altLang="en-US" sz="1600" dirty="0"/>
              <a:t>有可能误判死锁。</a:t>
            </a:r>
            <a:endParaRPr lang="zh-CN" altLang="en-US" sz="1600" dirty="0"/>
          </a:p>
          <a:p>
            <a:pPr lvl="1" eaLnBrk="1" hangingPunct="1">
              <a:spcBef>
                <a:spcPct val="0"/>
              </a:spcBef>
            </a:pPr>
            <a:r>
              <a:rPr lang="zh-CN" altLang="en-US" sz="1600" dirty="0"/>
              <a:t>时限若设置得太长，死锁发生后不能及时发现。</a:t>
            </a:r>
            <a:endParaRPr lang="zh-CN" altLang="en-US" sz="1600" dirty="0"/>
          </a:p>
          <a:p>
            <a:pPr lvl="0" eaLnBrk="1" hangingPunct="1">
              <a:lnSpc>
                <a:spcPct val="150000"/>
              </a:lnSpc>
            </a:pPr>
            <a:endParaRPr lang="zh-CN" altLang="en-US" dirty="0"/>
          </a:p>
          <a:p>
            <a:pPr lvl="0" eaLnBrk="1" hangingPunct="1">
              <a:lnSpc>
                <a:spcPct val="150000"/>
              </a:lnSpc>
              <a:buChar char="•"/>
            </a:pPr>
            <a:r>
              <a:rPr lang="zh-CN" altLang="en-US" dirty="0"/>
              <a:t>允许死锁发生</a:t>
            </a:r>
            <a:endParaRPr lang="zh-CN" altLang="en-US" dirty="0"/>
          </a:p>
          <a:p>
            <a:pPr lvl="0" eaLnBrk="1" hangingPunct="1">
              <a:lnSpc>
                <a:spcPct val="150000"/>
              </a:lnSpc>
              <a:buChar char="•"/>
            </a:pPr>
            <a:r>
              <a:rPr lang="zh-CN" altLang="en-US" dirty="0"/>
              <a:t>解除死锁</a:t>
            </a:r>
            <a:endParaRPr lang="zh-CN" altLang="en-US" dirty="0"/>
          </a:p>
          <a:p>
            <a:pPr lvl="1" eaLnBrk="1" hangingPunct="1">
              <a:lnSpc>
                <a:spcPct val="150000"/>
              </a:lnSpc>
              <a:buChar char="•"/>
            </a:pPr>
            <a:r>
              <a:rPr lang="zh-CN" altLang="en-US" dirty="0"/>
              <a:t>由</a:t>
            </a:r>
            <a:r>
              <a:rPr lang="en-US" altLang="zh-CN" dirty="0"/>
              <a:t>DBMS</a:t>
            </a:r>
            <a:r>
              <a:rPr lang="zh-CN" altLang="en-US" dirty="0"/>
              <a:t>的并发控制子系统定期检测系统中是否存在死锁</a:t>
            </a:r>
            <a:endParaRPr lang="zh-CN" altLang="en-US" dirty="0"/>
          </a:p>
          <a:p>
            <a:pPr lvl="1" eaLnBrk="1" hangingPunct="1">
              <a:lnSpc>
                <a:spcPct val="150000"/>
              </a:lnSpc>
              <a:buChar char="•"/>
            </a:pPr>
            <a:r>
              <a:rPr lang="zh-CN" altLang="en-US" dirty="0"/>
              <a:t>一旦检测到死锁，就要设法解除</a:t>
            </a:r>
            <a:endParaRPr lang="zh-CN" altLang="en-US" sz="1400" dirty="0"/>
          </a:p>
          <a:p>
            <a:pPr lvl="0" eaLnBrk="1" hangingPunct="1"/>
            <a:endParaRPr lang="en-US" altLang="zh-CN" sz="1400" dirty="0">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3251" name="Rectangle 2"/>
          <p:cNvSpPr>
            <a:spLocks noRot="1" noTextEdit="1"/>
          </p:cNvSpPr>
          <p:nvPr>
            <p:ph type="sldImg"/>
          </p:nvPr>
        </p:nvSpPr>
        <p:spPr/>
      </p:sp>
      <p:sp>
        <p:nvSpPr>
          <p:cNvPr id="53252" name="Rectangle 3"/>
          <p:cNvSpPr>
            <a:spLocks noGrp="1"/>
          </p:cNvSpPr>
          <p:nvPr>
            <p:ph type="body" idx="1"/>
          </p:nvPr>
        </p:nvSpPr>
        <p:spPr/>
        <p:txBody>
          <a:bodyPr wrap="square" lIns="91440" tIns="45720" rIns="91440" bIns="45720" anchor="t" anchorCtr="0"/>
          <a:p>
            <a:pPr lvl="0" eaLnBrk="1" hangingPunct="1">
              <a:buChar char="•"/>
            </a:pPr>
            <a:r>
              <a:rPr lang="en-US" altLang="zh-CN" sz="1400" dirty="0"/>
              <a:t>    </a:t>
            </a:r>
            <a:r>
              <a:rPr lang="zh-CN" altLang="en-US" sz="1400" dirty="0"/>
              <a:t>用一种称为等待图</a:t>
            </a:r>
            <a:r>
              <a:rPr lang="en-US" altLang="zh-CN" sz="1400" dirty="0"/>
              <a:t>(Waitfor Graph)</a:t>
            </a:r>
            <a:r>
              <a:rPr lang="zh-CN" altLang="en-US" sz="1400" dirty="0"/>
              <a:t>来描述事务之间的锁等待关系。</a:t>
            </a:r>
            <a:endParaRPr lang="zh-CN" altLang="en-US" sz="1400" dirty="0"/>
          </a:p>
          <a:p>
            <a:pPr lvl="0" eaLnBrk="1" hangingPunct="1">
              <a:buChar char="•"/>
            </a:pPr>
            <a:r>
              <a:rPr lang="zh-CN" altLang="en-US" sz="1400" dirty="0"/>
              <a:t>    等待图中节点表示事务，若存在从事务</a:t>
            </a:r>
            <a:r>
              <a:rPr lang="en-US" altLang="zh-CN" sz="1400" dirty="0"/>
              <a:t>T</a:t>
            </a:r>
            <a:r>
              <a:rPr lang="en-US" altLang="zh-CN" sz="1400" baseline="-25000" dirty="0"/>
              <a:t>i</a:t>
            </a:r>
            <a:r>
              <a:rPr lang="zh-CN" altLang="en-US" sz="1400" dirty="0"/>
              <a:t>到事务</a:t>
            </a:r>
            <a:r>
              <a:rPr lang="en-US" altLang="zh-CN" sz="1400" dirty="0"/>
              <a:t>T</a:t>
            </a:r>
            <a:r>
              <a:rPr lang="en-US" altLang="zh-CN" sz="1400" baseline="-25000" dirty="0"/>
              <a:t>j</a:t>
            </a:r>
            <a:r>
              <a:rPr lang="zh-CN" altLang="en-US" sz="1400" dirty="0"/>
              <a:t>的一条有向边，则表示事务</a:t>
            </a:r>
            <a:r>
              <a:rPr lang="en-US" altLang="zh-CN" sz="1400" dirty="0"/>
              <a:t>Ti</a:t>
            </a:r>
            <a:r>
              <a:rPr lang="zh-CN" altLang="en-US" sz="1400" dirty="0"/>
              <a:t>在等待</a:t>
            </a:r>
            <a:r>
              <a:rPr lang="en-US" altLang="zh-CN" sz="1400" dirty="0"/>
              <a:t>T</a:t>
            </a:r>
            <a:r>
              <a:rPr lang="en-US" altLang="zh-CN" sz="1400" baseline="-25000" dirty="0"/>
              <a:t>j</a:t>
            </a:r>
            <a:r>
              <a:rPr lang="zh-CN" altLang="en-US" sz="1400" dirty="0"/>
              <a:t>释放所需的数据项，当</a:t>
            </a:r>
            <a:r>
              <a:rPr lang="en-US" altLang="zh-CN" sz="1400" dirty="0"/>
              <a:t>T</a:t>
            </a:r>
            <a:r>
              <a:rPr lang="en-US" altLang="zh-CN" sz="1400" baseline="-25000" dirty="0"/>
              <a:t>j</a:t>
            </a:r>
            <a:r>
              <a:rPr lang="zh-CN" altLang="en-US" sz="1400" dirty="0"/>
              <a:t>释放加在该数据项上的锁时，则将这条边从等待图中删除。</a:t>
            </a:r>
            <a:endParaRPr lang="zh-CN" altLang="en-US" sz="1400" dirty="0"/>
          </a:p>
          <a:p>
            <a:pPr lvl="0" eaLnBrk="1" hangingPunct="1"/>
            <a:endParaRPr lang="zh-CN" altLang="en-US" sz="1400" dirty="0"/>
          </a:p>
          <a:p>
            <a:pPr lvl="0" eaLnBrk="1" hangingPunct="1"/>
            <a:r>
              <a:rPr lang="zh-CN" altLang="en-US" dirty="0"/>
              <a:t>并发控制子系统周期性地（比如每隔</a:t>
            </a:r>
            <a:r>
              <a:rPr lang="en-US" altLang="zh-CN" dirty="0"/>
              <a:t>1 min</a:t>
            </a:r>
            <a:r>
              <a:rPr lang="zh-CN" altLang="en-US" dirty="0"/>
              <a:t>）检测事务等待图，如果发现图中存在回路，则表示系统中出现了死锁。</a:t>
            </a:r>
            <a:endParaRPr lang="zh-CN" altLang="en-US" dirty="0"/>
          </a:p>
          <a:p>
            <a:pPr lvl="0" eaLnBrk="1" hangingPunct="1"/>
            <a:endParaRPr lang="zh-CN" altLang="en-US" b="1" dirty="0">
              <a:solidFill>
                <a:srgbClr val="000000"/>
              </a:solidFill>
              <a:latin typeface="宋体" panose="02010600030101010101" pitchFamily="2" charset="-122"/>
            </a:endParaRPr>
          </a:p>
          <a:p>
            <a:pPr lvl="0" eaLnBrk="1" hangingPunct="1"/>
            <a:r>
              <a:rPr lang="zh-CN" altLang="en-US" b="1" dirty="0">
                <a:solidFill>
                  <a:srgbClr val="000000"/>
                </a:solidFill>
                <a:latin typeface="宋体" panose="02010600030101010101" pitchFamily="2" charset="-122"/>
              </a:rPr>
              <a:t>为了能够及时检测到死锁的存在，系统必须维护等待图，并且周期性地判断等待图中是否存在有向环。 </a:t>
            </a:r>
            <a:endParaRPr lang="zh-CN" altLang="en-US" sz="1400" dirty="0"/>
          </a:p>
          <a:p>
            <a:pPr lvl="0" eaLnBrk="1" hangingPunct="1"/>
            <a:endParaRPr lang="en-US" altLang="zh-CN" sz="1400" dirty="0">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4275" name="Rectangle 2"/>
          <p:cNvSpPr>
            <a:spLocks noRot="1" noTextEdit="1"/>
          </p:cNvSpPr>
          <p:nvPr>
            <p:ph type="sldImg"/>
          </p:nvPr>
        </p:nvSpPr>
        <p:spPr/>
      </p:sp>
      <p:sp>
        <p:nvSpPr>
          <p:cNvPr id="54276" name="Rectangle 3"/>
          <p:cNvSpPr>
            <a:spLocks noGrp="1"/>
          </p:cNvSpPr>
          <p:nvPr>
            <p:ph type="body" idx="1"/>
          </p:nvPr>
        </p:nvSpPr>
        <p:spPr/>
        <p:txBody>
          <a:bodyPr wrap="square" lIns="91440" tIns="45720" rIns="91440" bIns="45720" anchor="t" anchorCtr="0"/>
          <a:p>
            <a:pPr lvl="0" eaLnBrk="1" hangingPunct="1"/>
            <a:r>
              <a:rPr lang="zh-CN" altLang="en-US" sz="1400" dirty="0"/>
              <a:t>选择一个处理死锁代价最小的事务，将其撤消，释放此事务持有的所有的锁，使其它事务能继续运行下去。</a:t>
            </a:r>
            <a:endParaRPr lang="zh-CN" altLang="en-US" sz="14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6323" name="Rectangle 2"/>
          <p:cNvSpPr>
            <a:spLocks noRot="1" noTextEdit="1"/>
          </p:cNvSpPr>
          <p:nvPr>
            <p:ph type="sldImg"/>
          </p:nvPr>
        </p:nvSpPr>
        <p:spPr/>
      </p:sp>
      <p:sp>
        <p:nvSpPr>
          <p:cNvPr id="56324" name="Rectangle 3"/>
          <p:cNvSpPr>
            <a:spLocks noGrp="1"/>
          </p:cNvSpPr>
          <p:nvPr>
            <p:ph type="body" idx="1"/>
          </p:nvPr>
        </p:nvSpPr>
        <p:spPr/>
        <p:txBody>
          <a:bodyPr wrap="square" lIns="91440" tIns="45720" rIns="91440" bIns="45720" anchor="t" anchorCtr="0"/>
          <a:p>
            <a:pPr lvl="0" eaLnBrk="1" hangingPunct="1">
              <a:lnSpc>
                <a:spcPct val="120000"/>
              </a:lnSpc>
            </a:pPr>
            <a:r>
              <a:rPr lang="zh-CN" altLang="en-US" sz="1400" dirty="0">
                <a:latin typeface="宋体" panose="02010600030101010101" pitchFamily="2" charset="-122"/>
              </a:rPr>
              <a:t>采用</a:t>
            </a:r>
            <a:r>
              <a:rPr lang="zh-CN" altLang="en-US" sz="1400" dirty="0">
                <a:solidFill>
                  <a:srgbClr val="FF0000"/>
                </a:solidFill>
                <a:latin typeface="宋体" panose="02010600030101010101" pitchFamily="2" charset="-122"/>
              </a:rPr>
              <a:t>先来先服务</a:t>
            </a:r>
            <a:r>
              <a:rPr lang="zh-CN" altLang="en-US" sz="1400" dirty="0">
                <a:latin typeface="宋体" panose="02010600030101010101" pitchFamily="2" charset="-122"/>
              </a:rPr>
              <a:t>的策略</a:t>
            </a:r>
            <a:endParaRPr lang="zh-CN" altLang="en-US" sz="1400" dirty="0">
              <a:latin typeface="宋体" panose="02010600030101010101" pitchFamily="2" charset="-122"/>
            </a:endParaRPr>
          </a:p>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t>故障是不可避免的</a:t>
            </a:r>
            <a:endParaRPr lang="zh-CN" altLang="en-US" dirty="0"/>
          </a:p>
          <a:p>
            <a:pPr lvl="1" eaLnBrk="1" hangingPunct="1">
              <a:lnSpc>
                <a:spcPct val="110000"/>
              </a:lnSpc>
              <a:spcBef>
                <a:spcPct val="0"/>
              </a:spcBef>
            </a:pPr>
            <a:r>
              <a:rPr lang="zh-CN" altLang="en-US" sz="1400" dirty="0"/>
              <a:t>计算机硬件故障</a:t>
            </a:r>
            <a:endParaRPr lang="zh-CN" altLang="en-US" sz="1400" dirty="0"/>
          </a:p>
          <a:p>
            <a:pPr lvl="1" eaLnBrk="1" hangingPunct="1">
              <a:lnSpc>
                <a:spcPct val="110000"/>
              </a:lnSpc>
              <a:spcBef>
                <a:spcPct val="0"/>
              </a:spcBef>
            </a:pPr>
            <a:r>
              <a:rPr lang="zh-CN" altLang="en-US" sz="1400" dirty="0"/>
              <a:t>系统软件和应用软件的错误</a:t>
            </a:r>
            <a:endParaRPr lang="zh-CN" altLang="en-US" sz="1400" dirty="0"/>
          </a:p>
          <a:p>
            <a:pPr lvl="1" eaLnBrk="1" hangingPunct="1">
              <a:lnSpc>
                <a:spcPct val="110000"/>
              </a:lnSpc>
              <a:spcBef>
                <a:spcPct val="0"/>
              </a:spcBef>
            </a:pPr>
            <a:r>
              <a:rPr lang="zh-CN" altLang="en-US" sz="1400" dirty="0"/>
              <a:t>操作员的失误</a:t>
            </a:r>
            <a:endParaRPr lang="zh-CN" altLang="en-US" sz="1400" dirty="0"/>
          </a:p>
          <a:p>
            <a:pPr lvl="1" eaLnBrk="1" hangingPunct="1">
              <a:lnSpc>
                <a:spcPct val="110000"/>
              </a:lnSpc>
              <a:spcBef>
                <a:spcPct val="0"/>
              </a:spcBef>
            </a:pPr>
            <a:r>
              <a:rPr lang="zh-CN" altLang="en-US" sz="1400" dirty="0"/>
              <a:t>恶意的破坏</a:t>
            </a:r>
            <a:endParaRPr lang="zh-CN" altLang="en-US" sz="1400" dirty="0"/>
          </a:p>
          <a:p>
            <a:pPr lvl="0" eaLnBrk="1" hangingPunct="1">
              <a:lnSpc>
                <a:spcPct val="110000"/>
              </a:lnSpc>
            </a:pPr>
            <a:r>
              <a:rPr lang="zh-CN" altLang="en-US" dirty="0"/>
              <a:t>故障的影响</a:t>
            </a:r>
            <a:endParaRPr lang="zh-CN" altLang="en-US" dirty="0"/>
          </a:p>
          <a:p>
            <a:pPr lvl="1" eaLnBrk="1" hangingPunct="1">
              <a:lnSpc>
                <a:spcPct val="110000"/>
              </a:lnSpc>
              <a:spcBef>
                <a:spcPct val="0"/>
              </a:spcBef>
            </a:pPr>
            <a:r>
              <a:rPr lang="zh-CN" altLang="en-US" sz="1400" dirty="0"/>
              <a:t>运行事务非正常中断</a:t>
            </a:r>
            <a:endParaRPr lang="zh-CN" altLang="en-US" sz="1400" dirty="0"/>
          </a:p>
          <a:p>
            <a:pPr lvl="1" eaLnBrk="1" hangingPunct="1">
              <a:lnSpc>
                <a:spcPct val="110000"/>
              </a:lnSpc>
              <a:spcBef>
                <a:spcPct val="0"/>
              </a:spcBef>
            </a:pPr>
            <a:r>
              <a:rPr lang="zh-CN" altLang="en-US" sz="1400" dirty="0"/>
              <a:t>破坏数据库</a:t>
            </a:r>
            <a:endParaRPr lang="zh-CN" altLang="en-US" sz="1400" dirty="0">
              <a:latin typeface="黑体" panose="02010609060101010101" pitchFamily="2" charset="-122"/>
            </a:endParaRPr>
          </a:p>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8371" name="Rectangle 2"/>
          <p:cNvSpPr>
            <a:spLocks noRot="1" noTextEdit="1"/>
          </p:cNvSpPr>
          <p:nvPr>
            <p:ph type="sldImg"/>
          </p:nvPr>
        </p:nvSpPr>
        <p:spPr/>
      </p:sp>
      <p:sp>
        <p:nvSpPr>
          <p:cNvPr id="583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0419" name="Rectangle 2"/>
          <p:cNvSpPr>
            <a:spLocks noRot="1" noTextEdit="1"/>
          </p:cNvSpPr>
          <p:nvPr>
            <p:ph type="sldImg"/>
          </p:nvPr>
        </p:nvSpPr>
        <p:spPr/>
      </p:sp>
      <p:sp>
        <p:nvSpPr>
          <p:cNvPr id="60420"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数据库在运行过程中，总是从一种完整状态转变为另一种完整状态。但是，由于种种原因，事务可能被撤消、重启，使得数据库停留在某一转变过程中间（不完整状态）。为了清除被撤消事务对数据库造成的影响，保证已交付事务的结果不丢失（达到新的完整状态），以及在系统故障修复后使数据库恢复到可用状态，需要使用恢复机制。</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1443" name="Rectangle 2"/>
          <p:cNvSpPr>
            <a:spLocks noRot="1" noTextEdit="1"/>
          </p:cNvSpPr>
          <p:nvPr>
            <p:ph type="sldImg"/>
          </p:nvPr>
        </p:nvSpPr>
        <p:spPr/>
      </p:sp>
      <p:sp>
        <p:nvSpPr>
          <p:cNvPr id="61444"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数据库在运行过程中，总是从一种完整状态转变为另一种完整状态。但是，由于种种原因，事务可能被撤消、重启，使得数据库停留在某一转变过程中间（不完整状态）。为了清除被撤消事务对数据库造成的影响，保证已交付事务的结果不丢失（达到新的完整状态），以及在系统故障修复后使数据库恢复到可用状态，需要使用恢复机制。</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2467" name="Rectangle 2"/>
          <p:cNvSpPr>
            <a:spLocks noRot="1" noTextEdit="1"/>
          </p:cNvSpPr>
          <p:nvPr>
            <p:ph type="sldImg"/>
          </p:nvPr>
        </p:nvSpPr>
        <p:spPr/>
      </p:sp>
      <p:sp>
        <p:nvSpPr>
          <p:cNvPr id="62468" name="Rectangle 3"/>
          <p:cNvSpPr>
            <a:spLocks noGrp="1"/>
          </p:cNvSpPr>
          <p:nvPr>
            <p:ph type="body" idx="1"/>
          </p:nvPr>
        </p:nvSpPr>
        <p:spPr/>
        <p:txBody>
          <a:bodyPr wrap="square" lIns="91440" tIns="45720" rIns="91440" bIns="45720" anchor="t" anchorCtr="0"/>
          <a:p>
            <a:pPr lvl="1" eaLnBrk="1" hangingPunct="1">
              <a:lnSpc>
                <a:spcPct val="95000"/>
              </a:lnSpc>
              <a:spcBef>
                <a:spcPct val="0"/>
              </a:spcBef>
            </a:pPr>
            <a:r>
              <a:rPr lang="zh-CN" altLang="en-US" sz="1400" dirty="0"/>
              <a:t>内存中数据库缓冲区的信息全部丢失</a:t>
            </a:r>
            <a:endParaRPr lang="zh-CN" altLang="en-US" sz="1400" dirty="0"/>
          </a:p>
          <a:p>
            <a:pPr lvl="1" eaLnBrk="1" hangingPunct="1">
              <a:lnSpc>
                <a:spcPct val="95000"/>
              </a:lnSpc>
              <a:spcBef>
                <a:spcPct val="0"/>
              </a:spcBef>
            </a:pPr>
            <a:r>
              <a:rPr lang="zh-CN" altLang="en-US" sz="1400" dirty="0"/>
              <a:t>外部存储设备上的数据未受影响</a:t>
            </a:r>
            <a:endParaRPr lang="zh-CN" altLang="en-US" sz="1400" dirty="0"/>
          </a:p>
          <a:p>
            <a:pPr lvl="0"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3491" name="Rectangle 2"/>
          <p:cNvSpPr>
            <a:spLocks noRot="1"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r>
              <a:rPr lang="zh-CN" altLang="en-US" dirty="0"/>
              <a:t>介质故障比前两类故障的可能性小得多，但破坏性大得多。</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4515" name="Rectangle 2"/>
          <p:cNvSpPr>
            <a:spLocks noRot="1"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r>
              <a:rPr lang="en-GB" altLang="zh-CN" dirty="0"/>
              <a:t>DBMS</a:t>
            </a:r>
            <a:r>
              <a:rPr lang="zh-CN" altLang="en-GB" dirty="0"/>
              <a:t>应维持足够的信息，用以将数据库恢复到一致的状态。</a:t>
            </a:r>
            <a:r>
              <a:rPr lang="zh-CN" altLang="en-US" dirty="0">
                <a:solidFill>
                  <a:srgbClr val="FF3300"/>
                </a:solidFill>
              </a:rPr>
              <a:t>恢复的基本原理是数据冗余。</a:t>
            </a:r>
            <a:endParaRPr lang="zh-CN" altLang="en-US" dirty="0">
              <a:solidFill>
                <a:srgbClr val="FF3300"/>
              </a:solidFill>
            </a:endParaRPr>
          </a:p>
          <a:p>
            <a:pPr lvl="0" eaLnBrk="1" hangingPunct="1"/>
            <a:r>
              <a:rPr lang="zh-CN" altLang="en-US" dirty="0"/>
              <a:t>恢复的实现技术：复杂。</a:t>
            </a:r>
            <a:r>
              <a:rPr lang="zh-CN" altLang="en-US" sz="1400" dirty="0"/>
              <a:t>一个大型数据库产品，恢复子系统的代码要占全部代码的</a:t>
            </a:r>
            <a:r>
              <a:rPr lang="en-US" altLang="zh-CN" sz="1400" dirty="0"/>
              <a:t>10%</a:t>
            </a:r>
            <a:r>
              <a:rPr lang="zh-CN" altLang="en-US" sz="1400" dirty="0"/>
              <a:t>以上</a:t>
            </a:r>
            <a:endParaRPr lang="zh-CN" altLang="en-US" sz="1400" dirty="0"/>
          </a:p>
          <a:p>
            <a:pPr lvl="0" eaLnBrk="1" hangingPunct="1"/>
            <a:r>
              <a:rPr lang="zh-CN" altLang="en-US" dirty="0"/>
              <a:t>恢复机制涉及的</a:t>
            </a:r>
            <a:r>
              <a:rPr lang="zh-CN" altLang="en-US" dirty="0">
                <a:solidFill>
                  <a:srgbClr val="0000CC"/>
                </a:solidFill>
              </a:rPr>
              <a:t>关键问题</a:t>
            </a:r>
            <a:endParaRPr lang="zh-CN" altLang="en-US" dirty="0">
              <a:solidFill>
                <a:srgbClr val="0000CC"/>
              </a:solidFill>
            </a:endParaRPr>
          </a:p>
          <a:p>
            <a:pPr lvl="1" eaLnBrk="1" hangingPunct="1">
              <a:spcBef>
                <a:spcPct val="35000"/>
              </a:spcBef>
              <a:buChar char="•"/>
            </a:pPr>
            <a:r>
              <a:rPr lang="zh-CN" altLang="en-US" sz="1400" dirty="0"/>
              <a:t>如何建立冗余数据</a:t>
            </a:r>
            <a:endParaRPr lang="zh-CN" altLang="en-US" sz="1400" dirty="0"/>
          </a:p>
          <a:p>
            <a:pPr lvl="1" eaLnBrk="1" hangingPunct="1">
              <a:spcBef>
                <a:spcPct val="25000"/>
              </a:spcBef>
              <a:buChar char="•"/>
            </a:pPr>
            <a:r>
              <a:rPr lang="zh-CN" altLang="en-US" sz="1400" dirty="0"/>
              <a:t>如何利用这些冗余数据实施数据库恢复</a:t>
            </a:r>
            <a:endParaRPr lang="zh-CN" altLang="en-US" sz="1400" dirty="0"/>
          </a:p>
          <a:p>
            <a:pPr lvl="0" eaLnBrk="1" hangingPunct="1">
              <a:buChar char="•"/>
            </a:pPr>
            <a:endParaRPr lang="en-US" altLang="zh-CN" dirty="0">
              <a:solidFill>
                <a:srgbClr val="FF33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5539" name="Rectangle 2"/>
          <p:cNvSpPr>
            <a:spLocks noRot="1"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r>
              <a:rPr lang="zh-CN" altLang="en-US" dirty="0"/>
              <a:t>制作备份的过程称为转储</a:t>
            </a:r>
            <a:endParaRPr lang="zh-CN" altLang="en-US" dirty="0">
              <a:solidFill>
                <a:srgbClr val="000000"/>
              </a:solidFill>
            </a:endParaRPr>
          </a:p>
          <a:p>
            <a:pPr lvl="0" eaLnBrk="1" hangingPunct="1"/>
            <a:r>
              <a:rPr lang="zh-CN" altLang="en-US" dirty="0">
                <a:solidFill>
                  <a:srgbClr val="000000"/>
                </a:solidFill>
              </a:rPr>
              <a:t>可以有效地解决由于磁盘故障引起的问题。建立备份副本就是把数据库中的数据备份到一个后援副本上，这一过程称为倒库或者备份</a:t>
            </a:r>
            <a:r>
              <a:rPr lang="en-US" altLang="zh-CN" dirty="0">
                <a:solidFill>
                  <a:srgbClr val="000000"/>
                </a:solidFill>
              </a:rPr>
              <a:t>(dump), </a:t>
            </a:r>
            <a:r>
              <a:rPr lang="zh-CN" altLang="en-US" dirty="0">
                <a:solidFill>
                  <a:srgbClr val="000000"/>
                </a:solidFill>
              </a:rPr>
              <a:t>一般定期进行。</a:t>
            </a:r>
            <a:endParaRPr lang="zh-CN" altLang="en-US" dirty="0">
              <a:solidFill>
                <a:srgbClr val="000000"/>
              </a:solidFill>
            </a:endParaRPr>
          </a:p>
          <a:p>
            <a:pPr lvl="0" eaLnBrk="1" hangingPunct="1"/>
            <a:r>
              <a:rPr lang="zh-CN" altLang="en-US" dirty="0"/>
              <a:t>数据备份：周期性</a:t>
            </a:r>
            <a:r>
              <a:rPr lang="en-US" altLang="zh-CN" sz="1400" dirty="0"/>
              <a:t>(</a:t>
            </a:r>
            <a:r>
              <a:rPr lang="zh-CN" altLang="en-US" sz="1400" dirty="0"/>
              <a:t>比如一天一次</a:t>
            </a:r>
            <a:r>
              <a:rPr lang="en-US" altLang="zh-CN" sz="1400" dirty="0"/>
              <a:t>)</a:t>
            </a:r>
            <a:r>
              <a:rPr lang="zh-CN" altLang="en-US" dirty="0"/>
              <a:t>地将整个数据库的内容复制到稳定存储器（</a:t>
            </a:r>
            <a:r>
              <a:rPr lang="zh-CN" altLang="en-US" sz="1400" dirty="0"/>
              <a:t>磁盘或磁带一类的存储介质</a:t>
            </a:r>
            <a:r>
              <a:rPr lang="zh-CN" altLang="en-US" dirty="0"/>
              <a:t>）上。这些复制的数据称为备份副本。</a:t>
            </a:r>
            <a:endParaRPr lang="zh-CN" altLang="en-US" dirty="0"/>
          </a:p>
          <a:p>
            <a:pPr lvl="0" eaLnBrk="1" hangingPunct="1"/>
            <a:endParaRPr lang="zh-CN" altLang="en-US" dirty="0"/>
          </a:p>
          <a:p>
            <a:pPr lvl="0" eaLnBrk="1" hangingPunct="1"/>
            <a:endParaRPr lang="en-US" altLang="zh-CN" dirty="0">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6563" name="Rectangle 2"/>
          <p:cNvSpPr>
            <a:spLocks noRot="1"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可以有效地解决由于磁盘故障引起的问题。建立备份副本就是把数据库中的数据备份到一个后援副本上，这一过程称为倒库或者备份</a:t>
            </a:r>
            <a:r>
              <a:rPr lang="en-US" altLang="zh-CN" dirty="0">
                <a:solidFill>
                  <a:srgbClr val="000000"/>
                </a:solidFill>
              </a:rPr>
              <a:t>(dump), </a:t>
            </a:r>
            <a:r>
              <a:rPr lang="zh-CN" altLang="en-US" dirty="0">
                <a:solidFill>
                  <a:srgbClr val="000000"/>
                </a:solidFill>
              </a:rPr>
              <a:t>一般定期进行。</a:t>
            </a:r>
            <a:endParaRPr lang="zh-CN" altLang="en-US" dirty="0">
              <a:solidFill>
                <a:srgbClr val="000000"/>
              </a:solidFill>
            </a:endParaRPr>
          </a:p>
          <a:p>
            <a:pPr lvl="0" eaLnBrk="1" hangingPunct="1"/>
            <a:r>
              <a:rPr lang="zh-CN" altLang="en-US" dirty="0"/>
              <a:t>缺点：降低了数据库的可用性</a:t>
            </a:r>
            <a:endParaRPr lang="zh-CN" altLang="en-US" dirty="0"/>
          </a:p>
          <a:p>
            <a:pPr lvl="1" eaLnBrk="1" hangingPunct="1">
              <a:spcBef>
                <a:spcPct val="0"/>
              </a:spcBef>
              <a:buChar char="•"/>
            </a:pPr>
            <a:r>
              <a:rPr lang="zh-CN" altLang="en-US" sz="1400" dirty="0"/>
              <a:t>备份必须等用户事务结束</a:t>
            </a:r>
            <a:endParaRPr lang="zh-CN" altLang="en-US" sz="1400" dirty="0"/>
          </a:p>
          <a:p>
            <a:pPr lvl="1" eaLnBrk="1" hangingPunct="1">
              <a:spcBef>
                <a:spcPct val="0"/>
              </a:spcBef>
              <a:buChar char="•"/>
            </a:pPr>
            <a:r>
              <a:rPr lang="zh-CN" altLang="en-US" sz="1400" dirty="0"/>
              <a:t>新的事务必须等备份结束</a:t>
            </a:r>
            <a:endParaRPr lang="zh-CN" altLang="en-US" sz="1400" dirty="0"/>
          </a:p>
          <a:p>
            <a:pPr lvl="0" eaLnBrk="1" hangingPunct="1"/>
            <a:endParaRPr lang="en-US" altLang="zh-CN" dirty="0">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7587" name="Rectangle 2"/>
          <p:cNvSpPr>
            <a:spLocks noRot="1"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可以有效地解决由于磁盘故障引起的问题。建立备份副本就是把数据库中的数据备份到一个后援副本上，这一过程称为倒库或者备份</a:t>
            </a:r>
            <a:r>
              <a:rPr lang="en-US" altLang="zh-CN" dirty="0">
                <a:solidFill>
                  <a:srgbClr val="000000"/>
                </a:solidFill>
              </a:rPr>
              <a:t>(dump), </a:t>
            </a:r>
            <a:r>
              <a:rPr lang="zh-CN" altLang="en-US" dirty="0">
                <a:solidFill>
                  <a:srgbClr val="000000"/>
                </a:solidFill>
              </a:rPr>
              <a:t>一般定期进行。</a:t>
            </a:r>
            <a:endParaRPr lang="zh-CN" altLang="en-US" dirty="0">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8611" name="Rectangle 2"/>
          <p:cNvSpPr>
            <a:spLocks noRot="1" noTextEdit="1"/>
          </p:cNvSpPr>
          <p:nvPr>
            <p:ph type="sldImg"/>
          </p:nvPr>
        </p:nvSpPr>
        <p:spPr/>
      </p:sp>
      <p:sp>
        <p:nvSpPr>
          <p:cNvPr id="68612"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可以有效地解决由于磁盘故障引起的问题。建立备份副本就是把数据库中的数据备份到一个后援副本上，这一过程称为倒库或者备份</a:t>
            </a:r>
            <a:r>
              <a:rPr lang="en-US" altLang="zh-CN" dirty="0">
                <a:solidFill>
                  <a:srgbClr val="000000"/>
                </a:solidFill>
              </a:rPr>
              <a:t>(dump), </a:t>
            </a:r>
            <a:r>
              <a:rPr lang="zh-CN" altLang="en-US" dirty="0">
                <a:solidFill>
                  <a:srgbClr val="000000"/>
                </a:solidFill>
              </a:rPr>
              <a:t>一般定期进行。</a:t>
            </a:r>
            <a:endParaRPr lang="zh-CN" altLang="en-US" dirty="0">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9635" name="Rectangle 2"/>
          <p:cNvSpPr>
            <a:spLocks noRot="1"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r>
              <a:rPr lang="zh-CN" altLang="en-US" dirty="0"/>
              <a:t>但备份又是十分耗费时间和资源的，不能频繁进行。</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0659" name="Rectangle 2"/>
          <p:cNvSpPr>
            <a:spLocks noRot="1"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lnSpc>
                <a:spcPct val="110000"/>
              </a:lnSpc>
              <a:spcBef>
                <a:spcPct val="60000"/>
              </a:spcBef>
            </a:pPr>
            <a:r>
              <a:rPr lang="zh-CN" altLang="en-US" dirty="0"/>
              <a:t>利用动态备份得到的副本进行故障恢复</a:t>
            </a:r>
            <a:endParaRPr lang="zh-CN" altLang="en-US" dirty="0"/>
          </a:p>
          <a:p>
            <a:pPr lvl="1" eaLnBrk="1" hangingPunct="1">
              <a:lnSpc>
                <a:spcPct val="110000"/>
              </a:lnSpc>
              <a:spcBef>
                <a:spcPct val="60000"/>
              </a:spcBef>
            </a:pPr>
            <a:r>
              <a:rPr lang="zh-CN" altLang="en-US" sz="1400" dirty="0"/>
              <a:t>需要把动态备份期间各事务对数据库的修改活动登记下来，建立日志文件</a:t>
            </a:r>
            <a:endParaRPr lang="zh-CN" altLang="en-US" sz="1400" dirty="0"/>
          </a:p>
          <a:p>
            <a:pPr lvl="1" eaLnBrk="1" hangingPunct="1">
              <a:lnSpc>
                <a:spcPct val="110000"/>
              </a:lnSpc>
              <a:spcBef>
                <a:spcPct val="60000"/>
              </a:spcBef>
            </a:pPr>
            <a:r>
              <a:rPr lang="zh-CN" altLang="en-US" sz="1400" dirty="0"/>
              <a:t>后备副本加上日志文件才能把数据库恢复到某一时刻的正确状态</a:t>
            </a:r>
            <a:endParaRPr lang="zh-CN" altLang="en-US" sz="14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1683" name="Rectangle 2"/>
          <p:cNvSpPr>
            <a:spLocks noRot="1"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r>
              <a:rPr lang="zh-CN" altLang="en-GB" dirty="0"/>
              <a:t>事务</a:t>
            </a:r>
            <a:r>
              <a:rPr lang="en-GB" altLang="zh-CN" dirty="0"/>
              <a:t>T</a:t>
            </a:r>
            <a:r>
              <a:rPr lang="zh-CN" altLang="en-GB" dirty="0"/>
              <a:t>的执行与日志的记录</a:t>
            </a:r>
            <a:endParaRPr lang="zh-CN" altLang="en-US" dirty="0"/>
          </a:p>
          <a:p>
            <a:pPr lvl="1" eaLnBrk="1" fontAlgn="b" hangingPunct="1"/>
            <a:r>
              <a:rPr lang="zh-CN" altLang="en-GB" dirty="0"/>
              <a:t>开始</a:t>
            </a:r>
            <a:r>
              <a:rPr lang="en-GB" altLang="zh-CN" dirty="0"/>
              <a:t>T</a:t>
            </a:r>
            <a:r>
              <a:rPr lang="zh-CN" altLang="en-GB" dirty="0"/>
              <a:t>之前：</a:t>
            </a:r>
            <a:r>
              <a:rPr lang="en-GB" altLang="zh-CN" dirty="0"/>
              <a:t>&lt; T,start&gt;</a:t>
            </a:r>
            <a:r>
              <a:rPr lang="zh-CN" altLang="en-GB" dirty="0"/>
              <a:t>→日志</a:t>
            </a:r>
            <a:endParaRPr lang="zh-CN" altLang="en-GB" dirty="0"/>
          </a:p>
          <a:p>
            <a:pPr lvl="1" eaLnBrk="1" fontAlgn="b" hangingPunct="1"/>
            <a:r>
              <a:rPr lang="zh-CN" altLang="en-GB" dirty="0"/>
              <a:t>每次对事务</a:t>
            </a:r>
            <a:r>
              <a:rPr lang="en-GB" altLang="zh-CN" dirty="0"/>
              <a:t>T</a:t>
            </a:r>
            <a:r>
              <a:rPr lang="zh-CN" altLang="en-GB" dirty="0"/>
              <a:t>操作之前：相关操作→日志</a:t>
            </a:r>
            <a:endParaRPr lang="zh-CN" altLang="en-GB" dirty="0"/>
          </a:p>
          <a:p>
            <a:pPr lvl="1" eaLnBrk="1" fontAlgn="b" hangingPunct="1"/>
            <a:r>
              <a:rPr lang="zh-CN" altLang="en-GB" dirty="0"/>
              <a:t>事务</a:t>
            </a:r>
            <a:r>
              <a:rPr lang="en-GB" altLang="zh-CN" dirty="0"/>
              <a:t>T</a:t>
            </a:r>
            <a:r>
              <a:rPr lang="zh-CN" altLang="en-GB" dirty="0"/>
              <a:t>部分操作：</a:t>
            </a:r>
            <a:r>
              <a:rPr lang="en-GB" altLang="zh-CN" dirty="0"/>
              <a:t> &lt; T,commit&gt; </a:t>
            </a:r>
            <a:r>
              <a:rPr lang="zh-CN" altLang="en-GB" dirty="0"/>
              <a:t>→日志</a:t>
            </a:r>
            <a:endParaRPr lang="zh-CN" altLang="en-US" dirty="0"/>
          </a:p>
          <a:p>
            <a:pPr lvl="0" eaLnBrk="1" fontAlgn="b" hangingPunct="1"/>
            <a:r>
              <a:rPr lang="zh-CN" altLang="en-GB" dirty="0"/>
              <a:t>日志内容一般包括：</a:t>
            </a:r>
            <a:endParaRPr lang="zh-CN" altLang="en-GB" dirty="0"/>
          </a:p>
          <a:p>
            <a:pPr lvl="1" eaLnBrk="1" fontAlgn="b" hangingPunct="1"/>
            <a:r>
              <a:rPr lang="en-GB" altLang="zh-CN" dirty="0"/>
              <a:t>&lt; T,D,V1,V2&gt;：</a:t>
            </a:r>
            <a:r>
              <a:rPr lang="zh-CN" altLang="en-GB" dirty="0"/>
              <a:t>事务</a:t>
            </a:r>
            <a:r>
              <a:rPr lang="en-GB" altLang="zh-CN" dirty="0"/>
              <a:t>T</a:t>
            </a:r>
            <a:r>
              <a:rPr lang="zh-CN" altLang="en-GB" dirty="0"/>
              <a:t>将数据项</a:t>
            </a:r>
            <a:r>
              <a:rPr lang="en-GB" altLang="zh-CN" dirty="0"/>
              <a:t>D</a:t>
            </a:r>
            <a:r>
              <a:rPr lang="zh-CN" altLang="en-GB" dirty="0"/>
              <a:t>的值由</a:t>
            </a:r>
            <a:r>
              <a:rPr lang="en-GB" altLang="zh-CN" dirty="0"/>
              <a:t>V1</a:t>
            </a:r>
            <a:r>
              <a:rPr lang="zh-CN" altLang="en-GB" dirty="0"/>
              <a:t>修改为</a:t>
            </a:r>
            <a:r>
              <a:rPr lang="en-GB" altLang="zh-CN" dirty="0"/>
              <a:t>V2。</a:t>
            </a:r>
            <a:endParaRPr lang="en-GB" altLang="zh-CN" dirty="0"/>
          </a:p>
          <a:p>
            <a:pPr lvl="1" eaLnBrk="1" fontAlgn="b" hangingPunct="1"/>
            <a:r>
              <a:rPr lang="en-GB" altLang="zh-CN" dirty="0"/>
              <a:t>&lt; T,start&gt;：</a:t>
            </a:r>
            <a:r>
              <a:rPr lang="zh-CN" altLang="en-GB" dirty="0"/>
              <a:t>事务</a:t>
            </a:r>
            <a:r>
              <a:rPr lang="en-GB" altLang="zh-CN" dirty="0"/>
              <a:t>T</a:t>
            </a:r>
            <a:r>
              <a:rPr lang="zh-CN" altLang="en-GB" dirty="0"/>
              <a:t>开始执行的标记。</a:t>
            </a:r>
            <a:endParaRPr lang="zh-CN" altLang="en-GB" dirty="0"/>
          </a:p>
          <a:p>
            <a:pPr lvl="1" eaLnBrk="1" fontAlgn="b" hangingPunct="1"/>
            <a:r>
              <a:rPr lang="en-GB" altLang="zh-CN" dirty="0"/>
              <a:t>&lt; T,commit&gt;：</a:t>
            </a:r>
            <a:r>
              <a:rPr lang="zh-CN" altLang="en-GB" dirty="0"/>
              <a:t>事务</a:t>
            </a:r>
            <a:r>
              <a:rPr lang="en-GB" altLang="zh-CN" dirty="0"/>
              <a:t>T</a:t>
            </a:r>
            <a:r>
              <a:rPr lang="zh-CN" altLang="en-GB" dirty="0"/>
              <a:t>完成所有操作</a:t>
            </a:r>
            <a:r>
              <a:rPr lang="en-GB" altLang="zh-CN" dirty="0"/>
              <a:t>, </a:t>
            </a:r>
            <a:r>
              <a:rPr lang="zh-CN" altLang="en-GB" dirty="0"/>
              <a:t>提交。</a:t>
            </a:r>
            <a:endParaRPr lang="zh-CN" altLang="en-US" dirty="0"/>
          </a:p>
          <a:p>
            <a:pPr lvl="1" eaLnBrk="1" fontAlgn="b" hangingPunct="1"/>
            <a:r>
              <a:rPr lang="en-GB" altLang="zh-CN" dirty="0"/>
              <a:t>&lt; T,abort&gt;：</a:t>
            </a:r>
            <a:r>
              <a:rPr lang="zh-CN" altLang="en-GB" dirty="0"/>
              <a:t>事务</a:t>
            </a:r>
            <a:r>
              <a:rPr lang="en-GB" altLang="zh-CN" dirty="0"/>
              <a:t>T</a:t>
            </a:r>
            <a:r>
              <a:rPr lang="zh-CN" altLang="en-GB" dirty="0"/>
              <a:t>已经终止。</a:t>
            </a:r>
            <a:endParaRPr lang="zh-CN" altLang="en-GB" dirty="0"/>
          </a:p>
          <a:p>
            <a:pPr lvl="0" eaLnBrk="1" hangingPunct="1"/>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2707" name="Rectangle 2"/>
          <p:cNvSpPr>
            <a:spLocks noRot="1"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eaLnBrk="1" hangingPunct="1"/>
            <a:r>
              <a:rPr lang="en-US" altLang="zh-CN" dirty="0"/>
              <a:t> </a:t>
            </a:r>
            <a:r>
              <a:rPr lang="zh-CN" altLang="en-US" dirty="0"/>
              <a:t>与静态备份后备副本配合进行介质故障恢复：</a:t>
            </a:r>
            <a:endParaRPr lang="zh-CN" altLang="en-US" dirty="0"/>
          </a:p>
          <a:p>
            <a:pPr lvl="1" eaLnBrk="1" hangingPunct="1">
              <a:spcBef>
                <a:spcPct val="0"/>
              </a:spcBef>
            </a:pPr>
            <a:r>
              <a:rPr lang="zh-CN" altLang="en-US" sz="1400" dirty="0"/>
              <a:t>静态备份的数据已是一致性的数据。</a:t>
            </a:r>
            <a:endParaRPr lang="zh-CN" altLang="en-US" sz="1400" dirty="0"/>
          </a:p>
          <a:p>
            <a:pPr lvl="1" eaLnBrk="1" hangingPunct="1">
              <a:spcBef>
                <a:spcPct val="0"/>
              </a:spcBef>
            </a:pPr>
            <a:r>
              <a:rPr lang="zh-CN" altLang="en-US" sz="1400" dirty="0"/>
              <a:t>如果静态备份完成后，仍能定期备份日志文件，则在出现介质故障重装数据副本后，可以利用这些日志文件副本对已完成的事务进行重做处理。</a:t>
            </a:r>
            <a:endParaRPr lang="zh-CN" altLang="en-US" sz="1400" dirty="0"/>
          </a:p>
          <a:p>
            <a:pPr lvl="1" eaLnBrk="1" hangingPunct="1">
              <a:spcBef>
                <a:spcPct val="0"/>
              </a:spcBef>
            </a:pPr>
            <a:r>
              <a:rPr lang="zh-CN" altLang="en-US" sz="1400" dirty="0"/>
              <a:t>这样不必重新运行那些已完成的事务程序就可把数据库恢复到故障前某一时刻的正确状态。</a:t>
            </a:r>
            <a:endParaRPr lang="zh-CN" altLang="en-US" sz="1400" dirty="0"/>
          </a:p>
          <a:p>
            <a:pPr lvl="0" eaLnBrk="1" hangingPunct="1"/>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3731" name="Rectangle 2"/>
          <p:cNvSpPr>
            <a:spLocks noRot="1"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r>
              <a:rPr lang="zh-CN" altLang="en-US" dirty="0"/>
              <a:t>修改数据库中的数据和写日志文件的日志记录是两个不同的操作。这两个操作之间还可能发生故障。如果保留下来的是数据库的修改，而在运行记录中没有记录下来这个修改，以后就无法撤销这个修改。安全起见，实行</a:t>
            </a:r>
            <a:r>
              <a:rPr lang="zh-CN" altLang="en-US" dirty="0">
                <a:solidFill>
                  <a:srgbClr val="0033CC"/>
                </a:solidFill>
              </a:rPr>
              <a:t>先写日志规则。</a:t>
            </a:r>
            <a:endParaRPr lang="zh-CN" altLang="en-US" dirty="0">
              <a:solidFill>
                <a:srgbClr val="0033CC"/>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4755" name="Rectangle 2"/>
          <p:cNvSpPr>
            <a:spLocks noRot="1"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zh-CN" altLang="zh-CN" dirty="0">
              <a:solidFill>
                <a:srgbClr val="FF33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5779" name="Rectangle 2"/>
          <p:cNvSpPr>
            <a:spLocks noRot="1"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数据库在运行过程中，总是从一种完整状态转变为另一种完整状态。但是，由于种种原因，事务可能被撤消、重启，使得数据库停留在某一转变过程中间（不完整状态）。为了清除被撤消事务对数据库造成的影响，保证已交付事务的结果不丢失（达到新的完整状态），以及在系统故障修复后使数据库恢复到可用状态，需要使用恢复机制。</a:t>
            </a:r>
            <a:endParaRPr lang="zh-CN" altLang="en-US" dirty="0">
              <a:solidFill>
                <a:srgbClr val="000000"/>
              </a:solidFill>
            </a:endParaRPr>
          </a:p>
          <a:p>
            <a:pPr lvl="0" eaLnBrk="1" hangingPunct="1"/>
            <a:r>
              <a:rPr lang="zh-CN" altLang="en-US" dirty="0"/>
              <a:t>	事务故障的</a:t>
            </a:r>
            <a:r>
              <a:rPr lang="zh-CN" altLang="en-US" dirty="0">
                <a:solidFill>
                  <a:srgbClr val="0000CC"/>
                </a:solidFill>
              </a:rPr>
              <a:t>恢复：</a:t>
            </a:r>
            <a:endParaRPr lang="zh-CN" altLang="en-US" dirty="0">
              <a:solidFill>
                <a:srgbClr val="0000CC"/>
              </a:solidFill>
            </a:endParaRPr>
          </a:p>
          <a:p>
            <a:pPr lvl="1" eaLnBrk="1" hangingPunct="1">
              <a:spcBef>
                <a:spcPct val="0"/>
              </a:spcBef>
              <a:buChar char="•"/>
            </a:pPr>
            <a:r>
              <a:rPr lang="zh-CN" altLang="en-US" sz="1400" dirty="0"/>
              <a:t>发生事务故障时，夭折的事务可能已把对数据库的部分修改写回磁盘。</a:t>
            </a:r>
            <a:endParaRPr lang="zh-CN" altLang="en-US" sz="1400" dirty="0"/>
          </a:p>
          <a:p>
            <a:pPr lvl="1" eaLnBrk="1" hangingPunct="1">
              <a:spcBef>
                <a:spcPct val="0"/>
              </a:spcBef>
              <a:buChar char="•"/>
            </a:pPr>
            <a:r>
              <a:rPr lang="zh-CN" altLang="en-US" sz="1400" dirty="0"/>
              <a:t>事务故障的恢复：</a:t>
            </a:r>
            <a:r>
              <a:rPr lang="zh-CN" altLang="en-US" sz="1400" dirty="0">
                <a:solidFill>
                  <a:srgbClr val="FF0000"/>
                </a:solidFill>
              </a:rPr>
              <a:t>撤消事务</a:t>
            </a:r>
            <a:r>
              <a:rPr lang="en-US" altLang="zh-CN" sz="1400" dirty="0">
                <a:solidFill>
                  <a:srgbClr val="FF0000"/>
                </a:solidFill>
              </a:rPr>
              <a:t>(UNDO)</a:t>
            </a:r>
            <a:endParaRPr lang="en-US" altLang="zh-CN" sz="1400" dirty="0">
              <a:solidFill>
                <a:srgbClr val="FF0000"/>
              </a:solidFill>
            </a:endParaRPr>
          </a:p>
          <a:p>
            <a:pPr lvl="1" eaLnBrk="1" hangingPunct="1">
              <a:spcBef>
                <a:spcPct val="0"/>
              </a:spcBef>
              <a:buChar char="•"/>
            </a:pPr>
            <a:r>
              <a:rPr lang="zh-CN" altLang="en-US" sz="1400" dirty="0"/>
              <a:t>强行回滚</a:t>
            </a:r>
            <a:r>
              <a:rPr lang="en-US" altLang="zh-CN" sz="1400" dirty="0"/>
              <a:t>(ROLLBACK)</a:t>
            </a:r>
            <a:r>
              <a:rPr lang="zh-CN" altLang="en-US" sz="1400" dirty="0"/>
              <a:t>该事务。</a:t>
            </a:r>
            <a:endParaRPr lang="zh-CN" altLang="en-US" sz="1400" dirty="0"/>
          </a:p>
          <a:p>
            <a:pPr lvl="1" eaLnBrk="1" hangingPunct="1">
              <a:spcBef>
                <a:spcPct val="0"/>
              </a:spcBef>
              <a:buChar char="•"/>
            </a:pPr>
            <a:r>
              <a:rPr lang="zh-CN" altLang="en-US" sz="1400" dirty="0"/>
              <a:t>清除该事务对数据库的所有修改，使得这个事务象根本没有启动过一样。</a:t>
            </a:r>
            <a:endParaRPr lang="zh-CN" altLang="en-US" sz="14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6803" name="Rectangle 2"/>
          <p:cNvSpPr>
            <a:spLocks noRot="1"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buChar char="•"/>
            </a:pPr>
            <a:r>
              <a:rPr lang="zh-CN" altLang="en-US" dirty="0"/>
              <a:t>对已完成的事务：</a:t>
            </a:r>
            <a:r>
              <a:rPr lang="en-US" altLang="zh-CN" dirty="0"/>
              <a:t>Redo(T)		</a:t>
            </a:r>
            <a:r>
              <a:rPr lang="zh-CN" altLang="en-US" dirty="0"/>
              <a:t>将</a:t>
            </a:r>
            <a:r>
              <a:rPr lang="en-US" altLang="zh-CN" dirty="0"/>
              <a:t>T</a:t>
            </a:r>
            <a:r>
              <a:rPr lang="zh-CN" altLang="en-US" dirty="0"/>
              <a:t>所更新的所有数据项的值置为新值</a:t>
            </a:r>
            <a:endParaRPr lang="zh-CN" altLang="en-US" dirty="0"/>
          </a:p>
          <a:p>
            <a:pPr lvl="0" eaLnBrk="1" fontAlgn="b" hangingPunct="1">
              <a:buChar char="•"/>
            </a:pPr>
            <a:r>
              <a:rPr lang="zh-CN" altLang="en-US" dirty="0"/>
              <a:t>故障发生时未完成的事务：</a:t>
            </a:r>
            <a:r>
              <a:rPr lang="en-US" altLang="zh-CN" dirty="0"/>
              <a:t>Undo(T)		</a:t>
            </a:r>
            <a:r>
              <a:rPr lang="zh-CN" altLang="en-US" dirty="0"/>
              <a:t>将</a:t>
            </a:r>
            <a:r>
              <a:rPr lang="en-US" altLang="zh-CN" dirty="0"/>
              <a:t>T</a:t>
            </a:r>
            <a:r>
              <a:rPr lang="zh-CN" altLang="en-US" dirty="0"/>
              <a:t>所更新的所有数据项的值恢复为旧值</a:t>
            </a:r>
            <a:endParaRPr lang="zh-CN" altLang="en-US" dirty="0"/>
          </a:p>
          <a:p>
            <a:pPr lvl="0" eaLnBrk="1" fontAlgn="b" hangingPunct="1">
              <a:buChar char="•"/>
            </a:pPr>
            <a:r>
              <a:rPr lang="zh-CN" altLang="en-US" dirty="0"/>
              <a:t>操作顺序：先</a:t>
            </a:r>
            <a:r>
              <a:rPr lang="en-US" altLang="zh-CN" dirty="0"/>
              <a:t>Undo</a:t>
            </a:r>
            <a:r>
              <a:rPr lang="zh-CN" altLang="en-US" dirty="0"/>
              <a:t>，后</a:t>
            </a:r>
            <a:r>
              <a:rPr lang="en-US" altLang="zh-CN" dirty="0"/>
              <a:t>Redo</a:t>
            </a:r>
            <a:endParaRPr lang="en-US" altLang="zh-CN" dirty="0"/>
          </a:p>
          <a:p>
            <a:pPr lvl="0" eaLnBrk="1" fontAlgn="b" hangingPunct="1">
              <a:buChar char="•"/>
            </a:pPr>
            <a:endParaRPr lang="en-US" altLang="zh-CN" dirty="0"/>
          </a:p>
          <a:p>
            <a:pPr lvl="0" eaLnBrk="1" hangingPunct="1"/>
            <a:r>
              <a:rPr lang="en-US" altLang="zh-CN" dirty="0"/>
              <a:t>	</a:t>
            </a:r>
            <a:r>
              <a:rPr lang="zh-CN" altLang="en-US" dirty="0"/>
              <a:t>系统故障的</a:t>
            </a:r>
            <a:r>
              <a:rPr lang="zh-CN" altLang="en-US" dirty="0">
                <a:solidFill>
                  <a:srgbClr val="0000CC"/>
                </a:solidFill>
              </a:rPr>
              <a:t>恢复</a:t>
            </a:r>
            <a:endParaRPr lang="zh-CN" altLang="en-US" dirty="0">
              <a:solidFill>
                <a:srgbClr val="0000CC"/>
              </a:solidFill>
            </a:endParaRPr>
          </a:p>
          <a:p>
            <a:pPr lvl="1" eaLnBrk="1" hangingPunct="1">
              <a:spcBef>
                <a:spcPct val="0"/>
              </a:spcBef>
              <a:buChar char="•"/>
            </a:pPr>
            <a:r>
              <a:rPr lang="zh-CN" altLang="en-US" sz="1400" dirty="0"/>
              <a:t>清除</a:t>
            </a:r>
            <a:r>
              <a:rPr lang="zh-CN" altLang="en-US" sz="1400" dirty="0">
                <a:solidFill>
                  <a:srgbClr val="FF0000"/>
                </a:solidFill>
              </a:rPr>
              <a:t>尚未完成的事务</a:t>
            </a:r>
            <a:r>
              <a:rPr lang="zh-CN" altLang="en-US" sz="1400" dirty="0"/>
              <a:t>对数据库的所有修改：</a:t>
            </a:r>
            <a:r>
              <a:rPr lang="zh-CN" altLang="en-US" sz="1600" dirty="0"/>
              <a:t>系统重新启动时，恢复程序要强行撤消</a:t>
            </a:r>
            <a:r>
              <a:rPr lang="en-US" altLang="zh-CN" sz="1600" dirty="0"/>
              <a:t>(UNDO)</a:t>
            </a:r>
            <a:r>
              <a:rPr lang="zh-CN" altLang="en-US" sz="1600" dirty="0"/>
              <a:t>所有未完成事务</a:t>
            </a:r>
            <a:endParaRPr lang="zh-CN" altLang="en-US" sz="1600" dirty="0"/>
          </a:p>
          <a:p>
            <a:pPr lvl="1" eaLnBrk="1" hangingPunct="1">
              <a:spcBef>
                <a:spcPct val="0"/>
              </a:spcBef>
              <a:buChar char="•"/>
            </a:pPr>
            <a:r>
              <a:rPr lang="zh-CN" altLang="en-US" sz="1400" dirty="0"/>
              <a:t>将缓冲区中</a:t>
            </a:r>
            <a:r>
              <a:rPr lang="zh-CN" altLang="en-US" sz="1400" dirty="0">
                <a:solidFill>
                  <a:srgbClr val="FF0000"/>
                </a:solidFill>
              </a:rPr>
              <a:t>已完成事务</a:t>
            </a:r>
            <a:r>
              <a:rPr lang="zh-CN" altLang="en-US" sz="1400" dirty="0"/>
              <a:t>提交的结果写入数据库：</a:t>
            </a:r>
            <a:r>
              <a:rPr lang="zh-CN" altLang="en-US" sz="1600" dirty="0"/>
              <a:t>系统重新启动时，恢复程序需要重做</a:t>
            </a:r>
            <a:r>
              <a:rPr lang="en-US" altLang="zh-CN" sz="1600" dirty="0"/>
              <a:t>(REDO)</a:t>
            </a:r>
            <a:r>
              <a:rPr lang="zh-CN" altLang="en-US" sz="1600" dirty="0"/>
              <a:t>所有已提交的事务</a:t>
            </a:r>
            <a:endParaRPr lang="zh-CN" altLang="en-US" sz="1600" dirty="0"/>
          </a:p>
          <a:p>
            <a:pPr lvl="0" eaLnBrk="1" hangingPunct="1"/>
            <a:endParaRPr lang="en-US"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7827" name="Rectangle 2"/>
          <p:cNvSpPr>
            <a:spLocks noRot="1"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r>
              <a:rPr lang="zh-CN" altLang="en-US" dirty="0"/>
              <a:t>介质故障恢复：</a:t>
            </a:r>
            <a:r>
              <a:rPr lang="en-US" altLang="zh-CN" dirty="0"/>
              <a:t>LOG FILE + </a:t>
            </a:r>
            <a:r>
              <a:rPr lang="zh-CN" altLang="en-US" dirty="0"/>
              <a:t>动态备份后备副本：</a:t>
            </a:r>
            <a:endParaRPr lang="zh-CN" altLang="en-US" dirty="0"/>
          </a:p>
          <a:p>
            <a:pPr lvl="1" eaLnBrk="1" hangingPunct="1">
              <a:spcBef>
                <a:spcPct val="0"/>
              </a:spcBef>
              <a:buChar char="•"/>
            </a:pPr>
            <a:r>
              <a:rPr lang="zh-CN" altLang="en-US" sz="1400" dirty="0"/>
              <a:t>动态备份数据库：同时备份同一时点的日志文件</a:t>
            </a:r>
            <a:endParaRPr lang="zh-CN" altLang="en-US" sz="1400" dirty="0"/>
          </a:p>
          <a:p>
            <a:pPr lvl="1" eaLnBrk="1" hangingPunct="1">
              <a:spcBef>
                <a:spcPct val="0"/>
              </a:spcBef>
              <a:buChar char="•"/>
            </a:pPr>
            <a:r>
              <a:rPr lang="zh-CN" altLang="en-US" sz="1400" dirty="0"/>
              <a:t>后备副本与该日志文件结合起来才能将数据库恢复到一致性状态。</a:t>
            </a:r>
            <a:endParaRPr lang="zh-CN" altLang="en-US" sz="1400" dirty="0"/>
          </a:p>
          <a:p>
            <a:pPr lvl="1" eaLnBrk="1" hangingPunct="1">
              <a:spcBef>
                <a:spcPct val="0"/>
              </a:spcBef>
              <a:buChar char="•"/>
            </a:pPr>
            <a:r>
              <a:rPr lang="zh-CN" altLang="en-US" sz="1400" dirty="0"/>
              <a:t>利用这些日志文件副本进一步恢复事务，避免重新运行事务程序。</a:t>
            </a:r>
            <a:endParaRPr lang="zh-CN" altLang="en-US" sz="1400" dirty="0"/>
          </a:p>
          <a:p>
            <a:pPr lvl="0" eaLnBrk="1" hangingPunct="1"/>
            <a:endParaRPr lang="zh-CN" altLang="en-US" dirty="0"/>
          </a:p>
          <a:p>
            <a:pPr lvl="0" eaLnBrk="1" hangingPunct="1">
              <a:lnSpc>
                <a:spcPct val="110000"/>
              </a:lnSpc>
            </a:pPr>
            <a:r>
              <a:rPr lang="zh-CN" altLang="en-US" dirty="0"/>
              <a:t>介质故障的</a:t>
            </a:r>
            <a:r>
              <a:rPr lang="zh-CN" altLang="en-US" dirty="0">
                <a:solidFill>
                  <a:srgbClr val="0000CC"/>
                </a:solidFill>
              </a:rPr>
              <a:t>恢复</a:t>
            </a:r>
            <a:endParaRPr lang="zh-CN" altLang="en-US" dirty="0">
              <a:solidFill>
                <a:srgbClr val="0000CC"/>
              </a:solidFill>
            </a:endParaRPr>
          </a:p>
          <a:p>
            <a:pPr lvl="1" eaLnBrk="1" hangingPunct="1">
              <a:lnSpc>
                <a:spcPct val="110000"/>
              </a:lnSpc>
              <a:spcBef>
                <a:spcPct val="0"/>
              </a:spcBef>
              <a:buChar char="•"/>
            </a:pPr>
            <a:r>
              <a:rPr lang="zh-CN" altLang="en-US" sz="1400" dirty="0">
                <a:solidFill>
                  <a:srgbClr val="FF0000"/>
                </a:solidFill>
              </a:rPr>
              <a:t>装入</a:t>
            </a:r>
            <a:r>
              <a:rPr lang="zh-CN" altLang="en-US" sz="1400" dirty="0"/>
              <a:t>数据库发生介质故障前某个时刻的数据</a:t>
            </a:r>
            <a:r>
              <a:rPr lang="zh-CN" altLang="en-US" sz="1400" dirty="0">
                <a:solidFill>
                  <a:srgbClr val="FF0000"/>
                </a:solidFill>
              </a:rPr>
              <a:t>副本</a:t>
            </a:r>
            <a:endParaRPr lang="zh-CN" altLang="en-US" sz="1400" dirty="0">
              <a:solidFill>
                <a:srgbClr val="FF0000"/>
              </a:solidFill>
            </a:endParaRPr>
          </a:p>
          <a:p>
            <a:pPr lvl="1" eaLnBrk="1" hangingPunct="1">
              <a:lnSpc>
                <a:spcPct val="110000"/>
              </a:lnSpc>
              <a:spcBef>
                <a:spcPct val="0"/>
              </a:spcBef>
              <a:buChar char="•"/>
            </a:pPr>
            <a:r>
              <a:rPr lang="zh-CN" altLang="en-US" sz="1400" dirty="0"/>
              <a:t>重做自此时始的所有</a:t>
            </a:r>
            <a:r>
              <a:rPr lang="zh-CN" altLang="en-US" sz="1400" dirty="0">
                <a:solidFill>
                  <a:srgbClr val="FF0000"/>
                </a:solidFill>
              </a:rPr>
              <a:t>成功事务</a:t>
            </a:r>
            <a:r>
              <a:rPr lang="zh-CN" altLang="en-US" sz="1400" dirty="0"/>
              <a:t>，将这些事务已提交的结果重新记入数据库</a:t>
            </a:r>
            <a:endParaRPr lang="zh-CN" altLang="en-US" sz="1400" dirty="0"/>
          </a:p>
          <a:p>
            <a:pPr lvl="0" eaLnBrk="1" hangingPunct="1"/>
            <a:endParaRPr lang="zh-CN" altLang="en-US" dirty="0"/>
          </a:p>
          <a:p>
            <a:pPr lvl="0" eaLnBrk="1" hangingPunct="1"/>
            <a:r>
              <a:rPr lang="zh-CN" altLang="en-US" sz="1000" dirty="0"/>
              <a:t>重装数据库，使数据库恢复到一致性状态</a:t>
            </a:r>
            <a:endParaRPr lang="zh-CN" altLang="en-US" sz="1000" dirty="0"/>
          </a:p>
          <a:p>
            <a:pPr lvl="1" eaLnBrk="1" hangingPunct="1">
              <a:spcBef>
                <a:spcPct val="40000"/>
              </a:spcBef>
            </a:pPr>
            <a:r>
              <a:rPr lang="zh-CN" altLang="en-US" dirty="0"/>
              <a:t>对</a:t>
            </a:r>
            <a:r>
              <a:rPr lang="zh-CN" altLang="en-US" dirty="0">
                <a:solidFill>
                  <a:srgbClr val="0000CC"/>
                </a:solidFill>
              </a:rPr>
              <a:t>静态备份</a:t>
            </a:r>
            <a:r>
              <a:rPr lang="zh-CN" altLang="en-US" dirty="0"/>
              <a:t>的后备副本，装入后数据库即处于一致性状态</a:t>
            </a:r>
            <a:endParaRPr lang="zh-CN" altLang="en-US" dirty="0"/>
          </a:p>
          <a:p>
            <a:pPr lvl="1" eaLnBrk="1" hangingPunct="1">
              <a:spcBef>
                <a:spcPct val="40000"/>
              </a:spcBef>
            </a:pPr>
            <a:r>
              <a:rPr lang="zh-CN" altLang="en-US" dirty="0"/>
              <a:t>对</a:t>
            </a:r>
            <a:r>
              <a:rPr lang="zh-CN" altLang="en-US" dirty="0">
                <a:solidFill>
                  <a:srgbClr val="0000CC"/>
                </a:solidFill>
              </a:rPr>
              <a:t>动态备份</a:t>
            </a:r>
            <a:r>
              <a:rPr lang="zh-CN" altLang="en-US" dirty="0"/>
              <a:t>的后备副本，还须同时装入备份时刻的日志文件副本，利用与恢复系统故障相同的方法</a:t>
            </a:r>
            <a:r>
              <a:rPr lang="en-US" altLang="zh-CN" dirty="0"/>
              <a:t>(</a:t>
            </a:r>
            <a:r>
              <a:rPr lang="zh-CN" altLang="en-US" dirty="0"/>
              <a:t>即 </a:t>
            </a:r>
            <a:r>
              <a:rPr lang="en-US" altLang="zh-CN" dirty="0"/>
              <a:t>REDO + UNDO )</a:t>
            </a:r>
            <a:r>
              <a:rPr lang="zh-CN" altLang="en-US" dirty="0"/>
              <a:t>，才能将数据库恢复到一致性状态</a:t>
            </a:r>
            <a:endParaRPr lang="zh-CN" altLang="en-US" dirty="0"/>
          </a:p>
          <a:p>
            <a:pPr lvl="0" eaLnBrk="1" hangingPunct="1">
              <a:spcBef>
                <a:spcPct val="40000"/>
              </a:spcBef>
            </a:pPr>
            <a:r>
              <a:rPr lang="zh-CN" altLang="en-US" sz="1000" dirty="0"/>
              <a:t>重做</a:t>
            </a:r>
            <a:r>
              <a:rPr lang="en-US" altLang="zh-CN" sz="1000" dirty="0"/>
              <a:t>(REDO)</a:t>
            </a:r>
            <a:r>
              <a:rPr lang="zh-CN" altLang="en-US" sz="1000" dirty="0"/>
              <a:t>已完成的事务</a:t>
            </a:r>
            <a:endParaRPr lang="zh-CN" altLang="en-US" sz="1000" dirty="0"/>
          </a:p>
          <a:p>
            <a:pPr lvl="0" eaLnBrk="1" hangingPunct="1"/>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8851" name="Rectangle 2"/>
          <p:cNvSpPr>
            <a:spLocks noRot="1"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1" eaLnBrk="1" hangingPunct="1">
              <a:spcBef>
                <a:spcPct val="0"/>
              </a:spcBef>
            </a:pPr>
            <a:endParaRPr lang="en-US" altLang="zh-CN" sz="1400" dirty="0"/>
          </a:p>
          <a:p>
            <a:pPr lvl="0" eaLnBrk="1" hangingPunct="1"/>
            <a:r>
              <a:rPr lang="zh-CN" altLang="en-US" dirty="0"/>
              <a:t>对</a:t>
            </a:r>
            <a:r>
              <a:rPr lang="zh-CN" altLang="en-US" dirty="0">
                <a:solidFill>
                  <a:srgbClr val="0000CC"/>
                </a:solidFill>
              </a:rPr>
              <a:t>日志文件</a:t>
            </a:r>
            <a:r>
              <a:rPr lang="zh-CN" altLang="en-US" dirty="0"/>
              <a:t>的搜索不知要回退多远，</a:t>
            </a:r>
            <a:r>
              <a:rPr lang="en-US" altLang="zh-CN" dirty="0"/>
              <a:t>REDO (</a:t>
            </a:r>
            <a:r>
              <a:rPr lang="zh-CN" altLang="en-US" dirty="0"/>
              <a:t>重新执行</a:t>
            </a:r>
            <a:r>
              <a:rPr lang="en-US" altLang="zh-CN" dirty="0"/>
              <a:t>) </a:t>
            </a:r>
            <a:r>
              <a:rPr lang="zh-CN" altLang="en-US" dirty="0"/>
              <a:t>处理，浪费了大量时间。</a:t>
            </a:r>
            <a:endParaRPr lang="zh-CN" altLang="en-US" dirty="0"/>
          </a:p>
          <a:p>
            <a:pPr lvl="0" eaLnBrk="1" hangingPunct="1"/>
            <a:endParaRPr lang="zh-CN" altLang="en-US" dirty="0"/>
          </a:p>
          <a:p>
            <a:pPr lvl="0" eaLnBrk="1" hangingPunct="1"/>
            <a:r>
              <a:rPr lang="en-US" altLang="zh-CN" dirty="0"/>
              <a:t>DBA</a:t>
            </a:r>
            <a:r>
              <a:rPr lang="zh-CN" altLang="en-US" dirty="0"/>
              <a:t>必须周期性地</a:t>
            </a:r>
            <a:r>
              <a:rPr lang="zh-CN" altLang="en-US" dirty="0">
                <a:solidFill>
                  <a:srgbClr val="0000CC"/>
                </a:solidFill>
              </a:rPr>
              <a:t>备份</a:t>
            </a:r>
            <a:r>
              <a:rPr lang="zh-CN" altLang="en-US" dirty="0"/>
              <a:t>数据库，才能应对数据库随时可能发生的故障。</a:t>
            </a:r>
            <a:endParaRPr lang="zh-CN" altLang="en-US" dirty="0"/>
          </a:p>
          <a:p>
            <a:pPr lvl="0" eaLnBrk="1" hangingPunct="1"/>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r>
              <a:rPr lang="zh-CN" altLang="en-GB" dirty="0"/>
              <a:t>为了允许部分回退与从断点处继续执行，</a:t>
            </a:r>
            <a:r>
              <a:rPr lang="en-GB" altLang="zh-CN" dirty="0"/>
              <a:t>DBMS</a:t>
            </a:r>
            <a:r>
              <a:rPr lang="zh-CN" altLang="en-GB" dirty="0"/>
              <a:t>一般在某些时刻</a:t>
            </a:r>
            <a:r>
              <a:rPr lang="en-GB" altLang="zh-CN" dirty="0"/>
              <a:t>(</a:t>
            </a:r>
            <a:r>
              <a:rPr lang="zh-CN" altLang="en-GB" dirty="0"/>
              <a:t>称作</a:t>
            </a:r>
            <a:r>
              <a:rPr lang="zh-CN" altLang="en-GB" dirty="0">
                <a:solidFill>
                  <a:srgbClr val="0000CC"/>
                </a:solidFill>
              </a:rPr>
              <a:t>检查点</a:t>
            </a:r>
            <a:r>
              <a:rPr lang="en-GB" altLang="zh-CN" dirty="0"/>
              <a:t>)</a:t>
            </a:r>
            <a:r>
              <a:rPr lang="zh-CN" altLang="en-GB" dirty="0"/>
              <a:t>将驻留在内存中的数据写回数据库并在日志中记录，避免系统停机等故障所造成的损失，也利于事务的恢复执行。</a:t>
            </a:r>
            <a:endParaRPr lang="zh-CN" altLang="en-US" dirty="0"/>
          </a:p>
          <a:p>
            <a:pPr lvl="0" eaLnBrk="1" hangingPunct="1"/>
            <a:endParaRPr lang="zh-CN" altLang="en-US" dirty="0"/>
          </a:p>
          <a:p>
            <a:pPr lvl="0" eaLnBrk="1" hangingPunct="1"/>
            <a:r>
              <a:rPr lang="en-US" altLang="zh-CN" dirty="0"/>
              <a:t>1</a:t>
            </a:r>
            <a:r>
              <a:rPr lang="zh-CN" altLang="en-US" dirty="0"/>
              <a:t>、检查点技术</a:t>
            </a:r>
            <a:endParaRPr lang="zh-CN" altLang="en-US" dirty="0"/>
          </a:p>
          <a:p>
            <a:pPr lvl="1" eaLnBrk="1" hangingPunct="1">
              <a:spcBef>
                <a:spcPct val="0"/>
              </a:spcBef>
            </a:pPr>
            <a:r>
              <a:rPr lang="zh-CN" altLang="en-US" sz="1400" dirty="0"/>
              <a:t>可以提高系统故障的恢复效率</a:t>
            </a:r>
            <a:endParaRPr lang="zh-CN" altLang="en-US" sz="1400" dirty="0"/>
          </a:p>
          <a:p>
            <a:pPr lvl="1" eaLnBrk="1" hangingPunct="1">
              <a:spcBef>
                <a:spcPct val="0"/>
              </a:spcBef>
            </a:pPr>
            <a:r>
              <a:rPr lang="zh-CN" altLang="en-US" sz="1400" dirty="0"/>
              <a:t>可以在一定程度上提高利用动态备份进行介质故障恢复的效率</a:t>
            </a:r>
            <a:endParaRPr lang="zh-CN" altLang="en-US" sz="1400" dirty="0"/>
          </a:p>
          <a:p>
            <a:pPr lvl="0" eaLnBrk="1" hangingPunct="1"/>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lnSpc>
                <a:spcPct val="105000"/>
              </a:lnSpc>
              <a:spcBef>
                <a:spcPct val="60000"/>
              </a:spcBef>
            </a:pPr>
            <a:r>
              <a:rPr lang="en-US" altLang="zh-CN" dirty="0"/>
              <a:t>T1</a:t>
            </a:r>
            <a:r>
              <a:rPr lang="zh-CN" altLang="en-US" dirty="0"/>
              <a:t>：在检查点之前提交。</a:t>
            </a:r>
            <a:r>
              <a:rPr lang="en-US" altLang="zh-CN" dirty="0"/>
              <a:t>T1</a:t>
            </a:r>
            <a:r>
              <a:rPr lang="zh-CN" altLang="en-US" dirty="0"/>
              <a:t>对数据库所做的修改已写入数据库，所以不必执行</a:t>
            </a:r>
            <a:r>
              <a:rPr lang="en-US" altLang="zh-CN" dirty="0"/>
              <a:t>REDO</a:t>
            </a:r>
            <a:r>
              <a:rPr lang="zh-CN" altLang="en-US" dirty="0"/>
              <a:t>操作。</a:t>
            </a:r>
            <a:endParaRPr lang="zh-CN" altLang="en-US" dirty="0"/>
          </a:p>
          <a:p>
            <a:pPr lvl="0" eaLnBrk="1" hangingPunct="1">
              <a:lnSpc>
                <a:spcPct val="105000"/>
              </a:lnSpc>
              <a:spcBef>
                <a:spcPct val="60000"/>
              </a:spcBef>
            </a:pPr>
            <a:r>
              <a:rPr lang="en-US" altLang="zh-CN" dirty="0"/>
              <a:t>T2</a:t>
            </a:r>
            <a:r>
              <a:rPr lang="zh-CN" altLang="en-US" dirty="0"/>
              <a:t>：在检查点之前开始执行，在检查点之后故障点之前提交。对数据库所作的修改在故障发生时可能还在缓冲区中，尚未写入数据库，所以要执行</a:t>
            </a:r>
            <a:r>
              <a:rPr lang="en-US" altLang="zh-CN" dirty="0"/>
              <a:t>REDO</a:t>
            </a:r>
            <a:r>
              <a:rPr lang="zh-CN" altLang="en-US" dirty="0"/>
              <a:t>。</a:t>
            </a:r>
            <a:endParaRPr lang="zh-CN" altLang="en-US" dirty="0"/>
          </a:p>
          <a:p>
            <a:pPr lvl="0" eaLnBrk="1" hangingPunct="1">
              <a:lnSpc>
                <a:spcPct val="105000"/>
              </a:lnSpc>
              <a:spcBef>
                <a:spcPct val="60000"/>
              </a:spcBef>
            </a:pPr>
            <a:r>
              <a:rPr lang="en-US" altLang="zh-CN" dirty="0"/>
              <a:t>T3</a:t>
            </a:r>
            <a:r>
              <a:rPr lang="zh-CN" altLang="en-US" dirty="0"/>
              <a:t>：在检查点之前开始执行，在故障点时还未完成。予以撤销。（同</a:t>
            </a:r>
            <a:r>
              <a:rPr lang="en-US" altLang="zh-CN" dirty="0"/>
              <a:t>T2</a:t>
            </a:r>
            <a:r>
              <a:rPr lang="zh-CN" altLang="en-US" dirty="0"/>
              <a:t>）</a:t>
            </a:r>
            <a:endParaRPr lang="zh-CN" altLang="en-US" dirty="0"/>
          </a:p>
          <a:p>
            <a:pPr lvl="0" eaLnBrk="1" hangingPunct="1">
              <a:lnSpc>
                <a:spcPct val="105000"/>
              </a:lnSpc>
              <a:spcBef>
                <a:spcPct val="60000"/>
              </a:spcBef>
            </a:pPr>
            <a:r>
              <a:rPr lang="en-US" altLang="zh-CN" dirty="0"/>
              <a:t>T4</a:t>
            </a:r>
            <a:r>
              <a:rPr lang="zh-CN" altLang="en-US" dirty="0"/>
              <a:t>：在检查点之后开始执行，在故障点之前提交。要执行</a:t>
            </a:r>
            <a:r>
              <a:rPr lang="en-US" altLang="zh-CN" dirty="0"/>
              <a:t>REDO</a:t>
            </a:r>
            <a:r>
              <a:rPr lang="zh-CN" altLang="en-US" dirty="0"/>
              <a:t>。</a:t>
            </a:r>
            <a:endParaRPr lang="zh-CN" altLang="en-US" dirty="0"/>
          </a:p>
          <a:p>
            <a:pPr lvl="0" eaLnBrk="1" hangingPunct="1">
              <a:lnSpc>
                <a:spcPct val="105000"/>
              </a:lnSpc>
              <a:spcBef>
                <a:spcPct val="60000"/>
              </a:spcBef>
            </a:pPr>
            <a:r>
              <a:rPr lang="en-US" altLang="zh-CN" dirty="0"/>
              <a:t>T5</a:t>
            </a:r>
            <a:r>
              <a:rPr lang="zh-CN" altLang="en-US" dirty="0"/>
              <a:t>：在检查点之后开始执行，在故障点时还未完成。予以撤销。 （同</a:t>
            </a:r>
            <a:r>
              <a:rPr lang="en-US" altLang="zh-CN" dirty="0"/>
              <a:t>T3</a:t>
            </a:r>
            <a:r>
              <a:rPr lang="zh-CN" altLang="en-US" dirty="0"/>
              <a:t>）</a:t>
            </a:r>
            <a:endParaRPr lang="zh-CN" altLang="en-US" dirty="0"/>
          </a:p>
          <a:p>
            <a:pPr lvl="0" eaLnBrk="1" hangingPunct="1"/>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spcBef>
                <a:spcPct val="0"/>
              </a:spcBef>
            </a:pPr>
            <a:r>
              <a:rPr lang="zh-CN" altLang="en-US" sz="1400" b="1" dirty="0"/>
              <a:t>镜像技术可以改善介质故障的恢复效率。</a:t>
            </a:r>
            <a:endParaRPr lang="zh-CN" altLang="en-US" sz="1400" b="1" dirty="0"/>
          </a:p>
          <a:p>
            <a:pPr lvl="0" eaLnBrk="1" hangingPunct="1">
              <a:buChar char="•"/>
            </a:pPr>
            <a:r>
              <a:rPr lang="zh-CN" altLang="en-US" dirty="0"/>
              <a:t>数据库镜像</a:t>
            </a:r>
            <a:endParaRPr lang="zh-CN" altLang="en-US" dirty="0"/>
          </a:p>
          <a:p>
            <a:pPr lvl="1" eaLnBrk="1" hangingPunct="1">
              <a:spcBef>
                <a:spcPct val="0"/>
              </a:spcBef>
            </a:pPr>
            <a:r>
              <a:rPr lang="en-US" altLang="zh-CN" sz="1400" dirty="0"/>
              <a:t>DBMS</a:t>
            </a:r>
            <a:r>
              <a:rPr lang="zh-CN" altLang="en-US" sz="1400" dirty="0"/>
              <a:t>自动把整个数据库或其中的关键数据复制到另一个磁盘上</a:t>
            </a:r>
            <a:endParaRPr lang="zh-CN" altLang="en-US" sz="1400" dirty="0"/>
          </a:p>
          <a:p>
            <a:pPr lvl="1" eaLnBrk="1" hangingPunct="1">
              <a:spcBef>
                <a:spcPct val="0"/>
              </a:spcBef>
            </a:pPr>
            <a:r>
              <a:rPr lang="en-US" altLang="zh-CN" sz="1400" dirty="0"/>
              <a:t>DBMS</a:t>
            </a:r>
            <a:r>
              <a:rPr lang="zh-CN" altLang="en-US" sz="1400" dirty="0"/>
              <a:t>自动保证镜像数据与主数据的一致性</a:t>
            </a:r>
            <a:endParaRPr lang="zh-CN" altLang="en-US" sz="1400" dirty="0"/>
          </a:p>
          <a:p>
            <a:pPr lvl="0" eaLnBrk="1" hangingPunct="1">
              <a:buChar char="•"/>
            </a:pPr>
            <a:r>
              <a:rPr lang="zh-CN" altLang="en-US" sz="1000" dirty="0"/>
              <a:t>出现介质故障时</a:t>
            </a:r>
            <a:endParaRPr lang="zh-CN" altLang="en-US" sz="1000" dirty="0"/>
          </a:p>
          <a:p>
            <a:pPr lvl="1" eaLnBrk="1" hangingPunct="1">
              <a:spcBef>
                <a:spcPct val="0"/>
              </a:spcBef>
            </a:pPr>
            <a:r>
              <a:rPr lang="en-US" altLang="zh-CN" dirty="0"/>
              <a:t>DBMS</a:t>
            </a:r>
            <a:r>
              <a:rPr lang="zh-CN" altLang="en-US" dirty="0"/>
              <a:t>自动利用镜像磁盘数据进行数据库的恢复，不需要关闭系统和重装数据库副本</a:t>
            </a:r>
            <a:endParaRPr lang="zh-CN" altLang="en-US" dirty="0"/>
          </a:p>
          <a:p>
            <a:pPr lvl="0" eaLnBrk="1" hangingPunct="1">
              <a:buChar char="•"/>
            </a:pPr>
            <a:r>
              <a:rPr lang="zh-CN" altLang="en-US" sz="1000" dirty="0"/>
              <a:t>没有出现故障时，可用于并发操作</a:t>
            </a:r>
            <a:endParaRPr lang="zh-CN" altLang="en-US" sz="1000" dirty="0"/>
          </a:p>
          <a:p>
            <a:pPr lvl="1" eaLnBrk="1" hangingPunct="1">
              <a:spcBef>
                <a:spcPct val="0"/>
              </a:spcBef>
            </a:pPr>
            <a:r>
              <a:rPr lang="zh-CN" altLang="en-US" dirty="0"/>
              <a:t>一个用户对数据加排他锁修改数据</a:t>
            </a:r>
            <a:endParaRPr lang="zh-CN" altLang="en-US" dirty="0"/>
          </a:p>
          <a:p>
            <a:pPr lvl="1" eaLnBrk="1" hangingPunct="1">
              <a:spcBef>
                <a:spcPct val="0"/>
              </a:spcBef>
            </a:pPr>
            <a:r>
              <a:rPr lang="zh-CN" altLang="en-US" dirty="0"/>
              <a:t>其他用户可以读镜像数据库上的数据</a:t>
            </a:r>
            <a:endParaRPr lang="zh-CN" altLang="en-US" dirty="0"/>
          </a:p>
          <a:p>
            <a:pPr lvl="0" eaLnBrk="1" hangingPunct="1"/>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spcBef>
                <a:spcPct val="0"/>
              </a:spcBef>
            </a:pPr>
            <a:r>
              <a:rPr lang="zh-CN" altLang="en-US" sz="1400" b="1" dirty="0"/>
              <a:t>镜像技术可以改善介质故障的恢复效率。</a:t>
            </a:r>
            <a:endParaRPr lang="zh-CN" altLang="en-US" sz="1400" b="1" dirty="0"/>
          </a:p>
          <a:p>
            <a:pPr lvl="0" eaLnBrk="1" hangingPunct="1">
              <a:buChar char="•"/>
            </a:pPr>
            <a:r>
              <a:rPr lang="zh-CN" altLang="en-US" dirty="0"/>
              <a:t>数据库镜像</a:t>
            </a:r>
            <a:endParaRPr lang="zh-CN" altLang="en-US" dirty="0"/>
          </a:p>
          <a:p>
            <a:pPr lvl="1" eaLnBrk="1" hangingPunct="1">
              <a:spcBef>
                <a:spcPct val="0"/>
              </a:spcBef>
            </a:pPr>
            <a:r>
              <a:rPr lang="en-US" altLang="zh-CN" sz="1400" dirty="0"/>
              <a:t>DBMS</a:t>
            </a:r>
            <a:r>
              <a:rPr lang="zh-CN" altLang="en-US" sz="1400" dirty="0"/>
              <a:t>自动把整个数据库或其中的关键数据复制到另一个磁盘上</a:t>
            </a:r>
            <a:endParaRPr lang="zh-CN" altLang="en-US" sz="1400" dirty="0"/>
          </a:p>
          <a:p>
            <a:pPr lvl="1" eaLnBrk="1" hangingPunct="1">
              <a:spcBef>
                <a:spcPct val="0"/>
              </a:spcBef>
            </a:pPr>
            <a:r>
              <a:rPr lang="en-US" altLang="zh-CN" sz="1400" dirty="0"/>
              <a:t>DBMS</a:t>
            </a:r>
            <a:r>
              <a:rPr lang="zh-CN" altLang="en-US" sz="1400" dirty="0"/>
              <a:t>自动保证镜像数据与主数据的一致性</a:t>
            </a:r>
            <a:endParaRPr lang="zh-CN" altLang="en-US" sz="1400" dirty="0"/>
          </a:p>
          <a:p>
            <a:pPr lvl="0" eaLnBrk="1" hangingPunct="1">
              <a:buChar char="•"/>
            </a:pPr>
            <a:r>
              <a:rPr lang="zh-CN" altLang="en-US" sz="1000" dirty="0"/>
              <a:t>出现介质故障时</a:t>
            </a:r>
            <a:endParaRPr lang="zh-CN" altLang="en-US" sz="1000" dirty="0"/>
          </a:p>
          <a:p>
            <a:pPr lvl="1" eaLnBrk="1" hangingPunct="1">
              <a:spcBef>
                <a:spcPct val="0"/>
              </a:spcBef>
            </a:pPr>
            <a:r>
              <a:rPr lang="en-US" altLang="zh-CN" dirty="0"/>
              <a:t>DBMS</a:t>
            </a:r>
            <a:r>
              <a:rPr lang="zh-CN" altLang="en-US" dirty="0"/>
              <a:t>自动利用镜像磁盘数据进行数据库的恢复，不需要关闭系统和重装数据库副本</a:t>
            </a:r>
            <a:endParaRPr lang="zh-CN" altLang="en-US" dirty="0"/>
          </a:p>
          <a:p>
            <a:pPr lvl="0" eaLnBrk="1" hangingPunct="1">
              <a:buChar char="•"/>
            </a:pPr>
            <a:r>
              <a:rPr lang="zh-CN" altLang="en-US" sz="1000" dirty="0"/>
              <a:t>没有出现故障时，可用于并发操作</a:t>
            </a:r>
            <a:endParaRPr lang="zh-CN" altLang="en-US" sz="1000" dirty="0"/>
          </a:p>
          <a:p>
            <a:pPr lvl="1" eaLnBrk="1" hangingPunct="1">
              <a:spcBef>
                <a:spcPct val="0"/>
              </a:spcBef>
            </a:pPr>
            <a:r>
              <a:rPr lang="zh-CN" altLang="en-US" dirty="0"/>
              <a:t>一个用户对数据加排他锁修改数据</a:t>
            </a:r>
            <a:endParaRPr lang="zh-CN" altLang="en-US" dirty="0"/>
          </a:p>
          <a:p>
            <a:pPr lvl="1" eaLnBrk="1" hangingPunct="1">
              <a:spcBef>
                <a:spcPct val="0"/>
              </a:spcBef>
            </a:pPr>
            <a:r>
              <a:rPr lang="zh-CN" altLang="en-US" dirty="0"/>
              <a:t>其他用户可以读镜像数据库上的数据</a:t>
            </a:r>
            <a:endParaRPr lang="zh-CN" altLang="en-US" dirty="0"/>
          </a:p>
          <a:p>
            <a:pPr lvl="0"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351247" name="Rectangle 15"/>
          <p:cNvSpPr>
            <a:spLocks noGrp="1" noChangeArrowheads="1"/>
          </p:cNvSpPr>
          <p:nvPr>
            <p:ph type="ctrTitle" sz="quarter"/>
          </p:nvPr>
        </p:nvSpPr>
        <p:spPr>
          <a:xfrm>
            <a:off x="900113" y="1219200"/>
            <a:ext cx="7772400" cy="1143000"/>
          </a:xfrm>
        </p:spPr>
        <p:txBody>
          <a:bodyPr/>
          <a:lstStyle>
            <a:lvl1pPr>
              <a:defRPr/>
            </a:lvl1pPr>
          </a:lstStyle>
          <a:p>
            <a:r>
              <a:rPr lang="en-US" altLang="zh-CN"/>
              <a:t>Click to edit Master title style</a:t>
            </a:r>
            <a:endParaRPr lang="en-US" altLang="zh-CN"/>
          </a:p>
        </p:txBody>
      </p:sp>
      <p:sp>
        <p:nvSpPr>
          <p:cNvPr id="351248" name="Rectangle 16"/>
          <p:cNvSpPr>
            <a:spLocks noGrp="1" noChangeArrowheads="1"/>
          </p:cNvSpPr>
          <p:nvPr>
            <p:ph type="subTitle" sz="quarter" idx="1"/>
          </p:nvPr>
        </p:nvSpPr>
        <p:spPr>
          <a:xfrm>
            <a:off x="468313" y="2819400"/>
            <a:ext cx="8307387"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10" name="Rectangle 17"/>
          <p:cNvSpPr>
            <a:spLocks noGrp="1" noChangeArrowheads="1"/>
          </p:cNvSpPr>
          <p:nvPr>
            <p:ph type="dt" sz="quarter" idx="2"/>
          </p:nvPr>
        </p:nvSpPr>
        <p:spPr bwMode="auto">
          <a:xfrm>
            <a:off x="152400" y="6248400"/>
            <a:ext cx="19050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1" name="Rectangle 18"/>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2" name="Rectangle 19"/>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algn="r">
              <a:spcBef>
                <a:spcPct val="0"/>
              </a:spcBef>
              <a:buNone/>
            </a:pPr>
            <a:fld id="{9A0DB2DC-4C9A-4742-B13C-FB6460FD3503}" type="slidenum">
              <a:rPr lang="en-US" altLang="zh-CN" i="1" dirty="0">
                <a:ea typeface="宋体" panose="02010600030101010101" pitchFamily="2" charset="-122"/>
              </a:rPr>
            </a:fld>
            <a:endParaRPr lang="en-US" altLang="zh-CN" i="1" dirty="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981075"/>
            <a:ext cx="4348163"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81075"/>
            <a:ext cx="4348162"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73025"/>
            <a:ext cx="2211387" cy="645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73025"/>
            <a:ext cx="6484938" cy="6451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73025"/>
            <a:ext cx="8685212" cy="6921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52400" y="981075"/>
            <a:ext cx="8848725" cy="5543550"/>
          </a:xfrm>
        </p:spPr>
        <p:txBody>
          <a:bodyPr vert="horz" wrap="square" lIns="91440" tIns="45720" rIns="91440" bIns="45720" numCol="1" anchor="t" anchorCtr="0" compatLnSpc="1"/>
          <a:lstStyle/>
          <a:p>
            <a:pPr marL="360680" marR="0" lvl="0" indent="-36068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endParaRPr kumimoji="0" lang="zh-CN" altLang="en-US" sz="36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73025"/>
            <a:ext cx="8685212" cy="6921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981075"/>
            <a:ext cx="4348163" cy="55435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81075"/>
            <a:ext cx="4348162" cy="55435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audio" Target="../media/audio1.wav"/><Relationship Id="rId16" Type="http://schemas.openxmlformats.org/officeDocument/2006/relationships/image" Target="../media/image2.wmf"/><Relationship Id="rId15" Type="http://schemas.openxmlformats.org/officeDocument/2006/relationships/control" Target="../activeX/activeX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
        <p:nvSpPr>
          <p:cNvPr id="350210" name="Rectangle 2"/>
          <p:cNvSpPr>
            <a:spLocks noGrp="1" noChangeArrowheads="1"/>
          </p:cNvSpPr>
          <p:nvPr>
            <p:ph type="title"/>
          </p:nvPr>
        </p:nvSpPr>
        <p:spPr bwMode="auto">
          <a:xfrm>
            <a:off x="179388" y="73025"/>
            <a:ext cx="8685213" cy="692150"/>
          </a:xfrm>
          <a:prstGeom prst="rect">
            <a:avLst/>
          </a:prstGeom>
          <a:noFill/>
          <a:ln w="9525">
            <a:noFill/>
            <a:miter lim="800000"/>
          </a:ln>
          <a:effectLst/>
        </p:spPr>
        <p:txBody>
          <a:bodyPr vert="horz" wrap="square" lIns="92075" tIns="46038" rIns="92075" bIns="46038" numCol="1" anchor="ctr" anchorCtr="0" compatLnSpc="1"/>
          <a:lstStyle/>
          <a:p>
            <a:pPr lvl="0"/>
            <a:r>
              <a:rPr lang="en-US" altLang="zh-CN" smtClean="0"/>
              <a:t>Click to edit Master title style</a:t>
            </a:r>
            <a:endParaRPr lang="en-US" altLang="zh-CN" smtClean="0"/>
          </a:p>
        </p:txBody>
      </p:sp>
      <p:sp>
        <p:nvSpPr>
          <p:cNvPr id="350211" name="Rectangle 3"/>
          <p:cNvSpPr>
            <a:spLocks noGrp="1" noChangeArrowheads="1"/>
          </p:cNvSpPr>
          <p:nvPr>
            <p:ph type="dt" sz="half" idx="2"/>
          </p:nvPr>
        </p:nvSpPr>
        <p:spPr bwMode="auto">
          <a:xfrm>
            <a:off x="12954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l" eaLnBrk="0" hangingPunct="0">
              <a:spcBef>
                <a:spcPct val="0"/>
              </a:spcBef>
              <a:defRPr sz="1400" b="0">
                <a:solidFill>
                  <a:schemeClr val="tx1"/>
                </a:solidFill>
                <a:latin typeface="+mn-lt"/>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50212" name="Rectangle 4"/>
          <p:cNvSpPr>
            <a:spLocks noGrp="1" noChangeArrowheads="1"/>
          </p:cNvSpPr>
          <p:nvPr>
            <p:ph type="ftr" sz="quarter" idx="3"/>
          </p:nvPr>
        </p:nvSpPr>
        <p:spPr bwMode="auto">
          <a:xfrm>
            <a:off x="3733800" y="6248400"/>
            <a:ext cx="2895600" cy="457200"/>
          </a:xfrm>
          <a:prstGeom prst="rect">
            <a:avLst/>
          </a:prstGeom>
          <a:noFill/>
          <a:ln w="9525">
            <a:noFill/>
            <a:miter lim="800000"/>
          </a:ln>
          <a:effectLst/>
        </p:spPr>
        <p:txBody>
          <a:bodyPr vert="horz" wrap="none" lIns="92075" tIns="46038" rIns="92075" bIns="46038" numCol="1" anchor="ctr" anchorCtr="0" compatLnSpc="1"/>
          <a:lstStyle>
            <a:lvl1pPr eaLnBrk="0" hangingPunct="0">
              <a:spcBef>
                <a:spcPct val="0"/>
              </a:spcBef>
              <a:defRPr sz="1400" b="0">
                <a:solidFill>
                  <a:schemeClr val="tx1"/>
                </a:solidFill>
                <a:latin typeface="+mn-lt"/>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50213" name="Rectangle 5"/>
          <p:cNvSpPr>
            <a:spLocks noGrp="1" noChangeArrowheads="1"/>
          </p:cNvSpPr>
          <p:nvPr>
            <p:ph type="sldNum" sz="quarter" idx="4"/>
          </p:nvPr>
        </p:nvSpPr>
        <p:spPr bwMode="auto">
          <a:xfrm>
            <a:off x="71628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latin typeface="Times New Roman" panose="02020603050405020304" pitchFamily="18" charset="0"/>
                <a:ea typeface="宋体" panose="02010600030101010101" pitchFamily="2" charset="-122"/>
              </a:defRPr>
            </a:lvl1pPr>
          </a:lstStyle>
          <a:p>
            <a:pPr lvl="0" eaLnBrk="0" hangingPunct="0">
              <a:spcBef>
                <a:spcPct val="0"/>
              </a:spcBef>
              <a:buNone/>
            </a:pPr>
            <a:fld id="{9A0DB2DC-4C9A-4742-B13C-FB6460FD3503}" type="slidenum">
              <a:rPr lang="en-US" altLang="zh-CN" dirty="0"/>
            </a:fld>
            <a:endParaRPr lang="en-US" altLang="zh-CN" dirty="0"/>
          </a:p>
        </p:txBody>
      </p:sp>
      <p:sp>
        <p:nvSpPr>
          <p:cNvPr id="1032" name="Rectangle 6"/>
          <p:cNvSpPr>
            <a:spLocks noGrp="1"/>
          </p:cNvSpPr>
          <p:nvPr>
            <p:ph type="body" idx="1"/>
          </p:nvPr>
        </p:nvSpPr>
        <p:spPr>
          <a:xfrm>
            <a:off x="152400" y="981075"/>
            <a:ext cx="8848725" cy="55435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50216" name="Rectangle 8"/>
          <p:cNvSpPr>
            <a:spLocks noChangeArrowheads="1"/>
          </p:cNvSpPr>
          <p:nvPr/>
        </p:nvSpPr>
        <p:spPr bwMode="auto">
          <a:xfrm>
            <a:off x="1828800" y="6461125"/>
            <a:ext cx="2667000" cy="396875"/>
          </a:xfrm>
          <a:prstGeom prst="rect">
            <a:avLst/>
          </a:prstGeom>
          <a:noFill/>
          <a:ln w="12700">
            <a:noFill/>
            <a:miter lim="800000"/>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808000"/>
              </a:solidFill>
              <a:effectLst/>
              <a:uLnTx/>
              <a:uFillTx/>
              <a:latin typeface="Arial" panose="020B0604020202020204" pitchFamily="34" charset="0"/>
              <a:ea typeface="楷体_GB2312" pitchFamily="49" charset="-122"/>
              <a:cs typeface="+mn-cs"/>
            </a:endParaRPr>
          </a:p>
        </p:txBody>
      </p:sp>
      <p:pic>
        <p:nvPicPr>
          <p:cNvPr id="350218" name="Picture 10" descr="paint"/>
          <p:cNvPicPr>
            <a:picLocks noChangeAspect="1"/>
          </p:cNvPicPr>
          <p:nvPr userDrawn="1"/>
        </p:nvPicPr>
        <p:blipFill>
          <a:blip r:embed="rId14">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350220" name="Text Box 12"/>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eaLnBrk="0" hangingPunct="0">
              <a:spcBef>
                <a:spcPct val="0"/>
              </a:spcBef>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Tree>
    <p:controls>
      <mc:AlternateContent xmlns:mc="http://schemas.openxmlformats.org/markup-compatibility/2006">
        <mc:Choice xmlns:v="urn:schemas-microsoft-com:vml" Requires="v">
          <p:control spid="1026" name="" r:id="rId15" imgW="684213" imgH="569913"/>
        </mc:Choice>
        <mc:Fallback>
          <p:control name="" r:id="rId15" imgW="684213" imgH="569913">
            <p:pic>
              <p:nvPicPr>
                <p:cNvPr id="0" name="Host Control  1025"/>
                <p:cNvPicPr/>
                <p:nvPr userDrawn="1"/>
              </p:nvPicPr>
              <p:blipFill>
                <a:blip r:embed="rId16"/>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sndAc>
      <p:stSnd>
        <p:snd r:embed="rId17"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0218"/>
                                        </p:tgtEl>
                                        <p:attrNameLst>
                                          <p:attrName>style.visibility</p:attrName>
                                        </p:attrNameLst>
                                      </p:cBhvr>
                                      <p:to>
                                        <p:strVal val="visible"/>
                                      </p:to>
                                    </p:set>
                                    <p:animEffect transition="in" filter="wipe(left)">
                                      <p:cBhvr>
                                        <p:cTn id="7" dur="500"/>
                                        <p:tgtEl>
                                          <p:spTgt spid="350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b="1">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vl6pPr marL="27876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6pPr>
      <a:lvl7pPr marL="32448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7pPr>
      <a:lvl8pPr marL="37020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8pPr>
      <a:lvl9pPr marL="41592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35.xml"/><Relationship Id="rId3" Type="http://schemas.openxmlformats.org/officeDocument/2006/relationships/slide" Target="slide34.xml"/><Relationship Id="rId2" Type="http://schemas.openxmlformats.org/officeDocument/2006/relationships/slide" Target="slide33.xml"/><Relationship Id="rId1" Type="http://schemas.openxmlformats.org/officeDocument/2006/relationships/slide" Target="slide3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31.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31.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3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074"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3075" name="Rectangle 3"/>
          <p:cNvSpPr/>
          <p:nvPr/>
        </p:nvSpPr>
        <p:spPr>
          <a:xfrm>
            <a:off x="827088" y="2708275"/>
            <a:ext cx="7772400" cy="1008063"/>
          </a:xfrm>
          <a:prstGeom prst="rect">
            <a:avLst/>
          </a:prstGeom>
          <a:noFill/>
          <a:ln w="9525">
            <a:noFill/>
          </a:ln>
        </p:spPr>
        <p:txBody>
          <a:bodyPr anchor="b" anchorCtr="0"/>
          <a:p>
            <a:pPr>
              <a:spcBef>
                <a:spcPct val="0"/>
              </a:spcBef>
            </a:pPr>
            <a:r>
              <a:rPr lang="zh-CN" altLang="en-US" sz="6000" dirty="0">
                <a:solidFill>
                  <a:srgbClr val="0000CC"/>
                </a:solidFill>
                <a:latin typeface="华文新魏" panose="02010800040101010101" pitchFamily="2" charset="-122"/>
                <a:ea typeface="华文新魏" panose="02010800040101010101" pitchFamily="2" charset="-122"/>
              </a:rPr>
              <a:t>第</a:t>
            </a:r>
            <a:r>
              <a:rPr lang="en-US" altLang="zh-CN" sz="6000" dirty="0">
                <a:solidFill>
                  <a:srgbClr val="0000CC"/>
                </a:solidFill>
                <a:latin typeface="Arial" panose="020B0604020202020204" pitchFamily="34" charset="0"/>
                <a:ea typeface="华文新魏" panose="02010800040101010101" pitchFamily="2" charset="-122"/>
              </a:rPr>
              <a:t>8</a:t>
            </a:r>
            <a:r>
              <a:rPr lang="zh-CN" altLang="en-US" sz="6000" dirty="0">
                <a:solidFill>
                  <a:srgbClr val="0000CC"/>
                </a:solidFill>
                <a:latin typeface="华文新魏" panose="02010800040101010101" pitchFamily="2" charset="-122"/>
                <a:ea typeface="华文新魏" panose="02010800040101010101" pitchFamily="2" charset="-122"/>
              </a:rPr>
              <a:t>章   事务管理</a:t>
            </a:r>
            <a:endParaRPr lang="zh-CN" altLang="en-US" sz="6000" dirty="0">
              <a:solidFill>
                <a:srgbClr val="0000CC"/>
              </a:solidFill>
              <a:latin typeface="华文新魏" panose="02010800040101010101" pitchFamily="2" charset="-122"/>
              <a:ea typeface="华文新魏" panose="02010800040101010101" pitchFamily="2" charset="-122"/>
            </a:endParaRPr>
          </a:p>
        </p:txBody>
      </p:sp>
      <p:sp>
        <p:nvSpPr>
          <p:cNvPr id="352260" name="Rectangle 4"/>
          <p:cNvSpPr>
            <a:spLocks noChangeArrowheads="1"/>
          </p:cNvSpPr>
          <p:nvPr/>
        </p:nvSpPr>
        <p:spPr bwMode="auto">
          <a:xfrm>
            <a:off x="468313" y="1052513"/>
            <a:ext cx="8497888" cy="1143000"/>
          </a:xfrm>
          <a:prstGeom prst="rect">
            <a:avLst/>
          </a:prstGeom>
          <a:noFill/>
          <a:ln w="12700">
            <a:noFill/>
            <a:miter lim="800000"/>
          </a:ln>
          <a:effectLst>
            <a:outerShdw dist="35921" dir="2700000" algn="ctr" rotWithShape="0">
              <a:schemeClr val="bg2">
                <a:alpha val="50000"/>
              </a:schemeClr>
            </a:outerShdw>
          </a:effectLst>
        </p:spPr>
        <p:txBody>
          <a:bodyPr lIns="90488" tIns="44450" rIns="90488" bIns="44450"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5400" b="1" i="0" u="none" strike="noStrike" kern="1200" cap="none" spc="0" normalizeH="0" baseline="0" noProof="0" dirty="0">
                <a:ln>
                  <a:noFill/>
                </a:ln>
                <a:solidFill>
                  <a:srgbClr val="FF3300"/>
                </a:solidFill>
                <a:effectLst/>
                <a:uLnTx/>
                <a:uFillTx/>
                <a:latin typeface="Arial" panose="020B0604020202020204" pitchFamily="34" charset="0"/>
                <a:ea typeface="华文新魏" panose="02010800040101010101" pitchFamily="2" charset="-122"/>
                <a:cs typeface="+mn-cs"/>
              </a:rPr>
              <a:t>数据库</a:t>
            </a:r>
            <a:r>
              <a:rPr kumimoji="1" lang="zh-CN" altLang="en-US" sz="5400" b="1" i="0" u="none" strike="noStrike" kern="1200" cap="none" spc="0" normalizeH="0" baseline="0" noProof="0" dirty="0">
                <a:ln>
                  <a:noFill/>
                </a:ln>
                <a:solidFill>
                  <a:srgbClr val="FF3300"/>
                </a:solidFill>
                <a:effectLst/>
                <a:uLnTx/>
                <a:uFillTx/>
                <a:latin typeface="Arial" panose="020B0604020202020204" pitchFamily="34" charset="0"/>
                <a:ea typeface="华文新魏" panose="02010800040101010101" pitchFamily="2" charset="-122"/>
                <a:cs typeface="+mn-cs"/>
              </a:rPr>
              <a:t>系统</a:t>
            </a:r>
            <a:endParaRPr kumimoji="1" lang="zh-CN" altLang="en-US" sz="5400" b="1" i="0" u="none" strike="noStrike" kern="1200" cap="none" spc="0" normalizeH="0" baseline="0" noProof="0" dirty="0">
              <a:ln>
                <a:noFill/>
              </a:ln>
              <a:solidFill>
                <a:srgbClr val="FF3300"/>
              </a:solidFill>
              <a:effectLst/>
              <a:uLnTx/>
              <a:uFillTx/>
              <a:latin typeface="Arial" panose="020B0604020202020204" pitchFamily="34" charset="0"/>
              <a:ea typeface="华文新魏" panose="02010800040101010101" pitchFamily="2" charset="-122"/>
              <a:cs typeface="+mn-cs"/>
            </a:endParaRPr>
          </a:p>
        </p:txBody>
      </p:sp>
      <p:sp>
        <p:nvSpPr>
          <p:cNvPr id="3077"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p>
            <a:pPr algn="l"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3078" name="Text Box 6"/>
          <p:cNvSpPr txBox="1"/>
          <p:nvPr/>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p>
            <a:pPr algn="l"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099" name="Rectangle 3"/>
          <p:cNvSpPr>
            <a:spLocks noGrp="1"/>
          </p:cNvSpPr>
          <p:nvPr>
            <p:ph idx="1"/>
          </p:nvPr>
        </p:nvSpPr>
        <p:spPr>
          <a:xfrm>
            <a:off x="1231900" y="981075"/>
            <a:ext cx="7372350" cy="5434013"/>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8.1 </a:t>
            </a:r>
            <a:r>
              <a:rPr lang="zh-CN" altLang="en-US" dirty="0">
                <a:latin typeface="Arial" panose="020B0604020202020204" pitchFamily="34" charset="0"/>
              </a:rPr>
              <a:t>事务的基本概念</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8.2 </a:t>
            </a:r>
            <a:r>
              <a:rPr lang="zh-CN" altLang="en-US" dirty="0">
                <a:latin typeface="Arial" panose="020B0604020202020204" pitchFamily="34" charset="0"/>
              </a:rPr>
              <a:t>事务的并发执行与调度</a:t>
            </a:r>
            <a:endParaRPr lang="zh-CN" altLang="en-US" dirty="0">
              <a:latin typeface="宋体" panose="02010600030101010101" pitchFamily="2" charset="-122"/>
            </a:endParaRPr>
          </a:p>
          <a:p>
            <a:pPr eaLnBrk="1" hangingPunct="1">
              <a:lnSpc>
                <a:spcPct val="140000"/>
              </a:lnSpc>
              <a:buNone/>
            </a:pPr>
            <a:r>
              <a:rPr lang="en-US" altLang="zh-CN" dirty="0">
                <a:solidFill>
                  <a:srgbClr val="0033CC"/>
                </a:solidFill>
                <a:latin typeface="Arial" panose="020B0604020202020204" pitchFamily="34" charset="0"/>
              </a:rPr>
              <a:t>8.3 </a:t>
            </a:r>
            <a:r>
              <a:rPr lang="zh-CN" altLang="en-US" dirty="0">
                <a:solidFill>
                  <a:srgbClr val="0033CC"/>
                </a:solidFill>
                <a:latin typeface="Arial" panose="020B0604020202020204" pitchFamily="34" charset="0"/>
              </a:rPr>
              <a:t>基于锁的并发控制</a:t>
            </a:r>
            <a:endParaRPr lang="zh-CN" altLang="en-US" dirty="0">
              <a:solidFill>
                <a:srgbClr val="0033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8.4 </a:t>
            </a:r>
            <a:r>
              <a:rPr lang="zh-CN" altLang="en-US" dirty="0"/>
              <a:t>数据库恢复</a:t>
            </a:r>
            <a:endParaRPr lang="zh-CN" altLang="en-US" dirty="0"/>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idx="1"/>
          </p:nvPr>
        </p:nvSpPr>
        <p:spPr>
          <a:xfrm>
            <a:off x="142875" y="1052513"/>
            <a:ext cx="8821738" cy="5329237"/>
          </a:xfrm>
        </p:spPr>
        <p:txBody>
          <a:bodyPr vert="horz" wrap="square" lIns="91440" tIns="45720" rIns="91440" bIns="45720" anchor="t" anchorCtr="0"/>
          <a:p>
            <a:pPr marL="365125" indent="-365125" eaLnBrk="1" hangingPunct="1">
              <a:lnSpc>
                <a:spcPts val="4500"/>
              </a:lnSpc>
            </a:pPr>
            <a:r>
              <a:rPr lang="zh-CN" altLang="en-US" dirty="0"/>
              <a:t>两段封锁协议规定在一个事务中所有的</a:t>
            </a:r>
            <a:r>
              <a:rPr lang="zh-CN" altLang="en-US" dirty="0">
                <a:solidFill>
                  <a:srgbClr val="0033CC"/>
                </a:solidFill>
              </a:rPr>
              <a:t>加锁操作</a:t>
            </a:r>
            <a:r>
              <a:rPr lang="zh-CN" altLang="en-US" dirty="0"/>
              <a:t>必须</a:t>
            </a:r>
            <a:r>
              <a:rPr lang="zh-CN" altLang="en-US" dirty="0">
                <a:solidFill>
                  <a:srgbClr val="0033CC"/>
                </a:solidFill>
              </a:rPr>
              <a:t>出现在</a:t>
            </a:r>
            <a:r>
              <a:rPr lang="zh-CN" altLang="en-US" dirty="0"/>
              <a:t>第一个</a:t>
            </a:r>
            <a:r>
              <a:rPr lang="zh-CN" altLang="en-US" dirty="0">
                <a:solidFill>
                  <a:srgbClr val="0033CC"/>
                </a:solidFill>
              </a:rPr>
              <a:t>解锁操作之前</a:t>
            </a:r>
            <a:r>
              <a:rPr lang="zh-CN" altLang="en-US" dirty="0"/>
              <a:t>。</a:t>
            </a:r>
            <a:endParaRPr lang="zh-CN" altLang="en-US" dirty="0"/>
          </a:p>
          <a:p>
            <a:pPr marL="365125" indent="-365125" eaLnBrk="1" hangingPunct="1">
              <a:spcBef>
                <a:spcPct val="30000"/>
              </a:spcBef>
            </a:pPr>
            <a:r>
              <a:rPr lang="zh-CN" altLang="en-US" dirty="0"/>
              <a:t>将一个事务分为两个阶段：</a:t>
            </a:r>
            <a:endParaRPr lang="zh-CN" altLang="en-US" dirty="0"/>
          </a:p>
          <a:p>
            <a:pPr marL="713105" lvl="1" indent="-449580" eaLnBrk="1" hangingPunct="1">
              <a:spcBef>
                <a:spcPct val="0"/>
              </a:spcBef>
            </a:pPr>
            <a:r>
              <a:rPr lang="zh-CN" altLang="en-US" sz="3600" dirty="0">
                <a:solidFill>
                  <a:srgbClr val="0000CC"/>
                </a:solidFill>
              </a:rPr>
              <a:t>扩展阶段：</a:t>
            </a:r>
            <a:r>
              <a:rPr lang="zh-CN" altLang="en-US" sz="3600" dirty="0"/>
              <a:t>可以</a:t>
            </a:r>
            <a:r>
              <a:rPr lang="zh-CN" altLang="en-US" sz="3600" dirty="0">
                <a:solidFill>
                  <a:srgbClr val="FF3300"/>
                </a:solidFill>
              </a:rPr>
              <a:t>加新锁</a:t>
            </a:r>
            <a:r>
              <a:rPr lang="zh-CN" altLang="en-US" sz="3600" dirty="0"/>
              <a:t>，但是不能解锁</a:t>
            </a:r>
            <a:endParaRPr lang="zh-CN" altLang="en-US" sz="3600" dirty="0"/>
          </a:p>
          <a:p>
            <a:pPr marL="713105" lvl="1" indent="-449580" eaLnBrk="1" hangingPunct="1">
              <a:spcBef>
                <a:spcPct val="0"/>
              </a:spcBef>
            </a:pPr>
            <a:r>
              <a:rPr lang="zh-CN" altLang="en-US" sz="3600" dirty="0">
                <a:solidFill>
                  <a:srgbClr val="0000CC"/>
                </a:solidFill>
              </a:rPr>
              <a:t>收缩阶段：</a:t>
            </a:r>
            <a:r>
              <a:rPr lang="zh-CN" altLang="en-US" sz="3600" dirty="0"/>
              <a:t>可以</a:t>
            </a:r>
            <a:r>
              <a:rPr lang="zh-CN" altLang="en-US" sz="3600" dirty="0">
                <a:solidFill>
                  <a:srgbClr val="FF3300"/>
                </a:solidFill>
              </a:rPr>
              <a:t>解锁</a:t>
            </a:r>
            <a:r>
              <a:rPr lang="zh-CN" altLang="en-US" sz="3600" dirty="0"/>
              <a:t>，但是不能加新锁</a:t>
            </a:r>
            <a:endParaRPr lang="zh-CN" altLang="en-US" sz="3600" dirty="0"/>
          </a:p>
          <a:p>
            <a:pPr marL="365125" indent="-365125" eaLnBrk="1" fontAlgn="b" hangingPunct="1">
              <a:lnSpc>
                <a:spcPts val="4600"/>
              </a:lnSpc>
              <a:spcBef>
                <a:spcPts val="3000"/>
              </a:spcBef>
            </a:pPr>
            <a:r>
              <a:rPr lang="zh-CN" altLang="en-US" dirty="0"/>
              <a:t>可以证明：如果一个调度中的所有事务均遵循</a:t>
            </a:r>
            <a:r>
              <a:rPr lang="zh-CN" altLang="en-US" dirty="0">
                <a:solidFill>
                  <a:srgbClr val="FF0000"/>
                </a:solidFill>
              </a:rPr>
              <a:t>两段封锁协议</a:t>
            </a:r>
            <a:r>
              <a:rPr lang="zh-CN" altLang="en-US" dirty="0"/>
              <a:t>，则这个调度是</a:t>
            </a:r>
            <a:r>
              <a:rPr lang="zh-CN" altLang="en-US" dirty="0">
                <a:solidFill>
                  <a:srgbClr val="FF0000"/>
                </a:solidFill>
              </a:rPr>
              <a:t>可串行化</a:t>
            </a:r>
            <a:r>
              <a:rPr lang="zh-CN" altLang="en-US" dirty="0"/>
              <a:t>的。</a:t>
            </a:r>
            <a:endParaRPr lang="zh-CN" altLang="en-US" dirty="0"/>
          </a:p>
        </p:txBody>
      </p:sp>
      <p:sp>
        <p:nvSpPr>
          <p:cNvPr id="3194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两段封锁协议</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idx="1"/>
          </p:nvPr>
        </p:nvSpPr>
        <p:spPr>
          <a:xfrm>
            <a:off x="152400" y="1052513"/>
            <a:ext cx="8812213" cy="5489575"/>
          </a:xfrm>
        </p:spPr>
        <p:txBody>
          <a:bodyPr vert="horz" wrap="square" lIns="91440" tIns="45720" rIns="91440" bIns="45720" anchor="t" anchorCtr="0"/>
          <a:p>
            <a:pPr marL="0" indent="0" eaLnBrk="1" hangingPunct="1">
              <a:lnSpc>
                <a:spcPct val="90000"/>
              </a:lnSpc>
              <a:buNone/>
            </a:pPr>
            <a:r>
              <a:rPr lang="en-US" altLang="zh-CN" dirty="0">
                <a:latin typeface="Arial" panose="020B0604020202020204" pitchFamily="34" charset="0"/>
              </a:rPr>
              <a:t>    </a:t>
            </a:r>
            <a:r>
              <a:rPr lang="zh-CN" altLang="en-US" dirty="0">
                <a:latin typeface="Arial" panose="020B0604020202020204" pitchFamily="34" charset="0"/>
              </a:rPr>
              <a:t>事务</a:t>
            </a:r>
            <a:r>
              <a:rPr lang="en-US" altLang="zh-CN" dirty="0">
                <a:latin typeface="Arial" panose="020B0604020202020204" pitchFamily="34" charset="0"/>
              </a:rPr>
              <a:t>1</a:t>
            </a:r>
            <a:r>
              <a:rPr lang="zh-CN" altLang="en-US" dirty="0">
                <a:latin typeface="Arial" panose="020B0604020202020204" pitchFamily="34" charset="0"/>
              </a:rPr>
              <a:t>的封锁序列：</a:t>
            </a:r>
            <a:endParaRPr lang="zh-CN" altLang="en-US" dirty="0">
              <a:latin typeface="Arial" panose="020B0604020202020204" pitchFamily="34" charset="0"/>
            </a:endParaRPr>
          </a:p>
          <a:p>
            <a:pPr marL="0" indent="0" eaLnBrk="1" hangingPunct="1">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Slock A ... Slock B ... Xlock C ...</a:t>
            </a:r>
            <a:endParaRPr lang="en-US" altLang="zh-CN" dirty="0">
              <a:solidFill>
                <a:srgbClr val="0000CC"/>
              </a:solidFill>
              <a:latin typeface="Arial" panose="020B0604020202020204" pitchFamily="34" charset="0"/>
            </a:endParaRPr>
          </a:p>
          <a:p>
            <a:pPr marL="0" indent="0" eaLnBrk="1" hangingPunct="1">
              <a:buNone/>
            </a:pPr>
            <a:r>
              <a:rPr lang="en-US" altLang="zh-CN" dirty="0">
                <a:solidFill>
                  <a:srgbClr val="0000CC"/>
                </a:solidFill>
                <a:latin typeface="Arial" panose="020B0604020202020204" pitchFamily="34" charset="0"/>
              </a:rPr>
              <a:t>     Unlock B ... Unlock A ... Unlock C</a:t>
            </a:r>
            <a:r>
              <a:rPr lang="zh-CN" altLang="en-US" dirty="0">
                <a:solidFill>
                  <a:srgbClr val="0000CC"/>
                </a:solidFill>
                <a:latin typeface="Arial" panose="020B0604020202020204" pitchFamily="34" charset="0"/>
              </a:rPr>
              <a:t>；</a:t>
            </a:r>
            <a:endParaRPr lang="zh-CN" altLang="en-US" dirty="0">
              <a:solidFill>
                <a:srgbClr val="0000CC"/>
              </a:solidFill>
              <a:latin typeface="Arial" panose="020B0604020202020204" pitchFamily="34" charset="0"/>
            </a:endParaRPr>
          </a:p>
          <a:p>
            <a:pPr marL="0" indent="0" eaLnBrk="1" hangingPunct="1">
              <a:lnSpc>
                <a:spcPct val="90000"/>
              </a:lnSpc>
              <a:buNone/>
            </a:pPr>
            <a:endParaRPr lang="zh-CN" altLang="en-US" sz="2800" dirty="0">
              <a:solidFill>
                <a:srgbClr val="0000CC"/>
              </a:solidFill>
              <a:latin typeface="Arial" panose="020B0604020202020204" pitchFamily="34" charset="0"/>
            </a:endParaRPr>
          </a:p>
          <a:p>
            <a:pPr marL="0" indent="0" eaLnBrk="1" hangingPunct="1">
              <a:lnSpc>
                <a:spcPct val="90000"/>
              </a:lnSpc>
              <a:buNone/>
            </a:pPr>
            <a:r>
              <a:rPr lang="zh-CN" altLang="en-US" dirty="0">
                <a:latin typeface="Arial" panose="020B0604020202020204" pitchFamily="34" charset="0"/>
              </a:rPr>
              <a:t>    事务</a:t>
            </a:r>
            <a:r>
              <a:rPr lang="en-US" altLang="zh-CN" dirty="0">
                <a:latin typeface="Arial" panose="020B0604020202020204" pitchFamily="34" charset="0"/>
              </a:rPr>
              <a:t>2</a:t>
            </a:r>
            <a:r>
              <a:rPr lang="zh-CN" altLang="en-US" dirty="0">
                <a:latin typeface="Arial" panose="020B0604020202020204" pitchFamily="34" charset="0"/>
              </a:rPr>
              <a:t>的封锁序列：</a:t>
            </a:r>
            <a:endParaRPr lang="zh-CN" altLang="en-US" dirty="0">
              <a:latin typeface="Arial" panose="020B0604020202020204" pitchFamily="34" charset="0"/>
            </a:endParaRPr>
          </a:p>
          <a:p>
            <a:pPr marL="0" indent="0" eaLnBrk="1" hangingPunct="1">
              <a:lnSpc>
                <a:spcPct val="10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Slock A ... Unlock A ... Slock B ... </a:t>
            </a:r>
            <a:endParaRPr lang="en-US" altLang="zh-CN" dirty="0">
              <a:solidFill>
                <a:srgbClr val="0000CC"/>
              </a:solidFill>
              <a:latin typeface="Arial" panose="020B0604020202020204" pitchFamily="34" charset="0"/>
            </a:endParaRPr>
          </a:p>
          <a:p>
            <a:pPr marL="0" indent="0" eaLnBrk="1" hangingPunct="1">
              <a:lnSpc>
                <a:spcPct val="105000"/>
              </a:lnSpc>
              <a:buNone/>
            </a:pPr>
            <a:r>
              <a:rPr lang="en-US" altLang="zh-CN" dirty="0">
                <a:solidFill>
                  <a:srgbClr val="0000CC"/>
                </a:solidFill>
                <a:latin typeface="Arial" panose="020B0604020202020204" pitchFamily="34" charset="0"/>
              </a:rPr>
              <a:t>      Xlock C ... Unlock C ... Unlock B</a:t>
            </a:r>
            <a:r>
              <a:rPr lang="zh-CN" altLang="en-US" dirty="0">
                <a:solidFill>
                  <a:srgbClr val="0000CC"/>
                </a:solidFill>
                <a:latin typeface="Arial" panose="020B0604020202020204" pitchFamily="34" charset="0"/>
              </a:rPr>
              <a:t>；</a:t>
            </a:r>
            <a:endParaRPr lang="zh-CN" altLang="en-US" dirty="0">
              <a:solidFill>
                <a:srgbClr val="0000CC"/>
              </a:solidFill>
              <a:latin typeface="Arial" panose="020B0604020202020204" pitchFamily="34" charset="0"/>
            </a:endParaRPr>
          </a:p>
          <a:p>
            <a:pPr marL="0" indent="0" eaLnBrk="1" hangingPunct="1">
              <a:spcBef>
                <a:spcPts val="2400"/>
              </a:spcBef>
              <a:buNone/>
            </a:pPr>
            <a:r>
              <a:rPr lang="zh-CN" altLang="en-US" dirty="0">
                <a:latin typeface="Arial" panose="020B0604020202020204" pitchFamily="34" charset="0"/>
              </a:rPr>
              <a:t>     事务</a:t>
            </a:r>
            <a:r>
              <a:rPr lang="en-US" altLang="zh-CN" dirty="0">
                <a:latin typeface="Arial" panose="020B0604020202020204" pitchFamily="34" charset="0"/>
              </a:rPr>
              <a:t>1 </a:t>
            </a:r>
            <a:r>
              <a:rPr lang="zh-CN" altLang="en-US" dirty="0">
                <a:latin typeface="Arial" panose="020B0604020202020204" pitchFamily="34" charset="0"/>
              </a:rPr>
              <a:t>遵守两段锁协议，而事务</a:t>
            </a:r>
            <a:r>
              <a:rPr lang="en-US" altLang="zh-CN" dirty="0">
                <a:latin typeface="Arial" panose="020B0604020202020204" pitchFamily="34" charset="0"/>
              </a:rPr>
              <a:t>2 </a:t>
            </a:r>
            <a:r>
              <a:rPr lang="zh-CN" altLang="en-US" dirty="0">
                <a:latin typeface="Arial" panose="020B0604020202020204" pitchFamily="34" charset="0"/>
              </a:rPr>
              <a:t>不遵守两段协议。</a:t>
            </a:r>
            <a:endParaRPr lang="zh-CN" altLang="en-US" dirty="0">
              <a:latin typeface="Arial" panose="020B0604020202020204" pitchFamily="34" charset="0"/>
            </a:endParaRPr>
          </a:p>
        </p:txBody>
      </p:sp>
      <p:sp>
        <p:nvSpPr>
          <p:cNvPr id="3215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两段封锁协议</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遵守两段封锁协议的事务发生死锁</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327710" name="Group 30"/>
          <p:cNvGraphicFramePr>
            <a:graphicFrameLocks noGrp="1"/>
          </p:cNvGraphicFramePr>
          <p:nvPr>
            <p:ph idx="1"/>
          </p:nvPr>
        </p:nvGraphicFramePr>
        <p:xfrm>
          <a:off x="1619250" y="1343025"/>
          <a:ext cx="6048375" cy="4635500"/>
        </p:xfrm>
        <a:graphic>
          <a:graphicData uri="http://schemas.openxmlformats.org/drawingml/2006/table">
            <a:tbl>
              <a:tblPr/>
              <a:tblGrid>
                <a:gridCol w="3024188"/>
                <a:gridCol w="3024187"/>
              </a:tblGrid>
              <a:tr h="64770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a:t>
                      </a:r>
                      <a:r>
                        <a:rPr kumimoji="0" lang="en-US" altLang="zh-CN" sz="3600" b="1" i="0" u="none" strike="noStrike" cap="none" normalizeH="0" baseline="-25000" smtClean="0">
                          <a:ln>
                            <a:noFill/>
                          </a:ln>
                          <a:solidFill>
                            <a:srgbClr val="0000CC"/>
                          </a:solidFill>
                          <a:effectLst/>
                          <a:latin typeface="Arial" panose="020B0604020202020204" pitchFamily="34" charset="0"/>
                          <a:ea typeface="黑体" panose="02010609060101010101" pitchFamily="2" charset="-122"/>
                        </a:rPr>
                        <a:t>1</a:t>
                      </a:r>
                      <a:endParaRPr kumimoji="0" lang="en-US" altLang="zh-CN" sz="3600" b="1" i="0" u="none" strike="noStrike" cap="none" normalizeH="0" baseline="-25000" smtClean="0">
                        <a:ln>
                          <a:noFill/>
                        </a:ln>
                        <a:solidFill>
                          <a:srgbClr val="0000CC"/>
                        </a:solidFill>
                        <a:effectLst/>
                        <a:latin typeface="Arial" panose="020B0604020202020204" pitchFamily="34"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DDDD"/>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a:t>
                      </a:r>
                      <a:r>
                        <a:rPr kumimoji="0" lang="en-US" altLang="zh-CN" sz="3600" b="1" i="0" u="none" strike="noStrike" cap="none" normalizeH="0" baseline="-25000" smtClean="0">
                          <a:ln>
                            <a:noFill/>
                          </a:ln>
                          <a:solidFill>
                            <a:srgbClr val="0000CC"/>
                          </a:solidFill>
                          <a:effectLst/>
                          <a:latin typeface="Arial" panose="020B0604020202020204" pitchFamily="34" charset="0"/>
                          <a:ea typeface="黑体" panose="02010609060101010101" pitchFamily="2" charset="-122"/>
                        </a:rPr>
                        <a:t>2</a:t>
                      </a:r>
                      <a:endParaRPr kumimoji="0" lang="en-US" altLang="zh-CN" sz="3600" b="1" i="0" u="none" strike="noStrike" cap="none" normalizeH="0" baseline="-25000" smtClean="0">
                        <a:ln>
                          <a:noFill/>
                        </a:ln>
                        <a:solidFill>
                          <a:srgbClr val="0000CC"/>
                        </a:solidFill>
                        <a:effectLst/>
                        <a:latin typeface="Arial" panose="020B0604020202020204" pitchFamily="34"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FFDD"/>
                    </a:solidFill>
                  </a:tcPr>
                </a:tc>
              </a:tr>
              <a:tr h="398780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Slock B</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Xlock A</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DDDD"/>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Slock A</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Xlock B</a:t>
                      </a:r>
                      <a:endParaRPr kumimoji="0" lang="en-US" altLang="zh-CN" sz="36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36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FFDD"/>
                    </a:solidFill>
                  </a:tcPr>
                </a:tc>
              </a:tr>
            </a:tbl>
          </a:graphicData>
        </a:graphic>
      </p:graphicFrame>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死锁和饿死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195" name="Rectangle 3"/>
          <p:cNvSpPr>
            <a:spLocks noGrp="1"/>
          </p:cNvSpPr>
          <p:nvPr>
            <p:ph type="body" sz="half" idx="1"/>
          </p:nvPr>
        </p:nvSpPr>
        <p:spPr>
          <a:xfrm>
            <a:off x="152400" y="1089025"/>
            <a:ext cx="8740775" cy="5653088"/>
          </a:xfrm>
        </p:spPr>
        <p:txBody>
          <a:bodyPr vert="horz" wrap="square" lIns="91440" tIns="45720" rIns="91440" bIns="45720" anchor="t" anchorCtr="0"/>
          <a:p>
            <a:pPr marL="1441450" indent="-1441450" eaLnBrk="1" hangingPunct="1">
              <a:spcBef>
                <a:spcPct val="25000"/>
              </a:spcBef>
              <a:buClr>
                <a:srgbClr val="FF0000"/>
              </a:buClr>
              <a:buSzPct val="65000"/>
              <a:buFont typeface="Wingdings" panose="05000000000000000000" pitchFamily="2" charset="2"/>
              <a:buNone/>
            </a:pPr>
            <a:r>
              <a:rPr lang="zh-CN" altLang="en-US" dirty="0">
                <a:solidFill>
                  <a:srgbClr val="0000CC"/>
                </a:solidFill>
                <a:latin typeface="Arial" panose="020B0604020202020204" pitchFamily="34" charset="0"/>
              </a:rPr>
              <a:t>死锁</a:t>
            </a:r>
            <a:r>
              <a:rPr lang="zh-CN" altLang="en-US" dirty="0">
                <a:latin typeface="Arial" panose="020B0604020202020204" pitchFamily="34" charset="0"/>
              </a:rPr>
              <a:t>：几个事务相互等待其他事务解锁而均不能正常结束的状态。</a:t>
            </a:r>
            <a:endParaRPr lang="zh-CN" altLang="en-US" dirty="0">
              <a:latin typeface="Arial" panose="020B0604020202020204" pitchFamily="34" charset="0"/>
            </a:endParaRPr>
          </a:p>
        </p:txBody>
      </p:sp>
      <p:grpSp>
        <p:nvGrpSpPr>
          <p:cNvPr id="8196" name="Group 73"/>
          <p:cNvGrpSpPr/>
          <p:nvPr/>
        </p:nvGrpSpPr>
        <p:grpSpPr>
          <a:xfrm>
            <a:off x="684213" y="2565400"/>
            <a:ext cx="7632700" cy="3743325"/>
            <a:chOff x="431" y="1616"/>
            <a:chExt cx="4808" cy="2358"/>
          </a:xfrm>
        </p:grpSpPr>
        <p:sp>
          <p:nvSpPr>
            <p:cNvPr id="8197" name="Rectangle 49"/>
            <p:cNvSpPr/>
            <p:nvPr/>
          </p:nvSpPr>
          <p:spPr>
            <a:xfrm>
              <a:off x="431" y="2702"/>
              <a:ext cx="1068" cy="422"/>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r>
                <a:rPr lang="zh-CN" altLang="en-US" dirty="0">
                  <a:latin typeface="Arial" panose="020B0604020202020204" pitchFamily="34" charset="0"/>
                </a:rPr>
                <a:t>事务</a:t>
              </a:r>
              <a:r>
                <a:rPr lang="en-US" altLang="zh-CN" dirty="0">
                  <a:latin typeface="Arial" panose="020B0604020202020204" pitchFamily="34" charset="0"/>
                </a:rPr>
                <a:t>T</a:t>
              </a:r>
              <a:r>
                <a:rPr lang="en-US" altLang="zh-CN" baseline="-25000" dirty="0">
                  <a:latin typeface="Arial" panose="020B0604020202020204" pitchFamily="34" charset="0"/>
                </a:rPr>
                <a:t>1</a:t>
              </a:r>
              <a:endParaRPr lang="en-US" altLang="zh-CN" baseline="-25000" dirty="0">
                <a:latin typeface="Arial" panose="020B0604020202020204" pitchFamily="34" charset="0"/>
              </a:endParaRPr>
            </a:p>
          </p:txBody>
        </p:sp>
        <p:sp>
          <p:nvSpPr>
            <p:cNvPr id="8198" name="Rectangle 50"/>
            <p:cNvSpPr/>
            <p:nvPr/>
          </p:nvSpPr>
          <p:spPr>
            <a:xfrm>
              <a:off x="4126" y="2719"/>
              <a:ext cx="1113" cy="422"/>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r>
                <a:rPr lang="zh-CN" altLang="en-US" dirty="0">
                  <a:latin typeface="Arial" panose="020B0604020202020204" pitchFamily="34" charset="0"/>
                </a:rPr>
                <a:t>事务</a:t>
              </a:r>
              <a:r>
                <a:rPr lang="en-US" altLang="zh-CN" dirty="0">
                  <a:latin typeface="Arial" panose="020B0604020202020204" pitchFamily="34" charset="0"/>
                </a:rPr>
                <a:t>T</a:t>
              </a:r>
              <a:r>
                <a:rPr lang="en-US" altLang="zh-CN" baseline="-25000" dirty="0">
                  <a:latin typeface="Arial" panose="020B0604020202020204" pitchFamily="34" charset="0"/>
                </a:rPr>
                <a:t>2</a:t>
              </a:r>
              <a:endParaRPr lang="en-US" altLang="zh-CN" baseline="-25000" dirty="0">
                <a:latin typeface="Arial" panose="020B0604020202020204" pitchFamily="34" charset="0"/>
              </a:endParaRPr>
            </a:p>
          </p:txBody>
        </p:sp>
        <p:sp>
          <p:nvSpPr>
            <p:cNvPr id="8199" name="Rectangle 51"/>
            <p:cNvSpPr/>
            <p:nvPr/>
          </p:nvSpPr>
          <p:spPr>
            <a:xfrm>
              <a:off x="1999" y="2022"/>
              <a:ext cx="1706" cy="422"/>
            </a:xfrm>
            <a:prstGeom prst="rect">
              <a:avLst/>
            </a:prstGeom>
            <a:solidFill>
              <a:srgbClr val="FFCCCC"/>
            </a:solidFill>
            <a:ln w="28575" cap="flat" cmpd="sng">
              <a:solidFill>
                <a:srgbClr val="000000"/>
              </a:solidFill>
              <a:prstDash val="solid"/>
              <a:miter/>
              <a:headEnd type="none" w="med" len="med"/>
              <a:tailEnd type="none" w="med" len="med"/>
            </a:ln>
          </p:spPr>
          <p:txBody>
            <a:bodyPr anchor="ctr" anchorCtr="0">
              <a:spAutoFit/>
            </a:bodyPr>
            <a:p>
              <a:r>
                <a:rPr lang="en-US" altLang="zh-CN" dirty="0">
                  <a:latin typeface="Arial" panose="020B0604020202020204" pitchFamily="34" charset="0"/>
                </a:rPr>
                <a:t>A</a:t>
              </a:r>
              <a:r>
                <a:rPr lang="zh-CN" altLang="en-US" dirty="0">
                  <a:latin typeface="Arial" panose="020B0604020202020204" pitchFamily="34" charset="0"/>
                </a:rPr>
                <a:t>上的锁</a:t>
              </a:r>
              <a:endParaRPr lang="zh-CN" altLang="en-US" dirty="0">
                <a:latin typeface="Arial" panose="020B0604020202020204" pitchFamily="34" charset="0"/>
              </a:endParaRPr>
            </a:p>
          </p:txBody>
        </p:sp>
        <p:sp>
          <p:nvSpPr>
            <p:cNvPr id="8200" name="Rectangle 52"/>
            <p:cNvSpPr/>
            <p:nvPr/>
          </p:nvSpPr>
          <p:spPr>
            <a:xfrm>
              <a:off x="1991" y="3381"/>
              <a:ext cx="1723" cy="422"/>
            </a:xfrm>
            <a:prstGeom prst="rect">
              <a:avLst/>
            </a:prstGeom>
            <a:solidFill>
              <a:srgbClr val="FFCCCC"/>
            </a:solidFill>
            <a:ln w="28575" cap="flat" cmpd="sng">
              <a:solidFill>
                <a:srgbClr val="000000"/>
              </a:solidFill>
              <a:prstDash val="solid"/>
              <a:miter/>
              <a:headEnd type="none" w="med" len="med"/>
              <a:tailEnd type="none" w="med" len="med"/>
            </a:ln>
          </p:spPr>
          <p:txBody>
            <a:bodyPr anchor="ctr" anchorCtr="0">
              <a:spAutoFit/>
            </a:bodyPr>
            <a:p>
              <a:r>
                <a:rPr lang="en-US" altLang="zh-CN" dirty="0">
                  <a:latin typeface="Arial" panose="020B0604020202020204" pitchFamily="34" charset="0"/>
                </a:rPr>
                <a:t>B</a:t>
              </a:r>
              <a:r>
                <a:rPr lang="zh-CN" altLang="en-US" dirty="0">
                  <a:latin typeface="Arial" panose="020B0604020202020204" pitchFamily="34" charset="0"/>
                </a:rPr>
                <a:t>上的锁</a:t>
              </a:r>
              <a:endParaRPr lang="zh-CN" altLang="en-US" dirty="0">
                <a:latin typeface="Arial" panose="020B0604020202020204" pitchFamily="34" charset="0"/>
              </a:endParaRPr>
            </a:p>
          </p:txBody>
        </p:sp>
        <p:grpSp>
          <p:nvGrpSpPr>
            <p:cNvPr id="8201" name="Group 56"/>
            <p:cNvGrpSpPr/>
            <p:nvPr/>
          </p:nvGrpSpPr>
          <p:grpSpPr>
            <a:xfrm>
              <a:off x="3742" y="2249"/>
              <a:ext cx="998" cy="453"/>
              <a:chOff x="3742" y="1979"/>
              <a:chExt cx="998" cy="453"/>
            </a:xfrm>
          </p:grpSpPr>
          <p:sp>
            <p:nvSpPr>
              <p:cNvPr id="8217" name="Line 53"/>
              <p:cNvSpPr/>
              <p:nvPr/>
            </p:nvSpPr>
            <p:spPr>
              <a:xfrm flipV="1">
                <a:off x="4740" y="1979"/>
                <a:ext cx="0" cy="453"/>
              </a:xfrm>
              <a:prstGeom prst="line">
                <a:avLst/>
              </a:prstGeom>
              <a:ln w="28575" cap="flat" cmpd="sng">
                <a:solidFill>
                  <a:srgbClr val="000000"/>
                </a:solidFill>
                <a:prstDash val="solid"/>
                <a:headEnd type="none" w="med" len="med"/>
                <a:tailEnd type="none" w="med" len="med"/>
              </a:ln>
            </p:spPr>
          </p:sp>
          <p:sp>
            <p:nvSpPr>
              <p:cNvPr id="8218" name="Line 55"/>
              <p:cNvSpPr/>
              <p:nvPr/>
            </p:nvSpPr>
            <p:spPr>
              <a:xfrm flipH="1">
                <a:off x="3742" y="1979"/>
                <a:ext cx="998" cy="0"/>
              </a:xfrm>
              <a:prstGeom prst="line">
                <a:avLst/>
              </a:prstGeom>
              <a:ln w="28575" cap="flat" cmpd="sng">
                <a:solidFill>
                  <a:srgbClr val="000000"/>
                </a:solidFill>
                <a:prstDash val="solid"/>
                <a:headEnd type="none" w="med" len="med"/>
                <a:tailEnd type="triangle" w="med" len="med"/>
              </a:ln>
            </p:spPr>
          </p:sp>
        </p:grpSp>
        <p:grpSp>
          <p:nvGrpSpPr>
            <p:cNvPr id="8202" name="Group 57"/>
            <p:cNvGrpSpPr/>
            <p:nvPr/>
          </p:nvGrpSpPr>
          <p:grpSpPr>
            <a:xfrm flipV="1">
              <a:off x="3742" y="3155"/>
              <a:ext cx="998" cy="453"/>
              <a:chOff x="3742" y="1979"/>
              <a:chExt cx="998" cy="453"/>
            </a:xfrm>
          </p:grpSpPr>
          <p:sp>
            <p:nvSpPr>
              <p:cNvPr id="8215" name="Line 58"/>
              <p:cNvSpPr/>
              <p:nvPr/>
            </p:nvSpPr>
            <p:spPr>
              <a:xfrm flipV="1">
                <a:off x="4740" y="1979"/>
                <a:ext cx="0" cy="453"/>
              </a:xfrm>
              <a:prstGeom prst="line">
                <a:avLst/>
              </a:prstGeom>
              <a:ln w="28575" cap="flat" cmpd="sng">
                <a:solidFill>
                  <a:srgbClr val="000000"/>
                </a:solidFill>
                <a:prstDash val="solid"/>
                <a:headEnd type="none" w="med" len="med"/>
                <a:tailEnd type="none" w="med" len="med"/>
              </a:ln>
            </p:spPr>
          </p:sp>
          <p:sp>
            <p:nvSpPr>
              <p:cNvPr id="8216" name="Line 59"/>
              <p:cNvSpPr/>
              <p:nvPr/>
            </p:nvSpPr>
            <p:spPr>
              <a:xfrm flipH="1">
                <a:off x="3742" y="1979"/>
                <a:ext cx="998" cy="0"/>
              </a:xfrm>
              <a:prstGeom prst="line">
                <a:avLst/>
              </a:prstGeom>
              <a:ln w="28575" cap="flat" cmpd="sng">
                <a:solidFill>
                  <a:srgbClr val="000000"/>
                </a:solidFill>
                <a:prstDash val="solid"/>
                <a:headEnd type="none" w="med" len="med"/>
                <a:tailEnd type="triangle" w="med" len="med"/>
              </a:ln>
            </p:spPr>
          </p:sp>
        </p:grpSp>
        <p:grpSp>
          <p:nvGrpSpPr>
            <p:cNvPr id="8203" name="Group 60"/>
            <p:cNvGrpSpPr/>
            <p:nvPr/>
          </p:nvGrpSpPr>
          <p:grpSpPr>
            <a:xfrm flipH="1">
              <a:off x="975" y="2249"/>
              <a:ext cx="998" cy="453"/>
              <a:chOff x="3742" y="1979"/>
              <a:chExt cx="998" cy="453"/>
            </a:xfrm>
          </p:grpSpPr>
          <p:sp>
            <p:nvSpPr>
              <p:cNvPr id="8213" name="Line 61"/>
              <p:cNvSpPr/>
              <p:nvPr/>
            </p:nvSpPr>
            <p:spPr>
              <a:xfrm flipV="1">
                <a:off x="4740" y="1979"/>
                <a:ext cx="0" cy="453"/>
              </a:xfrm>
              <a:prstGeom prst="line">
                <a:avLst/>
              </a:prstGeom>
              <a:ln w="28575" cap="flat" cmpd="sng">
                <a:solidFill>
                  <a:srgbClr val="000000"/>
                </a:solidFill>
                <a:prstDash val="solid"/>
                <a:headEnd type="none" w="med" len="med"/>
                <a:tailEnd type="none" w="med" len="med"/>
              </a:ln>
            </p:spPr>
          </p:sp>
          <p:sp>
            <p:nvSpPr>
              <p:cNvPr id="8214" name="Line 62"/>
              <p:cNvSpPr/>
              <p:nvPr/>
            </p:nvSpPr>
            <p:spPr>
              <a:xfrm flipH="1">
                <a:off x="3742" y="1979"/>
                <a:ext cx="998" cy="0"/>
              </a:xfrm>
              <a:prstGeom prst="line">
                <a:avLst/>
              </a:prstGeom>
              <a:ln w="28575" cap="flat" cmpd="sng">
                <a:solidFill>
                  <a:srgbClr val="000000"/>
                </a:solidFill>
                <a:prstDash val="solid"/>
                <a:headEnd type="none" w="med" len="med"/>
                <a:tailEnd type="triangle" w="med" len="med"/>
              </a:ln>
            </p:spPr>
          </p:sp>
        </p:grpSp>
        <p:grpSp>
          <p:nvGrpSpPr>
            <p:cNvPr id="8204" name="Group 63"/>
            <p:cNvGrpSpPr/>
            <p:nvPr/>
          </p:nvGrpSpPr>
          <p:grpSpPr>
            <a:xfrm flipH="1" flipV="1">
              <a:off x="975" y="3156"/>
              <a:ext cx="998" cy="453"/>
              <a:chOff x="3742" y="1979"/>
              <a:chExt cx="998" cy="453"/>
            </a:xfrm>
          </p:grpSpPr>
          <p:sp>
            <p:nvSpPr>
              <p:cNvPr id="8211" name="Line 64"/>
              <p:cNvSpPr/>
              <p:nvPr/>
            </p:nvSpPr>
            <p:spPr>
              <a:xfrm flipV="1">
                <a:off x="4740" y="1979"/>
                <a:ext cx="0" cy="453"/>
              </a:xfrm>
              <a:prstGeom prst="line">
                <a:avLst/>
              </a:prstGeom>
              <a:ln w="28575" cap="flat" cmpd="sng">
                <a:solidFill>
                  <a:srgbClr val="000000"/>
                </a:solidFill>
                <a:prstDash val="solid"/>
                <a:headEnd type="none" w="med" len="med"/>
                <a:tailEnd type="none" w="med" len="med"/>
              </a:ln>
            </p:spPr>
          </p:sp>
          <p:sp>
            <p:nvSpPr>
              <p:cNvPr id="8212" name="Line 65"/>
              <p:cNvSpPr/>
              <p:nvPr/>
            </p:nvSpPr>
            <p:spPr>
              <a:xfrm flipH="1">
                <a:off x="3742" y="1979"/>
                <a:ext cx="998" cy="0"/>
              </a:xfrm>
              <a:prstGeom prst="line">
                <a:avLst/>
              </a:prstGeom>
              <a:ln w="28575" cap="flat" cmpd="sng">
                <a:solidFill>
                  <a:srgbClr val="000000"/>
                </a:solidFill>
                <a:prstDash val="solid"/>
                <a:headEnd type="none" w="med" len="med"/>
                <a:tailEnd type="triangle" w="med" len="med"/>
              </a:ln>
            </p:spPr>
          </p:sp>
        </p:grpSp>
        <p:sp>
          <p:nvSpPr>
            <p:cNvPr id="8205" name="Rectangle 66"/>
            <p:cNvSpPr/>
            <p:nvPr/>
          </p:nvSpPr>
          <p:spPr>
            <a:xfrm>
              <a:off x="4016" y="1884"/>
              <a:ext cx="630" cy="365"/>
            </a:xfrm>
            <a:prstGeom prst="rect">
              <a:avLst/>
            </a:prstGeom>
            <a:noFill/>
            <a:ln w="28575">
              <a:noFill/>
            </a:ln>
          </p:spPr>
          <p:txBody>
            <a:bodyPr wrap="none" anchor="ctr" anchorCtr="0">
              <a:spAutoFit/>
            </a:bodyPr>
            <a:p>
              <a:r>
                <a:rPr lang="zh-CN" altLang="en-US" sz="3200" dirty="0">
                  <a:latin typeface="Arial" panose="020B0604020202020204" pitchFamily="34" charset="0"/>
                </a:rPr>
                <a:t>等待</a:t>
              </a:r>
              <a:endParaRPr lang="zh-CN" altLang="en-US" sz="3200" dirty="0">
                <a:latin typeface="Arial" panose="020B0604020202020204" pitchFamily="34" charset="0"/>
              </a:endParaRPr>
            </a:p>
          </p:txBody>
        </p:sp>
        <p:sp>
          <p:nvSpPr>
            <p:cNvPr id="8206" name="Rectangle 67"/>
            <p:cNvSpPr/>
            <p:nvPr/>
          </p:nvSpPr>
          <p:spPr>
            <a:xfrm>
              <a:off x="1161" y="3609"/>
              <a:ext cx="630" cy="365"/>
            </a:xfrm>
            <a:prstGeom prst="rect">
              <a:avLst/>
            </a:prstGeom>
            <a:noFill/>
            <a:ln w="28575">
              <a:noFill/>
            </a:ln>
          </p:spPr>
          <p:txBody>
            <a:bodyPr wrap="none" anchor="ctr" anchorCtr="0">
              <a:spAutoFit/>
            </a:bodyPr>
            <a:p>
              <a:r>
                <a:rPr lang="zh-CN" altLang="en-US" sz="3200" dirty="0">
                  <a:latin typeface="Arial" panose="020B0604020202020204" pitchFamily="34" charset="0"/>
                </a:rPr>
                <a:t>等待</a:t>
              </a:r>
              <a:endParaRPr lang="zh-CN" altLang="en-US" sz="3200" dirty="0">
                <a:latin typeface="Arial" panose="020B0604020202020204" pitchFamily="34" charset="0"/>
              </a:endParaRPr>
            </a:p>
          </p:txBody>
        </p:sp>
        <p:sp>
          <p:nvSpPr>
            <p:cNvPr id="8207" name="Rectangle 68"/>
            <p:cNvSpPr/>
            <p:nvPr/>
          </p:nvSpPr>
          <p:spPr>
            <a:xfrm>
              <a:off x="1111" y="1840"/>
              <a:ext cx="630" cy="365"/>
            </a:xfrm>
            <a:prstGeom prst="rect">
              <a:avLst/>
            </a:prstGeom>
            <a:noFill/>
            <a:ln w="28575">
              <a:noFill/>
            </a:ln>
          </p:spPr>
          <p:txBody>
            <a:bodyPr wrap="none" anchor="ctr" anchorCtr="0">
              <a:spAutoFit/>
            </a:bodyPr>
            <a:p>
              <a:r>
                <a:rPr lang="zh-CN" altLang="en-US" sz="3200" dirty="0">
                  <a:latin typeface="Arial" panose="020B0604020202020204" pitchFamily="34" charset="0"/>
                </a:rPr>
                <a:t>占有</a:t>
              </a:r>
              <a:endParaRPr lang="zh-CN" altLang="en-US" sz="3200" dirty="0">
                <a:latin typeface="Arial" panose="020B0604020202020204" pitchFamily="34" charset="0"/>
              </a:endParaRPr>
            </a:p>
          </p:txBody>
        </p:sp>
        <p:sp>
          <p:nvSpPr>
            <p:cNvPr id="8208" name="Rectangle 69"/>
            <p:cNvSpPr/>
            <p:nvPr/>
          </p:nvSpPr>
          <p:spPr>
            <a:xfrm>
              <a:off x="4110" y="3607"/>
              <a:ext cx="630" cy="365"/>
            </a:xfrm>
            <a:prstGeom prst="rect">
              <a:avLst/>
            </a:prstGeom>
            <a:noFill/>
            <a:ln w="28575">
              <a:noFill/>
            </a:ln>
          </p:spPr>
          <p:txBody>
            <a:bodyPr wrap="none" anchor="ctr" anchorCtr="0">
              <a:spAutoFit/>
            </a:bodyPr>
            <a:p>
              <a:r>
                <a:rPr lang="zh-CN" altLang="en-US" sz="3200" dirty="0">
                  <a:latin typeface="Arial" panose="020B0604020202020204" pitchFamily="34" charset="0"/>
                </a:rPr>
                <a:t>占有</a:t>
              </a:r>
              <a:endParaRPr lang="zh-CN" altLang="en-US" sz="3200" dirty="0">
                <a:latin typeface="Arial" panose="020B0604020202020204" pitchFamily="34" charset="0"/>
              </a:endParaRPr>
            </a:p>
          </p:txBody>
        </p:sp>
        <p:sp>
          <p:nvSpPr>
            <p:cNvPr id="8209" name="Lock"/>
            <p:cNvSpPr>
              <a:spLocks noEditPoints="1"/>
            </p:cNvSpPr>
            <p:nvPr/>
          </p:nvSpPr>
          <p:spPr>
            <a:xfrm>
              <a:off x="1837" y="1616"/>
              <a:ext cx="363" cy="420"/>
            </a:xfrm>
            <a:custGeom>
              <a:avLst/>
              <a:gdLst>
                <a:gd name="txL" fmla="*/ 774 w 21600"/>
                <a:gd name="txT" fmla="*/ 9926 h 21600"/>
                <a:gd name="txR" fmla="*/ 21124 w 21600"/>
                <a:gd name="txB" fmla="*/ 15326 h 21600"/>
              </a:gdLst>
              <a:ahLst/>
              <a:cxnLst>
                <a:cxn ang="0">
                  <a:pos x="0" y="0"/>
                </a:cxn>
                <a:cxn ang="0">
                  <a:pos x="0" y="0"/>
                </a:cxn>
                <a:cxn ang="0">
                  <a:pos x="0" y="0"/>
                </a:cxn>
                <a:cxn ang="0">
                  <a:pos x="0" y="0"/>
                </a:cxn>
              </a:cxnLst>
              <a:rect l="txL" t="txT" r="txR" b="txB"/>
              <a:pathLst>
                <a:path w="21600" h="2160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a:moveTo>
                    <a:pt x="93" y="9606"/>
                  </a:moveTo>
                  <a:lnTo>
                    <a:pt x="21600" y="9606"/>
                  </a:lnTo>
                  <a:close/>
                </a:path>
                <a:path w="21600" h="2160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cap="flat" cmpd="sng">
              <a:solidFill>
                <a:srgbClr val="000000"/>
              </a:solidFill>
              <a:prstDash val="solid"/>
              <a:miter/>
              <a:headEnd type="none" w="med" len="med"/>
              <a:tailEnd type="none" w="med" len="med"/>
            </a:ln>
          </p:spPr>
          <p:txBody>
            <a:bodyPr/>
            <a:p>
              <a:endParaRPr lang="zh-CN" altLang="zh-CN" dirty="0">
                <a:latin typeface="Arial" panose="020B0604020202020204" pitchFamily="34" charset="0"/>
              </a:endParaRPr>
            </a:p>
          </p:txBody>
        </p:sp>
        <p:sp>
          <p:nvSpPr>
            <p:cNvPr id="8210" name="Lock"/>
            <p:cNvSpPr>
              <a:spLocks noEditPoints="1"/>
            </p:cNvSpPr>
            <p:nvPr/>
          </p:nvSpPr>
          <p:spPr>
            <a:xfrm>
              <a:off x="3606" y="3022"/>
              <a:ext cx="363" cy="420"/>
            </a:xfrm>
            <a:custGeom>
              <a:avLst/>
              <a:gdLst>
                <a:gd name="txL" fmla="*/ 774 w 21600"/>
                <a:gd name="txT" fmla="*/ 9926 h 21600"/>
                <a:gd name="txR" fmla="*/ 21124 w 21600"/>
                <a:gd name="txB" fmla="*/ 15326 h 21600"/>
              </a:gdLst>
              <a:ahLst/>
              <a:cxnLst>
                <a:cxn ang="0">
                  <a:pos x="0" y="0"/>
                </a:cxn>
                <a:cxn ang="0">
                  <a:pos x="0" y="0"/>
                </a:cxn>
                <a:cxn ang="0">
                  <a:pos x="0" y="0"/>
                </a:cxn>
                <a:cxn ang="0">
                  <a:pos x="0" y="0"/>
                </a:cxn>
              </a:cxnLst>
              <a:rect l="txL" t="txT" r="txR" b="txB"/>
              <a:pathLst>
                <a:path w="21600" h="2160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a:moveTo>
                    <a:pt x="93" y="9606"/>
                  </a:moveTo>
                  <a:lnTo>
                    <a:pt x="21600" y="9606"/>
                  </a:lnTo>
                  <a:close/>
                </a:path>
                <a:path w="21600" h="2160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cap="flat" cmpd="sng">
              <a:solidFill>
                <a:srgbClr val="000000"/>
              </a:solidFill>
              <a:prstDash val="solid"/>
              <a:miter/>
              <a:headEnd type="none" w="med" len="med"/>
              <a:tailEnd type="none" w="med" len="med"/>
            </a:ln>
          </p:spPr>
          <p:txBody>
            <a:bodyPr/>
            <a:p>
              <a:endParaRPr lang="zh-CN" altLang="zh-CN" dirty="0">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1683" name="Rectangle 3"/>
          <p:cNvSpPr>
            <a:spLocks noGrp="1" noChangeArrowheads="1"/>
          </p:cNvSpPr>
          <p:nvPr>
            <p:ph type="body" sz="half" idx="1"/>
          </p:nvPr>
        </p:nvSpPr>
        <p:spPr>
          <a:xfrm>
            <a:off x="225425" y="1052513"/>
            <a:ext cx="8667750" cy="5543550"/>
          </a:xfrm>
        </p:spPr>
        <p:txBody>
          <a:bodyPr vert="horz" wrap="square" lIns="91440" tIns="45720" rIns="91440" bIns="45720" numCol="1" anchor="t" anchorCtr="0" compatLnSpc="1"/>
          <a:lstStyle/>
          <a:p>
            <a:pPr marL="441325" marR="0" lvl="0" indent="-4413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死锁的两类处理方法：</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1325" marR="0" lvl="0" indent="-441325" algn="l" defTabSz="914400" rtl="0" eaLnBrk="1" fontAlgn="base" latinLnBrk="0" hangingPunct="1">
              <a:lnSpc>
                <a:spcPct val="100000"/>
              </a:lnSpc>
              <a:spcBef>
                <a:spcPct val="3000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(1) </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死锁预防</a:t>
            </a:r>
            <a:endPar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441325" marR="0" lvl="0" indent="-441325" algn="l" defTabSz="914400" rtl="0" eaLnBrk="1" fontAlgn="base" latinLnBrk="0" hangingPunct="1">
              <a:lnSpc>
                <a:spcPct val="100000"/>
              </a:lnSpc>
              <a:spcBef>
                <a:spcPct val="30000"/>
              </a:spcBef>
              <a:spcAft>
                <a:spcPct val="0"/>
              </a:spcAft>
              <a:buClr>
                <a:srgbClr val="FF0000"/>
              </a:buClr>
              <a:buSzPct val="65000"/>
              <a:buFont typeface="Wingdings" panose="05000000000000000000" pitchFamily="2" charset="2"/>
              <a:buNone/>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保证系统不进入死锁状态</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1325" marR="0" lvl="0" indent="-441325" algn="l" defTabSz="914400" rtl="0" eaLnBrk="1" fontAlgn="base" latinLnBrk="0" hangingPunct="1">
              <a:lnSpc>
                <a:spcPct val="100000"/>
              </a:lnSpc>
              <a:spcBef>
                <a:spcPts val="180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(2) </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死锁</a:t>
            </a:r>
            <a:r>
              <a:rPr kumimoji="0" lang="zh-CN" altLang="en-US" sz="3600" b="1" i="0" u="none" strike="noStrike" kern="0" cap="none" spc="0" normalizeH="0" baseline="0" noProof="0" dirty="0" smtClean="0">
                <a:ln>
                  <a:noFill/>
                </a:ln>
                <a:solidFill>
                  <a:srgbClr val="0000CC"/>
                </a:solidFill>
                <a:effectLst/>
                <a:uLnTx/>
                <a:uFillTx/>
                <a:latin typeface="+mn-lt"/>
                <a:ea typeface="+mn-ea"/>
                <a:cs typeface="+mn-cs"/>
              </a:rPr>
              <a:t>的诊断与解除</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100000"/>
              </a:lnSpc>
              <a:spcBef>
                <a:spcPts val="1200"/>
              </a:spcBef>
              <a:spcAft>
                <a:spcPct val="0"/>
              </a:spcAft>
              <a:buClr>
                <a:srgbClr val="FF0000"/>
              </a:buClr>
              <a:buSzPct val="65000"/>
              <a:buFont typeface="Wingdings" panose="05000000000000000000" pitchFamily="2" charset="2"/>
              <a:buNone/>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当系统可能会进入死锁状态时，则应使用死锁</a:t>
            </a: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的诊断与解除</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机制来解决</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死锁预防</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0243" name="Rectangle 3"/>
          <p:cNvSpPr>
            <a:spLocks noGrp="1"/>
          </p:cNvSpPr>
          <p:nvPr>
            <p:ph type="body" sz="half" idx="1"/>
          </p:nvPr>
        </p:nvSpPr>
        <p:spPr>
          <a:xfrm>
            <a:off x="223838" y="1052513"/>
            <a:ext cx="8740775" cy="5473700"/>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en-US" altLang="zh-CN" dirty="0"/>
              <a:t>① </a:t>
            </a:r>
            <a:r>
              <a:rPr lang="zh-CN" altLang="en-US" dirty="0">
                <a:solidFill>
                  <a:srgbClr val="0000CC"/>
                </a:solidFill>
                <a:latin typeface="Arial" panose="020B0604020202020204" pitchFamily="34" charset="0"/>
              </a:rPr>
              <a:t>一次性封锁法</a:t>
            </a:r>
            <a:endParaRPr lang="zh-CN" altLang="en-US" dirty="0">
              <a:solidFill>
                <a:srgbClr val="0000CC"/>
              </a:solidFill>
              <a:latin typeface="Arial" panose="020B0604020202020204" pitchFamily="34" charset="0"/>
            </a:endParaRPr>
          </a:p>
          <a:p>
            <a:pPr marL="0" indent="0" eaLnBrk="1" hangingPunct="1">
              <a:spcBef>
                <a:spcPts val="1200"/>
              </a:spcBef>
              <a:buClr>
                <a:srgbClr val="FF0000"/>
              </a:buClr>
              <a:buSzPct val="65000"/>
              <a:buFont typeface="Wingdings" panose="05000000000000000000" pitchFamily="2" charset="2"/>
              <a:buNone/>
            </a:pPr>
            <a:r>
              <a:rPr lang="zh-CN" altLang="en-US" dirty="0">
                <a:latin typeface="Arial" panose="020B0604020202020204" pitchFamily="34" charset="0"/>
              </a:rPr>
              <a:t>        要求每个事务</a:t>
            </a:r>
            <a:r>
              <a:rPr lang="zh-CN" altLang="en-US" dirty="0"/>
              <a:t>必须一次将所有要使用的数据全部加锁，否则就不能继续执行</a:t>
            </a:r>
            <a:r>
              <a:rPr lang="zh-CN" altLang="en-US" dirty="0">
                <a:latin typeface="Arial" panose="020B0604020202020204" pitchFamily="34" charset="0"/>
              </a:rPr>
              <a:t>。</a:t>
            </a:r>
            <a:endParaRPr lang="zh-CN" altLang="en-US" dirty="0">
              <a:latin typeface="Arial" panose="020B0604020202020204" pitchFamily="34" charset="0"/>
            </a:endParaRPr>
          </a:p>
          <a:p>
            <a:pPr marL="0" indent="0" eaLnBrk="1" hangingPunct="1">
              <a:buClr>
                <a:srgbClr val="FF0000"/>
              </a:buClr>
              <a:buSzPct val="65000"/>
              <a:buFont typeface="Wingdings" panose="05000000000000000000" pitchFamily="2" charset="2"/>
              <a:buNone/>
            </a:pPr>
            <a:endParaRPr lang="zh-CN" altLang="en-US" dirty="0">
              <a:latin typeface="Arial" panose="020B0604020202020204" pitchFamily="34" charset="0"/>
            </a:endParaRPr>
          </a:p>
          <a:p>
            <a:pPr marL="0" indent="0" eaLnBrk="1" hangingPunct="1">
              <a:buClr>
                <a:srgbClr val="FF0000"/>
              </a:buClr>
              <a:buSzPct val="65000"/>
              <a:buFont typeface="Wingdings" panose="05000000000000000000" pitchFamily="2" charset="2"/>
              <a:buNone/>
            </a:pPr>
            <a:r>
              <a:rPr lang="zh-CN" altLang="en-US" dirty="0">
                <a:latin typeface="Arial" panose="020B0604020202020204" pitchFamily="34" charset="0"/>
              </a:rPr>
              <a:t>② </a:t>
            </a:r>
            <a:r>
              <a:rPr lang="zh-CN" altLang="en-US" dirty="0">
                <a:solidFill>
                  <a:srgbClr val="0000CC"/>
                </a:solidFill>
                <a:latin typeface="Arial" panose="020B0604020202020204" pitchFamily="34" charset="0"/>
              </a:rPr>
              <a:t>顺序封锁法</a:t>
            </a:r>
            <a:endParaRPr lang="zh-CN" altLang="en-US" dirty="0">
              <a:solidFill>
                <a:srgbClr val="0000CC"/>
              </a:solidFill>
              <a:latin typeface="Arial" panose="020B0604020202020204" pitchFamily="34" charset="0"/>
            </a:endParaRPr>
          </a:p>
          <a:p>
            <a:pPr marL="0" indent="0" eaLnBrk="1" hangingPunct="1">
              <a:spcBef>
                <a:spcPts val="1200"/>
              </a:spcBef>
              <a:buClr>
                <a:srgbClr val="FF0000"/>
              </a:buClr>
              <a:buSzPct val="65000"/>
              <a:buFont typeface="Wingdings" panose="05000000000000000000" pitchFamily="2" charset="2"/>
              <a:buNone/>
            </a:pPr>
            <a:r>
              <a:rPr lang="zh-CN" altLang="en-US" dirty="0">
                <a:latin typeface="Arial" panose="020B0604020202020204" pitchFamily="34" charset="0"/>
              </a:rPr>
              <a:t>        预先对数据对象规定一个封锁顺序，所有事务都按这个顺序实行封锁。</a:t>
            </a:r>
            <a:r>
              <a:rPr lang="zh-CN" altLang="en-US" dirty="0"/>
              <a:t>    </a:t>
            </a:r>
            <a:endParaRPr lang="zh-CN" altLang="en-US" dirty="0"/>
          </a:p>
        </p:txBody>
      </p:sp>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死锁的诊断与解除</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1267" name="Rectangle 3"/>
          <p:cNvSpPr>
            <a:spLocks noGrp="1"/>
          </p:cNvSpPr>
          <p:nvPr>
            <p:ph type="body" sz="half" idx="1"/>
          </p:nvPr>
        </p:nvSpPr>
        <p:spPr>
          <a:xfrm>
            <a:off x="223838" y="1052513"/>
            <a:ext cx="8740775" cy="5508625"/>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en-US" altLang="zh-CN" dirty="0"/>
              <a:t>① </a:t>
            </a:r>
            <a:r>
              <a:rPr lang="zh-CN" altLang="en-US" dirty="0">
                <a:solidFill>
                  <a:srgbClr val="0000CC"/>
                </a:solidFill>
                <a:latin typeface="Arial" panose="020B0604020202020204" pitchFamily="34" charset="0"/>
              </a:rPr>
              <a:t>死锁诊断（基于超时的方法）</a:t>
            </a:r>
            <a:endParaRPr lang="zh-CN" altLang="en-US" dirty="0">
              <a:solidFill>
                <a:srgbClr val="0000CC"/>
              </a:solidFill>
              <a:latin typeface="Arial" panose="020B0604020202020204" pitchFamily="34" charset="0"/>
            </a:endParaRPr>
          </a:p>
          <a:p>
            <a:pPr marL="0" indent="0" eaLnBrk="1" hangingPunct="1">
              <a:spcBef>
                <a:spcPct val="35000"/>
              </a:spcBef>
              <a:buClr>
                <a:srgbClr val="FF0000"/>
              </a:buClr>
              <a:buSzPct val="65000"/>
              <a:buFont typeface="Wingdings" panose="05000000000000000000" pitchFamily="2" charset="2"/>
              <a:buNone/>
            </a:pPr>
            <a:r>
              <a:rPr lang="zh-CN" altLang="en-US" dirty="0">
                <a:latin typeface="Arial" panose="020B0604020202020204" pitchFamily="34" charset="0"/>
              </a:rPr>
              <a:t>    当</a:t>
            </a:r>
            <a:r>
              <a:rPr lang="zh-CN" altLang="en-US" dirty="0">
                <a:solidFill>
                  <a:srgbClr val="FF0000"/>
                </a:solidFill>
                <a:latin typeface="Arial" panose="020B0604020202020204" pitchFamily="34" charset="0"/>
              </a:rPr>
              <a:t>等待时间</a:t>
            </a:r>
            <a:r>
              <a:rPr lang="zh-CN" altLang="en-US" dirty="0">
                <a:latin typeface="Arial" panose="020B0604020202020204" pitchFamily="34" charset="0"/>
              </a:rPr>
              <a:t> </a:t>
            </a:r>
            <a:r>
              <a:rPr lang="en-US" altLang="zh-CN" dirty="0">
                <a:solidFill>
                  <a:srgbClr val="FF0000"/>
                </a:solidFill>
                <a:latin typeface="Arial" panose="020B0604020202020204" pitchFamily="34" charset="0"/>
              </a:rPr>
              <a:t>&gt;</a:t>
            </a:r>
            <a:r>
              <a:rPr lang="en-US" altLang="zh-CN" dirty="0">
                <a:latin typeface="Arial" panose="020B0604020202020204" pitchFamily="34" charset="0"/>
              </a:rPr>
              <a:t> </a:t>
            </a:r>
            <a:r>
              <a:rPr lang="zh-CN" altLang="en-US" dirty="0">
                <a:solidFill>
                  <a:srgbClr val="FF0000"/>
                </a:solidFill>
                <a:latin typeface="Arial" panose="020B0604020202020204" pitchFamily="34" charset="0"/>
              </a:rPr>
              <a:t>规定时间</a:t>
            </a:r>
            <a:r>
              <a:rPr lang="zh-CN" altLang="en-US" dirty="0">
                <a:latin typeface="Arial" panose="020B0604020202020204" pitchFamily="34" charset="0"/>
              </a:rPr>
              <a:t>，则事务</a:t>
            </a:r>
            <a:r>
              <a:rPr lang="zh-CN" altLang="en-US" dirty="0">
                <a:solidFill>
                  <a:srgbClr val="FF0000"/>
                </a:solidFill>
                <a:latin typeface="Arial" panose="020B0604020202020204" pitchFamily="34" charset="0"/>
              </a:rPr>
              <a:t>回滚</a:t>
            </a:r>
            <a:r>
              <a:rPr lang="zh-CN" altLang="en-US" dirty="0">
                <a:latin typeface="Arial" panose="020B0604020202020204" pitchFamily="34" charset="0"/>
              </a:rPr>
              <a:t>并重启。</a:t>
            </a:r>
            <a:endParaRPr lang="zh-CN" altLang="en-US" dirty="0">
              <a:latin typeface="Arial" panose="020B0604020202020204" pitchFamily="34" charset="0"/>
            </a:endParaRPr>
          </a:p>
          <a:p>
            <a:pPr marL="0" indent="0" eaLnBrk="1" hangingPunct="1">
              <a:spcBef>
                <a:spcPct val="35000"/>
              </a:spcBef>
              <a:buClr>
                <a:srgbClr val="FF0000"/>
              </a:buClr>
              <a:buSzPct val="65000"/>
              <a:buFont typeface="Wingdings" panose="05000000000000000000" pitchFamily="2" charset="2"/>
              <a:buNone/>
            </a:pPr>
            <a:endParaRPr lang="zh-CN" altLang="en-US" sz="1800" dirty="0">
              <a:latin typeface="Arial" panose="020B0604020202020204" pitchFamily="34" charset="0"/>
            </a:endParaRPr>
          </a:p>
          <a:p>
            <a:pPr marL="0" indent="0" eaLnBrk="1" hangingPunct="1">
              <a:buClr>
                <a:srgbClr val="FF0000"/>
              </a:buClr>
              <a:buSzPct val="65000"/>
              <a:buFont typeface="Wingdings" panose="05000000000000000000" pitchFamily="2" charset="2"/>
              <a:buNone/>
            </a:pPr>
            <a:r>
              <a:rPr lang="zh-CN" altLang="en-US" dirty="0"/>
              <a:t>    </a:t>
            </a:r>
            <a:r>
              <a:rPr lang="zh-CN" altLang="en-US" dirty="0">
                <a:solidFill>
                  <a:srgbClr val="0000CC"/>
                </a:solidFill>
              </a:rPr>
              <a:t>优点</a:t>
            </a:r>
            <a:r>
              <a:rPr lang="zh-CN" altLang="en-US" dirty="0"/>
              <a:t>：实现简单</a:t>
            </a:r>
            <a:endParaRPr lang="zh-CN" altLang="en-US" dirty="0"/>
          </a:p>
          <a:p>
            <a:pPr marL="0" indent="0" eaLnBrk="1" hangingPunct="1">
              <a:buClr>
                <a:srgbClr val="FF0000"/>
              </a:buClr>
              <a:buSzPct val="65000"/>
              <a:buFont typeface="Wingdings" panose="05000000000000000000" pitchFamily="2" charset="2"/>
              <a:buNone/>
            </a:pPr>
            <a:r>
              <a:rPr lang="zh-CN" altLang="en-US" dirty="0"/>
              <a:t>    </a:t>
            </a:r>
            <a:r>
              <a:rPr lang="zh-CN" altLang="en-US" dirty="0">
                <a:solidFill>
                  <a:srgbClr val="0000CC"/>
                </a:solidFill>
              </a:rPr>
              <a:t>缺点</a:t>
            </a:r>
            <a:r>
              <a:rPr lang="zh-CN" altLang="en-US" dirty="0"/>
              <a:t>：</a:t>
            </a:r>
            <a:endParaRPr lang="zh-CN" altLang="en-US" dirty="0"/>
          </a:p>
          <a:p>
            <a:pPr marL="814705" lvl="1" indent="-365125" eaLnBrk="1" hangingPunct="1">
              <a:spcBef>
                <a:spcPct val="0"/>
              </a:spcBef>
              <a:buClr>
                <a:srgbClr val="0000CC"/>
              </a:buClr>
              <a:buSzPct val="65000"/>
              <a:buFont typeface="Wingdings" panose="05000000000000000000" pitchFamily="2" charset="2"/>
            </a:pPr>
            <a:r>
              <a:rPr lang="zh-CN" altLang="en-US" sz="3600" dirty="0"/>
              <a:t>有可能误判死锁</a:t>
            </a:r>
            <a:endParaRPr lang="zh-CN" altLang="en-US" sz="3600" dirty="0"/>
          </a:p>
          <a:p>
            <a:pPr marL="814705" lvl="1" indent="-365125" eaLnBrk="1" hangingPunct="1">
              <a:spcBef>
                <a:spcPct val="0"/>
              </a:spcBef>
              <a:buClr>
                <a:srgbClr val="0000CC"/>
              </a:buClr>
              <a:buSzPct val="65000"/>
              <a:buFont typeface="Wingdings" panose="05000000000000000000" pitchFamily="2" charset="2"/>
            </a:pPr>
            <a:r>
              <a:rPr lang="zh-CN" altLang="en-US" sz="3600" dirty="0"/>
              <a:t>时限若设置得太长，死锁发生后不能及时发现。</a:t>
            </a:r>
            <a:endParaRPr lang="zh-CN" altLang="en-US" sz="3600" dirty="0"/>
          </a:p>
        </p:txBody>
      </p:sp>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死锁的诊断与解除</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5779" name="Rectangle 3"/>
          <p:cNvSpPr>
            <a:spLocks noGrp="1"/>
          </p:cNvSpPr>
          <p:nvPr>
            <p:ph type="body" sz="half" idx="1"/>
          </p:nvPr>
        </p:nvSpPr>
        <p:spPr>
          <a:xfrm>
            <a:off x="250825" y="1052513"/>
            <a:ext cx="8750300" cy="5473700"/>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en-US" altLang="zh-CN" dirty="0"/>
              <a:t>② </a:t>
            </a:r>
            <a:r>
              <a:rPr lang="zh-CN" altLang="en-US" dirty="0">
                <a:solidFill>
                  <a:srgbClr val="0000CC"/>
                </a:solidFill>
                <a:latin typeface="Arial" panose="020B0604020202020204" pitchFamily="34" charset="0"/>
              </a:rPr>
              <a:t>死锁诊断（等待图法）</a:t>
            </a:r>
            <a:endParaRPr lang="zh-CN" altLang="en-US" dirty="0">
              <a:solidFill>
                <a:srgbClr val="0000CC"/>
              </a:solidFill>
              <a:latin typeface="Arial" panose="020B0604020202020204" pitchFamily="34" charset="0"/>
            </a:endParaRPr>
          </a:p>
          <a:p>
            <a:pPr marL="0" indent="0" eaLnBrk="1" hangingPunct="1">
              <a:spcBef>
                <a:spcPts val="600"/>
              </a:spcBef>
              <a:buClr>
                <a:srgbClr val="FF0000"/>
              </a:buClr>
              <a:buSzPct val="65000"/>
              <a:buFont typeface="Wingdings" panose="05000000000000000000" pitchFamily="2" charset="2"/>
              <a:buNone/>
            </a:pPr>
            <a:r>
              <a:rPr lang="zh-CN" altLang="en-US" dirty="0">
                <a:latin typeface="Arial" panose="020B0604020202020204" pitchFamily="34" charset="0"/>
              </a:rPr>
              <a:t>    </a:t>
            </a:r>
            <a:r>
              <a:rPr lang="zh-CN" altLang="en-US" sz="3200" dirty="0"/>
              <a:t>用事务等待图动态反映所有事务的等待情况：</a:t>
            </a:r>
            <a:endParaRPr lang="zh-CN" altLang="en-US" sz="2800" dirty="0"/>
          </a:p>
          <a:p>
            <a:pPr marL="449580" lvl="1" indent="-355600" eaLnBrk="1" hangingPunct="1">
              <a:spcBef>
                <a:spcPts val="400"/>
              </a:spcBef>
              <a:buClr>
                <a:srgbClr val="0000CC"/>
              </a:buClr>
              <a:buSzPct val="65000"/>
              <a:buFont typeface="Wingdings" panose="05000000000000000000" pitchFamily="2" charset="2"/>
            </a:pPr>
            <a:r>
              <a:rPr lang="zh-CN" altLang="en-US" dirty="0">
                <a:latin typeface="Arial" panose="020B0604020202020204" pitchFamily="34" charset="0"/>
              </a:rPr>
              <a:t>是一个有向图 </a:t>
            </a:r>
            <a:r>
              <a:rPr lang="en-US" altLang="zh-CN" dirty="0">
                <a:latin typeface="Arial" panose="020B0604020202020204" pitchFamily="34" charset="0"/>
              </a:rPr>
              <a:t>G =(T, U)</a:t>
            </a:r>
            <a:endParaRPr lang="en-US" altLang="zh-CN" dirty="0">
              <a:latin typeface="Arial" panose="020B0604020202020204" pitchFamily="34" charset="0"/>
            </a:endParaRPr>
          </a:p>
          <a:p>
            <a:pPr marL="449580" lvl="1" indent="-355600" eaLnBrk="1" hangingPunct="1">
              <a:spcBef>
                <a:spcPts val="400"/>
              </a:spcBef>
              <a:buClr>
                <a:srgbClr val="0000CC"/>
              </a:buClr>
              <a:buSzPct val="65000"/>
              <a:buFont typeface="Wingdings" panose="05000000000000000000" pitchFamily="2" charset="2"/>
            </a:pPr>
            <a:r>
              <a:rPr lang="en-US" altLang="zh-CN" dirty="0">
                <a:latin typeface="Arial" panose="020B0604020202020204" pitchFamily="34" charset="0"/>
              </a:rPr>
              <a:t>T</a:t>
            </a:r>
            <a:r>
              <a:rPr lang="zh-CN" altLang="en-US" dirty="0">
                <a:latin typeface="Arial" panose="020B0604020202020204" pitchFamily="34" charset="0"/>
              </a:rPr>
              <a:t>为结点的集合，每个结点表示正运行的事务</a:t>
            </a:r>
            <a:endParaRPr lang="zh-CN" altLang="en-US" dirty="0">
              <a:latin typeface="Arial" panose="020B0604020202020204" pitchFamily="34" charset="0"/>
            </a:endParaRPr>
          </a:p>
          <a:p>
            <a:pPr marL="449580" lvl="1" indent="-355600" eaLnBrk="1" hangingPunct="1">
              <a:spcBef>
                <a:spcPts val="400"/>
              </a:spcBef>
              <a:buClr>
                <a:srgbClr val="0000CC"/>
              </a:buClr>
              <a:buSzPct val="65000"/>
              <a:buFont typeface="Wingdings" panose="05000000000000000000" pitchFamily="2" charset="2"/>
            </a:pPr>
            <a:r>
              <a:rPr lang="en-US" altLang="zh-CN" dirty="0">
                <a:latin typeface="Arial" panose="020B0604020202020204" pitchFamily="34" charset="0"/>
              </a:rPr>
              <a:t>U </a:t>
            </a:r>
            <a:r>
              <a:rPr lang="zh-CN" altLang="en-US" dirty="0">
                <a:latin typeface="Arial" panose="020B0604020202020204" pitchFamily="34" charset="0"/>
              </a:rPr>
              <a:t>为边的集合，每条边表示事务等待的情况</a:t>
            </a:r>
            <a:endParaRPr lang="zh-CN" altLang="en-US" dirty="0">
              <a:latin typeface="Arial" panose="020B0604020202020204" pitchFamily="34" charset="0"/>
            </a:endParaRPr>
          </a:p>
          <a:p>
            <a:pPr marL="449580" lvl="1" indent="-355600" eaLnBrk="1" hangingPunct="1">
              <a:spcBef>
                <a:spcPts val="400"/>
              </a:spcBef>
              <a:buClr>
                <a:srgbClr val="0000CC"/>
              </a:buClr>
              <a:buSzPct val="65000"/>
              <a:buFont typeface="Wingdings" panose="05000000000000000000" pitchFamily="2" charset="2"/>
            </a:pPr>
            <a:r>
              <a:rPr lang="zh-CN" altLang="en-US" dirty="0">
                <a:latin typeface="Arial" panose="020B0604020202020204" pitchFamily="34" charset="0"/>
              </a:rPr>
              <a:t>若 </a:t>
            </a:r>
            <a:r>
              <a:rPr lang="en-US" altLang="zh-CN" dirty="0">
                <a:latin typeface="Arial" panose="020B0604020202020204" pitchFamily="34" charset="0"/>
              </a:rPr>
              <a:t>T</a:t>
            </a:r>
            <a:r>
              <a:rPr lang="en-US" altLang="zh-CN" i="1" baseline="-14000" dirty="0"/>
              <a:t>i </a:t>
            </a:r>
            <a:r>
              <a:rPr lang="zh-CN" altLang="en-US" dirty="0">
                <a:latin typeface="Arial" panose="020B0604020202020204" pitchFamily="34" charset="0"/>
              </a:rPr>
              <a:t>等待 </a:t>
            </a:r>
            <a:r>
              <a:rPr lang="en-US" altLang="zh-CN" dirty="0">
                <a:latin typeface="Arial" panose="020B0604020202020204" pitchFamily="34" charset="0"/>
              </a:rPr>
              <a:t>T</a:t>
            </a:r>
            <a:r>
              <a:rPr lang="en-US" altLang="zh-CN" i="1" baseline="-14000" dirty="0"/>
              <a:t>j </a:t>
            </a:r>
            <a:r>
              <a:rPr lang="zh-CN" altLang="en-US" dirty="0">
                <a:latin typeface="Arial" panose="020B0604020202020204" pitchFamily="34" charset="0"/>
              </a:rPr>
              <a:t>，则 </a:t>
            </a:r>
            <a:r>
              <a:rPr lang="en-US" altLang="zh-CN" dirty="0">
                <a:latin typeface="Arial" panose="020B0604020202020204" pitchFamily="34" charset="0"/>
              </a:rPr>
              <a:t>T</a:t>
            </a:r>
            <a:r>
              <a:rPr lang="en-US" altLang="zh-CN" i="1" baseline="-14000" dirty="0"/>
              <a:t>i</a:t>
            </a:r>
            <a:r>
              <a:rPr lang="zh-CN" altLang="en-US" dirty="0">
                <a:latin typeface="Arial" panose="020B0604020202020204" pitchFamily="34" charset="0"/>
              </a:rPr>
              <a:t>，</a:t>
            </a:r>
            <a:r>
              <a:rPr lang="en-US" altLang="zh-CN" dirty="0">
                <a:latin typeface="Arial" panose="020B0604020202020204" pitchFamily="34" charset="0"/>
              </a:rPr>
              <a:t>T</a:t>
            </a:r>
            <a:r>
              <a:rPr lang="en-US" altLang="zh-CN" i="1" baseline="-14000" dirty="0"/>
              <a:t>j </a:t>
            </a:r>
            <a:r>
              <a:rPr lang="zh-CN" altLang="en-US" dirty="0">
                <a:latin typeface="Arial" panose="020B0604020202020204" pitchFamily="34" charset="0"/>
              </a:rPr>
              <a:t>之间画一条有向边，从</a:t>
            </a:r>
            <a:r>
              <a:rPr lang="en-US" altLang="zh-CN" dirty="0">
                <a:latin typeface="Arial" panose="020B0604020202020204" pitchFamily="34" charset="0"/>
              </a:rPr>
              <a:t>T</a:t>
            </a:r>
            <a:r>
              <a:rPr lang="en-US" altLang="zh-CN" i="1" baseline="-14000" dirty="0"/>
              <a:t>i </a:t>
            </a:r>
            <a:r>
              <a:rPr lang="zh-CN" altLang="en-US" dirty="0">
                <a:latin typeface="Arial" panose="020B0604020202020204" pitchFamily="34" charset="0"/>
              </a:rPr>
              <a:t>指向 </a:t>
            </a:r>
            <a:r>
              <a:rPr lang="en-US" altLang="zh-CN" dirty="0">
                <a:latin typeface="Arial" panose="020B0604020202020204" pitchFamily="34" charset="0"/>
              </a:rPr>
              <a:t>T</a:t>
            </a:r>
            <a:r>
              <a:rPr lang="en-US" altLang="zh-CN" i="1" baseline="-14000" dirty="0"/>
              <a:t>j</a:t>
            </a:r>
            <a:r>
              <a:rPr lang="zh-CN" altLang="en-US" dirty="0">
                <a:latin typeface="Arial" panose="020B0604020202020204" pitchFamily="34" charset="0"/>
              </a:rPr>
              <a:t>。</a:t>
            </a:r>
            <a:endParaRPr lang="zh-CN" altLang="en-US" dirty="0">
              <a:latin typeface="Arial" panose="020B0604020202020204" pitchFamily="34" charset="0"/>
            </a:endParaRPr>
          </a:p>
          <a:p>
            <a:pPr marL="0" indent="0" eaLnBrk="1" hangingPunct="1">
              <a:spcBef>
                <a:spcPts val="600"/>
              </a:spcBef>
              <a:buClr>
                <a:srgbClr val="FF0000"/>
              </a:buClr>
              <a:buSzPct val="65000"/>
              <a:buFont typeface="Wingdings" panose="05000000000000000000" pitchFamily="2" charset="2"/>
              <a:buNone/>
            </a:pPr>
            <a:r>
              <a:rPr lang="zh-CN" altLang="en-US" dirty="0">
                <a:latin typeface="Arial" panose="020B0604020202020204" pitchFamily="34" charset="0"/>
              </a:rPr>
              <a:t>        </a:t>
            </a:r>
            <a:r>
              <a:rPr lang="zh-CN" altLang="en-US" dirty="0">
                <a:solidFill>
                  <a:srgbClr val="0000CC"/>
                </a:solidFill>
                <a:latin typeface="Arial" panose="020B0604020202020204" pitchFamily="34" charset="0"/>
              </a:rPr>
              <a:t>当且仅当等待图中存在</a:t>
            </a:r>
            <a:r>
              <a:rPr lang="zh-CN" altLang="en-US" dirty="0">
                <a:solidFill>
                  <a:srgbClr val="FF0000"/>
                </a:solidFill>
                <a:latin typeface="Arial" panose="020B0604020202020204" pitchFamily="34" charset="0"/>
              </a:rPr>
              <a:t>环</a:t>
            </a:r>
            <a:r>
              <a:rPr lang="zh-CN" altLang="en-US" dirty="0">
                <a:solidFill>
                  <a:srgbClr val="0000CC"/>
                </a:solidFill>
                <a:latin typeface="Arial" panose="020B0604020202020204" pitchFamily="34" charset="0"/>
              </a:rPr>
              <a:t>时，系统中存在死锁。</a:t>
            </a:r>
            <a:endParaRPr lang="zh-CN" altLang="en-US" dirty="0">
              <a:solidFill>
                <a:srgbClr val="0000CC"/>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xEl>
                                              <p:charRg st="13" end="38"/>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779">
                                            <p:txEl>
                                              <p:charRg st="38" end="5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779">
                                            <p:txEl>
                                              <p:charRg st="55" end="7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779">
                                            <p:txEl>
                                              <p:charRg st="76" end="9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779">
                                            <p:txEl>
                                              <p:charRg st="97" end="13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779">
                                            <p:txEl>
                                              <p:charRg st="137" end="16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死锁的诊断与解除</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7827" name="Rectangle 3"/>
          <p:cNvSpPr>
            <a:spLocks noGrp="1"/>
          </p:cNvSpPr>
          <p:nvPr>
            <p:ph type="body" sz="half" idx="1"/>
          </p:nvPr>
        </p:nvSpPr>
        <p:spPr>
          <a:xfrm>
            <a:off x="225425" y="1052513"/>
            <a:ext cx="8667750" cy="5473700"/>
          </a:xfrm>
        </p:spPr>
        <p:txBody>
          <a:bodyPr vert="horz" wrap="square" lIns="91440" tIns="45720" rIns="91440" bIns="45720" anchor="t" anchorCtr="0"/>
          <a:p>
            <a:pPr marL="357505" indent="-357505" eaLnBrk="1" hangingPunct="1">
              <a:buClr>
                <a:srgbClr val="FF0000"/>
              </a:buClr>
              <a:buSzPct val="65000"/>
              <a:buFont typeface="Wingdings" panose="05000000000000000000" pitchFamily="2" charset="2"/>
              <a:buNone/>
            </a:pPr>
            <a:r>
              <a:rPr lang="en-US" altLang="zh-CN" dirty="0"/>
              <a:t>③ </a:t>
            </a:r>
            <a:r>
              <a:rPr lang="zh-CN" altLang="en-US" dirty="0">
                <a:solidFill>
                  <a:srgbClr val="0000CC"/>
                </a:solidFill>
                <a:latin typeface="Arial" panose="020B0604020202020204" pitchFamily="34" charset="0"/>
              </a:rPr>
              <a:t>死锁解除</a:t>
            </a:r>
            <a:endParaRPr lang="zh-CN" altLang="en-US" dirty="0">
              <a:latin typeface="Arial" panose="020B0604020202020204" pitchFamily="34" charset="0"/>
            </a:endParaRPr>
          </a:p>
          <a:p>
            <a:pPr marL="357505" indent="-357505" eaLnBrk="1" hangingPunct="1">
              <a:spcBef>
                <a:spcPct val="30000"/>
              </a:spcBef>
              <a:buClr>
                <a:srgbClr val="FF0000"/>
              </a:buClr>
              <a:buSzPct val="65000"/>
              <a:buFont typeface="Wingdings" panose="05000000000000000000" pitchFamily="2" charset="2"/>
            </a:pPr>
            <a:r>
              <a:rPr lang="zh-CN" altLang="en-US" dirty="0">
                <a:solidFill>
                  <a:srgbClr val="0000CC"/>
                </a:solidFill>
                <a:latin typeface="Arial" panose="020B0604020202020204" pitchFamily="34" charset="0"/>
              </a:rPr>
              <a:t>选择牺牲者</a:t>
            </a:r>
            <a:r>
              <a:rPr lang="zh-CN" altLang="en-US" dirty="0">
                <a:latin typeface="Arial" panose="020B0604020202020204" pitchFamily="34" charset="0"/>
              </a:rPr>
              <a:t>：选择回滚代价最小的事务</a:t>
            </a:r>
            <a:endParaRPr lang="zh-CN" altLang="en-US" dirty="0">
              <a:latin typeface="Arial" panose="020B0604020202020204" pitchFamily="34" charset="0"/>
            </a:endParaRPr>
          </a:p>
          <a:p>
            <a:pPr marL="357505" indent="-357505" eaLnBrk="1" hangingPunct="1">
              <a:spcBef>
                <a:spcPct val="30000"/>
              </a:spcBef>
              <a:buClr>
                <a:srgbClr val="FF0000"/>
              </a:buClr>
              <a:buSzPct val="65000"/>
              <a:buFont typeface="Wingdings" panose="05000000000000000000" pitchFamily="2" charset="2"/>
            </a:pPr>
            <a:r>
              <a:rPr lang="zh-CN" altLang="en-US" dirty="0">
                <a:solidFill>
                  <a:srgbClr val="0000CC"/>
                </a:solidFill>
                <a:latin typeface="Arial" panose="020B0604020202020204" pitchFamily="34" charset="0"/>
              </a:rPr>
              <a:t>回滚</a:t>
            </a:r>
            <a:r>
              <a:rPr lang="zh-CN" altLang="en-US" dirty="0">
                <a:latin typeface="Arial" panose="020B0604020202020204" pitchFamily="34" charset="0"/>
              </a:rPr>
              <a:t>：</a:t>
            </a:r>
            <a:endParaRPr lang="zh-CN" altLang="en-US" dirty="0">
              <a:latin typeface="Arial" panose="020B0604020202020204" pitchFamily="34" charset="0"/>
            </a:endParaRPr>
          </a:p>
          <a:p>
            <a:pPr marL="900430" lvl="1" indent="-363855" eaLnBrk="1" hangingPunct="1">
              <a:spcBef>
                <a:spcPct val="0"/>
              </a:spcBef>
              <a:buClr>
                <a:srgbClr val="0000CC"/>
              </a:buClr>
              <a:buSzPct val="65000"/>
              <a:buFont typeface="Wingdings" panose="05000000000000000000" pitchFamily="2" charset="2"/>
            </a:pPr>
            <a:r>
              <a:rPr lang="zh-CN" altLang="en-US" dirty="0">
                <a:latin typeface="Arial" panose="020B0604020202020204" pitchFamily="34" charset="0"/>
              </a:rPr>
              <a:t>全部回滚，重新开始事务</a:t>
            </a:r>
            <a:endParaRPr lang="zh-CN" altLang="en-US" dirty="0">
              <a:latin typeface="Arial" panose="020B0604020202020204" pitchFamily="34" charset="0"/>
            </a:endParaRPr>
          </a:p>
          <a:p>
            <a:pPr marL="900430" lvl="1" indent="-363855" eaLnBrk="1" hangingPunct="1">
              <a:spcBef>
                <a:spcPct val="0"/>
              </a:spcBef>
              <a:buClr>
                <a:srgbClr val="0000CC"/>
              </a:buClr>
              <a:buSzPct val="65000"/>
              <a:buFont typeface="Wingdings" panose="05000000000000000000" pitchFamily="2" charset="2"/>
            </a:pPr>
            <a:r>
              <a:rPr lang="zh-CN" altLang="en-US" dirty="0">
                <a:latin typeface="Arial" panose="020B0604020202020204" pitchFamily="34" charset="0"/>
              </a:rPr>
              <a:t>部分回滚，只将事务回滚到可以解除死锁处，而不终止该事务</a:t>
            </a:r>
            <a:endParaRPr lang="zh-CN" altLang="en-US" dirty="0">
              <a:latin typeface="Arial" panose="020B0604020202020204" pitchFamily="34" charset="0"/>
            </a:endParaRPr>
          </a:p>
          <a:p>
            <a:pPr marL="357505" indent="-357505" eaLnBrk="1" hangingPunct="1">
              <a:spcBef>
                <a:spcPct val="30000"/>
              </a:spcBef>
              <a:buClr>
                <a:srgbClr val="FF0000"/>
              </a:buClr>
              <a:buSzPct val="65000"/>
              <a:buFont typeface="Wingdings" panose="05000000000000000000" pitchFamily="2" charset="2"/>
            </a:pPr>
            <a:r>
              <a:rPr lang="zh-CN" altLang="en-US" dirty="0">
                <a:solidFill>
                  <a:srgbClr val="0000CC"/>
                </a:solidFill>
                <a:latin typeface="Arial" panose="020B0604020202020204" pitchFamily="34" charset="0"/>
              </a:rPr>
              <a:t>避免饿死</a:t>
            </a:r>
            <a:r>
              <a:rPr lang="zh-CN" altLang="en-US" dirty="0">
                <a:latin typeface="Arial" panose="020B0604020202020204" pitchFamily="34" charset="0"/>
              </a:rPr>
              <a:t>：当某一事务总是被选为牺牲者时，有可能发生饿死。</a:t>
            </a:r>
            <a:endParaRPr lang="zh-CN" altLang="en-US" sz="3200" b="0" dirty="0">
              <a:latin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xEl>
                                              <p:charRg st="7" end="2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827">
                                            <p:txEl>
                                              <p:charRg st="25" end="2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827">
                                            <p:txEl>
                                              <p:charRg st="29" end="4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827">
                                            <p:txEl>
                                              <p:charRg st="41" end="6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7827">
                                            <p:txEl>
                                              <p:charRg st="69" end="9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8274"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、饿死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p:cNvSpPr>
          <p:nvPr>
            <p:ph type="body" sz="half" idx="1"/>
          </p:nvPr>
        </p:nvSpPr>
        <p:spPr>
          <a:xfrm>
            <a:off x="223838" y="944563"/>
            <a:ext cx="8740775" cy="5653087"/>
          </a:xfrm>
        </p:spPr>
        <p:txBody>
          <a:bodyPr vert="horz" wrap="square" lIns="91440" tIns="45720" rIns="91440" bIns="45720" anchor="t" anchorCtr="0"/>
          <a:p>
            <a:pPr marL="1336675" indent="-1336675" eaLnBrk="1" hangingPunct="1">
              <a:buClr>
                <a:srgbClr val="FF0000"/>
              </a:buClr>
              <a:buSzPct val="65000"/>
              <a:buFont typeface="Wingdings" panose="05000000000000000000" pitchFamily="2" charset="2"/>
              <a:buNone/>
            </a:pPr>
            <a:r>
              <a:rPr lang="zh-CN" altLang="en-US" dirty="0">
                <a:solidFill>
                  <a:srgbClr val="0000CC"/>
                </a:solidFill>
                <a:latin typeface="Arial" panose="020B0604020202020204" pitchFamily="34" charset="0"/>
              </a:rPr>
              <a:t>饿死</a:t>
            </a:r>
            <a:r>
              <a:rPr lang="zh-CN" altLang="en-US" dirty="0">
                <a:latin typeface="Arial" panose="020B0604020202020204" pitchFamily="34" charset="0"/>
              </a:rPr>
              <a:t>：一个事务长时间等待其他事务解锁而不能正常执行的状态。</a:t>
            </a:r>
            <a:endParaRPr lang="zh-CN" altLang="en-US" dirty="0">
              <a:latin typeface="Arial" panose="020B0604020202020204" pitchFamily="34" charset="0"/>
            </a:endParaRPr>
          </a:p>
        </p:txBody>
      </p:sp>
      <p:graphicFrame>
        <p:nvGraphicFramePr>
          <p:cNvPr id="14340" name="内容占位符 14339"/>
          <p:cNvGraphicFramePr/>
          <p:nvPr>
            <p:ph sz="half" idx="2"/>
          </p:nvPr>
        </p:nvGraphicFramePr>
        <p:xfrm>
          <a:off x="755650" y="2205038"/>
          <a:ext cx="7920038" cy="4449763"/>
        </p:xfrm>
        <a:graphic>
          <a:graphicData uri="http://schemas.openxmlformats.org/drawingml/2006/table">
            <a:tbl>
              <a:tblPr/>
              <a:tblGrid>
                <a:gridCol w="1979613"/>
                <a:gridCol w="1981200"/>
                <a:gridCol w="1979612"/>
                <a:gridCol w="1979613"/>
              </a:tblGrid>
              <a:tr h="517525">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FFDD"/>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DDDD"/>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3</a:t>
                      </a:r>
                      <a:endParaRPr lang="en-US" altLang="zh-CN" sz="2800" baseline="-25000" dirty="0">
                        <a:solidFill>
                          <a:srgbClr val="0000CC"/>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A3"/>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4</a:t>
                      </a:r>
                      <a:endParaRPr lang="en-US" altLang="zh-CN" sz="2800" baseline="-25000" dirty="0">
                        <a:solidFill>
                          <a:srgbClr val="0000CC"/>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tr>
              <a:tr h="3932238">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Unlock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FFDD"/>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DDDD"/>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Unlock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A3"/>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zh-CN" altLang="en-US" sz="2800" dirty="0">
                          <a:latin typeface="Arial" panose="020B0604020202020204" pitchFamily="34" charset="0"/>
                        </a:rPr>
                        <a:t>等待</a:t>
                      </a:r>
                      <a:endParaRPr lang="zh-CN" altLang="en-US"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XLock A</a:t>
                      </a:r>
                      <a:endParaRPr lang="en-US" altLang="zh-CN" sz="2800" dirty="0">
                        <a:latin typeface="Arial" panose="020B0604020202020204" pitchFamily="34" charset="0"/>
                      </a:endParaRPr>
                    </a:p>
                    <a:p>
                      <a:pPr lvl="0" eaLnBrk="1" hangingPunct="1">
                        <a:spcBef>
                          <a:spcPct val="0"/>
                        </a:spcBef>
                        <a:buClr>
                          <a:srgbClr val="FF0000"/>
                        </a:buClr>
                        <a:buSzPct val="65000"/>
                        <a:buFont typeface="Wingdings" panose="05000000000000000000" pitchFamily="2" charset="2"/>
                        <a:buNone/>
                      </a:pPr>
                      <a:r>
                        <a:rPr lang="en-US" altLang="zh-CN" sz="2800" dirty="0">
                          <a:latin typeface="Arial" panose="020B0604020202020204" pitchFamily="34" charset="0"/>
                        </a:rPr>
                        <a:t>.</a:t>
                      </a:r>
                      <a:endParaRPr lang="en-US" altLang="zh-CN" sz="2800" dirty="0">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如何避免</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饿死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9459" name="Rectangle 3"/>
          <p:cNvSpPr>
            <a:spLocks noGrp="1"/>
          </p:cNvSpPr>
          <p:nvPr>
            <p:ph type="body" sz="half" idx="1"/>
          </p:nvPr>
        </p:nvSpPr>
        <p:spPr>
          <a:xfrm>
            <a:off x="179388" y="1052513"/>
            <a:ext cx="8667750" cy="5472112"/>
          </a:xfrm>
        </p:spPr>
        <p:txBody>
          <a:bodyPr vert="horz" wrap="square" lIns="91440" tIns="45720" rIns="91440" bIns="45720" anchor="t" anchorCtr="0"/>
          <a:p>
            <a:pPr marL="352425" indent="-352425" eaLnBrk="1" hangingPunct="1">
              <a:lnSpc>
                <a:spcPct val="120000"/>
              </a:lnSpc>
              <a:buClr>
                <a:srgbClr val="FF0000"/>
              </a:buClr>
              <a:buSzPct val="65000"/>
              <a:buFont typeface="Wingdings" panose="05000000000000000000" pitchFamily="2" charset="2"/>
            </a:pPr>
            <a:r>
              <a:rPr lang="zh-CN" altLang="en-US" dirty="0">
                <a:latin typeface="宋体" panose="02010600030101010101" pitchFamily="2" charset="-122"/>
              </a:rPr>
              <a:t>当多个事务请求封锁同一数据对象时</a:t>
            </a:r>
            <a:endParaRPr lang="zh-CN" altLang="en-US" dirty="0">
              <a:latin typeface="宋体" panose="02010600030101010101" pitchFamily="2" charset="-122"/>
            </a:endParaRPr>
          </a:p>
          <a:p>
            <a:pPr marL="894080" lvl="1" indent="-361950" algn="just" eaLnBrk="1" hangingPunct="1">
              <a:spcBef>
                <a:spcPct val="50000"/>
              </a:spcBef>
              <a:buClr>
                <a:srgbClr val="0000CC"/>
              </a:buClr>
              <a:buSzPct val="65000"/>
              <a:buFont typeface="Wingdings" panose="05000000000000000000" pitchFamily="2" charset="2"/>
            </a:pPr>
            <a:r>
              <a:rPr lang="zh-CN" altLang="en-US" dirty="0">
                <a:latin typeface="宋体" panose="02010600030101010101" pitchFamily="2" charset="-122"/>
              </a:rPr>
              <a:t>按请求封锁的先后次序对这些事务排队</a:t>
            </a:r>
            <a:endParaRPr lang="zh-CN" altLang="en-US" dirty="0">
              <a:latin typeface="宋体" panose="02010600030101010101" pitchFamily="2" charset="-122"/>
            </a:endParaRPr>
          </a:p>
          <a:p>
            <a:pPr marL="894080" lvl="1" indent="-361950" algn="just" eaLnBrk="1" hangingPunct="1">
              <a:spcBef>
                <a:spcPct val="50000"/>
              </a:spcBef>
              <a:buClr>
                <a:srgbClr val="0000CC"/>
              </a:buClr>
              <a:buSzPct val="65000"/>
              <a:buFont typeface="Wingdings" panose="05000000000000000000" pitchFamily="2" charset="2"/>
            </a:pPr>
            <a:r>
              <a:rPr lang="zh-CN" altLang="en-US" dirty="0">
                <a:latin typeface="宋体" panose="02010600030101010101" pitchFamily="2" charset="-122"/>
              </a:rPr>
              <a:t>该数据对象上的锁一旦释放，首先批准申请队列中第一个事务获得锁</a:t>
            </a:r>
            <a:endParaRPr lang="zh-CN" altLang="en-US" dirty="0">
              <a:latin typeface="宋体" panose="02010600030101010101" pitchFamily="2" charset="-122"/>
            </a:endParaRPr>
          </a:p>
          <a:p>
            <a:pPr marL="894080" lvl="1" indent="-361950" algn="just" eaLnBrk="1" hangingPunct="1">
              <a:spcBef>
                <a:spcPct val="25000"/>
              </a:spcBef>
              <a:buClr>
                <a:srgbClr val="0000CC"/>
              </a:buClr>
              <a:buSzPct val="65000"/>
              <a:buFont typeface="Wingdings" panose="05000000000000000000" pitchFamily="2" charset="2"/>
            </a:pPr>
            <a:endParaRPr lang="zh-CN" altLang="en-US" sz="2400" dirty="0">
              <a:latin typeface="宋体" panose="02010600030101010101" pitchFamily="2" charset="-122"/>
            </a:endParaRPr>
          </a:p>
          <a:p>
            <a:pPr marL="352425" indent="-352425" eaLnBrk="1" hangingPunct="1">
              <a:spcBef>
                <a:spcPct val="30000"/>
              </a:spcBef>
              <a:buClr>
                <a:srgbClr val="FF0000"/>
              </a:buClr>
              <a:buSzPct val="65000"/>
              <a:buFont typeface="Wingdings" panose="05000000000000000000" pitchFamily="2" charset="2"/>
            </a:pPr>
            <a:r>
              <a:rPr lang="zh-CN" altLang="en-US" dirty="0">
                <a:latin typeface="Arial" panose="020B0604020202020204" pitchFamily="34" charset="0"/>
              </a:rPr>
              <a:t>被选为牺牲者的次数有限</a:t>
            </a:r>
            <a:endParaRPr lang="zh-CN" altLang="en-US" sz="3200" b="0" dirty="0">
              <a:latin typeface="宋体" panose="02010600030101010101" pitchFamily="2" charset="-122"/>
            </a:endParaRPr>
          </a:p>
          <a:p>
            <a:pPr marL="352425" indent="-352425" algn="just" eaLnBrk="1" hangingPunct="1">
              <a:spcBef>
                <a:spcPct val="25000"/>
              </a:spcBef>
              <a:buClr>
                <a:srgbClr val="FF0000"/>
              </a:buClr>
              <a:buSzPct val="65000"/>
              <a:buFont typeface="Wingdings" panose="05000000000000000000" pitchFamily="2" charset="2"/>
            </a:pPr>
            <a:endParaRPr lang="en-US" altLang="zh-CN" dirty="0">
              <a:latin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charRg st="0" end="1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charRg st="17" end="3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charRg st="35" end="6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charRg st="67" end="7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6387" name="Rectangle 3"/>
          <p:cNvSpPr>
            <a:spLocks noGrp="1"/>
          </p:cNvSpPr>
          <p:nvPr>
            <p:ph idx="1"/>
          </p:nvPr>
        </p:nvSpPr>
        <p:spPr>
          <a:xfrm>
            <a:off x="1231900" y="981075"/>
            <a:ext cx="7372350" cy="5434013"/>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8.1 </a:t>
            </a:r>
            <a:r>
              <a:rPr lang="zh-CN" altLang="en-US" dirty="0">
                <a:latin typeface="Arial" panose="020B0604020202020204" pitchFamily="34" charset="0"/>
              </a:rPr>
              <a:t>事务的基本概念</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8.2 </a:t>
            </a:r>
            <a:r>
              <a:rPr lang="zh-CN" altLang="en-US" dirty="0">
                <a:latin typeface="Arial" panose="020B0604020202020204" pitchFamily="34" charset="0"/>
              </a:rPr>
              <a:t>事务的并发执行与调度</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8.3 </a:t>
            </a:r>
            <a:r>
              <a:rPr lang="zh-CN" altLang="en-US" dirty="0">
                <a:latin typeface="Arial" panose="020B0604020202020204" pitchFamily="34" charset="0"/>
              </a:rPr>
              <a:t>基于锁的并发控制</a:t>
            </a:r>
            <a:endParaRPr lang="zh-CN" altLang="en-US" dirty="0">
              <a:latin typeface="宋体" panose="02010600030101010101" pitchFamily="2" charset="-122"/>
            </a:endParaRPr>
          </a:p>
          <a:p>
            <a:pPr eaLnBrk="1" hangingPunct="1">
              <a:lnSpc>
                <a:spcPct val="140000"/>
              </a:lnSpc>
              <a:buNone/>
            </a:pPr>
            <a:r>
              <a:rPr lang="en-US" altLang="zh-CN" dirty="0">
                <a:solidFill>
                  <a:srgbClr val="0000CC"/>
                </a:solidFill>
                <a:latin typeface="Arial" panose="020B0604020202020204" pitchFamily="34" charset="0"/>
              </a:rPr>
              <a:t>8.4 </a:t>
            </a:r>
            <a:r>
              <a:rPr lang="zh-CN" altLang="en-US" dirty="0">
                <a:solidFill>
                  <a:srgbClr val="0000CC"/>
                </a:solidFill>
                <a:latin typeface="Arial" panose="020B0604020202020204" pitchFamily="34" charset="0"/>
              </a:rPr>
              <a:t>数据库恢复</a:t>
            </a:r>
            <a:endParaRPr lang="zh-CN" altLang="en-US" dirty="0">
              <a:solidFill>
                <a:srgbClr val="0000CC"/>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idx="1"/>
          </p:nvPr>
        </p:nvSpPr>
        <p:spPr>
          <a:xfrm>
            <a:off x="152400" y="981075"/>
            <a:ext cx="8812213" cy="5273675"/>
          </a:xfrm>
        </p:spPr>
        <p:txBody>
          <a:bodyPr vert="horz" wrap="square" lIns="91440" tIns="45720" rIns="91440" bIns="45720" anchor="t" anchorCtr="0"/>
          <a:p>
            <a:pPr marL="365125" indent="-365125" eaLnBrk="1" hangingPunct="1">
              <a:lnSpc>
                <a:spcPct val="110000"/>
              </a:lnSpc>
            </a:pPr>
            <a:r>
              <a:rPr lang="zh-CN" altLang="en-US" dirty="0"/>
              <a:t>故障是不可避免的</a:t>
            </a:r>
            <a:endParaRPr lang="zh-CN" altLang="en-US" dirty="0"/>
          </a:p>
          <a:p>
            <a:pPr marL="898525" lvl="1" indent="-353695" eaLnBrk="1" hangingPunct="1">
              <a:lnSpc>
                <a:spcPct val="110000"/>
              </a:lnSpc>
              <a:spcBef>
                <a:spcPct val="0"/>
              </a:spcBef>
            </a:pPr>
            <a:r>
              <a:rPr lang="zh-CN" altLang="en-US" sz="3600" dirty="0"/>
              <a:t>计算机硬件故障</a:t>
            </a:r>
            <a:endParaRPr lang="zh-CN" altLang="en-US" sz="3600" dirty="0"/>
          </a:p>
          <a:p>
            <a:pPr marL="898525" lvl="1" indent="-353695" eaLnBrk="1" hangingPunct="1">
              <a:lnSpc>
                <a:spcPct val="110000"/>
              </a:lnSpc>
              <a:spcBef>
                <a:spcPct val="0"/>
              </a:spcBef>
            </a:pPr>
            <a:r>
              <a:rPr lang="zh-CN" altLang="en-US" sz="3600" dirty="0"/>
              <a:t>系统软件和应用软件的错误</a:t>
            </a:r>
            <a:endParaRPr lang="zh-CN" altLang="en-US" sz="3600" dirty="0"/>
          </a:p>
          <a:p>
            <a:pPr marL="898525" lvl="1" indent="-353695" eaLnBrk="1" hangingPunct="1">
              <a:lnSpc>
                <a:spcPct val="110000"/>
              </a:lnSpc>
              <a:spcBef>
                <a:spcPct val="0"/>
              </a:spcBef>
            </a:pPr>
            <a:r>
              <a:rPr lang="zh-CN" altLang="en-US" sz="3600" dirty="0"/>
              <a:t>操作员的失误</a:t>
            </a:r>
            <a:endParaRPr lang="zh-CN" altLang="en-US" sz="3600" dirty="0"/>
          </a:p>
          <a:p>
            <a:pPr marL="898525" lvl="1" indent="-353695" eaLnBrk="1" hangingPunct="1">
              <a:lnSpc>
                <a:spcPct val="110000"/>
              </a:lnSpc>
              <a:spcBef>
                <a:spcPct val="0"/>
              </a:spcBef>
            </a:pPr>
            <a:r>
              <a:rPr lang="zh-CN" altLang="en-US" sz="3600" dirty="0"/>
              <a:t>恶意的破坏等</a:t>
            </a:r>
            <a:endParaRPr lang="zh-CN" altLang="en-US" sz="3600" dirty="0"/>
          </a:p>
          <a:p>
            <a:pPr marL="365125" indent="-365125" eaLnBrk="1" hangingPunct="1">
              <a:lnSpc>
                <a:spcPct val="110000"/>
              </a:lnSpc>
              <a:spcBef>
                <a:spcPct val="35000"/>
              </a:spcBef>
            </a:pPr>
            <a:r>
              <a:rPr lang="zh-CN" altLang="en-US" dirty="0"/>
              <a:t>故障的影响</a:t>
            </a:r>
            <a:endParaRPr lang="zh-CN" altLang="en-US" dirty="0"/>
          </a:p>
          <a:p>
            <a:pPr marL="898525" lvl="1" indent="-353695" eaLnBrk="1" hangingPunct="1">
              <a:lnSpc>
                <a:spcPct val="110000"/>
              </a:lnSpc>
              <a:spcBef>
                <a:spcPct val="0"/>
              </a:spcBef>
            </a:pPr>
            <a:r>
              <a:rPr lang="zh-CN" altLang="en-US" sz="3600" dirty="0"/>
              <a:t>运行的事务非正常终止</a:t>
            </a:r>
            <a:endParaRPr lang="zh-CN" altLang="en-US" sz="3600" dirty="0"/>
          </a:p>
          <a:p>
            <a:pPr marL="898525" lvl="1" indent="-353695" eaLnBrk="1" hangingPunct="1">
              <a:lnSpc>
                <a:spcPct val="110000"/>
              </a:lnSpc>
              <a:spcBef>
                <a:spcPct val="0"/>
              </a:spcBef>
            </a:pPr>
            <a:r>
              <a:rPr lang="zh-CN" altLang="en-US" sz="3600" dirty="0"/>
              <a:t>破坏数据库</a:t>
            </a:r>
            <a:endParaRPr lang="zh-CN" altLang="en-US" sz="3600" dirty="0">
              <a:latin typeface="黑体" panose="02010609060101010101" pitchFamily="2" charset="-122"/>
            </a:endParaRPr>
          </a:p>
        </p:txBody>
      </p:sp>
      <p:sp>
        <p:nvSpPr>
          <p:cNvPr id="3573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数据库恢复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idx="1"/>
          </p:nvPr>
        </p:nvSpPr>
        <p:spPr>
          <a:xfrm>
            <a:off x="152400" y="1052513"/>
            <a:ext cx="8740775" cy="5273675"/>
          </a:xfrm>
        </p:spPr>
        <p:txBody>
          <a:bodyPr vert="horz" wrap="square" lIns="91440" tIns="45720" rIns="91440" bIns="45720" anchor="t" anchorCtr="0"/>
          <a:p>
            <a:pPr marL="365125" indent="-365125" defTabSz="814705" eaLnBrk="1" hangingPunct="1"/>
            <a:r>
              <a:rPr lang="en-US" altLang="zh-CN" dirty="0">
                <a:latin typeface="Arial" panose="020B0604020202020204" pitchFamily="34" charset="0"/>
              </a:rPr>
              <a:t>DBMS</a:t>
            </a:r>
            <a:r>
              <a:rPr lang="zh-CN" altLang="en-US" dirty="0">
                <a:latin typeface="Arial" panose="020B0604020202020204" pitchFamily="34" charset="0"/>
              </a:rPr>
              <a:t>对故障的对策</a:t>
            </a:r>
            <a:endParaRPr lang="zh-CN" altLang="en-US" dirty="0">
              <a:latin typeface="Arial" panose="020B0604020202020204" pitchFamily="34" charset="0"/>
            </a:endParaRPr>
          </a:p>
          <a:p>
            <a:pPr marL="913130" lvl="1" indent="-368300" defTabSz="814705" eaLnBrk="1" hangingPunct="1">
              <a:spcBef>
                <a:spcPct val="25000"/>
              </a:spcBef>
            </a:pPr>
            <a:r>
              <a:rPr lang="zh-CN" altLang="en-US" sz="3600" dirty="0">
                <a:latin typeface="Arial" panose="020B0604020202020204" pitchFamily="34" charset="0"/>
              </a:rPr>
              <a:t>提供恢复子系统</a:t>
            </a:r>
            <a:endParaRPr lang="zh-CN" altLang="en-US" sz="3600" dirty="0">
              <a:latin typeface="Arial" panose="020B0604020202020204" pitchFamily="34" charset="0"/>
            </a:endParaRPr>
          </a:p>
          <a:p>
            <a:pPr marL="913130" lvl="1" indent="-368300" defTabSz="814705" eaLnBrk="1" hangingPunct="1">
              <a:spcBef>
                <a:spcPct val="0"/>
              </a:spcBef>
            </a:pPr>
            <a:r>
              <a:rPr lang="zh-CN" altLang="en-US" sz="3600" dirty="0">
                <a:latin typeface="Arial" panose="020B0604020202020204" pitchFamily="34" charset="0"/>
              </a:rPr>
              <a:t>保证故障发生后，能把数据库中的数据从错误状态恢复到某种逻辑一致的状态</a:t>
            </a:r>
            <a:endParaRPr lang="zh-CN" altLang="en-US" sz="3600" dirty="0">
              <a:latin typeface="Arial" panose="020B0604020202020204" pitchFamily="34" charset="0"/>
            </a:endParaRPr>
          </a:p>
          <a:p>
            <a:pPr marL="913130" lvl="1" indent="-368300" defTabSz="814705" eaLnBrk="1" hangingPunct="1">
              <a:spcBef>
                <a:spcPct val="0"/>
              </a:spcBef>
            </a:pPr>
            <a:r>
              <a:rPr lang="zh-CN" altLang="en-US" sz="3600" dirty="0">
                <a:latin typeface="Arial" panose="020B0604020202020204" pitchFamily="34" charset="0"/>
              </a:rPr>
              <a:t>保证事务</a:t>
            </a:r>
            <a:r>
              <a:rPr lang="en-US" altLang="zh-CN" sz="3600" dirty="0">
                <a:latin typeface="Arial" panose="020B0604020202020204" pitchFamily="34" charset="0"/>
              </a:rPr>
              <a:t>ACID</a:t>
            </a:r>
            <a:endParaRPr lang="en-US" altLang="zh-CN" sz="3600" dirty="0">
              <a:latin typeface="Arial" panose="020B0604020202020204" pitchFamily="34" charset="0"/>
            </a:endParaRPr>
          </a:p>
          <a:p>
            <a:pPr marL="365125" indent="-365125" defTabSz="814705" eaLnBrk="1" hangingPunct="1"/>
            <a:endParaRPr lang="en-US" altLang="zh-CN" dirty="0">
              <a:latin typeface="Arial" panose="020B0604020202020204" pitchFamily="34" charset="0"/>
            </a:endParaRPr>
          </a:p>
          <a:p>
            <a:pPr marL="365125" indent="-365125" defTabSz="814705" eaLnBrk="1" hangingPunct="1"/>
            <a:r>
              <a:rPr lang="zh-CN" altLang="en-US" dirty="0">
                <a:latin typeface="Arial" panose="020B0604020202020204" pitchFamily="34" charset="0"/>
              </a:rPr>
              <a:t>恢复技术是衡量系统优劣的重要指标</a:t>
            </a:r>
            <a:endParaRPr lang="zh-CN" altLang="en-US" dirty="0">
              <a:latin typeface="Arial" panose="020B0604020202020204" pitchFamily="34" charset="0"/>
            </a:endParaRPr>
          </a:p>
        </p:txBody>
      </p:sp>
      <p:sp>
        <p:nvSpPr>
          <p:cNvPr id="35942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数据库恢复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idx="1"/>
          </p:nvPr>
        </p:nvSpPr>
        <p:spPr>
          <a:xfrm>
            <a:off x="152400" y="928688"/>
            <a:ext cx="8812213" cy="5273675"/>
          </a:xfrm>
        </p:spPr>
        <p:txBody>
          <a:bodyPr vert="horz" wrap="square" lIns="91440" tIns="45720" rIns="91440" bIns="45720" anchor="t" anchorCtr="0"/>
          <a:p>
            <a:pPr marL="365125" indent="-365125" eaLnBrk="1" hangingPunct="1">
              <a:buNone/>
            </a:pPr>
            <a:r>
              <a:rPr lang="en-US" altLang="zh-CN" dirty="0">
                <a:solidFill>
                  <a:srgbClr val="0000CC"/>
                </a:solidFill>
                <a:latin typeface="Arial" panose="020B0604020202020204" pitchFamily="34" charset="0"/>
              </a:rPr>
              <a:t>DBMS</a:t>
            </a:r>
            <a:r>
              <a:rPr lang="zh-CN" altLang="en-US" dirty="0">
                <a:solidFill>
                  <a:srgbClr val="0000CC"/>
                </a:solidFill>
                <a:latin typeface="Arial" panose="020B0604020202020204" pitchFamily="34" charset="0"/>
              </a:rPr>
              <a:t>中数据的流动：</a:t>
            </a:r>
            <a:endParaRPr lang="en-US" altLang="zh-CN" dirty="0">
              <a:solidFill>
                <a:srgbClr val="0000CC"/>
              </a:solidFill>
              <a:latin typeface="Arial" panose="020B0604020202020204" pitchFamily="34" charset="0"/>
            </a:endParaRPr>
          </a:p>
          <a:p>
            <a:pPr marL="365125" indent="-365125" eaLnBrk="1" hangingPunct="1"/>
            <a:r>
              <a:rPr lang="zh-CN" altLang="en-US" sz="2800" dirty="0">
                <a:latin typeface="Arial" panose="020B0604020202020204" pitchFamily="34" charset="0"/>
              </a:rPr>
              <a:t>内存中有系统缓冲区、每个事务有工作区</a:t>
            </a:r>
            <a:endParaRPr lang="en-US" altLang="zh-CN" sz="2800" dirty="0">
              <a:latin typeface="Arial" panose="020B0604020202020204" pitchFamily="34" charset="0"/>
            </a:endParaRPr>
          </a:p>
          <a:p>
            <a:pPr marL="365125" indent="-365125" eaLnBrk="1" hangingPunct="1"/>
            <a:r>
              <a:rPr lang="zh-CN" altLang="en-US" sz="3200" dirty="0">
                <a:solidFill>
                  <a:srgbClr val="FF0000"/>
                </a:solidFill>
                <a:latin typeface="Arial" panose="020B0604020202020204" pitchFamily="34" charset="0"/>
              </a:rPr>
              <a:t>读</a:t>
            </a:r>
            <a:r>
              <a:rPr lang="zh-CN" altLang="en-US" sz="3200" dirty="0">
                <a:latin typeface="Arial" panose="020B0604020202020204" pitchFamily="34" charset="0"/>
              </a:rPr>
              <a:t>数据：</a:t>
            </a:r>
            <a:r>
              <a:rPr lang="zh-CN" altLang="en-US" sz="2800" dirty="0">
                <a:latin typeface="Arial" panose="020B0604020202020204" pitchFamily="34" charset="0"/>
              </a:rPr>
              <a:t>先查看是否在系统缓冲区，没有则从数据库中复制到系统缓冲区，再复制到工作区</a:t>
            </a:r>
            <a:endParaRPr lang="en-US" altLang="zh-CN" sz="2800" dirty="0">
              <a:latin typeface="Arial" panose="020B0604020202020204" pitchFamily="34" charset="0"/>
            </a:endParaRPr>
          </a:p>
          <a:p>
            <a:pPr marL="365125" indent="-365125" eaLnBrk="1" hangingPunct="1"/>
            <a:r>
              <a:rPr lang="zh-CN" altLang="en-US" sz="3200" dirty="0">
                <a:solidFill>
                  <a:srgbClr val="FF0000"/>
                </a:solidFill>
                <a:latin typeface="Arial" panose="020B0604020202020204" pitchFamily="34" charset="0"/>
              </a:rPr>
              <a:t>写</a:t>
            </a:r>
            <a:r>
              <a:rPr lang="zh-CN" altLang="en-US" sz="3200" dirty="0">
                <a:latin typeface="Arial" panose="020B0604020202020204" pitchFamily="34" charset="0"/>
              </a:rPr>
              <a:t>数据：</a:t>
            </a:r>
            <a:r>
              <a:rPr lang="zh-CN" altLang="en-US" sz="2800" dirty="0">
                <a:latin typeface="Arial" panose="020B0604020202020204" pitchFamily="34" charset="0"/>
              </a:rPr>
              <a:t>先从工作区复制到系统缓冲区，在适当时候复制到数据库</a:t>
            </a:r>
            <a:endParaRPr lang="zh-CN" altLang="en-US" dirty="0">
              <a:latin typeface="Arial" panose="020B0604020202020204" pitchFamily="34" charset="0"/>
            </a:endParaRPr>
          </a:p>
        </p:txBody>
      </p:sp>
      <p:sp>
        <p:nvSpPr>
          <p:cNvPr id="36147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故障分类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19460" name="Group 21"/>
          <p:cNvGrpSpPr/>
          <p:nvPr/>
        </p:nvGrpSpPr>
        <p:grpSpPr>
          <a:xfrm>
            <a:off x="2000250" y="3929063"/>
            <a:ext cx="5184775" cy="2757487"/>
            <a:chOff x="1078" y="2453"/>
            <a:chExt cx="3266" cy="1737"/>
          </a:xfrm>
        </p:grpSpPr>
        <p:grpSp>
          <p:nvGrpSpPr>
            <p:cNvPr id="19461" name="Group 19"/>
            <p:cNvGrpSpPr/>
            <p:nvPr/>
          </p:nvGrpSpPr>
          <p:grpSpPr>
            <a:xfrm>
              <a:off x="1078" y="2453"/>
              <a:ext cx="3266" cy="1737"/>
              <a:chOff x="1078" y="2453"/>
              <a:chExt cx="3266" cy="1737"/>
            </a:xfrm>
          </p:grpSpPr>
          <p:sp>
            <p:nvSpPr>
              <p:cNvPr id="7" name="Rectangle 4"/>
              <p:cNvSpPr>
                <a:spLocks noChangeArrowheads="1"/>
              </p:cNvSpPr>
              <p:nvPr/>
            </p:nvSpPr>
            <p:spPr bwMode="auto">
              <a:xfrm>
                <a:off x="1078" y="2453"/>
                <a:ext cx="3266" cy="1008"/>
              </a:xfrm>
              <a:prstGeom prst="rect">
                <a:avLst/>
              </a:prstGeom>
              <a:solidFill>
                <a:schemeClr val="bg2">
                  <a:lumMod val="10000"/>
                  <a:lumOff val="90000"/>
                </a:schemeClr>
              </a:solidFill>
              <a:ln w="28575" algn="ctr">
                <a:solidFill>
                  <a:srgbClr val="000000"/>
                </a:solidFill>
                <a:miter lim="800000"/>
              </a:ln>
            </p:spPr>
            <p:txBody>
              <a:bodyPr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4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2"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endParaRPr kumimoji="0" lang="en-US" altLang="zh-CN" sz="36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8" name="AutoShape 5"/>
              <p:cNvSpPr>
                <a:spLocks noChangeArrowheads="1"/>
              </p:cNvSpPr>
              <p:nvPr/>
            </p:nvSpPr>
            <p:spPr bwMode="auto">
              <a:xfrm>
                <a:off x="1292" y="3612"/>
                <a:ext cx="2903" cy="578"/>
              </a:xfrm>
              <a:prstGeom prst="flowChartMagneticDisk">
                <a:avLst/>
              </a:prstGeom>
              <a:solidFill>
                <a:schemeClr val="tx1">
                  <a:lumMod val="90000"/>
                </a:schemeClr>
              </a:solidFill>
              <a:ln w="28575">
                <a:solidFill>
                  <a:srgbClr val="000000"/>
                </a:solidFill>
                <a:round/>
              </a:ln>
            </p:spPr>
            <p:txBody>
              <a:bodyPr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2" charset="-122"/>
                    <a:cs typeface="+mn-cs"/>
                  </a:rPr>
                  <a:t>DB</a:t>
                </a:r>
                <a:endParaRPr kumimoji="0" lang="zh-CN" altLang="zh-CN" sz="2400" b="1"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19467" name="Rectangle 9"/>
              <p:cNvSpPr/>
              <p:nvPr/>
            </p:nvSpPr>
            <p:spPr>
              <a:xfrm>
                <a:off x="1407" y="2523"/>
                <a:ext cx="1020" cy="306"/>
              </a:xfrm>
              <a:prstGeom prst="rect">
                <a:avLst/>
              </a:prstGeom>
              <a:solidFill>
                <a:srgbClr val="FFCCFF"/>
              </a:solidFill>
              <a:ln w="28575" cap="flat" cmpd="sng">
                <a:solidFill>
                  <a:srgbClr val="000000"/>
                </a:solidFill>
                <a:prstDash val="sysDot"/>
                <a:miter/>
                <a:headEnd type="none" w="med" len="med"/>
                <a:tailEnd type="none" w="med" len="med"/>
              </a:ln>
            </p:spPr>
            <p:txBody>
              <a:bodyPr anchor="ctr" anchorCtr="0">
                <a:spAutoFit/>
              </a:bodyPr>
              <a:p>
                <a:r>
                  <a:rPr lang="en-US" altLang="zh-CN" sz="2400" dirty="0">
                    <a:latin typeface="Arial" panose="020B0604020202020204" pitchFamily="34" charset="0"/>
                  </a:rPr>
                  <a:t>T1</a:t>
                </a:r>
                <a:r>
                  <a:rPr lang="zh-CN" altLang="en-US" sz="2400" dirty="0">
                    <a:latin typeface="Arial" panose="020B0604020202020204" pitchFamily="34" charset="0"/>
                  </a:rPr>
                  <a:t>工作区</a:t>
                </a:r>
                <a:endParaRPr lang="zh-CN" altLang="en-US" sz="2400" dirty="0">
                  <a:latin typeface="Arial" panose="020B0604020202020204" pitchFamily="34" charset="0"/>
                </a:endParaRPr>
              </a:p>
            </p:txBody>
          </p:sp>
          <p:sp>
            <p:nvSpPr>
              <p:cNvPr id="19468" name="Rectangle 10"/>
              <p:cNvSpPr/>
              <p:nvPr/>
            </p:nvSpPr>
            <p:spPr>
              <a:xfrm>
                <a:off x="2858" y="2523"/>
                <a:ext cx="1020" cy="306"/>
              </a:xfrm>
              <a:prstGeom prst="rect">
                <a:avLst/>
              </a:prstGeom>
              <a:solidFill>
                <a:srgbClr val="FFCCFF"/>
              </a:solidFill>
              <a:ln w="28575" cap="flat" cmpd="sng">
                <a:solidFill>
                  <a:srgbClr val="000000"/>
                </a:solidFill>
                <a:prstDash val="sysDot"/>
                <a:miter/>
                <a:headEnd type="none" w="med" len="med"/>
                <a:tailEnd type="none" w="med" len="med"/>
              </a:ln>
            </p:spPr>
            <p:txBody>
              <a:bodyPr anchor="ctr" anchorCtr="0">
                <a:spAutoFit/>
              </a:bodyPr>
              <a:p>
                <a:r>
                  <a:rPr lang="en-US" altLang="zh-CN" sz="2400" dirty="0">
                    <a:latin typeface="Arial" panose="020B0604020202020204" pitchFamily="34" charset="0"/>
                  </a:rPr>
                  <a:t>T2</a:t>
                </a:r>
                <a:r>
                  <a:rPr lang="zh-CN" altLang="en-US" sz="2400" dirty="0">
                    <a:latin typeface="Arial" panose="020B0604020202020204" pitchFamily="34" charset="0"/>
                  </a:rPr>
                  <a:t>工作区</a:t>
                </a:r>
                <a:endParaRPr lang="zh-CN" altLang="en-US" sz="2400" dirty="0">
                  <a:latin typeface="Arial" panose="020B0604020202020204" pitchFamily="34" charset="0"/>
                </a:endParaRPr>
              </a:p>
            </p:txBody>
          </p:sp>
          <p:sp>
            <p:nvSpPr>
              <p:cNvPr id="19469" name="Rectangle 11"/>
              <p:cNvSpPr/>
              <p:nvPr/>
            </p:nvSpPr>
            <p:spPr>
              <a:xfrm>
                <a:off x="1695" y="3060"/>
                <a:ext cx="1814" cy="306"/>
              </a:xfrm>
              <a:prstGeom prst="rect">
                <a:avLst/>
              </a:prstGeom>
              <a:solidFill>
                <a:srgbClr val="FFFF00"/>
              </a:solidFill>
              <a:ln w="28575" cap="flat" cmpd="sng">
                <a:solidFill>
                  <a:srgbClr val="000000"/>
                </a:solidFill>
                <a:prstDash val="sysDot"/>
                <a:miter/>
                <a:headEnd type="none" w="med" len="med"/>
                <a:tailEnd type="none" w="med" len="med"/>
              </a:ln>
            </p:spPr>
            <p:txBody>
              <a:bodyPr anchor="ctr" anchorCtr="0">
                <a:spAutoFit/>
              </a:bodyPr>
              <a:p>
                <a:r>
                  <a:rPr lang="zh-CN" altLang="en-US" sz="2400" dirty="0">
                    <a:latin typeface="Arial" panose="020B0604020202020204" pitchFamily="34" charset="0"/>
                  </a:rPr>
                  <a:t>系统缓冲区</a:t>
                </a:r>
                <a:endParaRPr lang="zh-CN" altLang="en-US" sz="2400" dirty="0">
                  <a:latin typeface="Arial" panose="020B0604020202020204" pitchFamily="34" charset="0"/>
                </a:endParaRPr>
              </a:p>
            </p:txBody>
          </p:sp>
          <p:sp>
            <p:nvSpPr>
              <p:cNvPr id="19470" name="Line 12"/>
              <p:cNvSpPr/>
              <p:nvPr/>
            </p:nvSpPr>
            <p:spPr>
              <a:xfrm>
                <a:off x="1973" y="2840"/>
                <a:ext cx="320" cy="243"/>
              </a:xfrm>
              <a:prstGeom prst="line">
                <a:avLst/>
              </a:prstGeom>
              <a:ln w="28575" cap="flat" cmpd="sng">
                <a:solidFill>
                  <a:srgbClr val="000000"/>
                </a:solidFill>
                <a:prstDash val="solid"/>
                <a:headEnd type="none" w="med" len="med"/>
                <a:tailEnd type="triangle" w="med" len="med"/>
              </a:ln>
            </p:spPr>
          </p:sp>
          <p:sp>
            <p:nvSpPr>
              <p:cNvPr id="19471" name="Line 13"/>
              <p:cNvSpPr/>
              <p:nvPr/>
            </p:nvSpPr>
            <p:spPr>
              <a:xfrm flipH="1">
                <a:off x="2968" y="2840"/>
                <a:ext cx="320" cy="198"/>
              </a:xfrm>
              <a:prstGeom prst="line">
                <a:avLst/>
              </a:prstGeom>
              <a:ln w="28575" cap="flat" cmpd="sng">
                <a:solidFill>
                  <a:srgbClr val="000000"/>
                </a:solidFill>
                <a:prstDash val="solid"/>
                <a:headEnd type="triangle" w="med" len="med"/>
                <a:tailEnd type="none" w="med" len="med"/>
              </a:ln>
            </p:spPr>
          </p:sp>
          <p:sp>
            <p:nvSpPr>
              <p:cNvPr id="19472" name="Line 16"/>
              <p:cNvSpPr/>
              <p:nvPr/>
            </p:nvSpPr>
            <p:spPr>
              <a:xfrm flipH="1">
                <a:off x="3032" y="3308"/>
                <a:ext cx="29" cy="374"/>
              </a:xfrm>
              <a:prstGeom prst="line">
                <a:avLst/>
              </a:prstGeom>
              <a:ln w="28575" cap="flat" cmpd="sng">
                <a:solidFill>
                  <a:srgbClr val="000000"/>
                </a:solidFill>
                <a:prstDash val="solid"/>
                <a:headEnd type="triangle" w="med" len="med"/>
                <a:tailEnd type="none" w="med" len="med"/>
              </a:ln>
            </p:spPr>
          </p:sp>
          <p:sp>
            <p:nvSpPr>
              <p:cNvPr id="19473" name="Line 17"/>
              <p:cNvSpPr/>
              <p:nvPr/>
            </p:nvSpPr>
            <p:spPr>
              <a:xfrm>
                <a:off x="2336" y="3339"/>
                <a:ext cx="29" cy="374"/>
              </a:xfrm>
              <a:prstGeom prst="line">
                <a:avLst/>
              </a:prstGeom>
              <a:ln w="28575" cap="flat" cmpd="sng">
                <a:solidFill>
                  <a:srgbClr val="000000"/>
                </a:solidFill>
                <a:prstDash val="solid"/>
                <a:headEnd type="none" w="med" len="med"/>
                <a:tailEnd type="triangle" w="med" len="med"/>
              </a:ln>
            </p:spPr>
          </p:sp>
        </p:grpSp>
        <p:sp>
          <p:nvSpPr>
            <p:cNvPr id="19462" name="Rectangle 20"/>
            <p:cNvSpPr/>
            <p:nvPr/>
          </p:nvSpPr>
          <p:spPr>
            <a:xfrm>
              <a:off x="3882" y="3193"/>
              <a:ext cx="436" cy="250"/>
            </a:xfrm>
            <a:prstGeom prst="rect">
              <a:avLst/>
            </a:prstGeom>
            <a:noFill/>
            <a:ln w="28575">
              <a:noFill/>
            </a:ln>
          </p:spPr>
          <p:txBody>
            <a:bodyPr wrap="none" anchor="ctr" anchorCtr="0">
              <a:spAutoFit/>
            </a:bodyPr>
            <a:p>
              <a:r>
                <a:rPr lang="zh-CN" altLang="en-US" sz="2000" dirty="0">
                  <a:latin typeface="Arial" panose="020B0604020202020204" pitchFamily="34" charset="0"/>
                </a:rPr>
                <a:t>内存</a:t>
              </a:r>
              <a:endParaRPr lang="zh-CN" altLang="en-US" sz="2000" dirty="0">
                <a:latin typeface="Arial" panose="020B0604020202020204" pitchFamily="34" charset="0"/>
              </a:endParaRPr>
            </a:p>
          </p:txBody>
        </p:sp>
        <p:sp>
          <p:nvSpPr>
            <p:cNvPr id="19463" name="Rectangle 20"/>
            <p:cNvSpPr/>
            <p:nvPr/>
          </p:nvSpPr>
          <p:spPr>
            <a:xfrm>
              <a:off x="3321" y="2811"/>
              <a:ext cx="279" cy="252"/>
            </a:xfrm>
            <a:prstGeom prst="rect">
              <a:avLst/>
            </a:prstGeom>
            <a:noFill/>
            <a:ln w="28575">
              <a:noFill/>
            </a:ln>
          </p:spPr>
          <p:txBody>
            <a:bodyPr anchor="ctr" anchorCtr="0">
              <a:spAutoFit/>
            </a:bodyPr>
            <a:p>
              <a:r>
                <a:rPr lang="zh-CN" altLang="en-US" sz="2000" dirty="0">
                  <a:latin typeface="Arial" panose="020B0604020202020204" pitchFamily="34" charset="0"/>
                </a:rPr>
                <a:t>读</a:t>
              </a:r>
              <a:endParaRPr lang="zh-CN" altLang="en-US" sz="2000" dirty="0">
                <a:latin typeface="Arial" panose="020B0604020202020204" pitchFamily="34" charset="0"/>
              </a:endParaRPr>
            </a:p>
          </p:txBody>
        </p:sp>
        <p:sp>
          <p:nvSpPr>
            <p:cNvPr id="19464" name="Rectangle 20"/>
            <p:cNvSpPr/>
            <p:nvPr/>
          </p:nvSpPr>
          <p:spPr>
            <a:xfrm>
              <a:off x="1625" y="2813"/>
              <a:ext cx="279" cy="252"/>
            </a:xfrm>
            <a:prstGeom prst="rect">
              <a:avLst/>
            </a:prstGeom>
            <a:noFill/>
            <a:ln w="28575">
              <a:noFill/>
            </a:ln>
          </p:spPr>
          <p:txBody>
            <a:bodyPr anchor="ctr" anchorCtr="0">
              <a:spAutoFit/>
            </a:bodyPr>
            <a:p>
              <a:r>
                <a:rPr lang="zh-CN" altLang="en-US" sz="2000" dirty="0">
                  <a:latin typeface="Arial" panose="020B0604020202020204" pitchFamily="34" charset="0"/>
                </a:rPr>
                <a:t>写</a:t>
              </a:r>
              <a:endParaRPr lang="zh-CN" altLang="en-US" sz="2000" dirty="0">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idx="1"/>
          </p:nvPr>
        </p:nvSpPr>
        <p:spPr>
          <a:xfrm>
            <a:off x="152400" y="1035050"/>
            <a:ext cx="8812213" cy="5273675"/>
          </a:xfrm>
        </p:spPr>
        <p:txBody>
          <a:bodyPr vert="horz" wrap="square" lIns="91440" tIns="45720" rIns="91440" bIns="45720" anchor="t" anchorCtr="0"/>
          <a:p>
            <a:pPr marL="365125" indent="-365125" eaLnBrk="1" hangingPunct="1">
              <a:buNone/>
            </a:pP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、事务故障</a:t>
            </a:r>
            <a:endParaRPr lang="zh-CN" altLang="en-US" dirty="0">
              <a:solidFill>
                <a:srgbClr val="0000CC"/>
              </a:solidFill>
              <a:latin typeface="Arial" panose="020B0604020202020204" pitchFamily="34" charset="0"/>
            </a:endParaRPr>
          </a:p>
          <a:p>
            <a:pPr marL="898525" lvl="1" indent="-353695" eaLnBrk="1" hangingPunct="1">
              <a:lnSpc>
                <a:spcPts val="4300"/>
              </a:lnSpc>
              <a:spcBef>
                <a:spcPct val="0"/>
              </a:spcBef>
            </a:pPr>
            <a:r>
              <a:rPr lang="zh-CN" altLang="en-US" dirty="0">
                <a:latin typeface="Arial" panose="020B0604020202020204" pitchFamily="34" charset="0"/>
              </a:rPr>
              <a:t>某个事务在运行过程中由于种种原因未运行至正常终点</a:t>
            </a:r>
            <a:endParaRPr lang="zh-CN" altLang="en-US" dirty="0">
              <a:latin typeface="Arial" panose="020B0604020202020204" pitchFamily="34" charset="0"/>
            </a:endParaRPr>
          </a:p>
          <a:p>
            <a:pPr marL="898525" lvl="1" indent="-353695" eaLnBrk="1" hangingPunct="1">
              <a:lnSpc>
                <a:spcPts val="4300"/>
              </a:lnSpc>
              <a:spcBef>
                <a:spcPct val="0"/>
              </a:spcBef>
            </a:pPr>
            <a:r>
              <a:rPr lang="zh-CN" altLang="en-US" dirty="0">
                <a:solidFill>
                  <a:srgbClr val="FF0000"/>
                </a:solidFill>
                <a:latin typeface="Arial" panose="020B0604020202020204" pitchFamily="34" charset="0"/>
              </a:rPr>
              <a:t>数据库</a:t>
            </a:r>
            <a:r>
              <a:rPr lang="zh-CN" altLang="en-US" dirty="0">
                <a:latin typeface="Arial" panose="020B0604020202020204" pitchFamily="34" charset="0"/>
              </a:rPr>
              <a:t>处于不一致状态</a:t>
            </a:r>
            <a:endParaRPr lang="zh-CN" altLang="en-US" dirty="0">
              <a:latin typeface="Arial" panose="020B0604020202020204" pitchFamily="34" charset="0"/>
            </a:endParaRPr>
          </a:p>
          <a:p>
            <a:pPr marL="365125" indent="-365125" eaLnBrk="1" hangingPunct="1">
              <a:spcBef>
                <a:spcPct val="25000"/>
              </a:spcBef>
            </a:pPr>
            <a:r>
              <a:rPr lang="zh-CN" altLang="en-US" dirty="0">
                <a:latin typeface="Arial" panose="020B0604020202020204" pitchFamily="34" charset="0"/>
              </a:rPr>
              <a:t>导致事务故障的</a:t>
            </a:r>
            <a:r>
              <a:rPr lang="zh-CN" altLang="en-US" dirty="0">
                <a:solidFill>
                  <a:srgbClr val="0000CC"/>
                </a:solidFill>
                <a:latin typeface="Arial" panose="020B0604020202020204" pitchFamily="34" charset="0"/>
              </a:rPr>
              <a:t>原因</a:t>
            </a:r>
            <a:endParaRPr lang="zh-CN" altLang="en-US" dirty="0">
              <a:solidFill>
                <a:srgbClr val="0000CC"/>
              </a:solidFill>
              <a:latin typeface="Arial" panose="020B0604020202020204" pitchFamily="34" charset="0"/>
            </a:endParaRPr>
          </a:p>
          <a:p>
            <a:pPr marL="898525" lvl="1" indent="-353695" eaLnBrk="1" hangingPunct="1">
              <a:spcBef>
                <a:spcPts val="600"/>
              </a:spcBef>
            </a:pPr>
            <a:r>
              <a:rPr lang="zh-CN" altLang="en-US" dirty="0">
                <a:latin typeface="Arial" panose="020B0604020202020204" pitchFamily="34" charset="0"/>
              </a:rPr>
              <a:t>磁盘错误，坏块导致读写错</a:t>
            </a:r>
            <a:endParaRPr lang="zh-CN" altLang="en-US" dirty="0">
              <a:latin typeface="Arial" panose="020B0604020202020204" pitchFamily="34" charset="0"/>
            </a:endParaRPr>
          </a:p>
          <a:p>
            <a:pPr marL="898525" lvl="1" indent="-353695" eaLnBrk="1" hangingPunct="1">
              <a:spcBef>
                <a:spcPts val="600"/>
              </a:spcBef>
            </a:pPr>
            <a:r>
              <a:rPr lang="zh-CN" altLang="en-US" dirty="0">
                <a:latin typeface="Arial" panose="020B0604020202020204" pitchFamily="34" charset="0"/>
              </a:rPr>
              <a:t>事务或系统错误，如：零除，溢出</a:t>
            </a:r>
            <a:endParaRPr lang="zh-CN" altLang="en-US" dirty="0">
              <a:latin typeface="Arial" panose="020B0604020202020204" pitchFamily="34" charset="0"/>
            </a:endParaRPr>
          </a:p>
          <a:p>
            <a:pPr marL="898525" lvl="1" indent="-353695" eaLnBrk="1" hangingPunct="1">
              <a:spcBef>
                <a:spcPts val="600"/>
              </a:spcBef>
            </a:pPr>
            <a:r>
              <a:rPr lang="zh-CN" altLang="en-US" dirty="0">
                <a:latin typeface="Arial" panose="020B0604020202020204" pitchFamily="34" charset="0"/>
              </a:rPr>
              <a:t>事务操作</a:t>
            </a:r>
            <a:r>
              <a:rPr lang="en-US" altLang="zh-CN" dirty="0">
                <a:latin typeface="Arial" panose="020B0604020202020204" pitchFamily="34" charset="0"/>
              </a:rPr>
              <a:t>DB</a:t>
            </a:r>
            <a:r>
              <a:rPr lang="zh-CN" altLang="en-US" dirty="0">
                <a:latin typeface="Arial" panose="020B0604020202020204" pitchFamily="34" charset="0"/>
              </a:rPr>
              <a:t>时，破坏数据库完整性</a:t>
            </a:r>
            <a:endParaRPr lang="zh-CN" altLang="en-US" dirty="0">
              <a:latin typeface="Arial" panose="020B0604020202020204" pitchFamily="34" charset="0"/>
            </a:endParaRPr>
          </a:p>
          <a:p>
            <a:pPr marL="898525" lvl="1" indent="-353695" eaLnBrk="1" hangingPunct="1">
              <a:spcBef>
                <a:spcPts val="600"/>
              </a:spcBef>
            </a:pPr>
            <a:r>
              <a:rPr lang="zh-CN" altLang="en-US" dirty="0">
                <a:latin typeface="Arial" panose="020B0604020202020204" pitchFamily="34" charset="0"/>
              </a:rPr>
              <a:t>并发事务发生死锁等</a:t>
            </a:r>
            <a:endParaRPr lang="zh-CN" altLang="en-US" dirty="0">
              <a:latin typeface="Arial" panose="020B0604020202020204" pitchFamily="34" charset="0"/>
            </a:endParaRPr>
          </a:p>
        </p:txBody>
      </p:sp>
      <p:sp>
        <p:nvSpPr>
          <p:cNvPr id="36147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故障分类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故障分类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63523" name="Rectangle 3"/>
          <p:cNvSpPr>
            <a:spLocks noGrp="1"/>
          </p:cNvSpPr>
          <p:nvPr>
            <p:ph idx="1"/>
          </p:nvPr>
        </p:nvSpPr>
        <p:spPr>
          <a:xfrm>
            <a:off x="152400" y="928688"/>
            <a:ext cx="8848725" cy="5543550"/>
          </a:xfrm>
        </p:spPr>
        <p:txBody>
          <a:bodyPr vert="horz" wrap="square" lIns="91440" tIns="45720" rIns="91440" bIns="45720" anchor="t" anchorCtr="0"/>
          <a:p>
            <a:pPr eaLnBrk="1" hangingPunct="1">
              <a:lnSpc>
                <a:spcPct val="95000"/>
              </a:lnSpc>
              <a:buNone/>
            </a:pP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、系统故障</a:t>
            </a:r>
            <a:endParaRPr lang="zh-CN" altLang="en-US" dirty="0">
              <a:solidFill>
                <a:srgbClr val="0000CC"/>
              </a:solidFill>
              <a:latin typeface="Arial" panose="020B0604020202020204" pitchFamily="34" charset="0"/>
            </a:endParaRPr>
          </a:p>
          <a:p>
            <a:pPr marL="898525" lvl="1" indent="-356870" eaLnBrk="1" hangingPunct="1">
              <a:spcBef>
                <a:spcPct val="0"/>
              </a:spcBef>
            </a:pPr>
            <a:r>
              <a:rPr lang="zh-CN" altLang="en-US" dirty="0">
                <a:latin typeface="Arial" panose="020B0604020202020204" pitchFamily="34" charset="0"/>
              </a:rPr>
              <a:t>整个系统的正常运行突然被破坏，系统需要重启</a:t>
            </a:r>
            <a:endParaRPr lang="zh-CN" altLang="en-US" dirty="0">
              <a:latin typeface="Arial" panose="020B0604020202020204" pitchFamily="34" charset="0"/>
            </a:endParaRPr>
          </a:p>
          <a:p>
            <a:pPr marL="898525" lvl="1" indent="-356870" eaLnBrk="1" hangingPunct="1">
              <a:spcBef>
                <a:spcPct val="0"/>
              </a:spcBef>
            </a:pPr>
            <a:r>
              <a:rPr lang="zh-CN" altLang="en-US" dirty="0">
                <a:latin typeface="Arial" panose="020B0604020202020204" pitchFamily="34" charset="0"/>
              </a:rPr>
              <a:t>正在运行的事务全部非正常终止</a:t>
            </a:r>
            <a:endParaRPr lang="zh-CN" altLang="en-US" dirty="0">
              <a:latin typeface="Arial" panose="020B0604020202020204" pitchFamily="34" charset="0"/>
            </a:endParaRPr>
          </a:p>
          <a:p>
            <a:pPr marL="898525" lvl="1" indent="-356870" eaLnBrk="1" hangingPunct="1">
              <a:spcBef>
                <a:spcPct val="0"/>
              </a:spcBef>
            </a:pPr>
            <a:r>
              <a:rPr lang="zh-CN" altLang="en-US" dirty="0">
                <a:solidFill>
                  <a:srgbClr val="FF0000"/>
                </a:solidFill>
                <a:latin typeface="Arial" panose="020B0604020202020204" pitchFamily="34" charset="0"/>
              </a:rPr>
              <a:t>内存中</a:t>
            </a:r>
            <a:r>
              <a:rPr lang="zh-CN" altLang="en-US" dirty="0">
                <a:latin typeface="Arial" panose="020B0604020202020204" pitchFamily="34" charset="0"/>
              </a:rPr>
              <a:t>系统缓冲区的信息全部丢失，已完成的事务的操作结果可能没有写入磁盘</a:t>
            </a:r>
            <a:endParaRPr lang="zh-CN" altLang="en-US" dirty="0">
              <a:latin typeface="Arial" panose="020B0604020202020204" pitchFamily="34" charset="0"/>
            </a:endParaRPr>
          </a:p>
          <a:p>
            <a:pPr eaLnBrk="1" hangingPunct="1">
              <a:lnSpc>
                <a:spcPct val="95000"/>
              </a:lnSpc>
              <a:spcBef>
                <a:spcPts val="600"/>
              </a:spcBef>
            </a:pPr>
            <a:r>
              <a:rPr lang="zh-CN" altLang="en-US" dirty="0">
                <a:latin typeface="Arial" panose="020B0604020202020204" pitchFamily="34" charset="0"/>
              </a:rPr>
              <a:t>系统故障的常见</a:t>
            </a:r>
            <a:r>
              <a:rPr lang="zh-CN" altLang="en-US" dirty="0">
                <a:solidFill>
                  <a:srgbClr val="0000CC"/>
                </a:solidFill>
                <a:latin typeface="Arial" panose="020B0604020202020204" pitchFamily="34" charset="0"/>
              </a:rPr>
              <a:t>原因</a:t>
            </a:r>
            <a:endParaRPr lang="zh-CN" altLang="en-US" dirty="0">
              <a:solidFill>
                <a:srgbClr val="0000CC"/>
              </a:solidFill>
              <a:latin typeface="Arial" panose="020B0604020202020204" pitchFamily="34" charset="0"/>
            </a:endParaRPr>
          </a:p>
          <a:p>
            <a:pPr marL="898525" lvl="1" indent="-356870" eaLnBrk="1" hangingPunct="1">
              <a:spcBef>
                <a:spcPts val="300"/>
              </a:spcBef>
            </a:pPr>
            <a:r>
              <a:rPr lang="zh-CN" altLang="en-US" dirty="0">
                <a:latin typeface="Arial" panose="020B0604020202020204" pitchFamily="34" charset="0"/>
              </a:rPr>
              <a:t>操作系统或 </a:t>
            </a:r>
            <a:r>
              <a:rPr lang="en-US" altLang="zh-CN" dirty="0">
                <a:latin typeface="Arial" panose="020B0604020202020204" pitchFamily="34" charset="0"/>
              </a:rPr>
              <a:t>DBMS </a:t>
            </a:r>
            <a:r>
              <a:rPr lang="zh-CN" altLang="en-US" dirty="0">
                <a:latin typeface="Arial" panose="020B0604020202020204" pitchFamily="34" charset="0"/>
              </a:rPr>
              <a:t>代码错误</a:t>
            </a:r>
            <a:endParaRPr lang="zh-CN" altLang="en-US" dirty="0">
              <a:latin typeface="Arial" panose="020B0604020202020204" pitchFamily="34" charset="0"/>
            </a:endParaRPr>
          </a:p>
          <a:p>
            <a:pPr marL="898525" lvl="1" indent="-356870" eaLnBrk="1" hangingPunct="1">
              <a:spcBef>
                <a:spcPts val="300"/>
              </a:spcBef>
            </a:pPr>
            <a:r>
              <a:rPr lang="zh-CN" altLang="en-US" dirty="0">
                <a:latin typeface="Arial" panose="020B0604020202020204" pitchFamily="34" charset="0"/>
              </a:rPr>
              <a:t>操作员操作失误</a:t>
            </a:r>
            <a:endParaRPr lang="zh-CN" altLang="en-US" dirty="0">
              <a:latin typeface="Arial" panose="020B0604020202020204" pitchFamily="34" charset="0"/>
            </a:endParaRPr>
          </a:p>
          <a:p>
            <a:pPr marL="898525" lvl="1" indent="-356870" eaLnBrk="1" hangingPunct="1">
              <a:spcBef>
                <a:spcPts val="300"/>
              </a:spcBef>
            </a:pPr>
            <a:r>
              <a:rPr lang="zh-CN" altLang="en-US" dirty="0">
                <a:latin typeface="Arial" panose="020B0604020202020204" pitchFamily="34" charset="0"/>
              </a:rPr>
              <a:t>特定类型的硬件错误</a:t>
            </a:r>
            <a:r>
              <a:rPr lang="en-US" altLang="zh-CN" dirty="0">
                <a:latin typeface="Arial" panose="020B0604020202020204" pitchFamily="34" charset="0"/>
              </a:rPr>
              <a:t>(</a:t>
            </a:r>
            <a:r>
              <a:rPr lang="zh-CN" altLang="en-US" dirty="0">
                <a:latin typeface="Arial" panose="020B0604020202020204" pitchFamily="34" charset="0"/>
              </a:rPr>
              <a:t>如</a:t>
            </a:r>
            <a:r>
              <a:rPr lang="en-US" altLang="zh-CN" dirty="0">
                <a:latin typeface="Arial" panose="020B0604020202020204" pitchFamily="34" charset="0"/>
              </a:rPr>
              <a:t>CPU</a:t>
            </a:r>
            <a:r>
              <a:rPr lang="zh-CN" altLang="en-US" dirty="0">
                <a:latin typeface="Arial" panose="020B0604020202020204" pitchFamily="34" charset="0"/>
              </a:rPr>
              <a:t>故障</a:t>
            </a:r>
            <a:r>
              <a:rPr lang="en-US" altLang="zh-CN" dirty="0">
                <a:latin typeface="Arial" panose="020B0604020202020204" pitchFamily="34" charset="0"/>
              </a:rPr>
              <a:t>)</a:t>
            </a:r>
            <a:endParaRPr lang="en-US" altLang="zh-CN" dirty="0">
              <a:latin typeface="Arial" panose="020B0604020202020204" pitchFamily="34" charset="0"/>
            </a:endParaRPr>
          </a:p>
          <a:p>
            <a:pPr marL="898525" lvl="1" indent="-356870" eaLnBrk="1" hangingPunct="1">
              <a:spcBef>
                <a:spcPts val="300"/>
              </a:spcBef>
            </a:pPr>
            <a:r>
              <a:rPr lang="zh-CN" altLang="en-US" dirty="0">
                <a:latin typeface="Arial" panose="020B0604020202020204" pitchFamily="34" charset="0"/>
              </a:rPr>
              <a:t>突然停电等</a:t>
            </a:r>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3523">
                                            <p:txEl>
                                              <p:charRg st="80" end="9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3523">
                                            <p:txEl>
                                              <p:charRg st="90" end="10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3523">
                                            <p:txEl>
                                              <p:charRg st="106" end="11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3523">
                                            <p:txEl>
                                              <p:charRg st="114" end="13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3523">
                                            <p:txEl>
                                              <p:charRg st="132" end="1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7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故障分类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2531" name="Rectangle 3"/>
          <p:cNvSpPr>
            <a:spLocks noGrp="1"/>
          </p:cNvSpPr>
          <p:nvPr>
            <p:ph idx="1"/>
          </p:nvPr>
        </p:nvSpPr>
        <p:spPr>
          <a:xfrm>
            <a:off x="152400" y="1054100"/>
            <a:ext cx="8848725" cy="5543550"/>
          </a:xfrm>
        </p:spPr>
        <p:txBody>
          <a:bodyPr vert="horz" wrap="square" lIns="91440" tIns="45720" rIns="91440" bIns="45720" anchor="t" anchorCtr="0"/>
          <a:p>
            <a:pPr eaLnBrk="1" hangingPunct="1">
              <a:lnSpc>
                <a:spcPct val="95000"/>
              </a:lnSpc>
              <a:buNone/>
            </a:pP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、介质故障</a:t>
            </a:r>
            <a:endParaRPr lang="zh-CN" altLang="en-US" dirty="0">
              <a:solidFill>
                <a:srgbClr val="0000CC"/>
              </a:solidFill>
              <a:latin typeface="Arial" panose="020B0604020202020204" pitchFamily="34" charset="0"/>
            </a:endParaRPr>
          </a:p>
          <a:p>
            <a:pPr marL="898525" lvl="1" indent="-356870" eaLnBrk="1" hangingPunct="1">
              <a:lnSpc>
                <a:spcPct val="95000"/>
              </a:lnSpc>
            </a:pPr>
            <a:r>
              <a:rPr lang="zh-CN" altLang="en-US" dirty="0">
                <a:latin typeface="Arial" panose="020B0604020202020204" pitchFamily="34" charset="0"/>
              </a:rPr>
              <a:t>磁盘物理故障或遭受病毒破坏</a:t>
            </a:r>
            <a:endParaRPr lang="zh-CN" altLang="en-US" dirty="0">
              <a:latin typeface="Arial" panose="020B0604020202020204" pitchFamily="34" charset="0"/>
            </a:endParaRPr>
          </a:p>
          <a:p>
            <a:pPr marL="898525" lvl="1" indent="-356870" eaLnBrk="1" hangingPunct="1">
              <a:lnSpc>
                <a:spcPct val="95000"/>
              </a:lnSpc>
            </a:pPr>
            <a:r>
              <a:rPr lang="zh-CN" altLang="en-US" dirty="0">
                <a:solidFill>
                  <a:srgbClr val="FF0000"/>
                </a:solidFill>
                <a:latin typeface="Arial" panose="020B0604020202020204" pitchFamily="34" charset="0"/>
              </a:rPr>
              <a:t>外存中</a:t>
            </a:r>
            <a:r>
              <a:rPr lang="zh-CN" altLang="en-US" dirty="0">
                <a:latin typeface="Arial" panose="020B0604020202020204" pitchFamily="34" charset="0"/>
              </a:rPr>
              <a:t>的数据部分丢失或全部丢失</a:t>
            </a:r>
            <a:endParaRPr lang="zh-CN" altLang="en-US" dirty="0">
              <a:latin typeface="Arial" panose="020B0604020202020204" pitchFamily="34" charset="0"/>
            </a:endParaRPr>
          </a:p>
          <a:p>
            <a:pPr eaLnBrk="1" hangingPunct="1">
              <a:lnSpc>
                <a:spcPct val="95000"/>
              </a:lnSpc>
              <a:spcBef>
                <a:spcPct val="40000"/>
              </a:spcBef>
            </a:pPr>
            <a:r>
              <a:rPr lang="zh-CN" altLang="en-US" dirty="0">
                <a:latin typeface="Arial" panose="020B0604020202020204" pitchFamily="34" charset="0"/>
              </a:rPr>
              <a:t>介质故障的常见</a:t>
            </a:r>
            <a:r>
              <a:rPr lang="zh-CN" altLang="en-US" dirty="0">
                <a:solidFill>
                  <a:srgbClr val="0000CC"/>
                </a:solidFill>
                <a:latin typeface="Arial" panose="020B0604020202020204" pitchFamily="34" charset="0"/>
              </a:rPr>
              <a:t>原因</a:t>
            </a:r>
            <a:endParaRPr lang="zh-CN" altLang="en-US" dirty="0">
              <a:solidFill>
                <a:srgbClr val="0000CC"/>
              </a:solidFill>
              <a:latin typeface="Arial" panose="020B0604020202020204" pitchFamily="34" charset="0"/>
            </a:endParaRPr>
          </a:p>
          <a:p>
            <a:pPr marL="898525" lvl="1" indent="-356870" eaLnBrk="1" hangingPunct="1">
              <a:spcBef>
                <a:spcPts val="600"/>
              </a:spcBef>
            </a:pPr>
            <a:r>
              <a:rPr lang="zh-CN" altLang="en-US" dirty="0">
                <a:latin typeface="Arial" panose="020B0604020202020204" pitchFamily="34" charset="0"/>
              </a:rPr>
              <a:t>磁盘损坏</a:t>
            </a:r>
            <a:endParaRPr lang="zh-CN" altLang="en-US" dirty="0">
              <a:latin typeface="Arial" panose="020B0604020202020204" pitchFamily="34" charset="0"/>
            </a:endParaRPr>
          </a:p>
          <a:p>
            <a:pPr marL="898525" lvl="1" indent="-356870" eaLnBrk="1" hangingPunct="1">
              <a:lnSpc>
                <a:spcPct val="105000"/>
              </a:lnSpc>
              <a:spcBef>
                <a:spcPct val="0"/>
              </a:spcBef>
            </a:pPr>
            <a:r>
              <a:rPr lang="zh-CN" altLang="en-US" dirty="0">
                <a:latin typeface="Arial" panose="020B0604020202020204" pitchFamily="34" charset="0"/>
              </a:rPr>
              <a:t>病毒和黑客</a:t>
            </a:r>
            <a:endParaRPr lang="zh-CN" altLang="en-US" dirty="0">
              <a:latin typeface="Arial" panose="020B0604020202020204" pitchFamily="34" charset="0"/>
            </a:endParaRPr>
          </a:p>
          <a:p>
            <a:pPr marL="898525" lvl="1" indent="-356870" eaLnBrk="1" hangingPunct="1">
              <a:lnSpc>
                <a:spcPct val="105000"/>
              </a:lnSpc>
              <a:spcBef>
                <a:spcPct val="0"/>
              </a:spcBef>
            </a:pPr>
            <a:r>
              <a:rPr lang="zh-CN" altLang="en-US" dirty="0">
                <a:latin typeface="Arial" panose="020B0604020202020204" pitchFamily="34" charset="0"/>
              </a:rPr>
              <a:t>操作系统的某种潜在错误</a:t>
            </a:r>
            <a:endParaRPr lang="zh-CN" altLang="en-US" dirty="0">
              <a:latin typeface="Arial" panose="020B0604020202020204" pitchFamily="34" charset="0"/>
            </a:endParaRPr>
          </a:p>
          <a:p>
            <a:pPr marL="898525" lvl="1" indent="-356870" eaLnBrk="1" hangingPunct="1">
              <a:lnSpc>
                <a:spcPct val="105000"/>
              </a:lnSpc>
              <a:spcBef>
                <a:spcPct val="0"/>
              </a:spcBef>
            </a:pPr>
            <a:r>
              <a:rPr lang="zh-CN" altLang="en-US" dirty="0">
                <a:latin typeface="Arial" panose="020B0604020202020204" pitchFamily="34" charset="0"/>
              </a:rPr>
              <a:t>瞬时强磁场干扰等</a:t>
            </a:r>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idx="1"/>
          </p:nvPr>
        </p:nvSpPr>
        <p:spPr>
          <a:xfrm>
            <a:off x="152400" y="1052513"/>
            <a:ext cx="8812213" cy="5526087"/>
          </a:xfrm>
        </p:spPr>
        <p:txBody>
          <a:bodyPr vert="horz" wrap="square" lIns="91440" tIns="45720" rIns="91440" bIns="45720" anchor="t" anchorCtr="0"/>
          <a:p>
            <a:pPr marL="365125" indent="-365125" eaLnBrk="1" hangingPunct="1"/>
            <a:r>
              <a:rPr lang="zh-CN" altLang="en-US" dirty="0">
                <a:latin typeface="Arial" panose="020B0604020202020204" pitchFamily="34" charset="0"/>
              </a:rPr>
              <a:t>恢复的</a:t>
            </a:r>
            <a:r>
              <a:rPr lang="zh-CN" altLang="en-US" dirty="0">
                <a:solidFill>
                  <a:srgbClr val="0000CC"/>
                </a:solidFill>
                <a:latin typeface="Arial" panose="020B0604020202020204" pitchFamily="34" charset="0"/>
              </a:rPr>
              <a:t>基本原理</a:t>
            </a:r>
            <a:endParaRPr lang="zh-CN" altLang="en-US" dirty="0">
              <a:solidFill>
                <a:srgbClr val="0000CC"/>
              </a:solidFill>
              <a:latin typeface="Arial" panose="020B0604020202020204" pitchFamily="34" charset="0"/>
            </a:endParaRPr>
          </a:p>
          <a:p>
            <a:pPr marL="814705" lvl="1" eaLnBrk="1" hangingPunct="1">
              <a:lnSpc>
                <a:spcPts val="4300"/>
              </a:lnSpc>
            </a:pPr>
            <a:r>
              <a:rPr lang="zh-CN" altLang="en-US" dirty="0">
                <a:solidFill>
                  <a:srgbClr val="FF0000"/>
                </a:solidFill>
                <a:latin typeface="Arial" panose="020B0604020202020204" pitchFamily="34" charset="0"/>
              </a:rPr>
              <a:t>利用</a:t>
            </a:r>
            <a:r>
              <a:rPr lang="zh-CN" altLang="en-US" dirty="0">
                <a:latin typeface="Arial" panose="020B0604020202020204" pitchFamily="34" charset="0"/>
              </a:rPr>
              <a:t>存储的</a:t>
            </a:r>
            <a:r>
              <a:rPr lang="zh-CN" altLang="en-US" dirty="0">
                <a:solidFill>
                  <a:srgbClr val="FF0000"/>
                </a:solidFill>
                <a:latin typeface="Arial" panose="020B0604020202020204" pitchFamily="34" charset="0"/>
              </a:rPr>
              <a:t>冗余数据</a:t>
            </a:r>
            <a:r>
              <a:rPr lang="zh-CN" altLang="en-US" dirty="0">
                <a:latin typeface="Arial" panose="020B0604020202020204" pitchFamily="34" charset="0"/>
              </a:rPr>
              <a:t>来</a:t>
            </a:r>
            <a:r>
              <a:rPr lang="zh-CN" altLang="en-US" dirty="0">
                <a:solidFill>
                  <a:srgbClr val="FF0000"/>
                </a:solidFill>
                <a:latin typeface="Arial" panose="020B0604020202020204" pitchFamily="34" charset="0"/>
              </a:rPr>
              <a:t>重建</a:t>
            </a:r>
            <a:r>
              <a:rPr lang="zh-CN" altLang="en-US" dirty="0">
                <a:latin typeface="Arial" panose="020B0604020202020204" pitchFamily="34" charset="0"/>
              </a:rPr>
              <a:t>数据库中已被破坏或不正确的数据</a:t>
            </a:r>
            <a:endParaRPr lang="zh-CN" altLang="en-US" dirty="0">
              <a:latin typeface="Arial" panose="020B0604020202020204" pitchFamily="34" charset="0"/>
            </a:endParaRPr>
          </a:p>
          <a:p>
            <a:pPr marL="814705" lvl="1" eaLnBrk="1" hangingPunct="1"/>
            <a:endParaRPr lang="zh-CN" altLang="en-US" sz="2000" dirty="0">
              <a:latin typeface="Arial" panose="020B0604020202020204" pitchFamily="34" charset="0"/>
            </a:endParaRPr>
          </a:p>
          <a:p>
            <a:pPr marL="365125" indent="-365125" eaLnBrk="1" hangingPunct="1"/>
            <a:r>
              <a:rPr lang="zh-CN" altLang="en-US" dirty="0">
                <a:latin typeface="Arial" panose="020B0604020202020204" pitchFamily="34" charset="0"/>
              </a:rPr>
              <a:t>恢复的</a:t>
            </a:r>
            <a:r>
              <a:rPr lang="zh-CN" altLang="en-US" dirty="0">
                <a:solidFill>
                  <a:srgbClr val="0000CC"/>
                </a:solidFill>
                <a:latin typeface="Arial" panose="020B0604020202020204" pitchFamily="34" charset="0"/>
              </a:rPr>
              <a:t>基本方法</a:t>
            </a:r>
            <a:endParaRPr lang="zh-CN" altLang="en-US" dirty="0">
              <a:solidFill>
                <a:srgbClr val="0000CC"/>
              </a:solidFill>
              <a:latin typeface="Arial" panose="020B0604020202020204" pitchFamily="34" charset="0"/>
            </a:endParaRPr>
          </a:p>
          <a:p>
            <a:pPr marL="814705" lvl="1" eaLnBrk="1" hangingPunct="1">
              <a:lnSpc>
                <a:spcPct val="90000"/>
              </a:lnSpc>
              <a:spcBef>
                <a:spcPct val="35000"/>
              </a:spcBef>
            </a:pPr>
            <a:r>
              <a:rPr lang="zh-CN" altLang="en-US" sz="3600" dirty="0">
                <a:solidFill>
                  <a:srgbClr val="FF0000"/>
                </a:solidFill>
                <a:latin typeface="Arial" panose="020B0604020202020204" pitchFamily="34" charset="0"/>
              </a:rPr>
              <a:t>实行数据转储</a:t>
            </a:r>
            <a:r>
              <a:rPr lang="zh-CN" altLang="en-US" sz="3600" dirty="0">
                <a:latin typeface="Arial" panose="020B0604020202020204" pitchFamily="34" charset="0"/>
              </a:rPr>
              <a:t>：</a:t>
            </a:r>
            <a:r>
              <a:rPr lang="zh-CN" altLang="en-US" dirty="0">
                <a:latin typeface="Arial" panose="020B0604020202020204" pitchFamily="34" charset="0"/>
              </a:rPr>
              <a:t>定时对数据库进行备份</a:t>
            </a:r>
            <a:endParaRPr lang="zh-CN" altLang="en-US" dirty="0">
              <a:latin typeface="Arial" panose="020B0604020202020204" pitchFamily="34" charset="0"/>
            </a:endParaRPr>
          </a:p>
          <a:p>
            <a:pPr marL="814705" lvl="1" eaLnBrk="1" hangingPunct="1">
              <a:lnSpc>
                <a:spcPts val="4500"/>
              </a:lnSpc>
              <a:spcBef>
                <a:spcPct val="25000"/>
              </a:spcBef>
            </a:pPr>
            <a:r>
              <a:rPr lang="zh-CN" altLang="en-US" sz="3600" dirty="0">
                <a:solidFill>
                  <a:srgbClr val="FF0000"/>
                </a:solidFill>
                <a:latin typeface="Arial" panose="020B0604020202020204" pitchFamily="34" charset="0"/>
              </a:rPr>
              <a:t>建立日志文件</a:t>
            </a:r>
            <a:r>
              <a:rPr lang="zh-CN" altLang="en-US" sz="3600" dirty="0">
                <a:latin typeface="Arial" panose="020B0604020202020204" pitchFamily="34" charset="0"/>
              </a:rPr>
              <a:t>：</a:t>
            </a:r>
            <a:r>
              <a:rPr lang="zh-CN" altLang="en-US" dirty="0">
                <a:latin typeface="Arial" panose="020B0604020202020204" pitchFamily="34" charset="0"/>
              </a:rPr>
              <a:t>记录事务对数据库的更新操作，将数据库尽量恢复到最近状态。</a:t>
            </a:r>
            <a:endParaRPr lang="zh-CN" altLang="en-US" dirty="0">
              <a:latin typeface="Arial" panose="020B0604020202020204" pitchFamily="34" charset="0"/>
            </a:endParaRPr>
          </a:p>
        </p:txBody>
      </p:sp>
      <p:sp>
        <p:nvSpPr>
          <p:cNvPr id="36761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恢复的实现技术</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 </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idx="1"/>
          </p:nvPr>
        </p:nvSpPr>
        <p:spPr>
          <a:xfrm>
            <a:off x="152400" y="1052513"/>
            <a:ext cx="8812213" cy="5273675"/>
          </a:xfrm>
        </p:spPr>
        <p:txBody>
          <a:bodyPr vert="horz" wrap="square" lIns="91440" tIns="45720" rIns="91440" bIns="45720" anchor="t" anchorCtr="0"/>
          <a:p>
            <a:pPr marL="365125" indent="-365125" eaLnBrk="1" hangingPunct="1"/>
            <a:r>
              <a:rPr lang="zh-CN" altLang="en-US" dirty="0">
                <a:latin typeface="Arial" panose="020B0604020202020204" pitchFamily="34" charset="0"/>
              </a:rPr>
              <a:t>什么是</a:t>
            </a:r>
            <a:r>
              <a:rPr lang="zh-CN" altLang="en-US" dirty="0">
                <a:solidFill>
                  <a:srgbClr val="0000CC"/>
                </a:solidFill>
                <a:latin typeface="Arial" panose="020B0604020202020204" pitchFamily="34" charset="0"/>
              </a:rPr>
              <a:t>数据转储</a:t>
            </a:r>
            <a:endParaRPr lang="zh-CN" altLang="en-US" dirty="0">
              <a:solidFill>
                <a:srgbClr val="0000CC"/>
              </a:solidFill>
              <a:latin typeface="Arial" panose="020B0604020202020204" pitchFamily="34" charset="0"/>
            </a:endParaRPr>
          </a:p>
          <a:p>
            <a:pPr marL="981075" lvl="1" indent="-350520" eaLnBrk="1" hangingPunct="1">
              <a:spcBef>
                <a:spcPts val="600"/>
              </a:spcBef>
            </a:pPr>
            <a:r>
              <a:rPr lang="zh-CN" altLang="en-US" dirty="0">
                <a:latin typeface="Arial" panose="020B0604020202020204" pitchFamily="34" charset="0"/>
              </a:rPr>
              <a:t>指定期将数据库的内容复制到另一个存储设备中去</a:t>
            </a:r>
            <a:endParaRPr lang="zh-CN" altLang="en-US" dirty="0">
              <a:latin typeface="Arial" panose="020B0604020202020204" pitchFamily="34" charset="0"/>
            </a:endParaRPr>
          </a:p>
          <a:p>
            <a:pPr marL="981075" lvl="1" indent="-350520" eaLnBrk="1" hangingPunct="1">
              <a:spcBef>
                <a:spcPts val="600"/>
              </a:spcBef>
            </a:pPr>
            <a:r>
              <a:rPr lang="zh-CN" altLang="en-US" dirty="0">
                <a:latin typeface="Arial" panose="020B0604020202020204" pitchFamily="34" charset="0"/>
              </a:rPr>
              <a:t>这些存储的数据称为</a:t>
            </a:r>
            <a:r>
              <a:rPr lang="zh-CN" altLang="en-US" dirty="0">
                <a:solidFill>
                  <a:srgbClr val="0000CC"/>
                </a:solidFill>
                <a:latin typeface="Arial" panose="020B0604020202020204" pitchFamily="34" charset="0"/>
              </a:rPr>
              <a:t>备份副本</a:t>
            </a:r>
            <a:r>
              <a:rPr lang="zh-CN" altLang="en-US" dirty="0">
                <a:latin typeface="Arial" panose="020B0604020202020204" pitchFamily="34" charset="0"/>
              </a:rPr>
              <a:t>或后备副本</a:t>
            </a:r>
            <a:endParaRPr lang="zh-CN" altLang="en-US" dirty="0">
              <a:latin typeface="Arial" panose="020B0604020202020204" pitchFamily="34" charset="0"/>
            </a:endParaRPr>
          </a:p>
          <a:p>
            <a:pPr marL="365125" indent="-365125" eaLnBrk="1" hangingPunct="1">
              <a:spcBef>
                <a:spcPts val="1800"/>
              </a:spcBef>
            </a:pPr>
            <a:r>
              <a:rPr lang="zh-CN" altLang="en-US" dirty="0">
                <a:latin typeface="Arial" panose="020B0604020202020204" pitchFamily="34" charset="0"/>
              </a:rPr>
              <a:t>转储</a:t>
            </a:r>
            <a:r>
              <a:rPr lang="zh-CN" altLang="en-US" dirty="0">
                <a:solidFill>
                  <a:srgbClr val="0000CC"/>
                </a:solidFill>
                <a:latin typeface="Arial" panose="020B0604020202020204" pitchFamily="34" charset="0"/>
              </a:rPr>
              <a:t>方法</a:t>
            </a:r>
            <a:endParaRPr lang="zh-CN" altLang="en-US" dirty="0">
              <a:solidFill>
                <a:srgbClr val="0000CC"/>
              </a:solidFill>
              <a:latin typeface="Arial" panose="020B0604020202020204" pitchFamily="34" charset="0"/>
            </a:endParaRPr>
          </a:p>
          <a:p>
            <a:pPr marL="981075" lvl="1" indent="-350520" eaLnBrk="1" hangingPunct="1">
              <a:spcBef>
                <a:spcPts val="1200"/>
              </a:spcBef>
            </a:pPr>
            <a:r>
              <a:rPr lang="zh-CN" altLang="en-US" dirty="0">
                <a:latin typeface="Arial" panose="020B0604020202020204" pitchFamily="34" charset="0"/>
              </a:rPr>
              <a:t>静态转储与动态转储（从运行状态）</a:t>
            </a:r>
            <a:endParaRPr lang="en-US" altLang="zh-CN" dirty="0">
              <a:latin typeface="Arial" panose="020B0604020202020204" pitchFamily="34" charset="0"/>
            </a:endParaRPr>
          </a:p>
          <a:p>
            <a:pPr marL="981075" lvl="1" indent="-350520" eaLnBrk="1" hangingPunct="1">
              <a:spcBef>
                <a:spcPts val="1200"/>
              </a:spcBef>
            </a:pPr>
            <a:r>
              <a:rPr lang="zh-CN" altLang="en-US" dirty="0"/>
              <a:t>海量</a:t>
            </a:r>
            <a:r>
              <a:rPr lang="zh-CN" altLang="en-US" dirty="0">
                <a:latin typeface="Arial" panose="020B0604020202020204" pitchFamily="34" charset="0"/>
              </a:rPr>
              <a:t>转储与增量转储（从进行方式）</a:t>
            </a:r>
            <a:endParaRPr lang="en-US" altLang="zh-CN" dirty="0">
              <a:latin typeface="Arial" panose="020B0604020202020204" pitchFamily="34" charset="0"/>
            </a:endParaRPr>
          </a:p>
        </p:txBody>
      </p:sp>
      <p:sp>
        <p:nvSpPr>
          <p:cNvPr id="3696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、数据转储</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idx="1"/>
          </p:nvPr>
        </p:nvSpPr>
        <p:spPr>
          <a:xfrm>
            <a:off x="152400" y="1052513"/>
            <a:ext cx="8812213" cy="5381625"/>
          </a:xfrm>
        </p:spPr>
        <p:txBody>
          <a:bodyPr vert="horz" wrap="square" lIns="91440" tIns="45720" rIns="91440" bIns="45720" anchor="t" anchorCtr="0"/>
          <a:p>
            <a:pPr marL="352425" indent="-352425" defTabSz="981075" eaLnBrk="1" hangingPunct="1"/>
            <a:r>
              <a:rPr lang="zh-CN" altLang="en-US" dirty="0">
                <a:solidFill>
                  <a:srgbClr val="0000CC"/>
                </a:solidFill>
              </a:rPr>
              <a:t>静态转储</a:t>
            </a:r>
            <a:endParaRPr lang="zh-CN" altLang="en-US" dirty="0">
              <a:solidFill>
                <a:srgbClr val="0000CC"/>
              </a:solidFill>
            </a:endParaRPr>
          </a:p>
          <a:p>
            <a:pPr marL="809625" lvl="1" indent="-277495" defTabSz="981075" eaLnBrk="1" hangingPunct="1">
              <a:spcBef>
                <a:spcPts val="600"/>
              </a:spcBef>
            </a:pPr>
            <a:r>
              <a:rPr lang="zh-CN" altLang="en-US" dirty="0">
                <a:latin typeface="Arial" panose="020B0604020202020204" pitchFamily="34" charset="0"/>
              </a:rPr>
              <a:t>在系统中无事务运行时进行转储</a:t>
            </a:r>
            <a:endParaRPr lang="zh-CN" altLang="en-US" dirty="0">
              <a:latin typeface="Arial" panose="020B0604020202020204" pitchFamily="34" charset="0"/>
            </a:endParaRPr>
          </a:p>
          <a:p>
            <a:pPr marL="809625" lvl="1" indent="-277495" defTabSz="981075" eaLnBrk="1" hangingPunct="1">
              <a:spcBef>
                <a:spcPts val="600"/>
              </a:spcBef>
            </a:pPr>
            <a:r>
              <a:rPr lang="zh-CN" altLang="en-US" dirty="0">
                <a:latin typeface="Arial" panose="020B0604020202020204" pitchFamily="34" charset="0"/>
              </a:rPr>
              <a:t>转储开始时数据库处于一致性状态</a:t>
            </a:r>
            <a:endParaRPr lang="zh-CN" altLang="en-US" dirty="0">
              <a:latin typeface="Arial" panose="020B0604020202020204" pitchFamily="34" charset="0"/>
            </a:endParaRPr>
          </a:p>
          <a:p>
            <a:pPr marL="809625" lvl="1" indent="-277495" defTabSz="981075" eaLnBrk="1" hangingPunct="1">
              <a:spcBef>
                <a:spcPts val="600"/>
              </a:spcBef>
            </a:pPr>
            <a:r>
              <a:rPr lang="zh-CN" altLang="en-US" dirty="0">
                <a:latin typeface="Arial" panose="020B0604020202020204" pitchFamily="34" charset="0"/>
              </a:rPr>
              <a:t>转储期间不允许对数据库执行任何操作</a:t>
            </a:r>
            <a:endParaRPr lang="zh-CN" altLang="en-US" dirty="0">
              <a:latin typeface="Arial" panose="020B0604020202020204" pitchFamily="34" charset="0"/>
            </a:endParaRPr>
          </a:p>
          <a:p>
            <a:pPr marL="352425" indent="-352425" defTabSz="981075" eaLnBrk="1" hangingPunct="1">
              <a:spcBef>
                <a:spcPct val="35000"/>
              </a:spcBef>
            </a:pPr>
            <a:r>
              <a:rPr lang="zh-CN" altLang="en-US" dirty="0">
                <a:solidFill>
                  <a:srgbClr val="0000CC"/>
                </a:solidFill>
                <a:latin typeface="Arial" panose="020B0604020202020204" pitchFamily="34" charset="0"/>
              </a:rPr>
              <a:t>优点</a:t>
            </a:r>
            <a:endParaRPr lang="zh-CN" altLang="en-US" dirty="0">
              <a:solidFill>
                <a:srgbClr val="0000CC"/>
              </a:solidFill>
              <a:latin typeface="Arial" panose="020B0604020202020204" pitchFamily="34" charset="0"/>
            </a:endParaRPr>
          </a:p>
          <a:p>
            <a:pPr marL="809625" lvl="1" indent="-277495" defTabSz="981075" eaLnBrk="1" hangingPunct="1">
              <a:spcBef>
                <a:spcPct val="0"/>
              </a:spcBef>
            </a:pPr>
            <a:r>
              <a:rPr lang="zh-CN" altLang="en-US" dirty="0">
                <a:latin typeface="Arial" panose="020B0604020202020204" pitchFamily="34" charset="0"/>
              </a:rPr>
              <a:t>实现简单</a:t>
            </a:r>
            <a:endParaRPr lang="zh-CN" altLang="en-US" dirty="0">
              <a:latin typeface="Arial" panose="020B0604020202020204" pitchFamily="34" charset="0"/>
            </a:endParaRPr>
          </a:p>
          <a:p>
            <a:pPr marL="352425" indent="-352425" defTabSz="981075" eaLnBrk="1" hangingPunct="1">
              <a:spcBef>
                <a:spcPct val="30000"/>
              </a:spcBef>
            </a:pPr>
            <a:r>
              <a:rPr lang="zh-CN" altLang="en-US" dirty="0">
                <a:solidFill>
                  <a:srgbClr val="0000CC"/>
                </a:solidFill>
                <a:latin typeface="Arial" panose="020B0604020202020204" pitchFamily="34" charset="0"/>
              </a:rPr>
              <a:t>缺点</a:t>
            </a:r>
            <a:endParaRPr lang="zh-CN" altLang="en-US" dirty="0">
              <a:latin typeface="Arial" panose="020B0604020202020204" pitchFamily="34" charset="0"/>
            </a:endParaRPr>
          </a:p>
          <a:p>
            <a:pPr marL="809625" lvl="1" indent="-277495" defTabSz="981075" eaLnBrk="1" hangingPunct="1">
              <a:spcBef>
                <a:spcPct val="0"/>
              </a:spcBef>
            </a:pPr>
            <a:r>
              <a:rPr lang="zh-CN" altLang="en-US" dirty="0">
                <a:latin typeface="Arial" panose="020B0604020202020204" pitchFamily="34" charset="0"/>
              </a:rPr>
              <a:t>降低了数据库的可用性</a:t>
            </a:r>
            <a:endParaRPr lang="zh-CN" altLang="en-US" dirty="0">
              <a:latin typeface="Arial" panose="020B0604020202020204" pitchFamily="34" charset="0"/>
            </a:endParaRPr>
          </a:p>
        </p:txBody>
      </p:sp>
      <p:sp>
        <p:nvSpPr>
          <p:cNvPr id="3717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静态转储与动态转储</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Rectangle 2"/>
          <p:cNvSpPr>
            <a:spLocks noGrp="1"/>
          </p:cNvSpPr>
          <p:nvPr>
            <p:ph idx="1"/>
          </p:nvPr>
        </p:nvSpPr>
        <p:spPr>
          <a:xfrm>
            <a:off x="117475" y="1052513"/>
            <a:ext cx="8669338" cy="5273675"/>
          </a:xfrm>
        </p:spPr>
        <p:txBody>
          <a:bodyPr vert="horz" wrap="square" lIns="91440" tIns="45720" rIns="91440" bIns="45720" anchor="t" anchorCtr="0"/>
          <a:p>
            <a:pPr marL="352425" indent="-352425" eaLnBrk="1" hangingPunct="1"/>
            <a:r>
              <a:rPr lang="zh-CN" altLang="en-US" dirty="0">
                <a:solidFill>
                  <a:srgbClr val="0000CC"/>
                </a:solidFill>
              </a:rPr>
              <a:t>动态转储</a:t>
            </a:r>
            <a:endParaRPr lang="zh-CN" altLang="en-US" dirty="0">
              <a:solidFill>
                <a:srgbClr val="0000CC"/>
              </a:solidFill>
            </a:endParaRPr>
          </a:p>
          <a:p>
            <a:pPr marL="898525" lvl="1" indent="-353695" eaLnBrk="1" hangingPunct="1">
              <a:spcBef>
                <a:spcPts val="600"/>
              </a:spcBef>
            </a:pPr>
            <a:r>
              <a:rPr lang="zh-CN" altLang="en-US" dirty="0"/>
              <a:t>转储操作与用户事务并发进行</a:t>
            </a:r>
            <a:endParaRPr lang="zh-CN" altLang="en-US" dirty="0"/>
          </a:p>
          <a:p>
            <a:pPr marL="898525" lvl="1" indent="-353695" eaLnBrk="1" hangingPunct="1">
              <a:spcBef>
                <a:spcPts val="600"/>
              </a:spcBef>
            </a:pPr>
            <a:r>
              <a:rPr lang="zh-CN" altLang="en-US" dirty="0"/>
              <a:t>转储期间允许对数据库进行存取或修改</a:t>
            </a:r>
            <a:endParaRPr lang="zh-CN" altLang="en-US" sz="3600" dirty="0"/>
          </a:p>
          <a:p>
            <a:pPr marL="352425" indent="-352425" eaLnBrk="1" hangingPunct="1">
              <a:spcBef>
                <a:spcPct val="30000"/>
              </a:spcBef>
            </a:pPr>
            <a:r>
              <a:rPr lang="zh-CN" altLang="en-US" dirty="0">
                <a:solidFill>
                  <a:srgbClr val="0000CC"/>
                </a:solidFill>
              </a:rPr>
              <a:t>优点</a:t>
            </a:r>
            <a:endParaRPr lang="zh-CN" altLang="en-US" dirty="0">
              <a:solidFill>
                <a:srgbClr val="0000CC"/>
              </a:solidFill>
            </a:endParaRPr>
          </a:p>
          <a:p>
            <a:pPr marL="898525" lvl="1" indent="-353695" eaLnBrk="1" hangingPunct="1">
              <a:spcBef>
                <a:spcPts val="600"/>
              </a:spcBef>
            </a:pPr>
            <a:r>
              <a:rPr lang="zh-CN" altLang="en-US" dirty="0"/>
              <a:t>不用等待正在运行的用户事务结束</a:t>
            </a:r>
            <a:endParaRPr lang="zh-CN" altLang="en-US" dirty="0"/>
          </a:p>
          <a:p>
            <a:pPr marL="898525" lvl="1" indent="-353695" eaLnBrk="1" hangingPunct="1">
              <a:spcBef>
                <a:spcPts val="600"/>
              </a:spcBef>
            </a:pPr>
            <a:r>
              <a:rPr lang="zh-CN" altLang="en-US" dirty="0"/>
              <a:t>不会影响新事务的运行</a:t>
            </a:r>
            <a:endParaRPr lang="zh-CN" altLang="en-US" dirty="0"/>
          </a:p>
          <a:p>
            <a:pPr marL="352425" indent="-352425" eaLnBrk="1" hangingPunct="1">
              <a:spcBef>
                <a:spcPct val="25000"/>
              </a:spcBef>
            </a:pPr>
            <a:r>
              <a:rPr lang="zh-CN" altLang="en-US" dirty="0">
                <a:solidFill>
                  <a:srgbClr val="0000CC"/>
                </a:solidFill>
              </a:rPr>
              <a:t>缺点</a:t>
            </a:r>
            <a:endParaRPr lang="zh-CN" altLang="en-US" dirty="0">
              <a:solidFill>
                <a:srgbClr val="0000CC"/>
              </a:solidFill>
            </a:endParaRPr>
          </a:p>
          <a:p>
            <a:pPr marL="898525" lvl="1" indent="-353695" eaLnBrk="1" hangingPunct="1">
              <a:spcBef>
                <a:spcPct val="0"/>
              </a:spcBef>
            </a:pPr>
            <a:r>
              <a:rPr lang="zh-CN" altLang="en-US" dirty="0"/>
              <a:t>实现技术复杂</a:t>
            </a:r>
            <a:endParaRPr lang="zh-CN" altLang="en-US" dirty="0"/>
          </a:p>
          <a:p>
            <a:pPr marL="898525" lvl="1" indent="-353695" eaLnBrk="1" hangingPunct="1">
              <a:spcBef>
                <a:spcPct val="0"/>
              </a:spcBef>
            </a:pPr>
            <a:endParaRPr lang="en-US" altLang="zh-CN" sz="3600" dirty="0">
              <a:latin typeface="Arial" panose="020B0604020202020204" pitchFamily="34" charset="0"/>
            </a:endParaRPr>
          </a:p>
        </p:txBody>
      </p:sp>
      <p:sp>
        <p:nvSpPr>
          <p:cNvPr id="3737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静态转储与动态转储</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3762">
                                            <p:txEl>
                                              <p:charRg st="37" end="4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3762">
                                            <p:txEl>
                                              <p:charRg st="40" end="5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3762">
                                            <p:txEl>
                                              <p:charRg st="56" end="6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3762">
                                            <p:txEl>
                                              <p:charRg st="67" end="7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3762">
                                            <p:txEl>
                                              <p:charRg st="70" end="7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idx="1"/>
          </p:nvPr>
        </p:nvSpPr>
        <p:spPr>
          <a:xfrm>
            <a:off x="152400" y="981075"/>
            <a:ext cx="8812213" cy="5435600"/>
          </a:xfrm>
        </p:spPr>
        <p:txBody>
          <a:bodyPr vert="horz" wrap="square" lIns="91440" tIns="45720" rIns="91440" bIns="45720" anchor="t" anchorCtr="0"/>
          <a:p>
            <a:pPr marL="352425" indent="-352425" eaLnBrk="1" hangingPunct="1"/>
            <a:r>
              <a:rPr lang="zh-CN" altLang="en-US" dirty="0">
                <a:solidFill>
                  <a:srgbClr val="0000CC"/>
                </a:solidFill>
                <a:latin typeface="Arial" panose="020B0604020202020204" pitchFamily="34" charset="0"/>
              </a:rPr>
              <a:t>海量转储</a:t>
            </a:r>
            <a:endParaRPr lang="zh-CN" altLang="en-US" dirty="0">
              <a:solidFill>
                <a:srgbClr val="0000CC"/>
              </a:solidFill>
              <a:latin typeface="Arial" panose="020B0604020202020204" pitchFamily="34" charset="0"/>
            </a:endParaRPr>
          </a:p>
          <a:p>
            <a:pPr marL="981075" lvl="1" indent="-350520" eaLnBrk="1" hangingPunct="1">
              <a:spcBef>
                <a:spcPct val="0"/>
              </a:spcBef>
            </a:pPr>
            <a:r>
              <a:rPr lang="zh-CN" altLang="en-US" dirty="0">
                <a:latin typeface="Arial" panose="020B0604020202020204" pitchFamily="34" charset="0"/>
              </a:rPr>
              <a:t>每次转储全部数据库</a:t>
            </a:r>
            <a:endParaRPr lang="zh-CN" altLang="en-US" dirty="0">
              <a:latin typeface="Arial" panose="020B0604020202020204" pitchFamily="34" charset="0"/>
            </a:endParaRPr>
          </a:p>
          <a:p>
            <a:pPr marL="352425" indent="-352425" eaLnBrk="1" hangingPunct="1">
              <a:spcBef>
                <a:spcPct val="35000"/>
              </a:spcBef>
            </a:pPr>
            <a:r>
              <a:rPr lang="zh-CN" altLang="en-US" dirty="0">
                <a:solidFill>
                  <a:srgbClr val="0000CC"/>
                </a:solidFill>
                <a:latin typeface="Arial" panose="020B0604020202020204" pitchFamily="34" charset="0"/>
              </a:rPr>
              <a:t>增量转储</a:t>
            </a:r>
            <a:endParaRPr lang="zh-CN" altLang="en-US" dirty="0">
              <a:solidFill>
                <a:srgbClr val="0000CC"/>
              </a:solidFill>
              <a:latin typeface="Arial" panose="020B0604020202020204" pitchFamily="34" charset="0"/>
            </a:endParaRPr>
          </a:p>
          <a:p>
            <a:pPr marL="981075" lvl="1" indent="-350520" eaLnBrk="1" hangingPunct="1">
              <a:spcBef>
                <a:spcPct val="0"/>
              </a:spcBef>
            </a:pPr>
            <a:r>
              <a:rPr lang="zh-CN" altLang="en-US" dirty="0">
                <a:latin typeface="Arial" panose="020B0604020202020204" pitchFamily="34" charset="0"/>
              </a:rPr>
              <a:t>只转储上次转储后更新过的数据</a:t>
            </a:r>
            <a:endParaRPr lang="zh-CN" altLang="en-US" dirty="0">
              <a:latin typeface="Arial" panose="020B0604020202020204" pitchFamily="34" charset="0"/>
            </a:endParaRPr>
          </a:p>
          <a:p>
            <a:pPr marL="352425" indent="-352425" eaLnBrk="1" hangingPunct="1">
              <a:spcBef>
                <a:spcPct val="30000"/>
              </a:spcBef>
            </a:pPr>
            <a:r>
              <a:rPr lang="zh-CN" altLang="en-US" dirty="0"/>
              <a:t>海量</a:t>
            </a:r>
            <a:r>
              <a:rPr lang="zh-CN" altLang="en-US" dirty="0">
                <a:latin typeface="Arial" panose="020B0604020202020204" pitchFamily="34" charset="0"/>
              </a:rPr>
              <a:t>转储与增量转储</a:t>
            </a:r>
            <a:r>
              <a:rPr lang="zh-CN" altLang="en-US" dirty="0">
                <a:solidFill>
                  <a:srgbClr val="0000CC"/>
                </a:solidFill>
                <a:latin typeface="Arial" panose="020B0604020202020204" pitchFamily="34" charset="0"/>
              </a:rPr>
              <a:t>比较</a:t>
            </a:r>
            <a:endParaRPr lang="zh-CN" altLang="en-US" dirty="0">
              <a:solidFill>
                <a:srgbClr val="0000CC"/>
              </a:solidFill>
              <a:latin typeface="Arial" panose="020B0604020202020204" pitchFamily="34" charset="0"/>
            </a:endParaRPr>
          </a:p>
          <a:p>
            <a:pPr marL="981075" lvl="1" indent="-350520" eaLnBrk="1" hangingPunct="1">
              <a:spcBef>
                <a:spcPts val="600"/>
              </a:spcBef>
            </a:pPr>
            <a:r>
              <a:rPr lang="zh-CN" altLang="en-US" dirty="0">
                <a:latin typeface="Arial" panose="020B0604020202020204" pitchFamily="34" charset="0"/>
              </a:rPr>
              <a:t>从恢复角度看，使用</a:t>
            </a:r>
            <a:r>
              <a:rPr lang="zh-CN" altLang="en-US" dirty="0"/>
              <a:t>海量</a:t>
            </a:r>
            <a:r>
              <a:rPr lang="zh-CN" altLang="en-US" dirty="0">
                <a:latin typeface="Arial" panose="020B0604020202020204" pitchFamily="34" charset="0"/>
              </a:rPr>
              <a:t>转储得到的备份副本进行恢复更方便</a:t>
            </a:r>
            <a:endParaRPr lang="zh-CN" altLang="en-US" dirty="0">
              <a:latin typeface="Arial" panose="020B0604020202020204" pitchFamily="34" charset="0"/>
            </a:endParaRPr>
          </a:p>
          <a:p>
            <a:pPr marL="981075" lvl="1" indent="-350520" eaLnBrk="1" hangingPunct="1">
              <a:spcBef>
                <a:spcPts val="600"/>
              </a:spcBef>
            </a:pPr>
            <a:r>
              <a:rPr lang="zh-CN" altLang="en-US" dirty="0">
                <a:latin typeface="Arial" panose="020B0604020202020204" pitchFamily="34" charset="0"/>
              </a:rPr>
              <a:t>当数据库很大，事务处理又十分频繁时，增量转储更实用、有效</a:t>
            </a:r>
            <a:endParaRPr lang="zh-CN" altLang="en-US" dirty="0">
              <a:latin typeface="Arial" panose="020B0604020202020204" pitchFamily="34" charset="0"/>
            </a:endParaRPr>
          </a:p>
        </p:txBody>
      </p:sp>
      <p:sp>
        <p:nvSpPr>
          <p:cNvPr id="37581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海量转储与增量转储</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idx="1"/>
          </p:nvPr>
        </p:nvSpPr>
        <p:spPr>
          <a:xfrm>
            <a:off x="152400" y="1143000"/>
            <a:ext cx="8740775" cy="5273675"/>
          </a:xfrm>
        </p:spPr>
        <p:txBody>
          <a:bodyPr vert="horz" wrap="square" lIns="91440" tIns="45720" rIns="91440" bIns="45720" anchor="t" anchorCtr="0"/>
          <a:p>
            <a:pPr marL="365125" indent="-365125" eaLnBrk="1" hangingPunct="1">
              <a:spcBef>
                <a:spcPct val="30000"/>
              </a:spcBef>
            </a:pPr>
            <a:r>
              <a:rPr lang="zh-CN" altLang="en-US" dirty="0">
                <a:latin typeface="Arial" panose="020B0604020202020204" pitchFamily="34" charset="0"/>
              </a:rPr>
              <a:t>应定期进行数据转储，制作备份副本。</a:t>
            </a:r>
            <a:endParaRPr lang="zh-CN" altLang="en-US" dirty="0">
              <a:latin typeface="Arial" panose="020B0604020202020204" pitchFamily="34" charset="0"/>
            </a:endParaRPr>
          </a:p>
          <a:p>
            <a:pPr marL="365125" indent="-365125" eaLnBrk="1" hangingPunct="1">
              <a:spcBef>
                <a:spcPct val="30000"/>
              </a:spcBef>
            </a:pPr>
            <a:r>
              <a:rPr lang="en-US" altLang="zh-CN" dirty="0">
                <a:latin typeface="Arial" panose="020B0604020202020204" pitchFamily="34" charset="0"/>
              </a:rPr>
              <a:t>DBA</a:t>
            </a:r>
            <a:r>
              <a:rPr lang="zh-CN" altLang="en-US" dirty="0">
                <a:latin typeface="Arial" panose="020B0604020202020204" pitchFamily="34" charset="0"/>
              </a:rPr>
              <a:t>应根据数据库使用情况确定适当的转储周期和转储方法。</a:t>
            </a:r>
            <a:endParaRPr lang="zh-CN" altLang="en-US" dirty="0">
              <a:latin typeface="Arial" panose="020B0604020202020204" pitchFamily="34" charset="0"/>
            </a:endParaRPr>
          </a:p>
          <a:p>
            <a:pPr marL="365125" indent="-365125" eaLnBrk="1" hangingPunct="1">
              <a:spcBef>
                <a:spcPct val="30000"/>
              </a:spcBef>
            </a:pPr>
            <a:r>
              <a:rPr lang="zh-CN" altLang="en-US" dirty="0">
                <a:latin typeface="Arial" panose="020B0604020202020204" pitchFamily="34" charset="0"/>
              </a:rPr>
              <a:t>例：</a:t>
            </a:r>
            <a:endParaRPr lang="zh-CN" altLang="en-US" dirty="0">
              <a:latin typeface="Arial" panose="020B0604020202020204" pitchFamily="34" charset="0"/>
            </a:endParaRPr>
          </a:p>
          <a:p>
            <a:pPr marL="981075" lvl="1" indent="-350520" eaLnBrk="1" hangingPunct="1"/>
            <a:r>
              <a:rPr lang="zh-CN" altLang="en-US" sz="3600" dirty="0">
                <a:latin typeface="Arial" panose="020B0604020202020204" pitchFamily="34" charset="0"/>
              </a:rPr>
              <a:t>每天晚上进行动态增量转储</a:t>
            </a:r>
            <a:endParaRPr lang="zh-CN" altLang="en-US" sz="3600" dirty="0">
              <a:latin typeface="Arial" panose="020B0604020202020204" pitchFamily="34" charset="0"/>
            </a:endParaRPr>
          </a:p>
          <a:p>
            <a:pPr marL="981075" lvl="1" indent="-350520" eaLnBrk="1" hangingPunct="1"/>
            <a:r>
              <a:rPr lang="zh-CN" altLang="en-US" sz="3600" dirty="0">
                <a:latin typeface="Arial" panose="020B0604020202020204" pitchFamily="34" charset="0"/>
              </a:rPr>
              <a:t>每周进行一次动态</a:t>
            </a:r>
            <a:r>
              <a:rPr lang="zh-CN" altLang="en-US" sz="3600" dirty="0"/>
              <a:t>海量</a:t>
            </a:r>
            <a:r>
              <a:rPr lang="zh-CN" altLang="en-US" sz="3600" dirty="0">
                <a:latin typeface="Arial" panose="020B0604020202020204" pitchFamily="34" charset="0"/>
              </a:rPr>
              <a:t>转储</a:t>
            </a:r>
            <a:endParaRPr lang="zh-CN" altLang="en-US" sz="4000" dirty="0">
              <a:latin typeface="Arial" panose="020B0604020202020204" pitchFamily="34" charset="0"/>
            </a:endParaRPr>
          </a:p>
          <a:p>
            <a:pPr marL="981075" lvl="1" indent="-350520" eaLnBrk="1" hangingPunct="1"/>
            <a:r>
              <a:rPr lang="zh-CN" altLang="en-US" sz="3600" dirty="0">
                <a:latin typeface="Arial" panose="020B0604020202020204" pitchFamily="34" charset="0"/>
              </a:rPr>
              <a:t>每月进行一次静态</a:t>
            </a:r>
            <a:r>
              <a:rPr lang="zh-CN" altLang="en-US" sz="3600" dirty="0"/>
              <a:t>海量</a:t>
            </a:r>
            <a:r>
              <a:rPr lang="zh-CN" altLang="en-US" sz="3600" dirty="0">
                <a:latin typeface="Arial" panose="020B0604020202020204" pitchFamily="34" charset="0"/>
              </a:rPr>
              <a:t>转储</a:t>
            </a:r>
            <a:endParaRPr lang="zh-CN" altLang="en-US" sz="3600" dirty="0">
              <a:latin typeface="Arial" panose="020B0604020202020204" pitchFamily="34" charset="0"/>
            </a:endParaRPr>
          </a:p>
        </p:txBody>
      </p:sp>
      <p:sp>
        <p:nvSpPr>
          <p:cNvPr id="37785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转储策略</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利用静态转储进行恢复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9699" name="Rectangle 4"/>
          <p:cNvSpPr/>
          <p:nvPr/>
        </p:nvSpPr>
        <p:spPr>
          <a:xfrm>
            <a:off x="177800" y="1125538"/>
            <a:ext cx="8858250" cy="4967287"/>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endParaRPr lang="zh-CN" altLang="zh-CN" dirty="0">
              <a:latin typeface="Arial" panose="020B0604020202020204" pitchFamily="34" charset="0"/>
            </a:endParaRPr>
          </a:p>
        </p:txBody>
      </p:sp>
      <p:grpSp>
        <p:nvGrpSpPr>
          <p:cNvPr id="29700" name="Group 23"/>
          <p:cNvGrpSpPr/>
          <p:nvPr/>
        </p:nvGrpSpPr>
        <p:grpSpPr>
          <a:xfrm>
            <a:off x="511175" y="4494213"/>
            <a:ext cx="8010525" cy="1166812"/>
            <a:chOff x="322" y="2831"/>
            <a:chExt cx="5046" cy="735"/>
          </a:xfrm>
        </p:grpSpPr>
        <p:sp>
          <p:nvSpPr>
            <p:cNvPr id="29714" name="Line 16"/>
            <p:cNvSpPr/>
            <p:nvPr/>
          </p:nvSpPr>
          <p:spPr>
            <a:xfrm>
              <a:off x="1290" y="3421"/>
              <a:ext cx="1933" cy="0"/>
            </a:xfrm>
            <a:prstGeom prst="line">
              <a:avLst/>
            </a:prstGeom>
            <a:ln w="28575" cap="flat" cmpd="sng">
              <a:solidFill>
                <a:srgbClr val="000000"/>
              </a:solidFill>
              <a:prstDash val="solid"/>
              <a:headEnd type="none" w="med" len="med"/>
              <a:tailEnd type="none" w="med" len="med"/>
            </a:ln>
          </p:spPr>
        </p:sp>
        <p:sp>
          <p:nvSpPr>
            <p:cNvPr id="29715" name="Text Box 17"/>
            <p:cNvSpPr txBox="1"/>
            <p:nvPr/>
          </p:nvSpPr>
          <p:spPr>
            <a:xfrm>
              <a:off x="322" y="3239"/>
              <a:ext cx="568" cy="327"/>
            </a:xfrm>
            <a:prstGeom prst="rect">
              <a:avLst/>
            </a:prstGeom>
            <a:noFill/>
            <a:ln w="28575">
              <a:noFill/>
            </a:ln>
          </p:spPr>
          <p:txBody>
            <a:bodyPr wrap="none">
              <a:spAutoFit/>
            </a:bodyPr>
            <a:p>
              <a:r>
                <a:rPr lang="zh-CN" altLang="en-US" sz="2800" dirty="0">
                  <a:latin typeface="Arial" panose="020B0604020202020204" pitchFamily="34" charset="0"/>
                </a:rPr>
                <a:t>恢复</a:t>
              </a:r>
              <a:endParaRPr lang="zh-CN" altLang="en-US" sz="2800" dirty="0">
                <a:latin typeface="Arial" panose="020B0604020202020204" pitchFamily="34" charset="0"/>
              </a:endParaRPr>
            </a:p>
          </p:txBody>
        </p:sp>
        <p:sp>
          <p:nvSpPr>
            <p:cNvPr id="29716" name="Line 18"/>
            <p:cNvSpPr/>
            <p:nvPr/>
          </p:nvSpPr>
          <p:spPr>
            <a:xfrm>
              <a:off x="1796" y="3285"/>
              <a:ext cx="0" cy="272"/>
            </a:xfrm>
            <a:prstGeom prst="line">
              <a:avLst/>
            </a:prstGeom>
            <a:ln w="38100" cap="flat" cmpd="sng">
              <a:solidFill>
                <a:srgbClr val="000000"/>
              </a:solidFill>
              <a:prstDash val="solid"/>
              <a:headEnd type="none" w="med" len="med"/>
              <a:tailEnd type="none" w="med" len="med"/>
            </a:ln>
          </p:spPr>
        </p:sp>
        <p:sp>
          <p:nvSpPr>
            <p:cNvPr id="29717" name="Text Box 19"/>
            <p:cNvSpPr txBox="1"/>
            <p:nvPr/>
          </p:nvSpPr>
          <p:spPr>
            <a:xfrm>
              <a:off x="1729" y="2831"/>
              <a:ext cx="1480" cy="330"/>
            </a:xfrm>
            <a:prstGeom prst="rect">
              <a:avLst/>
            </a:prstGeom>
            <a:noFill/>
            <a:ln w="28575">
              <a:noFill/>
            </a:ln>
          </p:spPr>
          <p:txBody>
            <a:bodyPr wrap="none">
              <a:spAutoFit/>
            </a:bodyPr>
            <a:p>
              <a:r>
                <a:rPr lang="zh-CN" altLang="en-US" sz="2800" dirty="0">
                  <a:solidFill>
                    <a:srgbClr val="0000CC"/>
                  </a:solidFill>
                  <a:latin typeface="Arial" panose="020B0604020202020204" pitchFamily="34" charset="0"/>
                </a:rPr>
                <a:t>重装备份副本</a:t>
              </a:r>
              <a:endParaRPr lang="zh-CN" altLang="en-US" sz="2800" dirty="0">
                <a:solidFill>
                  <a:srgbClr val="0000CC"/>
                </a:solidFill>
                <a:latin typeface="Arial" panose="020B0604020202020204" pitchFamily="34" charset="0"/>
              </a:endParaRPr>
            </a:p>
          </p:txBody>
        </p:sp>
        <p:sp>
          <p:nvSpPr>
            <p:cNvPr id="29718" name="Line 20"/>
            <p:cNvSpPr/>
            <p:nvPr/>
          </p:nvSpPr>
          <p:spPr>
            <a:xfrm>
              <a:off x="3225" y="3285"/>
              <a:ext cx="0" cy="272"/>
            </a:xfrm>
            <a:prstGeom prst="line">
              <a:avLst/>
            </a:prstGeom>
            <a:ln w="38100" cap="flat" cmpd="sng">
              <a:solidFill>
                <a:srgbClr val="000000"/>
              </a:solidFill>
              <a:prstDash val="solid"/>
              <a:headEnd type="none" w="med" len="med"/>
              <a:tailEnd type="none" w="med" len="med"/>
            </a:ln>
          </p:spPr>
        </p:sp>
        <p:sp>
          <p:nvSpPr>
            <p:cNvPr id="29719" name="Text Box 21"/>
            <p:cNvSpPr txBox="1"/>
            <p:nvPr/>
          </p:nvSpPr>
          <p:spPr>
            <a:xfrm>
              <a:off x="3297" y="2831"/>
              <a:ext cx="1466" cy="327"/>
            </a:xfrm>
            <a:prstGeom prst="rect">
              <a:avLst/>
            </a:prstGeom>
            <a:noFill/>
            <a:ln w="28575">
              <a:noFill/>
            </a:ln>
          </p:spPr>
          <p:txBody>
            <a:bodyPr wrap="none">
              <a:spAutoFit/>
            </a:bodyPr>
            <a:p>
              <a:pPr algn="l"/>
              <a:r>
                <a:rPr lang="zh-CN" altLang="en-US" sz="2800" dirty="0">
                  <a:solidFill>
                    <a:srgbClr val="0000CC"/>
                  </a:solidFill>
                  <a:latin typeface="Arial" panose="020B0604020202020204" pitchFamily="34" charset="0"/>
                </a:rPr>
                <a:t>重新运行事务</a:t>
              </a:r>
              <a:endParaRPr lang="zh-CN" altLang="en-US" sz="2800" dirty="0">
                <a:solidFill>
                  <a:srgbClr val="0000CC"/>
                </a:solidFill>
                <a:latin typeface="Arial" panose="020B0604020202020204" pitchFamily="34" charset="0"/>
              </a:endParaRPr>
            </a:p>
          </p:txBody>
        </p:sp>
        <p:sp>
          <p:nvSpPr>
            <p:cNvPr id="29720" name="Line 22"/>
            <p:cNvSpPr/>
            <p:nvPr/>
          </p:nvSpPr>
          <p:spPr>
            <a:xfrm>
              <a:off x="3206" y="3421"/>
              <a:ext cx="2162" cy="0"/>
            </a:xfrm>
            <a:prstGeom prst="line">
              <a:avLst/>
            </a:prstGeom>
            <a:ln w="38100" cap="flat" cmpd="sng">
              <a:solidFill>
                <a:srgbClr val="000000"/>
              </a:solidFill>
              <a:prstDash val="solid"/>
              <a:headEnd type="none" w="med" len="med"/>
              <a:tailEnd type="arrow" w="lg" len="lg"/>
            </a:ln>
          </p:spPr>
        </p:sp>
      </p:grpSp>
      <p:grpSp>
        <p:nvGrpSpPr>
          <p:cNvPr id="29701" name="Group 26"/>
          <p:cNvGrpSpPr/>
          <p:nvPr/>
        </p:nvGrpSpPr>
        <p:grpSpPr>
          <a:xfrm>
            <a:off x="147638" y="1254125"/>
            <a:ext cx="8743950" cy="2622550"/>
            <a:chOff x="93" y="790"/>
            <a:chExt cx="5508" cy="1652"/>
          </a:xfrm>
        </p:grpSpPr>
        <p:sp>
          <p:nvSpPr>
            <p:cNvPr id="29702" name="Line 5"/>
            <p:cNvSpPr/>
            <p:nvPr/>
          </p:nvSpPr>
          <p:spPr>
            <a:xfrm>
              <a:off x="1290" y="1834"/>
              <a:ext cx="4141" cy="0"/>
            </a:xfrm>
            <a:prstGeom prst="line">
              <a:avLst/>
            </a:prstGeom>
            <a:ln w="28575" cap="flat" cmpd="sng">
              <a:solidFill>
                <a:srgbClr val="000000"/>
              </a:solidFill>
              <a:prstDash val="solid"/>
              <a:headEnd type="none" w="med" len="med"/>
              <a:tailEnd type="none" w="med" len="med"/>
            </a:ln>
          </p:spPr>
        </p:sp>
        <p:sp>
          <p:nvSpPr>
            <p:cNvPr id="29703" name="Text Box 6"/>
            <p:cNvSpPr txBox="1"/>
            <p:nvPr/>
          </p:nvSpPr>
          <p:spPr>
            <a:xfrm>
              <a:off x="93" y="1652"/>
              <a:ext cx="1031" cy="327"/>
            </a:xfrm>
            <a:prstGeom prst="rect">
              <a:avLst/>
            </a:prstGeom>
            <a:noFill/>
            <a:ln w="28575">
              <a:noFill/>
            </a:ln>
          </p:spPr>
          <p:txBody>
            <a:bodyPr>
              <a:spAutoFit/>
            </a:bodyPr>
            <a:p>
              <a:r>
                <a:rPr lang="zh-CN" altLang="en-US" sz="2800" dirty="0">
                  <a:latin typeface="Arial" panose="020B0604020202020204" pitchFamily="34" charset="0"/>
                </a:rPr>
                <a:t>正常运行</a:t>
              </a:r>
              <a:endParaRPr lang="zh-CN" altLang="en-US" sz="2800" dirty="0">
                <a:latin typeface="Arial" panose="020B0604020202020204" pitchFamily="34" charset="0"/>
              </a:endParaRPr>
            </a:p>
          </p:txBody>
        </p:sp>
        <p:sp>
          <p:nvSpPr>
            <p:cNvPr id="29704" name="Line 7"/>
            <p:cNvSpPr/>
            <p:nvPr/>
          </p:nvSpPr>
          <p:spPr>
            <a:xfrm>
              <a:off x="1796" y="1698"/>
              <a:ext cx="0" cy="272"/>
            </a:xfrm>
            <a:prstGeom prst="line">
              <a:avLst/>
            </a:prstGeom>
            <a:ln w="38100" cap="flat" cmpd="sng">
              <a:solidFill>
                <a:srgbClr val="000000"/>
              </a:solidFill>
              <a:prstDash val="solid"/>
              <a:headEnd type="none" w="med" len="med"/>
              <a:tailEnd type="none" w="med" len="med"/>
            </a:ln>
          </p:spPr>
        </p:sp>
        <p:sp>
          <p:nvSpPr>
            <p:cNvPr id="29705" name="Text Box 8"/>
            <p:cNvSpPr txBox="1"/>
            <p:nvPr/>
          </p:nvSpPr>
          <p:spPr>
            <a:xfrm>
              <a:off x="1807" y="1379"/>
              <a:ext cx="1030" cy="327"/>
            </a:xfrm>
            <a:prstGeom prst="rect">
              <a:avLst/>
            </a:prstGeom>
            <a:noFill/>
            <a:ln w="28575">
              <a:noFill/>
            </a:ln>
          </p:spPr>
          <p:txBody>
            <a:bodyPr>
              <a:spAutoFit/>
            </a:bodyPr>
            <a:p>
              <a:r>
                <a:rPr lang="zh-CN" altLang="en-US" sz="2800" dirty="0">
                  <a:solidFill>
                    <a:srgbClr val="0000CC"/>
                  </a:solidFill>
                  <a:latin typeface="Arial" panose="020B0604020202020204" pitchFamily="34" charset="0"/>
                </a:rPr>
                <a:t>静态转储</a:t>
              </a:r>
              <a:endParaRPr lang="zh-CN" altLang="en-US" sz="2800" dirty="0">
                <a:solidFill>
                  <a:srgbClr val="0000CC"/>
                </a:solidFill>
                <a:latin typeface="Arial" panose="020B0604020202020204" pitchFamily="34" charset="0"/>
              </a:endParaRPr>
            </a:p>
          </p:txBody>
        </p:sp>
        <p:sp>
          <p:nvSpPr>
            <p:cNvPr id="29706" name="Text Box 9"/>
            <p:cNvSpPr txBox="1"/>
            <p:nvPr/>
          </p:nvSpPr>
          <p:spPr>
            <a:xfrm>
              <a:off x="1613" y="2115"/>
              <a:ext cx="379" cy="327"/>
            </a:xfrm>
            <a:prstGeom prst="rect">
              <a:avLst/>
            </a:prstGeom>
            <a:noFill/>
            <a:ln w="28575">
              <a:noFill/>
            </a:ln>
          </p:spPr>
          <p:txBody>
            <a:bodyPr wrap="none">
              <a:spAutoFit/>
            </a:bodyPr>
            <a:p>
              <a:r>
                <a:rPr lang="en-US" altLang="zh-CN" sz="2800" dirty="0">
                  <a:latin typeface="Arial" panose="020B0604020202020204" pitchFamily="34" charset="0"/>
                </a:rPr>
                <a:t>Ta</a:t>
              </a:r>
              <a:endParaRPr lang="en-US" altLang="zh-CN" sz="2800" dirty="0">
                <a:latin typeface="Arial" panose="020B0604020202020204" pitchFamily="34" charset="0"/>
              </a:endParaRPr>
            </a:p>
          </p:txBody>
        </p:sp>
        <p:sp>
          <p:nvSpPr>
            <p:cNvPr id="29707" name="Line 10"/>
            <p:cNvSpPr/>
            <p:nvPr/>
          </p:nvSpPr>
          <p:spPr>
            <a:xfrm>
              <a:off x="3225" y="1698"/>
              <a:ext cx="0" cy="272"/>
            </a:xfrm>
            <a:prstGeom prst="line">
              <a:avLst/>
            </a:prstGeom>
            <a:ln w="38100" cap="flat" cmpd="sng">
              <a:solidFill>
                <a:srgbClr val="000000"/>
              </a:solidFill>
              <a:prstDash val="solid"/>
              <a:headEnd type="none" w="med" len="med"/>
              <a:tailEnd type="none" w="med" len="med"/>
            </a:ln>
          </p:spPr>
        </p:sp>
        <p:sp>
          <p:nvSpPr>
            <p:cNvPr id="29708" name="Text Box 11"/>
            <p:cNvSpPr txBox="1"/>
            <p:nvPr/>
          </p:nvSpPr>
          <p:spPr>
            <a:xfrm>
              <a:off x="3330" y="1379"/>
              <a:ext cx="1021" cy="327"/>
            </a:xfrm>
            <a:prstGeom prst="rect">
              <a:avLst/>
            </a:prstGeom>
            <a:noFill/>
            <a:ln w="28575">
              <a:noFill/>
            </a:ln>
          </p:spPr>
          <p:txBody>
            <a:bodyPr>
              <a:spAutoFit/>
            </a:bodyPr>
            <a:p>
              <a:r>
                <a:rPr lang="zh-CN" altLang="en-US" sz="2800" dirty="0">
                  <a:solidFill>
                    <a:srgbClr val="0000CC"/>
                  </a:solidFill>
                  <a:latin typeface="Arial" panose="020B0604020202020204" pitchFamily="34" charset="0"/>
                </a:rPr>
                <a:t>运行事务</a:t>
              </a:r>
              <a:endParaRPr lang="zh-CN" altLang="en-US" sz="2800" dirty="0">
                <a:solidFill>
                  <a:srgbClr val="0000CC"/>
                </a:solidFill>
                <a:latin typeface="Arial" panose="020B0604020202020204" pitchFamily="34" charset="0"/>
              </a:endParaRPr>
            </a:p>
          </p:txBody>
        </p:sp>
        <p:sp>
          <p:nvSpPr>
            <p:cNvPr id="29709" name="Text Box 12"/>
            <p:cNvSpPr txBox="1"/>
            <p:nvPr/>
          </p:nvSpPr>
          <p:spPr>
            <a:xfrm>
              <a:off x="3035" y="2115"/>
              <a:ext cx="392" cy="327"/>
            </a:xfrm>
            <a:prstGeom prst="rect">
              <a:avLst/>
            </a:prstGeom>
            <a:noFill/>
            <a:ln w="28575">
              <a:noFill/>
            </a:ln>
          </p:spPr>
          <p:txBody>
            <a:bodyPr wrap="none">
              <a:spAutoFit/>
            </a:bodyPr>
            <a:p>
              <a:r>
                <a:rPr lang="en-US" altLang="zh-CN" sz="2800" dirty="0">
                  <a:latin typeface="Arial" panose="020B0604020202020204" pitchFamily="34" charset="0"/>
                </a:rPr>
                <a:t>Tb</a:t>
              </a:r>
              <a:endParaRPr lang="en-US" altLang="zh-CN" sz="2800" dirty="0">
                <a:latin typeface="Arial" panose="020B0604020202020204" pitchFamily="34" charset="0"/>
              </a:endParaRPr>
            </a:p>
          </p:txBody>
        </p:sp>
        <p:sp>
          <p:nvSpPr>
            <p:cNvPr id="29710" name="Line 13"/>
            <p:cNvSpPr/>
            <p:nvPr/>
          </p:nvSpPr>
          <p:spPr>
            <a:xfrm>
              <a:off x="4979" y="1244"/>
              <a:ext cx="0" cy="272"/>
            </a:xfrm>
            <a:prstGeom prst="line">
              <a:avLst/>
            </a:prstGeom>
            <a:ln w="38100" cap="flat" cmpd="sng">
              <a:solidFill>
                <a:srgbClr val="FF0000"/>
              </a:solidFill>
              <a:prstDash val="solid"/>
              <a:headEnd type="none" w="med" len="med"/>
              <a:tailEnd type="arrow" w="med" len="med"/>
            </a:ln>
          </p:spPr>
        </p:sp>
        <p:sp>
          <p:nvSpPr>
            <p:cNvPr id="29711" name="Text Box 14"/>
            <p:cNvSpPr txBox="1"/>
            <p:nvPr/>
          </p:nvSpPr>
          <p:spPr>
            <a:xfrm>
              <a:off x="4365" y="790"/>
              <a:ext cx="1236" cy="327"/>
            </a:xfrm>
            <a:prstGeom prst="rect">
              <a:avLst/>
            </a:prstGeom>
            <a:noFill/>
            <a:ln w="28575">
              <a:noFill/>
            </a:ln>
          </p:spPr>
          <p:txBody>
            <a:bodyPr wrap="none">
              <a:spAutoFit/>
            </a:bodyPr>
            <a:p>
              <a:r>
                <a:rPr lang="zh-CN" altLang="en-US" sz="2800" dirty="0">
                  <a:solidFill>
                    <a:srgbClr val="FF0000"/>
                  </a:solidFill>
                  <a:latin typeface="Arial" panose="020B0604020202020204" pitchFamily="34" charset="0"/>
                </a:rPr>
                <a:t>故障发生点</a:t>
              </a:r>
              <a:endParaRPr lang="zh-CN" altLang="en-US" sz="2800" dirty="0">
                <a:solidFill>
                  <a:srgbClr val="FF0000"/>
                </a:solidFill>
                <a:latin typeface="Arial" panose="020B0604020202020204" pitchFamily="34" charset="0"/>
              </a:endParaRPr>
            </a:p>
          </p:txBody>
        </p:sp>
        <p:sp>
          <p:nvSpPr>
            <p:cNvPr id="29712" name="Text Box 15"/>
            <p:cNvSpPr txBox="1"/>
            <p:nvPr/>
          </p:nvSpPr>
          <p:spPr>
            <a:xfrm>
              <a:off x="4821" y="2115"/>
              <a:ext cx="328" cy="327"/>
            </a:xfrm>
            <a:prstGeom prst="rect">
              <a:avLst/>
            </a:prstGeom>
            <a:noFill/>
            <a:ln w="28575">
              <a:noFill/>
            </a:ln>
          </p:spPr>
          <p:txBody>
            <a:bodyPr wrap="none">
              <a:spAutoFit/>
            </a:bodyPr>
            <a:p>
              <a:r>
                <a:rPr lang="en-US" altLang="zh-CN" sz="2800" dirty="0">
                  <a:latin typeface="Arial" panose="020B0604020202020204" pitchFamily="34" charset="0"/>
                </a:rPr>
                <a:t>Tf</a:t>
              </a:r>
              <a:endParaRPr lang="en-US" altLang="zh-CN" sz="2800" dirty="0">
                <a:latin typeface="Arial" panose="020B0604020202020204" pitchFamily="34" charset="0"/>
              </a:endParaRPr>
            </a:p>
          </p:txBody>
        </p:sp>
        <p:sp>
          <p:nvSpPr>
            <p:cNvPr id="29713" name="Line 25"/>
            <p:cNvSpPr/>
            <p:nvPr/>
          </p:nvSpPr>
          <p:spPr>
            <a:xfrm>
              <a:off x="4967" y="1697"/>
              <a:ext cx="0" cy="272"/>
            </a:xfrm>
            <a:prstGeom prst="line">
              <a:avLst/>
            </a:prstGeom>
            <a:ln w="38100" cap="flat" cmpd="sng">
              <a:solidFill>
                <a:srgbClr val="000000"/>
              </a:solidFill>
              <a:prstDash val="solid"/>
              <a:headEnd type="none" w="med" len="med"/>
              <a:tailEnd type="none" w="med" len="med"/>
            </a:ln>
          </p:spPr>
        </p:sp>
      </p:grpSp>
    </p:spTree>
  </p:cSld>
  <p:clrMapOvr>
    <a:masterClrMapping/>
  </p:clrMapOvr>
  <p:transition>
    <p:random/>
    <p:sndAc>
      <p:stSnd>
        <p:snd r:embed="rId1"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3394" name="Rectangle 2"/>
          <p:cNvSpPr>
            <a:spLocks noGrp="1" noChangeArrowheads="1"/>
          </p:cNvSpPr>
          <p:nvPr>
            <p:ph idx="1"/>
          </p:nvPr>
        </p:nvSpPr>
        <p:spPr>
          <a:xfrm>
            <a:off x="223838" y="981075"/>
            <a:ext cx="8740775" cy="5516563"/>
          </a:xfrm>
        </p:spPr>
        <p:txBody>
          <a:bodyPr vert="horz" wrap="square" lIns="91440" tIns="45720" rIns="91440" bIns="45720" numCol="1" anchor="t" anchorCtr="0" compatLnSpc="1"/>
          <a:lstStyle/>
          <a:p>
            <a:pPr marL="365125" marR="0" lvl="0" indent="-3651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什么是</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日志文件</a:t>
            </a:r>
            <a:r>
              <a:rPr kumimoji="0" lang="en-US" altLang="zh-CN" sz="40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log</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文件</a:t>
            </a:r>
            <a:r>
              <a:rPr kumimoji="0" lang="en-US" altLang="zh-CN" sz="40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713105" marR="0" lvl="1" indent="-449580" algn="l" defTabSz="914400" rtl="0" eaLnBrk="1" fontAlgn="base" latinLnBrk="0" hangingPunct="1">
              <a:lnSpc>
                <a:spcPct val="100000"/>
              </a:lnSpc>
              <a:spcBef>
                <a:spcPts val="6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用来记录事务对数据库所有</a:t>
            </a:r>
            <a:r>
              <a:rPr kumimoji="0" lang="zh-CN" altLang="en-US" sz="3200" b="1" i="0" u="none" strike="noStrike" kern="0" cap="none" spc="0" normalizeH="0" baseline="0" noProof="0" dirty="0" smtClean="0">
                <a:ln>
                  <a:noFill/>
                </a:ln>
                <a:solidFill>
                  <a:srgbClr val="0033CC"/>
                </a:solidFill>
                <a:effectLst/>
                <a:uLnTx/>
                <a:uFillTx/>
                <a:latin typeface="Arial" panose="020B0604020202020204" pitchFamily="34" charset="0"/>
                <a:ea typeface="+mn-ea"/>
              </a:rPr>
              <a:t>更新</a:t>
            </a: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操作的文件</a:t>
            </a:r>
            <a:endParaRPr kumimoji="0" lang="zh-CN" altLang="en-US" sz="24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365125" marR="0" lvl="0" indent="-365125" algn="l" defTabSz="914400" rtl="0" eaLnBrk="1" fontAlgn="base" latinLnBrk="0" hangingPunct="1">
              <a:lnSpc>
                <a:spcPct val="100000"/>
              </a:lnSpc>
              <a:spcBef>
                <a:spcPct val="30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日志文件</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内容</a:t>
            </a:r>
            <a:endPar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716280" marR="0" lvl="1" indent="-452755" algn="l" defTabSz="914400" rtl="0" eaLnBrk="1" fontAlgn="base" latinLnBrk="0" hangingPunct="1">
              <a:lnSpc>
                <a:spcPct val="100000"/>
              </a:lnSpc>
              <a:spcBef>
                <a:spcPts val="6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事务标识、开始标记及结束标记</a:t>
            </a:r>
            <a:endPar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716280" marR="0" lvl="1" indent="-452755" algn="l" defTabSz="914400" rtl="0" eaLnBrk="1" fontAlgn="base" latinLnBrk="0" hangingPunct="1">
              <a:lnSpc>
                <a:spcPct val="100000"/>
              </a:lnSpc>
              <a:spcBef>
                <a:spcPct val="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操作时间、操作类型</a:t>
            </a:r>
            <a:r>
              <a:rPr kumimoji="0"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a:t>
            </a: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增、删、改</a:t>
            </a:r>
            <a:r>
              <a:rPr kumimoji="0"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a:t>
            </a:r>
            <a:endParaRPr kumimoji="0"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716280" marR="0" lvl="1" indent="-452755" algn="l" defTabSz="914400" rtl="0" eaLnBrk="1" fontAlgn="base" latinLnBrk="0" hangingPunct="1">
              <a:lnSpc>
                <a:spcPct val="100000"/>
              </a:lnSpc>
              <a:spcBef>
                <a:spcPct val="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操作目标数据、更改前及更改后的值等</a:t>
            </a:r>
            <a:endPar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365125" marR="0" lvl="0" indent="-365125" algn="l" defTabSz="914400" rtl="0" eaLnBrk="1" fontAlgn="base" latinLnBrk="0" hangingPunct="1">
              <a:lnSpc>
                <a:spcPct val="100000"/>
              </a:lnSpc>
              <a:spcBef>
                <a:spcPct val="30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日志文件</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结构</a:t>
            </a:r>
            <a:endPar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713105" marR="0" lvl="1" indent="-449580" algn="l" defTabSz="914400" rtl="0" eaLnBrk="1" fontAlgn="base" latinLnBrk="0" hangingPunct="1">
              <a:lnSpc>
                <a:spcPct val="100000"/>
              </a:lnSpc>
              <a:spcBef>
                <a:spcPts val="6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逻辑上由若干条记录构成，但同一个事务的日志记录构成一个链表</a:t>
            </a:r>
            <a:endPar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p:txBody>
      </p:sp>
      <p:sp>
        <p:nvSpPr>
          <p:cNvPr id="44339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、建立日志文件</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4">
                                            <p:txEl>
                                              <p:charRg st="35" end="4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4">
                                            <p:txEl>
                                              <p:charRg st="42" end="5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4">
                                            <p:txEl>
                                              <p:charRg st="57" end="7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4">
                                            <p:txEl>
                                              <p:charRg st="74" end="9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3394">
                                            <p:txEl>
                                              <p:charRg st="92" end="9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3394">
                                            <p:txEl>
                                              <p:charRg st="99" end="12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544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利用日志文件恢复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1747" name="Text Box 3"/>
          <p:cNvSpPr txBox="1"/>
          <p:nvPr/>
        </p:nvSpPr>
        <p:spPr>
          <a:xfrm>
            <a:off x="360363" y="1065213"/>
            <a:ext cx="8604250" cy="5149850"/>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pPr algn="just" eaLnBrk="0" hangingPunct="0">
              <a:lnSpc>
                <a:spcPct val="150000"/>
              </a:lnSpc>
              <a:spcBef>
                <a:spcPct val="0"/>
              </a:spcBef>
            </a:pPr>
            <a:r>
              <a:rPr lang="en-US" altLang="zh-CN" sz="2000" dirty="0">
                <a:solidFill>
                  <a:schemeClr val="bg2"/>
                </a:solidFill>
                <a:latin typeface="黑体" panose="02010609060101010101" pitchFamily="2" charset="-122"/>
              </a:rPr>
              <a:t>						  </a:t>
            </a:r>
            <a:r>
              <a:rPr lang="zh-CN" altLang="en-US" sz="2000" dirty="0">
                <a:solidFill>
                  <a:srgbClr val="FF0000"/>
                </a:solidFill>
                <a:latin typeface="黑体" panose="02010609060101010101" pitchFamily="2" charset="-122"/>
              </a:rPr>
              <a:t>故障发生点</a:t>
            </a:r>
            <a:endParaRPr lang="zh-CN" altLang="en-US" sz="2000" dirty="0">
              <a:solidFill>
                <a:srgbClr val="FF0000"/>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静态转储         运行事务       </a:t>
            </a:r>
            <a:r>
              <a:rPr lang="zh-CN" altLang="en-US" sz="2000" dirty="0">
                <a:solidFill>
                  <a:srgbClr val="FF0000"/>
                </a:solidFill>
                <a:latin typeface="黑体" panose="02010609060101010101" pitchFamily="2" charset="-122"/>
              </a:rPr>
              <a:t>↓</a:t>
            </a:r>
            <a:endParaRPr lang="zh-CN" altLang="en-US" sz="2000" dirty="0">
              <a:solidFill>
                <a:srgbClr val="FF0000"/>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正常运行   ─┼──────┼──────────┼──</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a:t>
            </a:r>
            <a:r>
              <a:rPr lang="en-US" altLang="zh-CN" sz="2000" dirty="0">
                <a:solidFill>
                  <a:schemeClr val="bg2"/>
                </a:solidFill>
                <a:latin typeface="黑体" panose="02010609060101010101" pitchFamily="2" charset="-122"/>
              </a:rPr>
              <a:t>Ta     </a:t>
            </a:r>
            <a:r>
              <a:rPr lang="zh-CN" altLang="en-US" sz="2000" dirty="0">
                <a:solidFill>
                  <a:schemeClr val="bg2"/>
                </a:solidFill>
                <a:latin typeface="黑体" panose="02010609060101010101" pitchFamily="2" charset="-122"/>
              </a:rPr>
              <a:t>　　　</a:t>
            </a:r>
            <a:r>
              <a:rPr lang="en-US" altLang="zh-CN" sz="2000" dirty="0">
                <a:solidFill>
                  <a:schemeClr val="bg2"/>
                </a:solidFill>
                <a:latin typeface="黑体" panose="02010609060101010101" pitchFamily="2" charset="-122"/>
              </a:rPr>
              <a:t>Tb                      </a:t>
            </a:r>
            <a:r>
              <a:rPr lang="en-US" altLang="zh-CN" sz="2000" dirty="0">
                <a:solidFill>
                  <a:srgbClr val="FF0000"/>
                </a:solidFill>
                <a:latin typeface="黑体" panose="02010609060101010101" pitchFamily="2" charset="-122"/>
              </a:rPr>
              <a:t>Tf</a:t>
            </a:r>
            <a:endParaRPr lang="en-US" altLang="zh-CN" sz="2000" dirty="0">
              <a:solidFill>
                <a:srgbClr val="FF0000"/>
              </a:solidFill>
              <a:latin typeface="黑体" panose="02010609060101010101" pitchFamily="2" charset="-122"/>
            </a:endParaRPr>
          </a:p>
          <a:p>
            <a:pPr algn="just" eaLnBrk="0" hangingPunct="0">
              <a:lnSpc>
                <a:spcPct val="150000"/>
              </a:lnSpc>
              <a:spcBef>
                <a:spcPct val="0"/>
              </a:spcBef>
            </a:pPr>
            <a:r>
              <a:rPr lang="en-US" altLang="zh-CN" sz="2000" dirty="0">
                <a:solidFill>
                  <a:schemeClr val="bg2"/>
                </a:solidFill>
                <a:latin typeface="黑体" panose="02010609060101010101" pitchFamily="2" charset="-122"/>
              </a:rPr>
              <a:t>                            </a:t>
            </a:r>
            <a:r>
              <a:rPr lang="zh-CN" altLang="en-US" sz="2000" dirty="0">
                <a:solidFill>
                  <a:schemeClr val="bg2"/>
                </a:solidFill>
                <a:latin typeface="黑体" panose="02010609060101010101" pitchFamily="2" charset="-122"/>
              </a:rPr>
              <a:t>登记日志文件</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重装备份副本  利用日志文件恢复事务   继续运行</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介质故障恢复 </a:t>
            </a:r>
            <a:r>
              <a:rPr lang="zh-CN" altLang="en-US" sz="2000" dirty="0">
                <a:solidFill>
                  <a:schemeClr val="bg2"/>
                </a:solidFill>
                <a:latin typeface="Arial" panose="020B0604020202020204" pitchFamily="34" charset="0"/>
              </a:rPr>
              <a:t>┴</a:t>
            </a:r>
            <a:r>
              <a:rPr lang="zh-CN" altLang="en-US" sz="2000" dirty="0">
                <a:solidFill>
                  <a:schemeClr val="bg2"/>
                </a:solidFill>
                <a:latin typeface="黑体" panose="02010609060101010101" pitchFamily="2" charset="-122"/>
              </a:rPr>
              <a:t>──────┴－－－－－－－－－－┴──────</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登记日志文件</a:t>
            </a:r>
            <a:endParaRPr lang="zh-CN" altLang="en-US" sz="2000" dirty="0">
              <a:solidFill>
                <a:schemeClr val="bg2"/>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                                                 └──────</a:t>
            </a:r>
            <a:endParaRPr lang="zh-CN" altLang="en-US" sz="2000" dirty="0">
              <a:solidFill>
                <a:schemeClr val="bg2"/>
              </a:solidFill>
              <a:latin typeface="黑体" panose="02010609060101010101" pitchFamily="2" charset="-122"/>
            </a:endParaRPr>
          </a:p>
        </p:txBody>
      </p:sp>
    </p:spTree>
  </p:cSld>
  <p:clrMapOvr>
    <a:masterClrMapping/>
  </p:clrMapOvr>
  <p:transition>
    <p:random/>
    <p:sndAc>
      <p:stSnd>
        <p:snd r:embed="rId1"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230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登记日志文件</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771" name="Rectangle 3"/>
          <p:cNvSpPr>
            <a:spLocks noGrp="1"/>
          </p:cNvSpPr>
          <p:nvPr>
            <p:ph idx="1"/>
          </p:nvPr>
        </p:nvSpPr>
        <p:spPr/>
        <p:txBody>
          <a:bodyPr vert="horz" wrap="square" lIns="91440" tIns="45720" rIns="91440" bIns="45720" anchor="t" anchorCtr="0"/>
          <a:p>
            <a:pPr eaLnBrk="1" hangingPunct="1"/>
            <a:r>
              <a:rPr lang="zh-CN" altLang="en-US" i="1" dirty="0">
                <a:solidFill>
                  <a:srgbClr val="0033CC"/>
                </a:solidFill>
              </a:rPr>
              <a:t>问题</a:t>
            </a:r>
            <a:r>
              <a:rPr lang="zh-CN" altLang="en-US" dirty="0"/>
              <a:t>：</a:t>
            </a:r>
            <a:r>
              <a:rPr lang="zh-CN" altLang="en-US" sz="3200" dirty="0"/>
              <a:t>是“先记录后执行修改”还是“先执行修改再记录”</a:t>
            </a:r>
            <a:r>
              <a:rPr lang="zh-CN" altLang="en-US" sz="3200" i="1" dirty="0">
                <a:solidFill>
                  <a:srgbClr val="0033CC"/>
                </a:solidFill>
              </a:rPr>
              <a:t>？</a:t>
            </a:r>
            <a:endParaRPr lang="zh-CN" altLang="en-US" i="1" dirty="0">
              <a:solidFill>
                <a:srgbClr val="0033CC"/>
              </a:solidFill>
            </a:endParaRPr>
          </a:p>
          <a:p>
            <a:pPr eaLnBrk="1" hangingPunct="1">
              <a:spcBef>
                <a:spcPts val="600"/>
              </a:spcBef>
            </a:pPr>
            <a:r>
              <a:rPr lang="zh-CN" altLang="en-US" dirty="0">
                <a:solidFill>
                  <a:srgbClr val="0033CC"/>
                </a:solidFill>
              </a:rPr>
              <a:t>先写日志规则：</a:t>
            </a:r>
            <a:r>
              <a:rPr lang="en-US" altLang="zh-CN" sz="3200" dirty="0"/>
              <a:t>DBMS</a:t>
            </a:r>
            <a:r>
              <a:rPr lang="zh-CN" altLang="en-US" sz="3200" dirty="0"/>
              <a:t>保证把更新的数据由系统缓冲区写入数据库之前，要把相应的日志记录写入日志文件中。</a:t>
            </a:r>
            <a:endParaRPr lang="zh-CN" altLang="en-US" dirty="0"/>
          </a:p>
        </p:txBody>
      </p:sp>
      <p:grpSp>
        <p:nvGrpSpPr>
          <p:cNvPr id="32772" name="Group 21"/>
          <p:cNvGrpSpPr/>
          <p:nvPr/>
        </p:nvGrpSpPr>
        <p:grpSpPr>
          <a:xfrm>
            <a:off x="1908175" y="3857625"/>
            <a:ext cx="5184775" cy="2651125"/>
            <a:chOff x="1020" y="2453"/>
            <a:chExt cx="3266" cy="1670"/>
          </a:xfrm>
        </p:grpSpPr>
        <p:grpSp>
          <p:nvGrpSpPr>
            <p:cNvPr id="32773" name="Group 19"/>
            <p:cNvGrpSpPr/>
            <p:nvPr/>
          </p:nvGrpSpPr>
          <p:grpSpPr>
            <a:xfrm>
              <a:off x="1020" y="2453"/>
              <a:ext cx="3266" cy="1670"/>
              <a:chOff x="1020" y="2453"/>
              <a:chExt cx="3266" cy="1670"/>
            </a:xfrm>
          </p:grpSpPr>
          <p:sp>
            <p:nvSpPr>
              <p:cNvPr id="32775" name="Rectangle 4"/>
              <p:cNvSpPr/>
              <p:nvPr/>
            </p:nvSpPr>
            <p:spPr>
              <a:xfrm>
                <a:off x="1020" y="2453"/>
                <a:ext cx="3266" cy="941"/>
              </a:xfrm>
              <a:prstGeom prst="rect">
                <a:avLst/>
              </a:prstGeom>
              <a:noFill/>
              <a:ln w="28575" cap="flat" cmpd="sng">
                <a:solidFill>
                  <a:srgbClr val="000000"/>
                </a:solidFill>
                <a:prstDash val="solid"/>
                <a:miter/>
                <a:headEnd type="none" w="med" len="med"/>
                <a:tailEnd type="none" w="med" len="med"/>
              </a:ln>
            </p:spPr>
            <p:txBody>
              <a:bodyPr anchor="ctr" anchorCtr="0">
                <a:spAutoFit/>
              </a:bodyPr>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32776" name="AutoShape 5"/>
              <p:cNvSpPr/>
              <p:nvPr/>
            </p:nvSpPr>
            <p:spPr>
              <a:xfrm>
                <a:off x="1292" y="3612"/>
                <a:ext cx="2903" cy="511"/>
              </a:xfrm>
              <a:prstGeom prst="flowChartMagneticDisk">
                <a:avLst/>
              </a:prstGeom>
              <a:solidFill>
                <a:schemeClr val="tx1"/>
              </a:solidFill>
              <a:ln w="28575" cap="flat" cmpd="sng">
                <a:solidFill>
                  <a:srgbClr val="000000"/>
                </a:solidFill>
                <a:prstDash val="solid"/>
                <a:headEnd type="none" w="med" len="med"/>
                <a:tailEnd type="none" w="med" len="med"/>
              </a:ln>
            </p:spPr>
            <p:txBody>
              <a:bodyPr anchor="ctr" anchorCtr="0">
                <a:spAutoFit/>
              </a:bodyPr>
              <a:p>
                <a:endParaRPr lang="zh-CN" altLang="zh-CN" sz="2400" dirty="0">
                  <a:latin typeface="Arial" panose="020B0604020202020204" pitchFamily="34" charset="0"/>
                </a:endParaRPr>
              </a:p>
            </p:txBody>
          </p:sp>
          <p:sp>
            <p:nvSpPr>
              <p:cNvPr id="32777" name="Rectangle 7"/>
              <p:cNvSpPr/>
              <p:nvPr/>
            </p:nvSpPr>
            <p:spPr>
              <a:xfrm>
                <a:off x="1565" y="3818"/>
                <a:ext cx="1379" cy="258"/>
              </a:xfrm>
              <a:prstGeom prst="rect">
                <a:avLst/>
              </a:prstGeom>
              <a:solidFill>
                <a:srgbClr val="FFCCFF"/>
              </a:solidFill>
              <a:ln w="12700" cap="flat" cmpd="sng">
                <a:solidFill>
                  <a:srgbClr val="000000"/>
                </a:solidFill>
                <a:prstDash val="solid"/>
                <a:miter/>
                <a:headEnd type="none" w="med" len="med"/>
                <a:tailEnd type="none" w="med" len="med"/>
              </a:ln>
            </p:spPr>
            <p:txBody>
              <a:bodyPr anchor="ctr" anchorCtr="0">
                <a:spAutoFit/>
              </a:bodyPr>
              <a:p>
                <a:r>
                  <a:rPr lang="en-US" altLang="zh-CN" sz="2000" dirty="0">
                    <a:latin typeface="Arial" panose="020B0604020202020204" pitchFamily="34" charset="0"/>
                  </a:rPr>
                  <a:t>DB</a:t>
                </a:r>
                <a:endParaRPr lang="en-US" altLang="zh-CN" sz="2000" dirty="0">
                  <a:latin typeface="Arial" panose="020B0604020202020204" pitchFamily="34" charset="0"/>
                </a:endParaRPr>
              </a:p>
            </p:txBody>
          </p:sp>
          <p:sp>
            <p:nvSpPr>
              <p:cNvPr id="32778" name="Rectangle 8"/>
              <p:cNvSpPr/>
              <p:nvPr/>
            </p:nvSpPr>
            <p:spPr>
              <a:xfrm>
                <a:off x="3262" y="3808"/>
                <a:ext cx="474" cy="258"/>
              </a:xfrm>
              <a:prstGeom prst="rect">
                <a:avLst/>
              </a:prstGeom>
              <a:solidFill>
                <a:schemeClr val="tx2"/>
              </a:solidFill>
              <a:ln w="12700" cap="flat" cmpd="sng">
                <a:solidFill>
                  <a:srgbClr val="000000"/>
                </a:solidFill>
                <a:prstDash val="solid"/>
                <a:miter/>
                <a:headEnd type="none" w="med" len="med"/>
                <a:tailEnd type="none" w="med" len="med"/>
              </a:ln>
            </p:spPr>
            <p:txBody>
              <a:bodyPr anchor="ctr" anchorCtr="0">
                <a:spAutoFit/>
              </a:bodyPr>
              <a:p>
                <a:r>
                  <a:rPr lang="en-US" altLang="zh-CN" sz="2000" dirty="0">
                    <a:latin typeface="Arial" panose="020B0604020202020204" pitchFamily="34" charset="0"/>
                  </a:rPr>
                  <a:t>LOG</a:t>
                </a:r>
                <a:endParaRPr lang="en-US" altLang="zh-CN" sz="2000" dirty="0">
                  <a:latin typeface="Arial" panose="020B0604020202020204" pitchFamily="34" charset="0"/>
                </a:endParaRPr>
              </a:p>
            </p:txBody>
          </p:sp>
          <p:sp>
            <p:nvSpPr>
              <p:cNvPr id="32779" name="Rectangle 9"/>
              <p:cNvSpPr/>
              <p:nvPr/>
            </p:nvSpPr>
            <p:spPr>
              <a:xfrm>
                <a:off x="1407" y="2523"/>
                <a:ext cx="1020" cy="306"/>
              </a:xfrm>
              <a:prstGeom prst="rect">
                <a:avLst/>
              </a:prstGeom>
              <a:noFill/>
              <a:ln w="28575" cap="flat" cmpd="sng">
                <a:solidFill>
                  <a:srgbClr val="000000"/>
                </a:solidFill>
                <a:prstDash val="sysDot"/>
                <a:miter/>
                <a:headEnd type="none" w="med" len="med"/>
                <a:tailEnd type="none" w="med" len="med"/>
              </a:ln>
            </p:spPr>
            <p:txBody>
              <a:bodyPr anchor="ctr" anchorCtr="0">
                <a:spAutoFit/>
              </a:bodyPr>
              <a:p>
                <a:r>
                  <a:rPr lang="en-US" altLang="zh-CN" sz="2400" dirty="0">
                    <a:latin typeface="Arial" panose="020B0604020202020204" pitchFamily="34" charset="0"/>
                  </a:rPr>
                  <a:t>T1</a:t>
                </a:r>
                <a:r>
                  <a:rPr lang="zh-CN" altLang="en-US" sz="2400" dirty="0">
                    <a:latin typeface="Arial" panose="020B0604020202020204" pitchFamily="34" charset="0"/>
                  </a:rPr>
                  <a:t>工作区</a:t>
                </a:r>
                <a:endParaRPr lang="zh-CN" altLang="en-US" sz="2400" dirty="0">
                  <a:latin typeface="Arial" panose="020B0604020202020204" pitchFamily="34" charset="0"/>
                </a:endParaRPr>
              </a:p>
            </p:txBody>
          </p:sp>
          <p:sp>
            <p:nvSpPr>
              <p:cNvPr id="32780" name="Rectangle 10"/>
              <p:cNvSpPr/>
              <p:nvPr/>
            </p:nvSpPr>
            <p:spPr>
              <a:xfrm>
                <a:off x="2858" y="2523"/>
                <a:ext cx="1020" cy="306"/>
              </a:xfrm>
              <a:prstGeom prst="rect">
                <a:avLst/>
              </a:prstGeom>
              <a:noFill/>
              <a:ln w="28575" cap="flat" cmpd="sng">
                <a:solidFill>
                  <a:srgbClr val="000000"/>
                </a:solidFill>
                <a:prstDash val="sysDot"/>
                <a:miter/>
                <a:headEnd type="none" w="med" len="med"/>
                <a:tailEnd type="none" w="med" len="med"/>
              </a:ln>
            </p:spPr>
            <p:txBody>
              <a:bodyPr anchor="ctr" anchorCtr="0">
                <a:spAutoFit/>
              </a:bodyPr>
              <a:p>
                <a:r>
                  <a:rPr lang="en-US" altLang="zh-CN" sz="2400" dirty="0">
                    <a:latin typeface="Arial" panose="020B0604020202020204" pitchFamily="34" charset="0"/>
                  </a:rPr>
                  <a:t>T2</a:t>
                </a:r>
                <a:r>
                  <a:rPr lang="zh-CN" altLang="en-US" sz="2400" dirty="0">
                    <a:latin typeface="Arial" panose="020B0604020202020204" pitchFamily="34" charset="0"/>
                  </a:rPr>
                  <a:t>工作区</a:t>
                </a:r>
                <a:endParaRPr lang="zh-CN" altLang="en-US" sz="2400" dirty="0">
                  <a:latin typeface="Arial" panose="020B0604020202020204" pitchFamily="34" charset="0"/>
                </a:endParaRPr>
              </a:p>
            </p:txBody>
          </p:sp>
          <p:sp>
            <p:nvSpPr>
              <p:cNvPr id="32781" name="Rectangle 11"/>
              <p:cNvSpPr/>
              <p:nvPr/>
            </p:nvSpPr>
            <p:spPr>
              <a:xfrm>
                <a:off x="1695" y="3022"/>
                <a:ext cx="1814" cy="306"/>
              </a:xfrm>
              <a:prstGeom prst="rect">
                <a:avLst/>
              </a:prstGeom>
              <a:noFill/>
              <a:ln w="28575" cap="flat" cmpd="sng">
                <a:solidFill>
                  <a:srgbClr val="000000"/>
                </a:solidFill>
                <a:prstDash val="sysDot"/>
                <a:miter/>
                <a:headEnd type="none" w="med" len="med"/>
                <a:tailEnd type="none" w="med" len="med"/>
              </a:ln>
            </p:spPr>
            <p:txBody>
              <a:bodyPr anchor="ctr" anchorCtr="0">
                <a:spAutoFit/>
              </a:bodyPr>
              <a:p>
                <a:r>
                  <a:rPr lang="zh-CN" altLang="en-US" sz="2400" dirty="0">
                    <a:latin typeface="Arial" panose="020B0604020202020204" pitchFamily="34" charset="0"/>
                  </a:rPr>
                  <a:t>系统缓冲区</a:t>
                </a:r>
                <a:endParaRPr lang="zh-CN" altLang="en-US" sz="2400" dirty="0">
                  <a:latin typeface="Arial" panose="020B0604020202020204" pitchFamily="34" charset="0"/>
                </a:endParaRPr>
              </a:p>
            </p:txBody>
          </p:sp>
          <p:sp>
            <p:nvSpPr>
              <p:cNvPr id="32782" name="Line 12"/>
              <p:cNvSpPr/>
              <p:nvPr/>
            </p:nvSpPr>
            <p:spPr>
              <a:xfrm>
                <a:off x="1973" y="2840"/>
                <a:ext cx="499" cy="182"/>
              </a:xfrm>
              <a:prstGeom prst="line">
                <a:avLst/>
              </a:prstGeom>
              <a:ln w="28575" cap="flat" cmpd="sng">
                <a:solidFill>
                  <a:srgbClr val="000000"/>
                </a:solidFill>
                <a:prstDash val="solid"/>
                <a:headEnd type="none" w="med" len="med"/>
                <a:tailEnd type="triangle" w="med" len="med"/>
              </a:ln>
            </p:spPr>
          </p:sp>
          <p:sp>
            <p:nvSpPr>
              <p:cNvPr id="32783" name="Line 13"/>
              <p:cNvSpPr/>
              <p:nvPr/>
            </p:nvSpPr>
            <p:spPr>
              <a:xfrm flipH="1">
                <a:off x="2835" y="2840"/>
                <a:ext cx="453" cy="182"/>
              </a:xfrm>
              <a:prstGeom prst="line">
                <a:avLst/>
              </a:prstGeom>
              <a:ln w="28575" cap="flat" cmpd="sng">
                <a:solidFill>
                  <a:srgbClr val="000000"/>
                </a:solidFill>
                <a:prstDash val="solid"/>
                <a:headEnd type="none" w="med" len="med"/>
                <a:tailEnd type="triangle" w="med" len="med"/>
              </a:ln>
            </p:spPr>
          </p:sp>
          <p:sp>
            <p:nvSpPr>
              <p:cNvPr id="32784" name="AutoShape 14"/>
              <p:cNvSpPr/>
              <p:nvPr/>
            </p:nvSpPr>
            <p:spPr>
              <a:xfrm>
                <a:off x="3288" y="3385"/>
                <a:ext cx="147" cy="207"/>
              </a:xfrm>
              <a:prstGeom prst="flowChartConnector">
                <a:avLst/>
              </a:prstGeom>
              <a:solidFill>
                <a:srgbClr val="FFFF00"/>
              </a:solidFill>
              <a:ln w="28575" cap="flat" cmpd="sng">
                <a:solidFill>
                  <a:srgbClr val="000000"/>
                </a:solidFill>
                <a:prstDash val="solid"/>
                <a:headEnd type="none" w="med" len="med"/>
                <a:tailEnd type="none" w="med" len="med"/>
              </a:ln>
            </p:spPr>
            <p:txBody>
              <a:bodyPr lIns="0" tIns="0" rIns="0" bIns="0" anchor="ctr" anchorCtr="0">
                <a:spAutoFit/>
              </a:bodyPr>
              <a:p>
                <a:r>
                  <a:rPr lang="en-US" altLang="zh-CN" sz="1400" dirty="0">
                    <a:latin typeface="Arial" panose="020B0604020202020204" pitchFamily="34" charset="0"/>
                  </a:rPr>
                  <a:t>2</a:t>
                </a:r>
                <a:endParaRPr lang="en-US" altLang="zh-CN" sz="1400" dirty="0">
                  <a:latin typeface="Arial" panose="020B0604020202020204" pitchFamily="34" charset="0"/>
                </a:endParaRPr>
              </a:p>
            </p:txBody>
          </p:sp>
          <p:sp>
            <p:nvSpPr>
              <p:cNvPr id="32785" name="AutoShape 15"/>
              <p:cNvSpPr/>
              <p:nvPr/>
            </p:nvSpPr>
            <p:spPr>
              <a:xfrm>
                <a:off x="2608" y="2795"/>
                <a:ext cx="147" cy="207"/>
              </a:xfrm>
              <a:prstGeom prst="flowChartConnector">
                <a:avLst/>
              </a:prstGeom>
              <a:solidFill>
                <a:srgbClr val="FFFF00"/>
              </a:solidFill>
              <a:ln w="28575" cap="flat" cmpd="sng">
                <a:solidFill>
                  <a:srgbClr val="000000"/>
                </a:solidFill>
                <a:prstDash val="solid"/>
                <a:headEnd type="none" w="med" len="med"/>
                <a:tailEnd type="none" w="med" len="med"/>
              </a:ln>
            </p:spPr>
            <p:txBody>
              <a:bodyPr lIns="0" tIns="0" rIns="0" bIns="0" anchor="ctr" anchorCtr="0">
                <a:spAutoFit/>
              </a:bodyPr>
              <a:p>
                <a:r>
                  <a:rPr lang="en-US" altLang="zh-CN" sz="1400" dirty="0">
                    <a:latin typeface="Arial" panose="020B0604020202020204" pitchFamily="34" charset="0"/>
                  </a:rPr>
                  <a:t>1</a:t>
                </a:r>
                <a:endParaRPr lang="en-US" altLang="zh-CN" sz="1400" dirty="0">
                  <a:latin typeface="Arial" panose="020B0604020202020204" pitchFamily="34" charset="0"/>
                </a:endParaRPr>
              </a:p>
            </p:txBody>
          </p:sp>
          <p:sp>
            <p:nvSpPr>
              <p:cNvPr id="32786" name="Line 16"/>
              <p:cNvSpPr/>
              <p:nvPr/>
            </p:nvSpPr>
            <p:spPr>
              <a:xfrm>
                <a:off x="3061" y="3339"/>
                <a:ext cx="454" cy="454"/>
              </a:xfrm>
              <a:prstGeom prst="line">
                <a:avLst/>
              </a:prstGeom>
              <a:ln w="28575" cap="flat" cmpd="sng">
                <a:solidFill>
                  <a:srgbClr val="000000"/>
                </a:solidFill>
                <a:prstDash val="solid"/>
                <a:headEnd type="none" w="med" len="med"/>
                <a:tailEnd type="triangle" w="med" len="med"/>
              </a:ln>
            </p:spPr>
          </p:sp>
          <p:sp>
            <p:nvSpPr>
              <p:cNvPr id="32787" name="Line 17"/>
              <p:cNvSpPr/>
              <p:nvPr/>
            </p:nvSpPr>
            <p:spPr>
              <a:xfrm flipH="1">
                <a:off x="2109" y="3339"/>
                <a:ext cx="227" cy="499"/>
              </a:xfrm>
              <a:prstGeom prst="line">
                <a:avLst/>
              </a:prstGeom>
              <a:ln w="28575" cap="flat" cmpd="sng">
                <a:solidFill>
                  <a:srgbClr val="000000"/>
                </a:solidFill>
                <a:prstDash val="solid"/>
                <a:headEnd type="none" w="med" len="med"/>
                <a:tailEnd type="triangle" w="med" len="med"/>
              </a:ln>
            </p:spPr>
          </p:sp>
          <p:sp>
            <p:nvSpPr>
              <p:cNvPr id="32788" name="AutoShape 18"/>
              <p:cNvSpPr/>
              <p:nvPr/>
            </p:nvSpPr>
            <p:spPr>
              <a:xfrm>
                <a:off x="2018" y="3385"/>
                <a:ext cx="147" cy="207"/>
              </a:xfrm>
              <a:prstGeom prst="flowChartConnector">
                <a:avLst/>
              </a:prstGeom>
              <a:solidFill>
                <a:srgbClr val="FFFF00"/>
              </a:solidFill>
              <a:ln w="28575" cap="flat" cmpd="sng">
                <a:solidFill>
                  <a:srgbClr val="000000"/>
                </a:solidFill>
                <a:prstDash val="solid"/>
                <a:headEnd type="none" w="med" len="med"/>
                <a:tailEnd type="none" w="med" len="med"/>
              </a:ln>
            </p:spPr>
            <p:txBody>
              <a:bodyPr lIns="0" tIns="0" rIns="0" bIns="0" anchor="ctr" anchorCtr="0">
                <a:spAutoFit/>
              </a:bodyPr>
              <a:p>
                <a:r>
                  <a:rPr lang="en-US" altLang="zh-CN" sz="1400" dirty="0">
                    <a:latin typeface="Arial" panose="020B0604020202020204" pitchFamily="34" charset="0"/>
                  </a:rPr>
                  <a:t>3</a:t>
                </a:r>
                <a:endParaRPr lang="en-US" altLang="zh-CN" sz="1400" dirty="0">
                  <a:latin typeface="Arial" panose="020B0604020202020204" pitchFamily="34" charset="0"/>
                </a:endParaRPr>
              </a:p>
            </p:txBody>
          </p:sp>
        </p:grpSp>
        <p:sp>
          <p:nvSpPr>
            <p:cNvPr id="32774" name="Rectangle 20"/>
            <p:cNvSpPr/>
            <p:nvPr/>
          </p:nvSpPr>
          <p:spPr>
            <a:xfrm>
              <a:off x="3819" y="3123"/>
              <a:ext cx="436" cy="250"/>
            </a:xfrm>
            <a:prstGeom prst="rect">
              <a:avLst/>
            </a:prstGeom>
            <a:noFill/>
            <a:ln w="28575">
              <a:noFill/>
            </a:ln>
          </p:spPr>
          <p:txBody>
            <a:bodyPr wrap="none" anchor="ctr" anchorCtr="0">
              <a:spAutoFit/>
            </a:bodyPr>
            <a:p>
              <a:r>
                <a:rPr lang="zh-CN" altLang="en-US" sz="2000" dirty="0">
                  <a:latin typeface="Arial" panose="020B0604020202020204" pitchFamily="34" charset="0"/>
                </a:rPr>
                <a:t>内存</a:t>
              </a:r>
              <a:endParaRPr lang="zh-CN" altLang="en-US" sz="2000" dirty="0">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idx="1"/>
          </p:nvPr>
        </p:nvSpPr>
        <p:spPr>
          <a:xfrm>
            <a:off x="684213" y="1125538"/>
            <a:ext cx="8064500" cy="2303462"/>
          </a:xfrm>
        </p:spPr>
        <p:txBody>
          <a:bodyPr vert="horz" wrap="square" lIns="91440" tIns="45720" rIns="91440" bIns="45720" anchor="t" anchorCtr="0"/>
          <a:p>
            <a:pPr marL="361950" indent="-361950" eaLnBrk="1" hangingPunct="1">
              <a:spcBef>
                <a:spcPct val="40000"/>
              </a:spcBef>
            </a:pPr>
            <a:r>
              <a:rPr lang="zh-CN" altLang="en-US" dirty="0">
                <a:latin typeface="Arial" panose="020B0604020202020204" pitchFamily="34" charset="0"/>
              </a:rPr>
              <a:t>事务故障的恢复</a:t>
            </a:r>
            <a:endParaRPr lang="zh-CN" altLang="en-US" dirty="0">
              <a:latin typeface="Arial" panose="020B0604020202020204" pitchFamily="34" charset="0"/>
            </a:endParaRPr>
          </a:p>
          <a:p>
            <a:pPr marL="361950" indent="-361950" eaLnBrk="1" hangingPunct="1">
              <a:spcBef>
                <a:spcPct val="40000"/>
              </a:spcBef>
            </a:pPr>
            <a:r>
              <a:rPr lang="zh-CN" altLang="en-US" dirty="0">
                <a:latin typeface="Arial" panose="020B0604020202020204" pitchFamily="34" charset="0"/>
              </a:rPr>
              <a:t>系统故障的恢复</a:t>
            </a:r>
            <a:endParaRPr lang="zh-CN" altLang="en-US" dirty="0">
              <a:latin typeface="Arial" panose="020B0604020202020204" pitchFamily="34" charset="0"/>
            </a:endParaRPr>
          </a:p>
          <a:p>
            <a:pPr marL="361950" indent="-361950" eaLnBrk="1" hangingPunct="1">
              <a:spcBef>
                <a:spcPct val="40000"/>
              </a:spcBef>
            </a:pPr>
            <a:r>
              <a:rPr lang="zh-CN" altLang="en-US" dirty="0">
                <a:latin typeface="Arial" panose="020B0604020202020204" pitchFamily="34" charset="0"/>
              </a:rPr>
              <a:t>介质故障的恢复</a:t>
            </a:r>
            <a:endParaRPr lang="zh-CN" altLang="en-US" dirty="0">
              <a:latin typeface="Arial" panose="020B0604020202020204" pitchFamily="34" charset="0"/>
            </a:endParaRPr>
          </a:p>
        </p:txBody>
      </p:sp>
      <p:sp>
        <p:nvSpPr>
          <p:cNvPr id="4474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宋体" panose="02010600030101010101" pitchFamily="2" charset="-122"/>
                <a:ea typeface="+mj-ea"/>
                <a:cs typeface="+mj-cs"/>
              </a:rPr>
              <a:t>恢复策略</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 </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47492" name="AutoShape 4">
            <a:hlinkClick r:id="rId1" action="ppaction://hlinksldjump"/>
          </p:cNvPr>
          <p:cNvSpPr>
            <a:spLocks noChangeArrowheads="1"/>
          </p:cNvSpPr>
          <p:nvPr/>
        </p:nvSpPr>
        <p:spPr bwMode="auto">
          <a:xfrm flipH="1">
            <a:off x="5292725" y="1196975"/>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447493" name="AutoShape 5">
            <a:hlinkClick r:id="rId2" action="ppaction://hlinksldjump"/>
          </p:cNvPr>
          <p:cNvSpPr>
            <a:spLocks noChangeArrowheads="1"/>
          </p:cNvSpPr>
          <p:nvPr/>
        </p:nvSpPr>
        <p:spPr bwMode="auto">
          <a:xfrm flipH="1">
            <a:off x="5292725" y="198913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447494" name="AutoShape 6">
            <a:hlinkClick r:id="rId3" action="ppaction://hlinksldjump"/>
          </p:cNvPr>
          <p:cNvSpPr>
            <a:spLocks noChangeArrowheads="1"/>
          </p:cNvSpPr>
          <p:nvPr/>
        </p:nvSpPr>
        <p:spPr bwMode="auto">
          <a:xfrm flipH="1">
            <a:off x="5292725" y="273843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33799" name="Rectangle 7"/>
          <p:cNvSpPr/>
          <p:nvPr/>
        </p:nvSpPr>
        <p:spPr>
          <a:xfrm>
            <a:off x="395288" y="3429000"/>
            <a:ext cx="8523287" cy="2808288"/>
          </a:xfrm>
          <a:prstGeom prst="rect">
            <a:avLst/>
          </a:prstGeom>
          <a:noFill/>
          <a:ln w="9525">
            <a:noFill/>
          </a:ln>
        </p:spPr>
        <p:txBody>
          <a:bodyPr/>
          <a:p>
            <a:pPr marL="361950" indent="-361950" algn="l">
              <a:spcBef>
                <a:spcPct val="0"/>
              </a:spcBef>
              <a:buClr>
                <a:srgbClr val="FF0000"/>
              </a:buClr>
              <a:buSzPct val="65000"/>
              <a:buFont typeface="Wingdings" panose="05000000000000000000" pitchFamily="2" charset="2"/>
              <a:buChar char="n"/>
            </a:pPr>
            <a:r>
              <a:rPr lang="zh-CN" altLang="en-US" dirty="0">
                <a:latin typeface="Arial" panose="020B0604020202020204" pitchFamily="34" charset="0"/>
              </a:rPr>
              <a:t>数据库恢复时主要使用的操作：</a:t>
            </a:r>
            <a:endParaRPr lang="zh-CN" altLang="en-US" dirty="0">
              <a:latin typeface="Arial" panose="020B0604020202020204" pitchFamily="34" charset="0"/>
            </a:endParaRPr>
          </a:p>
          <a:p>
            <a:pPr marL="981075" lvl="1" indent="-439420" algn="l" eaLnBrk="1" hangingPunct="1">
              <a:spcBef>
                <a:spcPts val="600"/>
              </a:spcBef>
              <a:buClr>
                <a:srgbClr val="0000CC"/>
              </a:buClr>
              <a:buSzPct val="65000"/>
              <a:buFont typeface="Wingdings" panose="05000000000000000000" pitchFamily="2" charset="2"/>
              <a:buChar char="n"/>
            </a:pPr>
            <a:r>
              <a:rPr lang="zh-CN" altLang="en-US" dirty="0">
                <a:latin typeface="Arial" panose="020B0604020202020204" pitchFamily="34" charset="0"/>
              </a:rPr>
              <a:t>事务撤销</a:t>
            </a:r>
            <a:r>
              <a:rPr lang="en-US" altLang="zh-CN" sz="3200" dirty="0">
                <a:latin typeface="Arial" panose="020B0604020202020204" pitchFamily="34" charset="0"/>
              </a:rPr>
              <a:t>( </a:t>
            </a:r>
            <a:r>
              <a:rPr lang="en-US" altLang="zh-CN" dirty="0">
                <a:solidFill>
                  <a:srgbClr val="FF0000"/>
                </a:solidFill>
                <a:latin typeface="Arial" panose="020B0604020202020204" pitchFamily="34" charset="0"/>
              </a:rPr>
              <a:t>UNDO</a:t>
            </a:r>
            <a:r>
              <a:rPr lang="en-US" altLang="zh-CN" dirty="0">
                <a:latin typeface="Arial" panose="020B0604020202020204" pitchFamily="34" charset="0"/>
              </a:rPr>
              <a:t> </a:t>
            </a:r>
            <a:r>
              <a:rPr lang="en-US" altLang="zh-CN" sz="3200" dirty="0">
                <a:latin typeface="Arial" panose="020B0604020202020204" pitchFamily="34" charset="0"/>
              </a:rPr>
              <a:t>)</a:t>
            </a:r>
            <a:endParaRPr lang="en-US" altLang="zh-CN" sz="3200" dirty="0">
              <a:latin typeface="Arial" panose="020B0604020202020204" pitchFamily="34" charset="0"/>
            </a:endParaRPr>
          </a:p>
          <a:p>
            <a:pPr marL="981075" lvl="1" indent="-439420" algn="l" eaLnBrk="1" hangingPunct="1">
              <a:spcBef>
                <a:spcPct val="0"/>
              </a:spcBef>
              <a:buClr>
                <a:srgbClr val="0000CC"/>
              </a:buClr>
              <a:buSzPct val="65000"/>
              <a:buFont typeface="Wingdings" panose="05000000000000000000" pitchFamily="2" charset="2"/>
            </a:pPr>
            <a:r>
              <a:rPr lang="zh-CN" altLang="en-US" sz="3200" dirty="0">
                <a:latin typeface="Arial" panose="020B0604020202020204" pitchFamily="34" charset="0"/>
              </a:rPr>
              <a:t>对更新操作做逆操作，使事务恢复到开始处</a:t>
            </a:r>
            <a:endParaRPr lang="zh-CN" altLang="en-US" sz="3200" dirty="0">
              <a:latin typeface="Arial" panose="020B0604020202020204" pitchFamily="34" charset="0"/>
            </a:endParaRPr>
          </a:p>
          <a:p>
            <a:pPr marL="981075" lvl="1" indent="-439420" algn="l" eaLnBrk="1" hangingPunct="1">
              <a:spcBef>
                <a:spcPct val="15000"/>
              </a:spcBef>
              <a:buClr>
                <a:srgbClr val="0000CC"/>
              </a:buClr>
              <a:buSzPct val="65000"/>
              <a:buFont typeface="Wingdings" panose="05000000000000000000" pitchFamily="2" charset="2"/>
              <a:buChar char="n"/>
            </a:pPr>
            <a:r>
              <a:rPr lang="zh-CN" altLang="en-US" dirty="0">
                <a:latin typeface="Arial" panose="020B0604020202020204" pitchFamily="34" charset="0"/>
              </a:rPr>
              <a:t>事务重做</a:t>
            </a:r>
            <a:r>
              <a:rPr lang="en-US" altLang="zh-CN" sz="3200" dirty="0">
                <a:latin typeface="Arial" panose="020B0604020202020204" pitchFamily="34" charset="0"/>
              </a:rPr>
              <a:t>( </a:t>
            </a:r>
            <a:r>
              <a:rPr lang="en-US" altLang="zh-CN" dirty="0">
                <a:solidFill>
                  <a:srgbClr val="FF0000"/>
                </a:solidFill>
                <a:latin typeface="Arial" panose="020B0604020202020204" pitchFamily="34" charset="0"/>
              </a:rPr>
              <a:t>REDO</a:t>
            </a:r>
            <a:r>
              <a:rPr lang="en-US" altLang="zh-CN" dirty="0">
                <a:latin typeface="Arial" panose="020B0604020202020204" pitchFamily="34" charset="0"/>
              </a:rPr>
              <a:t> </a:t>
            </a:r>
            <a:r>
              <a:rPr lang="en-US" altLang="zh-CN" sz="3200" dirty="0">
                <a:latin typeface="Arial" panose="020B0604020202020204" pitchFamily="34" charset="0"/>
              </a:rPr>
              <a:t>)</a:t>
            </a:r>
            <a:endParaRPr lang="en-US" altLang="zh-CN" sz="3200" dirty="0">
              <a:latin typeface="Arial" panose="020B0604020202020204" pitchFamily="34" charset="0"/>
            </a:endParaRPr>
          </a:p>
          <a:p>
            <a:pPr marL="981075" lvl="1" indent="-439420" algn="l" eaLnBrk="1" hangingPunct="1">
              <a:spcBef>
                <a:spcPct val="0"/>
              </a:spcBef>
              <a:buClr>
                <a:srgbClr val="0000CC"/>
              </a:buClr>
              <a:buSzPct val="65000"/>
              <a:buFont typeface="Wingdings" panose="05000000000000000000" pitchFamily="2" charset="2"/>
            </a:pPr>
            <a:r>
              <a:rPr lang="zh-CN" altLang="en-US" sz="3200" dirty="0">
                <a:latin typeface="Arial" panose="020B0604020202020204" pitchFamily="34" charset="0"/>
              </a:rPr>
              <a:t>对更新操作重做</a:t>
            </a:r>
            <a:endParaRPr lang="zh-CN" altLang="en-US" sz="3200" dirty="0">
              <a:latin typeface="Arial" panose="020B0604020202020204" pitchFamily="34" charset="0"/>
            </a:endParaRPr>
          </a:p>
        </p:txBody>
      </p:sp>
      <p:sp>
        <p:nvSpPr>
          <p:cNvPr id="447496" name="AutoShape 8">
            <a:hlinkClick r:id="rId4" action="ppaction://hlinksldjump"/>
          </p:cNvPr>
          <p:cNvSpPr>
            <a:spLocks noChangeArrowheads="1"/>
          </p:cNvSpPr>
          <p:nvPr/>
        </p:nvSpPr>
        <p:spPr bwMode="auto">
          <a:xfrm>
            <a:off x="8459788" y="6194425"/>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5"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idx="1"/>
          </p:nvPr>
        </p:nvSpPr>
        <p:spPr>
          <a:xfrm>
            <a:off x="179388" y="1052513"/>
            <a:ext cx="8785225" cy="5273675"/>
          </a:xfrm>
        </p:spPr>
        <p:txBody>
          <a:bodyPr vert="horz" wrap="square" lIns="91440" tIns="45720" rIns="91440" bIns="45720" anchor="t" anchorCtr="0"/>
          <a:p>
            <a:pPr eaLnBrk="1" hangingPunct="1"/>
            <a:r>
              <a:rPr lang="zh-CN" altLang="en-US" dirty="0">
                <a:latin typeface="Arial" panose="020B0604020202020204" pitchFamily="34" charset="0"/>
              </a:rPr>
              <a:t>造成数据库不一致状态的原因</a:t>
            </a:r>
            <a:endParaRPr lang="zh-CN" altLang="en-US" sz="4000" dirty="0">
              <a:latin typeface="Arial" panose="020B0604020202020204" pitchFamily="34" charset="0"/>
            </a:endParaRPr>
          </a:p>
          <a:p>
            <a:pPr marL="898525" lvl="1" indent="-358775" eaLnBrk="1" hangingPunct="1">
              <a:lnSpc>
                <a:spcPct val="110000"/>
              </a:lnSpc>
              <a:spcBef>
                <a:spcPct val="0"/>
              </a:spcBef>
            </a:pPr>
            <a:r>
              <a:rPr lang="zh-CN" altLang="en-US" sz="3600" dirty="0">
                <a:latin typeface="Arial" panose="020B0604020202020204" pitchFamily="34" charset="0"/>
              </a:rPr>
              <a:t>事务未运行至正常终止点前被撤销</a:t>
            </a:r>
            <a:endParaRPr lang="zh-CN" altLang="en-US" sz="3600" dirty="0">
              <a:latin typeface="Arial" panose="020B0604020202020204" pitchFamily="34" charset="0"/>
            </a:endParaRPr>
          </a:p>
          <a:p>
            <a:pPr eaLnBrk="1" hangingPunct="1">
              <a:lnSpc>
                <a:spcPct val="110000"/>
              </a:lnSpc>
              <a:spcBef>
                <a:spcPct val="30000"/>
              </a:spcBef>
            </a:pPr>
            <a:r>
              <a:rPr lang="zh-CN" altLang="en-US" dirty="0">
                <a:solidFill>
                  <a:srgbClr val="0000CC"/>
                </a:solidFill>
                <a:latin typeface="Arial" panose="020B0604020202020204" pitchFamily="34" charset="0"/>
              </a:rPr>
              <a:t>恢复方法</a:t>
            </a:r>
            <a:endParaRPr lang="zh-CN" altLang="en-US" dirty="0">
              <a:solidFill>
                <a:srgbClr val="0000CC"/>
              </a:solidFill>
              <a:latin typeface="Arial" panose="020B0604020202020204" pitchFamily="34" charset="0"/>
            </a:endParaRPr>
          </a:p>
          <a:p>
            <a:pPr marL="898525" lvl="1" indent="-358775" eaLnBrk="1" hangingPunct="1">
              <a:lnSpc>
                <a:spcPct val="110000"/>
              </a:lnSpc>
              <a:spcBef>
                <a:spcPct val="0"/>
              </a:spcBef>
            </a:pPr>
            <a:r>
              <a:rPr lang="zh-CN" altLang="en-US" sz="3600" dirty="0">
                <a:latin typeface="Arial" panose="020B0604020202020204" pitchFamily="34" charset="0"/>
              </a:rPr>
              <a:t>由恢复子系统利用日志文件撤消</a:t>
            </a:r>
            <a:r>
              <a:rPr lang="en-US" altLang="zh-CN" sz="3600" dirty="0">
                <a:latin typeface="Arial" panose="020B0604020202020204" pitchFamily="34" charset="0"/>
              </a:rPr>
              <a:t>(</a:t>
            </a:r>
            <a:r>
              <a:rPr lang="en-US" altLang="zh-CN" sz="3600" dirty="0">
                <a:solidFill>
                  <a:srgbClr val="FF0000"/>
                </a:solidFill>
                <a:latin typeface="Arial" panose="020B0604020202020204" pitchFamily="34" charset="0"/>
              </a:rPr>
              <a:t>UNDO</a:t>
            </a:r>
            <a:r>
              <a:rPr lang="en-US" altLang="zh-CN" sz="3600" dirty="0">
                <a:latin typeface="Arial" panose="020B0604020202020204" pitchFamily="34" charset="0"/>
              </a:rPr>
              <a:t>)</a:t>
            </a:r>
            <a:r>
              <a:rPr lang="zh-CN" altLang="en-US" sz="3600" dirty="0">
                <a:latin typeface="Arial" panose="020B0604020202020204" pitchFamily="34" charset="0"/>
              </a:rPr>
              <a:t>此事务已对数据库进行的修改</a:t>
            </a:r>
            <a:endParaRPr lang="zh-CN" altLang="en-US" sz="3600" dirty="0">
              <a:latin typeface="Arial" panose="020B0604020202020204" pitchFamily="34" charset="0"/>
            </a:endParaRPr>
          </a:p>
          <a:p>
            <a:pPr eaLnBrk="1" hangingPunct="1">
              <a:lnSpc>
                <a:spcPct val="110000"/>
              </a:lnSpc>
              <a:spcBef>
                <a:spcPct val="30000"/>
              </a:spcBef>
            </a:pPr>
            <a:r>
              <a:rPr lang="zh-CN" altLang="en-US" dirty="0">
                <a:latin typeface="Arial" panose="020B0604020202020204" pitchFamily="34" charset="0"/>
              </a:rPr>
              <a:t>事务故障的恢复由系统自动完成，不需要用户干预</a:t>
            </a:r>
            <a:endParaRPr lang="zh-CN" altLang="en-US" dirty="0">
              <a:latin typeface="Arial" panose="020B0604020202020204" pitchFamily="34" charset="0"/>
            </a:endParaRPr>
          </a:p>
        </p:txBody>
      </p:sp>
      <p:sp>
        <p:nvSpPr>
          <p:cNvPr id="38809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、事务故障的恢复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88100" name="AutoShape 4">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idx="1"/>
          </p:nvPr>
        </p:nvSpPr>
        <p:spPr>
          <a:xfrm>
            <a:off x="223838" y="1000125"/>
            <a:ext cx="8740775" cy="5688013"/>
          </a:xfrm>
        </p:spPr>
        <p:txBody>
          <a:bodyPr vert="horz" wrap="square" lIns="91440" tIns="45720" rIns="91440" bIns="45720" anchor="t" anchorCtr="0"/>
          <a:p>
            <a:pPr marL="355600" indent="-355600" eaLnBrk="1" hangingPunct="1"/>
            <a:r>
              <a:rPr lang="zh-CN" altLang="en-US" sz="3200" dirty="0">
                <a:latin typeface="Arial" panose="020B0604020202020204" pitchFamily="34" charset="0"/>
              </a:rPr>
              <a:t>造成数据库不一致状态的原因</a:t>
            </a:r>
            <a:endParaRPr lang="zh-CN" altLang="en-US" sz="3200" dirty="0">
              <a:latin typeface="Arial" panose="020B0604020202020204" pitchFamily="34" charset="0"/>
            </a:endParaRPr>
          </a:p>
          <a:p>
            <a:pPr marL="897255" lvl="1" indent="-361950" eaLnBrk="1" hangingPunct="1">
              <a:spcBef>
                <a:spcPct val="0"/>
              </a:spcBef>
            </a:pPr>
            <a:r>
              <a:rPr lang="zh-CN" altLang="en-US" dirty="0">
                <a:latin typeface="Arial" panose="020B0604020202020204" pitchFamily="34" charset="0"/>
              </a:rPr>
              <a:t>一些</a:t>
            </a:r>
            <a:r>
              <a:rPr lang="zh-CN" altLang="en-US" u="sng" dirty="0">
                <a:latin typeface="Arial" panose="020B0604020202020204" pitchFamily="34" charset="0"/>
              </a:rPr>
              <a:t>未完成事务</a:t>
            </a:r>
            <a:r>
              <a:rPr lang="zh-CN" altLang="en-US" dirty="0">
                <a:latin typeface="Arial" panose="020B0604020202020204" pitchFamily="34" charset="0"/>
              </a:rPr>
              <a:t>对数据库的更新已写入数据库</a:t>
            </a:r>
            <a:endParaRPr lang="zh-CN" altLang="en-US" dirty="0">
              <a:latin typeface="Arial" panose="020B0604020202020204" pitchFamily="34" charset="0"/>
            </a:endParaRPr>
          </a:p>
          <a:p>
            <a:pPr marL="897255" lvl="1" indent="-361950" eaLnBrk="1" hangingPunct="1">
              <a:spcBef>
                <a:spcPct val="0"/>
              </a:spcBef>
            </a:pPr>
            <a:r>
              <a:rPr lang="zh-CN" altLang="en-US" dirty="0">
                <a:latin typeface="Arial" panose="020B0604020202020204" pitchFamily="34" charset="0"/>
              </a:rPr>
              <a:t>一些</a:t>
            </a:r>
            <a:r>
              <a:rPr lang="zh-CN" altLang="en-US" u="sng" dirty="0">
                <a:latin typeface="Arial" panose="020B0604020202020204" pitchFamily="34" charset="0"/>
              </a:rPr>
              <a:t>已提交事务</a:t>
            </a:r>
            <a:r>
              <a:rPr lang="zh-CN" altLang="en-US" dirty="0">
                <a:latin typeface="Arial" panose="020B0604020202020204" pitchFamily="34" charset="0"/>
              </a:rPr>
              <a:t>对数据库的更新还留在缓冲区没有写入数据库，但缓冲区数据丢失</a:t>
            </a:r>
            <a:endParaRPr lang="zh-CN" altLang="en-US" dirty="0">
              <a:latin typeface="Arial" panose="020B0604020202020204" pitchFamily="34" charset="0"/>
            </a:endParaRPr>
          </a:p>
          <a:p>
            <a:pPr marL="355600" indent="-355600" eaLnBrk="1" hangingPunct="1">
              <a:spcBef>
                <a:spcPct val="35000"/>
              </a:spcBef>
            </a:pPr>
            <a:r>
              <a:rPr lang="zh-CN" altLang="en-US" sz="3200" dirty="0">
                <a:solidFill>
                  <a:srgbClr val="0000CC"/>
                </a:solidFill>
                <a:latin typeface="Arial" panose="020B0604020202020204" pitchFamily="34" charset="0"/>
              </a:rPr>
              <a:t>恢复方法</a:t>
            </a:r>
            <a:r>
              <a:rPr lang="en-US" altLang="zh-CN" sz="3200" dirty="0">
                <a:latin typeface="Arial" panose="020B0604020202020204" pitchFamily="34" charset="0"/>
              </a:rPr>
              <a:t>(</a:t>
            </a:r>
            <a:r>
              <a:rPr lang="zh-CN" altLang="en-US" sz="3200" dirty="0">
                <a:latin typeface="Arial" panose="020B0604020202020204" pitchFamily="34" charset="0"/>
              </a:rPr>
              <a:t>依据日志文件</a:t>
            </a:r>
            <a:r>
              <a:rPr lang="en-US" altLang="zh-CN" sz="3200" dirty="0">
                <a:latin typeface="Arial" panose="020B0604020202020204" pitchFamily="34" charset="0"/>
              </a:rPr>
              <a:t>)</a:t>
            </a:r>
            <a:endParaRPr lang="en-US" altLang="zh-CN" sz="3200" dirty="0">
              <a:latin typeface="Arial" panose="020B0604020202020204" pitchFamily="34" charset="0"/>
            </a:endParaRPr>
          </a:p>
          <a:p>
            <a:pPr marL="897255" lvl="1" indent="-361950" eaLnBrk="1" hangingPunct="1">
              <a:spcBef>
                <a:spcPct val="0"/>
              </a:spcBef>
            </a:pPr>
            <a:r>
              <a:rPr lang="en-US" altLang="zh-CN" dirty="0">
                <a:solidFill>
                  <a:srgbClr val="FF0000"/>
                </a:solidFill>
                <a:latin typeface="Arial" panose="020B0604020202020204" pitchFamily="34" charset="0"/>
              </a:rPr>
              <a:t>UNDO </a:t>
            </a:r>
            <a:r>
              <a:rPr lang="zh-CN" altLang="en-US" dirty="0">
                <a:latin typeface="Arial" panose="020B0604020202020204" pitchFamily="34" charset="0"/>
              </a:rPr>
              <a:t>故障发生时</a:t>
            </a:r>
            <a:r>
              <a:rPr lang="zh-CN" altLang="en-US" u="sng" dirty="0">
                <a:solidFill>
                  <a:srgbClr val="000099"/>
                </a:solidFill>
                <a:latin typeface="Arial" panose="020B0604020202020204" pitchFamily="34" charset="0"/>
              </a:rPr>
              <a:t>未完成</a:t>
            </a:r>
            <a:r>
              <a:rPr lang="zh-CN" altLang="en-US" dirty="0">
                <a:latin typeface="Arial" panose="020B0604020202020204" pitchFamily="34" charset="0"/>
              </a:rPr>
              <a:t>的事务</a:t>
            </a:r>
            <a:endParaRPr lang="zh-CN" altLang="en-US" dirty="0">
              <a:latin typeface="Arial" panose="020B0604020202020204" pitchFamily="34" charset="0"/>
            </a:endParaRPr>
          </a:p>
          <a:p>
            <a:pPr marL="897255" lvl="1" indent="-361950" eaLnBrk="1" hangingPunct="1">
              <a:spcBef>
                <a:spcPct val="0"/>
              </a:spcBef>
            </a:pPr>
            <a:r>
              <a:rPr lang="en-US" altLang="zh-CN" dirty="0">
                <a:solidFill>
                  <a:srgbClr val="FF0000"/>
                </a:solidFill>
                <a:latin typeface="Arial" panose="020B0604020202020204" pitchFamily="34" charset="0"/>
              </a:rPr>
              <a:t>REDO </a:t>
            </a:r>
            <a:r>
              <a:rPr lang="zh-CN" altLang="en-US" dirty="0">
                <a:latin typeface="Arial" panose="020B0604020202020204" pitchFamily="34" charset="0"/>
              </a:rPr>
              <a:t>故障发生时</a:t>
            </a:r>
            <a:r>
              <a:rPr lang="zh-CN" altLang="en-US" u="sng" dirty="0">
                <a:solidFill>
                  <a:srgbClr val="000099"/>
                </a:solidFill>
                <a:latin typeface="Arial" panose="020B0604020202020204" pitchFamily="34" charset="0"/>
              </a:rPr>
              <a:t>已完成</a:t>
            </a:r>
            <a:r>
              <a:rPr lang="zh-CN" altLang="en-US" dirty="0">
                <a:latin typeface="Arial" panose="020B0604020202020204" pitchFamily="34" charset="0"/>
              </a:rPr>
              <a:t>的事务</a:t>
            </a:r>
            <a:endParaRPr lang="zh-CN" altLang="en-US" dirty="0">
              <a:latin typeface="Arial" panose="020B0604020202020204" pitchFamily="34" charset="0"/>
            </a:endParaRPr>
          </a:p>
          <a:p>
            <a:pPr marL="355600" indent="-355600" eaLnBrk="1" hangingPunct="1">
              <a:spcBef>
                <a:spcPct val="25000"/>
              </a:spcBef>
            </a:pPr>
            <a:r>
              <a:rPr lang="zh-CN" altLang="en-US" sz="3200" dirty="0">
                <a:latin typeface="Arial" panose="020B0604020202020204" pitchFamily="34" charset="0"/>
              </a:rPr>
              <a:t>系统故障的恢复由系统在重新启动时自动完成，不需要用户干预。</a:t>
            </a:r>
            <a:endParaRPr lang="zh-CN" altLang="en-US" sz="3200" dirty="0">
              <a:latin typeface="Arial" panose="020B0604020202020204" pitchFamily="34" charset="0"/>
            </a:endParaRPr>
          </a:p>
        </p:txBody>
      </p:sp>
      <p:sp>
        <p:nvSpPr>
          <p:cNvPr id="3962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、系统故障的恢复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96292" name="AutoShape 4">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idx="1"/>
          </p:nvPr>
        </p:nvSpPr>
        <p:spPr>
          <a:xfrm>
            <a:off x="152400" y="928688"/>
            <a:ext cx="8812213" cy="5543550"/>
          </a:xfrm>
        </p:spPr>
        <p:txBody>
          <a:bodyPr vert="horz" wrap="square" lIns="91440" tIns="45720" rIns="91440" bIns="45720" anchor="t" anchorCtr="0"/>
          <a:p>
            <a:pPr marL="266700" indent="-266700" eaLnBrk="1" hangingPunct="1">
              <a:spcBef>
                <a:spcPct val="20000"/>
              </a:spcBef>
            </a:pPr>
            <a:r>
              <a:rPr lang="zh-CN" altLang="en-US" sz="3200" dirty="0">
                <a:latin typeface="Arial" panose="020B0604020202020204" pitchFamily="34" charset="0"/>
              </a:rPr>
              <a:t>重装数据库，恢复到转储时的一致性状态</a:t>
            </a:r>
            <a:endParaRPr lang="zh-CN" altLang="en-US" sz="3200" dirty="0">
              <a:latin typeface="Arial" panose="020B0604020202020204" pitchFamily="34" charset="0"/>
            </a:endParaRPr>
          </a:p>
          <a:p>
            <a:pPr marL="266700" indent="-266700" eaLnBrk="1" hangingPunct="1"/>
            <a:r>
              <a:rPr lang="zh-CN" altLang="en-US" sz="3200" dirty="0">
                <a:latin typeface="Arial" panose="020B0604020202020204" pitchFamily="34" charset="0"/>
              </a:rPr>
              <a:t>依据日志文件重做</a:t>
            </a:r>
            <a:r>
              <a:rPr lang="en-US" altLang="zh-CN" sz="3200" dirty="0">
                <a:latin typeface="Arial" panose="020B0604020202020204" pitchFamily="34" charset="0"/>
              </a:rPr>
              <a:t>(</a:t>
            </a:r>
            <a:r>
              <a:rPr lang="en-US" altLang="zh-CN" sz="3200" dirty="0">
                <a:solidFill>
                  <a:srgbClr val="FF0000"/>
                </a:solidFill>
                <a:latin typeface="Arial" panose="020B0604020202020204" pitchFamily="34" charset="0"/>
              </a:rPr>
              <a:t>REDO</a:t>
            </a:r>
            <a:r>
              <a:rPr lang="en-US" altLang="zh-CN" sz="3200" dirty="0">
                <a:latin typeface="Arial" panose="020B0604020202020204" pitchFamily="34" charset="0"/>
              </a:rPr>
              <a:t>)</a:t>
            </a:r>
            <a:r>
              <a:rPr lang="zh-CN" altLang="en-US" sz="3200" dirty="0">
                <a:latin typeface="Arial" panose="020B0604020202020204" pitchFamily="34" charset="0"/>
              </a:rPr>
              <a:t>已提交的事务</a:t>
            </a:r>
            <a:endParaRPr lang="zh-CN" altLang="en-US" sz="3200" dirty="0">
              <a:latin typeface="Arial" panose="020B0604020202020204" pitchFamily="34" charset="0"/>
            </a:endParaRPr>
          </a:p>
          <a:p>
            <a:pPr marL="266700" indent="-266700" eaLnBrk="1" hangingPunct="1">
              <a:spcBef>
                <a:spcPct val="20000"/>
              </a:spcBef>
              <a:buNone/>
            </a:pPr>
            <a:endParaRPr lang="en-US" altLang="zh-CN" sz="3200" dirty="0">
              <a:latin typeface="Arial" panose="020B0604020202020204" pitchFamily="34" charset="0"/>
            </a:endParaRPr>
          </a:p>
          <a:p>
            <a:pPr marL="266700" indent="-266700" eaLnBrk="1" hangingPunct="1">
              <a:spcBef>
                <a:spcPct val="20000"/>
              </a:spcBef>
              <a:buNone/>
            </a:pPr>
            <a:endParaRPr lang="en-US" altLang="zh-CN" sz="3200" dirty="0">
              <a:latin typeface="Arial" panose="020B0604020202020204" pitchFamily="34" charset="0"/>
            </a:endParaRPr>
          </a:p>
          <a:p>
            <a:pPr marL="266700" indent="-266700" eaLnBrk="1" hangingPunct="1">
              <a:spcBef>
                <a:spcPts val="4200"/>
              </a:spcBef>
              <a:buNone/>
            </a:pPr>
            <a:r>
              <a:rPr lang="zh-CN" altLang="en-US" sz="3200" dirty="0">
                <a:latin typeface="Arial" panose="020B0604020202020204" pitchFamily="34" charset="0"/>
              </a:rPr>
              <a:t>介质故障的恢复需要</a:t>
            </a:r>
            <a:r>
              <a:rPr lang="en-US" altLang="zh-CN" sz="3200" dirty="0">
                <a:latin typeface="Arial" panose="020B0604020202020204" pitchFamily="34" charset="0"/>
              </a:rPr>
              <a:t>DBA</a:t>
            </a:r>
            <a:r>
              <a:rPr lang="zh-CN" altLang="en-US" sz="3200" dirty="0">
                <a:latin typeface="Arial" panose="020B0604020202020204" pitchFamily="34" charset="0"/>
              </a:rPr>
              <a:t>介入</a:t>
            </a:r>
            <a:endParaRPr lang="zh-CN" altLang="en-US" sz="3200" dirty="0">
              <a:latin typeface="Arial" panose="020B0604020202020204" pitchFamily="34" charset="0"/>
            </a:endParaRPr>
          </a:p>
          <a:p>
            <a:pPr marL="266700" indent="-266700" eaLnBrk="1" hangingPunct="1"/>
            <a:r>
              <a:rPr lang="en-US" altLang="zh-CN" sz="3200" dirty="0">
                <a:latin typeface="Arial" panose="020B0604020202020204" pitchFamily="34" charset="0"/>
              </a:rPr>
              <a:t>DBA</a:t>
            </a:r>
            <a:r>
              <a:rPr lang="zh-CN" altLang="en-US" sz="3200" dirty="0">
                <a:latin typeface="Arial" panose="020B0604020202020204" pitchFamily="34" charset="0"/>
              </a:rPr>
              <a:t>的工作</a:t>
            </a:r>
            <a:endParaRPr lang="zh-CN" altLang="en-US" sz="3200" dirty="0">
              <a:latin typeface="Arial" panose="020B0604020202020204" pitchFamily="34" charset="0"/>
            </a:endParaRPr>
          </a:p>
          <a:p>
            <a:pPr marL="814705" lvl="1" indent="-365125" eaLnBrk="1" hangingPunct="1">
              <a:spcBef>
                <a:spcPct val="0"/>
              </a:spcBef>
            </a:pPr>
            <a:r>
              <a:rPr lang="zh-CN" altLang="en-US" dirty="0">
                <a:latin typeface="Arial" panose="020B0604020202020204" pitchFamily="34" charset="0"/>
              </a:rPr>
              <a:t>重装最近的备份副本和有关日志文件副本</a:t>
            </a:r>
            <a:endParaRPr lang="zh-CN" altLang="en-US" dirty="0">
              <a:latin typeface="Arial" panose="020B0604020202020204" pitchFamily="34" charset="0"/>
            </a:endParaRPr>
          </a:p>
          <a:p>
            <a:pPr marL="814705" lvl="1" indent="-365125" eaLnBrk="1" hangingPunct="1">
              <a:spcBef>
                <a:spcPct val="0"/>
              </a:spcBef>
            </a:pPr>
            <a:r>
              <a:rPr lang="zh-CN" altLang="en-US" dirty="0">
                <a:latin typeface="Arial" panose="020B0604020202020204" pitchFamily="34" charset="0"/>
              </a:rPr>
              <a:t>执行系统提供的恢复命令</a:t>
            </a:r>
            <a:endParaRPr lang="zh-CN" altLang="en-US" dirty="0">
              <a:latin typeface="Arial" panose="020B0604020202020204" pitchFamily="34" charset="0"/>
            </a:endParaRPr>
          </a:p>
          <a:p>
            <a:pPr marL="266700" indent="-266700" eaLnBrk="1" hangingPunct="1"/>
            <a:r>
              <a:rPr lang="zh-CN" altLang="en-US" sz="3200" dirty="0">
                <a:latin typeface="Arial" panose="020B0604020202020204" pitchFamily="34" charset="0"/>
              </a:rPr>
              <a:t>具体的恢复操作仍由</a:t>
            </a:r>
            <a:r>
              <a:rPr lang="en-US" altLang="zh-CN" sz="3200" dirty="0">
                <a:latin typeface="Arial" panose="020B0604020202020204" pitchFamily="34" charset="0"/>
              </a:rPr>
              <a:t>DBMS</a:t>
            </a:r>
            <a:r>
              <a:rPr lang="zh-CN" altLang="en-US" sz="3200" dirty="0">
                <a:latin typeface="Arial" panose="020B0604020202020204" pitchFamily="34" charset="0"/>
              </a:rPr>
              <a:t>完成</a:t>
            </a:r>
            <a:endParaRPr lang="zh-CN" altLang="en-US" sz="2800" dirty="0">
              <a:latin typeface="Arial" panose="020B0604020202020204" pitchFamily="34" charset="0"/>
            </a:endParaRPr>
          </a:p>
        </p:txBody>
      </p:sp>
      <p:sp>
        <p:nvSpPr>
          <p:cNvPr id="3983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、介质故障的恢复</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98340" name="AutoShape 4">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36869" name="Text Box 3"/>
          <p:cNvSpPr txBox="1"/>
          <p:nvPr/>
        </p:nvSpPr>
        <p:spPr>
          <a:xfrm>
            <a:off x="503238" y="2100263"/>
            <a:ext cx="7783512" cy="1400175"/>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pPr algn="just" eaLnBrk="0" hangingPunct="0">
              <a:lnSpc>
                <a:spcPct val="150000"/>
              </a:lnSpc>
              <a:spcBef>
                <a:spcPct val="0"/>
              </a:spcBef>
            </a:pPr>
            <a:r>
              <a:rPr lang="zh-CN" altLang="en-US" sz="2000" dirty="0">
                <a:solidFill>
                  <a:schemeClr val="bg2"/>
                </a:solidFill>
                <a:latin typeface="黑体" panose="02010609060101010101" pitchFamily="2" charset="-122"/>
              </a:rPr>
              <a:t>             转储开始     转储结束    运行事务   </a:t>
            </a:r>
            <a:r>
              <a:rPr lang="zh-CN" altLang="en-US" sz="2000" dirty="0">
                <a:solidFill>
                  <a:srgbClr val="FF0000"/>
                </a:solidFill>
                <a:latin typeface="黑体" panose="02010609060101010101" pitchFamily="2" charset="-122"/>
              </a:rPr>
              <a:t>故障点</a:t>
            </a:r>
            <a:endParaRPr lang="zh-CN" altLang="en-US" sz="2000" dirty="0">
              <a:solidFill>
                <a:srgbClr val="FF0000"/>
              </a:solidFill>
              <a:latin typeface="黑体" panose="02010609060101010101" pitchFamily="2" charset="-122"/>
            </a:endParaRPr>
          </a:p>
          <a:p>
            <a:pPr algn="just" eaLnBrk="0" hangingPunct="0">
              <a:lnSpc>
                <a:spcPct val="150000"/>
              </a:lnSpc>
              <a:spcBef>
                <a:spcPct val="0"/>
              </a:spcBef>
            </a:pPr>
            <a:r>
              <a:rPr lang="zh-CN" altLang="en-US" sz="2000" dirty="0">
                <a:solidFill>
                  <a:schemeClr val="bg2"/>
                </a:solidFill>
                <a:latin typeface="黑体" panose="02010609060101010101" pitchFamily="2" charset="-122"/>
              </a:rPr>
              <a:t>介质故障恢复 ─┼──────┼──────────┼──</a:t>
            </a:r>
            <a:endParaRPr lang="zh-CN" altLang="en-US" sz="2000" dirty="0">
              <a:solidFill>
                <a:schemeClr val="bg2"/>
              </a:solidFill>
              <a:latin typeface="黑体" panose="02010609060101010101" pitchFamily="2" charset="-122"/>
            </a:endParaRPr>
          </a:p>
          <a:p>
            <a:pPr algn="just" eaLnBrk="0" hangingPunct="0">
              <a:spcBef>
                <a:spcPts val="600"/>
              </a:spcBef>
            </a:pPr>
            <a:r>
              <a:rPr lang="zh-CN" altLang="en-US" sz="2000" dirty="0">
                <a:solidFill>
                  <a:schemeClr val="bg2"/>
                </a:solidFill>
                <a:latin typeface="黑体" panose="02010609060101010101" pitchFamily="2" charset="-122"/>
              </a:rPr>
              <a:t>                </a:t>
            </a:r>
            <a:r>
              <a:rPr lang="en-US" altLang="zh-CN" sz="2000" dirty="0">
                <a:solidFill>
                  <a:schemeClr val="bg2"/>
                </a:solidFill>
                <a:latin typeface="黑体" panose="02010609060101010101" pitchFamily="2" charset="-122"/>
              </a:rPr>
              <a:t>Ta     </a:t>
            </a:r>
            <a:r>
              <a:rPr lang="zh-CN" altLang="en-US" sz="2000" dirty="0">
                <a:solidFill>
                  <a:schemeClr val="bg2"/>
                </a:solidFill>
                <a:latin typeface="黑体" panose="02010609060101010101" pitchFamily="2" charset="-122"/>
              </a:rPr>
              <a:t>　　　</a:t>
            </a:r>
            <a:r>
              <a:rPr lang="en-US" altLang="zh-CN" sz="2000" dirty="0">
                <a:solidFill>
                  <a:schemeClr val="bg2"/>
                </a:solidFill>
                <a:latin typeface="黑体" panose="02010609060101010101" pitchFamily="2" charset="-122"/>
              </a:rPr>
              <a:t>Tb                    </a:t>
            </a:r>
            <a:r>
              <a:rPr lang="en-US" altLang="zh-CN" sz="2000" dirty="0">
                <a:solidFill>
                  <a:srgbClr val="FF0000"/>
                </a:solidFill>
                <a:latin typeface="黑体" panose="02010609060101010101" pitchFamily="2" charset="-122"/>
              </a:rPr>
              <a:t>Tf</a:t>
            </a:r>
            <a:r>
              <a:rPr lang="en-US" altLang="zh-CN" sz="2000" dirty="0">
                <a:solidFill>
                  <a:schemeClr val="bg2"/>
                </a:solidFill>
                <a:latin typeface="黑体" panose="02010609060101010101" pitchFamily="2" charset="-122"/>
              </a:rPr>
              <a:t>                            </a:t>
            </a:r>
            <a:endParaRPr lang="zh-CN" altLang="en-US" sz="2000" dirty="0">
              <a:solidFill>
                <a:schemeClr val="bg2"/>
              </a:solidFill>
              <a:latin typeface="黑体" panose="02010609060101010101" pitchFamily="2" charset="-122"/>
            </a:endParaRPr>
          </a:p>
        </p:txBody>
      </p:sp>
    </p:spTree>
  </p:cSld>
  <p:clrMapOvr>
    <a:masterClrMapping/>
  </p:clrMapOvr>
  <p:transition>
    <p:random/>
    <p:sndAc>
      <p:stSnd>
        <p:snd r:embed="rId2"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idx="1"/>
          </p:nvPr>
        </p:nvSpPr>
        <p:spPr>
          <a:xfrm>
            <a:off x="223838" y="1052513"/>
            <a:ext cx="8740775" cy="5273675"/>
          </a:xfrm>
        </p:spPr>
        <p:txBody>
          <a:bodyPr vert="horz" wrap="square" lIns="91440" tIns="45720" rIns="91440" bIns="45720" anchor="t" anchorCtr="0"/>
          <a:p>
            <a:pPr marL="365125" indent="-365125" eaLnBrk="1" hangingPunct="1">
              <a:buNone/>
            </a:pPr>
            <a:r>
              <a:rPr lang="zh-CN" altLang="en-US" dirty="0">
                <a:latin typeface="Arial" panose="020B0604020202020204" pitchFamily="34" charset="0"/>
              </a:rPr>
              <a:t>问题的提出：</a:t>
            </a:r>
            <a:endParaRPr lang="zh-CN" altLang="en-US" dirty="0">
              <a:latin typeface="Arial" panose="020B0604020202020204" pitchFamily="34" charset="0"/>
            </a:endParaRPr>
          </a:p>
          <a:p>
            <a:pPr marL="365125" indent="-365125" eaLnBrk="1" hangingPunct="1">
              <a:buNone/>
            </a:pPr>
            <a:endParaRPr lang="zh-CN" altLang="en-US" sz="1600" dirty="0">
              <a:latin typeface="Arial" panose="020B0604020202020204" pitchFamily="34" charset="0"/>
            </a:endParaRPr>
          </a:p>
          <a:p>
            <a:pPr marL="365125" indent="-365125" eaLnBrk="1" hangingPunct="1"/>
            <a:r>
              <a:rPr lang="zh-CN" altLang="en-US" dirty="0">
                <a:latin typeface="Arial" panose="020B0604020202020204" pitchFamily="34" charset="0"/>
              </a:rPr>
              <a:t>对</a:t>
            </a:r>
            <a:r>
              <a:rPr lang="zh-CN" altLang="en-US" dirty="0">
                <a:solidFill>
                  <a:srgbClr val="0000CC"/>
                </a:solidFill>
                <a:latin typeface="Arial" panose="020B0604020202020204" pitchFamily="34" charset="0"/>
              </a:rPr>
              <a:t>日志文件</a:t>
            </a:r>
            <a:r>
              <a:rPr lang="zh-CN" altLang="en-US" dirty="0">
                <a:latin typeface="Arial" panose="020B0604020202020204" pitchFamily="34" charset="0"/>
              </a:rPr>
              <a:t>的搜索不知要回退多远，</a:t>
            </a:r>
            <a:r>
              <a:rPr lang="en-US" altLang="zh-CN" dirty="0">
                <a:latin typeface="Arial" panose="020B0604020202020204" pitchFamily="34" charset="0"/>
              </a:rPr>
              <a:t>REDO (</a:t>
            </a:r>
            <a:r>
              <a:rPr lang="zh-CN" altLang="en-US" dirty="0">
                <a:latin typeface="Arial" panose="020B0604020202020204" pitchFamily="34" charset="0"/>
              </a:rPr>
              <a:t>重新执行</a:t>
            </a:r>
            <a:r>
              <a:rPr lang="en-US" altLang="zh-CN" dirty="0">
                <a:latin typeface="Arial" panose="020B0604020202020204" pitchFamily="34" charset="0"/>
              </a:rPr>
              <a:t>) </a:t>
            </a:r>
            <a:r>
              <a:rPr lang="zh-CN" altLang="en-US" dirty="0">
                <a:latin typeface="Arial" panose="020B0604020202020204" pitchFamily="34" charset="0"/>
              </a:rPr>
              <a:t>处理，浪费大量时间</a:t>
            </a:r>
            <a:endParaRPr lang="zh-CN" altLang="en-US" dirty="0">
              <a:latin typeface="Arial" panose="020B0604020202020204" pitchFamily="34" charset="0"/>
            </a:endParaRPr>
          </a:p>
          <a:p>
            <a:pPr marL="365125" indent="-365125" eaLnBrk="1" hangingPunct="1"/>
            <a:endParaRPr lang="zh-CN" altLang="en-US" sz="2000" dirty="0">
              <a:latin typeface="Arial" panose="020B0604020202020204" pitchFamily="34" charset="0"/>
            </a:endParaRPr>
          </a:p>
          <a:p>
            <a:pPr marL="365125" indent="-365125" eaLnBrk="1" hangingPunct="1"/>
            <a:r>
              <a:rPr lang="en-US" altLang="zh-CN" dirty="0">
                <a:latin typeface="Arial" panose="020B0604020202020204" pitchFamily="34" charset="0"/>
              </a:rPr>
              <a:t>DBA</a:t>
            </a:r>
            <a:r>
              <a:rPr lang="zh-CN" altLang="en-US" dirty="0">
                <a:latin typeface="Arial" panose="020B0604020202020204" pitchFamily="34" charset="0"/>
              </a:rPr>
              <a:t>必须周期性地</a:t>
            </a:r>
            <a:r>
              <a:rPr lang="zh-CN" altLang="en-US" dirty="0">
                <a:solidFill>
                  <a:srgbClr val="0000CC"/>
                </a:solidFill>
                <a:latin typeface="Arial" panose="020B0604020202020204" pitchFamily="34" charset="0"/>
              </a:rPr>
              <a:t>转储</a:t>
            </a:r>
            <a:r>
              <a:rPr lang="zh-CN" altLang="en-US" dirty="0">
                <a:latin typeface="Arial" panose="020B0604020202020204" pitchFamily="34" charset="0"/>
              </a:rPr>
              <a:t>数据库，才能应对数据库随时可能发生的故障</a:t>
            </a:r>
            <a:endParaRPr lang="zh-CN" altLang="en-US" dirty="0">
              <a:latin typeface="Arial" panose="020B0604020202020204" pitchFamily="34" charset="0"/>
            </a:endParaRPr>
          </a:p>
        </p:txBody>
      </p:sp>
      <p:sp>
        <p:nvSpPr>
          <p:cNvPr id="40243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8.4.4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提高恢复效率的技术</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2" name="Rectangle 2"/>
          <p:cNvSpPr>
            <a:spLocks noGrp="1"/>
          </p:cNvSpPr>
          <p:nvPr>
            <p:ph idx="1"/>
          </p:nvPr>
        </p:nvSpPr>
        <p:spPr>
          <a:xfrm>
            <a:off x="152400" y="1143000"/>
            <a:ext cx="8740775" cy="5273675"/>
          </a:xfrm>
        </p:spPr>
        <p:txBody>
          <a:bodyPr vert="horz" wrap="square" lIns="91440" tIns="45720" rIns="91440" bIns="45720" anchor="t" anchorCtr="0"/>
          <a:p>
            <a:pPr marL="365125" indent="-365125" eaLnBrk="1" hangingPunct="1">
              <a:lnSpc>
                <a:spcPct val="110000"/>
              </a:lnSpc>
              <a:buNone/>
            </a:pPr>
            <a:r>
              <a:rPr lang="en-GB" altLang="zh-CN" dirty="0">
                <a:latin typeface="Arial" panose="020B0604020202020204" pitchFamily="34" charset="0"/>
              </a:rPr>
              <a:t>        DBMS</a:t>
            </a:r>
            <a:r>
              <a:rPr lang="zh-CN" altLang="en-GB" dirty="0">
                <a:latin typeface="Arial" panose="020B0604020202020204" pitchFamily="34" charset="0"/>
              </a:rPr>
              <a:t>在某些时刻</a:t>
            </a:r>
            <a:r>
              <a:rPr lang="en-GB" altLang="zh-CN" dirty="0">
                <a:latin typeface="Arial" panose="020B0604020202020204" pitchFamily="34" charset="0"/>
              </a:rPr>
              <a:t>(</a:t>
            </a:r>
            <a:r>
              <a:rPr lang="zh-CN" altLang="en-GB" dirty="0">
                <a:latin typeface="Arial" panose="020B0604020202020204" pitchFamily="34" charset="0"/>
              </a:rPr>
              <a:t>称作</a:t>
            </a:r>
            <a:r>
              <a:rPr lang="zh-CN" altLang="en-GB" dirty="0">
                <a:solidFill>
                  <a:srgbClr val="0000CC"/>
                </a:solidFill>
                <a:latin typeface="Arial" panose="020B0604020202020204" pitchFamily="34" charset="0"/>
              </a:rPr>
              <a:t>检查点</a:t>
            </a:r>
            <a:r>
              <a:rPr lang="en-GB" altLang="zh-CN" dirty="0">
                <a:latin typeface="Arial" panose="020B0604020202020204" pitchFamily="34" charset="0"/>
              </a:rPr>
              <a:t>)</a:t>
            </a:r>
            <a:r>
              <a:rPr lang="zh-CN" altLang="en-GB" dirty="0">
                <a:latin typeface="Arial" panose="020B0604020202020204" pitchFamily="34" charset="0"/>
              </a:rPr>
              <a:t>将驻留在内存中的数据写回数据库并在日志中记录。</a:t>
            </a:r>
            <a:endParaRPr lang="zh-CN" altLang="en-GB" dirty="0">
              <a:latin typeface="Arial" panose="020B0604020202020204" pitchFamily="34" charset="0"/>
            </a:endParaRPr>
          </a:p>
          <a:p>
            <a:pPr marL="365125" indent="-365125" eaLnBrk="1" hangingPunct="1">
              <a:buNone/>
            </a:pPr>
            <a:endParaRPr lang="zh-CN" altLang="en-GB" sz="2800" dirty="0">
              <a:latin typeface="Arial" panose="020B0604020202020204" pitchFamily="34" charset="0"/>
            </a:endParaRPr>
          </a:p>
          <a:p>
            <a:pPr marL="365125" indent="-365125" eaLnBrk="1" fontAlgn="b" hangingPunct="1"/>
            <a:r>
              <a:rPr lang="zh-CN" altLang="en-GB" dirty="0">
                <a:solidFill>
                  <a:srgbClr val="0000CC"/>
                </a:solidFill>
                <a:latin typeface="Arial" panose="020B0604020202020204" pitchFamily="34" charset="0"/>
              </a:rPr>
              <a:t>系统检查点</a:t>
            </a:r>
            <a:r>
              <a:rPr lang="zh-CN" altLang="en-GB" dirty="0">
                <a:latin typeface="Arial" panose="020B0604020202020204" pitchFamily="34" charset="0"/>
              </a:rPr>
              <a:t>：系统周期性检查的时刻</a:t>
            </a:r>
            <a:endParaRPr lang="zh-CN" altLang="en-GB" dirty="0">
              <a:latin typeface="Arial" panose="020B0604020202020204" pitchFamily="34" charset="0"/>
            </a:endParaRPr>
          </a:p>
          <a:p>
            <a:pPr marL="365125" indent="-365125" eaLnBrk="1" fontAlgn="b" hangingPunct="1">
              <a:spcBef>
                <a:spcPct val="20000"/>
              </a:spcBef>
            </a:pPr>
            <a:r>
              <a:rPr lang="zh-CN" altLang="en-GB" dirty="0">
                <a:solidFill>
                  <a:srgbClr val="0000CC"/>
                </a:solidFill>
                <a:latin typeface="Arial" panose="020B0604020202020204" pitchFamily="34" charset="0"/>
              </a:rPr>
              <a:t>事务检查点</a:t>
            </a:r>
            <a:r>
              <a:rPr lang="zh-CN" altLang="en-GB" dirty="0">
                <a:latin typeface="Arial" panose="020B0604020202020204" pitchFamily="34" charset="0"/>
              </a:rPr>
              <a:t>：用户在事务中设置的，要求系统记录事务的状态点</a:t>
            </a:r>
            <a:endParaRPr lang="zh-CN" altLang="en-US" dirty="0">
              <a:latin typeface="Arial" panose="020B0604020202020204" pitchFamily="34" charset="0"/>
            </a:endParaRPr>
          </a:p>
        </p:txBody>
      </p:sp>
      <p:sp>
        <p:nvSpPr>
          <p:cNvPr id="4044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、检查点方法</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0" lang="en-GB"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Check Point</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4482">
                                            <p:txEl>
                                              <p:charRg st="49" end="66"/>
                                            </p:txEl>
                                          </p:spTgt>
                                        </p:tgtEl>
                                        <p:attrNameLst>
                                          <p:attrName>style.visibility</p:attrName>
                                        </p:attrNameLst>
                                      </p:cBhvr>
                                      <p:to>
                                        <p:strVal val="visible"/>
                                      </p:to>
                                    </p:set>
                                    <p:anim calcmode="lin" valueType="num">
                                      <p:cBhvr additive="base">
                                        <p:cTn id="7" dur="500" fill="hold"/>
                                        <p:tgtEl>
                                          <p:spTgt spid="404482">
                                            <p:txEl>
                                              <p:charRg st="49" end="6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4482">
                                            <p:txEl>
                                              <p:charRg st="49" end="66"/>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4482">
                                            <p:txEl>
                                              <p:charRg st="66" end="95"/>
                                            </p:txEl>
                                          </p:spTgt>
                                        </p:tgtEl>
                                        <p:attrNameLst>
                                          <p:attrName>style.visibility</p:attrName>
                                        </p:attrNameLst>
                                      </p:cBhvr>
                                      <p:to>
                                        <p:strVal val="visible"/>
                                      </p:to>
                                    </p:set>
                                    <p:anim calcmode="lin" valueType="num">
                                      <p:cBhvr additive="base">
                                        <p:cTn id="11" dur="500" fill="hold"/>
                                        <p:tgtEl>
                                          <p:spTgt spid="404482">
                                            <p:txEl>
                                              <p:charRg st="66" end="9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4482">
                                            <p:txEl>
                                              <p:charRg st="66" end="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6530" name="Rectangle 2"/>
          <p:cNvSpPr>
            <a:spLocks noGrp="1"/>
          </p:cNvSpPr>
          <p:nvPr>
            <p:ph idx="1"/>
          </p:nvPr>
        </p:nvSpPr>
        <p:spPr>
          <a:xfrm>
            <a:off x="117475" y="1052513"/>
            <a:ext cx="8991600" cy="5273675"/>
          </a:xfrm>
        </p:spPr>
        <p:txBody>
          <a:bodyPr vert="horz" wrap="square" lIns="91440" tIns="45720" rIns="91440" bIns="45720" anchor="t" anchorCtr="0"/>
          <a:p>
            <a:pPr marL="361950" indent="-361950" eaLnBrk="1" hangingPunct="1"/>
            <a:r>
              <a:rPr lang="zh-CN" altLang="en-US" dirty="0">
                <a:solidFill>
                  <a:srgbClr val="0000CC"/>
                </a:solidFill>
                <a:latin typeface="Arial" panose="020B0604020202020204" pitchFamily="34" charset="0"/>
              </a:rPr>
              <a:t>检查点执行的操作</a:t>
            </a:r>
            <a:endParaRPr lang="zh-CN" altLang="en-US" dirty="0">
              <a:solidFill>
                <a:srgbClr val="0000CC"/>
              </a:solidFill>
              <a:latin typeface="Arial" panose="020B0604020202020204" pitchFamily="34" charset="0"/>
            </a:endParaRPr>
          </a:p>
          <a:p>
            <a:pPr marL="903605" lvl="1" indent="-361950" eaLnBrk="1" hangingPunct="1">
              <a:spcBef>
                <a:spcPct val="0"/>
              </a:spcBef>
            </a:pPr>
            <a:r>
              <a:rPr lang="zh-CN" altLang="en-US" sz="3600" dirty="0">
                <a:latin typeface="Arial" panose="020B0604020202020204" pitchFamily="34" charset="0"/>
              </a:rPr>
              <a:t>将内存中的所有日志文件记录</a:t>
            </a:r>
            <a:r>
              <a:rPr lang="zh-CN" altLang="en-US" sz="3600" dirty="0">
                <a:solidFill>
                  <a:srgbClr val="FF0000"/>
                </a:solidFill>
                <a:latin typeface="Arial" panose="020B0604020202020204" pitchFamily="34" charset="0"/>
              </a:rPr>
              <a:t>写入外存</a:t>
            </a:r>
            <a:endParaRPr lang="zh-CN" altLang="en-US" sz="3600" dirty="0">
              <a:solidFill>
                <a:srgbClr val="FF0000"/>
              </a:solidFill>
              <a:latin typeface="Arial" panose="020B0604020202020204" pitchFamily="34" charset="0"/>
            </a:endParaRPr>
          </a:p>
          <a:p>
            <a:pPr marL="903605" lvl="1" indent="-361950" eaLnBrk="1" hangingPunct="1">
              <a:spcBef>
                <a:spcPct val="0"/>
              </a:spcBef>
            </a:pPr>
            <a:r>
              <a:rPr lang="zh-CN" altLang="en-US" sz="3600" dirty="0">
                <a:latin typeface="Arial" panose="020B0604020202020204" pitchFamily="34" charset="0"/>
              </a:rPr>
              <a:t>将系统缓冲区所有更改过的块</a:t>
            </a:r>
            <a:r>
              <a:rPr lang="zh-CN" altLang="en-US" sz="3600" dirty="0">
                <a:solidFill>
                  <a:srgbClr val="FF0000"/>
                </a:solidFill>
                <a:latin typeface="Arial" panose="020B0604020202020204" pitchFamily="34" charset="0"/>
              </a:rPr>
              <a:t>写入外存</a:t>
            </a:r>
            <a:endParaRPr lang="zh-CN" altLang="en-US" sz="3600" dirty="0">
              <a:solidFill>
                <a:srgbClr val="FF0000"/>
              </a:solidFill>
              <a:latin typeface="Arial" panose="020B0604020202020204" pitchFamily="34" charset="0"/>
            </a:endParaRPr>
          </a:p>
          <a:p>
            <a:pPr marL="903605" lvl="1" indent="-361950" eaLnBrk="1" hangingPunct="1">
              <a:spcBef>
                <a:spcPct val="0"/>
              </a:spcBef>
            </a:pPr>
            <a:r>
              <a:rPr lang="zh-CN" altLang="en-US" sz="3600" dirty="0">
                <a:latin typeface="Arial" panose="020B0604020202020204" pitchFamily="34" charset="0"/>
              </a:rPr>
              <a:t>在日志文件中</a:t>
            </a:r>
            <a:r>
              <a:rPr lang="zh-CN" altLang="en-US" sz="3600" dirty="0">
                <a:solidFill>
                  <a:srgbClr val="FF0000"/>
                </a:solidFill>
                <a:latin typeface="Arial" panose="020B0604020202020204" pitchFamily="34" charset="0"/>
              </a:rPr>
              <a:t>记录</a:t>
            </a:r>
            <a:r>
              <a:rPr lang="zh-CN" altLang="en-US" sz="3600" dirty="0">
                <a:latin typeface="Arial" panose="020B0604020202020204" pitchFamily="34" charset="0"/>
              </a:rPr>
              <a:t>检查点活跃的事务</a:t>
            </a:r>
            <a:endParaRPr lang="zh-CN" altLang="en-US" sz="3600" dirty="0">
              <a:latin typeface="Arial" panose="020B0604020202020204" pitchFamily="34" charset="0"/>
            </a:endParaRPr>
          </a:p>
          <a:p>
            <a:pPr marL="903605" lvl="1" indent="-361950" eaLnBrk="1" hangingPunct="1">
              <a:spcBef>
                <a:spcPct val="0"/>
              </a:spcBef>
            </a:pPr>
            <a:endParaRPr lang="zh-CN" altLang="en-US" sz="2400" dirty="0">
              <a:latin typeface="Arial" panose="020B0604020202020204" pitchFamily="34" charset="0"/>
            </a:endParaRPr>
          </a:p>
          <a:p>
            <a:pPr marL="361950" indent="-361950" eaLnBrk="1" hangingPunct="1"/>
            <a:r>
              <a:rPr lang="zh-CN" altLang="en-US" dirty="0">
                <a:solidFill>
                  <a:srgbClr val="0000CC"/>
                </a:solidFill>
                <a:latin typeface="Arial" panose="020B0604020202020204" pitchFamily="34" charset="0"/>
              </a:rPr>
              <a:t>检查点的恢复策略</a:t>
            </a:r>
            <a:endParaRPr lang="zh-CN" altLang="en-US" dirty="0">
              <a:solidFill>
                <a:srgbClr val="0000CC"/>
              </a:solidFill>
              <a:latin typeface="Arial" panose="020B0604020202020204" pitchFamily="34" charset="0"/>
            </a:endParaRPr>
          </a:p>
          <a:p>
            <a:pPr marL="903605" lvl="1" indent="-361950" eaLnBrk="1" hangingPunct="1">
              <a:spcBef>
                <a:spcPct val="0"/>
              </a:spcBef>
            </a:pPr>
            <a:r>
              <a:rPr lang="zh-CN" altLang="en-US" sz="3600" dirty="0">
                <a:solidFill>
                  <a:srgbClr val="FF0000"/>
                </a:solidFill>
                <a:latin typeface="Arial" panose="020B0604020202020204" pitchFamily="34" charset="0"/>
              </a:rPr>
              <a:t>重做</a:t>
            </a:r>
            <a:r>
              <a:rPr lang="zh-CN" altLang="en-US" sz="3600" dirty="0">
                <a:latin typeface="Arial" panose="020B0604020202020204" pitchFamily="34" charset="0"/>
              </a:rPr>
              <a:t>自最近检查点以来提交的事务</a:t>
            </a:r>
            <a:endParaRPr lang="zh-CN" altLang="en-US" sz="3600" dirty="0">
              <a:latin typeface="Arial" panose="020B0604020202020204" pitchFamily="34" charset="0"/>
            </a:endParaRPr>
          </a:p>
          <a:p>
            <a:pPr marL="903605" lvl="1" indent="-361950" eaLnBrk="1" hangingPunct="1">
              <a:spcBef>
                <a:spcPct val="0"/>
              </a:spcBef>
            </a:pPr>
            <a:r>
              <a:rPr lang="zh-CN" altLang="en-US" sz="3600" dirty="0">
                <a:solidFill>
                  <a:srgbClr val="FF0000"/>
                </a:solidFill>
                <a:latin typeface="Arial" panose="020B0604020202020204" pitchFamily="34" charset="0"/>
              </a:rPr>
              <a:t>撤销</a:t>
            </a:r>
            <a:r>
              <a:rPr lang="zh-CN" altLang="en-US" sz="3600" dirty="0">
                <a:latin typeface="Arial" panose="020B0604020202020204" pitchFamily="34" charset="0"/>
              </a:rPr>
              <a:t>故障发生时活跃的事务</a:t>
            </a:r>
            <a:endParaRPr lang="zh-CN" altLang="en-US" sz="3600" dirty="0">
              <a:latin typeface="Arial" panose="020B0604020202020204" pitchFamily="34" charset="0"/>
            </a:endParaRPr>
          </a:p>
        </p:txBody>
      </p:sp>
      <p:sp>
        <p:nvSpPr>
          <p:cNvPr id="40653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、检查点方法</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0" lang="en-GB"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Check Point</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0">
                                            <p:txEl>
                                              <p:charRg st="63" end="7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6530">
                                            <p:txEl>
                                              <p:charRg st="72" end="88"/>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6530">
                                            <p:txEl>
                                              <p:charRg st="88" end="1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利用检查点的恢复策略</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0963" name="Group 27"/>
          <p:cNvGrpSpPr/>
          <p:nvPr/>
        </p:nvGrpSpPr>
        <p:grpSpPr>
          <a:xfrm>
            <a:off x="250825" y="1052513"/>
            <a:ext cx="8424863" cy="4624387"/>
            <a:chOff x="158" y="845"/>
            <a:chExt cx="5307" cy="2913"/>
          </a:xfrm>
        </p:grpSpPr>
        <p:sp>
          <p:nvSpPr>
            <p:cNvPr id="40965" name="Freeform 4"/>
            <p:cNvSpPr/>
            <p:nvPr/>
          </p:nvSpPr>
          <p:spPr>
            <a:xfrm>
              <a:off x="1549" y="1261"/>
              <a:ext cx="1" cy="2481"/>
            </a:xfrm>
            <a:custGeom>
              <a:avLst/>
              <a:gdLst>
                <a:gd name="txL" fmla="*/ 0 w 3"/>
                <a:gd name="txT" fmla="*/ 0 h 2423"/>
                <a:gd name="txR" fmla="*/ 3 w 3"/>
                <a:gd name="txB" fmla="*/ 2423 h 2423"/>
              </a:gdLst>
              <a:ahLst/>
              <a:cxnLst>
                <a:cxn ang="0">
                  <a:pos x="0" y="0"/>
                </a:cxn>
                <a:cxn ang="0">
                  <a:pos x="0" y="2859"/>
                </a:cxn>
              </a:cxnLst>
              <a:rect l="txL" t="txT" r="txR" b="txB"/>
              <a:pathLst>
                <a:path w="3" h="2423">
                  <a:moveTo>
                    <a:pt x="0" y="0"/>
                  </a:moveTo>
                  <a:lnTo>
                    <a:pt x="3" y="2423"/>
                  </a:lnTo>
                </a:path>
              </a:pathLst>
            </a:custGeom>
            <a:noFill/>
            <a:ln w="38100" cap="flat" cmpd="sng">
              <a:solidFill>
                <a:srgbClr val="FF0000"/>
              </a:solidFill>
              <a:prstDash val="solid"/>
              <a:round/>
              <a:headEnd type="none" w="med" len="med"/>
              <a:tailEnd type="none" w="med" len="med"/>
            </a:ln>
          </p:spPr>
          <p:txBody>
            <a:bodyPr/>
            <a:p>
              <a:endParaRPr lang="zh-CN" altLang="en-US" dirty="0">
                <a:latin typeface="Arial" panose="020B0604020202020204" pitchFamily="34" charset="0"/>
              </a:endParaRPr>
            </a:p>
          </p:txBody>
        </p:sp>
        <p:sp>
          <p:nvSpPr>
            <p:cNvPr id="40966" name="Freeform 5"/>
            <p:cNvSpPr/>
            <p:nvPr/>
          </p:nvSpPr>
          <p:spPr>
            <a:xfrm>
              <a:off x="4081" y="1275"/>
              <a:ext cx="0" cy="2483"/>
            </a:xfrm>
            <a:custGeom>
              <a:avLst/>
              <a:gdLst>
                <a:gd name="txL" fmla="*/ 0 w 1"/>
                <a:gd name="txT" fmla="*/ 0 h 2423"/>
                <a:gd name="txR" fmla="*/ 0 w 1"/>
                <a:gd name="txB" fmla="*/ 2423 h 2423"/>
              </a:gdLst>
              <a:ahLst/>
              <a:cxnLst>
                <a:cxn ang="0">
                  <a:pos x="0" y="0"/>
                </a:cxn>
                <a:cxn ang="0">
                  <a:pos x="0" y="2875"/>
                </a:cxn>
              </a:cxnLst>
              <a:rect l="txL" t="txT" r="txR" b="txB"/>
              <a:pathLst>
                <a:path w="1" h="2423">
                  <a:moveTo>
                    <a:pt x="0" y="0"/>
                  </a:moveTo>
                  <a:lnTo>
                    <a:pt x="1" y="2423"/>
                  </a:lnTo>
                </a:path>
              </a:pathLst>
            </a:custGeom>
            <a:noFill/>
            <a:ln w="38100" cap="flat" cmpd="sng">
              <a:solidFill>
                <a:srgbClr val="FF0000"/>
              </a:solidFill>
              <a:prstDash val="solid"/>
              <a:round/>
              <a:headEnd type="none" w="med" len="med"/>
              <a:tailEnd type="none" w="med" len="med"/>
            </a:ln>
          </p:spPr>
          <p:txBody>
            <a:bodyPr/>
            <a:p>
              <a:endParaRPr lang="zh-CN" altLang="en-US" dirty="0">
                <a:latin typeface="Arial" panose="020B0604020202020204" pitchFamily="34" charset="0"/>
              </a:endParaRPr>
            </a:p>
          </p:txBody>
        </p:sp>
        <p:sp>
          <p:nvSpPr>
            <p:cNvPr id="40967" name="Text Box 6"/>
            <p:cNvSpPr txBox="1"/>
            <p:nvPr/>
          </p:nvSpPr>
          <p:spPr>
            <a:xfrm>
              <a:off x="930" y="845"/>
              <a:ext cx="1252" cy="317"/>
            </a:xfrm>
            <a:prstGeom prst="rect">
              <a:avLst/>
            </a:prstGeom>
            <a:noFill/>
            <a:ln w="9525">
              <a:noFill/>
            </a:ln>
          </p:spPr>
          <p:txBody>
            <a:bodyPr/>
            <a:p>
              <a:pPr eaLnBrk="0" hangingPunct="0">
                <a:spcBef>
                  <a:spcPct val="0"/>
                </a:spcBef>
              </a:pPr>
              <a:r>
                <a:rPr lang="en-US" altLang="zh-CN" sz="2800" dirty="0">
                  <a:latin typeface="Arial" panose="020B0604020202020204" pitchFamily="34" charset="0"/>
                </a:rPr>
                <a:t>T</a:t>
              </a:r>
              <a:r>
                <a:rPr lang="en-US" altLang="zh-CN" sz="2800" baseline="-25000" dirty="0">
                  <a:latin typeface="Arial" panose="020B0604020202020204" pitchFamily="34" charset="0"/>
                </a:rPr>
                <a:t>c</a:t>
              </a:r>
              <a:r>
                <a:rPr lang="en-US" altLang="zh-CN" sz="2800" dirty="0">
                  <a:latin typeface="Arial" panose="020B0604020202020204" pitchFamily="34" charset="0"/>
                </a:rPr>
                <a:t>(</a:t>
              </a:r>
              <a:r>
                <a:rPr lang="zh-CN" altLang="en-US" sz="2800" dirty="0">
                  <a:latin typeface="Arial" panose="020B0604020202020204" pitchFamily="34" charset="0"/>
                </a:rPr>
                <a:t>检查点</a:t>
              </a:r>
              <a:r>
                <a:rPr lang="en-US" altLang="zh-CN" sz="2800" dirty="0">
                  <a:latin typeface="Arial" panose="020B0604020202020204" pitchFamily="34" charset="0"/>
                </a:rPr>
                <a:t>)</a:t>
              </a:r>
              <a:endParaRPr lang="en-US" altLang="zh-CN" sz="2800" dirty="0">
                <a:latin typeface="Arial" panose="020B0604020202020204" pitchFamily="34" charset="0"/>
              </a:endParaRPr>
            </a:p>
          </p:txBody>
        </p:sp>
        <p:sp>
          <p:nvSpPr>
            <p:cNvPr id="40968" name="Text Box 7"/>
            <p:cNvSpPr txBox="1"/>
            <p:nvPr/>
          </p:nvSpPr>
          <p:spPr>
            <a:xfrm>
              <a:off x="3334" y="861"/>
              <a:ext cx="1445" cy="346"/>
            </a:xfrm>
            <a:prstGeom prst="rect">
              <a:avLst/>
            </a:prstGeom>
            <a:noFill/>
            <a:ln w="9525">
              <a:noFill/>
            </a:ln>
          </p:spPr>
          <p:txBody>
            <a:bodyPr/>
            <a:p>
              <a:pPr algn="just" eaLnBrk="0" hangingPunct="0">
                <a:spcBef>
                  <a:spcPct val="0"/>
                </a:spcBef>
              </a:pPr>
              <a:r>
                <a:rPr lang="en-US" altLang="zh-CN" sz="2800" dirty="0">
                  <a:latin typeface="Arial" panose="020B0604020202020204" pitchFamily="34" charset="0"/>
                </a:rPr>
                <a:t>T</a:t>
              </a:r>
              <a:r>
                <a:rPr lang="en-US" altLang="zh-CN" sz="2800" baseline="-25000" dirty="0">
                  <a:latin typeface="Arial" panose="020B0604020202020204" pitchFamily="34" charset="0"/>
                </a:rPr>
                <a:t>f</a:t>
              </a:r>
              <a:r>
                <a:rPr lang="en-US" altLang="zh-CN" sz="2800" dirty="0">
                  <a:latin typeface="Arial" panose="020B0604020202020204" pitchFamily="34" charset="0"/>
                </a:rPr>
                <a:t>(</a:t>
              </a:r>
              <a:r>
                <a:rPr lang="zh-CN" altLang="en-US" sz="2800" dirty="0">
                  <a:latin typeface="Arial" panose="020B0604020202020204" pitchFamily="34" charset="0"/>
                </a:rPr>
                <a:t>系统故障</a:t>
              </a:r>
              <a:r>
                <a:rPr lang="en-US" altLang="zh-CN" sz="2800" dirty="0">
                  <a:latin typeface="Arial" panose="020B0604020202020204" pitchFamily="34" charset="0"/>
                </a:rPr>
                <a:t>)</a:t>
              </a:r>
              <a:endParaRPr lang="en-US" altLang="zh-CN" sz="2800" dirty="0">
                <a:latin typeface="Arial" panose="020B0604020202020204" pitchFamily="34" charset="0"/>
              </a:endParaRPr>
            </a:p>
          </p:txBody>
        </p:sp>
        <p:sp>
          <p:nvSpPr>
            <p:cNvPr id="40969" name="Text Box 8"/>
            <p:cNvSpPr txBox="1"/>
            <p:nvPr/>
          </p:nvSpPr>
          <p:spPr>
            <a:xfrm>
              <a:off x="1829" y="1979"/>
              <a:ext cx="779" cy="283"/>
            </a:xfrm>
            <a:prstGeom prst="rect">
              <a:avLst/>
            </a:prstGeom>
            <a:noFill/>
            <a:ln w="9525">
              <a:noFill/>
            </a:ln>
          </p:spPr>
          <p:txBody>
            <a:bodyPr/>
            <a:p>
              <a:pPr algn="l" eaLnBrk="0" hangingPunct="0">
                <a:spcBef>
                  <a:spcPct val="0"/>
                </a:spcBef>
              </a:pPr>
              <a:r>
                <a:rPr lang="en-US" altLang="zh-CN" sz="2400" dirty="0">
                  <a:latin typeface="Arial" panose="020B0604020202020204" pitchFamily="34" charset="0"/>
                </a:rPr>
                <a:t> REDO</a:t>
              </a:r>
              <a:endParaRPr lang="en-US" altLang="zh-CN" sz="2400" dirty="0">
                <a:latin typeface="Arial" panose="020B0604020202020204" pitchFamily="34" charset="0"/>
              </a:endParaRPr>
            </a:p>
          </p:txBody>
        </p:sp>
        <p:sp>
          <p:nvSpPr>
            <p:cNvPr id="40970" name="Text Box 9"/>
            <p:cNvSpPr txBox="1"/>
            <p:nvPr/>
          </p:nvSpPr>
          <p:spPr>
            <a:xfrm>
              <a:off x="4757" y="2352"/>
              <a:ext cx="708" cy="262"/>
            </a:xfrm>
            <a:prstGeom prst="rect">
              <a:avLst/>
            </a:prstGeom>
            <a:noFill/>
            <a:ln w="9525">
              <a:noFill/>
            </a:ln>
          </p:spPr>
          <p:txBody>
            <a:bodyPr/>
            <a:p>
              <a:pPr algn="l" eaLnBrk="0" hangingPunct="0">
                <a:spcBef>
                  <a:spcPct val="0"/>
                </a:spcBef>
              </a:pPr>
              <a:r>
                <a:rPr lang="en-US" altLang="zh-CN" sz="2400" dirty="0">
                  <a:latin typeface="Arial" panose="020B0604020202020204" pitchFamily="34" charset="0"/>
                </a:rPr>
                <a:t>UNDO</a:t>
              </a:r>
              <a:endParaRPr lang="en-US" altLang="zh-CN" sz="2400" dirty="0">
                <a:latin typeface="Arial" panose="020B0604020202020204" pitchFamily="34" charset="0"/>
              </a:endParaRPr>
            </a:p>
          </p:txBody>
        </p:sp>
        <p:sp>
          <p:nvSpPr>
            <p:cNvPr id="40971" name="Text Box 10"/>
            <p:cNvSpPr txBox="1"/>
            <p:nvPr/>
          </p:nvSpPr>
          <p:spPr>
            <a:xfrm>
              <a:off x="4509" y="3252"/>
              <a:ext cx="684" cy="269"/>
            </a:xfrm>
            <a:prstGeom prst="rect">
              <a:avLst/>
            </a:prstGeom>
            <a:noFill/>
            <a:ln w="9525">
              <a:noFill/>
            </a:ln>
          </p:spPr>
          <p:txBody>
            <a:bodyPr/>
            <a:p>
              <a:pPr algn="l" eaLnBrk="0" hangingPunct="0">
                <a:spcBef>
                  <a:spcPct val="0"/>
                </a:spcBef>
              </a:pPr>
              <a:r>
                <a:rPr lang="en-US" altLang="zh-CN" sz="2400" dirty="0">
                  <a:latin typeface="Arial" panose="020B0604020202020204" pitchFamily="34" charset="0"/>
                </a:rPr>
                <a:t>UNDO</a:t>
              </a:r>
              <a:endParaRPr lang="en-US" altLang="zh-CN" sz="2400" dirty="0">
                <a:latin typeface="Arial" panose="020B0604020202020204" pitchFamily="34" charset="0"/>
              </a:endParaRPr>
            </a:p>
          </p:txBody>
        </p:sp>
        <p:sp>
          <p:nvSpPr>
            <p:cNvPr id="40972" name="Text Box 11"/>
            <p:cNvSpPr txBox="1"/>
            <p:nvPr/>
          </p:nvSpPr>
          <p:spPr>
            <a:xfrm>
              <a:off x="3029" y="2812"/>
              <a:ext cx="758" cy="301"/>
            </a:xfrm>
            <a:prstGeom prst="rect">
              <a:avLst/>
            </a:prstGeom>
            <a:noFill/>
            <a:ln w="9525">
              <a:noFill/>
            </a:ln>
          </p:spPr>
          <p:txBody>
            <a:bodyPr/>
            <a:p>
              <a:pPr algn="l" eaLnBrk="0" hangingPunct="0">
                <a:spcBef>
                  <a:spcPct val="0"/>
                </a:spcBef>
              </a:pPr>
              <a:r>
                <a:rPr lang="en-US" altLang="zh-CN" sz="2400" dirty="0">
                  <a:latin typeface="Arial" panose="020B0604020202020204" pitchFamily="34" charset="0"/>
                </a:rPr>
                <a:t> REDO</a:t>
              </a:r>
              <a:endParaRPr lang="en-US" altLang="zh-CN" sz="2400" dirty="0">
                <a:latin typeface="Arial" panose="020B0604020202020204" pitchFamily="34" charset="0"/>
              </a:endParaRPr>
            </a:p>
          </p:txBody>
        </p:sp>
        <p:sp>
          <p:nvSpPr>
            <p:cNvPr id="40973" name="Text Box 12"/>
            <p:cNvSpPr txBox="1"/>
            <p:nvPr/>
          </p:nvSpPr>
          <p:spPr>
            <a:xfrm>
              <a:off x="351" y="1985"/>
              <a:ext cx="352" cy="266"/>
            </a:xfrm>
            <a:prstGeom prst="rect">
              <a:avLst/>
            </a:prstGeom>
            <a:noFill/>
            <a:ln w="9525">
              <a:noFill/>
            </a:ln>
          </p:spPr>
          <p:txBody>
            <a:bodyPr/>
            <a:p>
              <a:pPr algn="l" eaLnBrk="0" hangingPunct="0">
                <a:spcBef>
                  <a:spcPct val="0"/>
                </a:spcBef>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dirty="0">
                <a:solidFill>
                  <a:srgbClr val="0000CC"/>
                </a:solidFill>
                <a:latin typeface="Arial" panose="020B0604020202020204" pitchFamily="34" charset="0"/>
              </a:endParaRPr>
            </a:p>
          </p:txBody>
        </p:sp>
        <p:sp>
          <p:nvSpPr>
            <p:cNvPr id="40974" name="Text Box 13"/>
            <p:cNvSpPr txBox="1"/>
            <p:nvPr/>
          </p:nvSpPr>
          <p:spPr>
            <a:xfrm>
              <a:off x="865" y="2341"/>
              <a:ext cx="382" cy="322"/>
            </a:xfrm>
            <a:prstGeom prst="rect">
              <a:avLst/>
            </a:prstGeom>
            <a:noFill/>
            <a:ln w="9525">
              <a:noFill/>
            </a:ln>
          </p:spPr>
          <p:txBody>
            <a:bodyPr/>
            <a:p>
              <a:pPr algn="l" eaLnBrk="0" hangingPunct="0">
                <a:spcBef>
                  <a:spcPct val="0"/>
                </a:spcBef>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3</a:t>
              </a:r>
              <a:endParaRPr lang="en-US" altLang="zh-CN" sz="2800" dirty="0">
                <a:solidFill>
                  <a:srgbClr val="0000CC"/>
                </a:solidFill>
                <a:latin typeface="Arial" panose="020B0604020202020204" pitchFamily="34" charset="0"/>
              </a:endParaRPr>
            </a:p>
          </p:txBody>
        </p:sp>
        <p:sp>
          <p:nvSpPr>
            <p:cNvPr id="40975" name="Text Box 14"/>
            <p:cNvSpPr txBox="1"/>
            <p:nvPr/>
          </p:nvSpPr>
          <p:spPr>
            <a:xfrm>
              <a:off x="1700" y="2808"/>
              <a:ext cx="409" cy="395"/>
            </a:xfrm>
            <a:prstGeom prst="rect">
              <a:avLst/>
            </a:prstGeom>
            <a:noFill/>
            <a:ln w="9525">
              <a:noFill/>
            </a:ln>
          </p:spPr>
          <p:txBody>
            <a:bodyPr/>
            <a:p>
              <a:pPr algn="l" eaLnBrk="0" hangingPunct="0">
                <a:spcBef>
                  <a:spcPct val="0"/>
                </a:spcBef>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4</a:t>
              </a:r>
              <a:endParaRPr lang="en-US" altLang="zh-CN" sz="2800" dirty="0">
                <a:solidFill>
                  <a:srgbClr val="0000CC"/>
                </a:solidFill>
                <a:latin typeface="Arial" panose="020B0604020202020204" pitchFamily="34" charset="0"/>
              </a:endParaRPr>
            </a:p>
          </p:txBody>
        </p:sp>
        <p:sp>
          <p:nvSpPr>
            <p:cNvPr id="40976" name="Text Box 15"/>
            <p:cNvSpPr txBox="1"/>
            <p:nvPr/>
          </p:nvSpPr>
          <p:spPr>
            <a:xfrm>
              <a:off x="2321" y="3271"/>
              <a:ext cx="378" cy="341"/>
            </a:xfrm>
            <a:prstGeom prst="rect">
              <a:avLst/>
            </a:prstGeom>
            <a:noFill/>
            <a:ln w="9525">
              <a:noFill/>
            </a:ln>
          </p:spPr>
          <p:txBody>
            <a:bodyPr/>
            <a:p>
              <a:pPr algn="l" eaLnBrk="0" hangingPunct="0">
                <a:spcBef>
                  <a:spcPct val="0"/>
                </a:spcBef>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5</a:t>
              </a:r>
              <a:endParaRPr lang="en-US" altLang="zh-CN" sz="2800" dirty="0">
                <a:solidFill>
                  <a:srgbClr val="0000CC"/>
                </a:solidFill>
                <a:latin typeface="Arial" panose="020B0604020202020204" pitchFamily="34" charset="0"/>
              </a:endParaRPr>
            </a:p>
          </p:txBody>
        </p:sp>
        <p:sp>
          <p:nvSpPr>
            <p:cNvPr id="40977" name="Text Box 16"/>
            <p:cNvSpPr txBox="1"/>
            <p:nvPr/>
          </p:nvSpPr>
          <p:spPr>
            <a:xfrm>
              <a:off x="703" y="1517"/>
              <a:ext cx="1134" cy="325"/>
            </a:xfrm>
            <a:prstGeom prst="rect">
              <a:avLst/>
            </a:prstGeom>
            <a:noFill/>
            <a:ln w="9525">
              <a:noFill/>
            </a:ln>
          </p:spPr>
          <p:txBody>
            <a:bodyPr/>
            <a:p>
              <a:pPr algn="l" eaLnBrk="0" hangingPunct="0">
                <a:spcBef>
                  <a:spcPct val="0"/>
                </a:spcBef>
              </a:pPr>
              <a:r>
                <a:rPr lang="zh-CN" altLang="en-US" sz="2400" dirty="0">
                  <a:latin typeface="Arial" panose="020B0604020202020204" pitchFamily="34" charset="0"/>
                </a:rPr>
                <a:t>无动作</a:t>
              </a:r>
              <a:endParaRPr lang="zh-CN" altLang="en-US" sz="2400" dirty="0">
                <a:latin typeface="Arial" panose="020B0604020202020204" pitchFamily="34" charset="0"/>
              </a:endParaRPr>
            </a:p>
          </p:txBody>
        </p:sp>
        <p:sp>
          <p:nvSpPr>
            <p:cNvPr id="40978" name="Text Box 17"/>
            <p:cNvSpPr txBox="1"/>
            <p:nvPr/>
          </p:nvSpPr>
          <p:spPr>
            <a:xfrm>
              <a:off x="222" y="1542"/>
              <a:ext cx="345" cy="346"/>
            </a:xfrm>
            <a:prstGeom prst="rect">
              <a:avLst/>
            </a:prstGeom>
            <a:noFill/>
            <a:ln w="9525">
              <a:noFill/>
            </a:ln>
          </p:spPr>
          <p:txBody>
            <a:bodyPr/>
            <a:p>
              <a:pPr algn="just" eaLnBrk="0" hangingPunct="0">
                <a:spcBef>
                  <a:spcPct val="0"/>
                </a:spcBef>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dirty="0">
                <a:solidFill>
                  <a:srgbClr val="0000CC"/>
                </a:solidFill>
                <a:latin typeface="Arial" panose="020B0604020202020204" pitchFamily="34" charset="0"/>
              </a:endParaRPr>
            </a:p>
          </p:txBody>
        </p:sp>
        <p:sp>
          <p:nvSpPr>
            <p:cNvPr id="40979" name="Freeform 18"/>
            <p:cNvSpPr/>
            <p:nvPr/>
          </p:nvSpPr>
          <p:spPr>
            <a:xfrm>
              <a:off x="158" y="1752"/>
              <a:ext cx="545" cy="136"/>
            </a:xfrm>
            <a:custGeom>
              <a:avLst/>
              <a:gdLst>
                <a:gd name="txL" fmla="*/ 0 w 545"/>
                <a:gd name="txT" fmla="*/ 0 h 136"/>
                <a:gd name="txR" fmla="*/ 545 w 545"/>
                <a:gd name="txB" fmla="*/ 136 h 136"/>
              </a:gdLst>
              <a:ahLst/>
              <a:cxnLst>
                <a:cxn ang="0">
                  <a:pos x="0" y="0"/>
                </a:cxn>
                <a:cxn ang="0">
                  <a:pos x="0" y="136"/>
                </a:cxn>
                <a:cxn ang="0">
                  <a:pos x="545" y="136"/>
                </a:cxn>
                <a:cxn ang="0">
                  <a:pos x="545" y="0"/>
                </a:cxn>
              </a:cxnLst>
              <a:rect l="txL" t="txT" r="txR" b="txB"/>
              <a:pathLst>
                <a:path w="545" h="136">
                  <a:moveTo>
                    <a:pt x="0" y="0"/>
                  </a:moveTo>
                  <a:lnTo>
                    <a:pt x="0" y="136"/>
                  </a:lnTo>
                  <a:lnTo>
                    <a:pt x="545" y="136"/>
                  </a:lnTo>
                  <a:lnTo>
                    <a:pt x="545" y="0"/>
                  </a:lnTo>
                </a:path>
              </a:pathLst>
            </a:custGeom>
            <a:noFill/>
            <a:ln w="28575" cap="flat" cmpd="sng">
              <a:solidFill>
                <a:srgbClr val="000000"/>
              </a:solidFill>
              <a:prstDash val="solid"/>
              <a:round/>
              <a:headEnd type="none" w="med" len="med"/>
              <a:tailEnd type="none" w="med" len="med"/>
            </a:ln>
          </p:spPr>
          <p:txBody>
            <a:bodyPr>
              <a:spAutoFit/>
            </a:bodyPr>
            <a:p>
              <a:endParaRPr lang="zh-CN" altLang="en-US" dirty="0">
                <a:latin typeface="Arial" panose="020B0604020202020204" pitchFamily="34" charset="0"/>
              </a:endParaRPr>
            </a:p>
          </p:txBody>
        </p:sp>
        <p:sp>
          <p:nvSpPr>
            <p:cNvPr id="40980" name="Freeform 19"/>
            <p:cNvSpPr/>
            <p:nvPr/>
          </p:nvSpPr>
          <p:spPr>
            <a:xfrm>
              <a:off x="340" y="2205"/>
              <a:ext cx="1542" cy="136"/>
            </a:xfrm>
            <a:custGeom>
              <a:avLst/>
              <a:gdLst>
                <a:gd name="txL" fmla="*/ 0 w 545"/>
                <a:gd name="txT" fmla="*/ 0 h 136"/>
                <a:gd name="txR" fmla="*/ 545 w 545"/>
                <a:gd name="txB" fmla="*/ 136 h 136"/>
              </a:gdLst>
              <a:ahLst/>
              <a:cxnLst>
                <a:cxn ang="0">
                  <a:pos x="0" y="0"/>
                </a:cxn>
                <a:cxn ang="0">
                  <a:pos x="0" y="136"/>
                </a:cxn>
                <a:cxn ang="0">
                  <a:pos x="791063" y="136"/>
                </a:cxn>
                <a:cxn ang="0">
                  <a:pos x="791063" y="0"/>
                </a:cxn>
              </a:cxnLst>
              <a:rect l="txL" t="txT" r="txR" b="txB"/>
              <a:pathLst>
                <a:path w="545" h="136">
                  <a:moveTo>
                    <a:pt x="0" y="0"/>
                  </a:moveTo>
                  <a:lnTo>
                    <a:pt x="0" y="136"/>
                  </a:lnTo>
                  <a:lnTo>
                    <a:pt x="545" y="136"/>
                  </a:lnTo>
                  <a:lnTo>
                    <a:pt x="545" y="0"/>
                  </a:lnTo>
                </a:path>
              </a:pathLst>
            </a:custGeom>
            <a:noFill/>
            <a:ln w="28575" cap="flat" cmpd="sng">
              <a:solidFill>
                <a:srgbClr val="000000"/>
              </a:solidFill>
              <a:prstDash val="solid"/>
              <a:round/>
              <a:headEnd type="none" w="med" len="med"/>
              <a:tailEnd type="none" w="med" len="med"/>
            </a:ln>
          </p:spPr>
          <p:txBody>
            <a:bodyPr>
              <a:spAutoFit/>
            </a:bodyPr>
            <a:p>
              <a:endParaRPr lang="zh-CN" altLang="en-US" dirty="0">
                <a:latin typeface="Arial" panose="020B0604020202020204" pitchFamily="34" charset="0"/>
              </a:endParaRPr>
            </a:p>
          </p:txBody>
        </p:sp>
        <p:sp>
          <p:nvSpPr>
            <p:cNvPr id="40981" name="Freeform 20"/>
            <p:cNvSpPr/>
            <p:nvPr/>
          </p:nvSpPr>
          <p:spPr>
            <a:xfrm>
              <a:off x="1701" y="3022"/>
              <a:ext cx="1406" cy="136"/>
            </a:xfrm>
            <a:custGeom>
              <a:avLst/>
              <a:gdLst>
                <a:gd name="txL" fmla="*/ 0 w 545"/>
                <a:gd name="txT" fmla="*/ 0 h 136"/>
                <a:gd name="txR" fmla="*/ 545 w 545"/>
                <a:gd name="txB" fmla="*/ 136 h 136"/>
              </a:gdLst>
              <a:ahLst/>
              <a:cxnLst>
                <a:cxn ang="0">
                  <a:pos x="0" y="0"/>
                </a:cxn>
                <a:cxn ang="0">
                  <a:pos x="0" y="136"/>
                </a:cxn>
                <a:cxn ang="0">
                  <a:pos x="414460" y="136"/>
                </a:cxn>
                <a:cxn ang="0">
                  <a:pos x="414460" y="0"/>
                </a:cxn>
              </a:cxnLst>
              <a:rect l="txL" t="txT" r="txR" b="txB"/>
              <a:pathLst>
                <a:path w="545" h="136">
                  <a:moveTo>
                    <a:pt x="0" y="0"/>
                  </a:moveTo>
                  <a:lnTo>
                    <a:pt x="0" y="136"/>
                  </a:lnTo>
                  <a:lnTo>
                    <a:pt x="545" y="136"/>
                  </a:lnTo>
                  <a:lnTo>
                    <a:pt x="545" y="0"/>
                  </a:lnTo>
                </a:path>
              </a:pathLst>
            </a:custGeom>
            <a:noFill/>
            <a:ln w="28575" cap="flat" cmpd="sng">
              <a:solidFill>
                <a:srgbClr val="000000"/>
              </a:solidFill>
              <a:prstDash val="solid"/>
              <a:round/>
              <a:headEnd type="none" w="med" len="med"/>
              <a:tailEnd type="none" w="med" len="med"/>
            </a:ln>
          </p:spPr>
          <p:txBody>
            <a:bodyPr>
              <a:spAutoFit/>
            </a:bodyPr>
            <a:p>
              <a:endParaRPr lang="zh-CN" altLang="en-US" dirty="0">
                <a:latin typeface="Arial" panose="020B0604020202020204" pitchFamily="34" charset="0"/>
              </a:endParaRPr>
            </a:p>
          </p:txBody>
        </p:sp>
        <p:sp>
          <p:nvSpPr>
            <p:cNvPr id="40982" name="Freeform 21"/>
            <p:cNvSpPr/>
            <p:nvPr/>
          </p:nvSpPr>
          <p:spPr>
            <a:xfrm>
              <a:off x="793" y="2568"/>
              <a:ext cx="3266" cy="136"/>
            </a:xfrm>
            <a:custGeom>
              <a:avLst/>
              <a:gdLst>
                <a:gd name="txL" fmla="*/ 0 w 3266"/>
                <a:gd name="txT" fmla="*/ 0 h 136"/>
                <a:gd name="txR" fmla="*/ 3266 w 3266"/>
                <a:gd name="txB" fmla="*/ 136 h 136"/>
              </a:gdLst>
              <a:ahLst/>
              <a:cxnLst>
                <a:cxn ang="0">
                  <a:pos x="0" y="0"/>
                </a:cxn>
                <a:cxn ang="0">
                  <a:pos x="0" y="136"/>
                </a:cxn>
                <a:cxn ang="0">
                  <a:pos x="3266" y="136"/>
                </a:cxn>
              </a:cxnLst>
              <a:rect l="txL" t="txT" r="txR" b="txB"/>
              <a:pathLst>
                <a:path w="3266" h="136">
                  <a:moveTo>
                    <a:pt x="0" y="0"/>
                  </a:moveTo>
                  <a:lnTo>
                    <a:pt x="0" y="136"/>
                  </a:lnTo>
                  <a:lnTo>
                    <a:pt x="3266" y="136"/>
                  </a:lnTo>
                </a:path>
              </a:pathLst>
            </a:custGeom>
            <a:noFill/>
            <a:ln w="28575" cap="flat" cmpd="sng">
              <a:solidFill>
                <a:srgbClr val="000000"/>
              </a:solidFill>
              <a:prstDash val="solid"/>
              <a:round/>
              <a:headEnd type="none" w="med" len="med"/>
              <a:tailEnd type="none" w="med" len="med"/>
            </a:ln>
          </p:spPr>
          <p:txBody>
            <a:bodyPr>
              <a:spAutoFit/>
            </a:bodyPr>
            <a:p>
              <a:endParaRPr lang="zh-CN" altLang="en-US" dirty="0">
                <a:latin typeface="Arial" panose="020B0604020202020204" pitchFamily="34" charset="0"/>
              </a:endParaRPr>
            </a:p>
          </p:txBody>
        </p:sp>
        <p:sp>
          <p:nvSpPr>
            <p:cNvPr id="40983" name="Line 22"/>
            <p:cNvSpPr/>
            <p:nvPr/>
          </p:nvSpPr>
          <p:spPr>
            <a:xfrm>
              <a:off x="4105" y="2704"/>
              <a:ext cx="726" cy="0"/>
            </a:xfrm>
            <a:prstGeom prst="line">
              <a:avLst/>
            </a:prstGeom>
            <a:ln w="28575" cap="flat" cmpd="sng">
              <a:solidFill>
                <a:srgbClr val="000000"/>
              </a:solidFill>
              <a:prstDash val="dash"/>
              <a:headEnd type="none" w="med" len="med"/>
              <a:tailEnd type="none" w="med" len="med"/>
            </a:ln>
          </p:spPr>
        </p:sp>
        <p:sp>
          <p:nvSpPr>
            <p:cNvPr id="40984" name="Line 23"/>
            <p:cNvSpPr/>
            <p:nvPr/>
          </p:nvSpPr>
          <p:spPr>
            <a:xfrm>
              <a:off x="4801" y="2568"/>
              <a:ext cx="0" cy="136"/>
            </a:xfrm>
            <a:prstGeom prst="line">
              <a:avLst/>
            </a:prstGeom>
            <a:ln w="28575" cap="flat" cmpd="sng">
              <a:solidFill>
                <a:srgbClr val="000000"/>
              </a:solidFill>
              <a:prstDash val="solid"/>
              <a:headEnd type="none" w="med" len="med"/>
              <a:tailEnd type="none" w="med" len="med"/>
            </a:ln>
          </p:spPr>
        </p:sp>
        <p:sp>
          <p:nvSpPr>
            <p:cNvPr id="40985" name="Freeform 24"/>
            <p:cNvSpPr/>
            <p:nvPr/>
          </p:nvSpPr>
          <p:spPr>
            <a:xfrm>
              <a:off x="2336" y="3475"/>
              <a:ext cx="1769" cy="136"/>
            </a:xfrm>
            <a:custGeom>
              <a:avLst/>
              <a:gdLst>
                <a:gd name="txL" fmla="*/ 0 w 3266"/>
                <a:gd name="txT" fmla="*/ 0 h 136"/>
                <a:gd name="txR" fmla="*/ 3266 w 3266"/>
                <a:gd name="txB" fmla="*/ 136 h 136"/>
              </a:gdLst>
              <a:ahLst/>
              <a:cxnLst>
                <a:cxn ang="0">
                  <a:pos x="0" y="0"/>
                </a:cxn>
                <a:cxn ang="0">
                  <a:pos x="0" y="136"/>
                </a:cxn>
                <a:cxn ang="0">
                  <a:pos x="44" y="136"/>
                </a:cxn>
              </a:cxnLst>
              <a:rect l="txL" t="txT" r="txR" b="txB"/>
              <a:pathLst>
                <a:path w="3266" h="136">
                  <a:moveTo>
                    <a:pt x="0" y="0"/>
                  </a:moveTo>
                  <a:lnTo>
                    <a:pt x="0" y="136"/>
                  </a:lnTo>
                  <a:lnTo>
                    <a:pt x="3266" y="136"/>
                  </a:lnTo>
                </a:path>
              </a:pathLst>
            </a:custGeom>
            <a:noFill/>
            <a:ln w="28575" cap="flat" cmpd="sng">
              <a:solidFill>
                <a:srgbClr val="000000"/>
              </a:solidFill>
              <a:prstDash val="solid"/>
              <a:round/>
              <a:headEnd type="none" w="med" len="med"/>
              <a:tailEnd type="none" w="med" len="med"/>
            </a:ln>
          </p:spPr>
          <p:txBody>
            <a:bodyPr>
              <a:spAutoFit/>
            </a:bodyPr>
            <a:p>
              <a:endParaRPr lang="zh-CN" altLang="en-US" dirty="0">
                <a:latin typeface="Arial" panose="020B0604020202020204" pitchFamily="34" charset="0"/>
              </a:endParaRPr>
            </a:p>
          </p:txBody>
        </p:sp>
        <p:sp>
          <p:nvSpPr>
            <p:cNvPr id="40986" name="Line 25"/>
            <p:cNvSpPr/>
            <p:nvPr/>
          </p:nvSpPr>
          <p:spPr>
            <a:xfrm>
              <a:off x="4104" y="3612"/>
              <a:ext cx="454" cy="0"/>
            </a:xfrm>
            <a:prstGeom prst="line">
              <a:avLst/>
            </a:prstGeom>
            <a:ln w="28575" cap="flat" cmpd="sng">
              <a:solidFill>
                <a:srgbClr val="000000"/>
              </a:solidFill>
              <a:prstDash val="dash"/>
              <a:headEnd type="none" w="med" len="med"/>
              <a:tailEnd type="none" w="med" len="med"/>
            </a:ln>
          </p:spPr>
        </p:sp>
        <p:sp>
          <p:nvSpPr>
            <p:cNvPr id="40987" name="Line 26"/>
            <p:cNvSpPr/>
            <p:nvPr/>
          </p:nvSpPr>
          <p:spPr>
            <a:xfrm>
              <a:off x="4558" y="3475"/>
              <a:ext cx="0" cy="136"/>
            </a:xfrm>
            <a:prstGeom prst="line">
              <a:avLst/>
            </a:prstGeom>
            <a:ln w="28575" cap="flat" cmpd="sng">
              <a:solidFill>
                <a:srgbClr val="000000"/>
              </a:solidFill>
              <a:prstDash val="solid"/>
              <a:headEnd type="none" w="med" len="med"/>
              <a:tailEnd type="none" w="med" len="med"/>
            </a:ln>
          </p:spPr>
        </p:sp>
      </p:grpSp>
      <p:sp>
        <p:nvSpPr>
          <p:cNvPr id="40964" name="Rectangle 28"/>
          <p:cNvSpPr/>
          <p:nvPr/>
        </p:nvSpPr>
        <p:spPr>
          <a:xfrm>
            <a:off x="1476375" y="5919788"/>
            <a:ext cx="6048375" cy="749300"/>
          </a:xfrm>
          <a:prstGeom prst="rect">
            <a:avLst/>
          </a:prstGeom>
          <a:noFill/>
          <a:ln w="28575">
            <a:noFill/>
          </a:ln>
        </p:spPr>
        <p:txBody>
          <a:bodyPr>
            <a:spAutoFit/>
          </a:bodyPr>
          <a:p>
            <a:pPr lvl="1" algn="l" eaLnBrk="1" hangingPunct="1">
              <a:lnSpc>
                <a:spcPct val="90000"/>
              </a:lnSpc>
              <a:spcBef>
                <a:spcPct val="0"/>
              </a:spcBef>
            </a:pPr>
            <a:r>
              <a:rPr lang="zh-CN" altLang="en-US" sz="2400" dirty="0">
                <a:solidFill>
                  <a:srgbClr val="FF0000"/>
                </a:solidFill>
                <a:latin typeface="Arial" panose="020B0604020202020204" pitchFamily="34" charset="0"/>
              </a:rPr>
              <a:t>重做</a:t>
            </a:r>
            <a:r>
              <a:rPr lang="zh-CN" altLang="en-US" sz="2400" dirty="0">
                <a:latin typeface="Arial" panose="020B0604020202020204" pitchFamily="34" charset="0"/>
              </a:rPr>
              <a:t>自最近检查点以来提交的事务</a:t>
            </a:r>
            <a:endParaRPr lang="zh-CN" altLang="en-US" sz="2400" dirty="0">
              <a:latin typeface="Arial" panose="020B0604020202020204" pitchFamily="34" charset="0"/>
            </a:endParaRPr>
          </a:p>
          <a:p>
            <a:pPr lvl="1" algn="l" eaLnBrk="1" hangingPunct="1">
              <a:lnSpc>
                <a:spcPct val="90000"/>
              </a:lnSpc>
              <a:spcBef>
                <a:spcPct val="0"/>
              </a:spcBef>
            </a:pPr>
            <a:r>
              <a:rPr lang="zh-CN" altLang="en-US" sz="2400" dirty="0">
                <a:solidFill>
                  <a:srgbClr val="FF0000"/>
                </a:solidFill>
                <a:latin typeface="Arial" panose="020B0604020202020204" pitchFamily="34" charset="0"/>
              </a:rPr>
              <a:t>撤销</a:t>
            </a:r>
            <a:r>
              <a:rPr lang="zh-CN" altLang="en-US" sz="2400" dirty="0">
                <a:latin typeface="Arial" panose="020B0604020202020204" pitchFamily="34" charset="0"/>
              </a:rPr>
              <a:t>故障发生时活跃的事务</a:t>
            </a:r>
            <a:endParaRPr lang="zh-CN" altLang="en-US" sz="2400"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9" name="Rectangle 39"/>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、镜像技术</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(Mirror)</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1987" name="Rectangle 40"/>
          <p:cNvSpPr>
            <a:spLocks noGrp="1"/>
          </p:cNvSpPr>
          <p:nvPr>
            <p:ph idx="1"/>
          </p:nvPr>
        </p:nvSpPr>
        <p:spPr/>
        <p:txBody>
          <a:bodyPr vert="horz" wrap="square" lIns="91440" tIns="45720" rIns="91440" bIns="45720" anchor="t" anchorCtr="0"/>
          <a:p>
            <a:pPr eaLnBrk="1" hangingPunct="1"/>
            <a:r>
              <a:rPr lang="en-US" altLang="zh-CN" dirty="0"/>
              <a:t>DBMS</a:t>
            </a:r>
            <a:r>
              <a:rPr lang="zh-CN" altLang="en-US" dirty="0"/>
              <a:t>自动将整个数据库实时地复制到另一个磁盘，保证主数据与镜像数据一致</a:t>
            </a:r>
            <a:endParaRPr lang="zh-CN" altLang="en-US" dirty="0"/>
          </a:p>
          <a:p>
            <a:pPr eaLnBrk="1" hangingPunct="1"/>
            <a:endParaRPr lang="zh-CN" altLang="en-US" dirty="0"/>
          </a:p>
          <a:p>
            <a:pPr eaLnBrk="1" hangingPunct="1"/>
            <a:r>
              <a:rPr lang="zh-CN" altLang="en-US" dirty="0"/>
              <a:t>主要功能：</a:t>
            </a:r>
            <a:endParaRPr lang="zh-CN" altLang="en-US" dirty="0"/>
          </a:p>
          <a:p>
            <a:pPr lvl="1" eaLnBrk="1" hangingPunct="1"/>
            <a:r>
              <a:rPr lang="zh-CN" altLang="en-US" dirty="0"/>
              <a:t>出现介质故障时，</a:t>
            </a:r>
            <a:r>
              <a:rPr lang="en-US" altLang="zh-CN" dirty="0"/>
              <a:t>DBMS</a:t>
            </a:r>
            <a:r>
              <a:rPr lang="zh-CN" altLang="en-US" dirty="0"/>
              <a:t>自动利用镜像对数据库进行恢复，不需关闭系统和重装备份副本</a:t>
            </a:r>
            <a:endParaRPr lang="zh-CN" altLang="en-US" dirty="0"/>
          </a:p>
          <a:p>
            <a:pPr lvl="1" eaLnBrk="1" hangingPunct="1"/>
            <a:r>
              <a:rPr lang="zh-CN" altLang="en-US" dirty="0"/>
              <a:t>没有出现故障时，可以支持并发操作</a:t>
            </a:r>
            <a:endParaRPr lang="zh-CN" altLang="en-US" dirty="0"/>
          </a:p>
          <a:p>
            <a:pPr eaLnBrk="1" hangingPunct="1"/>
            <a:endParaRPr lang="en-US" altLang="zh-CN" dirty="0"/>
          </a:p>
        </p:txBody>
      </p:sp>
    </p:spTree>
  </p:cSld>
  <p:clrMapOvr>
    <a:masterClrMapping/>
  </p:clrMapOvr>
  <p:transition>
    <p:random/>
    <p:sndAc>
      <p:stSnd>
        <p:snd r:embed="rId1"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953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、镜像技术</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3011" name="Group 3"/>
          <p:cNvGrpSpPr/>
          <p:nvPr/>
        </p:nvGrpSpPr>
        <p:grpSpPr>
          <a:xfrm>
            <a:off x="71438" y="1196975"/>
            <a:ext cx="8964612" cy="2058988"/>
            <a:chOff x="113" y="754"/>
            <a:chExt cx="5579" cy="1297"/>
          </a:xfrm>
        </p:grpSpPr>
        <p:sp>
          <p:nvSpPr>
            <p:cNvPr id="43030" name="Rectangle 4"/>
            <p:cNvSpPr/>
            <p:nvPr/>
          </p:nvSpPr>
          <p:spPr>
            <a:xfrm>
              <a:off x="1701" y="754"/>
              <a:ext cx="2540" cy="1270"/>
            </a:xfrm>
            <a:prstGeom prst="rect">
              <a:avLst/>
            </a:prstGeom>
            <a:solidFill>
              <a:srgbClr val="CCFFFF"/>
            </a:solidFill>
            <a:ln w="28575" cap="flat" cmpd="sng">
              <a:solidFill>
                <a:srgbClr val="0000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3031" name="Text Box 5"/>
            <p:cNvSpPr txBox="1"/>
            <p:nvPr/>
          </p:nvSpPr>
          <p:spPr>
            <a:xfrm>
              <a:off x="4967" y="754"/>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2</a:t>
              </a:r>
              <a:endParaRPr lang="en-US" altLang="zh-CN" sz="2800" dirty="0">
                <a:latin typeface="Arial" panose="020B0604020202020204" pitchFamily="34" charset="0"/>
              </a:endParaRPr>
            </a:p>
          </p:txBody>
        </p:sp>
        <p:sp>
          <p:nvSpPr>
            <p:cNvPr id="43032" name="Text Box 6"/>
            <p:cNvSpPr txBox="1"/>
            <p:nvPr/>
          </p:nvSpPr>
          <p:spPr>
            <a:xfrm>
              <a:off x="4967" y="1207"/>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3</a:t>
              </a:r>
              <a:endParaRPr lang="en-US" altLang="zh-CN" sz="2800" dirty="0">
                <a:latin typeface="Arial" panose="020B0604020202020204" pitchFamily="34" charset="0"/>
              </a:endParaRPr>
            </a:p>
          </p:txBody>
        </p:sp>
        <p:sp>
          <p:nvSpPr>
            <p:cNvPr id="43033" name="Text Box 7"/>
            <p:cNvSpPr txBox="1"/>
            <p:nvPr/>
          </p:nvSpPr>
          <p:spPr>
            <a:xfrm>
              <a:off x="4967" y="1706"/>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4</a:t>
              </a:r>
              <a:endParaRPr lang="en-US" altLang="zh-CN" sz="2800" dirty="0">
                <a:latin typeface="Arial" panose="020B0604020202020204" pitchFamily="34" charset="0"/>
              </a:endParaRPr>
            </a:p>
          </p:txBody>
        </p:sp>
        <p:sp>
          <p:nvSpPr>
            <p:cNvPr id="43034" name="Line 8"/>
            <p:cNvSpPr/>
            <p:nvPr/>
          </p:nvSpPr>
          <p:spPr>
            <a:xfrm flipH="1">
              <a:off x="4014" y="1389"/>
              <a:ext cx="953" cy="0"/>
            </a:xfrm>
            <a:prstGeom prst="line">
              <a:avLst/>
            </a:prstGeom>
            <a:ln w="28575" cap="flat" cmpd="sng">
              <a:solidFill>
                <a:srgbClr val="000000"/>
              </a:solidFill>
              <a:prstDash val="solid"/>
              <a:headEnd type="none" w="med" len="med"/>
              <a:tailEnd type="arrow" w="med" len="med"/>
            </a:ln>
          </p:spPr>
        </p:sp>
        <p:sp>
          <p:nvSpPr>
            <p:cNvPr id="43035" name="Text Box 9"/>
            <p:cNvSpPr txBox="1"/>
            <p:nvPr/>
          </p:nvSpPr>
          <p:spPr>
            <a:xfrm>
              <a:off x="4286" y="1107"/>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36" name="Line 10"/>
            <p:cNvSpPr/>
            <p:nvPr/>
          </p:nvSpPr>
          <p:spPr>
            <a:xfrm flipH="1">
              <a:off x="4014" y="935"/>
              <a:ext cx="953" cy="318"/>
            </a:xfrm>
            <a:prstGeom prst="line">
              <a:avLst/>
            </a:prstGeom>
            <a:ln w="28575" cap="flat" cmpd="sng">
              <a:solidFill>
                <a:srgbClr val="000000"/>
              </a:solidFill>
              <a:prstDash val="solid"/>
              <a:headEnd type="none" w="med" len="med"/>
              <a:tailEnd type="arrow" w="med" len="med"/>
            </a:ln>
          </p:spPr>
        </p:sp>
        <p:sp>
          <p:nvSpPr>
            <p:cNvPr id="43037" name="Line 11"/>
            <p:cNvSpPr/>
            <p:nvPr/>
          </p:nvSpPr>
          <p:spPr>
            <a:xfrm flipH="1" flipV="1">
              <a:off x="4014" y="1525"/>
              <a:ext cx="953" cy="363"/>
            </a:xfrm>
            <a:prstGeom prst="line">
              <a:avLst/>
            </a:prstGeom>
            <a:ln w="28575" cap="flat" cmpd="sng">
              <a:solidFill>
                <a:srgbClr val="000000"/>
              </a:solidFill>
              <a:prstDash val="solid"/>
              <a:headEnd type="none" w="med" len="med"/>
              <a:tailEnd type="arrow" w="med" len="med"/>
            </a:ln>
          </p:spPr>
        </p:sp>
        <p:sp>
          <p:nvSpPr>
            <p:cNvPr id="43038" name="AutoShape 12"/>
            <p:cNvSpPr/>
            <p:nvPr/>
          </p:nvSpPr>
          <p:spPr>
            <a:xfrm>
              <a:off x="3334" y="1087"/>
              <a:ext cx="674" cy="584"/>
            </a:xfrm>
            <a:prstGeom prst="can">
              <a:avLst>
                <a:gd name="adj" fmla="val 25000"/>
              </a:avLst>
            </a:prstGeom>
            <a:noFill/>
            <a:ln w="28575" cap="flat" cmpd="sng">
              <a:solidFill>
                <a:srgbClr val="000000"/>
              </a:solidFill>
              <a:prstDash val="solid"/>
              <a:headEnd type="none" w="med" len="med"/>
              <a:tailEnd type="none" w="med" len="med"/>
            </a:ln>
          </p:spPr>
          <p:txBody>
            <a:bodyPr wrap="none" anchor="ctr" anchorCtr="0"/>
            <a:p>
              <a:r>
                <a:rPr lang="zh-CN" altLang="en-US" sz="2800" dirty="0">
                  <a:latin typeface="Arial" panose="020B0604020202020204" pitchFamily="34" charset="0"/>
                </a:rPr>
                <a:t>镜像</a:t>
              </a:r>
              <a:endParaRPr lang="zh-CN" altLang="en-US" sz="2800" dirty="0">
                <a:latin typeface="Arial" panose="020B0604020202020204" pitchFamily="34" charset="0"/>
              </a:endParaRPr>
            </a:p>
          </p:txBody>
        </p:sp>
        <p:sp>
          <p:nvSpPr>
            <p:cNvPr id="43039" name="Text Box 13"/>
            <p:cNvSpPr txBox="1"/>
            <p:nvPr/>
          </p:nvSpPr>
          <p:spPr>
            <a:xfrm rot="-1043670">
              <a:off x="4241" y="774"/>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40" name="Text Box 14"/>
            <p:cNvSpPr txBox="1"/>
            <p:nvPr/>
          </p:nvSpPr>
          <p:spPr>
            <a:xfrm rot="1212820">
              <a:off x="4287" y="1470"/>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41" name="AutoShape 15"/>
            <p:cNvSpPr/>
            <p:nvPr/>
          </p:nvSpPr>
          <p:spPr>
            <a:xfrm>
              <a:off x="1927" y="1087"/>
              <a:ext cx="674" cy="584"/>
            </a:xfrm>
            <a:prstGeom prst="can">
              <a:avLst>
                <a:gd name="adj" fmla="val 25000"/>
              </a:avLst>
            </a:prstGeom>
            <a:noFill/>
            <a:ln w="28575" cap="flat" cmpd="sng">
              <a:solidFill>
                <a:srgbClr val="000000"/>
              </a:solidFill>
              <a:prstDash val="solid"/>
              <a:headEnd type="none" w="med" len="med"/>
              <a:tailEnd type="none" w="med" len="med"/>
            </a:ln>
          </p:spPr>
          <p:txBody>
            <a:bodyPr wrap="none" anchor="ctr" anchorCtr="0"/>
            <a:p>
              <a:endParaRPr lang="zh-CN" altLang="zh-CN" sz="2800" dirty="0">
                <a:latin typeface="Arial" panose="020B0604020202020204" pitchFamily="34" charset="0"/>
              </a:endParaRPr>
            </a:p>
          </p:txBody>
        </p:sp>
        <p:sp>
          <p:nvSpPr>
            <p:cNvPr id="43042" name="Line 16"/>
            <p:cNvSpPr/>
            <p:nvPr/>
          </p:nvSpPr>
          <p:spPr>
            <a:xfrm flipH="1">
              <a:off x="2608" y="1389"/>
              <a:ext cx="681" cy="0"/>
            </a:xfrm>
            <a:prstGeom prst="line">
              <a:avLst/>
            </a:prstGeom>
            <a:ln w="28575" cap="flat" cmpd="sng">
              <a:solidFill>
                <a:srgbClr val="000000"/>
              </a:solidFill>
              <a:prstDash val="dash"/>
              <a:headEnd type="arrow" w="med" len="med"/>
              <a:tailEnd type="none" w="med" len="med"/>
            </a:ln>
          </p:spPr>
        </p:sp>
        <p:sp>
          <p:nvSpPr>
            <p:cNvPr id="43043" name="Text Box 17"/>
            <p:cNvSpPr txBox="1"/>
            <p:nvPr/>
          </p:nvSpPr>
          <p:spPr>
            <a:xfrm>
              <a:off x="2608" y="1026"/>
              <a:ext cx="725" cy="327"/>
            </a:xfrm>
            <a:prstGeom prst="rect">
              <a:avLst/>
            </a:prstGeom>
            <a:noFill/>
            <a:ln w="28575">
              <a:noFill/>
            </a:ln>
          </p:spPr>
          <p:txBody>
            <a:bodyPr>
              <a:spAutoFit/>
            </a:bodyPr>
            <a:p>
              <a:r>
                <a:rPr lang="zh-CN" altLang="en-US" sz="2800" dirty="0">
                  <a:latin typeface="Arial" panose="020B0604020202020204" pitchFamily="34" charset="0"/>
                </a:rPr>
                <a:t>复制</a:t>
              </a:r>
              <a:endParaRPr lang="zh-CN" altLang="en-US" sz="2800" dirty="0">
                <a:latin typeface="Arial" panose="020B0604020202020204" pitchFamily="34" charset="0"/>
              </a:endParaRPr>
            </a:p>
          </p:txBody>
        </p:sp>
        <p:sp>
          <p:nvSpPr>
            <p:cNvPr id="43044" name="Text Box 18"/>
            <p:cNvSpPr txBox="1"/>
            <p:nvPr/>
          </p:nvSpPr>
          <p:spPr>
            <a:xfrm>
              <a:off x="113" y="1207"/>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1</a:t>
              </a:r>
              <a:endParaRPr lang="en-US" altLang="zh-CN" sz="2800" dirty="0">
                <a:latin typeface="Arial" panose="020B0604020202020204" pitchFamily="34" charset="0"/>
              </a:endParaRPr>
            </a:p>
          </p:txBody>
        </p:sp>
        <p:sp>
          <p:nvSpPr>
            <p:cNvPr id="43045" name="Line 19"/>
            <p:cNvSpPr/>
            <p:nvPr/>
          </p:nvSpPr>
          <p:spPr>
            <a:xfrm flipH="1">
              <a:off x="839" y="1389"/>
              <a:ext cx="1088" cy="0"/>
            </a:xfrm>
            <a:prstGeom prst="line">
              <a:avLst/>
            </a:prstGeom>
            <a:ln w="28575" cap="flat" cmpd="sng">
              <a:solidFill>
                <a:srgbClr val="000000"/>
              </a:solidFill>
              <a:prstDash val="solid"/>
              <a:headEnd type="arrow" w="med" len="med"/>
              <a:tailEnd type="none" w="med" len="med"/>
            </a:ln>
          </p:spPr>
        </p:sp>
        <p:sp>
          <p:nvSpPr>
            <p:cNvPr id="43046" name="Text Box 20"/>
            <p:cNvSpPr txBox="1"/>
            <p:nvPr/>
          </p:nvSpPr>
          <p:spPr>
            <a:xfrm>
              <a:off x="839" y="1107"/>
              <a:ext cx="907" cy="327"/>
            </a:xfrm>
            <a:prstGeom prst="rect">
              <a:avLst/>
            </a:prstGeom>
            <a:noFill/>
            <a:ln w="28575">
              <a:noFill/>
            </a:ln>
          </p:spPr>
          <p:txBody>
            <a:bodyPr>
              <a:spAutoFit/>
            </a:bodyPr>
            <a:p>
              <a:r>
                <a:rPr lang="en-US" altLang="zh-CN" sz="2800" dirty="0">
                  <a:latin typeface="Arial" panose="020B0604020202020204" pitchFamily="34" charset="0"/>
                </a:rPr>
                <a:t>update</a:t>
              </a:r>
              <a:endParaRPr lang="en-US" altLang="zh-CN" sz="2800" dirty="0">
                <a:latin typeface="Arial" panose="020B0604020202020204" pitchFamily="34" charset="0"/>
              </a:endParaRPr>
            </a:p>
          </p:txBody>
        </p:sp>
      </p:grpSp>
      <p:grpSp>
        <p:nvGrpSpPr>
          <p:cNvPr id="43012" name="Group 21"/>
          <p:cNvGrpSpPr/>
          <p:nvPr/>
        </p:nvGrpSpPr>
        <p:grpSpPr>
          <a:xfrm>
            <a:off x="179388" y="3644900"/>
            <a:ext cx="8713787" cy="2203450"/>
            <a:chOff x="113" y="2296"/>
            <a:chExt cx="5579" cy="1388"/>
          </a:xfrm>
        </p:grpSpPr>
        <p:sp>
          <p:nvSpPr>
            <p:cNvPr id="43013" name="Rectangle 22"/>
            <p:cNvSpPr/>
            <p:nvPr/>
          </p:nvSpPr>
          <p:spPr>
            <a:xfrm>
              <a:off x="1701" y="2387"/>
              <a:ext cx="2540" cy="1270"/>
            </a:xfrm>
            <a:prstGeom prst="rect">
              <a:avLst/>
            </a:prstGeom>
            <a:solidFill>
              <a:schemeClr val="hlink"/>
            </a:solidFill>
            <a:ln w="28575" cap="flat" cmpd="sng">
              <a:solidFill>
                <a:srgbClr val="0000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3014" name="Text Box 23"/>
            <p:cNvSpPr txBox="1"/>
            <p:nvPr/>
          </p:nvSpPr>
          <p:spPr>
            <a:xfrm>
              <a:off x="4967" y="2387"/>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2</a:t>
              </a:r>
              <a:endParaRPr lang="en-US" altLang="zh-CN" sz="2800" dirty="0">
                <a:latin typeface="Arial" panose="020B0604020202020204" pitchFamily="34" charset="0"/>
              </a:endParaRPr>
            </a:p>
          </p:txBody>
        </p:sp>
        <p:sp>
          <p:nvSpPr>
            <p:cNvPr id="43015" name="Text Box 24"/>
            <p:cNvSpPr txBox="1"/>
            <p:nvPr/>
          </p:nvSpPr>
          <p:spPr>
            <a:xfrm>
              <a:off x="4967" y="2840"/>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3</a:t>
              </a:r>
              <a:endParaRPr lang="en-US" altLang="zh-CN" sz="2800" dirty="0">
                <a:latin typeface="Arial" panose="020B0604020202020204" pitchFamily="34" charset="0"/>
              </a:endParaRPr>
            </a:p>
          </p:txBody>
        </p:sp>
        <p:sp>
          <p:nvSpPr>
            <p:cNvPr id="43016" name="Text Box 25"/>
            <p:cNvSpPr txBox="1"/>
            <p:nvPr/>
          </p:nvSpPr>
          <p:spPr>
            <a:xfrm>
              <a:off x="4967" y="3339"/>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4</a:t>
              </a:r>
              <a:endParaRPr lang="en-US" altLang="zh-CN" sz="2800" dirty="0">
                <a:latin typeface="Arial" panose="020B0604020202020204" pitchFamily="34" charset="0"/>
              </a:endParaRPr>
            </a:p>
          </p:txBody>
        </p:sp>
        <p:sp>
          <p:nvSpPr>
            <p:cNvPr id="43017" name="Line 26"/>
            <p:cNvSpPr/>
            <p:nvPr/>
          </p:nvSpPr>
          <p:spPr>
            <a:xfrm flipH="1">
              <a:off x="4014" y="3022"/>
              <a:ext cx="953" cy="0"/>
            </a:xfrm>
            <a:prstGeom prst="line">
              <a:avLst/>
            </a:prstGeom>
            <a:ln w="28575" cap="flat" cmpd="sng">
              <a:solidFill>
                <a:srgbClr val="000000"/>
              </a:solidFill>
              <a:prstDash val="solid"/>
              <a:headEnd type="none" w="med" len="med"/>
              <a:tailEnd type="arrow" w="med" len="med"/>
            </a:ln>
          </p:spPr>
        </p:sp>
        <p:sp>
          <p:nvSpPr>
            <p:cNvPr id="43018" name="Text Box 27"/>
            <p:cNvSpPr txBox="1"/>
            <p:nvPr/>
          </p:nvSpPr>
          <p:spPr>
            <a:xfrm>
              <a:off x="4286" y="2740"/>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19" name="Line 28"/>
            <p:cNvSpPr/>
            <p:nvPr/>
          </p:nvSpPr>
          <p:spPr>
            <a:xfrm flipH="1">
              <a:off x="4014" y="2568"/>
              <a:ext cx="953" cy="318"/>
            </a:xfrm>
            <a:prstGeom prst="line">
              <a:avLst/>
            </a:prstGeom>
            <a:ln w="28575" cap="flat" cmpd="sng">
              <a:solidFill>
                <a:srgbClr val="000000"/>
              </a:solidFill>
              <a:prstDash val="solid"/>
              <a:headEnd type="none" w="med" len="med"/>
              <a:tailEnd type="arrow" w="med" len="med"/>
            </a:ln>
          </p:spPr>
        </p:sp>
        <p:sp>
          <p:nvSpPr>
            <p:cNvPr id="43020" name="Line 29"/>
            <p:cNvSpPr/>
            <p:nvPr/>
          </p:nvSpPr>
          <p:spPr>
            <a:xfrm flipH="1" flipV="1">
              <a:off x="4014" y="3158"/>
              <a:ext cx="953" cy="363"/>
            </a:xfrm>
            <a:prstGeom prst="line">
              <a:avLst/>
            </a:prstGeom>
            <a:ln w="28575" cap="flat" cmpd="sng">
              <a:solidFill>
                <a:srgbClr val="000000"/>
              </a:solidFill>
              <a:prstDash val="solid"/>
              <a:headEnd type="none" w="med" len="med"/>
              <a:tailEnd type="arrow" w="med" len="med"/>
            </a:ln>
          </p:spPr>
        </p:sp>
        <p:sp>
          <p:nvSpPr>
            <p:cNvPr id="43021" name="AutoShape 30"/>
            <p:cNvSpPr/>
            <p:nvPr/>
          </p:nvSpPr>
          <p:spPr>
            <a:xfrm>
              <a:off x="3334" y="2720"/>
              <a:ext cx="674" cy="584"/>
            </a:xfrm>
            <a:prstGeom prst="can">
              <a:avLst>
                <a:gd name="adj" fmla="val 25000"/>
              </a:avLst>
            </a:prstGeom>
            <a:noFill/>
            <a:ln w="28575" cap="flat" cmpd="sng">
              <a:solidFill>
                <a:srgbClr val="000000"/>
              </a:solidFill>
              <a:prstDash val="solid"/>
              <a:headEnd type="none" w="med" len="med"/>
              <a:tailEnd type="none" w="med" len="med"/>
            </a:ln>
          </p:spPr>
          <p:txBody>
            <a:bodyPr wrap="none" anchor="ctr" anchorCtr="0"/>
            <a:p>
              <a:r>
                <a:rPr lang="zh-CN" altLang="en-US" sz="2800" dirty="0">
                  <a:latin typeface="Arial" panose="020B0604020202020204" pitchFamily="34" charset="0"/>
                </a:rPr>
                <a:t>镜像</a:t>
              </a:r>
              <a:endParaRPr lang="zh-CN" altLang="en-US" sz="2800" dirty="0">
                <a:latin typeface="Arial" panose="020B0604020202020204" pitchFamily="34" charset="0"/>
              </a:endParaRPr>
            </a:p>
          </p:txBody>
        </p:sp>
        <p:sp>
          <p:nvSpPr>
            <p:cNvPr id="43022" name="Text Box 31"/>
            <p:cNvSpPr txBox="1"/>
            <p:nvPr/>
          </p:nvSpPr>
          <p:spPr>
            <a:xfrm rot="-1043670">
              <a:off x="4241" y="2407"/>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23" name="Text Box 32"/>
            <p:cNvSpPr txBox="1"/>
            <p:nvPr/>
          </p:nvSpPr>
          <p:spPr>
            <a:xfrm rot="1212820">
              <a:off x="4287" y="3103"/>
              <a:ext cx="725" cy="327"/>
            </a:xfrm>
            <a:prstGeom prst="rect">
              <a:avLst/>
            </a:prstGeom>
            <a:noFill/>
            <a:ln w="28575">
              <a:noFill/>
            </a:ln>
          </p:spPr>
          <p:txBody>
            <a:bodyPr>
              <a:spAutoFit/>
            </a:bodyPr>
            <a:p>
              <a:r>
                <a:rPr lang="en-US" altLang="zh-CN" sz="2800" dirty="0">
                  <a:latin typeface="Arial" panose="020B0604020202020204" pitchFamily="34" charset="0"/>
                </a:rPr>
                <a:t>read</a:t>
              </a:r>
              <a:endParaRPr lang="en-US" altLang="zh-CN" sz="2800" dirty="0">
                <a:latin typeface="Arial" panose="020B0604020202020204" pitchFamily="34" charset="0"/>
              </a:endParaRPr>
            </a:p>
          </p:txBody>
        </p:sp>
        <p:sp>
          <p:nvSpPr>
            <p:cNvPr id="43024" name="AutoShape 33"/>
            <p:cNvSpPr/>
            <p:nvPr/>
          </p:nvSpPr>
          <p:spPr>
            <a:xfrm>
              <a:off x="1927" y="2720"/>
              <a:ext cx="674" cy="584"/>
            </a:xfrm>
            <a:prstGeom prst="can">
              <a:avLst>
                <a:gd name="adj" fmla="val 25000"/>
              </a:avLst>
            </a:prstGeom>
            <a:noFill/>
            <a:ln w="28575" cap="flat" cmpd="sng">
              <a:solidFill>
                <a:srgbClr val="000000"/>
              </a:solidFill>
              <a:prstDash val="solid"/>
              <a:headEnd type="none" w="med" len="med"/>
              <a:tailEnd type="none" w="med" len="med"/>
            </a:ln>
          </p:spPr>
          <p:txBody>
            <a:bodyPr wrap="none" anchor="ctr" anchorCtr="0"/>
            <a:p>
              <a:endParaRPr lang="zh-CN" altLang="zh-CN" sz="2800" dirty="0">
                <a:latin typeface="Arial" panose="020B0604020202020204" pitchFamily="34" charset="0"/>
              </a:endParaRPr>
            </a:p>
          </p:txBody>
        </p:sp>
        <p:sp>
          <p:nvSpPr>
            <p:cNvPr id="43025" name="Line 34"/>
            <p:cNvSpPr/>
            <p:nvPr/>
          </p:nvSpPr>
          <p:spPr>
            <a:xfrm flipH="1">
              <a:off x="2608" y="3022"/>
              <a:ext cx="681" cy="0"/>
            </a:xfrm>
            <a:prstGeom prst="line">
              <a:avLst/>
            </a:prstGeom>
            <a:ln w="28575" cap="flat" cmpd="sng">
              <a:solidFill>
                <a:srgbClr val="000000"/>
              </a:solidFill>
              <a:prstDash val="dash"/>
              <a:headEnd type="none" w="med" len="med"/>
              <a:tailEnd type="arrow" w="med" len="med"/>
            </a:ln>
          </p:spPr>
        </p:sp>
        <p:sp>
          <p:nvSpPr>
            <p:cNvPr id="43026" name="Text Box 35"/>
            <p:cNvSpPr txBox="1"/>
            <p:nvPr/>
          </p:nvSpPr>
          <p:spPr>
            <a:xfrm>
              <a:off x="2608" y="2659"/>
              <a:ext cx="725" cy="327"/>
            </a:xfrm>
            <a:prstGeom prst="rect">
              <a:avLst/>
            </a:prstGeom>
            <a:noFill/>
            <a:ln w="28575">
              <a:noFill/>
            </a:ln>
          </p:spPr>
          <p:txBody>
            <a:bodyPr>
              <a:spAutoFit/>
            </a:bodyPr>
            <a:p>
              <a:r>
                <a:rPr lang="zh-CN" altLang="en-US" sz="2800" dirty="0">
                  <a:latin typeface="Arial" panose="020B0604020202020204" pitchFamily="34" charset="0"/>
                </a:rPr>
                <a:t>恢复</a:t>
              </a:r>
              <a:endParaRPr lang="zh-CN" altLang="en-US" sz="2800" dirty="0">
                <a:latin typeface="Arial" panose="020B0604020202020204" pitchFamily="34" charset="0"/>
              </a:endParaRPr>
            </a:p>
          </p:txBody>
        </p:sp>
        <p:sp>
          <p:nvSpPr>
            <p:cNvPr id="43027" name="Text Box 36"/>
            <p:cNvSpPr txBox="1"/>
            <p:nvPr/>
          </p:nvSpPr>
          <p:spPr>
            <a:xfrm>
              <a:off x="113" y="2840"/>
              <a:ext cx="725" cy="345"/>
            </a:xfrm>
            <a:prstGeom prst="rect">
              <a:avLst/>
            </a:prstGeom>
            <a:noFill/>
            <a:ln w="28575" cap="flat" cmpd="sng">
              <a:solidFill>
                <a:srgbClr val="000000"/>
              </a:solidFill>
              <a:prstDash val="solid"/>
              <a:miter/>
              <a:headEnd type="none" w="med" len="med"/>
              <a:tailEnd type="none" w="med" len="med"/>
            </a:ln>
          </p:spPr>
          <p:txBody>
            <a:bodyPr>
              <a:spAutoFit/>
            </a:bodyPr>
            <a:p>
              <a:r>
                <a:rPr lang="zh-CN" altLang="en-US" sz="2800" dirty="0">
                  <a:latin typeface="Arial" panose="020B0604020202020204" pitchFamily="34" charset="0"/>
                </a:rPr>
                <a:t>应用</a:t>
              </a:r>
              <a:r>
                <a:rPr lang="en-US" altLang="zh-CN" sz="2800" dirty="0">
                  <a:latin typeface="Arial" panose="020B0604020202020204" pitchFamily="34" charset="0"/>
                </a:rPr>
                <a:t>1</a:t>
              </a:r>
              <a:endParaRPr lang="en-US" altLang="zh-CN" sz="2800" dirty="0">
                <a:latin typeface="Arial" panose="020B0604020202020204" pitchFamily="34" charset="0"/>
              </a:endParaRPr>
            </a:p>
          </p:txBody>
        </p:sp>
        <p:sp>
          <p:nvSpPr>
            <p:cNvPr id="43028" name="Text Box 37"/>
            <p:cNvSpPr txBox="1"/>
            <p:nvPr/>
          </p:nvSpPr>
          <p:spPr>
            <a:xfrm rot="-1038909">
              <a:off x="748" y="2296"/>
              <a:ext cx="907" cy="327"/>
            </a:xfrm>
            <a:prstGeom prst="rect">
              <a:avLst/>
            </a:prstGeom>
            <a:noFill/>
            <a:ln w="28575">
              <a:noFill/>
            </a:ln>
          </p:spPr>
          <p:txBody>
            <a:bodyPr>
              <a:spAutoFit/>
            </a:bodyPr>
            <a:p>
              <a:r>
                <a:rPr lang="en-US" altLang="zh-CN" sz="2800" dirty="0">
                  <a:latin typeface="Arial" panose="020B0604020202020204" pitchFamily="34" charset="0"/>
                </a:rPr>
                <a:t>update</a:t>
              </a:r>
              <a:endParaRPr lang="en-US" altLang="zh-CN" sz="2800" dirty="0">
                <a:latin typeface="Arial" panose="020B0604020202020204" pitchFamily="34" charset="0"/>
              </a:endParaRPr>
            </a:p>
          </p:txBody>
        </p:sp>
        <p:sp>
          <p:nvSpPr>
            <p:cNvPr id="43029" name="Freeform 38"/>
            <p:cNvSpPr/>
            <p:nvPr/>
          </p:nvSpPr>
          <p:spPr>
            <a:xfrm>
              <a:off x="521" y="2409"/>
              <a:ext cx="3130" cy="431"/>
            </a:xfrm>
            <a:custGeom>
              <a:avLst/>
              <a:gdLst>
                <a:gd name="txL" fmla="*/ 0 w 3130"/>
                <a:gd name="txT" fmla="*/ 0 h 431"/>
                <a:gd name="txR" fmla="*/ 3130 w 3130"/>
                <a:gd name="txB" fmla="*/ 431 h 431"/>
              </a:gdLst>
              <a:ahLst/>
              <a:cxnLst>
                <a:cxn ang="0">
                  <a:pos x="0" y="431"/>
                </a:cxn>
                <a:cxn ang="0">
                  <a:pos x="1588" y="23"/>
                </a:cxn>
                <a:cxn ang="0">
                  <a:pos x="3130" y="295"/>
                </a:cxn>
              </a:cxnLst>
              <a:rect l="txL" t="txT" r="txR" b="txB"/>
              <a:pathLst>
                <a:path w="3130" h="431">
                  <a:moveTo>
                    <a:pt x="0" y="431"/>
                  </a:moveTo>
                  <a:cubicBezTo>
                    <a:pt x="533" y="238"/>
                    <a:pt x="1066" y="46"/>
                    <a:pt x="1588" y="23"/>
                  </a:cubicBezTo>
                  <a:cubicBezTo>
                    <a:pt x="2110" y="0"/>
                    <a:pt x="2873" y="250"/>
                    <a:pt x="3130" y="295"/>
                  </a:cubicBezTo>
                </a:path>
              </a:pathLst>
            </a:custGeom>
            <a:noFill/>
            <a:ln w="28575" cap="flat" cmpd="sng">
              <a:solidFill>
                <a:srgbClr val="000000"/>
              </a:solidFill>
              <a:prstDash val="solid"/>
              <a:round/>
              <a:headEnd type="none" w="med" len="med"/>
              <a:tailEnd type="arrow" w="med" len="med"/>
            </a:ln>
          </p:spPr>
          <p:txBody>
            <a:bodyPr>
              <a:spAutoFit/>
            </a:bodyPr>
            <a:p>
              <a:endParaRPr lang="zh-CN" altLang="en-US" dirty="0">
                <a:latin typeface="Arial" panose="020B0604020202020204" pitchFamily="34" charset="0"/>
              </a:endParaRPr>
            </a:p>
          </p:txBody>
        </p:sp>
      </p:gr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 name="KSO_WPP_MARK_KEY" val="74347e94-2115-4582-b482-181e49c99ace"/>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0000"/>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28575" cap="flat" cmpd="sng" algn="ctr">
          <a:solidFill>
            <a:srgbClr val="000000"/>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4417</Words>
  <Application>WPS 演示</Application>
  <PresentationFormat>全屏显示(4:3)</PresentationFormat>
  <Paragraphs>546</Paragraphs>
  <Slides>40</Slides>
  <Notes>38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40</vt:i4>
      </vt:variant>
    </vt:vector>
  </HeadingPairs>
  <TitlesOfParts>
    <vt:vector size="53" baseType="lpstr">
      <vt:lpstr>Arial</vt:lpstr>
      <vt:lpstr>宋体</vt:lpstr>
      <vt:lpstr>Wingdings</vt:lpstr>
      <vt:lpstr>黑体</vt:lpstr>
      <vt:lpstr>Times New Roman</vt:lpstr>
      <vt:lpstr>楷体_GB2312</vt:lpstr>
      <vt:lpstr>幼圆</vt:lpstr>
      <vt:lpstr>华文新魏</vt:lpstr>
      <vt:lpstr>华文中宋</vt:lpstr>
      <vt:lpstr>微软雅黑</vt:lpstr>
      <vt:lpstr>Arial Unicode MS</vt:lpstr>
      <vt:lpstr>新宋体</vt:lpstr>
      <vt:lpstr>HXH</vt:lpstr>
      <vt:lpstr>PowerPoint 演示文稿</vt:lpstr>
      <vt:lpstr>主要内容</vt:lpstr>
      <vt:lpstr>8.3.3 两段封锁协议</vt:lpstr>
      <vt:lpstr>两段封锁协议举例</vt:lpstr>
      <vt:lpstr>遵守两段封锁协议的事务发生死锁</vt:lpstr>
      <vt:lpstr>8.3.4 死锁和饿死</vt:lpstr>
      <vt:lpstr>1、死锁</vt:lpstr>
      <vt:lpstr>(1) 死锁预防</vt:lpstr>
      <vt:lpstr>(2) 死锁的诊断与解除</vt:lpstr>
      <vt:lpstr>(2) 死锁的诊断与解除</vt:lpstr>
      <vt:lpstr>(2) 死锁的诊断与解除</vt:lpstr>
      <vt:lpstr>2、饿死</vt:lpstr>
      <vt:lpstr>如何避免饿死</vt:lpstr>
      <vt:lpstr>主要内容</vt:lpstr>
      <vt:lpstr>8.4 数据库恢复</vt:lpstr>
      <vt:lpstr>8.4 数据库恢复</vt:lpstr>
      <vt:lpstr>8.4.1 故障分类</vt:lpstr>
      <vt:lpstr>8.4.1 故障分类</vt:lpstr>
      <vt:lpstr>8.4.1 故障分类</vt:lpstr>
      <vt:lpstr>8.4.1 故障分类</vt:lpstr>
      <vt:lpstr>8.4.2 恢复的实现技术 </vt:lpstr>
      <vt:lpstr>1、数据转储</vt:lpstr>
      <vt:lpstr>静态转储与动态转储</vt:lpstr>
      <vt:lpstr>静态转储与动态转储</vt:lpstr>
      <vt:lpstr>海量转储与增量转储</vt:lpstr>
      <vt:lpstr>转储策略</vt:lpstr>
      <vt:lpstr>利用静态转储进行恢复</vt:lpstr>
      <vt:lpstr>2、建立日志文件</vt:lpstr>
      <vt:lpstr>利用日志文件恢复</vt:lpstr>
      <vt:lpstr>登记日志文件</vt:lpstr>
      <vt:lpstr>8.4.3 恢复策略 </vt:lpstr>
      <vt:lpstr>1、事务故障的恢复</vt:lpstr>
      <vt:lpstr>2、系统故障的恢复</vt:lpstr>
      <vt:lpstr>3、介质故障的恢复</vt:lpstr>
      <vt:lpstr>8.4.4 提高恢复效率的技术</vt:lpstr>
      <vt:lpstr>1、检查点方法(Check Point)</vt:lpstr>
      <vt:lpstr>1、检查点方法(Check Point)</vt:lpstr>
      <vt:lpstr>利用检查点的恢复策略</vt:lpstr>
      <vt:lpstr>2、镜像技术(Mirror)</vt:lpstr>
      <vt:lpstr>2、镜像技术</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894</cp:revision>
  <dcterms:created xsi:type="dcterms:W3CDTF">2007-03-26T07:48:00Z</dcterms:created>
  <dcterms:modified xsi:type="dcterms:W3CDTF">2023-06-15T06:45:37Z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D616474DC40040B9B0EC14D7300432C2</vt:lpwstr>
  </property>
  <property fmtid="{D5CDD505-2E9C-101B-9397-08002B2CF9AE}" pid="3" name="KSOProductBuildVer">
    <vt:lpwstr>2052-11.1.0.14309</vt:lpwstr>
  </property>
</Properties>
</file>