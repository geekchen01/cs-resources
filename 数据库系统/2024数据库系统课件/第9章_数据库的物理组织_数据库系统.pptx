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2"/>
  </p:handoutMasterIdLst>
  <p:sldIdLst>
    <p:sldId id="356" r:id="rId3"/>
    <p:sldId id="346" r:id="rId5"/>
    <p:sldId id="282" r:id="rId6"/>
    <p:sldId id="261" r:id="rId7"/>
    <p:sldId id="340" r:id="rId8"/>
    <p:sldId id="347" r:id="rId9"/>
    <p:sldId id="336" r:id="rId10"/>
    <p:sldId id="275" r:id="rId11"/>
    <p:sldId id="352" r:id="rId12"/>
    <p:sldId id="262" r:id="rId13"/>
    <p:sldId id="284" r:id="rId14"/>
    <p:sldId id="276" r:id="rId15"/>
    <p:sldId id="285" r:id="rId16"/>
    <p:sldId id="286" r:id="rId17"/>
    <p:sldId id="287" r:id="rId18"/>
    <p:sldId id="290" r:id="rId19"/>
    <p:sldId id="277" r:id="rId20"/>
    <p:sldId id="313" r:id="rId21"/>
    <p:sldId id="350" r:id="rId22"/>
    <p:sldId id="333" r:id="rId23"/>
    <p:sldId id="263" r:id="rId24"/>
    <p:sldId id="294" r:id="rId25"/>
    <p:sldId id="314" r:id="rId26"/>
    <p:sldId id="334" r:id="rId27"/>
    <p:sldId id="335" r:id="rId28"/>
    <p:sldId id="315" r:id="rId29"/>
    <p:sldId id="364" r:id="rId30"/>
    <p:sldId id="354" r:id="rId31"/>
    <p:sldId id="355" r:id="rId32"/>
    <p:sldId id="361" r:id="rId33"/>
    <p:sldId id="360" r:id="rId34"/>
    <p:sldId id="265" r:id="rId35"/>
    <p:sldId id="298" r:id="rId36"/>
    <p:sldId id="362" r:id="rId37"/>
    <p:sldId id="299" r:id="rId38"/>
    <p:sldId id="325" r:id="rId39"/>
    <p:sldId id="266" r:id="rId40"/>
    <p:sldId id="321" r:id="rId41"/>
    <p:sldId id="366" r:id="rId42"/>
    <p:sldId id="367" r:id="rId43"/>
    <p:sldId id="306" r:id="rId44"/>
    <p:sldId id="309" r:id="rId45"/>
    <p:sldId id="398" r:id="rId46"/>
    <p:sldId id="399" r:id="rId47"/>
    <p:sldId id="400" r:id="rId48"/>
    <p:sldId id="401" r:id="rId49"/>
    <p:sldId id="402" r:id="rId50"/>
    <p:sldId id="403" r:id="rId51"/>
  </p:sldIdLst>
  <p:sldSz cx="9144000" cy="6858000" type="screen4x3"/>
  <p:notesSz cx="6858000" cy="9144000"/>
  <p:custDataLst>
    <p:tags r:id="rId56"/>
  </p:custDataLst>
  <p:defaultTextStyle>
    <a:defPPr>
      <a:defRPr lang="zh-CN"/>
    </a:defPPr>
    <a:lvl1pPr marL="0" lvl="0"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vl6pPr marL="2286000" lvl="5"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6pPr>
    <a:lvl7pPr marL="2743200" lvl="6"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7pPr>
    <a:lvl8pPr marL="3200400" lvl="7"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8pPr>
    <a:lvl9pPr marL="3657600" lvl="8"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CC"/>
    <a:srgbClr val="CC9900"/>
    <a:srgbClr val="000000"/>
    <a:srgbClr val="FF0000"/>
    <a:srgbClr val="FFCCFF"/>
    <a:srgbClr val="6699FF"/>
    <a:srgbClr val="DDDDD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7470"/>
    <p:restoredTop sz="85521"/>
  </p:normalViewPr>
  <p:slideViewPr>
    <p:cSldViewPr showGuides="1">
      <p:cViewPr varScale="1">
        <p:scale>
          <a:sx n="42" d="100"/>
          <a:sy n="42" d="100"/>
        </p:scale>
        <p:origin x="-595" y="-91"/>
      </p:cViewPr>
      <p:guideLst>
        <p:guide orient="horz" pos="2160"/>
        <p:guide pos="2880"/>
      </p:guideLst>
    </p:cSldViewPr>
  </p:slideViewPr>
  <p:notesTextViewPr>
    <p:cViewPr>
      <p:scale>
        <a:sx n="100" d="100"/>
        <a:sy n="100" d="100"/>
      </p:scale>
      <p:origin x="0" y="0"/>
    </p:cViewPr>
  </p:notesTextViewPr>
  <p:sorterViewPr showFormatting="0">
    <p:cViewPr>
      <p:scale>
        <a:sx n="66" d="100"/>
        <a:sy n="66" d="100"/>
      </p:scale>
      <p:origin x="0" y="972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1.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109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094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094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094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sz="1200" b="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084"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sz="1200" b="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0"/>
              </a:spcBef>
              <a:buNone/>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7107" name="Rectangle 2"/>
          <p:cNvSpPr>
            <a:spLocks noRot="1" noTextEdit="1"/>
          </p:cNvSpPr>
          <p:nvPr>
            <p:ph type="sldImg"/>
          </p:nvPr>
        </p:nvSpPr>
        <p:spPr/>
      </p:sp>
      <p:sp>
        <p:nvSpPr>
          <p:cNvPr id="47108"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8131" name="Rectangle 2"/>
          <p:cNvSpPr>
            <a:spLocks noRot="1" noTextEdit="1"/>
          </p:cNvSpPr>
          <p:nvPr>
            <p:ph type="sldImg"/>
          </p:nvPr>
        </p:nvSpPr>
        <p:spPr/>
      </p:sp>
      <p:sp>
        <p:nvSpPr>
          <p:cNvPr id="481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49155" name="Rectangle 2"/>
          <p:cNvSpPr>
            <a:spLocks noRot="1" noTextEdit="1"/>
          </p:cNvSpPr>
          <p:nvPr>
            <p:ph type="sldImg"/>
          </p:nvPr>
        </p:nvSpPr>
        <p:spPr/>
      </p:sp>
      <p:sp>
        <p:nvSpPr>
          <p:cNvPr id="49156" name="Rectangle 3"/>
          <p:cNvSpPr>
            <a:spLocks noGrp="1"/>
          </p:cNvSpPr>
          <p:nvPr>
            <p:ph type="body" idx="1"/>
          </p:nvPr>
        </p:nvSpPr>
        <p:spPr/>
        <p:txBody>
          <a:bodyPr wrap="square" lIns="91440" tIns="45720" rIns="91440" bIns="45720" anchor="t" anchorCtr="0"/>
          <a:p>
            <a:pPr lvl="0" eaLnBrk="1" hangingPunct="1"/>
            <a:r>
              <a:rPr lang="zh-CN" altLang="en-US" dirty="0"/>
              <a:t>数据库系统由文件系统发展而来，一般而言，对数据的原始</a:t>
            </a:r>
            <a:r>
              <a:rPr lang="en-US" altLang="zh-CN" dirty="0"/>
              <a:t>I/O</a:t>
            </a:r>
            <a:r>
              <a:rPr lang="zh-CN" altLang="en-US" dirty="0"/>
              <a:t>操作最终由操作系统完成，其本质的原因在于数据库系统实现的基础是操作系统的文件系统，对数据库中数据的操作最终要转换成对文件的操作。</a:t>
            </a:r>
            <a:endParaRPr lang="zh-CN" altLang="en-US" dirty="0"/>
          </a:p>
          <a:p>
            <a:pPr lvl="0" eaLnBrk="1" hangingPunct="1"/>
            <a:r>
              <a:rPr lang="zh-CN" altLang="en-US" dirty="0"/>
              <a:t>数据库的物理组织面临的核心任务就是如何将大量数据以最优的文件方式组织起来存储在物理存储介质上。</a:t>
            </a:r>
            <a:endParaRPr lang="zh-CN" altLang="en-US" dirty="0"/>
          </a:p>
          <a:p>
            <a:pPr lvl="0" eaLnBrk="1" hangingPunct="1"/>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0179" name="Rectangle 2"/>
          <p:cNvSpPr>
            <a:spLocks noRot="1" noTextEdit="1"/>
          </p:cNvSpPr>
          <p:nvPr>
            <p:ph type="sldImg"/>
          </p:nvPr>
        </p:nvSpPr>
        <p:spPr/>
      </p:sp>
      <p:sp>
        <p:nvSpPr>
          <p:cNvPr id="50180" name="Rectangle 3"/>
          <p:cNvSpPr>
            <a:spLocks noGrp="1"/>
          </p:cNvSpPr>
          <p:nvPr>
            <p:ph type="body" idx="1"/>
          </p:nvPr>
        </p:nvSpPr>
        <p:spPr/>
        <p:txBody>
          <a:bodyPr wrap="square" lIns="91440" tIns="45720" rIns="91440" bIns="45720" anchor="t" anchorCtr="0"/>
          <a:p>
            <a:pPr lvl="0" eaLnBrk="1" hangingPunct="1"/>
            <a:r>
              <a:rPr lang="zh-CN" altLang="en-US" dirty="0"/>
              <a:t>数据存取层的下面是数据存储区（简称存储层）。</a:t>
            </a:r>
            <a:endParaRPr lang="zh-CN" altLang="en-US" dirty="0"/>
          </a:p>
          <a:p>
            <a:pPr lvl="0" eaLnBrk="1" hangingPunct="1"/>
            <a:r>
              <a:rPr lang="zh-CN" altLang="en-US" dirty="0"/>
              <a:t>存储层的主要功能是存储管理，包括缓冲区管理、内外层交换、外存管理等。其中缓冲区管理是十分重要的。</a:t>
            </a:r>
            <a:endParaRPr lang="zh-CN" altLang="en-US" dirty="0"/>
          </a:p>
          <a:p>
            <a:pPr lvl="0" eaLnBrk="1" hangingPunct="1"/>
            <a:r>
              <a:rPr lang="zh-CN" altLang="en-US" dirty="0"/>
              <a:t>存储层向存取层提供的接口是由定长页面组成的系统缓冲区。</a:t>
            </a:r>
            <a:endParaRPr lang="zh-CN" altLang="en-US" dirty="0"/>
          </a:p>
          <a:p>
            <a:pPr lvl="0" eaLnBrk="1" hangingPunct="1"/>
            <a:r>
              <a:rPr lang="zh-CN" altLang="en-US" dirty="0"/>
              <a:t>系统设立缓冲区的</a:t>
            </a:r>
            <a:r>
              <a:rPr lang="zh-CN" altLang="en-US" dirty="0">
                <a:solidFill>
                  <a:srgbClr val="0000CC"/>
                </a:solidFill>
              </a:rPr>
              <a:t>原因</a:t>
            </a:r>
            <a:r>
              <a:rPr lang="zh-CN" altLang="en-US" dirty="0"/>
              <a:t>：</a:t>
            </a:r>
            <a:endParaRPr lang="zh-CN" altLang="en-US" dirty="0"/>
          </a:p>
          <a:p>
            <a:pPr lvl="1" eaLnBrk="1" hangingPunct="1">
              <a:spcBef>
                <a:spcPct val="0"/>
              </a:spcBef>
            </a:pPr>
            <a:r>
              <a:rPr lang="zh-CN" altLang="en-US" sz="1400" dirty="0"/>
              <a:t>提高存取效率</a:t>
            </a:r>
            <a:r>
              <a:rPr lang="en-US" altLang="zh-CN" sz="1400" dirty="0"/>
              <a:t>(</a:t>
            </a:r>
            <a:r>
              <a:rPr lang="zh-CN" altLang="en-US" sz="1400" dirty="0"/>
              <a:t>减少内外存交换的次数</a:t>
            </a:r>
            <a:r>
              <a:rPr lang="en-US" altLang="zh-CN" sz="1400" dirty="0"/>
              <a:t>)</a:t>
            </a:r>
            <a:endParaRPr lang="en-US" altLang="zh-CN" sz="1400" dirty="0"/>
          </a:p>
          <a:p>
            <a:pPr lvl="1" eaLnBrk="1" hangingPunct="1"/>
            <a:r>
              <a:rPr lang="zh-CN" altLang="en-US" sz="1400" dirty="0"/>
              <a:t>提供</a:t>
            </a:r>
            <a:r>
              <a:rPr lang="en-US" altLang="zh-CN" sz="1400" dirty="0"/>
              <a:t>DBMS</a:t>
            </a:r>
            <a:r>
              <a:rPr lang="zh-CN" altLang="en-US" sz="1400" dirty="0"/>
              <a:t>的设备独立性</a:t>
            </a:r>
            <a:r>
              <a:rPr lang="en-US" altLang="zh-CN" sz="1400" dirty="0"/>
              <a:t>(</a:t>
            </a:r>
            <a:r>
              <a:rPr lang="zh-CN" altLang="en-US" sz="1400" dirty="0"/>
              <a:t>把存储层以上各系统成分和实在的外存隔离。外存设备的变更不会影响其他系统成分</a:t>
            </a:r>
            <a:r>
              <a:rPr lang="en-US" altLang="zh-CN" sz="1400" dirty="0"/>
              <a:t>)</a:t>
            </a:r>
            <a:endParaRPr lang="en-US" altLang="zh-CN" sz="1400" dirty="0"/>
          </a:p>
          <a:p>
            <a:pPr lvl="0" eaLnBrk="1" hangingPunct="1"/>
            <a:endParaRPr lang="en-US" altLang="zh-CN" dirty="0"/>
          </a:p>
          <a:p>
            <a:pPr lvl="1" eaLnBrk="1" hangingPunct="1"/>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1203" name="Rectangle 2"/>
          <p:cNvSpPr>
            <a:spLocks noRot="1" noTextEdit="1"/>
          </p:cNvSpPr>
          <p:nvPr>
            <p:ph type="sldImg"/>
          </p:nvPr>
        </p:nvSpPr>
        <p:spPr/>
      </p:sp>
      <p:sp>
        <p:nvSpPr>
          <p:cNvPr id="51204" name="Rectangle 3"/>
          <p:cNvSpPr>
            <a:spLocks noGrp="1"/>
          </p:cNvSpPr>
          <p:nvPr>
            <p:ph type="body" idx="1"/>
          </p:nvPr>
        </p:nvSpPr>
        <p:spPr/>
        <p:txBody>
          <a:bodyPr wrap="square" lIns="91440" tIns="45720" rIns="91440" bIns="45720" anchor="t" anchorCtr="0"/>
          <a:p>
            <a:pPr lvl="0" eaLnBrk="1" hangingPunct="1"/>
            <a:r>
              <a:rPr lang="zh-CN" altLang="en-US" dirty="0"/>
              <a:t>缓冲区由若干控制信息和若干定长块组成。</a:t>
            </a:r>
            <a:endParaRPr lang="zh-CN" altLang="en-US" dirty="0"/>
          </a:p>
          <a:p>
            <a:pPr lvl="0" eaLnBrk="1" hangingPunct="1">
              <a:buChar char="•"/>
            </a:pPr>
            <a:r>
              <a:rPr lang="zh-CN" altLang="en-US" dirty="0"/>
              <a:t>缓冲区管理模块向上层提供的操作是：</a:t>
            </a:r>
            <a:r>
              <a:rPr lang="zh-CN" altLang="en-US" b="1" dirty="0">
                <a:solidFill>
                  <a:srgbClr val="FF0000"/>
                </a:solidFill>
              </a:rPr>
              <a:t>读</a:t>
            </a:r>
            <a:r>
              <a:rPr lang="en-US" altLang="zh-CN" b="1" dirty="0">
                <a:solidFill>
                  <a:srgbClr val="FF0000"/>
                </a:solidFill>
              </a:rPr>
              <a:t>(ReadBUF)  </a:t>
            </a:r>
            <a:r>
              <a:rPr lang="zh-CN" altLang="en-US" b="1" dirty="0">
                <a:solidFill>
                  <a:srgbClr val="FF0000"/>
                </a:solidFill>
              </a:rPr>
              <a:t>和写</a:t>
            </a:r>
            <a:r>
              <a:rPr lang="en-US" altLang="zh-CN" b="1" dirty="0">
                <a:solidFill>
                  <a:srgbClr val="FF0000"/>
                </a:solidFill>
              </a:rPr>
              <a:t>(WriteBUF)</a:t>
            </a:r>
            <a:endParaRPr lang="en-US" altLang="zh-CN" b="1" dirty="0">
              <a:solidFill>
                <a:srgbClr val="FF0000"/>
              </a:solidFill>
            </a:endParaRPr>
          </a:p>
          <a:p>
            <a:pPr lvl="0" eaLnBrk="1" hangingPunct="1">
              <a:buChar char="•"/>
            </a:pPr>
            <a:r>
              <a:rPr lang="zh-CN" altLang="en-US" dirty="0"/>
              <a:t>缓冲区内部的管理操作有：</a:t>
            </a:r>
            <a:r>
              <a:rPr lang="zh-CN" altLang="en-US" b="1" dirty="0">
                <a:solidFill>
                  <a:srgbClr val="FF0000"/>
                </a:solidFill>
              </a:rPr>
              <a:t>查找块、申请块、淘汰块</a:t>
            </a:r>
            <a:endParaRPr lang="zh-CN" altLang="en-US" b="1" dirty="0">
              <a:solidFill>
                <a:srgbClr val="FF0000"/>
              </a:solidFill>
            </a:endParaRPr>
          </a:p>
          <a:p>
            <a:pPr lvl="0" eaLnBrk="1" hangingPunct="1">
              <a:buChar char="•"/>
            </a:pPr>
            <a:r>
              <a:rPr lang="zh-CN" altLang="en-US" dirty="0"/>
              <a:t>缓冲区管理调用</a:t>
            </a:r>
            <a:r>
              <a:rPr lang="en-US" altLang="zh-CN" dirty="0"/>
              <a:t>OS</a:t>
            </a:r>
            <a:r>
              <a:rPr lang="zh-CN" altLang="en-US" dirty="0"/>
              <a:t>的操作有：</a:t>
            </a:r>
            <a:r>
              <a:rPr lang="zh-CN" altLang="en-US" b="1" dirty="0">
                <a:solidFill>
                  <a:srgbClr val="0000CC"/>
                </a:solidFill>
              </a:rPr>
              <a:t>读</a:t>
            </a:r>
            <a:r>
              <a:rPr lang="en-US" altLang="zh-CN" b="1" dirty="0">
                <a:solidFill>
                  <a:srgbClr val="0000CC"/>
                </a:solidFill>
              </a:rPr>
              <a:t>(OS)</a:t>
            </a:r>
            <a:r>
              <a:rPr lang="zh-CN" altLang="en-US" b="1" dirty="0">
                <a:solidFill>
                  <a:srgbClr val="0000CC"/>
                </a:solidFill>
              </a:rPr>
              <a:t>、写</a:t>
            </a:r>
            <a:r>
              <a:rPr lang="en-US" altLang="zh-CN" b="1" dirty="0">
                <a:solidFill>
                  <a:srgbClr val="0000CC"/>
                </a:solidFill>
              </a:rPr>
              <a:t>(OS)</a:t>
            </a:r>
            <a:endParaRPr lang="en-US" altLang="zh-CN" b="1" dirty="0">
              <a:solidFill>
                <a:srgbClr val="0000CC"/>
              </a:solidFill>
            </a:endParaRPr>
          </a:p>
          <a:p>
            <a:pPr lvl="0" eaLnBrk="1" hangingPunct="1"/>
            <a:endParaRPr lang="en-US" altLang="zh-CN" dirty="0"/>
          </a:p>
          <a:p>
            <a:pPr lvl="0" eaLnBrk="1" hangingPunct="1"/>
            <a:r>
              <a:rPr lang="zh-CN" altLang="en-US" dirty="0"/>
              <a:t>当存取层需要读取数据时，</a:t>
            </a:r>
            <a:endParaRPr lang="zh-CN" altLang="en-US" dirty="0"/>
          </a:p>
          <a:p>
            <a:pPr lvl="0" eaLnBrk="1" hangingPunct="1">
              <a:buChar char="•"/>
            </a:pPr>
            <a:r>
              <a:rPr lang="zh-CN" altLang="en-US" dirty="0"/>
              <a:t>存储子系统首先到系统缓冲区中查找。</a:t>
            </a:r>
            <a:endParaRPr lang="zh-CN" altLang="en-US" dirty="0"/>
          </a:p>
          <a:p>
            <a:pPr lvl="0" eaLnBrk="1" hangingPunct="1">
              <a:buChar char="•"/>
            </a:pPr>
            <a:r>
              <a:rPr lang="zh-CN" altLang="en-US" dirty="0"/>
              <a:t>只有当缓冲区中不存在该数据时才真正从外存读入该数据所在的</a:t>
            </a:r>
            <a:r>
              <a:rPr lang="zh-CN" altLang="en-US" dirty="0">
                <a:solidFill>
                  <a:srgbClr val="FF0000"/>
                </a:solidFill>
              </a:rPr>
              <a:t>块</a:t>
            </a:r>
            <a:r>
              <a:rPr lang="zh-CN" altLang="en-US" dirty="0"/>
              <a:t>。</a:t>
            </a:r>
            <a:endParaRPr lang="zh-CN" altLang="en-US" dirty="0"/>
          </a:p>
          <a:p>
            <a:pPr lvl="0" eaLnBrk="1" hangingPunct="1"/>
            <a:r>
              <a:rPr lang="zh-CN" altLang="en-US" dirty="0"/>
              <a:t>当存取层写回一元组数据到数据库中时，</a:t>
            </a:r>
            <a:endParaRPr lang="zh-CN" altLang="en-US" dirty="0"/>
          </a:p>
          <a:p>
            <a:pPr lvl="0" eaLnBrk="1" hangingPunct="1">
              <a:buChar char="•"/>
            </a:pPr>
            <a:r>
              <a:rPr lang="zh-CN" altLang="en-US" dirty="0"/>
              <a:t>存储子系统并不把它立即写回外存，仅把该元组所在的缓冲块作一标志，表示可以释放。</a:t>
            </a:r>
            <a:endParaRPr lang="zh-CN" altLang="en-US" dirty="0"/>
          </a:p>
          <a:p>
            <a:pPr lvl="0" eaLnBrk="1" hangingPunct="1">
              <a:buChar char="•"/>
            </a:pPr>
            <a:r>
              <a:rPr lang="zh-CN" altLang="en-US" dirty="0"/>
              <a:t>只有当该用户事务结束或缓冲区中已满需要调入新块时，才按一定的淘汰策略把缓冲区中已有释放标志的块写回外存。</a:t>
            </a:r>
            <a:endParaRPr lang="zh-CN" altLang="en-US" dirty="0"/>
          </a:p>
          <a:p>
            <a:pPr lvl="0" eaLnBrk="1" hangingPunct="1"/>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2227" name="Rectangle 2"/>
          <p:cNvSpPr>
            <a:spLocks noRot="1" noTextEdit="1"/>
          </p:cNvSpPr>
          <p:nvPr>
            <p:ph type="sldImg"/>
          </p:nvPr>
        </p:nvSpPr>
        <p:spPr/>
      </p:sp>
      <p:sp>
        <p:nvSpPr>
          <p:cNvPr id="52228" name="Rectangle 3"/>
          <p:cNvSpPr>
            <a:spLocks noGrp="1"/>
          </p:cNvSpPr>
          <p:nvPr>
            <p:ph type="body" idx="1"/>
          </p:nvPr>
        </p:nvSpPr>
        <p:spPr/>
        <p:txBody>
          <a:bodyPr wrap="square" lIns="91440" tIns="45720" rIns="91440" bIns="45720" anchor="t" anchorCtr="0"/>
          <a:p>
            <a:pPr lvl="0" eaLnBrk="1" hangingPunct="1"/>
            <a:r>
              <a:rPr lang="zh-CN" altLang="en-US" dirty="0"/>
              <a:t>为了对缓冲区进行有效管理，需要为每个缓冲区页记录标志信息。</a:t>
            </a:r>
            <a:endParaRPr lang="zh-CN" altLang="en-US" dirty="0"/>
          </a:p>
          <a:p>
            <a:pPr lvl="0" eaLnBrk="1" hangingPunct="1"/>
            <a:r>
              <a:rPr lang="en-US" altLang="zh-CN" dirty="0"/>
              <a:t>pin</a:t>
            </a:r>
            <a:r>
              <a:rPr lang="zh-CN" altLang="en-US" dirty="0"/>
              <a:t>值初始为</a:t>
            </a:r>
            <a:r>
              <a:rPr lang="en-US" altLang="zh-CN" dirty="0"/>
              <a:t>0</a:t>
            </a:r>
            <a:r>
              <a:rPr lang="zh-CN" altLang="en-US" dirty="0"/>
              <a:t>；用到时</a:t>
            </a:r>
            <a:r>
              <a:rPr lang="en-US" altLang="zh-CN" dirty="0"/>
              <a:t>pin</a:t>
            </a:r>
            <a:r>
              <a:rPr lang="zh-CN" altLang="en-US" dirty="0"/>
              <a:t>值</a:t>
            </a:r>
            <a:r>
              <a:rPr lang="en-US" altLang="zh-CN" dirty="0"/>
              <a:t>+1</a:t>
            </a:r>
            <a:r>
              <a:rPr lang="zh-CN" altLang="en-US" dirty="0"/>
              <a:t>，用完后</a:t>
            </a:r>
            <a:r>
              <a:rPr lang="en-US" altLang="zh-CN" dirty="0"/>
              <a:t>pin</a:t>
            </a:r>
            <a:r>
              <a:rPr lang="zh-CN" altLang="en-US" dirty="0"/>
              <a:t>值</a:t>
            </a:r>
            <a:r>
              <a:rPr lang="en-US" altLang="zh-CN" dirty="0"/>
              <a:t>-1</a:t>
            </a:r>
            <a:r>
              <a:rPr lang="zh-CN" altLang="en-US" dirty="0"/>
              <a:t>；缓冲区在选择替换时，如果发现某缓冲块的</a:t>
            </a:r>
            <a:r>
              <a:rPr lang="en-US" altLang="zh-CN" dirty="0"/>
              <a:t>pin</a:t>
            </a:r>
            <a:r>
              <a:rPr lang="zh-CN" altLang="en-US" dirty="0"/>
              <a:t>值不为</a:t>
            </a:r>
            <a:r>
              <a:rPr lang="en-US" altLang="zh-CN" dirty="0"/>
              <a:t>0</a:t>
            </a:r>
            <a:r>
              <a:rPr lang="zh-CN" altLang="en-US" dirty="0"/>
              <a:t>，则不会将它替换出去。</a:t>
            </a:r>
            <a:endParaRPr lang="zh-CN" altLang="en-US" dirty="0"/>
          </a:p>
          <a:p>
            <a:pPr lvl="0" eaLnBrk="1" hangingPunct="1"/>
            <a:endParaRPr lang="zh-CN" altLang="en-US" dirty="0"/>
          </a:p>
          <a:p>
            <a:pPr lvl="0" eaLnBrk="1" hangingPunct="1"/>
            <a:endParaRPr lang="en-US"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3251" name="Rectangle 2"/>
          <p:cNvSpPr>
            <a:spLocks noRot="1" noTextEdit="1"/>
          </p:cNvSpPr>
          <p:nvPr>
            <p:ph type="sldImg"/>
          </p:nvPr>
        </p:nvSpPr>
        <p:spPr/>
      </p:sp>
      <p:sp>
        <p:nvSpPr>
          <p:cNvPr id="53252" name="Rectangle 3"/>
          <p:cNvSpPr>
            <a:spLocks noGrp="1"/>
          </p:cNvSpPr>
          <p:nvPr>
            <p:ph type="body" idx="1"/>
          </p:nvPr>
        </p:nvSpPr>
        <p:spPr/>
        <p:txBody>
          <a:bodyPr wrap="square" lIns="91440" tIns="45720" rIns="91440" bIns="45720" anchor="t" anchorCtr="0"/>
          <a:p>
            <a:pPr lvl="0" eaLnBrk="1" hangingPunct="1"/>
            <a:r>
              <a:rPr lang="zh-CN" altLang="en-US" dirty="0"/>
              <a:t>缓冲区管理中主要算法时查找算法、替换算法</a:t>
            </a:r>
            <a:endParaRPr lang="zh-CN" altLang="en-US" dirty="0"/>
          </a:p>
          <a:p>
            <a:pPr lvl="0" eaLnBrk="1" hangingPunct="1"/>
            <a:r>
              <a:rPr lang="zh-CN" altLang="en-US" sz="900" b="1" dirty="0"/>
              <a:t>缓冲区管理相关算法－</a:t>
            </a:r>
            <a:r>
              <a:rPr lang="zh-CN" altLang="en-US" b="1" dirty="0">
                <a:solidFill>
                  <a:srgbClr val="000000"/>
                </a:solidFill>
                <a:latin typeface="宋体" panose="02010600030101010101" pitchFamily="2" charset="-122"/>
              </a:rPr>
              <a:t>缓冲区查找算法 </a:t>
            </a:r>
            <a:endParaRPr lang="zh-CN" altLang="en-US" b="1"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zh-CN" altLang="en-US" dirty="0">
                <a:solidFill>
                  <a:srgbClr val="000000"/>
                </a:solidFill>
                <a:latin typeface="宋体" panose="02010600030101010101" pitchFamily="2" charset="-122"/>
              </a:rPr>
              <a:t>顺序查找算法 </a:t>
            </a:r>
            <a:endParaRPr lang="zh-CN" altLang="en-US"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zh-CN" altLang="en-US" dirty="0">
                <a:solidFill>
                  <a:srgbClr val="000000"/>
                </a:solidFill>
                <a:latin typeface="宋体" panose="02010600030101010101" pitchFamily="2" charset="-122"/>
              </a:rPr>
              <a:t>折半查找算法 </a:t>
            </a:r>
            <a:endParaRPr lang="zh-CN" altLang="en-US"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en-US" altLang="zh-CN" b="1" dirty="0">
                <a:solidFill>
                  <a:srgbClr val="000000"/>
                </a:solidFill>
              </a:rPr>
              <a:t>hash</a:t>
            </a:r>
            <a:r>
              <a:rPr lang="zh-CN" altLang="en-US" dirty="0">
                <a:solidFill>
                  <a:srgbClr val="000000"/>
                </a:solidFill>
                <a:latin typeface="宋体" panose="02010600030101010101" pitchFamily="2" charset="-122"/>
              </a:rPr>
              <a:t>查找算法 </a:t>
            </a:r>
            <a:endParaRPr lang="zh-CN" altLang="en-US" dirty="0">
              <a:solidFill>
                <a:srgbClr val="000000"/>
              </a:solidFill>
              <a:latin typeface="宋体" panose="02010600030101010101" pitchFamily="2" charset="-122"/>
            </a:endParaRPr>
          </a:p>
          <a:p>
            <a:pPr lvl="0" algn="just" eaLnBrk="1" hangingPunct="1">
              <a:spcBef>
                <a:spcPct val="0"/>
              </a:spcBef>
              <a:buFont typeface="Wingdings" panose="05000000000000000000" pitchFamily="2" charset="2"/>
              <a:buChar char="•"/>
            </a:pPr>
            <a:endParaRPr lang="zh-CN" altLang="en-US" dirty="0">
              <a:solidFill>
                <a:srgbClr val="000000"/>
              </a:solidFill>
              <a:latin typeface="宋体" panose="02010600030101010101" pitchFamily="2" charset="-122"/>
            </a:endParaRPr>
          </a:p>
          <a:p>
            <a:pPr lvl="0" algn="just" eaLnBrk="1" hangingPunct="1">
              <a:spcBef>
                <a:spcPct val="0"/>
              </a:spcBef>
              <a:buFont typeface="Wingdings" panose="05000000000000000000" pitchFamily="2" charset="2"/>
              <a:buChar char="•"/>
            </a:pPr>
            <a:r>
              <a:rPr lang="zh-CN" altLang="en-US" sz="900" b="1" dirty="0"/>
              <a:t>缓冲区管理相关算法－</a:t>
            </a:r>
            <a:r>
              <a:rPr lang="zh-CN" altLang="en-US" b="1" dirty="0">
                <a:solidFill>
                  <a:srgbClr val="000000"/>
                </a:solidFill>
                <a:latin typeface="宋体" panose="02010600030101010101" pitchFamily="2" charset="-122"/>
              </a:rPr>
              <a:t>常用调页算法 </a:t>
            </a:r>
            <a:endParaRPr lang="zh-CN" altLang="en-US" b="1"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en-US" altLang="zh-CN" b="1" dirty="0">
                <a:solidFill>
                  <a:srgbClr val="000000"/>
                </a:solidFill>
              </a:rPr>
              <a:t>FIFO</a:t>
            </a:r>
            <a:r>
              <a:rPr lang="zh-CN" altLang="en-US" dirty="0">
                <a:solidFill>
                  <a:srgbClr val="000000"/>
                </a:solidFill>
                <a:latin typeface="宋体" panose="02010600030101010101" pitchFamily="2" charset="-122"/>
              </a:rPr>
              <a:t>法 </a:t>
            </a:r>
            <a:endParaRPr lang="zh-CN" altLang="en-US" dirty="0">
              <a:solidFill>
                <a:srgbClr val="000000"/>
              </a:solidFill>
              <a:latin typeface="宋体" panose="02010600030101010101" pitchFamily="2" charset="-122"/>
            </a:endParaRPr>
          </a:p>
          <a:p>
            <a:pPr lvl="2" eaLnBrk="1" hangingPunct="1">
              <a:spcBef>
                <a:spcPct val="0"/>
              </a:spcBef>
              <a:buFont typeface="Wingdings" panose="05000000000000000000" pitchFamily="2" charset="2"/>
              <a:buChar char="•"/>
            </a:pPr>
            <a:r>
              <a:rPr lang="zh-CN" altLang="en-US" dirty="0">
                <a:solidFill>
                  <a:srgbClr val="000000"/>
                </a:solidFill>
                <a:cs typeface="Arial" panose="020B0604020202020204" pitchFamily="34" charset="0"/>
              </a:rPr>
              <a:t>基本思想：淘汰最早读入缓冲区的块。</a:t>
            </a:r>
            <a:endParaRPr lang="zh-CN" altLang="en-US"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r>
              <a:rPr lang="zh-CN" altLang="en-US" dirty="0">
                <a:solidFill>
                  <a:srgbClr val="000000"/>
                </a:solidFill>
                <a:cs typeface="Arial" panose="020B0604020202020204" pitchFamily="34" charset="0"/>
              </a:rPr>
              <a:t>缓冲区管理器维护一张表，记录每个块读入缓冲区的时间。或维护一个指针，指向最老缓冲块。</a:t>
            </a:r>
            <a:endParaRPr lang="zh-CN" altLang="en-US"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endParaRPr lang="zh-CN" altLang="en-US"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en-US" altLang="zh-CN" b="1" dirty="0">
                <a:solidFill>
                  <a:srgbClr val="000000"/>
                </a:solidFill>
              </a:rPr>
              <a:t>LRU</a:t>
            </a:r>
            <a:r>
              <a:rPr lang="zh-CN" altLang="en-US" dirty="0">
                <a:solidFill>
                  <a:srgbClr val="000000"/>
                </a:solidFill>
                <a:latin typeface="宋体" panose="02010600030101010101" pitchFamily="2" charset="-122"/>
              </a:rPr>
              <a:t>法</a:t>
            </a:r>
            <a:endParaRPr lang="zh-CN" altLang="en-US" dirty="0">
              <a:solidFill>
                <a:srgbClr val="000000"/>
              </a:solidFill>
              <a:latin typeface="宋体" panose="02010600030101010101" pitchFamily="2" charset="-122"/>
            </a:endParaRPr>
          </a:p>
          <a:p>
            <a:pPr lvl="2" eaLnBrk="1" hangingPunct="1">
              <a:spcBef>
                <a:spcPct val="0"/>
              </a:spcBef>
              <a:buFont typeface="Wingdings" panose="05000000000000000000" pitchFamily="2" charset="2"/>
              <a:buChar char="•"/>
            </a:pPr>
            <a:r>
              <a:rPr lang="zh-CN" altLang="en-US" dirty="0">
                <a:solidFill>
                  <a:srgbClr val="000000"/>
                </a:solidFill>
                <a:cs typeface="Arial" panose="020B0604020202020204" pitchFamily="34" charset="0"/>
              </a:rPr>
              <a:t>基本思想：淘汰最长时间没有读或写过的缓冲块。</a:t>
            </a:r>
            <a:endParaRPr lang="zh-CN" altLang="en-US"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r>
              <a:rPr lang="zh-CN" altLang="en-US" dirty="0">
                <a:solidFill>
                  <a:srgbClr val="000000"/>
                </a:solidFill>
                <a:cs typeface="Arial" panose="020B0604020202020204" pitchFamily="34" charset="0"/>
              </a:rPr>
              <a:t>缓冲区管理器维护一张表，记录每个缓冲区块最后被访问的时间。</a:t>
            </a:r>
            <a:endParaRPr lang="zh-CN" altLang="en-US"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endParaRPr lang="zh-CN" altLang="en-US"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zh-CN" altLang="en-US" sz="1000" dirty="0">
                <a:solidFill>
                  <a:srgbClr val="000000"/>
                </a:solidFill>
                <a:cs typeface="Arial" panose="020B0604020202020204" pitchFamily="34" charset="0"/>
              </a:rPr>
              <a:t>时钟算法</a:t>
            </a:r>
            <a:r>
              <a:rPr lang="en-US" altLang="zh-CN" b="1" dirty="0">
                <a:solidFill>
                  <a:srgbClr val="000000"/>
                </a:solidFill>
              </a:rPr>
              <a:t>SCH</a:t>
            </a:r>
            <a:r>
              <a:rPr lang="zh-CN" altLang="en-US" dirty="0">
                <a:solidFill>
                  <a:srgbClr val="000000"/>
                </a:solidFill>
                <a:latin typeface="宋体" panose="02010600030101010101" pitchFamily="2" charset="-122"/>
              </a:rPr>
              <a:t>法（</a:t>
            </a:r>
            <a:r>
              <a:rPr lang="zh-CN" altLang="en-US" sz="1000" dirty="0">
                <a:solidFill>
                  <a:srgbClr val="000000"/>
                </a:solidFill>
                <a:cs typeface="Arial" panose="020B0604020202020204" pitchFamily="34" charset="0"/>
              </a:rPr>
              <a:t>又称二次机会法</a:t>
            </a:r>
            <a:r>
              <a:rPr lang="en-US" altLang="zh-CN" sz="1000" dirty="0">
                <a:solidFill>
                  <a:srgbClr val="000000"/>
                </a:solidFill>
                <a:cs typeface="Arial" panose="020B0604020202020204" pitchFamily="34" charset="0"/>
              </a:rPr>
              <a:t>SCH</a:t>
            </a:r>
            <a:r>
              <a:rPr lang="en-US" altLang="zh-CN" dirty="0">
                <a:solidFill>
                  <a:srgbClr val="000000"/>
                </a:solidFill>
                <a:latin typeface="宋体" panose="02010600030101010101" pitchFamily="2" charset="-122"/>
              </a:rPr>
              <a:t> </a:t>
            </a:r>
            <a:r>
              <a:rPr lang="zh-CN" altLang="en-US" dirty="0">
                <a:solidFill>
                  <a:srgbClr val="000000"/>
                </a:solidFill>
                <a:latin typeface="宋体" panose="02010600030101010101" pitchFamily="2" charset="-122"/>
              </a:rPr>
              <a:t>）</a:t>
            </a:r>
            <a:endParaRPr lang="zh-CN" altLang="en-US" dirty="0">
              <a:solidFill>
                <a:srgbClr val="000000"/>
              </a:solidFill>
              <a:latin typeface="宋体" panose="02010600030101010101" pitchFamily="2" charset="-122"/>
            </a:endParaRPr>
          </a:p>
          <a:p>
            <a:pPr lvl="1" eaLnBrk="1" hangingPunct="1">
              <a:spcBef>
                <a:spcPct val="0"/>
              </a:spcBef>
              <a:buFont typeface="Wingdings" panose="05000000000000000000" pitchFamily="2" charset="2"/>
              <a:buChar char="•"/>
            </a:pPr>
            <a:r>
              <a:rPr lang="zh-CN" altLang="en-US" sz="1000" dirty="0">
                <a:solidFill>
                  <a:srgbClr val="000000"/>
                </a:solidFill>
                <a:cs typeface="Arial" panose="020B0604020202020204" pitchFamily="34" charset="0"/>
              </a:rPr>
              <a:t>    基本思想：</a:t>
            </a:r>
            <a:r>
              <a:rPr lang="en-US" altLang="zh-CN" sz="1000" dirty="0">
                <a:solidFill>
                  <a:srgbClr val="000000"/>
                </a:solidFill>
                <a:cs typeface="Arial" panose="020B0604020202020204" pitchFamily="34" charset="0"/>
              </a:rPr>
              <a:t>FIFO+LRU</a:t>
            </a:r>
            <a:endParaRPr lang="en-US" altLang="zh-CN" sz="1000"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r>
              <a:rPr lang="zh-CN" altLang="en-US" sz="1000" dirty="0">
                <a:solidFill>
                  <a:srgbClr val="000000"/>
                </a:solidFill>
                <a:cs typeface="Arial" panose="020B0604020202020204" pitchFamily="34" charset="0"/>
              </a:rPr>
              <a:t>当一个块读入缓冲区时，其标志设为</a:t>
            </a:r>
            <a:r>
              <a:rPr lang="en-US" altLang="zh-CN" sz="1000" dirty="0">
                <a:solidFill>
                  <a:srgbClr val="000000"/>
                </a:solidFill>
                <a:cs typeface="Arial" panose="020B0604020202020204" pitchFamily="34" charset="0"/>
              </a:rPr>
              <a:t>1</a:t>
            </a:r>
            <a:r>
              <a:rPr lang="zh-CN" altLang="en-US" sz="1000" dirty="0">
                <a:solidFill>
                  <a:srgbClr val="000000"/>
                </a:solidFill>
                <a:cs typeface="Arial" panose="020B0604020202020204" pitchFamily="34" charset="0"/>
              </a:rPr>
              <a:t>。</a:t>
            </a:r>
            <a:endParaRPr lang="zh-CN" altLang="en-US" sz="1000"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r>
              <a:rPr lang="zh-CN" altLang="en-US" sz="1000" dirty="0">
                <a:solidFill>
                  <a:srgbClr val="000000"/>
                </a:solidFill>
                <a:cs typeface="Arial" panose="020B0604020202020204" pitchFamily="34" charset="0"/>
              </a:rPr>
              <a:t>当一个缓冲块被访问时，其标志设为</a:t>
            </a:r>
            <a:r>
              <a:rPr lang="en-US" altLang="zh-CN" sz="1000" dirty="0">
                <a:solidFill>
                  <a:srgbClr val="000000"/>
                </a:solidFill>
                <a:cs typeface="Arial" panose="020B0604020202020204" pitchFamily="34" charset="0"/>
              </a:rPr>
              <a:t>1</a:t>
            </a:r>
            <a:r>
              <a:rPr lang="zh-CN" altLang="en-US" sz="1000" dirty="0">
                <a:solidFill>
                  <a:srgbClr val="000000"/>
                </a:solidFill>
                <a:cs typeface="Arial" panose="020B0604020202020204" pitchFamily="34" charset="0"/>
              </a:rPr>
              <a:t>。</a:t>
            </a:r>
            <a:endParaRPr lang="zh-CN" altLang="en-US" sz="1000"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r>
              <a:rPr lang="zh-CN" altLang="en-US" sz="1000" dirty="0">
                <a:solidFill>
                  <a:srgbClr val="000000"/>
                </a:solidFill>
                <a:cs typeface="Arial" panose="020B0604020202020204" pitchFamily="34" charset="0"/>
              </a:rPr>
              <a:t>淘汰时，按轮转方式</a:t>
            </a:r>
            <a:r>
              <a:rPr lang="en-US" altLang="zh-CN" sz="1000" dirty="0">
                <a:solidFill>
                  <a:srgbClr val="000000"/>
                </a:solidFill>
                <a:cs typeface="Arial" panose="020B0604020202020204" pitchFamily="34" charset="0"/>
              </a:rPr>
              <a:t>(FIFO</a:t>
            </a:r>
            <a:r>
              <a:rPr lang="zh-CN" altLang="en-US" sz="1000" dirty="0">
                <a:solidFill>
                  <a:srgbClr val="000000"/>
                </a:solidFill>
                <a:cs typeface="Arial" panose="020B0604020202020204" pitchFamily="34" charset="0"/>
              </a:rPr>
              <a:t>方式</a:t>
            </a:r>
            <a:r>
              <a:rPr lang="en-US" altLang="zh-CN" sz="1000" dirty="0">
                <a:solidFill>
                  <a:srgbClr val="000000"/>
                </a:solidFill>
                <a:cs typeface="Arial" panose="020B0604020202020204" pitchFamily="34" charset="0"/>
              </a:rPr>
              <a:t>)</a:t>
            </a:r>
            <a:r>
              <a:rPr lang="zh-CN" altLang="en-US" sz="1000" dirty="0">
                <a:solidFill>
                  <a:srgbClr val="000000"/>
                </a:solidFill>
                <a:cs typeface="Arial" panose="020B0604020202020204" pitchFamily="34" charset="0"/>
              </a:rPr>
              <a:t>查找缓冲区，淘汰第一个具有</a:t>
            </a:r>
            <a:r>
              <a:rPr lang="en-US" altLang="zh-CN" sz="1000" dirty="0">
                <a:solidFill>
                  <a:srgbClr val="000000"/>
                </a:solidFill>
                <a:cs typeface="Arial" panose="020B0604020202020204" pitchFamily="34" charset="0"/>
              </a:rPr>
              <a:t>0</a:t>
            </a:r>
            <a:r>
              <a:rPr lang="zh-CN" altLang="en-US" sz="1000" dirty="0">
                <a:solidFill>
                  <a:srgbClr val="000000"/>
                </a:solidFill>
                <a:cs typeface="Arial" panose="020B0604020202020204" pitchFamily="34" charset="0"/>
              </a:rPr>
              <a:t>标志的缓冲块。同时将查找过的标志为</a:t>
            </a:r>
            <a:r>
              <a:rPr lang="en-US" altLang="zh-CN" sz="1000" dirty="0">
                <a:solidFill>
                  <a:srgbClr val="000000"/>
                </a:solidFill>
                <a:cs typeface="Arial" panose="020B0604020202020204" pitchFamily="34" charset="0"/>
              </a:rPr>
              <a:t>1</a:t>
            </a:r>
            <a:r>
              <a:rPr lang="zh-CN" altLang="en-US" sz="1000" dirty="0">
                <a:solidFill>
                  <a:srgbClr val="000000"/>
                </a:solidFill>
                <a:cs typeface="Arial" panose="020B0604020202020204" pitchFamily="34" charset="0"/>
              </a:rPr>
              <a:t>的缓冲块置标志</a:t>
            </a:r>
            <a:r>
              <a:rPr lang="en-US" altLang="zh-CN" sz="1000" dirty="0">
                <a:solidFill>
                  <a:srgbClr val="000000"/>
                </a:solidFill>
                <a:cs typeface="Arial" panose="020B0604020202020204" pitchFamily="34" charset="0"/>
              </a:rPr>
              <a:t>0</a:t>
            </a:r>
            <a:r>
              <a:rPr lang="zh-CN" altLang="en-US" sz="1000" dirty="0">
                <a:solidFill>
                  <a:srgbClr val="000000"/>
                </a:solidFill>
                <a:cs typeface="Arial" panose="020B0604020202020204" pitchFamily="34" charset="0"/>
              </a:rPr>
              <a:t>。</a:t>
            </a:r>
            <a:endParaRPr lang="zh-CN" altLang="en-US" sz="1000" dirty="0">
              <a:solidFill>
                <a:srgbClr val="000000"/>
              </a:solidFill>
              <a:cs typeface="Arial" panose="020B0604020202020204" pitchFamily="34" charset="0"/>
            </a:endParaRPr>
          </a:p>
          <a:p>
            <a:pPr lvl="2" eaLnBrk="1" hangingPunct="1">
              <a:spcBef>
                <a:spcPct val="0"/>
              </a:spcBef>
              <a:buFont typeface="Wingdings" panose="05000000000000000000" pitchFamily="2" charset="2"/>
              <a:buChar char="•"/>
            </a:pPr>
            <a:endParaRPr lang="zh-CN" altLang="en-US" dirty="0">
              <a:solidFill>
                <a:srgbClr val="000000"/>
              </a:solidFill>
              <a:latin typeface="宋体" panose="02010600030101010101" pitchFamily="2" charset="-122"/>
            </a:endParaRPr>
          </a:p>
          <a:p>
            <a:pPr lvl="1" algn="just" eaLnBrk="1" hangingPunct="1">
              <a:spcBef>
                <a:spcPct val="0"/>
              </a:spcBef>
              <a:buFont typeface="Wingdings" panose="05000000000000000000" pitchFamily="2" charset="2"/>
              <a:buChar char="•"/>
            </a:pPr>
            <a:r>
              <a:rPr lang="en-US" altLang="zh-CN" b="1" dirty="0">
                <a:solidFill>
                  <a:srgbClr val="000000"/>
                </a:solidFill>
              </a:rPr>
              <a:t>RAND</a:t>
            </a:r>
            <a:r>
              <a:rPr lang="zh-CN" altLang="en-US" dirty="0">
                <a:solidFill>
                  <a:srgbClr val="000000"/>
                </a:solidFill>
                <a:latin typeface="宋体" panose="02010600030101010101" pitchFamily="2" charset="-122"/>
              </a:rPr>
              <a:t>法</a:t>
            </a:r>
            <a:r>
              <a:rPr lang="zh-CN" altLang="en-US" sz="900" dirty="0">
                <a:solidFill>
                  <a:srgbClr val="000000"/>
                </a:solidFill>
                <a:latin typeface="宋体" panose="02010600030101010101" pitchFamily="2" charset="-122"/>
              </a:rPr>
              <a:t> </a:t>
            </a:r>
            <a:endParaRPr lang="zh-CN" altLang="en-US" sz="900" dirty="0"/>
          </a:p>
          <a:p>
            <a:pPr lvl="1" eaLnBrk="1" hangingPunct="1">
              <a:spcBef>
                <a:spcPct val="0"/>
              </a:spcBef>
              <a:buFont typeface="Wingdings" panose="05000000000000000000" pitchFamily="2" charset="2"/>
              <a:buChar char="•"/>
            </a:pPr>
            <a:r>
              <a:rPr lang="zh-CN" altLang="en-US" sz="1000" dirty="0">
                <a:solidFill>
                  <a:srgbClr val="000000"/>
                </a:solidFill>
                <a:cs typeface="Arial" panose="020B0604020202020204" pitchFamily="34" charset="0"/>
              </a:rPr>
              <a:t>   基本思想：用随机数发生器来确定要淘汰的缓冲页面。</a:t>
            </a:r>
            <a:endParaRPr lang="zh-CN" altLang="en-US" sz="1000" dirty="0">
              <a:solidFill>
                <a:srgbClr val="000000"/>
              </a:solidFill>
              <a:cs typeface="Arial" panose="020B0604020202020204" pitchFamily="34" charset="0"/>
            </a:endParaRPr>
          </a:p>
          <a:p>
            <a:pPr lvl="0" eaLnBrk="1" hangingPunct="1"/>
            <a:endParaRPr lang="zh-CN" altLang="en-US" dirty="0">
              <a:solidFill>
                <a:srgbClr val="000000"/>
              </a:solidFill>
              <a:latin typeface="宋体" panose="02010600030101010101" pitchFamily="2" charset="-122"/>
            </a:endParaRPr>
          </a:p>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4275" name="Rectangle 2"/>
          <p:cNvSpPr>
            <a:spLocks noRot="1" noTextEdit="1"/>
          </p:cNvSpPr>
          <p:nvPr>
            <p:ph type="sldImg"/>
          </p:nvPr>
        </p:nvSpPr>
        <p:spPr/>
      </p:sp>
      <p:sp>
        <p:nvSpPr>
          <p:cNvPr id="54276" name="Rectangle 3"/>
          <p:cNvSpPr>
            <a:spLocks noGrp="1"/>
          </p:cNvSpPr>
          <p:nvPr>
            <p:ph type="body" idx="1"/>
          </p:nvPr>
        </p:nvSpPr>
        <p:spPr/>
        <p:txBody>
          <a:bodyPr wrap="square" lIns="91440" tIns="45720" rIns="91440" bIns="45720" anchor="t" anchorCtr="0"/>
          <a:p>
            <a:pPr lvl="0" eaLnBrk="1" hangingPunct="1"/>
            <a:r>
              <a:rPr lang="zh-CN" altLang="en-US" sz="900" dirty="0"/>
              <a:t>缓冲区通常不足以容纳数据库中的所有数据，在需要读入数据时，可能出现缓冲区已满的情况，这时，缓冲区就要选择一个</a:t>
            </a:r>
            <a:r>
              <a:rPr lang="en-US" altLang="zh-CN" sz="900" dirty="0"/>
              <a:t>pin</a:t>
            </a:r>
            <a:r>
              <a:rPr lang="zh-CN" altLang="en-US" sz="900" dirty="0"/>
              <a:t>值为</a:t>
            </a:r>
            <a:r>
              <a:rPr lang="en-US" altLang="zh-CN" sz="900" dirty="0"/>
              <a:t>0</a:t>
            </a:r>
            <a:r>
              <a:rPr lang="zh-CN" altLang="en-US" sz="900" dirty="0"/>
              <a:t>的缓冲块替换出去，然后读入新的内容。</a:t>
            </a:r>
            <a:endParaRPr lang="zh-CN" altLang="en-US" sz="900" dirty="0"/>
          </a:p>
          <a:p>
            <a:pPr lvl="0" eaLnBrk="1" hangingPunct="1"/>
            <a:r>
              <a:rPr lang="zh-CN" altLang="en-US" dirty="0"/>
              <a:t>最近最少使用替换策略 </a:t>
            </a:r>
            <a:r>
              <a:rPr lang="en-US" altLang="zh-CN" dirty="0"/>
              <a:t>(Least Recently Used, LRU)</a:t>
            </a:r>
            <a:endParaRPr lang="en-US" altLang="zh-CN" dirty="0"/>
          </a:p>
          <a:p>
            <a:pPr lvl="0" eaLnBrk="1" hangingPunct="1">
              <a:buChar char="•"/>
            </a:pPr>
            <a:r>
              <a:rPr lang="zh-CN" altLang="en-US" dirty="0"/>
              <a:t>基本思想：系统未来对数据的访问情况可由系统过去的访问情况预期，如果过去很少被访问，则将来也不太可能被访问，</a:t>
            </a:r>
            <a:r>
              <a:rPr lang="en-US" altLang="zh-CN" dirty="0"/>
              <a:t>……</a:t>
            </a:r>
            <a:endParaRPr lang="en-US" altLang="zh-CN" dirty="0"/>
          </a:p>
          <a:p>
            <a:pPr lvl="0" eaLnBrk="1" hangingPunct="1">
              <a:buChar char="•"/>
            </a:pPr>
            <a:r>
              <a:rPr lang="zh-CN" altLang="en-US" dirty="0"/>
              <a:t>实现方法：用一个链表记录所有的缓冲块每次访问的块插入到链表头，替换链表尾的块</a:t>
            </a:r>
            <a:endParaRPr lang="zh-CN" altLang="en-US" dirty="0"/>
          </a:p>
          <a:p>
            <a:pPr lvl="0" eaLnBrk="1" hangingPunct="1"/>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5299" name="Rectangle 2"/>
          <p:cNvSpPr>
            <a:spLocks noRot="1" noTextEdit="1"/>
          </p:cNvSpPr>
          <p:nvPr>
            <p:ph type="sldImg"/>
          </p:nvPr>
        </p:nvSpPr>
        <p:spPr/>
      </p:sp>
      <p:sp>
        <p:nvSpPr>
          <p:cNvPr id="5530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6323" name="Rectangle 2"/>
          <p:cNvSpPr>
            <a:spLocks noRot="1" noTextEdit="1"/>
          </p:cNvSpPr>
          <p:nvPr>
            <p:ph type="sldImg"/>
          </p:nvPr>
        </p:nvSpPr>
        <p:spPr/>
      </p:sp>
      <p:sp>
        <p:nvSpPr>
          <p:cNvPr id="56324" name="Rectangle 3"/>
          <p:cNvSpPr>
            <a:spLocks noGrp="1"/>
          </p:cNvSpPr>
          <p:nvPr>
            <p:ph type="body" idx="1"/>
          </p:nvPr>
        </p:nvSpPr>
        <p:spPr/>
        <p:txBody>
          <a:bodyPr wrap="square" lIns="91440" tIns="45720" rIns="91440" bIns="45720" anchor="t" anchorCtr="0"/>
          <a:p>
            <a:pPr lvl="0" eaLnBrk="1" hangingPunct="1"/>
            <a:r>
              <a:rPr lang="zh-CN" altLang="en-US" dirty="0"/>
              <a:t>数据是以文件形式组织的，</a:t>
            </a:r>
            <a:endParaRPr lang="zh-CN" altLang="en-US" dirty="0"/>
          </a:p>
          <a:p>
            <a:pPr lvl="0" eaLnBrk="1" hangingPunct="1">
              <a:buChar char="•"/>
            </a:pPr>
            <a:r>
              <a:rPr lang="zh-CN" altLang="en-US" dirty="0"/>
              <a:t>从逻辑角度而言，文件的基本组成单位是文件记录；例如：学生基本情况文件中，一个现实学生的学号、姓名、年龄、性别、籍贯等数据组成的一个逻辑记录。</a:t>
            </a:r>
            <a:endParaRPr lang="zh-CN" altLang="en-US" dirty="0"/>
          </a:p>
          <a:p>
            <a:pPr lvl="0" eaLnBrk="1" hangingPunct="1">
              <a:buChar char="•"/>
            </a:pPr>
            <a:r>
              <a:rPr lang="zh-CN" altLang="en-US" dirty="0"/>
              <a:t>从物理存储角度而言，文件的基本组成单位是磁盘块。</a:t>
            </a:r>
            <a:endParaRPr lang="zh-CN" altLang="en-US" dirty="0"/>
          </a:p>
          <a:p>
            <a:pPr lvl="0" eaLnBrk="1" hangingPunct="1">
              <a:buChar char="•"/>
            </a:pPr>
            <a:r>
              <a:rPr lang="zh-CN" altLang="en-US" dirty="0"/>
              <a:t>内外存数据交换是以磁盘块为单位的</a:t>
            </a:r>
            <a:endParaRPr lang="zh-CN" altLang="en-US" dirty="0"/>
          </a:p>
          <a:p>
            <a:pPr lvl="0" eaLnBrk="1" hangingPunct="1"/>
            <a:endParaRPr lang="zh-CN" altLang="en-US" dirty="0"/>
          </a:p>
          <a:p>
            <a:pPr lvl="0" eaLnBrk="1" hangingPunct="1"/>
            <a:r>
              <a:rPr lang="zh-CN" altLang="en-US" dirty="0"/>
              <a:t>如何将属性集合表示为文件记录，文件记录又如何在块中表示和存放？</a:t>
            </a:r>
            <a:endParaRPr lang="zh-CN" altLang="en-US" dirty="0"/>
          </a:p>
          <a:p>
            <a:pPr lvl="0" eaLnBrk="1" hangingPunct="1"/>
            <a:r>
              <a:rPr lang="zh-CN" altLang="en-US" dirty="0"/>
              <a:t>我们首先研究关系型数据库系统中属性值的表示，然后考察属性值如何组合成记录，记录如何组合成块，记录如何组合成文件。</a:t>
            </a:r>
            <a:endParaRPr lang="zh-CN" altLang="en-US" dirty="0"/>
          </a:p>
          <a:p>
            <a:pPr lvl="0" eaLnBrk="1" hangingPunct="1">
              <a:lnSpc>
                <a:spcPct val="110000"/>
              </a:lnSpc>
            </a:pPr>
            <a:r>
              <a:rPr lang="zh-CN" altLang="en-US" dirty="0">
                <a:solidFill>
                  <a:srgbClr val="0000CC"/>
                </a:solidFill>
              </a:rPr>
              <a:t>物理记录</a:t>
            </a:r>
            <a:r>
              <a:rPr lang="zh-CN" altLang="en-US" dirty="0"/>
              <a:t>：内外存交换数据的最小单位，对磁盘而言，控制部件可寻址的最小单位是块</a:t>
            </a:r>
            <a:r>
              <a:rPr lang="en-US" altLang="zh-CN" dirty="0"/>
              <a:t>(</a:t>
            </a:r>
            <a:r>
              <a:rPr lang="zh-CN" altLang="en-US" dirty="0"/>
              <a:t>扇段</a:t>
            </a:r>
            <a:r>
              <a:rPr lang="en-US" altLang="zh-CN" dirty="0"/>
              <a:t>)</a:t>
            </a:r>
            <a:r>
              <a:rPr lang="zh-CN" altLang="en-US" dirty="0"/>
              <a:t>。一般来说，在同一系统中，块的大小是相同的，</a:t>
            </a:r>
            <a:r>
              <a:rPr lang="en-US" altLang="zh-CN" dirty="0"/>
              <a:t>512</a:t>
            </a:r>
            <a:r>
              <a:rPr lang="zh-CN" altLang="en-US" dirty="0"/>
              <a:t>、</a:t>
            </a:r>
            <a:r>
              <a:rPr lang="en-US" altLang="zh-CN" dirty="0"/>
              <a:t>1024</a:t>
            </a:r>
            <a:r>
              <a:rPr lang="zh-CN" altLang="en-US" dirty="0"/>
              <a:t>或</a:t>
            </a:r>
            <a:r>
              <a:rPr lang="en-US" altLang="zh-CN" dirty="0"/>
              <a:t>2048</a:t>
            </a:r>
            <a:r>
              <a:rPr lang="zh-CN" altLang="en-US" dirty="0"/>
              <a:t>字节等。</a:t>
            </a:r>
            <a:endParaRPr lang="zh-CN" altLang="en-US" dirty="0"/>
          </a:p>
          <a:p>
            <a:pPr lvl="0" eaLnBrk="1" hangingPunct="1">
              <a:lnSpc>
                <a:spcPct val="110000"/>
              </a:lnSpc>
            </a:pPr>
            <a:r>
              <a:rPr lang="zh-CN" altLang="en-US" dirty="0">
                <a:solidFill>
                  <a:srgbClr val="0000CC"/>
                </a:solidFill>
              </a:rPr>
              <a:t>逻辑记录</a:t>
            </a:r>
            <a:r>
              <a:rPr lang="zh-CN" altLang="en-US" dirty="0"/>
              <a:t>：组织用户逻辑文件的基本单位 </a:t>
            </a:r>
            <a:endParaRPr lang="zh-CN" altLang="en-US" dirty="0"/>
          </a:p>
          <a:p>
            <a:pPr lvl="0" eaLnBrk="1" hangingPunct="1"/>
            <a:endParaRPr lang="zh-CN" altLang="en-US" dirty="0">
              <a:latin typeface="黑体" panose="02010609060101010101" pitchFamily="2" charset="-122"/>
            </a:endParaRPr>
          </a:p>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7347" name="Rectangle 2"/>
          <p:cNvSpPr>
            <a:spLocks noRot="1" noTextEdit="1"/>
          </p:cNvSpPr>
          <p:nvPr>
            <p:ph type="sldImg"/>
          </p:nvPr>
        </p:nvSpPr>
        <p:spPr/>
      </p:sp>
      <p:sp>
        <p:nvSpPr>
          <p:cNvPr id="57348" name="Rectangle 3"/>
          <p:cNvSpPr>
            <a:spLocks noGrp="1"/>
          </p:cNvSpPr>
          <p:nvPr>
            <p:ph type="body" idx="1"/>
          </p:nvPr>
        </p:nvSpPr>
        <p:spPr/>
        <p:txBody>
          <a:bodyPr wrap="square" lIns="91440" tIns="45720" rIns="91440" bIns="45720" anchor="t" anchorCtr="0"/>
          <a:p>
            <a:pPr lvl="0" eaLnBrk="1" hangingPunct="1">
              <a:lnSpc>
                <a:spcPct val="90000"/>
              </a:lnSpc>
            </a:pPr>
            <a:r>
              <a:rPr lang="zh-CN" altLang="en-US" sz="1000" dirty="0"/>
              <a:t>如何将属性集合表示为文件记录，文件记录又如何在块中表示和存放？</a:t>
            </a:r>
            <a:endParaRPr lang="zh-CN" altLang="en-US" sz="1000" dirty="0"/>
          </a:p>
          <a:p>
            <a:pPr lvl="0" eaLnBrk="1" hangingPunct="1">
              <a:lnSpc>
                <a:spcPct val="90000"/>
              </a:lnSpc>
            </a:pPr>
            <a:r>
              <a:rPr lang="zh-CN" altLang="en-US" sz="1000" dirty="0"/>
              <a:t>我们首先研究关系型数据库系统中属性值的表示，然后考察属性值如何组合成记录，记录如何组合成块，记录如何组合成文件。</a:t>
            </a:r>
            <a:endParaRPr lang="zh-CN" altLang="en-US" sz="1000" dirty="0"/>
          </a:p>
          <a:p>
            <a:pPr lvl="0" eaLnBrk="1" hangingPunct="1">
              <a:lnSpc>
                <a:spcPct val="90000"/>
              </a:lnSpc>
            </a:pPr>
            <a:endParaRPr lang="zh-CN" altLang="en-US" sz="1000" dirty="0"/>
          </a:p>
          <a:p>
            <a:pPr lvl="0" eaLnBrk="1" hangingPunct="1">
              <a:lnSpc>
                <a:spcPct val="90000"/>
              </a:lnSpc>
            </a:pPr>
            <a:r>
              <a:rPr lang="zh-CN" altLang="en-US" sz="1000" dirty="0"/>
              <a:t>关系是元组的集合，元组是数据项又称为属性的集合，每个数据项有特定的</a:t>
            </a:r>
            <a:r>
              <a:rPr lang="en-US" altLang="zh-CN" sz="1000" dirty="0"/>
              <a:t>SQL</a:t>
            </a:r>
            <a:r>
              <a:rPr lang="zh-CN" altLang="en-US" sz="1000" dirty="0"/>
              <a:t>数据类型，所有数据类型最终均表示成若干字节序列。</a:t>
            </a:r>
            <a:endParaRPr lang="zh-CN" altLang="en-US" sz="1000" dirty="0">
              <a:latin typeface="黑体" panose="02010609060101010101" pitchFamily="2" charset="-122"/>
            </a:endParaRPr>
          </a:p>
          <a:p>
            <a:pPr lvl="0" eaLnBrk="1" hangingPunct="1">
              <a:lnSpc>
                <a:spcPct val="90000"/>
              </a:lnSpc>
            </a:pPr>
            <a:endParaRPr lang="zh-CN" altLang="en-US" sz="1000" dirty="0">
              <a:latin typeface="黑体" panose="02010609060101010101" pitchFamily="2" charset="-122"/>
            </a:endParaRPr>
          </a:p>
          <a:p>
            <a:pPr lvl="0" eaLnBrk="1" hangingPunct="1">
              <a:lnSpc>
                <a:spcPct val="90000"/>
              </a:lnSpc>
            </a:pPr>
            <a:r>
              <a:rPr lang="zh-CN" altLang="en-US" sz="1000" dirty="0"/>
              <a:t>字符串类型</a:t>
            </a:r>
            <a:endParaRPr lang="zh-CN" altLang="en-US" sz="1000" dirty="0"/>
          </a:p>
          <a:p>
            <a:pPr lvl="0" eaLnBrk="1" hangingPunct="1">
              <a:lnSpc>
                <a:spcPct val="90000"/>
              </a:lnSpc>
              <a:buChar char="•"/>
            </a:pPr>
            <a:r>
              <a:rPr lang="zh-CN" altLang="en-US" sz="1000" dirty="0"/>
              <a:t>定长字符串：对于定长字符串，比如姓名属性</a:t>
            </a:r>
            <a:r>
              <a:rPr lang="en-US" altLang="zh-CN" sz="1000" dirty="0"/>
              <a:t>NAME</a:t>
            </a:r>
            <a:r>
              <a:rPr lang="zh-CN" altLang="en-US" sz="1000" dirty="0"/>
              <a:t>的数据类型是</a:t>
            </a:r>
            <a:r>
              <a:rPr lang="en-US" altLang="zh-CN" sz="1000" dirty="0"/>
              <a:t>Char(8)</a:t>
            </a:r>
            <a:endParaRPr lang="en-US" altLang="zh-CN" sz="1000" dirty="0"/>
          </a:p>
          <a:p>
            <a:pPr lvl="0" eaLnBrk="1" hangingPunct="1">
              <a:lnSpc>
                <a:spcPct val="90000"/>
              </a:lnSpc>
              <a:buChar char="•"/>
            </a:pPr>
            <a:r>
              <a:rPr lang="zh-CN" altLang="en-US" sz="1000" dirty="0"/>
              <a:t>变长字符串：对于变长字符串，较为常见的表示方法有两种，一是长度加内容的表示方法，如姓名属性</a:t>
            </a:r>
            <a:r>
              <a:rPr lang="en-US" altLang="zh-CN" sz="1000" dirty="0"/>
              <a:t>NAME</a:t>
            </a:r>
            <a:r>
              <a:rPr lang="zh-CN" altLang="en-US" sz="1000" dirty="0"/>
              <a:t>的数据类型是</a:t>
            </a:r>
            <a:r>
              <a:rPr lang="en-US" altLang="zh-CN" sz="1000" dirty="0"/>
              <a:t>Varchar(8) </a:t>
            </a:r>
            <a:r>
              <a:rPr lang="zh-CN" altLang="en-US" sz="1000" dirty="0"/>
              <a:t>；另外一种方法是在字符串内容后面加上空字符作为终止符</a:t>
            </a:r>
            <a:endParaRPr lang="zh-CN" altLang="en-US" sz="1000" dirty="0"/>
          </a:p>
          <a:p>
            <a:pPr lvl="0" eaLnBrk="1" hangingPunct="1">
              <a:lnSpc>
                <a:spcPct val="90000"/>
              </a:lnSpc>
            </a:pPr>
            <a:endParaRPr lang="zh-CN" altLang="en-US" sz="1000" dirty="0"/>
          </a:p>
          <a:p>
            <a:pPr lvl="0" eaLnBrk="1" hangingPunct="1">
              <a:lnSpc>
                <a:spcPct val="90000"/>
              </a:lnSpc>
            </a:pPr>
            <a:r>
              <a:rPr lang="zh-CN" altLang="en-US" sz="1000" dirty="0"/>
              <a:t>日期和时间类型</a:t>
            </a:r>
            <a:endParaRPr lang="zh-CN" altLang="en-US" sz="1000" dirty="0"/>
          </a:p>
          <a:p>
            <a:pPr lvl="0" eaLnBrk="1" hangingPunct="1">
              <a:lnSpc>
                <a:spcPct val="90000"/>
              </a:lnSpc>
              <a:buChar char="•"/>
            </a:pPr>
            <a:r>
              <a:rPr lang="zh-CN" altLang="en-US" sz="1000" dirty="0"/>
              <a:t>日期类型</a:t>
            </a:r>
            <a:r>
              <a:rPr lang="en-US" altLang="zh-CN" sz="1000" dirty="0"/>
              <a:t>Date</a:t>
            </a:r>
            <a:r>
              <a:rPr lang="zh-CN" altLang="en-US" sz="1000" dirty="0"/>
              <a:t>形如</a:t>
            </a:r>
            <a:r>
              <a:rPr lang="en-US" altLang="zh-CN" sz="1000" dirty="0"/>
              <a:t>09/18/2004</a:t>
            </a:r>
            <a:r>
              <a:rPr lang="zh-CN" altLang="en-US" sz="1000" dirty="0"/>
              <a:t>或者</a:t>
            </a:r>
            <a:r>
              <a:rPr lang="en-US" altLang="zh-CN" sz="1000" dirty="0"/>
              <a:t>2004-09-18</a:t>
            </a:r>
            <a:r>
              <a:rPr lang="zh-CN" altLang="en-US" sz="1000" dirty="0"/>
              <a:t>，时间类型</a:t>
            </a:r>
            <a:r>
              <a:rPr lang="en-US" altLang="zh-CN" sz="1000" dirty="0"/>
              <a:t>Time</a:t>
            </a:r>
            <a:r>
              <a:rPr lang="zh-CN" altLang="en-US" sz="1000" dirty="0"/>
              <a:t>形如</a:t>
            </a:r>
            <a:r>
              <a:rPr lang="en-US" altLang="zh-CN" sz="1000" dirty="0"/>
              <a:t>18:36:59</a:t>
            </a:r>
            <a:r>
              <a:rPr lang="zh-CN" altLang="en-US" sz="1000" dirty="0"/>
              <a:t>，都具有比较规则的数据格式，所以</a:t>
            </a:r>
            <a:r>
              <a:rPr lang="en-US" altLang="zh-CN" sz="1000" dirty="0"/>
              <a:t>SQL</a:t>
            </a:r>
            <a:r>
              <a:rPr lang="zh-CN" altLang="en-US" sz="1000" dirty="0"/>
              <a:t>的日期和时间类型通常表示为定长字符串。</a:t>
            </a:r>
            <a:endParaRPr lang="zh-CN" altLang="en-US" sz="1000" dirty="0"/>
          </a:p>
          <a:p>
            <a:pPr lvl="0" eaLnBrk="1" hangingPunct="1">
              <a:lnSpc>
                <a:spcPct val="90000"/>
              </a:lnSpc>
              <a:buChar char="•"/>
            </a:pPr>
            <a:r>
              <a:rPr lang="zh-CN" altLang="en-US" sz="1000" dirty="0"/>
              <a:t>在有的</a:t>
            </a:r>
            <a:r>
              <a:rPr lang="en-US" altLang="zh-CN" sz="1000" dirty="0"/>
              <a:t>SQL</a:t>
            </a:r>
            <a:r>
              <a:rPr lang="zh-CN" altLang="en-US" sz="1000" dirty="0"/>
              <a:t>版本实现中，允许对秒进一步细分，以提高时间的精确度，在这种情况下，可以将时间类型表示为变长字符串。</a:t>
            </a:r>
            <a:endParaRPr lang="zh-CN" altLang="en-US" sz="1000" dirty="0"/>
          </a:p>
          <a:p>
            <a:pPr lvl="0" eaLnBrk="1" hangingPunct="1">
              <a:lnSpc>
                <a:spcPct val="90000"/>
              </a:lnSpc>
            </a:pPr>
            <a:endParaRPr lang="zh-CN" altLang="en-US" sz="1000" dirty="0"/>
          </a:p>
          <a:p>
            <a:pPr lvl="0" eaLnBrk="1" hangingPunct="1">
              <a:lnSpc>
                <a:spcPct val="90000"/>
              </a:lnSpc>
            </a:pPr>
            <a:r>
              <a:rPr lang="zh-CN" altLang="en-US" sz="1000" dirty="0"/>
              <a:t>二进制位序列类型：</a:t>
            </a:r>
            <a:endParaRPr lang="zh-CN" altLang="en-US" sz="1000" dirty="0"/>
          </a:p>
          <a:p>
            <a:pPr lvl="0" eaLnBrk="1" hangingPunct="1">
              <a:lnSpc>
                <a:spcPct val="90000"/>
              </a:lnSpc>
              <a:buChar char="•"/>
            </a:pPr>
            <a:r>
              <a:rPr lang="zh-CN" altLang="en-US" sz="1000" dirty="0"/>
              <a:t>可以按照每</a:t>
            </a:r>
            <a:r>
              <a:rPr lang="en-US" altLang="zh-CN" sz="1000" dirty="0"/>
              <a:t>8</a:t>
            </a:r>
            <a:r>
              <a:rPr lang="zh-CN" altLang="en-US" sz="1000" dirty="0"/>
              <a:t>个二进制位构成</a:t>
            </a:r>
            <a:r>
              <a:rPr lang="en-US" altLang="zh-CN" sz="1000" dirty="0"/>
              <a:t>1</a:t>
            </a:r>
            <a:r>
              <a:rPr lang="zh-CN" altLang="en-US" sz="1000" dirty="0"/>
              <a:t>个字节的方式来表示。</a:t>
            </a:r>
            <a:endParaRPr lang="zh-CN" altLang="en-US" sz="1000" dirty="0"/>
          </a:p>
          <a:p>
            <a:pPr lvl="0" eaLnBrk="1" hangingPunct="1">
              <a:lnSpc>
                <a:spcPct val="90000"/>
              </a:lnSpc>
              <a:buChar char="•"/>
            </a:pPr>
            <a:r>
              <a:rPr lang="zh-CN" altLang="en-US" sz="1000" dirty="0"/>
              <a:t>如果</a:t>
            </a:r>
            <a:r>
              <a:rPr lang="en-US" altLang="zh-CN" sz="1000" dirty="0"/>
              <a:t>n</a:t>
            </a:r>
            <a:r>
              <a:rPr lang="zh-CN" altLang="en-US" sz="1000" dirty="0"/>
              <a:t>不能被</a:t>
            </a:r>
            <a:r>
              <a:rPr lang="en-US" altLang="zh-CN" sz="1000" dirty="0"/>
              <a:t>8</a:t>
            </a:r>
            <a:r>
              <a:rPr lang="zh-CN" altLang="en-US" sz="1000" dirty="0"/>
              <a:t>整除，那么剩下的二进制位可以忽略。</a:t>
            </a:r>
            <a:endParaRPr lang="zh-CN" altLang="en-US" sz="1000" dirty="0"/>
          </a:p>
          <a:p>
            <a:pPr lvl="0" eaLnBrk="1" hangingPunct="1">
              <a:lnSpc>
                <a:spcPct val="90000"/>
              </a:lnSpc>
            </a:pPr>
            <a:endParaRPr lang="en-US" altLang="zh-CN"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8371" name="Rectangle 2"/>
          <p:cNvSpPr>
            <a:spLocks noRot="1" noTextEdit="1"/>
          </p:cNvSpPr>
          <p:nvPr>
            <p:ph type="sldImg"/>
          </p:nvPr>
        </p:nvSpPr>
        <p:spPr/>
      </p:sp>
      <p:sp>
        <p:nvSpPr>
          <p:cNvPr id="58372" name="Rectangle 3"/>
          <p:cNvSpPr>
            <a:spLocks noGrp="1"/>
          </p:cNvSpPr>
          <p:nvPr>
            <p:ph type="body" idx="1"/>
          </p:nvPr>
        </p:nvSpPr>
        <p:spPr/>
        <p:txBody>
          <a:bodyPr wrap="square" lIns="91440" tIns="45720" rIns="91440" bIns="45720" anchor="t" anchorCtr="0"/>
          <a:p>
            <a:pPr lvl="0" eaLnBrk="1" hangingPunct="1"/>
            <a:r>
              <a:rPr lang="zh-CN" altLang="en-US" dirty="0"/>
              <a:t>定长记录：就是每条记录都是占用一定长度的字节数。记录的排列也就是一张表格每行有相同的长度，以一行为单元进行增加删除等修改操作。</a:t>
            </a:r>
            <a:endParaRPr lang="zh-CN" altLang="en-US" dirty="0"/>
          </a:p>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59395" name="Rectangle 2"/>
          <p:cNvSpPr>
            <a:spLocks noRot="1" noTextEdit="1"/>
          </p:cNvSpPr>
          <p:nvPr>
            <p:ph type="sldImg"/>
          </p:nvPr>
        </p:nvSpPr>
        <p:spPr/>
      </p:sp>
      <p:sp>
        <p:nvSpPr>
          <p:cNvPr id="59396" name="Rectangle 3"/>
          <p:cNvSpPr>
            <a:spLocks noGrp="1"/>
          </p:cNvSpPr>
          <p:nvPr>
            <p:ph type="body" idx="1"/>
          </p:nvPr>
        </p:nvSpPr>
        <p:spPr/>
        <p:txBody>
          <a:bodyPr wrap="square" lIns="91440" tIns="45720" rIns="91440" bIns="45720" anchor="t" anchorCtr="0"/>
          <a:p>
            <a:pPr lvl="0" eaLnBrk="1" hangingPunct="1"/>
            <a:r>
              <a:rPr lang="zh-CN" altLang="en-US" b="1" dirty="0"/>
              <a:t>定位法：</a:t>
            </a:r>
            <a:r>
              <a:rPr lang="zh-CN" altLang="en-US" dirty="0"/>
              <a:t>每个字段按其最大可能长度分配固定长的位置，数据从左向右填入，多余部分填以空格符。</a:t>
            </a:r>
            <a:endParaRPr lang="zh-CN" altLang="en-US" dirty="0"/>
          </a:p>
          <a:p>
            <a:pPr lvl="0" eaLnBrk="1" hangingPunct="1">
              <a:buChar char="•"/>
            </a:pPr>
            <a:r>
              <a:rPr lang="zh-CN" altLang="en-US" dirty="0"/>
              <a:t>优点：简单、使用广。系统可根据记录的定义，很容易算出字段相对于记录起始位置的偏移。</a:t>
            </a:r>
            <a:endParaRPr lang="zh-CN" altLang="en-US" dirty="0"/>
          </a:p>
          <a:p>
            <a:pPr lvl="0" eaLnBrk="1" hangingPunct="1">
              <a:buChar char="•"/>
            </a:pPr>
            <a:r>
              <a:rPr lang="zh-CN" altLang="en-US" dirty="0"/>
              <a:t>缺点：存储空间利用率不高。</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0419" name="Rectangle 2"/>
          <p:cNvSpPr>
            <a:spLocks noRot="1" noTextEdit="1"/>
          </p:cNvSpPr>
          <p:nvPr>
            <p:ph type="sldImg"/>
          </p:nvPr>
        </p:nvSpPr>
        <p:spPr/>
      </p:sp>
      <p:sp>
        <p:nvSpPr>
          <p:cNvPr id="60420" name="Rectangle 3"/>
          <p:cNvSpPr>
            <a:spLocks noGrp="1"/>
          </p:cNvSpPr>
          <p:nvPr>
            <p:ph type="body" idx="1"/>
          </p:nvPr>
        </p:nvSpPr>
        <p:spPr/>
        <p:txBody>
          <a:bodyPr wrap="square" lIns="91440" tIns="45720" rIns="91440" bIns="45720" anchor="t" anchorCtr="0"/>
          <a:p>
            <a:pPr lvl="0" eaLnBrk="1" hangingPunct="1"/>
            <a:r>
              <a:rPr lang="zh-CN" altLang="en-US" dirty="0"/>
              <a:t>内存起始字节地址为</a:t>
            </a:r>
            <a:r>
              <a:rPr lang="en-US" altLang="zh-CN" dirty="0"/>
              <a:t>4</a:t>
            </a:r>
            <a:r>
              <a:rPr lang="zh-CN" altLang="en-US" dirty="0"/>
              <a:t>的倍数</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1443" name="Rectangle 2"/>
          <p:cNvSpPr>
            <a:spLocks noRot="1" noTextEdit="1"/>
          </p:cNvSpPr>
          <p:nvPr>
            <p:ph type="sldImg"/>
          </p:nvPr>
        </p:nvSpPr>
        <p:spPr/>
      </p:sp>
      <p:sp>
        <p:nvSpPr>
          <p:cNvPr id="61444" name="Rectangle 3"/>
          <p:cNvSpPr>
            <a:spLocks noGrp="1"/>
          </p:cNvSpPr>
          <p:nvPr>
            <p:ph type="body" idx="1"/>
          </p:nvPr>
        </p:nvSpPr>
        <p:spPr/>
        <p:txBody>
          <a:bodyPr wrap="square" lIns="91440" tIns="45720" rIns="91440" bIns="45720" anchor="t" anchorCtr="0"/>
          <a:p>
            <a:pPr lvl="0" eaLnBrk="1" hangingPunct="1"/>
            <a:r>
              <a:rPr lang="zh-CN" altLang="en-US" b="1" dirty="0"/>
              <a:t>相对法：</a:t>
            </a:r>
            <a:r>
              <a:rPr lang="zh-CN" altLang="en-US" dirty="0"/>
              <a:t>各个字段不是分配固定长的空间。</a:t>
            </a:r>
            <a:endParaRPr lang="zh-CN" altLang="en-US" dirty="0"/>
          </a:p>
          <a:p>
            <a:pPr lvl="0" eaLnBrk="1" hangingPunct="1"/>
            <a:endParaRPr lang="zh-CN" altLang="en-US" sz="1000" dirty="0"/>
          </a:p>
          <a:p>
            <a:pPr lvl="0" eaLnBrk="1" hangingPunct="1"/>
            <a:r>
              <a:rPr lang="zh-CN" altLang="en-US" sz="1000" dirty="0"/>
              <a:t>变长记录的识别</a:t>
            </a:r>
            <a:r>
              <a:rPr lang="en-US" altLang="zh-CN" sz="1000" dirty="0"/>
              <a:t>:</a:t>
            </a:r>
            <a:endParaRPr lang="en-US" altLang="zh-CN" sz="1000" dirty="0"/>
          </a:p>
          <a:p>
            <a:pPr lvl="0" eaLnBrk="1" hangingPunct="1">
              <a:buChar char="•"/>
            </a:pPr>
            <a:r>
              <a:rPr lang="zh-CN" altLang="en-US" dirty="0"/>
              <a:t>记录结束标记，如用分号‘；’作标记。</a:t>
            </a:r>
            <a:endParaRPr lang="zh-CN" altLang="en-US" dirty="0"/>
          </a:p>
          <a:p>
            <a:pPr lvl="0" eaLnBrk="1" hangingPunct="1">
              <a:buChar char="•"/>
            </a:pPr>
            <a:r>
              <a:rPr lang="zh-CN" altLang="en-US" dirty="0"/>
              <a:t>记录长度指示器</a:t>
            </a:r>
            <a:endParaRPr lang="zh-CN" altLang="en-US" dirty="0"/>
          </a:p>
          <a:p>
            <a:pPr lvl="0" eaLnBrk="1" hangingPunct="1">
              <a:spcBef>
                <a:spcPct val="0"/>
              </a:spcBef>
              <a:buChar char="•"/>
            </a:pPr>
            <a:r>
              <a:rPr lang="zh-CN" altLang="en-US" dirty="0"/>
              <a:t>记录位置表</a:t>
            </a:r>
            <a:endParaRPr lang="zh-CN" altLang="en-US" dirty="0"/>
          </a:p>
          <a:p>
            <a:pPr lvl="0" eaLnBrk="1" hangingPunct="1"/>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2467" name="Rectangle 2"/>
          <p:cNvSpPr>
            <a:spLocks noRot="1" noTextEdit="1"/>
          </p:cNvSpPr>
          <p:nvPr>
            <p:ph type="sldImg"/>
          </p:nvPr>
        </p:nvSpPr>
        <p:spPr/>
      </p:sp>
      <p:sp>
        <p:nvSpPr>
          <p:cNvPr id="6246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3491" name="Rectangle 2"/>
          <p:cNvSpPr>
            <a:spLocks noRot="1" noTextEdit="1"/>
          </p:cNvSpPr>
          <p:nvPr>
            <p:ph type="sldImg"/>
          </p:nvPr>
        </p:nvSpPr>
        <p:spPr/>
      </p:sp>
      <p:sp>
        <p:nvSpPr>
          <p:cNvPr id="63492" name="Rectangle 3"/>
          <p:cNvSpPr>
            <a:spLocks noGrp="1"/>
          </p:cNvSpPr>
          <p:nvPr>
            <p:ph type="body" idx="1"/>
          </p:nvPr>
        </p:nvSpPr>
        <p:spPr/>
        <p:txBody>
          <a:bodyPr wrap="square" lIns="91440" tIns="45720" rIns="91440" bIns="45720" anchor="t" anchorCtr="0"/>
          <a:p>
            <a:pPr lvl="0" eaLnBrk="1" hangingPunct="1"/>
            <a:r>
              <a:rPr lang="zh-CN" altLang="en-US" b="1" dirty="0"/>
              <a:t>从物理存储角度考虑，记录组合成块；从逻辑存储角度考虑，记录组合成文件。</a:t>
            </a:r>
            <a:endParaRPr lang="zh-CN" altLang="en-US" b="1" dirty="0"/>
          </a:p>
          <a:p>
            <a:pPr lvl="0" eaLnBrk="1" hangingPunct="1"/>
            <a:r>
              <a:rPr lang="zh-CN" altLang="en-US" dirty="0"/>
              <a:t>一个文件中可能有成千上万个记录，这些记录如何安排，对于记录的查找、插入和删除等操作的速度和效率的影响非同小可。 </a:t>
            </a:r>
            <a:endParaRPr lang="zh-CN" altLang="en-US" dirty="0"/>
          </a:p>
          <a:p>
            <a:pPr lvl="0" eaLnBrk="1" hangingPunct="1"/>
            <a:endParaRPr lang="zh-CN" altLang="en-US" dirty="0"/>
          </a:p>
          <a:p>
            <a:pPr lvl="1" eaLnBrk="1" hangingPunct="1"/>
            <a:r>
              <a:rPr lang="zh-CN" altLang="en-US" dirty="0"/>
              <a:t>堆文件</a:t>
            </a:r>
            <a:r>
              <a:rPr lang="en-US" altLang="zh-CN" dirty="0"/>
              <a:t>(Heap File)</a:t>
            </a:r>
            <a:r>
              <a:rPr lang="zh-CN" altLang="en-US" dirty="0"/>
              <a:t>：</a:t>
            </a:r>
            <a:r>
              <a:rPr lang="zh-CN" altLang="en-US" b="1" dirty="0">
                <a:solidFill>
                  <a:srgbClr val="0000CC"/>
                </a:solidFill>
              </a:rPr>
              <a:t>无序文件</a:t>
            </a:r>
            <a:endParaRPr lang="zh-CN" altLang="en-US" dirty="0"/>
          </a:p>
          <a:p>
            <a:pPr lvl="1" eaLnBrk="1" hangingPunct="1"/>
            <a:r>
              <a:rPr lang="zh-CN" altLang="en-US" dirty="0"/>
              <a:t>顺序文件</a:t>
            </a:r>
            <a:r>
              <a:rPr lang="en-US" altLang="zh-CN" dirty="0"/>
              <a:t>(Sequential File)</a:t>
            </a:r>
            <a:r>
              <a:rPr lang="zh-CN" altLang="en-US" b="1" dirty="0">
                <a:solidFill>
                  <a:srgbClr val="0000CC"/>
                </a:solidFill>
              </a:rPr>
              <a:t>有序文件</a:t>
            </a:r>
            <a:endParaRPr lang="zh-CN" altLang="en-US" dirty="0"/>
          </a:p>
          <a:p>
            <a:pPr lvl="1" eaLnBrk="1" hangingPunct="1"/>
            <a:r>
              <a:rPr lang="zh-CN" altLang="en-US" dirty="0"/>
              <a:t>散列文件</a:t>
            </a:r>
            <a:r>
              <a:rPr lang="en-US" altLang="zh-CN" dirty="0"/>
              <a:t>(Hashing File)</a:t>
            </a:r>
            <a:r>
              <a:rPr lang="zh-CN" altLang="en-US" b="1" dirty="0">
                <a:solidFill>
                  <a:srgbClr val="0000CC"/>
                </a:solidFill>
              </a:rPr>
              <a:t>有序文件</a:t>
            </a:r>
            <a:endParaRPr lang="zh-CN" altLang="en-US" dirty="0"/>
          </a:p>
          <a:p>
            <a:pPr lvl="1" eaLnBrk="1" hangingPunct="1"/>
            <a:r>
              <a:rPr lang="zh-CN" altLang="en-US" dirty="0"/>
              <a:t>聚集文件</a:t>
            </a:r>
            <a:r>
              <a:rPr lang="en-US" altLang="zh-CN" dirty="0"/>
              <a:t>(Clustering File)</a:t>
            </a:r>
            <a:r>
              <a:rPr lang="zh-CN" altLang="en-US" b="1" dirty="0">
                <a:solidFill>
                  <a:srgbClr val="0000CC"/>
                </a:solidFill>
              </a:rPr>
              <a:t>有序文件</a:t>
            </a:r>
            <a:endParaRPr lang="zh-CN" altLang="en-US" dirty="0"/>
          </a:p>
          <a:p>
            <a:pPr lvl="0" eaLnBrk="1" hangingPunct="1"/>
            <a:endParaRPr lang="en-US"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4515" name="Rectangle 2"/>
          <p:cNvSpPr>
            <a:spLocks noRot="1" noTextEdit="1"/>
          </p:cNvSpPr>
          <p:nvPr>
            <p:ph type="sldImg"/>
          </p:nvPr>
        </p:nvSpPr>
        <p:spPr/>
      </p:sp>
      <p:sp>
        <p:nvSpPr>
          <p:cNvPr id="64516" name="Rectangle 3"/>
          <p:cNvSpPr>
            <a:spLocks noGrp="1"/>
          </p:cNvSpPr>
          <p:nvPr>
            <p:ph type="body" idx="1"/>
          </p:nvPr>
        </p:nvSpPr>
        <p:spPr/>
        <p:txBody>
          <a:bodyPr wrap="square" lIns="91440" tIns="45720" rIns="91440" bIns="45720" anchor="t" anchorCtr="0"/>
          <a:p>
            <a:pPr lvl="0" eaLnBrk="1" hangingPunct="1"/>
            <a:r>
              <a:rPr lang="zh-CN" altLang="en-US" dirty="0"/>
              <a:t>结构：按数据记录到达文件的时间顺序依次存储数据。</a:t>
            </a:r>
            <a:endParaRPr lang="zh-CN" altLang="en-US" dirty="0"/>
          </a:p>
          <a:p>
            <a:pPr lvl="0" eaLnBrk="1" hangingPunct="1"/>
            <a:r>
              <a:rPr lang="zh-CN" altLang="en-US" dirty="0"/>
              <a:t>用途：日志文件、临时文件、数据装入的初始文件。</a:t>
            </a:r>
            <a:endParaRPr lang="zh-CN" altLang="en-US" dirty="0"/>
          </a:p>
          <a:p>
            <a:pPr lvl="0" eaLnBrk="1" hangingPunct="1"/>
            <a:endParaRPr lang="zh-CN" altLang="en-US" dirty="0"/>
          </a:p>
          <a:p>
            <a:pPr lvl="0" eaLnBrk="1" hangingPunct="1"/>
            <a:r>
              <a:rPr lang="zh-CN" altLang="en-US" dirty="0"/>
              <a:t>无序文件的删除操作比较复杂，常用的方法主要有以下三种：</a:t>
            </a:r>
            <a:endParaRPr lang="zh-CN" altLang="en-US" dirty="0"/>
          </a:p>
          <a:p>
            <a:pPr lvl="0" eaLnBrk="1" hangingPunct="1"/>
            <a:r>
              <a:rPr lang="zh-CN" altLang="en-US" dirty="0"/>
              <a:t>（１）首先找到被删记录所在的磁盘块，然后读到主存缓冲区，在缓冲区中删除记录，最后把缓冲区内容写回到磁盘文件．</a:t>
            </a:r>
            <a:endParaRPr lang="zh-CN" altLang="en-US" dirty="0"/>
          </a:p>
          <a:p>
            <a:pPr lvl="0" eaLnBrk="1" hangingPunct="1"/>
            <a:r>
              <a:rPr lang="zh-CN" altLang="en-US" dirty="0"/>
              <a:t>（２）在每个记录的存储空间增加一个标志位，标识记录删除与否，一般该标志常为空。删除一个记录时，将此记录的标志位置“</a:t>
            </a:r>
            <a:r>
              <a:rPr lang="en-US" altLang="zh-CN" dirty="0"/>
              <a:t>1”, </a:t>
            </a:r>
            <a:r>
              <a:rPr lang="zh-CN" altLang="en-US" dirty="0"/>
              <a:t>以后查找记录时跳过有该标志的记录。</a:t>
            </a:r>
            <a:endParaRPr lang="zh-CN" altLang="en-US" dirty="0"/>
          </a:p>
          <a:p>
            <a:pPr lvl="0" eaLnBrk="1" hangingPunct="1"/>
            <a:r>
              <a:rPr lang="zh-CN" altLang="en-US" dirty="0"/>
              <a:t>（３）常用于定长记录文件，删除一个记录时，总是把文件末尾记录移到被删记录位置。 </a:t>
            </a:r>
            <a:endParaRPr lang="zh-CN" altLang="en-US" dirty="0"/>
          </a:p>
          <a:p>
            <a:pPr lvl="0" eaLnBrk="1" hangingPunct="1"/>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5539" name="Rectangle 2"/>
          <p:cNvSpPr>
            <a:spLocks noRot="1" noTextEdit="1"/>
          </p:cNvSpPr>
          <p:nvPr>
            <p:ph type="sldImg"/>
          </p:nvPr>
        </p:nvSpPr>
        <p:spPr/>
      </p:sp>
      <p:sp>
        <p:nvSpPr>
          <p:cNvPr id="65540" name="Rectangle 3"/>
          <p:cNvSpPr>
            <a:spLocks noGrp="1"/>
          </p:cNvSpPr>
          <p:nvPr>
            <p:ph type="body" idx="1"/>
          </p:nvPr>
        </p:nvSpPr>
        <p:spPr/>
        <p:txBody>
          <a:bodyPr wrap="square" lIns="91440" tIns="45720" rIns="91440" bIns="45720" anchor="t" anchorCtr="0"/>
          <a:p>
            <a:pPr lvl="0" eaLnBrk="1" hangingPunct="1">
              <a:lnSpc>
                <a:spcPct val="90000"/>
              </a:lnSpc>
            </a:pPr>
            <a:r>
              <a:rPr lang="zh-CN" altLang="en-US" sz="1000" dirty="0"/>
              <a:t>逻辑上按某一关键字</a:t>
            </a:r>
            <a:r>
              <a:rPr lang="en-US" altLang="zh-CN" sz="1000" dirty="0"/>
              <a:t>(</a:t>
            </a:r>
            <a:r>
              <a:rPr lang="zh-CN" altLang="en-US" sz="1000" dirty="0"/>
              <a:t>一般为主关键字</a:t>
            </a:r>
            <a:r>
              <a:rPr lang="en-US" altLang="zh-CN" sz="1000" dirty="0"/>
              <a:t>)</a:t>
            </a:r>
            <a:r>
              <a:rPr lang="zh-CN" altLang="en-US" sz="1000" dirty="0"/>
              <a:t>顺序排列的文件。</a:t>
            </a:r>
            <a:endParaRPr lang="zh-CN" altLang="en-US" sz="1000" dirty="0"/>
          </a:p>
          <a:p>
            <a:pPr lvl="0" eaLnBrk="1" hangingPunct="1">
              <a:lnSpc>
                <a:spcPct val="90000"/>
              </a:lnSpc>
            </a:pPr>
            <a:r>
              <a:rPr lang="zh-CN" altLang="en-US" sz="1000" dirty="0"/>
              <a:t>有序文件是指记录按某个（或某些）域的值的大小顺序组织，一般最为常用的是按关键字的升序或降序排列，即每个记录增加一个指针字段，根据主键的大小用指针把记录链接起来</a:t>
            </a:r>
            <a:r>
              <a:rPr lang="zh-CN" altLang="en-US" sz="1000" b="1" dirty="0"/>
              <a:t>。</a:t>
            </a:r>
            <a:r>
              <a:rPr lang="zh-CN" altLang="en-US" sz="1000" dirty="0"/>
              <a:t> </a:t>
            </a:r>
            <a:endParaRPr lang="zh-CN" altLang="en-US" sz="1000" dirty="0"/>
          </a:p>
          <a:p>
            <a:pPr lvl="0" eaLnBrk="1" hangingPunct="1">
              <a:lnSpc>
                <a:spcPct val="90000"/>
              </a:lnSpc>
            </a:pPr>
            <a:r>
              <a:rPr lang="zh-CN" altLang="en-US" sz="1000" dirty="0"/>
              <a:t>文件中每个记录增加一个指针字段，根据查找键的大小用指针把记录连接起来。</a:t>
            </a:r>
            <a:endParaRPr lang="zh-CN" altLang="en-US" sz="1000" dirty="0"/>
          </a:p>
          <a:p>
            <a:pPr lvl="0" eaLnBrk="1" hangingPunct="1">
              <a:lnSpc>
                <a:spcPct val="90000"/>
              </a:lnSpc>
            </a:pPr>
            <a:endParaRPr lang="zh-CN" altLang="en-US" sz="1000" dirty="0"/>
          </a:p>
          <a:p>
            <a:pPr lvl="0" eaLnBrk="1" hangingPunct="1">
              <a:lnSpc>
                <a:spcPct val="90000"/>
              </a:lnSpc>
            </a:pPr>
            <a:r>
              <a:rPr lang="en-US" altLang="zh-CN" b="1" dirty="0"/>
              <a:t>1.</a:t>
            </a:r>
            <a:r>
              <a:rPr lang="zh-CN" altLang="en-US" b="1" dirty="0"/>
              <a:t>物理结构</a:t>
            </a:r>
            <a:endParaRPr lang="zh-CN" altLang="en-US" b="1" dirty="0"/>
          </a:p>
          <a:p>
            <a:pPr lvl="0" eaLnBrk="1" hangingPunct="1">
              <a:lnSpc>
                <a:spcPct val="90000"/>
              </a:lnSpc>
            </a:pPr>
            <a:r>
              <a:rPr lang="zh-CN" altLang="en-US" sz="1000" b="1" dirty="0"/>
              <a:t>      </a:t>
            </a:r>
            <a:r>
              <a:rPr lang="en-US" altLang="zh-CN" sz="1000" b="1" dirty="0"/>
              <a:t>1</a:t>
            </a:r>
            <a:r>
              <a:rPr lang="zh-CN" altLang="en-US" sz="1000" b="1" dirty="0"/>
              <a:t>）向量结构，地址连续的空间，地址顺序实现逻辑顺序。</a:t>
            </a:r>
            <a:endParaRPr lang="zh-CN" altLang="en-US" sz="1000" b="1" dirty="0"/>
          </a:p>
          <a:p>
            <a:pPr lvl="0" eaLnBrk="1" hangingPunct="1">
              <a:lnSpc>
                <a:spcPct val="90000"/>
              </a:lnSpc>
            </a:pPr>
            <a:r>
              <a:rPr lang="zh-CN" altLang="en-US" sz="1000" b="1" dirty="0"/>
              <a:t>	插入：移动后续记录   溢出指针   预留空间</a:t>
            </a:r>
            <a:endParaRPr lang="zh-CN" altLang="en-US" sz="1000" b="1" dirty="0"/>
          </a:p>
          <a:p>
            <a:pPr lvl="0" eaLnBrk="1" hangingPunct="1">
              <a:lnSpc>
                <a:spcPct val="90000"/>
              </a:lnSpc>
            </a:pPr>
            <a:r>
              <a:rPr lang="zh-CN" altLang="en-US" sz="1000" b="1" dirty="0"/>
              <a:t>	删除：后续记录上移   删除标记</a:t>
            </a:r>
            <a:endParaRPr lang="zh-CN" altLang="en-US" sz="1000" b="1" dirty="0"/>
          </a:p>
          <a:p>
            <a:pPr lvl="0" eaLnBrk="1" hangingPunct="1">
              <a:lnSpc>
                <a:spcPct val="90000"/>
              </a:lnSpc>
            </a:pPr>
            <a:r>
              <a:rPr lang="zh-CN" altLang="en-US" sz="1000" b="1" dirty="0"/>
              <a:t>      </a:t>
            </a:r>
            <a:r>
              <a:rPr lang="en-US" altLang="zh-CN" sz="1000" b="1" dirty="0"/>
              <a:t>2</a:t>
            </a:r>
            <a:r>
              <a:rPr lang="zh-CN" altLang="en-US" sz="1000" b="1" dirty="0"/>
              <a:t>）链结构，指针维持逻辑顺序。</a:t>
            </a:r>
            <a:endParaRPr lang="zh-CN" altLang="en-US" sz="1000" b="1" dirty="0"/>
          </a:p>
          <a:p>
            <a:pPr lvl="0" eaLnBrk="1" hangingPunct="1">
              <a:lnSpc>
                <a:spcPct val="90000"/>
              </a:lnSpc>
            </a:pPr>
            <a:r>
              <a:rPr lang="zh-CN" altLang="en-US" sz="1000" b="1" dirty="0"/>
              <a:t>	插入：修改指针</a:t>
            </a:r>
            <a:endParaRPr lang="zh-CN" altLang="en-US" sz="1000" b="1" dirty="0"/>
          </a:p>
          <a:p>
            <a:pPr lvl="0" eaLnBrk="1" hangingPunct="1">
              <a:lnSpc>
                <a:spcPct val="90000"/>
              </a:lnSpc>
            </a:pPr>
            <a:r>
              <a:rPr lang="zh-CN" altLang="en-US" sz="1000" b="1" dirty="0"/>
              <a:t>	删除：修改指针</a:t>
            </a:r>
            <a:endParaRPr lang="zh-CN" altLang="en-US" sz="1000" b="1" dirty="0"/>
          </a:p>
          <a:p>
            <a:pPr lvl="0" eaLnBrk="1" hangingPunct="1">
              <a:lnSpc>
                <a:spcPct val="90000"/>
              </a:lnSpc>
            </a:pPr>
            <a:r>
              <a:rPr lang="zh-CN" altLang="en-US" sz="1000" b="1" dirty="0"/>
              <a:t>      </a:t>
            </a:r>
            <a:r>
              <a:rPr lang="en-US" altLang="zh-CN" sz="1000" b="1" dirty="0"/>
              <a:t>3</a:t>
            </a:r>
            <a:r>
              <a:rPr lang="zh-CN" altLang="en-US" sz="1000" b="1" dirty="0"/>
              <a:t>）块链结构，块中地址顺序表示逻辑顺序，块间指针链接维持逻辑顺序。</a:t>
            </a:r>
            <a:endParaRPr lang="zh-CN" altLang="en-US" sz="1000" b="1" dirty="0"/>
          </a:p>
          <a:p>
            <a:pPr lvl="0" eaLnBrk="1" hangingPunct="1">
              <a:lnSpc>
                <a:spcPct val="90000"/>
              </a:lnSpc>
            </a:pPr>
            <a:r>
              <a:rPr lang="zh-CN" altLang="en-US" sz="1000" b="1" dirty="0"/>
              <a:t>	插入：移动块中后续记录    块分裂</a:t>
            </a:r>
            <a:endParaRPr lang="zh-CN" altLang="en-US" sz="1000" b="1" dirty="0"/>
          </a:p>
          <a:p>
            <a:pPr lvl="0" eaLnBrk="1" hangingPunct="1">
              <a:lnSpc>
                <a:spcPct val="90000"/>
              </a:lnSpc>
            </a:pPr>
            <a:r>
              <a:rPr lang="zh-CN" altLang="en-US" sz="1000" b="1" dirty="0"/>
              <a:t>	删除：块中后续记录前移    块合并</a:t>
            </a:r>
            <a:endParaRPr lang="zh-CN" altLang="en-US" sz="1000" b="1" dirty="0"/>
          </a:p>
          <a:p>
            <a:pPr lvl="0" eaLnBrk="1" hangingPunct="1">
              <a:lnSpc>
                <a:spcPct val="90000"/>
              </a:lnSpc>
            </a:pPr>
            <a:endParaRPr lang="zh-CN" altLang="en-US" sz="1000" b="1" dirty="0"/>
          </a:p>
          <a:p>
            <a:pPr lvl="0" eaLnBrk="1" hangingPunct="1">
              <a:lnSpc>
                <a:spcPct val="90000"/>
              </a:lnSpc>
            </a:pPr>
            <a:r>
              <a:rPr lang="en-US" altLang="zh-CN" sz="1000" b="1" dirty="0"/>
              <a:t>2. </a:t>
            </a:r>
            <a:r>
              <a:rPr lang="zh-CN" altLang="en-US" sz="1000" b="1" dirty="0"/>
              <a:t>查找</a:t>
            </a:r>
            <a:endParaRPr lang="zh-CN" altLang="en-US" sz="1000" b="1" dirty="0"/>
          </a:p>
          <a:p>
            <a:pPr lvl="0" eaLnBrk="1" hangingPunct="1">
              <a:lnSpc>
                <a:spcPct val="90000"/>
              </a:lnSpc>
            </a:pPr>
            <a:r>
              <a:rPr lang="zh-CN" altLang="en-US" b="1" dirty="0"/>
              <a:t> </a:t>
            </a:r>
            <a:r>
              <a:rPr lang="en-US" altLang="zh-CN" b="1" dirty="0"/>
              <a:t>1</a:t>
            </a:r>
            <a:r>
              <a:rPr lang="zh-CN" altLang="en-US" b="1" dirty="0"/>
              <a:t>）顺序扫描</a:t>
            </a:r>
            <a:endParaRPr lang="zh-CN" altLang="en-US" b="1" dirty="0"/>
          </a:p>
          <a:p>
            <a:pPr lvl="0" eaLnBrk="1" hangingPunct="1">
              <a:lnSpc>
                <a:spcPct val="90000"/>
              </a:lnSpc>
            </a:pPr>
            <a:r>
              <a:rPr lang="zh-CN" altLang="en-US" b="1" dirty="0"/>
              <a:t> </a:t>
            </a:r>
            <a:r>
              <a:rPr lang="en-US" altLang="zh-CN" b="1" dirty="0"/>
              <a:t>2</a:t>
            </a:r>
            <a:r>
              <a:rPr lang="zh-CN" altLang="en-US" b="1" dirty="0"/>
              <a:t>）分块查找</a:t>
            </a:r>
            <a:endParaRPr lang="zh-CN" altLang="en-US" b="1" dirty="0"/>
          </a:p>
          <a:p>
            <a:pPr lvl="0" eaLnBrk="1" hangingPunct="1">
              <a:lnSpc>
                <a:spcPct val="90000"/>
              </a:lnSpc>
            </a:pPr>
            <a:r>
              <a:rPr lang="zh-CN" altLang="en-US" b="1" dirty="0"/>
              <a:t> </a:t>
            </a:r>
            <a:r>
              <a:rPr lang="en-US" altLang="zh-CN" b="1" dirty="0"/>
              <a:t>3</a:t>
            </a:r>
            <a:r>
              <a:rPr lang="zh-CN" altLang="en-US" b="1" dirty="0"/>
              <a:t>）折半查找</a:t>
            </a:r>
            <a:endParaRPr lang="zh-CN" altLang="en-US" b="1" dirty="0"/>
          </a:p>
          <a:p>
            <a:pPr lvl="0" eaLnBrk="1" hangingPunct="1">
              <a:lnSpc>
                <a:spcPct val="90000"/>
              </a:lnSpc>
            </a:pPr>
            <a:r>
              <a:rPr lang="zh-CN" altLang="en-US" b="1" dirty="0"/>
              <a:t> </a:t>
            </a:r>
            <a:r>
              <a:rPr lang="en-US" altLang="zh-CN" b="1" dirty="0"/>
              <a:t>4</a:t>
            </a:r>
            <a:r>
              <a:rPr lang="zh-CN" altLang="en-US" b="1" dirty="0"/>
              <a:t>）探查</a:t>
            </a:r>
            <a:endParaRPr lang="zh-CN" altLang="en-US" b="1" dirty="0"/>
          </a:p>
          <a:p>
            <a:pPr lvl="0" eaLnBrk="1" hangingPunct="1">
              <a:lnSpc>
                <a:spcPct val="90000"/>
              </a:lnSpc>
            </a:pPr>
            <a:endParaRPr lang="en-US" altLang="zh-CN" sz="10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6563" name="Rectangle 2"/>
          <p:cNvSpPr>
            <a:spLocks noRot="1" noTextEdit="1"/>
          </p:cNvSpPr>
          <p:nvPr>
            <p:ph type="sldImg"/>
          </p:nvPr>
        </p:nvSpPr>
        <p:spPr/>
      </p:sp>
      <p:sp>
        <p:nvSpPr>
          <p:cNvPr id="66564" name="Rectangle 3"/>
          <p:cNvSpPr>
            <a:spLocks noGrp="1"/>
          </p:cNvSpPr>
          <p:nvPr>
            <p:ph type="body" idx="1"/>
          </p:nvPr>
        </p:nvSpPr>
        <p:spPr/>
        <p:txBody>
          <a:bodyPr wrap="square" lIns="91440" tIns="45720" rIns="91440" bIns="45720" anchor="t" anchorCtr="0"/>
          <a:p>
            <a:pPr lvl="0" eaLnBrk="1" hangingPunct="1">
              <a:lnSpc>
                <a:spcPct val="90000"/>
              </a:lnSpc>
            </a:pPr>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7587" name="Rectangle 2"/>
          <p:cNvSpPr>
            <a:spLocks noRot="1" noTextEdit="1"/>
          </p:cNvSpPr>
          <p:nvPr>
            <p:ph type="sldImg"/>
          </p:nvPr>
        </p:nvSpPr>
        <p:spPr/>
      </p:sp>
      <p:sp>
        <p:nvSpPr>
          <p:cNvPr id="67588" name="Rectangle 3"/>
          <p:cNvSpPr>
            <a:spLocks noGrp="1"/>
          </p:cNvSpPr>
          <p:nvPr>
            <p:ph type="body" idx="1"/>
          </p:nvPr>
        </p:nvSpPr>
        <p:spPr/>
        <p:txBody>
          <a:bodyPr wrap="square" lIns="91440" tIns="45720" rIns="91440" bIns="45720" anchor="t" anchorCtr="0"/>
          <a:p>
            <a:pPr lvl="0" eaLnBrk="1" hangingPunct="1"/>
            <a:r>
              <a:rPr lang="zh-CN" altLang="en-US" dirty="0"/>
              <a:t>一个文件可以存储多个关系的记录，不同关系中有联系的记录存储在同一块内。</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8611" name="Rectangle 2"/>
          <p:cNvSpPr>
            <a:spLocks noRot="1" noTextEdit="1"/>
          </p:cNvSpPr>
          <p:nvPr>
            <p:ph type="sldImg"/>
          </p:nvPr>
        </p:nvSpPr>
        <p:spPr/>
      </p:sp>
      <p:sp>
        <p:nvSpPr>
          <p:cNvPr id="686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69635" name="Rectangle 2"/>
          <p:cNvSpPr>
            <a:spLocks noRot="1" noTextEdit="1"/>
          </p:cNvSpPr>
          <p:nvPr>
            <p:ph type="sldImg"/>
          </p:nvPr>
        </p:nvSpPr>
        <p:spPr/>
      </p:sp>
      <p:sp>
        <p:nvSpPr>
          <p:cNvPr id="69636" name="Rectangle 3"/>
          <p:cNvSpPr>
            <a:spLocks noGrp="1"/>
          </p:cNvSpPr>
          <p:nvPr>
            <p:ph type="body" idx="1"/>
          </p:nvPr>
        </p:nvSpPr>
        <p:spPr/>
        <p:txBody>
          <a:bodyPr wrap="square" lIns="91440" tIns="45720" rIns="91440" bIns="45720" anchor="t" anchorCtr="0"/>
          <a:p>
            <a:pPr lvl="0" eaLnBrk="1" hangingPunct="1"/>
            <a:r>
              <a:rPr lang="zh-CN" altLang="en-US" dirty="0"/>
              <a:t>对记录的某些字段进行散列运算（散列函数），求得的值作为记录的存储的地址。</a:t>
            </a:r>
            <a:endParaRPr lang="zh-CN" altLang="en-US" dirty="0"/>
          </a:p>
          <a:p>
            <a:pPr lvl="0" eaLnBrk="1" hangingPunct="1">
              <a:lnSpc>
                <a:spcPct val="110000"/>
              </a:lnSpc>
            </a:pPr>
            <a:r>
              <a:rPr lang="zh-CN" altLang="en-US" dirty="0"/>
              <a:t>索引</a:t>
            </a:r>
            <a:endParaRPr lang="zh-CN" altLang="en-US" dirty="0"/>
          </a:p>
          <a:p>
            <a:pPr lvl="1" eaLnBrk="1" hangingPunct="1">
              <a:lnSpc>
                <a:spcPct val="110000"/>
              </a:lnSpc>
            </a:pPr>
            <a:r>
              <a:rPr lang="zh-CN" altLang="en-US" sz="1400" dirty="0"/>
              <a:t>是一个基于关系的某些属性，能实现记录的快速查询的</a:t>
            </a:r>
            <a:r>
              <a:rPr lang="zh-CN" altLang="en-US" sz="1400" u="sng" dirty="0"/>
              <a:t>数据结构</a:t>
            </a:r>
            <a:endParaRPr lang="zh-CN" altLang="en-US" sz="1400" u="sng" dirty="0"/>
          </a:p>
          <a:p>
            <a:pPr lvl="1" eaLnBrk="1" hangingPunct="1">
              <a:lnSpc>
                <a:spcPct val="110000"/>
              </a:lnSpc>
            </a:pPr>
            <a:r>
              <a:rPr lang="zh-CN" altLang="en-US" sz="1400" dirty="0"/>
              <a:t>只需依据特定属性值，就可定位结果记录所在的存储块</a:t>
            </a:r>
            <a:endParaRPr lang="zh-CN" altLang="en-US" sz="1400" dirty="0"/>
          </a:p>
          <a:p>
            <a:pPr lvl="1" eaLnBrk="1" hangingPunct="1">
              <a:lnSpc>
                <a:spcPct val="110000"/>
              </a:lnSpc>
            </a:pPr>
            <a:r>
              <a:rPr lang="zh-CN" altLang="en-US" sz="1400" dirty="0"/>
              <a:t>占用存储空间</a:t>
            </a:r>
            <a:endParaRPr lang="zh-CN" altLang="en-US" sz="1400" dirty="0"/>
          </a:p>
          <a:p>
            <a:pPr lvl="0" eaLnBrk="1" hangingPunct="1"/>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0659" name="Rectangle 2"/>
          <p:cNvSpPr>
            <a:spLocks noRot="1" noTextEdit="1"/>
          </p:cNvSpPr>
          <p:nvPr>
            <p:ph type="sldImg"/>
          </p:nvPr>
        </p:nvSpPr>
        <p:spPr/>
      </p:sp>
      <p:sp>
        <p:nvSpPr>
          <p:cNvPr id="70660" name="Rectangle 3"/>
          <p:cNvSpPr>
            <a:spLocks noGrp="1"/>
          </p:cNvSpPr>
          <p:nvPr>
            <p:ph type="body" idx="1"/>
          </p:nvPr>
        </p:nvSpPr>
        <p:spPr/>
        <p:txBody>
          <a:bodyPr wrap="square" lIns="91440" tIns="45720" rIns="91440" bIns="45720" anchor="t" anchorCtr="0"/>
          <a:p>
            <a:pPr lvl="0" eaLnBrk="1" hangingPunct="1"/>
            <a:r>
              <a:rPr lang="zh-CN" altLang="en-US" dirty="0"/>
              <a:t>对记录的某些字段进行散列运算（散列函数），求得的值作为记录的存储的地址。</a:t>
            </a:r>
            <a:endParaRPr lang="zh-CN" altLang="en-US" dirty="0"/>
          </a:p>
          <a:p>
            <a:pPr lvl="0" eaLnBrk="1" hangingPunct="1"/>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1683" name="Rectangle 2"/>
          <p:cNvSpPr>
            <a:spLocks noRot="1" noTextEdit="1"/>
          </p:cNvSpPr>
          <p:nvPr>
            <p:ph type="sldImg"/>
          </p:nvPr>
        </p:nvSpPr>
        <p:spPr/>
      </p:sp>
      <p:sp>
        <p:nvSpPr>
          <p:cNvPr id="71684" name="Rectangle 3"/>
          <p:cNvSpPr>
            <a:spLocks noGrp="1"/>
          </p:cNvSpPr>
          <p:nvPr>
            <p:ph type="body" idx="1"/>
          </p:nvPr>
        </p:nvSpPr>
        <p:spPr/>
        <p:txBody>
          <a:bodyPr wrap="square" lIns="91440" tIns="45720" rIns="91440" bIns="45720" anchor="t" anchorCtr="0"/>
          <a:p>
            <a:pPr lvl="0" eaLnBrk="1" hangingPunct="1"/>
            <a:r>
              <a:rPr lang="zh-CN" altLang="en-US" dirty="0"/>
              <a:t>设为</a:t>
            </a:r>
            <a:r>
              <a:rPr lang="en-US" altLang="zh-CN" dirty="0"/>
              <a:t>HASH</a:t>
            </a:r>
            <a:r>
              <a:rPr lang="zh-CN" altLang="en-US" dirty="0"/>
              <a:t>文件准备的存储空间分为主数据区、溢出区。主数据区由</a:t>
            </a:r>
            <a:r>
              <a:rPr lang="en-US" altLang="zh-CN" dirty="0"/>
              <a:t>M</a:t>
            </a:r>
            <a:r>
              <a:rPr lang="zh-CN" altLang="en-US" dirty="0"/>
              <a:t>个桶组成，编号：</a:t>
            </a:r>
            <a:r>
              <a:rPr lang="en-US" altLang="zh-CN" dirty="0"/>
              <a:t>0</a:t>
            </a:r>
            <a:r>
              <a:rPr lang="zh-CN" altLang="en-US" dirty="0"/>
              <a:t>，</a:t>
            </a:r>
            <a:r>
              <a:rPr lang="en-US" altLang="zh-CN" dirty="0"/>
              <a:t>1</a:t>
            </a:r>
            <a:r>
              <a:rPr lang="zh-CN" altLang="en-US" dirty="0"/>
              <a:t>，</a:t>
            </a:r>
            <a:r>
              <a:rPr lang="en-US" altLang="zh-CN" dirty="0"/>
              <a:t>---,M</a:t>
            </a:r>
            <a:r>
              <a:rPr lang="zh-CN" altLang="en-US" dirty="0"/>
              <a:t>－</a:t>
            </a:r>
            <a:r>
              <a:rPr lang="en-US" altLang="zh-CN" dirty="0"/>
              <a:t>1</a:t>
            </a:r>
            <a:r>
              <a:rPr lang="zh-CN" altLang="en-US" dirty="0"/>
              <a:t>。</a:t>
            </a:r>
            <a:endParaRPr lang="zh-CN" altLang="en-US" dirty="0"/>
          </a:p>
          <a:p>
            <a:pPr lvl="0" eaLnBrk="1" hangingPunct="1"/>
            <a:r>
              <a:rPr lang="zh-CN" altLang="en-US" dirty="0"/>
              <a:t>哈希索引</a:t>
            </a:r>
            <a:r>
              <a:rPr lang="en-US" altLang="zh-CN" dirty="0"/>
              <a:t>(</a:t>
            </a:r>
            <a:r>
              <a:rPr lang="zh-CN" altLang="en-US" dirty="0"/>
              <a:t>散列索引</a:t>
            </a:r>
            <a:r>
              <a:rPr lang="en-US" altLang="zh-CN" dirty="0"/>
              <a:t>)</a:t>
            </a:r>
            <a:r>
              <a:rPr lang="zh-CN" altLang="en-US" dirty="0"/>
              <a:t>是利用记录的关键字</a:t>
            </a:r>
            <a:r>
              <a:rPr lang="en-US" altLang="zh-CN" dirty="0"/>
              <a:t>K, </a:t>
            </a:r>
            <a:r>
              <a:rPr lang="zh-CN" altLang="en-US" dirty="0"/>
              <a:t>计算该记录应存储的桶号</a:t>
            </a:r>
            <a:r>
              <a:rPr lang="en-US" altLang="zh-CN" dirty="0"/>
              <a:t>h(K)</a:t>
            </a:r>
            <a:r>
              <a:rPr lang="zh-CN" altLang="en-US" dirty="0"/>
              <a:t>，是一种关键字变地址的文件组织方法。</a:t>
            </a:r>
            <a:endParaRPr lang="zh-CN" altLang="en-US" dirty="0"/>
          </a:p>
          <a:p>
            <a:pPr lvl="0" eaLnBrk="1" hangingPunct="1"/>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2707" name="Rectangle 2"/>
          <p:cNvSpPr>
            <a:spLocks noRot="1" noTextEdit="1"/>
          </p:cNvSpPr>
          <p:nvPr>
            <p:ph type="sldImg"/>
          </p:nvPr>
        </p:nvSpPr>
        <p:spPr/>
      </p:sp>
      <p:sp>
        <p:nvSpPr>
          <p:cNvPr id="72708" name="Rectangle 3"/>
          <p:cNvSpPr>
            <a:spLocks noGrp="1"/>
          </p:cNvSpPr>
          <p:nvPr>
            <p:ph type="body" idx="1"/>
          </p:nvPr>
        </p:nvSpPr>
        <p:spPr/>
        <p:txBody>
          <a:bodyPr wrap="square" lIns="91440" tIns="45720" rIns="91440" bIns="45720" anchor="t" anchorCtr="0"/>
          <a:p>
            <a:pPr lvl="0" eaLnBrk="1" hangingPunct="1"/>
            <a:r>
              <a:rPr lang="en-US" altLang="zh-CN" sz="1400" dirty="0"/>
              <a:t>HASH</a:t>
            </a:r>
            <a:r>
              <a:rPr lang="zh-CN" altLang="en-US" sz="1400" dirty="0"/>
              <a:t>方法的步骤 </a:t>
            </a:r>
            <a:endParaRPr lang="zh-CN" altLang="en-US" sz="1400" dirty="0"/>
          </a:p>
          <a:p>
            <a:pPr lvl="1" eaLnBrk="1" hangingPunct="1">
              <a:buFont typeface="Wingdings" panose="05000000000000000000" pitchFamily="2" charset="2"/>
              <a:buChar char="•"/>
            </a:pPr>
            <a:r>
              <a:rPr lang="zh-CN" altLang="en-US" sz="1400" dirty="0"/>
              <a:t>将关键字转换成易于运算的数字形式</a:t>
            </a:r>
            <a:endParaRPr lang="zh-CN" altLang="en-US" sz="1400" dirty="0"/>
          </a:p>
          <a:p>
            <a:pPr lvl="1" eaLnBrk="1" hangingPunct="1">
              <a:buFont typeface="Wingdings" panose="05000000000000000000" pitchFamily="2" charset="2"/>
              <a:buChar char="•"/>
            </a:pPr>
            <a:r>
              <a:rPr lang="zh-CN" altLang="en-US" sz="1400" dirty="0"/>
              <a:t>调整数量级</a:t>
            </a:r>
            <a:endParaRPr lang="zh-CN" altLang="en-US" sz="1400" dirty="0"/>
          </a:p>
          <a:p>
            <a:pPr lvl="1" eaLnBrk="1" hangingPunct="1">
              <a:buFont typeface="Wingdings" panose="05000000000000000000" pitchFamily="2" charset="2"/>
              <a:buChar char="•"/>
            </a:pPr>
            <a:r>
              <a:rPr lang="zh-CN" altLang="en-US" sz="1400" dirty="0"/>
              <a:t>紧缩范围，实现均匀分布</a:t>
            </a:r>
            <a:endParaRPr lang="zh-CN" altLang="en-US" sz="1400" dirty="0"/>
          </a:p>
          <a:p>
            <a:pPr lvl="1" eaLnBrk="1" hangingPunct="1">
              <a:buFont typeface="Wingdings" panose="05000000000000000000" pitchFamily="2" charset="2"/>
              <a:buChar char="•"/>
            </a:pPr>
            <a:r>
              <a:rPr lang="zh-CN" altLang="en-US" sz="1400" dirty="0"/>
              <a:t>根据散列函数计算出来的桶号，通过查找桶目录表，得出存储地址</a:t>
            </a:r>
            <a:endParaRPr lang="zh-CN" altLang="en-US" sz="1400" dirty="0"/>
          </a:p>
          <a:p>
            <a:pPr lvl="0" eaLnBrk="1" hangingPunct="1"/>
            <a:endParaRPr lang="en-US"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3731" name="Rectangle 2"/>
          <p:cNvSpPr>
            <a:spLocks noRot="1" noTextEdit="1"/>
          </p:cNvSpPr>
          <p:nvPr>
            <p:ph type="sldImg"/>
          </p:nvPr>
        </p:nvSpPr>
        <p:spPr/>
      </p:sp>
      <p:sp>
        <p:nvSpPr>
          <p:cNvPr id="7373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4755" name="Rectangle 2"/>
          <p:cNvSpPr>
            <a:spLocks noRot="1" noTextEdit="1"/>
          </p:cNvSpPr>
          <p:nvPr>
            <p:ph type="sldImg"/>
          </p:nvPr>
        </p:nvSpPr>
        <p:spPr/>
      </p:sp>
      <p:sp>
        <p:nvSpPr>
          <p:cNvPr id="74756" name="Rectangle 3"/>
          <p:cNvSpPr>
            <a:spLocks noGrp="1"/>
          </p:cNvSpPr>
          <p:nvPr>
            <p:ph type="body" idx="1"/>
          </p:nvPr>
        </p:nvSpPr>
        <p:spPr/>
        <p:txBody>
          <a:bodyPr wrap="square" lIns="91440" tIns="45720" rIns="91440" bIns="45720" anchor="t" anchorCtr="0"/>
          <a:p>
            <a:pPr lvl="0" eaLnBrk="1" hangingPunct="1"/>
            <a:r>
              <a:rPr lang="zh-CN" altLang="en-US" dirty="0">
                <a:solidFill>
                  <a:srgbClr val="FF3300"/>
                </a:solidFill>
              </a:rPr>
              <a:t>问题</a:t>
            </a:r>
            <a:r>
              <a:rPr lang="zh-CN" altLang="en-US" dirty="0"/>
              <a:t>： 由于桶所存储的记录数是一定的，再插入操作时很容易发生溢出。</a:t>
            </a:r>
            <a:endParaRPr lang="zh-CN" altLang="en-US" dirty="0"/>
          </a:p>
          <a:p>
            <a:pPr lvl="0" eaLnBrk="1" hangingPunct="1"/>
            <a:r>
              <a:rPr lang="zh-CN" altLang="en-US" dirty="0">
                <a:solidFill>
                  <a:srgbClr val="FF3300"/>
                </a:solidFill>
              </a:rPr>
              <a:t>原因</a:t>
            </a:r>
            <a:r>
              <a:rPr lang="zh-CN" altLang="en-US" dirty="0"/>
              <a:t>：一是桶的数目少；二是散列的均匀性不好。</a:t>
            </a:r>
            <a:endParaRPr lang="zh-CN" altLang="en-US" dirty="0"/>
          </a:p>
          <a:p>
            <a:pPr lvl="0" eaLnBrk="1" hangingPunct="1"/>
            <a:r>
              <a:rPr lang="zh-CN" altLang="en-US" dirty="0">
                <a:solidFill>
                  <a:srgbClr val="FF3300"/>
                </a:solidFill>
              </a:rPr>
              <a:t>解决：</a:t>
            </a:r>
            <a:r>
              <a:rPr lang="en-US" altLang="zh-CN" dirty="0"/>
              <a:t>1</a:t>
            </a:r>
            <a:r>
              <a:rPr lang="zh-CN" altLang="en-US" dirty="0"/>
              <a:t>）溢出链法：每个桶都作为基本桶存在，若溢出，系统提供一处桶连接在基本桶后面。  </a:t>
            </a:r>
            <a:endParaRPr lang="zh-CN" altLang="en-US" dirty="0"/>
          </a:p>
          <a:p>
            <a:pPr lvl="0" eaLnBrk="1" hangingPunct="1"/>
            <a:r>
              <a:rPr lang="zh-CN" altLang="en-US" dirty="0"/>
              <a:t>          </a:t>
            </a:r>
            <a:r>
              <a:rPr lang="en-US" altLang="zh-CN" dirty="0"/>
              <a:t>2</a:t>
            </a:r>
            <a:r>
              <a:rPr lang="zh-CN" altLang="en-US" dirty="0"/>
              <a:t>）开放式散列法：只存在基本桶，若溢出就插入其他空闲的桶。有两种选择方式：</a:t>
            </a:r>
            <a:endParaRPr lang="zh-CN" altLang="en-US" dirty="0"/>
          </a:p>
          <a:p>
            <a:pPr lvl="0" eaLnBrk="1" hangingPunct="1"/>
            <a:r>
              <a:rPr lang="zh-CN" altLang="en-US" dirty="0"/>
              <a:t>            </a:t>
            </a:r>
            <a:r>
              <a:rPr lang="en-US" altLang="zh-CN" dirty="0"/>
              <a:t>1</a:t>
            </a:r>
            <a:r>
              <a:rPr lang="zh-CN" altLang="en-US" dirty="0"/>
              <a:t>。在溢出桶下面的一个空闲桶；</a:t>
            </a:r>
            <a:endParaRPr lang="zh-CN" altLang="en-US" dirty="0"/>
          </a:p>
          <a:p>
            <a:pPr lvl="0" eaLnBrk="1" hangingPunct="1"/>
            <a:r>
              <a:rPr lang="zh-CN" altLang="en-US" dirty="0"/>
              <a:t>            </a:t>
            </a:r>
            <a:r>
              <a:rPr lang="en-US" altLang="zh-CN" dirty="0"/>
              <a:t>2</a:t>
            </a:r>
            <a:r>
              <a:rPr lang="zh-CN" altLang="en-US" dirty="0"/>
              <a:t>。采用二次散列的方法。</a:t>
            </a:r>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5779" name="Rectangle 2"/>
          <p:cNvSpPr>
            <a:spLocks noRot="1" noTextEdit="1"/>
          </p:cNvSpPr>
          <p:nvPr>
            <p:ph type="sldImg"/>
          </p:nvPr>
        </p:nvSpPr>
        <p:spPr/>
      </p:sp>
      <p:sp>
        <p:nvSpPr>
          <p:cNvPr id="7578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6803" name="Rectangle 2"/>
          <p:cNvSpPr>
            <a:spLocks noRot="1" noTextEdit="1"/>
          </p:cNvSpPr>
          <p:nvPr>
            <p:ph type="sldImg"/>
          </p:nvPr>
        </p:nvSpPr>
        <p:spPr/>
      </p:sp>
      <p:sp>
        <p:nvSpPr>
          <p:cNvPr id="76804" name="Rectangle 3"/>
          <p:cNvSpPr>
            <a:spLocks noGrp="1"/>
          </p:cNvSpPr>
          <p:nvPr>
            <p:ph type="body" idx="1"/>
          </p:nvPr>
        </p:nvSpPr>
        <p:spPr/>
        <p:txBody>
          <a:bodyPr wrap="square" lIns="91440" tIns="45720" rIns="91440" bIns="45720" anchor="t" anchorCtr="0"/>
          <a:p>
            <a:pPr lvl="0" eaLnBrk="1" hangingPunct="1"/>
            <a:r>
              <a:rPr lang="zh-CN" altLang="en-US" dirty="0"/>
              <a:t>该方法采用固定个数的</a:t>
            </a:r>
            <a:r>
              <a:rPr lang="en-US" altLang="zh-CN" dirty="0"/>
              <a:t>HASH</a:t>
            </a:r>
            <a:r>
              <a:rPr lang="zh-CN" altLang="en-US" dirty="0"/>
              <a:t>桶</a:t>
            </a:r>
            <a:endParaRPr lang="zh-CN" altLang="en-US" dirty="0"/>
          </a:p>
          <a:p>
            <a:pPr lvl="0" eaLnBrk="1" hangingPunct="1"/>
            <a:r>
              <a:rPr lang="zh-CN" altLang="en-US" sz="1400" dirty="0">
                <a:solidFill>
                  <a:srgbClr val="0000CC"/>
                </a:solidFill>
              </a:rPr>
              <a:t>散列方法必须选取恰当的散列函数</a:t>
            </a:r>
            <a:endParaRPr lang="zh-CN" altLang="en-US" sz="1400" dirty="0">
              <a:solidFill>
                <a:srgbClr val="0000CC"/>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7827" name="Rectangle 2"/>
          <p:cNvSpPr>
            <a:spLocks noRot="1" noTextEdit="1"/>
          </p:cNvSpPr>
          <p:nvPr>
            <p:ph type="sldImg"/>
          </p:nvPr>
        </p:nvSpPr>
        <p:spPr/>
      </p:sp>
      <p:sp>
        <p:nvSpPr>
          <p:cNvPr id="77828"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CC"/>
                </a:solidFill>
              </a:rPr>
              <a:t>缺点：</a:t>
            </a:r>
            <a:r>
              <a:rPr lang="zh-CN" altLang="en-US" sz="1400" dirty="0"/>
              <a:t>对数据的变化适应能力很低。</a:t>
            </a:r>
            <a:endParaRPr lang="zh-CN" altLang="en-US" sz="140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8851" name="Rectangle 2"/>
          <p:cNvSpPr>
            <a:spLocks noRot="1" noTextEdit="1"/>
          </p:cNvSpPr>
          <p:nvPr>
            <p:ph type="sldImg"/>
          </p:nvPr>
        </p:nvSpPr>
        <p:spPr/>
      </p:sp>
      <p:sp>
        <p:nvSpPr>
          <p:cNvPr id="78852"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CC"/>
                </a:solidFill>
              </a:rPr>
              <a:t>缺点：</a:t>
            </a:r>
            <a:r>
              <a:rPr lang="zh-CN" altLang="en-US" sz="1400" dirty="0"/>
              <a:t>对数据的变化适应能力很低。</a:t>
            </a:r>
            <a:endParaRPr lang="zh-CN" altLang="en-US" sz="140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79875" name="Rectangle 2"/>
          <p:cNvSpPr>
            <a:spLocks noRot="1" noTextEdit="1"/>
          </p:cNvSpPr>
          <p:nvPr>
            <p:ph type="sldImg"/>
          </p:nvPr>
        </p:nvSpPr>
        <p:spPr/>
      </p:sp>
      <p:sp>
        <p:nvSpPr>
          <p:cNvPr id="79876" name="Rectangle 3"/>
          <p:cNvSpPr>
            <a:spLocks noGrp="1"/>
          </p:cNvSpPr>
          <p:nvPr>
            <p:ph type="body" idx="1"/>
          </p:nvPr>
        </p:nvSpPr>
        <p:spPr/>
        <p:txBody>
          <a:bodyPr wrap="square" lIns="91440" tIns="45720" rIns="91440" bIns="45720" anchor="t" anchorCtr="0"/>
          <a:p>
            <a:pPr lvl="0" eaLnBrk="1" hangingPunct="1"/>
            <a:r>
              <a:rPr lang="zh-CN" altLang="en-US" dirty="0">
                <a:solidFill>
                  <a:srgbClr val="0000CC"/>
                </a:solidFill>
              </a:rPr>
              <a:t>缺点：</a:t>
            </a:r>
            <a:r>
              <a:rPr lang="zh-CN" altLang="en-US" sz="1400" dirty="0"/>
              <a:t>对数据的变化适应能力很低。</a:t>
            </a:r>
            <a:endParaRPr lang="zh-CN" altLang="en-US" sz="140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0899" name="Rectangle 2"/>
          <p:cNvSpPr>
            <a:spLocks noRot="1" noTextEdit="1"/>
          </p:cNvSpPr>
          <p:nvPr>
            <p:ph type="sldImg"/>
          </p:nvPr>
        </p:nvSpPr>
        <p:spPr/>
      </p:sp>
      <p:sp>
        <p:nvSpPr>
          <p:cNvPr id="80900" name="Rectangle 3"/>
          <p:cNvSpPr>
            <a:spLocks noGrp="1"/>
          </p:cNvSpPr>
          <p:nvPr>
            <p:ph type="body" idx="1"/>
          </p:nvPr>
        </p:nvSpPr>
        <p:spPr/>
        <p:txBody>
          <a:bodyPr wrap="square" lIns="91440" tIns="45720" rIns="91440" bIns="45720" anchor="t" anchorCtr="0"/>
          <a:p>
            <a:pPr lvl="0" eaLnBrk="1" hangingPunct="1"/>
            <a:endParaRPr lang="en-US"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sz="1200" b="0" dirty="0">
                <a:solidFill>
                  <a:schemeClr val="tx1"/>
                </a:solidFill>
                <a:ea typeface="宋体" panose="02010600030101010101" pitchFamily="2" charset="-122"/>
              </a:rPr>
            </a:fld>
            <a:endParaRPr lang="en-US" altLang="zh-CN" sz="1200" b="0" dirty="0">
              <a:solidFill>
                <a:schemeClr val="tx1"/>
              </a:solidFill>
              <a:ea typeface="宋体" panose="02010600030101010101" pitchFamily="2" charset="-122"/>
            </a:endParaRPr>
          </a:p>
        </p:txBody>
      </p:sp>
      <p:sp>
        <p:nvSpPr>
          <p:cNvPr id="81923" name="Rectangle 2"/>
          <p:cNvSpPr>
            <a:spLocks noRot="1" noTextEdit="1"/>
          </p:cNvSpPr>
          <p:nvPr>
            <p:ph type="sldImg"/>
          </p:nvPr>
        </p:nvSpPr>
        <p:spPr/>
      </p:sp>
      <p:sp>
        <p:nvSpPr>
          <p:cNvPr id="81924" name="Rectangle 3"/>
          <p:cNvSpPr>
            <a:spLocks noGrp="1"/>
          </p:cNvSpPr>
          <p:nvPr>
            <p:ph type="body" idx="1"/>
          </p:nvPr>
        </p:nvSpPr>
        <p:spPr/>
        <p:txBody>
          <a:bodyPr wrap="square" lIns="91440" tIns="45720" rIns="91440" bIns="45720" anchor="t" anchorCtr="0"/>
          <a:p>
            <a:pPr lvl="0" eaLnBrk="1" hangingPunct="1">
              <a:buChar char="•"/>
            </a:pPr>
            <a:endParaRPr lang="en-US"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0115" name="Rectangle 2"/>
          <p:cNvSpPr>
            <a:spLocks noRot="1" noTextEdit="1"/>
          </p:cNvSpPr>
          <p:nvPr>
            <p:ph type="sldImg"/>
          </p:nvPr>
        </p:nvSpPr>
        <p:spPr/>
      </p:sp>
      <p:sp>
        <p:nvSpPr>
          <p:cNvPr id="9011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1139" name="Rectangle 2"/>
          <p:cNvSpPr>
            <a:spLocks noRot="1" noTextEdit="1"/>
          </p:cNvSpPr>
          <p:nvPr>
            <p:ph type="sldImg"/>
          </p:nvPr>
        </p:nvSpPr>
        <p:spPr/>
      </p:sp>
      <p:sp>
        <p:nvSpPr>
          <p:cNvPr id="91140"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2163" name="Rectangle 2"/>
          <p:cNvSpPr>
            <a:spLocks noRot="1" noTextEdit="1"/>
          </p:cNvSpPr>
          <p:nvPr>
            <p:ph type="sldImg"/>
          </p:nvPr>
        </p:nvSpPr>
        <p:spPr/>
      </p:sp>
      <p:sp>
        <p:nvSpPr>
          <p:cNvPr id="92164"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3187" name="Rectangle 2"/>
          <p:cNvSpPr>
            <a:spLocks noRot="1" noTextEdit="1"/>
          </p:cNvSpPr>
          <p:nvPr>
            <p:ph type="sldImg"/>
          </p:nvPr>
        </p:nvSpPr>
        <p:spPr/>
      </p:sp>
      <p:sp>
        <p:nvSpPr>
          <p:cNvPr id="93188"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4211" name="Rectangle 2"/>
          <p:cNvSpPr>
            <a:spLocks noRot="1" noTextEdit="1"/>
          </p:cNvSpPr>
          <p:nvPr>
            <p:ph type="sldImg"/>
          </p:nvPr>
        </p:nvSpPr>
        <p:spPr/>
      </p:sp>
      <p:sp>
        <p:nvSpPr>
          <p:cNvPr id="94212"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zh-CN" dirty="0"/>
            </a:fld>
            <a:endParaRPr lang="en-US" altLang="zh-CN" dirty="0"/>
          </a:p>
        </p:txBody>
      </p:sp>
      <p:sp>
        <p:nvSpPr>
          <p:cNvPr id="95235" name="Rectangle 2"/>
          <p:cNvSpPr>
            <a:spLocks noRot="1" noTextEdit="1"/>
          </p:cNvSpPr>
          <p:nvPr>
            <p:ph type="sldImg"/>
          </p:nvPr>
        </p:nvSpPr>
        <p:spPr/>
      </p:sp>
      <p:sp>
        <p:nvSpPr>
          <p:cNvPr id="95236" name="Rectangle 3"/>
          <p:cNvSpPr>
            <a:spLocks noGrp="1"/>
          </p:cNvSpPr>
          <p:nvPr>
            <p:ph type="body" idx="1"/>
          </p:nvPr>
        </p:nvSpPr>
        <p:spPr/>
        <p:txBody>
          <a:bodyPr wrap="square" lIns="91440" tIns="45720" rIns="91440" bIns="45720" anchor="t" anchorCtr="0"/>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rgbClr val="FFFFFF"/>
        </a:solidFill>
        <a:effectLst/>
      </p:bgPr>
    </p:bg>
    <p:spTree>
      <p:nvGrpSpPr>
        <p:cNvPr id="1" name=""/>
        <p:cNvGrpSpPr/>
        <p:nvPr/>
      </p:nvGrpSpPr>
      <p:grpSpPr>
        <a:xfrm>
          <a:off x="0" y="0"/>
          <a:ext cx="0" cy="0"/>
          <a:chOff x="0" y="0"/>
          <a:chExt cx="0" cy="0"/>
        </a:xfrm>
      </p:grpSpPr>
      <p:sp>
        <p:nvSpPr>
          <p:cNvPr id="205839" name="Rectangle 15"/>
          <p:cNvSpPr>
            <a:spLocks noGrp="1" noChangeArrowheads="1"/>
          </p:cNvSpPr>
          <p:nvPr>
            <p:ph type="ctrTitle" sz="quarter"/>
          </p:nvPr>
        </p:nvSpPr>
        <p:spPr>
          <a:xfrm>
            <a:off x="684213" y="1219200"/>
            <a:ext cx="7772400" cy="1143000"/>
          </a:xfrm>
        </p:spPr>
        <p:txBody>
          <a:bodyPr/>
          <a:lstStyle>
            <a:lvl1pPr>
              <a:defRPr/>
            </a:lvl1pPr>
          </a:lstStyle>
          <a:p>
            <a:r>
              <a:rPr lang="en-US" altLang="zh-CN"/>
              <a:t>Click to edit Master title style</a:t>
            </a:r>
            <a:endParaRPr lang="en-US" altLang="zh-CN"/>
          </a:p>
        </p:txBody>
      </p:sp>
      <p:sp>
        <p:nvSpPr>
          <p:cNvPr id="205840" name="Rectangle 16"/>
          <p:cNvSpPr>
            <a:spLocks noGrp="1" noChangeArrowheads="1"/>
          </p:cNvSpPr>
          <p:nvPr>
            <p:ph type="subTitle" sz="quarter" idx="1"/>
          </p:nvPr>
        </p:nvSpPr>
        <p:spPr>
          <a:xfrm>
            <a:off x="611188" y="2819400"/>
            <a:ext cx="8020050" cy="3200400"/>
          </a:xfrm>
        </p:spPr>
        <p:txBody>
          <a:bodyPr lIns="92075" tIns="46038" rIns="92075" bIns="46038"/>
          <a:lstStyle>
            <a:lvl1pPr marL="0" indent="0" algn="ctr">
              <a:buFont typeface="Wingdings" panose="05000000000000000000" pitchFamily="2" charset="2"/>
              <a:buNone/>
              <a:defRPr/>
            </a:lvl1pPr>
          </a:lstStyle>
          <a:p>
            <a:r>
              <a:rPr lang="en-US" altLang="zh-CN"/>
              <a:t>Click to edit Master subtitle style</a:t>
            </a:r>
            <a:endParaRPr lang="en-US" altLang="zh-CN"/>
          </a:p>
        </p:txBody>
      </p:sp>
      <p:sp>
        <p:nvSpPr>
          <p:cNvPr id="10" name="Rectangle 17"/>
          <p:cNvSpPr>
            <a:spLocks noGrp="1" noChangeArrowheads="1"/>
          </p:cNvSpPr>
          <p:nvPr>
            <p:ph type="dt" sz="quarter" idx="2"/>
          </p:nvPr>
        </p:nvSpPr>
        <p:spPr bwMode="auto">
          <a:xfrm>
            <a:off x="152400" y="6248400"/>
            <a:ext cx="19050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1" name="Rectangle 18"/>
          <p:cNvSpPr>
            <a:spLocks noGrp="1" noChangeArrowheads="1"/>
          </p:cNvSpPr>
          <p:nvPr>
            <p:ph type="ftr" sz="quarter" idx="3"/>
          </p:nvPr>
        </p:nvSpPr>
        <p:spPr bwMode="auto">
          <a:xfrm>
            <a:off x="3124200" y="6248400"/>
            <a:ext cx="2895600" cy="457200"/>
          </a:xfrm>
          <a:prstGeom prst="rect">
            <a:avLst/>
          </a:prstGeom>
          <a:ln>
            <a:miter lim="800000"/>
          </a:ln>
        </p:spPr>
        <p:txBody>
          <a:bodyPr vert="horz" wrap="none" lIns="92075" tIns="46038" rIns="92075" bIns="46038" numCol="1" anchor="ctr" anchorCtr="0" compatLnSpc="1"/>
          <a:lstStyle>
            <a:lvl1pPr>
              <a:defRPr i="1">
                <a:latin typeface="+mj-lt"/>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1"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12" name="Rectangle 19"/>
          <p:cNvSpPr>
            <a:spLocks noGrp="1" noChangeArrowheads="1"/>
          </p:cNvSpPr>
          <p:nvPr>
            <p:ph type="sldNum" sz="quarter" idx="4"/>
          </p:nvPr>
        </p:nvSpPr>
        <p:spPr bwMode="auto">
          <a:xfrm>
            <a:off x="7162800" y="6248400"/>
            <a:ext cx="1905000" cy="457200"/>
          </a:xfrm>
          <a:prstGeom prst="rect">
            <a:avLst/>
          </a:prstGeom>
          <a:ln>
            <a:miter lim="800000"/>
          </a:ln>
        </p:spPr>
        <p:txBody>
          <a:bodyPr vert="horz" wrap="none" lIns="92075" tIns="46038" rIns="92075" bIns="46038" numCol="1" anchor="ctr" anchorCtr="0" compatLnSpc="1"/>
          <a:p>
            <a:pPr algn="r">
              <a:spcBef>
                <a:spcPct val="0"/>
              </a:spcBef>
              <a:buNone/>
            </a:pPr>
            <a:fld id="{9A0DB2DC-4C9A-4742-B13C-FB6460FD3503}" type="slidenum">
              <a:rPr lang="en-US" altLang="zh-CN" i="1" dirty="0">
                <a:ea typeface="宋体" panose="02010600030101010101" pitchFamily="2" charset="-122"/>
              </a:rPr>
            </a:fld>
            <a:endParaRPr lang="en-US" altLang="zh-CN" i="1" dirty="0">
              <a:ea typeface="宋体" panose="02010600030101010101" pitchFamily="2" charset="-122"/>
            </a:endParaRPr>
          </a:p>
        </p:txBody>
      </p:sp>
    </p:spTree>
  </p:cSld>
  <p:clrMapOvr>
    <a:masterClrMapping/>
  </p:clrMapOvr>
  <p:transition>
    <p:random/>
    <p:sndAc>
      <p:stSnd>
        <p:snd r:embed="rId2" name="CAMERA.WAV"/>
      </p:stSnd>
    </p:sndAc>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52400" y="1016000"/>
            <a:ext cx="4348163" cy="5473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1016000"/>
            <a:ext cx="4348162" cy="54737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None/>
              <a:defRPr/>
            </a:pPr>
            <a:endParaRPr kumimoji="0" lang="zh-CN" altLang="en-US" sz="32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9738" y="144463"/>
            <a:ext cx="2211387" cy="634523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52400" y="144463"/>
            <a:ext cx="6484938" cy="6345237"/>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44463"/>
            <a:ext cx="8659812" cy="6921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152400" y="1016000"/>
            <a:ext cx="4348163" cy="5473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52963" y="1016000"/>
            <a:ext cx="4348162" cy="54737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79388" y="144463"/>
            <a:ext cx="8659812" cy="69215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152400" y="1016000"/>
            <a:ext cx="8848725" cy="5473700"/>
          </a:xfrm>
        </p:spPr>
        <p:txBody>
          <a:bodyPr vert="horz" wrap="square" lIns="91440" tIns="45720" rIns="91440" bIns="45720" numCol="1" anchor="t" anchorCtr="0" compatLnSpc="1"/>
          <a:lstStyle/>
          <a:p>
            <a:pPr marL="360680" marR="0" lvl="0" indent="-360680" algn="l" defTabSz="914400" rtl="0" eaLnBrk="0" fontAlgn="base" latinLnBrk="0" hangingPunct="0">
              <a:lnSpc>
                <a:spcPct val="100000"/>
              </a:lnSpc>
              <a:spcBef>
                <a:spcPct val="0"/>
              </a:spcBef>
              <a:spcAft>
                <a:spcPct val="0"/>
              </a:spcAft>
              <a:buClr>
                <a:srgbClr val="FF0000"/>
              </a:buClr>
              <a:buSzPct val="65000"/>
              <a:buFont typeface="Wingdings" panose="05000000000000000000" pitchFamily="2" charset="2"/>
              <a:buChar char="n"/>
              <a:defRPr/>
            </a:pPr>
            <a:endParaRPr kumimoji="0" lang="zh-CN" altLang="en-US" sz="3600" b="1" i="0" u="none" strike="noStrike" kern="0" cap="none" spc="0" normalizeH="0" baseline="0" noProof="0" smtClean="0">
              <a:ln>
                <a:noFill/>
              </a:ln>
              <a:solidFill>
                <a:srgbClr val="000000"/>
              </a:solidFill>
              <a:effectLst/>
              <a:uLnTx/>
              <a:uFillTx/>
              <a:latin typeface="+mn-lt"/>
              <a:ea typeface="+mn-ea"/>
              <a:cs typeface="+mn-cs"/>
            </a:endParaRPr>
          </a:p>
        </p:txBody>
      </p:sp>
      <p:sp>
        <p:nvSpPr>
          <p:cNvPr id="4" name="日期占位符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lvl="0" eaLnBrk="0" hangingPunct="0">
              <a:spcBef>
                <a:spcPct val="0"/>
              </a:spcBef>
              <a:buNone/>
            </a:pPr>
            <a:fld id="{9A0DB2DC-4C9A-4742-B13C-FB6460FD3503}" type="slidenum">
              <a:rPr lang="en-US" altLang="zh-CN" dirty="0"/>
            </a:fld>
            <a:endParaRPr lang="en-US" altLang="zh-CN" dirty="0"/>
          </a:p>
        </p:txBody>
      </p:sp>
    </p:spTree>
  </p:cSld>
  <p:clrMapOvr>
    <a:masterClrMapping/>
  </p:clrMapOvr>
  <p:transition>
    <p:random/>
    <p:sndAc>
      <p:stSnd>
        <p:snd r:embed="rId2" name="CAMERA.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vmlDrawing" Target="../drawings/vmlDrawing1.vml"/><Relationship Id="rId17" Type="http://schemas.openxmlformats.org/officeDocument/2006/relationships/audio" Target="../media/audio1.wav"/><Relationship Id="rId16" Type="http://schemas.openxmlformats.org/officeDocument/2006/relationships/image" Target="../media/image2.wmf"/><Relationship Id="rId15" Type="http://schemas.openxmlformats.org/officeDocument/2006/relationships/control" Target="../activeX/activeX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p:sp>
        <p:nvSpPr>
          <p:cNvPr id="204802" name="Rectangle 2"/>
          <p:cNvSpPr>
            <a:spLocks noGrp="1" noChangeArrowheads="1"/>
          </p:cNvSpPr>
          <p:nvPr>
            <p:ph type="title"/>
          </p:nvPr>
        </p:nvSpPr>
        <p:spPr bwMode="auto">
          <a:xfrm>
            <a:off x="179388" y="144463"/>
            <a:ext cx="8659813" cy="692150"/>
          </a:xfrm>
          <a:prstGeom prst="rect">
            <a:avLst/>
          </a:prstGeom>
          <a:noFill/>
          <a:ln w="9525">
            <a:noFill/>
            <a:miter lim="800000"/>
          </a:ln>
          <a:effectLst/>
        </p:spPr>
        <p:txBody>
          <a:bodyPr vert="horz" wrap="square" lIns="92075" tIns="46038" rIns="92075" bIns="46038" numCol="1" anchor="ctr" anchorCtr="0" compatLnSpc="1"/>
          <a:lstStyle/>
          <a:p>
            <a:pPr lvl="0"/>
            <a:r>
              <a:rPr lang="en-US" altLang="zh-CN" smtClean="0"/>
              <a:t>Click to edit Master title style</a:t>
            </a:r>
            <a:endParaRPr lang="en-US" altLang="zh-CN" smtClean="0"/>
          </a:p>
        </p:txBody>
      </p:sp>
      <p:sp>
        <p:nvSpPr>
          <p:cNvPr id="204803" name="Rectangle 3"/>
          <p:cNvSpPr>
            <a:spLocks noGrp="1" noChangeArrowheads="1"/>
          </p:cNvSpPr>
          <p:nvPr>
            <p:ph type="dt" sz="half" idx="2"/>
          </p:nvPr>
        </p:nvSpPr>
        <p:spPr bwMode="auto">
          <a:xfrm>
            <a:off x="1295400" y="6248400"/>
            <a:ext cx="1905000" cy="457200"/>
          </a:xfrm>
          <a:prstGeom prst="rect">
            <a:avLst/>
          </a:prstGeom>
          <a:noFill/>
          <a:ln w="9525">
            <a:noFill/>
            <a:miter lim="800000"/>
          </a:ln>
          <a:effectLst/>
        </p:spPr>
        <p:txBody>
          <a:bodyPr vert="horz" wrap="none" lIns="92075" tIns="46038" rIns="92075" bIns="46038" numCol="1" anchor="ctr" anchorCtr="0" compatLnSpc="1"/>
          <a:lstStyle>
            <a:lvl1pPr eaLnBrk="0" hangingPunct="0">
              <a:spcBef>
                <a:spcPct val="0"/>
              </a:spcBef>
              <a:defRPr sz="1400" b="0">
                <a:solidFill>
                  <a:schemeClr val="tx1"/>
                </a:solidFill>
                <a:latin typeface="+mn-lt"/>
                <a:ea typeface="宋体" panose="02010600030101010101" pitchFamily="2"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4804" name="Rectangle 4"/>
          <p:cNvSpPr>
            <a:spLocks noGrp="1" noChangeArrowheads="1"/>
          </p:cNvSpPr>
          <p:nvPr>
            <p:ph type="ftr" sz="quarter" idx="3"/>
          </p:nvPr>
        </p:nvSpPr>
        <p:spPr bwMode="auto">
          <a:xfrm>
            <a:off x="3733800" y="6248400"/>
            <a:ext cx="2895600" cy="457200"/>
          </a:xfrm>
          <a:prstGeom prst="rect">
            <a:avLst/>
          </a:prstGeom>
          <a:noFill/>
          <a:ln w="9525">
            <a:noFill/>
            <a:miter lim="800000"/>
          </a:ln>
          <a:effectLst/>
        </p:spPr>
        <p:txBody>
          <a:bodyPr vert="horz" wrap="none" lIns="92075" tIns="46038" rIns="92075" bIns="46038" numCol="1" anchor="ctr" anchorCtr="0" compatLnSpc="1"/>
          <a:lstStyle>
            <a:lvl1pPr algn="ctr" eaLnBrk="0" hangingPunct="0">
              <a:spcBef>
                <a:spcPct val="0"/>
              </a:spcBef>
              <a:defRPr sz="1400" b="0">
                <a:solidFill>
                  <a:schemeClr val="tx1"/>
                </a:solidFill>
                <a:latin typeface="+mn-lt"/>
                <a:ea typeface="宋体" panose="02010600030101010101" pitchFamily="2"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204805" name="Rectangle 5"/>
          <p:cNvSpPr>
            <a:spLocks noGrp="1" noChangeArrowheads="1"/>
          </p:cNvSpPr>
          <p:nvPr>
            <p:ph type="sldNum" sz="quarter" idx="4"/>
          </p:nvPr>
        </p:nvSpPr>
        <p:spPr bwMode="auto">
          <a:xfrm>
            <a:off x="7162800" y="6248400"/>
            <a:ext cx="1905000" cy="457200"/>
          </a:xfrm>
          <a:prstGeom prst="rect">
            <a:avLst/>
          </a:prstGeom>
          <a:noFill/>
          <a:ln w="9525">
            <a:noFill/>
            <a:miter lim="800000"/>
          </a:ln>
          <a:effectLst/>
        </p:spPr>
        <p:txBody>
          <a:bodyPr vert="horz" wrap="none" lIns="92075" tIns="46038" rIns="92075" bIns="46038" numCol="1" anchor="ctr" anchorCtr="0" compatLnSpc="1"/>
          <a:lstStyle>
            <a:lvl1pPr algn="r">
              <a:defRPr sz="1400" b="0">
                <a:solidFill>
                  <a:schemeClr val="tx1"/>
                </a:solidFill>
                <a:latin typeface="Times New Roman" panose="02020603050405020304" pitchFamily="18" charset="0"/>
                <a:ea typeface="宋体" panose="02010600030101010101" pitchFamily="2" charset="-122"/>
              </a:defRPr>
            </a:lvl1pPr>
          </a:lstStyle>
          <a:p>
            <a:pPr lvl="0" eaLnBrk="0" hangingPunct="0">
              <a:spcBef>
                <a:spcPct val="0"/>
              </a:spcBef>
              <a:buNone/>
            </a:pPr>
            <a:fld id="{9A0DB2DC-4C9A-4742-B13C-FB6460FD3503}" type="slidenum">
              <a:rPr lang="en-US" altLang="zh-CN" dirty="0"/>
            </a:fld>
            <a:endParaRPr lang="en-US" altLang="zh-CN" dirty="0"/>
          </a:p>
        </p:txBody>
      </p:sp>
      <p:sp>
        <p:nvSpPr>
          <p:cNvPr id="1032" name="Rectangle 6"/>
          <p:cNvSpPr>
            <a:spLocks noGrp="1"/>
          </p:cNvSpPr>
          <p:nvPr>
            <p:ph type="body" idx="1"/>
          </p:nvPr>
        </p:nvSpPr>
        <p:spPr>
          <a:xfrm>
            <a:off x="152400" y="1016000"/>
            <a:ext cx="8848725" cy="54737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4808" name="Rectangle 8"/>
          <p:cNvSpPr>
            <a:spLocks noChangeArrowheads="1"/>
          </p:cNvSpPr>
          <p:nvPr/>
        </p:nvSpPr>
        <p:spPr bwMode="auto">
          <a:xfrm>
            <a:off x="1828800" y="6461125"/>
            <a:ext cx="2667000" cy="396875"/>
          </a:xfrm>
          <a:prstGeom prst="rect">
            <a:avLst/>
          </a:prstGeom>
          <a:noFill/>
          <a:ln w="12700">
            <a:noFill/>
            <a:miter lim="800000"/>
          </a:ln>
          <a:effec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en-US" altLang="zh-CN" sz="2000" b="0" i="0" u="none" strike="noStrike" kern="1200" cap="none" spc="0" normalizeH="0" baseline="0" noProof="0">
              <a:ln>
                <a:noFill/>
              </a:ln>
              <a:solidFill>
                <a:srgbClr val="808000"/>
              </a:solidFill>
              <a:effectLst/>
              <a:uLnTx/>
              <a:uFillTx/>
              <a:latin typeface="Arial" panose="020B0604020202020204" pitchFamily="34" charset="0"/>
              <a:ea typeface="楷体_GB2312" pitchFamily="49" charset="-122"/>
              <a:cs typeface="+mn-cs"/>
            </a:endParaRPr>
          </a:p>
        </p:txBody>
      </p:sp>
      <p:pic>
        <p:nvPicPr>
          <p:cNvPr id="204809" name="Picture 9" descr="paint"/>
          <p:cNvPicPr>
            <a:picLocks noChangeAspect="1"/>
          </p:cNvPicPr>
          <p:nvPr userDrawn="1"/>
        </p:nvPicPr>
        <p:blipFill>
          <a:blip r:embed="rId14">
            <a:clrChange>
              <a:clrFrom>
                <a:srgbClr val="C0C0C0"/>
              </a:clrFrom>
              <a:clrTo>
                <a:srgbClr val="C0C0C0">
                  <a:alpha val="0"/>
                </a:srgbClr>
              </a:clrTo>
            </a:clrChange>
          </a:blip>
          <a:stretch>
            <a:fillRect/>
          </a:stretch>
        </p:blipFill>
        <p:spPr>
          <a:xfrm>
            <a:off x="0" y="838200"/>
            <a:ext cx="4716463" cy="142875"/>
          </a:xfrm>
          <a:prstGeom prst="rect">
            <a:avLst/>
          </a:prstGeom>
          <a:noFill/>
          <a:ln w="9525">
            <a:noFill/>
          </a:ln>
        </p:spPr>
      </p:pic>
      <p:sp>
        <p:nvSpPr>
          <p:cNvPr id="204811" name="Text Box 11"/>
          <p:cNvSpPr txBox="1">
            <a:spLocks noChangeArrowheads="1"/>
          </p:cNvSpPr>
          <p:nvPr/>
        </p:nvSpPr>
        <p:spPr bwMode="auto">
          <a:xfrm>
            <a:off x="8496300" y="0"/>
            <a:ext cx="647700" cy="457200"/>
          </a:xfrm>
          <a:prstGeom prst="rect">
            <a:avLst/>
          </a:prstGeom>
          <a:noFill/>
          <a:ln w="12700">
            <a:noFill/>
            <a:miter lim="800000"/>
          </a:ln>
          <a:effectLst/>
        </p:spPr>
        <p:txBody>
          <a:bodyPr>
            <a:spAutoFit/>
          </a:bodyPr>
          <a:p>
            <a:pPr lvl="0" algn="ctr" eaLnBrk="0" hangingPunct="0">
              <a:spcBef>
                <a:spcPct val="0"/>
              </a:spcBef>
              <a:buNone/>
            </a:pPr>
            <a:fld id="{9A0DB2DC-4C9A-4742-B13C-FB6460FD3503}" type="slidenum">
              <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rPr>
            </a:fld>
            <a:endParaRPr lang="en-US" altLang="zh-CN" sz="2400" dirty="0">
              <a:solidFill>
                <a:srgbClr val="808000"/>
              </a:solidFill>
              <a:effectLst>
                <a:outerShdw blurRad="38100" dist="38100" dir="2700000">
                  <a:srgbClr val="C0C0C0"/>
                </a:outerShdw>
              </a:effectLst>
              <a:latin typeface="Arial" panose="020B0604020202020204" pitchFamily="34" charset="0"/>
              <a:ea typeface="楷体_GB2312" pitchFamily="49" charset="-122"/>
            </a:endParaRPr>
          </a:p>
        </p:txBody>
      </p:sp>
    </p:spTree>
    <p:controls>
      <mc:AlternateContent xmlns:mc="http://schemas.openxmlformats.org/markup-compatibility/2006">
        <mc:Choice xmlns:v="urn:schemas-microsoft-com:vml" Requires="v">
          <p:control spid="1026" name="" r:id="rId15" imgW="684213" imgH="569913"/>
        </mc:Choice>
        <mc:Fallback>
          <p:control name="" r:id="rId15" imgW="684213" imgH="569913">
            <p:pic>
              <p:nvPicPr>
                <p:cNvPr id="0" name="Host Control  1025"/>
                <p:cNvPicPr/>
                <p:nvPr userDrawn="1"/>
              </p:nvPicPr>
              <p:blipFill>
                <a:blip r:embed="rId16"/>
                <a:stretch>
                  <a:fillRect/>
                </a:stretch>
              </p:blipFill>
              <p:spPr>
                <a:xfrm>
                  <a:off x="0" y="6245225"/>
                  <a:ext cx="684213" cy="569913"/>
                </a:xfrm>
                <a:prstGeom prst="rect">
                  <a:avLst/>
                </a:prstGeom>
              </p:spPr>
            </p:pic>
          </p:control>
        </mc:Fallback>
      </mc:AlternateContent>
    </p:controls>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sndAc>
      <p:stSnd>
        <p:snd r:embed="rId17"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04809"/>
                                        </p:tgtEl>
                                        <p:attrNameLst>
                                          <p:attrName>style.visibility</p:attrName>
                                        </p:attrNameLst>
                                      </p:cBhvr>
                                      <p:to>
                                        <p:strVal val="visible"/>
                                      </p:to>
                                    </p:set>
                                    <p:animEffect transition="in" filter="wipe(left)">
                                      <p:cBhvr>
                                        <p:cTn id="7" dur="500"/>
                                        <p:tgtEl>
                                          <p:spTgt spid="204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lvl1pPr algn="l" rtl="0" eaLnBrk="0" fontAlgn="base" hangingPunct="0">
        <a:spcBef>
          <a:spcPct val="0"/>
        </a:spcBef>
        <a:spcAft>
          <a:spcPct val="0"/>
        </a:spcAft>
        <a:defRPr sz="4400" b="1">
          <a:solidFill>
            <a:srgbClr val="FF66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2pPr>
      <a:lvl3pPr algn="l" rtl="0" eaLnBrk="0" fontAlgn="base" hangingPunct="0">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3pPr>
      <a:lvl4pPr algn="l" rtl="0" eaLnBrk="0" fontAlgn="base" hangingPunct="0">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4pPr>
      <a:lvl5pPr algn="l" rtl="0" eaLnBrk="0" fontAlgn="base" hangingPunct="0">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5pPr>
      <a:lvl6pPr marL="4572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6pPr>
      <a:lvl7pPr marL="9144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7pPr>
      <a:lvl8pPr marL="13716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8pPr>
      <a:lvl9pPr marL="1828800" algn="l" rtl="0" fontAlgn="base">
        <a:spcBef>
          <a:spcPct val="0"/>
        </a:spcBef>
        <a:spcAft>
          <a:spcPct val="0"/>
        </a:spcAft>
        <a:defRPr sz="4400" b="1">
          <a:solidFill>
            <a:srgbClr val="FF6600"/>
          </a:solidFill>
          <a:effectLst>
            <a:outerShdw blurRad="38100" dist="38100" dir="2700000" algn="tl">
              <a:srgbClr val="C0C0C0"/>
            </a:outerShdw>
          </a:effectLst>
          <a:latin typeface="Arial" panose="020B0604020202020204" pitchFamily="34" charset="0"/>
          <a:ea typeface="幼圆" panose="02010509060101010101" pitchFamily="49" charset="-122"/>
        </a:defRPr>
      </a:lvl9pPr>
    </p:titleStyle>
    <p:body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b="1">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vl6pPr marL="27927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6pPr>
      <a:lvl7pPr marL="32499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7pPr>
      <a:lvl8pPr marL="37071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8pPr>
      <a:lvl9pPr marL="4164330" indent="-228600" algn="l" rtl="0" fontAlgn="base">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audio" Target="../media/audio1.wav"/><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audio" Target="../media/audio1.wav"/></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7.xml"/><Relationship Id="rId3" Type="http://schemas.openxmlformats.org/officeDocument/2006/relationships/slide" Target="slide23.xml"/><Relationship Id="rId2" Type="http://schemas.openxmlformats.org/officeDocument/2006/relationships/slide" Target="slide22.xml"/><Relationship Id="rId1" Type="http://schemas.openxmlformats.org/officeDocument/2006/relationships/slide" Target="slide29.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audio" Target="../media/audio1.wav"/></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2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2.xml"/><Relationship Id="rId2" Type="http://schemas.openxmlformats.org/officeDocument/2006/relationships/audio" Target="../media/audio2.wav"/><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audio" Target="../media/audio1.wav"/></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074" name="Picture 2" descr="Multi_3"/>
          <p:cNvPicPr>
            <a:picLocks noChangeAspect="1"/>
          </p:cNvPicPr>
          <p:nvPr/>
        </p:nvPicPr>
        <p:blipFill>
          <a:blip r:embed="rId1">
            <a:clrChange>
              <a:clrFrom>
                <a:srgbClr val="4800A1"/>
              </a:clrFrom>
              <a:clrTo>
                <a:srgbClr val="4800A1">
                  <a:alpha val="0"/>
                </a:srgbClr>
              </a:clrTo>
            </a:clrChange>
          </a:blip>
          <a:stretch>
            <a:fillRect/>
          </a:stretch>
        </p:blipFill>
        <p:spPr>
          <a:xfrm>
            <a:off x="684213" y="4868863"/>
            <a:ext cx="1905000" cy="1450975"/>
          </a:xfrm>
          <a:prstGeom prst="rect">
            <a:avLst/>
          </a:prstGeom>
          <a:noFill/>
          <a:ln w="9525">
            <a:noFill/>
          </a:ln>
        </p:spPr>
      </p:pic>
      <p:sp>
        <p:nvSpPr>
          <p:cNvPr id="3075" name="Rectangle 3"/>
          <p:cNvSpPr/>
          <p:nvPr/>
        </p:nvSpPr>
        <p:spPr>
          <a:xfrm>
            <a:off x="827088" y="2492375"/>
            <a:ext cx="7772400" cy="1079500"/>
          </a:xfrm>
          <a:prstGeom prst="rect">
            <a:avLst/>
          </a:prstGeom>
          <a:noFill/>
          <a:ln w="9525">
            <a:noFill/>
          </a:ln>
        </p:spPr>
        <p:txBody>
          <a:bodyPr anchor="b" anchorCtr="0"/>
          <a:p>
            <a:pPr algn="ctr">
              <a:spcBef>
                <a:spcPct val="0"/>
              </a:spcBef>
            </a:pPr>
            <a:r>
              <a:rPr lang="zh-CN" altLang="en-US" sz="5400" dirty="0">
                <a:solidFill>
                  <a:srgbClr val="0000CC"/>
                </a:solidFill>
                <a:latin typeface="华文新魏" panose="02010800040101010101" pitchFamily="2" charset="-122"/>
                <a:ea typeface="华文新魏" panose="02010800040101010101" pitchFamily="2" charset="-122"/>
              </a:rPr>
              <a:t>第</a:t>
            </a:r>
            <a:r>
              <a:rPr lang="en-US" altLang="zh-CN" sz="5400" dirty="0">
                <a:solidFill>
                  <a:srgbClr val="0000CC"/>
                </a:solidFill>
                <a:latin typeface="Arial" panose="020B0604020202020204" pitchFamily="34" charset="0"/>
                <a:ea typeface="华文新魏" panose="02010800040101010101" pitchFamily="2" charset="-122"/>
              </a:rPr>
              <a:t>9</a:t>
            </a:r>
            <a:r>
              <a:rPr lang="zh-CN" altLang="en-US" sz="5400" dirty="0">
                <a:solidFill>
                  <a:srgbClr val="0000CC"/>
                </a:solidFill>
                <a:latin typeface="华文新魏" panose="02010800040101010101" pitchFamily="2" charset="-122"/>
                <a:ea typeface="华文新魏" panose="02010800040101010101" pitchFamily="2" charset="-122"/>
              </a:rPr>
              <a:t>章 数据库的物理组织</a:t>
            </a:r>
            <a:endParaRPr lang="zh-CN" altLang="en-US" sz="5400" dirty="0">
              <a:solidFill>
                <a:srgbClr val="0000CC"/>
              </a:solidFill>
              <a:latin typeface="华文新魏" panose="02010800040101010101" pitchFamily="2" charset="-122"/>
              <a:ea typeface="华文新魏" panose="02010800040101010101" pitchFamily="2" charset="-122"/>
            </a:endParaRPr>
          </a:p>
        </p:txBody>
      </p:sp>
      <p:sp>
        <p:nvSpPr>
          <p:cNvPr id="206852" name="Rectangle 4"/>
          <p:cNvSpPr>
            <a:spLocks noChangeArrowheads="1"/>
          </p:cNvSpPr>
          <p:nvPr/>
        </p:nvSpPr>
        <p:spPr bwMode="auto">
          <a:xfrm>
            <a:off x="468313" y="1052513"/>
            <a:ext cx="8497888" cy="1143000"/>
          </a:xfrm>
          <a:prstGeom prst="rect">
            <a:avLst/>
          </a:prstGeom>
          <a:noFill/>
          <a:ln w="12700">
            <a:noFill/>
            <a:miter lim="800000"/>
          </a:ln>
          <a:effectLst>
            <a:outerShdw dist="35921" dir="2700000" algn="ctr" rotWithShape="0">
              <a:schemeClr val="bg2">
                <a:alpha val="50000"/>
              </a:schemeClr>
            </a:outerShdw>
          </a:effectLst>
        </p:spPr>
        <p:txBody>
          <a:bodyPr lIns="90488" tIns="44450" rIns="90488"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5400" b="1" i="0" u="none" strike="noStrike" kern="1200" cap="none" spc="0" normalizeH="0" baseline="0" noProof="0" dirty="0" smtClean="0">
                <a:ln>
                  <a:noFill/>
                </a:ln>
                <a:solidFill>
                  <a:srgbClr val="FF3300"/>
                </a:solidFill>
                <a:effectLst/>
                <a:uLnTx/>
                <a:uFillTx/>
                <a:latin typeface="Arial" panose="020B0604020202020204" pitchFamily="34" charset="0"/>
                <a:ea typeface="华文新魏" panose="02010800040101010101" pitchFamily="2" charset="-122"/>
                <a:cs typeface="+mn-cs"/>
              </a:rPr>
              <a:t>数据库</a:t>
            </a:r>
            <a:r>
              <a:rPr kumimoji="0" lang="zh-CN" altLang="en-US" sz="5400" b="1" i="0" u="none" strike="noStrike" kern="1200" cap="none" spc="0" normalizeH="0" baseline="0" noProof="0" dirty="0" smtClean="0">
                <a:ln>
                  <a:noFill/>
                </a:ln>
                <a:solidFill>
                  <a:srgbClr val="FF3300"/>
                </a:solidFill>
                <a:effectLst/>
                <a:uLnTx/>
                <a:uFillTx/>
                <a:latin typeface="Arial" panose="020B0604020202020204" pitchFamily="34" charset="0"/>
                <a:ea typeface="华文新魏" panose="02010800040101010101" pitchFamily="2" charset="-122"/>
                <a:cs typeface="+mn-cs"/>
              </a:rPr>
              <a:t>系统</a:t>
            </a:r>
            <a:endParaRPr kumimoji="0" lang="zh-CN" altLang="en-US" sz="5400" b="1" i="0" u="none" strike="noStrike" kern="1200" cap="none" spc="0" normalizeH="0" baseline="0" noProof="0" dirty="0" smtClean="0">
              <a:ln>
                <a:noFill/>
              </a:ln>
              <a:solidFill>
                <a:srgbClr val="FF3300"/>
              </a:solidFill>
              <a:effectLst/>
              <a:uLnTx/>
              <a:uFillTx/>
              <a:latin typeface="Arial" panose="020B0604020202020204" pitchFamily="34" charset="0"/>
              <a:ea typeface="华文新魏" panose="02010800040101010101" pitchFamily="2" charset="-122"/>
              <a:cs typeface="+mn-cs"/>
            </a:endParaRPr>
          </a:p>
        </p:txBody>
      </p:sp>
      <p:sp>
        <p:nvSpPr>
          <p:cNvPr id="3077" name="Text Box 5"/>
          <p:cNvSpPr txBox="1"/>
          <p:nvPr/>
        </p:nvSpPr>
        <p:spPr>
          <a:xfrm>
            <a:off x="1588" y="6513513"/>
            <a:ext cx="9144000" cy="420687"/>
          </a:xfrm>
          <a:prstGeom prst="rect">
            <a:avLst/>
          </a:prstGeom>
          <a:gradFill rotWithShape="0">
            <a:gsLst>
              <a:gs pos="0">
                <a:srgbClr val="FFFFFF"/>
              </a:gs>
              <a:gs pos="100000">
                <a:srgbClr val="3333CC"/>
              </a:gs>
            </a:gsLst>
            <a:lin ang="5400000" scaled="1"/>
            <a:tileRect/>
          </a:gradFill>
          <a:ln w="9525">
            <a:noFill/>
          </a:ln>
        </p:spPr>
        <p:txBody>
          <a:bodyPr lIns="92075" tIns="46038" rIns="92075" bIns="46038">
            <a:spAutoFit/>
          </a:bodyPr>
          <a:p>
            <a:pPr eaLnBrk="0" hangingPunct="0">
              <a:lnSpc>
                <a:spcPct val="90000"/>
              </a:lnSpc>
            </a:pPr>
            <a:endParaRPr lang="zh-CN" altLang="zh-CN" sz="2400" dirty="0">
              <a:solidFill>
                <a:schemeClr val="tx1"/>
              </a:solidFill>
              <a:latin typeface="华文中宋" panose="02010600040101010101" pitchFamily="2" charset="-122"/>
              <a:ea typeface="华文中宋" panose="02010600040101010101" pitchFamily="2" charset="-122"/>
            </a:endParaRPr>
          </a:p>
        </p:txBody>
      </p:sp>
      <p:sp>
        <p:nvSpPr>
          <p:cNvPr id="3078" name="Text Box 6"/>
          <p:cNvSpPr txBox="1"/>
          <p:nvPr/>
        </p:nvSpPr>
        <p:spPr>
          <a:xfrm>
            <a:off x="0" y="-76200"/>
            <a:ext cx="9144000" cy="420688"/>
          </a:xfrm>
          <a:prstGeom prst="rect">
            <a:avLst/>
          </a:prstGeom>
          <a:gradFill rotWithShape="0">
            <a:gsLst>
              <a:gs pos="0">
                <a:srgbClr val="3333CC"/>
              </a:gs>
              <a:gs pos="100000">
                <a:srgbClr val="FFFFFF"/>
              </a:gs>
            </a:gsLst>
            <a:lin ang="5400000" scaled="1"/>
            <a:tileRect/>
          </a:gradFill>
          <a:ln w="9525">
            <a:noFill/>
          </a:ln>
        </p:spPr>
        <p:txBody>
          <a:bodyPr lIns="92075" tIns="46038" rIns="92075" bIns="46038">
            <a:spAutoFit/>
          </a:bodyPr>
          <a:p>
            <a:pPr eaLnBrk="0" hangingPunct="0">
              <a:lnSpc>
                <a:spcPct val="90000"/>
              </a:lnSpc>
            </a:pPr>
            <a:endParaRPr lang="zh-CN" altLang="zh-CN" sz="2400" dirty="0">
              <a:solidFill>
                <a:schemeClr val="tx1"/>
              </a:solidFill>
              <a:latin typeface="华文中宋" panose="02010600040101010101" pitchFamily="2" charset="-122"/>
              <a:ea typeface="华文中宋" panose="02010600040101010101" pitchFamily="2" charset="-122"/>
            </a:endParaRPr>
          </a:p>
        </p:txBody>
      </p:sp>
    </p:spTree>
  </p:cSld>
  <p:clrMapOvr>
    <a:masterClrMapping/>
  </p:clrMapOvr>
  <p:transition>
    <p:random/>
    <p:sndAc>
      <p:stSnd>
        <p:snd r:embed="rId2" name="CAMERA.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Rectangle 2"/>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099" name="Rectangle 3"/>
          <p:cNvSpPr>
            <a:spLocks noGrp="1"/>
          </p:cNvSpPr>
          <p:nvPr>
            <p:ph idx="1"/>
          </p:nvPr>
        </p:nvSpPr>
        <p:spPr>
          <a:xfrm>
            <a:off x="1231900" y="1016000"/>
            <a:ext cx="7372350" cy="5365750"/>
          </a:xfrm>
        </p:spPr>
        <p:txBody>
          <a:bodyPr vert="horz" wrap="square" lIns="91440" tIns="45720" rIns="91440" bIns="45720" anchor="t" anchorCtr="0"/>
          <a:p>
            <a:pPr eaLnBrk="1" hangingPunct="1">
              <a:lnSpc>
                <a:spcPct val="140000"/>
              </a:lnSpc>
              <a:buNone/>
            </a:pPr>
            <a:r>
              <a:rPr lang="en-US" altLang="zh-CN" dirty="0">
                <a:solidFill>
                  <a:srgbClr val="0000CC"/>
                </a:solidFill>
                <a:latin typeface="Arial" panose="020B0604020202020204" pitchFamily="34" charset="0"/>
              </a:rPr>
              <a:t>9.1  </a:t>
            </a:r>
            <a:r>
              <a:rPr lang="zh-CN" altLang="en-US" dirty="0">
                <a:solidFill>
                  <a:srgbClr val="0000CC"/>
                </a:solidFill>
                <a:latin typeface="Arial" panose="020B0604020202020204" pitchFamily="34" charset="0"/>
              </a:rPr>
              <a:t>数据的物理存储</a:t>
            </a:r>
            <a:endParaRPr lang="zh-CN" altLang="en-US" dirty="0">
              <a:solidFill>
                <a:srgbClr val="0000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9.2  </a:t>
            </a:r>
            <a:r>
              <a:rPr lang="zh-CN" altLang="en-US" dirty="0"/>
              <a:t>数据的文件组织</a:t>
            </a:r>
            <a:endParaRPr lang="zh-CN" altLang="en-US" dirty="0">
              <a:latin typeface="宋体" panose="02010600030101010101" pitchFamily="2" charset="-122"/>
            </a:endParaRPr>
          </a:p>
          <a:p>
            <a:pPr eaLnBrk="1" hangingPunct="1">
              <a:lnSpc>
                <a:spcPct val="140000"/>
              </a:lnSpc>
              <a:buNone/>
            </a:pPr>
            <a:r>
              <a:rPr lang="en-US" altLang="zh-CN" dirty="0">
                <a:latin typeface="Arial" panose="020B0604020202020204" pitchFamily="34" charset="0"/>
              </a:rPr>
              <a:t>9.3  </a:t>
            </a:r>
            <a:r>
              <a:rPr lang="zh-CN" altLang="en-US" dirty="0">
                <a:latin typeface="Arial" panose="020B0604020202020204" pitchFamily="34" charset="0"/>
              </a:rPr>
              <a:t>散列</a:t>
            </a:r>
            <a:r>
              <a:rPr lang="zh-CN" altLang="en-US" dirty="0"/>
              <a:t>文件及访问方式</a:t>
            </a:r>
            <a:endParaRPr lang="zh-CN" altLang="en-US" dirty="0"/>
          </a:p>
        </p:txBody>
      </p:sp>
    </p:spTree>
  </p:cSld>
  <p:clrMapOvr>
    <a:masterClrMapping/>
  </p:clrMapOvr>
  <p:transition>
    <p:random/>
    <p:sndAc>
      <p:stSnd>
        <p:snd r:embed="rId1"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20" name="Rectangle 4"/>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9.1 </a:t>
            </a:r>
            <a:r>
              <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数据的物理存储</a:t>
            </a:r>
            <a:endPar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25"/>
          <p:cNvGrpSpPr/>
          <p:nvPr/>
        </p:nvGrpSpPr>
        <p:grpSpPr>
          <a:xfrm>
            <a:off x="95250" y="1477963"/>
            <a:ext cx="8869363" cy="4543425"/>
            <a:chOff x="60" y="931"/>
            <a:chExt cx="5587" cy="2862"/>
          </a:xfrm>
        </p:grpSpPr>
        <p:sp>
          <p:nvSpPr>
            <p:cNvPr id="5124" name="AutoShape 7"/>
            <p:cNvSpPr/>
            <p:nvPr/>
          </p:nvSpPr>
          <p:spPr>
            <a:xfrm>
              <a:off x="1850" y="931"/>
              <a:ext cx="2058" cy="528"/>
            </a:xfrm>
            <a:prstGeom prst="cube">
              <a:avLst>
                <a:gd name="adj" fmla="val 25000"/>
              </a:avLst>
            </a:prstGeom>
            <a:solidFill>
              <a:srgbClr val="FFFFFF"/>
            </a:solidFill>
            <a:ln w="9525" cap="flat" cmpd="sng">
              <a:solidFill>
                <a:srgbClr val="000000"/>
              </a:solidFill>
              <a:prstDash val="solid"/>
              <a:miter/>
              <a:headEnd type="none" w="med" len="med"/>
              <a:tailEnd type="none" w="med" len="med"/>
            </a:ln>
          </p:spPr>
          <p:txBody>
            <a:bodyPr/>
            <a:p>
              <a:pPr algn="ctr">
                <a:spcBef>
                  <a:spcPct val="0"/>
                </a:spcBef>
              </a:pPr>
              <a:r>
                <a:rPr lang="zh-CN" altLang="en-US" sz="3200" dirty="0">
                  <a:solidFill>
                    <a:schemeClr val="bg2"/>
                  </a:solidFill>
                  <a:latin typeface="Times New Roman" panose="02020603050405020304" pitchFamily="18" charset="0"/>
                </a:rPr>
                <a:t>高速缓冲存储器</a:t>
              </a:r>
              <a:endParaRPr lang="zh-CN" altLang="en-US" sz="3200" dirty="0">
                <a:solidFill>
                  <a:schemeClr val="bg2"/>
                </a:solidFill>
                <a:latin typeface="Arial" panose="020B0604020202020204" pitchFamily="34" charset="0"/>
              </a:endParaRPr>
            </a:p>
          </p:txBody>
        </p:sp>
        <p:sp>
          <p:nvSpPr>
            <p:cNvPr id="5125" name="AutoShape 8"/>
            <p:cNvSpPr/>
            <p:nvPr/>
          </p:nvSpPr>
          <p:spPr>
            <a:xfrm>
              <a:off x="1850" y="1635"/>
              <a:ext cx="2058" cy="528"/>
            </a:xfrm>
            <a:prstGeom prst="cube">
              <a:avLst>
                <a:gd name="adj" fmla="val 25000"/>
              </a:avLst>
            </a:prstGeom>
            <a:solidFill>
              <a:srgbClr val="FFFFFF"/>
            </a:solidFill>
            <a:ln w="9525" cap="flat" cmpd="sng">
              <a:solidFill>
                <a:srgbClr val="000000"/>
              </a:solidFill>
              <a:prstDash val="solid"/>
              <a:miter/>
              <a:headEnd type="none" w="med" len="med"/>
              <a:tailEnd type="none" w="med" len="med"/>
            </a:ln>
          </p:spPr>
          <p:txBody>
            <a:bodyPr/>
            <a:p>
              <a:pPr algn="ctr">
                <a:spcBef>
                  <a:spcPct val="0"/>
                </a:spcBef>
              </a:pPr>
              <a:r>
                <a:rPr lang="zh-CN" altLang="en-US" sz="3200" dirty="0">
                  <a:solidFill>
                    <a:schemeClr val="bg2"/>
                  </a:solidFill>
                  <a:latin typeface="Times New Roman" panose="02020603050405020304" pitchFamily="18" charset="0"/>
                </a:rPr>
                <a:t>主存储器</a:t>
              </a:r>
              <a:endParaRPr lang="zh-CN" altLang="en-US" sz="3200" dirty="0">
                <a:solidFill>
                  <a:schemeClr val="bg2"/>
                </a:solidFill>
                <a:latin typeface="Arial" panose="020B0604020202020204" pitchFamily="34" charset="0"/>
              </a:endParaRPr>
            </a:p>
          </p:txBody>
        </p:sp>
        <p:sp>
          <p:nvSpPr>
            <p:cNvPr id="5126" name="AutoShape 9"/>
            <p:cNvSpPr/>
            <p:nvPr/>
          </p:nvSpPr>
          <p:spPr>
            <a:xfrm>
              <a:off x="1850" y="2340"/>
              <a:ext cx="2058" cy="528"/>
            </a:xfrm>
            <a:prstGeom prst="cube">
              <a:avLst>
                <a:gd name="adj" fmla="val 25000"/>
              </a:avLst>
            </a:prstGeom>
            <a:solidFill>
              <a:srgbClr val="FFFFFF"/>
            </a:solidFill>
            <a:ln w="9525" cap="flat" cmpd="sng">
              <a:solidFill>
                <a:srgbClr val="000000"/>
              </a:solidFill>
              <a:prstDash val="solid"/>
              <a:miter/>
              <a:headEnd type="none" w="med" len="med"/>
              <a:tailEnd type="none" w="med" len="med"/>
            </a:ln>
          </p:spPr>
          <p:txBody>
            <a:bodyPr/>
            <a:p>
              <a:pPr algn="ctr">
                <a:spcBef>
                  <a:spcPct val="0"/>
                </a:spcBef>
              </a:pPr>
              <a:r>
                <a:rPr lang="zh-CN" altLang="en-US" sz="3200" dirty="0">
                  <a:solidFill>
                    <a:schemeClr val="bg2"/>
                  </a:solidFill>
                  <a:latin typeface="Times New Roman" panose="02020603050405020304" pitchFamily="18" charset="0"/>
                </a:rPr>
                <a:t>磁盘存储器</a:t>
              </a:r>
              <a:endParaRPr lang="zh-CN" altLang="en-US" sz="3200" dirty="0">
                <a:solidFill>
                  <a:schemeClr val="bg2"/>
                </a:solidFill>
                <a:latin typeface="Arial" panose="020B0604020202020204" pitchFamily="34" charset="0"/>
              </a:endParaRPr>
            </a:p>
          </p:txBody>
        </p:sp>
        <p:sp>
          <p:nvSpPr>
            <p:cNvPr id="5127" name="AutoShape 10"/>
            <p:cNvSpPr/>
            <p:nvPr/>
          </p:nvSpPr>
          <p:spPr>
            <a:xfrm>
              <a:off x="1167" y="3220"/>
              <a:ext cx="1582" cy="528"/>
            </a:xfrm>
            <a:prstGeom prst="cube">
              <a:avLst>
                <a:gd name="adj" fmla="val 25000"/>
              </a:avLst>
            </a:prstGeom>
            <a:solidFill>
              <a:srgbClr val="FFFFFF"/>
            </a:solidFill>
            <a:ln w="9525" cap="flat" cmpd="sng">
              <a:solidFill>
                <a:srgbClr val="000000"/>
              </a:solidFill>
              <a:prstDash val="solid"/>
              <a:miter/>
              <a:headEnd type="none" w="med" len="med"/>
              <a:tailEnd type="none" w="med" len="med"/>
            </a:ln>
          </p:spPr>
          <p:txBody>
            <a:bodyPr/>
            <a:p>
              <a:pPr algn="ctr">
                <a:spcBef>
                  <a:spcPct val="0"/>
                </a:spcBef>
              </a:pPr>
              <a:r>
                <a:rPr lang="zh-CN" altLang="en-US" sz="3200" dirty="0">
                  <a:solidFill>
                    <a:schemeClr val="bg2"/>
                  </a:solidFill>
                  <a:latin typeface="Times New Roman" panose="02020603050405020304" pitchFamily="18" charset="0"/>
                </a:rPr>
                <a:t>光存储器</a:t>
              </a:r>
              <a:endParaRPr lang="zh-CN" altLang="en-US" sz="3200" dirty="0">
                <a:solidFill>
                  <a:schemeClr val="bg2"/>
                </a:solidFill>
                <a:latin typeface="Arial" panose="020B0604020202020204" pitchFamily="34" charset="0"/>
              </a:endParaRPr>
            </a:p>
          </p:txBody>
        </p:sp>
        <p:sp>
          <p:nvSpPr>
            <p:cNvPr id="5128" name="AutoShape 11"/>
            <p:cNvSpPr/>
            <p:nvPr/>
          </p:nvSpPr>
          <p:spPr>
            <a:xfrm>
              <a:off x="2870" y="3220"/>
              <a:ext cx="1582" cy="528"/>
            </a:xfrm>
            <a:prstGeom prst="cube">
              <a:avLst>
                <a:gd name="adj" fmla="val 25000"/>
              </a:avLst>
            </a:prstGeom>
            <a:solidFill>
              <a:srgbClr val="FFFFFF"/>
            </a:solidFill>
            <a:ln w="9525" cap="flat" cmpd="sng">
              <a:solidFill>
                <a:srgbClr val="000000"/>
              </a:solidFill>
              <a:prstDash val="solid"/>
              <a:miter/>
              <a:headEnd type="none" w="med" len="med"/>
              <a:tailEnd type="none" w="med" len="med"/>
            </a:ln>
          </p:spPr>
          <p:txBody>
            <a:bodyPr/>
            <a:p>
              <a:pPr algn="ctr">
                <a:spcBef>
                  <a:spcPct val="0"/>
                </a:spcBef>
              </a:pPr>
              <a:r>
                <a:rPr lang="zh-CN" altLang="en-US" sz="3200" dirty="0">
                  <a:solidFill>
                    <a:schemeClr val="bg2"/>
                  </a:solidFill>
                  <a:latin typeface="Times New Roman" panose="02020603050405020304" pitchFamily="18" charset="0"/>
                </a:rPr>
                <a:t>磁带存储器</a:t>
              </a:r>
              <a:endParaRPr lang="zh-CN" altLang="en-US" sz="3200" dirty="0">
                <a:solidFill>
                  <a:schemeClr val="bg2"/>
                </a:solidFill>
                <a:latin typeface="Arial" panose="020B0604020202020204" pitchFamily="34" charset="0"/>
              </a:endParaRPr>
            </a:p>
          </p:txBody>
        </p:sp>
        <p:sp>
          <p:nvSpPr>
            <p:cNvPr id="5129" name="AutoShape 12"/>
            <p:cNvSpPr/>
            <p:nvPr/>
          </p:nvSpPr>
          <p:spPr>
            <a:xfrm>
              <a:off x="4518" y="931"/>
              <a:ext cx="264" cy="1056"/>
            </a:xfrm>
            <a:prstGeom prst="rightBrace">
              <a:avLst>
                <a:gd name="adj1" fmla="val 33333"/>
                <a:gd name="adj2" fmla="val 50000"/>
              </a:avLst>
            </a:prstGeom>
            <a:noFill/>
            <a:ln w="57150" cap="flat" cmpd="sng">
              <a:solidFill>
                <a:srgbClr val="000000"/>
              </a:solidFill>
              <a:prstDash val="solid"/>
              <a:headEnd type="none" w="med" len="med"/>
              <a:tailEnd type="none" w="med" len="med"/>
            </a:ln>
          </p:spPr>
          <p:txBody>
            <a:bodyPr/>
            <a:p>
              <a:pPr>
                <a:spcBef>
                  <a:spcPct val="0"/>
                </a:spcBef>
              </a:pPr>
              <a:endParaRPr lang="zh-CN" altLang="zh-CN" sz="3200" dirty="0">
                <a:solidFill>
                  <a:schemeClr val="bg2"/>
                </a:solidFill>
                <a:latin typeface="Arial" panose="020B0604020202020204" pitchFamily="34" charset="0"/>
              </a:endParaRPr>
            </a:p>
          </p:txBody>
        </p:sp>
        <p:sp>
          <p:nvSpPr>
            <p:cNvPr id="5130" name="AutoShape 13"/>
            <p:cNvSpPr/>
            <p:nvPr/>
          </p:nvSpPr>
          <p:spPr>
            <a:xfrm>
              <a:off x="4527" y="2340"/>
              <a:ext cx="255" cy="528"/>
            </a:xfrm>
            <a:prstGeom prst="rightBrace">
              <a:avLst>
                <a:gd name="adj1" fmla="val 17254"/>
                <a:gd name="adj2" fmla="val 50000"/>
              </a:avLst>
            </a:prstGeom>
            <a:noFill/>
            <a:ln w="571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5131" name="AutoShape 14"/>
            <p:cNvSpPr/>
            <p:nvPr/>
          </p:nvSpPr>
          <p:spPr>
            <a:xfrm>
              <a:off x="4527" y="3220"/>
              <a:ext cx="255" cy="528"/>
            </a:xfrm>
            <a:prstGeom prst="rightBrace">
              <a:avLst>
                <a:gd name="adj1" fmla="val 17254"/>
                <a:gd name="adj2" fmla="val 50000"/>
              </a:avLst>
            </a:prstGeom>
            <a:noFill/>
            <a:ln w="57150" cap="flat" cmpd="sng">
              <a:solidFill>
                <a:srgbClr val="000000"/>
              </a:solidFill>
              <a:prstDash val="solid"/>
              <a:headEnd type="none" w="med" len="med"/>
              <a:tailEnd type="none" w="med" len="med"/>
            </a:ln>
          </p:spPr>
          <p:txBody>
            <a:bodyPr/>
            <a:p>
              <a:endParaRPr lang="zh-CN" altLang="en-US" dirty="0">
                <a:latin typeface="Arial" panose="020B0604020202020204" pitchFamily="34" charset="0"/>
              </a:endParaRPr>
            </a:p>
          </p:txBody>
        </p:sp>
        <p:sp>
          <p:nvSpPr>
            <p:cNvPr id="5132" name="Text Box 15"/>
            <p:cNvSpPr txBox="1"/>
            <p:nvPr/>
          </p:nvSpPr>
          <p:spPr>
            <a:xfrm>
              <a:off x="4700" y="1148"/>
              <a:ext cx="902" cy="694"/>
            </a:xfrm>
            <a:prstGeom prst="rect">
              <a:avLst/>
            </a:prstGeom>
            <a:noFill/>
            <a:ln w="9525">
              <a:noFill/>
            </a:ln>
          </p:spPr>
          <p:txBody>
            <a:bodyPr/>
            <a:p>
              <a:pPr>
                <a:spcBef>
                  <a:spcPct val="0"/>
                </a:spcBef>
              </a:pPr>
              <a:r>
                <a:rPr lang="en-US" altLang="zh-CN" sz="3200" dirty="0">
                  <a:solidFill>
                    <a:schemeClr val="bg2"/>
                  </a:solidFill>
                  <a:latin typeface="Times New Roman" panose="02020603050405020304" pitchFamily="18" charset="0"/>
                </a:rPr>
                <a:t>  </a:t>
              </a:r>
              <a:r>
                <a:rPr lang="zh-CN" altLang="en-US" sz="3200" dirty="0">
                  <a:solidFill>
                    <a:schemeClr val="bg2"/>
                  </a:solidFill>
                  <a:latin typeface="Times New Roman" panose="02020603050405020304" pitchFamily="18" charset="0"/>
                </a:rPr>
                <a:t>一级</a:t>
              </a:r>
              <a:endParaRPr lang="zh-CN" altLang="en-US" sz="3200" dirty="0">
                <a:solidFill>
                  <a:schemeClr val="bg2"/>
                </a:solidFill>
                <a:latin typeface="Times New Roman" panose="02020603050405020304" pitchFamily="18" charset="0"/>
              </a:endParaRPr>
            </a:p>
            <a:p>
              <a:pPr>
                <a:spcBef>
                  <a:spcPct val="0"/>
                </a:spcBef>
              </a:pPr>
              <a:r>
                <a:rPr lang="zh-CN" altLang="en-US" sz="3200" dirty="0">
                  <a:solidFill>
                    <a:schemeClr val="bg2"/>
                  </a:solidFill>
                  <a:latin typeface="Times New Roman" panose="02020603050405020304" pitchFamily="18" charset="0"/>
                </a:rPr>
                <a:t>存储器</a:t>
              </a:r>
              <a:endParaRPr lang="zh-CN" altLang="en-US" sz="3200" dirty="0">
                <a:solidFill>
                  <a:schemeClr val="bg2"/>
                </a:solidFill>
                <a:latin typeface="Arial" panose="020B0604020202020204" pitchFamily="34" charset="0"/>
              </a:endParaRPr>
            </a:p>
          </p:txBody>
        </p:sp>
        <p:sp>
          <p:nvSpPr>
            <p:cNvPr id="5133" name="Text Box 16"/>
            <p:cNvSpPr txBox="1"/>
            <p:nvPr/>
          </p:nvSpPr>
          <p:spPr>
            <a:xfrm>
              <a:off x="4700" y="2250"/>
              <a:ext cx="902" cy="726"/>
            </a:xfrm>
            <a:prstGeom prst="rect">
              <a:avLst/>
            </a:prstGeom>
            <a:noFill/>
            <a:ln w="9525">
              <a:noFill/>
            </a:ln>
          </p:spPr>
          <p:txBody>
            <a:bodyPr/>
            <a:p>
              <a:pPr algn="just">
                <a:spcBef>
                  <a:spcPct val="0"/>
                </a:spcBef>
              </a:pPr>
              <a:r>
                <a:rPr lang="en-US" altLang="zh-CN" sz="3200" dirty="0">
                  <a:solidFill>
                    <a:schemeClr val="bg2"/>
                  </a:solidFill>
                  <a:latin typeface="Times New Roman" panose="02020603050405020304" pitchFamily="18" charset="0"/>
                </a:rPr>
                <a:t>  </a:t>
              </a:r>
              <a:r>
                <a:rPr lang="zh-CN" altLang="en-US" sz="3200" dirty="0">
                  <a:solidFill>
                    <a:schemeClr val="bg2"/>
                  </a:solidFill>
                  <a:latin typeface="Times New Roman" panose="02020603050405020304" pitchFamily="18" charset="0"/>
                </a:rPr>
                <a:t>二级</a:t>
              </a:r>
              <a:endParaRPr lang="zh-CN" altLang="en-US" sz="3200" dirty="0">
                <a:solidFill>
                  <a:schemeClr val="bg2"/>
                </a:solidFill>
                <a:latin typeface="Times New Roman" panose="02020603050405020304" pitchFamily="18" charset="0"/>
              </a:endParaRPr>
            </a:p>
            <a:p>
              <a:pPr algn="just">
                <a:spcBef>
                  <a:spcPct val="0"/>
                </a:spcBef>
              </a:pPr>
              <a:r>
                <a:rPr lang="zh-CN" altLang="en-US" sz="3200" dirty="0">
                  <a:solidFill>
                    <a:schemeClr val="bg2"/>
                  </a:solidFill>
                  <a:latin typeface="Times New Roman" panose="02020603050405020304" pitchFamily="18" charset="0"/>
                </a:rPr>
                <a:t>存储器</a:t>
              </a:r>
              <a:endParaRPr lang="zh-CN" altLang="en-US" sz="3200" dirty="0">
                <a:solidFill>
                  <a:schemeClr val="bg2"/>
                </a:solidFill>
                <a:latin typeface="Arial" panose="020B0604020202020204" pitchFamily="34" charset="0"/>
              </a:endParaRPr>
            </a:p>
          </p:txBody>
        </p:sp>
        <p:sp>
          <p:nvSpPr>
            <p:cNvPr id="5134" name="Text Box 17"/>
            <p:cNvSpPr txBox="1"/>
            <p:nvPr/>
          </p:nvSpPr>
          <p:spPr>
            <a:xfrm>
              <a:off x="4700" y="3158"/>
              <a:ext cx="947" cy="635"/>
            </a:xfrm>
            <a:prstGeom prst="rect">
              <a:avLst/>
            </a:prstGeom>
            <a:noFill/>
            <a:ln w="9525">
              <a:noFill/>
            </a:ln>
          </p:spPr>
          <p:txBody>
            <a:bodyPr/>
            <a:p>
              <a:pPr algn="just">
                <a:spcBef>
                  <a:spcPct val="0"/>
                </a:spcBef>
              </a:pPr>
              <a:r>
                <a:rPr lang="en-US" altLang="zh-CN" sz="3200" dirty="0">
                  <a:solidFill>
                    <a:schemeClr val="bg2"/>
                  </a:solidFill>
                  <a:latin typeface="Times New Roman" panose="02020603050405020304" pitchFamily="18" charset="0"/>
                </a:rPr>
                <a:t>  </a:t>
              </a:r>
              <a:r>
                <a:rPr lang="zh-CN" altLang="en-US" sz="3200" dirty="0">
                  <a:solidFill>
                    <a:schemeClr val="bg2"/>
                  </a:solidFill>
                  <a:latin typeface="Times New Roman" panose="02020603050405020304" pitchFamily="18" charset="0"/>
                </a:rPr>
                <a:t>三级</a:t>
              </a:r>
              <a:endParaRPr lang="zh-CN" altLang="en-US" sz="3200" dirty="0">
                <a:solidFill>
                  <a:schemeClr val="bg2"/>
                </a:solidFill>
                <a:latin typeface="Times New Roman" panose="02020603050405020304" pitchFamily="18" charset="0"/>
              </a:endParaRPr>
            </a:p>
            <a:p>
              <a:pPr algn="just">
                <a:spcBef>
                  <a:spcPct val="0"/>
                </a:spcBef>
              </a:pPr>
              <a:r>
                <a:rPr lang="zh-CN" altLang="en-US" sz="3200" dirty="0">
                  <a:solidFill>
                    <a:schemeClr val="bg2"/>
                  </a:solidFill>
                  <a:latin typeface="Times New Roman" panose="02020603050405020304" pitchFamily="18" charset="0"/>
                </a:rPr>
                <a:t>存储器</a:t>
              </a:r>
              <a:endParaRPr lang="zh-CN" altLang="en-US" sz="3200" dirty="0">
                <a:solidFill>
                  <a:schemeClr val="bg2"/>
                </a:solidFill>
                <a:latin typeface="Arial" panose="020B0604020202020204" pitchFamily="34" charset="0"/>
              </a:endParaRPr>
            </a:p>
          </p:txBody>
        </p:sp>
        <p:grpSp>
          <p:nvGrpSpPr>
            <p:cNvPr id="5135" name="Group 21"/>
            <p:cNvGrpSpPr/>
            <p:nvPr/>
          </p:nvGrpSpPr>
          <p:grpSpPr>
            <a:xfrm>
              <a:off x="60" y="987"/>
              <a:ext cx="1061" cy="2703"/>
              <a:chOff x="60" y="987"/>
              <a:chExt cx="1061" cy="2703"/>
            </a:xfrm>
          </p:grpSpPr>
          <p:sp>
            <p:nvSpPr>
              <p:cNvPr id="5136" name="AutoShape 22"/>
              <p:cNvSpPr/>
              <p:nvPr/>
            </p:nvSpPr>
            <p:spPr>
              <a:xfrm>
                <a:off x="967" y="1026"/>
                <a:ext cx="154" cy="2526"/>
              </a:xfrm>
              <a:prstGeom prst="upDownArrow">
                <a:avLst>
                  <a:gd name="adj1" fmla="val 50000"/>
                  <a:gd name="adj2" fmla="val 328051"/>
                </a:avLst>
              </a:prstGeom>
              <a:solidFill>
                <a:srgbClr val="993366"/>
              </a:solidFill>
              <a:ln w="25400">
                <a:noFill/>
              </a:ln>
              <a:effectLst>
                <a:prstShdw prst="shdw17" dist="17961" dir="2699999">
                  <a:srgbClr val="5C1F3D"/>
                </a:prstShdw>
              </a:effectLst>
            </p:spPr>
            <p:txBody>
              <a:bodyPr vert="eaVert" wrap="none" anchor="ctr" anchorCtr="0"/>
              <a:p>
                <a:endParaRPr lang="zh-CN" altLang="en-US" dirty="0">
                  <a:latin typeface="Arial" panose="020B0604020202020204" pitchFamily="34" charset="0"/>
                </a:endParaRPr>
              </a:p>
            </p:txBody>
          </p:sp>
          <p:sp>
            <p:nvSpPr>
              <p:cNvPr id="5137" name="Text Box 23"/>
              <p:cNvSpPr txBox="1"/>
              <p:nvPr/>
            </p:nvSpPr>
            <p:spPr>
              <a:xfrm>
                <a:off x="60" y="987"/>
                <a:ext cx="887" cy="672"/>
              </a:xfrm>
              <a:prstGeom prst="rect">
                <a:avLst/>
              </a:prstGeom>
              <a:noFill/>
              <a:ln w="25400">
                <a:noFill/>
              </a:ln>
            </p:spPr>
            <p:txBody>
              <a:bodyPr wrap="none">
                <a:spAutoFit/>
              </a:bodyPr>
              <a:p>
                <a:pPr>
                  <a:spcBef>
                    <a:spcPct val="0"/>
                  </a:spcBef>
                </a:pPr>
                <a:r>
                  <a:rPr lang="zh-CN" altLang="en-US" sz="3200" dirty="0">
                    <a:solidFill>
                      <a:srgbClr val="0000CC"/>
                    </a:solidFill>
                    <a:latin typeface="Arial" panose="020B0604020202020204" pitchFamily="34" charset="0"/>
                  </a:rPr>
                  <a:t>速度快</a:t>
                </a:r>
                <a:endParaRPr lang="zh-CN" altLang="en-US" sz="3200" dirty="0">
                  <a:solidFill>
                    <a:srgbClr val="0000CC"/>
                  </a:solidFill>
                  <a:latin typeface="Arial" panose="020B0604020202020204" pitchFamily="34" charset="0"/>
                </a:endParaRPr>
              </a:p>
              <a:p>
                <a:pPr>
                  <a:spcBef>
                    <a:spcPct val="0"/>
                  </a:spcBef>
                </a:pPr>
                <a:r>
                  <a:rPr lang="zh-CN" altLang="en-US" sz="3200" dirty="0">
                    <a:solidFill>
                      <a:srgbClr val="0000CC"/>
                    </a:solidFill>
                    <a:latin typeface="Arial" panose="020B0604020202020204" pitchFamily="34" charset="0"/>
                  </a:rPr>
                  <a:t>容量小</a:t>
                </a:r>
                <a:endParaRPr lang="zh-CN" altLang="en-US" sz="3200" dirty="0">
                  <a:solidFill>
                    <a:srgbClr val="0000CC"/>
                  </a:solidFill>
                  <a:latin typeface="Arial" panose="020B0604020202020204" pitchFamily="34" charset="0"/>
                </a:endParaRPr>
              </a:p>
            </p:txBody>
          </p:sp>
          <p:sp>
            <p:nvSpPr>
              <p:cNvPr id="5138" name="Text Box 24"/>
              <p:cNvSpPr txBox="1"/>
              <p:nvPr/>
            </p:nvSpPr>
            <p:spPr>
              <a:xfrm>
                <a:off x="72" y="3018"/>
                <a:ext cx="887" cy="672"/>
              </a:xfrm>
              <a:prstGeom prst="rect">
                <a:avLst/>
              </a:prstGeom>
              <a:noFill/>
              <a:ln w="25400">
                <a:noFill/>
              </a:ln>
            </p:spPr>
            <p:txBody>
              <a:bodyPr wrap="none">
                <a:spAutoFit/>
              </a:bodyPr>
              <a:p>
                <a:pPr>
                  <a:spcBef>
                    <a:spcPct val="0"/>
                  </a:spcBef>
                </a:pPr>
                <a:r>
                  <a:rPr lang="zh-CN" altLang="en-US" sz="3200" dirty="0">
                    <a:solidFill>
                      <a:srgbClr val="0000CC"/>
                    </a:solidFill>
                    <a:latin typeface="Arial" panose="020B0604020202020204" pitchFamily="34" charset="0"/>
                  </a:rPr>
                  <a:t>容量大</a:t>
                </a:r>
                <a:endParaRPr lang="zh-CN" altLang="en-US" sz="3200" dirty="0">
                  <a:solidFill>
                    <a:srgbClr val="0000CC"/>
                  </a:solidFill>
                  <a:latin typeface="Arial" panose="020B0604020202020204" pitchFamily="34" charset="0"/>
                </a:endParaRPr>
              </a:p>
              <a:p>
                <a:pPr>
                  <a:spcBef>
                    <a:spcPct val="0"/>
                  </a:spcBef>
                </a:pPr>
                <a:r>
                  <a:rPr lang="zh-CN" altLang="en-US" sz="3200" dirty="0">
                    <a:solidFill>
                      <a:srgbClr val="0000CC"/>
                    </a:solidFill>
                    <a:latin typeface="Arial" panose="020B0604020202020204" pitchFamily="34" charset="0"/>
                  </a:rPr>
                  <a:t>速度慢</a:t>
                </a:r>
                <a:endParaRPr lang="zh-CN" altLang="en-US" sz="3200" dirty="0">
                  <a:solidFill>
                    <a:srgbClr val="0000CC"/>
                  </a:solidFill>
                  <a:latin typeface="Arial" panose="020B0604020202020204" pitchFamily="34" charset="0"/>
                </a:endParaRPr>
              </a:p>
            </p:txBody>
          </p:sp>
        </p:gr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Rectangle 3"/>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缓冲区管理</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1266" name="Rectangle 2"/>
          <p:cNvSpPr>
            <a:spLocks noGrp="1"/>
          </p:cNvSpPr>
          <p:nvPr>
            <p:ph type="body" sz="half" idx="1"/>
          </p:nvPr>
        </p:nvSpPr>
        <p:spPr>
          <a:xfrm>
            <a:off x="152400" y="1016000"/>
            <a:ext cx="8667750" cy="2268538"/>
          </a:xfrm>
        </p:spPr>
        <p:txBody>
          <a:bodyPr vert="horz" wrap="square" lIns="91440" tIns="45720" rIns="91440" bIns="45720" anchor="t" anchorCtr="0"/>
          <a:p>
            <a:pPr marL="0" indent="0" eaLnBrk="1" hangingPunct="1">
              <a:spcBef>
                <a:spcPct val="15000"/>
              </a:spcBef>
              <a:buClr>
                <a:srgbClr val="FF0000"/>
              </a:buClr>
              <a:buSzPct val="65000"/>
              <a:buFont typeface="Wingdings" panose="05000000000000000000" pitchFamily="2" charset="2"/>
              <a:buNone/>
            </a:pPr>
            <a:r>
              <a:rPr lang="en-US" altLang="zh-CN" sz="3200" dirty="0">
                <a:solidFill>
                  <a:srgbClr val="0000CC"/>
                </a:solidFill>
                <a:latin typeface="Arial" panose="020B0604020202020204" pitchFamily="34" charset="0"/>
              </a:rPr>
              <a:t>        </a:t>
            </a:r>
            <a:r>
              <a:rPr lang="zh-CN" altLang="en-US" sz="3200" dirty="0">
                <a:solidFill>
                  <a:srgbClr val="0000CC"/>
                </a:solidFill>
                <a:latin typeface="Arial" panose="020B0604020202020204" pitchFamily="34" charset="0"/>
              </a:rPr>
              <a:t>缓冲区</a:t>
            </a:r>
            <a:r>
              <a:rPr lang="zh-CN" altLang="en-US" sz="3200" dirty="0">
                <a:latin typeface="Arial" panose="020B0604020202020204" pitchFamily="34" charset="0"/>
              </a:rPr>
              <a:t>：在系统</a:t>
            </a:r>
            <a:r>
              <a:rPr lang="zh-CN" altLang="en-US" sz="3200" u="sng" dirty="0">
                <a:solidFill>
                  <a:srgbClr val="0066CC"/>
                </a:solidFill>
                <a:latin typeface="Arial" panose="020B0604020202020204" pitchFamily="34" charset="0"/>
              </a:rPr>
              <a:t>内存</a:t>
            </a:r>
            <a:r>
              <a:rPr lang="zh-CN" altLang="en-US" sz="3200" dirty="0">
                <a:latin typeface="Arial" panose="020B0604020202020204" pitchFamily="34" charset="0"/>
              </a:rPr>
              <a:t>中开辟的一块专用空间，用来缓存经常需要访问的数据。</a:t>
            </a:r>
            <a:endParaRPr lang="zh-CN" altLang="en-US" sz="3200" dirty="0">
              <a:latin typeface="Arial" panose="020B0604020202020204" pitchFamily="34" charset="0"/>
            </a:endParaRPr>
          </a:p>
          <a:p>
            <a:pPr marL="0" indent="0" eaLnBrk="1" hangingPunct="1">
              <a:spcBef>
                <a:spcPct val="15000"/>
              </a:spcBef>
              <a:buClr>
                <a:srgbClr val="FF0000"/>
              </a:buClr>
              <a:buSzPct val="65000"/>
              <a:buFont typeface="Wingdings" panose="05000000000000000000" pitchFamily="2" charset="2"/>
              <a:buNone/>
            </a:pPr>
            <a:r>
              <a:rPr lang="zh-CN" altLang="en-US" sz="3200" dirty="0">
                <a:latin typeface="Arial" panose="020B0604020202020204" pitchFamily="34" charset="0"/>
              </a:rPr>
              <a:t>        缓冲区被划分为多个块，块大小与磁盘块一致。       </a:t>
            </a:r>
            <a:endParaRPr lang="zh-CN" altLang="en-US" dirty="0">
              <a:latin typeface="Arial" panose="020B0604020202020204" pitchFamily="34" charset="0"/>
            </a:endParaRPr>
          </a:p>
        </p:txBody>
      </p:sp>
      <p:graphicFrame>
        <p:nvGraphicFramePr>
          <p:cNvPr id="11374" name="Group 110"/>
          <p:cNvGraphicFramePr>
            <a:graphicFrameLocks noGrp="1"/>
          </p:cNvGraphicFramePr>
          <p:nvPr>
            <p:ph sz="half" idx="1"/>
          </p:nvPr>
        </p:nvGraphicFramePr>
        <p:xfrm>
          <a:off x="1908175" y="3500438"/>
          <a:ext cx="6553200" cy="752475"/>
        </p:xfrm>
        <a:graphic>
          <a:graphicData uri="http://schemas.openxmlformats.org/drawingml/2006/table">
            <a:tbl>
              <a:tblPr/>
              <a:tblGrid>
                <a:gridCol w="1093788"/>
                <a:gridCol w="1090612"/>
                <a:gridCol w="1171575"/>
                <a:gridCol w="1125538"/>
                <a:gridCol w="977900"/>
                <a:gridCol w="1093787"/>
              </a:tblGrid>
              <a:tr h="676275">
                <a:tc>
                  <a:txBody>
                    <a:bodyPr/>
                    <a:lstStyle/>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缓冲块</a:t>
                      </a:r>
                      <a:endPar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a:t>
                      </a:r>
                      <a:endPar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缓冲块</a:t>
                      </a:r>
                      <a:endPar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缓冲块</a:t>
                      </a:r>
                      <a:endPar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缓冲块</a:t>
                      </a:r>
                      <a:endPar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0" lang="en-US" altLang="zh-CN"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缓冲块</a:t>
                      </a:r>
                      <a:endParaRPr kumimoji="0" lang="zh-CN" altLang="en-US"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p>
                      <a:pPr marL="0" marR="0" lvl="0" indent="0" algn="ctr" defTabSz="914400" rtl="0" eaLnBrk="1" fontAlgn="base" latinLnBrk="0" hangingPunct="1">
                        <a:lnSpc>
                          <a:spcPct val="90000"/>
                        </a:lnSpc>
                        <a:spcBef>
                          <a:spcPct val="0"/>
                        </a:spcBef>
                        <a:spcAft>
                          <a:spcPct val="0"/>
                        </a:spcAft>
                        <a:buClr>
                          <a:srgbClr val="FF0000"/>
                        </a:buClr>
                        <a:buSzPct val="65000"/>
                        <a:buFont typeface="Wingdings" panose="05000000000000000000" pitchFamily="2" charset="2"/>
                        <a:buNone/>
                      </a:pPr>
                      <a:r>
                        <a:rPr kumimoji="0" lang="en-US" altLang="zh-CN" sz="24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N</a:t>
                      </a:r>
                      <a:endParaRPr kumimoji="0" lang="en-US" altLang="zh-CN" sz="2800" b="1" i="0" u="none" strike="noStrike" cap="none" normalizeH="0" baseline="0" smtClean="0">
                        <a:ln>
                          <a:noFill/>
                        </a:ln>
                        <a:solidFill>
                          <a:srgbClr val="0000CC"/>
                        </a:solidFill>
                        <a:effectLst/>
                        <a:latin typeface="Arial" panose="020B0604020202020204" pitchFamily="34"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sp>
        <p:nvSpPr>
          <p:cNvPr id="11375" name="Rectangle 111"/>
          <p:cNvSpPr/>
          <p:nvPr/>
        </p:nvSpPr>
        <p:spPr>
          <a:xfrm>
            <a:off x="436563" y="3313113"/>
            <a:ext cx="1071562" cy="427037"/>
          </a:xfrm>
          <a:prstGeom prst="rect">
            <a:avLst/>
          </a:prstGeom>
          <a:noFill/>
          <a:ln w="19050">
            <a:noFill/>
          </a:ln>
        </p:spPr>
        <p:txBody>
          <a:bodyPr wrap="none" lIns="0" tIns="0" rIns="0" bIns="0" anchor="ctr" anchorCtr="0">
            <a:spAutoFit/>
          </a:bodyPr>
          <a:p>
            <a:pPr algn="ctr"/>
            <a:r>
              <a:rPr lang="zh-CN" altLang="en-US" dirty="0">
                <a:latin typeface="Arial" panose="020B0604020202020204" pitchFamily="34" charset="0"/>
              </a:rPr>
              <a:t>缓冲区</a:t>
            </a:r>
            <a:endParaRPr lang="zh-CN" altLang="en-US" dirty="0">
              <a:latin typeface="Arial" panose="020B0604020202020204" pitchFamily="34" charset="0"/>
            </a:endParaRPr>
          </a:p>
        </p:txBody>
      </p:sp>
      <p:grpSp>
        <p:nvGrpSpPr>
          <p:cNvPr id="2" name="Group 116"/>
          <p:cNvGrpSpPr/>
          <p:nvPr/>
        </p:nvGrpSpPr>
        <p:grpSpPr>
          <a:xfrm>
            <a:off x="2016125" y="5013325"/>
            <a:ext cx="4140200" cy="1657350"/>
            <a:chOff x="1270" y="2840"/>
            <a:chExt cx="2608" cy="1044"/>
          </a:xfrm>
        </p:grpSpPr>
        <p:sp>
          <p:nvSpPr>
            <p:cNvPr id="6169" name="AutoShape 112"/>
            <p:cNvSpPr/>
            <p:nvPr/>
          </p:nvSpPr>
          <p:spPr>
            <a:xfrm>
              <a:off x="2154" y="2840"/>
              <a:ext cx="1724" cy="1044"/>
            </a:xfrm>
            <a:prstGeom prst="flowChartMagneticDisk">
              <a:avLst/>
            </a:prstGeom>
            <a:noFill/>
            <a:ln w="28575" cap="flat" cmpd="sng">
              <a:solidFill>
                <a:srgbClr val="000000"/>
              </a:solidFill>
              <a:prstDash val="solid"/>
              <a:headEnd type="none" w="med" len="med"/>
              <a:tailEnd type="none" w="med" len="med"/>
            </a:ln>
          </p:spPr>
          <p:txBody>
            <a:bodyPr wrap="none" lIns="0" tIns="0" rIns="0" bIns="0" anchor="ctr" anchorCtr="0">
              <a:spAutoFit/>
            </a:bodyPr>
            <a:p>
              <a:endParaRPr lang="zh-CN" altLang="en-US" dirty="0">
                <a:latin typeface="Arial" panose="020B0604020202020204" pitchFamily="34" charset="0"/>
              </a:endParaRPr>
            </a:p>
          </p:txBody>
        </p:sp>
        <p:sp>
          <p:nvSpPr>
            <p:cNvPr id="6170" name="Rectangle 113"/>
            <p:cNvSpPr/>
            <p:nvPr/>
          </p:nvSpPr>
          <p:spPr>
            <a:xfrm>
              <a:off x="2336" y="3270"/>
              <a:ext cx="635" cy="432"/>
            </a:xfrm>
            <a:prstGeom prst="rect">
              <a:avLst/>
            </a:prstGeom>
            <a:noFill/>
            <a:ln w="28575" cap="flat" cmpd="sng">
              <a:solidFill>
                <a:srgbClr val="000000"/>
              </a:solidFill>
              <a:prstDash val="solid"/>
              <a:miter/>
              <a:headEnd type="none" w="med" len="med"/>
              <a:tailEnd type="none" w="med" len="med"/>
            </a:ln>
          </p:spPr>
          <p:txBody>
            <a:bodyPr lIns="0" tIns="0" rIns="0" bIns="0" anchor="ctr" anchorCtr="0">
              <a:spAutoFit/>
            </a:bodyPr>
            <a:p>
              <a:pPr algn="ctr">
                <a:lnSpc>
                  <a:spcPct val="90000"/>
                </a:lnSpc>
                <a:spcBef>
                  <a:spcPct val="0"/>
                </a:spcBef>
              </a:pPr>
              <a:r>
                <a:rPr lang="zh-CN" altLang="en-US" sz="2400" dirty="0">
                  <a:latin typeface="Arial" panose="020B0604020202020204" pitchFamily="34" charset="0"/>
                </a:rPr>
                <a:t>磁盘</a:t>
              </a:r>
              <a:endParaRPr lang="zh-CN" altLang="en-US" sz="2400" dirty="0">
                <a:latin typeface="Arial" panose="020B0604020202020204" pitchFamily="34" charset="0"/>
              </a:endParaRPr>
            </a:p>
            <a:p>
              <a:pPr algn="ctr">
                <a:lnSpc>
                  <a:spcPct val="90000"/>
                </a:lnSpc>
                <a:spcBef>
                  <a:spcPct val="0"/>
                </a:spcBef>
              </a:pPr>
              <a:r>
                <a:rPr lang="zh-CN" altLang="en-US" sz="2400" dirty="0">
                  <a:latin typeface="Arial" panose="020B0604020202020204" pitchFamily="34" charset="0"/>
                </a:rPr>
                <a:t>块</a:t>
              </a:r>
              <a:endParaRPr lang="zh-CN" altLang="en-US" sz="2400" dirty="0">
                <a:latin typeface="Arial" panose="020B0604020202020204" pitchFamily="34" charset="0"/>
              </a:endParaRPr>
            </a:p>
          </p:txBody>
        </p:sp>
        <p:sp>
          <p:nvSpPr>
            <p:cNvPr id="6171" name="Rectangle 114"/>
            <p:cNvSpPr/>
            <p:nvPr/>
          </p:nvSpPr>
          <p:spPr>
            <a:xfrm>
              <a:off x="3061" y="3270"/>
              <a:ext cx="635" cy="432"/>
            </a:xfrm>
            <a:prstGeom prst="rect">
              <a:avLst/>
            </a:prstGeom>
            <a:noFill/>
            <a:ln w="28575" cap="flat" cmpd="sng">
              <a:solidFill>
                <a:srgbClr val="000000"/>
              </a:solidFill>
              <a:prstDash val="solid"/>
              <a:miter/>
              <a:headEnd type="none" w="med" len="med"/>
              <a:tailEnd type="none" w="med" len="med"/>
            </a:ln>
          </p:spPr>
          <p:txBody>
            <a:bodyPr lIns="0" tIns="0" rIns="0" bIns="0" anchor="ctr" anchorCtr="0">
              <a:spAutoFit/>
            </a:bodyPr>
            <a:p>
              <a:pPr algn="ctr">
                <a:lnSpc>
                  <a:spcPct val="90000"/>
                </a:lnSpc>
                <a:spcBef>
                  <a:spcPct val="0"/>
                </a:spcBef>
              </a:pPr>
              <a:r>
                <a:rPr lang="zh-CN" altLang="en-US" sz="2400" dirty="0">
                  <a:latin typeface="Arial" panose="020B0604020202020204" pitchFamily="34" charset="0"/>
                </a:rPr>
                <a:t>磁盘</a:t>
              </a:r>
              <a:endParaRPr lang="zh-CN" altLang="en-US" sz="2400" dirty="0">
                <a:latin typeface="Arial" panose="020B0604020202020204" pitchFamily="34" charset="0"/>
              </a:endParaRPr>
            </a:p>
            <a:p>
              <a:pPr algn="ctr">
                <a:lnSpc>
                  <a:spcPct val="90000"/>
                </a:lnSpc>
                <a:spcBef>
                  <a:spcPct val="0"/>
                </a:spcBef>
              </a:pPr>
              <a:r>
                <a:rPr lang="zh-CN" altLang="en-US" sz="2400" dirty="0">
                  <a:latin typeface="Arial" panose="020B0604020202020204" pitchFamily="34" charset="0"/>
                </a:rPr>
                <a:t>块</a:t>
              </a:r>
              <a:endParaRPr lang="zh-CN" altLang="en-US" sz="2400" dirty="0">
                <a:latin typeface="Arial" panose="020B0604020202020204" pitchFamily="34" charset="0"/>
              </a:endParaRPr>
            </a:p>
          </p:txBody>
        </p:sp>
        <p:sp>
          <p:nvSpPr>
            <p:cNvPr id="6172" name="Rectangle 115"/>
            <p:cNvSpPr/>
            <p:nvPr/>
          </p:nvSpPr>
          <p:spPr>
            <a:xfrm>
              <a:off x="1270" y="2931"/>
              <a:ext cx="450" cy="269"/>
            </a:xfrm>
            <a:prstGeom prst="rect">
              <a:avLst/>
            </a:prstGeom>
            <a:noFill/>
            <a:ln w="19050">
              <a:noFill/>
            </a:ln>
          </p:spPr>
          <p:txBody>
            <a:bodyPr wrap="none" lIns="0" tIns="0" rIns="0" bIns="0" anchor="ctr" anchorCtr="0">
              <a:spAutoFit/>
            </a:bodyPr>
            <a:p>
              <a:pPr algn="ctr"/>
              <a:r>
                <a:rPr lang="zh-CN" altLang="en-US" dirty="0">
                  <a:latin typeface="Arial" panose="020B0604020202020204" pitchFamily="34" charset="0"/>
                </a:rPr>
                <a:t>磁盘</a:t>
              </a:r>
              <a:endParaRPr lang="zh-CN" altLang="en-US" dirty="0">
                <a:latin typeface="Arial" panose="020B0604020202020204" pitchFamily="34" charset="0"/>
              </a:endParaRPr>
            </a:p>
          </p:txBody>
        </p:sp>
      </p:grpSp>
      <p:grpSp>
        <p:nvGrpSpPr>
          <p:cNvPr id="3" name="Group 119"/>
          <p:cNvGrpSpPr/>
          <p:nvPr/>
        </p:nvGrpSpPr>
        <p:grpSpPr>
          <a:xfrm>
            <a:off x="395288" y="4219575"/>
            <a:ext cx="8569325" cy="1081088"/>
            <a:chOff x="249" y="2568"/>
            <a:chExt cx="5398" cy="681"/>
          </a:xfrm>
        </p:grpSpPr>
        <p:sp>
          <p:nvSpPr>
            <p:cNvPr id="6167" name="Line 117"/>
            <p:cNvSpPr/>
            <p:nvPr/>
          </p:nvSpPr>
          <p:spPr>
            <a:xfrm>
              <a:off x="249" y="2840"/>
              <a:ext cx="5398" cy="0"/>
            </a:xfrm>
            <a:prstGeom prst="line">
              <a:avLst/>
            </a:prstGeom>
            <a:ln w="38100" cap="flat" cmpd="sng">
              <a:solidFill>
                <a:srgbClr val="000000"/>
              </a:solidFill>
              <a:prstDash val="solid"/>
              <a:headEnd type="none" w="med" len="med"/>
              <a:tailEnd type="none" w="med" len="med"/>
            </a:ln>
          </p:spPr>
        </p:sp>
        <p:sp>
          <p:nvSpPr>
            <p:cNvPr id="6168" name="Line 118"/>
            <p:cNvSpPr/>
            <p:nvPr/>
          </p:nvSpPr>
          <p:spPr>
            <a:xfrm>
              <a:off x="3061" y="2568"/>
              <a:ext cx="0" cy="681"/>
            </a:xfrm>
            <a:prstGeom prst="line">
              <a:avLst/>
            </a:prstGeom>
            <a:ln w="38100" cap="flat" cmpd="sng">
              <a:solidFill>
                <a:srgbClr val="0000CC"/>
              </a:solidFill>
              <a:prstDash val="solid"/>
              <a:headEnd type="stealth" w="med" len="med"/>
              <a:tailEnd type="stealth"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6">
                                            <p:txEl>
                                              <p:charRg st="43" end="8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3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37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P spid="113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数据库缓冲区及上下接口示意图</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7171" name="Group 50"/>
          <p:cNvGrpSpPr/>
          <p:nvPr/>
        </p:nvGrpSpPr>
        <p:grpSpPr>
          <a:xfrm>
            <a:off x="539750" y="1268413"/>
            <a:ext cx="8062913" cy="4699000"/>
            <a:chOff x="340" y="799"/>
            <a:chExt cx="5079" cy="2960"/>
          </a:xfrm>
        </p:grpSpPr>
        <p:sp>
          <p:nvSpPr>
            <p:cNvPr id="7174" name="AutoShape 25"/>
            <p:cNvSpPr/>
            <p:nvPr/>
          </p:nvSpPr>
          <p:spPr>
            <a:xfrm>
              <a:off x="4558" y="1888"/>
              <a:ext cx="861" cy="1019"/>
            </a:xfrm>
            <a:prstGeom prst="flowChartMagneticDisk">
              <a:avLst/>
            </a:prstGeom>
            <a:noFill/>
            <a:ln w="38100" cap="flat" cmpd="sng">
              <a:solidFill>
                <a:srgbClr val="000000"/>
              </a:solidFill>
              <a:prstDash val="solid"/>
              <a:headEnd type="none" w="med" len="med"/>
              <a:tailEnd type="none" w="med" len="med"/>
            </a:ln>
          </p:spPr>
          <p:txBody>
            <a:bodyPr anchor="ctr" anchorCtr="0"/>
            <a:p>
              <a:pPr algn="ctr"/>
              <a:r>
                <a:rPr lang="zh-CN" altLang="en-US" dirty="0">
                  <a:latin typeface="Arial" panose="020B0604020202020204" pitchFamily="34" charset="0"/>
                </a:rPr>
                <a:t>数据库</a:t>
              </a:r>
              <a:endParaRPr lang="zh-CN" altLang="en-US" dirty="0">
                <a:latin typeface="Arial" panose="020B0604020202020204" pitchFamily="34" charset="0"/>
              </a:endParaRPr>
            </a:p>
          </p:txBody>
        </p:sp>
        <p:sp>
          <p:nvSpPr>
            <p:cNvPr id="7175" name="Text Box 34"/>
            <p:cNvSpPr txBox="1"/>
            <p:nvPr/>
          </p:nvSpPr>
          <p:spPr>
            <a:xfrm>
              <a:off x="340" y="2054"/>
              <a:ext cx="1316" cy="242"/>
            </a:xfrm>
            <a:prstGeom prst="rect">
              <a:avLst/>
            </a:prstGeom>
            <a:noFill/>
            <a:ln w="38100">
              <a:noFill/>
            </a:ln>
          </p:spPr>
          <p:txBody>
            <a:bodyPr lIns="0" tIns="0" rIns="0" bIns="0">
              <a:spAutoFit/>
            </a:bodyPr>
            <a:p>
              <a:pPr algn="ctr">
                <a:lnSpc>
                  <a:spcPct val="90000"/>
                </a:lnSpc>
              </a:pPr>
              <a:r>
                <a:rPr lang="zh-CN" altLang="en-US" dirty="0">
                  <a:solidFill>
                    <a:srgbClr val="0000CC"/>
                  </a:solidFill>
                  <a:latin typeface="Arial" panose="020B0604020202020204" pitchFamily="34" charset="0"/>
                </a:rPr>
                <a:t>读</a:t>
              </a:r>
              <a:r>
                <a:rPr lang="en-US" altLang="zh-CN" dirty="0">
                  <a:solidFill>
                    <a:srgbClr val="0000CC"/>
                  </a:solidFill>
                  <a:latin typeface="Arial" panose="020B0604020202020204" pitchFamily="34" charset="0"/>
                </a:rPr>
                <a:t>(ReadBUF)</a:t>
              </a:r>
              <a:endParaRPr lang="en-US" altLang="zh-CN" dirty="0">
                <a:solidFill>
                  <a:srgbClr val="0000CC"/>
                </a:solidFill>
                <a:latin typeface="Arial" panose="020B0604020202020204" pitchFamily="34" charset="0"/>
              </a:endParaRPr>
            </a:p>
          </p:txBody>
        </p:sp>
        <p:sp>
          <p:nvSpPr>
            <p:cNvPr id="7176" name="Line 38"/>
            <p:cNvSpPr/>
            <p:nvPr/>
          </p:nvSpPr>
          <p:spPr>
            <a:xfrm flipH="1">
              <a:off x="3470" y="2296"/>
              <a:ext cx="998" cy="0"/>
            </a:xfrm>
            <a:prstGeom prst="line">
              <a:avLst/>
            </a:prstGeom>
            <a:ln w="38100" cap="flat" cmpd="sng">
              <a:solidFill>
                <a:srgbClr val="000000"/>
              </a:solidFill>
              <a:prstDash val="solid"/>
              <a:headEnd type="none" w="med" len="med"/>
              <a:tailEnd type="arrow" w="med" len="med"/>
            </a:ln>
          </p:spPr>
        </p:sp>
        <p:sp>
          <p:nvSpPr>
            <p:cNvPr id="7177" name="Text Box 39"/>
            <p:cNvSpPr txBox="1"/>
            <p:nvPr/>
          </p:nvSpPr>
          <p:spPr>
            <a:xfrm>
              <a:off x="3606" y="1979"/>
              <a:ext cx="862" cy="242"/>
            </a:xfrm>
            <a:prstGeom prst="rect">
              <a:avLst/>
            </a:prstGeom>
            <a:noFill/>
            <a:ln w="38100">
              <a:noFill/>
            </a:ln>
          </p:spPr>
          <p:txBody>
            <a:bodyPr lIns="0" tIns="0" rIns="0" bIns="0">
              <a:spAutoFit/>
            </a:bodyPr>
            <a:p>
              <a:pPr algn="ctr">
                <a:lnSpc>
                  <a:spcPct val="90000"/>
                </a:lnSpc>
              </a:pPr>
              <a:r>
                <a:rPr lang="zh-CN" altLang="en-US" dirty="0">
                  <a:solidFill>
                    <a:srgbClr val="0000CC"/>
                  </a:solidFill>
                  <a:latin typeface="Arial" panose="020B0604020202020204" pitchFamily="34" charset="0"/>
                </a:rPr>
                <a:t>读</a:t>
              </a:r>
              <a:endParaRPr lang="zh-CN" altLang="en-US" dirty="0">
                <a:solidFill>
                  <a:srgbClr val="0000CC"/>
                </a:solidFill>
                <a:latin typeface="Arial" panose="020B0604020202020204" pitchFamily="34" charset="0"/>
              </a:endParaRPr>
            </a:p>
          </p:txBody>
        </p:sp>
        <p:sp>
          <p:nvSpPr>
            <p:cNvPr id="7178" name="Line 40"/>
            <p:cNvSpPr/>
            <p:nvPr/>
          </p:nvSpPr>
          <p:spPr>
            <a:xfrm flipH="1">
              <a:off x="3516" y="2523"/>
              <a:ext cx="952" cy="0"/>
            </a:xfrm>
            <a:prstGeom prst="line">
              <a:avLst/>
            </a:prstGeom>
            <a:ln w="38100" cap="flat" cmpd="sng">
              <a:solidFill>
                <a:srgbClr val="000000"/>
              </a:solidFill>
              <a:prstDash val="solid"/>
              <a:headEnd type="arrow" w="med" len="med"/>
              <a:tailEnd type="none" w="med" len="med"/>
            </a:ln>
          </p:spPr>
        </p:sp>
        <p:sp>
          <p:nvSpPr>
            <p:cNvPr id="7179" name="Text Box 41"/>
            <p:cNvSpPr txBox="1"/>
            <p:nvPr/>
          </p:nvSpPr>
          <p:spPr>
            <a:xfrm>
              <a:off x="3606" y="2568"/>
              <a:ext cx="862" cy="242"/>
            </a:xfrm>
            <a:prstGeom prst="rect">
              <a:avLst/>
            </a:prstGeom>
            <a:noFill/>
            <a:ln w="38100">
              <a:noFill/>
            </a:ln>
          </p:spPr>
          <p:txBody>
            <a:bodyPr lIns="0" tIns="0" rIns="0" bIns="0">
              <a:spAutoFit/>
            </a:bodyPr>
            <a:p>
              <a:pPr algn="ctr">
                <a:lnSpc>
                  <a:spcPct val="90000"/>
                </a:lnSpc>
              </a:pPr>
              <a:r>
                <a:rPr lang="zh-CN" altLang="en-US" dirty="0">
                  <a:solidFill>
                    <a:srgbClr val="0000CC"/>
                  </a:solidFill>
                  <a:latin typeface="Arial" panose="020B0604020202020204" pitchFamily="34" charset="0"/>
                </a:rPr>
                <a:t>写</a:t>
              </a:r>
              <a:endParaRPr lang="zh-CN" altLang="en-US" dirty="0">
                <a:solidFill>
                  <a:srgbClr val="0000CC"/>
                </a:solidFill>
                <a:latin typeface="Arial" panose="020B0604020202020204" pitchFamily="34" charset="0"/>
              </a:endParaRPr>
            </a:p>
          </p:txBody>
        </p:sp>
        <p:sp>
          <p:nvSpPr>
            <p:cNvPr id="7180" name="Text Box 42"/>
            <p:cNvSpPr txBox="1"/>
            <p:nvPr/>
          </p:nvSpPr>
          <p:spPr>
            <a:xfrm>
              <a:off x="340" y="2598"/>
              <a:ext cx="1361" cy="242"/>
            </a:xfrm>
            <a:prstGeom prst="rect">
              <a:avLst/>
            </a:prstGeom>
            <a:noFill/>
            <a:ln w="38100">
              <a:noFill/>
            </a:ln>
          </p:spPr>
          <p:txBody>
            <a:bodyPr lIns="0" tIns="0" rIns="0" bIns="0">
              <a:spAutoFit/>
            </a:bodyPr>
            <a:p>
              <a:pPr algn="ctr">
                <a:lnSpc>
                  <a:spcPct val="90000"/>
                </a:lnSpc>
              </a:pPr>
              <a:r>
                <a:rPr lang="zh-CN" altLang="en-US" dirty="0">
                  <a:solidFill>
                    <a:srgbClr val="0000CC"/>
                  </a:solidFill>
                  <a:latin typeface="Arial" panose="020B0604020202020204" pitchFamily="34" charset="0"/>
                </a:rPr>
                <a:t>写</a:t>
              </a:r>
              <a:r>
                <a:rPr lang="en-US" altLang="zh-CN" dirty="0">
                  <a:solidFill>
                    <a:srgbClr val="0000CC"/>
                  </a:solidFill>
                  <a:latin typeface="Arial" panose="020B0604020202020204" pitchFamily="34" charset="0"/>
                </a:rPr>
                <a:t>(WriteBUF)</a:t>
              </a:r>
              <a:endParaRPr lang="en-US" altLang="zh-CN" dirty="0">
                <a:solidFill>
                  <a:srgbClr val="0000CC"/>
                </a:solidFill>
                <a:latin typeface="Arial" panose="020B0604020202020204" pitchFamily="34" charset="0"/>
              </a:endParaRPr>
            </a:p>
          </p:txBody>
        </p:sp>
        <p:sp>
          <p:nvSpPr>
            <p:cNvPr id="7181" name="Text Box 35"/>
            <p:cNvSpPr txBox="1"/>
            <p:nvPr/>
          </p:nvSpPr>
          <p:spPr>
            <a:xfrm>
              <a:off x="1927" y="799"/>
              <a:ext cx="1497" cy="266"/>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90000"/>
                </a:lnSpc>
              </a:pPr>
              <a:r>
                <a:rPr lang="zh-CN" altLang="en-US" dirty="0">
                  <a:latin typeface="Arial" panose="020B0604020202020204" pitchFamily="34" charset="0"/>
                </a:rPr>
                <a:t>控制信息</a:t>
              </a:r>
              <a:endParaRPr lang="zh-CN" altLang="en-US" dirty="0">
                <a:latin typeface="Arial" panose="020B0604020202020204" pitchFamily="34" charset="0"/>
              </a:endParaRPr>
            </a:p>
          </p:txBody>
        </p:sp>
        <p:sp>
          <p:nvSpPr>
            <p:cNvPr id="7182" name="Text Box 43"/>
            <p:cNvSpPr txBox="1"/>
            <p:nvPr/>
          </p:nvSpPr>
          <p:spPr>
            <a:xfrm>
              <a:off x="1927" y="1071"/>
              <a:ext cx="1497" cy="244"/>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90000"/>
                </a:lnSpc>
              </a:pPr>
              <a:r>
                <a:rPr lang="zh-CN" altLang="en-US" dirty="0">
                  <a:latin typeface="Arial" panose="020B0604020202020204" pitchFamily="34" charset="0"/>
                </a:rPr>
                <a:t>第</a:t>
              </a:r>
              <a:r>
                <a:rPr lang="en-US" altLang="zh-CN" dirty="0">
                  <a:latin typeface="Arial" panose="020B0604020202020204" pitchFamily="34" charset="0"/>
                </a:rPr>
                <a:t>1</a:t>
              </a:r>
              <a:r>
                <a:rPr lang="zh-CN" altLang="en-US" dirty="0">
                  <a:latin typeface="Arial" panose="020B0604020202020204" pitchFamily="34" charset="0"/>
                </a:rPr>
                <a:t>块</a:t>
              </a:r>
              <a:endParaRPr lang="zh-CN" altLang="en-US" dirty="0">
                <a:latin typeface="Arial" panose="020B0604020202020204" pitchFamily="34" charset="0"/>
              </a:endParaRPr>
            </a:p>
          </p:txBody>
        </p:sp>
        <p:sp>
          <p:nvSpPr>
            <p:cNvPr id="7183" name="Text Box 44"/>
            <p:cNvSpPr txBox="1"/>
            <p:nvPr/>
          </p:nvSpPr>
          <p:spPr>
            <a:xfrm>
              <a:off x="1927" y="1308"/>
              <a:ext cx="1497" cy="244"/>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90000"/>
                </a:lnSpc>
              </a:pPr>
              <a:r>
                <a:rPr lang="zh-CN" altLang="en-US" dirty="0">
                  <a:latin typeface="Arial" panose="020B0604020202020204" pitchFamily="34" charset="0"/>
                </a:rPr>
                <a:t>第</a:t>
              </a:r>
              <a:r>
                <a:rPr lang="en-US" altLang="zh-CN" dirty="0">
                  <a:latin typeface="Arial" panose="020B0604020202020204" pitchFamily="34" charset="0"/>
                </a:rPr>
                <a:t>2</a:t>
              </a:r>
              <a:r>
                <a:rPr lang="zh-CN" altLang="en-US" dirty="0">
                  <a:latin typeface="Arial" panose="020B0604020202020204" pitchFamily="34" charset="0"/>
                </a:rPr>
                <a:t>块</a:t>
              </a:r>
              <a:endParaRPr lang="zh-CN" altLang="en-US" dirty="0">
                <a:latin typeface="Arial" panose="020B0604020202020204" pitchFamily="34" charset="0"/>
              </a:endParaRPr>
            </a:p>
          </p:txBody>
        </p:sp>
        <p:sp>
          <p:nvSpPr>
            <p:cNvPr id="7184" name="Text Box 45"/>
            <p:cNvSpPr txBox="1"/>
            <p:nvPr/>
          </p:nvSpPr>
          <p:spPr>
            <a:xfrm>
              <a:off x="1927" y="1557"/>
              <a:ext cx="1497" cy="1895"/>
            </a:xfrm>
            <a:prstGeom prst="rect">
              <a:avLst/>
            </a:prstGeom>
            <a:noFill/>
            <a:ln w="38100" cap="flat" cmpd="sng">
              <a:solidFill>
                <a:srgbClr val="000000"/>
              </a:solidFill>
              <a:prstDash val="solid"/>
              <a:miter/>
              <a:headEnd type="none" w="med" len="med"/>
              <a:tailEnd type="none" w="med" len="med"/>
            </a:ln>
          </p:spPr>
          <p:txBody>
            <a:bodyPr lIns="0" tIns="0" rIns="0" bIns="0"/>
            <a:p>
              <a:pPr algn="ctr">
                <a:spcBef>
                  <a:spcPct val="0"/>
                </a:spcBef>
              </a:pPr>
              <a:endParaRPr lang="en-US" altLang="zh-CN" dirty="0">
                <a:latin typeface="Arial" panose="020B0604020202020204" pitchFamily="34" charset="0"/>
              </a:endParaRPr>
            </a:p>
            <a:p>
              <a:pPr algn="ctr">
                <a:spcBef>
                  <a:spcPct val="0"/>
                </a:spcBef>
              </a:pPr>
              <a:endParaRPr lang="en-US" altLang="zh-CN" dirty="0">
                <a:latin typeface="Arial" panose="020B0604020202020204" pitchFamily="34" charset="0"/>
              </a:endParaRPr>
            </a:p>
            <a:p>
              <a:pPr algn="ctr">
                <a:spcBef>
                  <a:spcPct val="0"/>
                </a:spcBef>
              </a:pPr>
              <a:r>
                <a:rPr lang="en-US" altLang="zh-CN" dirty="0">
                  <a:latin typeface="Arial" panose="020B0604020202020204" pitchFamily="34" charset="0"/>
                </a:rPr>
                <a:t>……</a:t>
              </a:r>
              <a:endParaRPr lang="en-US" altLang="zh-CN" dirty="0">
                <a:latin typeface="Arial" panose="020B0604020202020204" pitchFamily="34" charset="0"/>
              </a:endParaRPr>
            </a:p>
            <a:p>
              <a:pPr algn="ctr">
                <a:spcBef>
                  <a:spcPct val="0"/>
                </a:spcBef>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7185" name="Text Box 46"/>
            <p:cNvSpPr txBox="1"/>
            <p:nvPr/>
          </p:nvSpPr>
          <p:spPr>
            <a:xfrm>
              <a:off x="1927" y="3453"/>
              <a:ext cx="1497" cy="306"/>
            </a:xfrm>
            <a:prstGeom prst="rect">
              <a:avLst/>
            </a:prstGeom>
            <a:noFill/>
            <a:ln w="38100" cap="flat" cmpd="sng">
              <a:solidFill>
                <a:srgbClr val="000000"/>
              </a:solidFill>
              <a:prstDash val="solid"/>
              <a:miter/>
              <a:headEnd type="none" w="med" len="med"/>
              <a:tailEnd type="none" w="med" len="med"/>
            </a:ln>
          </p:spPr>
          <p:txBody>
            <a:bodyPr lIns="0" tIns="0" rIns="0" bIns="144000"/>
            <a:p>
              <a:pPr algn="ctr">
                <a:spcBef>
                  <a:spcPct val="0"/>
                </a:spcBef>
              </a:pPr>
              <a:r>
                <a:rPr lang="zh-CN" altLang="en-US" dirty="0">
                  <a:latin typeface="Arial" panose="020B0604020202020204" pitchFamily="34" charset="0"/>
                </a:rPr>
                <a:t>第</a:t>
              </a:r>
              <a:r>
                <a:rPr lang="en-US" altLang="zh-CN" dirty="0">
                  <a:latin typeface="Arial" panose="020B0604020202020204" pitchFamily="34" charset="0"/>
                </a:rPr>
                <a:t>n</a:t>
              </a:r>
              <a:r>
                <a:rPr lang="zh-CN" altLang="en-US" dirty="0">
                  <a:latin typeface="Arial" panose="020B0604020202020204" pitchFamily="34" charset="0"/>
                </a:rPr>
                <a:t>块</a:t>
              </a:r>
              <a:endParaRPr lang="zh-CN" altLang="en-US" dirty="0">
                <a:latin typeface="Arial" panose="020B0604020202020204" pitchFamily="34" charset="0"/>
              </a:endParaRPr>
            </a:p>
            <a:p>
              <a:pPr algn="ctr">
                <a:lnSpc>
                  <a:spcPct val="140000"/>
                </a:lnSpc>
              </a:pPr>
              <a:endParaRPr lang="en-US" altLang="zh-CN" dirty="0">
                <a:latin typeface="Arial" panose="020B0604020202020204" pitchFamily="34" charset="0"/>
              </a:endParaRPr>
            </a:p>
          </p:txBody>
        </p:sp>
      </p:grpSp>
      <p:sp>
        <p:nvSpPr>
          <p:cNvPr id="7172" name="矩形 16"/>
          <p:cNvSpPr/>
          <p:nvPr/>
        </p:nvSpPr>
        <p:spPr>
          <a:xfrm>
            <a:off x="3430588" y="6019800"/>
            <a:ext cx="1641475" cy="695325"/>
          </a:xfrm>
          <a:prstGeom prst="rect">
            <a:avLst/>
          </a:prstGeom>
          <a:noFill/>
          <a:ln w="9525">
            <a:noFill/>
          </a:ln>
        </p:spPr>
        <p:txBody>
          <a:bodyPr wrap="none">
            <a:spAutoFit/>
          </a:bodyPr>
          <a:p>
            <a:pPr algn="ctr">
              <a:lnSpc>
                <a:spcPct val="140000"/>
              </a:lnSpc>
            </a:pPr>
            <a:r>
              <a:rPr lang="en-US" altLang="zh-CN" dirty="0">
                <a:latin typeface="Arial" panose="020B0604020202020204" pitchFamily="34" charset="0"/>
              </a:rPr>
              <a:t>BUFFER</a:t>
            </a:r>
            <a:endParaRPr lang="en-US" altLang="zh-CN" dirty="0">
              <a:latin typeface="Arial" panose="020B0604020202020204" pitchFamily="34" charset="0"/>
            </a:endParaRPr>
          </a:p>
        </p:txBody>
      </p:sp>
      <p:sp>
        <p:nvSpPr>
          <p:cNvPr id="162867" name="Text Box 51"/>
          <p:cNvSpPr txBox="1"/>
          <p:nvPr/>
        </p:nvSpPr>
        <p:spPr>
          <a:xfrm>
            <a:off x="3052763" y="2428875"/>
            <a:ext cx="2376487" cy="3079750"/>
          </a:xfrm>
          <a:prstGeom prst="rect">
            <a:avLst/>
          </a:prstGeom>
          <a:solidFill>
            <a:srgbClr val="FFFFFF"/>
          </a:solidFill>
          <a:ln w="38100" cap="flat" cmpd="sng">
            <a:solidFill>
              <a:srgbClr val="000000"/>
            </a:solidFill>
            <a:prstDash val="solid"/>
            <a:miter/>
            <a:headEnd type="none" w="med" len="med"/>
            <a:tailEnd type="none" w="med" len="med"/>
          </a:ln>
        </p:spPr>
        <p:txBody>
          <a:bodyPr lIns="0" tIns="0" rIns="0" bIns="0"/>
          <a:p>
            <a:pPr algn="ctr">
              <a:spcBef>
                <a:spcPct val="0"/>
              </a:spcBef>
            </a:pPr>
            <a:endParaRPr lang="en-US" altLang="zh-CN" dirty="0">
              <a:latin typeface="Arial" panose="020B0604020202020204" pitchFamily="34" charset="0"/>
            </a:endParaRPr>
          </a:p>
          <a:p>
            <a:pPr>
              <a:spcBef>
                <a:spcPct val="0"/>
              </a:spcBef>
            </a:pPr>
            <a:r>
              <a:rPr lang="en-US" altLang="zh-CN" dirty="0">
                <a:latin typeface="Arial" panose="020B0604020202020204" pitchFamily="34" charset="0"/>
              </a:rPr>
              <a:t>  ( </a:t>
            </a:r>
            <a:r>
              <a:rPr lang="zh-CN" altLang="en-US" dirty="0">
                <a:solidFill>
                  <a:srgbClr val="0000CC"/>
                </a:solidFill>
                <a:latin typeface="Arial" panose="020B0604020202020204" pitchFamily="34" charset="0"/>
              </a:rPr>
              <a:t>操作：</a:t>
            </a:r>
            <a:endParaRPr lang="zh-CN" altLang="en-US" dirty="0">
              <a:solidFill>
                <a:srgbClr val="0000CC"/>
              </a:solidFill>
              <a:latin typeface="Arial" panose="020B0604020202020204" pitchFamily="34" charset="0"/>
            </a:endParaRPr>
          </a:p>
          <a:p>
            <a:pPr algn="ctr">
              <a:spcBef>
                <a:spcPct val="0"/>
              </a:spcBef>
            </a:pPr>
            <a:r>
              <a:rPr lang="zh-CN" altLang="en-US" dirty="0">
                <a:solidFill>
                  <a:srgbClr val="0000CC"/>
                </a:solidFill>
                <a:latin typeface="Arial" panose="020B0604020202020204" pitchFamily="34" charset="0"/>
              </a:rPr>
              <a:t>    查找块、</a:t>
            </a:r>
            <a:endParaRPr lang="zh-CN" altLang="en-US" dirty="0">
              <a:solidFill>
                <a:srgbClr val="0000CC"/>
              </a:solidFill>
              <a:latin typeface="Arial" panose="020B0604020202020204" pitchFamily="34" charset="0"/>
            </a:endParaRPr>
          </a:p>
          <a:p>
            <a:pPr algn="ctr">
              <a:spcBef>
                <a:spcPct val="0"/>
              </a:spcBef>
            </a:pPr>
            <a:r>
              <a:rPr lang="zh-CN" altLang="en-US" dirty="0">
                <a:solidFill>
                  <a:srgbClr val="0000CC"/>
                </a:solidFill>
                <a:latin typeface="Arial" panose="020B0604020202020204" pitchFamily="34" charset="0"/>
              </a:rPr>
              <a:t>    申请块、</a:t>
            </a:r>
            <a:endParaRPr lang="zh-CN" altLang="en-US" dirty="0">
              <a:solidFill>
                <a:srgbClr val="0000CC"/>
              </a:solidFill>
              <a:latin typeface="Arial" panose="020B0604020202020204" pitchFamily="34" charset="0"/>
            </a:endParaRPr>
          </a:p>
          <a:p>
            <a:pPr algn="ctr">
              <a:spcBef>
                <a:spcPct val="0"/>
              </a:spcBef>
            </a:pPr>
            <a:r>
              <a:rPr lang="zh-CN" altLang="en-US" dirty="0">
                <a:solidFill>
                  <a:srgbClr val="0000CC"/>
                </a:solidFill>
                <a:latin typeface="Arial" panose="020B0604020202020204" pitchFamily="34" charset="0"/>
              </a:rPr>
              <a:t>    淘汰块</a:t>
            </a:r>
            <a:r>
              <a:rPr lang="zh-CN" altLang="en-US" dirty="0">
                <a:latin typeface="Arial" panose="020B0604020202020204" pitchFamily="34" charset="0"/>
              </a:rPr>
              <a:t>  </a:t>
            </a:r>
            <a:r>
              <a:rPr lang="en-US" altLang="zh-CN" dirty="0">
                <a:latin typeface="Arial" panose="020B0604020202020204" pitchFamily="34" charset="0"/>
              </a:rPr>
              <a:t>)</a:t>
            </a:r>
            <a:endParaRPr lang="en-US" altLang="zh-CN"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2867"/>
                                        </p:tgtEl>
                                        <p:attrNameLst>
                                          <p:attrName>style.visibility</p:attrName>
                                        </p:attrNameLst>
                                      </p:cBhvr>
                                      <p:to>
                                        <p:strVal val="visible"/>
                                      </p:to>
                                    </p:set>
                                    <p:animEffect transition="in" filter="box(in)">
                                      <p:cBhvr>
                                        <p:cTn id="7" dur="500"/>
                                        <p:tgtEl>
                                          <p:spTgt spid="1628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6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50" name="Rectangle 2"/>
          <p:cNvSpPr>
            <a:spLocks noGrp="1"/>
          </p:cNvSpPr>
          <p:nvPr>
            <p:ph idx="1"/>
          </p:nvPr>
        </p:nvSpPr>
        <p:spPr>
          <a:xfrm>
            <a:off x="152400" y="981075"/>
            <a:ext cx="8812213" cy="5616575"/>
          </a:xfrm>
        </p:spPr>
        <p:txBody>
          <a:bodyPr vert="horz" wrap="square" lIns="91440" tIns="45720" rIns="91440" bIns="45720" anchor="t" anchorCtr="0"/>
          <a:p>
            <a:pPr marL="0" indent="0" eaLnBrk="1" hangingPunct="1">
              <a:lnSpc>
                <a:spcPct val="95000"/>
              </a:lnSpc>
              <a:buNone/>
            </a:pPr>
            <a:r>
              <a:rPr lang="en-US" altLang="zh-CN" dirty="0">
                <a:latin typeface="Arial" panose="020B0604020202020204" pitchFamily="34" charset="0"/>
              </a:rPr>
              <a:t>    </a:t>
            </a:r>
            <a:r>
              <a:rPr lang="zh-CN" altLang="en-US" dirty="0">
                <a:solidFill>
                  <a:srgbClr val="0000CC"/>
                </a:solidFill>
                <a:latin typeface="Arial" panose="020B0604020202020204" pitchFamily="34" charset="0"/>
              </a:rPr>
              <a:t>缓冲管理器</a:t>
            </a:r>
            <a:r>
              <a:rPr lang="zh-CN" altLang="en-US" dirty="0">
                <a:latin typeface="Arial" panose="020B0604020202020204" pitchFamily="34" charset="0"/>
              </a:rPr>
              <a:t>：</a:t>
            </a:r>
            <a:r>
              <a:rPr lang="en-US" altLang="zh-CN" dirty="0">
                <a:latin typeface="Arial" panose="020B0604020202020204" pitchFamily="34" charset="0"/>
              </a:rPr>
              <a:t>DBMS</a:t>
            </a:r>
            <a:r>
              <a:rPr lang="zh-CN" altLang="en-US" dirty="0">
                <a:latin typeface="Arial" panose="020B0604020202020204" pitchFamily="34" charset="0"/>
              </a:rPr>
              <a:t>中对缓冲区进行管理的模块。</a:t>
            </a:r>
            <a:endParaRPr lang="zh-CN" altLang="en-US" dirty="0">
              <a:latin typeface="Arial" panose="020B0604020202020204" pitchFamily="34" charset="0"/>
            </a:endParaRPr>
          </a:p>
          <a:p>
            <a:pPr marL="0" indent="0" eaLnBrk="1" hangingPunct="1">
              <a:spcBef>
                <a:spcPct val="15000"/>
              </a:spcBef>
              <a:buNone/>
            </a:pPr>
            <a:r>
              <a:rPr lang="zh-CN" altLang="en-US" dirty="0">
                <a:latin typeface="Arial" panose="020B0604020202020204" pitchFamily="34" charset="0"/>
              </a:rPr>
              <a:t>    缓冲块的</a:t>
            </a:r>
            <a:r>
              <a:rPr lang="zh-CN" altLang="en-US" dirty="0">
                <a:solidFill>
                  <a:srgbClr val="0066CC"/>
                </a:solidFill>
                <a:latin typeface="Arial" panose="020B0604020202020204" pitchFamily="34" charset="0"/>
              </a:rPr>
              <a:t>标志位</a:t>
            </a:r>
            <a:r>
              <a:rPr lang="zh-CN" altLang="en-US" dirty="0">
                <a:latin typeface="Arial" panose="020B0604020202020204" pitchFamily="34" charset="0"/>
              </a:rPr>
              <a:t>：</a:t>
            </a:r>
            <a:endParaRPr lang="zh-CN" altLang="en-US" dirty="0">
              <a:latin typeface="Arial" panose="020B0604020202020204" pitchFamily="34" charset="0"/>
            </a:endParaRPr>
          </a:p>
          <a:p>
            <a:pPr marL="541655" lvl="1" indent="-361950" eaLnBrk="1" hangingPunct="1">
              <a:lnSpc>
                <a:spcPct val="95000"/>
              </a:lnSpc>
              <a:spcBef>
                <a:spcPct val="10000"/>
              </a:spcBef>
            </a:pPr>
            <a:r>
              <a:rPr lang="zh-CN" altLang="en-US" dirty="0">
                <a:solidFill>
                  <a:srgbClr val="FF0000"/>
                </a:solidFill>
                <a:latin typeface="Arial" panose="020B0604020202020204" pitchFamily="34" charset="0"/>
              </a:rPr>
              <a:t>空闲位</a:t>
            </a:r>
            <a:r>
              <a:rPr lang="zh-CN" altLang="en-US" dirty="0">
                <a:latin typeface="Arial" panose="020B0604020202020204" pitchFamily="34" charset="0"/>
              </a:rPr>
              <a:t>：表示缓冲块是否空闲，空闲的块可以用来读入新的数据</a:t>
            </a:r>
            <a:endParaRPr lang="zh-CN" altLang="en-US" dirty="0">
              <a:latin typeface="Arial" panose="020B0604020202020204" pitchFamily="34" charset="0"/>
            </a:endParaRPr>
          </a:p>
          <a:p>
            <a:pPr marL="541655" lvl="1" indent="-361950" eaLnBrk="1" hangingPunct="1">
              <a:lnSpc>
                <a:spcPct val="95000"/>
              </a:lnSpc>
              <a:spcBef>
                <a:spcPct val="25000"/>
              </a:spcBef>
            </a:pPr>
            <a:r>
              <a:rPr lang="zh-CN" altLang="en-US" dirty="0">
                <a:solidFill>
                  <a:srgbClr val="FF0000"/>
                </a:solidFill>
                <a:latin typeface="Arial" panose="020B0604020202020204" pitchFamily="34" charset="0"/>
              </a:rPr>
              <a:t>脏位</a:t>
            </a:r>
            <a:r>
              <a:rPr lang="zh-CN" altLang="en-US" dirty="0">
                <a:latin typeface="Arial" panose="020B0604020202020204" pitchFamily="34" charset="0"/>
              </a:rPr>
              <a:t>：表示缓冲块是否曾被修改，在被替换时需要写入磁盘</a:t>
            </a:r>
            <a:endParaRPr lang="zh-CN" altLang="en-US" dirty="0">
              <a:latin typeface="Arial" panose="020B0604020202020204" pitchFamily="34" charset="0"/>
            </a:endParaRPr>
          </a:p>
          <a:p>
            <a:pPr marL="541655" lvl="1" indent="-361950" eaLnBrk="1" hangingPunct="1">
              <a:lnSpc>
                <a:spcPct val="95000"/>
              </a:lnSpc>
              <a:spcBef>
                <a:spcPct val="25000"/>
              </a:spcBef>
            </a:pPr>
            <a:r>
              <a:rPr lang="en-US" altLang="zh-CN" dirty="0">
                <a:solidFill>
                  <a:srgbClr val="FF0000"/>
                </a:solidFill>
                <a:latin typeface="Arial" panose="020B0604020202020204" pitchFamily="34" charset="0"/>
              </a:rPr>
              <a:t>pin</a:t>
            </a:r>
            <a:r>
              <a:rPr lang="zh-CN" altLang="en-US" dirty="0">
                <a:solidFill>
                  <a:srgbClr val="FF0000"/>
                </a:solidFill>
                <a:latin typeface="Arial" panose="020B0604020202020204" pitchFamily="34" charset="0"/>
              </a:rPr>
              <a:t>值</a:t>
            </a:r>
            <a:r>
              <a:rPr lang="zh-CN" altLang="en-US" dirty="0">
                <a:latin typeface="Arial" panose="020B0604020202020204" pitchFamily="34" charset="0"/>
              </a:rPr>
              <a:t>：初值为</a:t>
            </a:r>
            <a:r>
              <a:rPr lang="en-US" altLang="zh-CN" dirty="0">
                <a:latin typeface="Arial" panose="020B0604020202020204" pitchFamily="34" charset="0"/>
              </a:rPr>
              <a:t>0</a:t>
            </a:r>
            <a:r>
              <a:rPr lang="zh-CN" altLang="en-US" dirty="0">
                <a:latin typeface="Arial" panose="020B0604020202020204" pitchFamily="34" charset="0"/>
              </a:rPr>
              <a:t>，用到时＋</a:t>
            </a:r>
            <a:r>
              <a:rPr lang="en-US" altLang="zh-CN" dirty="0">
                <a:latin typeface="Arial" panose="020B0604020202020204" pitchFamily="34" charset="0"/>
              </a:rPr>
              <a:t>1</a:t>
            </a:r>
            <a:r>
              <a:rPr lang="zh-CN" altLang="en-US" dirty="0">
                <a:latin typeface="Arial" panose="020B0604020202020204" pitchFamily="34" charset="0"/>
              </a:rPr>
              <a:t>，用完后－</a:t>
            </a:r>
            <a:r>
              <a:rPr lang="en-US" altLang="zh-CN" dirty="0">
                <a:latin typeface="Arial" panose="020B0604020202020204" pitchFamily="34" charset="0"/>
              </a:rPr>
              <a:t>1</a:t>
            </a:r>
            <a:endParaRPr lang="en-US" altLang="zh-CN" dirty="0">
              <a:latin typeface="Arial" panose="020B0604020202020204" pitchFamily="34" charset="0"/>
            </a:endParaRPr>
          </a:p>
          <a:p>
            <a:pPr marL="1068705" lvl="2" indent="-347980" eaLnBrk="1" hangingPunct="1">
              <a:lnSpc>
                <a:spcPct val="95000"/>
              </a:lnSpc>
              <a:spcBef>
                <a:spcPct val="0"/>
              </a:spcBef>
            </a:pPr>
            <a:r>
              <a:rPr lang="zh-CN" altLang="en-US" sz="3200" dirty="0">
                <a:latin typeface="Arial" panose="020B0604020202020204" pitchFamily="34" charset="0"/>
              </a:rPr>
              <a:t>防止替换出正在处理的块</a:t>
            </a:r>
            <a:r>
              <a:rPr lang="en-US" altLang="zh-CN" sz="3200" dirty="0">
                <a:latin typeface="Arial" panose="020B0604020202020204" pitchFamily="34" charset="0"/>
              </a:rPr>
              <a:t>(</a:t>
            </a:r>
            <a:r>
              <a:rPr lang="zh-CN" altLang="en-US" sz="3200" dirty="0">
                <a:latin typeface="Arial" panose="020B0604020202020204" pitchFamily="34" charset="0"/>
              </a:rPr>
              <a:t>值非</a:t>
            </a:r>
            <a:r>
              <a:rPr lang="en-US" altLang="zh-CN" sz="3200" dirty="0">
                <a:latin typeface="Arial" panose="020B0604020202020204" pitchFamily="34" charset="0"/>
              </a:rPr>
              <a:t>0) </a:t>
            </a:r>
            <a:endParaRPr lang="en-US" altLang="zh-CN" sz="3200" dirty="0">
              <a:latin typeface="Arial" panose="020B0604020202020204" pitchFamily="34" charset="0"/>
            </a:endParaRPr>
          </a:p>
          <a:p>
            <a:pPr marL="1068705" lvl="2" indent="-347980" eaLnBrk="1" hangingPunct="1">
              <a:lnSpc>
                <a:spcPct val="95000"/>
              </a:lnSpc>
              <a:spcBef>
                <a:spcPct val="0"/>
              </a:spcBef>
            </a:pPr>
            <a:r>
              <a:rPr lang="zh-CN" altLang="en-US" sz="3200" dirty="0">
                <a:latin typeface="Arial" panose="020B0604020202020204" pitchFamily="34" charset="0"/>
              </a:rPr>
              <a:t>指定常驻内存块</a:t>
            </a:r>
            <a:r>
              <a:rPr lang="en-US" altLang="zh-CN" sz="3200" dirty="0">
                <a:latin typeface="Arial" panose="020B0604020202020204" pitchFamily="34" charset="0"/>
              </a:rPr>
              <a:t>(</a:t>
            </a:r>
            <a:r>
              <a:rPr lang="zh-CN" altLang="en-US" sz="3200" dirty="0">
                <a:latin typeface="Arial" panose="020B0604020202020204" pitchFamily="34" charset="0"/>
              </a:rPr>
              <a:t>置非</a:t>
            </a:r>
            <a:r>
              <a:rPr lang="en-US" altLang="zh-CN" sz="3200" dirty="0">
                <a:latin typeface="Arial" panose="020B0604020202020204" pitchFamily="34" charset="0"/>
              </a:rPr>
              <a:t>0</a:t>
            </a:r>
            <a:r>
              <a:rPr lang="zh-CN" altLang="en-US" sz="3200" dirty="0">
                <a:latin typeface="Arial" panose="020B0604020202020204" pitchFamily="34" charset="0"/>
              </a:rPr>
              <a:t>值</a:t>
            </a:r>
            <a:r>
              <a:rPr lang="en-US" altLang="zh-CN" sz="3200" dirty="0">
                <a:latin typeface="Arial" panose="020B0604020202020204" pitchFamily="34" charset="0"/>
              </a:rPr>
              <a:t>)</a:t>
            </a:r>
            <a:endParaRPr lang="en-US" altLang="zh-CN" sz="3200" dirty="0">
              <a:latin typeface="Arial" panose="020B0604020202020204" pitchFamily="34" charset="0"/>
            </a:endParaRPr>
          </a:p>
        </p:txBody>
      </p:sp>
      <p:sp>
        <p:nvSpPr>
          <p:cNvPr id="1812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缓冲区管理</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1250">
                                            <p:txEl>
                                              <p:charRg st="28" end="4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1250">
                                            <p:txEl>
                                              <p:charRg st="41" end="7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1250">
                                            <p:txEl>
                                              <p:charRg st="70" end="9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1250">
                                            <p:txEl>
                                              <p:charRg st="97" end="11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1250">
                                            <p:txEl>
                                              <p:charRg st="119" end="13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1250">
                                            <p:txEl>
                                              <p:charRg st="137" end="15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9" name="Rectangle 3"/>
          <p:cNvSpPr>
            <a:spLocks noGrp="1" noChangeArrowheads="1"/>
          </p:cNvSpPr>
          <p:nvPr>
            <p:ph type="title"/>
          </p:nvPr>
        </p:nvSpPr>
        <p:spPr>
          <a:xfrm>
            <a:off x="179388" y="44450"/>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缓冲区管理示意图－</a:t>
            </a:r>
            <a:r>
              <a:rPr kumimoji="0" lang="zh-CN" altLang="en-US" sz="44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读操作</a:t>
            </a:r>
            <a:endParaRPr kumimoji="0" lang="zh-CN" altLang="en-US" sz="44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grpSp>
        <p:nvGrpSpPr>
          <p:cNvPr id="9219" name="Group 24"/>
          <p:cNvGrpSpPr/>
          <p:nvPr/>
        </p:nvGrpSpPr>
        <p:grpSpPr>
          <a:xfrm>
            <a:off x="1979613" y="841375"/>
            <a:ext cx="5545137" cy="5972175"/>
            <a:chOff x="1202" y="436"/>
            <a:chExt cx="3493" cy="3762"/>
          </a:xfrm>
        </p:grpSpPr>
        <p:sp>
          <p:nvSpPr>
            <p:cNvPr id="9220" name="Text Box 5"/>
            <p:cNvSpPr txBox="1"/>
            <p:nvPr/>
          </p:nvSpPr>
          <p:spPr>
            <a:xfrm>
              <a:off x="1655" y="935"/>
              <a:ext cx="2314" cy="293"/>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r>
                <a:rPr lang="zh-CN" altLang="en-US" dirty="0">
                  <a:latin typeface="Arial" panose="020B0604020202020204" pitchFamily="34" charset="0"/>
                </a:rPr>
                <a:t>在缓冲区中查找块</a:t>
              </a:r>
              <a:endParaRPr lang="zh-CN" altLang="en-US" dirty="0">
                <a:latin typeface="Arial" panose="020B0604020202020204" pitchFamily="34" charset="0"/>
              </a:endParaRPr>
            </a:p>
          </p:txBody>
        </p:sp>
        <p:sp>
          <p:nvSpPr>
            <p:cNvPr id="9221" name="Text Box 6"/>
            <p:cNvSpPr txBox="1"/>
            <p:nvPr/>
          </p:nvSpPr>
          <p:spPr>
            <a:xfrm>
              <a:off x="1655" y="2217"/>
              <a:ext cx="2314" cy="293"/>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r>
                <a:rPr lang="zh-CN" altLang="en-US" dirty="0">
                  <a:latin typeface="Arial" panose="020B0604020202020204" pitchFamily="34" charset="0"/>
                </a:rPr>
                <a:t>在缓冲区中申请一块</a:t>
              </a:r>
              <a:endParaRPr lang="zh-CN" altLang="en-US" dirty="0">
                <a:latin typeface="Arial" panose="020B0604020202020204" pitchFamily="34" charset="0"/>
              </a:endParaRPr>
            </a:p>
          </p:txBody>
        </p:sp>
        <p:sp>
          <p:nvSpPr>
            <p:cNvPr id="9222" name="Text Box 7"/>
            <p:cNvSpPr txBox="1"/>
            <p:nvPr/>
          </p:nvSpPr>
          <p:spPr>
            <a:xfrm>
              <a:off x="1655" y="2778"/>
              <a:ext cx="2314" cy="293"/>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r>
                <a:rPr lang="zh-CN" altLang="en-US" dirty="0">
                  <a:latin typeface="Arial" panose="020B0604020202020204" pitchFamily="34" charset="0"/>
                </a:rPr>
                <a:t>按</a:t>
              </a:r>
              <a:r>
                <a:rPr lang="zh-CN" altLang="en-US" dirty="0">
                  <a:solidFill>
                    <a:srgbClr val="FF0000"/>
                  </a:solidFill>
                  <a:latin typeface="Arial" panose="020B0604020202020204" pitchFamily="34" charset="0"/>
                </a:rPr>
                <a:t>替换策略</a:t>
              </a:r>
              <a:r>
                <a:rPr lang="zh-CN" altLang="en-US" dirty="0">
                  <a:latin typeface="Arial" panose="020B0604020202020204" pitchFamily="34" charset="0"/>
                </a:rPr>
                <a:t>淘汰一块</a:t>
              </a:r>
              <a:endParaRPr lang="zh-CN" altLang="en-US" dirty="0">
                <a:latin typeface="Arial" panose="020B0604020202020204" pitchFamily="34" charset="0"/>
              </a:endParaRPr>
            </a:p>
          </p:txBody>
        </p:sp>
        <p:sp>
          <p:nvSpPr>
            <p:cNvPr id="9223" name="Text Box 8"/>
            <p:cNvSpPr txBox="1"/>
            <p:nvPr/>
          </p:nvSpPr>
          <p:spPr>
            <a:xfrm>
              <a:off x="1655" y="3339"/>
              <a:ext cx="2314" cy="293"/>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r>
                <a:rPr lang="zh-CN" altLang="en-US" dirty="0">
                  <a:latin typeface="Arial" panose="020B0604020202020204" pitchFamily="34" charset="0"/>
                </a:rPr>
                <a:t>从外存读入新块</a:t>
              </a:r>
              <a:endParaRPr lang="zh-CN" altLang="en-US" dirty="0">
                <a:latin typeface="Arial" panose="020B0604020202020204" pitchFamily="34" charset="0"/>
              </a:endParaRPr>
            </a:p>
          </p:txBody>
        </p:sp>
        <p:sp>
          <p:nvSpPr>
            <p:cNvPr id="9224" name="Text Box 9"/>
            <p:cNvSpPr txBox="1"/>
            <p:nvPr/>
          </p:nvSpPr>
          <p:spPr>
            <a:xfrm>
              <a:off x="1655" y="3929"/>
              <a:ext cx="2314" cy="269"/>
            </a:xfrm>
            <a:prstGeom prst="rect">
              <a:avLst/>
            </a:prstGeom>
            <a:solidFill>
              <a:srgbClr val="FFFFFF"/>
            </a:solidFill>
            <a:ln w="38100">
              <a:noFill/>
            </a:ln>
          </p:spPr>
          <p:txBody>
            <a:bodyPr lIns="0" tIns="0" rIns="0" bIns="0">
              <a:spAutoFit/>
            </a:bodyPr>
            <a:p>
              <a:pPr algn="ctr"/>
              <a:r>
                <a:rPr lang="zh-CN" altLang="en-US" dirty="0">
                  <a:latin typeface="Arial" panose="020B0604020202020204" pitchFamily="34" charset="0"/>
                </a:rPr>
                <a:t>返回该块在缓冲区位置</a:t>
              </a:r>
              <a:endParaRPr lang="zh-CN" altLang="en-US" dirty="0">
                <a:latin typeface="Arial" panose="020B0604020202020204" pitchFamily="34" charset="0"/>
              </a:endParaRPr>
            </a:p>
          </p:txBody>
        </p:sp>
        <p:sp>
          <p:nvSpPr>
            <p:cNvPr id="9225" name="Text Box 10"/>
            <p:cNvSpPr txBox="1"/>
            <p:nvPr/>
          </p:nvSpPr>
          <p:spPr>
            <a:xfrm>
              <a:off x="2245" y="436"/>
              <a:ext cx="1134" cy="269"/>
            </a:xfrm>
            <a:prstGeom prst="rect">
              <a:avLst/>
            </a:prstGeom>
            <a:solidFill>
              <a:srgbClr val="FFFFFF"/>
            </a:solidFill>
            <a:ln w="38100">
              <a:noFill/>
            </a:ln>
          </p:spPr>
          <p:txBody>
            <a:bodyPr lIns="0" tIns="0" rIns="0" bIns="0">
              <a:spAutoFit/>
            </a:bodyPr>
            <a:p>
              <a:pPr algn="ctr"/>
              <a:r>
                <a:rPr lang="en-US" altLang="zh-CN" dirty="0">
                  <a:latin typeface="Arial" panose="020B0604020202020204" pitchFamily="34" charset="0"/>
                </a:rPr>
                <a:t>READBUF</a:t>
              </a:r>
              <a:endParaRPr lang="en-US" altLang="zh-CN" dirty="0">
                <a:latin typeface="Arial" panose="020B0604020202020204" pitchFamily="34" charset="0"/>
              </a:endParaRPr>
            </a:p>
          </p:txBody>
        </p:sp>
        <p:sp>
          <p:nvSpPr>
            <p:cNvPr id="9226" name="AutoShape 11"/>
            <p:cNvSpPr/>
            <p:nvPr/>
          </p:nvSpPr>
          <p:spPr>
            <a:xfrm>
              <a:off x="2048" y="1495"/>
              <a:ext cx="1528" cy="454"/>
            </a:xfrm>
            <a:prstGeom prst="diamond">
              <a:avLst/>
            </a:prstGeom>
            <a:noFill/>
            <a:ln w="38100" cap="flat" cmpd="sng">
              <a:solidFill>
                <a:srgbClr val="000000"/>
              </a:solidFill>
              <a:prstDash val="solid"/>
              <a:miter/>
              <a:headEnd type="none" w="med" len="med"/>
              <a:tailEnd type="none" w="med" len="med"/>
            </a:ln>
          </p:spPr>
          <p:txBody>
            <a:bodyPr lIns="0" tIns="0" rIns="0" bIns="0" anchor="ctr" anchorCtr="0">
              <a:spAutoFit/>
            </a:bodyPr>
            <a:p>
              <a:pPr algn="ctr">
                <a:lnSpc>
                  <a:spcPct val="80000"/>
                </a:lnSpc>
              </a:pPr>
              <a:r>
                <a:rPr lang="zh-CN" altLang="en-US" dirty="0">
                  <a:latin typeface="Arial" panose="020B0604020202020204" pitchFamily="34" charset="0"/>
                </a:rPr>
                <a:t>找到</a:t>
              </a: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9227" name="Line 12"/>
            <p:cNvSpPr/>
            <p:nvPr/>
          </p:nvSpPr>
          <p:spPr>
            <a:xfrm>
              <a:off x="2812" y="1207"/>
              <a:ext cx="0" cy="272"/>
            </a:xfrm>
            <a:prstGeom prst="line">
              <a:avLst/>
            </a:prstGeom>
            <a:ln w="38100" cap="flat" cmpd="sng">
              <a:solidFill>
                <a:srgbClr val="000000"/>
              </a:solidFill>
              <a:prstDash val="solid"/>
              <a:headEnd type="none" w="med" len="med"/>
              <a:tailEnd type="arrow" w="med" len="med"/>
            </a:ln>
          </p:spPr>
        </p:sp>
        <p:sp>
          <p:nvSpPr>
            <p:cNvPr id="9228" name="Line 13"/>
            <p:cNvSpPr/>
            <p:nvPr/>
          </p:nvSpPr>
          <p:spPr>
            <a:xfrm>
              <a:off x="2812" y="1933"/>
              <a:ext cx="0" cy="272"/>
            </a:xfrm>
            <a:prstGeom prst="line">
              <a:avLst/>
            </a:prstGeom>
            <a:ln w="38100" cap="flat" cmpd="sng">
              <a:solidFill>
                <a:srgbClr val="000000"/>
              </a:solidFill>
              <a:prstDash val="solid"/>
              <a:headEnd type="none" w="med" len="med"/>
              <a:tailEnd type="arrow" w="med" len="med"/>
            </a:ln>
          </p:spPr>
        </p:sp>
        <p:sp>
          <p:nvSpPr>
            <p:cNvPr id="9229" name="Line 14"/>
            <p:cNvSpPr/>
            <p:nvPr/>
          </p:nvSpPr>
          <p:spPr>
            <a:xfrm>
              <a:off x="2812" y="2523"/>
              <a:ext cx="0" cy="272"/>
            </a:xfrm>
            <a:prstGeom prst="line">
              <a:avLst/>
            </a:prstGeom>
            <a:ln w="38100" cap="flat" cmpd="sng">
              <a:solidFill>
                <a:srgbClr val="000000"/>
              </a:solidFill>
              <a:prstDash val="solid"/>
              <a:headEnd type="none" w="med" len="med"/>
              <a:tailEnd type="arrow" w="med" len="med"/>
            </a:ln>
          </p:spPr>
        </p:sp>
        <p:sp>
          <p:nvSpPr>
            <p:cNvPr id="9230" name="Line 15"/>
            <p:cNvSpPr/>
            <p:nvPr/>
          </p:nvSpPr>
          <p:spPr>
            <a:xfrm>
              <a:off x="2812" y="3067"/>
              <a:ext cx="0" cy="272"/>
            </a:xfrm>
            <a:prstGeom prst="line">
              <a:avLst/>
            </a:prstGeom>
            <a:ln w="38100" cap="flat" cmpd="sng">
              <a:solidFill>
                <a:srgbClr val="000000"/>
              </a:solidFill>
              <a:prstDash val="solid"/>
              <a:headEnd type="none" w="med" len="med"/>
              <a:tailEnd type="arrow" w="med" len="med"/>
            </a:ln>
          </p:spPr>
        </p:sp>
        <p:sp>
          <p:nvSpPr>
            <p:cNvPr id="9231" name="Line 16"/>
            <p:cNvSpPr/>
            <p:nvPr/>
          </p:nvSpPr>
          <p:spPr>
            <a:xfrm>
              <a:off x="2812" y="3657"/>
              <a:ext cx="0" cy="272"/>
            </a:xfrm>
            <a:prstGeom prst="line">
              <a:avLst/>
            </a:prstGeom>
            <a:ln w="38100" cap="flat" cmpd="sng">
              <a:solidFill>
                <a:srgbClr val="000000"/>
              </a:solidFill>
              <a:prstDash val="solid"/>
              <a:headEnd type="none" w="med" len="med"/>
              <a:tailEnd type="arrow" w="med" len="med"/>
            </a:ln>
          </p:spPr>
        </p:sp>
        <p:sp>
          <p:nvSpPr>
            <p:cNvPr id="9232" name="Line 17"/>
            <p:cNvSpPr/>
            <p:nvPr/>
          </p:nvSpPr>
          <p:spPr>
            <a:xfrm>
              <a:off x="2812" y="663"/>
              <a:ext cx="0" cy="272"/>
            </a:xfrm>
            <a:prstGeom prst="line">
              <a:avLst/>
            </a:prstGeom>
            <a:ln w="38100" cap="flat" cmpd="sng">
              <a:solidFill>
                <a:srgbClr val="000000"/>
              </a:solidFill>
              <a:prstDash val="solid"/>
              <a:headEnd type="none" w="med" len="med"/>
              <a:tailEnd type="arrow" w="med" len="med"/>
            </a:ln>
          </p:spPr>
        </p:sp>
        <p:sp>
          <p:nvSpPr>
            <p:cNvPr id="9233" name="Freeform 18"/>
            <p:cNvSpPr/>
            <p:nvPr/>
          </p:nvSpPr>
          <p:spPr>
            <a:xfrm>
              <a:off x="1202" y="1716"/>
              <a:ext cx="1643" cy="2042"/>
            </a:xfrm>
            <a:custGeom>
              <a:avLst/>
              <a:gdLst>
                <a:gd name="txL" fmla="*/ 0 w 1588"/>
                <a:gd name="txT" fmla="*/ 0 h 2087"/>
                <a:gd name="txR" fmla="*/ 1588 w 1588"/>
                <a:gd name="txB" fmla="*/ 2087 h 2087"/>
              </a:gdLst>
              <a:ahLst/>
              <a:cxnLst>
                <a:cxn ang="0">
                  <a:pos x="855" y="0"/>
                </a:cxn>
                <a:cxn ang="0">
                  <a:pos x="0" y="0"/>
                </a:cxn>
                <a:cxn ang="0">
                  <a:pos x="0" y="1955"/>
                </a:cxn>
                <a:cxn ang="0">
                  <a:pos x="1759" y="1955"/>
                </a:cxn>
              </a:cxnLst>
              <a:rect l="txL" t="txT" r="txR" b="txB"/>
              <a:pathLst>
                <a:path w="1588" h="2087">
                  <a:moveTo>
                    <a:pt x="771" y="0"/>
                  </a:moveTo>
                  <a:lnTo>
                    <a:pt x="0" y="0"/>
                  </a:lnTo>
                  <a:lnTo>
                    <a:pt x="0" y="2087"/>
                  </a:lnTo>
                  <a:lnTo>
                    <a:pt x="1588" y="2087"/>
                  </a:lnTo>
                </a:path>
              </a:pathLst>
            </a:custGeom>
            <a:noFill/>
            <a:ln w="38100" cap="flat" cmpd="sng">
              <a:solidFill>
                <a:srgbClr val="000000"/>
              </a:solidFill>
              <a:prstDash val="solid"/>
              <a:round/>
              <a:headEnd type="none" w="med" len="med"/>
              <a:tailEnd type="arrow" w="med" len="med"/>
            </a:ln>
          </p:spPr>
          <p:txBody>
            <a:bodyPr lIns="0" tIns="0" rIns="0" bIns="0">
              <a:spAutoFit/>
            </a:bodyPr>
            <a:p>
              <a:endParaRPr lang="zh-CN" altLang="en-US" dirty="0">
                <a:latin typeface="Arial" panose="020B0604020202020204" pitchFamily="34" charset="0"/>
              </a:endParaRPr>
            </a:p>
          </p:txBody>
        </p:sp>
        <p:sp>
          <p:nvSpPr>
            <p:cNvPr id="9234" name="Text Box 19"/>
            <p:cNvSpPr txBox="1"/>
            <p:nvPr/>
          </p:nvSpPr>
          <p:spPr>
            <a:xfrm>
              <a:off x="1203" y="1447"/>
              <a:ext cx="588" cy="230"/>
            </a:xfrm>
            <a:prstGeom prst="rect">
              <a:avLst/>
            </a:prstGeom>
            <a:noFill/>
            <a:ln w="38100">
              <a:noFill/>
            </a:ln>
          </p:spPr>
          <p:txBody>
            <a:bodyPr lIns="0" tIns="0" rIns="0" bIns="0">
              <a:spAutoFit/>
            </a:bodyPr>
            <a:p>
              <a:pPr algn="ctr"/>
              <a:r>
                <a:rPr lang="en-US" altLang="zh-CN" sz="2400" dirty="0">
                  <a:solidFill>
                    <a:srgbClr val="0000CC"/>
                  </a:solidFill>
                  <a:latin typeface="Arial" panose="020B0604020202020204" pitchFamily="34" charset="0"/>
                </a:rPr>
                <a:t>YES</a:t>
              </a:r>
              <a:endParaRPr lang="en-US" altLang="zh-CN" sz="2400" dirty="0">
                <a:solidFill>
                  <a:srgbClr val="0000CC"/>
                </a:solidFill>
                <a:latin typeface="Arial" panose="020B0604020202020204" pitchFamily="34" charset="0"/>
              </a:endParaRPr>
            </a:p>
          </p:txBody>
        </p:sp>
        <p:sp>
          <p:nvSpPr>
            <p:cNvPr id="9235" name="Text Box 20"/>
            <p:cNvSpPr txBox="1"/>
            <p:nvPr/>
          </p:nvSpPr>
          <p:spPr>
            <a:xfrm>
              <a:off x="2834" y="1930"/>
              <a:ext cx="454" cy="230"/>
            </a:xfrm>
            <a:prstGeom prst="rect">
              <a:avLst/>
            </a:prstGeom>
            <a:noFill/>
            <a:ln w="38100">
              <a:noFill/>
            </a:ln>
          </p:spPr>
          <p:txBody>
            <a:bodyPr lIns="0" tIns="0" rIns="0" bIns="0">
              <a:spAutoFit/>
            </a:bodyPr>
            <a:p>
              <a:pPr algn="ctr"/>
              <a:r>
                <a:rPr lang="en-US" altLang="zh-CN" sz="2400" dirty="0">
                  <a:solidFill>
                    <a:srgbClr val="0000CC"/>
                  </a:solidFill>
                  <a:latin typeface="Arial" panose="020B0604020202020204" pitchFamily="34" charset="0"/>
                </a:rPr>
                <a:t>NO</a:t>
              </a:r>
              <a:endParaRPr lang="en-US" altLang="zh-CN" sz="2400" dirty="0">
                <a:solidFill>
                  <a:srgbClr val="0000CC"/>
                </a:solidFill>
                <a:latin typeface="Arial" panose="020B0604020202020204" pitchFamily="34" charset="0"/>
              </a:endParaRPr>
            </a:p>
          </p:txBody>
        </p:sp>
        <p:sp>
          <p:nvSpPr>
            <p:cNvPr id="9236" name="Freeform 21"/>
            <p:cNvSpPr/>
            <p:nvPr/>
          </p:nvSpPr>
          <p:spPr>
            <a:xfrm>
              <a:off x="2835" y="2387"/>
              <a:ext cx="1678" cy="771"/>
            </a:xfrm>
            <a:custGeom>
              <a:avLst/>
              <a:gdLst>
                <a:gd name="txL" fmla="*/ 0 w 1678"/>
                <a:gd name="txT" fmla="*/ 0 h 771"/>
                <a:gd name="txR" fmla="*/ 1678 w 1678"/>
                <a:gd name="txB" fmla="*/ 771 h 771"/>
              </a:gdLst>
              <a:ahLst/>
              <a:cxnLst>
                <a:cxn ang="0">
                  <a:pos x="1134" y="0"/>
                </a:cxn>
                <a:cxn ang="0">
                  <a:pos x="1678" y="0"/>
                </a:cxn>
                <a:cxn ang="0">
                  <a:pos x="1678" y="771"/>
                </a:cxn>
                <a:cxn ang="0">
                  <a:pos x="0" y="771"/>
                </a:cxn>
              </a:cxnLst>
              <a:rect l="txL" t="txT" r="txR" b="txB"/>
              <a:pathLst>
                <a:path w="1678" h="771">
                  <a:moveTo>
                    <a:pt x="1134" y="0"/>
                  </a:moveTo>
                  <a:lnTo>
                    <a:pt x="1678" y="0"/>
                  </a:lnTo>
                  <a:lnTo>
                    <a:pt x="1678" y="771"/>
                  </a:lnTo>
                  <a:lnTo>
                    <a:pt x="0" y="771"/>
                  </a:lnTo>
                </a:path>
              </a:pathLst>
            </a:custGeom>
            <a:noFill/>
            <a:ln w="38100" cap="flat" cmpd="sng">
              <a:solidFill>
                <a:srgbClr val="000000"/>
              </a:solidFill>
              <a:prstDash val="solid"/>
              <a:round/>
              <a:headEnd type="none" w="med" len="med"/>
              <a:tailEnd type="arrow" w="med" len="med"/>
            </a:ln>
          </p:spPr>
          <p:txBody>
            <a:bodyPr lIns="0" tIns="0" rIns="0" bIns="0">
              <a:spAutoFit/>
            </a:bodyPr>
            <a:p>
              <a:endParaRPr lang="zh-CN" altLang="en-US" dirty="0">
                <a:latin typeface="Arial" panose="020B0604020202020204" pitchFamily="34" charset="0"/>
              </a:endParaRPr>
            </a:p>
          </p:txBody>
        </p:sp>
        <p:sp>
          <p:nvSpPr>
            <p:cNvPr id="9237" name="Text Box 22"/>
            <p:cNvSpPr txBox="1"/>
            <p:nvPr/>
          </p:nvSpPr>
          <p:spPr>
            <a:xfrm>
              <a:off x="2834" y="2523"/>
              <a:ext cx="636" cy="230"/>
            </a:xfrm>
            <a:prstGeom prst="rect">
              <a:avLst/>
            </a:prstGeom>
            <a:noFill/>
            <a:ln w="38100">
              <a:noFill/>
            </a:ln>
          </p:spPr>
          <p:txBody>
            <a:bodyPr lIns="0" tIns="0" rIns="0" bIns="0">
              <a:spAutoFit/>
            </a:bodyPr>
            <a:p>
              <a:pPr algn="ctr"/>
              <a:r>
                <a:rPr lang="zh-CN" altLang="en-US" sz="2400" dirty="0">
                  <a:solidFill>
                    <a:srgbClr val="0000CC"/>
                  </a:solidFill>
                  <a:latin typeface="Arial" panose="020B0604020202020204" pitchFamily="34" charset="0"/>
                </a:rPr>
                <a:t>无空块</a:t>
              </a:r>
              <a:endParaRPr lang="zh-CN" altLang="en-US" sz="2400" dirty="0">
                <a:solidFill>
                  <a:srgbClr val="0000CC"/>
                </a:solidFill>
                <a:latin typeface="Arial" panose="020B0604020202020204" pitchFamily="34" charset="0"/>
              </a:endParaRPr>
            </a:p>
          </p:txBody>
        </p:sp>
        <p:sp>
          <p:nvSpPr>
            <p:cNvPr id="9238" name="Text Box 23"/>
            <p:cNvSpPr txBox="1"/>
            <p:nvPr/>
          </p:nvSpPr>
          <p:spPr>
            <a:xfrm>
              <a:off x="4059" y="2115"/>
              <a:ext cx="636" cy="230"/>
            </a:xfrm>
            <a:prstGeom prst="rect">
              <a:avLst/>
            </a:prstGeom>
            <a:noFill/>
            <a:ln w="38100">
              <a:noFill/>
            </a:ln>
          </p:spPr>
          <p:txBody>
            <a:bodyPr lIns="0" tIns="0" rIns="0" bIns="0">
              <a:spAutoFit/>
            </a:bodyPr>
            <a:p>
              <a:pPr algn="ctr"/>
              <a:r>
                <a:rPr lang="zh-CN" altLang="en-US" sz="2400" dirty="0">
                  <a:solidFill>
                    <a:srgbClr val="0000CC"/>
                  </a:solidFill>
                  <a:latin typeface="Arial" panose="020B0604020202020204" pitchFamily="34" charset="0"/>
                </a:rPr>
                <a:t>有空块</a:t>
              </a:r>
              <a:endParaRPr lang="zh-CN" altLang="en-US" sz="2400" dirty="0">
                <a:solidFill>
                  <a:srgbClr val="0000CC"/>
                </a:solidFill>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idx="1"/>
          </p:nvPr>
        </p:nvSpPr>
        <p:spPr>
          <a:xfrm>
            <a:off x="152400" y="1143000"/>
            <a:ext cx="8991600" cy="5273675"/>
          </a:xfrm>
        </p:spPr>
        <p:txBody>
          <a:bodyPr vert="horz" wrap="square" lIns="91440" tIns="45720" rIns="91440" bIns="45720" anchor="t" anchorCtr="0"/>
          <a:p>
            <a:pPr marL="0" indent="0" eaLnBrk="1" hangingPunct="1"/>
            <a:r>
              <a:rPr lang="zh-CN" altLang="en-US" dirty="0">
                <a:latin typeface="Arial" panose="020B0604020202020204" pitchFamily="34" charset="0"/>
              </a:rPr>
              <a:t>最近最少使用替换策略</a:t>
            </a:r>
            <a:br>
              <a:rPr lang="zh-CN" altLang="en-US" dirty="0">
                <a:latin typeface="Arial" panose="020B0604020202020204" pitchFamily="34" charset="0"/>
              </a:rPr>
            </a:br>
            <a:r>
              <a:rPr lang="zh-CN" altLang="en-US" dirty="0">
                <a:latin typeface="Arial" panose="020B0604020202020204" pitchFamily="34" charset="0"/>
              </a:rPr>
              <a:t>    </a:t>
            </a:r>
            <a:r>
              <a:rPr lang="en-US" altLang="zh-CN" dirty="0">
                <a:latin typeface="Arial" panose="020B0604020202020204" pitchFamily="34" charset="0"/>
              </a:rPr>
              <a:t>(</a:t>
            </a:r>
            <a:r>
              <a:rPr lang="en-US" altLang="zh-CN" dirty="0">
                <a:solidFill>
                  <a:srgbClr val="FF0000"/>
                </a:solidFill>
                <a:latin typeface="Arial" panose="020B0604020202020204" pitchFamily="34" charset="0"/>
              </a:rPr>
              <a:t>L</a:t>
            </a:r>
            <a:r>
              <a:rPr lang="en-US" altLang="zh-CN" dirty="0">
                <a:latin typeface="Arial" panose="020B0604020202020204" pitchFamily="34" charset="0"/>
              </a:rPr>
              <a:t>east </a:t>
            </a:r>
            <a:r>
              <a:rPr lang="en-US" altLang="zh-CN" dirty="0">
                <a:solidFill>
                  <a:srgbClr val="FF0000"/>
                </a:solidFill>
                <a:latin typeface="Arial" panose="020B0604020202020204" pitchFamily="34" charset="0"/>
              </a:rPr>
              <a:t>R</a:t>
            </a:r>
            <a:r>
              <a:rPr lang="en-US" altLang="zh-CN" dirty="0">
                <a:latin typeface="Arial" panose="020B0604020202020204" pitchFamily="34" charset="0"/>
              </a:rPr>
              <a:t>ecently </a:t>
            </a:r>
            <a:r>
              <a:rPr lang="en-US" altLang="zh-CN" dirty="0">
                <a:solidFill>
                  <a:srgbClr val="FF0000"/>
                </a:solidFill>
                <a:latin typeface="Arial" panose="020B0604020202020204" pitchFamily="34" charset="0"/>
              </a:rPr>
              <a:t>U</a:t>
            </a:r>
            <a:r>
              <a:rPr lang="en-US" altLang="zh-CN" dirty="0">
                <a:latin typeface="Arial" panose="020B0604020202020204" pitchFamily="34" charset="0"/>
              </a:rPr>
              <a:t>sed, LRU)</a:t>
            </a:r>
            <a:endParaRPr lang="en-US" altLang="zh-CN" dirty="0">
              <a:latin typeface="Arial" panose="020B0604020202020204" pitchFamily="34" charset="0"/>
            </a:endParaRPr>
          </a:p>
          <a:p>
            <a:pPr marL="0" indent="0" eaLnBrk="1" hangingPunct="1">
              <a:spcBef>
                <a:spcPct val="20000"/>
              </a:spcBef>
              <a:buNone/>
            </a:pPr>
            <a:r>
              <a:rPr lang="zh-CN" altLang="en-US" sz="3200" dirty="0">
                <a:latin typeface="Arial" panose="020B0604020202020204" pitchFamily="34" charset="0"/>
              </a:rPr>
              <a:t>设有</a:t>
            </a:r>
            <a:r>
              <a:rPr lang="en-US" altLang="zh-CN" sz="3200" dirty="0">
                <a:latin typeface="Arial" panose="020B0604020202020204" pitchFamily="34" charset="0"/>
              </a:rPr>
              <a:t>4</a:t>
            </a:r>
            <a:r>
              <a:rPr lang="zh-CN" altLang="en-US" sz="3200" dirty="0">
                <a:latin typeface="Arial" panose="020B0604020202020204" pitchFamily="34" charset="0"/>
              </a:rPr>
              <a:t>块的缓冲区，刚访问的块号插入到链表头</a:t>
            </a:r>
            <a:endParaRPr lang="zh-CN" altLang="en-US" sz="3200" dirty="0">
              <a:latin typeface="Arial" panose="020B0604020202020204" pitchFamily="34" charset="0"/>
            </a:endParaRPr>
          </a:p>
        </p:txBody>
      </p:sp>
      <p:sp>
        <p:nvSpPr>
          <p:cNvPr id="2560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缓冲区替换策略</a:t>
            </a:r>
            <a:r>
              <a:rPr kumimoji="0" lang="zh-CN" altLang="en-US" sz="44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rPr>
              <a:t>举例</a:t>
            </a:r>
            <a:endParaRPr kumimoji="0" lang="zh-CN" altLang="en-US" sz="4400" b="1" i="0" u="none" strike="noStrike" kern="0" cap="none" spc="0" normalizeH="0" baseline="0" noProof="0" smtClean="0">
              <a:ln>
                <a:noFill/>
              </a:ln>
              <a:solidFill>
                <a:srgbClr val="000000"/>
              </a:solidFill>
              <a:effectLst>
                <a:outerShdw blurRad="38100" dist="38100" dir="2700000" algn="tl">
                  <a:srgbClr val="C0C0C0"/>
                </a:outerShdw>
              </a:effectLst>
              <a:uLnTx/>
              <a:uFillTx/>
              <a:latin typeface="+mj-lt"/>
              <a:ea typeface="+mj-ea"/>
              <a:cs typeface="+mj-cs"/>
            </a:endParaRPr>
          </a:p>
        </p:txBody>
      </p:sp>
      <p:sp>
        <p:nvSpPr>
          <p:cNvPr id="25654" name="Text Box 54"/>
          <p:cNvSpPr txBox="1"/>
          <p:nvPr/>
        </p:nvSpPr>
        <p:spPr>
          <a:xfrm>
            <a:off x="150813" y="4949825"/>
            <a:ext cx="1655762" cy="487363"/>
          </a:xfrm>
          <a:prstGeom prst="rect">
            <a:avLst/>
          </a:prstGeom>
          <a:noFill/>
          <a:ln w="38100">
            <a:noFill/>
          </a:ln>
        </p:spPr>
        <p:txBody>
          <a:bodyPr lIns="0" tIns="0" rIns="0" bIns="0">
            <a:spAutoFit/>
          </a:bodyPr>
          <a:p>
            <a:pPr algn="r"/>
            <a:r>
              <a:rPr lang="zh-CN" altLang="en-US" sz="3200" dirty="0">
                <a:latin typeface="Arial" panose="020B0604020202020204" pitchFamily="34" charset="0"/>
              </a:rPr>
              <a:t>缓冲区</a:t>
            </a:r>
            <a:endParaRPr lang="zh-CN" altLang="en-US" sz="3200" dirty="0">
              <a:latin typeface="Arial" panose="020B0604020202020204" pitchFamily="34" charset="0"/>
            </a:endParaRPr>
          </a:p>
        </p:txBody>
      </p:sp>
      <p:grpSp>
        <p:nvGrpSpPr>
          <p:cNvPr id="2" name="Group 73"/>
          <p:cNvGrpSpPr/>
          <p:nvPr/>
        </p:nvGrpSpPr>
        <p:grpSpPr>
          <a:xfrm>
            <a:off x="2409825" y="4325938"/>
            <a:ext cx="504825" cy="1911350"/>
            <a:chOff x="1518" y="2725"/>
            <a:chExt cx="318" cy="1204"/>
          </a:xfrm>
        </p:grpSpPr>
        <p:sp>
          <p:nvSpPr>
            <p:cNvPr id="10295" name="Text Box 4"/>
            <p:cNvSpPr txBox="1"/>
            <p:nvPr/>
          </p:nvSpPr>
          <p:spPr>
            <a:xfrm>
              <a:off x="1518"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endParaRPr lang="zh-CN" altLang="zh-CN" sz="3600" dirty="0">
                <a:latin typeface="Arial" panose="020B0604020202020204" pitchFamily="34" charset="0"/>
              </a:endParaRPr>
            </a:p>
          </p:txBody>
        </p:sp>
        <p:sp>
          <p:nvSpPr>
            <p:cNvPr id="10296" name="Text Box 5"/>
            <p:cNvSpPr txBox="1"/>
            <p:nvPr/>
          </p:nvSpPr>
          <p:spPr>
            <a:xfrm>
              <a:off x="1518"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1</a:t>
              </a:r>
              <a:endParaRPr lang="en-US" altLang="zh-CN" sz="3600" dirty="0">
                <a:latin typeface="Arial" panose="020B0604020202020204" pitchFamily="34" charset="0"/>
              </a:endParaRPr>
            </a:p>
          </p:txBody>
        </p:sp>
        <p:sp>
          <p:nvSpPr>
            <p:cNvPr id="10297" name="Text Box 6"/>
            <p:cNvSpPr txBox="1"/>
            <p:nvPr/>
          </p:nvSpPr>
          <p:spPr>
            <a:xfrm>
              <a:off x="1518"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4</a:t>
              </a:r>
              <a:endParaRPr lang="en-US" altLang="zh-CN" sz="3600" dirty="0">
                <a:latin typeface="Arial" panose="020B0604020202020204" pitchFamily="34" charset="0"/>
              </a:endParaRPr>
            </a:p>
          </p:txBody>
        </p:sp>
        <p:sp>
          <p:nvSpPr>
            <p:cNvPr id="10298" name="Text Box 7"/>
            <p:cNvSpPr txBox="1"/>
            <p:nvPr/>
          </p:nvSpPr>
          <p:spPr>
            <a:xfrm>
              <a:off x="1518"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8</a:t>
              </a:r>
              <a:endParaRPr lang="en-US" altLang="zh-CN" sz="3600" dirty="0">
                <a:latin typeface="Arial" panose="020B0604020202020204" pitchFamily="34" charset="0"/>
              </a:endParaRPr>
            </a:p>
          </p:txBody>
        </p:sp>
      </p:grpSp>
      <p:grpSp>
        <p:nvGrpSpPr>
          <p:cNvPr id="3" name="Group 72"/>
          <p:cNvGrpSpPr/>
          <p:nvPr/>
        </p:nvGrpSpPr>
        <p:grpSpPr>
          <a:xfrm>
            <a:off x="3490913" y="4325938"/>
            <a:ext cx="504825" cy="1911350"/>
            <a:chOff x="2199" y="2725"/>
            <a:chExt cx="318" cy="1204"/>
          </a:xfrm>
        </p:grpSpPr>
        <p:sp>
          <p:nvSpPr>
            <p:cNvPr id="10291" name="Text Box 17"/>
            <p:cNvSpPr txBox="1"/>
            <p:nvPr/>
          </p:nvSpPr>
          <p:spPr>
            <a:xfrm>
              <a:off x="2199"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endParaRPr lang="zh-CN" altLang="zh-CN" sz="3600" dirty="0">
                <a:latin typeface="Arial" panose="020B0604020202020204" pitchFamily="34" charset="0"/>
              </a:endParaRPr>
            </a:p>
          </p:txBody>
        </p:sp>
        <p:sp>
          <p:nvSpPr>
            <p:cNvPr id="10292" name="Text Box 18"/>
            <p:cNvSpPr txBox="1"/>
            <p:nvPr/>
          </p:nvSpPr>
          <p:spPr>
            <a:xfrm>
              <a:off x="2199"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4</a:t>
              </a:r>
              <a:endParaRPr lang="en-US" altLang="zh-CN" sz="3600" dirty="0">
                <a:latin typeface="Arial" panose="020B0604020202020204" pitchFamily="34" charset="0"/>
              </a:endParaRPr>
            </a:p>
          </p:txBody>
        </p:sp>
        <p:sp>
          <p:nvSpPr>
            <p:cNvPr id="10293" name="Text Box 19"/>
            <p:cNvSpPr txBox="1"/>
            <p:nvPr/>
          </p:nvSpPr>
          <p:spPr>
            <a:xfrm>
              <a:off x="2199"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8</a:t>
              </a:r>
              <a:endParaRPr lang="en-US" altLang="zh-CN" sz="3600" dirty="0">
                <a:latin typeface="Arial" panose="020B0604020202020204" pitchFamily="34" charset="0"/>
              </a:endParaRPr>
            </a:p>
          </p:txBody>
        </p:sp>
        <p:sp>
          <p:nvSpPr>
            <p:cNvPr id="10294" name="Text Box 20"/>
            <p:cNvSpPr txBox="1"/>
            <p:nvPr/>
          </p:nvSpPr>
          <p:spPr>
            <a:xfrm>
              <a:off x="2199"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solidFill>
                    <a:srgbClr val="FF0000"/>
                  </a:solidFill>
                  <a:latin typeface="Arial" panose="020B0604020202020204" pitchFamily="34" charset="0"/>
                </a:rPr>
                <a:t>1</a:t>
              </a:r>
              <a:endParaRPr lang="en-US" altLang="zh-CN" sz="3600" dirty="0">
                <a:solidFill>
                  <a:srgbClr val="FF0000"/>
                </a:solidFill>
                <a:latin typeface="Arial" panose="020B0604020202020204" pitchFamily="34" charset="0"/>
              </a:endParaRPr>
            </a:p>
          </p:txBody>
        </p:sp>
      </p:grpSp>
      <p:grpSp>
        <p:nvGrpSpPr>
          <p:cNvPr id="4" name="Group 71"/>
          <p:cNvGrpSpPr/>
          <p:nvPr/>
        </p:nvGrpSpPr>
        <p:grpSpPr>
          <a:xfrm>
            <a:off x="4484688" y="4325938"/>
            <a:ext cx="504825" cy="1911350"/>
            <a:chOff x="2825" y="2725"/>
            <a:chExt cx="318" cy="1204"/>
          </a:xfrm>
        </p:grpSpPr>
        <p:sp>
          <p:nvSpPr>
            <p:cNvPr id="10287" name="Text Box 25"/>
            <p:cNvSpPr txBox="1"/>
            <p:nvPr/>
          </p:nvSpPr>
          <p:spPr>
            <a:xfrm>
              <a:off x="2825"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4</a:t>
              </a:r>
              <a:endParaRPr lang="en-US" altLang="zh-CN" sz="3600" dirty="0">
                <a:latin typeface="Arial" panose="020B0604020202020204" pitchFamily="34" charset="0"/>
              </a:endParaRPr>
            </a:p>
          </p:txBody>
        </p:sp>
        <p:sp>
          <p:nvSpPr>
            <p:cNvPr id="10288" name="Text Box 26"/>
            <p:cNvSpPr txBox="1"/>
            <p:nvPr/>
          </p:nvSpPr>
          <p:spPr>
            <a:xfrm>
              <a:off x="2825"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8</a:t>
              </a:r>
              <a:endParaRPr lang="en-US" altLang="zh-CN" sz="3600" dirty="0">
                <a:latin typeface="Arial" panose="020B0604020202020204" pitchFamily="34" charset="0"/>
              </a:endParaRPr>
            </a:p>
          </p:txBody>
        </p:sp>
        <p:sp>
          <p:nvSpPr>
            <p:cNvPr id="10289" name="Text Box 27"/>
            <p:cNvSpPr txBox="1"/>
            <p:nvPr/>
          </p:nvSpPr>
          <p:spPr>
            <a:xfrm>
              <a:off x="2825"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1</a:t>
              </a:r>
              <a:endParaRPr lang="en-US" altLang="zh-CN" sz="3600" dirty="0">
                <a:latin typeface="Arial" panose="020B0604020202020204" pitchFamily="34" charset="0"/>
              </a:endParaRPr>
            </a:p>
          </p:txBody>
        </p:sp>
        <p:sp>
          <p:nvSpPr>
            <p:cNvPr id="10290" name="Text Box 28"/>
            <p:cNvSpPr txBox="1"/>
            <p:nvPr/>
          </p:nvSpPr>
          <p:spPr>
            <a:xfrm>
              <a:off x="2825"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solidFill>
                    <a:srgbClr val="FF0000"/>
                  </a:solidFill>
                  <a:latin typeface="Arial" panose="020B0604020202020204" pitchFamily="34" charset="0"/>
                </a:rPr>
                <a:t>5</a:t>
              </a:r>
              <a:endParaRPr lang="en-US" altLang="zh-CN" sz="3600" dirty="0">
                <a:solidFill>
                  <a:srgbClr val="FF0000"/>
                </a:solidFill>
                <a:latin typeface="Arial" panose="020B0604020202020204" pitchFamily="34" charset="0"/>
              </a:endParaRPr>
            </a:p>
          </p:txBody>
        </p:sp>
      </p:grpSp>
      <p:grpSp>
        <p:nvGrpSpPr>
          <p:cNvPr id="5" name="Group 66"/>
          <p:cNvGrpSpPr/>
          <p:nvPr/>
        </p:nvGrpSpPr>
        <p:grpSpPr>
          <a:xfrm>
            <a:off x="5478463" y="4325938"/>
            <a:ext cx="504825" cy="1911350"/>
            <a:chOff x="3451" y="2725"/>
            <a:chExt cx="318" cy="1204"/>
          </a:xfrm>
        </p:grpSpPr>
        <p:sp>
          <p:nvSpPr>
            <p:cNvPr id="10283" name="Text Box 31"/>
            <p:cNvSpPr txBox="1"/>
            <p:nvPr/>
          </p:nvSpPr>
          <p:spPr>
            <a:xfrm>
              <a:off x="3451"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8</a:t>
              </a:r>
              <a:endParaRPr lang="en-US" altLang="zh-CN" sz="3600" dirty="0">
                <a:latin typeface="Arial" panose="020B0604020202020204" pitchFamily="34" charset="0"/>
              </a:endParaRPr>
            </a:p>
          </p:txBody>
        </p:sp>
        <p:sp>
          <p:nvSpPr>
            <p:cNvPr id="10284" name="Text Box 32"/>
            <p:cNvSpPr txBox="1"/>
            <p:nvPr/>
          </p:nvSpPr>
          <p:spPr>
            <a:xfrm>
              <a:off x="3451"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1</a:t>
              </a:r>
              <a:endParaRPr lang="en-US" altLang="zh-CN" sz="3600" dirty="0">
                <a:latin typeface="Arial" panose="020B0604020202020204" pitchFamily="34" charset="0"/>
              </a:endParaRPr>
            </a:p>
          </p:txBody>
        </p:sp>
        <p:sp>
          <p:nvSpPr>
            <p:cNvPr id="10285" name="Text Box 33"/>
            <p:cNvSpPr txBox="1"/>
            <p:nvPr/>
          </p:nvSpPr>
          <p:spPr>
            <a:xfrm>
              <a:off x="3451"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5</a:t>
              </a:r>
              <a:endParaRPr lang="en-US" altLang="zh-CN" sz="3600" dirty="0">
                <a:latin typeface="Arial" panose="020B0604020202020204" pitchFamily="34" charset="0"/>
              </a:endParaRPr>
            </a:p>
          </p:txBody>
        </p:sp>
        <p:sp>
          <p:nvSpPr>
            <p:cNvPr id="10286" name="Text Box 34"/>
            <p:cNvSpPr txBox="1"/>
            <p:nvPr/>
          </p:nvSpPr>
          <p:spPr>
            <a:xfrm>
              <a:off x="3451"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solidFill>
                    <a:srgbClr val="FF0000"/>
                  </a:solidFill>
                  <a:latin typeface="Arial" panose="020B0604020202020204" pitchFamily="34" charset="0"/>
                </a:rPr>
                <a:t>2</a:t>
              </a:r>
              <a:endParaRPr lang="en-US" altLang="zh-CN" sz="3600" dirty="0">
                <a:solidFill>
                  <a:srgbClr val="FF0000"/>
                </a:solidFill>
                <a:latin typeface="Arial" panose="020B0604020202020204" pitchFamily="34" charset="0"/>
              </a:endParaRPr>
            </a:p>
          </p:txBody>
        </p:sp>
      </p:grpSp>
      <p:grpSp>
        <p:nvGrpSpPr>
          <p:cNvPr id="6" name="Group 70"/>
          <p:cNvGrpSpPr/>
          <p:nvPr/>
        </p:nvGrpSpPr>
        <p:grpSpPr>
          <a:xfrm>
            <a:off x="6472238" y="4325938"/>
            <a:ext cx="504825" cy="1911350"/>
            <a:chOff x="4077" y="2725"/>
            <a:chExt cx="318" cy="1204"/>
          </a:xfrm>
        </p:grpSpPr>
        <p:sp>
          <p:nvSpPr>
            <p:cNvPr id="10279" name="Text Box 37"/>
            <p:cNvSpPr txBox="1"/>
            <p:nvPr/>
          </p:nvSpPr>
          <p:spPr>
            <a:xfrm>
              <a:off x="4077"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1</a:t>
              </a:r>
              <a:endParaRPr lang="en-US" altLang="zh-CN" sz="3600" dirty="0">
                <a:latin typeface="Arial" panose="020B0604020202020204" pitchFamily="34" charset="0"/>
              </a:endParaRPr>
            </a:p>
          </p:txBody>
        </p:sp>
        <p:sp>
          <p:nvSpPr>
            <p:cNvPr id="10280" name="Text Box 38"/>
            <p:cNvSpPr txBox="1"/>
            <p:nvPr/>
          </p:nvSpPr>
          <p:spPr>
            <a:xfrm>
              <a:off x="4077"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5</a:t>
              </a:r>
              <a:endParaRPr lang="en-US" altLang="zh-CN" sz="3600" dirty="0">
                <a:latin typeface="Arial" panose="020B0604020202020204" pitchFamily="34" charset="0"/>
              </a:endParaRPr>
            </a:p>
          </p:txBody>
        </p:sp>
        <p:sp>
          <p:nvSpPr>
            <p:cNvPr id="10281" name="Text Box 39"/>
            <p:cNvSpPr txBox="1"/>
            <p:nvPr/>
          </p:nvSpPr>
          <p:spPr>
            <a:xfrm>
              <a:off x="4077"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2</a:t>
              </a:r>
              <a:endParaRPr lang="en-US" altLang="zh-CN" sz="3600" dirty="0">
                <a:latin typeface="Arial" panose="020B0604020202020204" pitchFamily="34" charset="0"/>
              </a:endParaRPr>
            </a:p>
          </p:txBody>
        </p:sp>
        <p:sp>
          <p:nvSpPr>
            <p:cNvPr id="10282" name="Text Box 40"/>
            <p:cNvSpPr txBox="1"/>
            <p:nvPr/>
          </p:nvSpPr>
          <p:spPr>
            <a:xfrm>
              <a:off x="4077"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solidFill>
                    <a:srgbClr val="FF0000"/>
                  </a:solidFill>
                  <a:latin typeface="Arial" panose="020B0604020202020204" pitchFamily="34" charset="0"/>
                </a:rPr>
                <a:t>3</a:t>
              </a:r>
              <a:endParaRPr lang="en-US" altLang="zh-CN" sz="3600" dirty="0">
                <a:solidFill>
                  <a:srgbClr val="FF0000"/>
                </a:solidFill>
                <a:latin typeface="Arial" panose="020B0604020202020204" pitchFamily="34" charset="0"/>
              </a:endParaRPr>
            </a:p>
          </p:txBody>
        </p:sp>
      </p:grpSp>
      <p:grpSp>
        <p:nvGrpSpPr>
          <p:cNvPr id="7" name="Group 69"/>
          <p:cNvGrpSpPr/>
          <p:nvPr/>
        </p:nvGrpSpPr>
        <p:grpSpPr>
          <a:xfrm>
            <a:off x="7466013" y="4325938"/>
            <a:ext cx="504825" cy="1911350"/>
            <a:chOff x="4703" y="2725"/>
            <a:chExt cx="318" cy="1204"/>
          </a:xfrm>
        </p:grpSpPr>
        <p:sp>
          <p:nvSpPr>
            <p:cNvPr id="10275" name="Text Box 43"/>
            <p:cNvSpPr txBox="1"/>
            <p:nvPr/>
          </p:nvSpPr>
          <p:spPr>
            <a:xfrm>
              <a:off x="4703"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1</a:t>
              </a:r>
              <a:endParaRPr lang="en-US" altLang="zh-CN" sz="3600" dirty="0">
                <a:latin typeface="Arial" panose="020B0604020202020204" pitchFamily="34" charset="0"/>
              </a:endParaRPr>
            </a:p>
          </p:txBody>
        </p:sp>
        <p:sp>
          <p:nvSpPr>
            <p:cNvPr id="10276" name="Text Box 44"/>
            <p:cNvSpPr txBox="1"/>
            <p:nvPr/>
          </p:nvSpPr>
          <p:spPr>
            <a:xfrm>
              <a:off x="4703"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5</a:t>
              </a:r>
              <a:endParaRPr lang="en-US" altLang="zh-CN" sz="3600" dirty="0">
                <a:latin typeface="Arial" panose="020B0604020202020204" pitchFamily="34" charset="0"/>
              </a:endParaRPr>
            </a:p>
          </p:txBody>
        </p:sp>
        <p:sp>
          <p:nvSpPr>
            <p:cNvPr id="10277" name="Text Box 45"/>
            <p:cNvSpPr txBox="1"/>
            <p:nvPr/>
          </p:nvSpPr>
          <p:spPr>
            <a:xfrm>
              <a:off x="4703"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3</a:t>
              </a:r>
              <a:endParaRPr lang="en-US" altLang="zh-CN" sz="3600" dirty="0">
                <a:latin typeface="Arial" panose="020B0604020202020204" pitchFamily="34" charset="0"/>
              </a:endParaRPr>
            </a:p>
          </p:txBody>
        </p:sp>
        <p:sp>
          <p:nvSpPr>
            <p:cNvPr id="10278" name="Text Box 46"/>
            <p:cNvSpPr txBox="1"/>
            <p:nvPr/>
          </p:nvSpPr>
          <p:spPr>
            <a:xfrm>
              <a:off x="4703"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solidFill>
                    <a:srgbClr val="FF0000"/>
                  </a:solidFill>
                  <a:latin typeface="Arial" panose="020B0604020202020204" pitchFamily="34" charset="0"/>
                </a:rPr>
                <a:t>2</a:t>
              </a:r>
              <a:endParaRPr lang="en-US" altLang="zh-CN" sz="3600" dirty="0">
                <a:solidFill>
                  <a:srgbClr val="FF0000"/>
                </a:solidFill>
                <a:latin typeface="Arial" panose="020B0604020202020204" pitchFamily="34" charset="0"/>
              </a:endParaRPr>
            </a:p>
          </p:txBody>
        </p:sp>
      </p:grpSp>
      <p:grpSp>
        <p:nvGrpSpPr>
          <p:cNvPr id="8" name="Group 74"/>
          <p:cNvGrpSpPr/>
          <p:nvPr/>
        </p:nvGrpSpPr>
        <p:grpSpPr>
          <a:xfrm>
            <a:off x="107950" y="3365500"/>
            <a:ext cx="8856663" cy="549275"/>
            <a:chOff x="68" y="2120"/>
            <a:chExt cx="5579" cy="346"/>
          </a:xfrm>
        </p:grpSpPr>
        <p:sp>
          <p:nvSpPr>
            <p:cNvPr id="10267" name="Text Box 53"/>
            <p:cNvSpPr txBox="1"/>
            <p:nvPr/>
          </p:nvSpPr>
          <p:spPr>
            <a:xfrm>
              <a:off x="68" y="2137"/>
              <a:ext cx="1088" cy="307"/>
            </a:xfrm>
            <a:prstGeom prst="rect">
              <a:avLst/>
            </a:prstGeom>
            <a:noFill/>
            <a:ln w="38100">
              <a:noFill/>
            </a:ln>
          </p:spPr>
          <p:txBody>
            <a:bodyPr lIns="0" tIns="0" rIns="0" bIns="0">
              <a:spAutoFit/>
            </a:bodyPr>
            <a:p>
              <a:pPr algn="r"/>
              <a:r>
                <a:rPr lang="zh-CN" altLang="en-US" sz="3200" dirty="0">
                  <a:latin typeface="Arial" panose="020B0604020202020204" pitchFamily="34" charset="0"/>
                </a:rPr>
                <a:t>访问序列</a:t>
              </a:r>
              <a:endParaRPr lang="zh-CN" altLang="en-US" sz="3200" dirty="0">
                <a:latin typeface="Arial" panose="020B0604020202020204" pitchFamily="34" charset="0"/>
              </a:endParaRPr>
            </a:p>
          </p:txBody>
        </p:sp>
        <p:sp>
          <p:nvSpPr>
            <p:cNvPr id="10268" name="Text Box 16"/>
            <p:cNvSpPr txBox="1"/>
            <p:nvPr/>
          </p:nvSpPr>
          <p:spPr>
            <a:xfrm>
              <a:off x="1291" y="2120"/>
              <a:ext cx="772"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1 4 8</a:t>
              </a:r>
              <a:endParaRPr lang="en-US" altLang="zh-CN" sz="3600" dirty="0">
                <a:solidFill>
                  <a:srgbClr val="0000CC"/>
                </a:solidFill>
                <a:latin typeface="Arial" panose="020B0604020202020204" pitchFamily="34" charset="0"/>
              </a:endParaRPr>
            </a:p>
          </p:txBody>
        </p:sp>
        <p:sp>
          <p:nvSpPr>
            <p:cNvPr id="10269" name="Text Box 14"/>
            <p:cNvSpPr txBox="1"/>
            <p:nvPr/>
          </p:nvSpPr>
          <p:spPr>
            <a:xfrm>
              <a:off x="2199" y="2120"/>
              <a:ext cx="318"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1</a:t>
              </a:r>
              <a:endParaRPr lang="en-US" altLang="zh-CN" sz="3600" dirty="0">
                <a:solidFill>
                  <a:srgbClr val="0000CC"/>
                </a:solidFill>
                <a:latin typeface="Arial" panose="020B0604020202020204" pitchFamily="34" charset="0"/>
              </a:endParaRPr>
            </a:p>
          </p:txBody>
        </p:sp>
        <p:sp>
          <p:nvSpPr>
            <p:cNvPr id="10270" name="Text Box 24"/>
            <p:cNvSpPr txBox="1"/>
            <p:nvPr/>
          </p:nvSpPr>
          <p:spPr>
            <a:xfrm>
              <a:off x="2825" y="2120"/>
              <a:ext cx="318"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5</a:t>
              </a:r>
              <a:endParaRPr lang="en-US" altLang="zh-CN" sz="3600" dirty="0">
                <a:solidFill>
                  <a:srgbClr val="0000CC"/>
                </a:solidFill>
                <a:latin typeface="Arial" panose="020B0604020202020204" pitchFamily="34" charset="0"/>
              </a:endParaRPr>
            </a:p>
          </p:txBody>
        </p:sp>
        <p:sp>
          <p:nvSpPr>
            <p:cNvPr id="10271" name="Text Box 30"/>
            <p:cNvSpPr txBox="1"/>
            <p:nvPr/>
          </p:nvSpPr>
          <p:spPr>
            <a:xfrm>
              <a:off x="3451" y="2120"/>
              <a:ext cx="318"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2</a:t>
              </a:r>
              <a:endParaRPr lang="en-US" altLang="zh-CN" sz="3600" dirty="0">
                <a:solidFill>
                  <a:srgbClr val="0000CC"/>
                </a:solidFill>
                <a:latin typeface="Arial" panose="020B0604020202020204" pitchFamily="34" charset="0"/>
              </a:endParaRPr>
            </a:p>
          </p:txBody>
        </p:sp>
        <p:sp>
          <p:nvSpPr>
            <p:cNvPr id="10272" name="Text Box 36"/>
            <p:cNvSpPr txBox="1"/>
            <p:nvPr/>
          </p:nvSpPr>
          <p:spPr>
            <a:xfrm>
              <a:off x="4077" y="2120"/>
              <a:ext cx="318"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3</a:t>
              </a:r>
              <a:endParaRPr lang="en-US" altLang="zh-CN" sz="3600" dirty="0">
                <a:solidFill>
                  <a:srgbClr val="0000CC"/>
                </a:solidFill>
                <a:latin typeface="Arial" panose="020B0604020202020204" pitchFamily="34" charset="0"/>
              </a:endParaRPr>
            </a:p>
          </p:txBody>
        </p:sp>
        <p:sp>
          <p:nvSpPr>
            <p:cNvPr id="10273" name="Text Box 42"/>
            <p:cNvSpPr txBox="1"/>
            <p:nvPr/>
          </p:nvSpPr>
          <p:spPr>
            <a:xfrm>
              <a:off x="4703" y="2120"/>
              <a:ext cx="318"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2</a:t>
              </a:r>
              <a:endParaRPr lang="en-US" altLang="zh-CN" sz="3600" dirty="0">
                <a:solidFill>
                  <a:srgbClr val="0000CC"/>
                </a:solidFill>
                <a:latin typeface="Arial" panose="020B0604020202020204" pitchFamily="34" charset="0"/>
              </a:endParaRPr>
            </a:p>
          </p:txBody>
        </p:sp>
        <p:sp>
          <p:nvSpPr>
            <p:cNvPr id="10274" name="Text Box 48"/>
            <p:cNvSpPr txBox="1"/>
            <p:nvPr/>
          </p:nvSpPr>
          <p:spPr>
            <a:xfrm>
              <a:off x="5329" y="2120"/>
              <a:ext cx="318" cy="346"/>
            </a:xfrm>
            <a:prstGeom prst="rect">
              <a:avLst/>
            </a:prstGeom>
            <a:noFill/>
            <a:ln w="38100">
              <a:noFill/>
            </a:ln>
          </p:spPr>
          <p:txBody>
            <a:bodyPr lIns="0" tIns="0" rIns="0" bIns="0">
              <a:spAutoFit/>
            </a:bodyPr>
            <a:p>
              <a:pPr algn="ctr"/>
              <a:r>
                <a:rPr lang="en-US" altLang="zh-CN" sz="3600" dirty="0">
                  <a:solidFill>
                    <a:srgbClr val="0000CC"/>
                  </a:solidFill>
                  <a:latin typeface="Arial" panose="020B0604020202020204" pitchFamily="34" charset="0"/>
                </a:rPr>
                <a:t>4</a:t>
              </a:r>
              <a:endParaRPr lang="en-US" altLang="zh-CN" sz="3600" dirty="0">
                <a:solidFill>
                  <a:srgbClr val="0000CC"/>
                </a:solidFill>
                <a:latin typeface="Arial" panose="020B0604020202020204" pitchFamily="34" charset="0"/>
              </a:endParaRPr>
            </a:p>
          </p:txBody>
        </p:sp>
      </p:grpSp>
      <p:grpSp>
        <p:nvGrpSpPr>
          <p:cNvPr id="9" name="Group 68"/>
          <p:cNvGrpSpPr/>
          <p:nvPr/>
        </p:nvGrpSpPr>
        <p:grpSpPr>
          <a:xfrm>
            <a:off x="8459788" y="4325938"/>
            <a:ext cx="504825" cy="1911350"/>
            <a:chOff x="5329" y="2725"/>
            <a:chExt cx="318" cy="1204"/>
          </a:xfrm>
        </p:grpSpPr>
        <p:sp>
          <p:nvSpPr>
            <p:cNvPr id="10263" name="Text Box 49"/>
            <p:cNvSpPr txBox="1"/>
            <p:nvPr/>
          </p:nvSpPr>
          <p:spPr>
            <a:xfrm>
              <a:off x="5329" y="2725"/>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5</a:t>
              </a:r>
              <a:endParaRPr lang="en-US" altLang="zh-CN" sz="3600" dirty="0">
                <a:latin typeface="Arial" panose="020B0604020202020204" pitchFamily="34" charset="0"/>
              </a:endParaRPr>
            </a:p>
          </p:txBody>
        </p:sp>
        <p:sp>
          <p:nvSpPr>
            <p:cNvPr id="10264" name="Text Box 50"/>
            <p:cNvSpPr txBox="1"/>
            <p:nvPr/>
          </p:nvSpPr>
          <p:spPr>
            <a:xfrm>
              <a:off x="5329" y="3030"/>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3</a:t>
              </a:r>
              <a:endParaRPr lang="en-US" altLang="zh-CN" sz="3600" dirty="0">
                <a:latin typeface="Arial" panose="020B0604020202020204" pitchFamily="34" charset="0"/>
              </a:endParaRPr>
            </a:p>
          </p:txBody>
        </p:sp>
        <p:sp>
          <p:nvSpPr>
            <p:cNvPr id="10265" name="Text Box 51"/>
            <p:cNvSpPr txBox="1"/>
            <p:nvPr/>
          </p:nvSpPr>
          <p:spPr>
            <a:xfrm>
              <a:off x="5329" y="3329"/>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latin typeface="Arial" panose="020B0604020202020204" pitchFamily="34" charset="0"/>
                </a:rPr>
                <a:t>2</a:t>
              </a:r>
              <a:endParaRPr lang="en-US" altLang="zh-CN" sz="3600" dirty="0">
                <a:latin typeface="Arial" panose="020B0604020202020204" pitchFamily="34" charset="0"/>
              </a:endParaRPr>
            </a:p>
          </p:txBody>
        </p:sp>
        <p:sp>
          <p:nvSpPr>
            <p:cNvPr id="10266" name="Text Box 52"/>
            <p:cNvSpPr txBox="1"/>
            <p:nvPr/>
          </p:nvSpPr>
          <p:spPr>
            <a:xfrm>
              <a:off x="5329" y="3628"/>
              <a:ext cx="318" cy="301"/>
            </a:xfrm>
            <a:prstGeom prst="rect">
              <a:avLst/>
            </a:prstGeom>
            <a:noFill/>
            <a:ln w="38100" cap="flat" cmpd="sng">
              <a:solidFill>
                <a:srgbClr val="000000"/>
              </a:solidFill>
              <a:prstDash val="solid"/>
              <a:miter/>
              <a:headEnd type="none" w="med" len="med"/>
              <a:tailEnd type="none" w="med" len="med"/>
            </a:ln>
          </p:spPr>
          <p:txBody>
            <a:bodyPr lIns="0" tIns="0" rIns="0" bIns="0">
              <a:spAutoFit/>
            </a:bodyPr>
            <a:p>
              <a:pPr algn="ctr">
                <a:lnSpc>
                  <a:spcPct val="80000"/>
                </a:lnSpc>
              </a:pPr>
              <a:r>
                <a:rPr lang="en-US" altLang="zh-CN" sz="3600" dirty="0">
                  <a:solidFill>
                    <a:srgbClr val="FF0000"/>
                  </a:solidFill>
                  <a:latin typeface="Arial" panose="020B0604020202020204" pitchFamily="34" charset="0"/>
                </a:rPr>
                <a:t>4</a:t>
              </a:r>
              <a:endParaRPr lang="en-US" altLang="zh-CN" sz="3600" dirty="0">
                <a:solidFill>
                  <a:srgbClr val="FF0000"/>
                </a:solidFill>
                <a:latin typeface="Arial" panose="020B0604020202020204" pitchFamily="34" charset="0"/>
              </a:endParaRPr>
            </a:p>
          </p:txBody>
        </p:sp>
      </p:grpSp>
      <p:grpSp>
        <p:nvGrpSpPr>
          <p:cNvPr id="10" name="Group 59"/>
          <p:cNvGrpSpPr/>
          <p:nvPr/>
        </p:nvGrpSpPr>
        <p:grpSpPr>
          <a:xfrm>
            <a:off x="4400550" y="3954463"/>
            <a:ext cx="892175" cy="923925"/>
            <a:chOff x="2817" y="1805"/>
            <a:chExt cx="562" cy="582"/>
          </a:xfrm>
        </p:grpSpPr>
        <p:sp>
          <p:nvSpPr>
            <p:cNvPr id="10261" name="Oval 56"/>
            <p:cNvSpPr/>
            <p:nvPr/>
          </p:nvSpPr>
          <p:spPr>
            <a:xfrm>
              <a:off x="2817" y="1979"/>
              <a:ext cx="408" cy="408"/>
            </a:xfrm>
            <a:prstGeom prst="ellipse">
              <a:avLst/>
            </a:prstGeom>
            <a:noFill/>
            <a:ln w="38100" cap="flat" cmpd="sng">
              <a:solidFill>
                <a:srgbClr val="FF00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10262" name="Freeform 58"/>
            <p:cNvSpPr/>
            <p:nvPr/>
          </p:nvSpPr>
          <p:spPr>
            <a:xfrm>
              <a:off x="3069" y="1805"/>
              <a:ext cx="310" cy="275"/>
            </a:xfrm>
            <a:custGeom>
              <a:avLst/>
              <a:gdLst>
                <a:gd name="txL" fmla="*/ 0 w 310"/>
                <a:gd name="txT" fmla="*/ 0 h 275"/>
                <a:gd name="txR" fmla="*/ 310 w 310"/>
                <a:gd name="txB" fmla="*/ 275 h 275"/>
              </a:gdLst>
              <a:ahLst/>
              <a:cxnLst>
                <a:cxn ang="0">
                  <a:pos x="0" y="275"/>
                </a:cxn>
                <a:cxn ang="0">
                  <a:pos x="69" y="172"/>
                </a:cxn>
                <a:cxn ang="0">
                  <a:pos x="120" y="138"/>
                </a:cxn>
                <a:cxn ang="0">
                  <a:pos x="232" y="147"/>
                </a:cxn>
                <a:cxn ang="0">
                  <a:pos x="224" y="181"/>
                </a:cxn>
                <a:cxn ang="0">
                  <a:pos x="172" y="172"/>
                </a:cxn>
                <a:cxn ang="0">
                  <a:pos x="146" y="61"/>
                </a:cxn>
                <a:cxn ang="0">
                  <a:pos x="155" y="35"/>
                </a:cxn>
                <a:cxn ang="0">
                  <a:pos x="232" y="0"/>
                </a:cxn>
                <a:cxn ang="0">
                  <a:pos x="310" y="18"/>
                </a:cxn>
              </a:cxnLst>
              <a:rect l="txL" t="txT" r="txR" b="txB"/>
              <a:pathLst>
                <a:path w="310" h="275">
                  <a:moveTo>
                    <a:pt x="0" y="275"/>
                  </a:moveTo>
                  <a:cubicBezTo>
                    <a:pt x="14" y="236"/>
                    <a:pt x="36" y="198"/>
                    <a:pt x="69" y="172"/>
                  </a:cubicBezTo>
                  <a:cubicBezTo>
                    <a:pt x="85" y="159"/>
                    <a:pt x="120" y="138"/>
                    <a:pt x="120" y="138"/>
                  </a:cubicBezTo>
                  <a:cubicBezTo>
                    <a:pt x="157" y="141"/>
                    <a:pt x="197" y="133"/>
                    <a:pt x="232" y="147"/>
                  </a:cubicBezTo>
                  <a:cubicBezTo>
                    <a:pt x="243" y="151"/>
                    <a:pt x="235" y="177"/>
                    <a:pt x="224" y="181"/>
                  </a:cubicBezTo>
                  <a:cubicBezTo>
                    <a:pt x="208" y="188"/>
                    <a:pt x="189" y="175"/>
                    <a:pt x="172" y="172"/>
                  </a:cubicBezTo>
                  <a:cubicBezTo>
                    <a:pt x="126" y="142"/>
                    <a:pt x="135" y="119"/>
                    <a:pt x="146" y="61"/>
                  </a:cubicBezTo>
                  <a:cubicBezTo>
                    <a:pt x="148" y="52"/>
                    <a:pt x="149" y="41"/>
                    <a:pt x="155" y="35"/>
                  </a:cubicBezTo>
                  <a:cubicBezTo>
                    <a:pt x="162" y="28"/>
                    <a:pt x="220" y="4"/>
                    <a:pt x="232" y="0"/>
                  </a:cubicBezTo>
                  <a:cubicBezTo>
                    <a:pt x="299" y="10"/>
                    <a:pt x="274" y="0"/>
                    <a:pt x="310" y="18"/>
                  </a:cubicBezTo>
                </a:path>
              </a:pathLst>
            </a:custGeom>
            <a:noFill/>
            <a:ln w="38100" cap="flat" cmpd="sng">
              <a:solidFill>
                <a:srgbClr val="FF00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1" name="Group 60"/>
          <p:cNvGrpSpPr/>
          <p:nvPr/>
        </p:nvGrpSpPr>
        <p:grpSpPr>
          <a:xfrm>
            <a:off x="5407025" y="3954463"/>
            <a:ext cx="892175" cy="923925"/>
            <a:chOff x="2817" y="1805"/>
            <a:chExt cx="562" cy="582"/>
          </a:xfrm>
        </p:grpSpPr>
        <p:sp>
          <p:nvSpPr>
            <p:cNvPr id="10259" name="Oval 61"/>
            <p:cNvSpPr/>
            <p:nvPr/>
          </p:nvSpPr>
          <p:spPr>
            <a:xfrm>
              <a:off x="2817" y="1979"/>
              <a:ext cx="408" cy="408"/>
            </a:xfrm>
            <a:prstGeom prst="ellipse">
              <a:avLst/>
            </a:prstGeom>
            <a:noFill/>
            <a:ln w="38100" cap="flat" cmpd="sng">
              <a:solidFill>
                <a:srgbClr val="FF00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10260" name="Freeform 62"/>
            <p:cNvSpPr/>
            <p:nvPr/>
          </p:nvSpPr>
          <p:spPr>
            <a:xfrm>
              <a:off x="3069" y="1805"/>
              <a:ext cx="310" cy="275"/>
            </a:xfrm>
            <a:custGeom>
              <a:avLst/>
              <a:gdLst>
                <a:gd name="txL" fmla="*/ 0 w 310"/>
                <a:gd name="txT" fmla="*/ 0 h 275"/>
                <a:gd name="txR" fmla="*/ 310 w 310"/>
                <a:gd name="txB" fmla="*/ 275 h 275"/>
              </a:gdLst>
              <a:ahLst/>
              <a:cxnLst>
                <a:cxn ang="0">
                  <a:pos x="0" y="275"/>
                </a:cxn>
                <a:cxn ang="0">
                  <a:pos x="69" y="172"/>
                </a:cxn>
                <a:cxn ang="0">
                  <a:pos x="120" y="138"/>
                </a:cxn>
                <a:cxn ang="0">
                  <a:pos x="232" y="147"/>
                </a:cxn>
                <a:cxn ang="0">
                  <a:pos x="224" y="181"/>
                </a:cxn>
                <a:cxn ang="0">
                  <a:pos x="172" y="172"/>
                </a:cxn>
                <a:cxn ang="0">
                  <a:pos x="146" y="61"/>
                </a:cxn>
                <a:cxn ang="0">
                  <a:pos x="155" y="35"/>
                </a:cxn>
                <a:cxn ang="0">
                  <a:pos x="232" y="0"/>
                </a:cxn>
                <a:cxn ang="0">
                  <a:pos x="310" y="18"/>
                </a:cxn>
              </a:cxnLst>
              <a:rect l="txL" t="txT" r="txR" b="txB"/>
              <a:pathLst>
                <a:path w="310" h="275">
                  <a:moveTo>
                    <a:pt x="0" y="275"/>
                  </a:moveTo>
                  <a:cubicBezTo>
                    <a:pt x="14" y="236"/>
                    <a:pt x="36" y="198"/>
                    <a:pt x="69" y="172"/>
                  </a:cubicBezTo>
                  <a:cubicBezTo>
                    <a:pt x="85" y="159"/>
                    <a:pt x="120" y="138"/>
                    <a:pt x="120" y="138"/>
                  </a:cubicBezTo>
                  <a:cubicBezTo>
                    <a:pt x="157" y="141"/>
                    <a:pt x="197" y="133"/>
                    <a:pt x="232" y="147"/>
                  </a:cubicBezTo>
                  <a:cubicBezTo>
                    <a:pt x="243" y="151"/>
                    <a:pt x="235" y="177"/>
                    <a:pt x="224" y="181"/>
                  </a:cubicBezTo>
                  <a:cubicBezTo>
                    <a:pt x="208" y="188"/>
                    <a:pt x="189" y="175"/>
                    <a:pt x="172" y="172"/>
                  </a:cubicBezTo>
                  <a:cubicBezTo>
                    <a:pt x="126" y="142"/>
                    <a:pt x="135" y="119"/>
                    <a:pt x="146" y="61"/>
                  </a:cubicBezTo>
                  <a:cubicBezTo>
                    <a:pt x="148" y="52"/>
                    <a:pt x="149" y="41"/>
                    <a:pt x="155" y="35"/>
                  </a:cubicBezTo>
                  <a:cubicBezTo>
                    <a:pt x="162" y="28"/>
                    <a:pt x="220" y="4"/>
                    <a:pt x="232" y="0"/>
                  </a:cubicBezTo>
                  <a:cubicBezTo>
                    <a:pt x="299" y="10"/>
                    <a:pt x="274" y="0"/>
                    <a:pt x="310" y="18"/>
                  </a:cubicBezTo>
                </a:path>
              </a:pathLst>
            </a:custGeom>
            <a:noFill/>
            <a:ln w="38100" cap="flat" cmpd="sng">
              <a:solidFill>
                <a:srgbClr val="FF00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grpSp>
        <p:nvGrpSpPr>
          <p:cNvPr id="12" name="Group 63"/>
          <p:cNvGrpSpPr/>
          <p:nvPr/>
        </p:nvGrpSpPr>
        <p:grpSpPr>
          <a:xfrm>
            <a:off x="7394575" y="3954463"/>
            <a:ext cx="892175" cy="923925"/>
            <a:chOff x="2817" y="1805"/>
            <a:chExt cx="562" cy="582"/>
          </a:xfrm>
        </p:grpSpPr>
        <p:sp>
          <p:nvSpPr>
            <p:cNvPr id="10257" name="Oval 64"/>
            <p:cNvSpPr/>
            <p:nvPr/>
          </p:nvSpPr>
          <p:spPr>
            <a:xfrm>
              <a:off x="2817" y="1979"/>
              <a:ext cx="408" cy="408"/>
            </a:xfrm>
            <a:prstGeom prst="ellipse">
              <a:avLst/>
            </a:prstGeom>
            <a:noFill/>
            <a:ln w="38100" cap="flat" cmpd="sng">
              <a:solidFill>
                <a:srgbClr val="FF0000"/>
              </a:solidFill>
              <a:prstDash val="solid"/>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10258" name="Freeform 65"/>
            <p:cNvSpPr/>
            <p:nvPr/>
          </p:nvSpPr>
          <p:spPr>
            <a:xfrm>
              <a:off x="3069" y="1805"/>
              <a:ext cx="310" cy="275"/>
            </a:xfrm>
            <a:custGeom>
              <a:avLst/>
              <a:gdLst>
                <a:gd name="txL" fmla="*/ 0 w 310"/>
                <a:gd name="txT" fmla="*/ 0 h 275"/>
                <a:gd name="txR" fmla="*/ 310 w 310"/>
                <a:gd name="txB" fmla="*/ 275 h 275"/>
              </a:gdLst>
              <a:ahLst/>
              <a:cxnLst>
                <a:cxn ang="0">
                  <a:pos x="0" y="275"/>
                </a:cxn>
                <a:cxn ang="0">
                  <a:pos x="69" y="172"/>
                </a:cxn>
                <a:cxn ang="0">
                  <a:pos x="120" y="138"/>
                </a:cxn>
                <a:cxn ang="0">
                  <a:pos x="232" y="147"/>
                </a:cxn>
                <a:cxn ang="0">
                  <a:pos x="224" y="181"/>
                </a:cxn>
                <a:cxn ang="0">
                  <a:pos x="172" y="172"/>
                </a:cxn>
                <a:cxn ang="0">
                  <a:pos x="146" y="61"/>
                </a:cxn>
                <a:cxn ang="0">
                  <a:pos x="155" y="35"/>
                </a:cxn>
                <a:cxn ang="0">
                  <a:pos x="232" y="0"/>
                </a:cxn>
                <a:cxn ang="0">
                  <a:pos x="310" y="18"/>
                </a:cxn>
              </a:cxnLst>
              <a:rect l="txL" t="txT" r="txR" b="txB"/>
              <a:pathLst>
                <a:path w="310" h="275">
                  <a:moveTo>
                    <a:pt x="0" y="275"/>
                  </a:moveTo>
                  <a:cubicBezTo>
                    <a:pt x="14" y="236"/>
                    <a:pt x="36" y="198"/>
                    <a:pt x="69" y="172"/>
                  </a:cubicBezTo>
                  <a:cubicBezTo>
                    <a:pt x="85" y="159"/>
                    <a:pt x="120" y="138"/>
                    <a:pt x="120" y="138"/>
                  </a:cubicBezTo>
                  <a:cubicBezTo>
                    <a:pt x="157" y="141"/>
                    <a:pt x="197" y="133"/>
                    <a:pt x="232" y="147"/>
                  </a:cubicBezTo>
                  <a:cubicBezTo>
                    <a:pt x="243" y="151"/>
                    <a:pt x="235" y="177"/>
                    <a:pt x="224" y="181"/>
                  </a:cubicBezTo>
                  <a:cubicBezTo>
                    <a:pt x="208" y="188"/>
                    <a:pt x="189" y="175"/>
                    <a:pt x="172" y="172"/>
                  </a:cubicBezTo>
                  <a:cubicBezTo>
                    <a:pt x="126" y="142"/>
                    <a:pt x="135" y="119"/>
                    <a:pt x="146" y="61"/>
                  </a:cubicBezTo>
                  <a:cubicBezTo>
                    <a:pt x="148" y="52"/>
                    <a:pt x="149" y="41"/>
                    <a:pt x="155" y="35"/>
                  </a:cubicBezTo>
                  <a:cubicBezTo>
                    <a:pt x="162" y="28"/>
                    <a:pt x="220" y="4"/>
                    <a:pt x="232" y="0"/>
                  </a:cubicBezTo>
                  <a:cubicBezTo>
                    <a:pt x="299" y="10"/>
                    <a:pt x="274" y="0"/>
                    <a:pt x="310" y="18"/>
                  </a:cubicBezTo>
                </a:path>
              </a:pathLst>
            </a:custGeom>
            <a:noFill/>
            <a:ln w="38100" cap="flat" cmpd="sng">
              <a:solidFill>
                <a:srgbClr val="FF0000"/>
              </a:solidFill>
              <a:prstDash val="solid"/>
              <a:round/>
              <a:headEnd type="none" w="med" len="med"/>
              <a:tailEnd type="none" w="med" len="med"/>
            </a:ln>
          </p:spPr>
          <p:txBody>
            <a:bodyPr wrap="none" anchor="ctr" anchorCtr="0">
              <a:spAutoFit/>
            </a:bodyPr>
            <a:p>
              <a:endParaRPr lang="zh-CN" altLang="en-US" dirty="0">
                <a:latin typeface="Arial" panose="020B0604020202020204" pitchFamily="34" charset="0"/>
              </a:endParaRPr>
            </a:p>
          </p:txBody>
        </p:sp>
      </p:grpSp>
      <p:sp>
        <p:nvSpPr>
          <p:cNvPr id="25675" name="AutoShape 75"/>
          <p:cNvSpPr/>
          <p:nvPr/>
        </p:nvSpPr>
        <p:spPr>
          <a:xfrm>
            <a:off x="755650" y="6021388"/>
            <a:ext cx="863600" cy="431800"/>
          </a:xfrm>
          <a:prstGeom prst="wedgeRectCallout">
            <a:avLst>
              <a:gd name="adj1" fmla="val 127759"/>
              <a:gd name="adj2" fmla="val -4412"/>
            </a:avLst>
          </a:prstGeom>
          <a:noFill/>
          <a:ln w="19050" cap="flat" cmpd="sng">
            <a:solidFill>
              <a:srgbClr val="FF0000"/>
            </a:solidFill>
            <a:prstDash val="solid"/>
            <a:miter/>
            <a:headEnd type="none" w="med" len="med"/>
            <a:tailEnd type="none" w="med" len="med"/>
          </a:ln>
        </p:spPr>
        <p:txBody>
          <a:bodyPr lIns="0" tIns="0" rIns="0" bIns="0"/>
          <a:p>
            <a:pPr algn="ctr"/>
            <a:r>
              <a:rPr lang="zh-CN" altLang="en-US" sz="2400" dirty="0">
                <a:latin typeface="Arial" panose="020B0604020202020204" pitchFamily="34" charset="0"/>
              </a:rPr>
              <a:t>链头</a:t>
            </a:r>
            <a:endParaRPr lang="zh-CN" altLang="en-US" sz="2400"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2">
                                            <p:txEl>
                                              <p:charRg st="42" end="6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6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par>
                                <p:cTn id="18" presetID="1" presetClass="entr" presetSubtype="0" fill="hold" grpId="0" nodeType="withEffect">
                                  <p:stCondLst>
                                    <p:cond delay="0"/>
                                  </p:stCondLst>
                                  <p:childTnLst>
                                    <p:set>
                                      <p:cBhvr>
                                        <p:cTn id="19" dur="1" fill="hold">
                                          <p:stCondLst>
                                            <p:cond delay="0"/>
                                          </p:stCondLst>
                                        </p:cTn>
                                        <p:tgtEl>
                                          <p:spTgt spid="2567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down)">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down)">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down)">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ipe(down)">
                                      <p:cBhvr>
                                        <p:cTn id="39" dur="5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down)">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wipe(down)">
                                      <p:cBhvr>
                                        <p:cTn id="49" dur="500"/>
                                        <p:tgtEl>
                                          <p:spTgt spid="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wipe(down)">
                                      <p:cBhvr>
                                        <p:cTn id="54" dur="5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down)">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down)">
                                      <p:cBhvr>
                                        <p:cTn id="6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ldLvl="2" build="p"/>
      <p:bldP spid="25654" grpId="0"/>
      <p:bldP spid="2567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1267" name="Rectangle 3"/>
          <p:cNvSpPr>
            <a:spLocks noGrp="1"/>
          </p:cNvSpPr>
          <p:nvPr>
            <p:ph idx="1"/>
          </p:nvPr>
        </p:nvSpPr>
        <p:spPr>
          <a:xfrm>
            <a:off x="1231900" y="1016000"/>
            <a:ext cx="7372350" cy="5365750"/>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9.1 </a:t>
            </a:r>
            <a:r>
              <a:rPr lang="zh-CN" altLang="en-US" dirty="0">
                <a:latin typeface="Arial" panose="020B0604020202020204" pitchFamily="34" charset="0"/>
              </a:rPr>
              <a:t>数据的物理存储</a:t>
            </a:r>
            <a:endParaRPr lang="zh-CN" altLang="en-US" dirty="0">
              <a:latin typeface="Arial" panose="020B0604020202020204" pitchFamily="34" charset="0"/>
            </a:endParaRPr>
          </a:p>
          <a:p>
            <a:pPr eaLnBrk="1" hangingPunct="1">
              <a:lnSpc>
                <a:spcPct val="140000"/>
              </a:lnSpc>
              <a:buNone/>
            </a:pPr>
            <a:r>
              <a:rPr lang="en-US" altLang="zh-CN" dirty="0">
                <a:solidFill>
                  <a:srgbClr val="0000CC"/>
                </a:solidFill>
                <a:latin typeface="Arial" panose="020B0604020202020204" pitchFamily="34" charset="0"/>
              </a:rPr>
              <a:t>9.2 </a:t>
            </a:r>
            <a:r>
              <a:rPr lang="zh-CN" altLang="en-US" dirty="0">
                <a:solidFill>
                  <a:srgbClr val="0000CC"/>
                </a:solidFill>
                <a:latin typeface="Arial" panose="020B0604020202020204" pitchFamily="34" charset="0"/>
              </a:rPr>
              <a:t>数据的文件组织</a:t>
            </a:r>
            <a:endParaRPr lang="zh-CN" altLang="en-US" dirty="0">
              <a:solidFill>
                <a:srgbClr val="0000CC"/>
              </a:solidFill>
              <a:latin typeface="Arial" panose="020B0604020202020204" pitchFamily="34" charset="0"/>
            </a:endParaRPr>
          </a:p>
          <a:p>
            <a:pPr eaLnBrk="1" hangingPunct="1">
              <a:lnSpc>
                <a:spcPct val="140000"/>
              </a:lnSpc>
              <a:buNone/>
            </a:pPr>
            <a:r>
              <a:rPr lang="en-US" altLang="zh-CN" dirty="0">
                <a:latin typeface="Arial" panose="020B0604020202020204" pitchFamily="34" charset="0"/>
              </a:rPr>
              <a:t>9.3 </a:t>
            </a:r>
            <a:r>
              <a:rPr lang="zh-CN" altLang="en-US" dirty="0">
                <a:latin typeface="Arial" panose="020B0604020202020204" pitchFamily="34" charset="0"/>
              </a:rPr>
              <a:t>散列</a:t>
            </a:r>
            <a:r>
              <a:rPr lang="zh-CN" altLang="en-US" dirty="0"/>
              <a:t>文件及访问方式</a:t>
            </a:r>
            <a:endParaRPr lang="zh-CN" altLang="en-US" dirty="0"/>
          </a:p>
        </p:txBody>
      </p:sp>
    </p:spTree>
  </p:cSld>
  <p:clrMapOvr>
    <a:masterClrMapping/>
  </p:clrMapOvr>
  <p:transition>
    <p:random/>
    <p:sndAc>
      <p:stSnd>
        <p:snd r:embed="rId1" name="CAMERA.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noChangeArrowheads="1"/>
          </p:cNvSpPr>
          <p:nvPr>
            <p:ph idx="1"/>
          </p:nvPr>
        </p:nvSpPr>
        <p:spPr>
          <a:xfrm>
            <a:off x="152400" y="1143000"/>
            <a:ext cx="8812213" cy="5273675"/>
          </a:xfrm>
        </p:spPr>
        <p:txBody>
          <a:bodyPr vert="horz" wrap="square" lIns="91440" tIns="45720" rIns="91440" bIns="45720" numCol="1" anchor="t" anchorCtr="0" compatLnSpc="1"/>
          <a:lstStyle/>
          <a:p>
            <a:pPr marL="357505" marR="0" lvl="0" indent="-357505" algn="l" defTabSz="914400" rtl="0" eaLnBrk="1" fontAlgn="base" latinLnBrk="0" hangingPunct="1">
              <a:lnSpc>
                <a:spcPct val="100000"/>
              </a:lnSpc>
              <a:spcBef>
                <a:spcPct val="3500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mn-lt"/>
                <a:ea typeface="+mn-ea"/>
                <a:cs typeface="+mn-cs"/>
              </a:rPr>
              <a:t>数据是以文件形式组织</a:t>
            </a:r>
            <a:endParaRPr kumimoji="0" lang="zh-CN" altLang="en-US" sz="3600" b="1" i="0" u="none" strike="noStrike" kern="0" cap="none" spc="0" normalizeH="0" baseline="0" noProof="0" dirty="0" smtClean="0">
              <a:ln>
                <a:noFill/>
              </a:ln>
              <a:solidFill>
                <a:srgbClr val="000000"/>
              </a:solidFill>
              <a:effectLst/>
              <a:uLnTx/>
              <a:uFillTx/>
              <a:latin typeface="+mn-lt"/>
              <a:ea typeface="+mn-ea"/>
              <a:cs typeface="+mn-cs"/>
            </a:endParaRPr>
          </a:p>
          <a:p>
            <a:pPr marL="530225" marR="0" lvl="1" indent="-255905" algn="l" defTabSz="914400" rtl="0" eaLnBrk="1" fontAlgn="base" latinLnBrk="0" hangingPunct="1">
              <a:lnSpc>
                <a:spcPct val="100000"/>
              </a:lnSpc>
              <a:spcBef>
                <a:spcPct val="35000"/>
              </a:spcBef>
              <a:spcAft>
                <a:spcPct val="0"/>
              </a:spcAft>
              <a:buClr>
                <a:srgbClr val="3333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mn-lt"/>
                <a:ea typeface="+mn-ea"/>
              </a:rPr>
              <a:t>从逻辑角度，文件的基本组成单位是</a:t>
            </a:r>
            <a:r>
              <a:rPr kumimoji="0" lang="zh-CN" altLang="en-US" sz="3200" b="1" i="0" u="sng" strike="noStrike" kern="0" cap="none" spc="0" normalizeH="0" baseline="0" noProof="0" dirty="0" smtClean="0">
                <a:ln>
                  <a:noFill/>
                </a:ln>
                <a:solidFill>
                  <a:srgbClr val="000000"/>
                </a:solidFill>
                <a:effectLst/>
                <a:uLnTx/>
                <a:uFillTx/>
                <a:latin typeface="+mn-lt"/>
                <a:ea typeface="+mn-ea"/>
              </a:rPr>
              <a:t>文件记录</a:t>
            </a:r>
            <a:endParaRPr kumimoji="0" lang="zh-CN" altLang="en-US" sz="3200" b="1" i="0" u="sng" strike="noStrike" kern="0" cap="none" spc="0" normalizeH="0" baseline="0" noProof="0" dirty="0" smtClean="0">
              <a:ln>
                <a:noFill/>
              </a:ln>
              <a:solidFill>
                <a:srgbClr val="000000"/>
              </a:solidFill>
              <a:effectLst/>
              <a:uLnTx/>
              <a:uFillTx/>
              <a:latin typeface="+mn-lt"/>
              <a:ea typeface="+mn-ea"/>
            </a:endParaRPr>
          </a:p>
          <a:p>
            <a:pPr marL="622300" marR="0" lvl="1" indent="-347980" algn="l" defTabSz="914400" rtl="0" eaLnBrk="1" fontAlgn="base" latinLnBrk="0" hangingPunct="1">
              <a:lnSpc>
                <a:spcPct val="100000"/>
              </a:lnSpc>
              <a:spcBef>
                <a:spcPct val="35000"/>
              </a:spcBef>
              <a:spcAft>
                <a:spcPct val="0"/>
              </a:spcAft>
              <a:buClr>
                <a:srgbClr val="3333CC"/>
              </a:buClr>
              <a:buSzPct val="65000"/>
              <a:buFont typeface="Wingdings" panose="05000000000000000000" pitchFamily="2" charset="2"/>
              <a:buChar char="n"/>
              <a:defRPr/>
            </a:pPr>
            <a:r>
              <a:rPr kumimoji="0" lang="zh-CN" altLang="en-US" sz="3200" b="1" i="0" u="none" strike="noStrike" kern="0" cap="none" spc="0" normalizeH="0" baseline="0" noProof="0" dirty="0" smtClean="0">
                <a:ln>
                  <a:noFill/>
                </a:ln>
                <a:solidFill>
                  <a:srgbClr val="000000"/>
                </a:solidFill>
                <a:effectLst/>
                <a:uLnTx/>
                <a:uFillTx/>
                <a:latin typeface="+mn-lt"/>
                <a:ea typeface="+mn-ea"/>
              </a:rPr>
              <a:t>从物理存储角度，文件的基本组成单位是</a:t>
            </a:r>
            <a:r>
              <a:rPr kumimoji="0" lang="zh-CN" altLang="en-US" sz="3200" b="1" i="0" u="sng" strike="noStrike" kern="0" cap="none" spc="0" normalizeH="0" baseline="0" noProof="0" dirty="0" smtClean="0">
                <a:ln>
                  <a:noFill/>
                </a:ln>
                <a:solidFill>
                  <a:srgbClr val="000000"/>
                </a:solidFill>
                <a:effectLst/>
                <a:uLnTx/>
                <a:uFillTx/>
                <a:latin typeface="+mn-lt"/>
                <a:ea typeface="+mn-ea"/>
              </a:rPr>
              <a:t>磁盘块</a:t>
            </a:r>
            <a:endParaRPr kumimoji="0" lang="zh-CN" altLang="en-US" sz="3200" b="1" i="0" u="sng" strike="noStrike" kern="0" cap="none" spc="0" normalizeH="0" baseline="0" noProof="0" dirty="0" smtClean="0">
              <a:ln>
                <a:noFill/>
              </a:ln>
              <a:solidFill>
                <a:srgbClr val="000000"/>
              </a:solidFill>
              <a:effectLst/>
              <a:uLnTx/>
              <a:uFillTx/>
              <a:latin typeface="+mn-lt"/>
              <a:ea typeface="+mn-ea"/>
            </a:endParaRPr>
          </a:p>
          <a:p>
            <a:pPr marL="357505" marR="0" lvl="0" indent="-357505" algn="l" defTabSz="914400" rtl="0" eaLnBrk="1" fontAlgn="base" latinLnBrk="0" hangingPunct="1">
              <a:lnSpc>
                <a:spcPct val="100000"/>
              </a:lnSpc>
              <a:spcBef>
                <a:spcPct val="3500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mn-lt"/>
                <a:ea typeface="+mn-ea"/>
                <a:cs typeface="+mn-cs"/>
              </a:rPr>
              <a:t>内外存数据交换是以</a:t>
            </a:r>
            <a:r>
              <a:rPr kumimoji="0" lang="zh-CN" altLang="en-US" sz="3600" b="1" i="0" u="none" strike="noStrike" kern="0" cap="none" spc="0" normalizeH="0" baseline="0" noProof="0" dirty="0" smtClean="0">
                <a:ln>
                  <a:noFill/>
                </a:ln>
                <a:solidFill>
                  <a:srgbClr val="0066CC"/>
                </a:solidFill>
                <a:effectLst/>
                <a:uLnTx/>
                <a:uFillTx/>
                <a:latin typeface="+mn-lt"/>
                <a:ea typeface="+mn-ea"/>
                <a:cs typeface="+mn-cs"/>
              </a:rPr>
              <a:t>磁盘块</a:t>
            </a:r>
            <a:r>
              <a:rPr kumimoji="0" lang="zh-CN" altLang="en-US" sz="3600" b="1" i="0" u="none" strike="noStrike" kern="0" cap="none" spc="0" normalizeH="0" baseline="0" noProof="0" dirty="0" smtClean="0">
                <a:ln>
                  <a:noFill/>
                </a:ln>
                <a:solidFill>
                  <a:srgbClr val="000000"/>
                </a:solidFill>
                <a:effectLst/>
                <a:uLnTx/>
                <a:uFillTx/>
                <a:latin typeface="+mn-lt"/>
                <a:ea typeface="+mn-ea"/>
                <a:cs typeface="+mn-cs"/>
              </a:rPr>
              <a:t>为单位的</a:t>
            </a:r>
            <a:endParaRPr kumimoji="0" lang="zh-CN" altLang="en-US" sz="3600" b="1" i="0" u="none" strike="noStrike" kern="0" cap="none" spc="0" normalizeH="0" baseline="0" noProof="0" dirty="0" smtClean="0">
              <a:ln>
                <a:noFill/>
              </a:ln>
              <a:solidFill>
                <a:srgbClr val="000000"/>
              </a:solidFill>
              <a:effectLst/>
              <a:uLnTx/>
              <a:uFillTx/>
              <a:latin typeface="+mn-lt"/>
              <a:ea typeface="+mn-ea"/>
              <a:cs typeface="+mn-cs"/>
            </a:endParaRPr>
          </a:p>
          <a:p>
            <a:pPr marL="357505" marR="0" lvl="0" indent="-357505" algn="l" defTabSz="914400" rtl="0" eaLnBrk="1" fontAlgn="base" latinLnBrk="0" hangingPunct="1">
              <a:lnSpc>
                <a:spcPct val="100000"/>
              </a:lnSpc>
              <a:spcBef>
                <a:spcPct val="35000"/>
              </a:spcBef>
              <a:spcAft>
                <a:spcPct val="0"/>
              </a:spcAft>
              <a:buClr>
                <a:srgbClr val="FF0000"/>
              </a:buClr>
              <a:buSzPct val="65000"/>
              <a:buFont typeface="Wingdings" panose="05000000000000000000" pitchFamily="2" charset="2"/>
              <a:buChar char="n"/>
              <a:defRPr/>
            </a:pPr>
            <a:r>
              <a:rPr kumimoji="0" lang="zh-CN" altLang="en-US" sz="3600" b="1" i="0" u="none" strike="noStrike" kern="0" cap="none" spc="0" normalizeH="0" baseline="0" noProof="0" dirty="0" smtClean="0">
                <a:ln>
                  <a:noFill/>
                </a:ln>
                <a:solidFill>
                  <a:srgbClr val="000000"/>
                </a:solidFill>
                <a:effectLst/>
                <a:uLnTx/>
                <a:uFillTx/>
                <a:latin typeface="+mn-lt"/>
                <a:ea typeface="+mn-ea"/>
                <a:cs typeface="+mn-cs"/>
              </a:rPr>
              <a:t>关系数据库中，数据以</a:t>
            </a:r>
            <a:r>
              <a:rPr kumimoji="0" lang="zh-CN" altLang="en-US" sz="3600" b="1" i="0" u="sng" strike="noStrike" kern="0" cap="none" spc="0" normalizeH="0" baseline="0" noProof="0" dirty="0" smtClean="0">
                <a:ln>
                  <a:noFill/>
                </a:ln>
                <a:solidFill>
                  <a:srgbClr val="000000"/>
                </a:solidFill>
                <a:effectLst/>
                <a:uLnTx/>
                <a:uFillTx/>
                <a:latin typeface="+mn-lt"/>
                <a:ea typeface="+mn-ea"/>
                <a:cs typeface="+mn-cs"/>
              </a:rPr>
              <a:t>关系</a:t>
            </a:r>
            <a:r>
              <a:rPr kumimoji="0" lang="zh-CN" altLang="en-US" sz="3600" b="1" i="0" u="none" strike="noStrike" kern="0" cap="none" spc="0" normalizeH="0" baseline="0" noProof="0" dirty="0" smtClean="0">
                <a:ln>
                  <a:noFill/>
                </a:ln>
                <a:solidFill>
                  <a:srgbClr val="000000"/>
                </a:solidFill>
                <a:effectLst/>
                <a:uLnTx/>
                <a:uFillTx/>
                <a:latin typeface="+mn-lt"/>
                <a:ea typeface="+mn-ea"/>
                <a:cs typeface="+mn-cs"/>
              </a:rPr>
              <a:t>的形式组织，关系由元组和属性组成。</a:t>
            </a:r>
            <a:endParaRPr kumimoji="0" lang="zh-CN" altLang="en-US" sz="3600" b="1" i="0" u="none" strike="noStrike" kern="0" cap="none" spc="0" normalizeH="0" baseline="0" noProof="0" dirty="0" smtClean="0">
              <a:ln>
                <a:noFill/>
              </a:ln>
              <a:solidFill>
                <a:srgbClr val="000000"/>
              </a:solidFill>
              <a:effectLst/>
              <a:uLnTx/>
              <a:uFillTx/>
              <a:latin typeface="Arial" panose="020B0604020202020204" pitchFamily="34" charset="0"/>
              <a:ea typeface="+mn-ea"/>
              <a:cs typeface="+mn-cs"/>
            </a:endParaRPr>
          </a:p>
        </p:txBody>
      </p:sp>
      <p:sp>
        <p:nvSpPr>
          <p:cNvPr id="122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9.2 </a:t>
            </a:r>
            <a:r>
              <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数据的文件组织</a:t>
            </a:r>
            <a:endPar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0">
                                            <p:txEl>
                                              <p:charRg st="54" end="7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0">
                                            <p:txEl>
                                              <p:charRg st="71" end="10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idx="1"/>
          </p:nvPr>
        </p:nvSpPr>
        <p:spPr>
          <a:xfrm>
            <a:off x="117475" y="981075"/>
            <a:ext cx="8847138" cy="5273675"/>
          </a:xfrm>
        </p:spPr>
        <p:txBody>
          <a:bodyPr vert="horz" wrap="square" lIns="91440" tIns="45720" rIns="91440" bIns="45720" anchor="t" anchorCtr="0"/>
          <a:p>
            <a:pPr marL="357505" indent="-357505" eaLnBrk="1" hangingPunct="1"/>
            <a:r>
              <a:rPr lang="zh-CN" altLang="en-US" dirty="0">
                <a:latin typeface="Arial" panose="020B0604020202020204" pitchFamily="34" charset="0"/>
              </a:rPr>
              <a:t>元组中的每个数据项有特定的数据类型，分别占用不同的存储空间。 </a:t>
            </a:r>
            <a:endParaRPr lang="zh-CN" altLang="en-US" dirty="0">
              <a:latin typeface="Arial" panose="020B0604020202020204" pitchFamily="34" charset="0"/>
            </a:endParaRPr>
          </a:p>
          <a:p>
            <a:pPr marL="898525" lvl="1" indent="-356870" eaLnBrk="1" hangingPunct="1"/>
            <a:r>
              <a:rPr lang="zh-CN" altLang="en-US" sz="3600" dirty="0">
                <a:solidFill>
                  <a:srgbClr val="FF0000"/>
                </a:solidFill>
                <a:latin typeface="Arial" panose="020B0604020202020204" pitchFamily="34" charset="0"/>
              </a:rPr>
              <a:t>整型</a:t>
            </a:r>
            <a:r>
              <a:rPr lang="zh-CN" altLang="en-US" sz="3600" dirty="0">
                <a:latin typeface="Arial" panose="020B0604020202020204" pitchFamily="34" charset="0"/>
              </a:rPr>
              <a:t>：</a:t>
            </a:r>
            <a:r>
              <a:rPr lang="en-US" altLang="zh-CN" sz="3600" dirty="0">
                <a:latin typeface="Arial" panose="020B0604020202020204" pitchFamily="34" charset="0"/>
              </a:rPr>
              <a:t>2</a:t>
            </a:r>
            <a:r>
              <a:rPr lang="zh-CN" altLang="en-US" sz="3600" dirty="0">
                <a:latin typeface="Arial" panose="020B0604020202020204" pitchFamily="34" charset="0"/>
              </a:rPr>
              <a:t>个或者</a:t>
            </a:r>
            <a:r>
              <a:rPr lang="en-US" altLang="zh-CN" sz="3600" dirty="0">
                <a:latin typeface="Arial" panose="020B0604020202020204" pitchFamily="34" charset="0"/>
              </a:rPr>
              <a:t>4</a:t>
            </a:r>
            <a:r>
              <a:rPr lang="zh-CN" altLang="en-US" sz="3600" dirty="0">
                <a:latin typeface="Arial" panose="020B0604020202020204" pitchFamily="34" charset="0"/>
              </a:rPr>
              <a:t>个字节</a:t>
            </a:r>
            <a:endParaRPr lang="zh-CN" altLang="en-US" sz="3600" dirty="0">
              <a:latin typeface="Arial" panose="020B0604020202020204" pitchFamily="34" charset="0"/>
            </a:endParaRPr>
          </a:p>
          <a:p>
            <a:pPr marL="898525" lvl="1" indent="-356870" eaLnBrk="1" hangingPunct="1"/>
            <a:r>
              <a:rPr lang="zh-CN" altLang="en-US" sz="3600" dirty="0">
                <a:solidFill>
                  <a:srgbClr val="FF0000"/>
                </a:solidFill>
                <a:latin typeface="Arial" panose="020B0604020202020204" pitchFamily="34" charset="0"/>
              </a:rPr>
              <a:t>浮点型</a:t>
            </a:r>
            <a:r>
              <a:rPr lang="zh-CN" altLang="en-US" sz="3600" dirty="0">
                <a:latin typeface="Arial" panose="020B0604020202020204" pitchFamily="34" charset="0"/>
              </a:rPr>
              <a:t>：</a:t>
            </a:r>
            <a:r>
              <a:rPr lang="en-US" altLang="zh-CN" sz="3600" dirty="0">
                <a:latin typeface="Arial" panose="020B0604020202020204" pitchFamily="34" charset="0"/>
              </a:rPr>
              <a:t>4</a:t>
            </a:r>
            <a:r>
              <a:rPr lang="zh-CN" altLang="en-US" sz="3600" dirty="0">
                <a:latin typeface="Arial" panose="020B0604020202020204" pitchFamily="34" charset="0"/>
              </a:rPr>
              <a:t>个或者</a:t>
            </a:r>
            <a:r>
              <a:rPr lang="en-US" altLang="zh-CN" sz="3600" dirty="0">
                <a:latin typeface="Arial" panose="020B0604020202020204" pitchFamily="34" charset="0"/>
              </a:rPr>
              <a:t>8</a:t>
            </a:r>
            <a:r>
              <a:rPr lang="zh-CN" altLang="en-US" sz="3600" dirty="0">
                <a:latin typeface="Arial" panose="020B0604020202020204" pitchFamily="34" charset="0"/>
              </a:rPr>
              <a:t>个字节</a:t>
            </a:r>
            <a:endParaRPr lang="zh-CN" altLang="en-US" sz="3600" dirty="0">
              <a:latin typeface="Arial" panose="020B0604020202020204" pitchFamily="34" charset="0"/>
            </a:endParaRPr>
          </a:p>
          <a:p>
            <a:pPr marL="898525" lvl="1" indent="-356870" eaLnBrk="1" hangingPunct="1"/>
            <a:r>
              <a:rPr lang="zh-CN" altLang="en-US" sz="3600" dirty="0">
                <a:solidFill>
                  <a:srgbClr val="FF0000"/>
                </a:solidFill>
                <a:latin typeface="Arial" panose="020B0604020202020204" pitchFamily="34" charset="0"/>
              </a:rPr>
              <a:t>字符串型</a:t>
            </a:r>
            <a:r>
              <a:rPr lang="zh-CN" altLang="en-US" sz="3600" dirty="0">
                <a:latin typeface="Arial" panose="020B0604020202020204" pitchFamily="34" charset="0"/>
              </a:rPr>
              <a:t>：定长或变长 </a:t>
            </a:r>
            <a:r>
              <a:rPr lang="en-US" altLang="zh-CN" sz="3600" dirty="0">
                <a:latin typeface="Arial" panose="020B0604020202020204" pitchFamily="34" charset="0"/>
              </a:rPr>
              <a:t>…</a:t>
            </a:r>
            <a:endParaRPr lang="en-US" altLang="zh-CN" sz="3600" dirty="0">
              <a:latin typeface="Arial" panose="020B0604020202020204" pitchFamily="34" charset="0"/>
            </a:endParaRPr>
          </a:p>
          <a:p>
            <a:pPr marL="898525" lvl="1" indent="-356870" eaLnBrk="1" hangingPunct="1"/>
            <a:r>
              <a:rPr lang="zh-CN" altLang="en-US" sz="3600" dirty="0">
                <a:solidFill>
                  <a:srgbClr val="FF0000"/>
                </a:solidFill>
                <a:latin typeface="Arial" panose="020B0604020202020204" pitchFamily="34" charset="0"/>
              </a:rPr>
              <a:t>日期和时间类型</a:t>
            </a:r>
            <a:r>
              <a:rPr lang="zh-CN" altLang="en-US" sz="3600" dirty="0">
                <a:latin typeface="Arial" panose="020B0604020202020204" pitchFamily="34" charset="0"/>
              </a:rPr>
              <a:t>：通常为定长字符串 </a:t>
            </a:r>
            <a:endParaRPr lang="zh-CN" altLang="en-US" sz="3600" dirty="0">
              <a:latin typeface="Arial" panose="020B0604020202020204" pitchFamily="34" charset="0"/>
            </a:endParaRPr>
          </a:p>
          <a:p>
            <a:pPr marL="898525" lvl="1" indent="-356870" eaLnBrk="1" hangingPunct="1"/>
            <a:r>
              <a:rPr lang="zh-CN" altLang="en-US" sz="3600" dirty="0">
                <a:solidFill>
                  <a:srgbClr val="FF0000"/>
                </a:solidFill>
                <a:latin typeface="Arial" panose="020B0604020202020204" pitchFamily="34" charset="0"/>
              </a:rPr>
              <a:t>二进制位序列类型</a:t>
            </a:r>
            <a:r>
              <a:rPr lang="zh-CN" altLang="en-US" sz="3600" dirty="0">
                <a:latin typeface="Arial" panose="020B0604020202020204" pitchFamily="34" charset="0"/>
              </a:rPr>
              <a:t>：可以按照每</a:t>
            </a:r>
            <a:r>
              <a:rPr lang="en-US" altLang="zh-CN" sz="3600" dirty="0">
                <a:latin typeface="Arial" panose="020B0604020202020204" pitchFamily="34" charset="0"/>
              </a:rPr>
              <a:t>8</a:t>
            </a:r>
            <a:r>
              <a:rPr lang="zh-CN" altLang="en-US" sz="3600" dirty="0">
                <a:latin typeface="Arial" panose="020B0604020202020204" pitchFamily="34" charset="0"/>
              </a:rPr>
              <a:t>个二进制位构成</a:t>
            </a:r>
            <a:r>
              <a:rPr lang="en-US" altLang="zh-CN" sz="3600" dirty="0">
                <a:latin typeface="Arial" panose="020B0604020202020204" pitchFamily="34" charset="0"/>
              </a:rPr>
              <a:t>1</a:t>
            </a:r>
            <a:r>
              <a:rPr lang="zh-CN" altLang="en-US" sz="3600" dirty="0">
                <a:latin typeface="Arial" panose="020B0604020202020204" pitchFamily="34" charset="0"/>
              </a:rPr>
              <a:t>个字节的方式来表示</a:t>
            </a:r>
            <a:endParaRPr lang="zh-CN" altLang="en-US" sz="3600" dirty="0">
              <a:latin typeface="Arial" panose="020B0604020202020204" pitchFamily="34" charset="0"/>
            </a:endParaRPr>
          </a:p>
        </p:txBody>
      </p:sp>
      <p:sp>
        <p:nvSpPr>
          <p:cNvPr id="399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a:t>
            </a: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RDBMS</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中属性值的表示</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idx="1"/>
          </p:nvPr>
        </p:nvSpPr>
        <p:spPr>
          <a:xfrm>
            <a:off x="295275" y="1143000"/>
            <a:ext cx="8740775" cy="5273675"/>
          </a:xfrm>
        </p:spPr>
        <p:txBody>
          <a:bodyPr vert="horz" wrap="square" lIns="91440" tIns="45720" rIns="91440" bIns="45720" anchor="t" anchorCtr="0"/>
          <a:p>
            <a:pPr marL="361950" indent="-361950" eaLnBrk="1" hangingPunct="1"/>
            <a:r>
              <a:rPr lang="zh-CN" altLang="en-US" dirty="0">
                <a:latin typeface="Arial" panose="020B0604020202020204" pitchFamily="34" charset="0"/>
              </a:rPr>
              <a:t>数据项</a:t>
            </a:r>
            <a:r>
              <a:rPr lang="en-US" altLang="zh-CN" dirty="0">
                <a:latin typeface="Arial" panose="020B0604020202020204" pitchFamily="34" charset="0"/>
              </a:rPr>
              <a:t>(</a:t>
            </a:r>
            <a:r>
              <a:rPr lang="zh-CN" altLang="en-US" dirty="0">
                <a:latin typeface="Arial" panose="020B0604020202020204" pitchFamily="34" charset="0"/>
              </a:rPr>
              <a:t>属性</a:t>
            </a:r>
            <a:r>
              <a:rPr lang="en-US" altLang="zh-CN" dirty="0">
                <a:latin typeface="Arial" panose="020B0604020202020204" pitchFamily="34" charset="0"/>
              </a:rPr>
              <a:t>)</a:t>
            </a:r>
            <a:r>
              <a:rPr lang="zh-CN" altLang="en-US" dirty="0">
                <a:latin typeface="Arial" panose="020B0604020202020204" pitchFamily="34" charset="0"/>
              </a:rPr>
              <a:t>组成文件记录，文件记录存储在块中。</a:t>
            </a:r>
            <a:endParaRPr lang="zh-CN" altLang="en-US" dirty="0">
              <a:latin typeface="Arial" panose="020B0604020202020204" pitchFamily="34" charset="0"/>
            </a:endParaRPr>
          </a:p>
          <a:p>
            <a:pPr marL="361950" indent="-361950" eaLnBrk="1" hangingPunct="1">
              <a:spcBef>
                <a:spcPct val="25000"/>
              </a:spcBef>
              <a:buNone/>
            </a:pPr>
            <a:r>
              <a:rPr lang="zh-CN" altLang="en-US" dirty="0">
                <a:latin typeface="Arial" panose="020B0604020202020204" pitchFamily="34" charset="0"/>
              </a:rPr>
              <a:t> </a:t>
            </a:r>
            <a:r>
              <a:rPr lang="en-US" altLang="zh-CN" dirty="0">
                <a:latin typeface="Arial" panose="020B0604020202020204" pitchFamily="34" charset="0"/>
              </a:rPr>
              <a:t>CREATE TABLE Student</a:t>
            </a:r>
            <a:endParaRPr lang="en-US" altLang="zh-CN" dirty="0">
              <a:latin typeface="Arial" panose="020B0604020202020204" pitchFamily="34" charset="0"/>
            </a:endParaRPr>
          </a:p>
          <a:p>
            <a:pPr marL="361950" indent="-361950" eaLnBrk="1" hangingPunct="1">
              <a:buNone/>
            </a:pPr>
            <a:r>
              <a:rPr lang="en-US" altLang="zh-CN" dirty="0">
                <a:latin typeface="Arial" panose="020B0604020202020204" pitchFamily="34" charset="0"/>
              </a:rPr>
              <a:t>   (</a:t>
            </a:r>
            <a:endParaRPr lang="en-US" altLang="zh-CN" dirty="0">
              <a:latin typeface="Arial" panose="020B0604020202020204" pitchFamily="34" charset="0"/>
            </a:endParaRPr>
          </a:p>
          <a:p>
            <a:pPr marL="361950" indent="-361950" eaLnBrk="1" hangingPunct="1">
              <a:buNone/>
            </a:pPr>
            <a:r>
              <a:rPr lang="en-US" altLang="zh-CN" dirty="0">
                <a:latin typeface="Arial" panose="020B0604020202020204" pitchFamily="34" charset="0"/>
              </a:rPr>
              <a:t>	Sno CHAR(10),</a:t>
            </a:r>
            <a:endParaRPr lang="en-US" altLang="zh-CN" dirty="0">
              <a:latin typeface="Arial" panose="020B0604020202020204" pitchFamily="34" charset="0"/>
            </a:endParaRPr>
          </a:p>
          <a:p>
            <a:pPr marL="361950" indent="-361950" eaLnBrk="1" hangingPunct="1">
              <a:buNone/>
            </a:pPr>
            <a:r>
              <a:rPr lang="en-US" altLang="zh-CN" dirty="0">
                <a:latin typeface="Arial" panose="020B0604020202020204" pitchFamily="34" charset="0"/>
              </a:rPr>
              <a:t>	Sname CHAR(50),</a:t>
            </a:r>
            <a:endParaRPr lang="en-US" altLang="zh-CN" dirty="0">
              <a:latin typeface="Arial" panose="020B0604020202020204" pitchFamily="34" charset="0"/>
            </a:endParaRPr>
          </a:p>
          <a:p>
            <a:pPr marL="361950" indent="-361950" eaLnBrk="1" hangingPunct="1">
              <a:buNone/>
            </a:pPr>
            <a:r>
              <a:rPr lang="en-US" altLang="zh-CN" dirty="0">
                <a:latin typeface="Arial" panose="020B0604020202020204" pitchFamily="34" charset="0"/>
              </a:rPr>
              <a:t>	Address CHAR(100),</a:t>
            </a:r>
            <a:endParaRPr lang="en-US" altLang="zh-CN" dirty="0">
              <a:latin typeface="Arial" panose="020B0604020202020204" pitchFamily="34" charset="0"/>
            </a:endParaRPr>
          </a:p>
          <a:p>
            <a:pPr marL="361950" indent="-361950" eaLnBrk="1" hangingPunct="1">
              <a:buNone/>
            </a:pPr>
            <a:r>
              <a:rPr lang="en-US" altLang="zh-CN" dirty="0">
                <a:latin typeface="Arial" panose="020B0604020202020204" pitchFamily="34" charset="0"/>
              </a:rPr>
              <a:t>	Tele CHAR(12)</a:t>
            </a:r>
            <a:endParaRPr lang="en-US" altLang="zh-CN" dirty="0">
              <a:latin typeface="Arial" panose="020B0604020202020204" pitchFamily="34" charset="0"/>
            </a:endParaRPr>
          </a:p>
          <a:p>
            <a:pPr marL="361950" indent="-361950" eaLnBrk="1" hangingPunct="1">
              <a:buNone/>
            </a:pPr>
            <a:r>
              <a:rPr lang="en-US" altLang="zh-CN" dirty="0">
                <a:latin typeface="Arial" panose="020B0604020202020204" pitchFamily="34" charset="0"/>
              </a:rPr>
              <a:t>   );</a:t>
            </a:r>
            <a:endParaRPr lang="en-US" altLang="zh-CN" dirty="0">
              <a:latin typeface="Arial" panose="020B0604020202020204" pitchFamily="34" charset="0"/>
            </a:endParaRPr>
          </a:p>
        </p:txBody>
      </p:sp>
      <p:sp>
        <p:nvSpPr>
          <p:cNvPr id="2662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、记录的内部格式</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6628" name="AutoShape 4"/>
          <p:cNvSpPr/>
          <p:nvPr/>
        </p:nvSpPr>
        <p:spPr>
          <a:xfrm>
            <a:off x="6227763" y="4868863"/>
            <a:ext cx="2447925" cy="1295400"/>
          </a:xfrm>
          <a:prstGeom prst="irregularSeal1">
            <a:avLst/>
          </a:prstGeom>
          <a:solidFill>
            <a:srgbClr val="0066FF"/>
          </a:solidFill>
          <a:ln w="9525" cap="flat" cmpd="sng">
            <a:solidFill>
              <a:schemeClr val="tx1"/>
            </a:solidFill>
            <a:prstDash val="solid"/>
            <a:miter/>
            <a:headEnd type="none" w="med" len="med"/>
            <a:tailEnd type="none" w="med" len="med"/>
          </a:ln>
        </p:spPr>
        <p:txBody>
          <a:bodyPr wrap="none" anchor="ctr" anchorCtr="0"/>
          <a:p>
            <a:pPr algn="ctr">
              <a:spcBef>
                <a:spcPct val="0"/>
              </a:spcBef>
            </a:pPr>
            <a:r>
              <a:rPr lang="zh-CN" altLang="en-US" sz="3600" dirty="0">
                <a:solidFill>
                  <a:srgbClr val="FF0000"/>
                </a:solidFill>
                <a:latin typeface="Arial" panose="020B0604020202020204" pitchFamily="34" charset="0"/>
              </a:rPr>
              <a:t>定长</a:t>
            </a:r>
            <a:endParaRPr lang="zh-CN" altLang="en-US" sz="3600" dirty="0">
              <a:solidFill>
                <a:srgbClr val="FF00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6">
                                            <p:txEl>
                                              <p:charRg st="25" end="4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6">
                                            <p:txEl>
                                              <p:charRg st="47" end="5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26">
                                            <p:txEl>
                                              <p:charRg st="52" end="67"/>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26">
                                            <p:txEl>
                                              <p:charRg st="67" end="8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26">
                                            <p:txEl>
                                              <p:charRg st="84" end="10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626">
                                            <p:txEl>
                                              <p:charRg st="104" end="119"/>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626">
                                            <p:txEl>
                                              <p:charRg st="119" end="12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26628"/>
                                        </p:tgtEl>
                                        <p:attrNameLst>
                                          <p:attrName>style.visibility</p:attrName>
                                        </p:attrNameLst>
                                      </p:cBhvr>
                                      <p:to>
                                        <p:strVal val="visible"/>
                                      </p:to>
                                    </p:set>
                                    <p:animEffect transition="in" filter="diamond(in)">
                                      <p:cBhvr>
                                        <p:cTn id="23" dur="500"/>
                                        <p:tgtEl>
                                          <p:spTgt spid="26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uild="p"/>
      <p:bldP spid="2662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7" name="Rectangle 3"/>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定长记录存储示意图</a:t>
            </a: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endPar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5363" name="Rectangle 2"/>
          <p:cNvSpPr>
            <a:spLocks noGrp="1"/>
          </p:cNvSpPr>
          <p:nvPr>
            <p:ph type="body" sz="half" idx="1"/>
          </p:nvPr>
        </p:nvSpPr>
        <p:spPr>
          <a:xfrm>
            <a:off x="152400" y="1016000"/>
            <a:ext cx="8596313" cy="5473700"/>
          </a:xfrm>
        </p:spPr>
        <p:txBody>
          <a:bodyPr vert="horz" wrap="square" lIns="91440" tIns="45720" rIns="91440" bIns="45720" anchor="t" anchorCtr="0"/>
          <a:p>
            <a:pPr marL="441325" indent="-441325" eaLnBrk="1" hangingPunct="1">
              <a:buClr>
                <a:srgbClr val="FF0000"/>
              </a:buClr>
              <a:buSzPct val="65000"/>
              <a:buFont typeface="Wingdings" panose="05000000000000000000" pitchFamily="2" charset="2"/>
            </a:pPr>
            <a:r>
              <a:rPr lang="zh-CN" altLang="en-US" dirty="0">
                <a:latin typeface="Arial" panose="020B0604020202020204" pitchFamily="34" charset="0"/>
              </a:rPr>
              <a:t>上述 </a:t>
            </a:r>
            <a:r>
              <a:rPr lang="en-US" altLang="zh-CN" dirty="0">
                <a:latin typeface="Arial" panose="020B0604020202020204" pitchFamily="34" charset="0"/>
              </a:rPr>
              <a:t>CREATE </a:t>
            </a:r>
            <a:r>
              <a:rPr lang="zh-CN" altLang="en-US" dirty="0">
                <a:latin typeface="Arial" panose="020B0604020202020204" pitchFamily="34" charset="0"/>
              </a:rPr>
              <a:t>命令将建立一个名称为</a:t>
            </a:r>
            <a:r>
              <a:rPr lang="en-US" altLang="zh-CN" dirty="0">
                <a:latin typeface="Arial" panose="020B0604020202020204" pitchFamily="34" charset="0"/>
              </a:rPr>
              <a:t>Student </a:t>
            </a:r>
            <a:r>
              <a:rPr lang="zh-CN" altLang="en-US" dirty="0">
                <a:latin typeface="Arial" panose="020B0604020202020204" pitchFamily="34" charset="0"/>
              </a:rPr>
              <a:t>的关系模式，每条记录占 </a:t>
            </a:r>
            <a:r>
              <a:rPr lang="en-US" altLang="zh-CN" dirty="0">
                <a:latin typeface="Arial" panose="020B0604020202020204" pitchFamily="34" charset="0"/>
              </a:rPr>
              <a:t>172</a:t>
            </a:r>
            <a:r>
              <a:rPr lang="zh-CN" altLang="en-US" dirty="0">
                <a:latin typeface="Arial" panose="020B0604020202020204" pitchFamily="34" charset="0"/>
              </a:rPr>
              <a:t>字节。</a:t>
            </a:r>
            <a:endParaRPr lang="zh-CN" altLang="en-US" dirty="0">
              <a:latin typeface="Arial" panose="020B0604020202020204" pitchFamily="34" charset="0"/>
            </a:endParaRPr>
          </a:p>
          <a:p>
            <a:pPr marL="441325" indent="-441325" eaLnBrk="1" hangingPunct="1">
              <a:buClr>
                <a:srgbClr val="FF0000"/>
              </a:buClr>
              <a:buSzPct val="65000"/>
              <a:buFont typeface="Wingdings" panose="05000000000000000000" pitchFamily="2" charset="2"/>
            </a:pPr>
            <a:r>
              <a:rPr lang="zh-CN" altLang="en-US" dirty="0">
                <a:latin typeface="Arial" panose="020B0604020202020204" pitchFamily="34" charset="0"/>
              </a:rPr>
              <a:t>最简单的存储方式如图所示。</a:t>
            </a:r>
            <a:endParaRPr lang="zh-CN" altLang="en-US" dirty="0">
              <a:latin typeface="Arial" panose="020B0604020202020204" pitchFamily="34" charset="0"/>
            </a:endParaRPr>
          </a:p>
        </p:txBody>
      </p:sp>
      <p:graphicFrame>
        <p:nvGraphicFramePr>
          <p:cNvPr id="15364" name="内容占位符 15363"/>
          <p:cNvGraphicFramePr/>
          <p:nvPr>
            <p:ph sz="half" idx="2"/>
          </p:nvPr>
        </p:nvGraphicFramePr>
        <p:xfrm>
          <a:off x="250825" y="4022725"/>
          <a:ext cx="8713788" cy="1493838"/>
        </p:xfrm>
        <a:graphic>
          <a:graphicData uri="http://schemas.openxmlformats.org/drawingml/2006/table">
            <a:tbl>
              <a:tblPr/>
              <a:tblGrid>
                <a:gridCol w="576263"/>
                <a:gridCol w="1584325"/>
                <a:gridCol w="2455862"/>
                <a:gridCol w="2225675"/>
                <a:gridCol w="1223963"/>
                <a:gridCol w="647700"/>
              </a:tblGrid>
              <a:tr h="647700">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SNo</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SName</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Address</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Tele</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846138">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solidFill>
                          <a:srgbClr val="0000CC"/>
                        </a:solidFill>
                        <a:latin typeface="Arial" panose="020B0604020202020204" pitchFamily="34" charset="0"/>
                      </a:endParaRPr>
                    </a:p>
                  </a:txBody>
                  <a:tcPr marL="0" marR="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0</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10</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60</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160</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172</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44034"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定长记录存储示意图</a:t>
            </a: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endPar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6387" name="Rectangle 3"/>
          <p:cNvSpPr>
            <a:spLocks noGrp="1"/>
          </p:cNvSpPr>
          <p:nvPr>
            <p:ph type="body" sz="half" idx="1"/>
          </p:nvPr>
        </p:nvSpPr>
        <p:spPr>
          <a:xfrm>
            <a:off x="152400" y="1016000"/>
            <a:ext cx="8596313" cy="5473700"/>
          </a:xfrm>
        </p:spPr>
        <p:txBody>
          <a:bodyPr vert="horz" wrap="square" lIns="91440" tIns="45720" rIns="91440" bIns="45720" anchor="t" anchorCtr="0"/>
          <a:p>
            <a:pPr marL="441325" indent="-441325" eaLnBrk="1" hangingPunct="1">
              <a:buClr>
                <a:srgbClr val="FF0000"/>
              </a:buClr>
              <a:buSzPct val="65000"/>
              <a:buFont typeface="Wingdings" panose="05000000000000000000" pitchFamily="2" charset="2"/>
            </a:pPr>
            <a:r>
              <a:rPr lang="zh-CN" altLang="en-US" dirty="0">
                <a:latin typeface="Arial" panose="020B0604020202020204" pitchFamily="34" charset="0"/>
              </a:rPr>
              <a:t>为了提高访问效率，在偏移量的具体安排上，还需要考虑计算机硬件对主存数据地址的要求。</a:t>
            </a:r>
            <a:endParaRPr lang="zh-CN" altLang="en-US" dirty="0">
              <a:latin typeface="Arial" panose="020B0604020202020204" pitchFamily="34" charset="0"/>
            </a:endParaRPr>
          </a:p>
          <a:p>
            <a:pPr marL="441325" indent="-441325" eaLnBrk="1" hangingPunct="1">
              <a:spcBef>
                <a:spcPct val="30000"/>
              </a:spcBef>
              <a:buClr>
                <a:srgbClr val="FF0000"/>
              </a:buClr>
              <a:buSzPct val="65000"/>
              <a:buFont typeface="Wingdings" panose="05000000000000000000" pitchFamily="2" charset="2"/>
            </a:pPr>
            <a:r>
              <a:rPr lang="zh-CN" altLang="en-US" dirty="0">
                <a:latin typeface="Arial" panose="020B0604020202020204" pitchFamily="34" charset="0"/>
              </a:rPr>
              <a:t>对于 </a:t>
            </a:r>
            <a:r>
              <a:rPr lang="en-US" altLang="zh-CN" dirty="0">
                <a:latin typeface="Arial" panose="020B0604020202020204" pitchFamily="34" charset="0"/>
              </a:rPr>
              <a:t>32 </a:t>
            </a:r>
            <a:r>
              <a:rPr lang="zh-CN" altLang="en-US" dirty="0">
                <a:latin typeface="Arial" panose="020B0604020202020204" pitchFamily="34" charset="0"/>
              </a:rPr>
              <a:t>位处理器架构的系统而言，属性偏移量安排的方式可能如图所示。</a:t>
            </a:r>
            <a:endParaRPr lang="zh-CN" altLang="en-US" dirty="0">
              <a:latin typeface="Arial" panose="020B0604020202020204" pitchFamily="34" charset="0"/>
            </a:endParaRPr>
          </a:p>
        </p:txBody>
      </p:sp>
      <p:graphicFrame>
        <p:nvGraphicFramePr>
          <p:cNvPr id="16388" name="内容占位符 16387"/>
          <p:cNvGraphicFramePr/>
          <p:nvPr>
            <p:ph sz="half" idx="2"/>
          </p:nvPr>
        </p:nvGraphicFramePr>
        <p:xfrm>
          <a:off x="250825" y="4383088"/>
          <a:ext cx="8713788" cy="1493838"/>
        </p:xfrm>
        <a:graphic>
          <a:graphicData uri="http://schemas.openxmlformats.org/drawingml/2006/table">
            <a:tbl>
              <a:tblPr/>
              <a:tblGrid>
                <a:gridCol w="576263"/>
                <a:gridCol w="1584325"/>
                <a:gridCol w="2455862"/>
                <a:gridCol w="2225675"/>
                <a:gridCol w="1223963"/>
                <a:gridCol w="647700"/>
              </a:tblGrid>
              <a:tr h="647700">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SNo</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SName</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Address</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Tele</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846138">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solidFill>
                          <a:srgbClr val="0000CC"/>
                        </a:solidFill>
                        <a:latin typeface="Arial" panose="020B0604020202020204" pitchFamily="34" charset="0"/>
                      </a:endParaRPr>
                    </a:p>
                  </a:txBody>
                  <a:tcPr marL="0" marR="0" marT="46800" marB="4680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0</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12</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64</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164</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eaLnBrk="1" hangingPunct="1">
                        <a:spcBef>
                          <a:spcPct val="0"/>
                        </a:spcBef>
                        <a:buClr>
                          <a:srgbClr val="FF0000"/>
                        </a:buClr>
                        <a:buSzPct val="65000"/>
                        <a:buFont typeface="Wingdings" panose="05000000000000000000" pitchFamily="2" charset="2"/>
                        <a:buNone/>
                      </a:pPr>
                      <a:r>
                        <a:rPr lang="en-US" altLang="zh-CN" dirty="0">
                          <a:solidFill>
                            <a:srgbClr val="0000CC"/>
                          </a:solidFill>
                          <a:latin typeface="Arial" panose="020B0604020202020204" pitchFamily="34" charset="0"/>
                        </a:rPr>
                        <a:t>176</a:t>
                      </a:r>
                      <a:endParaRPr lang="en-US" altLang="zh-CN" dirty="0">
                        <a:solidFill>
                          <a:srgbClr val="0000CC"/>
                        </a:solidFill>
                        <a:latin typeface="Arial" panose="020B0604020202020204" pitchFamily="34" charset="0"/>
                      </a:endParaRPr>
                    </a:p>
                  </a:txBody>
                  <a:tcPr marL="0" marR="0" marT="46800" marB="4680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38100" cap="flat" cmpd="sng">
                      <a:solidFill>
                        <a:srgbClr val="000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random/>
    <p:sndAc>
      <p:stSnd>
        <p:snd r:embed="rId1" name="CAMERA.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7" name="Rectangle 3"/>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变长记录存储示意图</a:t>
            </a: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endPar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47106" name="Rectangle 2"/>
          <p:cNvSpPr>
            <a:spLocks noGrp="1"/>
          </p:cNvSpPr>
          <p:nvPr>
            <p:ph type="body" sz="half" idx="1"/>
          </p:nvPr>
        </p:nvSpPr>
        <p:spPr>
          <a:xfrm>
            <a:off x="152400" y="1052513"/>
            <a:ext cx="8812213" cy="5221287"/>
          </a:xfrm>
        </p:spPr>
        <p:txBody>
          <a:bodyPr vert="horz" wrap="square" lIns="91440" tIns="45720" rIns="91440" bIns="45720" anchor="t" anchorCtr="0"/>
          <a:p>
            <a:pPr marL="441325" indent="-441325" eaLnBrk="1" hangingPunct="1">
              <a:buClr>
                <a:srgbClr val="FF0000"/>
              </a:buClr>
              <a:buSzPct val="65000"/>
              <a:buFont typeface="Wingdings" panose="05000000000000000000" pitchFamily="2" charset="2"/>
            </a:pPr>
            <a:r>
              <a:rPr lang="zh-CN" altLang="en-US" dirty="0"/>
              <a:t>对于</a:t>
            </a:r>
            <a:r>
              <a:rPr lang="zh-CN" altLang="en-US" dirty="0">
                <a:solidFill>
                  <a:srgbClr val="0000CC"/>
                </a:solidFill>
              </a:rPr>
              <a:t>字段长度可变</a:t>
            </a:r>
            <a:r>
              <a:rPr lang="zh-CN" altLang="en-US" dirty="0"/>
              <a:t>的记录</a:t>
            </a:r>
            <a:endParaRPr lang="zh-CN" altLang="en-US" dirty="0"/>
          </a:p>
          <a:p>
            <a:pPr lvl="1" eaLnBrk="1" hangingPunct="1">
              <a:buClr>
                <a:srgbClr val="3333CC"/>
              </a:buClr>
              <a:buSzPct val="65000"/>
              <a:buFont typeface="Wingdings" panose="05000000000000000000" pitchFamily="2" charset="2"/>
            </a:pPr>
            <a:r>
              <a:rPr lang="zh-CN" altLang="en-US" sz="3600" dirty="0"/>
              <a:t>用特殊的分隔符将记录中的各字段隔开</a:t>
            </a:r>
            <a:endParaRPr lang="zh-CN" altLang="en-US" sz="3600" dirty="0"/>
          </a:p>
          <a:p>
            <a:pPr lvl="1" eaLnBrk="1" hangingPunct="1">
              <a:buClr>
                <a:srgbClr val="3333CC"/>
              </a:buClr>
              <a:buSzPct val="65000"/>
              <a:buFont typeface="Wingdings" panose="05000000000000000000" pitchFamily="2" charset="2"/>
            </a:pPr>
            <a:endParaRPr lang="zh-CN" altLang="en-US" sz="3600" dirty="0"/>
          </a:p>
          <a:p>
            <a:pPr lvl="1" eaLnBrk="1" hangingPunct="1">
              <a:spcBef>
                <a:spcPct val="95000"/>
              </a:spcBef>
              <a:buClr>
                <a:srgbClr val="3333CC"/>
              </a:buClr>
              <a:buSzPct val="65000"/>
              <a:buFont typeface="Wingdings" panose="05000000000000000000" pitchFamily="2" charset="2"/>
            </a:pPr>
            <a:r>
              <a:rPr lang="zh-CN" altLang="en-US" sz="3600" dirty="0"/>
              <a:t>在记录首部存储各个字段的偏移量</a:t>
            </a:r>
            <a:endParaRPr lang="zh-CN" altLang="en-US" sz="3600" dirty="0"/>
          </a:p>
          <a:p>
            <a:pPr lvl="1" eaLnBrk="1" hangingPunct="1">
              <a:buClr>
                <a:srgbClr val="3333CC"/>
              </a:buClr>
              <a:buSzPct val="65000"/>
              <a:buFont typeface="Wingdings" panose="05000000000000000000" pitchFamily="2" charset="2"/>
            </a:pPr>
            <a:endParaRPr lang="en-US" altLang="zh-CN" sz="3600" dirty="0"/>
          </a:p>
        </p:txBody>
      </p:sp>
      <p:graphicFrame>
        <p:nvGraphicFramePr>
          <p:cNvPr id="17412" name="内容占位符 17411"/>
          <p:cNvGraphicFramePr/>
          <p:nvPr>
            <p:ph sz="half" idx="2"/>
          </p:nvPr>
        </p:nvGraphicFramePr>
        <p:xfrm>
          <a:off x="539750" y="2636838"/>
          <a:ext cx="8204200" cy="647700"/>
        </p:xfrm>
        <a:graphic>
          <a:graphicData uri="http://schemas.openxmlformats.org/drawingml/2006/table">
            <a:tbl>
              <a:tblPr/>
              <a:tblGrid>
                <a:gridCol w="1511300"/>
                <a:gridCol w="539750"/>
                <a:gridCol w="1547813"/>
                <a:gridCol w="503237"/>
                <a:gridCol w="1585913"/>
                <a:gridCol w="503237"/>
                <a:gridCol w="1512888"/>
                <a:gridCol w="500062"/>
              </a:tblGrid>
              <a:tr h="647700">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zh-CN" altLang="en-US" sz="3200" dirty="0">
                          <a:latin typeface="Arial" panose="020B0604020202020204" pitchFamily="34" charset="0"/>
                        </a:rPr>
                        <a:t>字段</a:t>
                      </a:r>
                      <a:r>
                        <a:rPr lang="en-US" altLang="zh-CN" sz="3200" dirty="0">
                          <a:latin typeface="Arial" panose="020B0604020202020204" pitchFamily="34" charset="0"/>
                        </a:rPr>
                        <a:t>1</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zh-CN" altLang="en-US" sz="3200" dirty="0">
                          <a:latin typeface="Arial" panose="020B0604020202020204" pitchFamily="34" charset="0"/>
                        </a:rPr>
                        <a:t>字段</a:t>
                      </a:r>
                      <a:r>
                        <a:rPr lang="en-US" altLang="zh-CN" sz="3200" dirty="0">
                          <a:latin typeface="Arial" panose="020B0604020202020204" pitchFamily="34" charset="0"/>
                        </a:rPr>
                        <a:t>2</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zh-CN" altLang="en-US" sz="3200" dirty="0">
                          <a:latin typeface="Arial" panose="020B0604020202020204" pitchFamily="34" charset="0"/>
                        </a:rPr>
                        <a:t>字段</a:t>
                      </a:r>
                      <a:r>
                        <a:rPr lang="en-US" altLang="zh-CN" sz="3200" dirty="0">
                          <a:latin typeface="Arial" panose="020B0604020202020204" pitchFamily="34" charset="0"/>
                        </a:rPr>
                        <a:t>n</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a:t>
                      </a:r>
                      <a:endParaRPr lang="en-US" altLang="zh-CN" sz="3200" dirty="0">
                        <a:latin typeface="Arial" panose="020B0604020202020204" pitchFamily="34" charset="0"/>
                      </a:endParaRPr>
                    </a:p>
                  </a:txBody>
                  <a:tcPr marL="0" marR="0" marT="46800" marB="46800">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7432" name="AutoShape 129"/>
          <p:cNvSpPr/>
          <p:nvPr/>
        </p:nvSpPr>
        <p:spPr>
          <a:xfrm>
            <a:off x="6372225" y="188913"/>
            <a:ext cx="2232025" cy="1295400"/>
          </a:xfrm>
          <a:prstGeom prst="irregularSeal1">
            <a:avLst/>
          </a:prstGeom>
          <a:solidFill>
            <a:srgbClr val="0066FF"/>
          </a:solidFill>
          <a:ln w="9525" cap="flat" cmpd="sng">
            <a:solidFill>
              <a:schemeClr val="tx1"/>
            </a:solidFill>
            <a:prstDash val="solid"/>
            <a:miter/>
            <a:headEnd type="none" w="med" len="med"/>
            <a:tailEnd type="none" w="med" len="med"/>
          </a:ln>
        </p:spPr>
        <p:txBody>
          <a:bodyPr wrap="none" anchor="ctr" anchorCtr="0"/>
          <a:p>
            <a:pPr algn="ctr">
              <a:spcBef>
                <a:spcPct val="0"/>
              </a:spcBef>
            </a:pPr>
            <a:r>
              <a:rPr lang="zh-CN" altLang="en-US" sz="3600" dirty="0">
                <a:solidFill>
                  <a:srgbClr val="FF0000"/>
                </a:solidFill>
                <a:latin typeface="Arial" panose="020B0604020202020204" pitchFamily="34" charset="0"/>
              </a:rPr>
              <a:t>变长</a:t>
            </a:r>
            <a:endParaRPr lang="zh-CN" altLang="en-US" sz="3600" dirty="0">
              <a:solidFill>
                <a:srgbClr val="FF0000"/>
              </a:solidFill>
              <a:latin typeface="Arial" panose="020B0604020202020204" pitchFamily="34" charset="0"/>
            </a:endParaRPr>
          </a:p>
        </p:txBody>
      </p:sp>
      <p:graphicFrame>
        <p:nvGraphicFramePr>
          <p:cNvPr id="47234" name="Group 130"/>
          <p:cNvGraphicFramePr>
            <a:graphicFrameLocks noGrp="1"/>
          </p:cNvGraphicFramePr>
          <p:nvPr/>
        </p:nvGraphicFramePr>
        <p:xfrm>
          <a:off x="550863" y="5445125"/>
          <a:ext cx="8197850" cy="647700"/>
        </p:xfrm>
        <a:graphic>
          <a:graphicData uri="http://schemas.openxmlformats.org/drawingml/2006/table">
            <a:tbl>
              <a:tblPr/>
              <a:tblGrid>
                <a:gridCol w="503237"/>
                <a:gridCol w="503238"/>
                <a:gridCol w="503237"/>
                <a:gridCol w="503238"/>
                <a:gridCol w="1546225"/>
                <a:gridCol w="1546225"/>
                <a:gridCol w="1546225"/>
                <a:gridCol w="1546225"/>
              </a:tblGrid>
              <a:tr h="64770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字段</a:t>
                      </a: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字段</a:t>
                      </a: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2</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字段</a:t>
                      </a: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3</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字段</a:t>
                      </a:r>
                      <a:r>
                        <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4</a:t>
                      </a:r>
                      <a:endParaRPr kumimoji="0" lang="en-US" altLang="zh-CN" sz="32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pSp>
        <p:nvGrpSpPr>
          <p:cNvPr id="2" name="Group 154"/>
          <p:cNvGrpSpPr/>
          <p:nvPr/>
        </p:nvGrpSpPr>
        <p:grpSpPr>
          <a:xfrm>
            <a:off x="766763" y="4365625"/>
            <a:ext cx="6408737" cy="1006475"/>
            <a:chOff x="431" y="2750"/>
            <a:chExt cx="4037" cy="634"/>
          </a:xfrm>
        </p:grpSpPr>
        <p:sp>
          <p:nvSpPr>
            <p:cNvPr id="17454" name="Freeform 150"/>
            <p:cNvSpPr/>
            <p:nvPr/>
          </p:nvSpPr>
          <p:spPr>
            <a:xfrm>
              <a:off x="431" y="3158"/>
              <a:ext cx="1134" cy="226"/>
            </a:xfrm>
            <a:custGeom>
              <a:avLst/>
              <a:gdLst>
                <a:gd name="txL" fmla="*/ 0 w 1270"/>
                <a:gd name="txT" fmla="*/ 0 h 272"/>
                <a:gd name="txR" fmla="*/ 1270 w 1270"/>
                <a:gd name="txB" fmla="*/ 272 h 272"/>
              </a:gdLst>
              <a:ahLst/>
              <a:cxnLst>
                <a:cxn ang="0">
                  <a:pos x="0" y="156"/>
                </a:cxn>
                <a:cxn ang="0">
                  <a:pos x="0" y="0"/>
                </a:cxn>
                <a:cxn ang="0">
                  <a:pos x="905" y="0"/>
                </a:cxn>
                <a:cxn ang="0">
                  <a:pos x="905" y="156"/>
                </a:cxn>
              </a:cxnLst>
              <a:rect l="txL" t="txT" r="txR" b="txB"/>
              <a:pathLst>
                <a:path w="1270" h="272">
                  <a:moveTo>
                    <a:pt x="0" y="272"/>
                  </a:moveTo>
                  <a:lnTo>
                    <a:pt x="0" y="0"/>
                  </a:lnTo>
                  <a:lnTo>
                    <a:pt x="1270" y="0"/>
                  </a:lnTo>
                  <a:lnTo>
                    <a:pt x="1270" y="272"/>
                  </a:lnTo>
                </a:path>
              </a:pathLst>
            </a:custGeom>
            <a:noFill/>
            <a:ln w="38100" cap="flat" cmpd="sng">
              <a:solidFill>
                <a:srgbClr val="0000CC"/>
              </a:solidFill>
              <a:prstDash val="solid"/>
              <a:round/>
              <a:headEnd type="none" w="med" len="med"/>
              <a:tailEnd type="arrow" w="med" len="med"/>
            </a:ln>
          </p:spPr>
          <p:txBody>
            <a:bodyPr/>
            <a:p>
              <a:endParaRPr lang="zh-CN" altLang="en-US" dirty="0">
                <a:latin typeface="Arial" panose="020B0604020202020204" pitchFamily="34" charset="0"/>
              </a:endParaRPr>
            </a:p>
          </p:txBody>
        </p:sp>
        <p:sp>
          <p:nvSpPr>
            <p:cNvPr id="17455" name="Freeform 151"/>
            <p:cNvSpPr/>
            <p:nvPr/>
          </p:nvSpPr>
          <p:spPr>
            <a:xfrm>
              <a:off x="793" y="3022"/>
              <a:ext cx="1724" cy="362"/>
            </a:xfrm>
            <a:custGeom>
              <a:avLst/>
              <a:gdLst>
                <a:gd name="txL" fmla="*/ 0 w 1270"/>
                <a:gd name="txT" fmla="*/ 0 h 272"/>
                <a:gd name="txR" fmla="*/ 1270 w 1270"/>
                <a:gd name="txB" fmla="*/ 272 h 272"/>
              </a:gdLst>
              <a:ahLst/>
              <a:cxnLst>
                <a:cxn ang="0">
                  <a:pos x="0" y="641"/>
                </a:cxn>
                <a:cxn ang="0">
                  <a:pos x="0" y="0"/>
                </a:cxn>
                <a:cxn ang="0">
                  <a:pos x="3177" y="0"/>
                </a:cxn>
                <a:cxn ang="0">
                  <a:pos x="3177" y="641"/>
                </a:cxn>
              </a:cxnLst>
              <a:rect l="txL" t="txT" r="txR" b="txB"/>
              <a:pathLst>
                <a:path w="1270" h="272">
                  <a:moveTo>
                    <a:pt x="0" y="272"/>
                  </a:moveTo>
                  <a:lnTo>
                    <a:pt x="0" y="0"/>
                  </a:lnTo>
                  <a:lnTo>
                    <a:pt x="1270" y="0"/>
                  </a:lnTo>
                  <a:lnTo>
                    <a:pt x="1270" y="272"/>
                  </a:lnTo>
                </a:path>
              </a:pathLst>
            </a:custGeom>
            <a:noFill/>
            <a:ln w="38100" cap="flat" cmpd="sng">
              <a:solidFill>
                <a:srgbClr val="0000CC"/>
              </a:solidFill>
              <a:prstDash val="solid"/>
              <a:round/>
              <a:headEnd type="none" w="med" len="med"/>
              <a:tailEnd type="arrow" w="med" len="med"/>
            </a:ln>
          </p:spPr>
          <p:txBody>
            <a:bodyPr/>
            <a:p>
              <a:endParaRPr lang="zh-CN" altLang="en-US" dirty="0">
                <a:latin typeface="Arial" panose="020B0604020202020204" pitchFamily="34" charset="0"/>
              </a:endParaRPr>
            </a:p>
          </p:txBody>
        </p:sp>
        <p:sp>
          <p:nvSpPr>
            <p:cNvPr id="17456" name="Freeform 152"/>
            <p:cNvSpPr/>
            <p:nvPr/>
          </p:nvSpPr>
          <p:spPr>
            <a:xfrm>
              <a:off x="1111" y="2886"/>
              <a:ext cx="2404" cy="498"/>
            </a:xfrm>
            <a:custGeom>
              <a:avLst/>
              <a:gdLst>
                <a:gd name="txL" fmla="*/ 0 w 1270"/>
                <a:gd name="txT" fmla="*/ 0 h 272"/>
                <a:gd name="txR" fmla="*/ 1270 w 1270"/>
                <a:gd name="txB" fmla="*/ 272 h 272"/>
              </a:gdLst>
              <a:ahLst/>
              <a:cxnLst>
                <a:cxn ang="0">
                  <a:pos x="0" y="1670"/>
                </a:cxn>
                <a:cxn ang="0">
                  <a:pos x="0" y="0"/>
                </a:cxn>
                <a:cxn ang="0">
                  <a:pos x="8615" y="0"/>
                </a:cxn>
                <a:cxn ang="0">
                  <a:pos x="8615" y="1670"/>
                </a:cxn>
              </a:cxnLst>
              <a:rect l="txL" t="txT" r="txR" b="txB"/>
              <a:pathLst>
                <a:path w="1270" h="272">
                  <a:moveTo>
                    <a:pt x="0" y="272"/>
                  </a:moveTo>
                  <a:lnTo>
                    <a:pt x="0" y="0"/>
                  </a:lnTo>
                  <a:lnTo>
                    <a:pt x="1270" y="0"/>
                  </a:lnTo>
                  <a:lnTo>
                    <a:pt x="1270" y="272"/>
                  </a:lnTo>
                </a:path>
              </a:pathLst>
            </a:custGeom>
            <a:noFill/>
            <a:ln w="38100" cap="flat" cmpd="sng">
              <a:solidFill>
                <a:srgbClr val="0000CC"/>
              </a:solidFill>
              <a:prstDash val="solid"/>
              <a:round/>
              <a:headEnd type="none" w="med" len="med"/>
              <a:tailEnd type="arrow" w="med" len="med"/>
            </a:ln>
          </p:spPr>
          <p:txBody>
            <a:bodyPr/>
            <a:p>
              <a:endParaRPr lang="zh-CN" altLang="en-US" dirty="0">
                <a:latin typeface="Arial" panose="020B0604020202020204" pitchFamily="34" charset="0"/>
              </a:endParaRPr>
            </a:p>
          </p:txBody>
        </p:sp>
        <p:sp>
          <p:nvSpPr>
            <p:cNvPr id="17457" name="Freeform 153"/>
            <p:cNvSpPr/>
            <p:nvPr/>
          </p:nvSpPr>
          <p:spPr>
            <a:xfrm>
              <a:off x="1383" y="2750"/>
              <a:ext cx="3085" cy="634"/>
            </a:xfrm>
            <a:custGeom>
              <a:avLst/>
              <a:gdLst>
                <a:gd name="txL" fmla="*/ 0 w 1270"/>
                <a:gd name="txT" fmla="*/ 0 h 272"/>
                <a:gd name="txR" fmla="*/ 1270 w 1270"/>
                <a:gd name="txB" fmla="*/ 272 h 272"/>
              </a:gdLst>
              <a:ahLst/>
              <a:cxnLst>
                <a:cxn ang="0">
                  <a:pos x="0" y="3445"/>
                </a:cxn>
                <a:cxn ang="0">
                  <a:pos x="0" y="0"/>
                </a:cxn>
                <a:cxn ang="0">
                  <a:pos x="18204" y="0"/>
                </a:cxn>
                <a:cxn ang="0">
                  <a:pos x="18204" y="3445"/>
                </a:cxn>
              </a:cxnLst>
              <a:rect l="txL" t="txT" r="txR" b="txB"/>
              <a:pathLst>
                <a:path w="1270" h="272">
                  <a:moveTo>
                    <a:pt x="0" y="272"/>
                  </a:moveTo>
                  <a:lnTo>
                    <a:pt x="0" y="0"/>
                  </a:lnTo>
                  <a:lnTo>
                    <a:pt x="1270" y="0"/>
                  </a:lnTo>
                  <a:lnTo>
                    <a:pt x="1270" y="272"/>
                  </a:lnTo>
                </a:path>
              </a:pathLst>
            </a:custGeom>
            <a:noFill/>
            <a:ln w="38100" cap="flat" cmpd="sng">
              <a:solidFill>
                <a:srgbClr val="0000CC"/>
              </a:solidFill>
              <a:prstDash val="solid"/>
              <a:round/>
              <a:headEnd type="none" w="med" len="med"/>
              <a:tailEnd type="arrow" w="med" len="med"/>
            </a:ln>
          </p:spPr>
          <p:txBody>
            <a:bodyPr/>
            <a:p>
              <a:endParaRPr lang="zh-CN" altLang="en-US" dirty="0">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6">
                                            <p:txEl>
                                              <p:charRg st="12" end="30"/>
                                            </p:txEl>
                                          </p:spTgt>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17412"/>
                                        </p:tgtEl>
                                        <p:attrNameLst>
                                          <p:attrName>style.visibility</p:attrName>
                                        </p:attrNameLst>
                                      </p:cBhvr>
                                      <p:to>
                                        <p:strVal val="visible"/>
                                      </p:to>
                                    </p:set>
                                    <p:animEffect transition="in" filter="wipe(down)">
                                      <p:cBhvr>
                                        <p:cTn id="9" dur="500"/>
                                        <p:tgtEl>
                                          <p:spTgt spid="17412"/>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7106">
                                            <p:txEl>
                                              <p:charRg st="31" end="47"/>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7234"/>
                                        </p:tgtEl>
                                        <p:attrNameLst>
                                          <p:attrName>style.visibility</p:attrName>
                                        </p:attrNameLst>
                                      </p:cBhvr>
                                      <p:to>
                                        <p:strVal val="visible"/>
                                      </p:to>
                                    </p:set>
                                    <p:animEffect transition="in" filter="wipe(down)">
                                      <p:cBhvr>
                                        <p:cTn id="18" dur="500"/>
                                        <p:tgtEl>
                                          <p:spTgt spid="47234"/>
                                        </p:tgtEl>
                                      </p:cBhvr>
                                    </p:animEffect>
                                  </p:childTnLst>
                                </p:cTn>
                              </p:par>
                              <p:par>
                                <p:cTn id="19" presetID="22" presetClass="entr" presetSubtype="4" fill="hold" nodeType="with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down)">
                                      <p:cBhvr>
                                        <p:cTn id="2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变长记录存储示意图</a:t>
            </a: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endPar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8435" name="Rectangle 3"/>
          <p:cNvSpPr>
            <a:spLocks noGrp="1"/>
          </p:cNvSpPr>
          <p:nvPr>
            <p:ph type="body" sz="half" idx="1"/>
          </p:nvPr>
        </p:nvSpPr>
        <p:spPr>
          <a:xfrm>
            <a:off x="152400" y="1125538"/>
            <a:ext cx="8812213" cy="5221287"/>
          </a:xfrm>
        </p:spPr>
        <p:txBody>
          <a:bodyPr vert="horz" wrap="square" lIns="91440" tIns="45720" rIns="91440" bIns="45720" anchor="t" anchorCtr="0"/>
          <a:p>
            <a:pPr marL="441325" indent="-441325" eaLnBrk="1" hangingPunct="1">
              <a:buClr>
                <a:srgbClr val="FF0000"/>
              </a:buClr>
              <a:buSzPct val="65000"/>
              <a:buFont typeface="Wingdings" panose="05000000000000000000" pitchFamily="2" charset="2"/>
            </a:pPr>
            <a:r>
              <a:rPr lang="zh-CN" altLang="en-US" dirty="0"/>
              <a:t>对于</a:t>
            </a:r>
            <a:r>
              <a:rPr lang="zh-CN" altLang="en-US" dirty="0">
                <a:solidFill>
                  <a:srgbClr val="0000CC"/>
                </a:solidFill>
              </a:rPr>
              <a:t>字段长度可变</a:t>
            </a:r>
            <a:r>
              <a:rPr lang="zh-CN" altLang="en-US" dirty="0"/>
              <a:t>的记录，先放定长字段，后放变长字段，并在记录首部中加入整个记录的长度信息和指向变长字段的指针信息。</a:t>
            </a:r>
            <a:endParaRPr lang="zh-CN" altLang="en-US" dirty="0"/>
          </a:p>
        </p:txBody>
      </p:sp>
      <p:graphicFrame>
        <p:nvGraphicFramePr>
          <p:cNvPr id="51222" name="Group 22"/>
          <p:cNvGraphicFramePr>
            <a:graphicFrameLocks noGrp="1"/>
          </p:cNvGraphicFramePr>
          <p:nvPr>
            <p:ph sz="half" idx="1"/>
          </p:nvPr>
        </p:nvGraphicFramePr>
        <p:xfrm>
          <a:off x="323850" y="4219575"/>
          <a:ext cx="8640763" cy="1068388"/>
        </p:xfrm>
        <a:graphic>
          <a:graphicData uri="http://schemas.openxmlformats.org/drawingml/2006/table">
            <a:tbl>
              <a:tblPr/>
              <a:tblGrid>
                <a:gridCol w="1527175"/>
                <a:gridCol w="1319213"/>
                <a:gridCol w="1111250"/>
                <a:gridCol w="2079625"/>
                <a:gridCol w="2603500"/>
              </a:tblGrid>
              <a:tr h="64770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记录首</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部信息</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记录</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长度</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指针</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46800" marB="46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定长</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字段</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变长</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rPr>
                        <a:t>字段</a:t>
                      </a:r>
                      <a:endParaRPr kumimoji="0" lang="zh-CN" altLang="en-US" sz="3200" b="1" i="0" u="none" strike="noStrike" cap="none" normalizeH="0" baseline="0" smtClean="0">
                        <a:ln>
                          <a:noFill/>
                        </a:ln>
                        <a:solidFill>
                          <a:srgbClr val="000000"/>
                        </a:solidFill>
                        <a:effectLst/>
                        <a:latin typeface="Times New Roman" panose="02020603050405020304" pitchFamily="18" charset="0"/>
                        <a:ea typeface="黑体" panose="02010609060101010101" pitchFamily="2" charset="-122"/>
                      </a:endParaRPr>
                    </a:p>
                  </a:txBody>
                  <a:tcPr marL="0" marR="0" marT="46800" marB="46800"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8450" name="Freeform 18"/>
          <p:cNvSpPr/>
          <p:nvPr/>
        </p:nvSpPr>
        <p:spPr>
          <a:xfrm>
            <a:off x="3852863" y="3716338"/>
            <a:ext cx="2519362" cy="431800"/>
          </a:xfrm>
          <a:custGeom>
            <a:avLst/>
            <a:gdLst>
              <a:gd name="txL" fmla="*/ 0 w 1270"/>
              <a:gd name="txT" fmla="*/ 0 h 272"/>
              <a:gd name="txR" fmla="*/ 1270 w 1270"/>
              <a:gd name="txB" fmla="*/ 272 h 272"/>
            </a:gdLst>
            <a:ahLst/>
            <a:cxnLst>
              <a:cxn ang="0">
                <a:pos x="0" y="2147483647"/>
              </a:cxn>
              <a:cxn ang="0">
                <a:pos x="0" y="0"/>
              </a:cxn>
              <a:cxn ang="0">
                <a:pos x="2147483647" y="0"/>
              </a:cxn>
              <a:cxn ang="0">
                <a:pos x="2147483647" y="2147483647"/>
              </a:cxn>
            </a:cxnLst>
            <a:rect l="txL" t="txT" r="txR" b="txB"/>
            <a:pathLst>
              <a:path w="1270" h="272">
                <a:moveTo>
                  <a:pt x="0" y="272"/>
                </a:moveTo>
                <a:lnTo>
                  <a:pt x="0" y="0"/>
                </a:lnTo>
                <a:lnTo>
                  <a:pt x="1270" y="0"/>
                </a:lnTo>
                <a:lnTo>
                  <a:pt x="1270" y="272"/>
                </a:lnTo>
              </a:path>
            </a:pathLst>
          </a:custGeom>
          <a:noFill/>
          <a:ln w="38100" cap="flat" cmpd="sng">
            <a:solidFill>
              <a:srgbClr val="0000CC"/>
            </a:solidFill>
            <a:prstDash val="solid"/>
            <a:round/>
            <a:headEnd type="none" w="med" len="med"/>
            <a:tailEnd type="arrow" w="med" len="med"/>
          </a:ln>
        </p:spPr>
        <p:txBody>
          <a:bodyPr/>
          <a:p>
            <a:endParaRPr lang="zh-CN" altLang="en-US" dirty="0">
              <a:latin typeface="Arial" panose="020B0604020202020204" pitchFamily="34" charset="0"/>
            </a:endParaRPr>
          </a:p>
        </p:txBody>
      </p:sp>
    </p:spTree>
  </p:cSld>
  <p:clrMapOvr>
    <a:masterClrMapping/>
  </p:clrMapOvr>
  <p:transition>
    <p:random/>
    <p:sndAc>
      <p:stSnd>
        <p:snd r:embed="rId1" name="CAMERA.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idx="1"/>
          </p:nvPr>
        </p:nvSpPr>
        <p:spPr>
          <a:xfrm>
            <a:off x="152400" y="1143000"/>
            <a:ext cx="8812213" cy="5273675"/>
          </a:xfrm>
        </p:spPr>
        <p:txBody>
          <a:bodyPr vert="horz" wrap="square" lIns="91440" tIns="45720" rIns="91440" bIns="45720" anchor="t" anchorCtr="0"/>
          <a:p>
            <a:pPr marL="441325" indent="-441325" eaLnBrk="1" hangingPunct="1">
              <a:lnSpc>
                <a:spcPct val="110000"/>
              </a:lnSpc>
              <a:spcBef>
                <a:spcPct val="25000"/>
              </a:spcBef>
            </a:pPr>
            <a:r>
              <a:rPr lang="zh-CN" altLang="en-US" dirty="0">
                <a:latin typeface="Arial" panose="020B0604020202020204" pitchFamily="34" charset="0"/>
              </a:rPr>
              <a:t>块是内外存数据交换的单位，记录必须存储在块中</a:t>
            </a:r>
            <a:endParaRPr lang="zh-CN" altLang="en-US" dirty="0">
              <a:latin typeface="Arial" panose="020B0604020202020204" pitchFamily="34" charset="0"/>
            </a:endParaRPr>
          </a:p>
          <a:p>
            <a:pPr marL="441325" indent="-441325" eaLnBrk="1" hangingPunct="1">
              <a:lnSpc>
                <a:spcPct val="110000"/>
              </a:lnSpc>
              <a:spcBef>
                <a:spcPct val="25000"/>
              </a:spcBef>
            </a:pPr>
            <a:r>
              <a:rPr lang="zh-CN" altLang="en-US" dirty="0">
                <a:latin typeface="Arial" panose="020B0604020202020204" pitchFamily="34" charset="0"/>
              </a:rPr>
              <a:t>一个块可能存储多条记录</a:t>
            </a:r>
            <a:endParaRPr lang="zh-CN" altLang="en-US" dirty="0">
              <a:latin typeface="Arial" panose="020B0604020202020204" pitchFamily="34" charset="0"/>
            </a:endParaRPr>
          </a:p>
          <a:p>
            <a:pPr marL="441325" indent="-441325" eaLnBrk="1" hangingPunct="1">
              <a:lnSpc>
                <a:spcPct val="110000"/>
              </a:lnSpc>
              <a:spcBef>
                <a:spcPct val="25000"/>
              </a:spcBef>
            </a:pPr>
            <a:r>
              <a:rPr lang="zh-CN" altLang="en-US" dirty="0">
                <a:latin typeface="Arial" panose="020B0604020202020204" pitchFamily="34" charset="0"/>
              </a:rPr>
              <a:t>一个记录也可以跨块存储，此时访问该记录就会导致多次磁盘</a:t>
            </a:r>
            <a:r>
              <a:rPr lang="en-US" altLang="zh-CN" dirty="0">
                <a:latin typeface="Arial" panose="020B0604020202020204" pitchFamily="34" charset="0"/>
              </a:rPr>
              <a:t>I/O</a:t>
            </a:r>
            <a:r>
              <a:rPr lang="zh-CN" altLang="en-US" dirty="0">
                <a:latin typeface="Arial" panose="020B0604020202020204" pitchFamily="34" charset="0"/>
              </a:rPr>
              <a:t>操作</a:t>
            </a:r>
            <a:endParaRPr lang="zh-CN" altLang="en-US" dirty="0">
              <a:latin typeface="Arial" panose="020B0604020202020204" pitchFamily="34" charset="0"/>
            </a:endParaRPr>
          </a:p>
        </p:txBody>
      </p:sp>
      <p:sp>
        <p:nvSpPr>
          <p:cNvPr id="276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、块格式</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2"/>
          <p:cNvSpPr>
            <a:spLocks noGrp="1"/>
          </p:cNvSpPr>
          <p:nvPr>
            <p:ph idx="1"/>
          </p:nvPr>
        </p:nvSpPr>
        <p:spPr>
          <a:xfrm>
            <a:off x="152400" y="1052513"/>
            <a:ext cx="8740775" cy="5273675"/>
          </a:xfrm>
        </p:spPr>
        <p:txBody>
          <a:bodyPr vert="horz" wrap="square" lIns="91440" tIns="45720" rIns="91440" bIns="45720" anchor="t" anchorCtr="0"/>
          <a:p>
            <a:pPr marL="361950" indent="-361950" eaLnBrk="1" hangingPunct="1">
              <a:buNone/>
            </a:pPr>
            <a:r>
              <a:rPr lang="en-US" altLang="zh-CN" dirty="0">
                <a:solidFill>
                  <a:srgbClr val="0000CC"/>
                </a:solidFill>
                <a:latin typeface="Arial" panose="020B0604020202020204" pitchFamily="34" charset="0"/>
              </a:rPr>
              <a:t>(1) </a:t>
            </a:r>
            <a:r>
              <a:rPr lang="zh-CN" altLang="en-US" dirty="0">
                <a:solidFill>
                  <a:srgbClr val="0000CC"/>
                </a:solidFill>
                <a:latin typeface="Arial" panose="020B0604020202020204" pitchFamily="34" charset="0"/>
              </a:rPr>
              <a:t>不跨块组织方式</a:t>
            </a:r>
            <a:endParaRPr lang="zh-CN" altLang="en-US" dirty="0">
              <a:solidFill>
                <a:srgbClr val="0000CC"/>
              </a:solidFill>
            </a:endParaRPr>
          </a:p>
          <a:p>
            <a:pPr marL="361950" indent="-361950" eaLnBrk="1" hangingPunct="1">
              <a:buNone/>
            </a:pPr>
            <a:r>
              <a:rPr lang="zh-CN" altLang="en-US" dirty="0"/>
              <a:t>            一个物理块只包含若干完整的记录，该物理块剩余部分不足以存放一条记录时则放弃不用。</a:t>
            </a:r>
            <a:endParaRPr lang="zh-CN" altLang="en-US" dirty="0"/>
          </a:p>
          <a:p>
            <a:pPr marL="361950" indent="-361950" eaLnBrk="1" hangingPunct="1">
              <a:spcBef>
                <a:spcPct val="40000"/>
              </a:spcBef>
            </a:pPr>
            <a:r>
              <a:rPr lang="zh-CN" altLang="en-US" dirty="0"/>
              <a:t>定长记录不跨块</a:t>
            </a:r>
            <a:endParaRPr lang="zh-CN" altLang="en-US" dirty="0"/>
          </a:p>
          <a:p>
            <a:pPr marL="361950" indent="-361950" eaLnBrk="1" hangingPunct="1"/>
            <a:endParaRPr lang="zh-CN" altLang="en-US" dirty="0"/>
          </a:p>
          <a:p>
            <a:pPr marL="361950" indent="-361950" eaLnBrk="1" hangingPunct="1">
              <a:spcBef>
                <a:spcPct val="35000"/>
              </a:spcBef>
            </a:pPr>
            <a:r>
              <a:rPr lang="zh-CN" altLang="en-US" dirty="0"/>
              <a:t>变长记录不跨块</a:t>
            </a:r>
            <a:endParaRPr lang="zh-CN" altLang="en-US" dirty="0"/>
          </a:p>
        </p:txBody>
      </p:sp>
      <p:sp>
        <p:nvSpPr>
          <p:cNvPr id="92163" name="Rectangle 3"/>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记录在物理块上的分配</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78"/>
          <p:cNvGrpSpPr/>
          <p:nvPr/>
        </p:nvGrpSpPr>
        <p:grpSpPr>
          <a:xfrm>
            <a:off x="1790700" y="5321300"/>
            <a:ext cx="7016750" cy="792163"/>
            <a:chOff x="1128" y="3352"/>
            <a:chExt cx="4420" cy="499"/>
          </a:xfrm>
        </p:grpSpPr>
        <p:sp>
          <p:nvSpPr>
            <p:cNvPr id="20498" name="Line 7"/>
            <p:cNvSpPr/>
            <p:nvPr/>
          </p:nvSpPr>
          <p:spPr>
            <a:xfrm>
              <a:off x="1128" y="3838"/>
              <a:ext cx="4420" cy="0"/>
            </a:xfrm>
            <a:prstGeom prst="line">
              <a:avLst/>
            </a:prstGeom>
            <a:ln w="38100" cap="flat" cmpd="sng">
              <a:solidFill>
                <a:srgbClr val="000000"/>
              </a:solidFill>
              <a:prstDash val="solid"/>
              <a:headEnd type="none" w="med" len="med"/>
              <a:tailEnd type="none" w="med" len="med"/>
            </a:ln>
          </p:spPr>
        </p:sp>
        <p:sp>
          <p:nvSpPr>
            <p:cNvPr id="20499" name="Line 8"/>
            <p:cNvSpPr/>
            <p:nvPr/>
          </p:nvSpPr>
          <p:spPr>
            <a:xfrm>
              <a:off x="1128" y="3617"/>
              <a:ext cx="0" cy="221"/>
            </a:xfrm>
            <a:prstGeom prst="line">
              <a:avLst/>
            </a:prstGeom>
            <a:ln w="38100" cap="flat" cmpd="sng">
              <a:solidFill>
                <a:srgbClr val="000000"/>
              </a:solidFill>
              <a:prstDash val="solid"/>
              <a:headEnd type="none" w="med" len="med"/>
              <a:tailEnd type="none" w="med" len="med"/>
            </a:ln>
          </p:spPr>
        </p:sp>
        <p:sp>
          <p:nvSpPr>
            <p:cNvPr id="20500" name="Line 9"/>
            <p:cNvSpPr/>
            <p:nvPr/>
          </p:nvSpPr>
          <p:spPr>
            <a:xfrm>
              <a:off x="3172" y="3617"/>
              <a:ext cx="0" cy="221"/>
            </a:xfrm>
            <a:prstGeom prst="line">
              <a:avLst/>
            </a:prstGeom>
            <a:ln w="38100" cap="flat" cmpd="sng">
              <a:solidFill>
                <a:srgbClr val="000000"/>
              </a:solidFill>
              <a:prstDash val="solid"/>
              <a:headEnd type="none" w="med" len="med"/>
              <a:tailEnd type="none" w="med" len="med"/>
            </a:ln>
          </p:spPr>
        </p:sp>
        <p:sp>
          <p:nvSpPr>
            <p:cNvPr id="20501" name="Line 10"/>
            <p:cNvSpPr/>
            <p:nvPr/>
          </p:nvSpPr>
          <p:spPr>
            <a:xfrm>
              <a:off x="5548" y="3617"/>
              <a:ext cx="0" cy="221"/>
            </a:xfrm>
            <a:prstGeom prst="line">
              <a:avLst/>
            </a:prstGeom>
            <a:ln w="38100" cap="flat" cmpd="sng">
              <a:solidFill>
                <a:srgbClr val="000000"/>
              </a:solidFill>
              <a:prstDash val="solid"/>
              <a:headEnd type="none" w="med" len="med"/>
              <a:tailEnd type="none" w="med" len="med"/>
            </a:ln>
          </p:spPr>
        </p:sp>
        <p:sp>
          <p:nvSpPr>
            <p:cNvPr id="20502" name="Line 11"/>
            <p:cNvSpPr/>
            <p:nvPr/>
          </p:nvSpPr>
          <p:spPr>
            <a:xfrm>
              <a:off x="3614" y="3617"/>
              <a:ext cx="0" cy="221"/>
            </a:xfrm>
            <a:prstGeom prst="line">
              <a:avLst/>
            </a:prstGeom>
            <a:ln w="38100" cap="flat" cmpd="sng">
              <a:solidFill>
                <a:srgbClr val="000000"/>
              </a:solidFill>
              <a:prstDash val="solid"/>
              <a:headEnd type="none" w="med" len="med"/>
              <a:tailEnd type="none" w="med" len="med"/>
            </a:ln>
          </p:spPr>
        </p:sp>
        <p:sp>
          <p:nvSpPr>
            <p:cNvPr id="20503" name="Line 12"/>
            <p:cNvSpPr/>
            <p:nvPr/>
          </p:nvSpPr>
          <p:spPr>
            <a:xfrm>
              <a:off x="1570" y="3672"/>
              <a:ext cx="0" cy="166"/>
            </a:xfrm>
            <a:prstGeom prst="line">
              <a:avLst/>
            </a:prstGeom>
            <a:ln w="38100" cap="flat" cmpd="sng">
              <a:solidFill>
                <a:srgbClr val="000000"/>
              </a:solidFill>
              <a:prstDash val="solid"/>
              <a:headEnd type="none" w="med" len="med"/>
              <a:tailEnd type="none" w="med" len="med"/>
            </a:ln>
          </p:spPr>
        </p:sp>
        <p:sp>
          <p:nvSpPr>
            <p:cNvPr id="20504" name="Line 13"/>
            <p:cNvSpPr/>
            <p:nvPr/>
          </p:nvSpPr>
          <p:spPr>
            <a:xfrm>
              <a:off x="1902" y="3672"/>
              <a:ext cx="0" cy="166"/>
            </a:xfrm>
            <a:prstGeom prst="line">
              <a:avLst/>
            </a:prstGeom>
            <a:ln w="38100" cap="flat" cmpd="sng">
              <a:solidFill>
                <a:srgbClr val="000000"/>
              </a:solidFill>
              <a:prstDash val="solid"/>
              <a:headEnd type="none" w="med" len="med"/>
              <a:tailEnd type="none" w="med" len="med"/>
            </a:ln>
          </p:spPr>
        </p:sp>
        <p:sp>
          <p:nvSpPr>
            <p:cNvPr id="20505" name="Line 14"/>
            <p:cNvSpPr/>
            <p:nvPr/>
          </p:nvSpPr>
          <p:spPr>
            <a:xfrm>
              <a:off x="2841" y="3672"/>
              <a:ext cx="0" cy="166"/>
            </a:xfrm>
            <a:prstGeom prst="line">
              <a:avLst/>
            </a:prstGeom>
            <a:ln w="38100" cap="flat" cmpd="sng">
              <a:solidFill>
                <a:srgbClr val="000000"/>
              </a:solidFill>
              <a:prstDash val="solid"/>
              <a:headEnd type="none" w="med" len="med"/>
              <a:tailEnd type="none" w="med" len="med"/>
            </a:ln>
          </p:spPr>
        </p:sp>
        <p:sp>
          <p:nvSpPr>
            <p:cNvPr id="20506" name="Line 15"/>
            <p:cNvSpPr/>
            <p:nvPr/>
          </p:nvSpPr>
          <p:spPr>
            <a:xfrm>
              <a:off x="4443" y="3672"/>
              <a:ext cx="0" cy="166"/>
            </a:xfrm>
            <a:prstGeom prst="line">
              <a:avLst/>
            </a:prstGeom>
            <a:ln w="38100" cap="flat" cmpd="sng">
              <a:solidFill>
                <a:srgbClr val="000000"/>
              </a:solidFill>
              <a:prstDash val="solid"/>
              <a:headEnd type="none" w="med" len="med"/>
              <a:tailEnd type="none" w="med" len="med"/>
            </a:ln>
          </p:spPr>
        </p:sp>
        <p:sp>
          <p:nvSpPr>
            <p:cNvPr id="20507" name="Line 16"/>
            <p:cNvSpPr/>
            <p:nvPr/>
          </p:nvSpPr>
          <p:spPr>
            <a:xfrm>
              <a:off x="5438" y="3672"/>
              <a:ext cx="0" cy="166"/>
            </a:xfrm>
            <a:prstGeom prst="line">
              <a:avLst/>
            </a:prstGeom>
            <a:ln w="38100" cap="flat" cmpd="sng">
              <a:solidFill>
                <a:srgbClr val="000000"/>
              </a:solidFill>
              <a:prstDash val="solid"/>
              <a:headEnd type="none" w="med" len="med"/>
              <a:tailEnd type="none" w="med" len="med"/>
            </a:ln>
          </p:spPr>
        </p:sp>
        <p:sp>
          <p:nvSpPr>
            <p:cNvPr id="20508" name="AutoShape 17"/>
            <p:cNvSpPr/>
            <p:nvPr/>
          </p:nvSpPr>
          <p:spPr>
            <a:xfrm>
              <a:off x="2841" y="3672"/>
              <a:ext cx="331" cy="166"/>
            </a:xfrm>
            <a:prstGeom prst="flowChartProcess">
              <a:avLst/>
            </a:prstGeom>
            <a:solidFill>
              <a:schemeClr val="accent1"/>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09" name="AutoShape 18"/>
            <p:cNvSpPr/>
            <p:nvPr/>
          </p:nvSpPr>
          <p:spPr>
            <a:xfrm>
              <a:off x="5438" y="3672"/>
              <a:ext cx="110" cy="166"/>
            </a:xfrm>
            <a:prstGeom prst="flowChartProcess">
              <a:avLst/>
            </a:prstGeom>
            <a:solidFill>
              <a:schemeClr val="accent1"/>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510" name="Line 72"/>
            <p:cNvSpPr/>
            <p:nvPr/>
          </p:nvSpPr>
          <p:spPr>
            <a:xfrm>
              <a:off x="3174" y="3352"/>
              <a:ext cx="0" cy="499"/>
            </a:xfrm>
            <a:prstGeom prst="line">
              <a:avLst/>
            </a:prstGeom>
            <a:ln w="38100" cap="flat" cmpd="sng">
              <a:solidFill>
                <a:srgbClr val="FF0000"/>
              </a:solidFill>
              <a:prstDash val="solid"/>
              <a:headEnd type="none" w="med" len="med"/>
              <a:tailEnd type="none" w="med" len="med"/>
            </a:ln>
          </p:spPr>
        </p:sp>
      </p:grpSp>
      <p:grpSp>
        <p:nvGrpSpPr>
          <p:cNvPr id="3" name="Group 76"/>
          <p:cNvGrpSpPr/>
          <p:nvPr/>
        </p:nvGrpSpPr>
        <p:grpSpPr>
          <a:xfrm>
            <a:off x="1776413" y="3860800"/>
            <a:ext cx="6396037" cy="792163"/>
            <a:chOff x="1119" y="2432"/>
            <a:chExt cx="4029" cy="499"/>
          </a:xfrm>
        </p:grpSpPr>
        <p:sp>
          <p:nvSpPr>
            <p:cNvPr id="20486" name="Line 23"/>
            <p:cNvSpPr/>
            <p:nvPr/>
          </p:nvSpPr>
          <p:spPr>
            <a:xfrm>
              <a:off x="1119" y="2931"/>
              <a:ext cx="4029" cy="0"/>
            </a:xfrm>
            <a:prstGeom prst="line">
              <a:avLst/>
            </a:prstGeom>
            <a:ln w="38100" cap="flat" cmpd="sng">
              <a:solidFill>
                <a:srgbClr val="000000"/>
              </a:solidFill>
              <a:prstDash val="solid"/>
              <a:headEnd type="none" w="med" len="med"/>
              <a:tailEnd type="none" w="med" len="med"/>
            </a:ln>
          </p:spPr>
        </p:sp>
        <p:sp>
          <p:nvSpPr>
            <p:cNvPr id="20487" name="Line 24"/>
            <p:cNvSpPr/>
            <p:nvPr/>
          </p:nvSpPr>
          <p:spPr>
            <a:xfrm>
              <a:off x="1119" y="2710"/>
              <a:ext cx="0" cy="221"/>
            </a:xfrm>
            <a:prstGeom prst="line">
              <a:avLst/>
            </a:prstGeom>
            <a:ln w="38100" cap="flat" cmpd="sng">
              <a:solidFill>
                <a:srgbClr val="000000"/>
              </a:solidFill>
              <a:prstDash val="solid"/>
              <a:headEnd type="none" w="med" len="med"/>
              <a:tailEnd type="none" w="med" len="med"/>
            </a:ln>
          </p:spPr>
        </p:sp>
        <p:sp>
          <p:nvSpPr>
            <p:cNvPr id="20488" name="Line 25"/>
            <p:cNvSpPr/>
            <p:nvPr/>
          </p:nvSpPr>
          <p:spPr>
            <a:xfrm>
              <a:off x="3167" y="2710"/>
              <a:ext cx="0" cy="221"/>
            </a:xfrm>
            <a:prstGeom prst="line">
              <a:avLst/>
            </a:prstGeom>
            <a:ln w="38100" cap="flat" cmpd="sng">
              <a:solidFill>
                <a:srgbClr val="000000"/>
              </a:solidFill>
              <a:prstDash val="solid"/>
              <a:headEnd type="none" w="med" len="med"/>
              <a:tailEnd type="none" w="med" len="med"/>
            </a:ln>
          </p:spPr>
        </p:sp>
        <p:sp>
          <p:nvSpPr>
            <p:cNvPr id="20489" name="Line 26"/>
            <p:cNvSpPr/>
            <p:nvPr/>
          </p:nvSpPr>
          <p:spPr>
            <a:xfrm>
              <a:off x="5141" y="2710"/>
              <a:ext cx="0" cy="221"/>
            </a:xfrm>
            <a:prstGeom prst="line">
              <a:avLst/>
            </a:prstGeom>
            <a:ln w="38100" cap="flat" cmpd="sng">
              <a:solidFill>
                <a:srgbClr val="000000"/>
              </a:solidFill>
              <a:prstDash val="solid"/>
              <a:headEnd type="none" w="med" len="med"/>
              <a:tailEnd type="none" w="med" len="med"/>
            </a:ln>
          </p:spPr>
        </p:sp>
        <p:sp>
          <p:nvSpPr>
            <p:cNvPr id="20490" name="Line 28"/>
            <p:cNvSpPr/>
            <p:nvPr/>
          </p:nvSpPr>
          <p:spPr>
            <a:xfrm>
              <a:off x="1728" y="2765"/>
              <a:ext cx="0" cy="166"/>
            </a:xfrm>
            <a:prstGeom prst="line">
              <a:avLst/>
            </a:prstGeom>
            <a:ln w="38100" cap="flat" cmpd="sng">
              <a:solidFill>
                <a:srgbClr val="000000"/>
              </a:solidFill>
              <a:prstDash val="solid"/>
              <a:headEnd type="none" w="med" len="med"/>
              <a:tailEnd type="none" w="med" len="med"/>
            </a:ln>
          </p:spPr>
        </p:sp>
        <p:sp>
          <p:nvSpPr>
            <p:cNvPr id="20491" name="Line 29"/>
            <p:cNvSpPr/>
            <p:nvPr/>
          </p:nvSpPr>
          <p:spPr>
            <a:xfrm>
              <a:off x="2337" y="2765"/>
              <a:ext cx="0" cy="166"/>
            </a:xfrm>
            <a:prstGeom prst="line">
              <a:avLst/>
            </a:prstGeom>
            <a:ln w="38100" cap="flat" cmpd="sng">
              <a:solidFill>
                <a:srgbClr val="000000"/>
              </a:solidFill>
              <a:prstDash val="solid"/>
              <a:headEnd type="none" w="med" len="med"/>
              <a:tailEnd type="none" w="med" len="med"/>
            </a:ln>
          </p:spPr>
        </p:sp>
        <p:sp>
          <p:nvSpPr>
            <p:cNvPr id="20492" name="Line 30"/>
            <p:cNvSpPr/>
            <p:nvPr/>
          </p:nvSpPr>
          <p:spPr>
            <a:xfrm>
              <a:off x="2946" y="2765"/>
              <a:ext cx="0" cy="166"/>
            </a:xfrm>
            <a:prstGeom prst="line">
              <a:avLst/>
            </a:prstGeom>
            <a:ln w="38100" cap="flat" cmpd="sng">
              <a:solidFill>
                <a:srgbClr val="000000"/>
              </a:solidFill>
              <a:prstDash val="solid"/>
              <a:headEnd type="none" w="med" len="med"/>
              <a:tailEnd type="none" w="med" len="med"/>
            </a:ln>
          </p:spPr>
        </p:sp>
        <p:sp>
          <p:nvSpPr>
            <p:cNvPr id="20493" name="Line 31"/>
            <p:cNvSpPr/>
            <p:nvPr/>
          </p:nvSpPr>
          <p:spPr>
            <a:xfrm>
              <a:off x="3740" y="2765"/>
              <a:ext cx="0" cy="166"/>
            </a:xfrm>
            <a:prstGeom prst="line">
              <a:avLst/>
            </a:prstGeom>
            <a:ln w="38100" cap="flat" cmpd="sng">
              <a:solidFill>
                <a:srgbClr val="000000"/>
              </a:solidFill>
              <a:prstDash val="solid"/>
              <a:headEnd type="none" w="med" len="med"/>
              <a:tailEnd type="none" w="med" len="med"/>
            </a:ln>
          </p:spPr>
        </p:sp>
        <p:sp>
          <p:nvSpPr>
            <p:cNvPr id="20494" name="Line 32"/>
            <p:cNvSpPr/>
            <p:nvPr/>
          </p:nvSpPr>
          <p:spPr>
            <a:xfrm>
              <a:off x="4349" y="2765"/>
              <a:ext cx="0" cy="166"/>
            </a:xfrm>
            <a:prstGeom prst="line">
              <a:avLst/>
            </a:prstGeom>
            <a:ln w="38100" cap="flat" cmpd="sng">
              <a:solidFill>
                <a:srgbClr val="000000"/>
              </a:solidFill>
              <a:prstDash val="solid"/>
              <a:headEnd type="none" w="med" len="med"/>
              <a:tailEnd type="none" w="med" len="med"/>
            </a:ln>
          </p:spPr>
        </p:sp>
        <p:sp>
          <p:nvSpPr>
            <p:cNvPr id="20495" name="AutoShape 34"/>
            <p:cNvSpPr/>
            <p:nvPr/>
          </p:nvSpPr>
          <p:spPr>
            <a:xfrm>
              <a:off x="2957" y="2765"/>
              <a:ext cx="221" cy="166"/>
            </a:xfrm>
            <a:prstGeom prst="flowChartProcess">
              <a:avLst/>
            </a:prstGeom>
            <a:solidFill>
              <a:schemeClr val="accent1"/>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0496" name="Line 71"/>
            <p:cNvSpPr/>
            <p:nvPr/>
          </p:nvSpPr>
          <p:spPr>
            <a:xfrm>
              <a:off x="3174" y="2432"/>
              <a:ext cx="0" cy="499"/>
            </a:xfrm>
            <a:prstGeom prst="line">
              <a:avLst/>
            </a:prstGeom>
            <a:ln w="38100" cap="flat" cmpd="sng">
              <a:solidFill>
                <a:srgbClr val="FF0000"/>
              </a:solidFill>
              <a:prstDash val="solid"/>
              <a:headEnd type="none" w="med" len="med"/>
              <a:tailEnd type="none" w="med" len="med"/>
            </a:ln>
          </p:spPr>
        </p:sp>
        <p:sp>
          <p:nvSpPr>
            <p:cNvPr id="20497" name="AutoShape 75"/>
            <p:cNvSpPr/>
            <p:nvPr/>
          </p:nvSpPr>
          <p:spPr>
            <a:xfrm>
              <a:off x="4921" y="2750"/>
              <a:ext cx="221" cy="166"/>
            </a:xfrm>
            <a:prstGeom prst="flowChartProcess">
              <a:avLst/>
            </a:prstGeom>
            <a:solidFill>
              <a:schemeClr val="accent1"/>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62">
                                            <p:txEl>
                                              <p:charRg st="65" end="73"/>
                                            </p:txEl>
                                          </p:spTgt>
                                        </p:tgtEl>
                                        <p:attrNameLst>
                                          <p:attrName>style.visibility</p:attrName>
                                        </p:attrNameLst>
                                      </p:cBhvr>
                                      <p:to>
                                        <p:strVal val="visible"/>
                                      </p:to>
                                    </p:set>
                                  </p:childTnLst>
                                </p:cTn>
                              </p:par>
                              <p:par>
                                <p:cTn id="7" presetID="22" presetClass="entr" presetSubtype="8"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wipe(left)">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2162">
                                            <p:txEl>
                                              <p:charRg st="74" end="82"/>
                                            </p:txEl>
                                          </p:spTgt>
                                        </p:tgtEl>
                                        <p:attrNameLst>
                                          <p:attrName>style.visibility</p:attrName>
                                        </p:attrNameLst>
                                      </p:cBhvr>
                                      <p:to>
                                        <p:strVal val="visible"/>
                                      </p:to>
                                    </p:set>
                                  </p:childTnLst>
                                </p:cTn>
                              </p:par>
                              <p:par>
                                <p:cTn id="14" presetID="22" presetClass="entr" presetSubtype="8"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2"/>
          <p:cNvSpPr>
            <a:spLocks noGrp="1"/>
          </p:cNvSpPr>
          <p:nvPr>
            <p:ph idx="1"/>
          </p:nvPr>
        </p:nvSpPr>
        <p:spPr>
          <a:xfrm>
            <a:off x="152400" y="1035050"/>
            <a:ext cx="8740775" cy="5273675"/>
          </a:xfrm>
        </p:spPr>
        <p:txBody>
          <a:bodyPr vert="horz" wrap="square" lIns="91440" tIns="45720" rIns="91440" bIns="45720" anchor="t" anchorCtr="0"/>
          <a:p>
            <a:pPr marL="0" indent="0" eaLnBrk="1" hangingPunct="1">
              <a:buNone/>
            </a:pPr>
            <a:r>
              <a:rPr lang="en-US" altLang="zh-CN" dirty="0">
                <a:solidFill>
                  <a:srgbClr val="0000CC"/>
                </a:solidFill>
                <a:latin typeface="Arial" panose="020B0604020202020204" pitchFamily="34" charset="0"/>
              </a:rPr>
              <a:t>(2) </a:t>
            </a:r>
            <a:r>
              <a:rPr lang="zh-CN" altLang="en-US" dirty="0">
                <a:solidFill>
                  <a:srgbClr val="0000CC"/>
                </a:solidFill>
                <a:latin typeface="Arial" panose="020B0604020202020204" pitchFamily="34" charset="0"/>
              </a:rPr>
              <a:t>跨块组织方式</a:t>
            </a:r>
            <a:endParaRPr lang="zh-CN" altLang="en-US" dirty="0">
              <a:solidFill>
                <a:srgbClr val="0000CC"/>
              </a:solidFill>
            </a:endParaRPr>
          </a:p>
          <a:p>
            <a:pPr marL="0" indent="0" eaLnBrk="1" hangingPunct="1">
              <a:buNone/>
            </a:pPr>
            <a:r>
              <a:rPr lang="zh-CN" altLang="en-US" dirty="0"/>
              <a:t>        允许一条记录跨在不同物理块。</a:t>
            </a:r>
            <a:endParaRPr lang="zh-CN" altLang="en-US" dirty="0"/>
          </a:p>
          <a:p>
            <a:pPr marL="0" indent="0" eaLnBrk="1" hangingPunct="1"/>
            <a:endParaRPr lang="zh-CN" altLang="en-US" dirty="0"/>
          </a:p>
          <a:p>
            <a:pPr marL="0" indent="0" eaLnBrk="1" hangingPunct="1"/>
            <a:endParaRPr lang="zh-CN" altLang="en-US" dirty="0"/>
          </a:p>
          <a:p>
            <a:pPr marL="0" indent="0" eaLnBrk="1" hangingPunct="1">
              <a:buNone/>
            </a:pPr>
            <a:r>
              <a:rPr lang="en-US" altLang="zh-CN" dirty="0">
                <a:solidFill>
                  <a:srgbClr val="0000CC"/>
                </a:solidFill>
                <a:latin typeface="Arial" panose="020B0604020202020204" pitchFamily="34" charset="0"/>
              </a:rPr>
              <a:t>(3) </a:t>
            </a:r>
            <a:r>
              <a:rPr lang="zh-CN" altLang="en-US" dirty="0">
                <a:solidFill>
                  <a:srgbClr val="0000CC"/>
                </a:solidFill>
                <a:latin typeface="Arial" panose="020B0604020202020204" pitchFamily="34" charset="0"/>
              </a:rPr>
              <a:t>块列方式</a:t>
            </a:r>
            <a:endParaRPr lang="zh-CN" altLang="en-US" dirty="0">
              <a:solidFill>
                <a:srgbClr val="0000CC"/>
              </a:solidFill>
              <a:latin typeface="Arial" panose="020B0604020202020204" pitchFamily="34" charset="0"/>
            </a:endParaRPr>
          </a:p>
          <a:p>
            <a:pPr marL="0" indent="0" eaLnBrk="1" hangingPunct="1">
              <a:buNone/>
            </a:pPr>
            <a:r>
              <a:rPr lang="zh-CN" altLang="en-US" dirty="0">
                <a:latin typeface="Arial" panose="020B0604020202020204" pitchFamily="34" charset="0"/>
              </a:rPr>
              <a:t>       若干块组成一个块列，是一次</a:t>
            </a:r>
            <a:r>
              <a:rPr lang="en-US" altLang="zh-CN" dirty="0">
                <a:latin typeface="Arial" panose="020B0604020202020204" pitchFamily="34" charset="0"/>
              </a:rPr>
              <a:t>I/O</a:t>
            </a:r>
            <a:r>
              <a:rPr lang="zh-CN" altLang="en-US" dirty="0">
                <a:latin typeface="Arial" panose="020B0604020202020204" pitchFamily="34" charset="0"/>
              </a:rPr>
              <a:t>交换的单位，记录可以跨越块的边界，不能跨越块列的边界。</a:t>
            </a:r>
            <a:endParaRPr lang="zh-CN" altLang="en-US" dirty="0">
              <a:latin typeface="Arial" panose="020B0604020202020204" pitchFamily="34" charset="0"/>
            </a:endParaRPr>
          </a:p>
        </p:txBody>
      </p:sp>
      <p:sp>
        <p:nvSpPr>
          <p:cNvPr id="19046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记录在物理块上的分配</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88"/>
          <p:cNvGrpSpPr/>
          <p:nvPr/>
        </p:nvGrpSpPr>
        <p:grpSpPr>
          <a:xfrm>
            <a:off x="1619250" y="2133600"/>
            <a:ext cx="7273925" cy="727075"/>
            <a:chOff x="1110" y="1434"/>
            <a:chExt cx="4582" cy="458"/>
          </a:xfrm>
        </p:grpSpPr>
        <p:grpSp>
          <p:nvGrpSpPr>
            <p:cNvPr id="21527" name="Group 36"/>
            <p:cNvGrpSpPr/>
            <p:nvPr/>
          </p:nvGrpSpPr>
          <p:grpSpPr>
            <a:xfrm>
              <a:off x="1110" y="1616"/>
              <a:ext cx="4582" cy="276"/>
              <a:chOff x="1248" y="2832"/>
              <a:chExt cx="3984" cy="240"/>
            </a:xfrm>
          </p:grpSpPr>
          <p:grpSp>
            <p:nvGrpSpPr>
              <p:cNvPr id="21529" name="Group 37"/>
              <p:cNvGrpSpPr/>
              <p:nvPr/>
            </p:nvGrpSpPr>
            <p:grpSpPr>
              <a:xfrm>
                <a:off x="1248" y="2832"/>
                <a:ext cx="3840" cy="240"/>
                <a:chOff x="1248" y="3024"/>
                <a:chExt cx="3840" cy="240"/>
              </a:xfrm>
            </p:grpSpPr>
            <p:grpSp>
              <p:nvGrpSpPr>
                <p:cNvPr id="21533" name="Group 38"/>
                <p:cNvGrpSpPr/>
                <p:nvPr/>
              </p:nvGrpSpPr>
              <p:grpSpPr>
                <a:xfrm>
                  <a:off x="1248" y="3072"/>
                  <a:ext cx="3840" cy="192"/>
                  <a:chOff x="1248" y="1776"/>
                  <a:chExt cx="3840" cy="192"/>
                </a:xfrm>
              </p:grpSpPr>
              <p:sp>
                <p:nvSpPr>
                  <p:cNvPr id="21541" name="Rectangle 39"/>
                  <p:cNvSpPr/>
                  <p:nvPr/>
                </p:nvSpPr>
                <p:spPr>
                  <a:xfrm>
                    <a:off x="3024" y="1776"/>
                    <a:ext cx="384" cy="192"/>
                  </a:xfrm>
                  <a:prstGeom prst="rect">
                    <a:avLst/>
                  </a:prstGeom>
                  <a:solidFill>
                    <a:srgbClr val="FFFFCC"/>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42" name="Line 40"/>
                  <p:cNvSpPr/>
                  <p:nvPr/>
                </p:nvSpPr>
                <p:spPr>
                  <a:xfrm>
                    <a:off x="1248" y="1968"/>
                    <a:ext cx="3840" cy="0"/>
                  </a:xfrm>
                  <a:prstGeom prst="line">
                    <a:avLst/>
                  </a:prstGeom>
                  <a:ln w="38100" cap="flat" cmpd="sng">
                    <a:solidFill>
                      <a:srgbClr val="000000"/>
                    </a:solidFill>
                    <a:prstDash val="solid"/>
                    <a:headEnd type="none" w="med" len="med"/>
                    <a:tailEnd type="none" w="med" len="med"/>
                  </a:ln>
                </p:spPr>
              </p:sp>
              <p:sp>
                <p:nvSpPr>
                  <p:cNvPr id="21543" name="Line 41"/>
                  <p:cNvSpPr/>
                  <p:nvPr/>
                </p:nvSpPr>
                <p:spPr>
                  <a:xfrm>
                    <a:off x="1248" y="1776"/>
                    <a:ext cx="0" cy="192"/>
                  </a:xfrm>
                  <a:prstGeom prst="line">
                    <a:avLst/>
                  </a:prstGeom>
                  <a:ln w="38100" cap="flat" cmpd="sng">
                    <a:solidFill>
                      <a:srgbClr val="000000"/>
                    </a:solidFill>
                    <a:prstDash val="solid"/>
                    <a:headEnd type="none" w="med" len="med"/>
                    <a:tailEnd type="none" w="med" len="med"/>
                  </a:ln>
                </p:spPr>
              </p:sp>
              <p:sp>
                <p:nvSpPr>
                  <p:cNvPr id="21544" name="Line 42"/>
                  <p:cNvSpPr/>
                  <p:nvPr/>
                </p:nvSpPr>
                <p:spPr>
                  <a:xfrm>
                    <a:off x="3024" y="1776"/>
                    <a:ext cx="0" cy="192"/>
                  </a:xfrm>
                  <a:prstGeom prst="line">
                    <a:avLst/>
                  </a:prstGeom>
                  <a:ln w="38100" cap="flat" cmpd="sng">
                    <a:solidFill>
                      <a:srgbClr val="000000"/>
                    </a:solidFill>
                    <a:prstDash val="solid"/>
                    <a:headEnd type="none" w="med" len="med"/>
                    <a:tailEnd type="none" w="med" len="med"/>
                  </a:ln>
                </p:spPr>
              </p:sp>
              <p:sp>
                <p:nvSpPr>
                  <p:cNvPr id="21545" name="Line 43"/>
                  <p:cNvSpPr/>
                  <p:nvPr/>
                </p:nvSpPr>
                <p:spPr>
                  <a:xfrm>
                    <a:off x="5088" y="1776"/>
                    <a:ext cx="0" cy="192"/>
                  </a:xfrm>
                  <a:prstGeom prst="line">
                    <a:avLst/>
                  </a:prstGeom>
                  <a:ln w="38100" cap="flat" cmpd="sng">
                    <a:solidFill>
                      <a:srgbClr val="000000"/>
                    </a:solidFill>
                    <a:prstDash val="solid"/>
                    <a:headEnd type="none" w="med" len="med"/>
                    <a:tailEnd type="none" w="med" len="med"/>
                  </a:ln>
                </p:spPr>
              </p:sp>
              <p:sp>
                <p:nvSpPr>
                  <p:cNvPr id="21546" name="Line 44"/>
                  <p:cNvSpPr/>
                  <p:nvPr/>
                </p:nvSpPr>
                <p:spPr>
                  <a:xfrm>
                    <a:off x="3408" y="1776"/>
                    <a:ext cx="0" cy="192"/>
                  </a:xfrm>
                  <a:prstGeom prst="line">
                    <a:avLst/>
                  </a:prstGeom>
                  <a:ln w="38100" cap="flat" cmpd="sng">
                    <a:solidFill>
                      <a:srgbClr val="000000"/>
                    </a:solidFill>
                    <a:prstDash val="solid"/>
                    <a:headEnd type="none" w="med" len="med"/>
                    <a:tailEnd type="none" w="med" len="med"/>
                  </a:ln>
                </p:spPr>
              </p:sp>
            </p:grpSp>
            <p:sp>
              <p:nvSpPr>
                <p:cNvPr id="21534" name="Line 45"/>
                <p:cNvSpPr/>
                <p:nvPr/>
              </p:nvSpPr>
              <p:spPr>
                <a:xfrm>
                  <a:off x="1872" y="3120"/>
                  <a:ext cx="0" cy="144"/>
                </a:xfrm>
                <a:prstGeom prst="line">
                  <a:avLst/>
                </a:prstGeom>
                <a:ln w="38100" cap="flat" cmpd="sng">
                  <a:solidFill>
                    <a:srgbClr val="000000"/>
                  </a:solidFill>
                  <a:prstDash val="solid"/>
                  <a:headEnd type="none" w="med" len="med"/>
                  <a:tailEnd type="none" w="med" len="med"/>
                </a:ln>
              </p:spPr>
            </p:sp>
            <p:sp>
              <p:nvSpPr>
                <p:cNvPr id="21535" name="Line 46"/>
                <p:cNvSpPr/>
                <p:nvPr/>
              </p:nvSpPr>
              <p:spPr>
                <a:xfrm>
                  <a:off x="2736" y="3120"/>
                  <a:ext cx="0" cy="144"/>
                </a:xfrm>
                <a:prstGeom prst="line">
                  <a:avLst/>
                </a:prstGeom>
                <a:ln w="38100" cap="flat" cmpd="sng">
                  <a:solidFill>
                    <a:srgbClr val="000000"/>
                  </a:solidFill>
                  <a:prstDash val="solid"/>
                  <a:headEnd type="none" w="med" len="med"/>
                  <a:tailEnd type="none" w="med" len="med"/>
                </a:ln>
              </p:spPr>
            </p:sp>
            <p:sp>
              <p:nvSpPr>
                <p:cNvPr id="21536" name="Line 47"/>
                <p:cNvSpPr/>
                <p:nvPr/>
              </p:nvSpPr>
              <p:spPr>
                <a:xfrm>
                  <a:off x="3840" y="3120"/>
                  <a:ext cx="0" cy="144"/>
                </a:xfrm>
                <a:prstGeom prst="line">
                  <a:avLst/>
                </a:prstGeom>
                <a:ln w="38100" cap="flat" cmpd="sng">
                  <a:solidFill>
                    <a:srgbClr val="000000"/>
                  </a:solidFill>
                  <a:prstDash val="solid"/>
                  <a:headEnd type="none" w="med" len="med"/>
                  <a:tailEnd type="none" w="med" len="med"/>
                </a:ln>
              </p:spPr>
            </p:sp>
            <p:sp>
              <p:nvSpPr>
                <p:cNvPr id="21537" name="Line 48"/>
                <p:cNvSpPr/>
                <p:nvPr/>
              </p:nvSpPr>
              <p:spPr>
                <a:xfrm>
                  <a:off x="4656" y="3120"/>
                  <a:ext cx="0" cy="144"/>
                </a:xfrm>
                <a:prstGeom prst="line">
                  <a:avLst/>
                </a:prstGeom>
                <a:ln w="38100" cap="flat" cmpd="sng">
                  <a:solidFill>
                    <a:srgbClr val="000000"/>
                  </a:solidFill>
                  <a:prstDash val="solid"/>
                  <a:headEnd type="none" w="med" len="med"/>
                  <a:tailEnd type="none" w="med" len="med"/>
                </a:ln>
              </p:spPr>
            </p:sp>
            <p:sp>
              <p:nvSpPr>
                <p:cNvPr id="21538" name="Line 49"/>
                <p:cNvSpPr/>
                <p:nvPr/>
              </p:nvSpPr>
              <p:spPr>
                <a:xfrm>
                  <a:off x="2928" y="3024"/>
                  <a:ext cx="576" cy="0"/>
                </a:xfrm>
                <a:prstGeom prst="line">
                  <a:avLst/>
                </a:prstGeom>
                <a:ln w="38100" cap="flat" cmpd="sng">
                  <a:solidFill>
                    <a:srgbClr val="000000"/>
                  </a:solidFill>
                  <a:prstDash val="solid"/>
                  <a:headEnd type="none" w="med" len="med"/>
                  <a:tailEnd type="none" w="med" len="med"/>
                </a:ln>
              </p:spPr>
            </p:sp>
            <p:sp>
              <p:nvSpPr>
                <p:cNvPr id="21539" name="Line 50"/>
                <p:cNvSpPr/>
                <p:nvPr/>
              </p:nvSpPr>
              <p:spPr>
                <a:xfrm>
                  <a:off x="3504" y="3024"/>
                  <a:ext cx="192" cy="144"/>
                </a:xfrm>
                <a:prstGeom prst="line">
                  <a:avLst/>
                </a:prstGeom>
                <a:ln w="38100" cap="flat" cmpd="sng">
                  <a:solidFill>
                    <a:srgbClr val="000000"/>
                  </a:solidFill>
                  <a:prstDash val="solid"/>
                  <a:headEnd type="none" w="med" len="med"/>
                  <a:tailEnd type="triangle" w="med" len="med"/>
                </a:ln>
              </p:spPr>
            </p:sp>
            <p:sp>
              <p:nvSpPr>
                <p:cNvPr id="21540" name="Line 51"/>
                <p:cNvSpPr/>
                <p:nvPr/>
              </p:nvSpPr>
              <p:spPr>
                <a:xfrm flipV="1">
                  <a:off x="2832" y="3024"/>
                  <a:ext cx="96" cy="96"/>
                </a:xfrm>
                <a:prstGeom prst="line">
                  <a:avLst/>
                </a:prstGeom>
                <a:ln w="38100" cap="flat" cmpd="sng">
                  <a:solidFill>
                    <a:srgbClr val="000000"/>
                  </a:solidFill>
                  <a:prstDash val="solid"/>
                  <a:headEnd type="none" w="med" len="med"/>
                  <a:tailEnd type="none" w="med" len="med"/>
                </a:ln>
              </p:spPr>
            </p:sp>
          </p:grpSp>
          <p:sp>
            <p:nvSpPr>
              <p:cNvPr id="21530" name="Line 52"/>
              <p:cNvSpPr/>
              <p:nvPr/>
            </p:nvSpPr>
            <p:spPr>
              <a:xfrm>
                <a:off x="4896" y="2832"/>
                <a:ext cx="240" cy="0"/>
              </a:xfrm>
              <a:prstGeom prst="line">
                <a:avLst/>
              </a:prstGeom>
              <a:ln w="38100" cap="flat" cmpd="sng">
                <a:solidFill>
                  <a:srgbClr val="000000"/>
                </a:solidFill>
                <a:prstDash val="solid"/>
                <a:headEnd type="none" w="med" len="med"/>
                <a:tailEnd type="none" w="med" len="med"/>
              </a:ln>
            </p:spPr>
          </p:sp>
          <p:sp>
            <p:nvSpPr>
              <p:cNvPr id="21531" name="Line 53"/>
              <p:cNvSpPr/>
              <p:nvPr/>
            </p:nvSpPr>
            <p:spPr>
              <a:xfrm flipV="1">
                <a:off x="4800" y="2832"/>
                <a:ext cx="96" cy="144"/>
              </a:xfrm>
              <a:prstGeom prst="line">
                <a:avLst/>
              </a:prstGeom>
              <a:ln w="38100" cap="flat" cmpd="sng">
                <a:solidFill>
                  <a:srgbClr val="000000"/>
                </a:solidFill>
                <a:prstDash val="solid"/>
                <a:headEnd type="none" w="med" len="med"/>
                <a:tailEnd type="none" w="med" len="med"/>
              </a:ln>
            </p:spPr>
          </p:sp>
          <p:sp>
            <p:nvSpPr>
              <p:cNvPr id="21532" name="Line 54"/>
              <p:cNvSpPr/>
              <p:nvPr/>
            </p:nvSpPr>
            <p:spPr>
              <a:xfrm>
                <a:off x="5136" y="2832"/>
                <a:ext cx="96" cy="48"/>
              </a:xfrm>
              <a:prstGeom prst="line">
                <a:avLst/>
              </a:prstGeom>
              <a:ln w="38100" cap="flat" cmpd="sng">
                <a:solidFill>
                  <a:srgbClr val="000000"/>
                </a:solidFill>
                <a:prstDash val="solid"/>
                <a:headEnd type="none" w="med" len="med"/>
                <a:tailEnd type="triangle" w="med" len="med"/>
              </a:ln>
            </p:spPr>
          </p:sp>
        </p:grpSp>
        <p:sp>
          <p:nvSpPr>
            <p:cNvPr id="21528" name="Line 87"/>
            <p:cNvSpPr/>
            <p:nvPr/>
          </p:nvSpPr>
          <p:spPr>
            <a:xfrm>
              <a:off x="3379" y="1434"/>
              <a:ext cx="0" cy="454"/>
            </a:xfrm>
            <a:prstGeom prst="line">
              <a:avLst/>
            </a:prstGeom>
            <a:ln w="38100" cap="flat" cmpd="sng">
              <a:solidFill>
                <a:srgbClr val="FF0000"/>
              </a:solidFill>
              <a:prstDash val="solid"/>
              <a:headEnd type="none" w="med" len="med"/>
              <a:tailEnd type="none" w="med" len="med"/>
            </a:ln>
          </p:spPr>
        </p:sp>
      </p:grpSp>
      <p:grpSp>
        <p:nvGrpSpPr>
          <p:cNvPr id="6" name="Group 90"/>
          <p:cNvGrpSpPr/>
          <p:nvPr/>
        </p:nvGrpSpPr>
        <p:grpSpPr>
          <a:xfrm>
            <a:off x="1797050" y="5373688"/>
            <a:ext cx="7010400" cy="792162"/>
            <a:chOff x="1132" y="3385"/>
            <a:chExt cx="4416" cy="499"/>
          </a:xfrm>
        </p:grpSpPr>
        <p:grpSp>
          <p:nvGrpSpPr>
            <p:cNvPr id="21510" name="Group 71"/>
            <p:cNvGrpSpPr/>
            <p:nvPr/>
          </p:nvGrpSpPr>
          <p:grpSpPr>
            <a:xfrm>
              <a:off x="1132" y="3608"/>
              <a:ext cx="4416" cy="276"/>
              <a:chOff x="1248" y="3840"/>
              <a:chExt cx="3840" cy="240"/>
            </a:xfrm>
          </p:grpSpPr>
          <p:grpSp>
            <p:nvGrpSpPr>
              <p:cNvPr id="21512" name="Group 72"/>
              <p:cNvGrpSpPr/>
              <p:nvPr/>
            </p:nvGrpSpPr>
            <p:grpSpPr>
              <a:xfrm>
                <a:off x="1248" y="3888"/>
                <a:ext cx="3840" cy="192"/>
                <a:chOff x="1248" y="1776"/>
                <a:chExt cx="3840" cy="192"/>
              </a:xfrm>
            </p:grpSpPr>
            <p:sp>
              <p:nvSpPr>
                <p:cNvPr id="21521" name="Rectangle 73"/>
                <p:cNvSpPr/>
                <p:nvPr/>
              </p:nvSpPr>
              <p:spPr>
                <a:xfrm>
                  <a:off x="3024" y="1776"/>
                  <a:ext cx="384" cy="192"/>
                </a:xfrm>
                <a:prstGeom prst="rect">
                  <a:avLst/>
                </a:prstGeom>
                <a:solidFill>
                  <a:srgbClr val="FFFFCC"/>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21522" name="Line 74"/>
                <p:cNvSpPr/>
                <p:nvPr/>
              </p:nvSpPr>
              <p:spPr>
                <a:xfrm>
                  <a:off x="1248" y="1968"/>
                  <a:ext cx="3840" cy="0"/>
                </a:xfrm>
                <a:prstGeom prst="line">
                  <a:avLst/>
                </a:prstGeom>
                <a:ln w="38100" cap="flat" cmpd="sng">
                  <a:solidFill>
                    <a:srgbClr val="000000"/>
                  </a:solidFill>
                  <a:prstDash val="solid"/>
                  <a:headEnd type="none" w="med" len="med"/>
                  <a:tailEnd type="none" w="med" len="med"/>
                </a:ln>
              </p:spPr>
            </p:sp>
            <p:sp>
              <p:nvSpPr>
                <p:cNvPr id="21523" name="Line 75"/>
                <p:cNvSpPr/>
                <p:nvPr/>
              </p:nvSpPr>
              <p:spPr>
                <a:xfrm>
                  <a:off x="1248" y="1776"/>
                  <a:ext cx="0" cy="192"/>
                </a:xfrm>
                <a:prstGeom prst="line">
                  <a:avLst/>
                </a:prstGeom>
                <a:ln w="38100" cap="flat" cmpd="sng">
                  <a:solidFill>
                    <a:srgbClr val="000000"/>
                  </a:solidFill>
                  <a:prstDash val="solid"/>
                  <a:headEnd type="none" w="med" len="med"/>
                  <a:tailEnd type="none" w="med" len="med"/>
                </a:ln>
              </p:spPr>
            </p:sp>
            <p:sp>
              <p:nvSpPr>
                <p:cNvPr id="21524" name="Line 76"/>
                <p:cNvSpPr/>
                <p:nvPr/>
              </p:nvSpPr>
              <p:spPr>
                <a:xfrm>
                  <a:off x="3024" y="1776"/>
                  <a:ext cx="0" cy="192"/>
                </a:xfrm>
                <a:prstGeom prst="line">
                  <a:avLst/>
                </a:prstGeom>
                <a:ln w="38100" cap="flat" cmpd="sng">
                  <a:solidFill>
                    <a:srgbClr val="000000"/>
                  </a:solidFill>
                  <a:prstDash val="solid"/>
                  <a:headEnd type="none" w="med" len="med"/>
                  <a:tailEnd type="none" w="med" len="med"/>
                </a:ln>
              </p:spPr>
            </p:sp>
            <p:sp>
              <p:nvSpPr>
                <p:cNvPr id="21525" name="Line 77"/>
                <p:cNvSpPr/>
                <p:nvPr/>
              </p:nvSpPr>
              <p:spPr>
                <a:xfrm>
                  <a:off x="5088" y="1776"/>
                  <a:ext cx="0" cy="192"/>
                </a:xfrm>
                <a:prstGeom prst="line">
                  <a:avLst/>
                </a:prstGeom>
                <a:ln w="38100" cap="flat" cmpd="sng">
                  <a:solidFill>
                    <a:srgbClr val="000000"/>
                  </a:solidFill>
                  <a:prstDash val="solid"/>
                  <a:headEnd type="none" w="med" len="med"/>
                  <a:tailEnd type="none" w="med" len="med"/>
                </a:ln>
              </p:spPr>
            </p:sp>
            <p:sp>
              <p:nvSpPr>
                <p:cNvPr id="21526" name="Line 78"/>
                <p:cNvSpPr/>
                <p:nvPr/>
              </p:nvSpPr>
              <p:spPr>
                <a:xfrm>
                  <a:off x="3408" y="1776"/>
                  <a:ext cx="0" cy="192"/>
                </a:xfrm>
                <a:prstGeom prst="line">
                  <a:avLst/>
                </a:prstGeom>
                <a:ln w="38100" cap="flat" cmpd="sng">
                  <a:solidFill>
                    <a:srgbClr val="000000"/>
                  </a:solidFill>
                  <a:prstDash val="solid"/>
                  <a:headEnd type="none" w="med" len="med"/>
                  <a:tailEnd type="none" w="med" len="med"/>
                </a:ln>
              </p:spPr>
            </p:sp>
          </p:grpSp>
          <p:sp>
            <p:nvSpPr>
              <p:cNvPr id="21513" name="Line 79"/>
              <p:cNvSpPr/>
              <p:nvPr/>
            </p:nvSpPr>
            <p:spPr>
              <a:xfrm>
                <a:off x="1632" y="3984"/>
                <a:ext cx="0" cy="96"/>
              </a:xfrm>
              <a:prstGeom prst="line">
                <a:avLst/>
              </a:prstGeom>
              <a:ln w="38100" cap="flat" cmpd="sng">
                <a:solidFill>
                  <a:srgbClr val="000000"/>
                </a:solidFill>
                <a:prstDash val="solid"/>
                <a:headEnd type="none" w="med" len="med"/>
                <a:tailEnd type="none" w="med" len="med"/>
              </a:ln>
            </p:spPr>
          </p:sp>
          <p:sp>
            <p:nvSpPr>
              <p:cNvPr id="21514" name="Line 80"/>
              <p:cNvSpPr/>
              <p:nvPr/>
            </p:nvSpPr>
            <p:spPr>
              <a:xfrm>
                <a:off x="2544" y="3936"/>
                <a:ext cx="0" cy="144"/>
              </a:xfrm>
              <a:prstGeom prst="line">
                <a:avLst/>
              </a:prstGeom>
              <a:ln w="38100" cap="flat" cmpd="sng">
                <a:solidFill>
                  <a:srgbClr val="000000"/>
                </a:solidFill>
                <a:prstDash val="solid"/>
                <a:headEnd type="none" w="med" len="med"/>
                <a:tailEnd type="none" w="med" len="med"/>
              </a:ln>
            </p:spPr>
          </p:sp>
          <p:sp>
            <p:nvSpPr>
              <p:cNvPr id="21515" name="Line 81"/>
              <p:cNvSpPr/>
              <p:nvPr/>
            </p:nvSpPr>
            <p:spPr>
              <a:xfrm>
                <a:off x="3792" y="3936"/>
                <a:ext cx="0" cy="144"/>
              </a:xfrm>
              <a:prstGeom prst="line">
                <a:avLst/>
              </a:prstGeom>
              <a:ln w="38100" cap="flat" cmpd="sng">
                <a:solidFill>
                  <a:srgbClr val="000000"/>
                </a:solidFill>
                <a:prstDash val="solid"/>
                <a:headEnd type="none" w="med" len="med"/>
                <a:tailEnd type="none" w="med" len="med"/>
              </a:ln>
            </p:spPr>
          </p:sp>
          <p:sp>
            <p:nvSpPr>
              <p:cNvPr id="21516" name="Line 82"/>
              <p:cNvSpPr/>
              <p:nvPr/>
            </p:nvSpPr>
            <p:spPr>
              <a:xfrm>
                <a:off x="4704" y="3936"/>
                <a:ext cx="0" cy="144"/>
              </a:xfrm>
              <a:prstGeom prst="line">
                <a:avLst/>
              </a:prstGeom>
              <a:ln w="38100" cap="flat" cmpd="sng">
                <a:solidFill>
                  <a:srgbClr val="000000"/>
                </a:solidFill>
                <a:prstDash val="solid"/>
                <a:headEnd type="none" w="med" len="med"/>
                <a:tailEnd type="none" w="med" len="med"/>
              </a:ln>
            </p:spPr>
          </p:sp>
          <p:sp>
            <p:nvSpPr>
              <p:cNvPr id="21517" name="Line 83"/>
              <p:cNvSpPr/>
              <p:nvPr/>
            </p:nvSpPr>
            <p:spPr>
              <a:xfrm>
                <a:off x="2832" y="3840"/>
                <a:ext cx="672" cy="0"/>
              </a:xfrm>
              <a:prstGeom prst="line">
                <a:avLst/>
              </a:prstGeom>
              <a:ln w="38100" cap="flat" cmpd="sng">
                <a:solidFill>
                  <a:srgbClr val="000000"/>
                </a:solidFill>
                <a:prstDash val="solid"/>
                <a:headEnd type="none" w="med" len="med"/>
                <a:tailEnd type="none" w="med" len="med"/>
              </a:ln>
            </p:spPr>
          </p:sp>
          <p:sp>
            <p:nvSpPr>
              <p:cNvPr id="21518" name="Line 84"/>
              <p:cNvSpPr/>
              <p:nvPr/>
            </p:nvSpPr>
            <p:spPr>
              <a:xfrm flipV="1">
                <a:off x="2688" y="3840"/>
                <a:ext cx="144" cy="96"/>
              </a:xfrm>
              <a:prstGeom prst="line">
                <a:avLst/>
              </a:prstGeom>
              <a:ln w="38100" cap="flat" cmpd="sng">
                <a:solidFill>
                  <a:srgbClr val="000000"/>
                </a:solidFill>
                <a:prstDash val="solid"/>
                <a:headEnd type="none" w="med" len="med"/>
                <a:tailEnd type="none" w="med" len="med"/>
              </a:ln>
            </p:spPr>
          </p:sp>
          <p:sp>
            <p:nvSpPr>
              <p:cNvPr id="21519" name="Line 85"/>
              <p:cNvSpPr/>
              <p:nvPr/>
            </p:nvSpPr>
            <p:spPr>
              <a:xfrm>
                <a:off x="3504" y="3840"/>
                <a:ext cx="144" cy="144"/>
              </a:xfrm>
              <a:prstGeom prst="line">
                <a:avLst/>
              </a:prstGeom>
              <a:ln w="38100" cap="flat" cmpd="sng">
                <a:solidFill>
                  <a:srgbClr val="000000"/>
                </a:solidFill>
                <a:prstDash val="solid"/>
                <a:headEnd type="none" w="med" len="med"/>
                <a:tailEnd type="triangle" w="med" len="med"/>
              </a:ln>
            </p:spPr>
          </p:sp>
          <p:sp>
            <p:nvSpPr>
              <p:cNvPr id="21520" name="Rectangle 86"/>
              <p:cNvSpPr/>
              <p:nvPr/>
            </p:nvSpPr>
            <p:spPr>
              <a:xfrm>
                <a:off x="4704" y="3936"/>
                <a:ext cx="384" cy="144"/>
              </a:xfrm>
              <a:prstGeom prst="rect">
                <a:avLst/>
              </a:prstGeom>
              <a:solidFill>
                <a:schemeClr val="accent1"/>
              </a:solidFill>
              <a:ln w="38100"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grpSp>
        <p:sp>
          <p:nvSpPr>
            <p:cNvPr id="21511" name="Line 89"/>
            <p:cNvSpPr/>
            <p:nvPr/>
          </p:nvSpPr>
          <p:spPr>
            <a:xfrm>
              <a:off x="3334" y="3385"/>
              <a:ext cx="0" cy="499"/>
            </a:xfrm>
            <a:prstGeom prst="line">
              <a:avLst/>
            </a:prstGeom>
            <a:ln w="38100" cap="flat" cmpd="sng">
              <a:solidFill>
                <a:srgbClr val="FF0000"/>
              </a:solidFill>
              <a:prstDash val="solid"/>
              <a:headEnd type="none" w="med" len="med"/>
              <a:tailEnd type="none"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90466">
                                            <p:txEl>
                                              <p:charRg st="36" end="45"/>
                                            </p:txEl>
                                          </p:spTgt>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90466">
                                            <p:txEl>
                                              <p:charRg st="45" end="96"/>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idx="1"/>
          </p:nvPr>
        </p:nvSpPr>
        <p:spPr>
          <a:xfrm>
            <a:off x="152400" y="1052513"/>
            <a:ext cx="8991600" cy="5273675"/>
          </a:xfrm>
        </p:spPr>
        <p:txBody>
          <a:bodyPr vert="horz" wrap="square" lIns="91440" tIns="45720" rIns="91440" bIns="45720" anchor="t" anchorCtr="0"/>
          <a:p>
            <a:pPr eaLnBrk="1" hangingPunct="1"/>
            <a:r>
              <a:rPr lang="zh-CN" altLang="en-US" sz="3200" dirty="0"/>
              <a:t>块的头结构后紧跟着一个项数组，项数组的每一项为一个三元组</a:t>
            </a:r>
            <a:r>
              <a:rPr lang="en-US" altLang="zh-CN" sz="3200" dirty="0"/>
              <a:t>&lt;</a:t>
            </a:r>
            <a:r>
              <a:rPr lang="zh-CN" altLang="en-US" sz="3200" dirty="0"/>
              <a:t>使用标记</a:t>
            </a:r>
            <a:r>
              <a:rPr lang="en-US" altLang="zh-CN" sz="3200" dirty="0"/>
              <a:t>,</a:t>
            </a:r>
            <a:r>
              <a:rPr lang="zh-CN" altLang="en-US" sz="3200" dirty="0"/>
              <a:t>偏移</a:t>
            </a:r>
            <a:r>
              <a:rPr lang="en-US" altLang="zh-CN" sz="3200" dirty="0"/>
              <a:t>,</a:t>
            </a:r>
            <a:r>
              <a:rPr lang="zh-CN" altLang="en-US" sz="3200" dirty="0"/>
              <a:t>大小</a:t>
            </a:r>
            <a:r>
              <a:rPr lang="en-US" altLang="zh-CN" sz="3200" dirty="0"/>
              <a:t>&gt;</a:t>
            </a:r>
            <a:endParaRPr lang="en-US" altLang="zh-CN" sz="3200" dirty="0"/>
          </a:p>
          <a:p>
            <a:pPr eaLnBrk="1" hangingPunct="1"/>
            <a:r>
              <a:rPr lang="zh-CN" altLang="en-US" sz="3200" dirty="0"/>
              <a:t>记录从块尾向块首反向存储</a:t>
            </a:r>
            <a:endParaRPr lang="zh-CN" altLang="en-US" sz="3200" dirty="0"/>
          </a:p>
          <a:p>
            <a:pPr eaLnBrk="1" hangingPunct="1"/>
            <a:endParaRPr lang="en-US" altLang="zh-CN" sz="3200" dirty="0"/>
          </a:p>
        </p:txBody>
      </p:sp>
      <p:sp>
        <p:nvSpPr>
          <p:cNvPr id="1484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DBMS</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中常用的一种块格式</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2532" name="Group 86"/>
          <p:cNvGrpSpPr/>
          <p:nvPr/>
        </p:nvGrpSpPr>
        <p:grpSpPr>
          <a:xfrm>
            <a:off x="611188" y="2852738"/>
            <a:ext cx="8210550" cy="3384550"/>
            <a:chOff x="385" y="1888"/>
            <a:chExt cx="5172" cy="2132"/>
          </a:xfrm>
        </p:grpSpPr>
        <p:sp>
          <p:nvSpPr>
            <p:cNvPr id="22533" name="Rectangle 71"/>
            <p:cNvSpPr/>
            <p:nvPr/>
          </p:nvSpPr>
          <p:spPr>
            <a:xfrm>
              <a:off x="385" y="1888"/>
              <a:ext cx="5171" cy="2132"/>
            </a:xfrm>
            <a:prstGeom prst="rect">
              <a:avLst/>
            </a:prstGeom>
            <a:noFill/>
            <a:ln w="38100" cap="flat" cmpd="sng">
              <a:solidFill>
                <a:srgbClr val="000000"/>
              </a:solidFill>
              <a:prstDash val="solid"/>
              <a:miter/>
              <a:headEnd type="none" w="med" len="med"/>
              <a:tailEnd type="none" w="med" len="med"/>
            </a:ln>
          </p:spPr>
          <p:txBody>
            <a:bodyPr wrap="none" anchor="ctr" anchorCtr="0">
              <a:spAutoFit/>
            </a:bodyPr>
            <a:p>
              <a:endParaRPr lang="zh-CN" altLang="en-US" dirty="0">
                <a:latin typeface="Arial" panose="020B0604020202020204" pitchFamily="34" charset="0"/>
              </a:endParaRPr>
            </a:p>
          </p:txBody>
        </p:sp>
        <p:sp>
          <p:nvSpPr>
            <p:cNvPr id="22534" name="Text Box 72"/>
            <p:cNvSpPr txBox="1"/>
            <p:nvPr/>
          </p:nvSpPr>
          <p:spPr>
            <a:xfrm>
              <a:off x="385" y="1888"/>
              <a:ext cx="817" cy="351"/>
            </a:xfrm>
            <a:prstGeom prst="rect">
              <a:avLst/>
            </a:prstGeom>
            <a:noFill/>
            <a:ln w="38100" cap="flat" cmpd="sng">
              <a:solidFill>
                <a:srgbClr val="000000"/>
              </a:solidFill>
              <a:prstDash val="solid"/>
              <a:miter/>
              <a:headEnd type="none" w="med" len="med"/>
              <a:tailEnd type="none" w="med" len="med"/>
            </a:ln>
          </p:spPr>
          <p:txBody>
            <a:bodyPr>
              <a:spAutoFit/>
            </a:bodyPr>
            <a:p>
              <a:pPr algn="ctr"/>
              <a:r>
                <a:rPr lang="zh-CN" altLang="en-US" dirty="0">
                  <a:latin typeface="Arial" panose="020B0604020202020204" pitchFamily="34" charset="0"/>
                </a:rPr>
                <a:t>头结构</a:t>
              </a:r>
              <a:endParaRPr lang="zh-CN" altLang="en-US" dirty="0">
                <a:latin typeface="Arial" panose="020B0604020202020204" pitchFamily="34" charset="0"/>
              </a:endParaRPr>
            </a:p>
          </p:txBody>
        </p:sp>
        <p:sp>
          <p:nvSpPr>
            <p:cNvPr id="22535" name="Text Box 73" descr="轮廓式菱形"/>
            <p:cNvSpPr txBox="1"/>
            <p:nvPr/>
          </p:nvSpPr>
          <p:spPr>
            <a:xfrm>
              <a:off x="1202" y="1888"/>
              <a:ext cx="363" cy="351"/>
            </a:xfrm>
            <a:prstGeom prst="rect">
              <a:avLst/>
            </a:prstGeom>
            <a:pattFill prst="openDmnd">
              <a:fgClr>
                <a:srgbClr val="000000"/>
              </a:fgClr>
              <a:bgClr>
                <a:srgbClr val="FFFFFF"/>
              </a:bgClr>
            </a:pattFill>
            <a:ln w="38100" cap="flat" cmpd="sng">
              <a:solidFill>
                <a:srgbClr val="000000"/>
              </a:solidFill>
              <a:prstDash val="solid"/>
              <a:miter/>
              <a:headEnd type="none" w="med" len="med"/>
              <a:tailEnd type="none" w="med" len="med"/>
            </a:ln>
          </p:spPr>
          <p:txBody>
            <a:bodyPr>
              <a:spAutoFit/>
            </a:bodyPr>
            <a:p>
              <a:pPr algn="ctr"/>
              <a:endParaRPr lang="zh-CN" altLang="zh-CN" dirty="0">
                <a:latin typeface="Arial" panose="020B0604020202020204" pitchFamily="34" charset="0"/>
              </a:endParaRPr>
            </a:p>
          </p:txBody>
        </p:sp>
        <p:sp>
          <p:nvSpPr>
            <p:cNvPr id="22536" name="Text Box 74" descr="50%"/>
            <p:cNvSpPr txBox="1"/>
            <p:nvPr/>
          </p:nvSpPr>
          <p:spPr>
            <a:xfrm>
              <a:off x="1565" y="1888"/>
              <a:ext cx="363" cy="351"/>
            </a:xfrm>
            <a:prstGeom prst="rect">
              <a:avLst/>
            </a:prstGeom>
            <a:pattFill prst="pct50">
              <a:fgClr>
                <a:srgbClr val="000000"/>
              </a:fgClr>
              <a:bgClr>
                <a:srgbClr val="FFFFFF"/>
              </a:bgClr>
            </a:pattFill>
            <a:ln w="38100" cap="flat" cmpd="sng">
              <a:solidFill>
                <a:srgbClr val="000000"/>
              </a:solidFill>
              <a:prstDash val="solid"/>
              <a:miter/>
              <a:headEnd type="none" w="med" len="med"/>
              <a:tailEnd type="none" w="med" len="med"/>
            </a:ln>
          </p:spPr>
          <p:txBody>
            <a:bodyPr>
              <a:spAutoFit/>
            </a:bodyPr>
            <a:p>
              <a:pPr algn="ctr"/>
              <a:endParaRPr lang="zh-CN" altLang="zh-CN" dirty="0">
                <a:latin typeface="Arial" panose="020B0604020202020204" pitchFamily="34" charset="0"/>
              </a:endParaRPr>
            </a:p>
          </p:txBody>
        </p:sp>
        <p:sp>
          <p:nvSpPr>
            <p:cNvPr id="22537" name="Text Box 75" descr="轮廓式菱形"/>
            <p:cNvSpPr txBox="1"/>
            <p:nvPr/>
          </p:nvSpPr>
          <p:spPr>
            <a:xfrm>
              <a:off x="1927" y="1888"/>
              <a:ext cx="363" cy="351"/>
            </a:xfrm>
            <a:prstGeom prst="rect">
              <a:avLst/>
            </a:prstGeom>
            <a:pattFill prst="openDmnd">
              <a:fgClr>
                <a:srgbClr val="000000"/>
              </a:fgClr>
              <a:bgClr>
                <a:srgbClr val="FFFFFF"/>
              </a:bgClr>
            </a:pattFill>
            <a:ln w="38100" cap="flat" cmpd="sng">
              <a:solidFill>
                <a:srgbClr val="000000"/>
              </a:solidFill>
              <a:prstDash val="solid"/>
              <a:miter/>
              <a:headEnd type="none" w="med" len="med"/>
              <a:tailEnd type="none" w="med" len="med"/>
            </a:ln>
          </p:spPr>
          <p:txBody>
            <a:bodyPr>
              <a:spAutoFit/>
            </a:bodyPr>
            <a:p>
              <a:pPr algn="ctr"/>
              <a:endParaRPr lang="zh-CN" altLang="zh-CN" dirty="0">
                <a:latin typeface="Arial" panose="020B0604020202020204" pitchFamily="34" charset="0"/>
              </a:endParaRPr>
            </a:p>
          </p:txBody>
        </p:sp>
        <p:sp>
          <p:nvSpPr>
            <p:cNvPr id="22538" name="Text Box 76" descr="轮廓式菱形"/>
            <p:cNvSpPr txBox="1"/>
            <p:nvPr/>
          </p:nvSpPr>
          <p:spPr>
            <a:xfrm>
              <a:off x="2290" y="1888"/>
              <a:ext cx="363" cy="351"/>
            </a:xfrm>
            <a:prstGeom prst="rect">
              <a:avLst/>
            </a:prstGeom>
            <a:pattFill prst="openDmnd">
              <a:fgClr>
                <a:srgbClr val="000000"/>
              </a:fgClr>
              <a:bgClr>
                <a:srgbClr val="FFFFFF"/>
              </a:bgClr>
            </a:pattFill>
            <a:ln w="38100" cap="flat" cmpd="sng">
              <a:solidFill>
                <a:srgbClr val="000000"/>
              </a:solidFill>
              <a:prstDash val="solid"/>
              <a:miter/>
              <a:headEnd type="none" w="med" len="med"/>
              <a:tailEnd type="none" w="med" len="med"/>
            </a:ln>
          </p:spPr>
          <p:txBody>
            <a:bodyPr>
              <a:spAutoFit/>
            </a:bodyPr>
            <a:p>
              <a:pPr algn="ctr"/>
              <a:endParaRPr lang="zh-CN" altLang="zh-CN" dirty="0">
                <a:latin typeface="Arial" panose="020B0604020202020204" pitchFamily="34" charset="0"/>
              </a:endParaRPr>
            </a:p>
          </p:txBody>
        </p:sp>
        <p:sp>
          <p:nvSpPr>
            <p:cNvPr id="22539" name="Text Box 77"/>
            <p:cNvSpPr txBox="1"/>
            <p:nvPr/>
          </p:nvSpPr>
          <p:spPr>
            <a:xfrm>
              <a:off x="385" y="3666"/>
              <a:ext cx="3311" cy="351"/>
            </a:xfrm>
            <a:prstGeom prst="rect">
              <a:avLst/>
            </a:prstGeom>
            <a:noFill/>
            <a:ln w="38100" cap="flat" cmpd="sng">
              <a:solidFill>
                <a:srgbClr val="000000"/>
              </a:solidFill>
              <a:prstDash val="solid"/>
              <a:miter/>
              <a:headEnd type="none" w="med" len="med"/>
              <a:tailEnd type="none" w="med" len="med"/>
            </a:ln>
          </p:spPr>
          <p:txBody>
            <a:bodyPr>
              <a:spAutoFit/>
            </a:bodyPr>
            <a:p>
              <a:pPr algn="ctr"/>
              <a:r>
                <a:rPr lang="zh-CN" altLang="en-US" dirty="0">
                  <a:latin typeface="Arial" panose="020B0604020202020204" pitchFamily="34" charset="0"/>
                </a:rPr>
                <a:t>记录</a:t>
              </a:r>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22540" name="Text Box 78"/>
            <p:cNvSpPr txBox="1"/>
            <p:nvPr/>
          </p:nvSpPr>
          <p:spPr>
            <a:xfrm>
              <a:off x="4513" y="3666"/>
              <a:ext cx="1044" cy="351"/>
            </a:xfrm>
            <a:prstGeom prst="rect">
              <a:avLst/>
            </a:prstGeom>
            <a:noFill/>
            <a:ln w="38100" cap="flat" cmpd="sng">
              <a:solidFill>
                <a:srgbClr val="000000"/>
              </a:solidFill>
              <a:prstDash val="solid"/>
              <a:miter/>
              <a:headEnd type="none" w="med" len="med"/>
              <a:tailEnd type="none" w="med" len="med"/>
            </a:ln>
          </p:spPr>
          <p:txBody>
            <a:bodyPr>
              <a:spAutoFit/>
            </a:bodyPr>
            <a:p>
              <a:pPr algn="ctr"/>
              <a:r>
                <a:rPr lang="zh-CN" altLang="en-US" dirty="0">
                  <a:latin typeface="Arial" panose="020B0604020202020204" pitchFamily="34" charset="0"/>
                </a:rPr>
                <a:t>记录</a:t>
              </a:r>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22541" name="Text Box 79"/>
            <p:cNvSpPr txBox="1"/>
            <p:nvPr/>
          </p:nvSpPr>
          <p:spPr>
            <a:xfrm>
              <a:off x="3696" y="3666"/>
              <a:ext cx="817" cy="351"/>
            </a:xfrm>
            <a:prstGeom prst="rect">
              <a:avLst/>
            </a:prstGeom>
            <a:noFill/>
            <a:ln w="38100" cap="flat" cmpd="sng">
              <a:solidFill>
                <a:srgbClr val="000000"/>
              </a:solidFill>
              <a:prstDash val="solid"/>
              <a:miter/>
              <a:headEnd type="none" w="med" len="med"/>
              <a:tailEnd type="none" w="med" len="med"/>
            </a:ln>
          </p:spPr>
          <p:txBody>
            <a:bodyPr>
              <a:spAutoFit/>
            </a:bodyPr>
            <a:p>
              <a:pPr algn="ctr"/>
              <a:endParaRPr lang="zh-CN" altLang="zh-CN" dirty="0">
                <a:latin typeface="Arial" panose="020B0604020202020204" pitchFamily="34" charset="0"/>
              </a:endParaRPr>
            </a:p>
          </p:txBody>
        </p:sp>
        <p:sp>
          <p:nvSpPr>
            <p:cNvPr id="22542" name="Text Box 80"/>
            <p:cNvSpPr txBox="1"/>
            <p:nvPr/>
          </p:nvSpPr>
          <p:spPr>
            <a:xfrm>
              <a:off x="4105" y="3312"/>
              <a:ext cx="1452" cy="351"/>
            </a:xfrm>
            <a:prstGeom prst="rect">
              <a:avLst/>
            </a:prstGeom>
            <a:noFill/>
            <a:ln w="38100" cap="flat" cmpd="sng">
              <a:solidFill>
                <a:srgbClr val="000000"/>
              </a:solidFill>
              <a:prstDash val="solid"/>
              <a:miter/>
              <a:headEnd type="none" w="med" len="med"/>
              <a:tailEnd type="none" w="med" len="med"/>
            </a:ln>
          </p:spPr>
          <p:txBody>
            <a:bodyPr>
              <a:spAutoFit/>
            </a:bodyPr>
            <a:p>
              <a:pPr algn="ctr"/>
              <a:r>
                <a:rPr lang="zh-CN" altLang="en-US" dirty="0">
                  <a:latin typeface="Arial" panose="020B0604020202020204" pitchFamily="34" charset="0"/>
                </a:rPr>
                <a:t>记录</a:t>
              </a:r>
              <a:r>
                <a:rPr lang="en-US" altLang="zh-CN" dirty="0">
                  <a:latin typeface="Arial" panose="020B0604020202020204" pitchFamily="34" charset="0"/>
                </a:rPr>
                <a:t>3</a:t>
              </a:r>
              <a:endParaRPr lang="en-US" altLang="zh-CN" dirty="0">
                <a:latin typeface="Arial" panose="020B0604020202020204" pitchFamily="34" charset="0"/>
              </a:endParaRPr>
            </a:p>
          </p:txBody>
        </p:sp>
        <p:sp>
          <p:nvSpPr>
            <p:cNvPr id="22543" name="Text Box 81"/>
            <p:cNvSpPr txBox="1"/>
            <p:nvPr/>
          </p:nvSpPr>
          <p:spPr>
            <a:xfrm>
              <a:off x="3696" y="2251"/>
              <a:ext cx="1452" cy="327"/>
            </a:xfrm>
            <a:prstGeom prst="rect">
              <a:avLst/>
            </a:prstGeom>
            <a:noFill/>
            <a:ln w="38100">
              <a:noFill/>
            </a:ln>
          </p:spPr>
          <p:txBody>
            <a:bodyPr>
              <a:spAutoFit/>
            </a:bodyPr>
            <a:p>
              <a:pPr algn="ctr"/>
              <a:r>
                <a:rPr lang="zh-CN" altLang="en-US" dirty="0">
                  <a:latin typeface="Arial" panose="020B0604020202020204" pitchFamily="34" charset="0"/>
                </a:rPr>
                <a:t>空闲空间</a:t>
              </a:r>
              <a:endParaRPr lang="zh-CN" altLang="en-US" dirty="0">
                <a:latin typeface="Arial" panose="020B0604020202020204" pitchFamily="34" charset="0"/>
              </a:endParaRPr>
            </a:p>
          </p:txBody>
        </p:sp>
        <p:sp>
          <p:nvSpPr>
            <p:cNvPr id="22544" name="Line 82"/>
            <p:cNvSpPr/>
            <p:nvPr/>
          </p:nvSpPr>
          <p:spPr>
            <a:xfrm>
              <a:off x="1383" y="2160"/>
              <a:ext cx="3130" cy="1497"/>
            </a:xfrm>
            <a:prstGeom prst="line">
              <a:avLst/>
            </a:prstGeom>
            <a:ln w="38100" cap="flat" cmpd="sng">
              <a:solidFill>
                <a:srgbClr val="0000CC"/>
              </a:solidFill>
              <a:prstDash val="solid"/>
              <a:headEnd type="none" w="med" len="med"/>
              <a:tailEnd type="arrow" w="med" len="med"/>
            </a:ln>
          </p:spPr>
        </p:sp>
        <p:sp>
          <p:nvSpPr>
            <p:cNvPr id="22545" name="Line 83"/>
            <p:cNvSpPr/>
            <p:nvPr/>
          </p:nvSpPr>
          <p:spPr>
            <a:xfrm>
              <a:off x="1746" y="2160"/>
              <a:ext cx="1950" cy="1497"/>
            </a:xfrm>
            <a:prstGeom prst="line">
              <a:avLst/>
            </a:prstGeom>
            <a:ln w="38100" cap="flat" cmpd="sng">
              <a:solidFill>
                <a:srgbClr val="FF0000"/>
              </a:solidFill>
              <a:prstDash val="solid"/>
              <a:headEnd type="none" w="med" len="med"/>
              <a:tailEnd type="arrow" w="med" len="med"/>
            </a:ln>
          </p:spPr>
        </p:sp>
        <p:sp>
          <p:nvSpPr>
            <p:cNvPr id="22546" name="Line 84"/>
            <p:cNvSpPr/>
            <p:nvPr/>
          </p:nvSpPr>
          <p:spPr>
            <a:xfrm flipH="1">
              <a:off x="431" y="2160"/>
              <a:ext cx="1678" cy="1497"/>
            </a:xfrm>
            <a:prstGeom prst="line">
              <a:avLst/>
            </a:prstGeom>
            <a:ln w="38100" cap="flat" cmpd="sng">
              <a:solidFill>
                <a:srgbClr val="0000CC"/>
              </a:solidFill>
              <a:prstDash val="solid"/>
              <a:headEnd type="none" w="med" len="med"/>
              <a:tailEnd type="arrow" w="med" len="med"/>
            </a:ln>
          </p:spPr>
        </p:sp>
        <p:sp>
          <p:nvSpPr>
            <p:cNvPr id="22547" name="Line 85"/>
            <p:cNvSpPr/>
            <p:nvPr/>
          </p:nvSpPr>
          <p:spPr>
            <a:xfrm>
              <a:off x="2472" y="2160"/>
              <a:ext cx="1633" cy="1134"/>
            </a:xfrm>
            <a:prstGeom prst="line">
              <a:avLst/>
            </a:prstGeom>
            <a:ln w="38100" cap="flat" cmpd="sng">
              <a:solidFill>
                <a:srgbClr val="0000CC"/>
              </a:solidFill>
              <a:prstDash val="solid"/>
              <a:headEnd type="none" w="med" len="med"/>
              <a:tailEnd type="arrow" w="med" len="med"/>
            </a:ln>
          </p:spPr>
        </p:sp>
      </p:grpSp>
    </p:spTree>
  </p:cSld>
  <p:clrMapOvr>
    <a:masterClrMapping/>
  </p:clrMapOvr>
  <p:transition>
    <p:random/>
    <p:sndAc>
      <p:stSnd>
        <p:snd r:embed="rId1" name="CAMERA.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idx="1"/>
          </p:nvPr>
        </p:nvSpPr>
        <p:spPr>
          <a:xfrm>
            <a:off x="152400" y="1143000"/>
            <a:ext cx="8991600" cy="5454650"/>
          </a:xfrm>
        </p:spPr>
        <p:txBody>
          <a:bodyPr vert="horz" wrap="square" lIns="91440" tIns="45720" rIns="91440" bIns="45720" anchor="t" anchorCtr="0"/>
          <a:p>
            <a:pPr marL="0" indent="0" eaLnBrk="1" hangingPunct="1">
              <a:lnSpc>
                <a:spcPct val="110000"/>
              </a:lnSpc>
              <a:buNone/>
            </a:pPr>
            <a:r>
              <a:rPr lang="en-US" altLang="zh-CN" dirty="0">
                <a:latin typeface="Arial" panose="020B0604020202020204" pitchFamily="34" charset="0"/>
              </a:rPr>
              <a:t>   </a:t>
            </a:r>
            <a:r>
              <a:rPr lang="zh-CN" altLang="en-US" dirty="0">
                <a:latin typeface="Arial" panose="020B0604020202020204" pitchFamily="34" charset="0"/>
              </a:rPr>
              <a:t>从</a:t>
            </a:r>
            <a:r>
              <a:rPr lang="zh-CN" altLang="en-US" dirty="0">
                <a:solidFill>
                  <a:srgbClr val="0066CC"/>
                </a:solidFill>
                <a:latin typeface="Arial" panose="020B0604020202020204" pitchFamily="34" charset="0"/>
              </a:rPr>
              <a:t>物理存储</a:t>
            </a:r>
            <a:r>
              <a:rPr lang="zh-CN" altLang="en-US" dirty="0">
                <a:latin typeface="Arial" panose="020B0604020202020204" pitchFamily="34" charset="0"/>
              </a:rPr>
              <a:t>角度考虑，记录构成</a:t>
            </a:r>
            <a:r>
              <a:rPr lang="zh-CN" altLang="en-US" dirty="0">
                <a:solidFill>
                  <a:srgbClr val="0066CC"/>
                </a:solidFill>
                <a:latin typeface="Arial" panose="020B0604020202020204" pitchFamily="34" charset="0"/>
              </a:rPr>
              <a:t>块</a:t>
            </a:r>
            <a:r>
              <a:rPr lang="zh-CN" altLang="en-US" dirty="0">
                <a:latin typeface="Arial" panose="020B0604020202020204" pitchFamily="34" charset="0"/>
              </a:rPr>
              <a:t>；</a:t>
            </a:r>
            <a:endParaRPr lang="zh-CN" altLang="en-US" dirty="0">
              <a:latin typeface="Arial" panose="020B0604020202020204" pitchFamily="34" charset="0"/>
            </a:endParaRPr>
          </a:p>
          <a:p>
            <a:pPr marL="0" indent="0" eaLnBrk="1" hangingPunct="1">
              <a:lnSpc>
                <a:spcPct val="110000"/>
              </a:lnSpc>
              <a:buNone/>
            </a:pPr>
            <a:r>
              <a:rPr lang="zh-CN" altLang="en-US" dirty="0">
                <a:latin typeface="Arial" panose="020B0604020202020204" pitchFamily="34" charset="0"/>
              </a:rPr>
              <a:t>   从</a:t>
            </a:r>
            <a:r>
              <a:rPr lang="zh-CN" altLang="en-US" dirty="0">
                <a:solidFill>
                  <a:srgbClr val="0066CC"/>
                </a:solidFill>
                <a:latin typeface="Arial" panose="020B0604020202020204" pitchFamily="34" charset="0"/>
              </a:rPr>
              <a:t>逻辑存储</a:t>
            </a:r>
            <a:r>
              <a:rPr lang="zh-CN" altLang="en-US" dirty="0">
                <a:latin typeface="Arial" panose="020B0604020202020204" pitchFamily="34" charset="0"/>
              </a:rPr>
              <a:t>角度考虑，记录构成</a:t>
            </a:r>
            <a:r>
              <a:rPr lang="zh-CN" altLang="en-US" dirty="0">
                <a:solidFill>
                  <a:srgbClr val="0066CC"/>
                </a:solidFill>
                <a:latin typeface="Arial" panose="020B0604020202020204" pitchFamily="34" charset="0"/>
              </a:rPr>
              <a:t>文件</a:t>
            </a:r>
            <a:r>
              <a:rPr lang="zh-CN" altLang="en-US" dirty="0">
                <a:latin typeface="Arial" panose="020B0604020202020204" pitchFamily="34" charset="0"/>
              </a:rPr>
              <a:t>；</a:t>
            </a:r>
            <a:endParaRPr lang="zh-CN" altLang="en-US" dirty="0">
              <a:latin typeface="Arial" panose="020B0604020202020204" pitchFamily="34" charset="0"/>
            </a:endParaRPr>
          </a:p>
          <a:p>
            <a:pPr marL="0" indent="0" eaLnBrk="1" hangingPunct="1">
              <a:lnSpc>
                <a:spcPct val="110000"/>
              </a:lnSpc>
              <a:buNone/>
            </a:pPr>
            <a:endParaRPr lang="zh-CN" altLang="en-US" sz="2000" dirty="0">
              <a:latin typeface="Arial" panose="020B0604020202020204" pitchFamily="34" charset="0"/>
            </a:endParaRPr>
          </a:p>
          <a:p>
            <a:pPr marL="0" indent="0" eaLnBrk="1" hangingPunct="1">
              <a:lnSpc>
                <a:spcPct val="110000"/>
              </a:lnSpc>
              <a:buNone/>
            </a:pPr>
            <a:r>
              <a:rPr lang="zh-CN" altLang="en-US" dirty="0">
                <a:latin typeface="Arial" panose="020B0604020202020204" pitchFamily="34" charset="0"/>
              </a:rPr>
              <a:t>     常用的文件组织方式：</a:t>
            </a:r>
            <a:endParaRPr lang="zh-CN" altLang="en-US" dirty="0">
              <a:latin typeface="Arial" panose="020B0604020202020204" pitchFamily="34" charset="0"/>
            </a:endParaRPr>
          </a:p>
          <a:p>
            <a:pPr lvl="1" eaLnBrk="1" hangingPunct="1">
              <a:lnSpc>
                <a:spcPct val="110000"/>
              </a:lnSpc>
              <a:spcBef>
                <a:spcPct val="0"/>
              </a:spcBef>
              <a:buNone/>
            </a:pPr>
            <a:r>
              <a:rPr lang="en-US" altLang="zh-CN" sz="3600" dirty="0">
                <a:latin typeface="Arial" panose="020B0604020202020204" pitchFamily="34" charset="0"/>
              </a:rPr>
              <a:t>(1) </a:t>
            </a:r>
            <a:r>
              <a:rPr lang="zh-CN" altLang="en-US" sz="3600" dirty="0">
                <a:latin typeface="Arial" panose="020B0604020202020204" pitchFamily="34" charset="0"/>
              </a:rPr>
              <a:t>堆文件</a:t>
            </a:r>
            <a:endParaRPr lang="zh-CN" altLang="en-US" sz="3600" dirty="0">
              <a:latin typeface="Arial" panose="020B0604020202020204" pitchFamily="34" charset="0"/>
            </a:endParaRPr>
          </a:p>
          <a:p>
            <a:pPr lvl="1" eaLnBrk="1" hangingPunct="1">
              <a:lnSpc>
                <a:spcPct val="110000"/>
              </a:lnSpc>
              <a:spcBef>
                <a:spcPct val="10000"/>
              </a:spcBef>
              <a:buNone/>
            </a:pPr>
            <a:r>
              <a:rPr lang="en-US" altLang="zh-CN" sz="3600" dirty="0">
                <a:latin typeface="Arial" panose="020B0604020202020204" pitchFamily="34" charset="0"/>
              </a:rPr>
              <a:t>(2) </a:t>
            </a:r>
            <a:r>
              <a:rPr lang="zh-CN" altLang="en-US" sz="3600" dirty="0">
                <a:latin typeface="Arial" panose="020B0604020202020204" pitchFamily="34" charset="0"/>
              </a:rPr>
              <a:t>顺序文件</a:t>
            </a:r>
            <a:endParaRPr lang="zh-CN" altLang="en-US" sz="3600" dirty="0">
              <a:latin typeface="Arial" panose="020B0604020202020204" pitchFamily="34" charset="0"/>
            </a:endParaRPr>
          </a:p>
          <a:p>
            <a:pPr lvl="1" eaLnBrk="1" hangingPunct="1">
              <a:lnSpc>
                <a:spcPct val="110000"/>
              </a:lnSpc>
              <a:spcBef>
                <a:spcPct val="10000"/>
              </a:spcBef>
              <a:buNone/>
            </a:pPr>
            <a:r>
              <a:rPr lang="en-US" altLang="zh-CN" sz="3600" dirty="0">
                <a:latin typeface="Arial" panose="020B0604020202020204" pitchFamily="34" charset="0"/>
              </a:rPr>
              <a:t>(3) </a:t>
            </a:r>
            <a:r>
              <a:rPr lang="zh-CN" altLang="en-US" sz="3600" dirty="0">
                <a:latin typeface="Arial" panose="020B0604020202020204" pitchFamily="34" charset="0"/>
              </a:rPr>
              <a:t>聚集文件</a:t>
            </a:r>
            <a:endParaRPr lang="zh-CN" altLang="en-US" sz="3600" dirty="0">
              <a:latin typeface="Arial" panose="020B0604020202020204" pitchFamily="34" charset="0"/>
            </a:endParaRPr>
          </a:p>
          <a:p>
            <a:pPr lvl="1" eaLnBrk="1" hangingPunct="1">
              <a:lnSpc>
                <a:spcPct val="110000"/>
              </a:lnSpc>
              <a:spcBef>
                <a:spcPct val="10000"/>
              </a:spcBef>
              <a:buNone/>
            </a:pPr>
            <a:r>
              <a:rPr lang="en-US" altLang="zh-CN" sz="3600" dirty="0">
                <a:latin typeface="Arial" panose="020B0604020202020204" pitchFamily="34" charset="0"/>
              </a:rPr>
              <a:t>(4) </a:t>
            </a:r>
            <a:r>
              <a:rPr lang="zh-CN" altLang="en-US" sz="3600" dirty="0">
                <a:latin typeface="Arial" panose="020B0604020202020204" pitchFamily="34" charset="0"/>
              </a:rPr>
              <a:t>散列文件</a:t>
            </a:r>
            <a:endParaRPr lang="zh-CN" altLang="en-US" sz="3600" dirty="0">
              <a:latin typeface="Arial" panose="020B0604020202020204" pitchFamily="34" charset="0"/>
            </a:endParaRPr>
          </a:p>
        </p:txBody>
      </p:sp>
      <p:sp>
        <p:nvSpPr>
          <p:cNvPr id="13315"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4</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、文件组织方式</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13324" name="AutoShape 12">
            <a:hlinkClick r:id="rId1" action="ppaction://hlinksldjump"/>
          </p:cNvPr>
          <p:cNvSpPr>
            <a:spLocks noChangeArrowheads="1"/>
          </p:cNvSpPr>
          <p:nvPr/>
        </p:nvSpPr>
        <p:spPr bwMode="auto">
          <a:xfrm>
            <a:off x="8316913" y="6122988"/>
            <a:ext cx="576263" cy="6191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13325" name="AutoShape 13">
            <a:hlinkClick r:id="rId2" action="ppaction://hlinksldjump"/>
          </p:cNvPr>
          <p:cNvSpPr>
            <a:spLocks noChangeArrowheads="1"/>
          </p:cNvSpPr>
          <p:nvPr/>
        </p:nvSpPr>
        <p:spPr bwMode="auto">
          <a:xfrm flipH="1">
            <a:off x="4427538" y="3357563"/>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13326" name="AutoShape 14">
            <a:hlinkClick r:id="rId3" action="ppaction://hlinksldjump"/>
          </p:cNvPr>
          <p:cNvSpPr>
            <a:spLocks noChangeArrowheads="1"/>
          </p:cNvSpPr>
          <p:nvPr/>
        </p:nvSpPr>
        <p:spPr bwMode="auto">
          <a:xfrm flipH="1">
            <a:off x="4427538" y="4005263"/>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
        <p:nvSpPr>
          <p:cNvPr id="13328" name="AutoShape 16">
            <a:hlinkClick r:id="rId4" action="ppaction://hlinksldjump"/>
          </p:cNvPr>
          <p:cNvSpPr>
            <a:spLocks noChangeArrowheads="1"/>
          </p:cNvSpPr>
          <p:nvPr/>
        </p:nvSpPr>
        <p:spPr bwMode="auto">
          <a:xfrm flipH="1">
            <a:off x="4427538" y="46672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0" lang="zh-CN" altLang="zh-CN"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5" name="CAMERA.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idx="1"/>
          </p:nvPr>
        </p:nvSpPr>
        <p:spPr>
          <a:xfrm>
            <a:off x="152400" y="1052513"/>
            <a:ext cx="7083425" cy="5454650"/>
          </a:xfrm>
        </p:spPr>
        <p:txBody>
          <a:bodyPr vert="horz" wrap="square" lIns="91440" tIns="45720" rIns="91440" bIns="45720" anchor="t" anchorCtr="0"/>
          <a:p>
            <a:pPr marL="268605" indent="-268605" eaLnBrk="1" hangingPunct="1">
              <a:buNone/>
            </a:pPr>
            <a:r>
              <a:rPr lang="en-US" altLang="zh-CN" dirty="0">
                <a:latin typeface="Arial" panose="020B0604020202020204" pitchFamily="34" charset="0"/>
              </a:rPr>
              <a:t>          </a:t>
            </a:r>
            <a:r>
              <a:rPr lang="zh-CN" altLang="en-US" dirty="0">
                <a:latin typeface="Arial" panose="020B0604020202020204" pitchFamily="34" charset="0"/>
              </a:rPr>
              <a:t>记录间没有次序关系，新加入的记录可以存储在文件中任何有空的地方。</a:t>
            </a:r>
            <a:endParaRPr lang="zh-CN" altLang="en-US" dirty="0">
              <a:latin typeface="Arial" panose="020B0604020202020204" pitchFamily="34" charset="0"/>
            </a:endParaRPr>
          </a:p>
          <a:p>
            <a:pPr marL="268605" indent="-268605" eaLnBrk="1" hangingPunct="1"/>
            <a:r>
              <a:rPr lang="zh-CN" altLang="en-US" dirty="0">
                <a:latin typeface="Arial" panose="020B0604020202020204" pitchFamily="34" charset="0"/>
              </a:rPr>
              <a:t>操作</a:t>
            </a:r>
            <a:endParaRPr lang="zh-CN" altLang="en-US" dirty="0">
              <a:latin typeface="Arial" panose="020B0604020202020204" pitchFamily="34" charset="0"/>
            </a:endParaRPr>
          </a:p>
          <a:p>
            <a:pPr marL="803275" lvl="1" indent="-266700" eaLnBrk="1" hangingPunct="1"/>
            <a:r>
              <a:rPr lang="zh-CN" altLang="en-US" dirty="0">
                <a:latin typeface="Arial" panose="020B0604020202020204" pitchFamily="34" charset="0"/>
              </a:rPr>
              <a:t>查找：顺序扫描</a:t>
            </a:r>
            <a:endParaRPr lang="zh-CN" altLang="en-US" dirty="0">
              <a:latin typeface="Arial" panose="020B0604020202020204" pitchFamily="34" charset="0"/>
            </a:endParaRPr>
          </a:p>
          <a:p>
            <a:pPr marL="803275" lvl="1" indent="-266700" eaLnBrk="1" hangingPunct="1">
              <a:spcBef>
                <a:spcPct val="0"/>
              </a:spcBef>
            </a:pPr>
            <a:r>
              <a:rPr lang="zh-CN" altLang="en-US" dirty="0">
                <a:latin typeface="Arial" panose="020B0604020202020204" pitchFamily="34" charset="0"/>
              </a:rPr>
              <a:t>插入：从未用空间始地开始存放</a:t>
            </a:r>
            <a:endParaRPr lang="zh-CN" altLang="en-US" dirty="0">
              <a:latin typeface="Arial" panose="020B0604020202020204" pitchFamily="34" charset="0"/>
            </a:endParaRPr>
          </a:p>
          <a:p>
            <a:pPr marL="803275" lvl="1" indent="-266700" eaLnBrk="1" hangingPunct="1">
              <a:spcBef>
                <a:spcPct val="0"/>
              </a:spcBef>
            </a:pPr>
            <a:r>
              <a:rPr lang="zh-CN" altLang="en-US" dirty="0">
                <a:latin typeface="Arial" panose="020B0604020202020204" pitchFamily="34" charset="0"/>
              </a:rPr>
              <a:t>删除：作删除标记</a:t>
            </a:r>
            <a:endParaRPr lang="zh-CN" altLang="en-US" dirty="0">
              <a:latin typeface="Arial" panose="020B0604020202020204" pitchFamily="34" charset="0"/>
            </a:endParaRPr>
          </a:p>
          <a:p>
            <a:pPr marL="268605" indent="-268605" eaLnBrk="1" hangingPunct="1"/>
            <a:r>
              <a:rPr lang="zh-CN" altLang="en-US" dirty="0">
                <a:latin typeface="Arial" panose="020B0604020202020204" pitchFamily="34" charset="0"/>
              </a:rPr>
              <a:t>特点</a:t>
            </a:r>
            <a:endParaRPr lang="zh-CN" altLang="en-US" dirty="0">
              <a:latin typeface="Arial" panose="020B0604020202020204" pitchFamily="34" charset="0"/>
            </a:endParaRPr>
          </a:p>
          <a:p>
            <a:pPr marL="803275" lvl="1" indent="-266700" eaLnBrk="1" hangingPunct="1">
              <a:spcBef>
                <a:spcPct val="0"/>
              </a:spcBef>
            </a:pPr>
            <a:r>
              <a:rPr lang="zh-CN" altLang="en-US" dirty="0"/>
              <a:t>操作比较简单</a:t>
            </a:r>
            <a:endParaRPr lang="zh-CN" altLang="en-US" dirty="0"/>
          </a:p>
          <a:p>
            <a:pPr marL="803275" lvl="1" indent="-266700" eaLnBrk="1" hangingPunct="1">
              <a:spcBef>
                <a:spcPct val="0"/>
              </a:spcBef>
            </a:pPr>
            <a:r>
              <a:rPr lang="zh-CN" altLang="en-US" dirty="0"/>
              <a:t>查找效率比较低</a:t>
            </a:r>
            <a:endParaRPr lang="zh-CN" altLang="en-US" dirty="0"/>
          </a:p>
        </p:txBody>
      </p:sp>
      <p:sp>
        <p:nvSpPr>
          <p:cNvPr id="5632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、堆文件</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4580" name="Group 24"/>
          <p:cNvGrpSpPr/>
          <p:nvPr/>
        </p:nvGrpSpPr>
        <p:grpSpPr>
          <a:xfrm>
            <a:off x="6507163" y="1268413"/>
            <a:ext cx="2457450" cy="3903662"/>
            <a:chOff x="3792" y="1162"/>
            <a:chExt cx="1548" cy="2459"/>
          </a:xfrm>
        </p:grpSpPr>
        <p:sp>
          <p:nvSpPr>
            <p:cNvPr id="24582" name="Rectangle 8"/>
            <p:cNvSpPr/>
            <p:nvPr/>
          </p:nvSpPr>
          <p:spPr>
            <a:xfrm>
              <a:off x="4513" y="2704"/>
              <a:ext cx="680" cy="635"/>
            </a:xfrm>
            <a:prstGeom prst="rect">
              <a:avLst/>
            </a:prstGeom>
            <a:noFill/>
            <a:ln w="9525">
              <a:noFill/>
            </a:ln>
          </p:spPr>
          <p:txBody>
            <a:bodyPr/>
            <a:p>
              <a:pPr algn="ctr">
                <a:spcBef>
                  <a:spcPct val="0"/>
                </a:spcBef>
                <a:buClr>
                  <a:srgbClr val="FF0000"/>
                </a:buClr>
                <a:buSzPct val="65000"/>
                <a:buFont typeface="Wingdings" panose="05000000000000000000" pitchFamily="2" charset="2"/>
              </a:pPr>
              <a:r>
                <a:rPr lang="zh-CN" altLang="en-US" sz="3200" dirty="0">
                  <a:latin typeface="Times New Roman" panose="02020603050405020304" pitchFamily="18" charset="0"/>
                </a:rPr>
                <a:t>未用</a:t>
              </a:r>
              <a:endParaRPr lang="zh-CN" altLang="en-US" sz="3200" dirty="0">
                <a:latin typeface="Times New Roman" panose="02020603050405020304" pitchFamily="18" charset="0"/>
              </a:endParaRPr>
            </a:p>
            <a:p>
              <a:pPr algn="ctr">
                <a:spcBef>
                  <a:spcPct val="0"/>
                </a:spcBef>
                <a:buClr>
                  <a:srgbClr val="FF0000"/>
                </a:buClr>
                <a:buSzPct val="65000"/>
                <a:buFont typeface="Wingdings" panose="05000000000000000000" pitchFamily="2" charset="2"/>
              </a:pPr>
              <a:r>
                <a:rPr lang="zh-CN" altLang="en-US" sz="3200" dirty="0">
                  <a:latin typeface="Times New Roman" panose="02020603050405020304" pitchFamily="18" charset="0"/>
                </a:rPr>
                <a:t>空间</a:t>
              </a:r>
              <a:endParaRPr lang="zh-CN" altLang="en-US" sz="3200" dirty="0">
                <a:latin typeface="Times New Roman" panose="02020603050405020304" pitchFamily="18" charset="0"/>
              </a:endParaRPr>
            </a:p>
          </p:txBody>
        </p:sp>
        <p:sp>
          <p:nvSpPr>
            <p:cNvPr id="24583" name="Line 13"/>
            <p:cNvSpPr/>
            <p:nvPr/>
          </p:nvSpPr>
          <p:spPr>
            <a:xfrm>
              <a:off x="4332" y="1162"/>
              <a:ext cx="1008" cy="0"/>
            </a:xfrm>
            <a:prstGeom prst="line">
              <a:avLst/>
            </a:prstGeom>
            <a:ln w="38100" cap="sq" cmpd="sng">
              <a:solidFill>
                <a:srgbClr val="0000CC"/>
              </a:solidFill>
              <a:prstDash val="solid"/>
              <a:headEnd type="none" w="med" len="med"/>
              <a:tailEnd type="none" w="med" len="med"/>
            </a:ln>
          </p:spPr>
        </p:sp>
        <p:sp>
          <p:nvSpPr>
            <p:cNvPr id="24584" name="Line 14"/>
            <p:cNvSpPr/>
            <p:nvPr/>
          </p:nvSpPr>
          <p:spPr>
            <a:xfrm>
              <a:off x="4332" y="1399"/>
              <a:ext cx="1008" cy="0"/>
            </a:xfrm>
            <a:prstGeom prst="line">
              <a:avLst/>
            </a:prstGeom>
            <a:ln w="19050" cap="flat" cmpd="sng">
              <a:solidFill>
                <a:srgbClr val="0000CC"/>
              </a:solidFill>
              <a:prstDash val="solid"/>
              <a:headEnd type="none" w="med" len="med"/>
              <a:tailEnd type="none" w="med" len="med"/>
            </a:ln>
          </p:spPr>
        </p:sp>
        <p:sp>
          <p:nvSpPr>
            <p:cNvPr id="24585" name="Line 15"/>
            <p:cNvSpPr/>
            <p:nvPr/>
          </p:nvSpPr>
          <p:spPr>
            <a:xfrm>
              <a:off x="4332" y="1875"/>
              <a:ext cx="1008" cy="0"/>
            </a:xfrm>
            <a:prstGeom prst="line">
              <a:avLst/>
            </a:prstGeom>
            <a:ln w="19050" cap="flat" cmpd="sng">
              <a:solidFill>
                <a:srgbClr val="0000CC"/>
              </a:solidFill>
              <a:prstDash val="solid"/>
              <a:headEnd type="none" w="med" len="med"/>
              <a:tailEnd type="none" w="med" len="med"/>
            </a:ln>
          </p:spPr>
        </p:sp>
        <p:sp>
          <p:nvSpPr>
            <p:cNvPr id="24586" name="Line 16"/>
            <p:cNvSpPr/>
            <p:nvPr/>
          </p:nvSpPr>
          <p:spPr>
            <a:xfrm>
              <a:off x="4332" y="2351"/>
              <a:ext cx="1008" cy="0"/>
            </a:xfrm>
            <a:prstGeom prst="line">
              <a:avLst/>
            </a:prstGeom>
            <a:ln w="19050" cap="flat" cmpd="sng">
              <a:solidFill>
                <a:srgbClr val="0000CC"/>
              </a:solidFill>
              <a:prstDash val="solid"/>
              <a:headEnd type="none" w="med" len="med"/>
              <a:tailEnd type="none" w="med" len="med"/>
            </a:ln>
          </p:spPr>
        </p:sp>
        <p:sp>
          <p:nvSpPr>
            <p:cNvPr id="24587" name="Line 17"/>
            <p:cNvSpPr/>
            <p:nvPr/>
          </p:nvSpPr>
          <p:spPr>
            <a:xfrm>
              <a:off x="4332" y="3621"/>
              <a:ext cx="1008" cy="0"/>
            </a:xfrm>
            <a:prstGeom prst="line">
              <a:avLst/>
            </a:prstGeom>
            <a:ln w="38100" cap="sq" cmpd="sng">
              <a:solidFill>
                <a:srgbClr val="0000CC"/>
              </a:solidFill>
              <a:prstDash val="solid"/>
              <a:headEnd type="none" w="med" len="med"/>
              <a:tailEnd type="none" w="med" len="med"/>
            </a:ln>
          </p:spPr>
        </p:sp>
        <p:sp>
          <p:nvSpPr>
            <p:cNvPr id="24588" name="Line 18"/>
            <p:cNvSpPr/>
            <p:nvPr/>
          </p:nvSpPr>
          <p:spPr>
            <a:xfrm>
              <a:off x="4332" y="1162"/>
              <a:ext cx="0" cy="2459"/>
            </a:xfrm>
            <a:prstGeom prst="line">
              <a:avLst/>
            </a:prstGeom>
            <a:ln w="38100" cap="sq" cmpd="sng">
              <a:solidFill>
                <a:srgbClr val="0000CC"/>
              </a:solidFill>
              <a:prstDash val="solid"/>
              <a:headEnd type="none" w="med" len="med"/>
              <a:tailEnd type="none" w="med" len="med"/>
            </a:ln>
          </p:spPr>
        </p:sp>
        <p:sp>
          <p:nvSpPr>
            <p:cNvPr id="24589" name="Line 19"/>
            <p:cNvSpPr/>
            <p:nvPr/>
          </p:nvSpPr>
          <p:spPr>
            <a:xfrm>
              <a:off x="5340" y="1162"/>
              <a:ext cx="0" cy="2459"/>
            </a:xfrm>
            <a:prstGeom prst="line">
              <a:avLst/>
            </a:prstGeom>
            <a:ln w="38100" cap="sq" cmpd="sng">
              <a:solidFill>
                <a:srgbClr val="0000CC"/>
              </a:solidFill>
              <a:prstDash val="solid"/>
              <a:headEnd type="none" w="med" len="med"/>
              <a:tailEnd type="none" w="med" len="med"/>
            </a:ln>
          </p:spPr>
        </p:sp>
        <p:sp>
          <p:nvSpPr>
            <p:cNvPr id="24590" name="Line 21"/>
            <p:cNvSpPr/>
            <p:nvPr/>
          </p:nvSpPr>
          <p:spPr>
            <a:xfrm>
              <a:off x="4320" y="2113"/>
              <a:ext cx="1008" cy="0"/>
            </a:xfrm>
            <a:prstGeom prst="line">
              <a:avLst/>
            </a:prstGeom>
            <a:ln w="19050" cap="flat" cmpd="sng">
              <a:solidFill>
                <a:srgbClr val="0000CC"/>
              </a:solidFill>
              <a:prstDash val="solid"/>
              <a:headEnd type="none" w="med" len="med"/>
              <a:tailEnd type="none" w="med" len="med"/>
            </a:ln>
          </p:spPr>
        </p:sp>
        <p:sp>
          <p:nvSpPr>
            <p:cNvPr id="24591" name="Line 22"/>
            <p:cNvSpPr/>
            <p:nvPr/>
          </p:nvSpPr>
          <p:spPr>
            <a:xfrm>
              <a:off x="4320" y="1637"/>
              <a:ext cx="1008" cy="0"/>
            </a:xfrm>
            <a:prstGeom prst="line">
              <a:avLst/>
            </a:prstGeom>
            <a:ln w="19050" cap="flat" cmpd="sng">
              <a:solidFill>
                <a:srgbClr val="0000CC"/>
              </a:solidFill>
              <a:prstDash val="solid"/>
              <a:headEnd type="none" w="med" len="med"/>
              <a:tailEnd type="none" w="med" len="med"/>
            </a:ln>
          </p:spPr>
        </p:sp>
        <p:sp>
          <p:nvSpPr>
            <p:cNvPr id="24592" name="Line 23"/>
            <p:cNvSpPr/>
            <p:nvPr/>
          </p:nvSpPr>
          <p:spPr>
            <a:xfrm>
              <a:off x="3792" y="2341"/>
              <a:ext cx="528" cy="0"/>
            </a:xfrm>
            <a:prstGeom prst="line">
              <a:avLst/>
            </a:prstGeom>
            <a:ln w="57150" cap="flat" cmpd="sng">
              <a:solidFill>
                <a:srgbClr val="0000CC"/>
              </a:solidFill>
              <a:prstDash val="solid"/>
              <a:headEnd type="none" w="med" len="med"/>
              <a:tailEnd type="arrow" w="med" len="med"/>
            </a:ln>
          </p:spPr>
        </p:sp>
      </p:grpSp>
      <p:sp>
        <p:nvSpPr>
          <p:cNvPr id="56345" name="AutoShape 25">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2">
                                            <p:txEl>
                                              <p:charRg st="43" end="4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322">
                                            <p:txEl>
                                              <p:charRg st="46" end="5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6322">
                                            <p:txEl>
                                              <p:charRg st="54" end="6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322">
                                            <p:txEl>
                                              <p:charRg st="69" end="7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6322">
                                            <p:txEl>
                                              <p:charRg st="78" end="8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322">
                                            <p:txEl>
                                              <p:charRg st="81" end="8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6322">
                                            <p:txEl>
                                              <p:charRg st="88" end="9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idx="1"/>
          </p:nvPr>
        </p:nvSpPr>
        <p:spPr>
          <a:xfrm>
            <a:off x="179388" y="981075"/>
            <a:ext cx="8785225" cy="5273675"/>
          </a:xfrm>
        </p:spPr>
        <p:txBody>
          <a:bodyPr vert="horz" wrap="square" lIns="91440" tIns="45720" rIns="91440" bIns="45720" anchor="t" anchorCtr="0"/>
          <a:p>
            <a:pPr marL="268605" indent="-268605" defTabSz="914400" eaLnBrk="1" hangingPunct="1">
              <a:lnSpc>
                <a:spcPct val="110000"/>
              </a:lnSpc>
              <a:buNone/>
              <a:tabLst>
                <a:tab pos="5643880" algn="l"/>
              </a:tabLst>
            </a:pPr>
            <a:r>
              <a:rPr lang="en-US" altLang="zh-CN" sz="3200" dirty="0">
                <a:latin typeface="Arial" panose="020B0604020202020204" pitchFamily="34" charset="0"/>
              </a:rPr>
              <a:t> </a:t>
            </a:r>
            <a:r>
              <a:rPr lang="zh-CN" altLang="en-US" dirty="0">
                <a:latin typeface="Arial" panose="020B0604020202020204" pitchFamily="34" charset="0"/>
              </a:rPr>
              <a:t>记录按某些</a:t>
            </a:r>
            <a:r>
              <a:rPr lang="zh-CN" altLang="en-US" u="sng" dirty="0">
                <a:latin typeface="Arial" panose="020B0604020202020204" pitchFamily="34" charset="0"/>
              </a:rPr>
              <a:t>指定</a:t>
            </a:r>
            <a:r>
              <a:rPr lang="zh-CN" altLang="en-US" dirty="0">
                <a:latin typeface="Arial" panose="020B0604020202020204" pitchFamily="34" charset="0"/>
              </a:rPr>
              <a:t>的字段</a:t>
            </a:r>
            <a:r>
              <a:rPr lang="en-US" altLang="zh-CN" dirty="0">
                <a:latin typeface="Arial" panose="020B0604020202020204" pitchFamily="34" charset="0"/>
              </a:rPr>
              <a:t>(</a:t>
            </a:r>
            <a:r>
              <a:rPr lang="zh-CN" altLang="en-US" dirty="0">
                <a:latin typeface="Arial" panose="020B0604020202020204" pitchFamily="34" charset="0"/>
              </a:rPr>
              <a:t>搜索键</a:t>
            </a:r>
            <a:r>
              <a:rPr lang="en-US" altLang="zh-CN" dirty="0">
                <a:latin typeface="Arial" panose="020B0604020202020204" pitchFamily="34" charset="0"/>
              </a:rPr>
              <a:t>)</a:t>
            </a:r>
            <a:r>
              <a:rPr lang="zh-CN" altLang="en-US" dirty="0">
                <a:latin typeface="Arial" panose="020B0604020202020204" pitchFamily="34" charset="0"/>
              </a:rPr>
              <a:t>按序存储</a:t>
            </a:r>
            <a:endParaRPr lang="zh-CN" altLang="en-US" dirty="0">
              <a:latin typeface="Arial" panose="020B0604020202020204" pitchFamily="34" charset="0"/>
            </a:endParaRPr>
          </a:p>
          <a:p>
            <a:pPr marL="268605" indent="-268605" defTabSz="914400" eaLnBrk="1" hangingPunct="1">
              <a:spcBef>
                <a:spcPct val="25000"/>
              </a:spcBef>
              <a:tabLst>
                <a:tab pos="5643880" algn="l"/>
              </a:tabLst>
            </a:pPr>
            <a:r>
              <a:rPr lang="zh-CN" altLang="en-US" dirty="0">
                <a:latin typeface="Arial" panose="020B0604020202020204" pitchFamily="34" charset="0"/>
              </a:rPr>
              <a:t>操作</a:t>
            </a:r>
            <a:endParaRPr lang="zh-CN" altLang="en-US" dirty="0">
              <a:latin typeface="Arial" panose="020B0604020202020204" pitchFamily="34" charset="0"/>
            </a:endParaRPr>
          </a:p>
          <a:p>
            <a:pPr lvl="1" defTabSz="914400" eaLnBrk="1" hangingPunct="1">
              <a:tabLst>
                <a:tab pos="5643880" algn="l"/>
              </a:tabLst>
            </a:pPr>
            <a:r>
              <a:rPr lang="zh-CN" altLang="en-US" sz="3600" dirty="0">
                <a:latin typeface="Arial" panose="020B0604020202020204" pitchFamily="34" charset="0"/>
              </a:rPr>
              <a:t>查找</a:t>
            </a:r>
            <a:r>
              <a:rPr lang="zh-CN" altLang="en-US" dirty="0">
                <a:latin typeface="Arial" panose="020B0604020202020204" pitchFamily="34" charset="0"/>
              </a:rPr>
              <a:t>：</a:t>
            </a:r>
            <a:r>
              <a:rPr lang="zh-CN" altLang="en-US" dirty="0"/>
              <a:t>二分查找</a:t>
            </a:r>
            <a:endParaRPr lang="zh-CN" altLang="en-US" dirty="0">
              <a:latin typeface="Arial" panose="020B0604020202020204" pitchFamily="34" charset="0"/>
            </a:endParaRPr>
          </a:p>
          <a:p>
            <a:pPr lvl="1" defTabSz="914400" eaLnBrk="1" hangingPunct="1">
              <a:tabLst>
                <a:tab pos="5643880" algn="l"/>
              </a:tabLst>
            </a:pPr>
            <a:r>
              <a:rPr lang="zh-CN" altLang="en-US" sz="3600" dirty="0">
                <a:latin typeface="Arial" panose="020B0604020202020204" pitchFamily="34" charset="0"/>
              </a:rPr>
              <a:t>插入</a:t>
            </a:r>
            <a:r>
              <a:rPr lang="zh-CN" altLang="en-US" dirty="0"/>
              <a:t>：移动后续记录</a:t>
            </a:r>
            <a:endParaRPr lang="zh-CN" altLang="en-US" dirty="0"/>
          </a:p>
          <a:p>
            <a:pPr lvl="1" defTabSz="914400" eaLnBrk="1" hangingPunct="1">
              <a:tabLst>
                <a:tab pos="5643880" algn="l"/>
              </a:tabLst>
            </a:pPr>
            <a:r>
              <a:rPr lang="zh-CN" altLang="en-US" sz="3600" dirty="0"/>
              <a:t>删除</a:t>
            </a:r>
            <a:r>
              <a:rPr lang="zh-CN" altLang="en-US" dirty="0"/>
              <a:t>：后续记录上移</a:t>
            </a:r>
            <a:endParaRPr lang="zh-CN" altLang="en-US" dirty="0"/>
          </a:p>
          <a:p>
            <a:pPr lvl="1" defTabSz="914400" eaLnBrk="1" hangingPunct="1">
              <a:tabLst>
                <a:tab pos="5643880" algn="l"/>
              </a:tabLst>
            </a:pPr>
            <a:endParaRPr lang="zh-CN" altLang="en-US" dirty="0"/>
          </a:p>
          <a:p>
            <a:pPr lvl="1" defTabSz="914400" eaLnBrk="1" hangingPunct="1">
              <a:tabLst>
                <a:tab pos="5643880" algn="l"/>
              </a:tabLst>
            </a:pPr>
            <a:endParaRPr lang="zh-CN" altLang="en-US" dirty="0"/>
          </a:p>
          <a:p>
            <a:pPr marL="268605" indent="-268605" defTabSz="914400" eaLnBrk="1" hangingPunct="1">
              <a:tabLst>
                <a:tab pos="5643880" algn="l"/>
              </a:tabLst>
            </a:pPr>
            <a:r>
              <a:rPr lang="zh-CN" altLang="en-US" sz="3200" dirty="0">
                <a:latin typeface="Arial" panose="020B0604020202020204" pitchFamily="34" charset="0"/>
              </a:rPr>
              <a:t>搜索键不一定是主键，也不一定是超键</a:t>
            </a:r>
            <a:endParaRPr lang="zh-CN" altLang="en-US" dirty="0"/>
          </a:p>
        </p:txBody>
      </p:sp>
      <p:sp>
        <p:nvSpPr>
          <p:cNvPr id="9421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、顺序文件</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5604" name="Group 20"/>
          <p:cNvGrpSpPr/>
          <p:nvPr/>
        </p:nvGrpSpPr>
        <p:grpSpPr>
          <a:xfrm>
            <a:off x="5410200" y="2251075"/>
            <a:ext cx="3265488" cy="3049588"/>
            <a:chOff x="3182" y="1192"/>
            <a:chExt cx="2057" cy="1921"/>
          </a:xfrm>
        </p:grpSpPr>
        <p:grpSp>
          <p:nvGrpSpPr>
            <p:cNvPr id="25608" name="Group 4"/>
            <p:cNvGrpSpPr/>
            <p:nvPr/>
          </p:nvGrpSpPr>
          <p:grpSpPr>
            <a:xfrm>
              <a:off x="3182" y="1192"/>
              <a:ext cx="499" cy="1921"/>
              <a:chOff x="1277" y="1146"/>
              <a:chExt cx="499" cy="1921"/>
            </a:xfrm>
          </p:grpSpPr>
          <p:sp>
            <p:nvSpPr>
              <p:cNvPr id="25617" name="Text Box 5"/>
              <p:cNvSpPr txBox="1"/>
              <p:nvPr/>
            </p:nvSpPr>
            <p:spPr>
              <a:xfrm>
                <a:off x="1277" y="1146"/>
                <a:ext cx="499"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601</a:t>
                </a:r>
                <a:endParaRPr lang="en-US" altLang="zh-CN" sz="3600" dirty="0">
                  <a:latin typeface="Arial" panose="020B0604020202020204" pitchFamily="34" charset="0"/>
                </a:endParaRPr>
              </a:p>
            </p:txBody>
          </p:sp>
          <p:sp>
            <p:nvSpPr>
              <p:cNvPr id="25618" name="Text Box 6"/>
              <p:cNvSpPr txBox="1"/>
              <p:nvPr/>
            </p:nvSpPr>
            <p:spPr>
              <a:xfrm>
                <a:off x="1277" y="1427"/>
                <a:ext cx="499"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602</a:t>
                </a:r>
                <a:endParaRPr lang="en-US" altLang="zh-CN" sz="3600" dirty="0">
                  <a:latin typeface="Arial" panose="020B0604020202020204" pitchFamily="34" charset="0"/>
                </a:endParaRPr>
              </a:p>
            </p:txBody>
          </p:sp>
          <p:sp>
            <p:nvSpPr>
              <p:cNvPr id="25619" name="Text Box 7"/>
              <p:cNvSpPr txBox="1"/>
              <p:nvPr/>
            </p:nvSpPr>
            <p:spPr>
              <a:xfrm>
                <a:off x="1277" y="1690"/>
                <a:ext cx="499"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603</a:t>
                </a:r>
                <a:endParaRPr lang="en-US" altLang="zh-CN" sz="3600" dirty="0">
                  <a:latin typeface="Arial" panose="020B0604020202020204" pitchFamily="34" charset="0"/>
                </a:endParaRPr>
              </a:p>
            </p:txBody>
          </p:sp>
          <p:sp>
            <p:nvSpPr>
              <p:cNvPr id="25620" name="Text Box 8"/>
              <p:cNvSpPr txBox="1"/>
              <p:nvPr/>
            </p:nvSpPr>
            <p:spPr>
              <a:xfrm>
                <a:off x="1277" y="1971"/>
                <a:ext cx="499"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605</a:t>
                </a:r>
                <a:endParaRPr lang="en-US" altLang="zh-CN" sz="3600" dirty="0">
                  <a:latin typeface="Arial" panose="020B0604020202020204" pitchFamily="34" charset="0"/>
                </a:endParaRPr>
              </a:p>
            </p:txBody>
          </p:sp>
          <p:sp>
            <p:nvSpPr>
              <p:cNvPr id="25621" name="Text Box 9"/>
              <p:cNvSpPr txBox="1"/>
              <p:nvPr/>
            </p:nvSpPr>
            <p:spPr>
              <a:xfrm>
                <a:off x="1277" y="2506"/>
                <a:ext cx="499"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607</a:t>
                </a:r>
                <a:endParaRPr lang="en-US" altLang="zh-CN" sz="3600" dirty="0">
                  <a:latin typeface="Arial" panose="020B0604020202020204" pitchFamily="34" charset="0"/>
                </a:endParaRPr>
              </a:p>
            </p:txBody>
          </p:sp>
          <p:sp>
            <p:nvSpPr>
              <p:cNvPr id="25622" name="Text Box 10"/>
              <p:cNvSpPr txBox="1"/>
              <p:nvPr/>
            </p:nvSpPr>
            <p:spPr>
              <a:xfrm>
                <a:off x="1277" y="2787"/>
                <a:ext cx="499"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612</a:t>
                </a:r>
                <a:endParaRPr lang="en-US" altLang="zh-CN" sz="3600" dirty="0">
                  <a:latin typeface="Arial" panose="020B0604020202020204" pitchFamily="34" charset="0"/>
                </a:endParaRPr>
              </a:p>
            </p:txBody>
          </p:sp>
          <p:sp>
            <p:nvSpPr>
              <p:cNvPr id="25623" name="Text Box 11"/>
              <p:cNvSpPr txBox="1"/>
              <p:nvPr/>
            </p:nvSpPr>
            <p:spPr>
              <a:xfrm>
                <a:off x="1277" y="2234"/>
                <a:ext cx="499"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606</a:t>
                </a:r>
                <a:endParaRPr lang="en-US" altLang="zh-CN" sz="3600" dirty="0">
                  <a:latin typeface="Arial" panose="020B0604020202020204" pitchFamily="34" charset="0"/>
                </a:endParaRPr>
              </a:p>
            </p:txBody>
          </p:sp>
        </p:grpSp>
        <p:grpSp>
          <p:nvGrpSpPr>
            <p:cNvPr id="25609" name="Group 12"/>
            <p:cNvGrpSpPr/>
            <p:nvPr/>
          </p:nvGrpSpPr>
          <p:grpSpPr>
            <a:xfrm>
              <a:off x="3681" y="1192"/>
              <a:ext cx="1558" cy="1921"/>
              <a:chOff x="1776" y="1146"/>
              <a:chExt cx="1996" cy="1921"/>
            </a:xfrm>
          </p:grpSpPr>
          <p:sp>
            <p:nvSpPr>
              <p:cNvPr id="25610" name="Text Box 13"/>
              <p:cNvSpPr txBox="1"/>
              <p:nvPr/>
            </p:nvSpPr>
            <p:spPr>
              <a:xfrm>
                <a:off x="1776" y="1146"/>
                <a:ext cx="1996"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5611" name="Text Box 14"/>
              <p:cNvSpPr txBox="1"/>
              <p:nvPr/>
            </p:nvSpPr>
            <p:spPr>
              <a:xfrm>
                <a:off x="1776" y="1427"/>
                <a:ext cx="1996"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5612" name="Text Box 15"/>
              <p:cNvSpPr txBox="1"/>
              <p:nvPr/>
            </p:nvSpPr>
            <p:spPr>
              <a:xfrm>
                <a:off x="1776" y="1690"/>
                <a:ext cx="1996"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5613" name="Text Box 16"/>
              <p:cNvSpPr txBox="1"/>
              <p:nvPr/>
            </p:nvSpPr>
            <p:spPr>
              <a:xfrm>
                <a:off x="1776" y="1971"/>
                <a:ext cx="1996"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5614" name="Text Box 17"/>
              <p:cNvSpPr txBox="1"/>
              <p:nvPr/>
            </p:nvSpPr>
            <p:spPr>
              <a:xfrm>
                <a:off x="1776" y="2506"/>
                <a:ext cx="1996"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5615" name="Text Box 18"/>
              <p:cNvSpPr txBox="1"/>
              <p:nvPr/>
            </p:nvSpPr>
            <p:spPr>
              <a:xfrm>
                <a:off x="1776" y="2787"/>
                <a:ext cx="1996"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5616" name="Text Box 19"/>
              <p:cNvSpPr txBox="1"/>
              <p:nvPr/>
            </p:nvSpPr>
            <p:spPr>
              <a:xfrm>
                <a:off x="1776" y="2234"/>
                <a:ext cx="1996" cy="28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grpSp>
      </p:grpSp>
      <p:grpSp>
        <p:nvGrpSpPr>
          <p:cNvPr id="25605" name="Group 24"/>
          <p:cNvGrpSpPr/>
          <p:nvPr/>
        </p:nvGrpSpPr>
        <p:grpSpPr>
          <a:xfrm>
            <a:off x="4356100" y="1700213"/>
            <a:ext cx="1439863" cy="576262"/>
            <a:chOff x="2744" y="1071"/>
            <a:chExt cx="907" cy="363"/>
          </a:xfrm>
        </p:grpSpPr>
        <p:sp>
          <p:nvSpPr>
            <p:cNvPr id="25606" name="Rectangle 21"/>
            <p:cNvSpPr/>
            <p:nvPr/>
          </p:nvSpPr>
          <p:spPr>
            <a:xfrm>
              <a:off x="2744" y="1071"/>
              <a:ext cx="675" cy="269"/>
            </a:xfrm>
            <a:prstGeom prst="rect">
              <a:avLst/>
            </a:prstGeom>
            <a:noFill/>
            <a:ln w="38100">
              <a:noFill/>
            </a:ln>
          </p:spPr>
          <p:txBody>
            <a:bodyPr wrap="none" lIns="0" tIns="0" rIns="0" bIns="0" anchor="ctr" anchorCtr="0">
              <a:spAutoFit/>
            </a:bodyPr>
            <a:p>
              <a:pPr algn="ctr"/>
              <a:r>
                <a:rPr lang="zh-CN" altLang="en-US" dirty="0">
                  <a:solidFill>
                    <a:srgbClr val="FF0000"/>
                  </a:solidFill>
                  <a:latin typeface="Arial" panose="020B0604020202020204" pitchFamily="34" charset="0"/>
                </a:rPr>
                <a:t>搜索键</a:t>
              </a:r>
              <a:endParaRPr lang="zh-CN" altLang="en-US" dirty="0">
                <a:solidFill>
                  <a:srgbClr val="FF0000"/>
                </a:solidFill>
                <a:latin typeface="Arial" panose="020B0604020202020204" pitchFamily="34" charset="0"/>
              </a:endParaRPr>
            </a:p>
          </p:txBody>
        </p:sp>
        <p:sp>
          <p:nvSpPr>
            <p:cNvPr id="25607" name="Line 23"/>
            <p:cNvSpPr/>
            <p:nvPr/>
          </p:nvSpPr>
          <p:spPr>
            <a:xfrm>
              <a:off x="3470" y="1207"/>
              <a:ext cx="181" cy="227"/>
            </a:xfrm>
            <a:prstGeom prst="line">
              <a:avLst/>
            </a:prstGeom>
            <a:ln w="38100" cap="flat" cmpd="sng">
              <a:solidFill>
                <a:srgbClr val="FF0000"/>
              </a:solidFill>
              <a:prstDash val="solid"/>
              <a:headEnd type="none" w="med" len="med"/>
              <a:tailEnd type="triangle"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210">
                                            <p:txEl>
                                              <p:charRg st="21" end="2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4210">
                                            <p:txEl>
                                              <p:charRg st="24" end="3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4210">
                                            <p:txEl>
                                              <p:charRg st="32" end="4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4210">
                                            <p:txEl>
                                              <p:charRg st="42" end="5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顺序文件中插入记录示意图</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6627" name="Text Box 3"/>
          <p:cNvSpPr txBox="1"/>
          <p:nvPr/>
        </p:nvSpPr>
        <p:spPr>
          <a:xfrm>
            <a:off x="1697038" y="1328738"/>
            <a:ext cx="792162"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601</a:t>
            </a:r>
            <a:endParaRPr lang="en-US" altLang="zh-CN" sz="3600" dirty="0">
              <a:latin typeface="Arial" panose="020B0604020202020204" pitchFamily="34" charset="0"/>
            </a:endParaRPr>
          </a:p>
        </p:txBody>
      </p:sp>
      <p:sp>
        <p:nvSpPr>
          <p:cNvPr id="26628" name="Text Box 4"/>
          <p:cNvSpPr txBox="1"/>
          <p:nvPr/>
        </p:nvSpPr>
        <p:spPr>
          <a:xfrm>
            <a:off x="1697038" y="1774825"/>
            <a:ext cx="79216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602</a:t>
            </a:r>
            <a:endParaRPr lang="en-US" altLang="zh-CN" sz="3600" dirty="0">
              <a:latin typeface="Arial" panose="020B0604020202020204" pitchFamily="34" charset="0"/>
            </a:endParaRPr>
          </a:p>
        </p:txBody>
      </p:sp>
      <p:sp>
        <p:nvSpPr>
          <p:cNvPr id="26629" name="Text Box 5"/>
          <p:cNvSpPr txBox="1"/>
          <p:nvPr/>
        </p:nvSpPr>
        <p:spPr>
          <a:xfrm>
            <a:off x="2489200" y="1328738"/>
            <a:ext cx="31686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30" name="Text Box 6"/>
          <p:cNvSpPr txBox="1"/>
          <p:nvPr/>
        </p:nvSpPr>
        <p:spPr>
          <a:xfrm>
            <a:off x="2489200" y="1774825"/>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31" name="Text Box 7"/>
          <p:cNvSpPr txBox="1"/>
          <p:nvPr/>
        </p:nvSpPr>
        <p:spPr>
          <a:xfrm>
            <a:off x="1697038" y="2192338"/>
            <a:ext cx="792162"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603</a:t>
            </a:r>
            <a:endParaRPr lang="en-US" altLang="zh-CN" sz="3600" dirty="0">
              <a:latin typeface="Arial" panose="020B0604020202020204" pitchFamily="34" charset="0"/>
            </a:endParaRPr>
          </a:p>
        </p:txBody>
      </p:sp>
      <p:sp>
        <p:nvSpPr>
          <p:cNvPr id="26632" name="Text Box 8"/>
          <p:cNvSpPr txBox="1"/>
          <p:nvPr/>
        </p:nvSpPr>
        <p:spPr>
          <a:xfrm>
            <a:off x="1697038" y="3057525"/>
            <a:ext cx="79216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605</a:t>
            </a:r>
            <a:endParaRPr lang="en-US" altLang="zh-CN" sz="3600" dirty="0">
              <a:latin typeface="Arial" panose="020B0604020202020204" pitchFamily="34" charset="0"/>
            </a:endParaRPr>
          </a:p>
        </p:txBody>
      </p:sp>
      <p:sp>
        <p:nvSpPr>
          <p:cNvPr id="26633" name="Text Box 9"/>
          <p:cNvSpPr txBox="1"/>
          <p:nvPr/>
        </p:nvSpPr>
        <p:spPr>
          <a:xfrm>
            <a:off x="2489200" y="2192338"/>
            <a:ext cx="31686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34" name="Text Box 10"/>
          <p:cNvSpPr txBox="1"/>
          <p:nvPr/>
        </p:nvSpPr>
        <p:spPr>
          <a:xfrm>
            <a:off x="2489200" y="3057525"/>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35" name="Text Box 11"/>
          <p:cNvSpPr txBox="1"/>
          <p:nvPr/>
        </p:nvSpPr>
        <p:spPr>
          <a:xfrm>
            <a:off x="1697038" y="3906838"/>
            <a:ext cx="792162"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607</a:t>
            </a:r>
            <a:endParaRPr lang="en-US" altLang="zh-CN" sz="3600" dirty="0">
              <a:latin typeface="Arial" panose="020B0604020202020204" pitchFamily="34" charset="0"/>
            </a:endParaRPr>
          </a:p>
        </p:txBody>
      </p:sp>
      <p:sp>
        <p:nvSpPr>
          <p:cNvPr id="26636" name="Text Box 12"/>
          <p:cNvSpPr txBox="1"/>
          <p:nvPr/>
        </p:nvSpPr>
        <p:spPr>
          <a:xfrm>
            <a:off x="1697038" y="4784725"/>
            <a:ext cx="79216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612</a:t>
            </a:r>
            <a:endParaRPr lang="en-US" altLang="zh-CN" sz="3600" dirty="0">
              <a:latin typeface="Arial" panose="020B0604020202020204" pitchFamily="34" charset="0"/>
            </a:endParaRPr>
          </a:p>
        </p:txBody>
      </p:sp>
      <p:sp>
        <p:nvSpPr>
          <p:cNvPr id="26637" name="Text Box 13"/>
          <p:cNvSpPr txBox="1"/>
          <p:nvPr/>
        </p:nvSpPr>
        <p:spPr>
          <a:xfrm>
            <a:off x="2489200" y="3906838"/>
            <a:ext cx="31686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38" name="Text Box 14"/>
          <p:cNvSpPr txBox="1"/>
          <p:nvPr/>
        </p:nvSpPr>
        <p:spPr>
          <a:xfrm>
            <a:off x="2489200" y="4784725"/>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39" name="Text Box 38"/>
          <p:cNvSpPr txBox="1"/>
          <p:nvPr/>
        </p:nvSpPr>
        <p:spPr>
          <a:xfrm>
            <a:off x="1697038" y="3475038"/>
            <a:ext cx="79216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606</a:t>
            </a:r>
            <a:endParaRPr lang="en-US" altLang="zh-CN" sz="3600" dirty="0">
              <a:latin typeface="Arial" panose="020B0604020202020204" pitchFamily="34" charset="0"/>
            </a:endParaRPr>
          </a:p>
        </p:txBody>
      </p:sp>
      <p:sp>
        <p:nvSpPr>
          <p:cNvPr id="26640" name="Text Box 39"/>
          <p:cNvSpPr txBox="1"/>
          <p:nvPr/>
        </p:nvSpPr>
        <p:spPr>
          <a:xfrm>
            <a:off x="2489200" y="3475038"/>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6641" name="Text Box 41"/>
          <p:cNvSpPr txBox="1"/>
          <p:nvPr/>
        </p:nvSpPr>
        <p:spPr>
          <a:xfrm>
            <a:off x="1697038" y="2624138"/>
            <a:ext cx="396240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6642" name="Text Box 44"/>
          <p:cNvSpPr txBox="1"/>
          <p:nvPr/>
        </p:nvSpPr>
        <p:spPr>
          <a:xfrm>
            <a:off x="1697038" y="4352925"/>
            <a:ext cx="3962400" cy="446088"/>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grpSp>
        <p:nvGrpSpPr>
          <p:cNvPr id="2" name="Group 47"/>
          <p:cNvGrpSpPr/>
          <p:nvPr/>
        </p:nvGrpSpPr>
        <p:grpSpPr>
          <a:xfrm>
            <a:off x="1692275" y="4352925"/>
            <a:ext cx="3960813" cy="446088"/>
            <a:chOff x="2699" y="346"/>
            <a:chExt cx="2495" cy="281"/>
          </a:xfrm>
        </p:grpSpPr>
        <p:sp>
          <p:nvSpPr>
            <p:cNvPr id="26650" name="Text Box 45"/>
            <p:cNvSpPr txBox="1"/>
            <p:nvPr/>
          </p:nvSpPr>
          <p:spPr>
            <a:xfrm>
              <a:off x="2699" y="346"/>
              <a:ext cx="499"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solidFill>
                    <a:srgbClr val="0000CC"/>
                  </a:solidFill>
                  <a:latin typeface="Arial" panose="020B0604020202020204" pitchFamily="34" charset="0"/>
                </a:rPr>
                <a:t>608</a:t>
              </a:r>
              <a:endParaRPr lang="en-US" altLang="zh-CN" sz="3600" dirty="0">
                <a:solidFill>
                  <a:srgbClr val="0000CC"/>
                </a:solidFill>
                <a:latin typeface="Arial" panose="020B0604020202020204" pitchFamily="34" charset="0"/>
              </a:endParaRPr>
            </a:p>
          </p:txBody>
        </p:sp>
        <p:sp>
          <p:nvSpPr>
            <p:cNvPr id="26651" name="Text Box 46"/>
            <p:cNvSpPr txBox="1"/>
            <p:nvPr/>
          </p:nvSpPr>
          <p:spPr>
            <a:xfrm>
              <a:off x="3198" y="346"/>
              <a:ext cx="1996"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solidFill>
                    <a:srgbClr val="0000CC"/>
                  </a:solidFill>
                  <a:latin typeface="Arial" panose="020B0604020202020204" pitchFamily="34" charset="0"/>
                </a:rPr>
                <a:t>其他字段</a:t>
              </a:r>
              <a:endParaRPr lang="zh-CN" altLang="en-US" sz="3600" dirty="0">
                <a:solidFill>
                  <a:srgbClr val="0000CC"/>
                </a:solidFill>
                <a:latin typeface="Arial" panose="020B0604020202020204" pitchFamily="34" charset="0"/>
              </a:endParaRPr>
            </a:p>
          </p:txBody>
        </p:sp>
      </p:grpSp>
      <p:grpSp>
        <p:nvGrpSpPr>
          <p:cNvPr id="26644" name="Group 52"/>
          <p:cNvGrpSpPr/>
          <p:nvPr/>
        </p:nvGrpSpPr>
        <p:grpSpPr>
          <a:xfrm>
            <a:off x="5681663" y="2595563"/>
            <a:ext cx="3024187" cy="444500"/>
            <a:chOff x="3787" y="1507"/>
            <a:chExt cx="1905" cy="280"/>
          </a:xfrm>
        </p:grpSpPr>
        <p:sp>
          <p:nvSpPr>
            <p:cNvPr id="26648" name="Text Box 48"/>
            <p:cNvSpPr txBox="1"/>
            <p:nvPr/>
          </p:nvSpPr>
          <p:spPr>
            <a:xfrm>
              <a:off x="4603" y="1507"/>
              <a:ext cx="1089" cy="280"/>
            </a:xfrm>
            <a:prstGeom prst="rect">
              <a:avLst/>
            </a:prstGeom>
            <a:solidFill>
              <a:srgbClr val="FFFFFF"/>
            </a:solidFill>
            <a:ln w="28575">
              <a:noFill/>
            </a:ln>
          </p:spPr>
          <p:txBody>
            <a:bodyPr lIns="0" tIns="0" rIns="0" bIns="0"/>
            <a:p>
              <a:pPr algn="ctr">
                <a:spcBef>
                  <a:spcPct val="0"/>
                </a:spcBef>
              </a:pPr>
              <a:r>
                <a:rPr lang="zh-CN" altLang="en-US" sz="3200" dirty="0">
                  <a:solidFill>
                    <a:srgbClr val="FF0000"/>
                  </a:solidFill>
                  <a:latin typeface="Arial" panose="020B0604020202020204" pitchFamily="34" charset="0"/>
                </a:rPr>
                <a:t>预留空间</a:t>
              </a:r>
              <a:endParaRPr lang="zh-CN" altLang="en-US" sz="3200" dirty="0">
                <a:solidFill>
                  <a:srgbClr val="FF0000"/>
                </a:solidFill>
                <a:latin typeface="Arial" panose="020B0604020202020204" pitchFamily="34" charset="0"/>
              </a:endParaRPr>
            </a:p>
          </p:txBody>
        </p:sp>
        <p:sp>
          <p:nvSpPr>
            <p:cNvPr id="26649" name="Line 49"/>
            <p:cNvSpPr/>
            <p:nvPr/>
          </p:nvSpPr>
          <p:spPr>
            <a:xfrm flipH="1">
              <a:off x="3787" y="1661"/>
              <a:ext cx="817" cy="0"/>
            </a:xfrm>
            <a:prstGeom prst="line">
              <a:avLst/>
            </a:prstGeom>
            <a:ln w="38100" cap="flat" cmpd="sng">
              <a:solidFill>
                <a:srgbClr val="FF0000"/>
              </a:solidFill>
              <a:prstDash val="solid"/>
              <a:headEnd type="none" w="med" len="med"/>
              <a:tailEnd type="arrow" w="med" len="med"/>
            </a:ln>
          </p:spPr>
        </p:sp>
      </p:grpSp>
      <p:grpSp>
        <p:nvGrpSpPr>
          <p:cNvPr id="26645" name="Group 53"/>
          <p:cNvGrpSpPr/>
          <p:nvPr/>
        </p:nvGrpSpPr>
        <p:grpSpPr>
          <a:xfrm>
            <a:off x="5681663" y="4308475"/>
            <a:ext cx="3024187" cy="444500"/>
            <a:chOff x="3787" y="2586"/>
            <a:chExt cx="1905" cy="280"/>
          </a:xfrm>
        </p:grpSpPr>
        <p:sp>
          <p:nvSpPr>
            <p:cNvPr id="26646" name="Text Box 50"/>
            <p:cNvSpPr txBox="1"/>
            <p:nvPr/>
          </p:nvSpPr>
          <p:spPr>
            <a:xfrm>
              <a:off x="4603" y="2586"/>
              <a:ext cx="1089" cy="280"/>
            </a:xfrm>
            <a:prstGeom prst="rect">
              <a:avLst/>
            </a:prstGeom>
            <a:solidFill>
              <a:srgbClr val="FFFFFF"/>
            </a:solidFill>
            <a:ln w="28575">
              <a:noFill/>
            </a:ln>
          </p:spPr>
          <p:txBody>
            <a:bodyPr lIns="0" tIns="0" rIns="0" bIns="0"/>
            <a:p>
              <a:pPr algn="ctr">
                <a:spcBef>
                  <a:spcPct val="0"/>
                </a:spcBef>
              </a:pPr>
              <a:r>
                <a:rPr lang="zh-CN" altLang="en-US" sz="3200" dirty="0">
                  <a:solidFill>
                    <a:srgbClr val="FF0000"/>
                  </a:solidFill>
                  <a:latin typeface="Arial" panose="020B0604020202020204" pitchFamily="34" charset="0"/>
                </a:rPr>
                <a:t>预留空间</a:t>
              </a:r>
              <a:endParaRPr lang="zh-CN" altLang="en-US" sz="3200" dirty="0">
                <a:solidFill>
                  <a:srgbClr val="FF0000"/>
                </a:solidFill>
                <a:latin typeface="Arial" panose="020B0604020202020204" pitchFamily="34" charset="0"/>
              </a:endParaRPr>
            </a:p>
          </p:txBody>
        </p:sp>
        <p:sp>
          <p:nvSpPr>
            <p:cNvPr id="26647" name="Line 51"/>
            <p:cNvSpPr/>
            <p:nvPr/>
          </p:nvSpPr>
          <p:spPr>
            <a:xfrm flipH="1">
              <a:off x="3787" y="2740"/>
              <a:ext cx="817" cy="0"/>
            </a:xfrm>
            <a:prstGeom prst="line">
              <a:avLst/>
            </a:prstGeom>
            <a:ln w="38100" cap="flat" cmpd="sng">
              <a:solidFill>
                <a:srgbClr val="FF0000"/>
              </a:solidFill>
              <a:prstDash val="solid"/>
              <a:headEnd type="none" w="med" len="med"/>
              <a:tailEnd type="arrow"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顺序文件中插入记录示意图</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7651" name="Text Box 3"/>
          <p:cNvSpPr txBox="1"/>
          <p:nvPr/>
        </p:nvSpPr>
        <p:spPr>
          <a:xfrm>
            <a:off x="2962275" y="1182688"/>
            <a:ext cx="792163"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601</a:t>
            </a:r>
            <a:endParaRPr lang="en-US" altLang="zh-CN" sz="3600" dirty="0">
              <a:latin typeface="Arial" panose="020B0604020202020204" pitchFamily="34" charset="0"/>
            </a:endParaRPr>
          </a:p>
        </p:txBody>
      </p:sp>
      <p:sp>
        <p:nvSpPr>
          <p:cNvPr id="27652" name="Text Box 4"/>
          <p:cNvSpPr txBox="1"/>
          <p:nvPr/>
        </p:nvSpPr>
        <p:spPr>
          <a:xfrm>
            <a:off x="2962275" y="1628775"/>
            <a:ext cx="792163"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602</a:t>
            </a:r>
            <a:endParaRPr lang="en-US" altLang="zh-CN" sz="3600" dirty="0">
              <a:latin typeface="Arial" panose="020B0604020202020204" pitchFamily="34" charset="0"/>
            </a:endParaRPr>
          </a:p>
        </p:txBody>
      </p:sp>
      <p:sp>
        <p:nvSpPr>
          <p:cNvPr id="27653" name="Text Box 5"/>
          <p:cNvSpPr txBox="1"/>
          <p:nvPr/>
        </p:nvSpPr>
        <p:spPr>
          <a:xfrm>
            <a:off x="3754438" y="1182688"/>
            <a:ext cx="31686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54" name="Text Box 6"/>
          <p:cNvSpPr txBox="1"/>
          <p:nvPr/>
        </p:nvSpPr>
        <p:spPr>
          <a:xfrm>
            <a:off x="3754438" y="1628775"/>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55" name="Text Box 7"/>
          <p:cNvSpPr txBox="1"/>
          <p:nvPr/>
        </p:nvSpPr>
        <p:spPr>
          <a:xfrm>
            <a:off x="2962275" y="2046288"/>
            <a:ext cx="792163"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603</a:t>
            </a:r>
            <a:endParaRPr lang="en-US" altLang="zh-CN" sz="3600" dirty="0">
              <a:latin typeface="Arial" panose="020B0604020202020204" pitchFamily="34" charset="0"/>
            </a:endParaRPr>
          </a:p>
        </p:txBody>
      </p:sp>
      <p:sp>
        <p:nvSpPr>
          <p:cNvPr id="27656" name="Text Box 8"/>
          <p:cNvSpPr txBox="1"/>
          <p:nvPr/>
        </p:nvSpPr>
        <p:spPr>
          <a:xfrm>
            <a:off x="2962275" y="2911475"/>
            <a:ext cx="792163"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605</a:t>
            </a:r>
            <a:endParaRPr lang="en-US" altLang="zh-CN" sz="3600" dirty="0">
              <a:latin typeface="Arial" panose="020B0604020202020204" pitchFamily="34" charset="0"/>
            </a:endParaRPr>
          </a:p>
        </p:txBody>
      </p:sp>
      <p:sp>
        <p:nvSpPr>
          <p:cNvPr id="27657" name="Text Box 9"/>
          <p:cNvSpPr txBox="1"/>
          <p:nvPr/>
        </p:nvSpPr>
        <p:spPr>
          <a:xfrm>
            <a:off x="3754438" y="2046288"/>
            <a:ext cx="31686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58" name="Text Box 10"/>
          <p:cNvSpPr txBox="1"/>
          <p:nvPr/>
        </p:nvSpPr>
        <p:spPr>
          <a:xfrm>
            <a:off x="3754438" y="2911475"/>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59" name="Text Box 11"/>
          <p:cNvSpPr txBox="1"/>
          <p:nvPr/>
        </p:nvSpPr>
        <p:spPr>
          <a:xfrm>
            <a:off x="2962275" y="3760788"/>
            <a:ext cx="792163"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607</a:t>
            </a:r>
            <a:endParaRPr lang="en-US" altLang="zh-CN" sz="3600" dirty="0">
              <a:latin typeface="Arial" panose="020B0604020202020204" pitchFamily="34" charset="0"/>
            </a:endParaRPr>
          </a:p>
        </p:txBody>
      </p:sp>
      <p:sp>
        <p:nvSpPr>
          <p:cNvPr id="27660" name="Text Box 12"/>
          <p:cNvSpPr txBox="1"/>
          <p:nvPr/>
        </p:nvSpPr>
        <p:spPr>
          <a:xfrm>
            <a:off x="2962275" y="4638675"/>
            <a:ext cx="792163"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612</a:t>
            </a:r>
            <a:endParaRPr lang="en-US" altLang="zh-CN" sz="3600" dirty="0">
              <a:latin typeface="Arial" panose="020B0604020202020204" pitchFamily="34" charset="0"/>
            </a:endParaRPr>
          </a:p>
        </p:txBody>
      </p:sp>
      <p:sp>
        <p:nvSpPr>
          <p:cNvPr id="27661" name="Text Box 13"/>
          <p:cNvSpPr txBox="1"/>
          <p:nvPr/>
        </p:nvSpPr>
        <p:spPr>
          <a:xfrm>
            <a:off x="3754438" y="3760788"/>
            <a:ext cx="31686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62" name="Text Box 14"/>
          <p:cNvSpPr txBox="1"/>
          <p:nvPr/>
        </p:nvSpPr>
        <p:spPr>
          <a:xfrm>
            <a:off x="3754438" y="4638675"/>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63" name="Text Box 30"/>
          <p:cNvSpPr txBox="1"/>
          <p:nvPr/>
        </p:nvSpPr>
        <p:spPr>
          <a:xfrm>
            <a:off x="6932613" y="1182688"/>
            <a:ext cx="519112"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64" name="Text Box 31"/>
          <p:cNvSpPr txBox="1"/>
          <p:nvPr/>
        </p:nvSpPr>
        <p:spPr>
          <a:xfrm>
            <a:off x="6932613" y="1628775"/>
            <a:ext cx="51911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65" name="Text Box 32"/>
          <p:cNvSpPr txBox="1"/>
          <p:nvPr/>
        </p:nvSpPr>
        <p:spPr>
          <a:xfrm>
            <a:off x="6932613" y="2046288"/>
            <a:ext cx="519112"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66" name="Text Box 33"/>
          <p:cNvSpPr txBox="1"/>
          <p:nvPr/>
        </p:nvSpPr>
        <p:spPr>
          <a:xfrm>
            <a:off x="6932613" y="2911475"/>
            <a:ext cx="51911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67" name="Text Box 34"/>
          <p:cNvSpPr txBox="1"/>
          <p:nvPr/>
        </p:nvSpPr>
        <p:spPr>
          <a:xfrm>
            <a:off x="6932613" y="3760788"/>
            <a:ext cx="519112"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68" name="Text Box 35"/>
          <p:cNvSpPr txBox="1"/>
          <p:nvPr/>
        </p:nvSpPr>
        <p:spPr>
          <a:xfrm>
            <a:off x="6932613" y="4638675"/>
            <a:ext cx="51911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69" name="Text Box 38"/>
          <p:cNvSpPr txBox="1"/>
          <p:nvPr/>
        </p:nvSpPr>
        <p:spPr>
          <a:xfrm>
            <a:off x="2962275" y="3328988"/>
            <a:ext cx="792163"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606</a:t>
            </a:r>
            <a:endParaRPr lang="en-US" altLang="zh-CN" sz="3600" dirty="0">
              <a:latin typeface="Arial" panose="020B0604020202020204" pitchFamily="34" charset="0"/>
            </a:endParaRPr>
          </a:p>
        </p:txBody>
      </p:sp>
      <p:sp>
        <p:nvSpPr>
          <p:cNvPr id="27670" name="Text Box 39"/>
          <p:cNvSpPr txBox="1"/>
          <p:nvPr/>
        </p:nvSpPr>
        <p:spPr>
          <a:xfrm>
            <a:off x="3754438" y="3328988"/>
            <a:ext cx="3168650"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71" name="Text Box 40"/>
          <p:cNvSpPr txBox="1"/>
          <p:nvPr/>
        </p:nvSpPr>
        <p:spPr>
          <a:xfrm>
            <a:off x="6932613" y="3328988"/>
            <a:ext cx="519112" cy="444500"/>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72" name="Text Box 42"/>
          <p:cNvSpPr txBox="1"/>
          <p:nvPr/>
        </p:nvSpPr>
        <p:spPr>
          <a:xfrm>
            <a:off x="2962275" y="2478088"/>
            <a:ext cx="44894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73" name="Text Box 43"/>
          <p:cNvSpPr txBox="1"/>
          <p:nvPr/>
        </p:nvSpPr>
        <p:spPr>
          <a:xfrm>
            <a:off x="2962275" y="4206875"/>
            <a:ext cx="792163" cy="446088"/>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latin typeface="Arial" panose="020B0604020202020204" pitchFamily="34" charset="0"/>
              </a:rPr>
              <a:t>608</a:t>
            </a:r>
            <a:endParaRPr lang="en-US" altLang="zh-CN" sz="3600" dirty="0">
              <a:latin typeface="Arial" panose="020B0604020202020204" pitchFamily="34" charset="0"/>
            </a:endParaRPr>
          </a:p>
        </p:txBody>
      </p:sp>
      <p:sp>
        <p:nvSpPr>
          <p:cNvPr id="27674" name="Text Box 44"/>
          <p:cNvSpPr txBox="1"/>
          <p:nvPr/>
        </p:nvSpPr>
        <p:spPr>
          <a:xfrm>
            <a:off x="3754438" y="4206875"/>
            <a:ext cx="3168650" cy="446088"/>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latin typeface="Arial" panose="020B0604020202020204" pitchFamily="34" charset="0"/>
              </a:rPr>
              <a:t>其他字段</a:t>
            </a:r>
            <a:endParaRPr lang="zh-CN" altLang="en-US" sz="3600" dirty="0">
              <a:latin typeface="Arial" panose="020B0604020202020204" pitchFamily="34" charset="0"/>
            </a:endParaRPr>
          </a:p>
        </p:txBody>
      </p:sp>
      <p:sp>
        <p:nvSpPr>
          <p:cNvPr id="27675" name="Text Box 45"/>
          <p:cNvSpPr txBox="1"/>
          <p:nvPr/>
        </p:nvSpPr>
        <p:spPr>
          <a:xfrm>
            <a:off x="6932613" y="4206875"/>
            <a:ext cx="519112" cy="446088"/>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sp>
        <p:nvSpPr>
          <p:cNvPr id="27676" name="Text Box 46"/>
          <p:cNvSpPr txBox="1"/>
          <p:nvPr/>
        </p:nvSpPr>
        <p:spPr>
          <a:xfrm>
            <a:off x="2962275" y="5573713"/>
            <a:ext cx="4489450" cy="446087"/>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endParaRPr lang="zh-CN" altLang="zh-CN" sz="3600" dirty="0">
              <a:latin typeface="Arial" panose="020B0604020202020204" pitchFamily="34" charset="0"/>
            </a:endParaRPr>
          </a:p>
        </p:txBody>
      </p:sp>
      <p:grpSp>
        <p:nvGrpSpPr>
          <p:cNvPr id="27677" name="Group 56"/>
          <p:cNvGrpSpPr/>
          <p:nvPr/>
        </p:nvGrpSpPr>
        <p:grpSpPr>
          <a:xfrm>
            <a:off x="395288" y="5573713"/>
            <a:ext cx="2451100" cy="444500"/>
            <a:chOff x="566" y="3113"/>
            <a:chExt cx="1544" cy="280"/>
          </a:xfrm>
        </p:grpSpPr>
        <p:sp>
          <p:nvSpPr>
            <p:cNvPr id="27684" name="Text Box 48"/>
            <p:cNvSpPr txBox="1"/>
            <p:nvPr/>
          </p:nvSpPr>
          <p:spPr>
            <a:xfrm flipH="1">
              <a:off x="566" y="3113"/>
              <a:ext cx="1089" cy="280"/>
            </a:xfrm>
            <a:prstGeom prst="rect">
              <a:avLst/>
            </a:prstGeom>
            <a:solidFill>
              <a:srgbClr val="FFFFFF"/>
            </a:solidFill>
            <a:ln w="28575">
              <a:noFill/>
            </a:ln>
          </p:spPr>
          <p:txBody>
            <a:bodyPr lIns="0" tIns="0" rIns="0" bIns="0"/>
            <a:p>
              <a:pPr algn="ctr">
                <a:spcBef>
                  <a:spcPct val="0"/>
                </a:spcBef>
              </a:pPr>
              <a:r>
                <a:rPr lang="zh-CN" altLang="en-US" sz="3200" dirty="0">
                  <a:solidFill>
                    <a:srgbClr val="FF0000"/>
                  </a:solidFill>
                  <a:latin typeface="Arial" panose="020B0604020202020204" pitchFamily="34" charset="0"/>
                </a:rPr>
                <a:t>溢出文件</a:t>
              </a:r>
              <a:endParaRPr lang="zh-CN" altLang="en-US" sz="3200" dirty="0">
                <a:solidFill>
                  <a:srgbClr val="FF0000"/>
                </a:solidFill>
                <a:latin typeface="Arial" panose="020B0604020202020204" pitchFamily="34" charset="0"/>
              </a:endParaRPr>
            </a:p>
          </p:txBody>
        </p:sp>
        <p:sp>
          <p:nvSpPr>
            <p:cNvPr id="27685" name="Line 49"/>
            <p:cNvSpPr/>
            <p:nvPr/>
          </p:nvSpPr>
          <p:spPr>
            <a:xfrm>
              <a:off x="1701" y="3267"/>
              <a:ext cx="409" cy="0"/>
            </a:xfrm>
            <a:prstGeom prst="line">
              <a:avLst/>
            </a:prstGeom>
            <a:ln w="38100" cap="flat" cmpd="sng">
              <a:solidFill>
                <a:srgbClr val="FF0000"/>
              </a:solidFill>
              <a:prstDash val="solid"/>
              <a:headEnd type="none" w="med" len="med"/>
              <a:tailEnd type="arrow" w="med" len="med"/>
            </a:ln>
          </p:spPr>
        </p:sp>
      </p:grpSp>
      <p:grpSp>
        <p:nvGrpSpPr>
          <p:cNvPr id="3" name="Group 50"/>
          <p:cNvGrpSpPr/>
          <p:nvPr/>
        </p:nvGrpSpPr>
        <p:grpSpPr>
          <a:xfrm>
            <a:off x="2957513" y="5575300"/>
            <a:ext cx="3960812" cy="446088"/>
            <a:chOff x="2699" y="346"/>
            <a:chExt cx="2495" cy="281"/>
          </a:xfrm>
        </p:grpSpPr>
        <p:sp>
          <p:nvSpPr>
            <p:cNvPr id="27682" name="Text Box 51"/>
            <p:cNvSpPr txBox="1"/>
            <p:nvPr/>
          </p:nvSpPr>
          <p:spPr>
            <a:xfrm>
              <a:off x="2699" y="346"/>
              <a:ext cx="499"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en-US" altLang="zh-CN" dirty="0">
                  <a:solidFill>
                    <a:srgbClr val="0000CC"/>
                  </a:solidFill>
                  <a:latin typeface="Arial" panose="020B0604020202020204" pitchFamily="34" charset="0"/>
                </a:rPr>
                <a:t>609</a:t>
              </a:r>
              <a:endParaRPr lang="en-US" altLang="zh-CN" sz="3600" dirty="0">
                <a:solidFill>
                  <a:srgbClr val="0000CC"/>
                </a:solidFill>
                <a:latin typeface="Arial" panose="020B0604020202020204" pitchFamily="34" charset="0"/>
              </a:endParaRPr>
            </a:p>
          </p:txBody>
        </p:sp>
        <p:sp>
          <p:nvSpPr>
            <p:cNvPr id="27683" name="Text Box 52"/>
            <p:cNvSpPr txBox="1"/>
            <p:nvPr/>
          </p:nvSpPr>
          <p:spPr>
            <a:xfrm>
              <a:off x="3198" y="346"/>
              <a:ext cx="1996" cy="281"/>
            </a:xfrm>
            <a:prstGeom prst="rect">
              <a:avLst/>
            </a:prstGeom>
            <a:solidFill>
              <a:srgbClr val="FFFFFF"/>
            </a:solidFill>
            <a:ln w="28575" cap="flat" cmpd="sng">
              <a:solidFill>
                <a:srgbClr val="000000"/>
              </a:solidFill>
              <a:prstDash val="solid"/>
              <a:miter/>
              <a:headEnd type="none" w="med" len="med"/>
              <a:tailEnd type="none" w="med" len="med"/>
            </a:ln>
          </p:spPr>
          <p:txBody>
            <a:bodyPr lIns="0" tIns="0" rIns="0" bIns="0"/>
            <a:p>
              <a:pPr algn="ctr">
                <a:spcBef>
                  <a:spcPct val="0"/>
                </a:spcBef>
              </a:pPr>
              <a:r>
                <a:rPr lang="zh-CN" altLang="en-US" dirty="0">
                  <a:solidFill>
                    <a:srgbClr val="0000CC"/>
                  </a:solidFill>
                  <a:latin typeface="Arial" panose="020B0604020202020204" pitchFamily="34" charset="0"/>
                </a:rPr>
                <a:t>其他字段</a:t>
              </a:r>
              <a:endParaRPr lang="zh-CN" altLang="en-US" sz="3600" dirty="0">
                <a:solidFill>
                  <a:srgbClr val="0000CC"/>
                </a:solidFill>
                <a:latin typeface="Arial" panose="020B0604020202020204" pitchFamily="34" charset="0"/>
              </a:endParaRPr>
            </a:p>
          </p:txBody>
        </p:sp>
      </p:grpSp>
      <p:sp>
        <p:nvSpPr>
          <p:cNvPr id="150581" name="Freeform 53"/>
          <p:cNvSpPr/>
          <p:nvPr/>
        </p:nvSpPr>
        <p:spPr>
          <a:xfrm>
            <a:off x="7451725" y="4422775"/>
            <a:ext cx="360363" cy="1368425"/>
          </a:xfrm>
          <a:custGeom>
            <a:avLst/>
            <a:gdLst>
              <a:gd name="txL" fmla="*/ 0 w 227"/>
              <a:gd name="txT" fmla="*/ 0 h 862"/>
              <a:gd name="txR" fmla="*/ 227 w 227"/>
              <a:gd name="txB" fmla="*/ 862 h 862"/>
            </a:gdLst>
            <a:ahLst/>
            <a:cxnLst>
              <a:cxn ang="0">
                <a:pos x="0" y="0"/>
              </a:cxn>
              <a:cxn ang="0">
                <a:pos x="2147483647" y="0"/>
              </a:cxn>
              <a:cxn ang="0">
                <a:pos x="2147483647" y="2147483647"/>
              </a:cxn>
              <a:cxn ang="0">
                <a:pos x="2147483647" y="2147483647"/>
              </a:cxn>
            </a:cxnLst>
            <a:rect l="txL" t="txT" r="txR" b="txB"/>
            <a:pathLst>
              <a:path w="227" h="862">
                <a:moveTo>
                  <a:pt x="0" y="0"/>
                </a:moveTo>
                <a:lnTo>
                  <a:pt x="227" y="0"/>
                </a:lnTo>
                <a:lnTo>
                  <a:pt x="227" y="862"/>
                </a:lnTo>
                <a:lnTo>
                  <a:pt x="46" y="862"/>
                </a:lnTo>
              </a:path>
            </a:pathLst>
          </a:custGeom>
          <a:noFill/>
          <a:ln w="38100" cap="flat" cmpd="sng">
            <a:solidFill>
              <a:srgbClr val="0000CC"/>
            </a:solidFill>
            <a:prstDash val="solid"/>
            <a:round/>
            <a:headEnd type="none" w="med" len="med"/>
            <a:tailEnd type="arrow" w="med" len="med"/>
          </a:ln>
        </p:spPr>
        <p:txBody>
          <a:bodyPr anchor="ctr" anchorCtr="0">
            <a:spAutoFit/>
          </a:bodyPr>
          <a:p>
            <a:endParaRPr lang="zh-CN" altLang="en-US" dirty="0">
              <a:latin typeface="Arial" panose="020B0604020202020204" pitchFamily="34" charset="0"/>
            </a:endParaRPr>
          </a:p>
        </p:txBody>
      </p:sp>
      <p:sp>
        <p:nvSpPr>
          <p:cNvPr id="150582" name="Freeform 54"/>
          <p:cNvSpPr/>
          <p:nvPr/>
        </p:nvSpPr>
        <p:spPr>
          <a:xfrm>
            <a:off x="7451725" y="4854575"/>
            <a:ext cx="576263" cy="1079500"/>
          </a:xfrm>
          <a:custGeom>
            <a:avLst/>
            <a:gdLst>
              <a:gd name="txL" fmla="*/ 0 w 227"/>
              <a:gd name="txT" fmla="*/ 0 h 862"/>
              <a:gd name="txR" fmla="*/ 227 w 227"/>
              <a:gd name="txB" fmla="*/ 862 h 862"/>
            </a:gdLst>
            <a:ahLst/>
            <a:cxnLst>
              <a:cxn ang="0">
                <a:pos x="0" y="0"/>
              </a:cxn>
              <a:cxn ang="0">
                <a:pos x="2147483647" y="0"/>
              </a:cxn>
              <a:cxn ang="0">
                <a:pos x="2147483647" y="2147483647"/>
              </a:cxn>
              <a:cxn ang="0">
                <a:pos x="2147483647" y="2147483647"/>
              </a:cxn>
            </a:cxnLst>
            <a:rect l="txL" t="txT" r="txR" b="txB"/>
            <a:pathLst>
              <a:path w="227" h="862">
                <a:moveTo>
                  <a:pt x="0" y="0"/>
                </a:moveTo>
                <a:lnTo>
                  <a:pt x="227" y="0"/>
                </a:lnTo>
                <a:lnTo>
                  <a:pt x="227" y="862"/>
                </a:lnTo>
                <a:lnTo>
                  <a:pt x="46" y="862"/>
                </a:lnTo>
              </a:path>
            </a:pathLst>
          </a:custGeom>
          <a:noFill/>
          <a:ln w="38100" cap="flat" cmpd="sng">
            <a:solidFill>
              <a:srgbClr val="0000CC"/>
            </a:solidFill>
            <a:prstDash val="solid"/>
            <a:round/>
            <a:headEnd type="arrow" w="med" len="med"/>
            <a:tailEnd type="none" w="med" len="med"/>
          </a:ln>
        </p:spPr>
        <p:txBody>
          <a:bodyPr anchor="ctr" anchorCtr="0">
            <a:spAutoFit/>
          </a:bodyPr>
          <a:p>
            <a:endParaRPr lang="zh-CN" altLang="en-US" dirty="0">
              <a:latin typeface="Arial" panose="020B0604020202020204" pitchFamily="34" charset="0"/>
            </a:endParaRPr>
          </a:p>
        </p:txBody>
      </p:sp>
      <p:sp>
        <p:nvSpPr>
          <p:cNvPr id="150585" name="Rectangle 57"/>
          <p:cNvSpPr/>
          <p:nvPr/>
        </p:nvSpPr>
        <p:spPr>
          <a:xfrm>
            <a:off x="323850" y="3716338"/>
            <a:ext cx="2143125" cy="854075"/>
          </a:xfrm>
          <a:prstGeom prst="rect">
            <a:avLst/>
          </a:prstGeom>
          <a:noFill/>
          <a:ln w="19050">
            <a:noFill/>
          </a:ln>
        </p:spPr>
        <p:txBody>
          <a:bodyPr wrap="none" lIns="0" tIns="0" rIns="0" bIns="0" anchor="ctr" anchorCtr="0">
            <a:spAutoFit/>
          </a:bodyPr>
          <a:p>
            <a:pPr algn="ctr">
              <a:spcBef>
                <a:spcPct val="0"/>
              </a:spcBef>
            </a:pPr>
            <a:r>
              <a:rPr lang="zh-CN" altLang="en-US" dirty="0">
                <a:latin typeface="Arial" panose="020B0604020202020204" pitchFamily="34" charset="0"/>
              </a:rPr>
              <a:t>系统定期进行</a:t>
            </a:r>
            <a:endParaRPr lang="zh-CN" altLang="en-US" dirty="0">
              <a:latin typeface="Arial" panose="020B0604020202020204" pitchFamily="34" charset="0"/>
            </a:endParaRPr>
          </a:p>
          <a:p>
            <a:pPr algn="ctr">
              <a:spcBef>
                <a:spcPct val="0"/>
              </a:spcBef>
            </a:pPr>
            <a:r>
              <a:rPr lang="zh-CN" altLang="en-US" dirty="0">
                <a:latin typeface="Arial" panose="020B0604020202020204" pitchFamily="34" charset="0"/>
              </a:rPr>
              <a:t>数据文件重组</a:t>
            </a:r>
            <a:endParaRPr lang="zh-CN" altLang="en-US" dirty="0">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50581"/>
                                        </p:tgtEl>
                                        <p:attrNameLst>
                                          <p:attrName>style.visibility</p:attrName>
                                        </p:attrNameLst>
                                      </p:cBhvr>
                                      <p:to>
                                        <p:strVal val="visible"/>
                                      </p:to>
                                    </p:set>
                                    <p:animEffect transition="in" filter="wipe(up)">
                                      <p:cBhvr>
                                        <p:cTn id="13" dur="500"/>
                                        <p:tgtEl>
                                          <p:spTgt spid="150581"/>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50582"/>
                                        </p:tgtEl>
                                        <p:attrNameLst>
                                          <p:attrName>style.visibility</p:attrName>
                                        </p:attrNameLst>
                                      </p:cBhvr>
                                      <p:to>
                                        <p:strVal val="visible"/>
                                      </p:to>
                                    </p:set>
                                    <p:animEffect transition="in" filter="wipe(down)">
                                      <p:cBhvr>
                                        <p:cTn id="16" dur="500"/>
                                        <p:tgtEl>
                                          <p:spTgt spid="150582"/>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1505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81" grpId="0" animBg="1"/>
      <p:bldP spid="150582" grpId="0" animBg="1"/>
      <p:bldP spid="15058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idx="1"/>
          </p:nvPr>
        </p:nvSpPr>
        <p:spPr>
          <a:xfrm>
            <a:off x="152400" y="1143000"/>
            <a:ext cx="8991600" cy="5273675"/>
          </a:xfrm>
        </p:spPr>
        <p:txBody>
          <a:bodyPr vert="horz" wrap="square" lIns="91440" tIns="45720" rIns="91440" bIns="45720" anchor="t" anchorCtr="0"/>
          <a:p>
            <a:pPr marL="441325" indent="-441325" eaLnBrk="1" hangingPunct="1">
              <a:lnSpc>
                <a:spcPct val="110000"/>
              </a:lnSpc>
            </a:pPr>
            <a:r>
              <a:rPr lang="zh-CN" altLang="en-US" dirty="0">
                <a:latin typeface="Arial" panose="020B0604020202020204" pitchFamily="34" charset="0"/>
              </a:rPr>
              <a:t>特点</a:t>
            </a:r>
            <a:endParaRPr lang="zh-CN" altLang="en-US" dirty="0">
              <a:latin typeface="Arial" panose="020B0604020202020204" pitchFamily="34" charset="0"/>
            </a:endParaRPr>
          </a:p>
          <a:p>
            <a:pPr lvl="1" eaLnBrk="1" hangingPunct="1">
              <a:lnSpc>
                <a:spcPct val="110000"/>
              </a:lnSpc>
              <a:spcBef>
                <a:spcPct val="0"/>
              </a:spcBef>
            </a:pPr>
            <a:r>
              <a:rPr lang="zh-CN" altLang="en-US" sz="3600" dirty="0"/>
              <a:t>读取记录的效率很高 </a:t>
            </a:r>
            <a:endParaRPr lang="zh-CN" altLang="en-US" sz="3600" dirty="0"/>
          </a:p>
          <a:p>
            <a:pPr lvl="1" eaLnBrk="1" hangingPunct="1">
              <a:lnSpc>
                <a:spcPct val="110000"/>
              </a:lnSpc>
              <a:spcBef>
                <a:spcPct val="0"/>
              </a:spcBef>
            </a:pPr>
            <a:r>
              <a:rPr lang="zh-CN" altLang="en-US" sz="3600" dirty="0"/>
              <a:t>系统定期需对文件重新组织，使物理顺序和查找键值的顺序一致，以提高查找速度。</a:t>
            </a:r>
            <a:endParaRPr lang="zh-CN" altLang="en-US" sz="3600" dirty="0"/>
          </a:p>
        </p:txBody>
      </p:sp>
      <p:sp>
        <p:nvSpPr>
          <p:cNvPr id="9728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、顺序文件</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97284" name="AutoShape 4">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spTree>
  </p:cSld>
  <p:clrMapOvr>
    <a:masterClrMapping/>
  </p:clrMapOvr>
  <p:transition>
    <p:random/>
    <p:sndAc>
      <p:stSnd>
        <p:snd r:embed="rId2" name="CAMERA.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387"/>
          <p:cNvSpPr/>
          <p:nvPr/>
        </p:nvSpPr>
        <p:spPr>
          <a:xfrm>
            <a:off x="152400" y="1016000"/>
            <a:ext cx="8848725" cy="1333500"/>
          </a:xfrm>
          <a:prstGeom prst="rect">
            <a:avLst/>
          </a:prstGeom>
          <a:noFill/>
          <a:ln w="9525">
            <a:noFill/>
          </a:ln>
        </p:spPr>
        <p:txBody>
          <a:bodyPr/>
          <a:p>
            <a:pPr>
              <a:spcBef>
                <a:spcPct val="0"/>
              </a:spcBef>
              <a:buClr>
                <a:srgbClr val="FF0000"/>
              </a:buClr>
              <a:buSzPct val="65000"/>
              <a:buFont typeface="Wingdings" panose="05000000000000000000" pitchFamily="2" charset="2"/>
            </a:pPr>
            <a:r>
              <a:rPr lang="en-US" altLang="zh-CN" sz="3600" dirty="0">
                <a:latin typeface="Times New Roman" panose="02020603050405020304" pitchFamily="18" charset="0"/>
              </a:rPr>
              <a:t>        </a:t>
            </a:r>
            <a:r>
              <a:rPr lang="zh-CN" altLang="en-US" sz="3600" dirty="0">
                <a:latin typeface="Times New Roman" panose="02020603050405020304" pitchFamily="18" charset="0"/>
              </a:rPr>
              <a:t>允许多个表中的相关记录存储在一个数据文件中。</a:t>
            </a:r>
            <a:endParaRPr lang="zh-CN" altLang="en-US" sz="3600" dirty="0">
              <a:latin typeface="Times New Roman" panose="02020603050405020304" pitchFamily="18" charset="0"/>
            </a:endParaRPr>
          </a:p>
        </p:txBody>
      </p:sp>
      <p:sp>
        <p:nvSpPr>
          <p:cNvPr id="227364" name="Rectangle 36"/>
          <p:cNvSpPr>
            <a:spLocks noGrp="1" noChangeArrowheads="1"/>
          </p:cNvSpPr>
          <p:nvPr>
            <p:ph type="title"/>
          </p:nvPr>
        </p:nvSpPr>
        <p:spPr>
          <a:xfrm>
            <a:off x="179388" y="144463"/>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、聚集文件</a:t>
            </a:r>
            <a:endParaRPr kumimoji="0" lang="zh-CN" altLang="en-US" sz="40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227718" name="Group 390"/>
          <p:cNvGraphicFramePr>
            <a:graphicFrameLocks noGrp="1"/>
          </p:cNvGraphicFramePr>
          <p:nvPr>
            <p:ph idx="1"/>
          </p:nvPr>
        </p:nvGraphicFramePr>
        <p:xfrm>
          <a:off x="395288" y="4124325"/>
          <a:ext cx="3435350" cy="1558925"/>
        </p:xfrm>
        <a:graphic>
          <a:graphicData uri="http://schemas.openxmlformats.org/drawingml/2006/table">
            <a:tbl>
              <a:tblPr/>
              <a:tblGrid>
                <a:gridCol w="974725"/>
                <a:gridCol w="1444625"/>
                <a:gridCol w="1016000"/>
              </a:tblGrid>
              <a:tr h="2873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87</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C4</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2873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C5</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C4</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86</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397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714" name="Group 386"/>
          <p:cNvGraphicFramePr>
            <a:graphicFrameLocks noGrp="1"/>
          </p:cNvGraphicFramePr>
          <p:nvPr/>
        </p:nvGraphicFramePr>
        <p:xfrm>
          <a:off x="395288" y="2349500"/>
          <a:ext cx="3598863" cy="1079501"/>
        </p:xfrm>
        <a:graphic>
          <a:graphicData uri="http://schemas.openxmlformats.org/drawingml/2006/table">
            <a:tbl>
              <a:tblPr/>
              <a:tblGrid>
                <a:gridCol w="736600"/>
                <a:gridCol w="1092200"/>
                <a:gridCol w="762000"/>
                <a:gridCol w="1008062"/>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5877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张丽</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19</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李明</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633" name="Group 305"/>
          <p:cNvGraphicFramePr>
            <a:graphicFrameLocks noGrp="1"/>
          </p:cNvGraphicFramePr>
          <p:nvPr/>
        </p:nvGraphicFramePr>
        <p:xfrm>
          <a:off x="4064000" y="3789363"/>
          <a:ext cx="4600575" cy="360363"/>
        </p:xfrm>
        <a:graphic>
          <a:graphicData uri="http://schemas.openxmlformats.org/drawingml/2006/table">
            <a:tbl>
              <a:tblPr/>
              <a:tblGrid>
                <a:gridCol w="720725"/>
                <a:gridCol w="1079500"/>
                <a:gridCol w="865188"/>
                <a:gridCol w="933450"/>
                <a:gridCol w="1001712"/>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630" name="Group 302"/>
          <p:cNvGraphicFramePr>
            <a:graphicFrameLocks noGrp="1"/>
          </p:cNvGraphicFramePr>
          <p:nvPr/>
        </p:nvGraphicFramePr>
        <p:xfrm>
          <a:off x="4064000" y="4148138"/>
          <a:ext cx="2665413" cy="958850"/>
        </p:xfrm>
        <a:graphic>
          <a:graphicData uri="http://schemas.openxmlformats.org/drawingml/2006/table">
            <a:tbl>
              <a:tblPr/>
              <a:tblGrid>
                <a:gridCol w="720725"/>
                <a:gridCol w="1079500"/>
                <a:gridCol w="865188"/>
              </a:tblGrid>
              <a:tr h="2873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87</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C4</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C5</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634" name="Group 306"/>
          <p:cNvGraphicFramePr>
            <a:graphicFrameLocks noGrp="1"/>
          </p:cNvGraphicFramePr>
          <p:nvPr/>
        </p:nvGraphicFramePr>
        <p:xfrm>
          <a:off x="4064000" y="5116513"/>
          <a:ext cx="4600575" cy="360363"/>
        </p:xfrm>
        <a:graphic>
          <a:graphicData uri="http://schemas.openxmlformats.org/drawingml/2006/table">
            <a:tbl>
              <a:tblPr/>
              <a:tblGrid>
                <a:gridCol w="720725"/>
                <a:gridCol w="1079500"/>
                <a:gridCol w="865188"/>
                <a:gridCol w="933450"/>
                <a:gridCol w="1001712"/>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张丽</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19</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669" name="Group 341"/>
          <p:cNvGraphicFramePr>
            <a:graphicFrameLocks noGrp="1"/>
          </p:cNvGraphicFramePr>
          <p:nvPr/>
        </p:nvGraphicFramePr>
        <p:xfrm>
          <a:off x="4064000" y="5478463"/>
          <a:ext cx="2665413" cy="360363"/>
        </p:xfrm>
        <a:graphic>
          <a:graphicData uri="http://schemas.openxmlformats.org/drawingml/2006/table">
            <a:tbl>
              <a:tblPr/>
              <a:tblGrid>
                <a:gridCol w="720725"/>
                <a:gridCol w="1079500"/>
                <a:gridCol w="865188"/>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C4</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86</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670" name="Group 342"/>
          <p:cNvGraphicFramePr>
            <a:graphicFrameLocks noGrp="1"/>
          </p:cNvGraphicFramePr>
          <p:nvPr/>
        </p:nvGraphicFramePr>
        <p:xfrm>
          <a:off x="4064000" y="5845175"/>
          <a:ext cx="4600575" cy="360363"/>
        </p:xfrm>
        <a:graphic>
          <a:graphicData uri="http://schemas.openxmlformats.org/drawingml/2006/table">
            <a:tbl>
              <a:tblPr/>
              <a:tblGrid>
                <a:gridCol w="720725"/>
                <a:gridCol w="1079500"/>
                <a:gridCol w="865188"/>
                <a:gridCol w="933450"/>
                <a:gridCol w="1001712"/>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李明</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27697" name="Group 369"/>
          <p:cNvGraphicFramePr>
            <a:graphicFrameLocks noGrp="1"/>
          </p:cNvGraphicFramePr>
          <p:nvPr/>
        </p:nvGraphicFramePr>
        <p:xfrm>
          <a:off x="4064000" y="6205538"/>
          <a:ext cx="2665413" cy="360363"/>
        </p:xfrm>
        <a:graphic>
          <a:graphicData uri="http://schemas.openxmlformats.org/drawingml/2006/table">
            <a:tbl>
              <a:tblPr/>
              <a:tblGrid>
                <a:gridCol w="720725"/>
                <a:gridCol w="1079500"/>
                <a:gridCol w="865188"/>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pSp>
        <p:nvGrpSpPr>
          <p:cNvPr id="2" name="Group 375"/>
          <p:cNvGrpSpPr/>
          <p:nvPr/>
        </p:nvGrpSpPr>
        <p:grpSpPr>
          <a:xfrm>
            <a:off x="8313738" y="4005263"/>
            <a:ext cx="576262" cy="1223962"/>
            <a:chOff x="4604" y="2251"/>
            <a:chExt cx="363" cy="771"/>
          </a:xfrm>
        </p:grpSpPr>
        <p:sp>
          <p:nvSpPr>
            <p:cNvPr id="29836" name="Line 372"/>
            <p:cNvSpPr/>
            <p:nvPr/>
          </p:nvSpPr>
          <p:spPr>
            <a:xfrm>
              <a:off x="4604" y="2251"/>
              <a:ext cx="363" cy="0"/>
            </a:xfrm>
            <a:prstGeom prst="line">
              <a:avLst/>
            </a:prstGeom>
            <a:ln w="38100" cap="flat" cmpd="sng">
              <a:solidFill>
                <a:srgbClr val="000000"/>
              </a:solidFill>
              <a:prstDash val="solid"/>
              <a:headEnd type="none" w="med" len="med"/>
              <a:tailEnd type="none" w="med" len="med"/>
            </a:ln>
          </p:spPr>
        </p:sp>
        <p:sp>
          <p:nvSpPr>
            <p:cNvPr id="29837" name="Line 373"/>
            <p:cNvSpPr/>
            <p:nvPr/>
          </p:nvSpPr>
          <p:spPr>
            <a:xfrm>
              <a:off x="4967" y="2251"/>
              <a:ext cx="0" cy="771"/>
            </a:xfrm>
            <a:prstGeom prst="line">
              <a:avLst/>
            </a:prstGeom>
            <a:ln w="38100" cap="flat" cmpd="sng">
              <a:solidFill>
                <a:srgbClr val="000000"/>
              </a:solidFill>
              <a:prstDash val="solid"/>
              <a:headEnd type="none" w="med" len="med"/>
              <a:tailEnd type="none" w="med" len="med"/>
            </a:ln>
          </p:spPr>
        </p:sp>
        <p:sp>
          <p:nvSpPr>
            <p:cNvPr id="29838" name="Line 374"/>
            <p:cNvSpPr/>
            <p:nvPr/>
          </p:nvSpPr>
          <p:spPr>
            <a:xfrm flipH="1">
              <a:off x="4830" y="3022"/>
              <a:ext cx="137" cy="0"/>
            </a:xfrm>
            <a:prstGeom prst="line">
              <a:avLst/>
            </a:prstGeom>
            <a:ln w="38100" cap="flat" cmpd="sng">
              <a:solidFill>
                <a:srgbClr val="000000"/>
              </a:solidFill>
              <a:prstDash val="solid"/>
              <a:headEnd type="none" w="med" len="med"/>
              <a:tailEnd type="triangle" w="med" len="med"/>
            </a:ln>
          </p:spPr>
        </p:sp>
      </p:grpSp>
      <p:grpSp>
        <p:nvGrpSpPr>
          <p:cNvPr id="3" name="Group 380"/>
          <p:cNvGrpSpPr/>
          <p:nvPr/>
        </p:nvGrpSpPr>
        <p:grpSpPr>
          <a:xfrm>
            <a:off x="8313738" y="5373688"/>
            <a:ext cx="576262" cy="719137"/>
            <a:chOff x="4604" y="3113"/>
            <a:chExt cx="363" cy="453"/>
          </a:xfrm>
        </p:grpSpPr>
        <p:sp>
          <p:nvSpPr>
            <p:cNvPr id="29833" name="Line 377"/>
            <p:cNvSpPr/>
            <p:nvPr/>
          </p:nvSpPr>
          <p:spPr>
            <a:xfrm>
              <a:off x="4604" y="3113"/>
              <a:ext cx="363" cy="0"/>
            </a:xfrm>
            <a:prstGeom prst="line">
              <a:avLst/>
            </a:prstGeom>
            <a:ln w="38100" cap="flat" cmpd="sng">
              <a:solidFill>
                <a:srgbClr val="000000"/>
              </a:solidFill>
              <a:prstDash val="solid"/>
              <a:headEnd type="none" w="med" len="med"/>
              <a:tailEnd type="none" w="med" len="med"/>
            </a:ln>
          </p:spPr>
        </p:sp>
        <p:sp>
          <p:nvSpPr>
            <p:cNvPr id="29834" name="Line 378"/>
            <p:cNvSpPr/>
            <p:nvPr/>
          </p:nvSpPr>
          <p:spPr>
            <a:xfrm>
              <a:off x="4967" y="3113"/>
              <a:ext cx="0" cy="453"/>
            </a:xfrm>
            <a:prstGeom prst="line">
              <a:avLst/>
            </a:prstGeom>
            <a:ln w="38100" cap="flat" cmpd="sng">
              <a:solidFill>
                <a:srgbClr val="000000"/>
              </a:solidFill>
              <a:prstDash val="solid"/>
              <a:headEnd type="none" w="med" len="med"/>
              <a:tailEnd type="none" w="med" len="med"/>
            </a:ln>
          </p:spPr>
        </p:sp>
        <p:sp>
          <p:nvSpPr>
            <p:cNvPr id="29835" name="Line 379"/>
            <p:cNvSpPr/>
            <p:nvPr/>
          </p:nvSpPr>
          <p:spPr>
            <a:xfrm flipH="1">
              <a:off x="4830" y="3566"/>
              <a:ext cx="137" cy="0"/>
            </a:xfrm>
            <a:prstGeom prst="line">
              <a:avLst/>
            </a:prstGeom>
            <a:ln w="38100" cap="flat" cmpd="sng">
              <a:solidFill>
                <a:srgbClr val="000000"/>
              </a:solidFill>
              <a:prstDash val="solid"/>
              <a:headEnd type="none" w="med" len="med"/>
              <a:tailEnd type="triangle" w="med" len="med"/>
            </a:ln>
          </p:spPr>
        </p:sp>
      </p:grpSp>
      <p:sp>
        <p:nvSpPr>
          <p:cNvPr id="227709" name="Text Box 381"/>
          <p:cNvSpPr txBox="1"/>
          <p:nvPr/>
        </p:nvSpPr>
        <p:spPr>
          <a:xfrm>
            <a:off x="539750" y="3573463"/>
            <a:ext cx="1511300" cy="519112"/>
          </a:xfrm>
          <a:prstGeom prst="rect">
            <a:avLst/>
          </a:prstGeom>
          <a:noFill/>
          <a:ln w="38100">
            <a:noFill/>
          </a:ln>
        </p:spPr>
        <p:txBody>
          <a:bodyPr>
            <a:spAutoFit/>
          </a:bodyPr>
          <a:p>
            <a:pPr algn="ctr"/>
            <a:r>
              <a:rPr lang="zh-CN" altLang="en-US" dirty="0">
                <a:solidFill>
                  <a:srgbClr val="0000CC"/>
                </a:solidFill>
                <a:latin typeface="Arial" panose="020B0604020202020204" pitchFamily="34" charset="0"/>
              </a:rPr>
              <a:t>关系</a:t>
            </a:r>
            <a:r>
              <a:rPr lang="en-US" altLang="zh-CN" dirty="0">
                <a:solidFill>
                  <a:srgbClr val="0000CC"/>
                </a:solidFill>
                <a:latin typeface="Arial" panose="020B0604020202020204" pitchFamily="34" charset="0"/>
              </a:rPr>
              <a:t>SC</a:t>
            </a:r>
            <a:endParaRPr lang="en-US" altLang="zh-CN" dirty="0">
              <a:solidFill>
                <a:srgbClr val="0000CC"/>
              </a:solidFill>
              <a:latin typeface="Arial" panose="020B0604020202020204" pitchFamily="34" charset="0"/>
            </a:endParaRPr>
          </a:p>
        </p:txBody>
      </p:sp>
      <p:sp>
        <p:nvSpPr>
          <p:cNvPr id="227710" name="Text Box 382"/>
          <p:cNvSpPr txBox="1"/>
          <p:nvPr/>
        </p:nvSpPr>
        <p:spPr>
          <a:xfrm>
            <a:off x="3995738" y="2276475"/>
            <a:ext cx="1223962" cy="519113"/>
          </a:xfrm>
          <a:prstGeom prst="rect">
            <a:avLst/>
          </a:prstGeom>
          <a:noFill/>
          <a:ln w="38100">
            <a:noFill/>
          </a:ln>
        </p:spPr>
        <p:txBody>
          <a:bodyPr>
            <a:spAutoFit/>
          </a:bodyPr>
          <a:p>
            <a:pPr algn="ctr"/>
            <a:r>
              <a:rPr lang="zh-CN" altLang="en-US" dirty="0">
                <a:solidFill>
                  <a:srgbClr val="0000CC"/>
                </a:solidFill>
                <a:latin typeface="Arial" panose="020B0604020202020204" pitchFamily="34" charset="0"/>
              </a:rPr>
              <a:t>关系</a:t>
            </a:r>
            <a:r>
              <a:rPr lang="en-US" altLang="zh-CN" dirty="0">
                <a:solidFill>
                  <a:srgbClr val="0000CC"/>
                </a:solidFill>
                <a:latin typeface="Arial" panose="020B0604020202020204" pitchFamily="34" charset="0"/>
              </a:rPr>
              <a:t>S</a:t>
            </a:r>
            <a:endParaRPr lang="en-US" altLang="zh-CN" dirty="0">
              <a:solidFill>
                <a:srgbClr val="0000CC"/>
              </a:solidFill>
              <a:latin typeface="Arial" panose="020B0604020202020204" pitchFamily="34" charset="0"/>
            </a:endParaRPr>
          </a:p>
        </p:txBody>
      </p:sp>
      <p:sp>
        <p:nvSpPr>
          <p:cNvPr id="227711" name="Text Box 383"/>
          <p:cNvSpPr txBox="1"/>
          <p:nvPr/>
        </p:nvSpPr>
        <p:spPr>
          <a:xfrm>
            <a:off x="5651500" y="2924175"/>
            <a:ext cx="2017713" cy="579438"/>
          </a:xfrm>
          <a:prstGeom prst="rect">
            <a:avLst/>
          </a:prstGeom>
          <a:noFill/>
          <a:ln w="38100">
            <a:noFill/>
          </a:ln>
        </p:spPr>
        <p:txBody>
          <a:bodyPr>
            <a:spAutoFit/>
          </a:bodyPr>
          <a:p>
            <a:pPr algn="ctr"/>
            <a:r>
              <a:rPr lang="zh-CN" altLang="en-US" sz="3200" dirty="0">
                <a:solidFill>
                  <a:srgbClr val="FF0000"/>
                </a:solidFill>
                <a:latin typeface="Arial" panose="020B0604020202020204" pitchFamily="34" charset="0"/>
              </a:rPr>
              <a:t>聚集文件</a:t>
            </a:r>
            <a:endParaRPr lang="zh-CN" altLang="en-US" sz="3200" dirty="0">
              <a:solidFill>
                <a:srgbClr val="FF0000"/>
              </a:solidFill>
              <a:latin typeface="Arial" panose="020B0604020202020204" pitchFamily="34" charset="0"/>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77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77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770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77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763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76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76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766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767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769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77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709" grpId="0"/>
      <p:bldP spid="227710" grpId="0"/>
      <p:bldP spid="2277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idx="1"/>
          </p:nvPr>
        </p:nvSpPr>
        <p:spPr>
          <a:xfrm>
            <a:off x="152400" y="2492375"/>
            <a:ext cx="8740775" cy="4032250"/>
          </a:xfrm>
        </p:spPr>
        <p:txBody>
          <a:bodyPr vert="horz" wrap="square" lIns="91440" tIns="45720" rIns="91440" bIns="45720" anchor="t" anchorCtr="0"/>
          <a:p>
            <a:pPr marL="265430" indent="-265430" eaLnBrk="1" hangingPunct="1"/>
            <a:r>
              <a:rPr lang="zh-CN" altLang="en-US" dirty="0"/>
              <a:t>操作</a:t>
            </a:r>
            <a:endParaRPr lang="zh-CN" altLang="en-US" dirty="0"/>
          </a:p>
          <a:p>
            <a:pPr marL="722630" lvl="1" indent="-278130" eaLnBrk="1" hangingPunct="1">
              <a:lnSpc>
                <a:spcPct val="95000"/>
              </a:lnSpc>
              <a:spcBef>
                <a:spcPct val="5000"/>
              </a:spcBef>
            </a:pPr>
            <a:r>
              <a:rPr lang="zh-CN" altLang="en-US" sz="3600" dirty="0"/>
              <a:t>查找：按关键码</a:t>
            </a:r>
            <a:endParaRPr lang="zh-CN" altLang="en-US" sz="3600" dirty="0"/>
          </a:p>
          <a:p>
            <a:pPr marL="722630" lvl="1" indent="-278130" eaLnBrk="1" hangingPunct="1">
              <a:lnSpc>
                <a:spcPct val="95000"/>
              </a:lnSpc>
              <a:spcBef>
                <a:spcPct val="5000"/>
              </a:spcBef>
            </a:pPr>
            <a:r>
              <a:rPr lang="zh-CN" altLang="en-US" sz="3600" dirty="0"/>
              <a:t>插入：按关键码查找并插入 </a:t>
            </a:r>
            <a:endParaRPr lang="zh-CN" altLang="en-US" sz="3600" dirty="0"/>
          </a:p>
          <a:p>
            <a:pPr marL="722630" lvl="1" indent="-278130" eaLnBrk="1" hangingPunct="1">
              <a:lnSpc>
                <a:spcPct val="95000"/>
              </a:lnSpc>
              <a:spcBef>
                <a:spcPct val="5000"/>
              </a:spcBef>
            </a:pPr>
            <a:r>
              <a:rPr lang="zh-CN" altLang="en-US" sz="3600" dirty="0"/>
              <a:t>删除：按关键码查找并删除 </a:t>
            </a:r>
            <a:endParaRPr lang="zh-CN" altLang="en-US" sz="3600" dirty="0"/>
          </a:p>
          <a:p>
            <a:pPr marL="265430" indent="-265430" eaLnBrk="1" hangingPunct="1">
              <a:spcBef>
                <a:spcPct val="30000"/>
              </a:spcBef>
            </a:pPr>
            <a:r>
              <a:rPr lang="zh-CN" altLang="en-US" dirty="0"/>
              <a:t>特点</a:t>
            </a:r>
            <a:endParaRPr lang="zh-CN" altLang="en-US" dirty="0"/>
          </a:p>
          <a:p>
            <a:pPr marL="722630" lvl="1" indent="-278130" eaLnBrk="1" hangingPunct="1">
              <a:spcBef>
                <a:spcPct val="0"/>
              </a:spcBef>
            </a:pPr>
            <a:r>
              <a:rPr lang="zh-CN" altLang="en-US" sz="3600" dirty="0"/>
              <a:t>提高数据的访问效率</a:t>
            </a:r>
            <a:endParaRPr lang="zh-CN" altLang="en-US" sz="3600" dirty="0"/>
          </a:p>
        </p:txBody>
      </p:sp>
      <p:sp>
        <p:nvSpPr>
          <p:cNvPr id="20070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、聚集文件</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200708" name="AutoShape 4">
            <a:hlinkClick r:id="rId1" action="ppaction://hlinksldjump"/>
          </p:cNvPr>
          <p:cNvSpPr>
            <a:spLocks noChangeArrowheads="1"/>
          </p:cNvSpPr>
          <p:nvPr/>
        </p:nvSpPr>
        <p:spPr bwMode="auto">
          <a:xfrm>
            <a:off x="8459788" y="6165850"/>
            <a:ext cx="576263" cy="619125"/>
          </a:xfrm>
          <a:prstGeom prst="leftArrow">
            <a:avLst>
              <a:gd name="adj1" fmla="val 50000"/>
              <a:gd name="adj2" fmla="val 25000"/>
            </a:avLst>
          </a:prstGeom>
          <a:gradFill rotWithShape="1">
            <a:gsLst>
              <a:gs pos="0">
                <a:schemeClr val="accent1"/>
              </a:gs>
              <a:gs pos="100000">
                <a:schemeClr val="accent1">
                  <a:gamma/>
                  <a:shade val="46275"/>
                  <a:invGamma/>
                </a:schemeClr>
              </a:gs>
            </a:gsLst>
            <a:path path="rect">
              <a:fillToRect l="50000" t="50000" r="50000" b="50000"/>
            </a:path>
          </a:gradFill>
          <a:ln w="28575" algn="ctr">
            <a:noFill/>
            <a:miter lim="800000"/>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0" lang="zh-CN" altLang="en-US" sz="2800" b="1"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2" charset="-122"/>
              <a:cs typeface="+mn-cs"/>
            </a:endParaRPr>
          </a:p>
        </p:txBody>
      </p:sp>
      <p:graphicFrame>
        <p:nvGraphicFramePr>
          <p:cNvPr id="200709" name="Group 5"/>
          <p:cNvGraphicFramePr>
            <a:graphicFrameLocks noGrp="1"/>
          </p:cNvGraphicFramePr>
          <p:nvPr/>
        </p:nvGraphicFramePr>
        <p:xfrm>
          <a:off x="5148263" y="333375"/>
          <a:ext cx="3592513" cy="360363"/>
        </p:xfrm>
        <a:graphic>
          <a:graphicData uri="http://schemas.openxmlformats.org/drawingml/2006/table">
            <a:tbl>
              <a:tblPr/>
              <a:tblGrid>
                <a:gridCol w="563562"/>
                <a:gridCol w="842963"/>
                <a:gridCol w="674687"/>
                <a:gridCol w="728663"/>
                <a:gridCol w="782637"/>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赵伟</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00725" name="Group 21"/>
          <p:cNvGraphicFramePr>
            <a:graphicFrameLocks noGrp="1"/>
          </p:cNvGraphicFramePr>
          <p:nvPr/>
        </p:nvGraphicFramePr>
        <p:xfrm>
          <a:off x="5153025" y="692150"/>
          <a:ext cx="2081213" cy="958850"/>
        </p:xfrm>
        <a:graphic>
          <a:graphicData uri="http://schemas.openxmlformats.org/drawingml/2006/table">
            <a:tbl>
              <a:tblPr/>
              <a:tblGrid>
                <a:gridCol w="561975"/>
                <a:gridCol w="842963"/>
                <a:gridCol w="676275"/>
              </a:tblGrid>
              <a:tr h="287338">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87</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288925">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C4</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78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r h="349250">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C5</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91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00743" name="Group 39"/>
          <p:cNvGraphicFramePr>
            <a:graphicFrameLocks noGrp="1"/>
          </p:cNvGraphicFramePr>
          <p:nvPr/>
        </p:nvGraphicFramePr>
        <p:xfrm>
          <a:off x="5148263" y="1660525"/>
          <a:ext cx="3592513" cy="360363"/>
        </p:xfrm>
        <a:graphic>
          <a:graphicData uri="http://schemas.openxmlformats.org/drawingml/2006/table">
            <a:tbl>
              <a:tblPr/>
              <a:tblGrid>
                <a:gridCol w="563562"/>
                <a:gridCol w="842963"/>
                <a:gridCol w="674687"/>
                <a:gridCol w="728663"/>
                <a:gridCol w="782637"/>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张丽</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女</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19</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endParaRPr kumimoji="0" lang="zh-CN"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00759" name="Group 55"/>
          <p:cNvGraphicFramePr>
            <a:graphicFrameLocks noGrp="1"/>
          </p:cNvGraphicFramePr>
          <p:nvPr/>
        </p:nvGraphicFramePr>
        <p:xfrm>
          <a:off x="5153025" y="2022475"/>
          <a:ext cx="2081213" cy="360363"/>
        </p:xfrm>
        <a:graphic>
          <a:graphicData uri="http://schemas.openxmlformats.org/drawingml/2006/table">
            <a:tbl>
              <a:tblPr/>
              <a:tblGrid>
                <a:gridCol w="561975"/>
                <a:gridCol w="842963"/>
                <a:gridCol w="676275"/>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S2</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C4</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86</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00769" name="Group 65"/>
          <p:cNvGraphicFramePr>
            <a:graphicFrameLocks noGrp="1"/>
          </p:cNvGraphicFramePr>
          <p:nvPr/>
        </p:nvGraphicFramePr>
        <p:xfrm>
          <a:off x="5148263" y="2389188"/>
          <a:ext cx="3592513" cy="360363"/>
        </p:xfrm>
        <a:graphic>
          <a:graphicData uri="http://schemas.openxmlformats.org/drawingml/2006/table">
            <a:tbl>
              <a:tblPr/>
              <a:tblGrid>
                <a:gridCol w="563562"/>
                <a:gridCol w="842963"/>
                <a:gridCol w="674687"/>
                <a:gridCol w="728663"/>
                <a:gridCol w="782637"/>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李明</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男</a:t>
                      </a:r>
                      <a:endParaRPr kumimoji="0" lang="zh-CN" altLang="en-US"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18</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aphicFrame>
        <p:nvGraphicFramePr>
          <p:cNvPr id="200785" name="Group 81"/>
          <p:cNvGraphicFramePr>
            <a:graphicFrameLocks noGrp="1"/>
          </p:cNvGraphicFramePr>
          <p:nvPr/>
        </p:nvGraphicFramePr>
        <p:xfrm>
          <a:off x="5153025" y="2749550"/>
          <a:ext cx="2081213" cy="360363"/>
        </p:xfrm>
        <a:graphic>
          <a:graphicData uri="http://schemas.openxmlformats.org/drawingml/2006/table">
            <a:tbl>
              <a:tblPr/>
              <a:tblGrid>
                <a:gridCol w="561975"/>
                <a:gridCol w="842963"/>
                <a:gridCol w="676275"/>
              </a:tblGrid>
              <a:tr h="360363">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S3</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C1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FF0000"/>
                        </a:buClr>
                        <a:buSzPct val="65000"/>
                        <a:buFont typeface="Wingdings" panose="05000000000000000000" pitchFamily="2" charset="2"/>
                        <a:buNone/>
                      </a:pPr>
                      <a:r>
                        <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rPr>
                        <a:t>81</a:t>
                      </a:r>
                      <a:endParaRPr kumimoji="0" lang="en-US" altLang="zh-CN" sz="20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endParaRPr>
                    </a:p>
                  </a:txBody>
                  <a:tcPr marL="90000" marR="90000" marT="0" marB="0" horzOverflow="overflow">
                    <a:lnL w="38100" cap="flat" cmpd="sng" algn="ctr">
                      <a:solidFill>
                        <a:schemeClr val="bg2"/>
                      </a:solidFill>
                      <a:prstDash val="solid"/>
                      <a:round/>
                      <a:headEnd type="none" w="med" len="med"/>
                      <a:tailEnd type="none" w="med" len="med"/>
                    </a:lnL>
                    <a:lnR w="38100" cap="flat" cmpd="sng" algn="ctr">
                      <a:solidFill>
                        <a:schemeClr val="bg2"/>
                      </a:solidFill>
                      <a:prstDash val="solid"/>
                      <a:round/>
                      <a:headEnd type="none" w="med" len="med"/>
                      <a:tailEnd type="none" w="med" len="med"/>
                    </a:lnR>
                    <a:lnT w="38100" cap="flat" cmpd="sng" algn="ctr">
                      <a:solidFill>
                        <a:schemeClr val="bg2"/>
                      </a:solidFill>
                      <a:prstDash val="solid"/>
                      <a:round/>
                      <a:headEnd type="none" w="med" len="med"/>
                      <a:tailEnd type="none" w="med" len="med"/>
                    </a:lnT>
                    <a:lnB w="38100" cap="flat" cmpd="sng" algn="ctr">
                      <a:solidFill>
                        <a:schemeClr val="bg2"/>
                      </a:solidFill>
                      <a:prstDash val="solid"/>
                      <a:round/>
                      <a:headEnd type="none" w="med" len="med"/>
                      <a:tailEnd type="none" w="med" len="med"/>
                    </a:lnB>
                    <a:lnTlToBr>
                      <a:noFill/>
                    </a:lnTlToBr>
                    <a:lnBlToTr>
                      <a:noFill/>
                    </a:lnBlToTr>
                    <a:noFill/>
                  </a:tcPr>
                </a:tc>
              </a:tr>
            </a:tbl>
          </a:graphicData>
        </a:graphic>
      </p:graphicFrame>
      <p:grpSp>
        <p:nvGrpSpPr>
          <p:cNvPr id="30805" name="Group 91"/>
          <p:cNvGrpSpPr/>
          <p:nvPr/>
        </p:nvGrpSpPr>
        <p:grpSpPr>
          <a:xfrm>
            <a:off x="8516938" y="549275"/>
            <a:ext cx="449262" cy="1223963"/>
            <a:chOff x="4604" y="2251"/>
            <a:chExt cx="363" cy="771"/>
          </a:xfrm>
        </p:grpSpPr>
        <p:sp>
          <p:nvSpPr>
            <p:cNvPr id="30810" name="Line 92"/>
            <p:cNvSpPr/>
            <p:nvPr/>
          </p:nvSpPr>
          <p:spPr>
            <a:xfrm>
              <a:off x="4604" y="2251"/>
              <a:ext cx="363" cy="0"/>
            </a:xfrm>
            <a:prstGeom prst="line">
              <a:avLst/>
            </a:prstGeom>
            <a:ln w="38100" cap="flat" cmpd="sng">
              <a:solidFill>
                <a:srgbClr val="000000"/>
              </a:solidFill>
              <a:prstDash val="solid"/>
              <a:headEnd type="none" w="med" len="med"/>
              <a:tailEnd type="none" w="med" len="med"/>
            </a:ln>
          </p:spPr>
        </p:sp>
        <p:sp>
          <p:nvSpPr>
            <p:cNvPr id="30811" name="Line 93"/>
            <p:cNvSpPr/>
            <p:nvPr/>
          </p:nvSpPr>
          <p:spPr>
            <a:xfrm>
              <a:off x="4967" y="2251"/>
              <a:ext cx="0" cy="771"/>
            </a:xfrm>
            <a:prstGeom prst="line">
              <a:avLst/>
            </a:prstGeom>
            <a:ln w="38100" cap="flat" cmpd="sng">
              <a:solidFill>
                <a:srgbClr val="000000"/>
              </a:solidFill>
              <a:prstDash val="solid"/>
              <a:headEnd type="none" w="med" len="med"/>
              <a:tailEnd type="none" w="med" len="med"/>
            </a:ln>
          </p:spPr>
        </p:sp>
        <p:sp>
          <p:nvSpPr>
            <p:cNvPr id="30812" name="Line 94"/>
            <p:cNvSpPr/>
            <p:nvPr/>
          </p:nvSpPr>
          <p:spPr>
            <a:xfrm flipH="1">
              <a:off x="4830" y="3022"/>
              <a:ext cx="137" cy="0"/>
            </a:xfrm>
            <a:prstGeom prst="line">
              <a:avLst/>
            </a:prstGeom>
            <a:ln w="38100" cap="flat" cmpd="sng">
              <a:solidFill>
                <a:srgbClr val="000000"/>
              </a:solidFill>
              <a:prstDash val="solid"/>
              <a:headEnd type="none" w="med" len="med"/>
              <a:tailEnd type="triangle" w="med" len="med"/>
            </a:ln>
          </p:spPr>
        </p:sp>
      </p:grpSp>
      <p:grpSp>
        <p:nvGrpSpPr>
          <p:cNvPr id="30806" name="Group 95"/>
          <p:cNvGrpSpPr/>
          <p:nvPr/>
        </p:nvGrpSpPr>
        <p:grpSpPr>
          <a:xfrm>
            <a:off x="8516938" y="1917700"/>
            <a:ext cx="449262" cy="719138"/>
            <a:chOff x="4604" y="3113"/>
            <a:chExt cx="363" cy="453"/>
          </a:xfrm>
        </p:grpSpPr>
        <p:sp>
          <p:nvSpPr>
            <p:cNvPr id="30807" name="Line 96"/>
            <p:cNvSpPr/>
            <p:nvPr/>
          </p:nvSpPr>
          <p:spPr>
            <a:xfrm>
              <a:off x="4604" y="3113"/>
              <a:ext cx="363" cy="0"/>
            </a:xfrm>
            <a:prstGeom prst="line">
              <a:avLst/>
            </a:prstGeom>
            <a:ln w="38100" cap="flat" cmpd="sng">
              <a:solidFill>
                <a:srgbClr val="000000"/>
              </a:solidFill>
              <a:prstDash val="solid"/>
              <a:headEnd type="none" w="med" len="med"/>
              <a:tailEnd type="none" w="med" len="med"/>
            </a:ln>
          </p:spPr>
        </p:sp>
        <p:sp>
          <p:nvSpPr>
            <p:cNvPr id="30808" name="Line 97"/>
            <p:cNvSpPr/>
            <p:nvPr/>
          </p:nvSpPr>
          <p:spPr>
            <a:xfrm>
              <a:off x="4967" y="3113"/>
              <a:ext cx="0" cy="453"/>
            </a:xfrm>
            <a:prstGeom prst="line">
              <a:avLst/>
            </a:prstGeom>
            <a:ln w="38100" cap="flat" cmpd="sng">
              <a:solidFill>
                <a:srgbClr val="000000"/>
              </a:solidFill>
              <a:prstDash val="solid"/>
              <a:headEnd type="none" w="med" len="med"/>
              <a:tailEnd type="none" w="med" len="med"/>
            </a:ln>
          </p:spPr>
        </p:sp>
        <p:sp>
          <p:nvSpPr>
            <p:cNvPr id="30809" name="Line 98"/>
            <p:cNvSpPr/>
            <p:nvPr/>
          </p:nvSpPr>
          <p:spPr>
            <a:xfrm flipH="1">
              <a:off x="4830" y="3566"/>
              <a:ext cx="137" cy="0"/>
            </a:xfrm>
            <a:prstGeom prst="line">
              <a:avLst/>
            </a:prstGeom>
            <a:ln w="38100" cap="flat" cmpd="sng">
              <a:solidFill>
                <a:srgbClr val="000000"/>
              </a:solidFill>
              <a:prstDash val="solid"/>
              <a:headEnd type="none" w="med" len="med"/>
              <a:tailEnd type="triangle" w="med" len="med"/>
            </a:ln>
          </p:spPr>
        </p:sp>
      </p:grpSp>
    </p:spTree>
  </p:cSld>
  <p:clrMapOvr>
    <a:masterClrMapping/>
  </p:clrMapOvr>
  <p:transition>
    <p:random/>
    <p:sndAc>
      <p:stSnd>
        <p:snd r:embed="rId2" name="CAMERA.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主要内容</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31747" name="Rectangle 3"/>
          <p:cNvSpPr>
            <a:spLocks noGrp="1"/>
          </p:cNvSpPr>
          <p:nvPr>
            <p:ph idx="1"/>
          </p:nvPr>
        </p:nvSpPr>
        <p:spPr>
          <a:xfrm>
            <a:off x="1231900" y="1016000"/>
            <a:ext cx="7372350" cy="5365750"/>
          </a:xfrm>
        </p:spPr>
        <p:txBody>
          <a:bodyPr vert="horz" wrap="square" lIns="91440" tIns="45720" rIns="91440" bIns="45720" anchor="t" anchorCtr="0"/>
          <a:p>
            <a:pPr eaLnBrk="1" hangingPunct="1">
              <a:lnSpc>
                <a:spcPct val="140000"/>
              </a:lnSpc>
              <a:buNone/>
            </a:pPr>
            <a:r>
              <a:rPr lang="en-US" altLang="zh-CN" dirty="0">
                <a:latin typeface="Arial" panose="020B0604020202020204" pitchFamily="34" charset="0"/>
              </a:rPr>
              <a:t>9.1 </a:t>
            </a:r>
            <a:r>
              <a:rPr lang="zh-CN" altLang="en-US" dirty="0">
                <a:latin typeface="Arial" panose="020B0604020202020204" pitchFamily="34" charset="0"/>
              </a:rPr>
              <a:t>数据的物理存储</a:t>
            </a:r>
            <a:endParaRPr lang="zh-CN" altLang="en-US" dirty="0">
              <a:latin typeface="Arial" panose="020B0604020202020204" pitchFamily="34" charset="0"/>
            </a:endParaRPr>
          </a:p>
          <a:p>
            <a:pPr eaLnBrk="1" hangingPunct="1">
              <a:lnSpc>
                <a:spcPct val="140000"/>
              </a:lnSpc>
              <a:buNone/>
            </a:pPr>
            <a:r>
              <a:rPr lang="en-US" altLang="zh-CN" dirty="0">
                <a:latin typeface="Arial" panose="020B0604020202020204" pitchFamily="34" charset="0"/>
              </a:rPr>
              <a:t>9.2 </a:t>
            </a:r>
            <a:r>
              <a:rPr lang="zh-CN" altLang="en-US" dirty="0"/>
              <a:t>数据的文件组织</a:t>
            </a:r>
            <a:endParaRPr lang="zh-CN" altLang="en-US" dirty="0">
              <a:latin typeface="宋体" panose="02010600030101010101" pitchFamily="2" charset="-122"/>
            </a:endParaRPr>
          </a:p>
          <a:p>
            <a:pPr eaLnBrk="1" hangingPunct="1">
              <a:lnSpc>
                <a:spcPct val="140000"/>
              </a:lnSpc>
              <a:buNone/>
            </a:pPr>
            <a:r>
              <a:rPr lang="en-US" altLang="zh-CN" dirty="0">
                <a:solidFill>
                  <a:srgbClr val="0000CC"/>
                </a:solidFill>
                <a:latin typeface="Arial" panose="020B0604020202020204" pitchFamily="34" charset="0"/>
              </a:rPr>
              <a:t>9.3 </a:t>
            </a:r>
            <a:r>
              <a:rPr lang="zh-CN" altLang="en-US" dirty="0">
                <a:solidFill>
                  <a:srgbClr val="0000CC"/>
                </a:solidFill>
                <a:latin typeface="Arial" panose="020B0604020202020204" pitchFamily="34" charset="0"/>
              </a:rPr>
              <a:t>散列文件及访问方式</a:t>
            </a:r>
            <a:endParaRPr lang="zh-CN" altLang="en-US" dirty="0">
              <a:solidFill>
                <a:srgbClr val="0000CC"/>
              </a:solidFill>
              <a:latin typeface="Arial" panose="020B0604020202020204" pitchFamily="34" charset="0"/>
            </a:endParaRPr>
          </a:p>
        </p:txBody>
      </p:sp>
    </p:spTree>
  </p:cSld>
  <p:clrMapOvr>
    <a:masterClrMapping/>
  </p:clrMapOvr>
  <p:transition>
    <p:random/>
    <p:sndAc>
      <p:stSnd>
        <p:snd r:embed="rId1" name="CAMERA.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2"/>
          <p:cNvSpPr>
            <a:spLocks noGrp="1"/>
          </p:cNvSpPr>
          <p:nvPr>
            <p:ph idx="1"/>
          </p:nvPr>
        </p:nvSpPr>
        <p:spPr>
          <a:xfrm>
            <a:off x="152400" y="1035050"/>
            <a:ext cx="8740775" cy="5273675"/>
          </a:xfrm>
        </p:spPr>
        <p:txBody>
          <a:bodyPr vert="horz" wrap="square" lIns="91440" tIns="45720" rIns="91440" bIns="45720" anchor="t" anchorCtr="0"/>
          <a:p>
            <a:pPr marL="0" indent="361950" eaLnBrk="1" hangingPunct="1">
              <a:lnSpc>
                <a:spcPct val="110000"/>
              </a:lnSpc>
            </a:pPr>
            <a:r>
              <a:rPr lang="zh-CN" altLang="en-US" dirty="0">
                <a:latin typeface="Arial" panose="020B0604020202020204" pitchFamily="34" charset="0"/>
              </a:rPr>
              <a:t>通过索引进行查询示意图</a:t>
            </a:r>
            <a:endParaRPr lang="zh-CN" altLang="en-US" dirty="0">
              <a:latin typeface="Arial" panose="020B0604020202020204" pitchFamily="34" charset="0"/>
            </a:endParaRPr>
          </a:p>
        </p:txBody>
      </p:sp>
      <p:sp>
        <p:nvSpPr>
          <p:cNvPr id="2191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文件中数据的访问方式</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32772" name="Group 15"/>
          <p:cNvGrpSpPr/>
          <p:nvPr/>
        </p:nvGrpSpPr>
        <p:grpSpPr>
          <a:xfrm>
            <a:off x="346075" y="2273300"/>
            <a:ext cx="8410575" cy="3459163"/>
            <a:chOff x="218" y="1432"/>
            <a:chExt cx="5298" cy="2179"/>
          </a:xfrm>
        </p:grpSpPr>
        <p:sp>
          <p:nvSpPr>
            <p:cNvPr id="32773" name="AutoShape 4"/>
            <p:cNvSpPr/>
            <p:nvPr/>
          </p:nvSpPr>
          <p:spPr>
            <a:xfrm>
              <a:off x="3198" y="2205"/>
              <a:ext cx="2086" cy="1406"/>
            </a:xfrm>
            <a:prstGeom prst="flowChartMagneticDisk">
              <a:avLst/>
            </a:prstGeom>
            <a:gradFill rotWithShape="1">
              <a:gsLst>
                <a:gs pos="0">
                  <a:srgbClr val="FFFFFF"/>
                </a:gs>
                <a:gs pos="100000">
                  <a:srgbClr val="B4B4B4"/>
                </a:gs>
              </a:gsLst>
              <a:lin ang="5400000" scaled="1"/>
              <a:tileRect/>
            </a:gradFill>
            <a:ln w="28575" cap="flat" cmpd="sng">
              <a:solidFill>
                <a:srgbClr val="0066CC"/>
              </a:solidFill>
              <a:prstDash val="solid"/>
              <a:headEnd type="none" w="med" len="med"/>
              <a:tailEnd type="none" w="med" len="med"/>
            </a:ln>
          </p:spPr>
          <p:txBody>
            <a:bodyPr lIns="0" tIns="0" rIns="0" bIns="0" anchor="ctr" anchorCtr="0">
              <a:spAutoFit/>
            </a:bodyPr>
            <a:p>
              <a:endParaRPr lang="zh-CN" altLang="en-US" dirty="0">
                <a:latin typeface="Arial" panose="020B0604020202020204" pitchFamily="34" charset="0"/>
              </a:endParaRPr>
            </a:p>
          </p:txBody>
        </p:sp>
        <p:sp>
          <p:nvSpPr>
            <p:cNvPr id="32774" name="Rectangle 5"/>
            <p:cNvSpPr/>
            <p:nvPr/>
          </p:nvSpPr>
          <p:spPr>
            <a:xfrm>
              <a:off x="3696" y="2885"/>
              <a:ext cx="726" cy="317"/>
            </a:xfrm>
            <a:prstGeom prst="rect">
              <a:avLst/>
            </a:prstGeom>
            <a:solidFill>
              <a:srgbClr val="6699FF"/>
            </a:solidFill>
            <a:ln w="9525" cap="flat" cmpd="sng">
              <a:prstDash val="solid"/>
              <a:miter/>
              <a:headEnd type="none" w="med" len="med"/>
              <a:tailEnd type="none" w="med" len="med"/>
            </a:ln>
            <a:scene3d>
              <a:camera prst="legacyObliqueTopRight">
                <a:rot lat="0" lon="0" rev="0"/>
              </a:camera>
              <a:lightRig rig="legacyFlat3" dir="r"/>
            </a:scene3d>
            <a:sp3d extrusionH="430200" prstMaterial="legacyMatte">
              <a:bevelT w="13500" h="13500" prst="angle"/>
              <a:bevelB w="13500" h="13500" prst="angle"/>
              <a:extrusionClr>
                <a:srgbClr val="6699FF"/>
              </a:extrusionClr>
            </a:sp3d>
          </p:spPr>
          <p:txBody>
            <a:bodyPr wrap="none" lIns="0" tIns="0" rIns="0" bIns="0" anchor="ctr" anchorCtr="0">
              <a:spAutoFit/>
              <a:flatTx/>
            </a:bodyPr>
            <a:p>
              <a:endParaRPr lang="zh-CN" altLang="en-US" dirty="0">
                <a:latin typeface="Arial" panose="020B0604020202020204" pitchFamily="34" charset="0"/>
              </a:endParaRPr>
            </a:p>
          </p:txBody>
        </p:sp>
        <p:sp>
          <p:nvSpPr>
            <p:cNvPr id="32775" name="Rectangle 6"/>
            <p:cNvSpPr/>
            <p:nvPr/>
          </p:nvSpPr>
          <p:spPr>
            <a:xfrm>
              <a:off x="3453" y="3203"/>
              <a:ext cx="1544" cy="230"/>
            </a:xfrm>
            <a:prstGeom prst="rect">
              <a:avLst/>
            </a:prstGeom>
            <a:noFill/>
            <a:ln w="38100">
              <a:noFill/>
            </a:ln>
          </p:spPr>
          <p:txBody>
            <a:bodyPr wrap="none" lIns="0" tIns="0" rIns="0" bIns="0" anchor="ctr" anchorCtr="0">
              <a:spAutoFit/>
            </a:bodyPr>
            <a:p>
              <a:pPr algn="ctr"/>
              <a:r>
                <a:rPr lang="zh-CN" altLang="en-US" sz="2400" dirty="0">
                  <a:latin typeface="Arial" panose="020B0604020202020204" pitchFamily="34" charset="0"/>
                  <a:ea typeface="幼圆" panose="02010509060101010101" pitchFamily="49" charset="-122"/>
                </a:rPr>
                <a:t>包含结果记录的块</a:t>
              </a:r>
              <a:endParaRPr lang="zh-CN" altLang="en-US" sz="2400" dirty="0">
                <a:latin typeface="Arial" panose="020B0604020202020204" pitchFamily="34" charset="0"/>
                <a:ea typeface="幼圆" panose="02010509060101010101" pitchFamily="49" charset="-122"/>
              </a:endParaRPr>
            </a:p>
          </p:txBody>
        </p:sp>
        <p:sp>
          <p:nvSpPr>
            <p:cNvPr id="32776" name="AutoShape 7"/>
            <p:cNvSpPr/>
            <p:nvPr/>
          </p:nvSpPr>
          <p:spPr>
            <a:xfrm>
              <a:off x="249" y="2886"/>
              <a:ext cx="1406" cy="227"/>
            </a:xfrm>
            <a:prstGeom prst="rightArrow">
              <a:avLst>
                <a:gd name="adj1" fmla="val 50000"/>
                <a:gd name="adj2" fmla="val 154845"/>
              </a:avLst>
            </a:prstGeom>
            <a:noFill/>
            <a:ln w="28575" cap="flat" cmpd="sng">
              <a:solidFill>
                <a:srgbClr val="0066CC"/>
              </a:solidFill>
              <a:prstDash val="solid"/>
              <a:miter/>
              <a:headEnd type="none" w="med" len="med"/>
              <a:tailEnd type="none" w="med" len="med"/>
            </a:ln>
          </p:spPr>
          <p:txBody>
            <a:bodyPr lIns="0" tIns="0" rIns="0" bIns="0" anchor="ctr" anchorCtr="0">
              <a:spAutoFit/>
            </a:bodyPr>
            <a:p>
              <a:endParaRPr lang="zh-CN" altLang="en-US" dirty="0">
                <a:latin typeface="Arial" panose="020B0604020202020204" pitchFamily="34" charset="0"/>
              </a:endParaRPr>
            </a:p>
          </p:txBody>
        </p:sp>
        <p:sp>
          <p:nvSpPr>
            <p:cNvPr id="32777" name="Rectangle 8"/>
            <p:cNvSpPr/>
            <p:nvPr/>
          </p:nvSpPr>
          <p:spPr>
            <a:xfrm>
              <a:off x="218" y="2341"/>
              <a:ext cx="1125" cy="512"/>
            </a:xfrm>
            <a:prstGeom prst="rect">
              <a:avLst/>
            </a:prstGeom>
            <a:noFill/>
            <a:ln w="38100">
              <a:noFill/>
            </a:ln>
          </p:spPr>
          <p:txBody>
            <a:bodyPr wrap="none" lIns="0" tIns="0" rIns="0" bIns="0" anchor="ctr" anchorCtr="0">
              <a:spAutoFit/>
            </a:bodyPr>
            <a:p>
              <a:pPr algn="ctr">
                <a:lnSpc>
                  <a:spcPct val="95000"/>
                </a:lnSpc>
                <a:spcBef>
                  <a:spcPct val="0"/>
                </a:spcBef>
              </a:pPr>
              <a:r>
                <a:rPr lang="zh-CN" altLang="en-US" dirty="0">
                  <a:latin typeface="Arial" panose="020B0604020202020204" pitchFamily="34" charset="0"/>
                  <a:ea typeface="幼圆" panose="02010509060101010101" pitchFamily="49" charset="-122"/>
                </a:rPr>
                <a:t>需查询的</a:t>
              </a:r>
              <a:endParaRPr lang="zh-CN" altLang="en-US" dirty="0">
                <a:latin typeface="Arial" panose="020B0604020202020204" pitchFamily="34" charset="0"/>
                <a:ea typeface="幼圆" panose="02010509060101010101" pitchFamily="49" charset="-122"/>
              </a:endParaRPr>
            </a:p>
            <a:p>
              <a:pPr algn="ctr">
                <a:lnSpc>
                  <a:spcPct val="95000"/>
                </a:lnSpc>
                <a:spcBef>
                  <a:spcPct val="0"/>
                </a:spcBef>
              </a:pPr>
              <a:r>
                <a:rPr lang="zh-CN" altLang="en-US" dirty="0">
                  <a:latin typeface="Arial" panose="020B0604020202020204" pitchFamily="34" charset="0"/>
                  <a:ea typeface="幼圆" panose="02010509060101010101" pitchFamily="49" charset="-122"/>
                </a:rPr>
                <a:t>特定属性值</a:t>
              </a:r>
              <a:endParaRPr lang="zh-CN" altLang="en-US" dirty="0">
                <a:latin typeface="Arial" panose="020B0604020202020204" pitchFamily="34" charset="0"/>
                <a:ea typeface="幼圆" panose="02010509060101010101" pitchFamily="49" charset="-122"/>
              </a:endParaRPr>
            </a:p>
          </p:txBody>
        </p:sp>
        <p:sp>
          <p:nvSpPr>
            <p:cNvPr id="32778" name="AutoShape 9"/>
            <p:cNvSpPr/>
            <p:nvPr/>
          </p:nvSpPr>
          <p:spPr>
            <a:xfrm rot="-5400000">
              <a:off x="1813" y="2618"/>
              <a:ext cx="469" cy="756"/>
            </a:xfrm>
            <a:prstGeom prst="flowChartManualOperation">
              <a:avLst/>
            </a:prstGeom>
            <a:solidFill>
              <a:srgbClr val="FFCCFF"/>
            </a:solidFill>
            <a:ln w="28575" cap="flat" cmpd="sng">
              <a:solidFill>
                <a:srgbClr val="0066CC"/>
              </a:solidFill>
              <a:prstDash val="solid"/>
              <a:miter/>
              <a:headEnd type="none" w="med" len="med"/>
              <a:tailEnd type="none" w="med" len="med"/>
            </a:ln>
          </p:spPr>
          <p:txBody>
            <a:bodyPr vert="eaVert" lIns="0" tIns="0" rIns="0" bIns="0" anchor="ctr" anchorCtr="0">
              <a:spAutoFit/>
            </a:bodyPr>
            <a:p>
              <a:pPr algn="ctr"/>
              <a:r>
                <a:rPr lang="zh-CN" altLang="en-US" dirty="0">
                  <a:latin typeface="Arial" panose="020B0604020202020204" pitchFamily="34" charset="0"/>
                  <a:ea typeface="幼圆" panose="02010509060101010101" pitchFamily="49" charset="-122"/>
                </a:rPr>
                <a:t>索引</a:t>
              </a:r>
              <a:endParaRPr lang="zh-CN" altLang="en-US" dirty="0">
                <a:latin typeface="Arial" panose="020B0604020202020204" pitchFamily="34" charset="0"/>
                <a:ea typeface="幼圆" panose="02010509060101010101" pitchFamily="49" charset="-122"/>
              </a:endParaRPr>
            </a:p>
          </p:txBody>
        </p:sp>
        <p:sp>
          <p:nvSpPr>
            <p:cNvPr id="32779" name="AutoShape 10"/>
            <p:cNvSpPr/>
            <p:nvPr/>
          </p:nvSpPr>
          <p:spPr>
            <a:xfrm>
              <a:off x="2426" y="2886"/>
              <a:ext cx="1270" cy="227"/>
            </a:xfrm>
            <a:prstGeom prst="rightArrow">
              <a:avLst>
                <a:gd name="adj1" fmla="val 50000"/>
                <a:gd name="adj2" fmla="val 139867"/>
              </a:avLst>
            </a:prstGeom>
            <a:noFill/>
            <a:ln w="28575" cap="flat" cmpd="sng">
              <a:solidFill>
                <a:srgbClr val="0066CC"/>
              </a:solidFill>
              <a:prstDash val="solid"/>
              <a:miter/>
              <a:headEnd type="none" w="med" len="med"/>
              <a:tailEnd type="none" w="med" len="med"/>
            </a:ln>
          </p:spPr>
          <p:txBody>
            <a:bodyPr lIns="0" tIns="0" rIns="0" bIns="0" anchor="ctr" anchorCtr="0">
              <a:spAutoFit/>
            </a:bodyPr>
            <a:p>
              <a:endParaRPr lang="zh-CN" altLang="en-US" dirty="0">
                <a:latin typeface="Arial" panose="020B0604020202020204" pitchFamily="34" charset="0"/>
              </a:endParaRPr>
            </a:p>
          </p:txBody>
        </p:sp>
        <p:sp>
          <p:nvSpPr>
            <p:cNvPr id="32780" name="Rectangle 12"/>
            <p:cNvSpPr/>
            <p:nvPr/>
          </p:nvSpPr>
          <p:spPr>
            <a:xfrm>
              <a:off x="2743" y="1432"/>
              <a:ext cx="2773" cy="256"/>
            </a:xfrm>
            <a:prstGeom prst="rect">
              <a:avLst/>
            </a:prstGeom>
            <a:noFill/>
            <a:ln w="38100">
              <a:noFill/>
            </a:ln>
          </p:spPr>
          <p:txBody>
            <a:bodyPr wrap="none" lIns="0" tIns="0" rIns="0" bIns="0" anchor="ctr" anchorCtr="0">
              <a:spAutoFit/>
            </a:bodyPr>
            <a:p>
              <a:pPr algn="ctr">
                <a:lnSpc>
                  <a:spcPct val="95000"/>
                </a:lnSpc>
                <a:spcBef>
                  <a:spcPct val="0"/>
                </a:spcBef>
              </a:pPr>
              <a:r>
                <a:rPr lang="zh-CN" altLang="en-US" dirty="0">
                  <a:latin typeface="Arial" panose="020B0604020202020204" pitchFamily="34" charset="0"/>
                  <a:ea typeface="幼圆" panose="02010509060101010101" pitchFamily="49" charset="-122"/>
                </a:rPr>
                <a:t>通过磁盘的</a:t>
              </a:r>
              <a:r>
                <a:rPr lang="en-US" altLang="zh-CN" dirty="0">
                  <a:latin typeface="Arial" panose="020B0604020202020204" pitchFamily="34" charset="0"/>
                  <a:ea typeface="幼圆" panose="02010509060101010101" pitchFamily="49" charset="-122"/>
                </a:rPr>
                <a:t>I/O</a:t>
              </a:r>
              <a:r>
                <a:rPr lang="zh-CN" altLang="en-US" dirty="0">
                  <a:latin typeface="Arial" panose="020B0604020202020204" pitchFamily="34" charset="0"/>
                  <a:ea typeface="幼圆" panose="02010509060101010101" pitchFamily="49" charset="-122"/>
                </a:rPr>
                <a:t>至内存缓冲区</a:t>
              </a:r>
              <a:endParaRPr lang="zh-CN" altLang="en-US" dirty="0">
                <a:latin typeface="Arial" panose="020B0604020202020204" pitchFamily="34" charset="0"/>
                <a:ea typeface="幼圆" panose="02010509060101010101" pitchFamily="49" charset="-122"/>
              </a:endParaRPr>
            </a:p>
          </p:txBody>
        </p:sp>
        <p:sp>
          <p:nvSpPr>
            <p:cNvPr id="32781" name="AutoShape 11"/>
            <p:cNvSpPr/>
            <p:nvPr/>
          </p:nvSpPr>
          <p:spPr>
            <a:xfrm rot="-5400000">
              <a:off x="3583" y="2137"/>
              <a:ext cx="1089" cy="227"/>
            </a:xfrm>
            <a:prstGeom prst="rightArrow">
              <a:avLst>
                <a:gd name="adj1" fmla="val 50000"/>
                <a:gd name="adj2" fmla="val 119933"/>
              </a:avLst>
            </a:prstGeom>
            <a:noFill/>
            <a:ln w="28575" cap="flat" cmpd="sng">
              <a:solidFill>
                <a:srgbClr val="0066CC"/>
              </a:solidFill>
              <a:prstDash val="solid"/>
              <a:miter/>
              <a:headEnd type="none" w="med" len="med"/>
              <a:tailEnd type="none" w="med" len="med"/>
            </a:ln>
          </p:spPr>
          <p:txBody>
            <a:bodyPr lIns="0" tIns="0" rIns="0" bIns="0" anchor="ctr" anchorCtr="0">
              <a:spAutoFit/>
            </a:bodyPr>
            <a:p>
              <a:endParaRPr lang="zh-CN" altLang="en-US" dirty="0">
                <a:latin typeface="Arial" panose="020B0604020202020204" pitchFamily="34" charset="0"/>
              </a:endParaRPr>
            </a:p>
          </p:txBody>
        </p:sp>
        <p:sp>
          <p:nvSpPr>
            <p:cNvPr id="32782" name="Rectangle 14"/>
            <p:cNvSpPr/>
            <p:nvPr/>
          </p:nvSpPr>
          <p:spPr>
            <a:xfrm>
              <a:off x="4740" y="2659"/>
              <a:ext cx="499" cy="230"/>
            </a:xfrm>
            <a:prstGeom prst="rect">
              <a:avLst/>
            </a:prstGeom>
            <a:noFill/>
            <a:ln w="38100">
              <a:noFill/>
            </a:ln>
          </p:spPr>
          <p:txBody>
            <a:bodyPr lIns="0" tIns="0" rIns="0" bIns="0" anchor="ctr" anchorCtr="0">
              <a:spAutoFit/>
            </a:bodyPr>
            <a:p>
              <a:pPr algn="ctr"/>
              <a:r>
                <a:rPr lang="en-US" altLang="zh-CN" sz="2400" dirty="0">
                  <a:solidFill>
                    <a:srgbClr val="FF0000"/>
                  </a:solidFill>
                  <a:latin typeface="Arial" panose="020B0604020202020204" pitchFamily="34" charset="0"/>
                </a:rPr>
                <a:t>DB</a:t>
              </a:r>
              <a:endParaRPr lang="en-US" altLang="zh-CN" sz="2400" dirty="0">
                <a:solidFill>
                  <a:srgbClr val="FF0000"/>
                </a:solidFill>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Rectangle 2"/>
          <p:cNvSpPr>
            <a:spLocks noGrp="1"/>
          </p:cNvSpPr>
          <p:nvPr>
            <p:ph idx="1"/>
          </p:nvPr>
        </p:nvSpPr>
        <p:spPr>
          <a:xfrm>
            <a:off x="152400" y="1143000"/>
            <a:ext cx="8740775" cy="5273675"/>
          </a:xfrm>
        </p:spPr>
        <p:txBody>
          <a:bodyPr vert="horz" wrap="square" lIns="91440" tIns="45720" rIns="91440" bIns="45720" anchor="t" anchorCtr="0"/>
          <a:p>
            <a:pPr marL="0" indent="615950" eaLnBrk="1" hangingPunct="1">
              <a:spcBef>
                <a:spcPct val="55000"/>
              </a:spcBef>
              <a:buNone/>
            </a:pPr>
            <a:r>
              <a:rPr lang="zh-CN" altLang="en-US" dirty="0">
                <a:latin typeface="Arial" panose="020B0604020202020204" pitchFamily="34" charset="0"/>
              </a:rPr>
              <a:t>散列文件又称为哈希</a:t>
            </a:r>
            <a:r>
              <a:rPr lang="en-US" altLang="zh-CN" dirty="0">
                <a:latin typeface="Arial" panose="020B0604020202020204" pitchFamily="34" charset="0"/>
              </a:rPr>
              <a:t>(</a:t>
            </a:r>
            <a:r>
              <a:rPr lang="en-US" altLang="zh-CN" dirty="0">
                <a:solidFill>
                  <a:srgbClr val="FF0000"/>
                </a:solidFill>
                <a:latin typeface="Arial" panose="020B0604020202020204" pitchFamily="34" charset="0"/>
              </a:rPr>
              <a:t>HASH</a:t>
            </a:r>
            <a:r>
              <a:rPr lang="en-US" altLang="zh-CN" dirty="0">
                <a:latin typeface="Arial" panose="020B0604020202020204" pitchFamily="34" charset="0"/>
              </a:rPr>
              <a:t>)</a:t>
            </a:r>
            <a:r>
              <a:rPr lang="zh-CN" altLang="en-US" dirty="0">
                <a:latin typeface="Arial" panose="020B0604020202020204" pitchFamily="34" charset="0"/>
              </a:rPr>
              <a:t>文件，是一种支持快速存取的文件存储方法。</a:t>
            </a:r>
            <a:endParaRPr lang="zh-CN" altLang="en-US" dirty="0">
              <a:latin typeface="Arial" panose="020B0604020202020204" pitchFamily="34" charset="0"/>
            </a:endParaRPr>
          </a:p>
          <a:p>
            <a:pPr marL="0" indent="615950" eaLnBrk="1" hangingPunct="1">
              <a:spcBef>
                <a:spcPct val="55000"/>
              </a:spcBef>
              <a:buNone/>
            </a:pPr>
            <a:r>
              <a:rPr lang="zh-CN" altLang="en-US" dirty="0"/>
              <a:t>对记录的某些字段进行</a:t>
            </a:r>
            <a:r>
              <a:rPr lang="zh-CN" altLang="en-US" dirty="0">
                <a:solidFill>
                  <a:srgbClr val="FF0000"/>
                </a:solidFill>
              </a:rPr>
              <a:t>散列函数</a:t>
            </a:r>
            <a:r>
              <a:rPr lang="zh-CN" altLang="en-US" dirty="0"/>
              <a:t>运算，求得的值作为记录的存储的地址。</a:t>
            </a:r>
            <a:endParaRPr lang="zh-CN" altLang="en-US" dirty="0"/>
          </a:p>
          <a:p>
            <a:pPr marL="0" indent="615950" eaLnBrk="1" hangingPunct="1">
              <a:spcBef>
                <a:spcPct val="55000"/>
              </a:spcBef>
              <a:buNone/>
            </a:pPr>
            <a:r>
              <a:rPr lang="zh-CN" altLang="en-US" dirty="0"/>
              <a:t>在数据库技术中，</a:t>
            </a:r>
            <a:r>
              <a:rPr lang="zh-CN" altLang="en-US" dirty="0">
                <a:solidFill>
                  <a:srgbClr val="FF0000"/>
                </a:solidFill>
              </a:rPr>
              <a:t>桶</a:t>
            </a:r>
            <a:r>
              <a:rPr lang="zh-CN" altLang="en-US" dirty="0"/>
              <a:t>作为基本的存储单位，一个桶可对应一个块或多个块。</a:t>
            </a:r>
            <a:endParaRPr lang="zh-CN" altLang="en-US" dirty="0"/>
          </a:p>
          <a:p>
            <a:pPr marL="0" indent="615950" eaLnBrk="1" hangingPunct="1">
              <a:lnSpc>
                <a:spcPct val="110000"/>
              </a:lnSpc>
              <a:buNone/>
            </a:pPr>
            <a:endParaRPr lang="en-US" altLang="zh-CN" dirty="0">
              <a:latin typeface="Arial" panose="020B0604020202020204" pitchFamily="34" charset="0"/>
            </a:endParaRPr>
          </a:p>
        </p:txBody>
      </p:sp>
      <p:sp>
        <p:nvSpPr>
          <p:cNvPr id="2170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9.3.1 </a:t>
            </a:r>
            <a:r>
              <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散列文件</a:t>
            </a:r>
            <a:endPar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7090">
                                            <p:txEl>
                                              <p:charRg st="36" end="69"/>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7090">
                                            <p:txEl>
                                              <p:charRg st="69" end="10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idx="1"/>
          </p:nvPr>
        </p:nvSpPr>
        <p:spPr>
          <a:xfrm>
            <a:off x="152400" y="981075"/>
            <a:ext cx="8740775" cy="5273675"/>
          </a:xfrm>
        </p:spPr>
        <p:txBody>
          <a:bodyPr vert="horz" wrap="square" lIns="91440" tIns="45720" rIns="91440" bIns="45720" anchor="t" anchorCtr="0"/>
          <a:p>
            <a:pPr marL="0" indent="0" eaLnBrk="1" hangingPunct="1">
              <a:buNone/>
            </a:pPr>
            <a:r>
              <a:rPr lang="en-US" altLang="zh-CN" dirty="0">
                <a:latin typeface="Arial" panose="020B0604020202020204" pitchFamily="34" charset="0"/>
              </a:rPr>
              <a:t>    </a:t>
            </a:r>
            <a:r>
              <a:rPr lang="zh-CN" altLang="en-US" sz="3200" dirty="0">
                <a:latin typeface="Arial" panose="020B0604020202020204" pitchFamily="34" charset="0"/>
              </a:rPr>
              <a:t>设 </a:t>
            </a:r>
            <a:r>
              <a:rPr lang="en-US" altLang="zh-CN" sz="3200" dirty="0">
                <a:latin typeface="Arial" panose="020B0604020202020204" pitchFamily="34" charset="0"/>
              </a:rPr>
              <a:t>K </a:t>
            </a:r>
            <a:r>
              <a:rPr lang="zh-CN" altLang="en-US" sz="3200" dirty="0">
                <a:latin typeface="Arial" panose="020B0604020202020204" pitchFamily="34" charset="0"/>
              </a:rPr>
              <a:t>是所有搜索键值的集合， </a:t>
            </a:r>
            <a:r>
              <a:rPr lang="en-US" altLang="zh-CN" sz="3200" dirty="0">
                <a:latin typeface="Arial" panose="020B0604020202020204" pitchFamily="34" charset="0"/>
              </a:rPr>
              <a:t>B </a:t>
            </a:r>
            <a:r>
              <a:rPr lang="zh-CN" altLang="en-US" sz="3200" dirty="0">
                <a:latin typeface="Arial" panose="020B0604020202020204" pitchFamily="34" charset="0"/>
              </a:rPr>
              <a:t>是所有</a:t>
            </a:r>
            <a:r>
              <a:rPr lang="zh-CN" altLang="en-US" sz="3200" dirty="0">
                <a:solidFill>
                  <a:srgbClr val="FF0000"/>
                </a:solidFill>
                <a:latin typeface="Arial" panose="020B0604020202020204" pitchFamily="34" charset="0"/>
              </a:rPr>
              <a:t>桶地址</a:t>
            </a:r>
            <a:r>
              <a:rPr lang="zh-CN" altLang="en-US" sz="3200" dirty="0">
                <a:latin typeface="Arial" panose="020B0604020202020204" pitchFamily="34" charset="0"/>
              </a:rPr>
              <a:t>的集合。</a:t>
            </a:r>
            <a:r>
              <a:rPr lang="zh-CN" altLang="en-US" sz="3200" dirty="0">
                <a:solidFill>
                  <a:srgbClr val="0000CC"/>
                </a:solidFill>
                <a:latin typeface="Arial" panose="020B0604020202020204" pitchFamily="34" charset="0"/>
              </a:rPr>
              <a:t>散列函数</a:t>
            </a:r>
            <a:r>
              <a:rPr lang="zh-CN" altLang="en-US" sz="3200" dirty="0">
                <a:latin typeface="Arial" panose="020B0604020202020204" pitchFamily="34" charset="0"/>
              </a:rPr>
              <a:t> </a:t>
            </a:r>
            <a:r>
              <a:rPr lang="en-US" altLang="zh-CN" sz="3200" dirty="0">
                <a:latin typeface="Arial" panose="020B0604020202020204" pitchFamily="34" charset="0"/>
              </a:rPr>
              <a:t>h </a:t>
            </a:r>
            <a:r>
              <a:rPr lang="zh-CN" altLang="en-US" sz="3200" dirty="0">
                <a:latin typeface="Arial" panose="020B0604020202020204" pitchFamily="34" charset="0"/>
              </a:rPr>
              <a:t>是从 </a:t>
            </a:r>
            <a:r>
              <a:rPr lang="en-US" altLang="zh-CN" sz="3200" dirty="0">
                <a:latin typeface="Arial" panose="020B0604020202020204" pitchFamily="34" charset="0"/>
              </a:rPr>
              <a:t>K </a:t>
            </a:r>
            <a:r>
              <a:rPr lang="zh-CN" altLang="en-US" sz="3200" dirty="0">
                <a:latin typeface="Arial" panose="020B0604020202020204" pitchFamily="34" charset="0"/>
              </a:rPr>
              <a:t>到 </a:t>
            </a:r>
            <a:r>
              <a:rPr lang="en-US" altLang="zh-CN" sz="3200" dirty="0">
                <a:latin typeface="Arial" panose="020B0604020202020204" pitchFamily="34" charset="0"/>
              </a:rPr>
              <a:t>B </a:t>
            </a:r>
            <a:r>
              <a:rPr lang="zh-CN" altLang="en-US" sz="3200" dirty="0">
                <a:latin typeface="Arial" panose="020B0604020202020204" pitchFamily="34" charset="0"/>
              </a:rPr>
              <a:t>的函数，它把每个查找键值映射到地址集合中的地址。其中每个桶的大小一定。</a:t>
            </a:r>
            <a:r>
              <a:rPr lang="zh-CN" altLang="en-US" sz="3200" dirty="0"/>
              <a:t> </a:t>
            </a:r>
            <a:endParaRPr lang="zh-CN" altLang="en-US" sz="3200" dirty="0"/>
          </a:p>
        </p:txBody>
      </p:sp>
      <p:sp>
        <p:nvSpPr>
          <p:cNvPr id="1536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、散列的概念</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34820" name="Group 32"/>
          <p:cNvGrpSpPr/>
          <p:nvPr/>
        </p:nvGrpSpPr>
        <p:grpSpPr>
          <a:xfrm>
            <a:off x="250825" y="3141663"/>
            <a:ext cx="8785225" cy="3384550"/>
            <a:chOff x="158" y="2069"/>
            <a:chExt cx="5534" cy="2132"/>
          </a:xfrm>
        </p:grpSpPr>
        <p:sp>
          <p:nvSpPr>
            <p:cNvPr id="34821" name="Text Box 9"/>
            <p:cNvSpPr txBox="1"/>
            <p:nvPr/>
          </p:nvSpPr>
          <p:spPr>
            <a:xfrm>
              <a:off x="566" y="2069"/>
              <a:ext cx="318" cy="242"/>
            </a:xfrm>
            <a:prstGeom prst="rect">
              <a:avLst/>
            </a:prstGeom>
            <a:noFill/>
            <a:ln w="38100">
              <a:noFill/>
            </a:ln>
          </p:spPr>
          <p:txBody>
            <a:bodyPr lIns="0" tIns="0" rIns="0" bIns="0">
              <a:spAutoFit/>
            </a:bodyPr>
            <a:p>
              <a:pPr algn="ctr">
                <a:lnSpc>
                  <a:spcPct val="90000"/>
                </a:lnSpc>
              </a:pPr>
              <a:r>
                <a:rPr lang="en-US" altLang="zh-CN" dirty="0">
                  <a:solidFill>
                    <a:srgbClr val="0000CC"/>
                  </a:solidFill>
                  <a:latin typeface="Arial" panose="020B0604020202020204" pitchFamily="34" charset="0"/>
                </a:rPr>
                <a:t>K</a:t>
              </a:r>
              <a:endParaRPr lang="en-US" altLang="zh-CN" dirty="0">
                <a:solidFill>
                  <a:srgbClr val="0000CC"/>
                </a:solidFill>
                <a:latin typeface="Arial" panose="020B0604020202020204" pitchFamily="34" charset="0"/>
              </a:endParaRPr>
            </a:p>
          </p:txBody>
        </p:sp>
        <p:sp>
          <p:nvSpPr>
            <p:cNvPr id="34822" name="Text Box 17"/>
            <p:cNvSpPr txBox="1"/>
            <p:nvPr/>
          </p:nvSpPr>
          <p:spPr>
            <a:xfrm>
              <a:off x="158" y="2206"/>
              <a:ext cx="454" cy="1769"/>
            </a:xfrm>
            <a:prstGeom prst="rect">
              <a:avLst/>
            </a:prstGeom>
            <a:solidFill>
              <a:schemeClr val="tx2"/>
            </a:solidFill>
            <a:ln w="38100" cap="flat" cmpd="sng">
              <a:solidFill>
                <a:srgbClr val="000000"/>
              </a:solidFill>
              <a:prstDash val="solid"/>
              <a:miter/>
              <a:headEnd type="none" w="med" len="med"/>
              <a:tailEnd type="none" w="med" len="med"/>
            </a:ln>
          </p:spPr>
          <p:txBody>
            <a:bodyPr lIns="0" tIns="0" rIns="0" bIns="0"/>
            <a:p>
              <a:pPr algn="ctr">
                <a:lnSpc>
                  <a:spcPct val="150000"/>
                </a:lnSpc>
                <a:spcBef>
                  <a:spcPct val="0"/>
                </a:spcBef>
              </a:pPr>
              <a:r>
                <a:rPr lang="en-US" altLang="zh-CN" dirty="0">
                  <a:latin typeface="Arial" panose="020B0604020202020204" pitchFamily="34" charset="0"/>
                </a:rPr>
                <a:t>K1</a:t>
              </a:r>
              <a:endParaRPr lang="en-US" altLang="zh-CN" dirty="0">
                <a:latin typeface="Arial" panose="020B0604020202020204" pitchFamily="34" charset="0"/>
              </a:endParaRPr>
            </a:p>
            <a:p>
              <a:pPr algn="ctr">
                <a:lnSpc>
                  <a:spcPct val="150000"/>
                </a:lnSpc>
                <a:spcBef>
                  <a:spcPct val="0"/>
                </a:spcBef>
              </a:pPr>
              <a:r>
                <a:rPr lang="en-US" altLang="zh-CN" dirty="0">
                  <a:latin typeface="Arial" panose="020B0604020202020204" pitchFamily="34" charset="0"/>
                </a:rPr>
                <a:t>K2</a:t>
              </a:r>
              <a:endParaRPr lang="en-US" altLang="zh-CN" dirty="0">
                <a:latin typeface="Arial" panose="020B0604020202020204" pitchFamily="34" charset="0"/>
              </a:endParaRPr>
            </a:p>
            <a:p>
              <a:pPr algn="ctr">
                <a:lnSpc>
                  <a:spcPct val="150000"/>
                </a:lnSpc>
                <a:spcBef>
                  <a:spcPct val="0"/>
                </a:spcBef>
              </a:pPr>
              <a:r>
                <a:rPr lang="en-US" altLang="zh-CN" dirty="0">
                  <a:latin typeface="Arial" panose="020B0604020202020204" pitchFamily="34" charset="0"/>
                </a:rPr>
                <a:t>…</a:t>
              </a:r>
              <a:endParaRPr lang="en-US" altLang="zh-CN" dirty="0">
                <a:latin typeface="Arial" panose="020B0604020202020204" pitchFamily="34" charset="0"/>
              </a:endParaRPr>
            </a:p>
            <a:p>
              <a:pPr algn="ctr">
                <a:lnSpc>
                  <a:spcPct val="150000"/>
                </a:lnSpc>
                <a:spcBef>
                  <a:spcPct val="0"/>
                </a:spcBef>
              </a:pPr>
              <a:r>
                <a:rPr lang="en-US" altLang="zh-CN" dirty="0">
                  <a:latin typeface="Arial" panose="020B0604020202020204" pitchFamily="34" charset="0"/>
                </a:rPr>
                <a:t>Kn</a:t>
              </a:r>
              <a:endParaRPr lang="en-US" altLang="zh-CN" dirty="0">
                <a:latin typeface="Arial" panose="020B0604020202020204" pitchFamily="34" charset="0"/>
              </a:endParaRPr>
            </a:p>
          </p:txBody>
        </p:sp>
        <p:sp>
          <p:nvSpPr>
            <p:cNvPr id="34823" name="Text Box 19"/>
            <p:cNvSpPr txBox="1"/>
            <p:nvPr/>
          </p:nvSpPr>
          <p:spPr>
            <a:xfrm>
              <a:off x="2290" y="2206"/>
              <a:ext cx="454" cy="1769"/>
            </a:xfrm>
            <a:prstGeom prst="rect">
              <a:avLst/>
            </a:prstGeom>
            <a:solidFill>
              <a:schemeClr val="hlink"/>
            </a:solidFill>
            <a:ln w="38100" cap="flat" cmpd="sng">
              <a:solidFill>
                <a:srgbClr val="000000"/>
              </a:solidFill>
              <a:prstDash val="solid"/>
              <a:miter/>
              <a:headEnd type="none" w="med" len="med"/>
              <a:tailEnd type="none" w="med" len="med"/>
            </a:ln>
          </p:spPr>
          <p:txBody>
            <a:bodyPr lIns="0" tIns="0" rIns="0" bIns="0"/>
            <a:p>
              <a:pPr algn="ctr">
                <a:lnSpc>
                  <a:spcPct val="150000"/>
                </a:lnSpc>
                <a:spcBef>
                  <a:spcPct val="0"/>
                </a:spcBef>
              </a:pPr>
              <a:r>
                <a:rPr lang="en-US" altLang="zh-CN" dirty="0">
                  <a:latin typeface="Arial" panose="020B0604020202020204" pitchFamily="34" charset="0"/>
                </a:rPr>
                <a:t>B1</a:t>
              </a:r>
              <a:endParaRPr lang="en-US" altLang="zh-CN" dirty="0">
                <a:latin typeface="Arial" panose="020B0604020202020204" pitchFamily="34" charset="0"/>
              </a:endParaRPr>
            </a:p>
            <a:p>
              <a:pPr algn="ctr">
                <a:lnSpc>
                  <a:spcPct val="150000"/>
                </a:lnSpc>
                <a:spcBef>
                  <a:spcPct val="0"/>
                </a:spcBef>
              </a:pPr>
              <a:r>
                <a:rPr lang="en-US" altLang="zh-CN" dirty="0">
                  <a:latin typeface="Arial" panose="020B0604020202020204" pitchFamily="34" charset="0"/>
                </a:rPr>
                <a:t>B2</a:t>
              </a:r>
              <a:endParaRPr lang="en-US" altLang="zh-CN" dirty="0">
                <a:latin typeface="Arial" panose="020B0604020202020204" pitchFamily="34" charset="0"/>
              </a:endParaRPr>
            </a:p>
            <a:p>
              <a:pPr algn="ctr">
                <a:lnSpc>
                  <a:spcPct val="150000"/>
                </a:lnSpc>
                <a:spcBef>
                  <a:spcPct val="0"/>
                </a:spcBef>
              </a:pPr>
              <a:r>
                <a:rPr lang="en-US" altLang="zh-CN" dirty="0">
                  <a:latin typeface="Arial" panose="020B0604020202020204" pitchFamily="34" charset="0"/>
                </a:rPr>
                <a:t>…</a:t>
              </a:r>
              <a:endParaRPr lang="en-US" altLang="zh-CN" dirty="0">
                <a:latin typeface="Arial" panose="020B0604020202020204" pitchFamily="34" charset="0"/>
              </a:endParaRPr>
            </a:p>
            <a:p>
              <a:pPr algn="ctr">
                <a:lnSpc>
                  <a:spcPct val="150000"/>
                </a:lnSpc>
                <a:spcBef>
                  <a:spcPct val="0"/>
                </a:spcBef>
              </a:pPr>
              <a:r>
                <a:rPr lang="en-US" altLang="zh-CN" dirty="0">
                  <a:latin typeface="Arial" panose="020B0604020202020204" pitchFamily="34" charset="0"/>
                </a:rPr>
                <a:t>Bm</a:t>
              </a:r>
              <a:endParaRPr lang="en-US" altLang="zh-CN" dirty="0">
                <a:latin typeface="Arial" panose="020B0604020202020204" pitchFamily="34" charset="0"/>
              </a:endParaRPr>
            </a:p>
          </p:txBody>
        </p:sp>
        <p:sp>
          <p:nvSpPr>
            <p:cNvPr id="34824" name="Rectangle 23"/>
            <p:cNvSpPr/>
            <p:nvPr/>
          </p:nvSpPr>
          <p:spPr>
            <a:xfrm>
              <a:off x="4150" y="2115"/>
              <a:ext cx="1542" cy="2086"/>
            </a:xfrm>
            <a:prstGeom prst="rect">
              <a:avLst/>
            </a:prstGeom>
            <a:solidFill>
              <a:schemeClr val="tx1"/>
            </a:solidFill>
            <a:ln w="38100" cap="flat" cmpd="sng">
              <a:solidFill>
                <a:srgbClr val="000000"/>
              </a:solidFill>
              <a:prstDash val="solid"/>
              <a:miter/>
              <a:headEnd type="none" w="med" len="med"/>
              <a:tailEnd type="none" w="med" len="med"/>
            </a:ln>
          </p:spPr>
          <p:txBody>
            <a:bodyPr wrap="none" lIns="0" tIns="0" rIns="0" bIns="0" anchor="ctr" anchorCtr="0">
              <a:spAutoFit/>
            </a:bodyPr>
            <a:p>
              <a:endParaRPr lang="zh-CN" altLang="en-US" dirty="0">
                <a:latin typeface="Arial" panose="020B0604020202020204" pitchFamily="34" charset="0"/>
              </a:endParaRPr>
            </a:p>
          </p:txBody>
        </p:sp>
        <p:sp>
          <p:nvSpPr>
            <p:cNvPr id="34825" name="AutoShape 6"/>
            <p:cNvSpPr/>
            <p:nvPr/>
          </p:nvSpPr>
          <p:spPr>
            <a:xfrm>
              <a:off x="4422" y="2206"/>
              <a:ext cx="997" cy="499"/>
            </a:xfrm>
            <a:prstGeom prst="flowChartMagneticDisk">
              <a:avLst/>
            </a:prstGeom>
            <a:noFill/>
            <a:ln w="38100" cap="flat" cmpd="sng">
              <a:solidFill>
                <a:srgbClr val="000000"/>
              </a:solidFill>
              <a:prstDash val="solid"/>
              <a:headEnd type="none" w="med" len="med"/>
              <a:tailEnd type="none" w="med" len="med"/>
            </a:ln>
          </p:spPr>
          <p:txBody>
            <a:bodyPr anchor="ctr" anchorCtr="0"/>
            <a:p>
              <a:pPr algn="ctr"/>
              <a:r>
                <a:rPr lang="zh-CN" altLang="en-US" dirty="0">
                  <a:latin typeface="Arial" panose="020B0604020202020204" pitchFamily="34" charset="0"/>
                </a:rPr>
                <a:t>存储桶</a:t>
              </a:r>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34826" name="AutoShape 20"/>
            <p:cNvSpPr/>
            <p:nvPr/>
          </p:nvSpPr>
          <p:spPr>
            <a:xfrm>
              <a:off x="4422" y="2795"/>
              <a:ext cx="997" cy="499"/>
            </a:xfrm>
            <a:prstGeom prst="flowChartMagneticDisk">
              <a:avLst/>
            </a:prstGeom>
            <a:noFill/>
            <a:ln w="38100" cap="flat" cmpd="sng">
              <a:solidFill>
                <a:srgbClr val="000000"/>
              </a:solidFill>
              <a:prstDash val="solid"/>
              <a:headEnd type="none" w="med" len="med"/>
              <a:tailEnd type="none" w="med" len="med"/>
            </a:ln>
          </p:spPr>
          <p:txBody>
            <a:bodyPr anchor="ctr" anchorCtr="0"/>
            <a:p>
              <a:pPr algn="ctr"/>
              <a:r>
                <a:rPr lang="zh-CN" altLang="en-US" dirty="0">
                  <a:latin typeface="Arial" panose="020B0604020202020204" pitchFamily="34" charset="0"/>
                </a:rPr>
                <a:t>存储桶</a:t>
              </a:r>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34827" name="AutoShape 21"/>
            <p:cNvSpPr/>
            <p:nvPr/>
          </p:nvSpPr>
          <p:spPr>
            <a:xfrm>
              <a:off x="4422" y="3566"/>
              <a:ext cx="1089" cy="499"/>
            </a:xfrm>
            <a:prstGeom prst="flowChartMagneticDisk">
              <a:avLst/>
            </a:prstGeom>
            <a:noFill/>
            <a:ln w="38100" cap="flat" cmpd="sng">
              <a:solidFill>
                <a:srgbClr val="000000"/>
              </a:solidFill>
              <a:prstDash val="solid"/>
              <a:headEnd type="none" w="med" len="med"/>
              <a:tailEnd type="none" w="med" len="med"/>
            </a:ln>
          </p:spPr>
          <p:txBody>
            <a:bodyPr anchor="ctr" anchorCtr="0"/>
            <a:p>
              <a:pPr algn="ctr"/>
              <a:r>
                <a:rPr lang="zh-CN" altLang="en-US" dirty="0">
                  <a:latin typeface="Arial" panose="020B0604020202020204" pitchFamily="34" charset="0"/>
                </a:rPr>
                <a:t>存储桶</a:t>
              </a:r>
              <a:r>
                <a:rPr lang="en-US" altLang="zh-CN" dirty="0">
                  <a:latin typeface="Arial" panose="020B0604020202020204" pitchFamily="34" charset="0"/>
                </a:rPr>
                <a:t>m</a:t>
              </a:r>
              <a:endParaRPr lang="en-US" altLang="zh-CN" dirty="0">
                <a:latin typeface="Arial" panose="020B0604020202020204" pitchFamily="34" charset="0"/>
              </a:endParaRPr>
            </a:p>
          </p:txBody>
        </p:sp>
        <p:sp>
          <p:nvSpPr>
            <p:cNvPr id="34828" name="Text Box 22"/>
            <p:cNvSpPr txBox="1"/>
            <p:nvPr/>
          </p:nvSpPr>
          <p:spPr>
            <a:xfrm>
              <a:off x="4513" y="3294"/>
              <a:ext cx="862" cy="242"/>
            </a:xfrm>
            <a:prstGeom prst="rect">
              <a:avLst/>
            </a:prstGeom>
            <a:noFill/>
            <a:ln w="38100">
              <a:noFill/>
            </a:ln>
          </p:spPr>
          <p:txBody>
            <a:bodyPr lIns="0" tIns="0" rIns="0" bIns="0">
              <a:spAutoFit/>
            </a:bodyPr>
            <a:p>
              <a:pPr algn="ctr">
                <a:lnSpc>
                  <a:spcPct val="90000"/>
                </a:lnSpc>
              </a:pP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34829" name="Text Box 25"/>
            <p:cNvSpPr txBox="1"/>
            <p:nvPr/>
          </p:nvSpPr>
          <p:spPr>
            <a:xfrm>
              <a:off x="1020" y="3022"/>
              <a:ext cx="862" cy="242"/>
            </a:xfrm>
            <a:prstGeom prst="rect">
              <a:avLst/>
            </a:prstGeom>
            <a:noFill/>
            <a:ln w="38100">
              <a:noFill/>
            </a:ln>
          </p:spPr>
          <p:txBody>
            <a:bodyPr lIns="0" tIns="0" rIns="0" bIns="0">
              <a:spAutoFit/>
            </a:bodyPr>
            <a:p>
              <a:pPr algn="ctr">
                <a:lnSpc>
                  <a:spcPct val="90000"/>
                </a:lnSpc>
              </a:pPr>
              <a:r>
                <a:rPr lang="en-US" altLang="zh-CN" dirty="0">
                  <a:solidFill>
                    <a:srgbClr val="0000CC"/>
                  </a:solidFill>
                  <a:latin typeface="Arial" panose="020B0604020202020204" pitchFamily="34" charset="0"/>
                </a:rPr>
                <a:t>h(Ki)</a:t>
              </a:r>
              <a:endParaRPr lang="en-US" altLang="zh-CN" dirty="0">
                <a:solidFill>
                  <a:srgbClr val="0000CC"/>
                </a:solidFill>
                <a:latin typeface="Arial" panose="020B0604020202020204" pitchFamily="34" charset="0"/>
              </a:endParaRPr>
            </a:p>
          </p:txBody>
        </p:sp>
        <p:sp>
          <p:nvSpPr>
            <p:cNvPr id="34830" name="Text Box 26"/>
            <p:cNvSpPr txBox="1"/>
            <p:nvPr/>
          </p:nvSpPr>
          <p:spPr>
            <a:xfrm>
              <a:off x="2698" y="2069"/>
              <a:ext cx="318" cy="242"/>
            </a:xfrm>
            <a:prstGeom prst="rect">
              <a:avLst/>
            </a:prstGeom>
            <a:noFill/>
            <a:ln w="38100">
              <a:noFill/>
            </a:ln>
          </p:spPr>
          <p:txBody>
            <a:bodyPr lIns="0" tIns="0" rIns="0" bIns="0">
              <a:spAutoFit/>
            </a:bodyPr>
            <a:p>
              <a:pPr algn="ctr">
                <a:lnSpc>
                  <a:spcPct val="90000"/>
                </a:lnSpc>
              </a:pPr>
              <a:r>
                <a:rPr lang="en-US" altLang="zh-CN" dirty="0">
                  <a:solidFill>
                    <a:srgbClr val="0000CC"/>
                  </a:solidFill>
                  <a:latin typeface="Arial" panose="020B0604020202020204" pitchFamily="34" charset="0"/>
                </a:rPr>
                <a:t>B</a:t>
              </a:r>
              <a:endParaRPr lang="en-US" altLang="zh-CN" dirty="0">
                <a:solidFill>
                  <a:srgbClr val="0000CC"/>
                </a:solidFill>
                <a:latin typeface="Arial" panose="020B0604020202020204" pitchFamily="34" charset="0"/>
              </a:endParaRPr>
            </a:p>
          </p:txBody>
        </p:sp>
        <p:sp>
          <p:nvSpPr>
            <p:cNvPr id="34831" name="AutoShape 27"/>
            <p:cNvSpPr/>
            <p:nvPr/>
          </p:nvSpPr>
          <p:spPr>
            <a:xfrm>
              <a:off x="658" y="2977"/>
              <a:ext cx="454" cy="317"/>
            </a:xfrm>
            <a:prstGeom prst="rightArrow">
              <a:avLst>
                <a:gd name="adj1" fmla="val 50000"/>
                <a:gd name="adj2" fmla="val 35804"/>
              </a:avLst>
            </a:prstGeom>
            <a:solidFill>
              <a:srgbClr val="FFFF99"/>
            </a:solidFill>
            <a:ln w="38100" cap="flat" cmpd="sng">
              <a:solidFill>
                <a:srgbClr val="CC9900"/>
              </a:solidFill>
              <a:prstDash val="solid"/>
              <a:miter/>
              <a:headEnd type="none" w="med" len="med"/>
              <a:tailEnd type="none" w="med" len="med"/>
            </a:ln>
          </p:spPr>
          <p:txBody>
            <a:bodyPr wrap="none" lIns="0" tIns="0" rIns="0" bIns="0" anchor="ctr" anchorCtr="0">
              <a:spAutoFit/>
            </a:bodyPr>
            <a:p>
              <a:endParaRPr lang="zh-CN" altLang="en-US" dirty="0">
                <a:latin typeface="Arial" panose="020B0604020202020204" pitchFamily="34" charset="0"/>
              </a:endParaRPr>
            </a:p>
          </p:txBody>
        </p:sp>
        <p:sp>
          <p:nvSpPr>
            <p:cNvPr id="34832" name="AutoShape 28"/>
            <p:cNvSpPr/>
            <p:nvPr/>
          </p:nvSpPr>
          <p:spPr>
            <a:xfrm>
              <a:off x="1791" y="2977"/>
              <a:ext cx="454" cy="317"/>
            </a:xfrm>
            <a:prstGeom prst="rightArrow">
              <a:avLst>
                <a:gd name="adj1" fmla="val 50000"/>
                <a:gd name="adj2" fmla="val 35804"/>
              </a:avLst>
            </a:prstGeom>
            <a:solidFill>
              <a:srgbClr val="FFFF99"/>
            </a:solidFill>
            <a:ln w="38100" cap="flat" cmpd="sng">
              <a:solidFill>
                <a:srgbClr val="CC9900"/>
              </a:solidFill>
              <a:prstDash val="solid"/>
              <a:miter/>
              <a:headEnd type="none" w="med" len="med"/>
              <a:tailEnd type="none" w="med" len="med"/>
            </a:ln>
          </p:spPr>
          <p:txBody>
            <a:bodyPr wrap="none" lIns="0" tIns="0" rIns="0" bIns="0" anchor="ctr" anchorCtr="0">
              <a:spAutoFit/>
            </a:bodyPr>
            <a:p>
              <a:endParaRPr lang="zh-CN" altLang="en-US" dirty="0">
                <a:latin typeface="Arial" panose="020B0604020202020204" pitchFamily="34" charset="0"/>
              </a:endParaRPr>
            </a:p>
          </p:txBody>
        </p:sp>
        <p:sp>
          <p:nvSpPr>
            <p:cNvPr id="34833" name="AutoShape 29"/>
            <p:cNvSpPr/>
            <p:nvPr/>
          </p:nvSpPr>
          <p:spPr>
            <a:xfrm>
              <a:off x="2789" y="2977"/>
              <a:ext cx="1316" cy="317"/>
            </a:xfrm>
            <a:prstGeom prst="rightArrow">
              <a:avLst>
                <a:gd name="adj1" fmla="val 50157"/>
                <a:gd name="adj2" fmla="val 46050"/>
              </a:avLst>
            </a:prstGeom>
            <a:solidFill>
              <a:srgbClr val="FFFF99"/>
            </a:solidFill>
            <a:ln w="38100" cap="flat" cmpd="sng">
              <a:solidFill>
                <a:srgbClr val="CC9900"/>
              </a:solidFill>
              <a:prstDash val="solid"/>
              <a:miter/>
              <a:headEnd type="none" w="med" len="med"/>
              <a:tailEnd type="none" w="med" len="med"/>
            </a:ln>
          </p:spPr>
          <p:txBody>
            <a:bodyPr lIns="0" tIns="0" rIns="0" bIns="0" anchor="ctr" anchorCtr="0">
              <a:spAutoFit/>
            </a:bodyPr>
            <a:p>
              <a:endParaRPr lang="zh-CN" altLang="en-US" dirty="0">
                <a:latin typeface="Arial" panose="020B0604020202020204" pitchFamily="34" charset="0"/>
              </a:endParaRPr>
            </a:p>
          </p:txBody>
        </p:sp>
        <p:sp>
          <p:nvSpPr>
            <p:cNvPr id="34834" name="Text Box 30"/>
            <p:cNvSpPr txBox="1"/>
            <p:nvPr/>
          </p:nvSpPr>
          <p:spPr>
            <a:xfrm>
              <a:off x="2789" y="2569"/>
              <a:ext cx="1270" cy="484"/>
            </a:xfrm>
            <a:prstGeom prst="rect">
              <a:avLst/>
            </a:prstGeom>
            <a:noFill/>
            <a:ln w="38100">
              <a:noFill/>
            </a:ln>
          </p:spPr>
          <p:txBody>
            <a:bodyPr lIns="0" tIns="0" rIns="0" bIns="0">
              <a:spAutoFit/>
            </a:bodyPr>
            <a:p>
              <a:pPr algn="ctr">
                <a:lnSpc>
                  <a:spcPct val="90000"/>
                </a:lnSpc>
              </a:pPr>
              <a:r>
                <a:rPr lang="en-US" altLang="zh-CN" dirty="0">
                  <a:solidFill>
                    <a:srgbClr val="0000CC"/>
                  </a:solidFill>
                  <a:latin typeface="Arial" panose="020B0604020202020204" pitchFamily="34" charset="0"/>
                </a:rPr>
                <a:t>Bj</a:t>
              </a:r>
              <a:r>
                <a:rPr lang="zh-CN" altLang="en-US" dirty="0">
                  <a:solidFill>
                    <a:srgbClr val="0000CC"/>
                  </a:solidFill>
                  <a:latin typeface="Arial" panose="020B0604020202020204" pitchFamily="34" charset="0"/>
                </a:rPr>
                <a:t>指向某一具体存储桶</a:t>
              </a:r>
              <a:endParaRPr lang="zh-CN" altLang="en-US" dirty="0">
                <a:solidFill>
                  <a:srgbClr val="0000CC"/>
                </a:solidFill>
                <a:latin typeface="Arial" panose="020B0604020202020204" pitchFamily="34" charset="0"/>
              </a:endParaRPr>
            </a:p>
          </p:txBody>
        </p:sp>
      </p:grpSp>
    </p:spTree>
  </p:cSld>
  <p:clrMapOvr>
    <a:masterClrMapping/>
  </p:clrMapOvr>
  <p:transition>
    <p:random/>
    <p:sndAc>
      <p:stSnd>
        <p:snd r:embed="rId1" name="CAMERA.WAV"/>
      </p:stSnd>
    </p:sndAc>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61442" name="Rectangle 2"/>
          <p:cNvSpPr>
            <a:spLocks noGrp="1"/>
          </p:cNvSpPr>
          <p:nvPr>
            <p:ph idx="1"/>
          </p:nvPr>
        </p:nvSpPr>
        <p:spPr>
          <a:xfrm>
            <a:off x="323850" y="944563"/>
            <a:ext cx="8640763" cy="5508625"/>
          </a:xfrm>
        </p:spPr>
        <p:txBody>
          <a:bodyPr vert="horz" wrap="square" lIns="91440" tIns="45720" rIns="91440" bIns="45720" anchor="t" anchorCtr="0"/>
          <a:p>
            <a:pPr marL="441325" indent="-346075" defTabSz="914400" eaLnBrk="1" hangingPunct="1">
              <a:lnSpc>
                <a:spcPct val="85000"/>
              </a:lnSpc>
              <a:buNone/>
              <a:tabLst>
                <a:tab pos="536575" algn="l"/>
              </a:tabLst>
            </a:pPr>
            <a:r>
              <a:rPr lang="zh-CN" altLang="en-US" dirty="0">
                <a:solidFill>
                  <a:srgbClr val="0000CC"/>
                </a:solidFill>
                <a:latin typeface="Arial" panose="020B0604020202020204" pitchFamily="34" charset="0"/>
              </a:rPr>
              <a:t>函数定义：</a:t>
            </a:r>
            <a:endParaRPr lang="zh-CN" altLang="en-US" dirty="0">
              <a:solidFill>
                <a:srgbClr val="0000CC"/>
              </a:solidFill>
              <a:latin typeface="Arial" panose="020B0604020202020204" pitchFamily="34" charset="0"/>
            </a:endParaRPr>
          </a:p>
          <a:p>
            <a:pPr marL="441325" indent="-346075" defTabSz="914400" eaLnBrk="1" hangingPunct="1">
              <a:buSzPct val="90000"/>
              <a:buFont typeface="Wingdings" panose="05000000000000000000" pitchFamily="2" charset="2"/>
              <a:buAutoNum type="arabicPeriod"/>
              <a:tabLst>
                <a:tab pos="536575" algn="l"/>
              </a:tabLst>
            </a:pPr>
            <a:r>
              <a:rPr lang="zh-CN" altLang="en-US" sz="2800" dirty="0">
                <a:latin typeface="Arial" panose="020B0604020202020204" pitchFamily="34" charset="0"/>
              </a:rPr>
              <a:t>把查找键的值化为二进制序列。</a:t>
            </a:r>
            <a:endParaRPr lang="zh-CN" altLang="en-US" sz="2800" dirty="0">
              <a:latin typeface="Arial" panose="020B0604020202020204" pitchFamily="34" charset="0"/>
            </a:endParaRPr>
          </a:p>
          <a:p>
            <a:pPr marL="441325" indent="-346075" defTabSz="914400" eaLnBrk="1" hangingPunct="1">
              <a:buSzPct val="90000"/>
              <a:buFont typeface="Wingdings" panose="05000000000000000000" pitchFamily="2" charset="2"/>
              <a:buAutoNum type="arabicPeriod"/>
              <a:tabLst>
                <a:tab pos="536575" algn="l"/>
              </a:tabLst>
            </a:pPr>
            <a:r>
              <a:rPr lang="zh-CN" altLang="en-US" sz="2800" dirty="0">
                <a:latin typeface="Arial" panose="020B0604020202020204" pitchFamily="34" charset="0"/>
              </a:rPr>
              <a:t>把此二进制序列划分成定长的若干组，若最后一组数目不足则补</a:t>
            </a:r>
            <a:r>
              <a:rPr lang="en-US" altLang="zh-CN" sz="2800" dirty="0">
                <a:latin typeface="Arial" panose="020B0604020202020204" pitchFamily="34" charset="0"/>
              </a:rPr>
              <a:t>0</a:t>
            </a:r>
            <a:r>
              <a:rPr lang="zh-CN" altLang="en-US" sz="2800" dirty="0">
                <a:latin typeface="Arial" panose="020B0604020202020204" pitchFamily="34" charset="0"/>
              </a:rPr>
              <a:t>。</a:t>
            </a:r>
            <a:endParaRPr lang="zh-CN" altLang="en-US" sz="2800" dirty="0">
              <a:latin typeface="Arial" panose="020B0604020202020204" pitchFamily="34" charset="0"/>
            </a:endParaRPr>
          </a:p>
          <a:p>
            <a:pPr marL="441325" indent="-346075" defTabSz="914400" eaLnBrk="1" hangingPunct="1">
              <a:buSzPct val="90000"/>
              <a:buFont typeface="Wingdings" panose="05000000000000000000" pitchFamily="2" charset="2"/>
              <a:buAutoNum type="arabicPeriod"/>
              <a:tabLst>
                <a:tab pos="536575" algn="l"/>
              </a:tabLst>
            </a:pPr>
            <a:r>
              <a:rPr lang="zh-CN" altLang="en-US" sz="2800" dirty="0">
                <a:latin typeface="Arial" panose="020B0604020202020204" pitchFamily="34" charset="0"/>
              </a:rPr>
              <a:t>把若干组二进制迭加起来，得一整数。</a:t>
            </a:r>
            <a:endParaRPr lang="zh-CN" altLang="en-US" sz="2800" dirty="0">
              <a:latin typeface="Arial" panose="020B0604020202020204" pitchFamily="34" charset="0"/>
            </a:endParaRPr>
          </a:p>
          <a:p>
            <a:pPr marL="441325" indent="-346075" defTabSz="914400" eaLnBrk="1" hangingPunct="1">
              <a:buSzPct val="90000"/>
              <a:buFont typeface="Wingdings" panose="05000000000000000000" pitchFamily="2" charset="2"/>
              <a:buAutoNum type="arabicPeriod"/>
              <a:tabLst>
                <a:tab pos="536575" algn="l"/>
              </a:tabLst>
            </a:pPr>
            <a:r>
              <a:rPr lang="zh-CN" altLang="en-US" sz="2800" dirty="0">
                <a:latin typeface="Arial" panose="020B0604020202020204" pitchFamily="34" charset="0"/>
              </a:rPr>
              <a:t>以存贮区桶的个数除此整数，取其余数作为如上查找键对应的桶号。</a:t>
            </a:r>
            <a:endParaRPr lang="zh-CN" altLang="en-US" sz="2800" dirty="0">
              <a:latin typeface="Arial" panose="020B0604020202020204" pitchFamily="34" charset="0"/>
            </a:endParaRPr>
          </a:p>
          <a:p>
            <a:pPr marL="441325" indent="-346075" defTabSz="914400" eaLnBrk="1" hangingPunct="1">
              <a:lnSpc>
                <a:spcPct val="85000"/>
              </a:lnSpc>
              <a:spcBef>
                <a:spcPct val="30000"/>
              </a:spcBef>
              <a:buNone/>
              <a:tabLst>
                <a:tab pos="536575" algn="l"/>
              </a:tabLst>
            </a:pPr>
            <a:r>
              <a:rPr lang="zh-CN" altLang="en-US" dirty="0">
                <a:solidFill>
                  <a:srgbClr val="0000CC"/>
                </a:solidFill>
                <a:latin typeface="Arial" panose="020B0604020202020204" pitchFamily="34" charset="0"/>
              </a:rPr>
              <a:t>举例：</a:t>
            </a:r>
            <a:endParaRPr lang="zh-CN" altLang="en-US" dirty="0">
              <a:solidFill>
                <a:srgbClr val="0000CC"/>
              </a:solidFill>
              <a:latin typeface="Arial" panose="020B0604020202020204" pitchFamily="34" charset="0"/>
            </a:endParaRPr>
          </a:p>
          <a:p>
            <a:pPr marL="441325" indent="-346075" defTabSz="914400" eaLnBrk="1" hangingPunct="1">
              <a:buSzPct val="85000"/>
              <a:buFont typeface="Wingdings" panose="05000000000000000000" pitchFamily="2" charset="2"/>
              <a:buAutoNum type="arabicPeriod"/>
              <a:tabLst>
                <a:tab pos="536575" algn="l"/>
              </a:tabLst>
            </a:pPr>
            <a:r>
              <a:rPr lang="zh-CN" altLang="en-US" sz="2800" dirty="0">
                <a:latin typeface="Arial" panose="020B0604020202020204" pitchFamily="34" charset="0"/>
              </a:rPr>
              <a:t>查找键的值化为二进制序列：</a:t>
            </a:r>
            <a:r>
              <a:rPr lang="en-US" altLang="zh-CN" sz="2800" dirty="0">
                <a:latin typeface="Arial" panose="020B0604020202020204" pitchFamily="34" charset="0"/>
              </a:rPr>
              <a:t>0101000100111</a:t>
            </a:r>
            <a:endParaRPr lang="en-US" altLang="zh-CN" sz="2800" dirty="0">
              <a:latin typeface="Arial" panose="020B0604020202020204" pitchFamily="34" charset="0"/>
            </a:endParaRPr>
          </a:p>
          <a:p>
            <a:pPr marL="441325" indent="-346075" defTabSz="914400" eaLnBrk="1" hangingPunct="1">
              <a:buSzPct val="85000"/>
              <a:buFont typeface="Wingdings" panose="05000000000000000000" pitchFamily="2" charset="2"/>
              <a:buAutoNum type="arabicPeriod"/>
              <a:tabLst>
                <a:tab pos="536575" algn="l"/>
              </a:tabLst>
            </a:pPr>
            <a:r>
              <a:rPr lang="zh-CN" altLang="en-US" sz="2800" dirty="0">
                <a:latin typeface="Arial" panose="020B0604020202020204" pitchFamily="34" charset="0"/>
              </a:rPr>
              <a:t>分组，补</a:t>
            </a:r>
            <a:r>
              <a:rPr lang="en-US" altLang="zh-CN" sz="2800" dirty="0">
                <a:latin typeface="Arial" panose="020B0604020202020204" pitchFamily="34" charset="0"/>
              </a:rPr>
              <a:t>0</a:t>
            </a:r>
            <a:r>
              <a:rPr lang="zh-CN" altLang="en-US" sz="2800" dirty="0">
                <a:latin typeface="Arial" panose="020B0604020202020204" pitchFamily="34" charset="0"/>
              </a:rPr>
              <a:t>：</a:t>
            </a:r>
            <a:r>
              <a:rPr lang="en-US" altLang="zh-CN" sz="2800" dirty="0">
                <a:latin typeface="Arial" panose="020B0604020202020204" pitchFamily="34" charset="0"/>
              </a:rPr>
              <a:t>0101</a:t>
            </a:r>
            <a:r>
              <a:rPr lang="en-US" altLang="zh-CN" sz="2800" dirty="0">
                <a:solidFill>
                  <a:srgbClr val="0000CC"/>
                </a:solidFill>
                <a:latin typeface="Arial" panose="020B0604020202020204" pitchFamily="34" charset="0"/>
              </a:rPr>
              <a:t> 0001</a:t>
            </a:r>
            <a:r>
              <a:rPr lang="en-US" altLang="zh-CN" sz="2800" dirty="0">
                <a:latin typeface="Arial" panose="020B0604020202020204" pitchFamily="34" charset="0"/>
              </a:rPr>
              <a:t> 0011 </a:t>
            </a:r>
            <a:r>
              <a:rPr lang="en-US" altLang="zh-CN" sz="2800" dirty="0">
                <a:solidFill>
                  <a:srgbClr val="0000CC"/>
                </a:solidFill>
                <a:latin typeface="Arial" panose="020B0604020202020204" pitchFamily="34" charset="0"/>
              </a:rPr>
              <a:t>1000</a:t>
            </a:r>
            <a:endParaRPr lang="en-US" altLang="zh-CN" sz="2800" dirty="0">
              <a:solidFill>
                <a:srgbClr val="0000CC"/>
              </a:solidFill>
              <a:latin typeface="Arial" panose="020B0604020202020204" pitchFamily="34" charset="0"/>
            </a:endParaRPr>
          </a:p>
          <a:p>
            <a:pPr marL="441325" indent="-346075" defTabSz="914400" eaLnBrk="1" hangingPunct="1">
              <a:buSzPct val="85000"/>
              <a:buFont typeface="Wingdings" panose="05000000000000000000" pitchFamily="2" charset="2"/>
              <a:buAutoNum type="arabicPeriod"/>
              <a:tabLst>
                <a:tab pos="536575" algn="l"/>
              </a:tabLst>
            </a:pPr>
            <a:r>
              <a:rPr lang="zh-CN" altLang="en-US" sz="2800" dirty="0">
                <a:latin typeface="Arial" panose="020B0604020202020204" pitchFamily="34" charset="0"/>
              </a:rPr>
              <a:t>相加：</a:t>
            </a:r>
            <a:r>
              <a:rPr lang="en-US" altLang="zh-CN" sz="2800" dirty="0">
                <a:latin typeface="Arial" panose="020B0604020202020204" pitchFamily="34" charset="0"/>
              </a:rPr>
              <a:t>5+1+3+8=17</a:t>
            </a:r>
            <a:endParaRPr lang="en-US" altLang="zh-CN" sz="2800" dirty="0">
              <a:latin typeface="Arial" panose="020B0604020202020204" pitchFamily="34" charset="0"/>
            </a:endParaRPr>
          </a:p>
          <a:p>
            <a:pPr marL="441325" indent="-346075" defTabSz="914400" eaLnBrk="1" hangingPunct="1">
              <a:buSzPct val="85000"/>
              <a:buFont typeface="Wingdings" panose="05000000000000000000" pitchFamily="2" charset="2"/>
              <a:buAutoNum type="arabicPeriod"/>
              <a:tabLst>
                <a:tab pos="536575" algn="l"/>
              </a:tabLst>
            </a:pPr>
            <a:r>
              <a:rPr lang="zh-CN" altLang="en-US" sz="2800" dirty="0">
                <a:latin typeface="Arial" panose="020B0604020202020204" pitchFamily="34" charset="0"/>
              </a:rPr>
              <a:t>设桶个数为</a:t>
            </a:r>
            <a:r>
              <a:rPr lang="en-US" altLang="zh-CN" sz="2800" dirty="0">
                <a:latin typeface="Arial" panose="020B0604020202020204" pitchFamily="34" charset="0"/>
              </a:rPr>
              <a:t>6</a:t>
            </a:r>
            <a:r>
              <a:rPr lang="zh-CN" altLang="en-US" sz="2800" dirty="0">
                <a:latin typeface="Arial" panose="020B0604020202020204" pitchFamily="34" charset="0"/>
              </a:rPr>
              <a:t>，则桶号为：</a:t>
            </a:r>
            <a:r>
              <a:rPr lang="en-US" altLang="zh-CN" sz="2800" dirty="0">
                <a:latin typeface="Arial" panose="020B0604020202020204" pitchFamily="34" charset="0"/>
              </a:rPr>
              <a:t>5</a:t>
            </a:r>
            <a:endParaRPr lang="en-US" altLang="zh-CN" sz="2800" dirty="0">
              <a:latin typeface="Arial" panose="020B0604020202020204" pitchFamily="34" charset="0"/>
            </a:endParaRPr>
          </a:p>
        </p:txBody>
      </p:sp>
      <p:sp>
        <p:nvSpPr>
          <p:cNvPr id="6144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、散列函数举例</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2">
                                            <p:txEl>
                                              <p:charRg st="6" end="2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2">
                                            <p:txEl>
                                              <p:charRg st="21" end="5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2">
                                            <p:txEl>
                                              <p:charRg st="52" end="7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42">
                                            <p:txEl>
                                              <p:charRg st="70" end="10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42">
                                            <p:txEl>
                                              <p:charRg st="101" end="10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442">
                                            <p:txEl>
                                              <p:charRg st="105" end="13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1442">
                                            <p:txEl>
                                              <p:charRg st="132" end="15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1442">
                                            <p:txEl>
                                              <p:charRg st="158" end="17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1442">
                                            <p:txEl>
                                              <p:charRg st="172" end="18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idx="1"/>
          </p:nvPr>
        </p:nvSpPr>
        <p:spPr>
          <a:xfrm>
            <a:off x="323850" y="1125538"/>
            <a:ext cx="8640763" cy="5111750"/>
          </a:xfrm>
        </p:spPr>
        <p:txBody>
          <a:bodyPr vert="horz" wrap="square" lIns="91440" tIns="45720" rIns="91440" bIns="45720" anchor="t" anchorCtr="0"/>
          <a:p>
            <a:pPr marL="441325" indent="-346075" defTabSz="914400" eaLnBrk="1" hangingPunct="1">
              <a:lnSpc>
                <a:spcPct val="80000"/>
              </a:lnSpc>
              <a:buNone/>
              <a:tabLst>
                <a:tab pos="536575" algn="l"/>
              </a:tabLst>
            </a:pPr>
            <a:r>
              <a:rPr lang="zh-CN" altLang="en-US" dirty="0">
                <a:latin typeface="Arial" panose="020B0604020202020204" pitchFamily="34" charset="0"/>
              </a:rPr>
              <a:t>一个好的散列函数应满足：</a:t>
            </a:r>
            <a:endParaRPr lang="zh-CN" altLang="en-US" dirty="0">
              <a:latin typeface="Arial" panose="020B0604020202020204" pitchFamily="34" charset="0"/>
            </a:endParaRPr>
          </a:p>
          <a:p>
            <a:pPr marL="441325" indent="-346075" defTabSz="914400" eaLnBrk="1" hangingPunct="1">
              <a:spcBef>
                <a:spcPct val="50000"/>
              </a:spcBef>
              <a:tabLst>
                <a:tab pos="536575" algn="l"/>
              </a:tabLst>
            </a:pPr>
            <a:r>
              <a:rPr lang="zh-CN" altLang="en-US" dirty="0">
                <a:latin typeface="Arial" panose="020B0604020202020204" pitchFamily="34" charset="0"/>
              </a:rPr>
              <a:t>地址分布均匀</a:t>
            </a:r>
            <a:endParaRPr lang="zh-CN" altLang="en-US" dirty="0">
              <a:latin typeface="Arial" panose="020B0604020202020204" pitchFamily="34" charset="0"/>
            </a:endParaRPr>
          </a:p>
          <a:p>
            <a:pPr marL="993775" lvl="1" indent="-363220" defTabSz="914400" eaLnBrk="1" hangingPunct="1">
              <a:tabLst>
                <a:tab pos="536575" algn="l"/>
              </a:tabLst>
            </a:pPr>
            <a:r>
              <a:rPr lang="zh-CN" altLang="en-US" dirty="0">
                <a:latin typeface="Arial" panose="020B0604020202020204" pitchFamily="34" charset="0"/>
              </a:rPr>
              <a:t>即把所有的搜索键值转换成桶号，要求分布在每个桶内的搜索键的数目大致相同</a:t>
            </a:r>
            <a:endParaRPr lang="zh-CN" altLang="en-US" dirty="0">
              <a:latin typeface="Arial" panose="020B0604020202020204" pitchFamily="34" charset="0"/>
            </a:endParaRPr>
          </a:p>
          <a:p>
            <a:pPr marL="441325" indent="-346075" defTabSz="914400" eaLnBrk="1" hangingPunct="1">
              <a:spcBef>
                <a:spcPct val="50000"/>
              </a:spcBef>
              <a:tabLst>
                <a:tab pos="536575" algn="l"/>
              </a:tabLst>
            </a:pPr>
            <a:r>
              <a:rPr lang="zh-CN" altLang="en-US" dirty="0">
                <a:latin typeface="Arial" panose="020B0604020202020204" pitchFamily="34" charset="0"/>
              </a:rPr>
              <a:t>函数实现简单</a:t>
            </a:r>
            <a:endParaRPr lang="zh-CN" altLang="en-US" dirty="0">
              <a:latin typeface="Arial" panose="020B0604020202020204" pitchFamily="34" charset="0"/>
            </a:endParaRPr>
          </a:p>
          <a:p>
            <a:pPr marL="993775" lvl="1" indent="-363220" defTabSz="914400" eaLnBrk="1" hangingPunct="1">
              <a:spcBef>
                <a:spcPct val="0"/>
              </a:spcBef>
              <a:tabLst>
                <a:tab pos="536575" algn="l"/>
              </a:tabLst>
            </a:pPr>
            <a:r>
              <a:rPr lang="zh-CN" altLang="en-US" dirty="0">
                <a:latin typeface="Arial" panose="020B0604020202020204" pitchFamily="34" charset="0"/>
              </a:rPr>
              <a:t>即散列函数计算代价小</a:t>
            </a:r>
            <a:endParaRPr lang="zh-CN" altLang="en-US" dirty="0">
              <a:latin typeface="Arial" panose="020B0604020202020204" pitchFamily="34" charset="0"/>
            </a:endParaRPr>
          </a:p>
        </p:txBody>
      </p:sp>
      <p:sp>
        <p:nvSpPr>
          <p:cNvPr id="22118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、散列函数</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idx="1"/>
          </p:nvPr>
        </p:nvSpPr>
        <p:spPr>
          <a:xfrm>
            <a:off x="152400" y="981075"/>
            <a:ext cx="8812213" cy="5273675"/>
          </a:xfrm>
        </p:spPr>
        <p:txBody>
          <a:bodyPr vert="horz" wrap="square" lIns="91440" tIns="45720" rIns="91440" bIns="45720" anchor="t" anchorCtr="0"/>
          <a:p>
            <a:pPr marL="268605" indent="-268605" eaLnBrk="1" hangingPunct="1">
              <a:lnSpc>
                <a:spcPct val="95000"/>
              </a:lnSpc>
            </a:pPr>
            <a:r>
              <a:rPr lang="zh-CN" altLang="en-US" sz="3200" dirty="0">
                <a:solidFill>
                  <a:srgbClr val="0000CC"/>
                </a:solidFill>
                <a:latin typeface="Arial" panose="020B0604020202020204" pitchFamily="34" charset="0"/>
              </a:rPr>
              <a:t>问题</a:t>
            </a:r>
            <a:r>
              <a:rPr lang="zh-CN" altLang="en-US" sz="3200" dirty="0">
                <a:latin typeface="Arial" panose="020B0604020202020204" pitchFamily="34" charset="0"/>
              </a:rPr>
              <a:t>：散列函数计算的值有重复，称为冲突，冲突导致数据溢出。</a:t>
            </a:r>
            <a:endParaRPr lang="zh-CN" altLang="en-US" sz="3200" dirty="0">
              <a:latin typeface="Arial" panose="020B0604020202020204" pitchFamily="34" charset="0"/>
            </a:endParaRPr>
          </a:p>
          <a:p>
            <a:pPr marL="268605" indent="-268605" eaLnBrk="1" hangingPunct="1">
              <a:lnSpc>
                <a:spcPct val="95000"/>
              </a:lnSpc>
              <a:spcBef>
                <a:spcPct val="20000"/>
              </a:spcBef>
            </a:pPr>
            <a:r>
              <a:rPr lang="zh-CN" altLang="en-US" sz="3200" dirty="0">
                <a:solidFill>
                  <a:srgbClr val="0000CC"/>
                </a:solidFill>
                <a:latin typeface="Arial" panose="020B0604020202020204" pitchFamily="34" charset="0"/>
              </a:rPr>
              <a:t>解决</a:t>
            </a:r>
            <a:r>
              <a:rPr lang="zh-CN" altLang="en-US" sz="3200" dirty="0">
                <a:latin typeface="Arial" panose="020B0604020202020204" pitchFamily="34" charset="0"/>
              </a:rPr>
              <a:t>：</a:t>
            </a:r>
            <a:r>
              <a:rPr lang="en-US" altLang="zh-CN" sz="3200" dirty="0">
                <a:latin typeface="Arial" panose="020B0604020202020204" pitchFamily="34" charset="0"/>
              </a:rPr>
              <a:t>HASH</a:t>
            </a:r>
            <a:r>
              <a:rPr lang="zh-CN" altLang="en-US" sz="3200" dirty="0">
                <a:latin typeface="Arial" panose="020B0604020202020204" pitchFamily="34" charset="0"/>
              </a:rPr>
              <a:t>文件的存储空间分为主数据区、溢出区。主数据区由</a:t>
            </a:r>
            <a:r>
              <a:rPr lang="en-US" altLang="zh-CN" sz="3200" dirty="0">
                <a:latin typeface="Arial" panose="020B0604020202020204" pitchFamily="34" charset="0"/>
              </a:rPr>
              <a:t>M</a:t>
            </a:r>
            <a:r>
              <a:rPr lang="zh-CN" altLang="en-US" sz="3200" dirty="0">
                <a:latin typeface="Arial" panose="020B0604020202020204" pitchFamily="34" charset="0"/>
              </a:rPr>
              <a:t>个桶组成。</a:t>
            </a:r>
            <a:endParaRPr lang="zh-CN" altLang="en-US" sz="3200" dirty="0">
              <a:latin typeface="Arial" panose="020B0604020202020204" pitchFamily="34" charset="0"/>
            </a:endParaRPr>
          </a:p>
          <a:p>
            <a:pPr marL="268605" indent="-268605" eaLnBrk="1" hangingPunct="1">
              <a:lnSpc>
                <a:spcPct val="95000"/>
              </a:lnSpc>
            </a:pPr>
            <a:endParaRPr lang="en-US" altLang="zh-CN" sz="3200" dirty="0">
              <a:latin typeface="Arial" panose="020B0604020202020204" pitchFamily="34" charset="0"/>
            </a:endParaRPr>
          </a:p>
        </p:txBody>
      </p:sp>
      <p:sp>
        <p:nvSpPr>
          <p:cNvPr id="6349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、散列函数冲突</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aphicFrame>
        <p:nvGraphicFramePr>
          <p:cNvPr id="37892" name="表格 37891"/>
          <p:cNvGraphicFramePr/>
          <p:nvPr/>
        </p:nvGraphicFramePr>
        <p:xfrm>
          <a:off x="1908175" y="3189288"/>
          <a:ext cx="2376488" cy="3486150"/>
        </p:xfrm>
        <a:graphic>
          <a:graphicData uri="http://schemas.openxmlformats.org/drawingml/2006/table">
            <a:tbl>
              <a:tblPr/>
              <a:tblGrid>
                <a:gridCol w="1268413"/>
                <a:gridCol w="1108075"/>
              </a:tblGrid>
              <a:tr h="579438">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zh-CN" altLang="en-US" sz="3200" dirty="0">
                          <a:latin typeface="Arial" panose="020B0604020202020204" pitchFamily="34" charset="0"/>
                        </a:rPr>
                        <a:t>桶号</a:t>
                      </a:r>
                      <a:endParaRPr lang="zh-CN" altLang="en-US"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zh-CN" altLang="en-US" sz="3200" dirty="0">
                          <a:latin typeface="Arial" panose="020B0604020202020204" pitchFamily="34" charset="0"/>
                        </a:rPr>
                        <a:t>地址</a:t>
                      </a:r>
                      <a:endParaRPr lang="zh-CN" altLang="en-US"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579437">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0</a:t>
                      </a:r>
                      <a:endParaRPr lang="en-US"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577850">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1</a:t>
                      </a:r>
                      <a:endParaRPr lang="en-US"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590550">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2</a:t>
                      </a:r>
                      <a:endParaRPr lang="en-US"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579438">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r h="579437">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r>
                        <a:rPr lang="en-US" altLang="zh-CN" sz="3200" dirty="0">
                          <a:latin typeface="Arial" panose="020B0604020202020204" pitchFamily="34" charset="0"/>
                        </a:rPr>
                        <a:t>M-1</a:t>
                      </a:r>
                      <a:endParaRPr lang="en-US"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defRPr>
                      </a:lvl1pPr>
                      <a:lvl2pPr marL="457200" lvl="1"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2pPr>
                      <a:lvl3pPr marL="914400" lvl="2"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3pPr>
                      <a:lvl4pPr marL="1371600" lvl="3"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4pPr>
                      <a:lvl5pPr marL="1828800" lvl="4" indent="0" algn="l" defTabSz="914400" rtl="0" eaLnBrk="1" fontAlgn="base" latinLnBrk="0" hangingPunct="1">
                        <a:lnSpc>
                          <a:spcPct val="100000"/>
                        </a:lnSpc>
                        <a:spcBef>
                          <a:spcPct val="50000"/>
                        </a:spcBef>
                        <a:spcAft>
                          <a:spcPct val="0"/>
                        </a:spcAft>
                        <a:buNone/>
                        <a:defRPr sz="2800" b="1" i="0" u="none" kern="1200" baseline="0">
                          <a:solidFill>
                            <a:srgbClr val="000000"/>
                          </a:solidFill>
                          <a:latin typeface="Arial" panose="020B0604020202020204" pitchFamily="34" charset="0"/>
                          <a:ea typeface="黑体" panose="02010609060101010101" pitchFamily="2" charset="-122"/>
                          <a:cs typeface="+mn-cs"/>
                        </a:defRPr>
                      </a:lvl5pPr>
                    </a:lstStyle>
                    <a:p>
                      <a:pPr lvl="0" algn="ctr" eaLnBrk="1" hangingPunct="1">
                        <a:spcBef>
                          <a:spcPct val="0"/>
                        </a:spcBef>
                        <a:buClr>
                          <a:srgbClr val="FF0000"/>
                        </a:buClr>
                        <a:buSzPct val="65000"/>
                        <a:buFont typeface="Wingdings" panose="05000000000000000000" pitchFamily="2" charset="2"/>
                        <a:buNone/>
                      </a:pPr>
                      <a:endParaRPr lang="zh-CN" altLang="zh-CN" sz="3200" dirty="0">
                        <a:latin typeface="Arial" panose="020B0604020202020204" pitchFamily="34" charset="0"/>
                      </a:endParaRPr>
                    </a:p>
                  </a:txBody>
                  <a:tcPr>
                    <a:lnL w="38100" cap="flat" cmpd="sng">
                      <a:solidFill>
                        <a:srgbClr val="000000"/>
                      </a:solidFill>
                      <a:prstDash val="solid"/>
                      <a:headEnd type="none" w="med" len="med"/>
                      <a:tailEnd type="none" w="med" len="med"/>
                    </a:lnL>
                    <a:lnR w="38100" cap="flat" cmpd="sng">
                      <a:solidFill>
                        <a:srgbClr val="000000"/>
                      </a:solidFill>
                      <a:prstDash val="solid"/>
                      <a:headEnd type="none" w="med" len="med"/>
                      <a:tailEnd type="none" w="med" len="med"/>
                    </a:lnR>
                    <a:lnT w="38100" cap="flat" cmpd="sng">
                      <a:solidFill>
                        <a:srgbClr val="000000"/>
                      </a:solidFill>
                      <a:prstDash val="solid"/>
                      <a:headEnd type="none" w="med" len="med"/>
                      <a:tailEnd type="none" w="med" len="med"/>
                    </a:lnT>
                    <a:lnB w="38100" cap="flat" cmpd="sng">
                      <a:solidFill>
                        <a:srgbClr val="000000"/>
                      </a:solidFill>
                      <a:prstDash val="solid"/>
                      <a:headEnd type="none" w="med" len="med"/>
                      <a:tailEnd type="none" w="med" len="med"/>
                    </a:lnB>
                    <a:lnTlToBr>
                      <a:noFill/>
                    </a:lnTlToBr>
                    <a:lnBlToTr>
                      <a:noFill/>
                    </a:lnBlToTr>
                    <a:noFill/>
                  </a:tcPr>
                </a:tc>
              </a:tr>
            </a:tbl>
          </a:graphicData>
        </a:graphic>
      </p:graphicFrame>
      <p:grpSp>
        <p:nvGrpSpPr>
          <p:cNvPr id="2" name="Group 27"/>
          <p:cNvGrpSpPr/>
          <p:nvPr/>
        </p:nvGrpSpPr>
        <p:grpSpPr>
          <a:xfrm>
            <a:off x="4140200" y="3189288"/>
            <a:ext cx="4248150" cy="3403600"/>
            <a:chOff x="1519" y="2011"/>
            <a:chExt cx="2313" cy="2144"/>
          </a:xfrm>
        </p:grpSpPr>
        <p:sp>
          <p:nvSpPr>
            <p:cNvPr id="37916" name="Rectangle 28"/>
            <p:cNvSpPr/>
            <p:nvPr/>
          </p:nvSpPr>
          <p:spPr>
            <a:xfrm>
              <a:off x="1920" y="2011"/>
              <a:ext cx="824" cy="278"/>
            </a:xfrm>
            <a:prstGeom prst="rect">
              <a:avLst/>
            </a:prstGeom>
            <a:noFill/>
            <a:ln w="28575" cap="flat" cmpd="sng">
              <a:solidFill>
                <a:srgbClr val="0000CC"/>
              </a:solidFill>
              <a:prstDash val="solid"/>
              <a:miter/>
              <a:headEnd type="none" w="med" len="med"/>
              <a:tailEnd type="none" w="med" len="med"/>
            </a:ln>
          </p:spPr>
          <p:txBody>
            <a:bodyPr lIns="0" rIns="0"/>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主数据区</a:t>
              </a:r>
              <a:endParaRPr lang="zh-CN" altLang="en-US" dirty="0">
                <a:solidFill>
                  <a:srgbClr val="FF0000"/>
                </a:solidFill>
                <a:latin typeface="Arial" panose="020B0604020202020204" pitchFamily="34" charset="0"/>
              </a:endParaRPr>
            </a:p>
          </p:txBody>
        </p:sp>
        <p:sp>
          <p:nvSpPr>
            <p:cNvPr id="37917" name="Rectangle 29"/>
            <p:cNvSpPr/>
            <p:nvPr/>
          </p:nvSpPr>
          <p:spPr>
            <a:xfrm>
              <a:off x="1973" y="2478"/>
              <a:ext cx="726" cy="226"/>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918" name="Line 30"/>
            <p:cNvSpPr/>
            <p:nvPr/>
          </p:nvSpPr>
          <p:spPr>
            <a:xfrm>
              <a:off x="1519" y="2568"/>
              <a:ext cx="454" cy="0"/>
            </a:xfrm>
            <a:prstGeom prst="line">
              <a:avLst/>
            </a:prstGeom>
            <a:ln w="28575" cap="flat" cmpd="sng">
              <a:solidFill>
                <a:srgbClr val="0000CC"/>
              </a:solidFill>
              <a:prstDash val="solid"/>
              <a:headEnd type="none" w="med" len="med"/>
              <a:tailEnd type="arrow" w="med" len="med"/>
            </a:ln>
          </p:spPr>
        </p:sp>
        <p:sp>
          <p:nvSpPr>
            <p:cNvPr id="37919" name="Rectangle 31"/>
            <p:cNvSpPr/>
            <p:nvPr/>
          </p:nvSpPr>
          <p:spPr>
            <a:xfrm>
              <a:off x="1973" y="2840"/>
              <a:ext cx="726" cy="226"/>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920" name="Line 32"/>
            <p:cNvSpPr/>
            <p:nvPr/>
          </p:nvSpPr>
          <p:spPr>
            <a:xfrm>
              <a:off x="1519" y="2930"/>
              <a:ext cx="454" cy="0"/>
            </a:xfrm>
            <a:prstGeom prst="line">
              <a:avLst/>
            </a:prstGeom>
            <a:ln w="28575" cap="flat" cmpd="sng">
              <a:solidFill>
                <a:srgbClr val="0000CC"/>
              </a:solidFill>
              <a:prstDash val="solid"/>
              <a:headEnd type="none" w="med" len="med"/>
              <a:tailEnd type="arrow" w="med" len="med"/>
            </a:ln>
          </p:spPr>
        </p:sp>
        <p:sp>
          <p:nvSpPr>
            <p:cNvPr id="37921" name="Rectangle 33"/>
            <p:cNvSpPr/>
            <p:nvPr/>
          </p:nvSpPr>
          <p:spPr>
            <a:xfrm>
              <a:off x="1973" y="3203"/>
              <a:ext cx="726" cy="226"/>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922" name="Line 34"/>
            <p:cNvSpPr/>
            <p:nvPr/>
          </p:nvSpPr>
          <p:spPr>
            <a:xfrm>
              <a:off x="1519" y="3293"/>
              <a:ext cx="454" cy="0"/>
            </a:xfrm>
            <a:prstGeom prst="line">
              <a:avLst/>
            </a:prstGeom>
            <a:ln w="28575" cap="flat" cmpd="sng">
              <a:solidFill>
                <a:srgbClr val="0000CC"/>
              </a:solidFill>
              <a:prstDash val="solid"/>
              <a:headEnd type="none" w="med" len="med"/>
              <a:tailEnd type="arrow" w="med" len="med"/>
            </a:ln>
          </p:spPr>
        </p:sp>
        <p:sp>
          <p:nvSpPr>
            <p:cNvPr id="37923" name="Rectangle 35"/>
            <p:cNvSpPr/>
            <p:nvPr/>
          </p:nvSpPr>
          <p:spPr>
            <a:xfrm>
              <a:off x="1973" y="3929"/>
              <a:ext cx="726" cy="226"/>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924" name="Line 36"/>
            <p:cNvSpPr/>
            <p:nvPr/>
          </p:nvSpPr>
          <p:spPr>
            <a:xfrm>
              <a:off x="1519" y="4019"/>
              <a:ext cx="454" cy="0"/>
            </a:xfrm>
            <a:prstGeom prst="line">
              <a:avLst/>
            </a:prstGeom>
            <a:ln w="28575" cap="flat" cmpd="sng">
              <a:solidFill>
                <a:srgbClr val="0000CC"/>
              </a:solidFill>
              <a:prstDash val="solid"/>
              <a:headEnd type="none" w="med" len="med"/>
              <a:tailEnd type="arrow" w="med" len="med"/>
            </a:ln>
          </p:spPr>
        </p:sp>
        <p:sp>
          <p:nvSpPr>
            <p:cNvPr id="37925" name="Rectangle 37"/>
            <p:cNvSpPr/>
            <p:nvPr/>
          </p:nvSpPr>
          <p:spPr>
            <a:xfrm>
              <a:off x="3061" y="3203"/>
              <a:ext cx="726" cy="226"/>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7926" name="Line 38"/>
            <p:cNvSpPr/>
            <p:nvPr/>
          </p:nvSpPr>
          <p:spPr>
            <a:xfrm>
              <a:off x="2607" y="3293"/>
              <a:ext cx="454" cy="0"/>
            </a:xfrm>
            <a:prstGeom prst="line">
              <a:avLst/>
            </a:prstGeom>
            <a:ln w="28575" cap="flat" cmpd="sng">
              <a:solidFill>
                <a:srgbClr val="0000CC"/>
              </a:solidFill>
              <a:prstDash val="solid"/>
              <a:headEnd type="none" w="med" len="med"/>
              <a:tailEnd type="arrow" w="med" len="med"/>
            </a:ln>
          </p:spPr>
        </p:sp>
        <p:sp>
          <p:nvSpPr>
            <p:cNvPr id="37927" name="Rectangle 39"/>
            <p:cNvSpPr/>
            <p:nvPr/>
          </p:nvSpPr>
          <p:spPr>
            <a:xfrm>
              <a:off x="3008" y="2011"/>
              <a:ext cx="824" cy="278"/>
            </a:xfrm>
            <a:prstGeom prst="rect">
              <a:avLst/>
            </a:prstGeom>
            <a:noFill/>
            <a:ln w="28575" cap="flat" cmpd="sng">
              <a:solidFill>
                <a:srgbClr val="0000CC"/>
              </a:solidFill>
              <a:prstDash val="solid"/>
              <a:miter/>
              <a:headEnd type="none" w="med" len="med"/>
              <a:tailEnd type="none" w="med" len="med"/>
            </a:ln>
          </p:spPr>
          <p:txBody>
            <a:bodyPr/>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溢出区   </a:t>
              </a:r>
              <a:endParaRPr lang="zh-CN" altLang="en-US" dirty="0">
                <a:solidFill>
                  <a:srgbClr val="FF0000"/>
                </a:solidFill>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0">
                                            <p:txEl>
                                              <p:charRg st="30" end="6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idx="1"/>
          </p:nvPr>
        </p:nvSpPr>
        <p:spPr>
          <a:xfrm>
            <a:off x="152400" y="1143000"/>
            <a:ext cx="8740775" cy="5273675"/>
          </a:xfrm>
        </p:spPr>
        <p:txBody>
          <a:bodyPr vert="horz" wrap="square" lIns="91440" tIns="45720" rIns="91440" bIns="45720" anchor="t" anchorCtr="0"/>
          <a:p>
            <a:pPr marL="357505" indent="-357505" eaLnBrk="1" hangingPunct="1">
              <a:lnSpc>
                <a:spcPct val="120000"/>
              </a:lnSpc>
            </a:pPr>
            <a:r>
              <a:rPr lang="zh-CN" altLang="en-US" dirty="0">
                <a:latin typeface="Arial" panose="020B0604020202020204" pitchFamily="34" charset="0"/>
              </a:rPr>
              <a:t>常用的散列方法</a:t>
            </a:r>
            <a:endParaRPr lang="zh-CN" altLang="en-US" dirty="0">
              <a:latin typeface="Arial" panose="020B0604020202020204" pitchFamily="34" charset="0"/>
            </a:endParaRPr>
          </a:p>
          <a:p>
            <a:pPr marL="1069975" lvl="1" indent="-356870" eaLnBrk="1" hangingPunct="1">
              <a:lnSpc>
                <a:spcPct val="120000"/>
              </a:lnSpc>
              <a:spcBef>
                <a:spcPct val="0"/>
              </a:spcBef>
            </a:pPr>
            <a:r>
              <a:rPr lang="zh-CN" altLang="en-US" sz="3600" dirty="0">
                <a:latin typeface="Arial" panose="020B0604020202020204" pitchFamily="34" charset="0"/>
              </a:rPr>
              <a:t>静态散列</a:t>
            </a:r>
            <a:endParaRPr lang="zh-CN" altLang="en-US" sz="3600" dirty="0">
              <a:latin typeface="Arial" panose="020B0604020202020204" pitchFamily="34" charset="0"/>
            </a:endParaRPr>
          </a:p>
          <a:p>
            <a:pPr marL="1069975" lvl="1" indent="-356870" eaLnBrk="1" hangingPunct="1">
              <a:lnSpc>
                <a:spcPct val="120000"/>
              </a:lnSpc>
              <a:spcBef>
                <a:spcPct val="0"/>
              </a:spcBef>
            </a:pPr>
            <a:r>
              <a:rPr lang="zh-CN" altLang="en-US" sz="3600" dirty="0">
                <a:latin typeface="Arial" panose="020B0604020202020204" pitchFamily="34" charset="0"/>
              </a:rPr>
              <a:t>动态散列</a:t>
            </a:r>
            <a:endParaRPr lang="zh-TW" altLang="zh-CN" sz="3600" dirty="0">
              <a:latin typeface="Arial" panose="020B0604020202020204" pitchFamily="34" charset="0"/>
            </a:endParaRPr>
          </a:p>
          <a:p>
            <a:pPr marL="357505" indent="-357505" eaLnBrk="1" hangingPunct="1">
              <a:lnSpc>
                <a:spcPct val="120000"/>
              </a:lnSpc>
            </a:pPr>
            <a:endParaRPr lang="en-US" altLang="zh-CN" sz="4000" dirty="0">
              <a:latin typeface="Arial" panose="020B0604020202020204" pitchFamily="34" charset="0"/>
            </a:endParaRPr>
          </a:p>
        </p:txBody>
      </p:sp>
      <p:sp>
        <p:nvSpPr>
          <p:cNvPr id="11673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9.3.2 </a:t>
            </a:r>
            <a:r>
              <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rPr>
              <a:t>访问方式</a:t>
            </a:r>
            <a:endParaRPr kumimoji="0" lang="zh-CN" altLang="en-US" sz="4400" b="1" i="0" u="none" strike="noStrike" kern="0" cap="none" spc="0" normalizeH="0" baseline="0" noProof="0" dirty="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idx="1"/>
          </p:nvPr>
        </p:nvSpPr>
        <p:spPr>
          <a:xfrm>
            <a:off x="152400" y="1143000"/>
            <a:ext cx="8812213" cy="5273675"/>
          </a:xfrm>
        </p:spPr>
        <p:txBody>
          <a:bodyPr vert="horz" wrap="square" lIns="91440" tIns="45720" rIns="91440" bIns="45720" anchor="t" anchorCtr="0"/>
          <a:p>
            <a:pPr marL="443230" indent="-443230" eaLnBrk="1" hangingPunct="1"/>
            <a:r>
              <a:rPr lang="zh-CN" altLang="en-US" dirty="0">
                <a:latin typeface="Arial" panose="020B0604020202020204" pitchFamily="34" charset="0"/>
              </a:rPr>
              <a:t>事先确定为</a:t>
            </a:r>
            <a:r>
              <a:rPr lang="en-US" altLang="zh-CN" dirty="0">
                <a:latin typeface="Arial" panose="020B0604020202020204" pitchFamily="34" charset="0"/>
              </a:rPr>
              <a:t>N</a:t>
            </a:r>
            <a:r>
              <a:rPr lang="zh-CN" altLang="en-US" dirty="0">
                <a:latin typeface="Arial" panose="020B0604020202020204" pitchFamily="34" charset="0"/>
              </a:rPr>
              <a:t>个桶，每个桶由一个主块和任意多个溢出块构成。</a:t>
            </a:r>
            <a:endParaRPr lang="zh-CN" altLang="en-US" dirty="0">
              <a:latin typeface="Arial" panose="020B0604020202020204" pitchFamily="34" charset="0"/>
            </a:endParaRPr>
          </a:p>
        </p:txBody>
      </p:sp>
      <p:sp>
        <p:nvSpPr>
          <p:cNvPr id="1638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1</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、静态散列</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39940" name="Group 29"/>
          <p:cNvGrpSpPr/>
          <p:nvPr/>
        </p:nvGrpSpPr>
        <p:grpSpPr>
          <a:xfrm>
            <a:off x="107950" y="2463800"/>
            <a:ext cx="8966200" cy="3052763"/>
            <a:chOff x="45" y="1752"/>
            <a:chExt cx="5648" cy="1923"/>
          </a:xfrm>
        </p:grpSpPr>
        <p:sp>
          <p:nvSpPr>
            <p:cNvPr id="39941" name="Rectangle 5"/>
            <p:cNvSpPr/>
            <p:nvPr/>
          </p:nvSpPr>
          <p:spPr>
            <a:xfrm>
              <a:off x="2278" y="1752"/>
              <a:ext cx="953" cy="278"/>
            </a:xfrm>
            <a:prstGeom prst="rect">
              <a:avLst/>
            </a:prstGeom>
            <a:noFill/>
            <a:ln w="28575">
              <a:noFill/>
            </a:ln>
          </p:spPr>
          <p:txBody>
            <a:bodyPr lIns="0" rIns="0"/>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主块</a:t>
              </a:r>
              <a:endParaRPr lang="zh-CN" altLang="en-US" dirty="0">
                <a:solidFill>
                  <a:srgbClr val="FF0000"/>
                </a:solidFill>
                <a:latin typeface="Arial" panose="020B0604020202020204" pitchFamily="34" charset="0"/>
              </a:endParaRPr>
            </a:p>
          </p:txBody>
        </p:sp>
        <p:sp>
          <p:nvSpPr>
            <p:cNvPr id="39942" name="Rectangle 6"/>
            <p:cNvSpPr/>
            <p:nvPr/>
          </p:nvSpPr>
          <p:spPr>
            <a:xfrm>
              <a:off x="2339" y="2096"/>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0</a:t>
              </a:r>
              <a:endParaRPr lang="en-US" altLang="zh-CN" dirty="0">
                <a:latin typeface="Arial" panose="020B0604020202020204" pitchFamily="34" charset="0"/>
              </a:endParaRPr>
            </a:p>
          </p:txBody>
        </p:sp>
        <p:sp>
          <p:nvSpPr>
            <p:cNvPr id="39943" name="Rectangle 8"/>
            <p:cNvSpPr/>
            <p:nvPr/>
          </p:nvSpPr>
          <p:spPr>
            <a:xfrm>
              <a:off x="2339" y="2383"/>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39944" name="Rectangle 10"/>
            <p:cNvSpPr/>
            <p:nvPr/>
          </p:nvSpPr>
          <p:spPr>
            <a:xfrm>
              <a:off x="2339"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39945" name="Rectangle 12"/>
            <p:cNvSpPr/>
            <p:nvPr/>
          </p:nvSpPr>
          <p:spPr>
            <a:xfrm>
              <a:off x="2339" y="3390"/>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N-1</a:t>
              </a:r>
              <a:endParaRPr lang="en-US" altLang="zh-CN" dirty="0">
                <a:latin typeface="Arial" panose="020B0604020202020204" pitchFamily="34" charset="0"/>
              </a:endParaRPr>
            </a:p>
          </p:txBody>
        </p:sp>
        <p:sp>
          <p:nvSpPr>
            <p:cNvPr id="39946" name="Rectangle 14"/>
            <p:cNvSpPr/>
            <p:nvPr/>
          </p:nvSpPr>
          <p:spPr>
            <a:xfrm>
              <a:off x="3598"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47" name="Line 15"/>
            <p:cNvSpPr/>
            <p:nvPr/>
          </p:nvSpPr>
          <p:spPr>
            <a:xfrm>
              <a:off x="3073" y="2821"/>
              <a:ext cx="525" cy="0"/>
            </a:xfrm>
            <a:prstGeom prst="line">
              <a:avLst/>
            </a:prstGeom>
            <a:ln w="28575" cap="flat" cmpd="sng">
              <a:solidFill>
                <a:srgbClr val="0000CC"/>
              </a:solidFill>
              <a:prstDash val="solid"/>
              <a:headEnd type="none" w="med" len="med"/>
              <a:tailEnd type="arrow" w="med" len="med"/>
            </a:ln>
          </p:spPr>
        </p:sp>
        <p:sp>
          <p:nvSpPr>
            <p:cNvPr id="39948" name="Rectangle 16"/>
            <p:cNvSpPr/>
            <p:nvPr/>
          </p:nvSpPr>
          <p:spPr>
            <a:xfrm>
              <a:off x="4082" y="1752"/>
              <a:ext cx="953" cy="278"/>
            </a:xfrm>
            <a:prstGeom prst="rect">
              <a:avLst/>
            </a:prstGeom>
            <a:noFill/>
            <a:ln w="28575">
              <a:noFill/>
            </a:ln>
          </p:spPr>
          <p:txBody>
            <a:bodyPr/>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溢出块   </a:t>
              </a:r>
              <a:endParaRPr lang="zh-CN" altLang="en-US" dirty="0">
                <a:solidFill>
                  <a:srgbClr val="FF0000"/>
                </a:solidFill>
                <a:latin typeface="Arial" panose="020B0604020202020204" pitchFamily="34" charset="0"/>
              </a:endParaRPr>
            </a:p>
          </p:txBody>
        </p:sp>
        <p:sp>
          <p:nvSpPr>
            <p:cNvPr id="39949" name="Rectangle 17"/>
            <p:cNvSpPr/>
            <p:nvPr/>
          </p:nvSpPr>
          <p:spPr>
            <a:xfrm>
              <a:off x="4853"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50" name="Line 18"/>
            <p:cNvSpPr/>
            <p:nvPr/>
          </p:nvSpPr>
          <p:spPr>
            <a:xfrm>
              <a:off x="4328" y="2821"/>
              <a:ext cx="525" cy="0"/>
            </a:xfrm>
            <a:prstGeom prst="line">
              <a:avLst/>
            </a:prstGeom>
            <a:ln w="28575" cap="flat" cmpd="sng">
              <a:solidFill>
                <a:srgbClr val="0000CC"/>
              </a:solidFill>
              <a:prstDash val="solid"/>
              <a:headEnd type="none" w="med" len="med"/>
              <a:tailEnd type="arrow" w="med" len="med"/>
            </a:ln>
          </p:spPr>
        </p:sp>
        <p:sp>
          <p:nvSpPr>
            <p:cNvPr id="39951" name="Rectangle 19"/>
            <p:cNvSpPr/>
            <p:nvPr/>
          </p:nvSpPr>
          <p:spPr>
            <a:xfrm>
              <a:off x="2339" y="3022"/>
              <a:ext cx="840" cy="285"/>
            </a:xfrm>
            <a:prstGeom prst="rect">
              <a:avLst/>
            </a:prstGeom>
            <a:noFill/>
            <a:ln w="28575">
              <a:noFill/>
            </a:ln>
          </p:spPr>
          <p:txBody>
            <a:bodyPr wrap="none" anchor="ctr" anchorCtr="0"/>
            <a:p>
              <a:pPr algn="ct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39952" name="Rectangle 20"/>
            <p:cNvSpPr/>
            <p:nvPr/>
          </p:nvSpPr>
          <p:spPr>
            <a:xfrm>
              <a:off x="3598" y="2097"/>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39953" name="Line 21"/>
            <p:cNvSpPr/>
            <p:nvPr/>
          </p:nvSpPr>
          <p:spPr>
            <a:xfrm>
              <a:off x="3073" y="2246"/>
              <a:ext cx="525" cy="0"/>
            </a:xfrm>
            <a:prstGeom prst="line">
              <a:avLst/>
            </a:prstGeom>
            <a:ln w="28575" cap="flat" cmpd="sng">
              <a:solidFill>
                <a:srgbClr val="0000CC"/>
              </a:solidFill>
              <a:prstDash val="solid"/>
              <a:headEnd type="none" w="med" len="med"/>
              <a:tailEnd type="arrow" w="med" len="med"/>
            </a:ln>
          </p:spPr>
        </p:sp>
        <p:sp>
          <p:nvSpPr>
            <p:cNvPr id="39954" name="AutoShape 22"/>
            <p:cNvSpPr/>
            <p:nvPr/>
          </p:nvSpPr>
          <p:spPr>
            <a:xfrm>
              <a:off x="566" y="2523"/>
              <a:ext cx="1180" cy="562"/>
            </a:xfrm>
            <a:prstGeom prst="diamond">
              <a:avLst/>
            </a:prstGeom>
            <a:noFill/>
            <a:ln w="38100" cap="flat" cmpd="sng">
              <a:solidFill>
                <a:srgbClr val="000000"/>
              </a:solidFill>
              <a:prstDash val="solid"/>
              <a:miter/>
              <a:headEnd type="none" w="med" len="med"/>
              <a:tailEnd type="none" w="med" len="med"/>
            </a:ln>
          </p:spPr>
          <p:txBody>
            <a:bodyPr lIns="0" tIns="0" rIns="0" bIns="0" anchor="ctr" anchorCtr="0">
              <a:spAutoFit/>
            </a:bodyPr>
            <a:p>
              <a:pPr algn="ctr"/>
              <a:r>
                <a:rPr lang="en-US" altLang="zh-CN" dirty="0">
                  <a:latin typeface="Arial" panose="020B0604020202020204" pitchFamily="34" charset="0"/>
                </a:rPr>
                <a:t>Hash</a:t>
              </a:r>
              <a:endParaRPr lang="en-US" altLang="zh-CN" dirty="0">
                <a:latin typeface="Arial" panose="020B0604020202020204" pitchFamily="34" charset="0"/>
              </a:endParaRPr>
            </a:p>
          </p:txBody>
        </p:sp>
        <p:sp>
          <p:nvSpPr>
            <p:cNvPr id="39955" name="Line 23"/>
            <p:cNvSpPr/>
            <p:nvPr/>
          </p:nvSpPr>
          <p:spPr>
            <a:xfrm>
              <a:off x="45" y="2795"/>
              <a:ext cx="521" cy="0"/>
            </a:xfrm>
            <a:prstGeom prst="line">
              <a:avLst/>
            </a:prstGeom>
            <a:ln w="38100" cap="flat" cmpd="sng">
              <a:solidFill>
                <a:srgbClr val="000000"/>
              </a:solidFill>
              <a:prstDash val="solid"/>
              <a:headEnd type="none" w="med" len="med"/>
              <a:tailEnd type="arrow" w="med" len="med"/>
            </a:ln>
          </p:spPr>
        </p:sp>
        <p:sp>
          <p:nvSpPr>
            <p:cNvPr id="39956" name="Rectangle 24"/>
            <p:cNvSpPr/>
            <p:nvPr/>
          </p:nvSpPr>
          <p:spPr>
            <a:xfrm>
              <a:off x="158" y="2510"/>
              <a:ext cx="272" cy="285"/>
            </a:xfrm>
            <a:prstGeom prst="rect">
              <a:avLst/>
            </a:prstGeom>
            <a:noFill/>
            <a:ln w="28575">
              <a:noFill/>
            </a:ln>
          </p:spPr>
          <p:txBody>
            <a:bodyPr wrap="none" anchor="ctr" anchorCtr="0"/>
            <a:p>
              <a:pPr algn="ctr"/>
              <a:r>
                <a:rPr lang="en-US" altLang="zh-CN" dirty="0">
                  <a:latin typeface="Arial" panose="020B0604020202020204" pitchFamily="34" charset="0"/>
                </a:rPr>
                <a:t>k</a:t>
              </a:r>
              <a:endParaRPr lang="en-US" altLang="zh-CN" dirty="0">
                <a:latin typeface="Arial" panose="020B0604020202020204" pitchFamily="34" charset="0"/>
              </a:endParaRPr>
            </a:p>
          </p:txBody>
        </p:sp>
        <p:sp>
          <p:nvSpPr>
            <p:cNvPr id="39957" name="Line 25"/>
            <p:cNvSpPr/>
            <p:nvPr/>
          </p:nvSpPr>
          <p:spPr>
            <a:xfrm flipV="1">
              <a:off x="1746" y="2251"/>
              <a:ext cx="590" cy="544"/>
            </a:xfrm>
            <a:prstGeom prst="line">
              <a:avLst/>
            </a:prstGeom>
            <a:ln w="38100" cap="flat" cmpd="sng">
              <a:solidFill>
                <a:srgbClr val="000000"/>
              </a:solidFill>
              <a:prstDash val="solid"/>
              <a:headEnd type="none" w="med" len="med"/>
              <a:tailEnd type="arrow" w="med" len="med"/>
            </a:ln>
          </p:spPr>
        </p:sp>
        <p:sp>
          <p:nvSpPr>
            <p:cNvPr id="39958" name="Line 26"/>
            <p:cNvSpPr/>
            <p:nvPr/>
          </p:nvSpPr>
          <p:spPr>
            <a:xfrm flipV="1">
              <a:off x="1746" y="2523"/>
              <a:ext cx="590" cy="272"/>
            </a:xfrm>
            <a:prstGeom prst="line">
              <a:avLst/>
            </a:prstGeom>
            <a:ln w="38100" cap="flat" cmpd="sng">
              <a:solidFill>
                <a:srgbClr val="000000"/>
              </a:solidFill>
              <a:prstDash val="solid"/>
              <a:headEnd type="none" w="med" len="med"/>
              <a:tailEnd type="arrow" w="med" len="med"/>
            </a:ln>
          </p:spPr>
        </p:sp>
        <p:sp>
          <p:nvSpPr>
            <p:cNvPr id="39959" name="Line 27"/>
            <p:cNvSpPr/>
            <p:nvPr/>
          </p:nvSpPr>
          <p:spPr>
            <a:xfrm flipV="1">
              <a:off x="1746" y="2795"/>
              <a:ext cx="590" cy="0"/>
            </a:xfrm>
            <a:prstGeom prst="line">
              <a:avLst/>
            </a:prstGeom>
            <a:ln w="38100" cap="flat" cmpd="sng">
              <a:solidFill>
                <a:srgbClr val="000000"/>
              </a:solidFill>
              <a:prstDash val="solid"/>
              <a:headEnd type="none" w="med" len="med"/>
              <a:tailEnd type="arrow" w="med" len="med"/>
            </a:ln>
          </p:spPr>
        </p:sp>
        <p:sp>
          <p:nvSpPr>
            <p:cNvPr id="39960" name="Line 28"/>
            <p:cNvSpPr/>
            <p:nvPr/>
          </p:nvSpPr>
          <p:spPr>
            <a:xfrm>
              <a:off x="1746" y="2795"/>
              <a:ext cx="590" cy="726"/>
            </a:xfrm>
            <a:prstGeom prst="line">
              <a:avLst/>
            </a:prstGeom>
            <a:ln w="38100" cap="flat" cmpd="sng">
              <a:solidFill>
                <a:srgbClr val="000000"/>
              </a:solidFill>
              <a:prstDash val="solid"/>
              <a:headEnd type="none" w="med" len="med"/>
              <a:tailEnd type="arrow" w="med" len="med"/>
            </a:ln>
          </p:spPr>
        </p:sp>
      </p:grpSp>
    </p:spTree>
  </p:cSld>
  <p:clrMapOvr>
    <a:masterClrMapping/>
  </p:clrMapOvr>
  <p:transition>
    <p:random/>
    <p:sndAc>
      <p:stSnd>
        <p:snd r:embed="rId1" name="CAMERA.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idx="1"/>
          </p:nvPr>
        </p:nvSpPr>
        <p:spPr>
          <a:xfrm>
            <a:off x="107950" y="1035050"/>
            <a:ext cx="8856663" cy="5489575"/>
          </a:xfrm>
        </p:spPr>
        <p:txBody>
          <a:bodyPr vert="horz" wrap="square" lIns="91440" tIns="45720" rIns="91440" bIns="45720" anchor="t" anchorCtr="0"/>
          <a:p>
            <a:pPr marL="449580" indent="-449580" eaLnBrk="1" hangingPunct="1">
              <a:spcBef>
                <a:spcPct val="35000"/>
              </a:spcBef>
            </a:pPr>
            <a:r>
              <a:rPr lang="zh-CN" altLang="en-US" dirty="0">
                <a:solidFill>
                  <a:srgbClr val="0000CC"/>
                </a:solidFill>
                <a:latin typeface="Arial" panose="020B0604020202020204" pitchFamily="34" charset="0"/>
              </a:rPr>
              <a:t>查找</a:t>
            </a:r>
            <a:r>
              <a:rPr lang="zh-CN" altLang="en-US" dirty="0">
                <a:latin typeface="Arial" panose="020B0604020202020204" pitchFamily="34" charset="0"/>
              </a:rPr>
              <a:t>：搜索键值为 </a:t>
            </a:r>
            <a:r>
              <a:rPr lang="en-US" altLang="zh-CN" dirty="0">
                <a:latin typeface="Arial" panose="020B0604020202020204" pitchFamily="34" charset="0"/>
              </a:rPr>
              <a:t>k </a:t>
            </a:r>
            <a:r>
              <a:rPr lang="zh-CN" altLang="en-US" dirty="0">
                <a:latin typeface="Arial" panose="020B0604020202020204" pitchFamily="34" charset="0"/>
              </a:rPr>
              <a:t>的记录，先计算 </a:t>
            </a:r>
            <a:r>
              <a:rPr lang="en-US" altLang="zh-CN" dirty="0">
                <a:latin typeface="Arial" panose="020B0604020202020204" pitchFamily="34" charset="0"/>
              </a:rPr>
              <a:t>h(k)</a:t>
            </a:r>
            <a:r>
              <a:rPr lang="zh-CN" altLang="en-US" dirty="0">
                <a:latin typeface="Arial" panose="020B0604020202020204" pitchFamily="34" charset="0"/>
              </a:rPr>
              <a:t>，求出该记录的桶地址，然后在桶内</a:t>
            </a:r>
            <a:r>
              <a:rPr lang="en-US" altLang="zh-CN" dirty="0">
                <a:latin typeface="Arial" panose="020B0604020202020204" pitchFamily="34" charset="0"/>
              </a:rPr>
              <a:t>(</a:t>
            </a:r>
            <a:r>
              <a:rPr lang="zh-CN" altLang="en-US" dirty="0">
                <a:latin typeface="Arial" panose="020B0604020202020204" pitchFamily="34" charset="0"/>
              </a:rPr>
              <a:t>主块和溢出块</a:t>
            </a:r>
            <a:r>
              <a:rPr lang="en-US" altLang="zh-CN" dirty="0">
                <a:latin typeface="Arial" panose="020B0604020202020204" pitchFamily="34" charset="0"/>
              </a:rPr>
              <a:t>)</a:t>
            </a:r>
            <a:r>
              <a:rPr lang="zh-CN" altLang="en-US" dirty="0">
                <a:latin typeface="Arial" panose="020B0604020202020204" pitchFamily="34" charset="0"/>
              </a:rPr>
              <a:t>查找。</a:t>
            </a:r>
            <a:endParaRPr lang="zh-CN" altLang="en-US" dirty="0">
              <a:latin typeface="Arial" panose="020B0604020202020204" pitchFamily="34" charset="0"/>
            </a:endParaRPr>
          </a:p>
        </p:txBody>
      </p:sp>
      <p:sp>
        <p:nvSpPr>
          <p:cNvPr id="110595" name="Rectangle 3"/>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静态散列操作</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40964" name="Group 4"/>
          <p:cNvGrpSpPr/>
          <p:nvPr/>
        </p:nvGrpSpPr>
        <p:grpSpPr>
          <a:xfrm>
            <a:off x="69850" y="3046413"/>
            <a:ext cx="8966200" cy="3052762"/>
            <a:chOff x="45" y="1752"/>
            <a:chExt cx="5648" cy="1923"/>
          </a:xfrm>
        </p:grpSpPr>
        <p:sp>
          <p:nvSpPr>
            <p:cNvPr id="40965" name="Rectangle 5"/>
            <p:cNvSpPr/>
            <p:nvPr/>
          </p:nvSpPr>
          <p:spPr>
            <a:xfrm>
              <a:off x="2278" y="1752"/>
              <a:ext cx="953" cy="278"/>
            </a:xfrm>
            <a:prstGeom prst="rect">
              <a:avLst/>
            </a:prstGeom>
            <a:noFill/>
            <a:ln w="28575">
              <a:noFill/>
            </a:ln>
          </p:spPr>
          <p:txBody>
            <a:bodyPr lIns="0" rIns="0"/>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主块</a:t>
              </a:r>
              <a:endParaRPr lang="zh-CN" altLang="en-US" dirty="0">
                <a:solidFill>
                  <a:srgbClr val="FF0000"/>
                </a:solidFill>
                <a:latin typeface="Arial" panose="020B0604020202020204" pitchFamily="34" charset="0"/>
              </a:endParaRPr>
            </a:p>
          </p:txBody>
        </p:sp>
        <p:sp>
          <p:nvSpPr>
            <p:cNvPr id="40966" name="Rectangle 6"/>
            <p:cNvSpPr/>
            <p:nvPr/>
          </p:nvSpPr>
          <p:spPr>
            <a:xfrm>
              <a:off x="2339" y="2096"/>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0</a:t>
              </a:r>
              <a:endParaRPr lang="en-US" altLang="zh-CN" dirty="0">
                <a:latin typeface="Arial" panose="020B0604020202020204" pitchFamily="34" charset="0"/>
              </a:endParaRPr>
            </a:p>
          </p:txBody>
        </p:sp>
        <p:sp>
          <p:nvSpPr>
            <p:cNvPr id="40967" name="Rectangle 7"/>
            <p:cNvSpPr/>
            <p:nvPr/>
          </p:nvSpPr>
          <p:spPr>
            <a:xfrm>
              <a:off x="2339" y="2383"/>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40968" name="Rectangle 8"/>
            <p:cNvSpPr/>
            <p:nvPr/>
          </p:nvSpPr>
          <p:spPr>
            <a:xfrm>
              <a:off x="2339"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40969" name="Rectangle 9"/>
            <p:cNvSpPr/>
            <p:nvPr/>
          </p:nvSpPr>
          <p:spPr>
            <a:xfrm>
              <a:off x="2339" y="3390"/>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N-1</a:t>
              </a:r>
              <a:endParaRPr lang="en-US" altLang="zh-CN" dirty="0">
                <a:latin typeface="Arial" panose="020B0604020202020204" pitchFamily="34" charset="0"/>
              </a:endParaRPr>
            </a:p>
          </p:txBody>
        </p:sp>
        <p:sp>
          <p:nvSpPr>
            <p:cNvPr id="40970" name="Rectangle 10"/>
            <p:cNvSpPr/>
            <p:nvPr/>
          </p:nvSpPr>
          <p:spPr>
            <a:xfrm>
              <a:off x="3598"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971" name="Line 11"/>
            <p:cNvSpPr/>
            <p:nvPr/>
          </p:nvSpPr>
          <p:spPr>
            <a:xfrm>
              <a:off x="3073" y="2821"/>
              <a:ext cx="525" cy="0"/>
            </a:xfrm>
            <a:prstGeom prst="line">
              <a:avLst/>
            </a:prstGeom>
            <a:ln w="28575" cap="flat" cmpd="sng">
              <a:solidFill>
                <a:srgbClr val="0000CC"/>
              </a:solidFill>
              <a:prstDash val="solid"/>
              <a:headEnd type="none" w="med" len="med"/>
              <a:tailEnd type="arrow" w="med" len="med"/>
            </a:ln>
          </p:spPr>
        </p:sp>
        <p:sp>
          <p:nvSpPr>
            <p:cNvPr id="40972" name="Rectangle 12"/>
            <p:cNvSpPr/>
            <p:nvPr/>
          </p:nvSpPr>
          <p:spPr>
            <a:xfrm>
              <a:off x="4082" y="1752"/>
              <a:ext cx="953" cy="278"/>
            </a:xfrm>
            <a:prstGeom prst="rect">
              <a:avLst/>
            </a:prstGeom>
            <a:noFill/>
            <a:ln w="28575">
              <a:noFill/>
            </a:ln>
          </p:spPr>
          <p:txBody>
            <a:bodyPr/>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溢出块   </a:t>
              </a:r>
              <a:endParaRPr lang="zh-CN" altLang="en-US" dirty="0">
                <a:solidFill>
                  <a:srgbClr val="FF0000"/>
                </a:solidFill>
                <a:latin typeface="Arial" panose="020B0604020202020204" pitchFamily="34" charset="0"/>
              </a:endParaRPr>
            </a:p>
          </p:txBody>
        </p:sp>
        <p:sp>
          <p:nvSpPr>
            <p:cNvPr id="40973" name="Rectangle 13"/>
            <p:cNvSpPr/>
            <p:nvPr/>
          </p:nvSpPr>
          <p:spPr>
            <a:xfrm>
              <a:off x="4853"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974" name="Line 14"/>
            <p:cNvSpPr/>
            <p:nvPr/>
          </p:nvSpPr>
          <p:spPr>
            <a:xfrm>
              <a:off x="4328" y="2821"/>
              <a:ext cx="525" cy="0"/>
            </a:xfrm>
            <a:prstGeom prst="line">
              <a:avLst/>
            </a:prstGeom>
            <a:ln w="28575" cap="flat" cmpd="sng">
              <a:solidFill>
                <a:srgbClr val="0000CC"/>
              </a:solidFill>
              <a:prstDash val="solid"/>
              <a:headEnd type="none" w="med" len="med"/>
              <a:tailEnd type="arrow" w="med" len="med"/>
            </a:ln>
          </p:spPr>
        </p:sp>
        <p:sp>
          <p:nvSpPr>
            <p:cNvPr id="40975" name="Rectangle 15"/>
            <p:cNvSpPr/>
            <p:nvPr/>
          </p:nvSpPr>
          <p:spPr>
            <a:xfrm>
              <a:off x="2339" y="3022"/>
              <a:ext cx="840" cy="285"/>
            </a:xfrm>
            <a:prstGeom prst="rect">
              <a:avLst/>
            </a:prstGeom>
            <a:noFill/>
            <a:ln w="28575">
              <a:noFill/>
            </a:ln>
          </p:spPr>
          <p:txBody>
            <a:bodyPr wrap="none" anchor="ctr" anchorCtr="0"/>
            <a:p>
              <a:pPr algn="ct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40976" name="Rectangle 16"/>
            <p:cNvSpPr/>
            <p:nvPr/>
          </p:nvSpPr>
          <p:spPr>
            <a:xfrm>
              <a:off x="3598" y="2097"/>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0977" name="Line 17"/>
            <p:cNvSpPr/>
            <p:nvPr/>
          </p:nvSpPr>
          <p:spPr>
            <a:xfrm>
              <a:off x="3073" y="2246"/>
              <a:ext cx="525" cy="0"/>
            </a:xfrm>
            <a:prstGeom prst="line">
              <a:avLst/>
            </a:prstGeom>
            <a:ln w="28575" cap="flat" cmpd="sng">
              <a:solidFill>
                <a:srgbClr val="0000CC"/>
              </a:solidFill>
              <a:prstDash val="solid"/>
              <a:headEnd type="none" w="med" len="med"/>
              <a:tailEnd type="arrow" w="med" len="med"/>
            </a:ln>
          </p:spPr>
        </p:sp>
        <p:sp>
          <p:nvSpPr>
            <p:cNvPr id="40978" name="AutoShape 18"/>
            <p:cNvSpPr/>
            <p:nvPr/>
          </p:nvSpPr>
          <p:spPr>
            <a:xfrm>
              <a:off x="566" y="2523"/>
              <a:ext cx="1180" cy="562"/>
            </a:xfrm>
            <a:prstGeom prst="diamond">
              <a:avLst/>
            </a:prstGeom>
            <a:noFill/>
            <a:ln w="38100" cap="flat" cmpd="sng">
              <a:solidFill>
                <a:srgbClr val="000000"/>
              </a:solidFill>
              <a:prstDash val="solid"/>
              <a:miter/>
              <a:headEnd type="none" w="med" len="med"/>
              <a:tailEnd type="none" w="med" len="med"/>
            </a:ln>
          </p:spPr>
          <p:txBody>
            <a:bodyPr lIns="0" tIns="0" rIns="0" bIns="0" anchor="ctr" anchorCtr="0">
              <a:spAutoFit/>
            </a:bodyPr>
            <a:p>
              <a:pPr algn="ctr"/>
              <a:r>
                <a:rPr lang="en-US" altLang="zh-CN" dirty="0">
                  <a:latin typeface="Arial" panose="020B0604020202020204" pitchFamily="34" charset="0"/>
                </a:rPr>
                <a:t>Hash</a:t>
              </a:r>
              <a:endParaRPr lang="en-US" altLang="zh-CN" dirty="0">
                <a:latin typeface="Arial" panose="020B0604020202020204" pitchFamily="34" charset="0"/>
              </a:endParaRPr>
            </a:p>
          </p:txBody>
        </p:sp>
        <p:sp>
          <p:nvSpPr>
            <p:cNvPr id="40979" name="Line 19"/>
            <p:cNvSpPr/>
            <p:nvPr/>
          </p:nvSpPr>
          <p:spPr>
            <a:xfrm>
              <a:off x="45" y="2795"/>
              <a:ext cx="521" cy="0"/>
            </a:xfrm>
            <a:prstGeom prst="line">
              <a:avLst/>
            </a:prstGeom>
            <a:ln w="38100" cap="flat" cmpd="sng">
              <a:solidFill>
                <a:srgbClr val="000000"/>
              </a:solidFill>
              <a:prstDash val="solid"/>
              <a:headEnd type="none" w="med" len="med"/>
              <a:tailEnd type="arrow" w="med" len="med"/>
            </a:ln>
          </p:spPr>
        </p:sp>
        <p:sp>
          <p:nvSpPr>
            <p:cNvPr id="40980" name="Rectangle 20"/>
            <p:cNvSpPr/>
            <p:nvPr/>
          </p:nvSpPr>
          <p:spPr>
            <a:xfrm>
              <a:off x="158" y="2510"/>
              <a:ext cx="272" cy="285"/>
            </a:xfrm>
            <a:prstGeom prst="rect">
              <a:avLst/>
            </a:prstGeom>
            <a:noFill/>
            <a:ln w="28575">
              <a:noFill/>
            </a:ln>
          </p:spPr>
          <p:txBody>
            <a:bodyPr wrap="none" anchor="ctr" anchorCtr="0"/>
            <a:p>
              <a:pPr algn="ctr"/>
              <a:r>
                <a:rPr lang="en-US" altLang="zh-CN" dirty="0">
                  <a:latin typeface="Arial" panose="020B0604020202020204" pitchFamily="34" charset="0"/>
                </a:rPr>
                <a:t>k</a:t>
              </a:r>
              <a:endParaRPr lang="en-US" altLang="zh-CN" dirty="0">
                <a:latin typeface="Arial" panose="020B0604020202020204" pitchFamily="34" charset="0"/>
              </a:endParaRPr>
            </a:p>
          </p:txBody>
        </p:sp>
        <p:sp>
          <p:nvSpPr>
            <p:cNvPr id="40981" name="Line 21"/>
            <p:cNvSpPr/>
            <p:nvPr/>
          </p:nvSpPr>
          <p:spPr>
            <a:xfrm flipV="1">
              <a:off x="1746" y="2251"/>
              <a:ext cx="590" cy="544"/>
            </a:xfrm>
            <a:prstGeom prst="line">
              <a:avLst/>
            </a:prstGeom>
            <a:ln w="38100" cap="flat" cmpd="sng">
              <a:solidFill>
                <a:srgbClr val="000000"/>
              </a:solidFill>
              <a:prstDash val="solid"/>
              <a:headEnd type="none" w="med" len="med"/>
              <a:tailEnd type="arrow" w="med" len="med"/>
            </a:ln>
          </p:spPr>
        </p:sp>
        <p:sp>
          <p:nvSpPr>
            <p:cNvPr id="40982" name="Line 22"/>
            <p:cNvSpPr/>
            <p:nvPr/>
          </p:nvSpPr>
          <p:spPr>
            <a:xfrm flipV="1">
              <a:off x="1746" y="2523"/>
              <a:ext cx="590" cy="272"/>
            </a:xfrm>
            <a:prstGeom prst="line">
              <a:avLst/>
            </a:prstGeom>
            <a:ln w="38100" cap="flat" cmpd="sng">
              <a:solidFill>
                <a:srgbClr val="000000"/>
              </a:solidFill>
              <a:prstDash val="solid"/>
              <a:headEnd type="none" w="med" len="med"/>
              <a:tailEnd type="arrow" w="med" len="med"/>
            </a:ln>
          </p:spPr>
        </p:sp>
        <p:sp>
          <p:nvSpPr>
            <p:cNvPr id="40983" name="Line 23"/>
            <p:cNvSpPr/>
            <p:nvPr/>
          </p:nvSpPr>
          <p:spPr>
            <a:xfrm flipV="1">
              <a:off x="1746" y="2795"/>
              <a:ext cx="590" cy="0"/>
            </a:xfrm>
            <a:prstGeom prst="line">
              <a:avLst/>
            </a:prstGeom>
            <a:ln w="38100" cap="flat" cmpd="sng">
              <a:solidFill>
                <a:srgbClr val="000000"/>
              </a:solidFill>
              <a:prstDash val="solid"/>
              <a:headEnd type="none" w="med" len="med"/>
              <a:tailEnd type="arrow" w="med" len="med"/>
            </a:ln>
          </p:spPr>
        </p:sp>
        <p:sp>
          <p:nvSpPr>
            <p:cNvPr id="40984" name="Line 24"/>
            <p:cNvSpPr/>
            <p:nvPr/>
          </p:nvSpPr>
          <p:spPr>
            <a:xfrm>
              <a:off x="1746" y="2795"/>
              <a:ext cx="590" cy="726"/>
            </a:xfrm>
            <a:prstGeom prst="line">
              <a:avLst/>
            </a:prstGeom>
            <a:ln w="38100" cap="flat" cmpd="sng">
              <a:solidFill>
                <a:srgbClr val="000000"/>
              </a:solidFill>
              <a:prstDash val="solid"/>
              <a:headEnd type="none" w="med" len="med"/>
              <a:tailEnd type="arrow" w="med" len="med"/>
            </a:ln>
          </p:spPr>
        </p:sp>
      </p:grpSp>
    </p:spTree>
  </p:cSld>
  <p:clrMapOvr>
    <a:masterClrMapping/>
  </p:clrMapOvr>
  <p:transition>
    <p:random/>
    <p:sndAc>
      <p:stSnd>
        <p:snd r:embed="rId1" name="CAMERA.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6" name="Rectangle 2"/>
          <p:cNvSpPr>
            <a:spLocks noGrp="1"/>
          </p:cNvSpPr>
          <p:nvPr>
            <p:ph idx="1"/>
          </p:nvPr>
        </p:nvSpPr>
        <p:spPr>
          <a:xfrm>
            <a:off x="107950" y="1035050"/>
            <a:ext cx="8856663" cy="5489575"/>
          </a:xfrm>
        </p:spPr>
        <p:txBody>
          <a:bodyPr vert="horz" wrap="square" lIns="91440" tIns="45720" rIns="91440" bIns="45720" anchor="t" anchorCtr="0"/>
          <a:p>
            <a:pPr marL="449580" indent="-449580" eaLnBrk="1" hangingPunct="1">
              <a:lnSpc>
                <a:spcPct val="95000"/>
              </a:lnSpc>
              <a:spcBef>
                <a:spcPct val="10000"/>
              </a:spcBef>
            </a:pPr>
            <a:r>
              <a:rPr lang="zh-CN" altLang="en-US" dirty="0">
                <a:solidFill>
                  <a:srgbClr val="0000CC"/>
                </a:solidFill>
                <a:latin typeface="Arial" panose="020B0604020202020204" pitchFamily="34" charset="0"/>
              </a:rPr>
              <a:t>插入</a:t>
            </a:r>
            <a:r>
              <a:rPr lang="zh-CN" altLang="en-US" dirty="0">
                <a:latin typeface="Arial" panose="020B0604020202020204" pitchFamily="34" charset="0"/>
              </a:rPr>
              <a:t>：插入键值为 </a:t>
            </a:r>
            <a:r>
              <a:rPr lang="en-US" altLang="zh-CN" dirty="0">
                <a:latin typeface="Arial" panose="020B0604020202020204" pitchFamily="34" charset="0"/>
              </a:rPr>
              <a:t>k </a:t>
            </a:r>
            <a:r>
              <a:rPr lang="zh-CN" altLang="en-US" dirty="0">
                <a:latin typeface="Arial" panose="020B0604020202020204" pitchFamily="34" charset="0"/>
              </a:rPr>
              <a:t>的记录，先计算 </a:t>
            </a:r>
            <a:r>
              <a:rPr lang="en-US" altLang="zh-CN" dirty="0">
                <a:latin typeface="Arial" panose="020B0604020202020204" pitchFamily="34" charset="0"/>
              </a:rPr>
              <a:t>h(k)</a:t>
            </a:r>
            <a:r>
              <a:rPr lang="zh-CN" altLang="en-US" dirty="0">
                <a:latin typeface="Arial" panose="020B0604020202020204" pitchFamily="34" charset="0"/>
              </a:rPr>
              <a:t>，作为记录存储的桶地址，然后把记录插入到桶内的空余空间 </a:t>
            </a:r>
            <a:r>
              <a:rPr lang="en-US" altLang="zh-CN" dirty="0">
                <a:latin typeface="Arial" panose="020B0604020202020204" pitchFamily="34" charset="0"/>
              </a:rPr>
              <a:t>(</a:t>
            </a:r>
            <a:r>
              <a:rPr lang="zh-CN" altLang="en-US" dirty="0">
                <a:latin typeface="Arial" panose="020B0604020202020204" pitchFamily="34" charset="0"/>
              </a:rPr>
              <a:t>开辟新的溢出块</a:t>
            </a:r>
            <a:r>
              <a:rPr lang="en-US" altLang="zh-CN" dirty="0">
                <a:latin typeface="Arial" panose="020B0604020202020204" pitchFamily="34" charset="0"/>
              </a:rPr>
              <a:t>) </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236547" name="Rectangle 3"/>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静态散列操作</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41988" name="Group 4"/>
          <p:cNvGrpSpPr/>
          <p:nvPr/>
        </p:nvGrpSpPr>
        <p:grpSpPr>
          <a:xfrm>
            <a:off x="69850" y="3046413"/>
            <a:ext cx="8966200" cy="3052762"/>
            <a:chOff x="45" y="1752"/>
            <a:chExt cx="5648" cy="1923"/>
          </a:xfrm>
        </p:grpSpPr>
        <p:sp>
          <p:nvSpPr>
            <p:cNvPr id="41989" name="Rectangle 5"/>
            <p:cNvSpPr/>
            <p:nvPr/>
          </p:nvSpPr>
          <p:spPr>
            <a:xfrm>
              <a:off x="2278" y="1752"/>
              <a:ext cx="953" cy="278"/>
            </a:xfrm>
            <a:prstGeom prst="rect">
              <a:avLst/>
            </a:prstGeom>
            <a:noFill/>
            <a:ln w="28575">
              <a:noFill/>
            </a:ln>
          </p:spPr>
          <p:txBody>
            <a:bodyPr lIns="0" rIns="0"/>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主块</a:t>
              </a:r>
              <a:endParaRPr lang="zh-CN" altLang="en-US" dirty="0">
                <a:solidFill>
                  <a:srgbClr val="FF0000"/>
                </a:solidFill>
                <a:latin typeface="Arial" panose="020B0604020202020204" pitchFamily="34" charset="0"/>
              </a:endParaRPr>
            </a:p>
          </p:txBody>
        </p:sp>
        <p:sp>
          <p:nvSpPr>
            <p:cNvPr id="41990" name="Rectangle 6"/>
            <p:cNvSpPr/>
            <p:nvPr/>
          </p:nvSpPr>
          <p:spPr>
            <a:xfrm>
              <a:off x="2339" y="2096"/>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0</a:t>
              </a:r>
              <a:endParaRPr lang="en-US" altLang="zh-CN" dirty="0">
                <a:latin typeface="Arial" panose="020B0604020202020204" pitchFamily="34" charset="0"/>
              </a:endParaRPr>
            </a:p>
          </p:txBody>
        </p:sp>
        <p:sp>
          <p:nvSpPr>
            <p:cNvPr id="41991" name="Rectangle 7"/>
            <p:cNvSpPr/>
            <p:nvPr/>
          </p:nvSpPr>
          <p:spPr>
            <a:xfrm>
              <a:off x="2339" y="2383"/>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41992" name="Rectangle 8"/>
            <p:cNvSpPr/>
            <p:nvPr/>
          </p:nvSpPr>
          <p:spPr>
            <a:xfrm>
              <a:off x="2339"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41993" name="Rectangle 9"/>
            <p:cNvSpPr/>
            <p:nvPr/>
          </p:nvSpPr>
          <p:spPr>
            <a:xfrm>
              <a:off x="2339" y="3390"/>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N-1</a:t>
              </a:r>
              <a:endParaRPr lang="en-US" altLang="zh-CN" dirty="0">
                <a:latin typeface="Arial" panose="020B0604020202020204" pitchFamily="34" charset="0"/>
              </a:endParaRPr>
            </a:p>
          </p:txBody>
        </p:sp>
        <p:sp>
          <p:nvSpPr>
            <p:cNvPr id="41994" name="Rectangle 10"/>
            <p:cNvSpPr/>
            <p:nvPr/>
          </p:nvSpPr>
          <p:spPr>
            <a:xfrm>
              <a:off x="3598"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995" name="Line 11"/>
            <p:cNvSpPr/>
            <p:nvPr/>
          </p:nvSpPr>
          <p:spPr>
            <a:xfrm>
              <a:off x="3073" y="2821"/>
              <a:ext cx="525" cy="0"/>
            </a:xfrm>
            <a:prstGeom prst="line">
              <a:avLst/>
            </a:prstGeom>
            <a:ln w="28575" cap="flat" cmpd="sng">
              <a:solidFill>
                <a:srgbClr val="0000CC"/>
              </a:solidFill>
              <a:prstDash val="solid"/>
              <a:headEnd type="none" w="med" len="med"/>
              <a:tailEnd type="arrow" w="med" len="med"/>
            </a:ln>
          </p:spPr>
        </p:sp>
        <p:sp>
          <p:nvSpPr>
            <p:cNvPr id="41996" name="Rectangle 12"/>
            <p:cNvSpPr/>
            <p:nvPr/>
          </p:nvSpPr>
          <p:spPr>
            <a:xfrm>
              <a:off x="4082" y="1752"/>
              <a:ext cx="953" cy="278"/>
            </a:xfrm>
            <a:prstGeom prst="rect">
              <a:avLst/>
            </a:prstGeom>
            <a:noFill/>
            <a:ln w="28575">
              <a:noFill/>
            </a:ln>
          </p:spPr>
          <p:txBody>
            <a:bodyPr/>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溢出块   </a:t>
              </a:r>
              <a:endParaRPr lang="zh-CN" altLang="en-US" dirty="0">
                <a:solidFill>
                  <a:srgbClr val="FF0000"/>
                </a:solidFill>
                <a:latin typeface="Arial" panose="020B0604020202020204" pitchFamily="34" charset="0"/>
              </a:endParaRPr>
            </a:p>
          </p:txBody>
        </p:sp>
        <p:sp>
          <p:nvSpPr>
            <p:cNvPr id="41997" name="Rectangle 13"/>
            <p:cNvSpPr/>
            <p:nvPr/>
          </p:nvSpPr>
          <p:spPr>
            <a:xfrm>
              <a:off x="4853"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1998" name="Line 14"/>
            <p:cNvSpPr/>
            <p:nvPr/>
          </p:nvSpPr>
          <p:spPr>
            <a:xfrm>
              <a:off x="4328" y="2821"/>
              <a:ext cx="525" cy="0"/>
            </a:xfrm>
            <a:prstGeom prst="line">
              <a:avLst/>
            </a:prstGeom>
            <a:ln w="28575" cap="flat" cmpd="sng">
              <a:solidFill>
                <a:srgbClr val="0000CC"/>
              </a:solidFill>
              <a:prstDash val="solid"/>
              <a:headEnd type="none" w="med" len="med"/>
              <a:tailEnd type="arrow" w="med" len="med"/>
            </a:ln>
          </p:spPr>
        </p:sp>
        <p:sp>
          <p:nvSpPr>
            <p:cNvPr id="41999" name="Rectangle 15"/>
            <p:cNvSpPr/>
            <p:nvPr/>
          </p:nvSpPr>
          <p:spPr>
            <a:xfrm>
              <a:off x="2339" y="3022"/>
              <a:ext cx="840" cy="285"/>
            </a:xfrm>
            <a:prstGeom prst="rect">
              <a:avLst/>
            </a:prstGeom>
            <a:noFill/>
            <a:ln w="28575">
              <a:noFill/>
            </a:ln>
          </p:spPr>
          <p:txBody>
            <a:bodyPr wrap="none" anchor="ctr" anchorCtr="0"/>
            <a:p>
              <a:pPr algn="ct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42000" name="Rectangle 16"/>
            <p:cNvSpPr/>
            <p:nvPr/>
          </p:nvSpPr>
          <p:spPr>
            <a:xfrm>
              <a:off x="3598" y="2097"/>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2001" name="Line 17"/>
            <p:cNvSpPr/>
            <p:nvPr/>
          </p:nvSpPr>
          <p:spPr>
            <a:xfrm>
              <a:off x="3073" y="2246"/>
              <a:ext cx="525" cy="0"/>
            </a:xfrm>
            <a:prstGeom prst="line">
              <a:avLst/>
            </a:prstGeom>
            <a:ln w="28575" cap="flat" cmpd="sng">
              <a:solidFill>
                <a:srgbClr val="0000CC"/>
              </a:solidFill>
              <a:prstDash val="solid"/>
              <a:headEnd type="none" w="med" len="med"/>
              <a:tailEnd type="arrow" w="med" len="med"/>
            </a:ln>
          </p:spPr>
        </p:sp>
        <p:sp>
          <p:nvSpPr>
            <p:cNvPr id="42002" name="AutoShape 18"/>
            <p:cNvSpPr/>
            <p:nvPr/>
          </p:nvSpPr>
          <p:spPr>
            <a:xfrm>
              <a:off x="566" y="2523"/>
              <a:ext cx="1180" cy="562"/>
            </a:xfrm>
            <a:prstGeom prst="diamond">
              <a:avLst/>
            </a:prstGeom>
            <a:noFill/>
            <a:ln w="38100" cap="flat" cmpd="sng">
              <a:solidFill>
                <a:srgbClr val="000000"/>
              </a:solidFill>
              <a:prstDash val="solid"/>
              <a:miter/>
              <a:headEnd type="none" w="med" len="med"/>
              <a:tailEnd type="none" w="med" len="med"/>
            </a:ln>
          </p:spPr>
          <p:txBody>
            <a:bodyPr lIns="0" tIns="0" rIns="0" bIns="0" anchor="ctr" anchorCtr="0">
              <a:spAutoFit/>
            </a:bodyPr>
            <a:p>
              <a:pPr algn="ctr"/>
              <a:r>
                <a:rPr lang="en-US" altLang="zh-CN" dirty="0">
                  <a:latin typeface="Arial" panose="020B0604020202020204" pitchFamily="34" charset="0"/>
                </a:rPr>
                <a:t>Hash</a:t>
              </a:r>
              <a:endParaRPr lang="en-US" altLang="zh-CN" dirty="0">
                <a:latin typeface="Arial" panose="020B0604020202020204" pitchFamily="34" charset="0"/>
              </a:endParaRPr>
            </a:p>
          </p:txBody>
        </p:sp>
        <p:sp>
          <p:nvSpPr>
            <p:cNvPr id="42003" name="Line 19"/>
            <p:cNvSpPr/>
            <p:nvPr/>
          </p:nvSpPr>
          <p:spPr>
            <a:xfrm>
              <a:off x="45" y="2795"/>
              <a:ext cx="521" cy="0"/>
            </a:xfrm>
            <a:prstGeom prst="line">
              <a:avLst/>
            </a:prstGeom>
            <a:ln w="38100" cap="flat" cmpd="sng">
              <a:solidFill>
                <a:srgbClr val="000000"/>
              </a:solidFill>
              <a:prstDash val="solid"/>
              <a:headEnd type="none" w="med" len="med"/>
              <a:tailEnd type="arrow" w="med" len="med"/>
            </a:ln>
          </p:spPr>
        </p:sp>
        <p:sp>
          <p:nvSpPr>
            <p:cNvPr id="42004" name="Rectangle 20"/>
            <p:cNvSpPr/>
            <p:nvPr/>
          </p:nvSpPr>
          <p:spPr>
            <a:xfrm>
              <a:off x="158" y="2510"/>
              <a:ext cx="272" cy="285"/>
            </a:xfrm>
            <a:prstGeom prst="rect">
              <a:avLst/>
            </a:prstGeom>
            <a:noFill/>
            <a:ln w="28575">
              <a:noFill/>
            </a:ln>
          </p:spPr>
          <p:txBody>
            <a:bodyPr wrap="none" anchor="ctr" anchorCtr="0"/>
            <a:p>
              <a:pPr algn="ctr"/>
              <a:r>
                <a:rPr lang="en-US" altLang="zh-CN" dirty="0">
                  <a:latin typeface="Arial" panose="020B0604020202020204" pitchFamily="34" charset="0"/>
                </a:rPr>
                <a:t>k</a:t>
              </a:r>
              <a:endParaRPr lang="en-US" altLang="zh-CN" dirty="0">
                <a:latin typeface="Arial" panose="020B0604020202020204" pitchFamily="34" charset="0"/>
              </a:endParaRPr>
            </a:p>
          </p:txBody>
        </p:sp>
        <p:sp>
          <p:nvSpPr>
            <p:cNvPr id="42005" name="Line 21"/>
            <p:cNvSpPr/>
            <p:nvPr/>
          </p:nvSpPr>
          <p:spPr>
            <a:xfrm flipV="1">
              <a:off x="1746" y="2251"/>
              <a:ext cx="590" cy="544"/>
            </a:xfrm>
            <a:prstGeom prst="line">
              <a:avLst/>
            </a:prstGeom>
            <a:ln w="38100" cap="flat" cmpd="sng">
              <a:solidFill>
                <a:srgbClr val="000000"/>
              </a:solidFill>
              <a:prstDash val="solid"/>
              <a:headEnd type="none" w="med" len="med"/>
              <a:tailEnd type="arrow" w="med" len="med"/>
            </a:ln>
          </p:spPr>
        </p:sp>
        <p:sp>
          <p:nvSpPr>
            <p:cNvPr id="42006" name="Line 22"/>
            <p:cNvSpPr/>
            <p:nvPr/>
          </p:nvSpPr>
          <p:spPr>
            <a:xfrm flipV="1">
              <a:off x="1746" y="2523"/>
              <a:ext cx="590" cy="272"/>
            </a:xfrm>
            <a:prstGeom prst="line">
              <a:avLst/>
            </a:prstGeom>
            <a:ln w="38100" cap="flat" cmpd="sng">
              <a:solidFill>
                <a:srgbClr val="000000"/>
              </a:solidFill>
              <a:prstDash val="solid"/>
              <a:headEnd type="none" w="med" len="med"/>
              <a:tailEnd type="arrow" w="med" len="med"/>
            </a:ln>
          </p:spPr>
        </p:sp>
        <p:sp>
          <p:nvSpPr>
            <p:cNvPr id="42007" name="Line 23"/>
            <p:cNvSpPr/>
            <p:nvPr/>
          </p:nvSpPr>
          <p:spPr>
            <a:xfrm flipV="1">
              <a:off x="1746" y="2795"/>
              <a:ext cx="590" cy="0"/>
            </a:xfrm>
            <a:prstGeom prst="line">
              <a:avLst/>
            </a:prstGeom>
            <a:ln w="38100" cap="flat" cmpd="sng">
              <a:solidFill>
                <a:srgbClr val="000000"/>
              </a:solidFill>
              <a:prstDash val="solid"/>
              <a:headEnd type="none" w="med" len="med"/>
              <a:tailEnd type="arrow" w="med" len="med"/>
            </a:ln>
          </p:spPr>
        </p:sp>
        <p:sp>
          <p:nvSpPr>
            <p:cNvPr id="42008" name="Line 24"/>
            <p:cNvSpPr/>
            <p:nvPr/>
          </p:nvSpPr>
          <p:spPr>
            <a:xfrm>
              <a:off x="1746" y="2795"/>
              <a:ext cx="590" cy="726"/>
            </a:xfrm>
            <a:prstGeom prst="line">
              <a:avLst/>
            </a:prstGeom>
            <a:ln w="38100" cap="flat" cmpd="sng">
              <a:solidFill>
                <a:srgbClr val="000000"/>
              </a:solidFill>
              <a:prstDash val="solid"/>
              <a:headEnd type="none" w="med" len="med"/>
              <a:tailEnd type="arrow"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546">
                                            <p:txEl>
                                              <p:charRg st="0" end="6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Rectangle 2"/>
          <p:cNvSpPr>
            <a:spLocks noGrp="1"/>
          </p:cNvSpPr>
          <p:nvPr>
            <p:ph idx="1"/>
          </p:nvPr>
        </p:nvSpPr>
        <p:spPr>
          <a:xfrm>
            <a:off x="107950" y="1035050"/>
            <a:ext cx="8856663" cy="5489575"/>
          </a:xfrm>
        </p:spPr>
        <p:txBody>
          <a:bodyPr vert="horz" wrap="square" lIns="91440" tIns="45720" rIns="91440" bIns="45720" anchor="t" anchorCtr="0"/>
          <a:p>
            <a:pPr marL="449580" indent="-449580" eaLnBrk="1" hangingPunct="1">
              <a:spcBef>
                <a:spcPct val="35000"/>
              </a:spcBef>
            </a:pPr>
            <a:r>
              <a:rPr lang="zh-CN" altLang="en-US" dirty="0">
                <a:solidFill>
                  <a:srgbClr val="0000CC"/>
                </a:solidFill>
                <a:latin typeface="Arial" panose="020B0604020202020204" pitchFamily="34" charset="0"/>
              </a:rPr>
              <a:t>删除</a:t>
            </a:r>
            <a:r>
              <a:rPr lang="zh-CN" altLang="en-US" dirty="0">
                <a:latin typeface="Arial" panose="020B0604020202020204" pitchFamily="34" charset="0"/>
              </a:rPr>
              <a:t>：先用查找方法将记录找到，然后直接从桶内将记录删除即可 </a:t>
            </a:r>
            <a:r>
              <a:rPr lang="en-US" altLang="zh-CN" dirty="0">
                <a:latin typeface="Arial" panose="020B0604020202020204" pitchFamily="34" charset="0"/>
              </a:rPr>
              <a:t>(</a:t>
            </a:r>
            <a:r>
              <a:rPr lang="zh-CN" altLang="en-US" dirty="0">
                <a:latin typeface="Arial" panose="020B0604020202020204" pitchFamily="34" charset="0"/>
              </a:rPr>
              <a:t>删除溢出块</a:t>
            </a:r>
            <a:r>
              <a:rPr lang="en-US" altLang="zh-CN" dirty="0">
                <a:latin typeface="Arial" panose="020B0604020202020204" pitchFamily="34" charset="0"/>
              </a:rPr>
              <a:t>) </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238595" name="Rectangle 3"/>
          <p:cNvSpPr>
            <a:spLocks noGrp="1" noChangeArrowheads="1"/>
          </p:cNvSpPr>
          <p:nvPr>
            <p:ph type="title"/>
          </p:nvPr>
        </p:nvSpPr>
        <p:spPr>
          <a:xfrm>
            <a:off x="179388" y="115888"/>
            <a:ext cx="8659813" cy="69215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静态散列操作</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43012" name="Group 4"/>
          <p:cNvGrpSpPr/>
          <p:nvPr/>
        </p:nvGrpSpPr>
        <p:grpSpPr>
          <a:xfrm>
            <a:off x="69850" y="2565400"/>
            <a:ext cx="8966200" cy="3052763"/>
            <a:chOff x="45" y="1752"/>
            <a:chExt cx="5648" cy="1923"/>
          </a:xfrm>
        </p:grpSpPr>
        <p:sp>
          <p:nvSpPr>
            <p:cNvPr id="43013" name="Rectangle 5"/>
            <p:cNvSpPr/>
            <p:nvPr/>
          </p:nvSpPr>
          <p:spPr>
            <a:xfrm>
              <a:off x="2278" y="1752"/>
              <a:ext cx="953" cy="278"/>
            </a:xfrm>
            <a:prstGeom prst="rect">
              <a:avLst/>
            </a:prstGeom>
            <a:noFill/>
            <a:ln w="28575">
              <a:noFill/>
            </a:ln>
          </p:spPr>
          <p:txBody>
            <a:bodyPr lIns="0" rIns="0"/>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主块</a:t>
              </a:r>
              <a:endParaRPr lang="zh-CN" altLang="en-US" dirty="0">
                <a:solidFill>
                  <a:srgbClr val="FF0000"/>
                </a:solidFill>
                <a:latin typeface="Arial" panose="020B0604020202020204" pitchFamily="34" charset="0"/>
              </a:endParaRPr>
            </a:p>
          </p:txBody>
        </p:sp>
        <p:sp>
          <p:nvSpPr>
            <p:cNvPr id="43014" name="Rectangle 6"/>
            <p:cNvSpPr/>
            <p:nvPr/>
          </p:nvSpPr>
          <p:spPr>
            <a:xfrm>
              <a:off x="2339" y="2096"/>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0</a:t>
              </a:r>
              <a:endParaRPr lang="en-US" altLang="zh-CN" dirty="0">
                <a:latin typeface="Arial" panose="020B0604020202020204" pitchFamily="34" charset="0"/>
              </a:endParaRPr>
            </a:p>
          </p:txBody>
        </p:sp>
        <p:sp>
          <p:nvSpPr>
            <p:cNvPr id="43015" name="Rectangle 7"/>
            <p:cNvSpPr/>
            <p:nvPr/>
          </p:nvSpPr>
          <p:spPr>
            <a:xfrm>
              <a:off x="2339" y="2383"/>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1</a:t>
              </a:r>
              <a:endParaRPr lang="en-US" altLang="zh-CN" dirty="0">
                <a:latin typeface="Arial" panose="020B0604020202020204" pitchFamily="34" charset="0"/>
              </a:endParaRPr>
            </a:p>
          </p:txBody>
        </p:sp>
        <p:sp>
          <p:nvSpPr>
            <p:cNvPr id="43016" name="Rectangle 8"/>
            <p:cNvSpPr/>
            <p:nvPr/>
          </p:nvSpPr>
          <p:spPr>
            <a:xfrm>
              <a:off x="2339"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2</a:t>
              </a:r>
              <a:endParaRPr lang="en-US" altLang="zh-CN" dirty="0">
                <a:latin typeface="Arial" panose="020B0604020202020204" pitchFamily="34" charset="0"/>
              </a:endParaRPr>
            </a:p>
          </p:txBody>
        </p:sp>
        <p:sp>
          <p:nvSpPr>
            <p:cNvPr id="43017" name="Rectangle 9"/>
            <p:cNvSpPr/>
            <p:nvPr/>
          </p:nvSpPr>
          <p:spPr>
            <a:xfrm>
              <a:off x="2339" y="3390"/>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pPr algn="ctr"/>
              <a:r>
                <a:rPr lang="en-US" altLang="zh-CN" dirty="0">
                  <a:latin typeface="Arial" panose="020B0604020202020204" pitchFamily="34" charset="0"/>
                </a:rPr>
                <a:t>N-1</a:t>
              </a:r>
              <a:endParaRPr lang="en-US" altLang="zh-CN" dirty="0">
                <a:latin typeface="Arial" panose="020B0604020202020204" pitchFamily="34" charset="0"/>
              </a:endParaRPr>
            </a:p>
          </p:txBody>
        </p:sp>
        <p:sp>
          <p:nvSpPr>
            <p:cNvPr id="43018" name="Rectangle 10"/>
            <p:cNvSpPr/>
            <p:nvPr/>
          </p:nvSpPr>
          <p:spPr>
            <a:xfrm>
              <a:off x="3598"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3019" name="Line 11"/>
            <p:cNvSpPr/>
            <p:nvPr/>
          </p:nvSpPr>
          <p:spPr>
            <a:xfrm>
              <a:off x="3073" y="2821"/>
              <a:ext cx="525" cy="0"/>
            </a:xfrm>
            <a:prstGeom prst="line">
              <a:avLst/>
            </a:prstGeom>
            <a:ln w="28575" cap="flat" cmpd="sng">
              <a:solidFill>
                <a:srgbClr val="0000CC"/>
              </a:solidFill>
              <a:prstDash val="solid"/>
              <a:headEnd type="none" w="med" len="med"/>
              <a:tailEnd type="arrow" w="med" len="med"/>
            </a:ln>
          </p:spPr>
        </p:sp>
        <p:sp>
          <p:nvSpPr>
            <p:cNvPr id="43020" name="Rectangle 12"/>
            <p:cNvSpPr/>
            <p:nvPr/>
          </p:nvSpPr>
          <p:spPr>
            <a:xfrm>
              <a:off x="4082" y="1752"/>
              <a:ext cx="953" cy="278"/>
            </a:xfrm>
            <a:prstGeom prst="rect">
              <a:avLst/>
            </a:prstGeom>
            <a:noFill/>
            <a:ln w="28575">
              <a:noFill/>
            </a:ln>
          </p:spPr>
          <p:txBody>
            <a:bodyPr/>
            <a:p>
              <a:pPr algn="ctr">
                <a:lnSpc>
                  <a:spcPct val="80000"/>
                </a:lnSpc>
                <a:spcBef>
                  <a:spcPct val="0"/>
                </a:spcBef>
                <a:buClr>
                  <a:srgbClr val="FF0000"/>
                </a:buClr>
                <a:buSzPct val="65000"/>
                <a:buFont typeface="Wingdings" panose="05000000000000000000" pitchFamily="2" charset="2"/>
              </a:pPr>
              <a:r>
                <a:rPr lang="zh-CN" altLang="en-US" dirty="0">
                  <a:solidFill>
                    <a:srgbClr val="FF0000"/>
                  </a:solidFill>
                  <a:latin typeface="Arial" panose="020B0604020202020204" pitchFamily="34" charset="0"/>
                </a:rPr>
                <a:t>溢出块   </a:t>
              </a:r>
              <a:endParaRPr lang="zh-CN" altLang="en-US" dirty="0">
                <a:solidFill>
                  <a:srgbClr val="FF0000"/>
                </a:solidFill>
                <a:latin typeface="Arial" panose="020B0604020202020204" pitchFamily="34" charset="0"/>
              </a:endParaRPr>
            </a:p>
          </p:txBody>
        </p:sp>
        <p:sp>
          <p:nvSpPr>
            <p:cNvPr id="43021" name="Rectangle 13"/>
            <p:cNvSpPr/>
            <p:nvPr/>
          </p:nvSpPr>
          <p:spPr>
            <a:xfrm>
              <a:off x="4853" y="2672"/>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3022" name="Line 14"/>
            <p:cNvSpPr/>
            <p:nvPr/>
          </p:nvSpPr>
          <p:spPr>
            <a:xfrm>
              <a:off x="4328" y="2821"/>
              <a:ext cx="525" cy="0"/>
            </a:xfrm>
            <a:prstGeom prst="line">
              <a:avLst/>
            </a:prstGeom>
            <a:ln w="28575" cap="flat" cmpd="sng">
              <a:solidFill>
                <a:srgbClr val="0000CC"/>
              </a:solidFill>
              <a:prstDash val="solid"/>
              <a:headEnd type="none" w="med" len="med"/>
              <a:tailEnd type="arrow" w="med" len="med"/>
            </a:ln>
          </p:spPr>
        </p:sp>
        <p:sp>
          <p:nvSpPr>
            <p:cNvPr id="43023" name="Rectangle 15"/>
            <p:cNvSpPr/>
            <p:nvPr/>
          </p:nvSpPr>
          <p:spPr>
            <a:xfrm>
              <a:off x="2339" y="3022"/>
              <a:ext cx="840" cy="285"/>
            </a:xfrm>
            <a:prstGeom prst="rect">
              <a:avLst/>
            </a:prstGeom>
            <a:noFill/>
            <a:ln w="28575">
              <a:noFill/>
            </a:ln>
          </p:spPr>
          <p:txBody>
            <a:bodyPr wrap="none" anchor="ctr" anchorCtr="0"/>
            <a:p>
              <a:pPr algn="ctr"/>
              <a:r>
                <a:rPr lang="en-US" altLang="zh-CN" dirty="0">
                  <a:latin typeface="Arial" panose="020B0604020202020204" pitchFamily="34" charset="0"/>
                </a:rPr>
                <a:t>……</a:t>
              </a:r>
              <a:endParaRPr lang="en-US" altLang="zh-CN" dirty="0">
                <a:latin typeface="Arial" panose="020B0604020202020204" pitchFamily="34" charset="0"/>
              </a:endParaRPr>
            </a:p>
          </p:txBody>
        </p:sp>
        <p:sp>
          <p:nvSpPr>
            <p:cNvPr id="43024" name="Rectangle 16"/>
            <p:cNvSpPr/>
            <p:nvPr/>
          </p:nvSpPr>
          <p:spPr>
            <a:xfrm>
              <a:off x="3598" y="2097"/>
              <a:ext cx="840" cy="285"/>
            </a:xfrm>
            <a:prstGeom prst="rect">
              <a:avLst/>
            </a:prstGeom>
            <a:noFill/>
            <a:ln w="28575" cap="flat" cmpd="sng">
              <a:solidFill>
                <a:srgbClr val="0000CC"/>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3025" name="Line 17"/>
            <p:cNvSpPr/>
            <p:nvPr/>
          </p:nvSpPr>
          <p:spPr>
            <a:xfrm>
              <a:off x="3073" y="2246"/>
              <a:ext cx="525" cy="0"/>
            </a:xfrm>
            <a:prstGeom prst="line">
              <a:avLst/>
            </a:prstGeom>
            <a:ln w="28575" cap="flat" cmpd="sng">
              <a:solidFill>
                <a:srgbClr val="0000CC"/>
              </a:solidFill>
              <a:prstDash val="solid"/>
              <a:headEnd type="none" w="med" len="med"/>
              <a:tailEnd type="arrow" w="med" len="med"/>
            </a:ln>
          </p:spPr>
        </p:sp>
        <p:sp>
          <p:nvSpPr>
            <p:cNvPr id="43026" name="AutoShape 18"/>
            <p:cNvSpPr/>
            <p:nvPr/>
          </p:nvSpPr>
          <p:spPr>
            <a:xfrm>
              <a:off x="566" y="2523"/>
              <a:ext cx="1180" cy="562"/>
            </a:xfrm>
            <a:prstGeom prst="diamond">
              <a:avLst/>
            </a:prstGeom>
            <a:noFill/>
            <a:ln w="38100" cap="flat" cmpd="sng">
              <a:solidFill>
                <a:srgbClr val="000000"/>
              </a:solidFill>
              <a:prstDash val="solid"/>
              <a:miter/>
              <a:headEnd type="none" w="med" len="med"/>
              <a:tailEnd type="none" w="med" len="med"/>
            </a:ln>
          </p:spPr>
          <p:txBody>
            <a:bodyPr lIns="0" tIns="0" rIns="0" bIns="0" anchor="ctr" anchorCtr="0">
              <a:spAutoFit/>
            </a:bodyPr>
            <a:p>
              <a:pPr algn="ctr"/>
              <a:r>
                <a:rPr lang="en-US" altLang="zh-CN" dirty="0">
                  <a:latin typeface="Arial" panose="020B0604020202020204" pitchFamily="34" charset="0"/>
                </a:rPr>
                <a:t>Hash</a:t>
              </a:r>
              <a:endParaRPr lang="en-US" altLang="zh-CN" dirty="0">
                <a:latin typeface="Arial" panose="020B0604020202020204" pitchFamily="34" charset="0"/>
              </a:endParaRPr>
            </a:p>
          </p:txBody>
        </p:sp>
        <p:sp>
          <p:nvSpPr>
            <p:cNvPr id="43027" name="Line 19"/>
            <p:cNvSpPr/>
            <p:nvPr/>
          </p:nvSpPr>
          <p:spPr>
            <a:xfrm>
              <a:off x="45" y="2795"/>
              <a:ext cx="521" cy="0"/>
            </a:xfrm>
            <a:prstGeom prst="line">
              <a:avLst/>
            </a:prstGeom>
            <a:ln w="38100" cap="flat" cmpd="sng">
              <a:solidFill>
                <a:srgbClr val="000000"/>
              </a:solidFill>
              <a:prstDash val="solid"/>
              <a:headEnd type="none" w="med" len="med"/>
              <a:tailEnd type="arrow" w="med" len="med"/>
            </a:ln>
          </p:spPr>
        </p:sp>
        <p:sp>
          <p:nvSpPr>
            <p:cNvPr id="43028" name="Rectangle 20"/>
            <p:cNvSpPr/>
            <p:nvPr/>
          </p:nvSpPr>
          <p:spPr>
            <a:xfrm>
              <a:off x="158" y="2510"/>
              <a:ext cx="272" cy="285"/>
            </a:xfrm>
            <a:prstGeom prst="rect">
              <a:avLst/>
            </a:prstGeom>
            <a:noFill/>
            <a:ln w="28575">
              <a:noFill/>
            </a:ln>
          </p:spPr>
          <p:txBody>
            <a:bodyPr wrap="none" anchor="ctr" anchorCtr="0"/>
            <a:p>
              <a:pPr algn="ctr"/>
              <a:r>
                <a:rPr lang="en-US" altLang="zh-CN" dirty="0">
                  <a:latin typeface="Arial" panose="020B0604020202020204" pitchFamily="34" charset="0"/>
                </a:rPr>
                <a:t>k</a:t>
              </a:r>
              <a:endParaRPr lang="en-US" altLang="zh-CN" dirty="0">
                <a:latin typeface="Arial" panose="020B0604020202020204" pitchFamily="34" charset="0"/>
              </a:endParaRPr>
            </a:p>
          </p:txBody>
        </p:sp>
        <p:sp>
          <p:nvSpPr>
            <p:cNvPr id="43029" name="Line 21"/>
            <p:cNvSpPr/>
            <p:nvPr/>
          </p:nvSpPr>
          <p:spPr>
            <a:xfrm flipV="1">
              <a:off x="1746" y="2251"/>
              <a:ext cx="590" cy="544"/>
            </a:xfrm>
            <a:prstGeom prst="line">
              <a:avLst/>
            </a:prstGeom>
            <a:ln w="38100" cap="flat" cmpd="sng">
              <a:solidFill>
                <a:srgbClr val="000000"/>
              </a:solidFill>
              <a:prstDash val="solid"/>
              <a:headEnd type="none" w="med" len="med"/>
              <a:tailEnd type="arrow" w="med" len="med"/>
            </a:ln>
          </p:spPr>
        </p:sp>
        <p:sp>
          <p:nvSpPr>
            <p:cNvPr id="43030" name="Line 22"/>
            <p:cNvSpPr/>
            <p:nvPr/>
          </p:nvSpPr>
          <p:spPr>
            <a:xfrm flipV="1">
              <a:off x="1746" y="2523"/>
              <a:ext cx="590" cy="272"/>
            </a:xfrm>
            <a:prstGeom prst="line">
              <a:avLst/>
            </a:prstGeom>
            <a:ln w="38100" cap="flat" cmpd="sng">
              <a:solidFill>
                <a:srgbClr val="000000"/>
              </a:solidFill>
              <a:prstDash val="solid"/>
              <a:headEnd type="none" w="med" len="med"/>
              <a:tailEnd type="arrow" w="med" len="med"/>
            </a:ln>
          </p:spPr>
        </p:sp>
        <p:sp>
          <p:nvSpPr>
            <p:cNvPr id="43031" name="Line 23"/>
            <p:cNvSpPr/>
            <p:nvPr/>
          </p:nvSpPr>
          <p:spPr>
            <a:xfrm flipV="1">
              <a:off x="1746" y="2795"/>
              <a:ext cx="590" cy="0"/>
            </a:xfrm>
            <a:prstGeom prst="line">
              <a:avLst/>
            </a:prstGeom>
            <a:ln w="38100" cap="flat" cmpd="sng">
              <a:solidFill>
                <a:srgbClr val="000000"/>
              </a:solidFill>
              <a:prstDash val="solid"/>
              <a:headEnd type="none" w="med" len="med"/>
              <a:tailEnd type="arrow" w="med" len="med"/>
            </a:ln>
          </p:spPr>
        </p:sp>
        <p:sp>
          <p:nvSpPr>
            <p:cNvPr id="43032" name="Line 24"/>
            <p:cNvSpPr/>
            <p:nvPr/>
          </p:nvSpPr>
          <p:spPr>
            <a:xfrm>
              <a:off x="1746" y="2795"/>
              <a:ext cx="590" cy="726"/>
            </a:xfrm>
            <a:prstGeom prst="line">
              <a:avLst/>
            </a:prstGeom>
            <a:ln w="38100" cap="flat" cmpd="sng">
              <a:solidFill>
                <a:srgbClr val="000000"/>
              </a:solidFill>
              <a:prstDash val="solid"/>
              <a:headEnd type="none" w="med" len="med"/>
              <a:tailEnd type="arrow" w="med" len="med"/>
            </a:ln>
          </p:spPr>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8594">
                                            <p:txEl>
                                              <p:charRg st="0" end="4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idx="1"/>
          </p:nvPr>
        </p:nvSpPr>
        <p:spPr>
          <a:xfrm>
            <a:off x="152400" y="1052513"/>
            <a:ext cx="8812213" cy="5472112"/>
          </a:xfrm>
        </p:spPr>
        <p:txBody>
          <a:bodyPr vert="horz" wrap="square" lIns="91440" tIns="45720" rIns="91440" bIns="45720" anchor="t" anchorCtr="0"/>
          <a:p>
            <a:pPr marL="268605" indent="-268605" eaLnBrk="1" hangingPunct="1">
              <a:spcBef>
                <a:spcPct val="40000"/>
              </a:spcBef>
            </a:pPr>
            <a:r>
              <a:rPr lang="zh-CN" altLang="en-US" dirty="0">
                <a:latin typeface="Arial" panose="020B0604020202020204" pitchFamily="34" charset="0"/>
              </a:rPr>
              <a:t>桶的个数不固定，可根据需要增加和减少</a:t>
            </a:r>
            <a:endParaRPr lang="zh-CN" altLang="en-US" dirty="0">
              <a:latin typeface="Arial" panose="020B0604020202020204" pitchFamily="34" charset="0"/>
            </a:endParaRPr>
          </a:p>
          <a:p>
            <a:pPr marL="268605" indent="-268605" eaLnBrk="1" hangingPunct="1"/>
            <a:r>
              <a:rPr lang="zh-CN" altLang="en-US" dirty="0">
                <a:latin typeface="Arial" panose="020B0604020202020204" pitchFamily="34" charset="0"/>
              </a:rPr>
              <a:t>开始时所有记录放在一个桶中</a:t>
            </a:r>
            <a:endParaRPr lang="zh-CN" altLang="en-US" dirty="0">
              <a:latin typeface="Arial" panose="020B0604020202020204" pitchFamily="34" charset="0"/>
            </a:endParaRPr>
          </a:p>
          <a:p>
            <a:pPr marL="630555" lvl="1" indent="-182880" eaLnBrk="1" hangingPunct="1">
              <a:spcBef>
                <a:spcPct val="0"/>
              </a:spcBef>
            </a:pPr>
            <a:r>
              <a:rPr lang="zh-CN" altLang="en-US" dirty="0">
                <a:latin typeface="Arial" panose="020B0604020202020204" pitchFamily="34" charset="0"/>
              </a:rPr>
              <a:t>当一个桶溢出时分裂为两个桶：散列值最高位为 </a:t>
            </a:r>
            <a:r>
              <a:rPr lang="en-US" altLang="zh-CN" dirty="0">
                <a:latin typeface="Arial" panose="020B0604020202020204" pitchFamily="34" charset="0"/>
              </a:rPr>
              <a:t>0 </a:t>
            </a:r>
            <a:r>
              <a:rPr lang="zh-CN" altLang="en-US" dirty="0">
                <a:latin typeface="Arial" panose="020B0604020202020204" pitchFamily="34" charset="0"/>
              </a:rPr>
              <a:t>的放在一个桶中，最高位为 </a:t>
            </a:r>
            <a:r>
              <a:rPr lang="en-US" altLang="zh-CN" dirty="0">
                <a:latin typeface="Arial" panose="020B0604020202020204" pitchFamily="34" charset="0"/>
              </a:rPr>
              <a:t>1 </a:t>
            </a:r>
            <a:r>
              <a:rPr lang="zh-CN" altLang="en-US" dirty="0">
                <a:latin typeface="Arial" panose="020B0604020202020204" pitchFamily="34" charset="0"/>
              </a:rPr>
              <a:t>的放在另一个桶中。</a:t>
            </a:r>
            <a:endParaRPr lang="zh-CN" altLang="en-US" dirty="0">
              <a:latin typeface="Arial" panose="020B0604020202020204" pitchFamily="34" charset="0"/>
            </a:endParaRPr>
          </a:p>
          <a:p>
            <a:pPr marL="1071880" lvl="2" indent="-262255" eaLnBrk="1" hangingPunct="1">
              <a:spcBef>
                <a:spcPct val="0"/>
              </a:spcBef>
            </a:pPr>
            <a:r>
              <a:rPr lang="zh-CN" altLang="en-US" sz="3200" dirty="0">
                <a:latin typeface="Arial" panose="020B0604020202020204" pitchFamily="34" charset="0"/>
              </a:rPr>
              <a:t>当这些桶中又有某个溢出时，该桶又分裂为两个桶按第二高位为 </a:t>
            </a:r>
            <a:r>
              <a:rPr lang="en-US" altLang="zh-CN" sz="3200" dirty="0">
                <a:latin typeface="Arial" panose="020B0604020202020204" pitchFamily="34" charset="0"/>
              </a:rPr>
              <a:t>0 </a:t>
            </a:r>
            <a:r>
              <a:rPr lang="zh-CN" altLang="en-US" sz="3200" dirty="0">
                <a:latin typeface="Arial" panose="020B0604020202020204" pitchFamily="34" charset="0"/>
              </a:rPr>
              <a:t>的放在一个桶中，第二高位为</a:t>
            </a:r>
            <a:r>
              <a:rPr lang="en-US" altLang="zh-CN" sz="3200" dirty="0">
                <a:latin typeface="Arial" panose="020B0604020202020204" pitchFamily="34" charset="0"/>
              </a:rPr>
              <a:t>1 </a:t>
            </a:r>
            <a:r>
              <a:rPr lang="zh-CN" altLang="en-US" sz="3200" dirty="0">
                <a:latin typeface="Arial" panose="020B0604020202020204" pitchFamily="34" charset="0"/>
              </a:rPr>
              <a:t>的放在另一个桶中。</a:t>
            </a:r>
            <a:endParaRPr lang="zh-CN" altLang="en-US" sz="3200" dirty="0">
              <a:latin typeface="Arial" panose="020B0604020202020204" pitchFamily="34" charset="0"/>
            </a:endParaRPr>
          </a:p>
          <a:p>
            <a:pPr marL="268605" indent="-268605" eaLnBrk="1" hangingPunct="1">
              <a:spcBef>
                <a:spcPct val="25000"/>
              </a:spcBef>
            </a:pPr>
            <a:r>
              <a:rPr lang="zh-CN" altLang="en-US" dirty="0">
                <a:latin typeface="Arial" panose="020B0604020202020204" pitchFamily="34" charset="0"/>
              </a:rPr>
              <a:t>基于这个思想，可以构造一个</a:t>
            </a:r>
            <a:r>
              <a:rPr lang="zh-CN" altLang="en-US" dirty="0">
                <a:solidFill>
                  <a:srgbClr val="FF0000"/>
                </a:solidFill>
                <a:latin typeface="Arial" panose="020B0604020202020204" pitchFamily="34" charset="0"/>
              </a:rPr>
              <a:t>二叉树</a:t>
            </a:r>
            <a:r>
              <a:rPr lang="en-US" altLang="zh-CN" dirty="0">
                <a:latin typeface="Arial" panose="020B0604020202020204" pitchFamily="34" charset="0"/>
              </a:rPr>
              <a:t>(</a:t>
            </a:r>
            <a:r>
              <a:rPr lang="zh-CN" altLang="en-US" dirty="0">
                <a:latin typeface="Arial" panose="020B0604020202020204" pitchFamily="34" charset="0"/>
              </a:rPr>
              <a:t>称为索引或目录</a:t>
            </a:r>
            <a:r>
              <a:rPr lang="en-US" altLang="zh-CN" dirty="0">
                <a:latin typeface="Arial" panose="020B0604020202020204" pitchFamily="34" charset="0"/>
              </a:rPr>
              <a:t>)</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7782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、动态散列</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9"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2</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、动态散列</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45059" name="Group 148"/>
          <p:cNvGrpSpPr/>
          <p:nvPr/>
        </p:nvGrpSpPr>
        <p:grpSpPr>
          <a:xfrm>
            <a:off x="468313" y="836613"/>
            <a:ext cx="8034337" cy="5918200"/>
            <a:chOff x="295" y="527"/>
            <a:chExt cx="5061" cy="3728"/>
          </a:xfrm>
        </p:grpSpPr>
        <p:sp>
          <p:nvSpPr>
            <p:cNvPr id="45060" name="Rectangle 8"/>
            <p:cNvSpPr/>
            <p:nvPr/>
          </p:nvSpPr>
          <p:spPr>
            <a:xfrm>
              <a:off x="2178" y="1154"/>
              <a:ext cx="1382" cy="254"/>
            </a:xfrm>
            <a:prstGeom prst="rect">
              <a:avLst/>
            </a:prstGeom>
            <a:noFill/>
            <a:ln w="28575" cap="flat" cmpd="sng">
              <a:solidFill>
                <a:srgbClr val="000000"/>
              </a:solidFill>
              <a:prstDash val="solid"/>
              <a:miter/>
              <a:headEnd type="none" w="med" len="med"/>
              <a:tailEnd type="none" w="med" len="med"/>
            </a:ln>
          </p:spPr>
          <p:txBody>
            <a:bodyPr/>
            <a:p>
              <a:pPr>
                <a:lnSpc>
                  <a:spcPct val="80000"/>
                </a:lnSpc>
                <a:spcBef>
                  <a:spcPct val="0"/>
                </a:spcBef>
                <a:buClr>
                  <a:srgbClr val="FF0000"/>
                </a:buClr>
                <a:buSzPct val="65000"/>
                <a:buFont typeface="Wingdings" panose="05000000000000000000" pitchFamily="2" charset="2"/>
              </a:pPr>
              <a:r>
                <a:rPr lang="en-US" altLang="zh-CN" dirty="0">
                  <a:latin typeface="Arial" panose="020B0604020202020204" pitchFamily="34" charset="0"/>
                </a:rPr>
                <a:t>0 0 0 …</a:t>
              </a:r>
              <a:endParaRPr lang="en-US" altLang="zh-CN" dirty="0">
                <a:latin typeface="Arial" panose="020B0604020202020204" pitchFamily="34" charset="0"/>
              </a:endParaRPr>
            </a:p>
          </p:txBody>
        </p:sp>
        <p:sp>
          <p:nvSpPr>
            <p:cNvPr id="45061" name="Line 12"/>
            <p:cNvSpPr/>
            <p:nvPr/>
          </p:nvSpPr>
          <p:spPr>
            <a:xfrm>
              <a:off x="3243" y="1162"/>
              <a:ext cx="0" cy="254"/>
            </a:xfrm>
            <a:prstGeom prst="line">
              <a:avLst/>
            </a:prstGeom>
            <a:ln w="12700" cap="flat" cmpd="sng">
              <a:solidFill>
                <a:srgbClr val="000000"/>
              </a:solidFill>
              <a:prstDash val="solid"/>
              <a:headEnd type="none" w="med" len="med"/>
              <a:tailEnd type="none" w="med" len="med"/>
            </a:ln>
          </p:spPr>
        </p:sp>
        <p:sp>
          <p:nvSpPr>
            <p:cNvPr id="45062" name="Rectangle 15"/>
            <p:cNvSpPr/>
            <p:nvPr/>
          </p:nvSpPr>
          <p:spPr>
            <a:xfrm>
              <a:off x="2178" y="1692"/>
              <a:ext cx="1382" cy="254"/>
            </a:xfrm>
            <a:prstGeom prst="rect">
              <a:avLst/>
            </a:prstGeom>
            <a:noFill/>
            <a:ln w="28575" cap="flat" cmpd="sng">
              <a:solidFill>
                <a:srgbClr val="000000"/>
              </a:solidFill>
              <a:prstDash val="solid"/>
              <a:miter/>
              <a:headEnd type="none" w="med" len="med"/>
              <a:tailEnd type="none" w="med" len="med"/>
            </a:ln>
          </p:spPr>
          <p:txBody>
            <a:bodyPr/>
            <a:p>
              <a:pPr>
                <a:lnSpc>
                  <a:spcPct val="80000"/>
                </a:lnSpc>
                <a:spcBef>
                  <a:spcPct val="0"/>
                </a:spcBef>
                <a:buClr>
                  <a:srgbClr val="FF0000"/>
                </a:buClr>
                <a:buSzPct val="65000"/>
                <a:buFont typeface="Wingdings" panose="05000000000000000000" pitchFamily="2" charset="2"/>
              </a:pPr>
              <a:r>
                <a:rPr lang="en-US" altLang="zh-CN" dirty="0">
                  <a:latin typeface="Arial" panose="020B0604020202020204" pitchFamily="34" charset="0"/>
                </a:rPr>
                <a:t>0 0 1 …</a:t>
              </a:r>
              <a:endParaRPr lang="en-US" altLang="zh-CN" dirty="0">
                <a:latin typeface="Arial" panose="020B0604020202020204" pitchFamily="34" charset="0"/>
              </a:endParaRPr>
            </a:p>
          </p:txBody>
        </p:sp>
        <p:sp>
          <p:nvSpPr>
            <p:cNvPr id="45063" name="Line 19"/>
            <p:cNvSpPr/>
            <p:nvPr/>
          </p:nvSpPr>
          <p:spPr>
            <a:xfrm>
              <a:off x="3251" y="1692"/>
              <a:ext cx="0" cy="254"/>
            </a:xfrm>
            <a:prstGeom prst="line">
              <a:avLst/>
            </a:prstGeom>
            <a:ln w="12700" cap="flat" cmpd="sng">
              <a:solidFill>
                <a:srgbClr val="000000"/>
              </a:solidFill>
              <a:prstDash val="solid"/>
              <a:headEnd type="none" w="med" len="med"/>
              <a:tailEnd type="none" w="med" len="med"/>
            </a:ln>
          </p:spPr>
        </p:sp>
        <p:sp>
          <p:nvSpPr>
            <p:cNvPr id="45064" name="Rectangle 22"/>
            <p:cNvSpPr/>
            <p:nvPr/>
          </p:nvSpPr>
          <p:spPr>
            <a:xfrm>
              <a:off x="2178" y="2218"/>
              <a:ext cx="1382" cy="254"/>
            </a:xfrm>
            <a:prstGeom prst="rect">
              <a:avLst/>
            </a:prstGeom>
            <a:noFill/>
            <a:ln w="28575" cap="flat" cmpd="sng">
              <a:solidFill>
                <a:srgbClr val="000000"/>
              </a:solidFill>
              <a:prstDash val="solid"/>
              <a:miter/>
              <a:headEnd type="none" w="med" len="med"/>
              <a:tailEnd type="none" w="med" len="med"/>
            </a:ln>
          </p:spPr>
          <p:txBody>
            <a:bodyPr/>
            <a:p>
              <a:pPr>
                <a:lnSpc>
                  <a:spcPct val="80000"/>
                </a:lnSpc>
                <a:spcBef>
                  <a:spcPct val="0"/>
                </a:spcBef>
                <a:buClr>
                  <a:srgbClr val="FF0000"/>
                </a:buClr>
                <a:buSzPct val="65000"/>
                <a:buFont typeface="Wingdings" panose="05000000000000000000" pitchFamily="2" charset="2"/>
              </a:pPr>
              <a:r>
                <a:rPr lang="en-US" altLang="zh-CN" dirty="0">
                  <a:latin typeface="Arial" panose="020B0604020202020204" pitchFamily="34" charset="0"/>
                </a:rPr>
                <a:t>0 1    …</a:t>
              </a:r>
              <a:endParaRPr lang="en-US" altLang="zh-CN" dirty="0">
                <a:latin typeface="Arial" panose="020B0604020202020204" pitchFamily="34" charset="0"/>
              </a:endParaRPr>
            </a:p>
          </p:txBody>
        </p:sp>
        <p:sp>
          <p:nvSpPr>
            <p:cNvPr id="45065" name="Line 26"/>
            <p:cNvSpPr/>
            <p:nvPr/>
          </p:nvSpPr>
          <p:spPr>
            <a:xfrm>
              <a:off x="3251" y="2218"/>
              <a:ext cx="0" cy="254"/>
            </a:xfrm>
            <a:prstGeom prst="line">
              <a:avLst/>
            </a:prstGeom>
            <a:ln w="12700" cap="flat" cmpd="sng">
              <a:solidFill>
                <a:srgbClr val="000000"/>
              </a:solidFill>
              <a:prstDash val="solid"/>
              <a:headEnd type="none" w="med" len="med"/>
              <a:tailEnd type="none" w="med" len="med"/>
            </a:ln>
          </p:spPr>
        </p:sp>
        <p:sp>
          <p:nvSpPr>
            <p:cNvPr id="45066" name="Rectangle 29"/>
            <p:cNvSpPr/>
            <p:nvPr/>
          </p:nvSpPr>
          <p:spPr>
            <a:xfrm>
              <a:off x="2178" y="2756"/>
              <a:ext cx="1382" cy="254"/>
            </a:xfrm>
            <a:prstGeom prst="rect">
              <a:avLst/>
            </a:prstGeom>
            <a:noFill/>
            <a:ln w="28575" cap="flat" cmpd="sng">
              <a:solidFill>
                <a:srgbClr val="000000"/>
              </a:solidFill>
              <a:prstDash val="solid"/>
              <a:miter/>
              <a:headEnd type="none" w="med" len="med"/>
              <a:tailEnd type="none" w="med" len="med"/>
            </a:ln>
          </p:spPr>
          <p:txBody>
            <a:bodyPr/>
            <a:p>
              <a:pPr>
                <a:lnSpc>
                  <a:spcPct val="80000"/>
                </a:lnSpc>
                <a:spcBef>
                  <a:spcPct val="0"/>
                </a:spcBef>
                <a:buClr>
                  <a:srgbClr val="FF0000"/>
                </a:buClr>
                <a:buSzPct val="65000"/>
                <a:buFont typeface="Wingdings" panose="05000000000000000000" pitchFamily="2" charset="2"/>
              </a:pPr>
              <a:r>
                <a:rPr lang="en-US" altLang="zh-CN" dirty="0">
                  <a:latin typeface="Arial" panose="020B0604020202020204" pitchFamily="34" charset="0"/>
                </a:rPr>
                <a:t>1 0 0 …</a:t>
              </a:r>
              <a:endParaRPr lang="en-US" altLang="zh-CN" dirty="0">
                <a:latin typeface="Arial" panose="020B0604020202020204" pitchFamily="34" charset="0"/>
              </a:endParaRPr>
            </a:p>
          </p:txBody>
        </p:sp>
        <p:sp>
          <p:nvSpPr>
            <p:cNvPr id="45067" name="Line 33"/>
            <p:cNvSpPr/>
            <p:nvPr/>
          </p:nvSpPr>
          <p:spPr>
            <a:xfrm>
              <a:off x="3251" y="2756"/>
              <a:ext cx="0" cy="254"/>
            </a:xfrm>
            <a:prstGeom prst="line">
              <a:avLst/>
            </a:prstGeom>
            <a:ln w="12700" cap="flat" cmpd="sng">
              <a:solidFill>
                <a:srgbClr val="000000"/>
              </a:solidFill>
              <a:prstDash val="solid"/>
              <a:headEnd type="none" w="med" len="med"/>
              <a:tailEnd type="none" w="med" len="med"/>
            </a:ln>
          </p:spPr>
        </p:sp>
        <p:sp>
          <p:nvSpPr>
            <p:cNvPr id="45068" name="Rectangle 36"/>
            <p:cNvSpPr/>
            <p:nvPr/>
          </p:nvSpPr>
          <p:spPr>
            <a:xfrm>
              <a:off x="2178" y="3282"/>
              <a:ext cx="1382" cy="255"/>
            </a:xfrm>
            <a:prstGeom prst="rect">
              <a:avLst/>
            </a:prstGeom>
            <a:noFill/>
            <a:ln w="28575" cap="flat" cmpd="sng">
              <a:solidFill>
                <a:srgbClr val="000000"/>
              </a:solidFill>
              <a:prstDash val="solid"/>
              <a:miter/>
              <a:headEnd type="none" w="med" len="med"/>
              <a:tailEnd type="none" w="med" len="med"/>
            </a:ln>
          </p:spPr>
          <p:txBody>
            <a:bodyPr/>
            <a:p>
              <a:pPr>
                <a:lnSpc>
                  <a:spcPct val="80000"/>
                </a:lnSpc>
                <a:spcBef>
                  <a:spcPct val="0"/>
                </a:spcBef>
                <a:buClr>
                  <a:srgbClr val="FF0000"/>
                </a:buClr>
                <a:buSzPct val="65000"/>
                <a:buFont typeface="Wingdings" panose="05000000000000000000" pitchFamily="2" charset="2"/>
              </a:pPr>
              <a:r>
                <a:rPr lang="en-US" altLang="zh-CN" dirty="0">
                  <a:latin typeface="Arial" panose="020B0604020202020204" pitchFamily="34" charset="0"/>
                </a:rPr>
                <a:t>1 0 1 …</a:t>
              </a:r>
              <a:endParaRPr lang="en-US" altLang="zh-CN" dirty="0">
                <a:latin typeface="Arial" panose="020B0604020202020204" pitchFamily="34" charset="0"/>
              </a:endParaRPr>
            </a:p>
          </p:txBody>
        </p:sp>
        <p:sp>
          <p:nvSpPr>
            <p:cNvPr id="45069" name="Line 40"/>
            <p:cNvSpPr/>
            <p:nvPr/>
          </p:nvSpPr>
          <p:spPr>
            <a:xfrm>
              <a:off x="3251" y="3282"/>
              <a:ext cx="0" cy="255"/>
            </a:xfrm>
            <a:prstGeom prst="line">
              <a:avLst/>
            </a:prstGeom>
            <a:ln w="12700" cap="flat" cmpd="sng">
              <a:solidFill>
                <a:srgbClr val="000000"/>
              </a:solidFill>
              <a:prstDash val="solid"/>
              <a:headEnd type="none" w="med" len="med"/>
              <a:tailEnd type="none" w="med" len="med"/>
            </a:ln>
          </p:spPr>
        </p:sp>
        <p:sp>
          <p:nvSpPr>
            <p:cNvPr id="45070" name="Rectangle 43"/>
            <p:cNvSpPr/>
            <p:nvPr/>
          </p:nvSpPr>
          <p:spPr>
            <a:xfrm>
              <a:off x="2178" y="3850"/>
              <a:ext cx="1382" cy="254"/>
            </a:xfrm>
            <a:prstGeom prst="rect">
              <a:avLst/>
            </a:prstGeom>
            <a:solidFill>
              <a:srgbClr val="FFFFFF"/>
            </a:solidFill>
            <a:ln w="28575" cap="flat" cmpd="sng">
              <a:solidFill>
                <a:srgbClr val="000000"/>
              </a:solidFill>
              <a:prstDash val="solid"/>
              <a:miter/>
              <a:headEnd type="none" w="med" len="med"/>
              <a:tailEnd type="none" w="med" len="med"/>
            </a:ln>
          </p:spPr>
          <p:txBody>
            <a:bodyPr/>
            <a:p>
              <a:pPr>
                <a:lnSpc>
                  <a:spcPct val="80000"/>
                </a:lnSpc>
                <a:spcBef>
                  <a:spcPct val="0"/>
                </a:spcBef>
                <a:buClr>
                  <a:srgbClr val="FF0000"/>
                </a:buClr>
                <a:buSzPct val="65000"/>
                <a:buFont typeface="Wingdings" panose="05000000000000000000" pitchFamily="2" charset="2"/>
              </a:pPr>
              <a:r>
                <a:rPr lang="en-US" altLang="zh-CN" dirty="0">
                  <a:latin typeface="Arial" panose="020B0604020202020204" pitchFamily="34" charset="0"/>
                </a:rPr>
                <a:t>1 1    …</a:t>
              </a:r>
              <a:endParaRPr lang="en-US" altLang="zh-CN" dirty="0">
                <a:latin typeface="Arial" panose="020B0604020202020204" pitchFamily="34" charset="0"/>
              </a:endParaRPr>
            </a:p>
          </p:txBody>
        </p:sp>
        <p:sp>
          <p:nvSpPr>
            <p:cNvPr id="45071" name="Line 47"/>
            <p:cNvSpPr/>
            <p:nvPr/>
          </p:nvSpPr>
          <p:spPr>
            <a:xfrm>
              <a:off x="3251" y="3850"/>
              <a:ext cx="0" cy="254"/>
            </a:xfrm>
            <a:prstGeom prst="line">
              <a:avLst/>
            </a:prstGeom>
            <a:ln w="12700" cap="flat" cmpd="sng">
              <a:solidFill>
                <a:srgbClr val="000000"/>
              </a:solidFill>
              <a:prstDash val="solid"/>
              <a:headEnd type="none" w="med" len="med"/>
              <a:tailEnd type="none" w="med" len="med"/>
            </a:ln>
          </p:spPr>
        </p:sp>
        <p:sp>
          <p:nvSpPr>
            <p:cNvPr id="45072" name="Oval 49"/>
            <p:cNvSpPr/>
            <p:nvPr/>
          </p:nvSpPr>
          <p:spPr>
            <a:xfrm>
              <a:off x="1486" y="1266"/>
              <a:ext cx="189" cy="568"/>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73" name="Oval 50"/>
            <p:cNvSpPr/>
            <p:nvPr/>
          </p:nvSpPr>
          <p:spPr>
            <a:xfrm>
              <a:off x="857" y="1621"/>
              <a:ext cx="188" cy="568"/>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74" name="Oval 51"/>
            <p:cNvSpPr/>
            <p:nvPr/>
          </p:nvSpPr>
          <p:spPr>
            <a:xfrm>
              <a:off x="1486" y="2898"/>
              <a:ext cx="189" cy="568"/>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75" name="Oval 52"/>
            <p:cNvSpPr/>
            <p:nvPr/>
          </p:nvSpPr>
          <p:spPr>
            <a:xfrm>
              <a:off x="295" y="2339"/>
              <a:ext cx="189" cy="567"/>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p>
              <a:pPr algn="ctr">
                <a:spcBef>
                  <a:spcPct val="0"/>
                </a:spcBef>
              </a:pPr>
              <a:endParaRPr lang="zh-CN" altLang="zh-CN" sz="3600" dirty="0">
                <a:solidFill>
                  <a:schemeClr val="tx1"/>
                </a:solidFill>
                <a:latin typeface="Arial" panose="020B0604020202020204" pitchFamily="34" charset="0"/>
                <a:ea typeface="宋体" panose="02010600030101010101" pitchFamily="2" charset="-122"/>
              </a:endParaRPr>
            </a:p>
          </p:txBody>
        </p:sp>
        <p:sp>
          <p:nvSpPr>
            <p:cNvPr id="45076" name="Oval 53"/>
            <p:cNvSpPr/>
            <p:nvPr/>
          </p:nvSpPr>
          <p:spPr>
            <a:xfrm>
              <a:off x="857" y="3111"/>
              <a:ext cx="188" cy="567"/>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077" name="Line 54"/>
            <p:cNvSpPr/>
            <p:nvPr/>
          </p:nvSpPr>
          <p:spPr>
            <a:xfrm flipV="1">
              <a:off x="1675" y="1266"/>
              <a:ext cx="440" cy="213"/>
            </a:xfrm>
            <a:prstGeom prst="line">
              <a:avLst/>
            </a:prstGeom>
            <a:ln w="38100" cap="flat" cmpd="sng">
              <a:solidFill>
                <a:srgbClr val="000000"/>
              </a:solidFill>
              <a:prstDash val="solid"/>
              <a:headEnd type="none" w="med" len="med"/>
              <a:tailEnd type="arrow" w="med" len="med"/>
            </a:ln>
          </p:spPr>
        </p:sp>
        <p:sp>
          <p:nvSpPr>
            <p:cNvPr id="45078" name="Line 55"/>
            <p:cNvSpPr/>
            <p:nvPr/>
          </p:nvSpPr>
          <p:spPr>
            <a:xfrm>
              <a:off x="1656" y="1636"/>
              <a:ext cx="459" cy="198"/>
            </a:xfrm>
            <a:prstGeom prst="line">
              <a:avLst/>
            </a:prstGeom>
            <a:ln w="38100" cap="flat" cmpd="sng">
              <a:solidFill>
                <a:srgbClr val="000000"/>
              </a:solidFill>
              <a:prstDash val="solid"/>
              <a:headEnd type="none" w="med" len="med"/>
              <a:tailEnd type="arrow" w="med" len="med"/>
            </a:ln>
          </p:spPr>
        </p:sp>
        <p:sp>
          <p:nvSpPr>
            <p:cNvPr id="45079" name="Line 56"/>
            <p:cNvSpPr/>
            <p:nvPr/>
          </p:nvSpPr>
          <p:spPr>
            <a:xfrm flipV="1">
              <a:off x="1020" y="1591"/>
              <a:ext cx="454" cy="226"/>
            </a:xfrm>
            <a:prstGeom prst="line">
              <a:avLst/>
            </a:prstGeom>
            <a:ln w="38100" cap="flat" cmpd="sng">
              <a:solidFill>
                <a:srgbClr val="000000"/>
              </a:solidFill>
              <a:prstDash val="solid"/>
              <a:headEnd type="none" w="med" len="med"/>
              <a:tailEnd type="arrow" w="med" len="med"/>
            </a:ln>
          </p:spPr>
        </p:sp>
        <p:sp>
          <p:nvSpPr>
            <p:cNvPr id="45080" name="Line 57"/>
            <p:cNvSpPr/>
            <p:nvPr/>
          </p:nvSpPr>
          <p:spPr>
            <a:xfrm>
              <a:off x="1045" y="1976"/>
              <a:ext cx="1070" cy="355"/>
            </a:xfrm>
            <a:prstGeom prst="line">
              <a:avLst/>
            </a:prstGeom>
            <a:ln w="38100" cap="flat" cmpd="sng">
              <a:solidFill>
                <a:srgbClr val="000000"/>
              </a:solidFill>
              <a:prstDash val="solid"/>
              <a:headEnd type="none" w="med" len="med"/>
              <a:tailEnd type="arrow" w="med" len="med"/>
            </a:ln>
          </p:spPr>
        </p:sp>
        <p:sp>
          <p:nvSpPr>
            <p:cNvPr id="45081" name="Line 58"/>
            <p:cNvSpPr/>
            <p:nvPr/>
          </p:nvSpPr>
          <p:spPr>
            <a:xfrm flipV="1">
              <a:off x="1675" y="2898"/>
              <a:ext cx="440" cy="213"/>
            </a:xfrm>
            <a:prstGeom prst="line">
              <a:avLst/>
            </a:prstGeom>
            <a:ln w="38100" cap="flat" cmpd="sng">
              <a:solidFill>
                <a:srgbClr val="000000"/>
              </a:solidFill>
              <a:prstDash val="solid"/>
              <a:headEnd type="none" w="med" len="med"/>
              <a:tailEnd type="arrow" w="med" len="med"/>
            </a:ln>
          </p:spPr>
        </p:sp>
        <p:sp>
          <p:nvSpPr>
            <p:cNvPr id="45082" name="Line 59"/>
            <p:cNvSpPr/>
            <p:nvPr/>
          </p:nvSpPr>
          <p:spPr>
            <a:xfrm>
              <a:off x="1675" y="3253"/>
              <a:ext cx="440" cy="142"/>
            </a:xfrm>
            <a:prstGeom prst="line">
              <a:avLst/>
            </a:prstGeom>
            <a:ln w="38100" cap="flat" cmpd="sng">
              <a:solidFill>
                <a:srgbClr val="000000"/>
              </a:solidFill>
              <a:prstDash val="solid"/>
              <a:headEnd type="none" w="med" len="med"/>
              <a:tailEnd type="arrow" w="med" len="med"/>
            </a:ln>
          </p:spPr>
        </p:sp>
        <p:sp>
          <p:nvSpPr>
            <p:cNvPr id="45083" name="Line 60"/>
            <p:cNvSpPr/>
            <p:nvPr/>
          </p:nvSpPr>
          <p:spPr>
            <a:xfrm flipV="1">
              <a:off x="1045" y="3182"/>
              <a:ext cx="441" cy="142"/>
            </a:xfrm>
            <a:prstGeom prst="line">
              <a:avLst/>
            </a:prstGeom>
            <a:ln w="38100" cap="flat" cmpd="sng">
              <a:solidFill>
                <a:srgbClr val="000000"/>
              </a:solidFill>
              <a:prstDash val="solid"/>
              <a:headEnd type="none" w="med" len="med"/>
              <a:tailEnd type="arrow" w="med" len="med"/>
            </a:ln>
          </p:spPr>
        </p:sp>
        <p:sp>
          <p:nvSpPr>
            <p:cNvPr id="45084" name="Line 61"/>
            <p:cNvSpPr/>
            <p:nvPr/>
          </p:nvSpPr>
          <p:spPr>
            <a:xfrm>
              <a:off x="1020" y="3496"/>
              <a:ext cx="1095" cy="537"/>
            </a:xfrm>
            <a:prstGeom prst="line">
              <a:avLst/>
            </a:prstGeom>
            <a:ln w="38100" cap="flat" cmpd="sng">
              <a:solidFill>
                <a:srgbClr val="000000"/>
              </a:solidFill>
              <a:prstDash val="solid"/>
              <a:headEnd type="none" w="med" len="med"/>
              <a:tailEnd type="arrow" w="med" len="med"/>
            </a:ln>
          </p:spPr>
        </p:sp>
        <p:sp>
          <p:nvSpPr>
            <p:cNvPr id="45085" name="Line 62"/>
            <p:cNvSpPr/>
            <p:nvPr/>
          </p:nvSpPr>
          <p:spPr>
            <a:xfrm flipV="1">
              <a:off x="476" y="2044"/>
              <a:ext cx="363" cy="408"/>
            </a:xfrm>
            <a:prstGeom prst="line">
              <a:avLst/>
            </a:prstGeom>
            <a:ln w="38100" cap="flat" cmpd="sng">
              <a:solidFill>
                <a:srgbClr val="000000"/>
              </a:solidFill>
              <a:prstDash val="solid"/>
              <a:headEnd type="none" w="med" len="med"/>
              <a:tailEnd type="arrow" w="med" len="med"/>
            </a:ln>
          </p:spPr>
        </p:sp>
        <p:sp>
          <p:nvSpPr>
            <p:cNvPr id="45086" name="Line 63"/>
            <p:cNvSpPr/>
            <p:nvPr/>
          </p:nvSpPr>
          <p:spPr>
            <a:xfrm>
              <a:off x="476" y="2770"/>
              <a:ext cx="381" cy="412"/>
            </a:xfrm>
            <a:prstGeom prst="line">
              <a:avLst/>
            </a:prstGeom>
            <a:ln w="38100" cap="flat" cmpd="sng">
              <a:solidFill>
                <a:srgbClr val="000000"/>
              </a:solidFill>
              <a:prstDash val="solid"/>
              <a:headEnd type="none" w="med" len="med"/>
              <a:tailEnd type="arrow" w="med" len="med"/>
            </a:ln>
          </p:spPr>
        </p:sp>
        <p:sp>
          <p:nvSpPr>
            <p:cNvPr id="45087" name="Line 106"/>
            <p:cNvSpPr/>
            <p:nvPr/>
          </p:nvSpPr>
          <p:spPr>
            <a:xfrm flipV="1">
              <a:off x="3437" y="1054"/>
              <a:ext cx="693" cy="212"/>
            </a:xfrm>
            <a:prstGeom prst="line">
              <a:avLst/>
            </a:prstGeom>
            <a:ln w="38100" cap="flat" cmpd="sng">
              <a:solidFill>
                <a:srgbClr val="000000"/>
              </a:solidFill>
              <a:prstDash val="solid"/>
              <a:headEnd type="none" w="med" len="med"/>
              <a:tailEnd type="arrow" w="med" len="med"/>
            </a:ln>
          </p:spPr>
        </p:sp>
        <p:sp>
          <p:nvSpPr>
            <p:cNvPr id="45088" name="Line 107"/>
            <p:cNvSpPr/>
            <p:nvPr/>
          </p:nvSpPr>
          <p:spPr>
            <a:xfrm flipV="1">
              <a:off x="3437" y="1621"/>
              <a:ext cx="693" cy="213"/>
            </a:xfrm>
            <a:prstGeom prst="line">
              <a:avLst/>
            </a:prstGeom>
            <a:ln w="38100" cap="flat" cmpd="sng">
              <a:solidFill>
                <a:srgbClr val="000000"/>
              </a:solidFill>
              <a:prstDash val="solid"/>
              <a:headEnd type="none" w="med" len="med"/>
              <a:tailEnd type="arrow" w="med" len="med"/>
            </a:ln>
          </p:spPr>
        </p:sp>
        <p:sp>
          <p:nvSpPr>
            <p:cNvPr id="45089" name="Line 108"/>
            <p:cNvSpPr/>
            <p:nvPr/>
          </p:nvSpPr>
          <p:spPr>
            <a:xfrm flipV="1">
              <a:off x="3437" y="2189"/>
              <a:ext cx="693" cy="142"/>
            </a:xfrm>
            <a:prstGeom prst="line">
              <a:avLst/>
            </a:prstGeom>
            <a:ln w="38100" cap="flat" cmpd="sng">
              <a:solidFill>
                <a:srgbClr val="000000"/>
              </a:solidFill>
              <a:prstDash val="solid"/>
              <a:headEnd type="none" w="med" len="med"/>
              <a:tailEnd type="arrow" w="med" len="med"/>
            </a:ln>
          </p:spPr>
        </p:sp>
        <p:sp>
          <p:nvSpPr>
            <p:cNvPr id="45090" name="Line 109"/>
            <p:cNvSpPr/>
            <p:nvPr/>
          </p:nvSpPr>
          <p:spPr>
            <a:xfrm flipV="1">
              <a:off x="3374" y="2756"/>
              <a:ext cx="756" cy="142"/>
            </a:xfrm>
            <a:prstGeom prst="line">
              <a:avLst/>
            </a:prstGeom>
            <a:ln w="38100" cap="flat" cmpd="sng">
              <a:solidFill>
                <a:srgbClr val="000000"/>
              </a:solidFill>
              <a:prstDash val="solid"/>
              <a:headEnd type="none" w="med" len="med"/>
              <a:tailEnd type="arrow" w="med" len="med"/>
            </a:ln>
          </p:spPr>
        </p:sp>
        <p:sp>
          <p:nvSpPr>
            <p:cNvPr id="45091" name="Line 110"/>
            <p:cNvSpPr/>
            <p:nvPr/>
          </p:nvSpPr>
          <p:spPr>
            <a:xfrm flipV="1">
              <a:off x="3437" y="3884"/>
              <a:ext cx="713" cy="78"/>
            </a:xfrm>
            <a:prstGeom prst="line">
              <a:avLst/>
            </a:prstGeom>
            <a:ln w="38100" cap="flat" cmpd="sng">
              <a:solidFill>
                <a:srgbClr val="000000"/>
              </a:solidFill>
              <a:prstDash val="solid"/>
              <a:headEnd type="none" w="med" len="med"/>
              <a:tailEnd type="arrow" w="med" len="med"/>
            </a:ln>
          </p:spPr>
        </p:sp>
        <p:sp>
          <p:nvSpPr>
            <p:cNvPr id="45092" name="Line 111"/>
            <p:cNvSpPr/>
            <p:nvPr/>
          </p:nvSpPr>
          <p:spPr>
            <a:xfrm flipV="1">
              <a:off x="3374" y="3294"/>
              <a:ext cx="776" cy="101"/>
            </a:xfrm>
            <a:prstGeom prst="line">
              <a:avLst/>
            </a:prstGeom>
            <a:ln w="38100" cap="flat" cmpd="sng">
              <a:solidFill>
                <a:srgbClr val="000000"/>
              </a:solidFill>
              <a:prstDash val="solid"/>
              <a:headEnd type="none" w="med" len="med"/>
              <a:tailEnd type="arrow" w="med" len="med"/>
            </a:ln>
          </p:spPr>
        </p:sp>
        <p:sp>
          <p:nvSpPr>
            <p:cNvPr id="45093" name="Text Box 112"/>
            <p:cNvSpPr txBox="1"/>
            <p:nvPr/>
          </p:nvSpPr>
          <p:spPr>
            <a:xfrm>
              <a:off x="516" y="1804"/>
              <a:ext cx="276" cy="405"/>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0</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094" name="Text Box 113"/>
            <p:cNvSpPr txBox="1"/>
            <p:nvPr/>
          </p:nvSpPr>
          <p:spPr>
            <a:xfrm>
              <a:off x="1082" y="1330"/>
              <a:ext cx="276" cy="403"/>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0</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095" name="Text Box 114"/>
            <p:cNvSpPr txBox="1"/>
            <p:nvPr/>
          </p:nvSpPr>
          <p:spPr>
            <a:xfrm>
              <a:off x="1712" y="1046"/>
              <a:ext cx="276" cy="403"/>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0</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096" name="Text Box 115"/>
            <p:cNvSpPr txBox="1"/>
            <p:nvPr/>
          </p:nvSpPr>
          <p:spPr>
            <a:xfrm>
              <a:off x="1082" y="2798"/>
              <a:ext cx="276" cy="405"/>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0</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097" name="Text Box 116"/>
            <p:cNvSpPr txBox="1"/>
            <p:nvPr/>
          </p:nvSpPr>
          <p:spPr>
            <a:xfrm>
              <a:off x="1712" y="2585"/>
              <a:ext cx="276" cy="405"/>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0</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098" name="Text Box 117"/>
            <p:cNvSpPr txBox="1"/>
            <p:nvPr/>
          </p:nvSpPr>
          <p:spPr>
            <a:xfrm>
              <a:off x="1671" y="1692"/>
              <a:ext cx="276" cy="405"/>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1</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099" name="Text Box 118"/>
            <p:cNvSpPr txBox="1"/>
            <p:nvPr/>
          </p:nvSpPr>
          <p:spPr>
            <a:xfrm>
              <a:off x="1293" y="2049"/>
              <a:ext cx="277" cy="403"/>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1</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100" name="Text Box 119"/>
            <p:cNvSpPr txBox="1"/>
            <p:nvPr/>
          </p:nvSpPr>
          <p:spPr>
            <a:xfrm>
              <a:off x="517" y="2955"/>
              <a:ext cx="277" cy="405"/>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1</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101" name="Text Box 120"/>
            <p:cNvSpPr txBox="1"/>
            <p:nvPr/>
          </p:nvSpPr>
          <p:spPr>
            <a:xfrm>
              <a:off x="1742" y="3273"/>
              <a:ext cx="276" cy="404"/>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1</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102" name="Text Box 121"/>
            <p:cNvSpPr txBox="1"/>
            <p:nvPr/>
          </p:nvSpPr>
          <p:spPr>
            <a:xfrm>
              <a:off x="1290" y="3677"/>
              <a:ext cx="275" cy="403"/>
            </a:xfrm>
            <a:prstGeom prst="rect">
              <a:avLst/>
            </a:prstGeom>
            <a:noFill/>
            <a:ln w="9525">
              <a:noFill/>
            </a:ln>
          </p:spPr>
          <p:txBody>
            <a:bodyPr wrap="none">
              <a:spAutoFit/>
            </a:bodyPr>
            <a:p>
              <a:pPr>
                <a:spcBef>
                  <a:spcPct val="0"/>
                </a:spcBef>
              </a:pPr>
              <a:r>
                <a:rPr lang="en-US" altLang="zh-CN" sz="3600" dirty="0">
                  <a:solidFill>
                    <a:srgbClr val="0000CC"/>
                  </a:solidFill>
                  <a:latin typeface="Arial" panose="020B0604020202020204" pitchFamily="34" charset="0"/>
                  <a:ea typeface="宋体" panose="02010600030101010101" pitchFamily="2" charset="-122"/>
                </a:rPr>
                <a:t>1</a:t>
              </a:r>
              <a:endParaRPr lang="en-US" altLang="zh-CN" sz="3600" dirty="0">
                <a:solidFill>
                  <a:srgbClr val="0000CC"/>
                </a:solidFill>
                <a:latin typeface="Arial" panose="020B0604020202020204" pitchFamily="34" charset="0"/>
                <a:ea typeface="宋体" panose="02010600030101010101" pitchFamily="2" charset="-122"/>
              </a:endParaRPr>
            </a:p>
          </p:txBody>
        </p:sp>
        <p:sp>
          <p:nvSpPr>
            <p:cNvPr id="45103" name="Text Box 122"/>
            <p:cNvSpPr txBox="1"/>
            <p:nvPr/>
          </p:nvSpPr>
          <p:spPr>
            <a:xfrm>
              <a:off x="1202" y="572"/>
              <a:ext cx="772" cy="403"/>
            </a:xfrm>
            <a:prstGeom prst="rect">
              <a:avLst/>
            </a:prstGeom>
            <a:noFill/>
            <a:ln w="9525">
              <a:noFill/>
            </a:ln>
          </p:spPr>
          <p:txBody>
            <a:bodyPr>
              <a:spAutoFit/>
            </a:bodyPr>
            <a:p>
              <a:pPr>
                <a:spcBef>
                  <a:spcPct val="0"/>
                </a:spcBef>
              </a:pPr>
              <a:r>
                <a:rPr lang="zh-CN" altLang="en-US" sz="3600" dirty="0">
                  <a:latin typeface="Arial" panose="020B0604020202020204" pitchFamily="34" charset="0"/>
                </a:rPr>
                <a:t>目录</a:t>
              </a:r>
              <a:endParaRPr lang="zh-CN" altLang="en-US" sz="3600" dirty="0">
                <a:latin typeface="Arial" panose="020B0604020202020204" pitchFamily="34" charset="0"/>
              </a:endParaRPr>
            </a:p>
          </p:txBody>
        </p:sp>
        <p:sp>
          <p:nvSpPr>
            <p:cNvPr id="45104" name="Text Box 123"/>
            <p:cNvSpPr txBox="1"/>
            <p:nvPr/>
          </p:nvSpPr>
          <p:spPr>
            <a:xfrm>
              <a:off x="4150" y="527"/>
              <a:ext cx="998" cy="404"/>
            </a:xfrm>
            <a:prstGeom prst="rect">
              <a:avLst/>
            </a:prstGeom>
            <a:noFill/>
            <a:ln w="9525">
              <a:noFill/>
            </a:ln>
          </p:spPr>
          <p:txBody>
            <a:bodyPr>
              <a:spAutoFit/>
            </a:bodyPr>
            <a:p>
              <a:pPr>
                <a:spcBef>
                  <a:spcPct val="0"/>
                </a:spcBef>
              </a:pPr>
              <a:r>
                <a:rPr lang="zh-CN" altLang="en-US" sz="3600" dirty="0">
                  <a:latin typeface="Arial" panose="020B0604020202020204" pitchFamily="34" charset="0"/>
                </a:rPr>
                <a:t>数据桶</a:t>
              </a:r>
              <a:endParaRPr lang="zh-CN" altLang="en-US" sz="3600" dirty="0">
                <a:latin typeface="Arial" panose="020B0604020202020204" pitchFamily="34" charset="0"/>
              </a:endParaRPr>
            </a:p>
          </p:txBody>
        </p:sp>
        <p:grpSp>
          <p:nvGrpSpPr>
            <p:cNvPr id="45105" name="Group 127"/>
            <p:cNvGrpSpPr/>
            <p:nvPr/>
          </p:nvGrpSpPr>
          <p:grpSpPr>
            <a:xfrm>
              <a:off x="4132" y="981"/>
              <a:ext cx="1224" cy="453"/>
              <a:chOff x="4132" y="981"/>
              <a:chExt cx="1224" cy="453"/>
            </a:xfrm>
          </p:grpSpPr>
          <p:sp>
            <p:nvSpPr>
              <p:cNvPr id="45126" name="Rectangle 124"/>
              <p:cNvSpPr/>
              <p:nvPr/>
            </p:nvSpPr>
            <p:spPr>
              <a:xfrm>
                <a:off x="4132" y="981"/>
                <a:ext cx="1224" cy="453"/>
              </a:xfrm>
              <a:prstGeom prst="rect">
                <a:avLst/>
              </a:prstGeom>
              <a:noFill/>
              <a:ln w="28575"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27" name="Line 125"/>
              <p:cNvSpPr/>
              <p:nvPr/>
            </p:nvSpPr>
            <p:spPr>
              <a:xfrm>
                <a:off x="4148" y="1131"/>
                <a:ext cx="1200" cy="1"/>
              </a:xfrm>
              <a:prstGeom prst="line">
                <a:avLst/>
              </a:prstGeom>
              <a:ln w="9525" cap="flat" cmpd="sng">
                <a:solidFill>
                  <a:srgbClr val="000000"/>
                </a:solidFill>
                <a:prstDash val="solid"/>
                <a:headEnd type="none" w="med" len="med"/>
                <a:tailEnd type="none" w="med" len="med"/>
              </a:ln>
            </p:spPr>
          </p:sp>
          <p:sp>
            <p:nvSpPr>
              <p:cNvPr id="45128" name="Line 126"/>
              <p:cNvSpPr/>
              <p:nvPr/>
            </p:nvSpPr>
            <p:spPr>
              <a:xfrm>
                <a:off x="4148" y="1289"/>
                <a:ext cx="1200" cy="1"/>
              </a:xfrm>
              <a:prstGeom prst="line">
                <a:avLst/>
              </a:prstGeom>
              <a:ln w="9525" cap="flat" cmpd="sng">
                <a:solidFill>
                  <a:srgbClr val="000000"/>
                </a:solidFill>
                <a:prstDash val="solid"/>
                <a:headEnd type="none" w="med" len="med"/>
                <a:tailEnd type="none" w="med" len="med"/>
              </a:ln>
            </p:spPr>
          </p:sp>
        </p:grpSp>
        <p:grpSp>
          <p:nvGrpSpPr>
            <p:cNvPr id="45106" name="Group 128"/>
            <p:cNvGrpSpPr/>
            <p:nvPr/>
          </p:nvGrpSpPr>
          <p:grpSpPr>
            <a:xfrm>
              <a:off x="4132" y="1570"/>
              <a:ext cx="1224" cy="453"/>
              <a:chOff x="4132" y="981"/>
              <a:chExt cx="1224" cy="453"/>
            </a:xfrm>
          </p:grpSpPr>
          <p:sp>
            <p:nvSpPr>
              <p:cNvPr id="45123" name="Rectangle 129"/>
              <p:cNvSpPr/>
              <p:nvPr/>
            </p:nvSpPr>
            <p:spPr>
              <a:xfrm>
                <a:off x="4132" y="981"/>
                <a:ext cx="1224" cy="453"/>
              </a:xfrm>
              <a:prstGeom prst="rect">
                <a:avLst/>
              </a:prstGeom>
              <a:noFill/>
              <a:ln w="28575"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24" name="Line 130"/>
              <p:cNvSpPr/>
              <p:nvPr/>
            </p:nvSpPr>
            <p:spPr>
              <a:xfrm>
                <a:off x="4148" y="1131"/>
                <a:ext cx="1200" cy="1"/>
              </a:xfrm>
              <a:prstGeom prst="line">
                <a:avLst/>
              </a:prstGeom>
              <a:ln w="9525" cap="flat" cmpd="sng">
                <a:solidFill>
                  <a:srgbClr val="000000"/>
                </a:solidFill>
                <a:prstDash val="solid"/>
                <a:headEnd type="none" w="med" len="med"/>
                <a:tailEnd type="none" w="med" len="med"/>
              </a:ln>
            </p:spPr>
          </p:sp>
          <p:sp>
            <p:nvSpPr>
              <p:cNvPr id="45125" name="Line 131"/>
              <p:cNvSpPr/>
              <p:nvPr/>
            </p:nvSpPr>
            <p:spPr>
              <a:xfrm>
                <a:off x="4148" y="1289"/>
                <a:ext cx="1200" cy="1"/>
              </a:xfrm>
              <a:prstGeom prst="line">
                <a:avLst/>
              </a:prstGeom>
              <a:ln w="9525" cap="flat" cmpd="sng">
                <a:solidFill>
                  <a:srgbClr val="000000"/>
                </a:solidFill>
                <a:prstDash val="solid"/>
                <a:headEnd type="none" w="med" len="med"/>
                <a:tailEnd type="none" w="med" len="med"/>
              </a:ln>
            </p:spPr>
          </p:sp>
        </p:grpSp>
        <p:grpSp>
          <p:nvGrpSpPr>
            <p:cNvPr id="45107" name="Group 132"/>
            <p:cNvGrpSpPr/>
            <p:nvPr/>
          </p:nvGrpSpPr>
          <p:grpSpPr>
            <a:xfrm>
              <a:off x="4132" y="2115"/>
              <a:ext cx="1224" cy="453"/>
              <a:chOff x="4132" y="981"/>
              <a:chExt cx="1224" cy="453"/>
            </a:xfrm>
          </p:grpSpPr>
          <p:sp>
            <p:nvSpPr>
              <p:cNvPr id="45120" name="Rectangle 133"/>
              <p:cNvSpPr/>
              <p:nvPr/>
            </p:nvSpPr>
            <p:spPr>
              <a:xfrm>
                <a:off x="4132" y="981"/>
                <a:ext cx="1224" cy="453"/>
              </a:xfrm>
              <a:prstGeom prst="rect">
                <a:avLst/>
              </a:prstGeom>
              <a:noFill/>
              <a:ln w="28575"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21" name="Line 134"/>
              <p:cNvSpPr/>
              <p:nvPr/>
            </p:nvSpPr>
            <p:spPr>
              <a:xfrm>
                <a:off x="4148" y="1131"/>
                <a:ext cx="1200" cy="1"/>
              </a:xfrm>
              <a:prstGeom prst="line">
                <a:avLst/>
              </a:prstGeom>
              <a:ln w="9525" cap="flat" cmpd="sng">
                <a:solidFill>
                  <a:srgbClr val="000000"/>
                </a:solidFill>
                <a:prstDash val="solid"/>
                <a:headEnd type="none" w="med" len="med"/>
                <a:tailEnd type="none" w="med" len="med"/>
              </a:ln>
            </p:spPr>
          </p:sp>
          <p:sp>
            <p:nvSpPr>
              <p:cNvPr id="45122" name="Line 135"/>
              <p:cNvSpPr/>
              <p:nvPr/>
            </p:nvSpPr>
            <p:spPr>
              <a:xfrm>
                <a:off x="4148" y="1289"/>
                <a:ext cx="1200" cy="1"/>
              </a:xfrm>
              <a:prstGeom prst="line">
                <a:avLst/>
              </a:prstGeom>
              <a:ln w="9525" cap="flat" cmpd="sng">
                <a:solidFill>
                  <a:srgbClr val="000000"/>
                </a:solidFill>
                <a:prstDash val="solid"/>
                <a:headEnd type="none" w="med" len="med"/>
                <a:tailEnd type="none" w="med" len="med"/>
              </a:ln>
            </p:spPr>
          </p:sp>
        </p:grpSp>
        <p:grpSp>
          <p:nvGrpSpPr>
            <p:cNvPr id="45108" name="Group 136"/>
            <p:cNvGrpSpPr/>
            <p:nvPr/>
          </p:nvGrpSpPr>
          <p:grpSpPr>
            <a:xfrm>
              <a:off x="4132" y="2704"/>
              <a:ext cx="1224" cy="453"/>
              <a:chOff x="4132" y="981"/>
              <a:chExt cx="1224" cy="453"/>
            </a:xfrm>
          </p:grpSpPr>
          <p:sp>
            <p:nvSpPr>
              <p:cNvPr id="45117" name="Rectangle 137"/>
              <p:cNvSpPr/>
              <p:nvPr/>
            </p:nvSpPr>
            <p:spPr>
              <a:xfrm>
                <a:off x="4132" y="981"/>
                <a:ext cx="1224" cy="453"/>
              </a:xfrm>
              <a:prstGeom prst="rect">
                <a:avLst/>
              </a:prstGeom>
              <a:noFill/>
              <a:ln w="28575"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18" name="Line 138"/>
              <p:cNvSpPr/>
              <p:nvPr/>
            </p:nvSpPr>
            <p:spPr>
              <a:xfrm>
                <a:off x="4148" y="1131"/>
                <a:ext cx="1200" cy="1"/>
              </a:xfrm>
              <a:prstGeom prst="line">
                <a:avLst/>
              </a:prstGeom>
              <a:ln w="9525" cap="flat" cmpd="sng">
                <a:solidFill>
                  <a:srgbClr val="000000"/>
                </a:solidFill>
                <a:prstDash val="solid"/>
                <a:headEnd type="none" w="med" len="med"/>
                <a:tailEnd type="none" w="med" len="med"/>
              </a:ln>
            </p:spPr>
          </p:sp>
          <p:sp>
            <p:nvSpPr>
              <p:cNvPr id="45119" name="Line 139"/>
              <p:cNvSpPr/>
              <p:nvPr/>
            </p:nvSpPr>
            <p:spPr>
              <a:xfrm>
                <a:off x="4148" y="1289"/>
                <a:ext cx="1200" cy="1"/>
              </a:xfrm>
              <a:prstGeom prst="line">
                <a:avLst/>
              </a:prstGeom>
              <a:ln w="9525" cap="flat" cmpd="sng">
                <a:solidFill>
                  <a:srgbClr val="000000"/>
                </a:solidFill>
                <a:prstDash val="solid"/>
                <a:headEnd type="none" w="med" len="med"/>
                <a:tailEnd type="none" w="med" len="med"/>
              </a:ln>
            </p:spPr>
          </p:sp>
        </p:grpSp>
        <p:grpSp>
          <p:nvGrpSpPr>
            <p:cNvPr id="45109" name="Group 140"/>
            <p:cNvGrpSpPr/>
            <p:nvPr/>
          </p:nvGrpSpPr>
          <p:grpSpPr>
            <a:xfrm>
              <a:off x="4132" y="3249"/>
              <a:ext cx="1224" cy="453"/>
              <a:chOff x="4132" y="981"/>
              <a:chExt cx="1224" cy="453"/>
            </a:xfrm>
          </p:grpSpPr>
          <p:sp>
            <p:nvSpPr>
              <p:cNvPr id="45114" name="Rectangle 141"/>
              <p:cNvSpPr/>
              <p:nvPr/>
            </p:nvSpPr>
            <p:spPr>
              <a:xfrm>
                <a:off x="4132" y="981"/>
                <a:ext cx="1224" cy="453"/>
              </a:xfrm>
              <a:prstGeom prst="rect">
                <a:avLst/>
              </a:prstGeom>
              <a:noFill/>
              <a:ln w="28575"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15" name="Line 142"/>
              <p:cNvSpPr/>
              <p:nvPr/>
            </p:nvSpPr>
            <p:spPr>
              <a:xfrm>
                <a:off x="4148" y="1131"/>
                <a:ext cx="1200" cy="1"/>
              </a:xfrm>
              <a:prstGeom prst="line">
                <a:avLst/>
              </a:prstGeom>
              <a:ln w="9525" cap="flat" cmpd="sng">
                <a:solidFill>
                  <a:srgbClr val="000000"/>
                </a:solidFill>
                <a:prstDash val="solid"/>
                <a:headEnd type="none" w="med" len="med"/>
                <a:tailEnd type="none" w="med" len="med"/>
              </a:ln>
            </p:spPr>
          </p:sp>
          <p:sp>
            <p:nvSpPr>
              <p:cNvPr id="45116" name="Line 143"/>
              <p:cNvSpPr/>
              <p:nvPr/>
            </p:nvSpPr>
            <p:spPr>
              <a:xfrm>
                <a:off x="4148" y="1289"/>
                <a:ext cx="1200" cy="1"/>
              </a:xfrm>
              <a:prstGeom prst="line">
                <a:avLst/>
              </a:prstGeom>
              <a:ln w="9525" cap="flat" cmpd="sng">
                <a:solidFill>
                  <a:srgbClr val="000000"/>
                </a:solidFill>
                <a:prstDash val="solid"/>
                <a:headEnd type="none" w="med" len="med"/>
                <a:tailEnd type="none" w="med" len="med"/>
              </a:ln>
            </p:spPr>
          </p:sp>
        </p:grpSp>
        <p:grpSp>
          <p:nvGrpSpPr>
            <p:cNvPr id="45110" name="Group 144"/>
            <p:cNvGrpSpPr/>
            <p:nvPr/>
          </p:nvGrpSpPr>
          <p:grpSpPr>
            <a:xfrm>
              <a:off x="4132" y="3802"/>
              <a:ext cx="1224" cy="453"/>
              <a:chOff x="4132" y="981"/>
              <a:chExt cx="1224" cy="453"/>
            </a:xfrm>
          </p:grpSpPr>
          <p:sp>
            <p:nvSpPr>
              <p:cNvPr id="45111" name="Rectangle 145"/>
              <p:cNvSpPr/>
              <p:nvPr/>
            </p:nvSpPr>
            <p:spPr>
              <a:xfrm>
                <a:off x="4132" y="981"/>
                <a:ext cx="1224" cy="453"/>
              </a:xfrm>
              <a:prstGeom prst="rect">
                <a:avLst/>
              </a:prstGeom>
              <a:solidFill>
                <a:srgbClr val="FFFFFF"/>
              </a:solidFill>
              <a:ln w="28575" cap="flat" cmpd="sng">
                <a:solidFill>
                  <a:srgbClr val="000000"/>
                </a:solidFill>
                <a:prstDash val="solid"/>
                <a:miter/>
                <a:headEnd type="none" w="med" len="med"/>
                <a:tailEnd type="none" w="med" len="med"/>
              </a:ln>
            </p:spPr>
            <p:txBody>
              <a:bodyPr wrap="none" anchor="ctr" anchorCtr="0"/>
              <a:p>
                <a:endParaRPr lang="zh-CN" altLang="en-US" dirty="0">
                  <a:latin typeface="Arial" panose="020B0604020202020204" pitchFamily="34" charset="0"/>
                </a:endParaRPr>
              </a:p>
            </p:txBody>
          </p:sp>
          <p:sp>
            <p:nvSpPr>
              <p:cNvPr id="45112" name="Line 146"/>
              <p:cNvSpPr/>
              <p:nvPr/>
            </p:nvSpPr>
            <p:spPr>
              <a:xfrm>
                <a:off x="4148" y="1131"/>
                <a:ext cx="1200" cy="1"/>
              </a:xfrm>
              <a:prstGeom prst="line">
                <a:avLst/>
              </a:prstGeom>
              <a:ln w="9525" cap="flat" cmpd="sng">
                <a:solidFill>
                  <a:srgbClr val="000000"/>
                </a:solidFill>
                <a:prstDash val="solid"/>
                <a:headEnd type="none" w="med" len="med"/>
                <a:tailEnd type="none" w="med" len="med"/>
              </a:ln>
            </p:spPr>
          </p:sp>
          <p:sp>
            <p:nvSpPr>
              <p:cNvPr id="45113" name="Line 147"/>
              <p:cNvSpPr/>
              <p:nvPr/>
            </p:nvSpPr>
            <p:spPr>
              <a:xfrm>
                <a:off x="4148" y="1289"/>
                <a:ext cx="1200" cy="1"/>
              </a:xfrm>
              <a:prstGeom prst="line">
                <a:avLst/>
              </a:prstGeom>
              <a:ln w="9525" cap="flat" cmpd="sng">
                <a:solidFill>
                  <a:srgbClr val="000000"/>
                </a:solidFill>
                <a:prstDash val="solid"/>
                <a:headEnd type="none" w="med" len="med"/>
                <a:tailEnd type="none" w="med" len="med"/>
              </a:ln>
            </p:spPr>
          </p:sp>
        </p:grpSp>
      </p:grpSp>
    </p:spTree>
  </p:cSld>
  <p:clrMapOvr>
    <a:masterClrMapping/>
  </p:clrMapOvr>
  <p:transition>
    <p:random/>
    <p:sndAc>
      <p:stSnd>
        <p:snd r:embed="rId1" name="CAMERA.WAV"/>
      </p:stSnd>
    </p:sndAc>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页脚占位符 3"/>
          <p:cNvSpPr txBox="1">
            <a:spLocks noGrp="1"/>
          </p:cNvSpPr>
          <p:nvPr>
            <p:ph type="ftr" sz="quarter" idx="11"/>
          </p:nvPr>
        </p:nvSpPr>
        <p:spPr>
          <a:xfrm>
            <a:off x="1295400" y="6248400"/>
            <a:ext cx="1905000" cy="457200"/>
          </a:xfrm>
        </p:spPr>
        <p:txBody>
          <a:bodyPr wrap="none" lIns="92075" tIns="46038" rIns="92075" bIns="46038" anchor="ctr" anchorCtr="0"/>
          <a:p>
            <a:pPr marL="0" indent="0">
              <a:buClrTx/>
              <a:buSzTx/>
              <a:buFontTx/>
              <a:buNone/>
            </a:pPr>
            <a:r>
              <a:rPr lang="en-US" altLang="zh-CN" sz="2000" b="0" dirty="0">
                <a:solidFill>
                  <a:srgbClr val="808000"/>
                </a:solidFill>
                <a:latin typeface="Arial" panose="020B0604020202020204" pitchFamily="34" charset="0"/>
                <a:ea typeface="楷体_GB2312" pitchFamily="49" charset="-122"/>
              </a:rPr>
              <a:t>国防科大计算机学院603教研室</a:t>
            </a:r>
            <a:endParaRPr lang="en-US" altLang="zh-CN" sz="2000" b="0" dirty="0">
              <a:solidFill>
                <a:srgbClr val="808000"/>
              </a:solidFill>
              <a:latin typeface="Arial" panose="020B0604020202020204" pitchFamily="34" charset="0"/>
              <a:ea typeface="楷体_GB2312" pitchFamily="49" charset="-122"/>
            </a:endParaRPr>
          </a:p>
        </p:txBody>
      </p:sp>
      <p:sp>
        <p:nvSpPr>
          <p:cNvPr id="46083" name="灯片编号占位符 4"/>
          <p:cNvSpPr txBox="1">
            <a:spLocks noGrp="1"/>
          </p:cNvSpPr>
          <p:nvPr>
            <p:ph type="sldNum" sz="quarter" idx="12"/>
          </p:nvPr>
        </p:nvSpPr>
        <p:spPr>
          <a:xfrm>
            <a:off x="3733800" y="6248400"/>
            <a:ext cx="2895600" cy="457200"/>
          </a:xfrm>
        </p:spPr>
        <p:txBody>
          <a:bodyPr wrap="none" lIns="92075" tIns="46038" rIns="92075" bIns="46038" anchor="ctr" anchorCtr="0"/>
          <a:p>
            <a:pPr marL="0" indent="0" algn="ctr">
              <a:buClrTx/>
              <a:buSzTx/>
              <a:buFontTx/>
              <a:buNone/>
            </a:pPr>
            <a:fld id="{9A0DB2DC-4C9A-4742-B13C-FB6460FD3503}" type="slidenum">
              <a:rPr lang="en-US" altLang="zh-CN" sz="2000" b="0" dirty="0">
                <a:solidFill>
                  <a:srgbClr val="808000"/>
                </a:solidFill>
                <a:latin typeface="Arial" panose="020B0604020202020204" pitchFamily="34" charset="0"/>
                <a:ea typeface="楷体_GB2312" pitchFamily="49" charset="-122"/>
              </a:rPr>
            </a:fld>
            <a:endParaRPr lang="en-US" altLang="zh-CN" sz="2000" b="0" dirty="0">
              <a:solidFill>
                <a:srgbClr val="808000"/>
              </a:solidFill>
              <a:latin typeface="Arial" panose="020B0604020202020204" pitchFamily="34" charset="0"/>
              <a:ea typeface="楷体_GB2312" pitchFamily="49" charset="-122"/>
            </a:endParaRPr>
          </a:p>
        </p:txBody>
      </p:sp>
      <p:sp>
        <p:nvSpPr>
          <p:cNvPr id="46084" name="Rectangle 2"/>
          <p:cNvSpPr>
            <a:spLocks noGrp="1"/>
          </p:cNvSpPr>
          <p:nvPr>
            <p:ph idx="1"/>
          </p:nvPr>
        </p:nvSpPr>
        <p:spPr>
          <a:xfrm>
            <a:off x="152400" y="1143000"/>
            <a:ext cx="8991600" cy="5273675"/>
          </a:xfrm>
        </p:spPr>
        <p:txBody>
          <a:bodyPr vert="horz" wrap="square" lIns="91440" tIns="45720" rIns="91440" bIns="45720" anchor="t" anchorCtr="0"/>
          <a:p>
            <a:pPr marL="449580" indent="-449580">
              <a:lnSpc>
                <a:spcPct val="90000"/>
              </a:lnSpc>
            </a:pPr>
            <a:r>
              <a:rPr lang="zh-CN" altLang="en-US" dirty="0">
                <a:latin typeface="Arial" panose="020B0604020202020204" pitchFamily="34" charset="0"/>
              </a:rPr>
              <a:t>它维持一个数组目录，相当于动态</a:t>
            </a:r>
            <a:r>
              <a:rPr lang="en-US" altLang="zh-CN" dirty="0">
                <a:latin typeface="Arial" panose="020B0604020202020204" pitchFamily="34" charset="0"/>
              </a:rPr>
              <a:t>HASH</a:t>
            </a:r>
            <a:r>
              <a:rPr lang="zh-CN" altLang="en-US" dirty="0">
                <a:latin typeface="Arial" panose="020B0604020202020204" pitchFamily="34" charset="0"/>
              </a:rPr>
              <a:t>二叉树目录的叶结点集合。数组中的元素是一个</a:t>
            </a:r>
            <a:r>
              <a:rPr lang="en-US" altLang="zh-CN" dirty="0">
                <a:latin typeface="Arial" panose="020B0604020202020204" pitchFamily="34" charset="0"/>
              </a:rPr>
              <a:t>d</a:t>
            </a:r>
            <a:r>
              <a:rPr lang="zh-CN" altLang="en-US" dirty="0">
                <a:latin typeface="Arial" panose="020B0604020202020204" pitchFamily="34" charset="0"/>
              </a:rPr>
              <a:t>位的桶地址，</a:t>
            </a:r>
            <a:r>
              <a:rPr lang="en-US" altLang="zh-CN" dirty="0">
                <a:latin typeface="Arial" panose="020B0604020202020204" pitchFamily="34" charset="0"/>
              </a:rPr>
              <a:t>d</a:t>
            </a:r>
            <a:r>
              <a:rPr lang="zh-CN" altLang="en-US" dirty="0">
                <a:latin typeface="Arial" panose="020B0604020202020204" pitchFamily="34" charset="0"/>
              </a:rPr>
              <a:t>称为目录的全局深度。</a:t>
            </a:r>
            <a:endParaRPr lang="zh-CN" altLang="en-US" dirty="0">
              <a:latin typeface="Arial" panose="020B0604020202020204" pitchFamily="34" charset="0"/>
            </a:endParaRPr>
          </a:p>
          <a:p>
            <a:pPr marL="449580" indent="-449580">
              <a:lnSpc>
                <a:spcPct val="90000"/>
              </a:lnSpc>
            </a:pPr>
            <a:r>
              <a:rPr lang="zh-CN" altLang="en-US" dirty="0">
                <a:latin typeface="Arial" panose="020B0604020202020204" pitchFamily="34" charset="0"/>
              </a:rPr>
              <a:t>利用散列函数计算出来的数值的最高</a:t>
            </a:r>
            <a:r>
              <a:rPr lang="en-US" altLang="zh-CN" dirty="0">
                <a:latin typeface="Arial" panose="020B0604020202020204" pitchFamily="34" charset="0"/>
              </a:rPr>
              <a:t>d</a:t>
            </a:r>
            <a:r>
              <a:rPr lang="zh-CN" altLang="en-US" dirty="0">
                <a:latin typeface="Arial" panose="020B0604020202020204" pitchFamily="34" charset="0"/>
              </a:rPr>
              <a:t>位来确定数组中的一个数据项，数组中的地址指向相应记录所在的桶。</a:t>
            </a:r>
            <a:endParaRPr lang="zh-CN" altLang="en-US" dirty="0">
              <a:latin typeface="Arial" panose="020B0604020202020204" pitchFamily="34" charset="0"/>
            </a:endParaRPr>
          </a:p>
          <a:p>
            <a:pPr marL="449580" indent="-449580">
              <a:lnSpc>
                <a:spcPct val="90000"/>
              </a:lnSpc>
            </a:pPr>
            <a:r>
              <a:rPr lang="zh-CN" altLang="en-US" dirty="0">
                <a:latin typeface="Arial" panose="020B0604020202020204" pitchFamily="34" charset="0"/>
              </a:rPr>
              <a:t>数组中的各项桶地址可以相同，这时记录的散列值的开始</a:t>
            </a:r>
            <a:r>
              <a:rPr lang="en-US" altLang="zh-CN" dirty="0">
                <a:latin typeface="Arial" panose="020B0604020202020204" pitchFamily="34" charset="0"/>
              </a:rPr>
              <a:t>d’</a:t>
            </a:r>
            <a:r>
              <a:rPr lang="zh-CN" altLang="en-US" dirty="0">
                <a:latin typeface="Arial" panose="020B0604020202020204" pitchFamily="34" charset="0"/>
              </a:rPr>
              <a:t>位相同，</a:t>
            </a:r>
            <a:r>
              <a:rPr lang="en-US" altLang="zh-CN" dirty="0">
                <a:latin typeface="Arial" panose="020B0604020202020204" pitchFamily="34" charset="0"/>
              </a:rPr>
              <a:t>d’</a:t>
            </a:r>
            <a:r>
              <a:rPr lang="zh-CN" altLang="en-US" dirty="0">
                <a:latin typeface="Arial" panose="020B0604020202020204" pitchFamily="34" charset="0"/>
              </a:rPr>
              <a:t>称为桶的局部深度，与每个桶一起存储。</a:t>
            </a:r>
            <a:endParaRPr lang="zh-CN" altLang="en-US" dirty="0">
              <a:latin typeface="Arial" panose="020B0604020202020204" pitchFamily="34" charset="0"/>
            </a:endParaRPr>
          </a:p>
        </p:txBody>
      </p:sp>
      <p:sp>
        <p:nvSpPr>
          <p:cNvPr id="788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3</a:t>
            </a: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、可扩展哈希</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页脚占位符 3"/>
          <p:cNvSpPr txBox="1">
            <a:spLocks noGrp="1"/>
          </p:cNvSpPr>
          <p:nvPr>
            <p:ph type="ftr" sz="quarter" idx="11"/>
          </p:nvPr>
        </p:nvSpPr>
        <p:spPr>
          <a:xfrm>
            <a:off x="1295400" y="6248400"/>
            <a:ext cx="1905000" cy="457200"/>
          </a:xfrm>
        </p:spPr>
        <p:txBody>
          <a:bodyPr wrap="none" lIns="92075" tIns="46038" rIns="92075" bIns="46038" anchor="ctr" anchorCtr="0"/>
          <a:p>
            <a:pPr marL="0" indent="0">
              <a:buClrTx/>
              <a:buSzTx/>
              <a:buFontTx/>
              <a:buNone/>
            </a:pPr>
            <a:r>
              <a:rPr lang="en-US" altLang="zh-CN" sz="2000" b="0" dirty="0">
                <a:solidFill>
                  <a:srgbClr val="808000"/>
                </a:solidFill>
                <a:latin typeface="Arial" panose="020B0604020202020204" pitchFamily="34" charset="0"/>
                <a:ea typeface="楷体_GB2312" pitchFamily="49" charset="-122"/>
              </a:rPr>
              <a:t>国防科大计算机学院603教研室</a:t>
            </a:r>
            <a:endParaRPr lang="en-US" altLang="zh-CN" sz="2000" b="0" dirty="0">
              <a:solidFill>
                <a:srgbClr val="808000"/>
              </a:solidFill>
              <a:latin typeface="Arial" panose="020B0604020202020204" pitchFamily="34" charset="0"/>
              <a:ea typeface="楷体_GB2312" pitchFamily="49" charset="-122"/>
            </a:endParaRPr>
          </a:p>
        </p:txBody>
      </p:sp>
      <p:sp>
        <p:nvSpPr>
          <p:cNvPr id="47107" name="灯片编号占位符 4"/>
          <p:cNvSpPr txBox="1">
            <a:spLocks noGrp="1"/>
          </p:cNvSpPr>
          <p:nvPr>
            <p:ph type="sldNum" sz="quarter" idx="12"/>
          </p:nvPr>
        </p:nvSpPr>
        <p:spPr>
          <a:xfrm>
            <a:off x="3733800" y="6248400"/>
            <a:ext cx="2895600" cy="457200"/>
          </a:xfrm>
        </p:spPr>
        <p:txBody>
          <a:bodyPr wrap="none" lIns="92075" tIns="46038" rIns="92075" bIns="46038" anchor="ctr" anchorCtr="0"/>
          <a:p>
            <a:pPr marL="0" indent="0" algn="ctr">
              <a:buClrTx/>
              <a:buSzTx/>
              <a:buFontTx/>
              <a:buNone/>
            </a:pPr>
            <a:fld id="{9A0DB2DC-4C9A-4742-B13C-FB6460FD3503}" type="slidenum">
              <a:rPr lang="en-US" altLang="zh-CN" sz="2000" b="0" dirty="0">
                <a:solidFill>
                  <a:srgbClr val="808000"/>
                </a:solidFill>
                <a:latin typeface="Arial" panose="020B0604020202020204" pitchFamily="34" charset="0"/>
                <a:ea typeface="楷体_GB2312" pitchFamily="49" charset="-122"/>
              </a:rPr>
            </a:fld>
            <a:endParaRPr lang="en-US" altLang="zh-CN" sz="2000" b="0" dirty="0">
              <a:solidFill>
                <a:srgbClr val="808000"/>
              </a:solidFill>
              <a:latin typeface="Arial" panose="020B0604020202020204" pitchFamily="34" charset="0"/>
              <a:ea typeface="楷体_GB2312" pitchFamily="49" charset="-122"/>
            </a:endParaRPr>
          </a:p>
        </p:txBody>
      </p:sp>
      <p:sp>
        <p:nvSpPr>
          <p:cNvPr id="86018"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
        <p:nvSpPr>
          <p:cNvPr id="86188" name="Text Box 172"/>
          <p:cNvSpPr txBox="1"/>
          <p:nvPr/>
        </p:nvSpPr>
        <p:spPr>
          <a:xfrm>
            <a:off x="6300788" y="1828800"/>
            <a:ext cx="2447925" cy="4362450"/>
          </a:xfrm>
          <a:prstGeom prst="rect">
            <a:avLst/>
          </a:prstGeom>
          <a:noFill/>
          <a:ln w="9525">
            <a:noFill/>
          </a:ln>
        </p:spPr>
        <p:txBody>
          <a:bodyPr>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Char char="•"/>
            </a:pPr>
            <a:r>
              <a:rPr lang="zh-CN" altLang="en-US" sz="2800" dirty="0">
                <a:latin typeface="Arial" panose="020B0604020202020204" pitchFamily="34" charset="0"/>
              </a:rPr>
              <a:t>全局深度</a:t>
            </a:r>
            <a:r>
              <a:rPr lang="en-US" altLang="zh-CN" sz="2800" dirty="0">
                <a:latin typeface="Arial" panose="020B0604020202020204" pitchFamily="34" charset="0"/>
              </a:rPr>
              <a:t>d=3     </a:t>
            </a:r>
            <a:endParaRPr lang="en-US" altLang="zh-CN" sz="2800" dirty="0">
              <a:latin typeface="Arial" panose="020B0604020202020204" pitchFamily="34" charset="0"/>
            </a:endParaRPr>
          </a:p>
          <a:p>
            <a:pPr marL="0" lvl="0" indent="0" eaLnBrk="1" hangingPunct="1">
              <a:buClrTx/>
              <a:buSzTx/>
              <a:buFontTx/>
              <a:buNone/>
            </a:pPr>
            <a:endParaRPr lang="en-US" altLang="zh-CN" sz="2800" dirty="0">
              <a:latin typeface="Arial" panose="020B0604020202020204" pitchFamily="34" charset="0"/>
            </a:endParaRPr>
          </a:p>
          <a:p>
            <a:pPr marL="0" lvl="0" indent="0" eaLnBrk="1" hangingPunct="1">
              <a:buClrTx/>
              <a:buSzTx/>
              <a:buFontTx/>
              <a:buChar char="•"/>
            </a:pPr>
            <a:r>
              <a:rPr lang="zh-CN" altLang="en-US" sz="2800" dirty="0">
                <a:latin typeface="Arial" panose="020B0604020202020204" pitchFamily="34" charset="0"/>
              </a:rPr>
              <a:t>当局部深度</a:t>
            </a:r>
            <a:r>
              <a:rPr lang="en-US" altLang="zh-CN" sz="2800" dirty="0">
                <a:latin typeface="Arial" panose="020B0604020202020204" pitchFamily="34" charset="0"/>
              </a:rPr>
              <a:t>d’</a:t>
            </a:r>
            <a:endParaRPr lang="en-US" altLang="zh-CN" sz="2800" dirty="0">
              <a:latin typeface="Arial" panose="020B0604020202020204" pitchFamily="34" charset="0"/>
            </a:endParaRPr>
          </a:p>
          <a:p>
            <a:pPr marL="0" lvl="0" indent="0" eaLnBrk="1" hangingPunct="1">
              <a:buClrTx/>
              <a:buSzTx/>
              <a:buFontTx/>
              <a:buNone/>
            </a:pPr>
            <a:r>
              <a:rPr lang="zh-CN" altLang="en-US" sz="2800" dirty="0">
                <a:latin typeface="Arial" panose="020B0604020202020204" pitchFamily="34" charset="0"/>
              </a:rPr>
              <a:t>等于全局深度</a:t>
            </a:r>
            <a:r>
              <a:rPr lang="en-US" altLang="zh-CN" sz="2800" dirty="0">
                <a:latin typeface="Arial" panose="020B0604020202020204" pitchFamily="34" charset="0"/>
              </a:rPr>
              <a:t>d</a:t>
            </a:r>
            <a:endParaRPr lang="en-US" altLang="zh-CN" sz="2800" dirty="0">
              <a:latin typeface="Arial" panose="020B0604020202020204" pitchFamily="34" charset="0"/>
            </a:endParaRPr>
          </a:p>
          <a:p>
            <a:pPr marL="0" lvl="0" indent="0" eaLnBrk="1" hangingPunct="1">
              <a:buClrTx/>
              <a:buSzTx/>
              <a:buFontTx/>
              <a:buNone/>
            </a:pPr>
            <a:r>
              <a:rPr lang="zh-CN" altLang="en-US" sz="2800" dirty="0">
                <a:latin typeface="Arial" panose="020B0604020202020204" pitchFamily="34" charset="0"/>
              </a:rPr>
              <a:t>的桶分裂时，目录的全局深度</a:t>
            </a:r>
            <a:r>
              <a:rPr lang="en-US" altLang="zh-CN" sz="2800" dirty="0">
                <a:latin typeface="Arial" panose="020B0604020202020204" pitchFamily="34" charset="0"/>
              </a:rPr>
              <a:t>d</a:t>
            </a:r>
            <a:r>
              <a:rPr lang="zh-CN" altLang="en-US" sz="2800" dirty="0">
                <a:latin typeface="Arial" panose="020B0604020202020204" pitchFamily="34" charset="0"/>
              </a:rPr>
              <a:t>增加</a:t>
            </a:r>
            <a:r>
              <a:rPr lang="en-US" altLang="zh-CN" sz="2800" dirty="0">
                <a:latin typeface="Arial" panose="020B0604020202020204" pitchFamily="34" charset="0"/>
              </a:rPr>
              <a:t>1</a:t>
            </a:r>
            <a:r>
              <a:rPr lang="zh-CN" altLang="en-US" sz="2800" dirty="0">
                <a:latin typeface="Arial" panose="020B0604020202020204" pitchFamily="34" charset="0"/>
              </a:rPr>
              <a:t>，目录的项数增加一倍。</a:t>
            </a:r>
            <a:endParaRPr lang="zh-CN" altLang="en-US" sz="2800" dirty="0">
              <a:latin typeface="Arial" panose="020B0604020202020204" pitchFamily="34" charset="0"/>
            </a:endParaRPr>
          </a:p>
        </p:txBody>
      </p:sp>
      <p:pic>
        <p:nvPicPr>
          <p:cNvPr id="47110" name="Picture 173" descr="sjk0638"/>
          <p:cNvPicPr>
            <a:picLocks noChangeAspect="1"/>
          </p:cNvPicPr>
          <p:nvPr/>
        </p:nvPicPr>
        <p:blipFill>
          <a:blip r:embed="rId1"/>
          <a:stretch>
            <a:fillRect/>
          </a:stretch>
        </p:blipFill>
        <p:spPr>
          <a:xfrm>
            <a:off x="0" y="692150"/>
            <a:ext cx="6227763" cy="5761038"/>
          </a:xfrm>
          <a:prstGeom prst="rect">
            <a:avLst/>
          </a:prstGeom>
          <a:noFill/>
          <a:ln w="9525">
            <a:noFill/>
          </a:ln>
        </p:spPr>
      </p:pic>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6188"/>
                                        </p:tgtEl>
                                        <p:attrNameLst>
                                          <p:attrName>style.visibility</p:attrName>
                                        </p:attrNameLst>
                                      </p:cBhvr>
                                      <p:to>
                                        <p:strVal val="visible"/>
                                      </p:to>
                                    </p:set>
                                    <p:anim calcmode="lin" valueType="num">
                                      <p:cBhvr additive="base">
                                        <p:cTn id="7" dur="500" fill="hold"/>
                                        <p:tgtEl>
                                          <p:spTgt spid="86188"/>
                                        </p:tgtEl>
                                        <p:attrNameLst>
                                          <p:attrName>ppt_x</p:attrName>
                                        </p:attrNameLst>
                                      </p:cBhvr>
                                      <p:tavLst>
                                        <p:tav tm="0">
                                          <p:val>
                                            <p:strVal val="0-#ppt_w/2"/>
                                          </p:val>
                                        </p:tav>
                                        <p:tav tm="100000">
                                          <p:val>
                                            <p:strVal val="#ppt_x"/>
                                          </p:val>
                                        </p:tav>
                                      </p:tavLst>
                                    </p:anim>
                                    <p:anim calcmode="lin" valueType="num">
                                      <p:cBhvr additive="base">
                                        <p:cTn id="8" dur="500" fill="hold"/>
                                        <p:tgtEl>
                                          <p:spTgt spid="861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8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页脚占位符 3"/>
          <p:cNvSpPr txBox="1">
            <a:spLocks noGrp="1"/>
          </p:cNvSpPr>
          <p:nvPr>
            <p:ph type="ftr" sz="quarter" idx="11"/>
          </p:nvPr>
        </p:nvSpPr>
        <p:spPr>
          <a:xfrm>
            <a:off x="1295400" y="6248400"/>
            <a:ext cx="1905000" cy="457200"/>
          </a:xfrm>
        </p:spPr>
        <p:txBody>
          <a:bodyPr wrap="none" lIns="92075" tIns="46038" rIns="92075" bIns="46038" anchor="ctr" anchorCtr="0"/>
          <a:p>
            <a:pPr marL="0" indent="0">
              <a:buClrTx/>
              <a:buSzTx/>
              <a:buFontTx/>
              <a:buNone/>
            </a:pPr>
            <a:r>
              <a:rPr lang="en-US" altLang="zh-CN" sz="2000" b="0" dirty="0">
                <a:solidFill>
                  <a:srgbClr val="808000"/>
                </a:solidFill>
                <a:latin typeface="Arial" panose="020B0604020202020204" pitchFamily="34" charset="0"/>
                <a:ea typeface="楷体_GB2312" pitchFamily="49" charset="-122"/>
              </a:rPr>
              <a:t>国防科大计算机学院603教研室</a:t>
            </a:r>
            <a:endParaRPr lang="en-US" altLang="zh-CN" sz="2000" b="0" dirty="0">
              <a:solidFill>
                <a:srgbClr val="808000"/>
              </a:solidFill>
              <a:latin typeface="Arial" panose="020B0604020202020204" pitchFamily="34" charset="0"/>
              <a:ea typeface="楷体_GB2312" pitchFamily="49" charset="-122"/>
            </a:endParaRPr>
          </a:p>
        </p:txBody>
      </p:sp>
      <p:sp>
        <p:nvSpPr>
          <p:cNvPr id="48131" name="灯片编号占位符 4"/>
          <p:cNvSpPr txBox="1">
            <a:spLocks noGrp="1"/>
          </p:cNvSpPr>
          <p:nvPr>
            <p:ph type="sldNum" sz="quarter" idx="12"/>
          </p:nvPr>
        </p:nvSpPr>
        <p:spPr>
          <a:xfrm>
            <a:off x="3733800" y="6248400"/>
            <a:ext cx="2895600" cy="457200"/>
          </a:xfrm>
        </p:spPr>
        <p:txBody>
          <a:bodyPr wrap="none" lIns="92075" tIns="46038" rIns="92075" bIns="46038" anchor="ctr" anchorCtr="0"/>
          <a:p>
            <a:pPr marL="0" indent="0" algn="ctr">
              <a:buClrTx/>
              <a:buSzTx/>
              <a:buFontTx/>
              <a:buNone/>
            </a:pPr>
            <a:fld id="{9A0DB2DC-4C9A-4742-B13C-FB6460FD3503}" type="slidenum">
              <a:rPr lang="en-US" altLang="zh-CN" sz="2000" b="0" dirty="0">
                <a:solidFill>
                  <a:srgbClr val="808000"/>
                </a:solidFill>
                <a:latin typeface="Arial" panose="020B0604020202020204" pitchFamily="34" charset="0"/>
                <a:ea typeface="楷体_GB2312" pitchFamily="49" charset="-122"/>
              </a:rPr>
            </a:fld>
            <a:endParaRPr lang="en-US" altLang="zh-CN" sz="2000" b="0" dirty="0">
              <a:solidFill>
                <a:srgbClr val="808000"/>
              </a:solidFill>
              <a:latin typeface="Arial" panose="020B0604020202020204" pitchFamily="34" charset="0"/>
              <a:ea typeface="楷体_GB2312" pitchFamily="49" charset="-122"/>
            </a:endParaRPr>
          </a:p>
        </p:txBody>
      </p:sp>
      <p:sp>
        <p:nvSpPr>
          <p:cNvPr id="103426" name="Rectangle 2"/>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zh-CN"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grpSp>
        <p:nvGrpSpPr>
          <p:cNvPr id="2" name="Group 55"/>
          <p:cNvGrpSpPr/>
          <p:nvPr/>
        </p:nvGrpSpPr>
        <p:grpSpPr>
          <a:xfrm>
            <a:off x="4038600" y="1371600"/>
            <a:ext cx="4724400" cy="4724400"/>
            <a:chOff x="2592" y="1380"/>
            <a:chExt cx="2976" cy="2460"/>
          </a:xfrm>
        </p:grpSpPr>
        <p:grpSp>
          <p:nvGrpSpPr>
            <p:cNvPr id="48207" name="Group 56"/>
            <p:cNvGrpSpPr/>
            <p:nvPr/>
          </p:nvGrpSpPr>
          <p:grpSpPr>
            <a:xfrm>
              <a:off x="2784" y="1380"/>
              <a:ext cx="2784" cy="2460"/>
              <a:chOff x="2640" y="1380"/>
              <a:chExt cx="2784" cy="2460"/>
            </a:xfrm>
          </p:grpSpPr>
          <p:grpSp>
            <p:nvGrpSpPr>
              <p:cNvPr id="48209" name="Group 57"/>
              <p:cNvGrpSpPr/>
              <p:nvPr/>
            </p:nvGrpSpPr>
            <p:grpSpPr>
              <a:xfrm>
                <a:off x="2640" y="1380"/>
                <a:ext cx="2784" cy="2460"/>
                <a:chOff x="2640" y="1536"/>
                <a:chExt cx="2784" cy="2460"/>
              </a:xfrm>
            </p:grpSpPr>
            <p:sp>
              <p:nvSpPr>
                <p:cNvPr id="48214" name="Rectangle 58"/>
                <p:cNvSpPr/>
                <p:nvPr/>
              </p:nvSpPr>
              <p:spPr>
                <a:xfrm>
                  <a:off x="2640" y="3785"/>
                  <a:ext cx="1104"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800" dirty="0">
                    <a:latin typeface="Arial" panose="020B0604020202020204" pitchFamily="34" charset="0"/>
                  </a:endParaRPr>
                </a:p>
              </p:txBody>
            </p:sp>
            <p:sp>
              <p:nvSpPr>
                <p:cNvPr id="48215" name="Rectangle 59"/>
                <p:cNvSpPr/>
                <p:nvPr/>
              </p:nvSpPr>
              <p:spPr>
                <a:xfrm>
                  <a:off x="2640" y="3574"/>
                  <a:ext cx="1104"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1 0 0 0</a:t>
                  </a:r>
                  <a:endParaRPr lang="en-US" altLang="zh-CN" sz="1800" dirty="0">
                    <a:latin typeface="Arial" panose="020B0604020202020204" pitchFamily="34" charset="0"/>
                  </a:endParaRPr>
                </a:p>
              </p:txBody>
            </p:sp>
            <p:sp>
              <p:nvSpPr>
                <p:cNvPr id="48216" name="Rectangle 60"/>
                <p:cNvSpPr/>
                <p:nvPr/>
              </p:nvSpPr>
              <p:spPr>
                <a:xfrm>
                  <a:off x="2640" y="3363"/>
                  <a:ext cx="1104"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0 1 1 1</a:t>
                  </a:r>
                  <a:endParaRPr lang="en-US" altLang="zh-CN" sz="1800" dirty="0">
                    <a:latin typeface="Arial" panose="020B0604020202020204" pitchFamily="34" charset="0"/>
                  </a:endParaRPr>
                </a:p>
              </p:txBody>
            </p:sp>
            <p:sp>
              <p:nvSpPr>
                <p:cNvPr id="48217" name="Rectangle 61"/>
                <p:cNvSpPr/>
                <p:nvPr/>
              </p:nvSpPr>
              <p:spPr>
                <a:xfrm>
                  <a:off x="2640" y="3105"/>
                  <a:ext cx="1104" cy="258"/>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0 1 1 0</a:t>
                  </a:r>
                  <a:endParaRPr lang="en-US" altLang="zh-CN" sz="1800" dirty="0">
                    <a:latin typeface="Arial" panose="020B0604020202020204" pitchFamily="34" charset="0"/>
                  </a:endParaRPr>
                </a:p>
              </p:txBody>
            </p:sp>
            <p:sp>
              <p:nvSpPr>
                <p:cNvPr id="48218" name="Rectangle 62"/>
                <p:cNvSpPr/>
                <p:nvPr/>
              </p:nvSpPr>
              <p:spPr>
                <a:xfrm>
                  <a:off x="2640" y="2846"/>
                  <a:ext cx="1104" cy="259"/>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0 1 0 1</a:t>
                  </a:r>
                  <a:endParaRPr lang="en-US" altLang="zh-CN" sz="1800" dirty="0">
                    <a:latin typeface="Arial" panose="020B0604020202020204" pitchFamily="34" charset="0"/>
                  </a:endParaRPr>
                </a:p>
              </p:txBody>
            </p:sp>
            <p:sp>
              <p:nvSpPr>
                <p:cNvPr id="48219" name="Rectangle 63"/>
                <p:cNvSpPr/>
                <p:nvPr/>
              </p:nvSpPr>
              <p:spPr>
                <a:xfrm>
                  <a:off x="2640" y="2588"/>
                  <a:ext cx="1104" cy="258"/>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0 1 0 0</a:t>
                  </a:r>
                  <a:endParaRPr lang="en-US" altLang="zh-CN" sz="1800" dirty="0">
                    <a:latin typeface="Arial" panose="020B0604020202020204" pitchFamily="34" charset="0"/>
                  </a:endParaRPr>
                </a:p>
              </p:txBody>
            </p:sp>
            <p:sp>
              <p:nvSpPr>
                <p:cNvPr id="48220" name="Rectangle 64"/>
                <p:cNvSpPr/>
                <p:nvPr/>
              </p:nvSpPr>
              <p:spPr>
                <a:xfrm>
                  <a:off x="2640" y="2329"/>
                  <a:ext cx="1104" cy="259"/>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0 0 1 1</a:t>
                  </a:r>
                  <a:endParaRPr lang="en-US" altLang="zh-CN" sz="1800" dirty="0">
                    <a:latin typeface="Arial" panose="020B0604020202020204" pitchFamily="34" charset="0"/>
                  </a:endParaRPr>
                </a:p>
              </p:txBody>
            </p:sp>
            <p:sp>
              <p:nvSpPr>
                <p:cNvPr id="48221" name="Rectangle 65"/>
                <p:cNvSpPr/>
                <p:nvPr/>
              </p:nvSpPr>
              <p:spPr>
                <a:xfrm>
                  <a:off x="2640" y="2071"/>
                  <a:ext cx="1104" cy="258"/>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0 0 10</a:t>
                  </a:r>
                  <a:endParaRPr lang="en-US" altLang="zh-CN" sz="1800" dirty="0">
                    <a:latin typeface="Arial" panose="020B0604020202020204" pitchFamily="34" charset="0"/>
                  </a:endParaRPr>
                </a:p>
              </p:txBody>
            </p:sp>
            <p:sp>
              <p:nvSpPr>
                <p:cNvPr id="48222" name="Rectangle 66"/>
                <p:cNvSpPr/>
                <p:nvPr/>
              </p:nvSpPr>
              <p:spPr>
                <a:xfrm>
                  <a:off x="2640" y="1812"/>
                  <a:ext cx="1104" cy="259"/>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0 0 0 1</a:t>
                  </a:r>
                  <a:endParaRPr lang="en-US" altLang="zh-CN" sz="1800" dirty="0">
                    <a:latin typeface="Arial" panose="020B0604020202020204" pitchFamily="34" charset="0"/>
                  </a:endParaRPr>
                </a:p>
              </p:txBody>
            </p:sp>
            <p:sp>
              <p:nvSpPr>
                <p:cNvPr id="48223" name="Rectangle 67"/>
                <p:cNvSpPr/>
                <p:nvPr/>
              </p:nvSpPr>
              <p:spPr>
                <a:xfrm>
                  <a:off x="2640" y="1554"/>
                  <a:ext cx="1104" cy="258"/>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0 0 0 0</a:t>
                  </a:r>
                  <a:endParaRPr lang="en-US" altLang="zh-CN" sz="1800" dirty="0">
                    <a:latin typeface="Arial" panose="020B0604020202020204" pitchFamily="34" charset="0"/>
                  </a:endParaRPr>
                </a:p>
              </p:txBody>
            </p:sp>
            <p:sp>
              <p:nvSpPr>
                <p:cNvPr id="48224" name="Line 68"/>
                <p:cNvSpPr/>
                <p:nvPr/>
              </p:nvSpPr>
              <p:spPr>
                <a:xfrm>
                  <a:off x="2640" y="1554"/>
                  <a:ext cx="1104" cy="0"/>
                </a:xfrm>
                <a:prstGeom prst="line">
                  <a:avLst/>
                </a:prstGeom>
                <a:ln w="28575" cap="sq" cmpd="sng">
                  <a:solidFill>
                    <a:srgbClr val="000000"/>
                  </a:solidFill>
                  <a:prstDash val="solid"/>
                  <a:headEnd type="none" w="med" len="med"/>
                  <a:tailEnd type="none" w="med" len="med"/>
                </a:ln>
              </p:spPr>
            </p:sp>
            <p:sp>
              <p:nvSpPr>
                <p:cNvPr id="48225" name="Line 69"/>
                <p:cNvSpPr/>
                <p:nvPr/>
              </p:nvSpPr>
              <p:spPr>
                <a:xfrm>
                  <a:off x="2640" y="1812"/>
                  <a:ext cx="1104" cy="0"/>
                </a:xfrm>
                <a:prstGeom prst="line">
                  <a:avLst/>
                </a:prstGeom>
                <a:ln w="12700" cap="flat" cmpd="sng">
                  <a:solidFill>
                    <a:srgbClr val="000000"/>
                  </a:solidFill>
                  <a:prstDash val="solid"/>
                  <a:headEnd type="none" w="med" len="med"/>
                  <a:tailEnd type="none" w="med" len="med"/>
                </a:ln>
              </p:spPr>
            </p:sp>
            <p:sp>
              <p:nvSpPr>
                <p:cNvPr id="48226" name="Line 70"/>
                <p:cNvSpPr/>
                <p:nvPr/>
              </p:nvSpPr>
              <p:spPr>
                <a:xfrm>
                  <a:off x="2640" y="2071"/>
                  <a:ext cx="1104" cy="0"/>
                </a:xfrm>
                <a:prstGeom prst="line">
                  <a:avLst/>
                </a:prstGeom>
                <a:ln w="12700" cap="flat" cmpd="sng">
                  <a:solidFill>
                    <a:srgbClr val="000000"/>
                  </a:solidFill>
                  <a:prstDash val="solid"/>
                  <a:headEnd type="none" w="med" len="med"/>
                  <a:tailEnd type="none" w="med" len="med"/>
                </a:ln>
              </p:spPr>
            </p:sp>
            <p:sp>
              <p:nvSpPr>
                <p:cNvPr id="48227" name="Line 71"/>
                <p:cNvSpPr/>
                <p:nvPr/>
              </p:nvSpPr>
              <p:spPr>
                <a:xfrm>
                  <a:off x="2640" y="2329"/>
                  <a:ext cx="1104" cy="0"/>
                </a:xfrm>
                <a:prstGeom prst="line">
                  <a:avLst/>
                </a:prstGeom>
                <a:ln w="12700" cap="flat" cmpd="sng">
                  <a:solidFill>
                    <a:srgbClr val="000000"/>
                  </a:solidFill>
                  <a:prstDash val="solid"/>
                  <a:headEnd type="none" w="med" len="med"/>
                  <a:tailEnd type="none" w="med" len="med"/>
                </a:ln>
              </p:spPr>
            </p:sp>
            <p:sp>
              <p:nvSpPr>
                <p:cNvPr id="48228" name="Line 72"/>
                <p:cNvSpPr/>
                <p:nvPr/>
              </p:nvSpPr>
              <p:spPr>
                <a:xfrm>
                  <a:off x="2640" y="2588"/>
                  <a:ext cx="1104" cy="0"/>
                </a:xfrm>
                <a:prstGeom prst="line">
                  <a:avLst/>
                </a:prstGeom>
                <a:ln w="12700" cap="flat" cmpd="sng">
                  <a:solidFill>
                    <a:srgbClr val="000000"/>
                  </a:solidFill>
                  <a:prstDash val="solid"/>
                  <a:headEnd type="none" w="med" len="med"/>
                  <a:tailEnd type="none" w="med" len="med"/>
                </a:ln>
              </p:spPr>
            </p:sp>
            <p:sp>
              <p:nvSpPr>
                <p:cNvPr id="48229" name="Line 73"/>
                <p:cNvSpPr/>
                <p:nvPr/>
              </p:nvSpPr>
              <p:spPr>
                <a:xfrm>
                  <a:off x="2640" y="2846"/>
                  <a:ext cx="1104" cy="0"/>
                </a:xfrm>
                <a:prstGeom prst="line">
                  <a:avLst/>
                </a:prstGeom>
                <a:ln w="12700" cap="flat" cmpd="sng">
                  <a:solidFill>
                    <a:srgbClr val="000000"/>
                  </a:solidFill>
                  <a:prstDash val="solid"/>
                  <a:headEnd type="none" w="med" len="med"/>
                  <a:tailEnd type="none" w="med" len="med"/>
                </a:ln>
              </p:spPr>
            </p:sp>
            <p:sp>
              <p:nvSpPr>
                <p:cNvPr id="48230" name="Line 74"/>
                <p:cNvSpPr/>
                <p:nvPr/>
              </p:nvSpPr>
              <p:spPr>
                <a:xfrm>
                  <a:off x="2640" y="3105"/>
                  <a:ext cx="1104" cy="0"/>
                </a:xfrm>
                <a:prstGeom prst="line">
                  <a:avLst/>
                </a:prstGeom>
                <a:ln w="12700" cap="flat" cmpd="sng">
                  <a:solidFill>
                    <a:srgbClr val="000000"/>
                  </a:solidFill>
                  <a:prstDash val="solid"/>
                  <a:headEnd type="none" w="med" len="med"/>
                  <a:tailEnd type="none" w="med" len="med"/>
                </a:ln>
              </p:spPr>
            </p:sp>
            <p:sp>
              <p:nvSpPr>
                <p:cNvPr id="48231" name="Line 75"/>
                <p:cNvSpPr/>
                <p:nvPr/>
              </p:nvSpPr>
              <p:spPr>
                <a:xfrm>
                  <a:off x="2640" y="3363"/>
                  <a:ext cx="1104" cy="0"/>
                </a:xfrm>
                <a:prstGeom prst="line">
                  <a:avLst/>
                </a:prstGeom>
                <a:ln w="12700" cap="flat" cmpd="sng">
                  <a:solidFill>
                    <a:srgbClr val="000000"/>
                  </a:solidFill>
                  <a:prstDash val="solid"/>
                  <a:headEnd type="none" w="med" len="med"/>
                  <a:tailEnd type="none" w="med" len="med"/>
                </a:ln>
              </p:spPr>
            </p:sp>
            <p:sp>
              <p:nvSpPr>
                <p:cNvPr id="48232" name="Line 76"/>
                <p:cNvSpPr/>
                <p:nvPr/>
              </p:nvSpPr>
              <p:spPr>
                <a:xfrm>
                  <a:off x="2640" y="3574"/>
                  <a:ext cx="1104" cy="0"/>
                </a:xfrm>
                <a:prstGeom prst="line">
                  <a:avLst/>
                </a:prstGeom>
                <a:ln w="12700" cap="flat" cmpd="sng">
                  <a:solidFill>
                    <a:srgbClr val="000000"/>
                  </a:solidFill>
                  <a:prstDash val="solid"/>
                  <a:headEnd type="none" w="med" len="med"/>
                  <a:tailEnd type="none" w="med" len="med"/>
                </a:ln>
              </p:spPr>
            </p:sp>
            <p:sp>
              <p:nvSpPr>
                <p:cNvPr id="48233" name="Line 77"/>
                <p:cNvSpPr/>
                <p:nvPr/>
              </p:nvSpPr>
              <p:spPr>
                <a:xfrm flipH="1">
                  <a:off x="2640" y="1554"/>
                  <a:ext cx="0" cy="2382"/>
                </a:xfrm>
                <a:prstGeom prst="line">
                  <a:avLst/>
                </a:prstGeom>
                <a:ln w="28575" cap="sq" cmpd="sng">
                  <a:solidFill>
                    <a:srgbClr val="000000"/>
                  </a:solidFill>
                  <a:prstDash val="solid"/>
                  <a:headEnd type="none" w="med" len="med"/>
                  <a:tailEnd type="none" w="med" len="med"/>
                </a:ln>
              </p:spPr>
            </p:sp>
            <p:sp>
              <p:nvSpPr>
                <p:cNvPr id="48234" name="Line 78"/>
                <p:cNvSpPr/>
                <p:nvPr/>
              </p:nvSpPr>
              <p:spPr>
                <a:xfrm>
                  <a:off x="3744" y="1536"/>
                  <a:ext cx="0" cy="2400"/>
                </a:xfrm>
                <a:prstGeom prst="line">
                  <a:avLst/>
                </a:prstGeom>
                <a:ln w="28575" cap="sq" cmpd="sng">
                  <a:solidFill>
                    <a:srgbClr val="000000"/>
                  </a:solidFill>
                  <a:prstDash val="solid"/>
                  <a:headEnd type="none" w="med" len="med"/>
                  <a:tailEnd type="none" w="med" len="med"/>
                </a:ln>
              </p:spPr>
            </p:sp>
            <p:sp>
              <p:nvSpPr>
                <p:cNvPr id="48235" name="Line 79"/>
                <p:cNvSpPr/>
                <p:nvPr/>
              </p:nvSpPr>
              <p:spPr>
                <a:xfrm>
                  <a:off x="2640" y="3785"/>
                  <a:ext cx="1104" cy="0"/>
                </a:xfrm>
                <a:prstGeom prst="line">
                  <a:avLst/>
                </a:prstGeom>
                <a:ln w="12700" cap="flat" cmpd="sng">
                  <a:solidFill>
                    <a:srgbClr val="000000"/>
                  </a:solidFill>
                  <a:prstDash val="solid"/>
                  <a:headEnd type="none" w="med" len="med"/>
                  <a:tailEnd type="none" w="med" len="med"/>
                </a:ln>
              </p:spPr>
            </p:sp>
            <p:grpSp>
              <p:nvGrpSpPr>
                <p:cNvPr id="48236" name="Group 80"/>
                <p:cNvGrpSpPr/>
                <p:nvPr/>
              </p:nvGrpSpPr>
              <p:grpSpPr>
                <a:xfrm>
                  <a:off x="3600" y="1680"/>
                  <a:ext cx="1824" cy="1824"/>
                  <a:chOff x="3600" y="1680"/>
                  <a:chExt cx="1824" cy="1824"/>
                </a:xfrm>
              </p:grpSpPr>
              <p:grpSp>
                <p:nvGrpSpPr>
                  <p:cNvPr id="48237" name="Group 81"/>
                  <p:cNvGrpSpPr/>
                  <p:nvPr/>
                </p:nvGrpSpPr>
                <p:grpSpPr>
                  <a:xfrm>
                    <a:off x="4176" y="1690"/>
                    <a:ext cx="1248" cy="1334"/>
                    <a:chOff x="4080" y="1613"/>
                    <a:chExt cx="1248" cy="1334"/>
                  </a:xfrm>
                </p:grpSpPr>
                <p:sp>
                  <p:nvSpPr>
                    <p:cNvPr id="48246" name="Rectangle 82"/>
                    <p:cNvSpPr/>
                    <p:nvPr/>
                  </p:nvSpPr>
                  <p:spPr>
                    <a:xfrm>
                      <a:off x="4608" y="1613"/>
                      <a:ext cx="720"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    </a:t>
                      </a:r>
                      <a:endParaRPr lang="en-US" altLang="zh-CN" sz="1800" dirty="0">
                        <a:latin typeface="Arial" panose="020B0604020202020204" pitchFamily="34" charset="0"/>
                      </a:endParaRPr>
                    </a:p>
                  </p:txBody>
                </p:sp>
                <p:sp>
                  <p:nvSpPr>
                    <p:cNvPr id="48247" name="Rectangle 83"/>
                    <p:cNvSpPr/>
                    <p:nvPr/>
                  </p:nvSpPr>
                  <p:spPr>
                    <a:xfrm>
                      <a:off x="4080" y="1613"/>
                      <a:ext cx="52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d’=4</a:t>
                      </a:r>
                      <a:endParaRPr lang="en-US" altLang="zh-CN" sz="1800" dirty="0">
                        <a:latin typeface="Arial" panose="020B0604020202020204" pitchFamily="34" charset="0"/>
                      </a:endParaRPr>
                    </a:p>
                  </p:txBody>
                </p:sp>
                <p:sp>
                  <p:nvSpPr>
                    <p:cNvPr id="48248" name="Line 84"/>
                    <p:cNvSpPr/>
                    <p:nvPr/>
                  </p:nvSpPr>
                  <p:spPr>
                    <a:xfrm>
                      <a:off x="4080" y="1613"/>
                      <a:ext cx="1248" cy="0"/>
                    </a:xfrm>
                    <a:prstGeom prst="line">
                      <a:avLst/>
                    </a:prstGeom>
                    <a:ln w="28575" cap="sq" cmpd="sng">
                      <a:solidFill>
                        <a:srgbClr val="000000"/>
                      </a:solidFill>
                      <a:prstDash val="solid"/>
                      <a:headEnd type="none" w="med" len="med"/>
                      <a:tailEnd type="none" w="med" len="med"/>
                    </a:ln>
                  </p:spPr>
                </p:sp>
                <p:sp>
                  <p:nvSpPr>
                    <p:cNvPr id="48249" name="Line 85"/>
                    <p:cNvSpPr/>
                    <p:nvPr/>
                  </p:nvSpPr>
                  <p:spPr>
                    <a:xfrm>
                      <a:off x="4080" y="1824"/>
                      <a:ext cx="1248" cy="0"/>
                    </a:xfrm>
                    <a:prstGeom prst="line">
                      <a:avLst/>
                    </a:prstGeom>
                    <a:ln w="28575" cap="sq" cmpd="sng">
                      <a:solidFill>
                        <a:srgbClr val="000000"/>
                      </a:solidFill>
                      <a:prstDash val="solid"/>
                      <a:headEnd type="none" w="med" len="med"/>
                      <a:tailEnd type="none" w="med" len="med"/>
                    </a:ln>
                  </p:spPr>
                </p:sp>
                <p:sp>
                  <p:nvSpPr>
                    <p:cNvPr id="48250" name="Line 86"/>
                    <p:cNvSpPr/>
                    <p:nvPr/>
                  </p:nvSpPr>
                  <p:spPr>
                    <a:xfrm>
                      <a:off x="4080" y="1613"/>
                      <a:ext cx="0" cy="211"/>
                    </a:xfrm>
                    <a:prstGeom prst="line">
                      <a:avLst/>
                    </a:prstGeom>
                    <a:ln w="28575" cap="sq" cmpd="sng">
                      <a:solidFill>
                        <a:srgbClr val="000000"/>
                      </a:solidFill>
                      <a:prstDash val="solid"/>
                      <a:headEnd type="none" w="med" len="med"/>
                      <a:tailEnd type="none" w="med" len="med"/>
                    </a:ln>
                  </p:spPr>
                </p:sp>
                <p:sp>
                  <p:nvSpPr>
                    <p:cNvPr id="48251" name="Line 87"/>
                    <p:cNvSpPr/>
                    <p:nvPr/>
                  </p:nvSpPr>
                  <p:spPr>
                    <a:xfrm>
                      <a:off x="4608" y="1613"/>
                      <a:ext cx="0" cy="211"/>
                    </a:xfrm>
                    <a:prstGeom prst="line">
                      <a:avLst/>
                    </a:prstGeom>
                    <a:ln w="12700" cap="flat" cmpd="sng">
                      <a:solidFill>
                        <a:srgbClr val="000000"/>
                      </a:solidFill>
                      <a:prstDash val="solid"/>
                      <a:headEnd type="none" w="med" len="med"/>
                      <a:tailEnd type="none" w="med" len="med"/>
                    </a:ln>
                  </p:spPr>
                </p:sp>
                <p:sp>
                  <p:nvSpPr>
                    <p:cNvPr id="48252" name="Line 88"/>
                    <p:cNvSpPr/>
                    <p:nvPr/>
                  </p:nvSpPr>
                  <p:spPr>
                    <a:xfrm>
                      <a:off x="5328" y="1613"/>
                      <a:ext cx="0" cy="211"/>
                    </a:xfrm>
                    <a:prstGeom prst="line">
                      <a:avLst/>
                    </a:prstGeom>
                    <a:ln w="28575" cap="sq" cmpd="sng">
                      <a:solidFill>
                        <a:srgbClr val="000000"/>
                      </a:solidFill>
                      <a:prstDash val="solid"/>
                      <a:headEnd type="none" w="med" len="med"/>
                      <a:tailEnd type="none" w="med" len="med"/>
                    </a:ln>
                  </p:spPr>
                </p:sp>
                <p:sp>
                  <p:nvSpPr>
                    <p:cNvPr id="48253" name="Rectangle 89"/>
                    <p:cNvSpPr/>
                    <p:nvPr/>
                  </p:nvSpPr>
                  <p:spPr>
                    <a:xfrm>
                      <a:off x="4608" y="1968"/>
                      <a:ext cx="720" cy="240"/>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    </a:t>
                      </a:r>
                      <a:endParaRPr lang="en-US" altLang="zh-CN" sz="1800" dirty="0">
                        <a:latin typeface="Arial" panose="020B0604020202020204" pitchFamily="34" charset="0"/>
                      </a:endParaRPr>
                    </a:p>
                  </p:txBody>
                </p:sp>
                <p:sp>
                  <p:nvSpPr>
                    <p:cNvPr id="48254" name="Rectangle 90"/>
                    <p:cNvSpPr/>
                    <p:nvPr/>
                  </p:nvSpPr>
                  <p:spPr>
                    <a:xfrm>
                      <a:off x="4080" y="1968"/>
                      <a:ext cx="528" cy="240"/>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d’=4</a:t>
                      </a:r>
                      <a:endParaRPr lang="en-US" altLang="zh-CN" sz="1800" dirty="0">
                        <a:latin typeface="Arial" panose="020B0604020202020204" pitchFamily="34" charset="0"/>
                      </a:endParaRPr>
                    </a:p>
                  </p:txBody>
                </p:sp>
                <p:sp>
                  <p:nvSpPr>
                    <p:cNvPr id="48255" name="Line 91"/>
                    <p:cNvSpPr/>
                    <p:nvPr/>
                  </p:nvSpPr>
                  <p:spPr>
                    <a:xfrm>
                      <a:off x="4080" y="1968"/>
                      <a:ext cx="1248" cy="0"/>
                    </a:xfrm>
                    <a:prstGeom prst="line">
                      <a:avLst/>
                    </a:prstGeom>
                    <a:ln w="28575" cap="sq" cmpd="sng">
                      <a:solidFill>
                        <a:srgbClr val="000000"/>
                      </a:solidFill>
                      <a:prstDash val="solid"/>
                      <a:headEnd type="none" w="med" len="med"/>
                      <a:tailEnd type="none" w="med" len="med"/>
                    </a:ln>
                  </p:spPr>
                </p:sp>
                <p:sp>
                  <p:nvSpPr>
                    <p:cNvPr id="48256" name="Line 92"/>
                    <p:cNvSpPr/>
                    <p:nvPr/>
                  </p:nvSpPr>
                  <p:spPr>
                    <a:xfrm>
                      <a:off x="4080" y="2208"/>
                      <a:ext cx="1248" cy="0"/>
                    </a:xfrm>
                    <a:prstGeom prst="line">
                      <a:avLst/>
                    </a:prstGeom>
                    <a:ln w="28575" cap="sq" cmpd="sng">
                      <a:solidFill>
                        <a:srgbClr val="000000"/>
                      </a:solidFill>
                      <a:prstDash val="solid"/>
                      <a:headEnd type="none" w="med" len="med"/>
                      <a:tailEnd type="none" w="med" len="med"/>
                    </a:ln>
                  </p:spPr>
                </p:sp>
                <p:sp>
                  <p:nvSpPr>
                    <p:cNvPr id="48257" name="Line 93"/>
                    <p:cNvSpPr/>
                    <p:nvPr/>
                  </p:nvSpPr>
                  <p:spPr>
                    <a:xfrm>
                      <a:off x="4080" y="1968"/>
                      <a:ext cx="0" cy="240"/>
                    </a:xfrm>
                    <a:prstGeom prst="line">
                      <a:avLst/>
                    </a:prstGeom>
                    <a:ln w="28575" cap="sq" cmpd="sng">
                      <a:solidFill>
                        <a:srgbClr val="000000"/>
                      </a:solidFill>
                      <a:prstDash val="solid"/>
                      <a:headEnd type="none" w="med" len="med"/>
                      <a:tailEnd type="none" w="med" len="med"/>
                    </a:ln>
                  </p:spPr>
                </p:sp>
                <p:sp>
                  <p:nvSpPr>
                    <p:cNvPr id="48258" name="Line 94"/>
                    <p:cNvSpPr/>
                    <p:nvPr/>
                  </p:nvSpPr>
                  <p:spPr>
                    <a:xfrm>
                      <a:off x="4608" y="1968"/>
                      <a:ext cx="0" cy="240"/>
                    </a:xfrm>
                    <a:prstGeom prst="line">
                      <a:avLst/>
                    </a:prstGeom>
                    <a:ln w="12700" cap="flat" cmpd="sng">
                      <a:solidFill>
                        <a:srgbClr val="000000"/>
                      </a:solidFill>
                      <a:prstDash val="solid"/>
                      <a:headEnd type="none" w="med" len="med"/>
                      <a:tailEnd type="none" w="med" len="med"/>
                    </a:ln>
                  </p:spPr>
                </p:sp>
                <p:sp>
                  <p:nvSpPr>
                    <p:cNvPr id="48259" name="Line 95"/>
                    <p:cNvSpPr/>
                    <p:nvPr/>
                  </p:nvSpPr>
                  <p:spPr>
                    <a:xfrm>
                      <a:off x="5328" y="1968"/>
                      <a:ext cx="0" cy="240"/>
                    </a:xfrm>
                    <a:prstGeom prst="line">
                      <a:avLst/>
                    </a:prstGeom>
                    <a:ln w="28575" cap="sq" cmpd="sng">
                      <a:solidFill>
                        <a:srgbClr val="000000"/>
                      </a:solidFill>
                      <a:prstDash val="solid"/>
                      <a:headEnd type="none" w="med" len="med"/>
                      <a:tailEnd type="none" w="med" len="med"/>
                    </a:ln>
                  </p:spPr>
                </p:sp>
                <p:sp>
                  <p:nvSpPr>
                    <p:cNvPr id="48260" name="Rectangle 96"/>
                    <p:cNvSpPr/>
                    <p:nvPr/>
                  </p:nvSpPr>
                  <p:spPr>
                    <a:xfrm>
                      <a:off x="4608" y="2333"/>
                      <a:ext cx="720"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    </a:t>
                      </a:r>
                      <a:endParaRPr lang="en-US" altLang="zh-CN" sz="1800" dirty="0">
                        <a:latin typeface="Arial" panose="020B0604020202020204" pitchFamily="34" charset="0"/>
                      </a:endParaRPr>
                    </a:p>
                  </p:txBody>
                </p:sp>
                <p:sp>
                  <p:nvSpPr>
                    <p:cNvPr id="48261" name="Rectangle 97"/>
                    <p:cNvSpPr/>
                    <p:nvPr/>
                  </p:nvSpPr>
                  <p:spPr>
                    <a:xfrm>
                      <a:off x="4080" y="2333"/>
                      <a:ext cx="52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d’=3</a:t>
                      </a:r>
                      <a:endParaRPr lang="en-US" altLang="zh-CN" sz="1800" dirty="0">
                        <a:latin typeface="Arial" panose="020B0604020202020204" pitchFamily="34" charset="0"/>
                      </a:endParaRPr>
                    </a:p>
                  </p:txBody>
                </p:sp>
                <p:sp>
                  <p:nvSpPr>
                    <p:cNvPr id="48262" name="Line 98"/>
                    <p:cNvSpPr/>
                    <p:nvPr/>
                  </p:nvSpPr>
                  <p:spPr>
                    <a:xfrm>
                      <a:off x="4080" y="2333"/>
                      <a:ext cx="1248" cy="0"/>
                    </a:xfrm>
                    <a:prstGeom prst="line">
                      <a:avLst/>
                    </a:prstGeom>
                    <a:ln w="28575" cap="sq" cmpd="sng">
                      <a:solidFill>
                        <a:srgbClr val="000000"/>
                      </a:solidFill>
                      <a:prstDash val="solid"/>
                      <a:headEnd type="none" w="med" len="med"/>
                      <a:tailEnd type="none" w="med" len="med"/>
                    </a:ln>
                  </p:spPr>
                </p:sp>
                <p:sp>
                  <p:nvSpPr>
                    <p:cNvPr id="48263" name="Line 99"/>
                    <p:cNvSpPr/>
                    <p:nvPr/>
                  </p:nvSpPr>
                  <p:spPr>
                    <a:xfrm>
                      <a:off x="4080" y="2544"/>
                      <a:ext cx="1248" cy="0"/>
                    </a:xfrm>
                    <a:prstGeom prst="line">
                      <a:avLst/>
                    </a:prstGeom>
                    <a:ln w="28575" cap="sq" cmpd="sng">
                      <a:solidFill>
                        <a:srgbClr val="000000"/>
                      </a:solidFill>
                      <a:prstDash val="solid"/>
                      <a:headEnd type="none" w="med" len="med"/>
                      <a:tailEnd type="none" w="med" len="med"/>
                    </a:ln>
                  </p:spPr>
                </p:sp>
                <p:sp>
                  <p:nvSpPr>
                    <p:cNvPr id="48264" name="Line 100"/>
                    <p:cNvSpPr/>
                    <p:nvPr/>
                  </p:nvSpPr>
                  <p:spPr>
                    <a:xfrm>
                      <a:off x="4080" y="2333"/>
                      <a:ext cx="0" cy="211"/>
                    </a:xfrm>
                    <a:prstGeom prst="line">
                      <a:avLst/>
                    </a:prstGeom>
                    <a:ln w="28575" cap="sq" cmpd="sng">
                      <a:solidFill>
                        <a:srgbClr val="000000"/>
                      </a:solidFill>
                      <a:prstDash val="solid"/>
                      <a:headEnd type="none" w="med" len="med"/>
                      <a:tailEnd type="none" w="med" len="med"/>
                    </a:ln>
                  </p:spPr>
                </p:sp>
                <p:sp>
                  <p:nvSpPr>
                    <p:cNvPr id="48265" name="Line 101"/>
                    <p:cNvSpPr/>
                    <p:nvPr/>
                  </p:nvSpPr>
                  <p:spPr>
                    <a:xfrm>
                      <a:off x="4608" y="2333"/>
                      <a:ext cx="0" cy="211"/>
                    </a:xfrm>
                    <a:prstGeom prst="line">
                      <a:avLst/>
                    </a:prstGeom>
                    <a:ln w="12700" cap="flat" cmpd="sng">
                      <a:solidFill>
                        <a:srgbClr val="000000"/>
                      </a:solidFill>
                      <a:prstDash val="solid"/>
                      <a:headEnd type="none" w="med" len="med"/>
                      <a:tailEnd type="none" w="med" len="med"/>
                    </a:ln>
                  </p:spPr>
                </p:sp>
                <p:sp>
                  <p:nvSpPr>
                    <p:cNvPr id="48266" name="Line 102"/>
                    <p:cNvSpPr/>
                    <p:nvPr/>
                  </p:nvSpPr>
                  <p:spPr>
                    <a:xfrm>
                      <a:off x="5328" y="2333"/>
                      <a:ext cx="0" cy="211"/>
                    </a:xfrm>
                    <a:prstGeom prst="line">
                      <a:avLst/>
                    </a:prstGeom>
                    <a:ln w="28575" cap="sq" cmpd="sng">
                      <a:solidFill>
                        <a:srgbClr val="000000"/>
                      </a:solidFill>
                      <a:prstDash val="solid"/>
                      <a:headEnd type="none" w="med" len="med"/>
                      <a:tailEnd type="none" w="med" len="med"/>
                    </a:ln>
                  </p:spPr>
                </p:sp>
                <p:sp>
                  <p:nvSpPr>
                    <p:cNvPr id="48267" name="Rectangle 103"/>
                    <p:cNvSpPr/>
                    <p:nvPr/>
                  </p:nvSpPr>
                  <p:spPr>
                    <a:xfrm>
                      <a:off x="4608" y="2736"/>
                      <a:ext cx="720"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    </a:t>
                      </a:r>
                      <a:endParaRPr lang="en-US" altLang="zh-CN" sz="1800" dirty="0">
                        <a:latin typeface="Arial" panose="020B0604020202020204" pitchFamily="34" charset="0"/>
                      </a:endParaRPr>
                    </a:p>
                  </p:txBody>
                </p:sp>
                <p:sp>
                  <p:nvSpPr>
                    <p:cNvPr id="48268" name="Rectangle 104"/>
                    <p:cNvSpPr/>
                    <p:nvPr/>
                  </p:nvSpPr>
                  <p:spPr>
                    <a:xfrm>
                      <a:off x="4080" y="2736"/>
                      <a:ext cx="52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d’=2</a:t>
                      </a:r>
                      <a:endParaRPr lang="en-US" altLang="zh-CN" sz="1800" dirty="0">
                        <a:latin typeface="Arial" panose="020B0604020202020204" pitchFamily="34" charset="0"/>
                      </a:endParaRPr>
                    </a:p>
                  </p:txBody>
                </p:sp>
                <p:sp>
                  <p:nvSpPr>
                    <p:cNvPr id="48269" name="Line 105"/>
                    <p:cNvSpPr/>
                    <p:nvPr/>
                  </p:nvSpPr>
                  <p:spPr>
                    <a:xfrm>
                      <a:off x="4080" y="2736"/>
                      <a:ext cx="1248" cy="0"/>
                    </a:xfrm>
                    <a:prstGeom prst="line">
                      <a:avLst/>
                    </a:prstGeom>
                    <a:ln w="28575" cap="sq" cmpd="sng">
                      <a:solidFill>
                        <a:srgbClr val="000000"/>
                      </a:solidFill>
                      <a:prstDash val="solid"/>
                      <a:headEnd type="none" w="med" len="med"/>
                      <a:tailEnd type="none" w="med" len="med"/>
                    </a:ln>
                  </p:spPr>
                </p:sp>
                <p:sp>
                  <p:nvSpPr>
                    <p:cNvPr id="48270" name="Line 106"/>
                    <p:cNvSpPr/>
                    <p:nvPr/>
                  </p:nvSpPr>
                  <p:spPr>
                    <a:xfrm>
                      <a:off x="4080" y="2947"/>
                      <a:ext cx="1248" cy="0"/>
                    </a:xfrm>
                    <a:prstGeom prst="line">
                      <a:avLst/>
                    </a:prstGeom>
                    <a:ln w="28575" cap="sq" cmpd="sng">
                      <a:solidFill>
                        <a:srgbClr val="000000"/>
                      </a:solidFill>
                      <a:prstDash val="solid"/>
                      <a:headEnd type="none" w="med" len="med"/>
                      <a:tailEnd type="none" w="med" len="med"/>
                    </a:ln>
                  </p:spPr>
                </p:sp>
                <p:sp>
                  <p:nvSpPr>
                    <p:cNvPr id="48271" name="Line 107"/>
                    <p:cNvSpPr/>
                    <p:nvPr/>
                  </p:nvSpPr>
                  <p:spPr>
                    <a:xfrm>
                      <a:off x="4080" y="2736"/>
                      <a:ext cx="0" cy="211"/>
                    </a:xfrm>
                    <a:prstGeom prst="line">
                      <a:avLst/>
                    </a:prstGeom>
                    <a:ln w="28575" cap="sq" cmpd="sng">
                      <a:solidFill>
                        <a:srgbClr val="000000"/>
                      </a:solidFill>
                      <a:prstDash val="solid"/>
                      <a:headEnd type="none" w="med" len="med"/>
                      <a:tailEnd type="none" w="med" len="med"/>
                    </a:ln>
                  </p:spPr>
                </p:sp>
                <p:sp>
                  <p:nvSpPr>
                    <p:cNvPr id="48272" name="Line 108"/>
                    <p:cNvSpPr/>
                    <p:nvPr/>
                  </p:nvSpPr>
                  <p:spPr>
                    <a:xfrm>
                      <a:off x="4608" y="2736"/>
                      <a:ext cx="0" cy="211"/>
                    </a:xfrm>
                    <a:prstGeom prst="line">
                      <a:avLst/>
                    </a:prstGeom>
                    <a:ln w="12700" cap="flat" cmpd="sng">
                      <a:solidFill>
                        <a:srgbClr val="000000"/>
                      </a:solidFill>
                      <a:prstDash val="solid"/>
                      <a:headEnd type="none" w="med" len="med"/>
                      <a:tailEnd type="none" w="med" len="med"/>
                    </a:ln>
                  </p:spPr>
                </p:sp>
                <p:sp>
                  <p:nvSpPr>
                    <p:cNvPr id="48273" name="Line 109"/>
                    <p:cNvSpPr/>
                    <p:nvPr/>
                  </p:nvSpPr>
                  <p:spPr>
                    <a:xfrm>
                      <a:off x="5328" y="2736"/>
                      <a:ext cx="0" cy="211"/>
                    </a:xfrm>
                    <a:prstGeom prst="line">
                      <a:avLst/>
                    </a:prstGeom>
                    <a:ln w="28575" cap="sq" cmpd="sng">
                      <a:solidFill>
                        <a:srgbClr val="000000"/>
                      </a:solidFill>
                      <a:prstDash val="solid"/>
                      <a:headEnd type="none" w="med" len="med"/>
                      <a:tailEnd type="none" w="med" len="med"/>
                    </a:ln>
                  </p:spPr>
                </p:sp>
              </p:grpSp>
              <p:sp>
                <p:nvSpPr>
                  <p:cNvPr id="48238" name="Line 110"/>
                  <p:cNvSpPr/>
                  <p:nvPr/>
                </p:nvSpPr>
                <p:spPr>
                  <a:xfrm>
                    <a:off x="3648" y="1680"/>
                    <a:ext cx="528" cy="96"/>
                  </a:xfrm>
                  <a:prstGeom prst="line">
                    <a:avLst/>
                  </a:prstGeom>
                  <a:ln w="9525" cap="flat" cmpd="sng">
                    <a:solidFill>
                      <a:srgbClr val="000000"/>
                    </a:solidFill>
                    <a:prstDash val="solid"/>
                    <a:headEnd type="none" w="med" len="med"/>
                    <a:tailEnd type="triangle" w="med" len="med"/>
                  </a:ln>
                </p:spPr>
              </p:sp>
              <p:sp>
                <p:nvSpPr>
                  <p:cNvPr id="48239" name="Line 111"/>
                  <p:cNvSpPr/>
                  <p:nvPr/>
                </p:nvSpPr>
                <p:spPr>
                  <a:xfrm>
                    <a:off x="3648" y="1968"/>
                    <a:ext cx="528" cy="192"/>
                  </a:xfrm>
                  <a:prstGeom prst="line">
                    <a:avLst/>
                  </a:prstGeom>
                  <a:ln w="9525" cap="flat" cmpd="sng">
                    <a:solidFill>
                      <a:srgbClr val="000000"/>
                    </a:solidFill>
                    <a:prstDash val="solid"/>
                    <a:headEnd type="none" w="med" len="med"/>
                    <a:tailEnd type="triangle" w="med" len="med"/>
                  </a:ln>
                </p:spPr>
              </p:sp>
              <p:sp>
                <p:nvSpPr>
                  <p:cNvPr id="48240" name="Line 112"/>
                  <p:cNvSpPr/>
                  <p:nvPr/>
                </p:nvSpPr>
                <p:spPr>
                  <a:xfrm>
                    <a:off x="3600" y="2208"/>
                    <a:ext cx="576" cy="240"/>
                  </a:xfrm>
                  <a:prstGeom prst="line">
                    <a:avLst/>
                  </a:prstGeom>
                  <a:ln w="9525" cap="flat" cmpd="sng">
                    <a:solidFill>
                      <a:srgbClr val="000000"/>
                    </a:solidFill>
                    <a:prstDash val="solid"/>
                    <a:headEnd type="none" w="med" len="med"/>
                    <a:tailEnd type="triangle" w="med" len="med"/>
                  </a:ln>
                </p:spPr>
              </p:sp>
              <p:sp>
                <p:nvSpPr>
                  <p:cNvPr id="48241" name="Line 113"/>
                  <p:cNvSpPr/>
                  <p:nvPr/>
                </p:nvSpPr>
                <p:spPr>
                  <a:xfrm>
                    <a:off x="3648" y="2496"/>
                    <a:ext cx="528" cy="48"/>
                  </a:xfrm>
                  <a:prstGeom prst="line">
                    <a:avLst/>
                  </a:prstGeom>
                  <a:ln w="9525" cap="flat" cmpd="sng">
                    <a:solidFill>
                      <a:srgbClr val="000000"/>
                    </a:solidFill>
                    <a:prstDash val="solid"/>
                    <a:headEnd type="none" w="med" len="med"/>
                    <a:tailEnd type="triangle" w="med" len="med"/>
                  </a:ln>
                </p:spPr>
              </p:sp>
              <p:sp>
                <p:nvSpPr>
                  <p:cNvPr id="48242" name="Line 114"/>
                  <p:cNvSpPr/>
                  <p:nvPr/>
                </p:nvSpPr>
                <p:spPr>
                  <a:xfrm>
                    <a:off x="3648" y="2736"/>
                    <a:ext cx="480" cy="96"/>
                  </a:xfrm>
                  <a:prstGeom prst="line">
                    <a:avLst/>
                  </a:prstGeom>
                  <a:ln w="9525" cap="flat" cmpd="sng">
                    <a:solidFill>
                      <a:srgbClr val="000000"/>
                    </a:solidFill>
                    <a:prstDash val="solid"/>
                    <a:headEnd type="none" w="med" len="med"/>
                    <a:tailEnd type="triangle" w="med" len="med"/>
                  </a:ln>
                </p:spPr>
              </p:sp>
              <p:sp>
                <p:nvSpPr>
                  <p:cNvPr id="48243" name="Line 115"/>
                  <p:cNvSpPr/>
                  <p:nvPr/>
                </p:nvSpPr>
                <p:spPr>
                  <a:xfrm flipV="1">
                    <a:off x="3648" y="2880"/>
                    <a:ext cx="480" cy="96"/>
                  </a:xfrm>
                  <a:prstGeom prst="line">
                    <a:avLst/>
                  </a:prstGeom>
                  <a:ln w="9525" cap="flat" cmpd="sng">
                    <a:solidFill>
                      <a:srgbClr val="000000"/>
                    </a:solidFill>
                    <a:prstDash val="solid"/>
                    <a:headEnd type="none" w="med" len="med"/>
                    <a:tailEnd type="triangle" w="med" len="med"/>
                  </a:ln>
                </p:spPr>
              </p:sp>
              <p:sp>
                <p:nvSpPr>
                  <p:cNvPr id="48244" name="Line 116"/>
                  <p:cNvSpPr/>
                  <p:nvPr/>
                </p:nvSpPr>
                <p:spPr>
                  <a:xfrm flipV="1">
                    <a:off x="3648" y="2928"/>
                    <a:ext cx="528" cy="336"/>
                  </a:xfrm>
                  <a:prstGeom prst="line">
                    <a:avLst/>
                  </a:prstGeom>
                  <a:ln w="9525" cap="flat" cmpd="sng">
                    <a:solidFill>
                      <a:srgbClr val="000000"/>
                    </a:solidFill>
                    <a:prstDash val="solid"/>
                    <a:headEnd type="none" w="med" len="med"/>
                    <a:tailEnd type="triangle" w="med" len="med"/>
                  </a:ln>
                </p:spPr>
              </p:sp>
              <p:sp>
                <p:nvSpPr>
                  <p:cNvPr id="48245" name="Line 117"/>
                  <p:cNvSpPr/>
                  <p:nvPr/>
                </p:nvSpPr>
                <p:spPr>
                  <a:xfrm flipV="1">
                    <a:off x="3648" y="3024"/>
                    <a:ext cx="528" cy="480"/>
                  </a:xfrm>
                  <a:prstGeom prst="line">
                    <a:avLst/>
                  </a:prstGeom>
                  <a:ln w="9525" cap="flat" cmpd="sng">
                    <a:solidFill>
                      <a:srgbClr val="000000"/>
                    </a:solidFill>
                    <a:prstDash val="solid"/>
                    <a:headEnd type="none" w="med" len="med"/>
                    <a:tailEnd type="triangle" w="med" len="med"/>
                  </a:ln>
                </p:spPr>
              </p:sp>
            </p:grpSp>
          </p:grpSp>
          <p:sp>
            <p:nvSpPr>
              <p:cNvPr id="48210" name="Text Box 118"/>
              <p:cNvSpPr txBox="1"/>
              <p:nvPr/>
            </p:nvSpPr>
            <p:spPr>
              <a:xfrm>
                <a:off x="3760" y="3423"/>
                <a:ext cx="1409" cy="271"/>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zh-CN" altLang="en-US" sz="2800" dirty="0">
                    <a:latin typeface="Arial" panose="020B0604020202020204" pitchFamily="34" charset="0"/>
                  </a:rPr>
                  <a:t>全局深度</a:t>
                </a:r>
                <a:r>
                  <a:rPr lang="en-US" altLang="zh-CN" sz="2800" dirty="0">
                    <a:latin typeface="Arial" panose="020B0604020202020204" pitchFamily="34" charset="0"/>
                  </a:rPr>
                  <a:t>d=4</a:t>
                </a:r>
                <a:endParaRPr lang="en-US" altLang="zh-CN" sz="2800" dirty="0">
                  <a:latin typeface="Arial" panose="020B0604020202020204" pitchFamily="34" charset="0"/>
                </a:endParaRPr>
              </a:p>
            </p:txBody>
          </p:sp>
          <p:sp>
            <p:nvSpPr>
              <p:cNvPr id="48211" name="Line 119"/>
              <p:cNvSpPr/>
              <p:nvPr/>
            </p:nvSpPr>
            <p:spPr>
              <a:xfrm>
                <a:off x="4320" y="3216"/>
                <a:ext cx="96" cy="0"/>
              </a:xfrm>
              <a:prstGeom prst="line">
                <a:avLst/>
              </a:prstGeom>
              <a:ln w="9525" cap="flat" cmpd="sng">
                <a:solidFill>
                  <a:srgbClr val="000000"/>
                </a:solidFill>
                <a:prstDash val="solid"/>
                <a:headEnd type="none" w="med" len="med"/>
                <a:tailEnd type="none" w="med" len="med"/>
              </a:ln>
            </p:spPr>
          </p:sp>
          <p:sp>
            <p:nvSpPr>
              <p:cNvPr id="48212" name="Line 120"/>
              <p:cNvSpPr/>
              <p:nvPr/>
            </p:nvSpPr>
            <p:spPr>
              <a:xfrm>
                <a:off x="4608" y="3216"/>
                <a:ext cx="96" cy="0"/>
              </a:xfrm>
              <a:prstGeom prst="line">
                <a:avLst/>
              </a:prstGeom>
              <a:ln w="9525" cap="flat" cmpd="sng">
                <a:solidFill>
                  <a:srgbClr val="000000"/>
                </a:solidFill>
                <a:prstDash val="solid"/>
                <a:headEnd type="none" w="med" len="med"/>
                <a:tailEnd type="none" w="med" len="med"/>
              </a:ln>
            </p:spPr>
          </p:sp>
          <p:sp>
            <p:nvSpPr>
              <p:cNvPr id="48213" name="Line 121"/>
              <p:cNvSpPr/>
              <p:nvPr/>
            </p:nvSpPr>
            <p:spPr>
              <a:xfrm>
                <a:off x="4896" y="3216"/>
                <a:ext cx="96" cy="0"/>
              </a:xfrm>
              <a:prstGeom prst="line">
                <a:avLst/>
              </a:prstGeom>
              <a:ln w="9525" cap="flat" cmpd="sng">
                <a:solidFill>
                  <a:srgbClr val="000000"/>
                </a:solidFill>
                <a:prstDash val="solid"/>
                <a:headEnd type="none" w="med" len="med"/>
                <a:tailEnd type="none" w="med" len="med"/>
              </a:ln>
            </p:spPr>
          </p:sp>
        </p:grpSp>
        <p:sp>
          <p:nvSpPr>
            <p:cNvPr id="48208" name="AutoShape 122"/>
            <p:cNvSpPr/>
            <p:nvPr/>
          </p:nvSpPr>
          <p:spPr>
            <a:xfrm>
              <a:off x="2592" y="1440"/>
              <a:ext cx="144" cy="1776"/>
            </a:xfrm>
            <a:prstGeom prst="leftBrace">
              <a:avLst>
                <a:gd name="adj1" fmla="val 102777"/>
                <a:gd name="adj2" fmla="val 50000"/>
              </a:avLst>
            </a:prstGeom>
            <a:noFill/>
            <a:ln w="9525" cap="flat" cmpd="sng">
              <a:solidFill>
                <a:srgbClr val="000000"/>
              </a:solidFill>
              <a:prstDash val="solid"/>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endParaRPr lang="zh-CN" altLang="en-US" sz="2800" dirty="0">
                <a:latin typeface="Arial" panose="020B0604020202020204" pitchFamily="34" charset="0"/>
              </a:endParaRPr>
            </a:p>
          </p:txBody>
        </p:sp>
      </p:grpSp>
      <p:grpSp>
        <p:nvGrpSpPr>
          <p:cNvPr id="7" name="Group 123"/>
          <p:cNvGrpSpPr/>
          <p:nvPr/>
        </p:nvGrpSpPr>
        <p:grpSpPr>
          <a:xfrm>
            <a:off x="0" y="1371600"/>
            <a:ext cx="3886200" cy="4173538"/>
            <a:chOff x="192" y="1488"/>
            <a:chExt cx="2160" cy="1990"/>
          </a:xfrm>
        </p:grpSpPr>
        <p:grpSp>
          <p:nvGrpSpPr>
            <p:cNvPr id="48135" name="Group 124"/>
            <p:cNvGrpSpPr/>
            <p:nvPr/>
          </p:nvGrpSpPr>
          <p:grpSpPr>
            <a:xfrm>
              <a:off x="384" y="1488"/>
              <a:ext cx="1968" cy="1536"/>
              <a:chOff x="1104" y="2256"/>
              <a:chExt cx="2496" cy="1688"/>
            </a:xfrm>
          </p:grpSpPr>
          <p:sp>
            <p:nvSpPr>
              <p:cNvPr id="48138" name="Rectangle 125"/>
              <p:cNvSpPr/>
              <p:nvPr/>
            </p:nvSpPr>
            <p:spPr>
              <a:xfrm>
                <a:off x="2779" y="2256"/>
                <a:ext cx="821"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600" dirty="0">
                  <a:latin typeface="Arial" panose="020B0604020202020204" pitchFamily="34" charset="0"/>
                </a:endParaRPr>
              </a:p>
            </p:txBody>
          </p:sp>
          <p:sp>
            <p:nvSpPr>
              <p:cNvPr id="48139" name="Rectangle 126"/>
              <p:cNvSpPr/>
              <p:nvPr/>
            </p:nvSpPr>
            <p:spPr>
              <a:xfrm>
                <a:off x="2352" y="2256"/>
                <a:ext cx="427"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600" dirty="0">
                    <a:latin typeface="Arial" panose="020B0604020202020204" pitchFamily="34" charset="0"/>
                  </a:rPr>
                  <a:t>d’=3</a:t>
                </a:r>
                <a:endParaRPr lang="en-US" altLang="zh-CN" sz="1600" dirty="0">
                  <a:latin typeface="Arial" panose="020B0604020202020204" pitchFamily="34" charset="0"/>
                </a:endParaRPr>
              </a:p>
            </p:txBody>
          </p:sp>
          <p:sp>
            <p:nvSpPr>
              <p:cNvPr id="48140" name="Line 127"/>
              <p:cNvSpPr/>
              <p:nvPr/>
            </p:nvSpPr>
            <p:spPr>
              <a:xfrm>
                <a:off x="2352" y="2256"/>
                <a:ext cx="1248" cy="0"/>
              </a:xfrm>
              <a:prstGeom prst="line">
                <a:avLst/>
              </a:prstGeom>
              <a:ln w="28575" cap="sq" cmpd="sng">
                <a:solidFill>
                  <a:srgbClr val="000000"/>
                </a:solidFill>
                <a:prstDash val="solid"/>
                <a:headEnd type="none" w="med" len="med"/>
                <a:tailEnd type="none" w="med" len="med"/>
              </a:ln>
            </p:spPr>
          </p:sp>
          <p:sp>
            <p:nvSpPr>
              <p:cNvPr id="48141" name="Line 128"/>
              <p:cNvSpPr/>
              <p:nvPr/>
            </p:nvSpPr>
            <p:spPr>
              <a:xfrm>
                <a:off x="2352" y="2448"/>
                <a:ext cx="1248" cy="0"/>
              </a:xfrm>
              <a:prstGeom prst="line">
                <a:avLst/>
              </a:prstGeom>
              <a:ln w="28575" cap="sq" cmpd="sng">
                <a:solidFill>
                  <a:srgbClr val="000000"/>
                </a:solidFill>
                <a:prstDash val="solid"/>
                <a:headEnd type="none" w="med" len="med"/>
                <a:tailEnd type="none" w="med" len="med"/>
              </a:ln>
            </p:spPr>
          </p:sp>
          <p:sp>
            <p:nvSpPr>
              <p:cNvPr id="48142" name="Line 129"/>
              <p:cNvSpPr/>
              <p:nvPr/>
            </p:nvSpPr>
            <p:spPr>
              <a:xfrm>
                <a:off x="2352" y="2256"/>
                <a:ext cx="0" cy="192"/>
              </a:xfrm>
              <a:prstGeom prst="line">
                <a:avLst/>
              </a:prstGeom>
              <a:ln w="28575" cap="sq" cmpd="sng">
                <a:solidFill>
                  <a:srgbClr val="000000"/>
                </a:solidFill>
                <a:prstDash val="solid"/>
                <a:headEnd type="none" w="med" len="med"/>
                <a:tailEnd type="none" w="med" len="med"/>
              </a:ln>
            </p:spPr>
          </p:sp>
          <p:sp>
            <p:nvSpPr>
              <p:cNvPr id="48143" name="Line 130"/>
              <p:cNvSpPr/>
              <p:nvPr/>
            </p:nvSpPr>
            <p:spPr>
              <a:xfrm>
                <a:off x="2779" y="2256"/>
                <a:ext cx="0" cy="192"/>
              </a:xfrm>
              <a:prstGeom prst="line">
                <a:avLst/>
              </a:prstGeom>
              <a:ln w="12700" cap="flat" cmpd="sng">
                <a:solidFill>
                  <a:srgbClr val="000000"/>
                </a:solidFill>
                <a:prstDash val="solid"/>
                <a:headEnd type="none" w="med" len="med"/>
                <a:tailEnd type="none" w="med" len="med"/>
              </a:ln>
            </p:spPr>
          </p:sp>
          <p:sp>
            <p:nvSpPr>
              <p:cNvPr id="48144" name="Line 131"/>
              <p:cNvSpPr/>
              <p:nvPr/>
            </p:nvSpPr>
            <p:spPr>
              <a:xfrm>
                <a:off x="3600" y="2256"/>
                <a:ext cx="0" cy="192"/>
              </a:xfrm>
              <a:prstGeom prst="line">
                <a:avLst/>
              </a:prstGeom>
              <a:ln w="28575" cap="sq" cmpd="sng">
                <a:solidFill>
                  <a:srgbClr val="000000"/>
                </a:solidFill>
                <a:prstDash val="solid"/>
                <a:headEnd type="none" w="med" len="med"/>
                <a:tailEnd type="none" w="med" len="med"/>
              </a:ln>
            </p:spPr>
          </p:sp>
          <p:sp>
            <p:nvSpPr>
              <p:cNvPr id="48145" name="Rectangle 132"/>
              <p:cNvSpPr/>
              <p:nvPr/>
            </p:nvSpPr>
            <p:spPr>
              <a:xfrm>
                <a:off x="2779" y="2544"/>
                <a:ext cx="821"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600" dirty="0">
                  <a:latin typeface="Arial" panose="020B0604020202020204" pitchFamily="34" charset="0"/>
                </a:endParaRPr>
              </a:p>
            </p:txBody>
          </p:sp>
          <p:sp>
            <p:nvSpPr>
              <p:cNvPr id="48146" name="Rectangle 133"/>
              <p:cNvSpPr/>
              <p:nvPr/>
            </p:nvSpPr>
            <p:spPr>
              <a:xfrm>
                <a:off x="2352" y="2544"/>
                <a:ext cx="427"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600" dirty="0">
                    <a:latin typeface="Arial" panose="020B0604020202020204" pitchFamily="34" charset="0"/>
                  </a:rPr>
                  <a:t>d’=3</a:t>
                </a:r>
                <a:endParaRPr lang="en-US" altLang="zh-CN" sz="1600" dirty="0">
                  <a:latin typeface="Arial" panose="020B0604020202020204" pitchFamily="34" charset="0"/>
                </a:endParaRPr>
              </a:p>
            </p:txBody>
          </p:sp>
          <p:sp>
            <p:nvSpPr>
              <p:cNvPr id="48147" name="Line 134"/>
              <p:cNvSpPr/>
              <p:nvPr/>
            </p:nvSpPr>
            <p:spPr>
              <a:xfrm>
                <a:off x="2352" y="2544"/>
                <a:ext cx="1248" cy="0"/>
              </a:xfrm>
              <a:prstGeom prst="line">
                <a:avLst/>
              </a:prstGeom>
              <a:ln w="28575" cap="sq" cmpd="sng">
                <a:solidFill>
                  <a:srgbClr val="000000"/>
                </a:solidFill>
                <a:prstDash val="solid"/>
                <a:headEnd type="none" w="med" len="med"/>
                <a:tailEnd type="none" w="med" len="med"/>
              </a:ln>
            </p:spPr>
          </p:sp>
          <p:sp>
            <p:nvSpPr>
              <p:cNvPr id="48148" name="Line 135"/>
              <p:cNvSpPr/>
              <p:nvPr/>
            </p:nvSpPr>
            <p:spPr>
              <a:xfrm>
                <a:off x="2352" y="2736"/>
                <a:ext cx="1248" cy="0"/>
              </a:xfrm>
              <a:prstGeom prst="line">
                <a:avLst/>
              </a:prstGeom>
              <a:ln w="28575" cap="sq" cmpd="sng">
                <a:solidFill>
                  <a:srgbClr val="000000"/>
                </a:solidFill>
                <a:prstDash val="solid"/>
                <a:headEnd type="none" w="med" len="med"/>
                <a:tailEnd type="none" w="med" len="med"/>
              </a:ln>
            </p:spPr>
          </p:sp>
          <p:sp>
            <p:nvSpPr>
              <p:cNvPr id="48149" name="Line 136"/>
              <p:cNvSpPr/>
              <p:nvPr/>
            </p:nvSpPr>
            <p:spPr>
              <a:xfrm>
                <a:off x="2352" y="2544"/>
                <a:ext cx="0" cy="192"/>
              </a:xfrm>
              <a:prstGeom prst="line">
                <a:avLst/>
              </a:prstGeom>
              <a:ln w="28575" cap="sq" cmpd="sng">
                <a:solidFill>
                  <a:srgbClr val="000000"/>
                </a:solidFill>
                <a:prstDash val="solid"/>
                <a:headEnd type="none" w="med" len="med"/>
                <a:tailEnd type="none" w="med" len="med"/>
              </a:ln>
            </p:spPr>
          </p:sp>
          <p:sp>
            <p:nvSpPr>
              <p:cNvPr id="48150" name="Line 137"/>
              <p:cNvSpPr/>
              <p:nvPr/>
            </p:nvSpPr>
            <p:spPr>
              <a:xfrm>
                <a:off x="2779" y="2544"/>
                <a:ext cx="0" cy="192"/>
              </a:xfrm>
              <a:prstGeom prst="line">
                <a:avLst/>
              </a:prstGeom>
              <a:ln w="12700" cap="flat" cmpd="sng">
                <a:solidFill>
                  <a:srgbClr val="000000"/>
                </a:solidFill>
                <a:prstDash val="solid"/>
                <a:headEnd type="none" w="med" len="med"/>
                <a:tailEnd type="none" w="med" len="med"/>
              </a:ln>
            </p:spPr>
          </p:sp>
          <p:sp>
            <p:nvSpPr>
              <p:cNvPr id="48151" name="Line 138"/>
              <p:cNvSpPr/>
              <p:nvPr/>
            </p:nvSpPr>
            <p:spPr>
              <a:xfrm>
                <a:off x="3600" y="2544"/>
                <a:ext cx="0" cy="192"/>
              </a:xfrm>
              <a:prstGeom prst="line">
                <a:avLst/>
              </a:prstGeom>
              <a:ln w="28575" cap="sq" cmpd="sng">
                <a:solidFill>
                  <a:srgbClr val="000000"/>
                </a:solidFill>
                <a:prstDash val="solid"/>
                <a:headEnd type="none" w="med" len="med"/>
                <a:tailEnd type="none" w="med" len="med"/>
              </a:ln>
            </p:spPr>
          </p:sp>
          <p:sp>
            <p:nvSpPr>
              <p:cNvPr id="48152" name="Rectangle 139"/>
              <p:cNvSpPr/>
              <p:nvPr/>
            </p:nvSpPr>
            <p:spPr>
              <a:xfrm>
                <a:off x="2779" y="2832"/>
                <a:ext cx="821"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600" dirty="0">
                  <a:latin typeface="Arial" panose="020B0604020202020204" pitchFamily="34" charset="0"/>
                </a:endParaRPr>
              </a:p>
            </p:txBody>
          </p:sp>
          <p:sp>
            <p:nvSpPr>
              <p:cNvPr id="48153" name="Rectangle 140"/>
              <p:cNvSpPr/>
              <p:nvPr/>
            </p:nvSpPr>
            <p:spPr>
              <a:xfrm>
                <a:off x="2352" y="2832"/>
                <a:ext cx="427"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600" dirty="0">
                    <a:latin typeface="Arial" panose="020B0604020202020204" pitchFamily="34" charset="0"/>
                  </a:rPr>
                  <a:t>d’=2</a:t>
                </a:r>
                <a:endParaRPr lang="en-US" altLang="zh-CN" sz="1600" dirty="0">
                  <a:latin typeface="Arial" panose="020B0604020202020204" pitchFamily="34" charset="0"/>
                </a:endParaRPr>
              </a:p>
            </p:txBody>
          </p:sp>
          <p:sp>
            <p:nvSpPr>
              <p:cNvPr id="48154" name="Line 141"/>
              <p:cNvSpPr/>
              <p:nvPr/>
            </p:nvSpPr>
            <p:spPr>
              <a:xfrm>
                <a:off x="2352" y="2832"/>
                <a:ext cx="1248" cy="0"/>
              </a:xfrm>
              <a:prstGeom prst="line">
                <a:avLst/>
              </a:prstGeom>
              <a:ln w="28575" cap="sq" cmpd="sng">
                <a:solidFill>
                  <a:srgbClr val="000000"/>
                </a:solidFill>
                <a:prstDash val="solid"/>
                <a:headEnd type="none" w="med" len="med"/>
                <a:tailEnd type="none" w="med" len="med"/>
              </a:ln>
            </p:spPr>
          </p:sp>
          <p:sp>
            <p:nvSpPr>
              <p:cNvPr id="48155" name="Line 142"/>
              <p:cNvSpPr/>
              <p:nvPr/>
            </p:nvSpPr>
            <p:spPr>
              <a:xfrm>
                <a:off x="2352" y="3024"/>
                <a:ext cx="1248" cy="0"/>
              </a:xfrm>
              <a:prstGeom prst="line">
                <a:avLst/>
              </a:prstGeom>
              <a:ln w="28575" cap="sq" cmpd="sng">
                <a:solidFill>
                  <a:srgbClr val="000000"/>
                </a:solidFill>
                <a:prstDash val="solid"/>
                <a:headEnd type="none" w="med" len="med"/>
                <a:tailEnd type="none" w="med" len="med"/>
              </a:ln>
            </p:spPr>
          </p:sp>
          <p:sp>
            <p:nvSpPr>
              <p:cNvPr id="48156" name="Line 143"/>
              <p:cNvSpPr/>
              <p:nvPr/>
            </p:nvSpPr>
            <p:spPr>
              <a:xfrm>
                <a:off x="2352" y="2832"/>
                <a:ext cx="0" cy="192"/>
              </a:xfrm>
              <a:prstGeom prst="line">
                <a:avLst/>
              </a:prstGeom>
              <a:ln w="28575" cap="sq" cmpd="sng">
                <a:solidFill>
                  <a:srgbClr val="000000"/>
                </a:solidFill>
                <a:prstDash val="solid"/>
                <a:headEnd type="none" w="med" len="med"/>
                <a:tailEnd type="none" w="med" len="med"/>
              </a:ln>
            </p:spPr>
          </p:sp>
          <p:sp>
            <p:nvSpPr>
              <p:cNvPr id="48157" name="Line 144"/>
              <p:cNvSpPr/>
              <p:nvPr/>
            </p:nvSpPr>
            <p:spPr>
              <a:xfrm>
                <a:off x="2779" y="2832"/>
                <a:ext cx="0" cy="192"/>
              </a:xfrm>
              <a:prstGeom prst="line">
                <a:avLst/>
              </a:prstGeom>
              <a:ln w="12700" cap="flat" cmpd="sng">
                <a:solidFill>
                  <a:srgbClr val="000000"/>
                </a:solidFill>
                <a:prstDash val="solid"/>
                <a:headEnd type="none" w="med" len="med"/>
                <a:tailEnd type="none" w="med" len="med"/>
              </a:ln>
            </p:spPr>
          </p:sp>
          <p:sp>
            <p:nvSpPr>
              <p:cNvPr id="48158" name="Line 145"/>
              <p:cNvSpPr/>
              <p:nvPr/>
            </p:nvSpPr>
            <p:spPr>
              <a:xfrm>
                <a:off x="3600" y="2832"/>
                <a:ext cx="0" cy="192"/>
              </a:xfrm>
              <a:prstGeom prst="line">
                <a:avLst/>
              </a:prstGeom>
              <a:ln w="28575" cap="sq" cmpd="sng">
                <a:solidFill>
                  <a:srgbClr val="000000"/>
                </a:solidFill>
                <a:prstDash val="solid"/>
                <a:headEnd type="none" w="med" len="med"/>
                <a:tailEnd type="none" w="med" len="med"/>
              </a:ln>
            </p:spPr>
          </p:sp>
          <p:sp>
            <p:nvSpPr>
              <p:cNvPr id="48159" name="Rectangle 146"/>
              <p:cNvSpPr/>
              <p:nvPr/>
            </p:nvSpPr>
            <p:spPr>
              <a:xfrm>
                <a:off x="2779" y="3120"/>
                <a:ext cx="821"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600" dirty="0">
                  <a:latin typeface="Arial" panose="020B0604020202020204" pitchFamily="34" charset="0"/>
                </a:endParaRPr>
              </a:p>
            </p:txBody>
          </p:sp>
          <p:sp>
            <p:nvSpPr>
              <p:cNvPr id="48160" name="Rectangle 147"/>
              <p:cNvSpPr/>
              <p:nvPr/>
            </p:nvSpPr>
            <p:spPr>
              <a:xfrm>
                <a:off x="2352" y="3120"/>
                <a:ext cx="427"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600" dirty="0">
                    <a:latin typeface="Arial" panose="020B0604020202020204" pitchFamily="34" charset="0"/>
                  </a:rPr>
                  <a:t>d’=3</a:t>
                </a:r>
                <a:endParaRPr lang="en-US" altLang="zh-CN" sz="1600" dirty="0">
                  <a:latin typeface="Arial" panose="020B0604020202020204" pitchFamily="34" charset="0"/>
                </a:endParaRPr>
              </a:p>
            </p:txBody>
          </p:sp>
          <p:sp>
            <p:nvSpPr>
              <p:cNvPr id="48161" name="Line 148"/>
              <p:cNvSpPr/>
              <p:nvPr/>
            </p:nvSpPr>
            <p:spPr>
              <a:xfrm>
                <a:off x="2352" y="3120"/>
                <a:ext cx="1248" cy="0"/>
              </a:xfrm>
              <a:prstGeom prst="line">
                <a:avLst/>
              </a:prstGeom>
              <a:ln w="28575" cap="sq" cmpd="sng">
                <a:solidFill>
                  <a:srgbClr val="000000"/>
                </a:solidFill>
                <a:prstDash val="solid"/>
                <a:headEnd type="none" w="med" len="med"/>
                <a:tailEnd type="none" w="med" len="med"/>
              </a:ln>
            </p:spPr>
          </p:sp>
          <p:sp>
            <p:nvSpPr>
              <p:cNvPr id="48162" name="Line 149"/>
              <p:cNvSpPr/>
              <p:nvPr/>
            </p:nvSpPr>
            <p:spPr>
              <a:xfrm>
                <a:off x="2352" y="3312"/>
                <a:ext cx="1248" cy="0"/>
              </a:xfrm>
              <a:prstGeom prst="line">
                <a:avLst/>
              </a:prstGeom>
              <a:ln w="28575" cap="sq" cmpd="sng">
                <a:solidFill>
                  <a:srgbClr val="000000"/>
                </a:solidFill>
                <a:prstDash val="solid"/>
                <a:headEnd type="none" w="med" len="med"/>
                <a:tailEnd type="none" w="med" len="med"/>
              </a:ln>
            </p:spPr>
          </p:sp>
          <p:sp>
            <p:nvSpPr>
              <p:cNvPr id="48163" name="Line 150"/>
              <p:cNvSpPr/>
              <p:nvPr/>
            </p:nvSpPr>
            <p:spPr>
              <a:xfrm>
                <a:off x="2352" y="3120"/>
                <a:ext cx="0" cy="192"/>
              </a:xfrm>
              <a:prstGeom prst="line">
                <a:avLst/>
              </a:prstGeom>
              <a:ln w="28575" cap="sq" cmpd="sng">
                <a:solidFill>
                  <a:srgbClr val="000000"/>
                </a:solidFill>
                <a:prstDash val="solid"/>
                <a:headEnd type="none" w="med" len="med"/>
                <a:tailEnd type="none" w="med" len="med"/>
              </a:ln>
            </p:spPr>
          </p:sp>
          <p:sp>
            <p:nvSpPr>
              <p:cNvPr id="48164" name="Line 151"/>
              <p:cNvSpPr/>
              <p:nvPr/>
            </p:nvSpPr>
            <p:spPr>
              <a:xfrm>
                <a:off x="2779" y="3120"/>
                <a:ext cx="0" cy="192"/>
              </a:xfrm>
              <a:prstGeom prst="line">
                <a:avLst/>
              </a:prstGeom>
              <a:ln w="12700" cap="flat" cmpd="sng">
                <a:solidFill>
                  <a:srgbClr val="000000"/>
                </a:solidFill>
                <a:prstDash val="solid"/>
                <a:headEnd type="none" w="med" len="med"/>
                <a:tailEnd type="none" w="med" len="med"/>
              </a:ln>
            </p:spPr>
          </p:sp>
          <p:sp>
            <p:nvSpPr>
              <p:cNvPr id="48165" name="Line 152"/>
              <p:cNvSpPr/>
              <p:nvPr/>
            </p:nvSpPr>
            <p:spPr>
              <a:xfrm>
                <a:off x="3600" y="3120"/>
                <a:ext cx="0" cy="192"/>
              </a:xfrm>
              <a:prstGeom prst="line">
                <a:avLst/>
              </a:prstGeom>
              <a:ln w="28575" cap="sq" cmpd="sng">
                <a:solidFill>
                  <a:srgbClr val="000000"/>
                </a:solidFill>
                <a:prstDash val="solid"/>
                <a:headEnd type="none" w="med" len="med"/>
                <a:tailEnd type="none" w="med" len="med"/>
              </a:ln>
            </p:spPr>
          </p:sp>
          <p:sp>
            <p:nvSpPr>
              <p:cNvPr id="48166" name="Rectangle 153"/>
              <p:cNvSpPr/>
              <p:nvPr/>
            </p:nvSpPr>
            <p:spPr>
              <a:xfrm>
                <a:off x="2779" y="3408"/>
                <a:ext cx="821"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600" dirty="0">
                  <a:latin typeface="Arial" panose="020B0604020202020204" pitchFamily="34" charset="0"/>
                </a:endParaRPr>
              </a:p>
            </p:txBody>
          </p:sp>
          <p:sp>
            <p:nvSpPr>
              <p:cNvPr id="48167" name="Rectangle 154"/>
              <p:cNvSpPr/>
              <p:nvPr/>
            </p:nvSpPr>
            <p:spPr>
              <a:xfrm>
                <a:off x="2352" y="3408"/>
                <a:ext cx="427"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600" dirty="0">
                    <a:latin typeface="Arial" panose="020B0604020202020204" pitchFamily="34" charset="0"/>
                  </a:rPr>
                  <a:t>d’=3</a:t>
                </a:r>
                <a:endParaRPr lang="en-US" altLang="zh-CN" sz="1600" dirty="0">
                  <a:latin typeface="Arial" panose="020B0604020202020204" pitchFamily="34" charset="0"/>
                </a:endParaRPr>
              </a:p>
            </p:txBody>
          </p:sp>
          <p:sp>
            <p:nvSpPr>
              <p:cNvPr id="48168" name="Line 155"/>
              <p:cNvSpPr/>
              <p:nvPr/>
            </p:nvSpPr>
            <p:spPr>
              <a:xfrm>
                <a:off x="2352" y="3408"/>
                <a:ext cx="1248" cy="0"/>
              </a:xfrm>
              <a:prstGeom prst="line">
                <a:avLst/>
              </a:prstGeom>
              <a:ln w="28575" cap="sq" cmpd="sng">
                <a:solidFill>
                  <a:srgbClr val="000000"/>
                </a:solidFill>
                <a:prstDash val="solid"/>
                <a:headEnd type="none" w="med" len="med"/>
                <a:tailEnd type="none" w="med" len="med"/>
              </a:ln>
            </p:spPr>
          </p:sp>
          <p:sp>
            <p:nvSpPr>
              <p:cNvPr id="48169" name="Line 156"/>
              <p:cNvSpPr/>
              <p:nvPr/>
            </p:nvSpPr>
            <p:spPr>
              <a:xfrm>
                <a:off x="2352" y="3600"/>
                <a:ext cx="1248" cy="0"/>
              </a:xfrm>
              <a:prstGeom prst="line">
                <a:avLst/>
              </a:prstGeom>
              <a:ln w="28575" cap="sq" cmpd="sng">
                <a:solidFill>
                  <a:srgbClr val="000000"/>
                </a:solidFill>
                <a:prstDash val="solid"/>
                <a:headEnd type="none" w="med" len="med"/>
                <a:tailEnd type="none" w="med" len="med"/>
              </a:ln>
            </p:spPr>
          </p:sp>
          <p:sp>
            <p:nvSpPr>
              <p:cNvPr id="48170" name="Line 157"/>
              <p:cNvSpPr/>
              <p:nvPr/>
            </p:nvSpPr>
            <p:spPr>
              <a:xfrm>
                <a:off x="2352" y="3408"/>
                <a:ext cx="0" cy="192"/>
              </a:xfrm>
              <a:prstGeom prst="line">
                <a:avLst/>
              </a:prstGeom>
              <a:ln w="28575" cap="sq" cmpd="sng">
                <a:solidFill>
                  <a:srgbClr val="000000"/>
                </a:solidFill>
                <a:prstDash val="solid"/>
                <a:headEnd type="none" w="med" len="med"/>
                <a:tailEnd type="none" w="med" len="med"/>
              </a:ln>
            </p:spPr>
          </p:sp>
          <p:sp>
            <p:nvSpPr>
              <p:cNvPr id="48171" name="Line 158"/>
              <p:cNvSpPr/>
              <p:nvPr/>
            </p:nvSpPr>
            <p:spPr>
              <a:xfrm>
                <a:off x="2779" y="3408"/>
                <a:ext cx="0" cy="192"/>
              </a:xfrm>
              <a:prstGeom prst="line">
                <a:avLst/>
              </a:prstGeom>
              <a:ln w="12700" cap="flat" cmpd="sng">
                <a:solidFill>
                  <a:srgbClr val="000000"/>
                </a:solidFill>
                <a:prstDash val="solid"/>
                <a:headEnd type="none" w="med" len="med"/>
                <a:tailEnd type="none" w="med" len="med"/>
              </a:ln>
            </p:spPr>
          </p:sp>
          <p:sp>
            <p:nvSpPr>
              <p:cNvPr id="48172" name="Line 159"/>
              <p:cNvSpPr/>
              <p:nvPr/>
            </p:nvSpPr>
            <p:spPr>
              <a:xfrm>
                <a:off x="3600" y="3408"/>
                <a:ext cx="0" cy="192"/>
              </a:xfrm>
              <a:prstGeom prst="line">
                <a:avLst/>
              </a:prstGeom>
              <a:ln w="28575" cap="sq" cmpd="sng">
                <a:solidFill>
                  <a:srgbClr val="000000"/>
                </a:solidFill>
                <a:prstDash val="solid"/>
                <a:headEnd type="none" w="med" len="med"/>
                <a:tailEnd type="none" w="med" len="med"/>
              </a:ln>
            </p:spPr>
          </p:sp>
          <p:sp>
            <p:nvSpPr>
              <p:cNvPr id="48173" name="Rectangle 160"/>
              <p:cNvSpPr/>
              <p:nvPr/>
            </p:nvSpPr>
            <p:spPr>
              <a:xfrm>
                <a:off x="2779" y="3696"/>
                <a:ext cx="821"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endParaRPr lang="zh-CN" altLang="zh-CN" sz="1600" dirty="0">
                  <a:latin typeface="Arial" panose="020B0604020202020204" pitchFamily="34" charset="0"/>
                </a:endParaRPr>
              </a:p>
            </p:txBody>
          </p:sp>
          <p:sp>
            <p:nvSpPr>
              <p:cNvPr id="48174" name="Rectangle 161"/>
              <p:cNvSpPr/>
              <p:nvPr/>
            </p:nvSpPr>
            <p:spPr>
              <a:xfrm>
                <a:off x="2352" y="3696"/>
                <a:ext cx="427" cy="192"/>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600" dirty="0">
                    <a:latin typeface="Arial" panose="020B0604020202020204" pitchFamily="34" charset="0"/>
                  </a:rPr>
                  <a:t>d’=2</a:t>
                </a:r>
                <a:endParaRPr lang="en-US" altLang="zh-CN" sz="1600" dirty="0">
                  <a:latin typeface="Arial" panose="020B0604020202020204" pitchFamily="34" charset="0"/>
                </a:endParaRPr>
              </a:p>
            </p:txBody>
          </p:sp>
          <p:sp>
            <p:nvSpPr>
              <p:cNvPr id="48175" name="Line 162"/>
              <p:cNvSpPr/>
              <p:nvPr/>
            </p:nvSpPr>
            <p:spPr>
              <a:xfrm>
                <a:off x="2352" y="3696"/>
                <a:ext cx="1248" cy="0"/>
              </a:xfrm>
              <a:prstGeom prst="line">
                <a:avLst/>
              </a:prstGeom>
              <a:ln w="28575" cap="sq" cmpd="sng">
                <a:solidFill>
                  <a:srgbClr val="000000"/>
                </a:solidFill>
                <a:prstDash val="solid"/>
                <a:headEnd type="none" w="med" len="med"/>
                <a:tailEnd type="none" w="med" len="med"/>
              </a:ln>
            </p:spPr>
          </p:sp>
          <p:sp>
            <p:nvSpPr>
              <p:cNvPr id="48176" name="Line 163"/>
              <p:cNvSpPr/>
              <p:nvPr/>
            </p:nvSpPr>
            <p:spPr>
              <a:xfrm>
                <a:off x="2352" y="3888"/>
                <a:ext cx="1248" cy="0"/>
              </a:xfrm>
              <a:prstGeom prst="line">
                <a:avLst/>
              </a:prstGeom>
              <a:ln w="28575" cap="sq" cmpd="sng">
                <a:solidFill>
                  <a:srgbClr val="000000"/>
                </a:solidFill>
                <a:prstDash val="solid"/>
                <a:headEnd type="none" w="med" len="med"/>
                <a:tailEnd type="none" w="med" len="med"/>
              </a:ln>
            </p:spPr>
          </p:sp>
          <p:sp>
            <p:nvSpPr>
              <p:cNvPr id="48177" name="Line 164"/>
              <p:cNvSpPr/>
              <p:nvPr/>
            </p:nvSpPr>
            <p:spPr>
              <a:xfrm>
                <a:off x="2352" y="3696"/>
                <a:ext cx="0" cy="192"/>
              </a:xfrm>
              <a:prstGeom prst="line">
                <a:avLst/>
              </a:prstGeom>
              <a:ln w="28575" cap="sq" cmpd="sng">
                <a:solidFill>
                  <a:srgbClr val="000000"/>
                </a:solidFill>
                <a:prstDash val="solid"/>
                <a:headEnd type="none" w="med" len="med"/>
                <a:tailEnd type="none" w="med" len="med"/>
              </a:ln>
            </p:spPr>
          </p:sp>
          <p:sp>
            <p:nvSpPr>
              <p:cNvPr id="48178" name="Line 165"/>
              <p:cNvSpPr/>
              <p:nvPr/>
            </p:nvSpPr>
            <p:spPr>
              <a:xfrm>
                <a:off x="2779" y="3696"/>
                <a:ext cx="0" cy="192"/>
              </a:xfrm>
              <a:prstGeom prst="line">
                <a:avLst/>
              </a:prstGeom>
              <a:ln w="12700" cap="flat" cmpd="sng">
                <a:solidFill>
                  <a:srgbClr val="000000"/>
                </a:solidFill>
                <a:prstDash val="solid"/>
                <a:headEnd type="none" w="med" len="med"/>
                <a:tailEnd type="none" w="med" len="med"/>
              </a:ln>
            </p:spPr>
          </p:sp>
          <p:sp>
            <p:nvSpPr>
              <p:cNvPr id="48179" name="Line 166"/>
              <p:cNvSpPr/>
              <p:nvPr/>
            </p:nvSpPr>
            <p:spPr>
              <a:xfrm>
                <a:off x="3600" y="3696"/>
                <a:ext cx="0" cy="192"/>
              </a:xfrm>
              <a:prstGeom prst="line">
                <a:avLst/>
              </a:prstGeom>
              <a:ln w="28575" cap="sq" cmpd="sng">
                <a:solidFill>
                  <a:srgbClr val="000000"/>
                </a:solidFill>
                <a:prstDash val="solid"/>
                <a:headEnd type="none" w="med" len="med"/>
                <a:tailEnd type="none" w="med" len="med"/>
              </a:ln>
            </p:spPr>
          </p:sp>
          <p:sp>
            <p:nvSpPr>
              <p:cNvPr id="48180" name="Rectangle 167"/>
              <p:cNvSpPr/>
              <p:nvPr/>
            </p:nvSpPr>
            <p:spPr>
              <a:xfrm>
                <a:off x="1104" y="3733"/>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1 1 1</a:t>
                </a:r>
                <a:endParaRPr lang="en-US" altLang="zh-CN" sz="1800" dirty="0">
                  <a:latin typeface="Arial" panose="020B0604020202020204" pitchFamily="34" charset="0"/>
                </a:endParaRPr>
              </a:p>
            </p:txBody>
          </p:sp>
          <p:sp>
            <p:nvSpPr>
              <p:cNvPr id="48181" name="Rectangle 168"/>
              <p:cNvSpPr/>
              <p:nvPr/>
            </p:nvSpPr>
            <p:spPr>
              <a:xfrm>
                <a:off x="1104" y="3522"/>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1 1 0</a:t>
                </a:r>
                <a:endParaRPr lang="en-US" altLang="zh-CN" sz="1800" dirty="0">
                  <a:latin typeface="Arial" panose="020B0604020202020204" pitchFamily="34" charset="0"/>
                </a:endParaRPr>
              </a:p>
            </p:txBody>
          </p:sp>
          <p:sp>
            <p:nvSpPr>
              <p:cNvPr id="48182" name="Rectangle 169"/>
              <p:cNvSpPr/>
              <p:nvPr/>
            </p:nvSpPr>
            <p:spPr>
              <a:xfrm>
                <a:off x="1104" y="3311"/>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1 0 1</a:t>
                </a:r>
                <a:endParaRPr lang="en-US" altLang="zh-CN" sz="1800" dirty="0">
                  <a:latin typeface="Arial" panose="020B0604020202020204" pitchFamily="34" charset="0"/>
                </a:endParaRPr>
              </a:p>
            </p:txBody>
          </p:sp>
          <p:sp>
            <p:nvSpPr>
              <p:cNvPr id="48183" name="Rectangle 170"/>
              <p:cNvSpPr/>
              <p:nvPr/>
            </p:nvSpPr>
            <p:spPr>
              <a:xfrm>
                <a:off x="1104" y="3100"/>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1 0 0</a:t>
                </a:r>
                <a:endParaRPr lang="en-US" altLang="zh-CN" sz="1800" dirty="0">
                  <a:latin typeface="Arial" panose="020B0604020202020204" pitchFamily="34" charset="0"/>
                </a:endParaRPr>
              </a:p>
            </p:txBody>
          </p:sp>
          <p:sp>
            <p:nvSpPr>
              <p:cNvPr id="48184" name="Rectangle 171"/>
              <p:cNvSpPr/>
              <p:nvPr/>
            </p:nvSpPr>
            <p:spPr>
              <a:xfrm>
                <a:off x="1104" y="2889"/>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0 1 1</a:t>
                </a:r>
                <a:endParaRPr lang="en-US" altLang="zh-CN" sz="1800" dirty="0">
                  <a:latin typeface="Arial" panose="020B0604020202020204" pitchFamily="34" charset="0"/>
                </a:endParaRPr>
              </a:p>
            </p:txBody>
          </p:sp>
          <p:sp>
            <p:nvSpPr>
              <p:cNvPr id="48185" name="Rectangle 172"/>
              <p:cNvSpPr/>
              <p:nvPr/>
            </p:nvSpPr>
            <p:spPr>
              <a:xfrm>
                <a:off x="1104" y="2678"/>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0 1 0</a:t>
                </a:r>
                <a:endParaRPr lang="en-US" altLang="zh-CN" sz="1800" dirty="0">
                  <a:latin typeface="Arial" panose="020B0604020202020204" pitchFamily="34" charset="0"/>
                </a:endParaRPr>
              </a:p>
            </p:txBody>
          </p:sp>
          <p:sp>
            <p:nvSpPr>
              <p:cNvPr id="48186" name="Rectangle 173"/>
              <p:cNvSpPr/>
              <p:nvPr/>
            </p:nvSpPr>
            <p:spPr>
              <a:xfrm>
                <a:off x="1104" y="2467"/>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0 0 1</a:t>
                </a:r>
                <a:endParaRPr lang="en-US" altLang="zh-CN" sz="1800" dirty="0">
                  <a:latin typeface="Arial" panose="020B0604020202020204" pitchFamily="34" charset="0"/>
                </a:endParaRPr>
              </a:p>
            </p:txBody>
          </p:sp>
          <p:sp>
            <p:nvSpPr>
              <p:cNvPr id="48187" name="Rectangle 174"/>
              <p:cNvSpPr/>
              <p:nvPr/>
            </p:nvSpPr>
            <p:spPr>
              <a:xfrm>
                <a:off x="1104" y="2256"/>
                <a:ext cx="768" cy="211"/>
              </a:xfrm>
              <a:prstGeom prst="rect">
                <a:avLst/>
              </a:prstGeom>
              <a:noFill/>
              <a:ln w="9525" cap="flat" cmpd="sng">
                <a:solidFill>
                  <a:srgbClr val="000000"/>
                </a:solidFill>
                <a:prstDash val="solid"/>
                <a:miter/>
                <a:headEnd type="none" w="med" len="med"/>
                <a:tailEnd type="none" w="med" len="med"/>
              </a:ln>
            </p:spPr>
            <p:txBody>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a:buClr>
                    <a:srgbClr val="3333CC"/>
                  </a:buClr>
                  <a:buSzPct val="130000"/>
                  <a:buNone/>
                </a:pPr>
                <a:r>
                  <a:rPr lang="en-US" altLang="zh-CN" sz="1800" dirty="0">
                    <a:latin typeface="Arial" panose="020B0604020202020204" pitchFamily="34" charset="0"/>
                  </a:rPr>
                  <a:t>0 0 0</a:t>
                </a:r>
                <a:endParaRPr lang="en-US" altLang="zh-CN" sz="1800" dirty="0">
                  <a:latin typeface="Arial" panose="020B0604020202020204" pitchFamily="34" charset="0"/>
                </a:endParaRPr>
              </a:p>
            </p:txBody>
          </p:sp>
          <p:sp>
            <p:nvSpPr>
              <p:cNvPr id="48188" name="Line 175"/>
              <p:cNvSpPr/>
              <p:nvPr/>
            </p:nvSpPr>
            <p:spPr>
              <a:xfrm>
                <a:off x="1104" y="2256"/>
                <a:ext cx="768" cy="0"/>
              </a:xfrm>
              <a:prstGeom prst="line">
                <a:avLst/>
              </a:prstGeom>
              <a:ln w="28575" cap="sq" cmpd="sng">
                <a:solidFill>
                  <a:srgbClr val="000000"/>
                </a:solidFill>
                <a:prstDash val="solid"/>
                <a:headEnd type="none" w="med" len="med"/>
                <a:tailEnd type="none" w="med" len="med"/>
              </a:ln>
            </p:spPr>
          </p:sp>
          <p:sp>
            <p:nvSpPr>
              <p:cNvPr id="48189" name="Line 176"/>
              <p:cNvSpPr/>
              <p:nvPr/>
            </p:nvSpPr>
            <p:spPr>
              <a:xfrm>
                <a:off x="1104" y="2467"/>
                <a:ext cx="768" cy="0"/>
              </a:xfrm>
              <a:prstGeom prst="line">
                <a:avLst/>
              </a:prstGeom>
              <a:ln w="12700" cap="flat" cmpd="sng">
                <a:solidFill>
                  <a:srgbClr val="000000"/>
                </a:solidFill>
                <a:prstDash val="solid"/>
                <a:headEnd type="none" w="med" len="med"/>
                <a:tailEnd type="none" w="med" len="med"/>
              </a:ln>
            </p:spPr>
          </p:sp>
          <p:sp>
            <p:nvSpPr>
              <p:cNvPr id="48190" name="Line 177"/>
              <p:cNvSpPr/>
              <p:nvPr/>
            </p:nvSpPr>
            <p:spPr>
              <a:xfrm>
                <a:off x="1104" y="2678"/>
                <a:ext cx="768" cy="0"/>
              </a:xfrm>
              <a:prstGeom prst="line">
                <a:avLst/>
              </a:prstGeom>
              <a:ln w="12700" cap="flat" cmpd="sng">
                <a:solidFill>
                  <a:srgbClr val="000000"/>
                </a:solidFill>
                <a:prstDash val="solid"/>
                <a:headEnd type="none" w="med" len="med"/>
                <a:tailEnd type="none" w="med" len="med"/>
              </a:ln>
            </p:spPr>
          </p:sp>
          <p:sp>
            <p:nvSpPr>
              <p:cNvPr id="48191" name="Line 178"/>
              <p:cNvSpPr/>
              <p:nvPr/>
            </p:nvSpPr>
            <p:spPr>
              <a:xfrm>
                <a:off x="1104" y="2889"/>
                <a:ext cx="768" cy="0"/>
              </a:xfrm>
              <a:prstGeom prst="line">
                <a:avLst/>
              </a:prstGeom>
              <a:ln w="12700" cap="flat" cmpd="sng">
                <a:solidFill>
                  <a:srgbClr val="000000"/>
                </a:solidFill>
                <a:prstDash val="solid"/>
                <a:headEnd type="none" w="med" len="med"/>
                <a:tailEnd type="none" w="med" len="med"/>
              </a:ln>
            </p:spPr>
          </p:sp>
          <p:sp>
            <p:nvSpPr>
              <p:cNvPr id="48192" name="Line 179"/>
              <p:cNvSpPr/>
              <p:nvPr/>
            </p:nvSpPr>
            <p:spPr>
              <a:xfrm>
                <a:off x="1104" y="3100"/>
                <a:ext cx="768" cy="0"/>
              </a:xfrm>
              <a:prstGeom prst="line">
                <a:avLst/>
              </a:prstGeom>
              <a:ln w="12700" cap="flat" cmpd="sng">
                <a:solidFill>
                  <a:srgbClr val="000000"/>
                </a:solidFill>
                <a:prstDash val="solid"/>
                <a:headEnd type="none" w="med" len="med"/>
                <a:tailEnd type="none" w="med" len="med"/>
              </a:ln>
            </p:spPr>
          </p:sp>
          <p:sp>
            <p:nvSpPr>
              <p:cNvPr id="48193" name="Line 180"/>
              <p:cNvSpPr/>
              <p:nvPr/>
            </p:nvSpPr>
            <p:spPr>
              <a:xfrm>
                <a:off x="1104" y="3311"/>
                <a:ext cx="768" cy="0"/>
              </a:xfrm>
              <a:prstGeom prst="line">
                <a:avLst/>
              </a:prstGeom>
              <a:ln w="12700" cap="flat" cmpd="sng">
                <a:solidFill>
                  <a:srgbClr val="000000"/>
                </a:solidFill>
                <a:prstDash val="solid"/>
                <a:headEnd type="none" w="med" len="med"/>
                <a:tailEnd type="none" w="med" len="med"/>
              </a:ln>
            </p:spPr>
          </p:sp>
          <p:sp>
            <p:nvSpPr>
              <p:cNvPr id="48194" name="Line 181"/>
              <p:cNvSpPr/>
              <p:nvPr/>
            </p:nvSpPr>
            <p:spPr>
              <a:xfrm>
                <a:off x="1104" y="3522"/>
                <a:ext cx="768" cy="0"/>
              </a:xfrm>
              <a:prstGeom prst="line">
                <a:avLst/>
              </a:prstGeom>
              <a:ln w="12700" cap="flat" cmpd="sng">
                <a:solidFill>
                  <a:srgbClr val="000000"/>
                </a:solidFill>
                <a:prstDash val="solid"/>
                <a:headEnd type="none" w="med" len="med"/>
                <a:tailEnd type="none" w="med" len="med"/>
              </a:ln>
            </p:spPr>
          </p:sp>
          <p:sp>
            <p:nvSpPr>
              <p:cNvPr id="48195" name="Line 182"/>
              <p:cNvSpPr/>
              <p:nvPr/>
            </p:nvSpPr>
            <p:spPr>
              <a:xfrm>
                <a:off x="1104" y="3733"/>
                <a:ext cx="768" cy="0"/>
              </a:xfrm>
              <a:prstGeom prst="line">
                <a:avLst/>
              </a:prstGeom>
              <a:ln w="12700" cap="flat" cmpd="sng">
                <a:solidFill>
                  <a:srgbClr val="000000"/>
                </a:solidFill>
                <a:prstDash val="solid"/>
                <a:headEnd type="none" w="med" len="med"/>
                <a:tailEnd type="none" w="med" len="med"/>
              </a:ln>
            </p:spPr>
          </p:sp>
          <p:sp>
            <p:nvSpPr>
              <p:cNvPr id="48196" name="Line 183"/>
              <p:cNvSpPr/>
              <p:nvPr/>
            </p:nvSpPr>
            <p:spPr>
              <a:xfrm>
                <a:off x="1104" y="3944"/>
                <a:ext cx="768" cy="0"/>
              </a:xfrm>
              <a:prstGeom prst="line">
                <a:avLst/>
              </a:prstGeom>
              <a:ln w="28575" cap="sq" cmpd="sng">
                <a:solidFill>
                  <a:srgbClr val="000000"/>
                </a:solidFill>
                <a:prstDash val="solid"/>
                <a:headEnd type="none" w="med" len="med"/>
                <a:tailEnd type="none" w="med" len="med"/>
              </a:ln>
            </p:spPr>
          </p:sp>
          <p:sp>
            <p:nvSpPr>
              <p:cNvPr id="48197" name="Line 184"/>
              <p:cNvSpPr/>
              <p:nvPr/>
            </p:nvSpPr>
            <p:spPr>
              <a:xfrm>
                <a:off x="1104" y="2256"/>
                <a:ext cx="0" cy="1688"/>
              </a:xfrm>
              <a:prstGeom prst="line">
                <a:avLst/>
              </a:prstGeom>
              <a:ln w="28575" cap="sq" cmpd="sng">
                <a:solidFill>
                  <a:srgbClr val="000000"/>
                </a:solidFill>
                <a:prstDash val="solid"/>
                <a:headEnd type="none" w="med" len="med"/>
                <a:tailEnd type="none" w="med" len="med"/>
              </a:ln>
            </p:spPr>
          </p:sp>
          <p:sp>
            <p:nvSpPr>
              <p:cNvPr id="48198" name="Line 185"/>
              <p:cNvSpPr/>
              <p:nvPr/>
            </p:nvSpPr>
            <p:spPr>
              <a:xfrm>
                <a:off x="1872" y="2256"/>
                <a:ext cx="0" cy="1688"/>
              </a:xfrm>
              <a:prstGeom prst="line">
                <a:avLst/>
              </a:prstGeom>
              <a:ln w="28575" cap="sq" cmpd="sng">
                <a:solidFill>
                  <a:srgbClr val="000000"/>
                </a:solidFill>
                <a:prstDash val="solid"/>
                <a:headEnd type="none" w="med" len="med"/>
                <a:tailEnd type="none" w="med" len="med"/>
              </a:ln>
            </p:spPr>
          </p:sp>
          <p:sp>
            <p:nvSpPr>
              <p:cNvPr id="48199" name="Line 186"/>
              <p:cNvSpPr/>
              <p:nvPr/>
            </p:nvSpPr>
            <p:spPr>
              <a:xfrm>
                <a:off x="1776" y="2352"/>
                <a:ext cx="528" cy="0"/>
              </a:xfrm>
              <a:prstGeom prst="line">
                <a:avLst/>
              </a:prstGeom>
              <a:ln w="9525" cap="flat" cmpd="sng">
                <a:solidFill>
                  <a:srgbClr val="000000"/>
                </a:solidFill>
                <a:prstDash val="solid"/>
                <a:headEnd type="none" w="med" len="med"/>
                <a:tailEnd type="triangle" w="med" len="med"/>
              </a:ln>
            </p:spPr>
          </p:sp>
          <p:sp>
            <p:nvSpPr>
              <p:cNvPr id="48200" name="Line 187"/>
              <p:cNvSpPr/>
              <p:nvPr/>
            </p:nvSpPr>
            <p:spPr>
              <a:xfrm>
                <a:off x="1776" y="2592"/>
                <a:ext cx="528" cy="48"/>
              </a:xfrm>
              <a:prstGeom prst="line">
                <a:avLst/>
              </a:prstGeom>
              <a:ln w="9525" cap="flat" cmpd="sng">
                <a:solidFill>
                  <a:srgbClr val="000000"/>
                </a:solidFill>
                <a:prstDash val="solid"/>
                <a:headEnd type="none" w="med" len="med"/>
                <a:tailEnd type="triangle" w="med" len="med"/>
              </a:ln>
            </p:spPr>
          </p:sp>
          <p:sp>
            <p:nvSpPr>
              <p:cNvPr id="48201" name="Line 188"/>
              <p:cNvSpPr/>
              <p:nvPr/>
            </p:nvSpPr>
            <p:spPr>
              <a:xfrm>
                <a:off x="1776" y="2784"/>
                <a:ext cx="576" cy="96"/>
              </a:xfrm>
              <a:prstGeom prst="line">
                <a:avLst/>
              </a:prstGeom>
              <a:ln w="9525" cap="flat" cmpd="sng">
                <a:solidFill>
                  <a:srgbClr val="000000"/>
                </a:solidFill>
                <a:prstDash val="solid"/>
                <a:headEnd type="none" w="med" len="med"/>
                <a:tailEnd type="triangle" w="med" len="med"/>
              </a:ln>
            </p:spPr>
          </p:sp>
          <p:sp>
            <p:nvSpPr>
              <p:cNvPr id="48202" name="Line 189"/>
              <p:cNvSpPr/>
              <p:nvPr/>
            </p:nvSpPr>
            <p:spPr>
              <a:xfrm flipV="1">
                <a:off x="1776" y="2976"/>
                <a:ext cx="528" cy="48"/>
              </a:xfrm>
              <a:prstGeom prst="line">
                <a:avLst/>
              </a:prstGeom>
              <a:ln w="9525" cap="flat" cmpd="sng">
                <a:solidFill>
                  <a:srgbClr val="000000"/>
                </a:solidFill>
                <a:prstDash val="solid"/>
                <a:headEnd type="none" w="med" len="med"/>
                <a:tailEnd type="triangle" w="med" len="med"/>
              </a:ln>
            </p:spPr>
          </p:sp>
          <p:sp>
            <p:nvSpPr>
              <p:cNvPr id="48203" name="Line 190"/>
              <p:cNvSpPr/>
              <p:nvPr/>
            </p:nvSpPr>
            <p:spPr>
              <a:xfrm>
                <a:off x="1776" y="3216"/>
                <a:ext cx="528" cy="0"/>
              </a:xfrm>
              <a:prstGeom prst="line">
                <a:avLst/>
              </a:prstGeom>
              <a:ln w="9525" cap="flat" cmpd="sng">
                <a:solidFill>
                  <a:srgbClr val="000000"/>
                </a:solidFill>
                <a:prstDash val="solid"/>
                <a:headEnd type="none" w="med" len="med"/>
                <a:tailEnd type="triangle" w="med" len="med"/>
              </a:ln>
            </p:spPr>
          </p:sp>
          <p:sp>
            <p:nvSpPr>
              <p:cNvPr id="48204" name="Line 191"/>
              <p:cNvSpPr/>
              <p:nvPr/>
            </p:nvSpPr>
            <p:spPr>
              <a:xfrm>
                <a:off x="1776" y="3408"/>
                <a:ext cx="576" cy="96"/>
              </a:xfrm>
              <a:prstGeom prst="line">
                <a:avLst/>
              </a:prstGeom>
              <a:ln w="9525" cap="flat" cmpd="sng">
                <a:solidFill>
                  <a:srgbClr val="000000"/>
                </a:solidFill>
                <a:prstDash val="solid"/>
                <a:headEnd type="none" w="med" len="med"/>
                <a:tailEnd type="triangle" w="med" len="med"/>
              </a:ln>
            </p:spPr>
          </p:sp>
          <p:sp>
            <p:nvSpPr>
              <p:cNvPr id="48205" name="Line 192"/>
              <p:cNvSpPr/>
              <p:nvPr/>
            </p:nvSpPr>
            <p:spPr>
              <a:xfrm>
                <a:off x="1776" y="3600"/>
                <a:ext cx="624" cy="144"/>
              </a:xfrm>
              <a:prstGeom prst="line">
                <a:avLst/>
              </a:prstGeom>
              <a:ln w="9525" cap="flat" cmpd="sng">
                <a:solidFill>
                  <a:srgbClr val="000000"/>
                </a:solidFill>
                <a:prstDash val="solid"/>
                <a:headEnd type="none" w="med" len="med"/>
                <a:tailEnd type="triangle" w="med" len="med"/>
              </a:ln>
            </p:spPr>
          </p:sp>
          <p:sp>
            <p:nvSpPr>
              <p:cNvPr id="48206" name="Line 193"/>
              <p:cNvSpPr/>
              <p:nvPr/>
            </p:nvSpPr>
            <p:spPr>
              <a:xfrm flipV="1">
                <a:off x="1776" y="3840"/>
                <a:ext cx="576" cy="48"/>
              </a:xfrm>
              <a:prstGeom prst="line">
                <a:avLst/>
              </a:prstGeom>
              <a:ln w="9525" cap="flat" cmpd="sng">
                <a:solidFill>
                  <a:srgbClr val="000000"/>
                </a:solidFill>
                <a:prstDash val="solid"/>
                <a:headEnd type="none" w="med" len="med"/>
                <a:tailEnd type="triangle" w="med" len="med"/>
              </a:ln>
            </p:spPr>
          </p:sp>
        </p:grpSp>
        <p:sp>
          <p:nvSpPr>
            <p:cNvPr id="48136" name="Text Box 194"/>
            <p:cNvSpPr txBox="1"/>
            <p:nvPr/>
          </p:nvSpPr>
          <p:spPr>
            <a:xfrm>
              <a:off x="496" y="3231"/>
              <a:ext cx="1244" cy="247"/>
            </a:xfrm>
            <a:prstGeom prst="rect">
              <a:avLst/>
            </a:prstGeom>
            <a:noFill/>
            <a:ln w="9525">
              <a:noFill/>
            </a:ln>
          </p:spPr>
          <p:txBody>
            <a:bodyPr wrap="none">
              <a:spAutoFit/>
            </a:bodyPr>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buClrTx/>
                <a:buSzTx/>
                <a:buFontTx/>
                <a:buNone/>
              </a:pPr>
              <a:r>
                <a:rPr lang="zh-CN" altLang="en-US" sz="2800" dirty="0">
                  <a:latin typeface="Arial" panose="020B0604020202020204" pitchFamily="34" charset="0"/>
                </a:rPr>
                <a:t>全局深度</a:t>
              </a:r>
              <a:r>
                <a:rPr lang="en-US" altLang="zh-CN" sz="2800" dirty="0">
                  <a:latin typeface="Arial" panose="020B0604020202020204" pitchFamily="34" charset="0"/>
                </a:rPr>
                <a:t>d=3</a:t>
              </a:r>
              <a:endParaRPr lang="en-US" altLang="zh-CN" sz="2800" dirty="0">
                <a:latin typeface="Arial" panose="020B0604020202020204" pitchFamily="34" charset="0"/>
              </a:endParaRPr>
            </a:p>
          </p:txBody>
        </p:sp>
        <p:sp>
          <p:nvSpPr>
            <p:cNvPr id="48137" name="AutoShape 195"/>
            <p:cNvSpPr/>
            <p:nvPr/>
          </p:nvSpPr>
          <p:spPr>
            <a:xfrm>
              <a:off x="192" y="1584"/>
              <a:ext cx="144" cy="576"/>
            </a:xfrm>
            <a:prstGeom prst="leftBrace">
              <a:avLst>
                <a:gd name="adj1" fmla="val 33333"/>
                <a:gd name="adj2" fmla="val 50000"/>
              </a:avLst>
            </a:prstGeom>
            <a:noFill/>
            <a:ln w="9525" cap="flat" cmpd="sng">
              <a:solidFill>
                <a:srgbClr val="000000"/>
              </a:solidFill>
              <a:prstDash val="solid"/>
              <a:headEnd type="none" w="med" len="med"/>
              <a:tailEnd type="none" w="med" len="med"/>
            </a:ln>
          </p:spPr>
          <p:txBody>
            <a:bodyPr wrap="none" anchor="ctr" anchorCtr="0"/>
            <a:lstStyle>
              <a:lvl1pPr marL="360680" indent="-360680" algn="l" rtl="0" eaLnBrk="0" fontAlgn="base" hangingPunct="0">
                <a:spcBef>
                  <a:spcPct val="0"/>
                </a:spcBef>
                <a:spcAft>
                  <a:spcPct val="0"/>
                </a:spcAft>
                <a:buClr>
                  <a:srgbClr val="FF0000"/>
                </a:buClr>
                <a:buSzPct val="65000"/>
                <a:buFont typeface="Wingdings" panose="05000000000000000000" pitchFamily="2" charset="2"/>
                <a:buChar char="n"/>
                <a:defRPr sz="3600">
                  <a:solidFill>
                    <a:srgbClr val="000000"/>
                  </a:solidFill>
                  <a:latin typeface="+mn-lt"/>
                  <a:ea typeface="+mn-ea"/>
                  <a:cs typeface="+mn-cs"/>
                </a:defRPr>
              </a:lvl1pPr>
              <a:lvl2pPr marL="811530" indent="-269875" algn="l" rtl="0" eaLnBrk="0" fontAlgn="base" hangingPunct="0">
                <a:spcBef>
                  <a:spcPct val="20000"/>
                </a:spcBef>
                <a:spcAft>
                  <a:spcPct val="0"/>
                </a:spcAft>
                <a:buClr>
                  <a:srgbClr val="3333CC"/>
                </a:buClr>
                <a:buSzPct val="65000"/>
                <a:buFont typeface="Wingdings" panose="05000000000000000000" pitchFamily="2" charset="2"/>
                <a:buChar char="n"/>
                <a:defRPr sz="3200" b="1">
                  <a:solidFill>
                    <a:srgbClr val="000000"/>
                  </a:solidFill>
                  <a:latin typeface="+mn-lt"/>
                  <a:ea typeface="+mn-ea"/>
                </a:defRPr>
              </a:lvl2pPr>
              <a:lvl3pPr marL="1339850" indent="-259080" algn="l" rtl="0" eaLnBrk="0" fontAlgn="base" hangingPunct="0">
                <a:spcBef>
                  <a:spcPct val="20000"/>
                </a:spcBef>
                <a:spcAft>
                  <a:spcPct val="0"/>
                </a:spcAft>
                <a:buClr>
                  <a:srgbClr val="996633"/>
                </a:buClr>
                <a:buSzPct val="65000"/>
                <a:buFont typeface="Wingdings" panose="05000000000000000000" pitchFamily="2" charset="2"/>
                <a:buChar char="n"/>
                <a:defRPr sz="2800" b="1">
                  <a:solidFill>
                    <a:srgbClr val="000000"/>
                  </a:solidFill>
                  <a:latin typeface="+mn-lt"/>
                  <a:ea typeface="+mn-ea"/>
                </a:defRPr>
              </a:lvl3pPr>
              <a:lvl4pPr marL="1927225"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4pPr>
              <a:lvl5pPr marL="2335530" indent="-228600" algn="l" rtl="0" eaLnBrk="0" fontAlgn="base" hangingPunct="0">
                <a:spcBef>
                  <a:spcPct val="20000"/>
                </a:spcBef>
                <a:spcAft>
                  <a:spcPct val="0"/>
                </a:spcAft>
                <a:buClr>
                  <a:srgbClr val="996633"/>
                </a:buClr>
                <a:buSzPct val="65000"/>
                <a:buFont typeface="Wingdings" panose="05000000000000000000" pitchFamily="2" charset="2"/>
                <a:buChar char="n"/>
                <a:defRPr sz="2400" b="1">
                  <a:solidFill>
                    <a:srgbClr val="000000"/>
                  </a:solidFill>
                  <a:latin typeface="+mn-lt"/>
                  <a:ea typeface="+mn-ea"/>
                </a:defRPr>
              </a:lvl5pPr>
            </a:lstStyle>
            <a:p>
              <a:pPr marL="0" lvl="0" indent="0" eaLnBrk="1" hangingPunct="1">
                <a:spcBef>
                  <a:spcPct val="50000"/>
                </a:spcBef>
                <a:buClrTx/>
                <a:buSzTx/>
                <a:buFontTx/>
                <a:buNone/>
              </a:pPr>
              <a:endParaRPr lang="zh-CN" altLang="en-US" sz="2800" dirty="0">
                <a:latin typeface="Arial" panose="020B0604020202020204" pitchFamily="34" charset="0"/>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页脚占位符 3"/>
          <p:cNvSpPr txBox="1">
            <a:spLocks noGrp="1"/>
          </p:cNvSpPr>
          <p:nvPr>
            <p:ph type="ftr" sz="quarter" idx="11"/>
          </p:nvPr>
        </p:nvSpPr>
        <p:spPr>
          <a:xfrm>
            <a:off x="1295400" y="6248400"/>
            <a:ext cx="1905000" cy="457200"/>
          </a:xfrm>
        </p:spPr>
        <p:txBody>
          <a:bodyPr wrap="none" lIns="92075" tIns="46038" rIns="92075" bIns="46038" anchor="ctr" anchorCtr="0"/>
          <a:p>
            <a:pPr marL="0" indent="0">
              <a:buClrTx/>
              <a:buSzTx/>
              <a:buFontTx/>
              <a:buNone/>
            </a:pPr>
            <a:r>
              <a:rPr lang="en-US" altLang="zh-CN" sz="2000" b="0" dirty="0">
                <a:solidFill>
                  <a:srgbClr val="808000"/>
                </a:solidFill>
                <a:latin typeface="Arial" panose="020B0604020202020204" pitchFamily="34" charset="0"/>
                <a:ea typeface="楷体_GB2312" pitchFamily="49" charset="-122"/>
              </a:rPr>
              <a:t>国防科大计算机学院603教研室</a:t>
            </a:r>
            <a:endParaRPr lang="en-US" altLang="zh-CN" sz="2000" b="0" dirty="0">
              <a:solidFill>
                <a:srgbClr val="808000"/>
              </a:solidFill>
              <a:latin typeface="Arial" panose="020B0604020202020204" pitchFamily="34" charset="0"/>
              <a:ea typeface="楷体_GB2312" pitchFamily="49" charset="-122"/>
            </a:endParaRPr>
          </a:p>
        </p:txBody>
      </p:sp>
      <p:sp>
        <p:nvSpPr>
          <p:cNvPr id="49155" name="灯片编号占位符 4"/>
          <p:cNvSpPr txBox="1">
            <a:spLocks noGrp="1"/>
          </p:cNvSpPr>
          <p:nvPr>
            <p:ph type="sldNum" sz="quarter" idx="12"/>
          </p:nvPr>
        </p:nvSpPr>
        <p:spPr>
          <a:xfrm>
            <a:off x="3733800" y="6248400"/>
            <a:ext cx="2895600" cy="457200"/>
          </a:xfrm>
        </p:spPr>
        <p:txBody>
          <a:bodyPr wrap="none" lIns="92075" tIns="46038" rIns="92075" bIns="46038" anchor="ctr" anchorCtr="0"/>
          <a:p>
            <a:pPr marL="0" indent="0" algn="ctr">
              <a:buClrTx/>
              <a:buSzTx/>
              <a:buFontTx/>
              <a:buNone/>
            </a:pPr>
            <a:fld id="{9A0DB2DC-4C9A-4742-B13C-FB6460FD3503}" type="slidenum">
              <a:rPr lang="en-US" altLang="zh-CN" sz="2000" b="0" dirty="0">
                <a:solidFill>
                  <a:srgbClr val="808000"/>
                </a:solidFill>
                <a:latin typeface="Arial" panose="020B0604020202020204" pitchFamily="34" charset="0"/>
                <a:ea typeface="楷体_GB2312" pitchFamily="49" charset="-122"/>
              </a:rPr>
            </a:fld>
            <a:endParaRPr lang="en-US" altLang="zh-CN" sz="2000" b="0" dirty="0">
              <a:solidFill>
                <a:srgbClr val="808000"/>
              </a:solidFill>
              <a:latin typeface="Arial" panose="020B0604020202020204" pitchFamily="34" charset="0"/>
              <a:ea typeface="楷体_GB2312" pitchFamily="49" charset="-122"/>
            </a:endParaRPr>
          </a:p>
        </p:txBody>
      </p:sp>
      <p:sp>
        <p:nvSpPr>
          <p:cNvPr id="49156" name="Rectangle 2"/>
          <p:cNvSpPr>
            <a:spLocks noGrp="1"/>
          </p:cNvSpPr>
          <p:nvPr>
            <p:ph idx="1"/>
          </p:nvPr>
        </p:nvSpPr>
        <p:spPr>
          <a:xfrm>
            <a:off x="152400" y="1143000"/>
            <a:ext cx="8991600" cy="5273675"/>
          </a:xfrm>
        </p:spPr>
        <p:txBody>
          <a:bodyPr vert="horz" wrap="square" lIns="91440" tIns="45720" rIns="91440" bIns="45720" anchor="t" anchorCtr="0"/>
          <a:p>
            <a:pPr marL="449580" indent="-449580">
              <a:lnSpc>
                <a:spcPct val="90000"/>
              </a:lnSpc>
            </a:pPr>
            <a:r>
              <a:rPr lang="zh-CN" altLang="en-US" dirty="0">
                <a:latin typeface="Arial" panose="020B0604020202020204" pitchFamily="34" charset="0"/>
              </a:rPr>
              <a:t>查找：若查找键值为</a:t>
            </a:r>
            <a:r>
              <a:rPr lang="en-US" altLang="zh-CN" dirty="0">
                <a:latin typeface="Arial" panose="020B0604020202020204" pitchFamily="34" charset="0"/>
              </a:rPr>
              <a:t>k</a:t>
            </a:r>
            <a:r>
              <a:rPr lang="zh-CN" altLang="en-US" dirty="0">
                <a:latin typeface="Arial" panose="020B0604020202020204" pitchFamily="34" charset="0"/>
              </a:rPr>
              <a:t>，则首先求出</a:t>
            </a:r>
            <a:r>
              <a:rPr lang="en-US" altLang="zh-CN" dirty="0">
                <a:latin typeface="Arial" panose="020B0604020202020204" pitchFamily="34" charset="0"/>
              </a:rPr>
              <a:t>h(k)</a:t>
            </a:r>
            <a:r>
              <a:rPr lang="zh-CN" altLang="en-US" dirty="0">
                <a:latin typeface="Arial" panose="020B0604020202020204" pitchFamily="34" charset="0"/>
              </a:rPr>
              <a:t>的前</a:t>
            </a:r>
            <a:r>
              <a:rPr lang="en-US" altLang="zh-CN" dirty="0">
                <a:latin typeface="Arial" panose="020B0604020202020204" pitchFamily="34" charset="0"/>
              </a:rPr>
              <a:t>d</a:t>
            </a:r>
            <a:r>
              <a:rPr lang="zh-CN" altLang="en-US" dirty="0">
                <a:latin typeface="Arial" panose="020B0604020202020204" pitchFamily="34" charset="0"/>
              </a:rPr>
              <a:t>位值</a:t>
            </a:r>
            <a:r>
              <a:rPr lang="en-US" altLang="zh-CN" dirty="0">
                <a:latin typeface="Arial" panose="020B0604020202020204" pitchFamily="34" charset="0"/>
              </a:rPr>
              <a:t>m</a:t>
            </a:r>
            <a:r>
              <a:rPr lang="zh-CN" altLang="en-US" dirty="0">
                <a:latin typeface="Arial" panose="020B0604020202020204" pitchFamily="34" charset="0"/>
              </a:rPr>
              <a:t>，然后沿着桶地址表位置</a:t>
            </a:r>
            <a:r>
              <a:rPr lang="en-US" altLang="zh-CN" dirty="0">
                <a:latin typeface="Arial" panose="020B0604020202020204" pitchFamily="34" charset="0"/>
              </a:rPr>
              <a:t>m</a:t>
            </a:r>
            <a:r>
              <a:rPr lang="zh-CN" altLang="en-US" dirty="0">
                <a:latin typeface="Arial" panose="020B0604020202020204" pitchFamily="34" charset="0"/>
              </a:rPr>
              <a:t>处的指针到达某一个桶中去找记录。 </a:t>
            </a:r>
            <a:endParaRPr lang="zh-CN" altLang="en-US" dirty="0">
              <a:latin typeface="Arial" panose="020B0604020202020204" pitchFamily="34" charset="0"/>
            </a:endParaRPr>
          </a:p>
          <a:p>
            <a:pPr marL="449580" indent="-449580">
              <a:lnSpc>
                <a:spcPct val="90000"/>
              </a:lnSpc>
            </a:pPr>
            <a:r>
              <a:rPr lang="zh-CN" altLang="en-US" dirty="0">
                <a:latin typeface="Arial" panose="020B0604020202020204" pitchFamily="34" charset="0"/>
              </a:rPr>
              <a:t>插入：首先找到要插入的桶，若桶已装满记录，则必须</a:t>
            </a:r>
            <a:r>
              <a:rPr lang="zh-CN" altLang="en-US" u="sng" dirty="0">
                <a:solidFill>
                  <a:srgbClr val="FF0000"/>
                </a:solidFill>
                <a:latin typeface="Arial" panose="020B0604020202020204" pitchFamily="34" charset="0"/>
              </a:rPr>
              <a:t>分裂桶</a:t>
            </a:r>
            <a:r>
              <a:rPr lang="zh-CN" altLang="en-US" dirty="0">
                <a:latin typeface="Arial" panose="020B0604020202020204" pitchFamily="34" charset="0"/>
              </a:rPr>
              <a:t>，重新分布记录，并插入新记录。</a:t>
            </a:r>
            <a:endParaRPr lang="zh-CN" altLang="en-US" dirty="0">
              <a:latin typeface="Arial" panose="020B0604020202020204" pitchFamily="34" charset="0"/>
            </a:endParaRPr>
          </a:p>
          <a:p>
            <a:pPr marL="449580" indent="-449580">
              <a:lnSpc>
                <a:spcPct val="90000"/>
              </a:lnSpc>
            </a:pPr>
            <a:r>
              <a:rPr lang="zh-CN" altLang="en-US" dirty="0">
                <a:latin typeface="Arial" panose="020B0604020202020204" pitchFamily="34" charset="0"/>
              </a:rPr>
              <a:t>删除：首先找到记录，然后将记录从所在的桶内删除。若删除后，桶为空，则这个桶也要被删除，这也就是桶的合并操作。有时很可能会引起桶地址表的收缩。</a:t>
            </a:r>
            <a:endParaRPr lang="zh-CN" altLang="en-US" dirty="0">
              <a:latin typeface="Arial" panose="020B0604020202020204" pitchFamily="34" charset="0"/>
            </a:endParaRPr>
          </a:p>
        </p:txBody>
      </p:sp>
      <p:sp>
        <p:nvSpPr>
          <p:cNvPr id="108547"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可扩展哈希操作</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页脚占位符 3"/>
          <p:cNvSpPr txBox="1">
            <a:spLocks noGrp="1"/>
          </p:cNvSpPr>
          <p:nvPr>
            <p:ph type="ftr" sz="quarter" idx="11"/>
          </p:nvPr>
        </p:nvSpPr>
        <p:spPr>
          <a:xfrm>
            <a:off x="1295400" y="6248400"/>
            <a:ext cx="1905000" cy="457200"/>
          </a:xfrm>
        </p:spPr>
        <p:txBody>
          <a:bodyPr wrap="none" lIns="92075" tIns="46038" rIns="92075" bIns="46038" anchor="ctr" anchorCtr="0"/>
          <a:p>
            <a:pPr marL="0" indent="0">
              <a:buClrTx/>
              <a:buSzTx/>
              <a:buFontTx/>
              <a:buNone/>
            </a:pPr>
            <a:r>
              <a:rPr lang="en-US" altLang="zh-CN" sz="2000" b="0" dirty="0">
                <a:solidFill>
                  <a:srgbClr val="808000"/>
                </a:solidFill>
                <a:latin typeface="Arial" panose="020B0604020202020204" pitchFamily="34" charset="0"/>
                <a:ea typeface="楷体_GB2312" pitchFamily="49" charset="-122"/>
              </a:rPr>
              <a:t>国防科大计算机学院603教研室</a:t>
            </a:r>
            <a:endParaRPr lang="en-US" altLang="zh-CN" sz="2000" b="0" dirty="0">
              <a:solidFill>
                <a:srgbClr val="808000"/>
              </a:solidFill>
              <a:latin typeface="Arial" panose="020B0604020202020204" pitchFamily="34" charset="0"/>
              <a:ea typeface="楷体_GB2312" pitchFamily="49" charset="-122"/>
            </a:endParaRPr>
          </a:p>
        </p:txBody>
      </p:sp>
      <p:sp>
        <p:nvSpPr>
          <p:cNvPr id="50179" name="灯片编号占位符 4"/>
          <p:cNvSpPr txBox="1">
            <a:spLocks noGrp="1"/>
          </p:cNvSpPr>
          <p:nvPr>
            <p:ph type="sldNum" sz="quarter" idx="12"/>
          </p:nvPr>
        </p:nvSpPr>
        <p:spPr>
          <a:xfrm>
            <a:off x="3733800" y="6248400"/>
            <a:ext cx="2895600" cy="457200"/>
          </a:xfrm>
        </p:spPr>
        <p:txBody>
          <a:bodyPr wrap="none" lIns="92075" tIns="46038" rIns="92075" bIns="46038" anchor="ctr" anchorCtr="0"/>
          <a:p>
            <a:pPr marL="0" indent="0" algn="ctr">
              <a:buClrTx/>
              <a:buSzTx/>
              <a:buFontTx/>
              <a:buNone/>
            </a:pPr>
            <a:fld id="{9A0DB2DC-4C9A-4742-B13C-FB6460FD3503}" type="slidenum">
              <a:rPr lang="en-US" altLang="zh-CN" sz="2000" b="0" dirty="0">
                <a:solidFill>
                  <a:srgbClr val="808000"/>
                </a:solidFill>
                <a:latin typeface="Arial" panose="020B0604020202020204" pitchFamily="34" charset="0"/>
                <a:ea typeface="楷体_GB2312" pitchFamily="49" charset="-122"/>
              </a:rPr>
            </a:fld>
            <a:endParaRPr lang="en-US" altLang="zh-CN" sz="2000" b="0" dirty="0">
              <a:solidFill>
                <a:srgbClr val="808000"/>
              </a:solidFill>
              <a:latin typeface="Arial" panose="020B0604020202020204" pitchFamily="34" charset="0"/>
              <a:ea typeface="楷体_GB2312" pitchFamily="49" charset="-122"/>
            </a:endParaRPr>
          </a:p>
        </p:txBody>
      </p:sp>
      <p:sp>
        <p:nvSpPr>
          <p:cNvPr id="50180" name="Rectangle 2"/>
          <p:cNvSpPr>
            <a:spLocks noGrp="1"/>
          </p:cNvSpPr>
          <p:nvPr>
            <p:ph idx="1"/>
          </p:nvPr>
        </p:nvSpPr>
        <p:spPr>
          <a:xfrm>
            <a:off x="152400" y="1143000"/>
            <a:ext cx="8991600" cy="5273675"/>
          </a:xfrm>
        </p:spPr>
        <p:txBody>
          <a:bodyPr vert="horz" wrap="square" lIns="91440" tIns="45720" rIns="91440" bIns="45720" anchor="t" anchorCtr="0"/>
          <a:p>
            <a:pPr marL="449580" indent="-449580"/>
            <a:r>
              <a:rPr lang="zh-CN" altLang="en-US" dirty="0">
                <a:solidFill>
                  <a:srgbClr val="0000CC"/>
                </a:solidFill>
                <a:latin typeface="Arial" panose="020B0604020202020204" pitchFamily="34" charset="0"/>
              </a:rPr>
              <a:t>情况</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a:t>
            </a:r>
            <a:r>
              <a:rPr lang="zh-CN" altLang="en-US" dirty="0">
                <a:latin typeface="Arial" panose="020B0604020202020204" pitchFamily="34" charset="0"/>
              </a:rPr>
              <a:t>指向这个桶只有一个指针。</a:t>
            </a:r>
            <a:br>
              <a:rPr lang="zh-CN" altLang="en-US" dirty="0">
                <a:latin typeface="Arial" panose="020B0604020202020204" pitchFamily="34" charset="0"/>
              </a:rPr>
            </a:br>
            <a:r>
              <a:rPr lang="zh-CN" altLang="en-US" dirty="0">
                <a:latin typeface="Arial" panose="020B0604020202020204" pitchFamily="34" charset="0"/>
              </a:rPr>
              <a:t>    增加</a:t>
            </a:r>
            <a:r>
              <a:rPr lang="en-US" altLang="zh-CN" dirty="0">
                <a:latin typeface="Arial" panose="020B0604020202020204" pitchFamily="34" charset="0"/>
              </a:rPr>
              <a:t>d</a:t>
            </a:r>
            <a:r>
              <a:rPr lang="zh-CN" altLang="en-US" dirty="0">
                <a:latin typeface="Arial" panose="020B0604020202020204" pitchFamily="34" charset="0"/>
              </a:rPr>
              <a:t>的值，桶地址表加倍，每一项分列成相邻的两项，但是指向同一个桶。新申请的桶，就得到其中第二个指针。</a:t>
            </a:r>
            <a:endParaRPr lang="zh-CN" altLang="en-US" dirty="0">
              <a:latin typeface="Arial" panose="020B0604020202020204" pitchFamily="34" charset="0"/>
            </a:endParaRPr>
          </a:p>
          <a:p>
            <a:pPr marL="449580" indent="-449580"/>
            <a:r>
              <a:rPr lang="zh-CN" altLang="en-US" dirty="0">
                <a:solidFill>
                  <a:srgbClr val="0000CC"/>
                </a:solidFill>
                <a:latin typeface="Arial" panose="020B0604020202020204" pitchFamily="34" charset="0"/>
              </a:rPr>
              <a:t>情况</a:t>
            </a: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a:t>
            </a:r>
            <a:r>
              <a:rPr lang="zh-CN" altLang="en-US" dirty="0">
                <a:latin typeface="Arial" panose="020B0604020202020204" pitchFamily="34" charset="0"/>
              </a:rPr>
              <a:t>指向这个桶有多个指针。</a:t>
            </a:r>
            <a:br>
              <a:rPr lang="zh-CN" altLang="en-US" dirty="0">
                <a:latin typeface="Arial" panose="020B0604020202020204" pitchFamily="34" charset="0"/>
              </a:rPr>
            </a:br>
            <a:r>
              <a:rPr lang="zh-CN" altLang="en-US" dirty="0">
                <a:latin typeface="Arial" panose="020B0604020202020204" pitchFamily="34" charset="0"/>
              </a:rPr>
              <a:t>    则桶地址表不用扩大只要分裂桶可以了。申请新的桶空间，原来的桶分出后一半指针指向新的桶，重新分配分裂的桶中的记录。 </a:t>
            </a:r>
            <a:endParaRPr lang="zh-CN" altLang="en-US" dirty="0">
              <a:latin typeface="Arial" panose="020B0604020202020204" pitchFamily="34" charset="0"/>
            </a:endParaRPr>
          </a:p>
        </p:txBody>
      </p:sp>
      <p:sp>
        <p:nvSpPr>
          <p:cNvPr id="128003"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可扩展哈希插入操作－分裂桶</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页脚占位符 3"/>
          <p:cNvSpPr txBox="1">
            <a:spLocks noGrp="1"/>
          </p:cNvSpPr>
          <p:nvPr>
            <p:ph type="ftr" sz="quarter" idx="11"/>
          </p:nvPr>
        </p:nvSpPr>
        <p:spPr>
          <a:xfrm>
            <a:off x="1295400" y="6248400"/>
            <a:ext cx="1905000" cy="457200"/>
          </a:xfrm>
        </p:spPr>
        <p:txBody>
          <a:bodyPr wrap="none" lIns="92075" tIns="46038" rIns="92075" bIns="46038" anchor="ctr" anchorCtr="0"/>
          <a:p>
            <a:pPr marL="0" indent="0">
              <a:buClrTx/>
              <a:buSzTx/>
              <a:buFontTx/>
              <a:buNone/>
            </a:pPr>
            <a:r>
              <a:rPr lang="en-US" altLang="zh-CN" sz="2000" b="0" dirty="0">
                <a:solidFill>
                  <a:srgbClr val="808000"/>
                </a:solidFill>
                <a:latin typeface="Arial" panose="020B0604020202020204" pitchFamily="34" charset="0"/>
                <a:ea typeface="楷体_GB2312" pitchFamily="49" charset="-122"/>
              </a:rPr>
              <a:t>国防科大计算机学院603教研室</a:t>
            </a:r>
            <a:endParaRPr lang="en-US" altLang="zh-CN" sz="2000" b="0" dirty="0">
              <a:solidFill>
                <a:srgbClr val="808000"/>
              </a:solidFill>
              <a:latin typeface="Arial" panose="020B0604020202020204" pitchFamily="34" charset="0"/>
              <a:ea typeface="楷体_GB2312" pitchFamily="49" charset="-122"/>
            </a:endParaRPr>
          </a:p>
        </p:txBody>
      </p:sp>
      <p:sp>
        <p:nvSpPr>
          <p:cNvPr id="51203" name="灯片编号占位符 4"/>
          <p:cNvSpPr txBox="1">
            <a:spLocks noGrp="1"/>
          </p:cNvSpPr>
          <p:nvPr>
            <p:ph type="sldNum" sz="quarter" idx="12"/>
          </p:nvPr>
        </p:nvSpPr>
        <p:spPr>
          <a:xfrm>
            <a:off x="3733800" y="6248400"/>
            <a:ext cx="2895600" cy="457200"/>
          </a:xfrm>
        </p:spPr>
        <p:txBody>
          <a:bodyPr wrap="none" lIns="92075" tIns="46038" rIns="92075" bIns="46038" anchor="ctr" anchorCtr="0"/>
          <a:p>
            <a:pPr marL="0" indent="0" algn="ctr">
              <a:buClrTx/>
              <a:buSzTx/>
              <a:buFontTx/>
              <a:buNone/>
            </a:pPr>
            <a:fld id="{9A0DB2DC-4C9A-4742-B13C-FB6460FD3503}" type="slidenum">
              <a:rPr lang="en-US" altLang="zh-CN" sz="2000" b="0" dirty="0">
                <a:solidFill>
                  <a:srgbClr val="808000"/>
                </a:solidFill>
                <a:latin typeface="Arial" panose="020B0604020202020204" pitchFamily="34" charset="0"/>
                <a:ea typeface="楷体_GB2312" pitchFamily="49" charset="-122"/>
              </a:rPr>
            </a:fld>
            <a:endParaRPr lang="en-US" altLang="zh-CN" sz="2000" b="0" dirty="0">
              <a:solidFill>
                <a:srgbClr val="808000"/>
              </a:solidFill>
              <a:latin typeface="Arial" panose="020B0604020202020204" pitchFamily="34" charset="0"/>
              <a:ea typeface="楷体_GB2312" pitchFamily="49" charset="-122"/>
            </a:endParaRPr>
          </a:p>
        </p:txBody>
      </p:sp>
      <p:sp>
        <p:nvSpPr>
          <p:cNvPr id="51204" name="Rectangle 2"/>
          <p:cNvSpPr>
            <a:spLocks noGrp="1"/>
          </p:cNvSpPr>
          <p:nvPr>
            <p:ph idx="1"/>
          </p:nvPr>
        </p:nvSpPr>
        <p:spPr>
          <a:xfrm>
            <a:off x="152400" y="1143000"/>
            <a:ext cx="8991600" cy="5273675"/>
          </a:xfrm>
        </p:spPr>
        <p:txBody>
          <a:bodyPr vert="horz" wrap="square" lIns="91440" tIns="45720" rIns="91440" bIns="45720" anchor="t" anchorCtr="0"/>
          <a:p>
            <a:pPr marL="449580" indent="-449580"/>
            <a:r>
              <a:rPr lang="zh-CN" altLang="en-US" dirty="0"/>
              <a:t>优点：</a:t>
            </a:r>
            <a:endParaRPr lang="zh-CN" altLang="en-US" dirty="0"/>
          </a:p>
          <a:p>
            <a:pPr lvl="1">
              <a:spcBef>
                <a:spcPct val="0"/>
              </a:spcBef>
            </a:pPr>
            <a:r>
              <a:rPr lang="zh-CN" altLang="en-US" dirty="0"/>
              <a:t>随着文件的数据量增长，仍然保持由空间开销达到最小。存储记录的桶和溢出桶空间都能动态地申请或释放。</a:t>
            </a:r>
            <a:endParaRPr lang="zh-CN" altLang="en-US" dirty="0"/>
          </a:p>
          <a:p>
            <a:pPr marL="449580" indent="-449580"/>
            <a:r>
              <a:rPr lang="zh-CN" altLang="en-US" dirty="0"/>
              <a:t>缺点：</a:t>
            </a:r>
            <a:endParaRPr lang="zh-CN" altLang="en-US" dirty="0"/>
          </a:p>
          <a:p>
            <a:pPr lvl="1">
              <a:spcBef>
                <a:spcPct val="0"/>
              </a:spcBef>
            </a:pPr>
            <a:r>
              <a:rPr lang="zh-CN" altLang="en-US" dirty="0"/>
              <a:t>比静态散列多了一个桶地址表。由于桶的编号在桶分裂或合并后不断变化，因此桶地址要存储在桶地址表中，以利查找。但此间接访问对文件的性能影响较小，系统和用户都能接受。</a:t>
            </a:r>
            <a:endParaRPr lang="zh-CN" altLang="en-US" dirty="0"/>
          </a:p>
        </p:txBody>
      </p:sp>
      <p:sp>
        <p:nvSpPr>
          <p:cNvPr id="155651" name="Rectangle 3"/>
          <p:cNvSpPr>
            <a:spLocks noGrp="1" noChangeArrowheads="1"/>
          </p:cNvSpPr>
          <p:nvPr>
            <p:ph type="title"/>
          </p:nvPr>
        </p:nvSpPr>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rPr>
              <a:t>可扩展哈希特点</a:t>
            </a:r>
            <a:endParaRPr kumimoji="0" lang="zh-CN" altLang="en-US" sz="4400" b="1" i="0" u="none" strike="noStrike" kern="0" cap="none" spc="0" normalizeH="0" baseline="0" noProof="0" smtClean="0">
              <a:ln>
                <a:noFill/>
              </a:ln>
              <a:solidFill>
                <a:srgbClr val="FF6600"/>
              </a:solidFill>
              <a:effectLst>
                <a:outerShdw blurRad="38100" dist="38100" dir="2700000" algn="tl">
                  <a:srgbClr val="C0C0C0"/>
                </a:outerShdw>
              </a:effectLst>
              <a:uLnTx/>
              <a:uFillTx/>
              <a:latin typeface="+mj-lt"/>
              <a:ea typeface="+mj-ea"/>
              <a:cs typeface="+mj-cs"/>
            </a:endParaRPr>
          </a:p>
        </p:txBody>
      </p:sp>
    </p:spTree>
  </p:cSld>
  <p:clrMapOvr>
    <a:masterClrMapping/>
  </p:clrMapOvr>
  <p:transition>
    <p:random/>
    <p:sndAc>
      <p:stSnd>
        <p:snd r:embed="rId1" name="CAMERA.WAV"/>
      </p:stSnd>
    </p:sndAc>
  </p:transition>
</p:sld>
</file>

<file path=ppt/tags/tag1.xml><?xml version="1.0" encoding="utf-8"?>
<p:tagLst xmlns:p="http://schemas.openxmlformats.org/presentationml/2006/main">
  <p:tag name="COMMONDATA" val="eyJoZGlkIjoiNjAxYWNjNWM4YjUwYzdkM2Y4ZDNlNzBkZmE0NjZkZTkifQ=="/>
  <p:tag name="KSO_WPP_MARK_KEY" val="d1060845-f050-486a-835f-74b063e1035e"/>
</p:tagLst>
</file>

<file path=ppt/theme/theme1.xml><?xml version="1.0" encoding="utf-8"?>
<a:theme xmlns:a="http://schemas.openxmlformats.org/drawingml/2006/main" name="HXH">
  <a:themeElements>
    <a:clrScheme name="">
      <a:dk1>
        <a:srgbClr val="00354E"/>
      </a:dk1>
      <a:lt1>
        <a:srgbClr val="EAEAEA"/>
      </a:lt1>
      <a:dk2>
        <a:srgbClr val="0099CC"/>
      </a:dk2>
      <a:lt2>
        <a:srgbClr val="CCECFF"/>
      </a:lt2>
      <a:accent1>
        <a:srgbClr val="0099CC"/>
      </a:accent1>
      <a:accent2>
        <a:srgbClr val="6699FF"/>
      </a:accent2>
      <a:accent3>
        <a:srgbClr val="AACAE2"/>
      </a:accent3>
      <a:accent4>
        <a:srgbClr val="C8C8C8"/>
      </a:accent4>
      <a:accent5>
        <a:srgbClr val="AACAE2"/>
      </a:accent5>
      <a:accent6>
        <a:srgbClr val="5C8AE7"/>
      </a:accent6>
      <a:hlink>
        <a:srgbClr val="CCCCFF"/>
      </a:hlink>
      <a:folHlink>
        <a:srgbClr val="5E6FD4"/>
      </a:folHlink>
    </a:clrScheme>
    <a:fontScheme name="HXH">
      <a:majorFont>
        <a:latin typeface="Arial"/>
        <a:ea typeface="幼圆"/>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rgbClr val="000000"/>
          </a:solidFill>
          <a:prstDash val="solid"/>
          <a:round/>
          <a:headEnd type="none" w="med" len="med"/>
          <a:tailEnd type="none" w="med" len="med"/>
        </a:ln>
      </a:spPr>
      <a:bodyPr vert="horz" wrap="square" lIns="0" tIns="0" rIns="0" bIns="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38100" cap="flat" cmpd="sng" algn="ctr">
          <a:solidFill>
            <a:srgbClr val="000000"/>
          </a:solidFill>
          <a:prstDash val="solid"/>
          <a:round/>
          <a:headEnd type="none" w="med" len="med"/>
          <a:tailEnd type="none" w="med" len="med"/>
        </a:ln>
      </a:spPr>
      <a:bodyPr vert="horz" wrap="square" lIns="0" tIns="0" rIns="0" bIns="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zh-CN" altLang="en-US" sz="2800" b="1" i="0" u="none" strike="noStrike" cap="none" normalizeH="0" baseline="0" smtClean="0">
            <a:ln>
              <a:noFill/>
            </a:ln>
            <a:solidFill>
              <a:srgbClr val="000000"/>
            </a:solidFill>
            <a:effectLst/>
            <a:latin typeface="Arial" panose="020B0604020202020204" pitchFamily="34" charset="0"/>
            <a:ea typeface="黑体" panose="02010609060101010101" pitchFamily="2" charset="-122"/>
          </a:defRPr>
        </a:defPPr>
      </a:lstStyle>
    </a:lnDef>
  </a:objectDefaults>
  <a:extraClrSchemeLst>
    <a:extraClrScheme>
      <a:clrScheme name="HXH 1">
        <a:dk1>
          <a:srgbClr val="00354E"/>
        </a:dk1>
        <a:lt1>
          <a:srgbClr val="EAEAEA"/>
        </a:lt1>
        <a:dk2>
          <a:srgbClr val="006699"/>
        </a:dk2>
        <a:lt2>
          <a:srgbClr val="CCECFF"/>
        </a:lt2>
        <a:accent1>
          <a:srgbClr val="006699"/>
        </a:accent1>
        <a:accent2>
          <a:srgbClr val="6699FF"/>
        </a:accent2>
        <a:accent3>
          <a:srgbClr val="AAB8CA"/>
        </a:accent3>
        <a:accent4>
          <a:srgbClr val="C8C8C8"/>
        </a:accent4>
        <a:accent5>
          <a:srgbClr val="AAB8CA"/>
        </a:accent5>
        <a:accent6>
          <a:srgbClr val="5C8AE7"/>
        </a:accent6>
        <a:hlink>
          <a:srgbClr val="CCCCFF"/>
        </a:hlink>
        <a:folHlink>
          <a:srgbClr val="5E6FD4"/>
        </a:folHlink>
      </a:clrScheme>
      <a:clrMap bg1="dk2" tx1="lt1" bg2="dk1" tx2="lt2" accent1="accent1" accent2="accent2" accent3="accent3" accent4="accent4" accent5="accent5" accent6="accent6" hlink="hlink" folHlink="folHlink"/>
    </a:extraClrScheme>
    <a:extraClrScheme>
      <a:clrScheme name="HXH 2">
        <a:dk1>
          <a:srgbClr val="000080"/>
        </a:dk1>
        <a:lt1>
          <a:srgbClr val="FFFFFF"/>
        </a:lt1>
        <a:dk2>
          <a:srgbClr val="3366CC"/>
        </a:dk2>
        <a:lt2>
          <a:srgbClr val="7A7C93"/>
        </a:lt2>
        <a:accent1>
          <a:srgbClr val="006699"/>
        </a:accent1>
        <a:accent2>
          <a:srgbClr val="6699FF"/>
        </a:accent2>
        <a:accent3>
          <a:srgbClr val="FFFFFF"/>
        </a:accent3>
        <a:accent4>
          <a:srgbClr val="00006C"/>
        </a:accent4>
        <a:accent5>
          <a:srgbClr val="AAB8CA"/>
        </a:accent5>
        <a:accent6>
          <a:srgbClr val="5C8AE7"/>
        </a:accent6>
        <a:hlink>
          <a:srgbClr val="CCCCFF"/>
        </a:hlink>
        <a:folHlink>
          <a:srgbClr val="5E6FD4"/>
        </a:folHlink>
      </a:clrScheme>
      <a:clrMap bg1="lt1" tx1="dk1" bg2="lt2" tx2="dk2" accent1="accent1" accent2="accent2" accent3="accent3" accent4="accent4" accent5="accent5" accent6="accent6" hlink="hlink" folHlink="folHlink"/>
    </a:extraClrScheme>
    <a:extraClrScheme>
      <a:clrScheme name="HXH 3">
        <a:dk1>
          <a:srgbClr val="000000"/>
        </a:dk1>
        <a:lt1>
          <a:srgbClr val="FFFFFF"/>
        </a:lt1>
        <a:dk2>
          <a:srgbClr val="000000"/>
        </a:dk2>
        <a:lt2>
          <a:srgbClr val="868686"/>
        </a:lt2>
        <a:accent1>
          <a:srgbClr val="969696"/>
        </a:accent1>
        <a:accent2>
          <a:srgbClr val="CBCBCB"/>
        </a:accent2>
        <a:accent3>
          <a:srgbClr val="FFFFFF"/>
        </a:accent3>
        <a:accent4>
          <a:srgbClr val="000000"/>
        </a:accent4>
        <a:accent5>
          <a:srgbClr val="C9C9C9"/>
        </a:accent5>
        <a:accent6>
          <a:srgbClr val="B8B8B8"/>
        </a:accent6>
        <a:hlink>
          <a:srgbClr val="EAEAEA"/>
        </a:hlink>
        <a:folHlink>
          <a:srgbClr val="5F5F5F"/>
        </a:folHlink>
      </a:clrScheme>
      <a:clrMap bg1="lt1" tx1="dk1" bg2="lt2" tx2="dk2" accent1="accent1" accent2="accent2" accent3="accent3" accent4="accent4" accent5="accent5" accent6="accent6" hlink="hlink" folHlink="folHlink"/>
    </a:extraClrScheme>
    <a:extraClrScheme>
      <a:clrScheme name="HXH 4">
        <a:dk1>
          <a:srgbClr val="660066"/>
        </a:dk1>
        <a:lt1>
          <a:srgbClr val="EAEAEA"/>
        </a:lt1>
        <a:dk2>
          <a:srgbClr val="3366CC"/>
        </a:dk2>
        <a:lt2>
          <a:srgbClr val="7A7C93"/>
        </a:lt2>
        <a:accent1>
          <a:srgbClr val="00CCCC"/>
        </a:accent1>
        <a:accent2>
          <a:srgbClr val="CC66FF"/>
        </a:accent2>
        <a:accent3>
          <a:srgbClr val="F3F3F3"/>
        </a:accent3>
        <a:accent4>
          <a:srgbClr val="560056"/>
        </a:accent4>
        <a:accent5>
          <a:srgbClr val="AAE2E2"/>
        </a:accent5>
        <a:accent6>
          <a:srgbClr val="B95CE7"/>
        </a:accent6>
        <a:hlink>
          <a:srgbClr val="CCFFCC"/>
        </a:hlink>
        <a:folHlink>
          <a:srgbClr val="FFCC66"/>
        </a:folHlink>
      </a:clrScheme>
      <a:clrMap bg1="lt1" tx1="dk1" bg2="lt2" tx2="dk2" accent1="accent1" accent2="accent2" accent3="accent3" accent4="accent4" accent5="accent5" accent6="accent6" hlink="hlink" folHlink="folHlink"/>
    </a:extraClrScheme>
    <a:extraClrScheme>
      <a:clrScheme name="HXH 5">
        <a:dk1>
          <a:srgbClr val="003366"/>
        </a:dk1>
        <a:lt1>
          <a:srgbClr val="EAEAEA"/>
        </a:lt1>
        <a:dk2>
          <a:srgbClr val="009999"/>
        </a:dk2>
        <a:lt2>
          <a:srgbClr val="FFFFFF"/>
        </a:lt2>
        <a:accent1>
          <a:srgbClr val="008080"/>
        </a:accent1>
        <a:accent2>
          <a:srgbClr val="00CCCC"/>
        </a:accent2>
        <a:accent3>
          <a:srgbClr val="AACACA"/>
        </a:accent3>
        <a:accent4>
          <a:srgbClr val="C8C8C8"/>
        </a:accent4>
        <a:accent5>
          <a:srgbClr val="AAC0C0"/>
        </a:accent5>
        <a:accent6>
          <a:srgbClr val="00B9B9"/>
        </a:accent6>
        <a:hlink>
          <a:srgbClr val="A7DDE1"/>
        </a:hlink>
        <a:folHlink>
          <a:srgbClr val="319CB7"/>
        </a:folHlink>
      </a:clrScheme>
      <a:clrMap bg1="dk2" tx1="lt1" bg2="dk1" tx2="lt2" accent1="accent1" accent2="accent2" accent3="accent3" accent4="accent4" accent5="accent5" accent6="accent6" hlink="hlink" folHlink="folHlink"/>
    </a:extraClrScheme>
    <a:extraClrScheme>
      <a:clrScheme name="HXH 6">
        <a:dk1>
          <a:srgbClr val="00354E"/>
        </a:dk1>
        <a:lt1>
          <a:srgbClr val="EAEAEA"/>
        </a:lt1>
        <a:dk2>
          <a:srgbClr val="6D67AA"/>
        </a:dk2>
        <a:lt2>
          <a:srgbClr val="CCCCFF"/>
        </a:lt2>
        <a:accent1>
          <a:srgbClr val="6600CC"/>
        </a:accent1>
        <a:accent2>
          <a:srgbClr val="9999FF"/>
        </a:accent2>
        <a:accent3>
          <a:srgbClr val="BAB8D2"/>
        </a:accent3>
        <a:accent4>
          <a:srgbClr val="C8C8C8"/>
        </a:accent4>
        <a:accent5>
          <a:srgbClr val="B8AAE2"/>
        </a:accent5>
        <a:accent6>
          <a:srgbClr val="8A8AE7"/>
        </a:accent6>
        <a:hlink>
          <a:srgbClr val="CCCCFF"/>
        </a:hlink>
        <a:folHlink>
          <a:srgbClr val="9D70B8"/>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4796</Words>
  <Application>WPS 演示</Application>
  <PresentationFormat>全屏显示(4:3)</PresentationFormat>
  <Paragraphs>1085</Paragraphs>
  <Slides>48</Slides>
  <Notes>35</Notes>
  <HiddenSlides>2</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48</vt:i4>
      </vt:variant>
    </vt:vector>
  </HeadingPairs>
  <TitlesOfParts>
    <vt:vector size="61" baseType="lpstr">
      <vt:lpstr>Arial</vt:lpstr>
      <vt:lpstr>宋体</vt:lpstr>
      <vt:lpstr>Wingdings</vt:lpstr>
      <vt:lpstr>黑体</vt:lpstr>
      <vt:lpstr>Times New Roman</vt:lpstr>
      <vt:lpstr>楷体_GB2312</vt:lpstr>
      <vt:lpstr>幼圆</vt:lpstr>
      <vt:lpstr>华文新魏</vt:lpstr>
      <vt:lpstr>华文中宋</vt:lpstr>
      <vt:lpstr>微软雅黑</vt:lpstr>
      <vt:lpstr>Arial Unicode MS</vt:lpstr>
      <vt:lpstr>新宋体</vt:lpstr>
      <vt:lpstr>HXH</vt:lpstr>
      <vt:lpstr>PowerPoint 演示文稿</vt:lpstr>
      <vt:lpstr>主要内容</vt:lpstr>
      <vt:lpstr>9.1 数据的物理存储</vt:lpstr>
      <vt:lpstr>缓冲区管理</vt:lpstr>
      <vt:lpstr>数据库缓冲区及上下接口示意图</vt:lpstr>
      <vt:lpstr>缓冲区管理</vt:lpstr>
      <vt:lpstr>缓冲区管理示意图－读操作</vt:lpstr>
      <vt:lpstr>缓冲区替换策略举例</vt:lpstr>
      <vt:lpstr>主要内容</vt:lpstr>
      <vt:lpstr>9.2 数据的文件组织</vt:lpstr>
      <vt:lpstr>1、RDBMS中属性值的表示</vt:lpstr>
      <vt:lpstr>2、记录的内部格式</vt:lpstr>
      <vt:lpstr>定长记录存储示意图1</vt:lpstr>
      <vt:lpstr>定长记录存储示意图2</vt:lpstr>
      <vt:lpstr>变长记录存储示意图1</vt:lpstr>
      <vt:lpstr>变长记录存储示意图2</vt:lpstr>
      <vt:lpstr>3、块格式</vt:lpstr>
      <vt:lpstr>记录在物理块上的分配</vt:lpstr>
      <vt:lpstr>记录在物理块上的分配</vt:lpstr>
      <vt:lpstr>DBMS中常用的一种块格式</vt:lpstr>
      <vt:lpstr>4、文件组织方式</vt:lpstr>
      <vt:lpstr>1、堆文件</vt:lpstr>
      <vt:lpstr>2、顺序文件</vt:lpstr>
      <vt:lpstr>顺序文件中插入记录示意图</vt:lpstr>
      <vt:lpstr>顺序文件中插入记录示意图</vt:lpstr>
      <vt:lpstr>2、顺序文件</vt:lpstr>
      <vt:lpstr>3、聚集文件</vt:lpstr>
      <vt:lpstr>3、聚集文件</vt:lpstr>
      <vt:lpstr>主要内容</vt:lpstr>
      <vt:lpstr>文件中数据的访问方式</vt:lpstr>
      <vt:lpstr>9.3.1 散列文件</vt:lpstr>
      <vt:lpstr>1、散列的概念</vt:lpstr>
      <vt:lpstr>2、散列函数举例</vt:lpstr>
      <vt:lpstr>2、散列函数</vt:lpstr>
      <vt:lpstr>3、散列函数冲突</vt:lpstr>
      <vt:lpstr>9.3.2 访问方式</vt:lpstr>
      <vt:lpstr>1、静态散列</vt:lpstr>
      <vt:lpstr>静态散列操作</vt:lpstr>
      <vt:lpstr>静态散列操作</vt:lpstr>
      <vt:lpstr>静态散列操作</vt:lpstr>
      <vt:lpstr>2、动态散列</vt:lpstr>
      <vt:lpstr>2、动态散列</vt:lpstr>
      <vt:lpstr>3、可扩展哈希</vt:lpstr>
      <vt:lpstr>PowerPoint 演示文稿</vt:lpstr>
      <vt:lpstr>PowerPoint 演示文稿</vt:lpstr>
      <vt:lpstr>可扩展哈希操作</vt:lpstr>
      <vt:lpstr>可扩展哈希插入操作－分裂桶</vt:lpstr>
      <vt:lpstr>可扩展哈希特点</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火星叔叔</cp:lastModifiedBy>
  <cp:revision>691</cp:revision>
  <dcterms:created xsi:type="dcterms:W3CDTF">2007-03-26T07:48:00Z</dcterms:created>
  <dcterms:modified xsi:type="dcterms:W3CDTF">2023-06-25T06:19:28Z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606F14D69DF44D7B902C4D479474EDC7</vt:lpwstr>
  </property>
  <property fmtid="{D5CDD505-2E9C-101B-9397-08002B2CF9AE}" pid="3" name="KSOProductBuildVer">
    <vt:lpwstr>2052-11.1.0.14309</vt:lpwstr>
  </property>
</Properties>
</file>