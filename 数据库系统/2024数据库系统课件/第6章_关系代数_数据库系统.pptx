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10.bin" ContentType="application/vnd.ms-office.activeX"/>
  <Override PartName="/ppt/activeX/activeX10.xml" ContentType="application/vnd.ms-office.activeX+xml"/>
  <Override PartName="/ppt/activeX/activeX11.bin" ContentType="application/vnd.ms-office.activeX"/>
  <Override PartName="/ppt/activeX/activeX11.xml" ContentType="application/vnd.ms-office.activeX+xml"/>
  <Override PartName="/ppt/activeX/activeX12.bin" ContentType="application/vnd.ms-office.activeX"/>
  <Override PartName="/ppt/activeX/activeX12.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activeX/activeX4.bin" ContentType="application/vnd.ms-office.activeX"/>
  <Override PartName="/ppt/activeX/activeX4.xml" ContentType="application/vnd.ms-office.activeX+xml"/>
  <Override PartName="/ppt/activeX/activeX5.bin" ContentType="application/vnd.ms-office.activeX"/>
  <Override PartName="/ppt/activeX/activeX5.xml" ContentType="application/vnd.ms-office.activeX+xml"/>
  <Override PartName="/ppt/activeX/activeX6.bin" ContentType="application/vnd.ms-office.activeX"/>
  <Override PartName="/ppt/activeX/activeX6.xml" ContentType="application/vnd.ms-office.activeX+xml"/>
  <Override PartName="/ppt/activeX/activeX7.bin" ContentType="application/vnd.ms-office.activeX"/>
  <Override PartName="/ppt/activeX/activeX7.xml" ContentType="application/vnd.ms-office.activeX+xml"/>
  <Override PartName="/ppt/activeX/activeX8.bin" ContentType="application/vnd.ms-office.activeX"/>
  <Override PartName="/ppt/activeX/activeX8.xml" ContentType="application/vnd.ms-office.activeX+xml"/>
  <Override PartName="/ppt/activeX/activeX9.bin" ContentType="application/vnd.ms-office.activeX"/>
  <Override PartName="/ppt/activeX/activeX9.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56"/>
  </p:handoutMasterIdLst>
  <p:sldIdLst>
    <p:sldId id="419" r:id="rId3"/>
    <p:sldId id="368" r:id="rId4"/>
    <p:sldId id="258" r:id="rId6"/>
    <p:sldId id="318" r:id="rId7"/>
    <p:sldId id="290" r:id="rId8"/>
    <p:sldId id="361" r:id="rId9"/>
    <p:sldId id="362" r:id="rId10"/>
    <p:sldId id="415" r:id="rId11"/>
    <p:sldId id="363" r:id="rId12"/>
    <p:sldId id="369" r:id="rId13"/>
    <p:sldId id="364" r:id="rId14"/>
    <p:sldId id="370" r:id="rId15"/>
    <p:sldId id="365" r:id="rId16"/>
    <p:sldId id="371" r:id="rId17"/>
    <p:sldId id="366" r:id="rId18"/>
    <p:sldId id="372" r:id="rId19"/>
    <p:sldId id="390" r:id="rId20"/>
    <p:sldId id="422" r:id="rId21"/>
    <p:sldId id="423" r:id="rId22"/>
    <p:sldId id="424" r:id="rId23"/>
    <p:sldId id="401" r:id="rId24"/>
    <p:sldId id="418" r:id="rId25"/>
    <p:sldId id="304" r:id="rId26"/>
    <p:sldId id="373" r:id="rId27"/>
    <p:sldId id="301" r:id="rId28"/>
    <p:sldId id="395" r:id="rId29"/>
    <p:sldId id="306" r:id="rId30"/>
    <p:sldId id="297" r:id="rId31"/>
    <p:sldId id="374" r:id="rId32"/>
    <p:sldId id="396" r:id="rId33"/>
    <p:sldId id="298" r:id="rId34"/>
    <p:sldId id="421" r:id="rId35"/>
    <p:sldId id="307" r:id="rId36"/>
    <p:sldId id="317" r:id="rId37"/>
    <p:sldId id="308" r:id="rId38"/>
    <p:sldId id="375" r:id="rId39"/>
    <p:sldId id="379" r:id="rId40"/>
    <p:sldId id="402" r:id="rId41"/>
    <p:sldId id="376" r:id="rId42"/>
    <p:sldId id="380" r:id="rId43"/>
    <p:sldId id="403" r:id="rId44"/>
    <p:sldId id="323" r:id="rId45"/>
    <p:sldId id="425" r:id="rId46"/>
    <p:sldId id="426" r:id="rId47"/>
    <p:sldId id="427" r:id="rId48"/>
    <p:sldId id="405" r:id="rId49"/>
    <p:sldId id="321" r:id="rId50"/>
    <p:sldId id="410" r:id="rId51"/>
    <p:sldId id="411" r:id="rId52"/>
    <p:sldId id="417" r:id="rId53"/>
    <p:sldId id="392" r:id="rId54"/>
    <p:sldId id="470" r:id="rId55"/>
  </p:sldIdLst>
  <p:sldSz cx="9144000" cy="6858000" type="screen4x3"/>
  <p:notesSz cx="6858000" cy="9144000"/>
  <p:custDataLst>
    <p:tags r:id="rId60"/>
  </p:custDataLst>
  <p:defaultTextStyle>
    <a:defPPr>
      <a:defRPr lang="zh-CN"/>
    </a:defPPr>
    <a:lvl1pPr marL="0" lvl="0"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0000"/>
    <a:srgbClr val="008000"/>
    <a:srgbClr val="FFFFFF"/>
    <a:srgbClr val="FFFF00"/>
    <a:srgbClr val="000000"/>
    <a:srgbClr val="FF99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088"/>
    <p:restoredTop sz="71042"/>
  </p:normalViewPr>
  <p:slideViewPr>
    <p:cSldViewPr showGuides="1">
      <p:cViewPr varScale="1">
        <p:scale>
          <a:sx n="69" d="100"/>
          <a:sy n="69" d="100"/>
        </p:scale>
        <p:origin x="-1281" y="-60"/>
      </p:cViewPr>
      <p:guideLst>
        <p:guide orient="horz" pos="2160"/>
        <p:guide pos="2840"/>
      </p:guideLst>
    </p:cSldViewPr>
  </p:slideViewPr>
  <p:notesTextViewPr>
    <p:cViewPr>
      <p:scale>
        <a:sx n="100" d="100"/>
        <a:sy n="100" d="100"/>
      </p:scale>
      <p:origin x="0" y="0"/>
    </p:cViewPr>
  </p:notesTextViewPr>
  <p:sorterViewPr showFormatting="0">
    <p:cViewPr>
      <p:scale>
        <a:sx n="66" d="100"/>
        <a:sy n="66" d="100"/>
      </p:scale>
      <p:origin x="0" y="546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gs" Target="tags/tag1.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_rels/activeX10.xml.rels><?xml version="1.0" encoding="UTF-8" standalone="yes"?>
<Relationships xmlns="http://schemas.openxmlformats.org/package/2006/relationships"><Relationship Id="rId1" Type="http://schemas.microsoft.com/office/2006/relationships/activeXControlBinary" Target="activeX10.bin"/></Relationships>
</file>

<file path=ppt/activeX/_rels/activeX11.xml.rels><?xml version="1.0" encoding="UTF-8" standalone="yes"?>
<Relationships xmlns="http://schemas.openxmlformats.org/package/2006/relationships"><Relationship Id="rId1" Type="http://schemas.microsoft.com/office/2006/relationships/activeXControlBinary" Target="activeX11.bin"/></Relationships>
</file>

<file path=ppt/activeX/_rels/activeX12.xml.rels><?xml version="1.0" encoding="UTF-8" standalone="yes"?>
<Relationships xmlns="http://schemas.openxmlformats.org/package/2006/relationships"><Relationship Id="rId1" Type="http://schemas.microsoft.com/office/2006/relationships/activeXControlBinary" Target="activeX12.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activeX/activeX4.xml><?xml version="1.0" encoding="utf-8"?>
<ax:ocx xmlns:ax="http://schemas.microsoft.com/office/2006/activeX" xmlns:r="http://schemas.openxmlformats.org/officeDocument/2006/relationships" ax:classid="{D27CDB6E-AE6D-11CF-96B8-444553540000}" ax:persistence="persistStorage" r:id="rId1"/>
</file>

<file path=ppt/activeX/activeX5.xml><?xml version="1.0" encoding="utf-8"?>
<ax:ocx xmlns:ax="http://schemas.microsoft.com/office/2006/activeX" xmlns:r="http://schemas.openxmlformats.org/officeDocument/2006/relationships" ax:classid="{D27CDB6E-AE6D-11CF-96B8-444553540000}" ax:persistence="persistStorage" r:id="rId1"/>
</file>

<file path=ppt/activeX/activeX6.xml><?xml version="1.0" encoding="utf-8"?>
<ax:ocx xmlns:ax="http://schemas.microsoft.com/office/2006/activeX" xmlns:r="http://schemas.openxmlformats.org/officeDocument/2006/relationships" ax:classid="{D27CDB6E-AE6D-11CF-96B8-444553540000}" ax:persistence="persistStorage" r:id="rId1"/>
</file>

<file path=ppt/activeX/activeX7.xml><?xml version="1.0" encoding="utf-8"?>
<ax:ocx xmlns:ax="http://schemas.microsoft.com/office/2006/activeX" xmlns:r="http://schemas.openxmlformats.org/officeDocument/2006/relationships" ax:classid="{D27CDB6E-AE6D-11CF-96B8-444553540000}" ax:persistence="persistStorage" r:id="rId1"/>
</file>

<file path=ppt/activeX/activeX8.xml><?xml version="1.0" encoding="utf-8"?>
<ax:ocx xmlns:ax="http://schemas.microsoft.com/office/2006/activeX" xmlns:r="http://schemas.openxmlformats.org/officeDocument/2006/relationships" ax:classid="{D27CDB6E-AE6D-11CF-96B8-444553540000}" ax:persistence="persistStorage" r:id="rId1"/>
</file>

<file path=ppt/activeX/activeX9.xml><?xml version="1.0" encoding="utf-8"?>
<ax:ocx xmlns:ax="http://schemas.microsoft.com/office/2006/activeX" xmlns:r="http://schemas.openxmlformats.org/officeDocument/2006/relationships" ax:classid="{D27CDB6E-AE6D-11CF-96B8-444553540000}" ax:persistence="persistStorage" r:id="rId1"/>
</file>

<file path=ppt/activeX/activeX10.xml><?xml version="1.0" encoding="utf-8"?>
<ax:ocx xmlns:ax="http://schemas.microsoft.com/office/2006/activeX" xmlns:r="http://schemas.openxmlformats.org/officeDocument/2006/relationships" ax:classid="{D27CDB6E-AE6D-11CF-96B8-444553540000}" ax:persistence="persistStorage" r:id="rId1"/>
</file>

<file path=ppt/activeX/activeX11.xml><?xml version="1.0" encoding="utf-8"?>
<ax:ocx xmlns:ax="http://schemas.microsoft.com/office/2006/activeX" xmlns:r="http://schemas.openxmlformats.org/officeDocument/2006/relationships" ax:classid="{D27CDB6E-AE6D-11CF-96B8-444553540000}" ax:persistence="persistStorage" r:id="rId1"/>
</file>

<file path=ppt/activeX/activeX12.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235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358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358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358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885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0899" name="Rectangle 2"/>
          <p:cNvSpPr>
            <a:spLocks noRot="1"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1923" name="Rectangle 2"/>
          <p:cNvSpPr>
            <a:spLocks noRot="1" noTextEdit="1"/>
          </p:cNvSpPr>
          <p:nvPr>
            <p:ph type="sldImg"/>
          </p:nvPr>
        </p:nvSpPr>
        <p:spPr/>
      </p:sp>
      <p:sp>
        <p:nvSpPr>
          <p:cNvPr id="819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3971" name="Rectangle 2"/>
          <p:cNvSpPr>
            <a:spLocks noRot="1" noTextEdit="1"/>
          </p:cNvSpPr>
          <p:nvPr>
            <p:ph type="sldImg"/>
          </p:nvPr>
        </p:nvSpPr>
        <p:spPr/>
      </p:sp>
      <p:sp>
        <p:nvSpPr>
          <p:cNvPr id="839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4995" name="Rectangle 2"/>
          <p:cNvSpPr>
            <a:spLocks noRot="1" noTextEdit="1"/>
          </p:cNvSpPr>
          <p:nvPr>
            <p:ph type="sldImg"/>
          </p:nvPr>
        </p:nvSpPr>
        <p:spPr/>
      </p:sp>
      <p:sp>
        <p:nvSpPr>
          <p:cNvPr id="84996" name="Rectangle 3"/>
          <p:cNvSpPr>
            <a:spLocks noGrp="1"/>
          </p:cNvSpPr>
          <p:nvPr>
            <p:ph type="body" idx="1"/>
          </p:nvPr>
        </p:nvSpPr>
        <p:spPr/>
        <p:txBody>
          <a:bodyPr wrap="square" lIns="91440" tIns="45720" rIns="91440" bIns="45720" anchor="t" anchorCtr="0"/>
          <a:p>
            <a:pPr lvl="0" eaLnBrk="1" hangingPunct="1"/>
            <a:r>
              <a:rPr lang="zh-CN" altLang="en-US" sz="900" dirty="0"/>
              <a:t>同结构：相同的</a:t>
            </a:r>
            <a:r>
              <a:rPr lang="en-US" altLang="zh-CN" sz="900" dirty="0">
                <a:cs typeface="Times New Roman" panose="02020603050405020304" pitchFamily="18" charset="0"/>
              </a:rPr>
              <a:t>n</a:t>
            </a:r>
            <a:r>
              <a:rPr lang="zh-CN" altLang="en-US" sz="900" dirty="0">
                <a:latin typeface="宋体" panose="02010600030101010101" pitchFamily="2" charset="-122"/>
              </a:rPr>
              <a:t>个属性，相应的属性域相同</a:t>
            </a:r>
            <a:endParaRPr lang="zh-CN" altLang="en-US" sz="900" dirty="0">
              <a:latin typeface="宋体" panose="02010600030101010101" pitchFamily="2" charset="-122"/>
            </a:endParaRPr>
          </a:p>
          <a:p>
            <a:pPr lvl="0" eaLnBrk="1" hangingPunct="1"/>
            <a:r>
              <a:rPr lang="zh-CN" altLang="en-US" sz="900" dirty="0">
                <a:latin typeface="宋体" panose="02010600030101010101" pitchFamily="2" charset="-122"/>
              </a:rPr>
              <a:t>消除重复元组</a:t>
            </a:r>
            <a:endParaRPr lang="zh-CN" altLang="en-US" sz="1000" dirty="0"/>
          </a:p>
          <a:p>
            <a:pPr lvl="0" eaLnBrk="1" hangingPunct="1"/>
            <a:r>
              <a:rPr lang="zh-CN" altLang="en-US" sz="900" dirty="0"/>
              <a:t>应用：记录的插入和添加可通过并运算实现</a:t>
            </a:r>
            <a:endParaRPr lang="zh-CN" altLang="en-US" sz="900" dirty="0"/>
          </a:p>
          <a:p>
            <a:pPr lvl="0" eaLnBrk="1" hangingPunct="1"/>
            <a:endParaRPr lang="en-US" altLang="zh-CN"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6019" name="Rectangle 2"/>
          <p:cNvSpPr>
            <a:spLocks noRot="1" noTextEdit="1"/>
          </p:cNvSpPr>
          <p:nvPr>
            <p:ph type="sldImg"/>
          </p:nvPr>
        </p:nvSpPr>
        <p:spPr/>
      </p:sp>
      <p:sp>
        <p:nvSpPr>
          <p:cNvPr id="86020" name="Rectangle 3"/>
          <p:cNvSpPr>
            <a:spLocks noGrp="1"/>
          </p:cNvSpPr>
          <p:nvPr>
            <p:ph type="body" idx="1"/>
          </p:nvPr>
        </p:nvSpPr>
        <p:spPr/>
        <p:txBody>
          <a:bodyPr wrap="square" lIns="91440" tIns="45720" rIns="91440" bIns="45720" anchor="t" anchorCtr="0"/>
          <a:p>
            <a:pPr lvl="0" eaLnBrk="1" hangingPunct="1"/>
            <a:r>
              <a:rPr lang="zh-CN" altLang="en-US" sz="1000" dirty="0"/>
              <a:t>应用：</a:t>
            </a:r>
            <a:r>
              <a:rPr lang="zh-CN" altLang="en-US" sz="1000" dirty="0"/>
              <a:t>可实现关系数据库记录的删除</a:t>
            </a:r>
            <a:endParaRPr lang="zh-CN" altLang="en-US" sz="1000" dirty="0"/>
          </a:p>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7043" name="Rectangle 2"/>
          <p:cNvSpPr>
            <a:spLocks noRot="1" noTextEdit="1"/>
          </p:cNvSpPr>
          <p:nvPr>
            <p:ph type="sldImg"/>
          </p:nvPr>
        </p:nvSpPr>
        <p:spPr/>
      </p:sp>
      <p:sp>
        <p:nvSpPr>
          <p:cNvPr id="870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8067" name="Rectangle 2"/>
          <p:cNvSpPr>
            <a:spLocks noRot="1" noTextEdit="1"/>
          </p:cNvSpPr>
          <p:nvPr>
            <p:ph type="sldImg"/>
          </p:nvPr>
        </p:nvSpPr>
        <p:spPr/>
      </p:sp>
      <p:sp>
        <p:nvSpPr>
          <p:cNvPr id="880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9091" name="Rectangle 2"/>
          <p:cNvSpPr>
            <a:spLocks noRot="1" noTextEdit="1"/>
          </p:cNvSpPr>
          <p:nvPr>
            <p:ph type="sldImg"/>
          </p:nvPr>
        </p:nvSpPr>
        <p:spPr/>
      </p:sp>
      <p:sp>
        <p:nvSpPr>
          <p:cNvPr id="890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0115" name="Rectangle 2"/>
          <p:cNvSpPr>
            <a:spLocks noRot="1" noTextEdit="1"/>
          </p:cNvSpPr>
          <p:nvPr>
            <p:ph type="sldImg"/>
          </p:nvPr>
        </p:nvSpPr>
        <p:spPr/>
      </p:sp>
      <p:sp>
        <p:nvSpPr>
          <p:cNvPr id="901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1139" name="Rectangle 2"/>
          <p:cNvSpPr>
            <a:spLocks noRot="1" noTextEdit="1"/>
          </p:cNvSpPr>
          <p:nvPr>
            <p:ph type="sldImg"/>
          </p:nvPr>
        </p:nvSpPr>
        <p:spPr/>
      </p:sp>
      <p:sp>
        <p:nvSpPr>
          <p:cNvPr id="911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2163" name="Rectangle 2"/>
          <p:cNvSpPr>
            <a:spLocks noRot="1" noTextEdit="1"/>
          </p:cNvSpPr>
          <p:nvPr>
            <p:ph type="sldImg"/>
          </p:nvPr>
        </p:nvSpPr>
        <p:spPr/>
      </p:sp>
      <p:sp>
        <p:nvSpPr>
          <p:cNvPr id="921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3187" name="Rectangle 2"/>
          <p:cNvSpPr>
            <a:spLocks noRot="1" noTextEdit="1"/>
          </p:cNvSpPr>
          <p:nvPr>
            <p:ph type="sldImg"/>
          </p:nvPr>
        </p:nvSpPr>
        <p:spPr/>
      </p:sp>
      <p:sp>
        <p:nvSpPr>
          <p:cNvPr id="931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4211" name="Rectangle 2"/>
          <p:cNvSpPr>
            <a:spLocks noRot="1" noTextEdit="1"/>
          </p:cNvSpPr>
          <p:nvPr>
            <p:ph type="sldImg"/>
          </p:nvPr>
        </p:nvSpPr>
        <p:spPr/>
      </p:sp>
      <p:sp>
        <p:nvSpPr>
          <p:cNvPr id="942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5235" name="Rectangle 2"/>
          <p:cNvSpPr>
            <a:spLocks noRot="1" noTextEdit="1"/>
          </p:cNvSpPr>
          <p:nvPr>
            <p:ph type="sldImg"/>
          </p:nvPr>
        </p:nvSpPr>
        <p:spPr/>
      </p:sp>
      <p:sp>
        <p:nvSpPr>
          <p:cNvPr id="952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6259" name="Rectangle 2"/>
          <p:cNvSpPr>
            <a:spLocks noRot="1" noTextEdit="1"/>
          </p:cNvSpPr>
          <p:nvPr>
            <p:ph type="sldImg"/>
          </p:nvPr>
        </p:nvSpPr>
        <p:spPr/>
      </p:sp>
      <p:sp>
        <p:nvSpPr>
          <p:cNvPr id="962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7283" name="Rectangle 2"/>
          <p:cNvSpPr>
            <a:spLocks noRot="1" noTextEdit="1"/>
          </p:cNvSpPr>
          <p:nvPr>
            <p:ph type="sldImg"/>
          </p:nvPr>
        </p:nvSpPr>
        <p:spPr/>
      </p:sp>
      <p:sp>
        <p:nvSpPr>
          <p:cNvPr id="972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8307" name="Rectangle 2"/>
          <p:cNvSpPr>
            <a:spLocks noRot="1" noTextEdit="1"/>
          </p:cNvSpPr>
          <p:nvPr>
            <p:ph type="sldImg"/>
          </p:nvPr>
        </p:nvSpPr>
        <p:spPr/>
      </p:sp>
      <p:sp>
        <p:nvSpPr>
          <p:cNvPr id="983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9331" name="Rectangle 2"/>
          <p:cNvSpPr>
            <a:spLocks noRot="1" noTextEdit="1"/>
          </p:cNvSpPr>
          <p:nvPr>
            <p:ph type="sldImg"/>
          </p:nvPr>
        </p:nvSpPr>
        <p:spPr/>
      </p:sp>
      <p:sp>
        <p:nvSpPr>
          <p:cNvPr id="993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0355" name="Rectangle 2"/>
          <p:cNvSpPr>
            <a:spLocks noRot="1" noTextEdit="1"/>
          </p:cNvSpPr>
          <p:nvPr>
            <p:ph type="sldImg"/>
          </p:nvPr>
        </p:nvSpPr>
        <p:spPr/>
      </p:sp>
      <p:sp>
        <p:nvSpPr>
          <p:cNvPr id="1003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1379" name="Rectangle 2"/>
          <p:cNvSpPr>
            <a:spLocks noRot="1" noTextEdit="1"/>
          </p:cNvSpPr>
          <p:nvPr>
            <p:ph type="sldImg"/>
          </p:nvPr>
        </p:nvSpPr>
        <p:spPr/>
      </p:sp>
      <p:sp>
        <p:nvSpPr>
          <p:cNvPr id="101380" name="Rectangle 3"/>
          <p:cNvSpPr>
            <a:spLocks noGrp="1"/>
          </p:cNvSpPr>
          <p:nvPr>
            <p:ph type="body" idx="1"/>
          </p:nvPr>
        </p:nvSpPr>
        <p:spPr/>
        <p:txBody>
          <a:bodyPr wrap="square" lIns="91440" tIns="45720" rIns="91440" bIns="45720" anchor="t" anchorCtr="0"/>
          <a:p>
            <a:pPr lvl="0" eaLnBrk="1" hangingPunct="1"/>
            <a:endParaRPr lang="zh-CN" altLang="zh-CN" dirty="0">
              <a:solidFill>
                <a:schemeClr val="bg2"/>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2403" name="Rectangle 2"/>
          <p:cNvSpPr>
            <a:spLocks noRot="1" noTextEdit="1"/>
          </p:cNvSpPr>
          <p:nvPr>
            <p:ph type="sldImg"/>
          </p:nvPr>
        </p:nvSpPr>
        <p:spPr/>
      </p:sp>
      <p:sp>
        <p:nvSpPr>
          <p:cNvPr id="102404" name="Rectangle 3"/>
          <p:cNvSpPr>
            <a:spLocks noGrp="1"/>
          </p:cNvSpPr>
          <p:nvPr>
            <p:ph type="body" idx="1"/>
          </p:nvPr>
        </p:nvSpPr>
        <p:spPr/>
        <p:txBody>
          <a:bodyPr wrap="square" lIns="91440" tIns="45720" rIns="91440" bIns="45720" anchor="t" anchorCtr="0"/>
          <a:p>
            <a:pPr lvl="0" eaLnBrk="1" hangingPunct="1"/>
            <a:r>
              <a:rPr lang="zh-CN" altLang="en-US" dirty="0"/>
              <a:t>连接运算从</a:t>
            </a:r>
            <a:r>
              <a:rPr lang="en-US" altLang="zh-CN" dirty="0"/>
              <a:t>R</a:t>
            </a:r>
            <a:r>
              <a:rPr lang="zh-CN" altLang="en-US" dirty="0"/>
              <a:t>和</a:t>
            </a:r>
            <a:r>
              <a:rPr lang="en-US" altLang="zh-CN" dirty="0"/>
              <a:t>S</a:t>
            </a:r>
            <a:r>
              <a:rPr lang="zh-CN" altLang="en-US" dirty="0"/>
              <a:t>的广义笛卡尔积</a:t>
            </a:r>
            <a:r>
              <a:rPr lang="en-US" altLang="zh-CN" dirty="0"/>
              <a:t>R×S</a:t>
            </a:r>
            <a:r>
              <a:rPr lang="zh-CN" altLang="en-US" dirty="0"/>
              <a:t>中选取</a:t>
            </a:r>
            <a:r>
              <a:rPr lang="en-US" altLang="zh-CN" dirty="0"/>
              <a:t>(R</a:t>
            </a:r>
            <a:r>
              <a:rPr lang="zh-CN" altLang="en-US" dirty="0"/>
              <a:t>关系</a:t>
            </a:r>
            <a:r>
              <a:rPr lang="en-US" altLang="zh-CN" dirty="0"/>
              <a:t>)</a:t>
            </a:r>
            <a:r>
              <a:rPr lang="zh-CN" altLang="en-US" dirty="0"/>
              <a:t>在</a:t>
            </a:r>
            <a:r>
              <a:rPr lang="en-US" altLang="zh-CN" dirty="0">
                <a:solidFill>
                  <a:srgbClr val="0000CC"/>
                </a:solidFill>
              </a:rPr>
              <a:t>A</a:t>
            </a:r>
            <a:r>
              <a:rPr lang="zh-CN" altLang="en-US" dirty="0">
                <a:solidFill>
                  <a:srgbClr val="0000CC"/>
                </a:solidFill>
              </a:rPr>
              <a:t>属性组上的值</a:t>
            </a:r>
            <a:r>
              <a:rPr lang="zh-CN" altLang="en-US" dirty="0"/>
              <a:t>与</a:t>
            </a:r>
            <a:r>
              <a:rPr lang="en-US" altLang="zh-CN" dirty="0"/>
              <a:t>(S</a:t>
            </a:r>
            <a:r>
              <a:rPr lang="zh-CN" altLang="en-US" dirty="0"/>
              <a:t>关系</a:t>
            </a:r>
            <a:r>
              <a:rPr lang="en-US" altLang="zh-CN" dirty="0"/>
              <a:t>)</a:t>
            </a:r>
            <a:r>
              <a:rPr lang="zh-CN" altLang="en-US" dirty="0"/>
              <a:t>在</a:t>
            </a:r>
            <a:r>
              <a:rPr lang="en-US" altLang="zh-CN" dirty="0">
                <a:solidFill>
                  <a:srgbClr val="0000CC"/>
                </a:solidFill>
              </a:rPr>
              <a:t>B</a:t>
            </a:r>
            <a:r>
              <a:rPr lang="zh-CN" altLang="en-US" dirty="0">
                <a:solidFill>
                  <a:srgbClr val="0000CC"/>
                </a:solidFill>
              </a:rPr>
              <a:t>属性组上值</a:t>
            </a:r>
            <a:r>
              <a:rPr lang="zh-CN" altLang="en-US" dirty="0"/>
              <a:t>满足比较关系的元组。</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3427" name="Rectangle 2"/>
          <p:cNvSpPr>
            <a:spLocks noRot="1" noTextEdit="1"/>
          </p:cNvSpPr>
          <p:nvPr>
            <p:ph type="sldImg"/>
          </p:nvPr>
        </p:nvSpPr>
        <p:spPr/>
      </p:sp>
      <p:sp>
        <p:nvSpPr>
          <p:cNvPr id="1034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4451" name="Rectangle 2"/>
          <p:cNvSpPr>
            <a:spLocks noRot="1" noTextEdit="1"/>
          </p:cNvSpPr>
          <p:nvPr>
            <p:ph type="sldImg"/>
          </p:nvPr>
        </p:nvSpPr>
        <p:spPr/>
      </p:sp>
      <p:sp>
        <p:nvSpPr>
          <p:cNvPr id="104452" name="Rectangle 3"/>
          <p:cNvSpPr>
            <a:spLocks noGrp="1"/>
          </p:cNvSpPr>
          <p:nvPr>
            <p:ph type="body" idx="1"/>
          </p:nvPr>
        </p:nvSpPr>
        <p:spPr/>
        <p:txBody>
          <a:bodyPr wrap="square" lIns="91440" tIns="45720" rIns="91440" bIns="45720" anchor="t" anchorCtr="0"/>
          <a:p>
            <a:pPr lvl="0" eaLnBrk="1" hangingPunct="1"/>
            <a:endParaRPr lang="zh-CN" altLang="zh-CN" dirty="0">
              <a:solidFill>
                <a:schemeClr val="bg2"/>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5475" name="Rectangle 2"/>
          <p:cNvSpPr>
            <a:spLocks noRot="1" noTextEdit="1"/>
          </p:cNvSpPr>
          <p:nvPr>
            <p:ph type="sldImg"/>
          </p:nvPr>
        </p:nvSpPr>
        <p:spPr/>
      </p:sp>
      <p:sp>
        <p:nvSpPr>
          <p:cNvPr id="105476" name="Rectangle 3"/>
          <p:cNvSpPr>
            <a:spLocks noGrp="1"/>
          </p:cNvSpPr>
          <p:nvPr>
            <p:ph type="body" idx="1"/>
          </p:nvPr>
        </p:nvSpPr>
        <p:spPr/>
        <p:txBody>
          <a:bodyPr wrap="square" lIns="91440" tIns="45720" rIns="91440" bIns="45720" anchor="t" anchorCtr="0"/>
          <a:p>
            <a:pPr lvl="0" eaLnBrk="1" hangingPunct="1"/>
            <a:endParaRPr lang="zh-CN" altLang="zh-CN" dirty="0">
              <a:solidFill>
                <a:schemeClr val="bg2"/>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6499" name="Rectangle 2"/>
          <p:cNvSpPr>
            <a:spLocks noRot="1" noTextEdit="1"/>
          </p:cNvSpPr>
          <p:nvPr>
            <p:ph type="sldImg"/>
          </p:nvPr>
        </p:nvSpPr>
        <p:spPr/>
      </p:sp>
      <p:sp>
        <p:nvSpPr>
          <p:cNvPr id="1065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7523" name="Rectangle 2"/>
          <p:cNvSpPr>
            <a:spLocks noRot="1" noTextEdit="1"/>
          </p:cNvSpPr>
          <p:nvPr>
            <p:ph type="sldImg"/>
          </p:nvPr>
        </p:nvSpPr>
        <p:spPr/>
      </p:sp>
      <p:sp>
        <p:nvSpPr>
          <p:cNvPr id="107524" name="Rectangle 3"/>
          <p:cNvSpPr>
            <a:spLocks noGrp="1"/>
          </p:cNvSpPr>
          <p:nvPr>
            <p:ph type="body" idx="1"/>
          </p:nvPr>
        </p:nvSpPr>
        <p:spPr/>
        <p:txBody>
          <a:bodyPr wrap="square" lIns="91440" tIns="45720" rIns="91440" bIns="45720" anchor="t" anchorCtr="0"/>
          <a:p>
            <a:pPr lvl="0" eaLnBrk="1" hangingPunct="1"/>
            <a:endParaRPr lang="zh-CN" altLang="zh-CN" dirty="0">
              <a:solidFill>
                <a:schemeClr val="bg2"/>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8547" name="Rectangle 2"/>
          <p:cNvSpPr>
            <a:spLocks noRot="1" noTextEdit="1"/>
          </p:cNvSpPr>
          <p:nvPr>
            <p:ph type="sldImg"/>
          </p:nvPr>
        </p:nvSpPr>
        <p:spPr/>
      </p:sp>
      <p:sp>
        <p:nvSpPr>
          <p:cNvPr id="108548" name="Rectangle 3"/>
          <p:cNvSpPr>
            <a:spLocks noGrp="1"/>
          </p:cNvSpPr>
          <p:nvPr>
            <p:ph type="body" idx="1"/>
          </p:nvPr>
        </p:nvSpPr>
        <p:spPr/>
        <p:txBody>
          <a:bodyPr wrap="square" lIns="91440" tIns="45720" rIns="91440" bIns="45720" anchor="t" anchorCtr="0"/>
          <a:p>
            <a:pPr lvl="0" eaLnBrk="1" hangingPunct="1"/>
            <a:endParaRPr lang="zh-CN" altLang="zh-CN" dirty="0">
              <a:solidFill>
                <a:schemeClr val="bg2"/>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9571" name="Rectangle 2"/>
          <p:cNvSpPr>
            <a:spLocks noRot="1" noTextEdit="1"/>
          </p:cNvSpPr>
          <p:nvPr>
            <p:ph type="sldImg"/>
          </p:nvPr>
        </p:nvSpPr>
        <p:spPr/>
      </p:sp>
      <p:sp>
        <p:nvSpPr>
          <p:cNvPr id="109572" name="Rectangle 3"/>
          <p:cNvSpPr>
            <a:spLocks noGrp="1"/>
          </p:cNvSpPr>
          <p:nvPr>
            <p:ph type="body" idx="1"/>
          </p:nvPr>
        </p:nvSpPr>
        <p:spPr/>
        <p:txBody>
          <a:bodyPr wrap="square" lIns="91440" tIns="45720" rIns="91440" bIns="45720" anchor="t" anchorCtr="0"/>
          <a:p>
            <a:pPr lvl="0" eaLnBrk="1" hangingPunct="1"/>
            <a:endParaRPr lang="zh-CN" altLang="zh-CN" sz="1400" dirty="0">
              <a:solidFill>
                <a:srgbClr val="FFFF66"/>
              </a:solidFill>
              <a:latin typeface="宋体" panose="02010600030101010101" pitchFamily="2" charset="-122"/>
              <a:ea typeface="华文中宋" panose="0201060004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0595" name="Rectangle 2"/>
          <p:cNvSpPr>
            <a:spLocks noRot="1" noTextEdit="1"/>
          </p:cNvSpPr>
          <p:nvPr>
            <p:ph type="sldImg"/>
          </p:nvPr>
        </p:nvSpPr>
        <p:spPr/>
      </p:sp>
      <p:sp>
        <p:nvSpPr>
          <p:cNvPr id="110596" name="Rectangle 3"/>
          <p:cNvSpPr>
            <a:spLocks noGrp="1"/>
          </p:cNvSpPr>
          <p:nvPr>
            <p:ph type="body" idx="1"/>
          </p:nvPr>
        </p:nvSpPr>
        <p:spPr/>
        <p:txBody>
          <a:bodyPr wrap="square" lIns="91440" tIns="45720" rIns="91440" bIns="45720" anchor="t" anchorCtr="0"/>
          <a:p>
            <a:pPr lvl="0" eaLnBrk="1" hangingPunct="1"/>
            <a:endParaRPr lang="zh-CN" altLang="zh-CN" sz="1400" dirty="0">
              <a:solidFill>
                <a:srgbClr val="FFFF66"/>
              </a:solidFill>
              <a:latin typeface="宋体" panose="02010600030101010101" pitchFamily="2" charset="-122"/>
              <a:ea typeface="华文中宋" panose="0201060004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1619" name="Rectangle 2"/>
          <p:cNvSpPr>
            <a:spLocks noRot="1" noTextEdit="1"/>
          </p:cNvSpPr>
          <p:nvPr>
            <p:ph type="sldImg"/>
          </p:nvPr>
        </p:nvSpPr>
        <p:spPr/>
      </p:sp>
      <p:sp>
        <p:nvSpPr>
          <p:cNvPr id="111620" name="Rectangle 3"/>
          <p:cNvSpPr>
            <a:spLocks noGrp="1"/>
          </p:cNvSpPr>
          <p:nvPr>
            <p:ph type="body" idx="1"/>
          </p:nvPr>
        </p:nvSpPr>
        <p:spPr/>
        <p:txBody>
          <a:bodyPr wrap="square" lIns="91440" tIns="45720" rIns="91440" bIns="45720" anchor="t" anchorCtr="0"/>
          <a:p>
            <a:pPr lvl="0" eaLnBrk="1" hangingPunct="1"/>
            <a:endParaRPr lang="zh-CN" altLang="zh-CN" sz="1400" dirty="0">
              <a:solidFill>
                <a:srgbClr val="FFFF66"/>
              </a:solidFill>
              <a:latin typeface="宋体" panose="02010600030101010101" pitchFamily="2" charset="-122"/>
              <a:ea typeface="华文中宋" panose="0201060004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43" name="Rectangle 2"/>
          <p:cNvSpPr>
            <a:spLocks noRot="1" noTextEdit="1"/>
          </p:cNvSpPr>
          <p:nvPr>
            <p:ph type="sldImg"/>
          </p:nvPr>
        </p:nvSpPr>
        <p:spPr/>
      </p:sp>
      <p:sp>
        <p:nvSpPr>
          <p:cNvPr id="112644" name="Rectangle 3"/>
          <p:cNvSpPr>
            <a:spLocks noGrp="1"/>
          </p:cNvSpPr>
          <p:nvPr>
            <p:ph type="body" idx="1"/>
          </p:nvPr>
        </p:nvSpPr>
        <p:spPr/>
        <p:txBody>
          <a:bodyPr wrap="square" lIns="91440" tIns="45720" rIns="91440" bIns="45720" anchor="t" anchorCtr="0"/>
          <a:p>
            <a:pPr lvl="0" eaLnBrk="1" hangingPunct="1"/>
            <a:endParaRPr lang="zh-CN" altLang="zh-CN" sz="1400" dirty="0">
              <a:solidFill>
                <a:srgbClr val="FFFF66"/>
              </a:solidFill>
              <a:latin typeface="宋体" panose="02010600030101010101" pitchFamily="2" charset="-122"/>
              <a:ea typeface="华文中宋" panose="0201060004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3667" name="Rectangle 2"/>
          <p:cNvSpPr>
            <a:spLocks noRot="1" noTextEdit="1"/>
          </p:cNvSpPr>
          <p:nvPr>
            <p:ph type="sldImg"/>
          </p:nvPr>
        </p:nvSpPr>
        <p:spPr/>
      </p:sp>
      <p:sp>
        <p:nvSpPr>
          <p:cNvPr id="113668" name="Rectangle 3"/>
          <p:cNvSpPr>
            <a:spLocks noGrp="1"/>
          </p:cNvSpPr>
          <p:nvPr>
            <p:ph type="body" idx="1"/>
          </p:nvPr>
        </p:nvSpPr>
        <p:spPr/>
        <p:txBody>
          <a:bodyPr wrap="square" lIns="91440" tIns="45720" rIns="91440" bIns="45720" anchor="t" anchorCtr="0"/>
          <a:p>
            <a:pPr lvl="0" eaLnBrk="1" hangingPunct="1"/>
            <a:r>
              <a:rPr lang="zh-CN" altLang="en-US" dirty="0"/>
              <a:t>给定关系模式 </a:t>
            </a:r>
            <a:r>
              <a:rPr lang="en-US" altLang="zh-CN" dirty="0"/>
              <a:t>H = {D,T, S, C, TC, SC}       </a:t>
            </a:r>
            <a:r>
              <a:rPr lang="zh-CN" altLang="en-US" dirty="0"/>
              <a:t>其中： </a:t>
            </a:r>
            <a:endParaRPr lang="zh-CN" altLang="en-US" dirty="0"/>
          </a:p>
          <a:p>
            <a:pPr lvl="0" eaLnBrk="1" hangingPunct="1">
              <a:buChar char="•"/>
            </a:pPr>
            <a:r>
              <a:rPr lang="zh-CN" altLang="en-US" dirty="0"/>
              <a:t>学院 </a:t>
            </a:r>
            <a:r>
              <a:rPr lang="en-US" altLang="zh-CN" dirty="0"/>
              <a:t>D(Dept,Addr)                            		/</a:t>
            </a:r>
            <a:r>
              <a:rPr lang="zh-CN" altLang="en-US" dirty="0"/>
              <a:t>系别</a:t>
            </a:r>
            <a:r>
              <a:rPr lang="en-US" altLang="zh-CN" dirty="0"/>
              <a:t>,</a:t>
            </a:r>
            <a:r>
              <a:rPr lang="zh-CN" altLang="en-US" dirty="0"/>
              <a:t>地址</a:t>
            </a:r>
            <a:r>
              <a:rPr lang="en-US" altLang="zh-CN" dirty="0"/>
              <a:t>/</a:t>
            </a:r>
            <a:endParaRPr lang="en-US" altLang="zh-CN" dirty="0"/>
          </a:p>
          <a:p>
            <a:pPr lvl="0" eaLnBrk="1" hangingPunct="1">
              <a:buChar char="•"/>
            </a:pPr>
            <a:r>
              <a:rPr lang="zh-CN" altLang="en-US" dirty="0"/>
              <a:t>教师 </a:t>
            </a:r>
            <a:r>
              <a:rPr lang="en-US" altLang="zh-CN" dirty="0"/>
              <a:t>T(Tno,Tname,Tsex,Tage,Prof,Sal,Tdept)	/</a:t>
            </a:r>
            <a:r>
              <a:rPr lang="zh-CN" altLang="en-US" dirty="0"/>
              <a:t>教师号</a:t>
            </a:r>
            <a:r>
              <a:rPr lang="en-US" altLang="zh-CN" dirty="0"/>
              <a:t>,</a:t>
            </a:r>
            <a:r>
              <a:rPr lang="zh-CN" altLang="en-US" dirty="0"/>
              <a:t>姓名</a:t>
            </a:r>
            <a:r>
              <a:rPr lang="en-US" altLang="zh-CN" dirty="0"/>
              <a:t>,</a:t>
            </a:r>
            <a:r>
              <a:rPr lang="zh-CN" altLang="en-US" dirty="0"/>
              <a:t>性别</a:t>
            </a:r>
            <a:r>
              <a:rPr lang="en-US" altLang="zh-CN" dirty="0"/>
              <a:t>,</a:t>
            </a:r>
            <a:r>
              <a:rPr lang="zh-CN" altLang="en-US" dirty="0"/>
              <a:t>年龄</a:t>
            </a:r>
            <a:r>
              <a:rPr lang="en-US" altLang="zh-CN" dirty="0"/>
              <a:t>,</a:t>
            </a:r>
            <a:r>
              <a:rPr lang="zh-CN" altLang="en-US" dirty="0"/>
              <a:t>职称</a:t>
            </a:r>
            <a:r>
              <a:rPr lang="en-US" altLang="zh-CN" dirty="0"/>
              <a:t>,</a:t>
            </a:r>
            <a:r>
              <a:rPr lang="zh-CN" altLang="en-US" dirty="0"/>
              <a:t>工资</a:t>
            </a:r>
            <a:r>
              <a:rPr lang="en-US" altLang="zh-CN" dirty="0"/>
              <a:t>,</a:t>
            </a:r>
            <a:r>
              <a:rPr lang="zh-CN" altLang="en-US" dirty="0"/>
              <a:t>系别</a:t>
            </a:r>
            <a:r>
              <a:rPr lang="en-US" altLang="zh-CN" dirty="0"/>
              <a:t>/</a:t>
            </a:r>
            <a:endParaRPr lang="en-US" altLang="zh-CN" dirty="0"/>
          </a:p>
          <a:p>
            <a:pPr lvl="0" eaLnBrk="1" hangingPunct="1">
              <a:buChar char="•"/>
            </a:pPr>
            <a:r>
              <a:rPr lang="zh-CN" altLang="en-US" dirty="0"/>
              <a:t>授课 </a:t>
            </a:r>
            <a:r>
              <a:rPr lang="en-US" altLang="zh-CN" dirty="0"/>
              <a:t>TC(Tno,Cno)					/</a:t>
            </a:r>
            <a:r>
              <a:rPr lang="zh-CN" altLang="en-US" dirty="0"/>
              <a:t>教师号</a:t>
            </a:r>
            <a:r>
              <a:rPr lang="en-US" altLang="zh-CN" dirty="0"/>
              <a:t>,</a:t>
            </a:r>
            <a:r>
              <a:rPr lang="zh-CN" altLang="en-US" dirty="0"/>
              <a:t>课程号</a:t>
            </a:r>
            <a:r>
              <a:rPr lang="en-US" altLang="zh-CN" dirty="0"/>
              <a:t>/</a:t>
            </a:r>
            <a:endParaRPr lang="en-US" altLang="zh-CN" dirty="0"/>
          </a:p>
          <a:p>
            <a:pPr lvl="0" eaLnBrk="1" hangingPunct="1">
              <a:buChar char="•"/>
            </a:pPr>
            <a:r>
              <a:rPr lang="zh-CN" altLang="en-US" dirty="0"/>
              <a:t>课程 </a:t>
            </a:r>
            <a:r>
              <a:rPr lang="en-US" altLang="zh-CN" dirty="0"/>
              <a:t>C(Cno,Cname,Hour,Tno)			/</a:t>
            </a:r>
            <a:r>
              <a:rPr lang="zh-CN" altLang="en-US" dirty="0"/>
              <a:t>课程号</a:t>
            </a:r>
            <a:r>
              <a:rPr lang="en-US" altLang="zh-CN" dirty="0"/>
              <a:t>,</a:t>
            </a:r>
            <a:r>
              <a:rPr lang="zh-CN" altLang="en-US" dirty="0"/>
              <a:t>课程名</a:t>
            </a:r>
            <a:r>
              <a:rPr lang="en-US" altLang="zh-CN" dirty="0"/>
              <a:t>,</a:t>
            </a:r>
            <a:r>
              <a:rPr lang="zh-CN" altLang="en-US" dirty="0"/>
              <a:t>课时</a:t>
            </a:r>
            <a:r>
              <a:rPr lang="en-US" altLang="zh-CN" dirty="0"/>
              <a:t>,</a:t>
            </a:r>
            <a:r>
              <a:rPr lang="zh-CN" altLang="en-US" dirty="0"/>
              <a:t>授课老师</a:t>
            </a:r>
            <a:r>
              <a:rPr lang="en-US" altLang="zh-CN" dirty="0"/>
              <a:t>/</a:t>
            </a:r>
            <a:endParaRPr lang="en-US" altLang="zh-CN" dirty="0"/>
          </a:p>
          <a:p>
            <a:pPr lvl="0" eaLnBrk="1" hangingPunct="1">
              <a:buChar char="•"/>
            </a:pPr>
            <a:r>
              <a:rPr lang="zh-CN" altLang="en-US" dirty="0"/>
              <a:t>选课 </a:t>
            </a:r>
            <a:r>
              <a:rPr lang="en-US" altLang="zh-CN" dirty="0"/>
              <a:t>SC(Sno,Cno,Score)    				/</a:t>
            </a:r>
            <a:r>
              <a:rPr lang="zh-CN" altLang="en-US" dirty="0"/>
              <a:t>学号</a:t>
            </a:r>
            <a:r>
              <a:rPr lang="en-US" altLang="zh-CN" dirty="0"/>
              <a:t>,</a:t>
            </a:r>
            <a:r>
              <a:rPr lang="zh-CN" altLang="en-US" dirty="0"/>
              <a:t>课程号</a:t>
            </a:r>
            <a:r>
              <a:rPr lang="en-US" altLang="zh-CN" dirty="0"/>
              <a:t>,</a:t>
            </a:r>
            <a:r>
              <a:rPr lang="zh-CN" altLang="en-US" dirty="0"/>
              <a:t>成绩</a:t>
            </a:r>
            <a:r>
              <a:rPr lang="en-US" altLang="zh-CN" dirty="0"/>
              <a:t>/</a:t>
            </a:r>
            <a:endParaRPr lang="en-US" altLang="zh-CN" dirty="0"/>
          </a:p>
          <a:p>
            <a:pPr lvl="0" eaLnBrk="1" hangingPunct="1">
              <a:buChar char="•"/>
            </a:pPr>
            <a:r>
              <a:rPr lang="zh-CN" altLang="en-US" dirty="0"/>
              <a:t>学生 </a:t>
            </a:r>
            <a:r>
              <a:rPr lang="en-US" altLang="zh-CN" dirty="0"/>
              <a:t>S(Sno,Sname,Ssex,Sage,Sdept) 		/</a:t>
            </a:r>
            <a:r>
              <a:rPr lang="zh-CN" altLang="en-US" dirty="0"/>
              <a:t>学号</a:t>
            </a:r>
            <a:r>
              <a:rPr lang="en-US" altLang="zh-CN" dirty="0"/>
              <a:t>,</a:t>
            </a:r>
            <a:r>
              <a:rPr lang="zh-CN" altLang="en-US" dirty="0"/>
              <a:t>姓名</a:t>
            </a:r>
            <a:r>
              <a:rPr lang="en-US" altLang="zh-CN" dirty="0"/>
              <a:t>,</a:t>
            </a:r>
            <a:r>
              <a:rPr lang="zh-CN" altLang="en-US" dirty="0"/>
              <a:t>性别</a:t>
            </a:r>
            <a:r>
              <a:rPr lang="en-US" altLang="zh-CN" dirty="0"/>
              <a:t>,</a:t>
            </a:r>
            <a:r>
              <a:rPr lang="zh-CN" altLang="en-US" dirty="0"/>
              <a:t>年龄</a:t>
            </a:r>
            <a:r>
              <a:rPr lang="en-US" altLang="zh-CN" dirty="0"/>
              <a:t>,</a:t>
            </a:r>
            <a:r>
              <a:rPr lang="zh-CN" altLang="en-US" dirty="0"/>
              <a:t>系别</a:t>
            </a:r>
            <a:r>
              <a:rPr lang="en-US" altLang="zh-CN" dirty="0"/>
              <a:t>/</a:t>
            </a:r>
            <a:endParaRPr lang="en-US" altLang="zh-CN" dirty="0"/>
          </a:p>
          <a:p>
            <a:pPr lvl="0" eaLnBrk="1" hangingPunct="1"/>
            <a:endParaRPr lang="en-US" altLang="zh-CN" sz="1400" dirty="0">
              <a:solidFill>
                <a:srgbClr val="FFFF66"/>
              </a:solidFill>
              <a:latin typeface="宋体" panose="02010600030101010101" pitchFamily="2" charset="-122"/>
              <a:ea typeface="华文中宋" panose="0201060004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4691" name="Rectangle 2"/>
          <p:cNvSpPr>
            <a:spLocks noRot="1" noTextEdit="1"/>
          </p:cNvSpPr>
          <p:nvPr>
            <p:ph type="sldImg"/>
          </p:nvPr>
        </p:nvSpPr>
        <p:spPr/>
      </p:sp>
      <p:sp>
        <p:nvSpPr>
          <p:cNvPr id="1146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5715" name="Rectangle 2"/>
          <p:cNvSpPr>
            <a:spLocks noRot="1" noTextEdit="1"/>
          </p:cNvSpPr>
          <p:nvPr>
            <p:ph type="sldImg"/>
          </p:nvPr>
        </p:nvSpPr>
        <p:spPr/>
      </p:sp>
      <p:sp>
        <p:nvSpPr>
          <p:cNvPr id="115716" name="Rectangle 3"/>
          <p:cNvSpPr>
            <a:spLocks noGrp="1"/>
          </p:cNvSpPr>
          <p:nvPr>
            <p:ph type="body" idx="1"/>
          </p:nvPr>
        </p:nvSpPr>
        <p:spPr/>
        <p:txBody>
          <a:bodyPr wrap="square" lIns="91440" tIns="45720" rIns="91440" bIns="45720" anchor="t" anchorCtr="0"/>
          <a:p>
            <a:pPr lvl="0" eaLnBrk="1" hangingPunct="1"/>
            <a:r>
              <a:rPr lang="zh-CN" altLang="en-US" dirty="0"/>
              <a:t>运算优先级。为了确定表达式中运算的先后次序，我们规定运算优先级从高到低的次序为：括号；一目运算选择、投影；二目运算乘积、相交、连接、半连、除法；二目运算合并、求差。</a:t>
            </a:r>
            <a:endParaRPr lang="zh-CN" altLang="en-US" dirty="0"/>
          </a:p>
          <a:p>
            <a:pPr lvl="0" eaLnBrk="1" hangingPunct="1"/>
            <a:r>
              <a:rPr lang="zh-CN" altLang="en-US" dirty="0"/>
              <a:t>运算树。关系代数表达式中运算的先后次序也可用运算树表示。</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audio" Target="../media/audio1.wav"/><Relationship Id="rId4" Type="http://schemas.openxmlformats.org/officeDocument/2006/relationships/image" Target="../media/image2.wmf"/><Relationship Id="rId3" Type="http://schemas.openxmlformats.org/officeDocument/2006/relationships/control" Target="../activeX/activeX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audio" Target="../media/audio1.wav"/><Relationship Id="rId4" Type="http://schemas.openxmlformats.org/officeDocument/2006/relationships/image" Target="../media/image3.wmf"/><Relationship Id="rId3" Type="http://schemas.openxmlformats.org/officeDocument/2006/relationships/control" Target="../activeX/activeX2.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audio" Target="../media/audio1.wav"/><Relationship Id="rId4" Type="http://schemas.openxmlformats.org/officeDocument/2006/relationships/image" Target="../media/image3.wmf"/><Relationship Id="rId3" Type="http://schemas.openxmlformats.org/officeDocument/2006/relationships/control" Target="../activeX/activeX3.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audio" Target="../media/audio1.wav"/><Relationship Id="rId4" Type="http://schemas.openxmlformats.org/officeDocument/2006/relationships/image" Target="../media/image4.wmf"/><Relationship Id="rId3" Type="http://schemas.openxmlformats.org/officeDocument/2006/relationships/control" Target="../activeX/activeX4.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audio" Target="../media/audio1.wav"/><Relationship Id="rId4" Type="http://schemas.openxmlformats.org/officeDocument/2006/relationships/image" Target="../media/image5.wmf"/><Relationship Id="rId3" Type="http://schemas.openxmlformats.org/officeDocument/2006/relationships/control" Target="../activeX/activeX5.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audio" Target="../media/audio1.wav"/><Relationship Id="rId4" Type="http://schemas.openxmlformats.org/officeDocument/2006/relationships/image" Target="../media/image6.wmf"/><Relationship Id="rId3" Type="http://schemas.openxmlformats.org/officeDocument/2006/relationships/control" Target="../activeX/activeX6.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audio" Target="../media/audio1.wav"/><Relationship Id="rId4" Type="http://schemas.openxmlformats.org/officeDocument/2006/relationships/image" Target="../media/image7.wmf"/><Relationship Id="rId3" Type="http://schemas.openxmlformats.org/officeDocument/2006/relationships/control" Target="../activeX/activeX7.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audio" Target="../media/audio1.wav"/><Relationship Id="rId4" Type="http://schemas.openxmlformats.org/officeDocument/2006/relationships/image" Target="../media/image8.wmf"/><Relationship Id="rId3" Type="http://schemas.openxmlformats.org/officeDocument/2006/relationships/control" Target="../activeX/activeX8.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audio" Target="../media/audio1.wav"/><Relationship Id="rId4" Type="http://schemas.openxmlformats.org/officeDocument/2006/relationships/image" Target="../media/image8.wmf"/><Relationship Id="rId3" Type="http://schemas.openxmlformats.org/officeDocument/2006/relationships/control" Target="../activeX/activeX9.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audio" Target="../media/audio1.wav"/><Relationship Id="rId4" Type="http://schemas.openxmlformats.org/officeDocument/2006/relationships/image" Target="../media/image9.wmf"/><Relationship Id="rId3" Type="http://schemas.openxmlformats.org/officeDocument/2006/relationships/control" Target="../activeX/activeX10.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audio" Target="../media/audio1.wav"/><Relationship Id="rId4" Type="http://schemas.openxmlformats.org/officeDocument/2006/relationships/image" Target="../media/image10.wmf"/><Relationship Id="rId3" Type="http://schemas.openxmlformats.org/officeDocument/2006/relationships/control" Target="../activeX/activeX1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sp>
        <p:nvSpPr>
          <p:cNvPr id="13316" name="Text Box 7"/>
          <p:cNvSpPr txBox="1"/>
          <p:nvPr userDrawn="1"/>
        </p:nvSpPr>
        <p:spPr>
          <a:xfrm>
            <a:off x="1588" y="6513513"/>
            <a:ext cx="9144000" cy="420687"/>
          </a:xfrm>
          <a:prstGeom prst="rect">
            <a:avLst/>
          </a:prstGeom>
          <a:gradFill rotWithShape="0">
            <a:gsLst>
              <a:gs pos="0">
                <a:srgbClr val="FFFFFF"/>
              </a:gs>
              <a:gs pos="100000">
                <a:srgbClr val="3333CC"/>
              </a:gs>
            </a:gsLst>
            <a:lin ang="5400000" scaled="1"/>
            <a:tileRect/>
          </a:gradFill>
          <a:ln w="9525">
            <a:noFill/>
          </a:ln>
        </p:spPr>
        <p:txBody>
          <a:bodyPr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13317" name="Text Box 8"/>
          <p:cNvSpPr txBox="1"/>
          <p:nvPr userDrawn="1"/>
        </p:nvSpPr>
        <p:spPr>
          <a:xfrm>
            <a:off x="0" y="-76200"/>
            <a:ext cx="9144000" cy="420688"/>
          </a:xfrm>
          <a:prstGeom prst="rect">
            <a:avLst/>
          </a:prstGeom>
          <a:gradFill rotWithShape="0">
            <a:gsLst>
              <a:gs pos="0">
                <a:srgbClr val="3333CC"/>
              </a:gs>
              <a:gs pos="100000">
                <a:srgbClr val="FFFFFF"/>
              </a:gs>
            </a:gsLst>
            <a:lin ang="5400000" scaled="1"/>
            <a:tileRect/>
          </a:gradFill>
          <a:ln w="9525">
            <a:noFill/>
          </a:ln>
        </p:spPr>
        <p:txBody>
          <a:bodyPr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13318" name="Line 9"/>
          <p:cNvSpPr/>
          <p:nvPr userDrawn="1"/>
        </p:nvSpPr>
        <p:spPr>
          <a:xfrm>
            <a:off x="7742238" y="76200"/>
            <a:ext cx="0" cy="6858000"/>
          </a:xfrm>
          <a:prstGeom prst="line">
            <a:avLst/>
          </a:prstGeom>
          <a:ln w="19050" cap="flat" cmpd="sng">
            <a:solidFill>
              <a:srgbClr val="99CCFF"/>
            </a:solidFill>
            <a:prstDash val="solid"/>
            <a:headEnd type="none" w="med" len="med"/>
            <a:tailEnd type="none" w="med" len="med"/>
          </a:ln>
        </p:spPr>
      </p:sp>
      <p:sp>
        <p:nvSpPr>
          <p:cNvPr id="13319" name="Arc 10"/>
          <p:cNvSpPr/>
          <p:nvPr userDrawn="1"/>
        </p:nvSpPr>
        <p:spPr>
          <a:xfrm rot="-5400000" flipH="1">
            <a:off x="6653213" y="941388"/>
            <a:ext cx="3352800" cy="1628775"/>
          </a:xfrm>
          <a:custGeom>
            <a:avLst/>
            <a:gdLst/>
            <a:ahLst/>
            <a:cxnLst>
              <a:cxn ang="0">
                <a:pos x="3182" y="1456997"/>
              </a:cxn>
              <a:cxn ang="0">
                <a:pos x="3323230" y="1628775"/>
              </a:cxn>
              <a:cxn ang="0">
                <a:pos x="1676400" y="1372188"/>
              </a:cxn>
            </a:cxnLst>
            <a:pathLst>
              <a:path w="43200" h="25639" fill="none">
                <a:moveTo>
                  <a:pt x="41" y="22934"/>
                </a:moveTo>
                <a:cubicBezTo>
                  <a:pt x="13" y="22490"/>
                  <a:pt x="0" y="22045"/>
                  <a:pt x="0" y="21600"/>
                </a:cubicBezTo>
                <a:cubicBezTo>
                  <a:pt x="0" y="9670"/>
                  <a:pt x="9670" y="0"/>
                  <a:pt x="21600" y="0"/>
                </a:cubicBezTo>
                <a:cubicBezTo>
                  <a:pt x="33529" y="0"/>
                  <a:pt x="43200" y="9670"/>
                  <a:pt x="43200" y="21600"/>
                </a:cubicBezTo>
                <a:cubicBezTo>
                  <a:pt x="43200" y="22955"/>
                  <a:pt x="43072" y="24307"/>
                  <a:pt x="42819" y="25639"/>
                </a:cubicBezTo>
              </a:path>
              <a:path w="43200" h="25639" stroke="0">
                <a:moveTo>
                  <a:pt x="41" y="22934"/>
                </a:moveTo>
                <a:cubicBezTo>
                  <a:pt x="13" y="22490"/>
                  <a:pt x="0" y="22045"/>
                  <a:pt x="0" y="21600"/>
                </a:cubicBezTo>
                <a:cubicBezTo>
                  <a:pt x="0" y="9670"/>
                  <a:pt x="9670" y="0"/>
                  <a:pt x="21600" y="0"/>
                </a:cubicBezTo>
                <a:cubicBezTo>
                  <a:pt x="33529" y="0"/>
                  <a:pt x="43200" y="9670"/>
                  <a:pt x="43200" y="21600"/>
                </a:cubicBezTo>
                <a:cubicBezTo>
                  <a:pt x="43200" y="22955"/>
                  <a:pt x="43072" y="24307"/>
                  <a:pt x="42819" y="25639"/>
                </a:cubicBezTo>
                <a:lnTo>
                  <a:pt x="21600" y="21600"/>
                </a:lnTo>
                <a:lnTo>
                  <a:pt x="41" y="22934"/>
                </a:lnTo>
                <a:close/>
              </a:path>
            </a:pathLst>
          </a:custGeom>
          <a:noFill/>
          <a:ln w="12700" cap="flat" cmpd="sng">
            <a:solidFill>
              <a:srgbClr val="99CCFF">
                <a:alpha val="100000"/>
              </a:srgbClr>
            </a:solidFill>
            <a:prstDash val="solid"/>
            <a:round/>
            <a:headEnd type="none" w="med" len="med"/>
            <a:tailEnd type="none" w="med" len="med"/>
          </a:ln>
        </p:spPr>
        <p:txBody>
          <a:bodyPr/>
          <a:p>
            <a:endParaRPr lang="zh-CN" altLang="en-US"/>
          </a:p>
        </p:txBody>
      </p:sp>
      <p:sp>
        <p:nvSpPr>
          <p:cNvPr id="343042" name="Rectangle 2"/>
          <p:cNvSpPr>
            <a:spLocks noGrp="1" noChangeArrowheads="1"/>
          </p:cNvSpPr>
          <p:nvPr>
            <p:ph type="ctrTitle" sz="quarter"/>
          </p:nvPr>
        </p:nvSpPr>
        <p:spPr>
          <a:xfrm>
            <a:off x="831850" y="1219200"/>
            <a:ext cx="7772400" cy="1143000"/>
          </a:xfrm>
        </p:spPr>
        <p:txBody>
          <a:bodyPr/>
          <a:lstStyle>
            <a:lvl1pPr>
              <a:defRPr sz="4800">
                <a:ea typeface="华文新魏" panose="02010800040101010101" pitchFamily="2" charset="-122"/>
              </a:defRPr>
            </a:lvl1pPr>
          </a:lstStyle>
          <a:p>
            <a:r>
              <a:rPr lang="en-US" altLang="zh-CN"/>
              <a:t>Click to edit Master title style</a:t>
            </a:r>
            <a:endParaRPr lang="en-US" altLang="zh-CN"/>
          </a:p>
        </p:txBody>
      </p:sp>
      <p:sp>
        <p:nvSpPr>
          <p:cNvPr id="343043" name="Rectangle 3"/>
          <p:cNvSpPr>
            <a:spLocks noGrp="1" noChangeArrowheads="1"/>
          </p:cNvSpPr>
          <p:nvPr>
            <p:ph type="subTitle" sz="quarter" idx="1"/>
          </p:nvPr>
        </p:nvSpPr>
        <p:spPr>
          <a:xfrm>
            <a:off x="323850" y="2636838"/>
            <a:ext cx="8523288" cy="863600"/>
          </a:xfrm>
        </p:spPr>
        <p:txBody>
          <a:bodyPr lIns="92075" tIns="46038" rIns="92075" bIns="46038"/>
          <a:lstStyle>
            <a:lvl1pPr marL="0" indent="0" algn="ctr">
              <a:buFont typeface="Wingdings" panose="05000000000000000000" pitchFamily="2" charset="2"/>
              <a:buNone/>
              <a:defRPr sz="4000"/>
            </a:lvl1pPr>
          </a:lstStyle>
          <a:p>
            <a:r>
              <a:rPr lang="en-US" altLang="zh-CN"/>
              <a:t>Click to edit Master subtitle style</a:t>
            </a:r>
            <a:endParaRPr lang="en-US" altLang="zh-CN"/>
          </a:p>
        </p:txBody>
      </p:sp>
      <p:sp>
        <p:nvSpPr>
          <p:cNvPr id="12" name="Rectangle 4"/>
          <p:cNvSpPr>
            <a:spLocks noGrp="1" noChangeArrowheads="1"/>
          </p:cNvSpPr>
          <p:nvPr>
            <p:ph type="dt" sz="quarter" idx="2"/>
          </p:nvPr>
        </p:nvSpPr>
        <p:spPr>
          <a:xfrm>
            <a:off x="152400" y="6248400"/>
            <a:ext cx="1905000" cy="457200"/>
          </a:xfrm>
          <a:prstGeom prst="rect">
            <a:avLst/>
          </a:prstGeom>
        </p:spPr>
        <p:txBody>
          <a:bodyPr/>
          <a:lstStyle>
            <a:lvl1pPr>
              <a:defRPr i="1">
                <a:latin typeface="+mj-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3" name="Rectangle 5"/>
          <p:cNvSpPr>
            <a:spLocks noGrp="1" noChangeArrowheads="1"/>
          </p:cNvSpPr>
          <p:nvPr>
            <p:ph type="ftr" sz="quarter" idx="3"/>
          </p:nvPr>
        </p:nvSpPr>
        <p:spPr>
          <a:xfrm>
            <a:off x="3124200" y="6248400"/>
            <a:ext cx="2895600" cy="457200"/>
          </a:xfrm>
          <a:prstGeom prst="rect">
            <a:avLst/>
          </a:prstGeom>
        </p:spPr>
        <p:txBody>
          <a:bodyPr/>
          <a:lstStyle>
            <a:lvl1pPr>
              <a:defRPr i="1">
                <a:latin typeface="+mj-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4" name="Rectangle 6"/>
          <p:cNvSpPr>
            <a:spLocks noGrp="1" noChangeArrowheads="1"/>
          </p:cNvSpPr>
          <p:nvPr>
            <p:ph type="sldNum" sz="quarter" idx="4"/>
          </p:nvPr>
        </p:nvSpPr>
        <p:spPr bwMode="auto">
          <a:xfrm>
            <a:off x="7162800" y="6248400"/>
            <a:ext cx="1905000" cy="457200"/>
          </a:xfrm>
          <a:prstGeom prst="rect">
            <a:avLst/>
          </a:prstGeom>
          <a:ln>
            <a:miter lim="800000"/>
          </a:ln>
        </p:spPr>
        <p:txBody>
          <a:bodyPr vert="horz" wrap="none" lIns="92075" tIns="46038" rIns="92075" bIns="46038" numCol="1" anchor="ctr" anchorCtr="0" compatLnSpc="1"/>
          <a:p>
            <a:pPr lvl="0" algn="r">
              <a:buNone/>
            </a:pPr>
            <a:fld id="{9A0DB2DC-4C9A-4742-B13C-FB6460FD3503}" type="slidenum">
              <a:rPr lang="en-US" altLang="zh-CN" sz="1400" b="0" i="1" dirty="0"/>
            </a:fld>
            <a:endParaRPr lang="en-US" altLang="zh-CN" sz="1400" b="0" i="1" dirty="0"/>
          </a:p>
        </p:txBody>
      </p:sp>
    </p:spTree>
  </p:cSld>
  <p:clrMapOvr>
    <a:masterClrMapping/>
  </p:clrMapOvr>
  <p:transition>
    <p:random/>
    <p:sndAc>
      <p:stSnd>
        <p:snd r:embed="rId2"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random/>
    <p:sndAc>
      <p:stSnd>
        <p:snd r:embed="rId2"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PhAnim="0" showMasterSp="0">
  <p:cSld name="节标题">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14344"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4342"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12"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14339" name="" r:id="rId3" imgW="684213" imgH="569912"/>
        </mc:Choice>
        <mc:Fallback>
          <p:control name="" r:id="rId3" imgW="684213" imgH="569912">
            <p:pic>
              <p:nvPicPr>
                <p:cNvPr id="0" name="Host Control  14338"/>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PhAnim="0" showMasterSp="0">
  <p:cSld name="两栏内容">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15368"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5366"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2400" y="908050"/>
            <a:ext cx="4348163" cy="5581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908050"/>
            <a:ext cx="4348162" cy="5581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2"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15363" name="" r:id="rId3" imgW="684213" imgH="569912"/>
        </mc:Choice>
        <mc:Fallback>
          <p:control name="" r:id="rId3" imgW="684213" imgH="569912">
            <p:pic>
              <p:nvPicPr>
                <p:cNvPr id="0" name="Host Control  15362"/>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PhAnim="0" showMasterSp="0">
  <p:cSld name="比较">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16392"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390"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2" name="日期占位符 6"/>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7"/>
          <p:cNvSpPr>
            <a:spLocks noGrp="1"/>
          </p:cNvSpPr>
          <p:nvPr>
            <p:ph type="ftr" sz="quarter" idx="1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16387" name="" r:id="rId3" imgW="684213" imgH="569912"/>
        </mc:Choice>
        <mc:Fallback>
          <p:control name="" r:id="rId3" imgW="684213" imgH="569912">
            <p:pic>
              <p:nvPicPr>
                <p:cNvPr id="0" name="Host Control  16386"/>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PhAnim="0" showMasterSp="0">
  <p:cSld name="仅标题">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17416"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7414"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12" name="日期占位符 2"/>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3"/>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17411" name="" r:id="rId3" imgW="684213" imgH="569912"/>
        </mc:Choice>
        <mc:Fallback>
          <p:control name="" r:id="rId3" imgW="684213" imgH="569912">
            <p:pic>
              <p:nvPicPr>
                <p:cNvPr id="0" name="Host Control  17410"/>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PhAnim="0" showMasterSp="0">
  <p:cSld name="空白">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18440"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8438"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12" name="日期占位符 1"/>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2"/>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18435" name="" r:id="rId3" imgW="684213" imgH="569912"/>
        </mc:Choice>
        <mc:Fallback>
          <p:control name="" r:id="rId3" imgW="684213" imgH="569912">
            <p:pic>
              <p:nvPicPr>
                <p:cNvPr id="0" name="Host Control  18434"/>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PhAnim="0" showMasterSp="0">
  <p:cSld name="内容与标题">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19464"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9462"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2"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19459" name="" r:id="rId3" imgW="684213" imgH="569912"/>
        </mc:Choice>
        <mc:Fallback>
          <p:control name="" r:id="rId3" imgW="684213" imgH="569912">
            <p:pic>
              <p:nvPicPr>
                <p:cNvPr id="0" name="Host Control  19458"/>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PhAnim="0" showMasterSp="0">
  <p:cSld name="图片与标题">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20488"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20486"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0"/>
              </a:spcBef>
              <a:spcAft>
                <a:spcPct val="0"/>
              </a:spcAft>
              <a:buClr>
                <a:srgbClr val="0000CC"/>
              </a:buClr>
              <a:buSzPct val="70000"/>
              <a:buFont typeface="Wingdings" panose="05000000000000000000" pitchFamily="2" charset="2"/>
              <a:buNone/>
              <a:defRPr/>
            </a:pPr>
            <a:endParaRPr kumimoji="0" lang="zh-CN" altLang="en-US" sz="32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2"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20483" name="" r:id="rId3" imgW="684213" imgH="569912"/>
        </mc:Choice>
        <mc:Fallback>
          <p:control name="" r:id="rId3" imgW="684213" imgH="569912">
            <p:pic>
              <p:nvPicPr>
                <p:cNvPr id="0" name="Host Control  20482"/>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PhAnim="0" showMasterSp="0">
  <p:cSld name="标题和竖排文字">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21512"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21510"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2"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21507" name="" r:id="rId3" imgW="684213" imgH="569912"/>
        </mc:Choice>
        <mc:Fallback>
          <p:control name="" r:id="rId3" imgW="684213" imgH="569912">
            <p:pic>
              <p:nvPicPr>
                <p:cNvPr id="0" name="Host Control  21506"/>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PhAnim="0" showMasterSp="0">
  <p:cSld name="垂直排列标题与文本">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22536"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22534"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竖排标题 1"/>
          <p:cNvSpPr>
            <a:spLocks noGrp="1"/>
          </p:cNvSpPr>
          <p:nvPr>
            <p:ph type="title" orient="vert"/>
          </p:nvPr>
        </p:nvSpPr>
        <p:spPr>
          <a:xfrm>
            <a:off x="6789738" y="115888"/>
            <a:ext cx="2211387" cy="63738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52400" y="115888"/>
            <a:ext cx="6484938" cy="63738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2"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22531" name="" r:id="rId3" imgW="684213" imgH="569912"/>
        </mc:Choice>
        <mc:Fallback>
          <p:control name="" r:id="rId3" imgW="684213" imgH="569912">
            <p:pic>
              <p:nvPicPr>
                <p:cNvPr id="0" name="Host Control  22530"/>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showMasterPhAnim="0" showMasterSp="0">
  <p:cSld name="标题和表格">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23560"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23558"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a:xfrm>
            <a:off x="179388" y="115888"/>
            <a:ext cx="8659812" cy="503237"/>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52400" y="908050"/>
            <a:ext cx="8848725" cy="5581650"/>
          </a:xfrm>
        </p:spPr>
        <p:txBody>
          <a:bodyPr vert="horz" wrap="square" lIns="91440" tIns="45720" rIns="91440" bIns="45720" numCol="1" anchor="t" anchorCtr="0" compatLnSpc="1"/>
          <a:lstStyle/>
          <a:p>
            <a:pPr marL="360680" marR="0" lvl="0" indent="-360680" algn="l" defTabSz="914400" rtl="0" eaLnBrk="0" fontAlgn="base" latinLnBrk="0" hangingPunct="0">
              <a:lnSpc>
                <a:spcPct val="100000"/>
              </a:lnSpc>
              <a:spcBef>
                <a:spcPct val="0"/>
              </a:spcBef>
              <a:spcAft>
                <a:spcPct val="0"/>
              </a:spcAft>
              <a:buClr>
                <a:srgbClr val="0000CC"/>
              </a:buClr>
              <a:buSzPct val="70000"/>
              <a:buFont typeface="Wingdings" panose="05000000000000000000" pitchFamily="2" charset="2"/>
              <a:buChar char="n"/>
              <a:defRPr/>
            </a:pPr>
            <a:endParaRPr kumimoji="0" lang="zh-CN" altLang="en-US" sz="3600" b="1" i="0" u="none" strike="noStrike" kern="0" cap="none" spc="0" normalizeH="0" baseline="0" noProof="0" smtClean="0">
              <a:ln>
                <a:noFill/>
              </a:ln>
              <a:solidFill>
                <a:srgbClr val="000000"/>
              </a:solidFill>
              <a:effectLst/>
              <a:uLnTx/>
              <a:uFillTx/>
              <a:latin typeface="+mn-lt"/>
              <a:ea typeface="+mn-ea"/>
              <a:cs typeface="+mn-cs"/>
            </a:endParaRPr>
          </a:p>
        </p:txBody>
      </p:sp>
      <p:sp>
        <p:nvSpPr>
          <p:cNvPr id="12"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23555" name="" r:id="rId3" imgW="684213" imgH="569912"/>
        </mc:Choice>
        <mc:Fallback>
          <p:control name="" r:id="rId3" imgW="684213" imgH="569912">
            <p:pic>
              <p:nvPicPr>
                <p:cNvPr id="0" name="Host Control  23554"/>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showMasterPhAnim="0" showMasterSp="0">
  <p:cSld name="标题，文本与内容">
    <p:bg>
      <p:bgPr>
        <a:solidFill>
          <a:srgbClr val="FFFFFF"/>
        </a:solidFill>
        <a:effectLst/>
      </p:bgPr>
    </p:bg>
    <p:spTree>
      <p:nvGrpSpPr>
        <p:cNvPr id="1" name=""/>
        <p:cNvGrpSpPr/>
        <p:nvPr/>
      </p:nvGrpSpPr>
      <p:grpSpPr>
        <a:xfrm>
          <a:off x="0" y="0"/>
          <a:ext cx="0" cy="0"/>
          <a:chOff x="0" y="0"/>
          <a:chExt cx="0" cy="0"/>
        </a:xfrm>
      </p:grpSpPr>
      <p:pic>
        <p:nvPicPr>
          <p:cNvPr id="10" name="Picture 8" descr="paint"/>
          <p:cNvPicPr>
            <a:picLocks noChangeAspect="1"/>
          </p:cNvPicPr>
          <p:nvPr/>
        </p:nvPicPr>
        <p:blipFill>
          <a:blip r:embed="rId2">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24584"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
        <p:nvSpPr>
          <p:cNvPr id="8"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24582"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sp>
        <p:nvSpPr>
          <p:cNvPr id="2" name="标题 1"/>
          <p:cNvSpPr>
            <a:spLocks noGrp="1"/>
          </p:cNvSpPr>
          <p:nvPr>
            <p:ph type="title"/>
          </p:nvPr>
        </p:nvSpPr>
        <p:spPr>
          <a:xfrm>
            <a:off x="179388" y="115888"/>
            <a:ext cx="8659812" cy="5032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2400" y="908050"/>
            <a:ext cx="4348163" cy="55816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908050"/>
            <a:ext cx="4348162" cy="55816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2"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ontrols>
      <mc:AlternateContent xmlns:mc="http://schemas.openxmlformats.org/markup-compatibility/2006">
        <mc:Choice xmlns:v="urn:schemas-microsoft-com:vml" Requires="v">
          <p:control spid="24579" name="" r:id="rId3" imgW="684213" imgH="569912"/>
        </mc:Choice>
        <mc:Fallback>
          <p:control name="" r:id="rId3" imgW="684213" imgH="569912">
            <p:pic>
              <p:nvPicPr>
                <p:cNvPr id="0" name="Host Control  24578"/>
                <p:cNvPicPr/>
                <p:nvPr userDrawn="1"/>
              </p:nvPicPr>
              <p:blipFill>
                <a:blip r:embed="rId4"/>
                <a:stretch>
                  <a:fillRect/>
                </a:stretch>
              </p:blipFill>
              <p:spPr>
                <a:xfrm>
                  <a:off x="0" y="6288088"/>
                  <a:ext cx="684213" cy="569912"/>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vmlDrawing" Target="../drawings/vmlDrawing12.vml"/><Relationship Id="rId2" Type="http://schemas.openxmlformats.org/officeDocument/2006/relationships/slideLayout" Target="../slideLayouts/slideLayout2.xml"/><Relationship Id="rId19" Type="http://schemas.openxmlformats.org/officeDocument/2006/relationships/image" Target="../media/image13.png"/><Relationship Id="rId18" Type="http://schemas.openxmlformats.org/officeDocument/2006/relationships/image" Target="../media/image12.png"/><Relationship Id="rId17" Type="http://schemas.openxmlformats.org/officeDocument/2006/relationships/audio" Target="../media/audio1.wav"/><Relationship Id="rId16" Type="http://schemas.openxmlformats.org/officeDocument/2006/relationships/image" Target="../media/image11.wmf"/><Relationship Id="rId15" Type="http://schemas.openxmlformats.org/officeDocument/2006/relationships/control" Target="../activeX/activeX12.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p:sp>
        <p:nvSpPr>
          <p:cNvPr id="1028" name="Rectangle 2"/>
          <p:cNvSpPr>
            <a:spLocks noGrp="1"/>
          </p:cNvSpPr>
          <p:nvPr>
            <p:ph type="body" idx="1"/>
          </p:nvPr>
        </p:nvSpPr>
        <p:spPr>
          <a:xfrm>
            <a:off x="152400" y="990600"/>
            <a:ext cx="8848725" cy="55816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42019" name="Rectangle 3"/>
          <p:cNvSpPr>
            <a:spLocks noGrp="1" noChangeArrowheads="1"/>
          </p:cNvSpPr>
          <p:nvPr>
            <p:ph type="title"/>
          </p:nvPr>
        </p:nvSpPr>
        <p:spPr bwMode="auto">
          <a:xfrm>
            <a:off x="179388" y="190500"/>
            <a:ext cx="8659813" cy="503238"/>
          </a:xfrm>
          <a:prstGeom prst="rect">
            <a:avLst/>
          </a:prstGeom>
          <a:noFill/>
          <a:ln w="9525">
            <a:noFill/>
            <a:miter lim="800000"/>
          </a:ln>
          <a:effectLst/>
        </p:spPr>
        <p:txBody>
          <a:bodyPr vert="horz" wrap="square" lIns="92075" tIns="46038" rIns="92075" bIns="46038" numCol="1" anchor="ctr" anchorCtr="0" compatLnSpc="1"/>
          <a:lstStyle/>
          <a:p>
            <a:pPr lvl="0"/>
            <a:r>
              <a:rPr lang="en-US" altLang="zh-CN" dirty="0" smtClean="0"/>
              <a:t>Click to edit Master title style</a:t>
            </a:r>
            <a:endParaRPr lang="en-US" altLang="zh-CN" dirty="0" smtClean="0"/>
          </a:p>
        </p:txBody>
      </p:sp>
      <p:sp>
        <p:nvSpPr>
          <p:cNvPr id="342022" name="Text Box 6"/>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031" name="Rectangle 7"/>
          <p:cNvSpPr/>
          <p:nvPr/>
        </p:nvSpPr>
        <p:spPr>
          <a:xfrm>
            <a:off x="1828800" y="6461125"/>
            <a:ext cx="2667000" cy="396875"/>
          </a:xfrm>
          <a:prstGeom prst="rect">
            <a:avLst/>
          </a:prstGeom>
          <a:noFill/>
          <a:ln w="12700">
            <a:noFill/>
          </a:ln>
        </p:spPr>
        <p:txBody>
          <a:bodyPr>
            <a:spAutoFit/>
          </a:bodyPr>
          <a:p>
            <a:pPr lvl="0" eaLnBrk="0" hangingPunct="0">
              <a:buNone/>
            </a:pPr>
            <a:endParaRPr lang="en-US" altLang="zh-CN" sz="2000" b="0" dirty="0">
              <a:solidFill>
                <a:srgbClr val="808000"/>
              </a:solidFill>
              <a:latin typeface="Arial" panose="020B0604020202020204" pitchFamily="34" charset="0"/>
              <a:ea typeface="楷体_GB2312" pitchFamily="49" charset="-122"/>
            </a:endParaRPr>
          </a:p>
        </p:txBody>
      </p:sp>
      <p:pic>
        <p:nvPicPr>
          <p:cNvPr id="342024" name="Picture 8" descr="paint"/>
          <p:cNvPicPr>
            <a:picLocks noChangeAspect="1"/>
          </p:cNvPicPr>
          <p:nvPr/>
        </p:nvPicPr>
        <p:blipFill>
          <a:blip r:embed="rId14">
            <a:clrChange>
              <a:clrFrom>
                <a:srgbClr val="C0C0C0"/>
              </a:clrFrom>
              <a:clrTo>
                <a:srgbClr val="C0C0C0">
                  <a:alpha val="0"/>
                </a:srgbClr>
              </a:clrTo>
            </a:clrChange>
          </a:blip>
          <a:stretch>
            <a:fillRect/>
          </a:stretch>
        </p:blipFill>
        <p:spPr>
          <a:xfrm>
            <a:off x="0" y="798513"/>
            <a:ext cx="4716463" cy="142875"/>
          </a:xfrm>
          <a:prstGeom prst="rect">
            <a:avLst/>
          </a:prstGeom>
          <a:noFill/>
          <a:ln w="9525">
            <a:noFill/>
          </a:ln>
        </p:spPr>
      </p:pic>
      <p:sp>
        <p:nvSpPr>
          <p:cNvPr id="1033" name="Text Box 9"/>
          <p:cNvSpPr txBox="1"/>
          <p:nvPr userDrawn="1"/>
        </p:nvSpPr>
        <p:spPr>
          <a:xfrm rot="5400000">
            <a:off x="4313238" y="-4316412"/>
            <a:ext cx="512762" cy="420687"/>
          </a:xfrm>
          <a:prstGeom prst="rect">
            <a:avLst/>
          </a:prstGeom>
          <a:gradFill rotWithShape="0">
            <a:gsLst>
              <a:gs pos="0">
                <a:schemeClr val="tx1"/>
              </a:gs>
              <a:gs pos="100000">
                <a:schemeClr val="bg1"/>
              </a:gs>
            </a:gsLst>
            <a:lin ang="5400000" scaled="1"/>
            <a:tileRect/>
          </a:gradFill>
          <a:ln w="9525">
            <a:noFill/>
          </a:ln>
        </p:spPr>
        <p:txBody>
          <a:bodyPr rot="10800000" vert="eaVert" lIns="92075" tIns="46038" rIns="92075" bIns="46038">
            <a:spAutoFit/>
          </a:bodyPr>
          <a:p>
            <a:pPr lvl="0" eaLnBrk="0" hangingPunct="0">
              <a:lnSpc>
                <a:spcPct val="90000"/>
              </a:lnSpc>
              <a:spcBef>
                <a:spcPct val="50000"/>
              </a:spcBef>
              <a:buNone/>
            </a:pPr>
            <a:endParaRPr lang="zh-CN" altLang="zh-CN" sz="2400" dirty="0">
              <a:latin typeface="华文中宋" panose="02010600040101010101" pitchFamily="2" charset="-122"/>
              <a:ea typeface="华文中宋" panose="02010600040101010101" pitchFamily="2" charset="-122"/>
            </a:endParaRPr>
          </a:p>
        </p:txBody>
      </p:sp>
    </p:spTree>
    <p:controls>
      <mc:AlternateContent xmlns:mc="http://schemas.openxmlformats.org/markup-compatibility/2006">
        <mc:Choice xmlns:v="urn:schemas-microsoft-com:vml" Requires="v">
          <p:control spid="1026" name="" r:id="rId15" imgW="684213" imgH="569912"/>
        </mc:Choice>
        <mc:Fallback>
          <p:control name="" r:id="rId15" imgW="684213" imgH="569912">
            <p:pic>
              <p:nvPicPr>
                <p:cNvPr id="0" name="Host Control  1025"/>
                <p:cNvPicPr/>
                <p:nvPr userDrawn="1"/>
              </p:nvPicPr>
              <p:blipFill>
                <a:blip r:embed="rId16"/>
                <a:stretch>
                  <a:fillRect/>
                </a:stretch>
              </p:blipFill>
              <p:spPr>
                <a:xfrm>
                  <a:off x="0" y="6288088"/>
                  <a:ext cx="684213" cy="569912"/>
                </a:xfrm>
                <a:prstGeom prst="rect">
                  <a:avLst/>
                </a:prstGeom>
              </p:spPr>
            </p:pic>
          </p:control>
        </mc:Fallback>
      </mc:AlternateContent>
    </p:controls>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sndAc>
      <p:stSnd>
        <p:snd r:embed="rId17"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42024"/>
                                        </p:tgtEl>
                                        <p:attrNameLst>
                                          <p:attrName>style.visibility</p:attrName>
                                        </p:attrNameLst>
                                      </p:cBhvr>
                                      <p:to>
                                        <p:strVal val="visible"/>
                                      </p:to>
                                    </p:set>
                                    <p:animEffect transition="in" filter="wipe(left)">
                                      <p:cBhvr>
                                        <p:cTn id="7" dur="500"/>
                                        <p:tgtEl>
                                          <p:spTgt spid="342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2pPr>
      <a:lvl3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3pPr>
      <a:lvl4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4pPr>
      <a:lvl5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5pPr>
      <a:lvl6pPr marL="4572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6pPr>
      <a:lvl7pPr marL="9144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7pPr>
      <a:lvl8pPr marL="13716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8pPr>
      <a:lvl9pPr marL="18288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黑体" panose="02010609060101010101" pitchFamily="2" charset="-122"/>
        </a:defRPr>
      </a:lvl9pPr>
    </p:titleStyle>
    <p:body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b="1">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8"/>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19"/>
        </a:buBlip>
        <a:defRPr sz="2400" b="1">
          <a:solidFill>
            <a:srgbClr val="000000"/>
          </a:solidFill>
          <a:latin typeface="+mn-lt"/>
          <a:ea typeface="+mn-ea"/>
        </a:defRPr>
      </a:lvl5pPr>
      <a:lvl6pPr marL="2792730" indent="-228600" algn="l" rtl="0" fontAlgn="base">
        <a:spcBef>
          <a:spcPct val="20000"/>
        </a:spcBef>
        <a:spcAft>
          <a:spcPct val="0"/>
        </a:spcAft>
        <a:buSzPct val="130000"/>
        <a:buBlip>
          <a:blip r:embed="rId19"/>
        </a:buBlip>
        <a:defRPr sz="2400" b="1">
          <a:solidFill>
            <a:srgbClr val="000000"/>
          </a:solidFill>
          <a:latin typeface="+mn-lt"/>
          <a:ea typeface="+mn-ea"/>
        </a:defRPr>
      </a:lvl6pPr>
      <a:lvl7pPr marL="3249930" indent="-228600" algn="l" rtl="0" fontAlgn="base">
        <a:spcBef>
          <a:spcPct val="20000"/>
        </a:spcBef>
        <a:spcAft>
          <a:spcPct val="0"/>
        </a:spcAft>
        <a:buSzPct val="130000"/>
        <a:buBlip>
          <a:blip r:embed="rId19"/>
        </a:buBlip>
        <a:defRPr sz="2400" b="1">
          <a:solidFill>
            <a:srgbClr val="000000"/>
          </a:solidFill>
          <a:latin typeface="+mn-lt"/>
          <a:ea typeface="+mn-ea"/>
        </a:defRPr>
      </a:lvl7pPr>
      <a:lvl8pPr marL="3707130" indent="-228600" algn="l" rtl="0" fontAlgn="base">
        <a:spcBef>
          <a:spcPct val="20000"/>
        </a:spcBef>
        <a:spcAft>
          <a:spcPct val="0"/>
        </a:spcAft>
        <a:buSzPct val="130000"/>
        <a:buBlip>
          <a:blip r:embed="rId19"/>
        </a:buBlip>
        <a:defRPr sz="2400" b="1">
          <a:solidFill>
            <a:srgbClr val="000000"/>
          </a:solidFill>
          <a:latin typeface="+mn-lt"/>
          <a:ea typeface="+mn-ea"/>
        </a:defRPr>
      </a:lvl8pPr>
      <a:lvl9pPr marL="4164330" indent="-228600" algn="l" rtl="0" fontAlgn="base">
        <a:spcBef>
          <a:spcPct val="20000"/>
        </a:spcBef>
        <a:spcAft>
          <a:spcPct val="0"/>
        </a:spcAft>
        <a:buSzPct val="130000"/>
        <a:buBlip>
          <a:blip r:embed="rId19"/>
        </a:buBlip>
        <a:defRPr sz="2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audio" Target="../media/audio1.wav"/><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xml"/><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png"/><Relationship Id="rId3" Type="http://schemas.openxmlformats.org/officeDocument/2006/relationships/slide" Target="slide8.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audio" Target="../media/audio1.wav"/><Relationship Id="rId3" Type="http://schemas.openxmlformats.org/officeDocument/2006/relationships/slide" Target="slide8.xml"/><Relationship Id="rId2" Type="http://schemas.openxmlformats.org/officeDocument/2006/relationships/image" Target="../media/image13.png"/><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22.xml"/><Relationship Id="rId2" Type="http://schemas.openxmlformats.org/officeDocument/2006/relationships/image" Target="../media/image13.png"/><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3.xml"/><Relationship Id="rId4" Type="http://schemas.openxmlformats.org/officeDocument/2006/relationships/audio" Target="../media/audio1.wav"/><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3.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3.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 Target="slide22.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2.wav"/><Relationship Id="rId3" Type="http://schemas.openxmlformats.org/officeDocument/2006/relationships/audio" Target="../media/audio1.wav"/><Relationship Id="rId2" Type="http://schemas.openxmlformats.org/officeDocument/2006/relationships/image" Target="../media/image13.png"/><Relationship Id="rId1"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6"/>
          <p:cNvSpPr txBox="1">
            <a:spLocks noGrp="1"/>
          </p:cNvSpPr>
          <p:nvPr>
            <p:ph type="sldNum" sz="quarter" idx="4"/>
          </p:nvPr>
        </p:nvSpPr>
        <p:spPr>
          <a:noFill/>
          <a:ln>
            <a:noFill/>
          </a:ln>
        </p:spPr>
        <p:txBody>
          <a:bodyPr wrap="none" lIns="92075" tIns="46038" rIns="92075" bIns="46038" anchor="ctr" anchorCtr="0"/>
          <a:p>
            <a:pPr marL="0" indent="0" algn="r">
              <a:buClrTx/>
              <a:buSzTx/>
              <a:buFontTx/>
              <a:buNone/>
            </a:pPr>
            <a:fld id="{9A0DB2DC-4C9A-4742-B13C-FB6460FD3503}" type="slidenum">
              <a:rPr lang="en-US" altLang="zh-CN" sz="1400" b="0" i="1" dirty="0">
                <a:solidFill>
                  <a:schemeClr val="tx1"/>
                </a:solidFill>
                <a:latin typeface="Arial" panose="020B0604020202020204" pitchFamily="34" charset="0"/>
                <a:ea typeface="宋体" panose="02010600030101010101" pitchFamily="2" charset="-122"/>
              </a:rPr>
            </a:fld>
            <a:endParaRPr lang="en-US" altLang="zh-CN" sz="1400" b="0" i="1" dirty="0">
              <a:solidFill>
                <a:schemeClr val="tx1"/>
              </a:solidFill>
              <a:latin typeface="Arial" panose="020B0604020202020204" pitchFamily="34" charset="0"/>
              <a:ea typeface="宋体" panose="02010600030101010101" pitchFamily="2" charset="-122"/>
            </a:endParaRPr>
          </a:p>
        </p:txBody>
      </p:sp>
      <p:pic>
        <p:nvPicPr>
          <p:cNvPr id="25603" name="Picture 2" descr="Multi_3"/>
          <p:cNvPicPr>
            <a:picLocks noChangeAspect="1"/>
          </p:cNvPicPr>
          <p:nvPr/>
        </p:nvPicPr>
        <p:blipFill>
          <a:blip r:embed="rId1">
            <a:clrChange>
              <a:clrFrom>
                <a:srgbClr val="4800A1"/>
              </a:clrFrom>
              <a:clrTo>
                <a:srgbClr val="4800A1">
                  <a:alpha val="0"/>
                </a:srgbClr>
              </a:clrTo>
            </a:clrChange>
          </a:blip>
          <a:stretch>
            <a:fillRect/>
          </a:stretch>
        </p:blipFill>
        <p:spPr>
          <a:xfrm>
            <a:off x="684213" y="4868863"/>
            <a:ext cx="1905000" cy="1450975"/>
          </a:xfrm>
          <a:prstGeom prst="rect">
            <a:avLst/>
          </a:prstGeom>
          <a:noFill/>
          <a:ln w="9525">
            <a:noFill/>
          </a:ln>
        </p:spPr>
      </p:pic>
      <p:sp>
        <p:nvSpPr>
          <p:cNvPr id="25604" name="Rectangle 3"/>
          <p:cNvSpPr/>
          <p:nvPr/>
        </p:nvSpPr>
        <p:spPr>
          <a:xfrm>
            <a:off x="611188" y="2924175"/>
            <a:ext cx="7988300" cy="1008063"/>
          </a:xfrm>
          <a:prstGeom prst="rect">
            <a:avLst/>
          </a:prstGeom>
          <a:noFill/>
          <a:ln w="9525">
            <a:noFill/>
          </a:ln>
        </p:spPr>
        <p:txBody>
          <a:bodyPr anchor="b"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zh-CN" altLang="en-US" sz="6000" dirty="0">
                <a:solidFill>
                  <a:srgbClr val="0000CC"/>
                </a:solidFill>
                <a:latin typeface="华文新魏" panose="02010800040101010101" pitchFamily="2" charset="-122"/>
                <a:ea typeface="华文新魏" panose="02010800040101010101" pitchFamily="2" charset="-122"/>
              </a:rPr>
              <a:t>第</a:t>
            </a:r>
            <a:r>
              <a:rPr lang="en-US" altLang="zh-CN" sz="6000" dirty="0">
                <a:solidFill>
                  <a:srgbClr val="0000CC"/>
                </a:solidFill>
                <a:latin typeface="华文新魏" panose="02010800040101010101" pitchFamily="2" charset="-122"/>
                <a:ea typeface="华文新魏" panose="02010800040101010101" pitchFamily="2" charset="-122"/>
              </a:rPr>
              <a:t>6</a:t>
            </a:r>
            <a:r>
              <a:rPr lang="zh-CN" altLang="en-US" sz="6000" dirty="0">
                <a:solidFill>
                  <a:srgbClr val="0000CC"/>
                </a:solidFill>
                <a:latin typeface="华文新魏" panose="02010800040101010101" pitchFamily="2" charset="-122"/>
                <a:ea typeface="华文新魏" panose="02010800040101010101" pitchFamily="2" charset="-122"/>
              </a:rPr>
              <a:t>章    关系</a:t>
            </a:r>
            <a:r>
              <a:rPr lang="zh-CN" altLang="en-US" sz="6000" dirty="0">
                <a:solidFill>
                  <a:srgbClr val="0000CC"/>
                </a:solidFill>
                <a:latin typeface="华文新魏" panose="02010800040101010101" pitchFamily="2" charset="-122"/>
                <a:ea typeface="华文新魏" panose="02010800040101010101" pitchFamily="2" charset="-122"/>
              </a:rPr>
              <a:t>代数</a:t>
            </a:r>
            <a:endParaRPr lang="zh-CN" altLang="en-US" sz="6000" dirty="0">
              <a:solidFill>
                <a:srgbClr val="0000CC"/>
              </a:solidFill>
              <a:latin typeface="华文新魏" panose="02010800040101010101" pitchFamily="2" charset="-122"/>
              <a:ea typeface="华文新魏" panose="02010800040101010101" pitchFamily="2" charset="-122"/>
            </a:endParaRPr>
          </a:p>
        </p:txBody>
      </p:sp>
      <p:sp>
        <p:nvSpPr>
          <p:cNvPr id="319492" name="Rectangle 4"/>
          <p:cNvSpPr>
            <a:spLocks noChangeArrowheads="1"/>
          </p:cNvSpPr>
          <p:nvPr/>
        </p:nvSpPr>
        <p:spPr bwMode="auto">
          <a:xfrm>
            <a:off x="468313" y="1052513"/>
            <a:ext cx="8497888" cy="1143000"/>
          </a:xfrm>
          <a:prstGeom prst="rect">
            <a:avLst/>
          </a:prstGeom>
          <a:noFill/>
          <a:ln w="12700">
            <a:noFill/>
            <a:miter lim="800000"/>
          </a:ln>
          <a:effectLst>
            <a:outerShdw dist="35921" dir="2700000" algn="ctr" rotWithShape="0">
              <a:schemeClr val="bg2">
                <a:alpha val="50000"/>
              </a:schemeClr>
            </a:outerShdw>
          </a:effectLst>
        </p:spPr>
        <p:txBody>
          <a:bodyPr lIns="90488" tIns="44450" rIns="90488"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a:ln>
                  <a:noFill/>
                </a:ln>
                <a:solidFill>
                  <a:srgbClr val="FF3300"/>
                </a:solidFill>
                <a:effectLst>
                  <a:outerShdw blurRad="38100" dist="38100" dir="2700000" algn="tl">
                    <a:srgbClr val="C0C0C0"/>
                  </a:outerShdw>
                </a:effectLst>
                <a:uLnTx/>
                <a:uFillTx/>
                <a:latin typeface="Arial" panose="020B0604020202020204" pitchFamily="34" charset="0"/>
                <a:ea typeface="华文新魏" panose="02010800040101010101" pitchFamily="2" charset="-122"/>
                <a:cs typeface="+mn-cs"/>
              </a:rPr>
              <a:t>数据库</a:t>
            </a:r>
            <a:r>
              <a:rPr kumimoji="1" lang="zh-CN" altLang="en-US" sz="5400" b="1" i="0" u="none" strike="noStrike" kern="1200" cap="none" spc="0" normalizeH="0" baseline="0" noProof="0">
                <a:ln>
                  <a:noFill/>
                </a:ln>
                <a:solidFill>
                  <a:srgbClr val="FF3300"/>
                </a:solidFill>
                <a:effectLst>
                  <a:outerShdw blurRad="38100" dist="38100" dir="2700000" algn="tl">
                    <a:srgbClr val="C0C0C0"/>
                  </a:outerShdw>
                </a:effectLst>
                <a:uLnTx/>
                <a:uFillTx/>
                <a:latin typeface="Arial" panose="020B0604020202020204" pitchFamily="34" charset="0"/>
                <a:ea typeface="华文新魏" panose="02010800040101010101" pitchFamily="2" charset="-122"/>
                <a:cs typeface="+mn-cs"/>
              </a:rPr>
              <a:t>系统</a:t>
            </a:r>
            <a:endParaRPr kumimoji="1" lang="zh-CN" altLang="en-US" sz="5400" b="1" i="0" u="none" strike="noStrike" kern="1200" cap="none" spc="0" normalizeH="0" baseline="0" noProof="0">
              <a:ln>
                <a:noFill/>
              </a:ln>
              <a:solidFill>
                <a:srgbClr val="FF3300"/>
              </a:solidFill>
              <a:effectLst>
                <a:outerShdw blurRad="38100" dist="38100" dir="2700000" algn="tl">
                  <a:srgbClr val="C0C0C0"/>
                </a:outerShdw>
              </a:effectLst>
              <a:uLnTx/>
              <a:uFillTx/>
              <a:latin typeface="Arial" panose="020B0604020202020204" pitchFamily="34" charset="0"/>
              <a:ea typeface="华文新魏" panose="02010800040101010101" pitchFamily="2" charset="-122"/>
              <a:cs typeface="+mn-cs"/>
            </a:endParaRPr>
          </a:p>
        </p:txBody>
      </p:sp>
    </p:spTree>
  </p:cSld>
  <p:clrMapOvr>
    <a:masterClrMapping/>
  </p:clrMapOvr>
  <p:transition>
    <p:random/>
    <p:sndAc>
      <p:stSnd>
        <p:snd r:embed="rId4"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内容</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7651" name="Rectangle 3"/>
          <p:cNvSpPr>
            <a:spLocks noGrp="1"/>
          </p:cNvSpPr>
          <p:nvPr>
            <p:ph idx="1"/>
          </p:nvPr>
        </p:nvSpPr>
        <p:spPr>
          <a:xfrm>
            <a:off x="1231900" y="908050"/>
            <a:ext cx="7372350" cy="5472113"/>
          </a:xfrm>
        </p:spPr>
        <p:txBody>
          <a:bodyPr vert="horz" wrap="square" lIns="91440" tIns="45720" rIns="91440" bIns="45720" anchor="t" anchorCtr="0"/>
          <a:p>
            <a:pPr eaLnBrk="1" hangingPunct="1">
              <a:lnSpc>
                <a:spcPct val="140000"/>
              </a:lnSpc>
              <a:buNone/>
            </a:pPr>
            <a:r>
              <a:rPr lang="en-US" altLang="zh-CN" dirty="0">
                <a:solidFill>
                  <a:srgbClr val="0000CC"/>
                </a:solidFill>
                <a:latin typeface="Arial" panose="020B0604020202020204" pitchFamily="34" charset="0"/>
              </a:rPr>
              <a:t>6.1 </a:t>
            </a:r>
            <a:r>
              <a:rPr lang="zh-CN" altLang="en-US" dirty="0">
                <a:solidFill>
                  <a:srgbClr val="0000CC"/>
                </a:solidFill>
              </a:rPr>
              <a:t>概述</a:t>
            </a:r>
            <a:endParaRPr lang="zh-CN" altLang="en-US" dirty="0">
              <a:solidFill>
                <a:srgbClr val="0000CC"/>
              </a:solidFill>
            </a:endParaRPr>
          </a:p>
          <a:p>
            <a:pPr eaLnBrk="1" hangingPunct="1">
              <a:lnSpc>
                <a:spcPct val="140000"/>
              </a:lnSpc>
              <a:buNone/>
            </a:pPr>
            <a:r>
              <a:rPr lang="en-US" altLang="zh-CN" dirty="0">
                <a:latin typeface="Arial" panose="020B0604020202020204" pitchFamily="34" charset="0"/>
              </a:rPr>
              <a:t>6.2 </a:t>
            </a:r>
            <a:r>
              <a:rPr lang="zh-CN" altLang="en-US" dirty="0"/>
              <a:t>传统的集合运算</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6.3 </a:t>
            </a:r>
            <a:r>
              <a:rPr lang="zh-CN" altLang="en-US" dirty="0">
                <a:latin typeface="宋体" panose="02010600030101010101" pitchFamily="2" charset="-122"/>
              </a:rPr>
              <a:t>专门的关系运算</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6.4 </a:t>
            </a:r>
            <a:r>
              <a:rPr lang="zh-CN" altLang="en-US" dirty="0">
                <a:latin typeface="宋体" panose="02010600030101010101" pitchFamily="2" charset="-122"/>
              </a:rPr>
              <a:t>关系代数表达式</a:t>
            </a:r>
            <a:endParaRPr lang="zh-CN" altLang="en-US" dirty="0">
              <a:latin typeface="宋体" panose="02010600030101010101" pitchFamily="2" charset="-122"/>
            </a:endParaRPr>
          </a:p>
        </p:txBody>
      </p:sp>
    </p:spTree>
  </p:cSld>
  <p:clrMapOvr>
    <a:masterClrMapping/>
  </p:clrMapOvr>
  <p:transition>
    <p:random/>
    <p:sndAc>
      <p:stSnd>
        <p:snd r:embed="rId1"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9" name="Rectangle 5"/>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概述</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150" name="Rectangle 6"/>
          <p:cNvSpPr>
            <a:spLocks noGrp="1"/>
          </p:cNvSpPr>
          <p:nvPr>
            <p:ph idx="1"/>
          </p:nvPr>
        </p:nvSpPr>
        <p:spPr/>
        <p:txBody>
          <a:bodyPr vert="horz" wrap="square" lIns="91440" tIns="45720" rIns="91440" bIns="45720" anchor="t" anchorCtr="0"/>
          <a:p>
            <a:pPr eaLnBrk="1" hangingPunct="1">
              <a:buNone/>
            </a:pPr>
            <a:r>
              <a:rPr lang="en-US" altLang="zh-CN" dirty="0"/>
              <a:t>1) </a:t>
            </a:r>
            <a:r>
              <a:rPr lang="zh-CN" altLang="en-US" dirty="0"/>
              <a:t>关系代数</a:t>
            </a:r>
            <a:endParaRPr lang="zh-CN" altLang="en-US" dirty="0"/>
          </a:p>
          <a:p>
            <a:pPr lvl="1" eaLnBrk="1" hangingPunct="1"/>
            <a:r>
              <a:rPr lang="zh-CN" altLang="en-US" dirty="0"/>
              <a:t>关系代数是对关系进行的集合代数运算</a:t>
            </a:r>
            <a:endParaRPr lang="zh-CN" altLang="en-US" dirty="0"/>
          </a:p>
          <a:p>
            <a:pPr lvl="1" eaLnBrk="1" hangingPunct="1"/>
            <a:r>
              <a:rPr lang="zh-CN" altLang="en-US" dirty="0"/>
              <a:t>是一种抽象的关系查询语言，用关系的运算来表达查询</a:t>
            </a:r>
            <a:endParaRPr lang="zh-CN" altLang="en-US" dirty="0"/>
          </a:p>
          <a:p>
            <a:pPr eaLnBrk="1" hangingPunct="1">
              <a:spcBef>
                <a:spcPct val="50000"/>
              </a:spcBef>
              <a:buNone/>
            </a:pPr>
            <a:r>
              <a:rPr lang="en-US" altLang="zh-CN" dirty="0"/>
              <a:t>2</a:t>
            </a:r>
            <a:r>
              <a:rPr lang="en-US" altLang="zh-CN" dirty="0">
                <a:sym typeface="+mn-ea"/>
              </a:rPr>
              <a:t>) </a:t>
            </a:r>
            <a:r>
              <a:rPr lang="zh-CN" altLang="en-US" dirty="0"/>
              <a:t>关系代数运算的三要素</a:t>
            </a:r>
            <a:endParaRPr lang="zh-CN" altLang="en-US" dirty="0"/>
          </a:p>
          <a:p>
            <a:pPr lvl="1" eaLnBrk="1" hangingPunct="1"/>
            <a:r>
              <a:rPr lang="zh-CN" altLang="en-US" dirty="0"/>
              <a:t>运算对象：关系</a:t>
            </a:r>
            <a:endParaRPr lang="zh-CN" altLang="en-US" dirty="0"/>
          </a:p>
          <a:p>
            <a:pPr lvl="1" eaLnBrk="1" hangingPunct="1"/>
            <a:r>
              <a:rPr lang="zh-CN" altLang="en-US" dirty="0"/>
              <a:t>运算结果：关系</a:t>
            </a:r>
            <a:endParaRPr lang="zh-CN" altLang="en-US" dirty="0"/>
          </a:p>
          <a:p>
            <a:pPr lvl="1" eaLnBrk="1" hangingPunct="1"/>
            <a:r>
              <a:rPr lang="zh-CN" altLang="en-US" dirty="0"/>
              <a:t>运算符：四类</a:t>
            </a:r>
            <a:endParaRPr lang="zh-CN" altLang="en-US" dirty="0"/>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0">
                                            <p:txEl>
                                              <p:charRg st="50" end="6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50">
                                            <p:txEl>
                                              <p:charRg st="63" end="7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50">
                                            <p:txEl>
                                              <p:charRg st="71" end="7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50">
                                            <p:txEl>
                                              <p:charRg st="79" end="8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关系代数的四类运算符</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endParaRPr>
          </a:p>
        </p:txBody>
      </p:sp>
      <p:graphicFrame>
        <p:nvGraphicFramePr>
          <p:cNvPr id="107662" name="Group 142"/>
          <p:cNvGraphicFramePr>
            <a:graphicFrameLocks noGrp="1"/>
          </p:cNvGraphicFramePr>
          <p:nvPr>
            <p:ph idx="1"/>
          </p:nvPr>
        </p:nvGraphicFramePr>
        <p:xfrm>
          <a:off x="152400" y="1016000"/>
          <a:ext cx="8848725" cy="5160963"/>
        </p:xfrm>
        <a:graphic>
          <a:graphicData uri="http://schemas.openxmlformats.org/drawingml/2006/table">
            <a:tbl>
              <a:tblPr/>
              <a:tblGrid>
                <a:gridCol w="1474788"/>
                <a:gridCol w="784225"/>
                <a:gridCol w="2165350"/>
                <a:gridCol w="1474787"/>
                <a:gridCol w="896938"/>
                <a:gridCol w="2052637"/>
              </a:tblGrid>
              <a:tr h="684129">
                <a:tc gridSpan="2">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运算符</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CCFF"/>
                    </a:solidFill>
                  </a:tcPr>
                </a:tc>
                <a:tc hMerge="1">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含义</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CCFF"/>
                    </a:solidFill>
                  </a:tcPr>
                </a:tc>
                <a:tc gridSpan="2">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运算符</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CCFF"/>
                    </a:solidFill>
                  </a:tcPr>
                </a:tc>
                <a:tc hMerge="1">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含义</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CCFF"/>
                    </a:solidFill>
                  </a:tcPr>
                </a:tc>
              </a:tr>
              <a:tr h="1825400">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传统的集合</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运算符</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rPr>
                        <a:t>∪</a:t>
                      </a:r>
                      <a:endParaRPr kumimoji="0" lang="en-US" altLang="zh-CN"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rPr>
                        <a:t>－ </a:t>
                      </a:r>
                      <a:endParaRPr kumimoji="0" lang="zh-CN" altLang="en-US"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r>
                        <a:rPr kumimoji="0" lang="zh-CN" altLang="en-US"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rPr>
                        <a:t> </a:t>
                      </a:r>
                      <a:endParaRPr kumimoji="0" lang="zh-CN" altLang="en-US"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rPr>
                        <a:t>×</a:t>
                      </a:r>
                      <a:endParaRPr kumimoji="0" lang="en-US" altLang="zh-CN" sz="2800" b="0" i="0" u="none" strike="noStrike" cap="none" normalizeH="0" baseline="0" smtClean="0">
                        <a:ln>
                          <a:noFill/>
                        </a:ln>
                        <a:solidFill>
                          <a:srgbClr val="000000"/>
                        </a:solidFill>
                        <a:effectLst/>
                        <a:latin typeface="华文中宋" panose="02010600040101010101" pitchFamily="2" charset="-122"/>
                        <a:ea typeface="华文中宋" panose="0201060004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并</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差</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交</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广义笛卡尔积</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逻辑</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运算符</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a:t>
                      </a:r>
                      <a:endPar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a:t>
                      </a:r>
                      <a:endPar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黑体" panose="02010609060101010101" pitchFamily="2" charset="-122"/>
                          <a:ea typeface="黑体" panose="02010609060101010101" pitchFamily="2" charset="-122"/>
                        </a:rPr>
                        <a:t>┐</a:t>
                      </a:r>
                      <a:endParaRPr kumimoji="0" lang="en-US" altLang="zh-CN" sz="2800" b="1" i="0" u="none" strike="noStrike" cap="none" normalizeH="0" baseline="0" smtClean="0">
                        <a:ln>
                          <a:noFill/>
                        </a:ln>
                        <a:solidFill>
                          <a:srgbClr val="000000"/>
                        </a:solidFill>
                        <a:effectLst/>
                        <a:latin typeface="黑体" panose="02010609060101010101" pitchFamily="2" charset="-122"/>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与</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或</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非</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r>
              <a:tr h="2651434">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专门的</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关系</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运算符</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a:t>
                      </a:r>
                      <a:endParaRPr kumimoji="0" lang="en-US" altLang="zh-CN" sz="2800" b="1" i="0" u="none" strike="noStrike" cap="none" normalizeH="0" baseline="0" smtClean="0">
                        <a:ln>
                          <a:noFill/>
                        </a:ln>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sym typeface="Symbol" panose="05050102010706020507" pitchFamily="18" charset="2"/>
                        </a:rPr>
                        <a:t></a:t>
                      </a:r>
                      <a:endPar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sym typeface="Symbol" panose="05050102010706020507" pitchFamily="18" charset="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endPar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sym typeface="Symbol" panose="05050102010706020507" pitchFamily="18" charset="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宋体" panose="02010600030101010101" pitchFamily="2" charset="-122"/>
                          <a:ea typeface="黑体" panose="02010609060101010101" pitchFamily="2" charset="-122"/>
                        </a:rPr>
                        <a:t>÷</a:t>
                      </a:r>
                      <a:endParaRPr kumimoji="0" lang="en-US" altLang="zh-CN" sz="2800" b="1" i="0" u="none" strike="noStrike" cap="none" normalizeH="0" baseline="0" smtClean="0">
                        <a:ln>
                          <a:noFill/>
                        </a:ln>
                        <a:solidFill>
                          <a:srgbClr val="000000"/>
                        </a:solidFill>
                        <a:effectLst/>
                        <a:latin typeface="宋体" panose="02010600030101010101" pitchFamily="2" charset="-122"/>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选择</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投影</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连接</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除</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比较</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rPr>
                        <a:t>运算符</a:t>
                      </a:r>
                      <a:endParaRPr kumimoji="0" lang="zh-CN" altLang="en-US" sz="2800" b="1" i="0" u="none" strike="noStrike" cap="none" normalizeH="0" baseline="0" smtClean="0">
                        <a:ln>
                          <a:noFill/>
                        </a:ln>
                        <a:solidFill>
                          <a:srgbClr val="0000CC"/>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&gt;=</a:t>
                      </a:r>
                      <a:endPar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&lt;=</a:t>
                      </a:r>
                      <a:endPar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&lt; &gt;</a:t>
                      </a:r>
                      <a:endPar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大于</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大于等于</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小于</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小于等于</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等于</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不等于</a:t>
                      </a:r>
                      <a:endParaRPr kumimoji="0"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T="45714" marB="45714"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r>
            </a:tbl>
          </a:graphicData>
        </a:graphic>
      </p:graphicFrame>
      <p:grpSp>
        <p:nvGrpSpPr>
          <p:cNvPr id="29727" name="Group 117"/>
          <p:cNvGrpSpPr/>
          <p:nvPr/>
        </p:nvGrpSpPr>
        <p:grpSpPr>
          <a:xfrm>
            <a:off x="1889125" y="4941888"/>
            <a:ext cx="287338" cy="285750"/>
            <a:chOff x="4320" y="2256"/>
            <a:chExt cx="240" cy="144"/>
          </a:xfrm>
        </p:grpSpPr>
        <p:sp>
          <p:nvSpPr>
            <p:cNvPr id="29732" name="Line 118"/>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29733" name="Line 119"/>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29734" name="Line 120"/>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29735" name="Line 121"/>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sp>
        <p:nvSpPr>
          <p:cNvPr id="107649" name="AutoShape 129"/>
          <p:cNvSpPr/>
          <p:nvPr/>
        </p:nvSpPr>
        <p:spPr>
          <a:xfrm>
            <a:off x="3563938" y="115888"/>
            <a:ext cx="5184775" cy="1296987"/>
          </a:xfrm>
          <a:prstGeom prst="wedgeRectCallout">
            <a:avLst>
              <a:gd name="adj1" fmla="val -89713"/>
              <a:gd name="adj2" fmla="val 102019"/>
            </a:avLst>
          </a:prstGeom>
          <a:solidFill>
            <a:srgbClr val="FFFF99"/>
          </a:solidFill>
          <a:ln w="28575" cap="flat" cmpd="sng">
            <a:solidFill>
              <a:srgbClr val="008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None/>
            </a:pPr>
            <a:r>
              <a:rPr lang="en-US" altLang="zh-CN" dirty="0"/>
              <a:t>    </a:t>
            </a:r>
            <a:r>
              <a:rPr lang="zh-CN" altLang="en-US" sz="3200" dirty="0"/>
              <a:t>运算是从关系的“水平”方向即行的角度来进行</a:t>
            </a:r>
            <a:endParaRPr lang="zh-CN" altLang="en-US" sz="3200" dirty="0"/>
          </a:p>
        </p:txBody>
      </p:sp>
      <p:sp>
        <p:nvSpPr>
          <p:cNvPr id="107650" name="AutoShape 130"/>
          <p:cNvSpPr/>
          <p:nvPr/>
        </p:nvSpPr>
        <p:spPr>
          <a:xfrm>
            <a:off x="3563938" y="2997200"/>
            <a:ext cx="5472112" cy="719138"/>
          </a:xfrm>
          <a:prstGeom prst="wedgeRectCallout">
            <a:avLst>
              <a:gd name="adj1" fmla="val -87625"/>
              <a:gd name="adj2" fmla="val 144042"/>
            </a:avLst>
          </a:prstGeom>
          <a:solidFill>
            <a:srgbClr val="FFFF99"/>
          </a:solidFill>
          <a:ln w="28575" cap="flat" cmpd="sng">
            <a:solidFill>
              <a:srgbClr val="008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None/>
            </a:pPr>
            <a:r>
              <a:rPr lang="en-US" altLang="zh-CN" sz="3200" dirty="0"/>
              <a:t>   </a:t>
            </a:r>
            <a:r>
              <a:rPr lang="zh-CN" altLang="en-US" sz="3200" dirty="0"/>
              <a:t>运算不仅涉及行而且涉及列</a:t>
            </a:r>
            <a:endParaRPr lang="zh-CN" altLang="en-US" sz="3200" dirty="0"/>
          </a:p>
        </p:txBody>
      </p:sp>
      <p:sp>
        <p:nvSpPr>
          <p:cNvPr id="107651" name="AutoShape 131"/>
          <p:cNvSpPr/>
          <p:nvPr/>
        </p:nvSpPr>
        <p:spPr>
          <a:xfrm>
            <a:off x="323850" y="3213100"/>
            <a:ext cx="3095625" cy="1295400"/>
          </a:xfrm>
          <a:prstGeom prst="wedgeRectCallout">
            <a:avLst>
              <a:gd name="adj1" fmla="val 91181"/>
              <a:gd name="adj2" fmla="val 121690"/>
            </a:avLst>
          </a:prstGeom>
          <a:solidFill>
            <a:srgbClr val="FFFF99"/>
          </a:solidFill>
          <a:ln w="28575" cap="flat" cmpd="sng">
            <a:solidFill>
              <a:srgbClr val="008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None/>
            </a:pPr>
            <a:r>
              <a:rPr lang="zh-CN" altLang="en-US" sz="3200" dirty="0"/>
              <a:t>辅助专门的关系运算符进行操作</a:t>
            </a:r>
            <a:endParaRPr lang="zh-CN" altLang="en-US" sz="3200" dirty="0"/>
          </a:p>
        </p:txBody>
      </p:sp>
      <p:sp>
        <p:nvSpPr>
          <p:cNvPr id="107652" name="AutoShape 132"/>
          <p:cNvSpPr/>
          <p:nvPr/>
        </p:nvSpPr>
        <p:spPr>
          <a:xfrm>
            <a:off x="323850" y="3213100"/>
            <a:ext cx="3095625" cy="1295400"/>
          </a:xfrm>
          <a:prstGeom prst="wedgeRectCallout">
            <a:avLst>
              <a:gd name="adj1" fmla="val 91537"/>
              <a:gd name="adj2" fmla="val -94241"/>
            </a:avLst>
          </a:prstGeom>
          <a:solidFill>
            <a:srgbClr val="FFFF99"/>
          </a:solidFill>
          <a:ln w="28575" cap="flat" cmpd="sng">
            <a:solidFill>
              <a:srgbClr val="008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None/>
            </a:pPr>
            <a:r>
              <a:rPr lang="zh-CN" altLang="en-US" sz="3200" dirty="0"/>
              <a:t>辅助专门的关系运算符进行操作</a:t>
            </a:r>
            <a:endParaRPr lang="zh-CN" altLang="en-US" sz="3200" dirty="0"/>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649"/>
                                        </p:tgtEl>
                                        <p:attrNameLst>
                                          <p:attrName>style.visibility</p:attrName>
                                        </p:attrNameLst>
                                      </p:cBhvr>
                                      <p:to>
                                        <p:strVal val="visible"/>
                                      </p:to>
                                    </p:set>
                                    <p:animEffect transition="in" filter="wipe(left)">
                                      <p:cBhvr>
                                        <p:cTn id="7" dur="500"/>
                                        <p:tgtEl>
                                          <p:spTgt spid="107649"/>
                                        </p:tgtEl>
                                      </p:cBhvr>
                                    </p:animEffect>
                                  </p:childTnLst>
                                  <p:subTnLst>
                                    <p:set>
                                      <p:cBhvr override="childStyle">
                                        <p:cTn dur="1" fill="hold" display="0" masterRel="nextClick" afterEffect="1"/>
                                        <p:tgtEl>
                                          <p:spTgt spid="10764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7650"/>
                                        </p:tgtEl>
                                        <p:attrNameLst>
                                          <p:attrName>style.visibility</p:attrName>
                                        </p:attrNameLst>
                                      </p:cBhvr>
                                      <p:to>
                                        <p:strVal val="visible"/>
                                      </p:to>
                                    </p:set>
                                    <p:animEffect transition="in" filter="wipe(left)">
                                      <p:cBhvr>
                                        <p:cTn id="12" dur="500"/>
                                        <p:tgtEl>
                                          <p:spTgt spid="107650"/>
                                        </p:tgtEl>
                                      </p:cBhvr>
                                    </p:animEffect>
                                  </p:childTnLst>
                                  <p:subTnLst>
                                    <p:set>
                                      <p:cBhvr override="childStyle">
                                        <p:cTn dur="1" fill="hold" display="0" masterRel="nextClick" afterEffect="1"/>
                                        <p:tgtEl>
                                          <p:spTgt spid="10765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07651"/>
                                        </p:tgtEl>
                                        <p:attrNameLst>
                                          <p:attrName>style.visibility</p:attrName>
                                        </p:attrNameLst>
                                      </p:cBhvr>
                                      <p:to>
                                        <p:strVal val="visible"/>
                                      </p:to>
                                    </p:set>
                                    <p:animEffect transition="in" filter="wipe(right)">
                                      <p:cBhvr>
                                        <p:cTn id="17" dur="500"/>
                                        <p:tgtEl>
                                          <p:spTgt spid="107651"/>
                                        </p:tgtEl>
                                      </p:cBhvr>
                                    </p:animEffect>
                                  </p:childTnLst>
                                </p:cTn>
                              </p:par>
                              <p:par>
                                <p:cTn id="18" presetID="22" presetClass="entr" presetSubtype="2" fill="hold" nodeType="withEffect">
                                  <p:stCondLst>
                                    <p:cond delay="0"/>
                                  </p:stCondLst>
                                  <p:childTnLst>
                                    <p:set>
                                      <p:cBhvr>
                                        <p:cTn id="19" dur="1" fill="hold">
                                          <p:stCondLst>
                                            <p:cond delay="0"/>
                                          </p:stCondLst>
                                        </p:cTn>
                                        <p:tgtEl>
                                          <p:spTgt spid="107652"/>
                                        </p:tgtEl>
                                        <p:attrNameLst>
                                          <p:attrName>style.visibility</p:attrName>
                                        </p:attrNameLst>
                                      </p:cBhvr>
                                      <p:to>
                                        <p:strVal val="visible"/>
                                      </p:to>
                                    </p:set>
                                    <p:animEffect transition="in" filter="wipe(right)">
                                      <p:cBhvr>
                                        <p:cTn id="20" dur="500"/>
                                        <p:tgtEl>
                                          <p:spTgt spid="10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5" name="Rectangle 5"/>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概述</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0723" name="Rectangle 6"/>
          <p:cNvSpPr>
            <a:spLocks noGrp="1"/>
          </p:cNvSpPr>
          <p:nvPr>
            <p:ph idx="1"/>
          </p:nvPr>
        </p:nvSpPr>
        <p:spPr>
          <a:xfrm>
            <a:off x="285750" y="1000125"/>
            <a:ext cx="8569325" cy="5492750"/>
          </a:xfrm>
        </p:spPr>
        <p:txBody>
          <a:bodyPr vert="horz" wrap="square" lIns="91440" tIns="45720" rIns="91440" bIns="45720" anchor="t" anchorCtr="0"/>
          <a:p>
            <a:pPr marL="0" indent="0" eaLnBrk="1" hangingPunct="1">
              <a:buNone/>
            </a:pPr>
            <a:r>
              <a:rPr lang="en-US" altLang="zh-CN" dirty="0"/>
              <a:t>3</a:t>
            </a:r>
            <a:r>
              <a:rPr lang="en-US" altLang="zh-CN" dirty="0">
                <a:sym typeface="+mn-ea"/>
              </a:rPr>
              <a:t>) </a:t>
            </a:r>
            <a:r>
              <a:rPr lang="zh-CN" altLang="en-US" dirty="0"/>
              <a:t>关系代数运算的分类</a:t>
            </a:r>
            <a:endParaRPr lang="zh-CN" altLang="en-US" dirty="0"/>
          </a:p>
          <a:p>
            <a:pPr marL="538480" lvl="1" eaLnBrk="1" hangingPunct="1"/>
            <a:r>
              <a:rPr lang="zh-CN" altLang="en-US" dirty="0"/>
              <a:t>传统的集合运算</a:t>
            </a:r>
            <a:r>
              <a:rPr lang="zh-CN" altLang="en-US" sz="2800" dirty="0"/>
              <a:t>：并、差、交、</a:t>
            </a:r>
            <a:r>
              <a:rPr lang="en-US" altLang="zh-CN" sz="2800" dirty="0"/>
              <a:t> </a:t>
            </a:r>
            <a:r>
              <a:rPr lang="zh-CN" altLang="en-US" sz="2800" dirty="0"/>
              <a:t>广义笛卡尔积</a:t>
            </a:r>
            <a:endParaRPr lang="zh-CN" altLang="en-US" sz="2800" dirty="0"/>
          </a:p>
          <a:p>
            <a:pPr marL="538480" lvl="1" eaLnBrk="1" hangingPunct="1"/>
            <a:r>
              <a:rPr lang="zh-CN" altLang="en-US" dirty="0"/>
              <a:t>专门的关系运算</a:t>
            </a:r>
            <a:r>
              <a:rPr lang="zh-CN" altLang="en-US" sz="2800" dirty="0"/>
              <a:t>：选择、投影、连接、除</a:t>
            </a:r>
            <a:endParaRPr lang="zh-CN" altLang="en-US" sz="2800" dirty="0"/>
          </a:p>
          <a:p>
            <a:pPr marL="538480" lvl="1" eaLnBrk="1" hangingPunct="1"/>
            <a:endParaRPr lang="zh-CN" altLang="en-US" sz="1400" dirty="0"/>
          </a:p>
          <a:p>
            <a:pPr marL="0" indent="0" eaLnBrk="1" hangingPunct="1">
              <a:buNone/>
            </a:pPr>
            <a:r>
              <a:rPr lang="en-US" altLang="zh-CN" dirty="0"/>
              <a:t>4</a:t>
            </a:r>
            <a:r>
              <a:rPr lang="en-US" altLang="zh-CN" dirty="0">
                <a:sym typeface="+mn-ea"/>
              </a:rPr>
              <a:t>) </a:t>
            </a:r>
            <a:r>
              <a:rPr lang="zh-CN" altLang="en-US" dirty="0"/>
              <a:t>表示记号</a:t>
            </a:r>
            <a:r>
              <a:rPr lang="zh-CN" altLang="en-US" sz="3200" dirty="0"/>
              <a:t> </a:t>
            </a:r>
            <a:endParaRPr lang="zh-CN" altLang="en-US" sz="3200" dirty="0"/>
          </a:p>
          <a:p>
            <a:pPr marL="0" indent="0" eaLnBrk="1" hangingPunct="1">
              <a:buNone/>
            </a:pPr>
            <a:r>
              <a:rPr lang="en-US" altLang="zh-CN" sz="3200" dirty="0">
                <a:latin typeface="Arial" panose="020B0604020202020204" pitchFamily="34" charset="0"/>
              </a:rPr>
              <a:t>(1)  </a:t>
            </a:r>
            <a:r>
              <a:rPr lang="en-US" altLang="zh-CN" sz="3200" dirty="0">
                <a:solidFill>
                  <a:srgbClr val="0000CC"/>
                </a:solidFill>
                <a:latin typeface="Arial" panose="020B0604020202020204" pitchFamily="34" charset="0"/>
              </a:rPr>
              <a:t>R</a:t>
            </a:r>
            <a:r>
              <a:rPr lang="zh-CN" altLang="en-US" sz="3200" dirty="0">
                <a:solidFill>
                  <a:srgbClr val="0000CC"/>
                </a:solidFill>
                <a:latin typeface="Arial" panose="020B0604020202020204" pitchFamily="34" charset="0"/>
              </a:rPr>
              <a:t>，</a:t>
            </a:r>
            <a:r>
              <a:rPr lang="en-US" altLang="zh-CN" sz="3200" dirty="0">
                <a:solidFill>
                  <a:srgbClr val="0000CC"/>
                </a:solidFill>
                <a:latin typeface="Arial" panose="020B0604020202020204" pitchFamily="34" charset="0"/>
              </a:rPr>
              <a:t>t</a:t>
            </a:r>
            <a:r>
              <a:rPr lang="en-US" altLang="zh-CN" sz="3200" dirty="0">
                <a:solidFill>
                  <a:srgbClr val="0000CC"/>
                </a:solidFill>
                <a:latin typeface="Arial" panose="020B0604020202020204" pitchFamily="34" charset="0"/>
                <a:sym typeface="Symbol" panose="05050102010706020507" pitchFamily="18" charset="2"/>
              </a:rPr>
              <a:t></a:t>
            </a:r>
            <a:r>
              <a:rPr lang="en-US" altLang="zh-CN" sz="3200" dirty="0">
                <a:solidFill>
                  <a:srgbClr val="0000CC"/>
                </a:solidFill>
                <a:latin typeface="Arial" panose="020B0604020202020204" pitchFamily="34" charset="0"/>
              </a:rPr>
              <a:t>R</a:t>
            </a:r>
            <a:r>
              <a:rPr lang="zh-CN" altLang="en-US" sz="3200" dirty="0">
                <a:solidFill>
                  <a:srgbClr val="0000CC"/>
                </a:solidFill>
                <a:latin typeface="Arial" panose="020B0604020202020204" pitchFamily="34" charset="0"/>
              </a:rPr>
              <a:t>，</a:t>
            </a:r>
            <a:r>
              <a:rPr lang="en-US" altLang="zh-CN" sz="3200" dirty="0">
                <a:solidFill>
                  <a:srgbClr val="0000CC"/>
                </a:solidFill>
                <a:latin typeface="Arial" panose="020B0604020202020204" pitchFamily="34" charset="0"/>
              </a:rPr>
              <a:t>t[Ai]</a:t>
            </a:r>
            <a:endParaRPr lang="en-US" altLang="zh-CN" sz="3200" dirty="0">
              <a:solidFill>
                <a:srgbClr val="0000CC"/>
              </a:solidFill>
              <a:latin typeface="Arial" panose="020B0604020202020204" pitchFamily="34" charset="0"/>
            </a:endParaRPr>
          </a:p>
          <a:p>
            <a:pPr marL="538480" lvl="1" eaLnBrk="1" hangingPunct="1"/>
            <a:r>
              <a:rPr lang="zh-CN" altLang="en-US" sz="2800" dirty="0"/>
              <a:t>设关系模式为 </a:t>
            </a:r>
            <a:r>
              <a:rPr lang="en-US" altLang="zh-CN" sz="2800" dirty="0">
                <a:latin typeface="Arial" panose="020B0604020202020204" pitchFamily="34" charset="0"/>
              </a:rPr>
              <a:t>R(A1</a:t>
            </a:r>
            <a:r>
              <a:rPr lang="zh-CN" altLang="en-US" sz="2800" dirty="0">
                <a:latin typeface="Arial" panose="020B0604020202020204" pitchFamily="34" charset="0"/>
              </a:rPr>
              <a:t>，</a:t>
            </a:r>
            <a:r>
              <a:rPr lang="en-US" altLang="zh-CN" sz="2800" dirty="0">
                <a:latin typeface="Arial" panose="020B0604020202020204" pitchFamily="34" charset="0"/>
              </a:rPr>
              <a:t>A2</a:t>
            </a:r>
            <a:r>
              <a:rPr lang="zh-CN" altLang="en-US" sz="2800" dirty="0">
                <a:latin typeface="Arial" panose="020B0604020202020204" pitchFamily="34" charset="0"/>
              </a:rPr>
              <a:t>，</a:t>
            </a:r>
            <a:r>
              <a:rPr lang="en-US" altLang="zh-CN" sz="2800" dirty="0"/>
              <a:t>…</a:t>
            </a:r>
            <a:r>
              <a:rPr lang="zh-CN" altLang="en-US" sz="2800" dirty="0">
                <a:latin typeface="Arial" panose="020B0604020202020204" pitchFamily="34" charset="0"/>
              </a:rPr>
              <a:t>，</a:t>
            </a:r>
            <a:r>
              <a:rPr lang="en-US" altLang="zh-CN" sz="2800" dirty="0">
                <a:latin typeface="Arial" panose="020B0604020202020204" pitchFamily="34" charset="0"/>
              </a:rPr>
              <a:t>An)</a:t>
            </a:r>
            <a:endParaRPr lang="en-US" altLang="zh-CN" sz="2800" dirty="0">
              <a:latin typeface="Arial" panose="020B0604020202020204" pitchFamily="34" charset="0"/>
            </a:endParaRPr>
          </a:p>
          <a:p>
            <a:pPr marL="538480" lvl="1" eaLnBrk="1" hangingPunct="1"/>
            <a:r>
              <a:rPr lang="zh-CN" altLang="en-US" sz="2800" dirty="0"/>
              <a:t>它的一个关系设为</a:t>
            </a:r>
            <a:r>
              <a:rPr lang="en-US" altLang="zh-CN" sz="2800" dirty="0">
                <a:latin typeface="Arial" panose="020B0604020202020204" pitchFamily="34" charset="0"/>
              </a:rPr>
              <a:t>R</a:t>
            </a:r>
            <a:r>
              <a:rPr lang="zh-CN" altLang="en-US" sz="2800" dirty="0">
                <a:latin typeface="Arial" panose="020B0604020202020204" pitchFamily="34" charset="0"/>
              </a:rPr>
              <a:t>。</a:t>
            </a:r>
            <a:r>
              <a:rPr lang="en-US" altLang="zh-CN" sz="2800" dirty="0">
                <a:latin typeface="Arial" panose="020B0604020202020204" pitchFamily="34" charset="0"/>
              </a:rPr>
              <a:t>t</a:t>
            </a:r>
            <a:r>
              <a:rPr lang="en-US" altLang="zh-CN" sz="2800" dirty="0">
                <a:latin typeface="Arial" panose="020B0604020202020204" pitchFamily="34" charset="0"/>
                <a:sym typeface="Symbol" panose="05050102010706020507" pitchFamily="18" charset="2"/>
              </a:rPr>
              <a:t></a:t>
            </a:r>
            <a:r>
              <a:rPr lang="en-US" altLang="zh-CN" sz="2800" dirty="0">
                <a:latin typeface="Arial" panose="020B0604020202020204" pitchFamily="34" charset="0"/>
              </a:rPr>
              <a:t>R</a:t>
            </a:r>
            <a:r>
              <a:rPr lang="en-US" altLang="zh-CN" sz="2800" dirty="0"/>
              <a:t> </a:t>
            </a:r>
            <a:r>
              <a:rPr lang="zh-CN" altLang="en-US" sz="2800" dirty="0"/>
              <a:t>表示 </a:t>
            </a:r>
            <a:r>
              <a:rPr lang="en-US" altLang="zh-CN" sz="2800" dirty="0">
                <a:latin typeface="Arial" panose="020B0604020202020204" pitchFamily="34" charset="0"/>
              </a:rPr>
              <a:t>t </a:t>
            </a:r>
            <a:r>
              <a:rPr lang="zh-CN" altLang="en-US" sz="2800" dirty="0"/>
              <a:t>是 </a:t>
            </a:r>
            <a:r>
              <a:rPr lang="en-US" altLang="zh-CN" sz="2800" dirty="0">
                <a:latin typeface="Arial" panose="020B0604020202020204" pitchFamily="34" charset="0"/>
              </a:rPr>
              <a:t>R</a:t>
            </a:r>
            <a:r>
              <a:rPr lang="en-US" altLang="zh-CN" sz="2800" dirty="0"/>
              <a:t> </a:t>
            </a:r>
            <a:r>
              <a:rPr lang="zh-CN" altLang="en-US" sz="2800" dirty="0"/>
              <a:t>的一个元组</a:t>
            </a:r>
            <a:endParaRPr lang="zh-CN" altLang="en-US" sz="2800" dirty="0"/>
          </a:p>
          <a:p>
            <a:pPr marL="538480" lvl="1" eaLnBrk="1" hangingPunct="1"/>
            <a:r>
              <a:rPr lang="en-US" altLang="zh-CN" sz="2800" dirty="0">
                <a:latin typeface="Arial" panose="020B0604020202020204" pitchFamily="34" charset="0"/>
              </a:rPr>
              <a:t>t[Ai]</a:t>
            </a:r>
            <a:r>
              <a:rPr lang="en-US" altLang="zh-CN" sz="2800" dirty="0"/>
              <a:t> </a:t>
            </a:r>
            <a:r>
              <a:rPr lang="zh-CN" altLang="en-US" sz="2800" dirty="0"/>
              <a:t>则表示元组 </a:t>
            </a:r>
            <a:r>
              <a:rPr lang="en-US" altLang="zh-CN" sz="2800" dirty="0">
                <a:latin typeface="Arial" panose="020B0604020202020204" pitchFamily="34" charset="0"/>
              </a:rPr>
              <a:t>t </a:t>
            </a:r>
            <a:r>
              <a:rPr lang="zh-CN" altLang="en-US" sz="2800" dirty="0"/>
              <a:t>中相应于属性 </a:t>
            </a:r>
            <a:r>
              <a:rPr lang="en-US" altLang="zh-CN" sz="2800" dirty="0">
                <a:latin typeface="Arial" panose="020B0604020202020204" pitchFamily="34" charset="0"/>
              </a:rPr>
              <a:t>Ai </a:t>
            </a:r>
            <a:r>
              <a:rPr lang="zh-CN" altLang="en-US" sz="2800" dirty="0"/>
              <a:t>的一个分量</a:t>
            </a:r>
            <a:endParaRPr lang="zh-CN" altLang="en-US" sz="2800" dirty="0"/>
          </a:p>
        </p:txBody>
      </p:sp>
    </p:spTree>
  </p:cSld>
  <p:clrMapOvr>
    <a:masterClrMapping/>
  </p:clrMapOvr>
  <p:transition>
    <p:random/>
    <p:sndAc>
      <p:stSnd>
        <p:snd r:embed="rId1"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概述</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1747" name="Rectangle 3"/>
          <p:cNvSpPr>
            <a:spLocks noGrp="1"/>
          </p:cNvSpPr>
          <p:nvPr>
            <p:ph idx="1"/>
          </p:nvPr>
        </p:nvSpPr>
        <p:spPr>
          <a:xfrm>
            <a:off x="152400" y="1000125"/>
            <a:ext cx="8848725" cy="5668963"/>
          </a:xfrm>
        </p:spPr>
        <p:txBody>
          <a:bodyPr vert="horz" wrap="square" lIns="91440" tIns="45720" rIns="91440" bIns="45720" anchor="t" anchorCtr="0"/>
          <a:p>
            <a:pPr marL="0" indent="0" defTabSz="914400" eaLnBrk="1" hangingPunct="1">
              <a:lnSpc>
                <a:spcPct val="110000"/>
              </a:lnSpc>
              <a:buNone/>
              <a:tabLst>
                <a:tab pos="4399280" algn="l"/>
              </a:tabLst>
            </a:pPr>
            <a:r>
              <a:rPr lang="en-US" altLang="zh-CN" dirty="0">
                <a:latin typeface="Arial" panose="020B0604020202020204" pitchFamily="34" charset="0"/>
              </a:rPr>
              <a:t>4</a:t>
            </a:r>
            <a:r>
              <a:rPr lang="en-US" altLang="zh-CN" dirty="0">
                <a:sym typeface="+mn-ea"/>
              </a:rPr>
              <a:t>) </a:t>
            </a:r>
            <a:r>
              <a:rPr lang="zh-CN" altLang="en-US" dirty="0">
                <a:latin typeface="Arial" panose="020B0604020202020204" pitchFamily="34" charset="0"/>
              </a:rPr>
              <a:t>表示记号</a:t>
            </a:r>
            <a:r>
              <a:rPr lang="zh-CN" altLang="en-US" sz="3200" dirty="0">
                <a:latin typeface="Arial" panose="020B0604020202020204" pitchFamily="34" charset="0"/>
              </a:rPr>
              <a:t> </a:t>
            </a:r>
            <a:endParaRPr lang="zh-CN" altLang="en-US" sz="3200" dirty="0">
              <a:latin typeface="Arial" panose="020B0604020202020204" pitchFamily="34" charset="0"/>
            </a:endParaRPr>
          </a:p>
          <a:p>
            <a:pPr marL="0" indent="0" defTabSz="914400" eaLnBrk="1" hangingPunct="1">
              <a:lnSpc>
                <a:spcPct val="115000"/>
              </a:lnSpc>
              <a:buNone/>
              <a:tabLst>
                <a:tab pos="4399280" algn="l"/>
              </a:tabLst>
            </a:pPr>
            <a:r>
              <a:rPr lang="zh-CN" altLang="en-US" sz="3200" dirty="0"/>
              <a:t> </a:t>
            </a:r>
            <a:r>
              <a:rPr lang="en-US" altLang="zh-CN" sz="3200" dirty="0">
                <a:latin typeface="Arial" panose="020B0604020202020204" pitchFamily="34" charset="0"/>
              </a:rPr>
              <a:t>(2)  </a:t>
            </a:r>
            <a:r>
              <a:rPr lang="en-US" altLang="zh-CN" sz="3200" dirty="0">
                <a:solidFill>
                  <a:srgbClr val="0000CC"/>
                </a:solidFill>
                <a:latin typeface="Arial" panose="020B0604020202020204" pitchFamily="34" charset="0"/>
              </a:rPr>
              <a:t>A</a:t>
            </a:r>
            <a:r>
              <a:rPr lang="zh-CN" altLang="en-US" sz="3200" dirty="0">
                <a:solidFill>
                  <a:srgbClr val="0000CC"/>
                </a:solidFill>
                <a:latin typeface="Arial" panose="020B0604020202020204" pitchFamily="34" charset="0"/>
              </a:rPr>
              <a:t>，</a:t>
            </a:r>
            <a:r>
              <a:rPr lang="en-US" altLang="zh-CN" sz="3200" dirty="0">
                <a:solidFill>
                  <a:srgbClr val="0000CC"/>
                </a:solidFill>
                <a:latin typeface="Arial" panose="020B0604020202020204" pitchFamily="34" charset="0"/>
              </a:rPr>
              <a:t>t[A]</a:t>
            </a:r>
            <a:r>
              <a:rPr lang="zh-CN" altLang="en-US" sz="3200" dirty="0">
                <a:solidFill>
                  <a:srgbClr val="0000CC"/>
                </a:solidFill>
                <a:latin typeface="Arial" panose="020B0604020202020204" pitchFamily="34" charset="0"/>
              </a:rPr>
              <a:t>，</a:t>
            </a:r>
            <a:r>
              <a:rPr lang="en-US" altLang="zh-CN" sz="3200" dirty="0">
                <a:solidFill>
                  <a:srgbClr val="0000CC"/>
                </a:solidFill>
                <a:latin typeface="Arial" panose="020B0604020202020204" pitchFamily="34" charset="0"/>
              </a:rPr>
              <a:t>A</a:t>
            </a:r>
            <a:endParaRPr lang="en-US" altLang="zh-CN" sz="3200" dirty="0">
              <a:solidFill>
                <a:srgbClr val="0000CC"/>
              </a:solidFill>
              <a:latin typeface="Arial" panose="020B0604020202020204" pitchFamily="34" charset="0"/>
            </a:endParaRPr>
          </a:p>
          <a:p>
            <a:pPr marL="538480" lvl="1" indent="-357505" defTabSz="914400" eaLnBrk="1" hangingPunct="1">
              <a:lnSpc>
                <a:spcPct val="115000"/>
              </a:lnSpc>
              <a:spcBef>
                <a:spcPct val="0"/>
              </a:spcBef>
              <a:tabLst>
                <a:tab pos="4399280" algn="l"/>
              </a:tabLst>
            </a:pPr>
            <a:r>
              <a:rPr lang="zh-CN" altLang="en-US" dirty="0">
                <a:latin typeface="Arial" panose="020B0604020202020204" pitchFamily="34" charset="0"/>
              </a:rPr>
              <a:t>若 </a:t>
            </a:r>
            <a:r>
              <a:rPr lang="en-US" altLang="zh-CN" dirty="0">
                <a:solidFill>
                  <a:srgbClr val="FF0000"/>
                </a:solidFill>
                <a:latin typeface="Arial" panose="020B0604020202020204" pitchFamily="34" charset="0"/>
              </a:rPr>
              <a:t>A</a:t>
            </a:r>
            <a:r>
              <a:rPr lang="en-US" altLang="zh-CN" dirty="0">
                <a:latin typeface="Arial" panose="020B0604020202020204" pitchFamily="34" charset="0"/>
              </a:rPr>
              <a:t>={A</a:t>
            </a:r>
            <a:r>
              <a:rPr lang="en-US" altLang="zh-CN" baseline="-30000" dirty="0">
                <a:latin typeface="Arial" panose="020B0604020202020204" pitchFamily="34" charset="0"/>
              </a:rPr>
              <a:t>i1</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i2</a:t>
            </a:r>
            <a:r>
              <a:rPr lang="zh-CN" altLang="en-US" dirty="0">
                <a:latin typeface="Arial" panose="020B0604020202020204" pitchFamily="34" charset="0"/>
              </a:rPr>
              <a:t>，</a:t>
            </a:r>
            <a:r>
              <a:rPr lang="en-US" altLang="zh-CN" dirty="0"/>
              <a:t>…</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ik</a:t>
            </a:r>
            <a:r>
              <a:rPr lang="en-US" altLang="zh-CN" dirty="0">
                <a:latin typeface="Arial" panose="020B0604020202020204" pitchFamily="34" charset="0"/>
              </a:rPr>
              <a:t>}</a:t>
            </a:r>
            <a:r>
              <a:rPr lang="zh-CN" altLang="en-US" dirty="0">
                <a:latin typeface="Arial" panose="020B0604020202020204" pitchFamily="34" charset="0"/>
              </a:rPr>
              <a:t>，其中 </a:t>
            </a:r>
            <a:r>
              <a:rPr lang="en-US" altLang="zh-CN" dirty="0">
                <a:latin typeface="Arial" panose="020B0604020202020204" pitchFamily="34" charset="0"/>
              </a:rPr>
              <a:t>A</a:t>
            </a:r>
            <a:r>
              <a:rPr lang="en-US" altLang="zh-CN" baseline="-30000" dirty="0">
                <a:latin typeface="Arial" panose="020B0604020202020204" pitchFamily="34" charset="0"/>
              </a:rPr>
              <a:t>i1</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i2</a:t>
            </a:r>
            <a:r>
              <a:rPr lang="zh-CN" altLang="en-US" dirty="0">
                <a:latin typeface="Arial" panose="020B0604020202020204" pitchFamily="34" charset="0"/>
              </a:rPr>
              <a:t>，</a:t>
            </a:r>
            <a:r>
              <a:rPr lang="en-US" altLang="zh-CN" dirty="0"/>
              <a:t>…</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ik</a:t>
            </a:r>
            <a:r>
              <a:rPr lang="en-US" altLang="zh-CN" dirty="0">
                <a:latin typeface="Arial" panose="020B0604020202020204" pitchFamily="34" charset="0"/>
              </a:rPr>
              <a:t> </a:t>
            </a:r>
            <a:r>
              <a:rPr lang="zh-CN" altLang="en-US" dirty="0">
                <a:latin typeface="Arial" panose="020B0604020202020204" pitchFamily="34" charset="0"/>
              </a:rPr>
              <a:t>是 </a:t>
            </a:r>
            <a:r>
              <a:rPr lang="en-US" altLang="zh-CN" dirty="0">
                <a:latin typeface="Arial" panose="020B0604020202020204" pitchFamily="34" charset="0"/>
              </a:rPr>
              <a:t>A</a:t>
            </a:r>
            <a:r>
              <a:rPr lang="en-US" altLang="zh-CN" baseline="-30000"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2</a:t>
            </a:r>
            <a:r>
              <a:rPr lang="zh-CN" altLang="en-US" dirty="0">
                <a:latin typeface="Arial" panose="020B0604020202020204" pitchFamily="34" charset="0"/>
              </a:rPr>
              <a:t>，</a:t>
            </a:r>
            <a:r>
              <a:rPr lang="en-US" altLang="zh-CN" dirty="0"/>
              <a:t>…</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n</a:t>
            </a:r>
            <a:r>
              <a:rPr lang="en-US" altLang="zh-CN" dirty="0">
                <a:latin typeface="Arial" panose="020B0604020202020204" pitchFamily="34" charset="0"/>
              </a:rPr>
              <a:t> </a:t>
            </a:r>
            <a:r>
              <a:rPr lang="zh-CN" altLang="en-US" dirty="0">
                <a:latin typeface="Arial" panose="020B0604020202020204" pitchFamily="34" charset="0"/>
              </a:rPr>
              <a:t>中的一部分，则</a:t>
            </a:r>
            <a:r>
              <a:rPr lang="en-US" altLang="zh-CN" dirty="0">
                <a:latin typeface="Arial" panose="020B0604020202020204" pitchFamily="34" charset="0"/>
              </a:rPr>
              <a:t>A </a:t>
            </a:r>
            <a:r>
              <a:rPr lang="zh-CN" altLang="en-US" dirty="0">
                <a:latin typeface="Arial" panose="020B0604020202020204" pitchFamily="34" charset="0"/>
              </a:rPr>
              <a:t>称为属性列。</a:t>
            </a:r>
            <a:endParaRPr lang="zh-CN" altLang="en-US" dirty="0">
              <a:latin typeface="Arial" panose="020B0604020202020204" pitchFamily="34" charset="0"/>
            </a:endParaRPr>
          </a:p>
          <a:p>
            <a:pPr marL="538480" lvl="1" indent="-357505" defTabSz="914400" eaLnBrk="1" hangingPunct="1">
              <a:lnSpc>
                <a:spcPct val="115000"/>
              </a:lnSpc>
              <a:spcBef>
                <a:spcPct val="0"/>
              </a:spcBef>
              <a:tabLst>
                <a:tab pos="4399280" algn="l"/>
              </a:tabLst>
            </a:pPr>
            <a:r>
              <a:rPr lang="en-US" altLang="zh-CN" dirty="0">
                <a:solidFill>
                  <a:srgbClr val="FF0000"/>
                </a:solidFill>
                <a:latin typeface="Arial" panose="020B0604020202020204" pitchFamily="34" charset="0"/>
              </a:rPr>
              <a:t>t[A]</a:t>
            </a:r>
            <a:r>
              <a:rPr lang="en-US" altLang="zh-CN" dirty="0">
                <a:latin typeface="Arial" panose="020B0604020202020204" pitchFamily="34" charset="0"/>
              </a:rPr>
              <a:t>=(t[A</a:t>
            </a:r>
            <a:r>
              <a:rPr lang="en-US" altLang="zh-CN" baseline="-30000" dirty="0">
                <a:latin typeface="Arial" panose="020B0604020202020204" pitchFamily="34" charset="0"/>
              </a:rPr>
              <a:t>i1</a:t>
            </a:r>
            <a:r>
              <a:rPr lang="en-US" altLang="zh-CN" dirty="0">
                <a:latin typeface="Arial" panose="020B0604020202020204" pitchFamily="34" charset="0"/>
              </a:rPr>
              <a:t>]</a:t>
            </a:r>
            <a:r>
              <a:rPr lang="zh-CN" altLang="en-US" dirty="0">
                <a:latin typeface="Arial" panose="020B0604020202020204" pitchFamily="34" charset="0"/>
              </a:rPr>
              <a:t>，</a:t>
            </a:r>
            <a:r>
              <a:rPr lang="en-US" altLang="zh-CN" dirty="0">
                <a:latin typeface="Arial" panose="020B0604020202020204" pitchFamily="34" charset="0"/>
              </a:rPr>
              <a:t>t[A</a:t>
            </a:r>
            <a:r>
              <a:rPr lang="en-US" altLang="zh-CN" baseline="-30000" dirty="0">
                <a:latin typeface="Arial" panose="020B0604020202020204" pitchFamily="34" charset="0"/>
              </a:rPr>
              <a:t>i2</a:t>
            </a:r>
            <a:r>
              <a:rPr lang="en-US" altLang="zh-CN" dirty="0">
                <a:latin typeface="Arial" panose="020B0604020202020204" pitchFamily="34" charset="0"/>
              </a:rPr>
              <a:t>]</a:t>
            </a:r>
            <a:r>
              <a:rPr lang="zh-CN" altLang="en-US" dirty="0">
                <a:latin typeface="Arial" panose="020B0604020202020204" pitchFamily="34" charset="0"/>
              </a:rPr>
              <a:t>，</a:t>
            </a:r>
            <a:r>
              <a:rPr lang="en-US" altLang="zh-CN" dirty="0"/>
              <a:t>…</a:t>
            </a:r>
            <a:r>
              <a:rPr lang="zh-CN" altLang="en-US" dirty="0">
                <a:latin typeface="Arial" panose="020B0604020202020204" pitchFamily="34" charset="0"/>
              </a:rPr>
              <a:t>，</a:t>
            </a:r>
            <a:r>
              <a:rPr lang="en-US" altLang="zh-CN" dirty="0">
                <a:latin typeface="Arial" panose="020B0604020202020204" pitchFamily="34" charset="0"/>
              </a:rPr>
              <a:t>t[A</a:t>
            </a:r>
            <a:r>
              <a:rPr lang="en-US" altLang="zh-CN" baseline="-30000" dirty="0">
                <a:latin typeface="Arial" panose="020B0604020202020204" pitchFamily="34" charset="0"/>
              </a:rPr>
              <a:t>ik</a:t>
            </a:r>
            <a:r>
              <a:rPr lang="en-US" altLang="zh-CN" dirty="0">
                <a:latin typeface="Arial" panose="020B0604020202020204" pitchFamily="34" charset="0"/>
              </a:rPr>
              <a:t>]) </a:t>
            </a:r>
            <a:r>
              <a:rPr lang="zh-CN" altLang="en-US" dirty="0">
                <a:latin typeface="Arial" panose="020B0604020202020204" pitchFamily="34" charset="0"/>
              </a:rPr>
              <a:t>表示元组 </a:t>
            </a:r>
            <a:r>
              <a:rPr lang="en-US" altLang="zh-CN" dirty="0">
                <a:latin typeface="Arial" panose="020B0604020202020204" pitchFamily="34" charset="0"/>
              </a:rPr>
              <a:t>t</a:t>
            </a:r>
            <a:r>
              <a:rPr lang="zh-CN" altLang="en-US" dirty="0">
                <a:latin typeface="Arial" panose="020B0604020202020204" pitchFamily="34" charset="0"/>
              </a:rPr>
              <a:t>在属性列 </a:t>
            </a:r>
            <a:r>
              <a:rPr lang="en-US" altLang="zh-CN" dirty="0">
                <a:latin typeface="Arial" panose="020B0604020202020204" pitchFamily="34" charset="0"/>
              </a:rPr>
              <a:t>A </a:t>
            </a:r>
            <a:r>
              <a:rPr lang="zh-CN" altLang="en-US" dirty="0">
                <a:latin typeface="Arial" panose="020B0604020202020204" pitchFamily="34" charset="0"/>
              </a:rPr>
              <a:t>上诸分量的集合。</a:t>
            </a:r>
            <a:endParaRPr lang="zh-CN" altLang="en-US" dirty="0">
              <a:latin typeface="Arial" panose="020B0604020202020204" pitchFamily="34" charset="0"/>
            </a:endParaRPr>
          </a:p>
          <a:p>
            <a:pPr marL="538480" lvl="1" indent="-357505" defTabSz="914400" eaLnBrk="1" hangingPunct="1">
              <a:lnSpc>
                <a:spcPct val="115000"/>
              </a:lnSpc>
              <a:spcBef>
                <a:spcPct val="25000"/>
              </a:spcBef>
              <a:tabLst>
                <a:tab pos="4399280" algn="l"/>
              </a:tabLst>
            </a:pPr>
            <a:r>
              <a:rPr lang="en-US" altLang="zh-CN" dirty="0">
                <a:solidFill>
                  <a:srgbClr val="FF0000"/>
                </a:solidFill>
                <a:latin typeface="Arial" panose="020B0604020202020204" pitchFamily="34" charset="0"/>
              </a:rPr>
              <a:t>A </a:t>
            </a:r>
            <a:r>
              <a:rPr lang="zh-CN" altLang="en-US" dirty="0">
                <a:latin typeface="Arial" panose="020B0604020202020204" pitchFamily="34" charset="0"/>
              </a:rPr>
              <a:t>则表示 </a:t>
            </a:r>
            <a:r>
              <a:rPr lang="en-US" altLang="zh-CN" dirty="0">
                <a:latin typeface="Arial" panose="020B0604020202020204" pitchFamily="34" charset="0"/>
              </a:rPr>
              <a:t>{A</a:t>
            </a:r>
            <a:r>
              <a:rPr lang="en-US" altLang="zh-CN" baseline="-30000"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2</a:t>
            </a:r>
            <a:r>
              <a:rPr lang="zh-CN" altLang="en-US" dirty="0">
                <a:latin typeface="Arial" panose="020B0604020202020204" pitchFamily="34" charset="0"/>
              </a:rPr>
              <a:t>，</a:t>
            </a:r>
            <a:r>
              <a:rPr lang="en-US" altLang="zh-CN" dirty="0"/>
              <a:t>…</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n</a:t>
            </a:r>
            <a:r>
              <a:rPr lang="en-US" altLang="zh-CN" dirty="0">
                <a:latin typeface="Arial" panose="020B0604020202020204" pitchFamily="34" charset="0"/>
              </a:rPr>
              <a:t>} </a:t>
            </a:r>
            <a:r>
              <a:rPr lang="zh-CN" altLang="en-US" dirty="0">
                <a:latin typeface="Arial" panose="020B0604020202020204" pitchFamily="34" charset="0"/>
              </a:rPr>
              <a:t>中去掉 </a:t>
            </a:r>
            <a:r>
              <a:rPr lang="en-US" altLang="zh-CN" dirty="0">
                <a:latin typeface="Arial" panose="020B0604020202020204" pitchFamily="34" charset="0"/>
              </a:rPr>
              <a:t>{A</a:t>
            </a:r>
            <a:r>
              <a:rPr lang="en-US" altLang="zh-CN" baseline="-30000" dirty="0">
                <a:latin typeface="Arial" panose="020B0604020202020204" pitchFamily="34" charset="0"/>
              </a:rPr>
              <a:t>i1</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i2</a:t>
            </a:r>
            <a:r>
              <a:rPr lang="zh-CN" altLang="en-US" dirty="0">
                <a:latin typeface="Arial" panose="020B0604020202020204" pitchFamily="34" charset="0"/>
              </a:rPr>
              <a:t>，</a:t>
            </a:r>
            <a:r>
              <a:rPr lang="en-US" altLang="zh-CN" dirty="0"/>
              <a:t>…</a:t>
            </a:r>
            <a:r>
              <a:rPr lang="zh-CN" altLang="en-US" dirty="0">
                <a:latin typeface="Arial" panose="020B0604020202020204" pitchFamily="34" charset="0"/>
              </a:rPr>
              <a:t>，</a:t>
            </a:r>
            <a:r>
              <a:rPr lang="en-US" altLang="zh-CN" dirty="0">
                <a:latin typeface="Arial" panose="020B0604020202020204" pitchFamily="34" charset="0"/>
              </a:rPr>
              <a:t>A</a:t>
            </a:r>
            <a:r>
              <a:rPr lang="en-US" altLang="zh-CN" baseline="-30000" dirty="0">
                <a:latin typeface="Arial" panose="020B0604020202020204" pitchFamily="34" charset="0"/>
              </a:rPr>
              <a:t>ik</a:t>
            </a:r>
            <a:r>
              <a:rPr lang="en-US" altLang="zh-CN" dirty="0">
                <a:latin typeface="Arial" panose="020B0604020202020204" pitchFamily="34" charset="0"/>
              </a:rPr>
              <a:t>} </a:t>
            </a:r>
            <a:r>
              <a:rPr lang="zh-CN" altLang="en-US" dirty="0">
                <a:latin typeface="Arial" panose="020B0604020202020204" pitchFamily="34" charset="0"/>
              </a:rPr>
              <a:t>后剩余的属性组。 </a:t>
            </a:r>
            <a:endParaRPr lang="zh-CN" altLang="en-US" dirty="0">
              <a:latin typeface="Arial" panose="020B0604020202020204" pitchFamily="34" charset="0"/>
            </a:endParaRPr>
          </a:p>
        </p:txBody>
      </p:sp>
      <p:sp>
        <p:nvSpPr>
          <p:cNvPr id="31748" name="Line 4"/>
          <p:cNvSpPr/>
          <p:nvPr/>
        </p:nvSpPr>
        <p:spPr>
          <a:xfrm>
            <a:off x="2906713" y="1712913"/>
            <a:ext cx="287337" cy="0"/>
          </a:xfrm>
          <a:prstGeom prst="line">
            <a:avLst/>
          </a:prstGeom>
          <a:ln w="38100" cap="flat" cmpd="sng">
            <a:solidFill>
              <a:srgbClr val="0000FF"/>
            </a:solidFill>
            <a:prstDash val="solid"/>
            <a:headEnd type="none" w="med" len="med"/>
            <a:tailEnd type="none" w="med" len="med"/>
          </a:ln>
        </p:spPr>
      </p:sp>
      <p:sp>
        <p:nvSpPr>
          <p:cNvPr id="31749" name="Line 5"/>
          <p:cNvSpPr/>
          <p:nvPr/>
        </p:nvSpPr>
        <p:spPr>
          <a:xfrm>
            <a:off x="784225" y="5211763"/>
            <a:ext cx="287338" cy="0"/>
          </a:xfrm>
          <a:prstGeom prst="line">
            <a:avLst/>
          </a:prstGeom>
          <a:ln w="38100" cap="flat" cmpd="sng">
            <a:solidFill>
              <a:srgbClr val="FF0000"/>
            </a:solidFill>
            <a:prstDash val="solid"/>
            <a:headEnd type="none" w="med" len="med"/>
            <a:tailEnd type="none" w="med" len="med"/>
          </a:ln>
        </p:spPr>
      </p:sp>
    </p:spTree>
  </p:cSld>
  <p:clrMapOvr>
    <a:masterClrMapping/>
  </p:clrMapOvr>
  <p:transition>
    <p:random/>
    <p:sndAc>
      <p:stSnd>
        <p:snd r:embed="rId1" name="CAMERA.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概述</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2771" name="Rectangle 3"/>
          <p:cNvSpPr>
            <a:spLocks noGrp="1"/>
          </p:cNvSpPr>
          <p:nvPr>
            <p:ph idx="1"/>
          </p:nvPr>
        </p:nvSpPr>
        <p:spPr>
          <a:xfrm>
            <a:off x="152400" y="1016000"/>
            <a:ext cx="8848725" cy="5653088"/>
          </a:xfrm>
        </p:spPr>
        <p:txBody>
          <a:bodyPr vert="horz" wrap="square" lIns="91440" tIns="45720" rIns="91440" bIns="45720" anchor="t" anchorCtr="0"/>
          <a:p>
            <a:pPr marL="0" indent="0" defTabSz="914400" eaLnBrk="1" hangingPunct="1">
              <a:lnSpc>
                <a:spcPct val="130000"/>
              </a:lnSpc>
              <a:buNone/>
              <a:tabLst>
                <a:tab pos="4399280" algn="l"/>
              </a:tabLst>
            </a:pPr>
            <a:r>
              <a:rPr lang="en-US" altLang="zh-CN" dirty="0">
                <a:latin typeface="Arial" panose="020B0604020202020204" pitchFamily="34" charset="0"/>
              </a:rPr>
              <a:t>4</a:t>
            </a:r>
            <a:r>
              <a:rPr lang="en-US" altLang="zh-CN" dirty="0">
                <a:sym typeface="+mn-ea"/>
              </a:rPr>
              <a:t>) </a:t>
            </a:r>
            <a:r>
              <a:rPr lang="zh-CN" altLang="en-US" dirty="0">
                <a:latin typeface="Arial" panose="020B0604020202020204" pitchFamily="34" charset="0"/>
              </a:rPr>
              <a:t>表示记号</a:t>
            </a:r>
            <a:r>
              <a:rPr lang="zh-CN" altLang="en-US" sz="3200" dirty="0">
                <a:latin typeface="Arial" panose="020B0604020202020204" pitchFamily="34" charset="0"/>
              </a:rPr>
              <a:t> </a:t>
            </a:r>
            <a:endParaRPr lang="zh-CN" altLang="en-US" sz="3200" dirty="0">
              <a:latin typeface="Arial" panose="020B0604020202020204" pitchFamily="34" charset="0"/>
            </a:endParaRPr>
          </a:p>
          <a:p>
            <a:pPr marL="0" indent="0" defTabSz="914400" eaLnBrk="1" hangingPunct="1">
              <a:lnSpc>
                <a:spcPct val="130000"/>
              </a:lnSpc>
              <a:buNone/>
              <a:tabLst>
                <a:tab pos="4399280" algn="l"/>
              </a:tabLst>
            </a:pPr>
            <a:r>
              <a:rPr lang="zh-CN" altLang="en-US" sz="2800" dirty="0">
                <a:latin typeface="Arial" panose="020B0604020202020204" pitchFamily="34" charset="0"/>
              </a:rPr>
              <a:t> </a:t>
            </a:r>
            <a:r>
              <a:rPr lang="en-US" altLang="zh-CN" sz="3200" dirty="0">
                <a:latin typeface="Arial" panose="020B0604020202020204" pitchFamily="34" charset="0"/>
              </a:rPr>
              <a:t>(3)  </a:t>
            </a:r>
            <a:r>
              <a:rPr lang="en-US" altLang="zh-CN" sz="3200" dirty="0">
                <a:solidFill>
                  <a:srgbClr val="0000FF"/>
                </a:solidFill>
                <a:latin typeface="Arial" panose="020B0604020202020204" pitchFamily="34" charset="0"/>
              </a:rPr>
              <a:t>t</a:t>
            </a:r>
            <a:r>
              <a:rPr lang="en-US" altLang="zh-CN" sz="3200" baseline="-30000" dirty="0">
                <a:solidFill>
                  <a:srgbClr val="0000FF"/>
                </a:solidFill>
                <a:latin typeface="Arial" panose="020B0604020202020204" pitchFamily="34" charset="0"/>
              </a:rPr>
              <a:t>r </a:t>
            </a:r>
            <a:r>
              <a:rPr lang="en-US" altLang="zh-CN" sz="3200" dirty="0">
                <a:solidFill>
                  <a:srgbClr val="0000FF"/>
                </a:solidFill>
                <a:latin typeface="Arial" panose="020B0604020202020204" pitchFamily="34" charset="0"/>
              </a:rPr>
              <a:t>t</a:t>
            </a:r>
            <a:r>
              <a:rPr lang="en-US" altLang="zh-CN" sz="3200" baseline="-30000" dirty="0">
                <a:solidFill>
                  <a:srgbClr val="0000FF"/>
                </a:solidFill>
                <a:latin typeface="Arial" panose="020B0604020202020204" pitchFamily="34" charset="0"/>
              </a:rPr>
              <a:t>s</a:t>
            </a:r>
            <a:endParaRPr lang="en-US" altLang="zh-CN" sz="2800" dirty="0">
              <a:solidFill>
                <a:srgbClr val="0000FF"/>
              </a:solidFill>
              <a:latin typeface="Arial" panose="020B0604020202020204" pitchFamily="34" charset="0"/>
            </a:endParaRPr>
          </a:p>
          <a:p>
            <a:pPr marL="538480" lvl="1" indent="-357505" defTabSz="914400" eaLnBrk="1" hangingPunct="1">
              <a:lnSpc>
                <a:spcPct val="130000"/>
              </a:lnSpc>
              <a:spcBef>
                <a:spcPct val="0"/>
              </a:spcBef>
              <a:tabLst>
                <a:tab pos="4399280" algn="l"/>
              </a:tabLst>
            </a:pPr>
            <a:r>
              <a:rPr lang="zh-CN" altLang="en-US" dirty="0">
                <a:latin typeface="Arial" panose="020B0604020202020204" pitchFamily="34" charset="0"/>
              </a:rPr>
              <a:t>若 </a:t>
            </a:r>
            <a:r>
              <a:rPr lang="en-US" altLang="zh-CN" dirty="0">
                <a:latin typeface="Arial" panose="020B0604020202020204" pitchFamily="34" charset="0"/>
              </a:rPr>
              <a:t>R </a:t>
            </a:r>
            <a:r>
              <a:rPr lang="zh-CN" altLang="en-US" dirty="0">
                <a:latin typeface="Arial" panose="020B0604020202020204" pitchFamily="34" charset="0"/>
              </a:rPr>
              <a:t>为 </a:t>
            </a:r>
            <a:r>
              <a:rPr lang="en-US" altLang="zh-CN" dirty="0">
                <a:latin typeface="Arial" panose="020B0604020202020204" pitchFamily="34" charset="0"/>
              </a:rPr>
              <a:t>m </a:t>
            </a:r>
            <a:r>
              <a:rPr lang="zh-CN" altLang="en-US" dirty="0">
                <a:latin typeface="Arial" panose="020B0604020202020204" pitchFamily="34" charset="0"/>
              </a:rPr>
              <a:t>目关系，</a:t>
            </a:r>
            <a:r>
              <a:rPr lang="en-US" altLang="zh-CN" dirty="0">
                <a:latin typeface="Arial" panose="020B0604020202020204" pitchFamily="34" charset="0"/>
              </a:rPr>
              <a:t>S </a:t>
            </a:r>
            <a:r>
              <a:rPr lang="zh-CN" altLang="en-US" dirty="0">
                <a:latin typeface="Arial" panose="020B0604020202020204" pitchFamily="34" charset="0"/>
              </a:rPr>
              <a:t>为 </a:t>
            </a:r>
            <a:r>
              <a:rPr lang="en-US" altLang="zh-CN" dirty="0">
                <a:latin typeface="Arial" panose="020B0604020202020204" pitchFamily="34" charset="0"/>
              </a:rPr>
              <a:t>n </a:t>
            </a:r>
            <a:r>
              <a:rPr lang="zh-CN" altLang="en-US" dirty="0">
                <a:latin typeface="Arial" panose="020B0604020202020204" pitchFamily="34" charset="0"/>
              </a:rPr>
              <a:t>目关系。</a:t>
            </a:r>
            <a:endParaRPr lang="zh-CN" altLang="en-US" dirty="0">
              <a:latin typeface="Arial" panose="020B0604020202020204" pitchFamily="34" charset="0"/>
            </a:endParaRPr>
          </a:p>
          <a:p>
            <a:pPr marL="538480" lvl="1" indent="-357505" defTabSz="914400" eaLnBrk="1" hangingPunct="1">
              <a:lnSpc>
                <a:spcPct val="130000"/>
              </a:lnSpc>
              <a:spcBef>
                <a:spcPct val="0"/>
              </a:spcBef>
              <a:tabLst>
                <a:tab pos="4399280" algn="l"/>
              </a:tabLst>
            </a:pPr>
            <a:r>
              <a:rPr lang="en-US" altLang="zh-CN" dirty="0">
                <a:latin typeface="Arial" panose="020B0604020202020204" pitchFamily="34" charset="0"/>
              </a:rPr>
              <a:t>t</a:t>
            </a:r>
            <a:r>
              <a:rPr lang="en-US" altLang="zh-CN" baseline="-30000" dirty="0">
                <a:latin typeface="Arial" panose="020B0604020202020204" pitchFamily="34" charset="0"/>
              </a:rPr>
              <a:t>r </a:t>
            </a:r>
            <a:r>
              <a:rPr lang="en-US" altLang="zh-CN" dirty="0">
                <a:latin typeface="Arial" panose="020B0604020202020204" pitchFamily="34" charset="0"/>
                <a:sym typeface="Symbol" panose="05050102010706020507" pitchFamily="18" charset="2"/>
              </a:rPr>
              <a:t></a:t>
            </a:r>
            <a:r>
              <a:rPr lang="en-US" altLang="zh-CN" dirty="0">
                <a:latin typeface="Arial" panose="020B0604020202020204" pitchFamily="34" charset="0"/>
              </a:rPr>
              <a:t>R</a:t>
            </a:r>
            <a:r>
              <a:rPr lang="zh-CN" altLang="en-US" dirty="0">
                <a:latin typeface="Arial" panose="020B0604020202020204" pitchFamily="34" charset="0"/>
              </a:rPr>
              <a:t>，</a:t>
            </a:r>
            <a:r>
              <a:rPr lang="en-US" altLang="zh-CN" dirty="0">
                <a:latin typeface="Arial" panose="020B0604020202020204" pitchFamily="34" charset="0"/>
              </a:rPr>
              <a:t>t</a:t>
            </a:r>
            <a:r>
              <a:rPr lang="en-US" altLang="zh-CN" baseline="-30000" dirty="0">
                <a:latin typeface="Arial" panose="020B0604020202020204" pitchFamily="34" charset="0"/>
              </a:rPr>
              <a:t>s</a:t>
            </a:r>
            <a:r>
              <a:rPr lang="en-US" altLang="zh-CN" dirty="0">
                <a:latin typeface="Arial" panose="020B0604020202020204" pitchFamily="34" charset="0"/>
                <a:sym typeface="Symbol" panose="05050102010706020507" pitchFamily="18" charset="2"/>
              </a:rPr>
              <a:t></a:t>
            </a:r>
            <a:r>
              <a:rPr lang="en-US" altLang="zh-CN" dirty="0">
                <a:latin typeface="Arial" panose="020B0604020202020204" pitchFamily="34" charset="0"/>
              </a:rPr>
              <a:t>S</a:t>
            </a:r>
            <a:r>
              <a:rPr lang="zh-CN" altLang="en-US" dirty="0">
                <a:latin typeface="Arial" panose="020B0604020202020204" pitchFamily="34" charset="0"/>
              </a:rPr>
              <a:t>， </a:t>
            </a:r>
            <a:r>
              <a:rPr lang="en-US" altLang="zh-CN" dirty="0">
                <a:solidFill>
                  <a:srgbClr val="FF0000"/>
                </a:solidFill>
                <a:latin typeface="Arial" panose="020B0604020202020204" pitchFamily="34" charset="0"/>
              </a:rPr>
              <a:t>t</a:t>
            </a:r>
            <a:r>
              <a:rPr lang="en-US" altLang="zh-CN" baseline="-30000" dirty="0">
                <a:solidFill>
                  <a:srgbClr val="FF0000"/>
                </a:solidFill>
                <a:latin typeface="Arial" panose="020B0604020202020204" pitchFamily="34" charset="0"/>
              </a:rPr>
              <a:t>r </a:t>
            </a:r>
            <a:r>
              <a:rPr lang="en-US" altLang="zh-CN" dirty="0">
                <a:solidFill>
                  <a:srgbClr val="FF0000"/>
                </a:solidFill>
                <a:latin typeface="Arial" panose="020B0604020202020204" pitchFamily="34" charset="0"/>
              </a:rPr>
              <a:t>t</a:t>
            </a:r>
            <a:r>
              <a:rPr lang="en-US" altLang="zh-CN" baseline="-30000" dirty="0">
                <a:solidFill>
                  <a:srgbClr val="FF0000"/>
                </a:solidFill>
                <a:latin typeface="Arial" panose="020B0604020202020204" pitchFamily="34" charset="0"/>
              </a:rPr>
              <a:t>s</a:t>
            </a:r>
            <a:r>
              <a:rPr lang="en-US" altLang="zh-CN" dirty="0">
                <a:solidFill>
                  <a:srgbClr val="E02920"/>
                </a:solidFill>
                <a:latin typeface="Arial" panose="020B0604020202020204" pitchFamily="34" charset="0"/>
              </a:rPr>
              <a:t> </a:t>
            </a:r>
            <a:r>
              <a:rPr lang="zh-CN" altLang="en-US" dirty="0">
                <a:latin typeface="Arial" panose="020B0604020202020204" pitchFamily="34" charset="0"/>
              </a:rPr>
              <a:t>称为</a:t>
            </a:r>
            <a:r>
              <a:rPr lang="zh-CN" altLang="en-US" dirty="0">
                <a:solidFill>
                  <a:srgbClr val="0000CC"/>
                </a:solidFill>
                <a:latin typeface="Arial" panose="020B0604020202020204" pitchFamily="34" charset="0"/>
              </a:rPr>
              <a:t>元组的连接</a:t>
            </a:r>
            <a:r>
              <a:rPr lang="zh-CN" altLang="en-US" dirty="0">
                <a:latin typeface="Arial" panose="020B0604020202020204" pitchFamily="34" charset="0"/>
              </a:rPr>
              <a:t>。</a:t>
            </a:r>
            <a:endParaRPr lang="zh-CN" altLang="en-US" dirty="0">
              <a:latin typeface="Arial" panose="020B0604020202020204" pitchFamily="34" charset="0"/>
            </a:endParaRPr>
          </a:p>
          <a:p>
            <a:pPr marL="538480" lvl="1" indent="-357505" defTabSz="914400" eaLnBrk="1" hangingPunct="1">
              <a:lnSpc>
                <a:spcPct val="130000"/>
              </a:lnSpc>
              <a:spcBef>
                <a:spcPct val="0"/>
              </a:spcBef>
              <a:tabLst>
                <a:tab pos="4399280" algn="l"/>
              </a:tabLst>
            </a:pPr>
            <a:r>
              <a:rPr lang="zh-CN" altLang="en-US" dirty="0">
                <a:latin typeface="Arial" panose="020B0604020202020204" pitchFamily="34" charset="0"/>
              </a:rPr>
              <a:t>它是一个 </a:t>
            </a:r>
            <a:r>
              <a:rPr lang="en-US" altLang="zh-CN" dirty="0">
                <a:latin typeface="Arial" panose="020B0604020202020204" pitchFamily="34" charset="0"/>
              </a:rPr>
              <a:t>m + n </a:t>
            </a:r>
            <a:r>
              <a:rPr lang="zh-CN" altLang="en-US" dirty="0">
                <a:latin typeface="Arial" panose="020B0604020202020204" pitchFamily="34" charset="0"/>
              </a:rPr>
              <a:t>列的元组，前 </a:t>
            </a:r>
            <a:r>
              <a:rPr lang="en-US" altLang="zh-CN" dirty="0">
                <a:latin typeface="Arial" panose="020B0604020202020204" pitchFamily="34" charset="0"/>
              </a:rPr>
              <a:t>m </a:t>
            </a:r>
            <a:r>
              <a:rPr lang="zh-CN" altLang="en-US" dirty="0">
                <a:latin typeface="Arial" panose="020B0604020202020204" pitchFamily="34" charset="0"/>
              </a:rPr>
              <a:t>个分量为 </a:t>
            </a:r>
            <a:r>
              <a:rPr lang="en-US" altLang="zh-CN" dirty="0">
                <a:latin typeface="Arial" panose="020B0604020202020204" pitchFamily="34" charset="0"/>
              </a:rPr>
              <a:t>R</a:t>
            </a:r>
            <a:r>
              <a:rPr lang="zh-CN" altLang="en-US" dirty="0">
                <a:latin typeface="Arial" panose="020B0604020202020204" pitchFamily="34" charset="0"/>
              </a:rPr>
              <a:t>中的一个 </a:t>
            </a:r>
            <a:r>
              <a:rPr lang="en-US" altLang="zh-CN" dirty="0">
                <a:latin typeface="Arial" panose="020B0604020202020204" pitchFamily="34" charset="0"/>
              </a:rPr>
              <a:t>m </a:t>
            </a:r>
            <a:r>
              <a:rPr lang="zh-CN" altLang="en-US" dirty="0">
                <a:latin typeface="Arial" panose="020B0604020202020204" pitchFamily="34" charset="0"/>
              </a:rPr>
              <a:t>元组，后 </a:t>
            </a:r>
            <a:r>
              <a:rPr lang="en-US" altLang="zh-CN" dirty="0">
                <a:latin typeface="Arial" panose="020B0604020202020204" pitchFamily="34" charset="0"/>
              </a:rPr>
              <a:t>n </a:t>
            </a:r>
            <a:r>
              <a:rPr lang="zh-CN" altLang="en-US" dirty="0">
                <a:latin typeface="Arial" panose="020B0604020202020204" pitchFamily="34" charset="0"/>
              </a:rPr>
              <a:t>个分量为 </a:t>
            </a:r>
            <a:r>
              <a:rPr lang="en-US" altLang="zh-CN" dirty="0">
                <a:latin typeface="Arial" panose="020B0604020202020204" pitchFamily="34" charset="0"/>
              </a:rPr>
              <a:t>S </a:t>
            </a:r>
            <a:r>
              <a:rPr lang="zh-CN" altLang="en-US" dirty="0">
                <a:latin typeface="Arial" panose="020B0604020202020204" pitchFamily="34" charset="0"/>
              </a:rPr>
              <a:t>中的一个 </a:t>
            </a:r>
            <a:r>
              <a:rPr lang="en-US" altLang="zh-CN" dirty="0">
                <a:latin typeface="Arial" panose="020B0604020202020204" pitchFamily="34" charset="0"/>
              </a:rPr>
              <a:t>n </a:t>
            </a:r>
            <a:r>
              <a:rPr lang="zh-CN" altLang="en-US" dirty="0">
                <a:latin typeface="Arial" panose="020B0604020202020204" pitchFamily="34" charset="0"/>
              </a:rPr>
              <a:t>元组。 </a:t>
            </a:r>
            <a:endParaRPr lang="zh-CN" altLang="en-US" dirty="0">
              <a:latin typeface="Arial" panose="020B0604020202020204" pitchFamily="34" charset="0"/>
            </a:endParaRPr>
          </a:p>
        </p:txBody>
      </p:sp>
      <p:sp>
        <p:nvSpPr>
          <p:cNvPr id="32772" name="Freeform 6"/>
          <p:cNvSpPr/>
          <p:nvPr/>
        </p:nvSpPr>
        <p:spPr>
          <a:xfrm rot="-1517971">
            <a:off x="1077913" y="1833563"/>
            <a:ext cx="433387" cy="252412"/>
          </a:xfrm>
          <a:custGeom>
            <a:avLst/>
            <a:gdLst>
              <a:gd name="txL" fmla="*/ 0 w 273"/>
              <a:gd name="txT" fmla="*/ 0 h 159"/>
              <a:gd name="txR" fmla="*/ 273 w 273"/>
              <a:gd name="txB" fmla="*/ 159 h 159"/>
            </a:gdLst>
            <a:ahLst/>
            <a:cxnLst>
              <a:cxn ang="0">
                <a:pos x="0" y="2147483647"/>
              </a:cxn>
              <a:cxn ang="0">
                <a:pos x="2147483647" y="2147483647"/>
              </a:cxn>
              <a:cxn ang="0">
                <a:pos x="2147483647" y="2147483647"/>
              </a:cxn>
            </a:cxnLst>
            <a:rect l="txL" t="txT" r="txR" b="txB"/>
            <a:pathLst>
              <a:path w="273" h="159">
                <a:moveTo>
                  <a:pt x="0" y="23"/>
                </a:moveTo>
                <a:cubicBezTo>
                  <a:pt x="68" y="11"/>
                  <a:pt x="136" y="0"/>
                  <a:pt x="182" y="23"/>
                </a:cubicBezTo>
                <a:cubicBezTo>
                  <a:pt x="228" y="46"/>
                  <a:pt x="266" y="136"/>
                  <a:pt x="273" y="159"/>
                </a:cubicBezTo>
              </a:path>
            </a:pathLst>
          </a:custGeom>
          <a:noFill/>
          <a:ln w="38100" cap="flat" cmpd="sng">
            <a:solidFill>
              <a:srgbClr val="0000FF">
                <a:alpha val="100000"/>
              </a:srgbClr>
            </a:solidFill>
            <a:prstDash val="solid"/>
            <a:round/>
            <a:headEnd type="none" w="med" len="med"/>
            <a:tailEnd type="none" w="med" len="med"/>
          </a:ln>
        </p:spPr>
        <p:txBody>
          <a:bodyPr/>
          <a:p>
            <a:endParaRPr lang="zh-CN" altLang="en-US"/>
          </a:p>
        </p:txBody>
      </p:sp>
      <p:sp>
        <p:nvSpPr>
          <p:cNvPr id="32773" name="Freeform 7"/>
          <p:cNvSpPr/>
          <p:nvPr/>
        </p:nvSpPr>
        <p:spPr>
          <a:xfrm rot="-1517971">
            <a:off x="3475038" y="3113088"/>
            <a:ext cx="433387" cy="252412"/>
          </a:xfrm>
          <a:custGeom>
            <a:avLst/>
            <a:gdLst>
              <a:gd name="txL" fmla="*/ 0 w 273"/>
              <a:gd name="txT" fmla="*/ 0 h 159"/>
              <a:gd name="txR" fmla="*/ 273 w 273"/>
              <a:gd name="txB" fmla="*/ 159 h 159"/>
            </a:gdLst>
            <a:ahLst/>
            <a:cxnLst>
              <a:cxn ang="0">
                <a:pos x="0" y="2147483647"/>
              </a:cxn>
              <a:cxn ang="0">
                <a:pos x="2147483647" y="2147483647"/>
              </a:cxn>
              <a:cxn ang="0">
                <a:pos x="2147483647" y="2147483647"/>
              </a:cxn>
            </a:cxnLst>
            <a:rect l="txL" t="txT" r="txR" b="txB"/>
            <a:pathLst>
              <a:path w="273" h="159">
                <a:moveTo>
                  <a:pt x="0" y="23"/>
                </a:moveTo>
                <a:cubicBezTo>
                  <a:pt x="68" y="11"/>
                  <a:pt x="136" y="0"/>
                  <a:pt x="182" y="23"/>
                </a:cubicBezTo>
                <a:cubicBezTo>
                  <a:pt x="228" y="46"/>
                  <a:pt x="266" y="136"/>
                  <a:pt x="273" y="159"/>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Tree>
  </p:cSld>
  <p:clrMapOvr>
    <a:masterClrMapping/>
  </p:clrMapOvr>
  <p:transition>
    <p:random/>
    <p:sndAc>
      <p:stSnd>
        <p:snd r:embed="rId1"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0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关系代数</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3795" name="Rectangle 3"/>
          <p:cNvSpPr>
            <a:spLocks noGrp="1"/>
          </p:cNvSpPr>
          <p:nvPr>
            <p:ph idx="1"/>
          </p:nvPr>
        </p:nvSpPr>
        <p:spPr>
          <a:xfrm>
            <a:off x="1231900" y="908050"/>
            <a:ext cx="7372350" cy="5653088"/>
          </a:xfrm>
        </p:spPr>
        <p:txBody>
          <a:bodyPr vert="horz" wrap="square" lIns="91440" tIns="45720" rIns="91440" bIns="45720" anchor="t" anchorCtr="0"/>
          <a:p>
            <a:pPr marL="685800" indent="-685800" eaLnBrk="1" hangingPunct="1">
              <a:lnSpc>
                <a:spcPct val="105000"/>
              </a:lnSpc>
              <a:buNone/>
            </a:pPr>
            <a:r>
              <a:rPr lang="en-US" altLang="zh-CN" dirty="0">
                <a:latin typeface="Arial" panose="020B0604020202020204" pitchFamily="34" charset="0"/>
              </a:rPr>
              <a:t>6.1 </a:t>
            </a:r>
            <a:r>
              <a:rPr lang="zh-CN" altLang="en-US" dirty="0"/>
              <a:t>概述</a:t>
            </a:r>
            <a:endParaRPr lang="zh-CN" altLang="en-US" dirty="0"/>
          </a:p>
          <a:p>
            <a:pPr marL="685800" indent="-685800" eaLnBrk="1" hangingPunct="1">
              <a:lnSpc>
                <a:spcPct val="105000"/>
              </a:lnSpc>
              <a:buNone/>
            </a:pPr>
            <a:r>
              <a:rPr lang="en-US" altLang="zh-CN" dirty="0">
                <a:solidFill>
                  <a:srgbClr val="0000CC"/>
                </a:solidFill>
                <a:latin typeface="Arial" panose="020B0604020202020204" pitchFamily="34" charset="0"/>
              </a:rPr>
              <a:t>6.2 </a:t>
            </a:r>
            <a:r>
              <a:rPr lang="zh-CN" altLang="en-US" dirty="0">
                <a:solidFill>
                  <a:srgbClr val="0000CC"/>
                </a:solidFill>
              </a:rPr>
              <a:t>传统的集合运算</a:t>
            </a:r>
            <a:endParaRPr lang="zh-CN" altLang="en-US" dirty="0">
              <a:solidFill>
                <a:srgbClr val="0000CC"/>
              </a:solidFill>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并</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差</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交</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广义笛卡尔积</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None/>
            </a:pPr>
            <a:r>
              <a:rPr lang="zh-CN" altLang="en-US" sz="3600" dirty="0">
                <a:solidFill>
                  <a:srgbClr val="0000CC"/>
                </a:solidFill>
                <a:latin typeface="Arial" panose="020B0604020202020204" pitchFamily="34" charset="0"/>
              </a:rPr>
              <a:t>集合运算练习</a:t>
            </a:r>
            <a:endParaRPr lang="zh-CN" altLang="en-US" sz="3600" dirty="0">
              <a:solidFill>
                <a:srgbClr val="0000CC"/>
              </a:solidFill>
              <a:latin typeface="Arial" panose="020B0604020202020204" pitchFamily="34" charset="0"/>
            </a:endParaRPr>
          </a:p>
          <a:p>
            <a:pPr marL="685800" indent="-685800" eaLnBrk="1" hangingPunct="1">
              <a:lnSpc>
                <a:spcPct val="105000"/>
              </a:lnSpc>
              <a:buNone/>
            </a:pPr>
            <a:r>
              <a:rPr lang="en-US" altLang="zh-CN" dirty="0">
                <a:latin typeface="Arial" panose="020B0604020202020204" pitchFamily="34" charset="0"/>
              </a:rPr>
              <a:t>6.3 </a:t>
            </a:r>
            <a:r>
              <a:rPr lang="zh-CN" altLang="en-US" dirty="0">
                <a:latin typeface="宋体" panose="02010600030101010101" pitchFamily="2" charset="-122"/>
              </a:rPr>
              <a:t>专门的关系运算</a:t>
            </a:r>
            <a:endParaRPr lang="zh-CN" altLang="en-US" dirty="0">
              <a:latin typeface="Arial" panose="020B0604020202020204" pitchFamily="34" charset="0"/>
            </a:endParaRPr>
          </a:p>
          <a:p>
            <a:pPr marL="685800" indent="-685800" eaLnBrk="1" hangingPunct="1">
              <a:lnSpc>
                <a:spcPct val="105000"/>
              </a:lnSpc>
              <a:buNone/>
            </a:pPr>
            <a:r>
              <a:rPr lang="en-US" altLang="zh-CN" dirty="0">
                <a:latin typeface="Arial" panose="020B0604020202020204" pitchFamily="34" charset="0"/>
              </a:rPr>
              <a:t>6.4 </a:t>
            </a:r>
            <a:r>
              <a:rPr lang="zh-CN" altLang="en-US" dirty="0">
                <a:latin typeface="宋体" panose="02010600030101010101" pitchFamily="2" charset="-122"/>
              </a:rPr>
              <a:t>关系代数表达式</a:t>
            </a:r>
            <a:endParaRPr lang="zh-CN" altLang="en-US" dirty="0">
              <a:latin typeface="宋体" panose="02010600030101010101" pitchFamily="2" charset="-122"/>
            </a:endParaRPr>
          </a:p>
        </p:txBody>
      </p:sp>
    </p:spTree>
  </p:cSld>
  <p:clrMapOvr>
    <a:masterClrMapping/>
  </p:clrMapOvr>
  <p:transition>
    <p:random/>
    <p:sndAc>
      <p:stSnd>
        <p:snd r:embed="rId1"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lang="en-US" altLang="zh-CN" dirty="0">
                <a:sym typeface="+mn-ea"/>
              </a:rPr>
              <a:t>)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并</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(Union)</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4819" name="Rectangle 3"/>
          <p:cNvSpPr>
            <a:spLocks noGrp="1"/>
          </p:cNvSpPr>
          <p:nvPr>
            <p:ph idx="1"/>
          </p:nvPr>
        </p:nvSpPr>
        <p:spPr/>
        <p:txBody>
          <a:bodyPr vert="horz" wrap="square" lIns="91440" tIns="45720" rIns="91440" bIns="45720" anchor="t" anchorCtr="0"/>
          <a:p>
            <a:pPr eaLnBrk="1" hangingPunct="1">
              <a:lnSpc>
                <a:spcPct val="90000"/>
              </a:lnSpc>
            </a:pPr>
            <a:r>
              <a:rPr lang="en-US" altLang="zh-CN" sz="3200" dirty="0">
                <a:latin typeface="Arial" panose="020B0604020202020204" pitchFamily="34" charset="0"/>
              </a:rPr>
              <a:t>R</a:t>
            </a:r>
            <a:r>
              <a:rPr lang="zh-CN" altLang="en-US" sz="3200" dirty="0">
                <a:latin typeface="Arial" panose="020B0604020202020204" pitchFamily="34" charset="0"/>
              </a:rPr>
              <a:t>和</a:t>
            </a:r>
            <a:r>
              <a:rPr lang="en-US" altLang="zh-CN" sz="3200" dirty="0">
                <a:latin typeface="Arial" panose="020B0604020202020204" pitchFamily="34" charset="0"/>
              </a:rPr>
              <a:t>S</a:t>
            </a:r>
            <a:endParaRPr lang="en-US" altLang="zh-CN" sz="3200" dirty="0">
              <a:latin typeface="Arial" panose="020B0604020202020204" pitchFamily="34" charset="0"/>
            </a:endParaRPr>
          </a:p>
          <a:p>
            <a:pPr lvl="1" algn="just" eaLnBrk="1" hangingPunct="1">
              <a:lnSpc>
                <a:spcPct val="90000"/>
              </a:lnSpc>
            </a:pPr>
            <a:r>
              <a:rPr lang="zh-CN" altLang="en-US" dirty="0">
                <a:latin typeface="Arial" panose="020B0604020202020204" pitchFamily="34" charset="0"/>
              </a:rPr>
              <a:t>具有相同的目</a:t>
            </a:r>
            <a:r>
              <a:rPr lang="en-US" altLang="zh-CN" dirty="0">
                <a:latin typeface="Arial" panose="020B0604020202020204" pitchFamily="34" charset="0"/>
              </a:rPr>
              <a:t>n (</a:t>
            </a:r>
            <a:r>
              <a:rPr lang="zh-CN" altLang="en-US" dirty="0">
                <a:latin typeface="Arial" panose="020B0604020202020204" pitchFamily="34" charset="0"/>
              </a:rPr>
              <a:t>即两个关系都有</a:t>
            </a:r>
            <a:r>
              <a:rPr lang="en-US" altLang="zh-CN" dirty="0">
                <a:latin typeface="Arial" panose="020B0604020202020204" pitchFamily="34" charset="0"/>
              </a:rPr>
              <a:t>n</a:t>
            </a:r>
            <a:r>
              <a:rPr lang="zh-CN" altLang="en-US" dirty="0">
                <a:latin typeface="Arial" panose="020B0604020202020204" pitchFamily="34" charset="0"/>
              </a:rPr>
              <a:t>个属性</a:t>
            </a:r>
            <a:r>
              <a:rPr lang="en-US" altLang="zh-CN" dirty="0">
                <a:latin typeface="Arial" panose="020B0604020202020204" pitchFamily="34" charset="0"/>
              </a:rPr>
              <a:t>)</a:t>
            </a:r>
            <a:endParaRPr lang="en-US" altLang="zh-CN" dirty="0">
              <a:latin typeface="Arial" panose="020B0604020202020204" pitchFamily="34" charset="0"/>
            </a:endParaRPr>
          </a:p>
          <a:p>
            <a:pPr lvl="1" algn="just" eaLnBrk="1" hangingPunct="1">
              <a:lnSpc>
                <a:spcPct val="90000"/>
              </a:lnSpc>
            </a:pPr>
            <a:r>
              <a:rPr lang="zh-CN" altLang="en-US" dirty="0">
                <a:latin typeface="Arial" panose="020B0604020202020204" pitchFamily="34" charset="0"/>
              </a:rPr>
              <a:t>相应的属性取自同一个域</a:t>
            </a:r>
            <a:endParaRPr lang="zh-CN" altLang="en-US" dirty="0">
              <a:latin typeface="Arial" panose="020B0604020202020204" pitchFamily="34" charset="0"/>
            </a:endParaRPr>
          </a:p>
          <a:p>
            <a:pPr algn="just" eaLnBrk="1" hangingPunct="1">
              <a:lnSpc>
                <a:spcPct val="90000"/>
              </a:lnSpc>
              <a:buNone/>
            </a:pPr>
            <a:endParaRPr lang="zh-CN" altLang="en-US" sz="3200" dirty="0">
              <a:latin typeface="Arial" panose="020B0604020202020204" pitchFamily="34" charset="0"/>
            </a:endParaRPr>
          </a:p>
          <a:p>
            <a:pPr algn="just" eaLnBrk="1" hangingPunct="1">
              <a:lnSpc>
                <a:spcPct val="90000"/>
              </a:lnSpc>
            </a:pPr>
            <a:r>
              <a:rPr lang="en-US" altLang="zh-CN" sz="3200" dirty="0">
                <a:latin typeface="Arial" panose="020B0604020202020204" pitchFamily="34" charset="0"/>
              </a:rPr>
              <a:t>R</a:t>
            </a:r>
            <a:r>
              <a:rPr lang="en-US" altLang="zh-CN" sz="3200" dirty="0">
                <a:solidFill>
                  <a:srgbClr val="FF0000"/>
                </a:solidFill>
                <a:latin typeface="Arial" panose="020B0604020202020204" pitchFamily="34" charset="0"/>
              </a:rPr>
              <a:t>∪</a:t>
            </a:r>
            <a:r>
              <a:rPr lang="en-US" altLang="zh-CN" sz="3200" dirty="0">
                <a:latin typeface="Arial" panose="020B0604020202020204" pitchFamily="34" charset="0"/>
              </a:rPr>
              <a:t>S </a:t>
            </a:r>
            <a:endParaRPr lang="en-US" altLang="zh-CN" sz="3200" dirty="0">
              <a:latin typeface="Arial" panose="020B0604020202020204" pitchFamily="34" charset="0"/>
            </a:endParaRPr>
          </a:p>
          <a:p>
            <a:pPr lvl="1" algn="just" eaLnBrk="1" hangingPunct="1">
              <a:lnSpc>
                <a:spcPct val="90000"/>
              </a:lnSpc>
            </a:pPr>
            <a:r>
              <a:rPr lang="zh-CN" altLang="en-US" dirty="0">
                <a:latin typeface="Arial" panose="020B0604020202020204" pitchFamily="34" charset="0"/>
              </a:rPr>
              <a:t>仍为</a:t>
            </a:r>
            <a:r>
              <a:rPr lang="en-US" altLang="zh-CN" dirty="0">
                <a:latin typeface="Arial" panose="020B0604020202020204" pitchFamily="34" charset="0"/>
              </a:rPr>
              <a:t>n</a:t>
            </a:r>
            <a:r>
              <a:rPr lang="zh-CN" altLang="en-US" dirty="0">
                <a:latin typeface="Arial" panose="020B0604020202020204" pitchFamily="34" charset="0"/>
              </a:rPr>
              <a:t>目关系，由属于</a:t>
            </a:r>
            <a:r>
              <a:rPr lang="en-US" altLang="zh-CN" dirty="0">
                <a:latin typeface="Arial" panose="020B0604020202020204" pitchFamily="34" charset="0"/>
              </a:rPr>
              <a:t>R</a:t>
            </a:r>
            <a:r>
              <a:rPr lang="zh-CN" altLang="en-US" dirty="0">
                <a:solidFill>
                  <a:srgbClr val="0000CC"/>
                </a:solidFill>
                <a:latin typeface="Arial" panose="020B0604020202020204" pitchFamily="34" charset="0"/>
              </a:rPr>
              <a:t>或</a:t>
            </a:r>
            <a:r>
              <a:rPr lang="zh-CN" altLang="en-US" dirty="0">
                <a:latin typeface="Arial" panose="020B0604020202020204" pitchFamily="34" charset="0"/>
              </a:rPr>
              <a:t>属于</a:t>
            </a:r>
            <a:r>
              <a:rPr lang="en-US" altLang="zh-CN" dirty="0">
                <a:latin typeface="Arial" panose="020B0604020202020204" pitchFamily="34" charset="0"/>
              </a:rPr>
              <a:t>S</a:t>
            </a:r>
            <a:r>
              <a:rPr lang="zh-CN" altLang="en-US" dirty="0">
                <a:latin typeface="Arial" panose="020B0604020202020204" pitchFamily="34" charset="0"/>
              </a:rPr>
              <a:t>的元组组成</a:t>
            </a:r>
            <a:endParaRPr lang="zh-CN" altLang="en-US" dirty="0">
              <a:latin typeface="Arial" panose="020B0604020202020204" pitchFamily="34" charset="0"/>
            </a:endParaRPr>
          </a:p>
          <a:p>
            <a:pPr lvl="1" algn="just" eaLnBrk="1" hangingPunct="1">
              <a:lnSpc>
                <a:spcPct val="90000"/>
              </a:lnSpc>
              <a:buNone/>
            </a:pPr>
            <a:r>
              <a:rPr lang="zh-CN" altLang="en-US" dirty="0">
                <a:latin typeface="Arial" panose="020B0604020202020204" pitchFamily="34" charset="0"/>
              </a:rPr>
              <a:t>             </a:t>
            </a:r>
            <a:r>
              <a:rPr lang="en-US" altLang="zh-CN" dirty="0">
                <a:latin typeface="Arial" panose="020B0604020202020204" pitchFamily="34" charset="0"/>
              </a:rPr>
              <a:t>R∪S = { t | t </a:t>
            </a:r>
            <a:r>
              <a:rPr lang="en-US" altLang="zh-CN" dirty="0">
                <a:latin typeface="Arial" panose="020B0604020202020204" pitchFamily="34" charset="0"/>
                <a:sym typeface="Symbol" panose="05050102010706020507" pitchFamily="18" charset="2"/>
              </a:rPr>
              <a:t></a:t>
            </a:r>
            <a:r>
              <a:rPr lang="en-US" altLang="zh-CN" dirty="0">
                <a:latin typeface="Arial" panose="020B0604020202020204" pitchFamily="34" charset="0"/>
              </a:rPr>
              <a:t> R∨t </a:t>
            </a:r>
            <a:r>
              <a:rPr lang="en-US" altLang="zh-CN" dirty="0">
                <a:latin typeface="Arial" panose="020B0604020202020204" pitchFamily="34" charset="0"/>
                <a:sym typeface="Symbol" panose="05050102010706020507" pitchFamily="18" charset="2"/>
              </a:rPr>
              <a:t></a:t>
            </a:r>
            <a:r>
              <a:rPr lang="en-US" altLang="zh-CN" dirty="0">
                <a:latin typeface="Arial" panose="020B0604020202020204" pitchFamily="34" charset="0"/>
              </a:rPr>
              <a:t>S }</a:t>
            </a:r>
            <a:endParaRPr lang="en-US" altLang="zh-CN" dirty="0">
              <a:latin typeface="Arial" panose="020B0604020202020204" pitchFamily="34" charset="0"/>
            </a:endParaRPr>
          </a:p>
          <a:p>
            <a:pPr eaLnBrk="1" hangingPunct="1">
              <a:lnSpc>
                <a:spcPct val="90000"/>
              </a:lnSpc>
            </a:pPr>
            <a:endParaRPr lang="en-US" altLang="zh-CN" sz="3200"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并</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5843" name="Text Box 4"/>
          <p:cNvSpPr txBox="1"/>
          <p:nvPr/>
        </p:nvSpPr>
        <p:spPr>
          <a:xfrm>
            <a:off x="1042988" y="1860550"/>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35844" name="Text Box 5"/>
          <p:cNvSpPr txBox="1"/>
          <p:nvPr/>
        </p:nvSpPr>
        <p:spPr>
          <a:xfrm>
            <a:off x="4137025" y="1844675"/>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212998" name="Group 6"/>
          <p:cNvGraphicFramePr>
            <a:graphicFrameLocks noGrp="1"/>
          </p:cNvGraphicFramePr>
          <p:nvPr/>
        </p:nvGraphicFramePr>
        <p:xfrm>
          <a:off x="255588" y="2420938"/>
          <a:ext cx="2160588" cy="2560638"/>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13020" name="Group 28"/>
          <p:cNvGraphicFramePr>
            <a:graphicFrameLocks noGrp="1"/>
          </p:cNvGraphicFramePr>
          <p:nvPr/>
        </p:nvGraphicFramePr>
        <p:xfrm>
          <a:off x="3348038" y="2420938"/>
          <a:ext cx="2160588" cy="2560638"/>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13042" name="Group 50"/>
          <p:cNvGraphicFramePr>
            <a:graphicFrameLocks noGrp="1"/>
          </p:cNvGraphicFramePr>
          <p:nvPr/>
        </p:nvGraphicFramePr>
        <p:xfrm>
          <a:off x="6443663" y="2060575"/>
          <a:ext cx="2160588" cy="3200400"/>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397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6397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6397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35915" name="Text Box 76"/>
          <p:cNvSpPr txBox="1"/>
          <p:nvPr/>
        </p:nvSpPr>
        <p:spPr>
          <a:xfrm>
            <a:off x="6804025" y="1341438"/>
            <a:ext cx="1582738"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 ∪ S</a:t>
            </a:r>
            <a:endParaRPr lang="en-US" altLang="zh-CN" dirty="0">
              <a:latin typeface="Arial" panose="020B0604020202020204" pitchFamily="34" charset="0"/>
              <a:ea typeface="宋体" panose="02010600030101010101" pitchFamily="2" charset="-122"/>
            </a:endParaRPr>
          </a:p>
        </p:txBody>
      </p:sp>
      <p:sp>
        <p:nvSpPr>
          <p:cNvPr id="35916" name="Text Box 77"/>
          <p:cNvSpPr txBox="1"/>
          <p:nvPr/>
        </p:nvSpPr>
        <p:spPr>
          <a:xfrm>
            <a:off x="2560638" y="3402013"/>
            <a:ext cx="642937"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35917" name="Text Box 78"/>
          <p:cNvSpPr txBox="1"/>
          <p:nvPr/>
        </p:nvSpPr>
        <p:spPr>
          <a:xfrm>
            <a:off x="5657850" y="3402013"/>
            <a:ext cx="642938"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zh-CN" altLang="en-US"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213072" name="AutoShape 80">
            <a:hlinkClick r:id="rId3" action="ppaction://hlinksldjump"/>
          </p:cNvPr>
          <p:cNvSpPr>
            <a:spLocks noChangeArrowheads="1"/>
          </p:cNvSpPr>
          <p:nvPr/>
        </p:nvSpPr>
        <p:spPr bwMode="auto">
          <a:xfrm>
            <a:off x="80279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random/>
    <p:sndAc>
      <p:stSnd>
        <p:snd r:embed="rId4" name="CAMERA.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dirty="0">
                <a:sym typeface="+mn-ea"/>
              </a:rPr>
              <a:t>)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差</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(Difference)</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6867" name="Rectangle 3"/>
          <p:cNvSpPr>
            <a:spLocks noGrp="1"/>
          </p:cNvSpPr>
          <p:nvPr>
            <p:ph idx="1"/>
          </p:nvPr>
        </p:nvSpPr>
        <p:spPr/>
        <p:txBody>
          <a:bodyPr vert="horz" wrap="square" lIns="91440" tIns="45720" rIns="91440" bIns="45720" anchor="t" anchorCtr="0"/>
          <a:p>
            <a:pPr eaLnBrk="1" hangingPunct="1"/>
            <a:r>
              <a:rPr lang="en-US" altLang="zh-CN" sz="3200" dirty="0">
                <a:latin typeface="Arial" panose="020B0604020202020204" pitchFamily="34" charset="0"/>
              </a:rPr>
              <a:t>R</a:t>
            </a:r>
            <a:r>
              <a:rPr lang="zh-CN" altLang="en-US" sz="3200" dirty="0">
                <a:latin typeface="Arial" panose="020B0604020202020204" pitchFamily="34" charset="0"/>
              </a:rPr>
              <a:t>和</a:t>
            </a:r>
            <a:r>
              <a:rPr lang="en-US" altLang="zh-CN" sz="3200" dirty="0">
                <a:latin typeface="Arial" panose="020B0604020202020204" pitchFamily="34" charset="0"/>
              </a:rPr>
              <a:t>S</a:t>
            </a:r>
            <a:endParaRPr lang="en-US" altLang="zh-CN" sz="3200" dirty="0">
              <a:latin typeface="Arial" panose="020B0604020202020204" pitchFamily="34" charset="0"/>
            </a:endParaRPr>
          </a:p>
          <a:p>
            <a:pPr lvl="1" algn="just" eaLnBrk="1" hangingPunct="1"/>
            <a:r>
              <a:rPr lang="zh-CN" altLang="en-US" dirty="0">
                <a:latin typeface="Arial" panose="020B0604020202020204" pitchFamily="34" charset="0"/>
              </a:rPr>
              <a:t>具有相同的目</a:t>
            </a:r>
            <a:r>
              <a:rPr lang="en-US" altLang="zh-CN" dirty="0">
                <a:latin typeface="Arial" panose="020B0604020202020204" pitchFamily="34" charset="0"/>
              </a:rPr>
              <a:t>n</a:t>
            </a:r>
            <a:endParaRPr lang="en-US" altLang="zh-CN" dirty="0">
              <a:latin typeface="Arial" panose="020B0604020202020204" pitchFamily="34" charset="0"/>
            </a:endParaRPr>
          </a:p>
          <a:p>
            <a:pPr lvl="1" algn="just" eaLnBrk="1" hangingPunct="1"/>
            <a:r>
              <a:rPr lang="zh-CN" altLang="en-US" dirty="0">
                <a:latin typeface="Arial" panose="020B0604020202020204" pitchFamily="34" charset="0"/>
              </a:rPr>
              <a:t>相应的属性取自同一个域</a:t>
            </a:r>
            <a:endParaRPr lang="zh-CN" altLang="en-US" dirty="0">
              <a:latin typeface="Arial" panose="020B0604020202020204" pitchFamily="34" charset="0"/>
            </a:endParaRPr>
          </a:p>
          <a:p>
            <a:pPr algn="just" eaLnBrk="1" hangingPunct="1">
              <a:buNone/>
            </a:pPr>
            <a:endParaRPr lang="zh-CN" altLang="en-US" sz="3200" dirty="0">
              <a:latin typeface="Arial" panose="020B0604020202020204" pitchFamily="34" charset="0"/>
            </a:endParaRPr>
          </a:p>
          <a:p>
            <a:pPr algn="just" eaLnBrk="1" hangingPunct="1"/>
            <a:r>
              <a:rPr lang="en-US" altLang="zh-CN" sz="3200" dirty="0">
                <a:latin typeface="Arial" panose="020B0604020202020204" pitchFamily="34" charset="0"/>
              </a:rPr>
              <a:t>R</a:t>
            </a:r>
            <a:r>
              <a:rPr lang="zh-CN" altLang="en-US" sz="3200" dirty="0">
                <a:solidFill>
                  <a:srgbClr val="FF0000"/>
                </a:solidFill>
                <a:latin typeface="Arial" panose="020B0604020202020204" pitchFamily="34" charset="0"/>
              </a:rPr>
              <a:t>－</a:t>
            </a:r>
            <a:r>
              <a:rPr lang="en-US" altLang="zh-CN" sz="3200" dirty="0">
                <a:latin typeface="Arial" panose="020B0604020202020204" pitchFamily="34" charset="0"/>
              </a:rPr>
              <a:t>S </a:t>
            </a:r>
            <a:endParaRPr lang="en-US" altLang="zh-CN" sz="3200" dirty="0">
              <a:latin typeface="Arial" panose="020B0604020202020204" pitchFamily="34" charset="0"/>
            </a:endParaRPr>
          </a:p>
          <a:p>
            <a:pPr lvl="1" algn="just" eaLnBrk="1" hangingPunct="1"/>
            <a:r>
              <a:rPr lang="zh-CN" altLang="en-US" dirty="0">
                <a:latin typeface="Arial" panose="020B0604020202020204" pitchFamily="34" charset="0"/>
              </a:rPr>
              <a:t>仍为</a:t>
            </a:r>
            <a:r>
              <a:rPr lang="en-US" altLang="zh-CN" dirty="0">
                <a:latin typeface="Arial" panose="020B0604020202020204" pitchFamily="34" charset="0"/>
              </a:rPr>
              <a:t>n</a:t>
            </a:r>
            <a:r>
              <a:rPr lang="zh-CN" altLang="en-US" dirty="0">
                <a:latin typeface="Arial" panose="020B0604020202020204" pitchFamily="34" charset="0"/>
              </a:rPr>
              <a:t>目关系，由属于</a:t>
            </a:r>
            <a:r>
              <a:rPr lang="en-US" altLang="zh-CN" dirty="0">
                <a:latin typeface="Arial" panose="020B0604020202020204" pitchFamily="34" charset="0"/>
              </a:rPr>
              <a:t>R</a:t>
            </a:r>
            <a:r>
              <a:rPr lang="zh-CN" altLang="en-US" dirty="0">
                <a:latin typeface="Arial" panose="020B0604020202020204" pitchFamily="34" charset="0"/>
              </a:rPr>
              <a:t>而</a:t>
            </a:r>
            <a:r>
              <a:rPr lang="zh-CN" altLang="en-US" dirty="0">
                <a:solidFill>
                  <a:srgbClr val="0000CC"/>
                </a:solidFill>
                <a:latin typeface="Arial" panose="020B0604020202020204" pitchFamily="34" charset="0"/>
              </a:rPr>
              <a:t>不</a:t>
            </a:r>
            <a:r>
              <a:rPr lang="zh-CN" altLang="en-US" dirty="0">
                <a:latin typeface="Arial" panose="020B0604020202020204" pitchFamily="34" charset="0"/>
              </a:rPr>
              <a:t>属于</a:t>
            </a:r>
            <a:r>
              <a:rPr lang="en-US" altLang="zh-CN" dirty="0">
                <a:latin typeface="Arial" panose="020B0604020202020204" pitchFamily="34" charset="0"/>
              </a:rPr>
              <a:t>S</a:t>
            </a:r>
            <a:r>
              <a:rPr lang="zh-CN" altLang="en-US" dirty="0">
                <a:latin typeface="Arial" panose="020B0604020202020204" pitchFamily="34" charset="0"/>
              </a:rPr>
              <a:t>的所有元组组成</a:t>
            </a:r>
            <a:endParaRPr lang="zh-CN" altLang="en-US" dirty="0">
              <a:latin typeface="Arial" panose="020B0604020202020204" pitchFamily="34" charset="0"/>
            </a:endParaRPr>
          </a:p>
          <a:p>
            <a:pPr algn="just" eaLnBrk="1" hangingPunct="1">
              <a:buNone/>
            </a:pPr>
            <a:r>
              <a:rPr lang="zh-CN" altLang="en-US" sz="3200" dirty="0">
                <a:latin typeface="Arial" panose="020B0604020202020204" pitchFamily="34" charset="0"/>
              </a:rPr>
              <a:t>               </a:t>
            </a:r>
            <a:r>
              <a:rPr lang="zh-CN" altLang="en-US" sz="3200" dirty="0"/>
              <a:t> </a:t>
            </a:r>
            <a:r>
              <a:rPr lang="en-US" altLang="zh-CN" sz="3200" dirty="0">
                <a:latin typeface="Arial" panose="020B0604020202020204" pitchFamily="34" charset="0"/>
              </a:rPr>
              <a:t>R</a:t>
            </a:r>
            <a:r>
              <a:rPr lang="zh-CN" altLang="en-US" sz="3200" dirty="0">
                <a:latin typeface="Arial" panose="020B0604020202020204" pitchFamily="34" charset="0"/>
              </a:rPr>
              <a:t>－</a:t>
            </a:r>
            <a:r>
              <a:rPr lang="en-US" altLang="zh-CN" sz="3200" dirty="0">
                <a:latin typeface="Arial" panose="020B0604020202020204" pitchFamily="34" charset="0"/>
              </a:rPr>
              <a:t>S = { t | t</a:t>
            </a:r>
            <a:r>
              <a:rPr lang="en-US" altLang="zh-CN" sz="3200" dirty="0">
                <a:latin typeface="Arial" panose="020B0604020202020204" pitchFamily="34" charset="0"/>
                <a:sym typeface="Symbol" panose="05050102010706020507" pitchFamily="18" charset="2"/>
              </a:rPr>
              <a:t></a:t>
            </a:r>
            <a:r>
              <a:rPr lang="en-US" altLang="zh-CN" sz="3200" dirty="0">
                <a:latin typeface="Arial" panose="020B0604020202020204" pitchFamily="34" charset="0"/>
              </a:rPr>
              <a:t>R∧t</a:t>
            </a:r>
            <a:r>
              <a:rPr lang="en-US" altLang="zh-CN" sz="3200" dirty="0">
                <a:latin typeface="Arial" panose="020B0604020202020204" pitchFamily="34" charset="0"/>
                <a:sym typeface="Symbol" panose="05050102010706020507" pitchFamily="18" charset="2"/>
              </a:rPr>
              <a:t></a:t>
            </a:r>
            <a:r>
              <a:rPr lang="en-US" altLang="zh-CN" sz="3200" dirty="0">
                <a:latin typeface="Arial" panose="020B0604020202020204" pitchFamily="34" charset="0"/>
              </a:rPr>
              <a:t>S }</a:t>
            </a:r>
            <a:endParaRPr lang="en-US" altLang="zh-CN" sz="3200" dirty="0">
              <a:latin typeface="Arial" panose="020B0604020202020204" pitchFamily="34" charset="0"/>
            </a:endParaRPr>
          </a:p>
          <a:p>
            <a:pPr algn="just" eaLnBrk="1" hangingPunct="1">
              <a:buNone/>
            </a:pPr>
            <a:endParaRPr lang="en-US" altLang="zh-CN" sz="3200"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差</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7891" name="Text Box 7"/>
          <p:cNvSpPr txBox="1"/>
          <p:nvPr/>
        </p:nvSpPr>
        <p:spPr>
          <a:xfrm>
            <a:off x="1042988" y="1762125"/>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37892" name="Text Box 8"/>
          <p:cNvSpPr txBox="1"/>
          <p:nvPr/>
        </p:nvSpPr>
        <p:spPr>
          <a:xfrm>
            <a:off x="4137025" y="1746250"/>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214025" name="Group 9"/>
          <p:cNvGraphicFramePr>
            <a:graphicFrameLocks noGrp="1"/>
          </p:cNvGraphicFramePr>
          <p:nvPr/>
        </p:nvGraphicFramePr>
        <p:xfrm>
          <a:off x="255588" y="2322513"/>
          <a:ext cx="2160588" cy="2560638"/>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14047" name="Group 31"/>
          <p:cNvGraphicFramePr>
            <a:graphicFrameLocks noGrp="1"/>
          </p:cNvGraphicFramePr>
          <p:nvPr/>
        </p:nvGraphicFramePr>
        <p:xfrm>
          <a:off x="3348038" y="2322513"/>
          <a:ext cx="2160588" cy="2560638"/>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14069" name="Group 53"/>
          <p:cNvGraphicFramePr>
            <a:graphicFrameLocks noGrp="1"/>
          </p:cNvGraphicFramePr>
          <p:nvPr/>
        </p:nvGraphicFramePr>
        <p:xfrm>
          <a:off x="6443663" y="2987675"/>
          <a:ext cx="2160588" cy="127952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37951" name="Text Box 67"/>
          <p:cNvSpPr txBox="1"/>
          <p:nvPr/>
        </p:nvSpPr>
        <p:spPr>
          <a:xfrm>
            <a:off x="6804025" y="2276475"/>
            <a:ext cx="1368425"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sp>
        <p:nvSpPr>
          <p:cNvPr id="37952" name="Text Box 68"/>
          <p:cNvSpPr txBox="1"/>
          <p:nvPr/>
        </p:nvSpPr>
        <p:spPr>
          <a:xfrm>
            <a:off x="2489200" y="3303588"/>
            <a:ext cx="642938"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zh-CN" altLang="en-US"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37953" name="Text Box 69"/>
          <p:cNvSpPr txBox="1"/>
          <p:nvPr/>
        </p:nvSpPr>
        <p:spPr>
          <a:xfrm>
            <a:off x="5580063" y="3303588"/>
            <a:ext cx="642937"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zh-CN" altLang="en-US"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214087" name="AutoShape 71">
            <a:hlinkClick r:id="rId3" action="ppaction://hlinksldjump"/>
          </p:cNvPr>
          <p:cNvSpPr>
            <a:spLocks noChangeArrowheads="1"/>
          </p:cNvSpPr>
          <p:nvPr/>
        </p:nvSpPr>
        <p:spPr bwMode="auto">
          <a:xfrm>
            <a:off x="8101013"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random/>
    <p:sndAc>
      <p:stSnd>
        <p:snd r:embed="rId4" name="CAMERA.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31" name="Rectangle 7"/>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dirty="0">
                <a:sym typeface="+mn-ea"/>
              </a:rPr>
              <a:t>)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交</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(Intersection)</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8915" name="Rectangle 8"/>
          <p:cNvSpPr>
            <a:spLocks noGrp="1"/>
          </p:cNvSpPr>
          <p:nvPr>
            <p:ph idx="1"/>
          </p:nvPr>
        </p:nvSpPr>
        <p:spPr/>
        <p:txBody>
          <a:bodyPr vert="horz" wrap="square" lIns="91440" tIns="45720" rIns="91440" bIns="45720" anchor="t" anchorCtr="0"/>
          <a:p>
            <a:pPr eaLnBrk="1" hangingPunct="1"/>
            <a:r>
              <a:rPr lang="en-US" altLang="zh-CN" dirty="0"/>
              <a:t>R</a:t>
            </a:r>
            <a:r>
              <a:rPr lang="zh-CN" altLang="en-US" dirty="0"/>
              <a:t>和</a:t>
            </a:r>
            <a:r>
              <a:rPr lang="en-US" altLang="zh-CN" dirty="0"/>
              <a:t>S</a:t>
            </a:r>
            <a:endParaRPr lang="en-US" altLang="zh-CN" dirty="0"/>
          </a:p>
          <a:p>
            <a:pPr lvl="1" eaLnBrk="1" hangingPunct="1"/>
            <a:r>
              <a:rPr lang="zh-CN" altLang="en-US" dirty="0"/>
              <a:t>具有相同的目</a:t>
            </a:r>
            <a:r>
              <a:rPr lang="en-US" altLang="zh-CN" dirty="0"/>
              <a:t>n</a:t>
            </a:r>
            <a:endParaRPr lang="en-US" altLang="zh-CN" dirty="0"/>
          </a:p>
          <a:p>
            <a:pPr lvl="1" eaLnBrk="1" hangingPunct="1"/>
            <a:r>
              <a:rPr lang="zh-CN" altLang="en-US" dirty="0"/>
              <a:t>相应的属性取自同一个域</a:t>
            </a:r>
            <a:endParaRPr lang="zh-CN" altLang="en-US" dirty="0"/>
          </a:p>
          <a:p>
            <a:pPr eaLnBrk="1" hangingPunct="1"/>
            <a:endParaRPr lang="zh-CN" altLang="en-US" dirty="0"/>
          </a:p>
          <a:p>
            <a:pPr eaLnBrk="1" hangingPunct="1"/>
            <a:r>
              <a:rPr lang="en-US" altLang="zh-CN" dirty="0"/>
              <a:t>R</a:t>
            </a:r>
            <a:r>
              <a:rPr lang="en-US" altLang="zh-CN" dirty="0">
                <a:solidFill>
                  <a:srgbClr val="FF0000"/>
                </a:solidFill>
              </a:rPr>
              <a:t>∩</a:t>
            </a:r>
            <a:r>
              <a:rPr lang="en-US" altLang="zh-CN" dirty="0"/>
              <a:t>S</a:t>
            </a:r>
            <a:endParaRPr lang="en-US" altLang="zh-CN" dirty="0"/>
          </a:p>
          <a:p>
            <a:pPr lvl="1" eaLnBrk="1" hangingPunct="1"/>
            <a:r>
              <a:rPr lang="zh-CN" altLang="en-US" dirty="0"/>
              <a:t>仍为</a:t>
            </a:r>
            <a:r>
              <a:rPr lang="en-US" altLang="zh-CN" dirty="0"/>
              <a:t>n</a:t>
            </a:r>
            <a:r>
              <a:rPr lang="zh-CN" altLang="en-US" dirty="0"/>
              <a:t>目关系，由既属于</a:t>
            </a:r>
            <a:r>
              <a:rPr lang="en-US" altLang="zh-CN" dirty="0"/>
              <a:t>R</a:t>
            </a:r>
            <a:r>
              <a:rPr lang="zh-CN" altLang="en-US" dirty="0"/>
              <a:t>又属于</a:t>
            </a:r>
            <a:r>
              <a:rPr lang="en-US" altLang="zh-CN" dirty="0"/>
              <a:t>S</a:t>
            </a:r>
            <a:r>
              <a:rPr lang="zh-CN" altLang="en-US" dirty="0"/>
              <a:t>的元组组成</a:t>
            </a:r>
            <a:endParaRPr lang="zh-CN" altLang="en-US" dirty="0"/>
          </a:p>
          <a:p>
            <a:pPr lvl="1" eaLnBrk="1" hangingPunct="1">
              <a:buNone/>
            </a:pPr>
            <a:r>
              <a:rPr lang="zh-CN" altLang="en-US" dirty="0"/>
              <a:t>		  </a:t>
            </a:r>
            <a:r>
              <a:rPr lang="en-US" altLang="zh-CN" dirty="0"/>
              <a:t>R∩S = { t | t </a:t>
            </a:r>
            <a:r>
              <a:rPr lang="en-US" altLang="zh-CN" dirty="0">
                <a:sym typeface="Symbol" panose="05050102010706020507" pitchFamily="18" charset="2"/>
              </a:rPr>
              <a:t></a:t>
            </a:r>
            <a:r>
              <a:rPr lang="en-US" altLang="zh-CN" dirty="0"/>
              <a:t> R∧t </a:t>
            </a:r>
            <a:r>
              <a:rPr lang="en-US" altLang="zh-CN" dirty="0">
                <a:sym typeface="Symbol" panose="05050102010706020507" pitchFamily="18" charset="2"/>
              </a:rPr>
              <a:t></a:t>
            </a:r>
            <a:r>
              <a:rPr lang="en-US" altLang="zh-CN" dirty="0"/>
              <a:t>S }                  </a:t>
            </a:r>
            <a:endParaRPr lang="en-US" altLang="zh-CN" dirty="0"/>
          </a:p>
        </p:txBody>
      </p:sp>
    </p:spTree>
  </p:cSld>
  <p:clrMapOvr>
    <a:masterClrMapping/>
  </p:clrMapOvr>
  <p:transition>
    <p:random/>
    <p:sndAc>
      <p:stSnd>
        <p:snd r:embed="rId1" name="CAMERA.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a:xfrm>
            <a:off x="250825" y="73025"/>
            <a:ext cx="8066088" cy="54768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交</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9939" name="Text Box 82"/>
          <p:cNvSpPr txBox="1"/>
          <p:nvPr/>
        </p:nvSpPr>
        <p:spPr>
          <a:xfrm>
            <a:off x="1042988" y="1762125"/>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39940" name="Text Box 83"/>
          <p:cNvSpPr txBox="1"/>
          <p:nvPr/>
        </p:nvSpPr>
        <p:spPr>
          <a:xfrm>
            <a:off x="4137025" y="1746250"/>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215124" name="Group 84"/>
          <p:cNvGraphicFramePr>
            <a:graphicFrameLocks noGrp="1"/>
          </p:cNvGraphicFramePr>
          <p:nvPr/>
        </p:nvGraphicFramePr>
        <p:xfrm>
          <a:off x="255588" y="2322513"/>
          <a:ext cx="2160588" cy="2560638"/>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15146" name="Group 106"/>
          <p:cNvGraphicFramePr>
            <a:graphicFrameLocks noGrp="1"/>
          </p:cNvGraphicFramePr>
          <p:nvPr/>
        </p:nvGraphicFramePr>
        <p:xfrm>
          <a:off x="3348038" y="2322513"/>
          <a:ext cx="2160588" cy="2560638"/>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15207" name="Group 167"/>
          <p:cNvGraphicFramePr>
            <a:graphicFrameLocks noGrp="1"/>
          </p:cNvGraphicFramePr>
          <p:nvPr/>
        </p:nvGraphicFramePr>
        <p:xfrm>
          <a:off x="6443663" y="2709863"/>
          <a:ext cx="2160588" cy="19208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397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40003" name="Text Box 142"/>
          <p:cNvSpPr txBox="1"/>
          <p:nvPr/>
        </p:nvSpPr>
        <p:spPr>
          <a:xfrm>
            <a:off x="6902450" y="1995488"/>
            <a:ext cx="1341438"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r>
              <a:rPr lang="en-US" altLang="zh-CN" sz="1800" dirty="0">
                <a:solidFill>
                  <a:schemeClr val="tx1"/>
                </a:solidFill>
                <a:latin typeface="Arial" panose="020B0604020202020204" pitchFamily="34" charset="0"/>
                <a:ea typeface="宋体" panose="02010600030101010101" pitchFamily="2" charset="-122"/>
              </a:rPr>
              <a:t> </a:t>
            </a: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sp>
        <p:nvSpPr>
          <p:cNvPr id="40004" name="Text Box 143"/>
          <p:cNvSpPr txBox="1"/>
          <p:nvPr/>
        </p:nvSpPr>
        <p:spPr>
          <a:xfrm>
            <a:off x="2489200" y="3303588"/>
            <a:ext cx="642938"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0005" name="Text Box 144"/>
          <p:cNvSpPr txBox="1"/>
          <p:nvPr/>
        </p:nvSpPr>
        <p:spPr>
          <a:xfrm>
            <a:off x="5580063" y="3303588"/>
            <a:ext cx="642937"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zh-CN" altLang="en-US"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215208" name="AutoShape 168">
            <a:hlinkClick r:id="rId3" action="ppaction://hlinksldjump"/>
          </p:cNvPr>
          <p:cNvSpPr>
            <a:spLocks noChangeArrowheads="1"/>
          </p:cNvSpPr>
          <p:nvPr/>
        </p:nvSpPr>
        <p:spPr bwMode="auto">
          <a:xfrm>
            <a:off x="8101013"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random/>
    <p:sndAc>
      <p:stSnd>
        <p:snd r:embed="rId4" name="CAMERA.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
          <p:cNvSpPr txBox="1"/>
          <p:nvPr/>
        </p:nvSpPr>
        <p:spPr>
          <a:xfrm>
            <a:off x="1127125" y="5202238"/>
            <a:ext cx="184150" cy="45720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zh-CN" sz="2400" dirty="0">
              <a:solidFill>
                <a:schemeClr val="tx1"/>
              </a:solidFill>
              <a:ea typeface="宋体" panose="02010600030101010101" pitchFamily="2" charset="-122"/>
            </a:endParaRPr>
          </a:p>
        </p:txBody>
      </p:sp>
      <p:sp>
        <p:nvSpPr>
          <p:cNvPr id="207878" name="Rectangle 6"/>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lang="en-US" altLang="zh-CN" dirty="0">
                <a:sym typeface="+mn-ea"/>
              </a:rPr>
              <a:t>)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广义笛卡尔</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积</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0" lang="en-US" altLang="zh-CN" sz="2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Extended Cartesian Product</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0964" name="Rectangle 7"/>
          <p:cNvSpPr>
            <a:spLocks noGrp="1"/>
          </p:cNvSpPr>
          <p:nvPr>
            <p:ph idx="1"/>
          </p:nvPr>
        </p:nvSpPr>
        <p:spPr/>
        <p:txBody>
          <a:bodyPr vert="horz" wrap="square" lIns="91440" tIns="45720" rIns="91440" bIns="45720" anchor="t" anchorCtr="0"/>
          <a:p>
            <a:pPr eaLnBrk="1" hangingPunct="1">
              <a:spcBef>
                <a:spcPct val="5000"/>
              </a:spcBef>
            </a:pPr>
            <a:r>
              <a:rPr lang="en-US" altLang="zh-CN" dirty="0"/>
              <a:t>R</a:t>
            </a:r>
            <a:r>
              <a:rPr lang="zh-CN" altLang="en-US" dirty="0"/>
              <a:t>：</a:t>
            </a:r>
            <a:r>
              <a:rPr lang="en-US" altLang="zh-CN" dirty="0"/>
              <a:t>m</a:t>
            </a:r>
            <a:r>
              <a:rPr lang="zh-CN" altLang="en-US" dirty="0"/>
              <a:t>目关系，</a:t>
            </a:r>
            <a:r>
              <a:rPr lang="en-US" altLang="zh-CN" dirty="0"/>
              <a:t>k</a:t>
            </a:r>
            <a:r>
              <a:rPr lang="en-US" altLang="zh-CN" baseline="-25000" dirty="0"/>
              <a:t>1</a:t>
            </a:r>
            <a:r>
              <a:rPr lang="zh-CN" altLang="en-US" dirty="0"/>
              <a:t>个元组</a:t>
            </a:r>
            <a:endParaRPr lang="zh-CN" altLang="en-US" dirty="0"/>
          </a:p>
          <a:p>
            <a:pPr eaLnBrk="1" hangingPunct="1">
              <a:spcBef>
                <a:spcPct val="5000"/>
              </a:spcBef>
              <a:buNone/>
            </a:pPr>
            <a:r>
              <a:rPr lang="zh-CN" altLang="en-US" dirty="0"/>
              <a:t>    </a:t>
            </a:r>
            <a:r>
              <a:rPr lang="en-US" altLang="zh-CN" dirty="0"/>
              <a:t>S</a:t>
            </a:r>
            <a:r>
              <a:rPr lang="zh-CN" altLang="en-US" dirty="0"/>
              <a:t>： </a:t>
            </a:r>
            <a:r>
              <a:rPr lang="en-US" altLang="zh-CN" dirty="0"/>
              <a:t>n</a:t>
            </a:r>
            <a:r>
              <a:rPr lang="zh-CN" altLang="en-US" dirty="0"/>
              <a:t>目关系，</a:t>
            </a:r>
            <a:r>
              <a:rPr lang="en-US" altLang="zh-CN" dirty="0"/>
              <a:t>k</a:t>
            </a:r>
            <a:r>
              <a:rPr lang="en-US" altLang="zh-CN" baseline="-25000" dirty="0"/>
              <a:t>2</a:t>
            </a:r>
            <a:r>
              <a:rPr lang="zh-CN" altLang="en-US" dirty="0"/>
              <a:t>个元组</a:t>
            </a:r>
            <a:endParaRPr lang="zh-CN" altLang="en-US" dirty="0"/>
          </a:p>
          <a:p>
            <a:pPr eaLnBrk="1" hangingPunct="1"/>
            <a:r>
              <a:rPr lang="en-US" altLang="zh-CN" dirty="0"/>
              <a:t>R</a:t>
            </a:r>
            <a:r>
              <a:rPr lang="en-US" altLang="zh-CN" dirty="0">
                <a:solidFill>
                  <a:srgbClr val="FF0000"/>
                </a:solidFill>
              </a:rPr>
              <a:t>×</a:t>
            </a:r>
            <a:r>
              <a:rPr lang="en-US" altLang="zh-CN" dirty="0"/>
              <a:t>S </a:t>
            </a:r>
            <a:endParaRPr lang="en-US" altLang="zh-CN" dirty="0"/>
          </a:p>
          <a:p>
            <a:pPr lvl="1" eaLnBrk="1" hangingPunct="1"/>
            <a:r>
              <a:rPr lang="zh-CN" altLang="en-US" dirty="0"/>
              <a:t>列：</a:t>
            </a:r>
            <a:r>
              <a:rPr lang="en-US" altLang="zh-CN" dirty="0"/>
              <a:t>m</a:t>
            </a:r>
            <a:r>
              <a:rPr lang="zh-CN" altLang="en-US" dirty="0"/>
              <a:t>＋</a:t>
            </a:r>
            <a:r>
              <a:rPr lang="en-US" altLang="zh-CN" dirty="0"/>
              <a:t>n </a:t>
            </a:r>
            <a:r>
              <a:rPr lang="zh-CN" altLang="en-US" dirty="0"/>
              <a:t>列的元组的集合</a:t>
            </a:r>
            <a:endParaRPr lang="zh-CN" altLang="en-US" dirty="0"/>
          </a:p>
          <a:p>
            <a:pPr lvl="2" eaLnBrk="1" hangingPunct="1"/>
            <a:r>
              <a:rPr lang="zh-CN" altLang="en-US" dirty="0"/>
              <a:t>前 </a:t>
            </a:r>
            <a:r>
              <a:rPr lang="en-US" altLang="zh-CN" dirty="0"/>
              <a:t>m </a:t>
            </a:r>
            <a:r>
              <a:rPr lang="zh-CN" altLang="en-US" dirty="0"/>
              <a:t>列是关系 </a:t>
            </a:r>
            <a:r>
              <a:rPr lang="en-US" altLang="zh-CN" dirty="0"/>
              <a:t>R </a:t>
            </a:r>
            <a:r>
              <a:rPr lang="zh-CN" altLang="en-US" dirty="0"/>
              <a:t>的一个元组</a:t>
            </a:r>
            <a:endParaRPr lang="zh-CN" altLang="en-US" dirty="0"/>
          </a:p>
          <a:p>
            <a:pPr lvl="2" eaLnBrk="1" hangingPunct="1"/>
            <a:r>
              <a:rPr lang="zh-CN" altLang="en-US" dirty="0"/>
              <a:t>后 </a:t>
            </a:r>
            <a:r>
              <a:rPr lang="en-US" altLang="zh-CN" dirty="0"/>
              <a:t>n </a:t>
            </a:r>
            <a:r>
              <a:rPr lang="zh-CN" altLang="en-US" dirty="0"/>
              <a:t>列是关系 </a:t>
            </a:r>
            <a:r>
              <a:rPr lang="en-US" altLang="zh-CN" dirty="0"/>
              <a:t>S </a:t>
            </a:r>
            <a:r>
              <a:rPr lang="zh-CN" altLang="en-US" dirty="0"/>
              <a:t>的一个元组</a:t>
            </a:r>
            <a:endParaRPr lang="zh-CN" altLang="en-US" dirty="0"/>
          </a:p>
          <a:p>
            <a:pPr lvl="1" eaLnBrk="1" hangingPunct="1"/>
            <a:r>
              <a:rPr lang="zh-CN" altLang="en-US" dirty="0"/>
              <a:t>行：</a:t>
            </a:r>
            <a:r>
              <a:rPr lang="en-US" altLang="zh-CN" dirty="0"/>
              <a:t>k</a:t>
            </a:r>
            <a:r>
              <a:rPr lang="en-US" altLang="zh-CN" sz="3600" baseline="-25000" dirty="0"/>
              <a:t>1</a:t>
            </a:r>
            <a:r>
              <a:rPr lang="en-US" altLang="zh-CN" dirty="0"/>
              <a:t>×k</a:t>
            </a:r>
            <a:r>
              <a:rPr lang="en-US" altLang="zh-CN" sz="3600" baseline="-25000" dirty="0"/>
              <a:t>2</a:t>
            </a:r>
            <a:r>
              <a:rPr lang="zh-CN" altLang="en-US" dirty="0"/>
              <a:t>个元组</a:t>
            </a:r>
            <a:endParaRPr lang="zh-CN" altLang="en-US" dirty="0"/>
          </a:p>
          <a:p>
            <a:pPr lvl="2" eaLnBrk="1" hangingPunct="1">
              <a:spcBef>
                <a:spcPct val="60000"/>
              </a:spcBef>
              <a:buNone/>
            </a:pPr>
            <a:r>
              <a:rPr lang="en-US" altLang="zh-CN" sz="3200" dirty="0"/>
              <a:t>R×S = { t</a:t>
            </a:r>
            <a:r>
              <a:rPr lang="en-US" altLang="zh-CN" sz="4000" baseline="-25000" dirty="0"/>
              <a:t>r</a:t>
            </a:r>
            <a:r>
              <a:rPr lang="en-US" altLang="zh-CN" sz="3200" dirty="0"/>
              <a:t> t</a:t>
            </a:r>
            <a:r>
              <a:rPr lang="en-US" altLang="zh-CN" sz="4000" baseline="-25000" dirty="0"/>
              <a:t>s</a:t>
            </a:r>
            <a:r>
              <a:rPr lang="en-US" altLang="zh-CN" sz="3200" dirty="0"/>
              <a:t> | t</a:t>
            </a:r>
            <a:r>
              <a:rPr lang="en-US" altLang="zh-CN" sz="4000" baseline="-25000" dirty="0"/>
              <a:t>r</a:t>
            </a:r>
            <a:r>
              <a:rPr lang="en-US" altLang="zh-CN" sz="3200" dirty="0"/>
              <a:t> </a:t>
            </a:r>
            <a:r>
              <a:rPr lang="en-US" altLang="zh-CN" sz="3200" dirty="0">
                <a:sym typeface="Symbol" panose="05050102010706020507" pitchFamily="18" charset="2"/>
              </a:rPr>
              <a:t></a:t>
            </a:r>
            <a:r>
              <a:rPr lang="en-US" altLang="zh-CN" sz="3200" dirty="0"/>
              <a:t>R ∧ t</a:t>
            </a:r>
            <a:r>
              <a:rPr lang="en-US" altLang="zh-CN" sz="4000" baseline="-25000" dirty="0"/>
              <a:t>s</a:t>
            </a:r>
            <a:r>
              <a:rPr lang="en-US" altLang="zh-CN" sz="3200" dirty="0">
                <a:sym typeface="Symbol" panose="05050102010706020507" pitchFamily="18" charset="2"/>
              </a:rPr>
              <a:t></a:t>
            </a:r>
            <a:r>
              <a:rPr lang="en-US" altLang="zh-CN" sz="3200" dirty="0"/>
              <a:t>S }</a:t>
            </a:r>
            <a:endParaRPr lang="en-US" altLang="zh-CN" sz="3200" dirty="0"/>
          </a:p>
        </p:txBody>
      </p:sp>
      <p:sp>
        <p:nvSpPr>
          <p:cNvPr id="40965" name="Freeform 5"/>
          <p:cNvSpPr/>
          <p:nvPr/>
        </p:nvSpPr>
        <p:spPr>
          <a:xfrm rot="-1517971">
            <a:off x="2916238" y="5162550"/>
            <a:ext cx="433387" cy="252413"/>
          </a:xfrm>
          <a:custGeom>
            <a:avLst/>
            <a:gdLst>
              <a:gd name="txL" fmla="*/ 0 w 273"/>
              <a:gd name="txT" fmla="*/ 0 h 159"/>
              <a:gd name="txR" fmla="*/ 273 w 273"/>
              <a:gd name="txB" fmla="*/ 159 h 159"/>
            </a:gdLst>
            <a:ahLst/>
            <a:cxnLst>
              <a:cxn ang="0">
                <a:pos x="0" y="2147483647"/>
              </a:cxn>
              <a:cxn ang="0">
                <a:pos x="2147483647" y="2147483647"/>
              </a:cxn>
              <a:cxn ang="0">
                <a:pos x="2147483647" y="2147483647"/>
              </a:cxn>
            </a:cxnLst>
            <a:rect l="txL" t="txT" r="txR" b="txB"/>
            <a:pathLst>
              <a:path w="273" h="159">
                <a:moveTo>
                  <a:pt x="0" y="23"/>
                </a:moveTo>
                <a:cubicBezTo>
                  <a:pt x="68" y="11"/>
                  <a:pt x="136" y="0"/>
                  <a:pt x="182" y="23"/>
                </a:cubicBezTo>
                <a:cubicBezTo>
                  <a:pt x="228" y="46"/>
                  <a:pt x="266" y="136"/>
                  <a:pt x="273" y="159"/>
                </a:cubicBezTo>
              </a:path>
            </a:pathLst>
          </a:custGeom>
          <a:noFill/>
          <a:ln w="38100" cap="flat" cmpd="sng">
            <a:solidFill>
              <a:srgbClr val="000000">
                <a:alpha val="100000"/>
              </a:srgbClr>
            </a:solidFill>
            <a:prstDash val="solid"/>
            <a:round/>
            <a:headEnd type="none" w="med" len="med"/>
            <a:tailEnd type="none" w="med" len="med"/>
          </a:ln>
        </p:spPr>
        <p:txBody>
          <a:bodyPr/>
          <a:p>
            <a:endParaRPr lang="zh-CN" altLang="en-US"/>
          </a:p>
        </p:txBody>
      </p:sp>
    </p:spTree>
  </p:cSld>
  <p:clrMapOvr>
    <a:masterClrMapping/>
  </p:clrMapOvr>
  <p:transition>
    <p:random/>
    <p:sndAc>
      <p:stSnd>
        <p:snd r:embed="rId3"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7091" name="Rectangle 3"/>
          <p:cNvSpPr>
            <a:spLocks noGrp="1" noChangeArrowheads="1"/>
          </p:cNvSpPr>
          <p:nvPr>
            <p:ph type="title"/>
          </p:nvPr>
        </p:nvSpPr>
        <p:spPr>
          <a:xfrm>
            <a:off x="179388" y="0"/>
            <a:ext cx="8929688"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广义笛卡尔</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积</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graphicFrame>
        <p:nvGraphicFramePr>
          <p:cNvPr id="217951" name="Group 863"/>
          <p:cNvGraphicFramePr>
            <a:graphicFrameLocks noGrp="1"/>
          </p:cNvGraphicFramePr>
          <p:nvPr/>
        </p:nvGraphicFramePr>
        <p:xfrm>
          <a:off x="458788" y="1485900"/>
          <a:ext cx="2457450" cy="2378075"/>
        </p:xfrm>
        <a:graphic>
          <a:graphicData uri="http://schemas.openxmlformats.org/drawingml/2006/table">
            <a:tbl>
              <a:tblPr/>
              <a:tblGrid>
                <a:gridCol w="819150"/>
                <a:gridCol w="836612"/>
                <a:gridCol w="801688"/>
              </a:tblGrid>
              <a:tr h="4381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381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381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381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graphicFrame>
        <p:nvGraphicFramePr>
          <p:cNvPr id="217964" name="Group 876"/>
          <p:cNvGraphicFramePr>
            <a:graphicFrameLocks noGrp="1"/>
          </p:cNvGraphicFramePr>
          <p:nvPr/>
        </p:nvGraphicFramePr>
        <p:xfrm>
          <a:off x="458788" y="4286250"/>
          <a:ext cx="2457450" cy="2378075"/>
        </p:xfrm>
        <a:graphic>
          <a:graphicData uri="http://schemas.openxmlformats.org/drawingml/2006/table">
            <a:tbl>
              <a:tblPr/>
              <a:tblGrid>
                <a:gridCol w="819150"/>
                <a:gridCol w="819150"/>
                <a:gridCol w="819150"/>
              </a:tblGrid>
              <a:tr h="3619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D</a:t>
                      </a:r>
                      <a:endParaRPr kumimoji="0" lang="en-US" altLang="zh-CN" sz="36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E</a:t>
                      </a:r>
                      <a:endParaRPr kumimoji="0" lang="en-US" altLang="zh-CN" sz="36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381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381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381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
        <p:nvSpPr>
          <p:cNvPr id="42031" name="Rectangle 103"/>
          <p:cNvSpPr/>
          <p:nvPr/>
        </p:nvSpPr>
        <p:spPr>
          <a:xfrm>
            <a:off x="179388" y="981075"/>
            <a:ext cx="404812" cy="542925"/>
          </a:xfrm>
          <a:prstGeom prst="rect">
            <a:avLst/>
          </a:prstGeom>
          <a:noFill/>
          <a:ln w="9525">
            <a:noFill/>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r"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42032" name="Rectangle 104"/>
          <p:cNvSpPr/>
          <p:nvPr/>
        </p:nvSpPr>
        <p:spPr>
          <a:xfrm>
            <a:off x="106363" y="3716338"/>
            <a:ext cx="504825" cy="649287"/>
          </a:xfrm>
          <a:prstGeom prst="rect">
            <a:avLst/>
          </a:prstGeom>
          <a:noFill/>
          <a:ln w="9525">
            <a:noFill/>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r"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sp>
        <p:nvSpPr>
          <p:cNvPr id="42033" name="Rectangle 105"/>
          <p:cNvSpPr/>
          <p:nvPr/>
        </p:nvSpPr>
        <p:spPr>
          <a:xfrm>
            <a:off x="3276600" y="3357563"/>
            <a:ext cx="982663" cy="762000"/>
          </a:xfrm>
          <a:prstGeom prst="rect">
            <a:avLst/>
          </a:prstGeom>
          <a:noFill/>
          <a:ln w="9525">
            <a:noFill/>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dirty="0">
                <a:latin typeface="Arial" panose="020B0604020202020204" pitchFamily="34" charset="0"/>
                <a:ea typeface="宋体" panose="02010600030101010101" pitchFamily="2" charset="-122"/>
              </a:rPr>
              <a:t>R×S</a:t>
            </a:r>
            <a:r>
              <a:rPr lang="en-US" altLang="zh-CN" sz="2400" dirty="0">
                <a:latin typeface="Arial" panose="020B0604020202020204" pitchFamily="34" charset="0"/>
              </a:rPr>
              <a:t> </a:t>
            </a:r>
            <a:endParaRPr lang="en-US" altLang="zh-CN" sz="2400" dirty="0">
              <a:latin typeface="Arial" panose="020B0604020202020204" pitchFamily="34" charset="0"/>
            </a:endParaRPr>
          </a:p>
        </p:txBody>
      </p:sp>
      <p:graphicFrame>
        <p:nvGraphicFramePr>
          <p:cNvPr id="217966" name="Group 878"/>
          <p:cNvGraphicFramePr>
            <a:graphicFrameLocks noGrp="1"/>
          </p:cNvGraphicFramePr>
          <p:nvPr/>
        </p:nvGraphicFramePr>
        <p:xfrm>
          <a:off x="4448175" y="908050"/>
          <a:ext cx="4445000" cy="5807075"/>
        </p:xfrm>
        <a:graphic>
          <a:graphicData uri="http://schemas.openxmlformats.org/drawingml/2006/table">
            <a:tbl>
              <a:tblPr/>
              <a:tblGrid>
                <a:gridCol w="766763"/>
                <a:gridCol w="776287"/>
                <a:gridCol w="725488"/>
                <a:gridCol w="725487"/>
                <a:gridCol w="725488"/>
                <a:gridCol w="725487"/>
              </a:tblGrid>
              <a:tr h="5762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A</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B</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R.C</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S.C</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D</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E</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30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30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30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
        <p:nvSpPr>
          <p:cNvPr id="217962" name="AutoShape 874">
            <a:hlinkClick r:id="rId3" action="ppaction://hlinksldjump"/>
          </p:cNvPr>
          <p:cNvSpPr>
            <a:spLocks noChangeArrowheads="1"/>
          </p:cNvSpPr>
          <p:nvPr/>
        </p:nvSpPr>
        <p:spPr bwMode="auto">
          <a:xfrm>
            <a:off x="8316913" y="73025"/>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17967" name="Picture 879" descr="paint"/>
          <p:cNvPicPr>
            <a:picLocks noChangeAspect="1"/>
          </p:cNvPicPr>
          <p:nvPr/>
        </p:nvPicPr>
        <p:blipFill>
          <a:blip r:embed="rId4">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Tree>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7967"/>
                                        </p:tgtEl>
                                        <p:attrNameLst>
                                          <p:attrName>style.visibility</p:attrName>
                                        </p:attrNameLst>
                                      </p:cBhvr>
                                      <p:to>
                                        <p:strVal val="visible"/>
                                      </p:to>
                                    </p:set>
                                    <p:animEffect transition="in" filter="wipe(left)">
                                      <p:cBhvr>
                                        <p:cTn id="7" dur="500"/>
                                        <p:tgtEl>
                                          <p:spTgt spid="217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集合运算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43011" name="Rectangle 3"/>
          <p:cNvSpPr>
            <a:spLocks noGrp="1"/>
          </p:cNvSpPr>
          <p:nvPr>
            <p:ph idx="1"/>
          </p:nvPr>
        </p:nvSpPr>
        <p:spPr>
          <a:xfrm>
            <a:off x="179388" y="3717925"/>
            <a:ext cx="8821737" cy="2951163"/>
          </a:xfrm>
        </p:spPr>
        <p:txBody>
          <a:bodyPr vert="horz" wrap="square" lIns="91440" tIns="45720" rIns="91440" bIns="45720" anchor="t" anchorCtr="0"/>
          <a:p>
            <a:pPr marL="685800" indent="-685800" eaLnBrk="1" hangingPunct="1">
              <a:lnSpc>
                <a:spcPct val="90000"/>
              </a:lnSpc>
              <a:buSzPct val="120000"/>
              <a:buNone/>
            </a:pPr>
            <a:r>
              <a:rPr lang="en-US" altLang="zh-CN" dirty="0">
                <a:latin typeface="Arial" panose="020B0604020202020204" pitchFamily="34" charset="0"/>
              </a:rPr>
              <a:t>    </a:t>
            </a:r>
            <a:r>
              <a:rPr lang="zh-CN" altLang="en-US" dirty="0">
                <a:latin typeface="Arial" panose="020B0604020202020204" pitchFamily="34" charset="0"/>
              </a:rPr>
              <a:t>设有上图所示的关系</a:t>
            </a:r>
            <a:r>
              <a:rPr lang="en-US" altLang="zh-CN" dirty="0">
                <a:latin typeface="Arial" panose="020B0604020202020204" pitchFamily="34" charset="0"/>
              </a:rPr>
              <a:t>R</a:t>
            </a:r>
            <a:r>
              <a:rPr lang="zh-CN" altLang="en-US" dirty="0">
                <a:latin typeface="Arial" panose="020B0604020202020204" pitchFamily="34" charset="0"/>
              </a:rPr>
              <a:t>和</a:t>
            </a:r>
            <a:r>
              <a:rPr lang="en-US" altLang="zh-CN" dirty="0">
                <a:latin typeface="Arial" panose="020B0604020202020204" pitchFamily="34" charset="0"/>
              </a:rPr>
              <a:t>S</a:t>
            </a:r>
            <a:r>
              <a:rPr lang="zh-CN" altLang="en-US" dirty="0">
                <a:latin typeface="Arial" panose="020B0604020202020204" pitchFamily="34" charset="0"/>
              </a:rPr>
              <a:t>，计算：</a:t>
            </a:r>
            <a:endParaRPr lang="zh-CN" altLang="en-US" dirty="0">
              <a:latin typeface="Arial" panose="020B0604020202020204" pitchFamily="34" charset="0"/>
            </a:endParaRPr>
          </a:p>
          <a:p>
            <a:pPr marL="685800" indent="-685800" eaLnBrk="1" hangingPunct="1">
              <a:buSzPct val="120000"/>
              <a:buNone/>
            </a:pPr>
            <a:r>
              <a:rPr lang="zh-CN" altLang="en-US" dirty="0">
                <a:latin typeface="Arial" panose="020B0604020202020204" pitchFamily="34" charset="0"/>
              </a:rPr>
              <a:t>               </a:t>
            </a:r>
            <a:r>
              <a:rPr lang="en-US" altLang="zh-CN" dirty="0">
                <a:latin typeface="Arial" panose="020B0604020202020204" pitchFamily="34" charset="0"/>
              </a:rPr>
              <a:t>(1) R∪S</a:t>
            </a:r>
            <a:endParaRPr lang="en-US" altLang="zh-CN" dirty="0">
              <a:latin typeface="Arial" panose="020B0604020202020204" pitchFamily="34" charset="0"/>
            </a:endParaRPr>
          </a:p>
          <a:p>
            <a:pPr marL="685800" indent="-685800" eaLnBrk="1" hangingPunct="1">
              <a:buSzPct val="120000"/>
              <a:buNone/>
            </a:pPr>
            <a:r>
              <a:rPr lang="en-US" altLang="zh-CN" dirty="0">
                <a:latin typeface="Arial" panose="020B0604020202020204" pitchFamily="34" charset="0"/>
              </a:rPr>
              <a:t>               (2) R</a:t>
            </a:r>
            <a:r>
              <a:rPr lang="zh-CN" altLang="en-US" dirty="0">
                <a:latin typeface="Arial" panose="020B0604020202020204" pitchFamily="34" charset="0"/>
              </a:rPr>
              <a:t>－</a:t>
            </a:r>
            <a:r>
              <a:rPr lang="en-US" altLang="zh-CN" dirty="0">
                <a:latin typeface="Arial" panose="020B0604020202020204" pitchFamily="34" charset="0"/>
              </a:rPr>
              <a:t>S</a:t>
            </a:r>
            <a:endParaRPr lang="en-US" altLang="zh-CN" dirty="0">
              <a:latin typeface="Arial" panose="020B0604020202020204" pitchFamily="34" charset="0"/>
            </a:endParaRPr>
          </a:p>
          <a:p>
            <a:pPr marL="685800" indent="-685800" eaLnBrk="1" hangingPunct="1">
              <a:buSzPct val="120000"/>
              <a:buNone/>
            </a:pPr>
            <a:r>
              <a:rPr lang="en-US" altLang="zh-CN" dirty="0">
                <a:latin typeface="Arial" panose="020B0604020202020204" pitchFamily="34" charset="0"/>
              </a:rPr>
              <a:t>               (3) R∩S</a:t>
            </a:r>
            <a:endParaRPr lang="en-US" altLang="zh-CN" dirty="0">
              <a:latin typeface="Arial" panose="020B0604020202020204" pitchFamily="34" charset="0"/>
            </a:endParaRPr>
          </a:p>
          <a:p>
            <a:pPr marL="685800" indent="-685800" eaLnBrk="1" hangingPunct="1">
              <a:buSzPct val="120000"/>
              <a:buNone/>
            </a:pPr>
            <a:r>
              <a:rPr lang="en-US" altLang="zh-CN" dirty="0">
                <a:latin typeface="Arial" panose="020B0604020202020204" pitchFamily="34" charset="0"/>
              </a:rPr>
              <a:t>               (4) R×S</a:t>
            </a:r>
            <a:endParaRPr lang="en-US" altLang="zh-CN" dirty="0">
              <a:latin typeface="Arial" panose="020B0604020202020204" pitchFamily="34" charset="0"/>
            </a:endParaRPr>
          </a:p>
        </p:txBody>
      </p:sp>
      <p:sp>
        <p:nvSpPr>
          <p:cNvPr id="43012" name="Text Box 4"/>
          <p:cNvSpPr txBox="1"/>
          <p:nvPr/>
        </p:nvSpPr>
        <p:spPr>
          <a:xfrm>
            <a:off x="685800" y="1284288"/>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43013" name="Text Box 5"/>
          <p:cNvSpPr txBox="1"/>
          <p:nvPr/>
        </p:nvSpPr>
        <p:spPr>
          <a:xfrm>
            <a:off x="4500563" y="1268413"/>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261172" name="Group 52"/>
          <p:cNvGraphicFramePr>
            <a:graphicFrameLocks noGrp="1"/>
          </p:cNvGraphicFramePr>
          <p:nvPr/>
        </p:nvGraphicFramePr>
        <p:xfrm>
          <a:off x="1335088" y="1125538"/>
          <a:ext cx="2160588" cy="2316163"/>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97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61173" name="Group 53"/>
          <p:cNvGraphicFramePr>
            <a:graphicFrameLocks noGrp="1"/>
          </p:cNvGraphicFramePr>
          <p:nvPr/>
        </p:nvGraphicFramePr>
        <p:xfrm>
          <a:off x="5148263" y="1301750"/>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3"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集合运算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44035" name="Text Box 4"/>
          <p:cNvSpPr txBox="1"/>
          <p:nvPr/>
        </p:nvSpPr>
        <p:spPr>
          <a:xfrm>
            <a:off x="685800" y="1284288"/>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44036" name="Text Box 5"/>
          <p:cNvSpPr txBox="1"/>
          <p:nvPr/>
        </p:nvSpPr>
        <p:spPr>
          <a:xfrm>
            <a:off x="4500563" y="1268413"/>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327686" name="Group 6"/>
          <p:cNvGraphicFramePr>
            <a:graphicFrameLocks noGrp="1"/>
          </p:cNvGraphicFramePr>
          <p:nvPr/>
        </p:nvGraphicFramePr>
        <p:xfrm>
          <a:off x="1335088" y="1125538"/>
          <a:ext cx="2160588" cy="2316163"/>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97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27708" name="Group 28"/>
          <p:cNvGraphicFramePr>
            <a:graphicFrameLocks noGrp="1"/>
          </p:cNvGraphicFramePr>
          <p:nvPr/>
        </p:nvGraphicFramePr>
        <p:xfrm>
          <a:off x="5148263" y="1301750"/>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327727" name="Text Box 47"/>
          <p:cNvSpPr txBox="1"/>
          <p:nvPr/>
        </p:nvSpPr>
        <p:spPr>
          <a:xfrm>
            <a:off x="3779838" y="3617913"/>
            <a:ext cx="1403350"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R∪S</a:t>
            </a:r>
            <a:endParaRPr lang="en-US" altLang="zh-CN" dirty="0">
              <a:latin typeface="Arial" panose="020B0604020202020204" pitchFamily="34" charset="0"/>
              <a:ea typeface="宋体" panose="02010600030101010101" pitchFamily="2" charset="-122"/>
            </a:endParaRPr>
          </a:p>
        </p:txBody>
      </p:sp>
      <p:graphicFrame>
        <p:nvGraphicFramePr>
          <p:cNvPr id="327728" name="Group 48"/>
          <p:cNvGraphicFramePr>
            <a:graphicFrameLocks noGrp="1"/>
          </p:cNvGraphicFramePr>
          <p:nvPr/>
        </p:nvGraphicFramePr>
        <p:xfrm>
          <a:off x="5114925" y="3635375"/>
          <a:ext cx="2160588" cy="2895600"/>
        </p:xfrm>
        <a:graphic>
          <a:graphicData uri="http://schemas.openxmlformats.org/drawingml/2006/table">
            <a:tbl>
              <a:tblPr/>
              <a:tblGrid>
                <a:gridCol w="720725"/>
                <a:gridCol w="719138"/>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143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143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143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3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集合运算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45059" name="Text Box 4"/>
          <p:cNvSpPr txBox="1"/>
          <p:nvPr/>
        </p:nvSpPr>
        <p:spPr>
          <a:xfrm>
            <a:off x="685800" y="1284288"/>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45060" name="Text Box 5"/>
          <p:cNvSpPr txBox="1"/>
          <p:nvPr/>
        </p:nvSpPr>
        <p:spPr>
          <a:xfrm>
            <a:off x="4500563" y="1268413"/>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329734" name="Group 6"/>
          <p:cNvGraphicFramePr>
            <a:graphicFrameLocks noGrp="1"/>
          </p:cNvGraphicFramePr>
          <p:nvPr/>
        </p:nvGraphicFramePr>
        <p:xfrm>
          <a:off x="1335088" y="1125538"/>
          <a:ext cx="2160588" cy="2316163"/>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97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29756" name="Group 28"/>
          <p:cNvGraphicFramePr>
            <a:graphicFrameLocks noGrp="1"/>
          </p:cNvGraphicFramePr>
          <p:nvPr/>
        </p:nvGraphicFramePr>
        <p:xfrm>
          <a:off x="5148263" y="1301750"/>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329775" name="Text Box 47"/>
          <p:cNvSpPr txBox="1"/>
          <p:nvPr/>
        </p:nvSpPr>
        <p:spPr>
          <a:xfrm>
            <a:off x="3851275" y="3789363"/>
            <a:ext cx="1403350"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329776" name="Group 48"/>
          <p:cNvGraphicFramePr>
            <a:graphicFrameLocks noGrp="1"/>
          </p:cNvGraphicFramePr>
          <p:nvPr/>
        </p:nvGraphicFramePr>
        <p:xfrm>
          <a:off x="5183188" y="3789363"/>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7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97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7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集合运算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46083" name="Text Box 4"/>
          <p:cNvSpPr txBox="1"/>
          <p:nvPr/>
        </p:nvSpPr>
        <p:spPr>
          <a:xfrm>
            <a:off x="685800" y="1284288"/>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46084" name="Text Box 5"/>
          <p:cNvSpPr txBox="1"/>
          <p:nvPr/>
        </p:nvSpPr>
        <p:spPr>
          <a:xfrm>
            <a:off x="4500563" y="1268413"/>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331782" name="Group 6"/>
          <p:cNvGraphicFramePr>
            <a:graphicFrameLocks noGrp="1"/>
          </p:cNvGraphicFramePr>
          <p:nvPr/>
        </p:nvGraphicFramePr>
        <p:xfrm>
          <a:off x="1335088" y="1125538"/>
          <a:ext cx="2160588" cy="2316163"/>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97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31804" name="Group 28"/>
          <p:cNvGraphicFramePr>
            <a:graphicFrameLocks noGrp="1"/>
          </p:cNvGraphicFramePr>
          <p:nvPr/>
        </p:nvGraphicFramePr>
        <p:xfrm>
          <a:off x="5148263" y="1301750"/>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31823" name="Group 47"/>
          <p:cNvGraphicFramePr>
            <a:graphicFrameLocks noGrp="1"/>
          </p:cNvGraphicFramePr>
          <p:nvPr/>
        </p:nvGraphicFramePr>
        <p:xfrm>
          <a:off x="5186363" y="3867150"/>
          <a:ext cx="2160588" cy="1163638"/>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331837" name="Text Box 61"/>
          <p:cNvSpPr txBox="1"/>
          <p:nvPr/>
        </p:nvSpPr>
        <p:spPr>
          <a:xfrm>
            <a:off x="3851275" y="3860800"/>
            <a:ext cx="1403350"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R∩S</a:t>
            </a:r>
            <a:endParaRPr lang="en-US" altLang="zh-CN" dirty="0">
              <a:latin typeface="Arial" panose="020B0604020202020204" pitchFamily="34" charset="0"/>
              <a:ea typeface="宋体" panose="02010600030101010101" pitchFamily="2" charset="-122"/>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18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18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8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集合运算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277574" name="Text Box 70"/>
          <p:cNvSpPr txBox="1"/>
          <p:nvPr/>
        </p:nvSpPr>
        <p:spPr>
          <a:xfrm>
            <a:off x="3724275" y="915988"/>
            <a:ext cx="1281113"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r" eaLnBrk="1" hangingPunct="1">
              <a:buClrTx/>
              <a:buSzTx/>
              <a:buFontTx/>
              <a:buNone/>
            </a:pPr>
            <a:r>
              <a:rPr lang="en-US" altLang="zh-CN" dirty="0">
                <a:latin typeface="Arial" panose="020B0604020202020204" pitchFamily="34" charset="0"/>
                <a:ea typeface="宋体" panose="02010600030101010101" pitchFamily="2" charset="-122"/>
              </a:rPr>
              <a:t>R×S</a:t>
            </a:r>
            <a:endParaRPr lang="en-US" altLang="zh-CN" dirty="0">
              <a:latin typeface="Arial" panose="020B0604020202020204" pitchFamily="34" charset="0"/>
              <a:ea typeface="宋体" panose="02010600030101010101" pitchFamily="2" charset="-122"/>
            </a:endParaRPr>
          </a:p>
        </p:txBody>
      </p:sp>
      <p:graphicFrame>
        <p:nvGraphicFramePr>
          <p:cNvPr id="277716" name="Group 212"/>
          <p:cNvGraphicFramePr>
            <a:graphicFrameLocks noGrp="1"/>
          </p:cNvGraphicFramePr>
          <p:nvPr>
            <p:ph idx="1"/>
          </p:nvPr>
        </p:nvGraphicFramePr>
        <p:xfrm>
          <a:off x="3708400" y="1639888"/>
          <a:ext cx="5184775" cy="4032250"/>
        </p:xfrm>
        <a:graphic>
          <a:graphicData uri="http://schemas.openxmlformats.org/drawingml/2006/table">
            <a:tbl>
              <a:tblPr/>
              <a:tblGrid>
                <a:gridCol w="895350"/>
                <a:gridCol w="904875"/>
                <a:gridCol w="846138"/>
                <a:gridCol w="846137"/>
                <a:gridCol w="846138"/>
                <a:gridCol w="846137"/>
              </a:tblGrid>
              <a:tr h="54451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R.A</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R.B</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R.C</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S.A</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S.B</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S.C</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r h="4730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r h="47148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77712" name="AutoShape 208">
            <a:hlinkClick r:id="rId3" action="ppaction://hlinksldjump"/>
          </p:cNvPr>
          <p:cNvSpPr>
            <a:spLocks noChangeArrowheads="1"/>
          </p:cNvSpPr>
          <p:nvPr/>
        </p:nvSpPr>
        <p:spPr bwMode="auto">
          <a:xfrm>
            <a:off x="8101013"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67" name="Text Box 215"/>
          <p:cNvSpPr txBox="1"/>
          <p:nvPr/>
        </p:nvSpPr>
        <p:spPr>
          <a:xfrm>
            <a:off x="395288" y="1284288"/>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47168" name="Text Box 216"/>
          <p:cNvSpPr txBox="1"/>
          <p:nvPr/>
        </p:nvSpPr>
        <p:spPr>
          <a:xfrm>
            <a:off x="395288" y="4043363"/>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277721" name="Group 217"/>
          <p:cNvGraphicFramePr>
            <a:graphicFrameLocks noGrp="1"/>
          </p:cNvGraphicFramePr>
          <p:nvPr/>
        </p:nvGraphicFramePr>
        <p:xfrm>
          <a:off x="1044575" y="1125538"/>
          <a:ext cx="2160588" cy="2316163"/>
        </p:xfrm>
        <a:graphic>
          <a:graphicData uri="http://schemas.openxmlformats.org/drawingml/2006/table">
            <a:tbl>
              <a:tblPr/>
              <a:tblGrid>
                <a:gridCol w="720725"/>
                <a:gridCol w="719138"/>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97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277743" name="Group 239"/>
          <p:cNvGraphicFramePr>
            <a:graphicFrameLocks noGrp="1"/>
          </p:cNvGraphicFramePr>
          <p:nvPr/>
        </p:nvGraphicFramePr>
        <p:xfrm>
          <a:off x="1042988" y="4076700"/>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75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7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关系代数</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8131" name="Rectangle 3"/>
          <p:cNvSpPr>
            <a:spLocks noGrp="1"/>
          </p:cNvSpPr>
          <p:nvPr>
            <p:ph idx="1"/>
          </p:nvPr>
        </p:nvSpPr>
        <p:spPr>
          <a:xfrm>
            <a:off x="1231900" y="981075"/>
            <a:ext cx="7372350" cy="5653088"/>
          </a:xfrm>
        </p:spPr>
        <p:txBody>
          <a:bodyPr vert="horz" wrap="square" lIns="91440" tIns="45720" rIns="91440" bIns="45720" anchor="t" anchorCtr="0"/>
          <a:p>
            <a:pPr marL="685800" indent="-685800" eaLnBrk="1" hangingPunct="1">
              <a:buNone/>
            </a:pPr>
            <a:r>
              <a:rPr lang="en-US" altLang="zh-CN" dirty="0">
                <a:latin typeface="Arial" panose="020B0604020202020204" pitchFamily="34" charset="0"/>
              </a:rPr>
              <a:t>6.1 </a:t>
            </a:r>
            <a:r>
              <a:rPr lang="zh-CN" altLang="en-US" dirty="0"/>
              <a:t>概述</a:t>
            </a:r>
            <a:endParaRPr lang="zh-CN" altLang="en-US" dirty="0"/>
          </a:p>
          <a:p>
            <a:pPr marL="685800" indent="-685800" eaLnBrk="1" hangingPunct="1">
              <a:buNone/>
            </a:pPr>
            <a:r>
              <a:rPr lang="en-US" altLang="zh-CN" dirty="0">
                <a:latin typeface="Arial" panose="020B0604020202020204" pitchFamily="34" charset="0"/>
              </a:rPr>
              <a:t>6.2 </a:t>
            </a:r>
            <a:r>
              <a:rPr lang="zh-CN" altLang="en-US" dirty="0"/>
              <a:t>传统的集合运算</a:t>
            </a:r>
            <a:endParaRPr lang="zh-CN" altLang="en-US" dirty="0"/>
          </a:p>
          <a:p>
            <a:pPr marL="685800" indent="-685800" eaLnBrk="1" hangingPunct="1">
              <a:buNone/>
            </a:pPr>
            <a:r>
              <a:rPr lang="en-US" altLang="zh-CN" dirty="0">
                <a:solidFill>
                  <a:srgbClr val="0000CC"/>
                </a:solidFill>
                <a:latin typeface="Arial" panose="020B0604020202020204" pitchFamily="34" charset="0"/>
              </a:rPr>
              <a:t>6.3 </a:t>
            </a:r>
            <a:r>
              <a:rPr lang="zh-CN" altLang="en-US" dirty="0">
                <a:solidFill>
                  <a:srgbClr val="0000CC"/>
                </a:solidFill>
                <a:latin typeface="宋体" panose="02010600030101010101" pitchFamily="2" charset="-122"/>
              </a:rPr>
              <a:t>专门的关系运算</a:t>
            </a:r>
            <a:endParaRPr lang="zh-CN" altLang="en-US" dirty="0">
              <a:solidFill>
                <a:srgbClr val="0000CC"/>
              </a:solidFill>
              <a:latin typeface="宋体" panose="02010600030101010101" pitchFamily="2" charset="-122"/>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选择</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投影</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连接</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Font typeface="Wingdings" panose="05000000000000000000" pitchFamily="2" charset="2"/>
              <a:buAutoNum type="arabicPeriod"/>
            </a:pPr>
            <a:r>
              <a:rPr lang="zh-CN" altLang="en-US" sz="3600" dirty="0">
                <a:solidFill>
                  <a:srgbClr val="0000CC"/>
                </a:solidFill>
                <a:latin typeface="Arial" panose="020B0604020202020204" pitchFamily="34" charset="0"/>
              </a:rPr>
              <a:t>除</a:t>
            </a:r>
            <a:endParaRPr lang="zh-CN" altLang="en-US" sz="3600" dirty="0">
              <a:solidFill>
                <a:srgbClr val="0000CC"/>
              </a:solidFill>
              <a:latin typeface="Arial" panose="020B0604020202020204" pitchFamily="34" charset="0"/>
            </a:endParaRPr>
          </a:p>
          <a:p>
            <a:pPr marL="1240155" lvl="1" indent="-700405" eaLnBrk="1" hangingPunct="1">
              <a:lnSpc>
                <a:spcPct val="115000"/>
              </a:lnSpc>
              <a:spcBef>
                <a:spcPct val="0"/>
              </a:spcBef>
              <a:buClr>
                <a:srgbClr val="FF0000"/>
              </a:buClr>
              <a:buSzTx/>
              <a:buNone/>
            </a:pPr>
            <a:r>
              <a:rPr lang="zh-CN" altLang="en-US" sz="3600" dirty="0">
                <a:solidFill>
                  <a:srgbClr val="0000CC"/>
                </a:solidFill>
                <a:latin typeface="Arial" panose="020B0604020202020204" pitchFamily="34" charset="0"/>
              </a:rPr>
              <a:t>关系运算练习</a:t>
            </a:r>
            <a:endParaRPr lang="zh-CN" altLang="en-US" sz="3600" dirty="0">
              <a:solidFill>
                <a:srgbClr val="0000CC"/>
              </a:solidFill>
              <a:latin typeface="Arial" panose="020B0604020202020204" pitchFamily="34" charset="0"/>
            </a:endParaRPr>
          </a:p>
          <a:p>
            <a:pPr marL="685800" indent="-685800" eaLnBrk="1" hangingPunct="1">
              <a:buNone/>
            </a:pPr>
            <a:r>
              <a:rPr lang="en-US" altLang="zh-CN" dirty="0">
                <a:latin typeface="Arial" panose="020B0604020202020204" pitchFamily="34" charset="0"/>
              </a:rPr>
              <a:t>6.4 </a:t>
            </a:r>
            <a:r>
              <a:rPr lang="zh-CN" altLang="en-US" dirty="0">
                <a:latin typeface="宋体" panose="02010600030101010101" pitchFamily="2" charset="-122"/>
              </a:rPr>
              <a:t>关系代数表达式</a:t>
            </a:r>
            <a:endParaRPr lang="zh-CN" altLang="en-US" dirty="0">
              <a:latin typeface="宋体" panose="02010600030101010101" pitchFamily="2" charset="-122"/>
            </a:endParaRPr>
          </a:p>
        </p:txBody>
      </p:sp>
    </p:spTree>
  </p:cSld>
  <p:clrMapOvr>
    <a:masterClrMapping/>
  </p:clrMapOvr>
  <p:transition>
    <p:random/>
    <p:sndAc>
      <p:stSnd>
        <p:snd r:embed="rId1" name="CAMERA.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1</a:t>
            </a:r>
            <a:r>
              <a:rPr lang="en-US" altLang="zh-CN" dirty="0">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选择</a:t>
            </a:r>
            <a:r>
              <a:rPr kumimoji="0" lang="en-US" altLang="zh-CN"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j-lt"/>
                <a:ea typeface="+mj-ea"/>
                <a:cs typeface="+mj-cs"/>
              </a:rPr>
              <a:t>σ  </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(Selection)</a:t>
            </a:r>
            <a:endPar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2227" name="Rectangle 3"/>
          <p:cNvSpPr>
            <a:spLocks noGrp="1"/>
          </p:cNvSpPr>
          <p:nvPr>
            <p:ph idx="1"/>
          </p:nvPr>
        </p:nvSpPr>
        <p:spPr/>
        <p:txBody>
          <a:bodyPr vert="horz" wrap="square" lIns="91440" tIns="45720" rIns="91440" bIns="45720" anchor="t" anchorCtr="0"/>
          <a:p>
            <a:pPr algn="just" eaLnBrk="1" hangingPunct="1"/>
            <a:r>
              <a:rPr lang="zh-CN" altLang="en-US" dirty="0">
                <a:latin typeface="Arial" panose="020B0604020202020204" pitchFamily="34" charset="0"/>
              </a:rPr>
              <a:t>选择运算符的含义</a:t>
            </a:r>
            <a:endParaRPr lang="zh-CN" altLang="en-US" dirty="0">
              <a:latin typeface="Arial" panose="020B0604020202020204" pitchFamily="34" charset="0"/>
            </a:endParaRPr>
          </a:p>
          <a:p>
            <a:pPr marL="777875" lvl="1" indent="-238125" algn="just" eaLnBrk="1" hangingPunct="1">
              <a:buNone/>
            </a:pPr>
            <a:r>
              <a:rPr lang="zh-CN" altLang="en-US" dirty="0">
                <a:latin typeface="Arial" panose="020B0604020202020204" pitchFamily="34" charset="0"/>
              </a:rPr>
              <a:t>在关系</a:t>
            </a:r>
            <a:r>
              <a:rPr lang="en-US" altLang="zh-CN" dirty="0">
                <a:latin typeface="Arial" panose="020B0604020202020204" pitchFamily="34" charset="0"/>
              </a:rPr>
              <a:t>R</a:t>
            </a:r>
            <a:r>
              <a:rPr lang="zh-CN" altLang="en-US" dirty="0">
                <a:latin typeface="Arial" panose="020B0604020202020204" pitchFamily="34" charset="0"/>
              </a:rPr>
              <a:t>中选择满足给定条件的诸元组</a:t>
            </a:r>
            <a:endParaRPr lang="zh-CN" altLang="en-US" dirty="0">
              <a:latin typeface="Arial" panose="020B0604020202020204" pitchFamily="34" charset="0"/>
            </a:endParaRPr>
          </a:p>
          <a:p>
            <a:pPr marL="777875" lvl="1" indent="-238125" algn="just" eaLnBrk="1" hangingPunct="1">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rPr>
              <a:t>σ</a:t>
            </a:r>
            <a:r>
              <a:rPr lang="en-US" altLang="zh-CN" baseline="-30000" dirty="0">
                <a:solidFill>
                  <a:srgbClr val="0000CC"/>
                </a:solidFill>
                <a:latin typeface="Arial" panose="020B0604020202020204" pitchFamily="34" charset="0"/>
              </a:rPr>
              <a:t>F </a:t>
            </a:r>
            <a:r>
              <a:rPr lang="en-US" altLang="zh-CN" dirty="0">
                <a:solidFill>
                  <a:srgbClr val="0000CC"/>
                </a:solidFill>
                <a:latin typeface="Arial" panose="020B0604020202020204" pitchFamily="34" charset="0"/>
              </a:rPr>
              <a:t>(R) = { t | t</a:t>
            </a:r>
            <a:r>
              <a:rPr lang="en-US" altLang="zh-CN" dirty="0">
                <a:solidFill>
                  <a:srgbClr val="0000CC"/>
                </a:solidFill>
                <a:latin typeface="Arial" panose="020B0604020202020204" pitchFamily="34" charset="0"/>
                <a:sym typeface="Symbol" panose="05050102010706020507" pitchFamily="18" charset="2"/>
              </a:rPr>
              <a:t></a:t>
            </a:r>
            <a:r>
              <a:rPr lang="en-US" altLang="zh-CN" dirty="0">
                <a:solidFill>
                  <a:srgbClr val="0000CC"/>
                </a:solidFill>
                <a:latin typeface="Arial" panose="020B0604020202020204" pitchFamily="34" charset="0"/>
              </a:rPr>
              <a:t>R∧F(t) = '</a:t>
            </a:r>
            <a:r>
              <a:rPr lang="zh-CN" altLang="en-US" dirty="0">
                <a:solidFill>
                  <a:srgbClr val="0000CC"/>
                </a:solidFill>
                <a:latin typeface="Arial" panose="020B0604020202020204" pitchFamily="34" charset="0"/>
              </a:rPr>
              <a:t>真</a:t>
            </a:r>
            <a:r>
              <a:rPr lang="en-US" altLang="zh-CN" dirty="0">
                <a:solidFill>
                  <a:srgbClr val="0000CC"/>
                </a:solidFill>
                <a:latin typeface="Arial" panose="020B0604020202020204" pitchFamily="34" charset="0"/>
              </a:rPr>
              <a:t>' }</a:t>
            </a:r>
            <a:endParaRPr lang="en-US" altLang="zh-CN" dirty="0">
              <a:solidFill>
                <a:srgbClr val="0000CC"/>
              </a:solidFill>
              <a:latin typeface="Arial" panose="020B0604020202020204" pitchFamily="34" charset="0"/>
            </a:endParaRPr>
          </a:p>
          <a:p>
            <a:pPr marL="777875" lvl="1" indent="-238125" algn="just" eaLnBrk="1" hangingPunct="1">
              <a:buNone/>
            </a:pPr>
            <a:endParaRPr lang="en-US" altLang="zh-CN" dirty="0">
              <a:solidFill>
                <a:srgbClr val="0000CC"/>
              </a:solidFill>
              <a:latin typeface="Arial" panose="020B0604020202020204" pitchFamily="34" charset="0"/>
            </a:endParaRPr>
          </a:p>
          <a:p>
            <a:pPr marL="777875" lvl="1" indent="-238125" algn="just" eaLnBrk="1" hangingPunct="1">
              <a:buNone/>
            </a:pPr>
            <a:r>
              <a:rPr lang="zh-CN" altLang="en-US" dirty="0">
                <a:latin typeface="Arial" panose="020B0604020202020204" pitchFamily="34" charset="0"/>
              </a:rPr>
              <a:t>其中：</a:t>
            </a:r>
            <a:r>
              <a:rPr lang="en-US" altLang="zh-CN" dirty="0">
                <a:latin typeface="Arial" panose="020B0604020202020204" pitchFamily="34" charset="0"/>
              </a:rPr>
              <a:t>F</a:t>
            </a:r>
            <a:r>
              <a:rPr lang="zh-CN" altLang="en-US" dirty="0">
                <a:latin typeface="Arial" panose="020B0604020202020204" pitchFamily="34" charset="0"/>
              </a:rPr>
              <a:t>为选择条件，是一个逻辑表达式，</a:t>
            </a:r>
            <a:br>
              <a:rPr lang="zh-CN" altLang="en-US" dirty="0">
                <a:latin typeface="Arial" panose="020B0604020202020204" pitchFamily="34" charset="0"/>
              </a:rPr>
            </a:br>
            <a:r>
              <a:rPr lang="zh-CN" altLang="en-US" dirty="0">
                <a:latin typeface="Arial" panose="020B0604020202020204" pitchFamily="34" charset="0"/>
              </a:rPr>
              <a:t>       基本形式为： </a:t>
            </a:r>
            <a:r>
              <a:rPr lang="en-US" altLang="zh-CN" dirty="0">
                <a:latin typeface="Arial" panose="020B0604020202020204" pitchFamily="34" charset="0"/>
              </a:rPr>
              <a:t>X</a:t>
            </a:r>
            <a:r>
              <a:rPr lang="en-US" altLang="zh-CN" baseline="-25000" dirty="0">
                <a:latin typeface="Arial" panose="020B0604020202020204" pitchFamily="34" charset="0"/>
              </a:rPr>
              <a:t>1</a:t>
            </a:r>
            <a:r>
              <a:rPr lang="en-US" altLang="zh-CN" dirty="0">
                <a:latin typeface="Arial" panose="020B0604020202020204" pitchFamily="34" charset="0"/>
              </a:rPr>
              <a:t>θY</a:t>
            </a:r>
            <a:r>
              <a:rPr lang="en-US" altLang="zh-CN" baseline="-25000" dirty="0">
                <a:latin typeface="Arial" panose="020B0604020202020204" pitchFamily="34" charset="0"/>
              </a:rPr>
              <a:t>1</a:t>
            </a:r>
            <a:r>
              <a:rPr lang="en-US" altLang="zh-CN" dirty="0">
                <a:latin typeface="Arial" panose="020B0604020202020204" pitchFamily="34" charset="0"/>
              </a:rPr>
              <a:t> </a:t>
            </a:r>
            <a:endParaRPr lang="en-US" altLang="zh-CN" dirty="0">
              <a:latin typeface="Arial" panose="020B0604020202020204" pitchFamily="34" charset="0"/>
            </a:endParaRPr>
          </a:p>
          <a:p>
            <a:pPr marL="777875" lvl="1" indent="-238125" algn="just" eaLnBrk="1" hangingPunct="1"/>
            <a:r>
              <a:rPr lang="en-US" altLang="zh-CN" dirty="0">
                <a:latin typeface="Arial" panose="020B0604020202020204" pitchFamily="34" charset="0"/>
              </a:rPr>
              <a:t>θ</a:t>
            </a:r>
            <a:r>
              <a:rPr lang="zh-CN" altLang="en-US" dirty="0">
                <a:latin typeface="Arial" panose="020B0604020202020204" pitchFamily="34" charset="0"/>
              </a:rPr>
              <a:t>：比较运算符 </a:t>
            </a:r>
            <a:r>
              <a:rPr lang="en-US" altLang="zh-CN" dirty="0">
                <a:latin typeface="Arial" panose="020B0604020202020204" pitchFamily="34" charset="0"/>
              </a:rPr>
              <a:t>( </a:t>
            </a:r>
            <a:r>
              <a:rPr lang="zh-CN" altLang="en-US" dirty="0">
                <a:latin typeface="Arial" panose="020B0604020202020204" pitchFamily="34" charset="0"/>
              </a:rPr>
              <a:t>＞</a:t>
            </a:r>
            <a:r>
              <a:rPr lang="en-US" altLang="zh-CN" dirty="0">
                <a:latin typeface="Arial" panose="020B0604020202020204" pitchFamily="34" charset="0"/>
              </a:rPr>
              <a:t>,&gt;=,</a:t>
            </a:r>
            <a:r>
              <a:rPr lang="zh-CN" altLang="en-US" dirty="0">
                <a:latin typeface="Arial" panose="020B0604020202020204" pitchFamily="34" charset="0"/>
              </a:rPr>
              <a:t>＜</a:t>
            </a:r>
            <a:r>
              <a:rPr lang="en-US" altLang="zh-CN" dirty="0">
                <a:latin typeface="Arial" panose="020B0604020202020204" pitchFamily="34" charset="0"/>
              </a:rPr>
              <a:t>,&lt;=,</a:t>
            </a:r>
            <a:r>
              <a:rPr lang="zh-CN" altLang="en-US" dirty="0">
                <a:latin typeface="Arial" panose="020B0604020202020204" pitchFamily="34" charset="0"/>
              </a:rPr>
              <a:t>＝或</a:t>
            </a:r>
            <a:r>
              <a:rPr lang="en-US" altLang="zh-CN" dirty="0">
                <a:latin typeface="Arial" panose="020B0604020202020204" pitchFamily="34" charset="0"/>
              </a:rPr>
              <a:t>&lt; &gt; )</a:t>
            </a:r>
            <a:endParaRPr lang="en-US" altLang="zh-CN" dirty="0">
              <a:latin typeface="Arial" panose="020B0604020202020204" pitchFamily="34" charset="0"/>
            </a:endParaRPr>
          </a:p>
          <a:p>
            <a:pPr marL="777875" lvl="1" indent="-238125" eaLnBrk="1" hangingPunct="1"/>
            <a:r>
              <a:rPr lang="en-US" altLang="zh-CN" dirty="0">
                <a:latin typeface="Arial" panose="020B0604020202020204" pitchFamily="34" charset="0"/>
              </a:rPr>
              <a:t>X</a:t>
            </a:r>
            <a:r>
              <a:rPr lang="en-US" altLang="zh-CN" sz="3600" baseline="-25000" dirty="0">
                <a:latin typeface="Arial" panose="020B0604020202020204" pitchFamily="34" charset="0"/>
              </a:rPr>
              <a:t>1</a:t>
            </a:r>
            <a:r>
              <a:rPr lang="en-US" altLang="zh-CN" dirty="0">
                <a:latin typeface="Arial" panose="020B0604020202020204" pitchFamily="34" charset="0"/>
              </a:rPr>
              <a:t>, Y</a:t>
            </a:r>
            <a:r>
              <a:rPr lang="en-US" altLang="zh-CN" baseline="-25000" dirty="0">
                <a:latin typeface="Arial" panose="020B0604020202020204" pitchFamily="34" charset="0"/>
              </a:rPr>
              <a:t>1</a:t>
            </a:r>
            <a:r>
              <a:rPr lang="zh-CN" altLang="en-US" dirty="0">
                <a:latin typeface="Arial" panose="020B0604020202020204" pitchFamily="34" charset="0"/>
              </a:rPr>
              <a:t>等：属性名、常量、简单函数；</a:t>
            </a:r>
            <a:br>
              <a:rPr lang="zh-CN" altLang="en-US" dirty="0">
                <a:latin typeface="Arial" panose="020B0604020202020204" pitchFamily="34" charset="0"/>
              </a:rPr>
            </a:br>
            <a:r>
              <a:rPr lang="zh-CN" altLang="en-US" dirty="0">
                <a:latin typeface="Arial" panose="020B0604020202020204" pitchFamily="34" charset="0"/>
              </a:rPr>
              <a:t>属性名也可以用它的序号来代替。</a:t>
            </a:r>
            <a:endParaRPr lang="zh-CN" altLang="en-US"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xEl>
                                              <p:charRg st="68" end="10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7">
                                            <p:txEl>
                                              <p:charRg st="109" end="13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27">
                                            <p:txEl>
                                              <p:charRg st="137" end="17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1</a:t>
            </a:r>
            <a:r>
              <a:rPr lang="en-US" altLang="zh-CN" dirty="0">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选择</a:t>
            </a:r>
            <a:r>
              <a:rPr kumimoji="0" lang="en-US" altLang="zh-CN"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j-lt"/>
                <a:ea typeface="+mj-ea"/>
                <a:cs typeface="+mj-cs"/>
              </a:rPr>
              <a:t>σ</a:t>
            </a:r>
            <a:endPar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0179" name="Rectangle 3"/>
          <p:cNvSpPr>
            <a:spLocks noGrp="1"/>
          </p:cNvSpPr>
          <p:nvPr>
            <p:ph idx="1"/>
          </p:nvPr>
        </p:nvSpPr>
        <p:spPr/>
        <p:txBody>
          <a:bodyPr vert="horz" wrap="square" lIns="91440" tIns="45720" rIns="91440" bIns="45720" anchor="t" anchorCtr="0"/>
          <a:p>
            <a:pPr algn="just" eaLnBrk="1" hangingPunct="1"/>
            <a:r>
              <a:rPr lang="zh-CN" altLang="en-US" dirty="0"/>
              <a:t>选择运算是从</a:t>
            </a:r>
            <a:r>
              <a:rPr lang="zh-CN" altLang="en-US" dirty="0">
                <a:solidFill>
                  <a:srgbClr val="0000CC"/>
                </a:solidFill>
              </a:rPr>
              <a:t>行</a:t>
            </a:r>
            <a:r>
              <a:rPr lang="zh-CN" altLang="en-US" dirty="0"/>
              <a:t>的角度进行的运算</a:t>
            </a:r>
            <a:endParaRPr lang="zh-CN" altLang="en-US" dirty="0"/>
          </a:p>
        </p:txBody>
      </p:sp>
      <p:grpSp>
        <p:nvGrpSpPr>
          <p:cNvPr id="50180" name="Group 4"/>
          <p:cNvGrpSpPr/>
          <p:nvPr/>
        </p:nvGrpSpPr>
        <p:grpSpPr>
          <a:xfrm>
            <a:off x="1692275" y="2708275"/>
            <a:ext cx="5257800" cy="1944688"/>
            <a:chOff x="2448" y="1728"/>
            <a:chExt cx="2640" cy="768"/>
          </a:xfrm>
        </p:grpSpPr>
        <p:sp>
          <p:nvSpPr>
            <p:cNvPr id="50181" name="Rectangle 5"/>
            <p:cNvSpPr/>
            <p:nvPr/>
          </p:nvSpPr>
          <p:spPr>
            <a:xfrm>
              <a:off x="2448" y="1728"/>
              <a:ext cx="912" cy="96"/>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2" name="Rectangle 6" descr="浅色下对角线"/>
            <p:cNvSpPr/>
            <p:nvPr/>
          </p:nvSpPr>
          <p:spPr>
            <a:xfrm>
              <a:off x="2448" y="1824"/>
              <a:ext cx="912" cy="96"/>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3" name="Rectangle 7"/>
            <p:cNvSpPr/>
            <p:nvPr/>
          </p:nvSpPr>
          <p:spPr>
            <a:xfrm>
              <a:off x="2448" y="1920"/>
              <a:ext cx="912" cy="96"/>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4" name="Rectangle 8"/>
            <p:cNvSpPr/>
            <p:nvPr/>
          </p:nvSpPr>
          <p:spPr>
            <a:xfrm>
              <a:off x="2448" y="2400"/>
              <a:ext cx="912" cy="96"/>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5" name="Rectangle 9"/>
            <p:cNvSpPr/>
            <p:nvPr/>
          </p:nvSpPr>
          <p:spPr>
            <a:xfrm>
              <a:off x="2448" y="2016"/>
              <a:ext cx="912" cy="96"/>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6" name="Rectangle 10" descr="浅色下对角线"/>
            <p:cNvSpPr/>
            <p:nvPr/>
          </p:nvSpPr>
          <p:spPr>
            <a:xfrm>
              <a:off x="2448" y="2112"/>
              <a:ext cx="912" cy="96"/>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7" name="Rectangle 11"/>
            <p:cNvSpPr/>
            <p:nvPr/>
          </p:nvSpPr>
          <p:spPr>
            <a:xfrm>
              <a:off x="2448" y="2208"/>
              <a:ext cx="912" cy="96"/>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8" name="Rectangle 12" descr="浅色下对角线"/>
            <p:cNvSpPr/>
            <p:nvPr/>
          </p:nvSpPr>
          <p:spPr>
            <a:xfrm>
              <a:off x="2448" y="2304"/>
              <a:ext cx="912" cy="96"/>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89" name="Rectangle 13" descr="浅色下对角线"/>
            <p:cNvSpPr/>
            <p:nvPr/>
          </p:nvSpPr>
          <p:spPr>
            <a:xfrm>
              <a:off x="4176" y="2112"/>
              <a:ext cx="912" cy="96"/>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90" name="Rectangle 14" descr="浅色下对角线"/>
            <p:cNvSpPr/>
            <p:nvPr/>
          </p:nvSpPr>
          <p:spPr>
            <a:xfrm>
              <a:off x="4176" y="2016"/>
              <a:ext cx="912" cy="96"/>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91" name="Rectangle 15" descr="浅色下对角线"/>
            <p:cNvSpPr/>
            <p:nvPr/>
          </p:nvSpPr>
          <p:spPr>
            <a:xfrm>
              <a:off x="4176" y="1920"/>
              <a:ext cx="912" cy="96"/>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92" name="AutoShape 16"/>
            <p:cNvSpPr/>
            <p:nvPr/>
          </p:nvSpPr>
          <p:spPr>
            <a:xfrm>
              <a:off x="3552" y="2016"/>
              <a:ext cx="528" cy="144"/>
            </a:xfrm>
            <a:prstGeom prst="rightArrow">
              <a:avLst>
                <a:gd name="adj1" fmla="val 50000"/>
                <a:gd name="adj2" fmla="val 91666"/>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0193" name="Text Box 17"/>
            <p:cNvSpPr txBox="1"/>
            <p:nvPr/>
          </p:nvSpPr>
          <p:spPr>
            <a:xfrm>
              <a:off x="3552" y="1728"/>
              <a:ext cx="432" cy="253"/>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a:spcBef>
                  <a:spcPct val="50000"/>
                </a:spcBef>
                <a:buClrTx/>
                <a:buSzTx/>
                <a:buFontTx/>
                <a:buNone/>
              </a:pPr>
              <a:r>
                <a:rPr lang="en-US" altLang="zh-CN" dirty="0">
                  <a:latin typeface="Arial" panose="020B0604020202020204" pitchFamily="34" charset="0"/>
                  <a:ea typeface="宋体" panose="02010600030101010101" pitchFamily="2" charset="-122"/>
                </a:rPr>
                <a:t>σ</a:t>
              </a:r>
              <a:endParaRPr lang="en-US" altLang="zh-CN" sz="3200" b="0" dirty="0">
                <a:latin typeface="Arial" panose="020B0604020202020204" pitchFamily="34" charset="0"/>
                <a:ea typeface="宋体" panose="02010600030101010101" pitchFamily="2" charset="-122"/>
              </a:endParaRPr>
            </a:p>
          </p:txBody>
        </p:sp>
      </p:grpSp>
    </p:spTree>
  </p:cSld>
  <p:clrMapOvr>
    <a:masterClrMapping/>
  </p:clrMapOvr>
  <p:transition>
    <p:random/>
    <p:sndAc>
      <p:stSnd>
        <p:snd r:embed="rId3" name="CAMERA.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选择运算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51203" name="Text Box 129"/>
          <p:cNvSpPr txBox="1"/>
          <p:nvPr/>
        </p:nvSpPr>
        <p:spPr>
          <a:xfrm>
            <a:off x="685800" y="1589088"/>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graphicFrame>
        <p:nvGraphicFramePr>
          <p:cNvPr id="71810" name="Group 130"/>
          <p:cNvGraphicFramePr>
            <a:graphicFrameLocks noGrp="1"/>
          </p:cNvGraphicFramePr>
          <p:nvPr/>
        </p:nvGraphicFramePr>
        <p:xfrm>
          <a:off x="1335088" y="1606550"/>
          <a:ext cx="2373313" cy="2560638"/>
        </p:xfrm>
        <a:graphic>
          <a:graphicData uri="http://schemas.openxmlformats.org/drawingml/2006/table">
            <a:tbl>
              <a:tblPr/>
              <a:tblGrid>
                <a:gridCol w="790575"/>
                <a:gridCol w="792162"/>
                <a:gridCol w="79057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71832" name="Rectangle 152"/>
          <p:cNvSpPr>
            <a:spLocks noChangeArrowheads="1"/>
          </p:cNvSpPr>
          <p:nvPr/>
        </p:nvSpPr>
        <p:spPr bwMode="auto">
          <a:xfrm>
            <a:off x="4572000" y="2852738"/>
            <a:ext cx="2520950" cy="792163"/>
          </a:xfrm>
          <a:prstGeom prst="rect">
            <a:avLst/>
          </a:prstGeom>
          <a:noFill/>
          <a:ln w="12700" cap="sq">
            <a:noFill/>
            <a:miter lim="800000"/>
            <a:headEnd type="none" w="sm" len="sm"/>
            <a:tailEnd type="none" w="sm" len="sm"/>
          </a:ln>
          <a:effectLst/>
        </p:spPr>
        <p:txBody>
          <a:bodyPr/>
          <a:lstStyle/>
          <a:p>
            <a:pPr marL="342900" marR="0" lvl="0" indent="-34290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a:pPr>
            <a:r>
              <a:rPr kumimoji="1" lang="en-US" altLang="zh-CN" sz="40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en-US" altLang="zh-CN" sz="4000" b="1" i="0" u="none" strike="noStrike" kern="1200" cap="none" spc="0" normalizeH="0" baseline="-2500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B = b</a:t>
            </a:r>
            <a:r>
              <a:rPr kumimoji="1" lang="en-US" altLang="zh-CN" sz="3600" b="1" i="0" u="none" strike="noStrike" kern="1200" cap="none" spc="0" normalizeH="0" baseline="-2500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(R)</a:t>
            </a:r>
            <a:endPar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endParaRPr>
          </a:p>
        </p:txBody>
      </p:sp>
      <p:graphicFrame>
        <p:nvGraphicFramePr>
          <p:cNvPr id="71862" name="Group 182"/>
          <p:cNvGraphicFramePr>
            <a:graphicFrameLocks noGrp="1"/>
          </p:cNvGraphicFramePr>
          <p:nvPr/>
        </p:nvGraphicFramePr>
        <p:xfrm>
          <a:off x="5651500" y="3733800"/>
          <a:ext cx="2449513" cy="1920875"/>
        </p:xfrm>
        <a:graphic>
          <a:graphicData uri="http://schemas.openxmlformats.org/drawingml/2006/table">
            <a:tbl>
              <a:tblPr/>
              <a:tblGrid>
                <a:gridCol w="815975"/>
                <a:gridCol w="817563"/>
                <a:gridCol w="81597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3" name="CAMERA.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51"/>
          <p:cNvSpPr>
            <a:spLocks noGrp="1"/>
          </p:cNvSpPr>
          <p:nvPr>
            <p:ph idx="1"/>
          </p:nvPr>
        </p:nvSpPr>
        <p:spPr/>
        <p:txBody>
          <a:bodyPr vert="horz" wrap="square" lIns="91440" tIns="45720" rIns="91440" bIns="45720" anchor="t" anchorCtr="0"/>
          <a:p>
            <a:pPr eaLnBrk="1" hangingPunct="1"/>
            <a:r>
              <a:rPr lang="zh-CN" altLang="en-US" dirty="0">
                <a:solidFill>
                  <a:srgbClr val="0000CC"/>
                </a:solidFill>
              </a:rPr>
              <a:t>查找男生的信息</a:t>
            </a:r>
            <a:endParaRPr lang="zh-CN" altLang="en-US" dirty="0">
              <a:solidFill>
                <a:srgbClr val="0000CC"/>
              </a:solidFill>
            </a:endParaRPr>
          </a:p>
        </p:txBody>
      </p:sp>
      <p:sp>
        <p:nvSpPr>
          <p:cNvPr id="26624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选择运算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应用举例</a:t>
            </a:r>
            <a:r>
              <a:rPr kumimoji="0"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1</a:t>
            </a:r>
            <a:endParaRPr kumimoji="0"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graphicFrame>
        <p:nvGraphicFramePr>
          <p:cNvPr id="266293" name="Group 53"/>
          <p:cNvGraphicFramePr>
            <a:graphicFrameLocks noGrp="1"/>
          </p:cNvGraphicFramePr>
          <p:nvPr/>
        </p:nvGraphicFramePr>
        <p:xfrm>
          <a:off x="466725" y="1751013"/>
          <a:ext cx="7488238" cy="3840163"/>
        </p:xfrm>
        <a:graphic>
          <a:graphicData uri="http://schemas.openxmlformats.org/drawingml/2006/table">
            <a:tbl>
              <a:tblPr/>
              <a:tblGrid>
                <a:gridCol w="1644650"/>
                <a:gridCol w="1728788"/>
                <a:gridCol w="1306512"/>
                <a:gridCol w="1382713"/>
                <a:gridCol w="1425575"/>
              </a:tblGrid>
              <a:tr h="640027">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学  号</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姓   名</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年龄</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性别</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籍  贯</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40027">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王暁燕</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北京</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40027">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    波</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40027">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陈志坚</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21</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长沙</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40027">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S4</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40027">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S5</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武汉</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266287" name="Rectangle 47"/>
          <p:cNvSpPr>
            <a:spLocks noChangeArrowheads="1"/>
          </p:cNvSpPr>
          <p:nvPr/>
        </p:nvSpPr>
        <p:spPr bwMode="auto">
          <a:xfrm>
            <a:off x="1908175" y="5589588"/>
            <a:ext cx="5562600" cy="812800"/>
          </a:xfrm>
          <a:prstGeom prst="rect">
            <a:avLst/>
          </a:prstGeom>
          <a:noFill/>
          <a:ln w="12700" cap="sq">
            <a:noFill/>
            <a:miter lim="800000"/>
            <a:headEnd type="none" w="sm" len="sm"/>
            <a:tailEnd type="none" w="sm" len="sm"/>
          </a:ln>
          <a:effectLst/>
        </p:spPr>
        <p:txBody>
          <a:bodyPr/>
          <a:lstStyle/>
          <a:p>
            <a:pPr marL="342900" marR="0" lvl="0" indent="-34290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a:pPr>
            <a:r>
              <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zh-CN" altLang="en-US" sz="4000" b="1" i="0" u="none" strike="noStrike" kern="1200" cap="none" spc="0" normalizeH="0" baseline="-2500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性别 </a:t>
            </a:r>
            <a:r>
              <a:rPr kumimoji="1" lang="en-US" altLang="zh-CN" sz="4000" b="1" i="0" u="none" strike="noStrike" kern="1200" cap="none" spc="0" normalizeH="0" baseline="-2500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zh-CN" altLang="en-US" sz="4000" b="1" i="0" u="none" strike="noStrike" kern="1200" cap="none" spc="0" normalizeH="0" baseline="-2500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男’  </a:t>
            </a:r>
            <a:r>
              <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a:t>
            </a:r>
            <a:r>
              <a:rPr kumimoji="1" lang="zh-CN" altLang="en-US"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学生</a:t>
            </a:r>
            <a:r>
              <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a:t>
            </a:r>
            <a:endPar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endParaRPr>
          </a:p>
        </p:txBody>
      </p:sp>
      <p:sp>
        <p:nvSpPr>
          <p:cNvPr id="266288" name="AutoShape 48"/>
          <p:cNvSpPr/>
          <p:nvPr/>
        </p:nvSpPr>
        <p:spPr>
          <a:xfrm>
            <a:off x="7986713" y="3214688"/>
            <a:ext cx="762000" cy="315912"/>
          </a:xfrm>
          <a:prstGeom prst="leftArrow">
            <a:avLst>
              <a:gd name="adj1" fmla="val 50000"/>
              <a:gd name="adj2" fmla="val 46331"/>
            </a:avLst>
          </a:prstGeom>
          <a:solidFill>
            <a:srgbClr val="0000CC"/>
          </a:solidFill>
          <a:ln w="9525" cap="flat" cmpd="sng">
            <a:solidFill>
              <a:schemeClr val="tx1"/>
            </a:solidFill>
            <a:prstDash val="solid"/>
            <a:miter/>
            <a:headEnd type="none" w="med" len="med"/>
            <a:tailEnd type="none" w="med" len="med"/>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266289" name="AutoShape 49"/>
          <p:cNvSpPr/>
          <p:nvPr/>
        </p:nvSpPr>
        <p:spPr>
          <a:xfrm>
            <a:off x="7986713" y="3857625"/>
            <a:ext cx="762000" cy="320675"/>
          </a:xfrm>
          <a:prstGeom prst="leftArrow">
            <a:avLst>
              <a:gd name="adj1" fmla="val 50000"/>
              <a:gd name="adj2" fmla="val 46336"/>
            </a:avLst>
          </a:prstGeom>
          <a:solidFill>
            <a:srgbClr val="0000CC"/>
          </a:solidFill>
          <a:ln w="9525" cap="flat" cmpd="sng">
            <a:solidFill>
              <a:schemeClr val="tx1"/>
            </a:solidFill>
            <a:prstDash val="solid"/>
            <a:miter/>
            <a:headEnd type="none" w="med" len="med"/>
            <a:tailEnd type="none" w="med" len="med"/>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266290" name="AutoShape 50"/>
          <p:cNvSpPr/>
          <p:nvPr/>
        </p:nvSpPr>
        <p:spPr>
          <a:xfrm>
            <a:off x="7986713" y="4500563"/>
            <a:ext cx="762000" cy="327025"/>
          </a:xfrm>
          <a:prstGeom prst="leftArrow">
            <a:avLst>
              <a:gd name="adj1" fmla="val 50000"/>
              <a:gd name="adj2" fmla="val 46332"/>
            </a:avLst>
          </a:prstGeom>
          <a:solidFill>
            <a:srgbClr val="0000CC"/>
          </a:solidFill>
          <a:ln w="9525" cap="flat" cmpd="sng">
            <a:solidFill>
              <a:schemeClr val="tx1"/>
            </a:solidFill>
            <a:prstDash val="solid"/>
            <a:miter/>
            <a:headEnd type="none" w="med" len="med"/>
            <a:tailEnd type="none" w="med" len="med"/>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87">
                                            <p:txEl>
                                              <p:charRg st="0" end="17"/>
                                            </p:txEl>
                                          </p:spTgt>
                                        </p:tgtEl>
                                        <p:attrNameLst>
                                          <p:attrName>style.visibility</p:attrName>
                                        </p:attrNameLst>
                                      </p:cBhvr>
                                      <p:to>
                                        <p:strVal val="visible"/>
                                      </p:to>
                                    </p:set>
                                  </p:childTnLst>
                                </p:cTn>
                              </p:par>
                              <p:par>
                                <p:cTn id="7" presetID="22" presetClass="entr" presetSubtype="2" fill="hold" grpId="0" nodeType="withEffect">
                                  <p:stCondLst>
                                    <p:cond delay="0"/>
                                  </p:stCondLst>
                                  <p:childTnLst>
                                    <p:set>
                                      <p:cBhvr>
                                        <p:cTn id="8" dur="1" fill="hold">
                                          <p:stCondLst>
                                            <p:cond delay="0"/>
                                          </p:stCondLst>
                                        </p:cTn>
                                        <p:tgtEl>
                                          <p:spTgt spid="266288"/>
                                        </p:tgtEl>
                                        <p:attrNameLst>
                                          <p:attrName>style.visibility</p:attrName>
                                        </p:attrNameLst>
                                      </p:cBhvr>
                                      <p:to>
                                        <p:strVal val="visible"/>
                                      </p:to>
                                    </p:set>
                                    <p:animEffect transition="in" filter="wipe(right)">
                                      <p:cBhvr>
                                        <p:cTn id="9" dur="500"/>
                                        <p:tgtEl>
                                          <p:spTgt spid="266288"/>
                                        </p:tgtEl>
                                      </p:cBhvr>
                                    </p:animEffect>
                                  </p:childTnLst>
                                </p:cTn>
                              </p:par>
                              <p:par>
                                <p:cTn id="10" presetID="22" presetClass="entr" presetSubtype="2" fill="hold" grpId="0" nodeType="withEffect">
                                  <p:stCondLst>
                                    <p:cond delay="0"/>
                                  </p:stCondLst>
                                  <p:childTnLst>
                                    <p:set>
                                      <p:cBhvr>
                                        <p:cTn id="11" dur="1" fill="hold">
                                          <p:stCondLst>
                                            <p:cond delay="0"/>
                                          </p:stCondLst>
                                        </p:cTn>
                                        <p:tgtEl>
                                          <p:spTgt spid="266289"/>
                                        </p:tgtEl>
                                        <p:attrNameLst>
                                          <p:attrName>style.visibility</p:attrName>
                                        </p:attrNameLst>
                                      </p:cBhvr>
                                      <p:to>
                                        <p:strVal val="visible"/>
                                      </p:to>
                                    </p:set>
                                    <p:animEffect transition="in" filter="wipe(right)">
                                      <p:cBhvr>
                                        <p:cTn id="12" dur="500"/>
                                        <p:tgtEl>
                                          <p:spTgt spid="266289"/>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266290"/>
                                        </p:tgtEl>
                                        <p:attrNameLst>
                                          <p:attrName>style.visibility</p:attrName>
                                        </p:attrNameLst>
                                      </p:cBhvr>
                                      <p:to>
                                        <p:strVal val="visible"/>
                                      </p:to>
                                    </p:set>
                                    <p:animEffect transition="in" filter="wipe(right)">
                                      <p:cBhvr>
                                        <p:cTn id="15" dur="500"/>
                                        <p:tgtEl>
                                          <p:spTgt spid="266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7" grpId="0" build="p"/>
      <p:bldP spid="266288" grpId="0" animBg="1"/>
      <p:bldP spid="266289" grpId="0" animBg="1"/>
      <p:bldP spid="26629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54"/>
          <p:cNvSpPr>
            <a:spLocks noGrp="1"/>
          </p:cNvSpPr>
          <p:nvPr>
            <p:ph idx="1"/>
          </p:nvPr>
        </p:nvSpPr>
        <p:spPr/>
        <p:txBody>
          <a:bodyPr vert="horz" wrap="square" lIns="91440" tIns="45720" rIns="91440" bIns="45720" anchor="t" anchorCtr="0"/>
          <a:p>
            <a:pPr eaLnBrk="1" hangingPunct="1"/>
            <a:r>
              <a:rPr lang="zh-CN" altLang="en-US" dirty="0">
                <a:solidFill>
                  <a:srgbClr val="0000CC"/>
                </a:solidFill>
                <a:latin typeface="黑体" panose="02010609060101010101" pitchFamily="2" charset="-122"/>
              </a:rPr>
              <a:t>查找年龄大于</a:t>
            </a:r>
            <a:r>
              <a:rPr lang="en-US" altLang="zh-CN" dirty="0">
                <a:solidFill>
                  <a:srgbClr val="0000CC"/>
                </a:solidFill>
                <a:latin typeface="黑体" panose="02010609060101010101" pitchFamily="2" charset="-122"/>
              </a:rPr>
              <a:t>20</a:t>
            </a:r>
            <a:r>
              <a:rPr lang="zh-CN" altLang="en-US" dirty="0">
                <a:solidFill>
                  <a:srgbClr val="0000CC"/>
                </a:solidFill>
                <a:latin typeface="黑体" panose="02010609060101010101" pitchFamily="2" charset="-122"/>
              </a:rPr>
              <a:t>的男生的信息</a:t>
            </a:r>
            <a:endParaRPr lang="zh-CN" altLang="en-US" dirty="0">
              <a:solidFill>
                <a:srgbClr val="0000CC"/>
              </a:solidFill>
              <a:latin typeface="黑体" panose="02010609060101010101" pitchFamily="2" charset="-122"/>
            </a:endParaRPr>
          </a:p>
        </p:txBody>
      </p:sp>
      <p:sp>
        <p:nvSpPr>
          <p:cNvPr id="79874" name="Rectangle 2"/>
          <p:cNvSpPr>
            <a:spLocks noGrp="1" noChangeArrowheads="1"/>
          </p:cNvSpPr>
          <p:nvPr>
            <p:ph type="title"/>
          </p:nvPr>
        </p:nvSpPr>
        <p:spPr>
          <a:xfrm>
            <a:off x="179388" y="0"/>
            <a:ext cx="8964613" cy="8382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选择运算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应用举例</a:t>
            </a:r>
            <a:r>
              <a:rPr kumimoji="0"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2</a:t>
            </a:r>
            <a:endParaRPr kumimoji="0"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graphicFrame>
        <p:nvGraphicFramePr>
          <p:cNvPr id="79930" name="Group 58"/>
          <p:cNvGraphicFramePr>
            <a:graphicFrameLocks noGrp="1"/>
          </p:cNvGraphicFramePr>
          <p:nvPr/>
        </p:nvGraphicFramePr>
        <p:xfrm>
          <a:off x="466725" y="1751013"/>
          <a:ext cx="7488238" cy="3475038"/>
        </p:xfrm>
        <a:graphic>
          <a:graphicData uri="http://schemas.openxmlformats.org/drawingml/2006/table">
            <a:tbl>
              <a:tblPr/>
              <a:tblGrid>
                <a:gridCol w="1644650"/>
                <a:gridCol w="1728788"/>
                <a:gridCol w="1306512"/>
                <a:gridCol w="1382713"/>
                <a:gridCol w="1425575"/>
              </a:tblGrid>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学  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姓   名</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年龄</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性别</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籍  贯</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王暁燕</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北京</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    波</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陈志坚</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长沙</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武汉</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79919" name="Rectangle 47"/>
          <p:cNvSpPr>
            <a:spLocks noChangeArrowheads="1"/>
          </p:cNvSpPr>
          <p:nvPr/>
        </p:nvSpPr>
        <p:spPr bwMode="auto">
          <a:xfrm>
            <a:off x="1258888" y="5373688"/>
            <a:ext cx="6048375" cy="935038"/>
          </a:xfrm>
          <a:prstGeom prst="rect">
            <a:avLst/>
          </a:prstGeom>
          <a:noFill/>
          <a:ln w="12700" cap="sq">
            <a:noFill/>
            <a:miter lim="800000"/>
            <a:headEnd type="none" w="sm" len="sm"/>
            <a:tailEnd type="none" w="sm" len="sm"/>
          </a:ln>
          <a:effectLst/>
        </p:spPr>
        <p:txBody>
          <a:bodyPr/>
          <a:lstStyle/>
          <a:p>
            <a:pPr marL="342900" marR="0" lvl="0" indent="-34290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a:pPr>
            <a:r>
              <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zh-CN" altLang="en-US" sz="4000" b="1" i="0" u="none" strike="noStrike" kern="1200" cap="none" spc="0" normalizeH="0" baseline="-2500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性别 </a:t>
            </a:r>
            <a:r>
              <a:rPr kumimoji="1" lang="en-US" altLang="zh-CN" sz="4000" b="1" i="0" u="none" strike="noStrike" kern="1200" cap="none" spc="0" normalizeH="0" baseline="-2500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zh-CN" altLang="en-US" sz="4000" b="1" i="0" u="none" strike="noStrike" kern="1200" cap="none" spc="0" normalizeH="0" baseline="-2500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男’  年龄 </a:t>
            </a:r>
            <a:r>
              <a:rPr kumimoji="1" lang="en-US" altLang="zh-CN" sz="4000" b="1" i="0" u="none" strike="noStrike" kern="1200" cap="none" spc="0" normalizeH="0" baseline="-2500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&gt; 20</a:t>
            </a:r>
            <a:r>
              <a:rPr kumimoji="1"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rPr>
              <a:t> </a:t>
            </a:r>
            <a:r>
              <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学生</a:t>
            </a:r>
            <a:r>
              <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a:t>
            </a:r>
            <a:endParaRPr kumimoji="1" lang="en-US" altLang="zh-CN" sz="40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endParaRPr>
          </a:p>
        </p:txBody>
      </p:sp>
      <p:sp>
        <p:nvSpPr>
          <p:cNvPr id="79920" name="AutoShape 48"/>
          <p:cNvSpPr/>
          <p:nvPr/>
        </p:nvSpPr>
        <p:spPr>
          <a:xfrm>
            <a:off x="7986713" y="3000375"/>
            <a:ext cx="762000" cy="334963"/>
          </a:xfrm>
          <a:prstGeom prst="leftArrow">
            <a:avLst>
              <a:gd name="adj1" fmla="val 50000"/>
              <a:gd name="adj2" fmla="val 46329"/>
            </a:avLst>
          </a:prstGeom>
          <a:solidFill>
            <a:srgbClr val="0000CC"/>
          </a:solidFill>
          <a:ln w="9525" cap="flat" cmpd="sng">
            <a:solidFill>
              <a:schemeClr val="tx1"/>
            </a:solidFill>
            <a:prstDash val="solid"/>
            <a:miter/>
            <a:headEnd type="none" w="med" len="med"/>
            <a:tailEnd type="none" w="med" len="med"/>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9921" name="AutoShape 49"/>
          <p:cNvSpPr/>
          <p:nvPr/>
        </p:nvSpPr>
        <p:spPr>
          <a:xfrm>
            <a:off x="7986713" y="3643313"/>
            <a:ext cx="762000" cy="339725"/>
          </a:xfrm>
          <a:prstGeom prst="leftArrow">
            <a:avLst>
              <a:gd name="adj1" fmla="val 50000"/>
              <a:gd name="adj2" fmla="val 46334"/>
            </a:avLst>
          </a:prstGeom>
          <a:solidFill>
            <a:srgbClr val="0000CC"/>
          </a:solidFill>
          <a:ln w="9525" cap="flat" cmpd="sng">
            <a:solidFill>
              <a:schemeClr val="tx1"/>
            </a:solidFill>
            <a:prstDash val="solid"/>
            <a:miter/>
            <a:headEnd type="none" w="med" len="med"/>
            <a:tailEnd type="none" w="med" len="med"/>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9927" name="AutoShape 55">
            <a:hlinkClick r:id="rId3" action="ppaction://hlinksldjump"/>
          </p:cNvPr>
          <p:cNvSpPr>
            <a:spLocks noChangeArrowheads="1"/>
          </p:cNvSpPr>
          <p:nvPr/>
        </p:nvSpPr>
        <p:spPr bwMode="auto">
          <a:xfrm>
            <a:off x="8101013"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random/>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9919">
                                            <p:txEl>
                                              <p:charRg st="0" end="27"/>
                                            </p:txEl>
                                          </p:spTgt>
                                        </p:tgtEl>
                                        <p:attrNameLst>
                                          <p:attrName>style.visibility</p:attrName>
                                        </p:attrNameLst>
                                      </p:cBhvr>
                                      <p:to>
                                        <p:strVal val="visible"/>
                                      </p:to>
                                    </p:set>
                                  </p:childTnLst>
                                </p:cTn>
                              </p:par>
                              <p:par>
                                <p:cTn id="7" presetID="22" presetClass="entr" presetSubtype="2" fill="hold" grpId="0" nodeType="withEffect">
                                  <p:stCondLst>
                                    <p:cond delay="0"/>
                                  </p:stCondLst>
                                  <p:childTnLst>
                                    <p:set>
                                      <p:cBhvr>
                                        <p:cTn id="8" dur="1" fill="hold">
                                          <p:stCondLst>
                                            <p:cond delay="0"/>
                                          </p:stCondLst>
                                        </p:cTn>
                                        <p:tgtEl>
                                          <p:spTgt spid="79920"/>
                                        </p:tgtEl>
                                        <p:attrNameLst>
                                          <p:attrName>style.visibility</p:attrName>
                                        </p:attrNameLst>
                                      </p:cBhvr>
                                      <p:to>
                                        <p:strVal val="visible"/>
                                      </p:to>
                                    </p:set>
                                    <p:animEffect transition="in" filter="wipe(right)">
                                      <p:cBhvr>
                                        <p:cTn id="9" dur="500"/>
                                        <p:tgtEl>
                                          <p:spTgt spid="79920"/>
                                        </p:tgtEl>
                                      </p:cBhvr>
                                    </p:animEffect>
                                  </p:childTnLst>
                                </p:cTn>
                              </p:par>
                              <p:par>
                                <p:cTn id="10" presetID="22" presetClass="entr" presetSubtype="2" fill="hold" grpId="0" nodeType="withEffect">
                                  <p:stCondLst>
                                    <p:cond delay="0"/>
                                  </p:stCondLst>
                                  <p:childTnLst>
                                    <p:set>
                                      <p:cBhvr>
                                        <p:cTn id="11" dur="1" fill="hold">
                                          <p:stCondLst>
                                            <p:cond delay="0"/>
                                          </p:stCondLst>
                                        </p:cTn>
                                        <p:tgtEl>
                                          <p:spTgt spid="79921"/>
                                        </p:tgtEl>
                                        <p:attrNameLst>
                                          <p:attrName>style.visibility</p:attrName>
                                        </p:attrNameLst>
                                      </p:cBhvr>
                                      <p:to>
                                        <p:strVal val="visible"/>
                                      </p:to>
                                    </p:set>
                                    <p:animEffect transition="in" filter="wipe(right)">
                                      <p:cBhvr>
                                        <p:cTn id="12" dur="500"/>
                                        <p:tgtEl>
                                          <p:spTgt spid="79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19" grpId="0" build="p"/>
      <p:bldP spid="79920" grpId="0" animBg="1"/>
      <p:bldP spid="7992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a:spLocks noGrp="1"/>
          </p:cNvSpPr>
          <p:nvPr>
            <p:ph idx="1"/>
          </p:nvPr>
        </p:nvSpPr>
        <p:spPr/>
        <p:txBody>
          <a:bodyPr vert="horz" wrap="square" lIns="91440" tIns="45720" rIns="91440" bIns="45720" anchor="t" anchorCtr="0"/>
          <a:p>
            <a:pPr eaLnBrk="1" hangingPunct="1"/>
            <a:r>
              <a:rPr lang="zh-CN" altLang="en-US" dirty="0">
                <a:latin typeface="Arial" panose="020B0604020202020204" pitchFamily="34" charset="0"/>
              </a:rPr>
              <a:t>投影运算符的含义</a:t>
            </a:r>
            <a:endParaRPr lang="zh-CN" altLang="en-US" dirty="0">
              <a:latin typeface="Arial" panose="020B0604020202020204" pitchFamily="34" charset="0"/>
            </a:endParaRPr>
          </a:p>
          <a:p>
            <a:pPr lvl="1" algn="just" eaLnBrk="1" hangingPunct="1">
              <a:lnSpc>
                <a:spcPct val="110000"/>
              </a:lnSpc>
              <a:buNone/>
            </a:pPr>
            <a:r>
              <a:rPr lang="zh-CN" altLang="en-US" dirty="0">
                <a:latin typeface="Arial" panose="020B0604020202020204" pitchFamily="34" charset="0"/>
              </a:rPr>
              <a:t>从</a:t>
            </a:r>
            <a:r>
              <a:rPr lang="en-US" altLang="zh-CN" dirty="0">
                <a:latin typeface="Arial" panose="020B0604020202020204" pitchFamily="34" charset="0"/>
              </a:rPr>
              <a:t>R</a:t>
            </a:r>
            <a:r>
              <a:rPr lang="zh-CN" altLang="en-US" dirty="0">
                <a:latin typeface="Arial" panose="020B0604020202020204" pitchFamily="34" charset="0"/>
              </a:rPr>
              <a:t>中选择出若干属性列组成新的关系</a:t>
            </a:r>
            <a:endParaRPr lang="zh-CN" altLang="en-US" dirty="0">
              <a:latin typeface="Arial" panose="020B0604020202020204" pitchFamily="34" charset="0"/>
            </a:endParaRPr>
          </a:p>
          <a:p>
            <a:pPr lvl="1" algn="just" eaLnBrk="1" hangingPunct="1">
              <a:lnSpc>
                <a:spcPct val="110000"/>
              </a:lnSpc>
              <a:buNone/>
            </a:pPr>
            <a:r>
              <a:rPr lang="zh-CN" altLang="en-US" sz="4000" dirty="0">
                <a:latin typeface="Arial" panose="020B0604020202020204" pitchFamily="34" charset="0"/>
              </a:rPr>
              <a:t>         </a:t>
            </a:r>
            <a:r>
              <a:rPr lang="en-US" altLang="zh-CN" sz="4000" dirty="0">
                <a:solidFill>
                  <a:srgbClr val="0000CC"/>
                </a:solidFill>
                <a:latin typeface="Times New Roman" panose="02020603050405020304" pitchFamily="18" charset="0"/>
                <a:cs typeface="Times New Roman" panose="02020603050405020304" pitchFamily="18" charset="0"/>
              </a:rPr>
              <a:t>П</a:t>
            </a:r>
            <a:r>
              <a:rPr lang="en-US" altLang="zh-CN" baseline="-30000" dirty="0">
                <a:solidFill>
                  <a:srgbClr val="0000CC"/>
                </a:solidFill>
                <a:latin typeface="Arial" panose="020B0604020202020204" pitchFamily="34" charset="0"/>
              </a:rPr>
              <a:t>A </a:t>
            </a:r>
            <a:r>
              <a:rPr lang="en-US" altLang="zh-CN" dirty="0">
                <a:solidFill>
                  <a:srgbClr val="0000CC"/>
                </a:solidFill>
                <a:latin typeface="Arial" panose="020B0604020202020204" pitchFamily="34" charset="0"/>
              </a:rPr>
              <a:t>(R) = { t[A] | t </a:t>
            </a:r>
            <a:r>
              <a:rPr lang="en-US" altLang="zh-CN" dirty="0">
                <a:solidFill>
                  <a:srgbClr val="0000CC"/>
                </a:solidFill>
                <a:latin typeface="Arial" panose="020B0604020202020204" pitchFamily="34" charset="0"/>
                <a:sym typeface="Symbol" panose="05050102010706020507" pitchFamily="18" charset="2"/>
              </a:rPr>
              <a:t></a:t>
            </a:r>
            <a:r>
              <a:rPr lang="en-US" altLang="zh-CN" dirty="0">
                <a:solidFill>
                  <a:srgbClr val="0000CC"/>
                </a:solidFill>
                <a:latin typeface="Arial" panose="020B0604020202020204" pitchFamily="34" charset="0"/>
              </a:rPr>
              <a:t>R }</a:t>
            </a:r>
            <a:endParaRPr lang="en-US" altLang="zh-CN" dirty="0">
              <a:solidFill>
                <a:srgbClr val="0000CC"/>
              </a:solidFill>
              <a:latin typeface="Arial" panose="020B0604020202020204" pitchFamily="34" charset="0"/>
            </a:endParaRPr>
          </a:p>
          <a:p>
            <a:pPr lvl="1" algn="just" eaLnBrk="1" hangingPunct="1">
              <a:lnSpc>
                <a:spcPct val="110000"/>
              </a:lnSpc>
              <a:buNone/>
            </a:pPr>
            <a:endParaRPr lang="en-US" altLang="zh-CN" dirty="0">
              <a:solidFill>
                <a:srgbClr val="0000CC"/>
              </a:solidFill>
              <a:latin typeface="Arial" panose="020B0604020202020204" pitchFamily="34" charset="0"/>
            </a:endParaRPr>
          </a:p>
          <a:p>
            <a:pPr lvl="1" algn="just" eaLnBrk="1" hangingPunct="1">
              <a:lnSpc>
                <a:spcPct val="110000"/>
              </a:lnSpc>
              <a:buNone/>
            </a:pPr>
            <a:r>
              <a:rPr lang="zh-CN" altLang="en-US" dirty="0">
                <a:latin typeface="Arial" panose="020B0604020202020204" pitchFamily="34" charset="0"/>
              </a:rPr>
              <a:t>其中：</a:t>
            </a:r>
            <a:r>
              <a:rPr lang="en-US" altLang="zh-CN" dirty="0">
                <a:latin typeface="Arial" panose="020B0604020202020204" pitchFamily="34" charset="0"/>
              </a:rPr>
              <a:t>A</a:t>
            </a:r>
            <a:r>
              <a:rPr lang="zh-CN" altLang="en-US" dirty="0">
                <a:latin typeface="Arial" panose="020B0604020202020204" pitchFamily="34" charset="0"/>
              </a:rPr>
              <a:t>为</a:t>
            </a:r>
            <a:r>
              <a:rPr lang="en-US" altLang="zh-CN" dirty="0">
                <a:latin typeface="Arial" panose="020B0604020202020204" pitchFamily="34" charset="0"/>
              </a:rPr>
              <a:t>R</a:t>
            </a:r>
            <a:r>
              <a:rPr lang="zh-CN" altLang="en-US" dirty="0">
                <a:latin typeface="Arial" panose="020B0604020202020204" pitchFamily="34" charset="0"/>
              </a:rPr>
              <a:t>中的属性列</a:t>
            </a:r>
            <a:endParaRPr lang="zh-CN" altLang="en-US" dirty="0">
              <a:latin typeface="Arial" panose="020B0604020202020204" pitchFamily="34" charset="0"/>
            </a:endParaRPr>
          </a:p>
        </p:txBody>
      </p:sp>
      <p:sp>
        <p:nvSpPr>
          <p:cNvPr id="54275" name="Text Box 2"/>
          <p:cNvSpPr txBox="1"/>
          <p:nvPr/>
        </p:nvSpPr>
        <p:spPr>
          <a:xfrm>
            <a:off x="1127125" y="5202238"/>
            <a:ext cx="184150" cy="45720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zh-CN" sz="2400" dirty="0">
              <a:solidFill>
                <a:schemeClr val="tx1"/>
              </a:solidFill>
              <a:ea typeface="宋体" panose="02010600030101010101" pitchFamily="2" charset="-122"/>
            </a:endParaRPr>
          </a:p>
        </p:txBody>
      </p:sp>
      <p:sp>
        <p:nvSpPr>
          <p:cNvPr id="65542" name="Rectangle 6"/>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dirty="0">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投影 </a:t>
            </a:r>
            <a:r>
              <a:rPr kumimoji="0" lang="en-US" altLang="zh-CN" sz="44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П</a:t>
            </a:r>
            <a:r>
              <a:rPr kumimoji="0" lang="en-US" altLang="zh-CN" sz="44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j-ea"/>
                <a:cs typeface="+mj-cs"/>
              </a:rPr>
              <a:t>  </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(Projection)</a:t>
            </a:r>
            <a:endPar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3" name="CAMERA.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idx="1"/>
          </p:nvPr>
        </p:nvSpPr>
        <p:spPr>
          <a:xfrm>
            <a:off x="152400" y="1016000"/>
            <a:ext cx="8848725" cy="5653088"/>
          </a:xfrm>
        </p:spPr>
        <p:txBody>
          <a:bodyPr vert="horz" wrap="square" lIns="91440" tIns="45720" rIns="91440" bIns="45720" anchor="t" anchorCtr="0"/>
          <a:p>
            <a:pPr algn="just" eaLnBrk="1" hangingPunct="1">
              <a:lnSpc>
                <a:spcPct val="110000"/>
              </a:lnSpc>
            </a:pPr>
            <a:r>
              <a:rPr lang="zh-CN" altLang="en-US" dirty="0">
                <a:latin typeface="Arial" panose="020B0604020202020204" pitchFamily="34" charset="0"/>
              </a:rPr>
              <a:t>投影操作是从</a:t>
            </a:r>
            <a:r>
              <a:rPr lang="zh-CN" altLang="en-US" dirty="0">
                <a:solidFill>
                  <a:srgbClr val="0000CC"/>
                </a:solidFill>
                <a:latin typeface="Arial" panose="020B0604020202020204" pitchFamily="34" charset="0"/>
              </a:rPr>
              <a:t>列</a:t>
            </a:r>
            <a:r>
              <a:rPr lang="zh-CN" altLang="en-US" dirty="0">
                <a:latin typeface="Arial" panose="020B0604020202020204" pitchFamily="34" charset="0"/>
              </a:rPr>
              <a:t>的角度进行运算</a:t>
            </a:r>
            <a:endParaRPr lang="zh-CN" altLang="en-US" dirty="0">
              <a:latin typeface="Arial" panose="020B0604020202020204" pitchFamily="34" charset="0"/>
            </a:endParaRPr>
          </a:p>
          <a:p>
            <a:pPr algn="just" eaLnBrk="1" hangingPunct="1">
              <a:lnSpc>
                <a:spcPct val="110000"/>
              </a:lnSpc>
            </a:pPr>
            <a:endParaRPr lang="zh-CN" altLang="en-US" dirty="0">
              <a:latin typeface="Arial" panose="020B0604020202020204" pitchFamily="34" charset="0"/>
            </a:endParaRPr>
          </a:p>
          <a:p>
            <a:pPr algn="just" eaLnBrk="1" hangingPunct="1">
              <a:lnSpc>
                <a:spcPct val="110000"/>
              </a:lnSpc>
            </a:pPr>
            <a:endParaRPr lang="zh-CN" altLang="en-US" dirty="0">
              <a:latin typeface="Arial" panose="020B0604020202020204" pitchFamily="34" charset="0"/>
            </a:endParaRPr>
          </a:p>
          <a:p>
            <a:pPr algn="just" eaLnBrk="1" hangingPunct="1">
              <a:lnSpc>
                <a:spcPct val="110000"/>
              </a:lnSpc>
            </a:pPr>
            <a:endParaRPr lang="zh-CN" altLang="en-US" dirty="0">
              <a:latin typeface="Arial" panose="020B0604020202020204" pitchFamily="34" charset="0"/>
            </a:endParaRPr>
          </a:p>
          <a:p>
            <a:pPr algn="just" eaLnBrk="1" hangingPunct="1">
              <a:lnSpc>
                <a:spcPct val="110000"/>
              </a:lnSpc>
            </a:pPr>
            <a:endParaRPr lang="zh-CN" altLang="en-US" dirty="0">
              <a:latin typeface="Arial" panose="020B0604020202020204" pitchFamily="34" charset="0"/>
            </a:endParaRPr>
          </a:p>
          <a:p>
            <a:pPr algn="just" eaLnBrk="1" hangingPunct="1">
              <a:lnSpc>
                <a:spcPct val="110000"/>
              </a:lnSpc>
              <a:spcBef>
                <a:spcPct val="35000"/>
              </a:spcBef>
              <a:buNone/>
            </a:pPr>
            <a:r>
              <a:rPr lang="zh-CN" altLang="en-US" dirty="0">
                <a:latin typeface="Arial" panose="020B0604020202020204" pitchFamily="34" charset="0"/>
              </a:rPr>
              <a:t>   </a:t>
            </a:r>
            <a:r>
              <a:rPr lang="zh-CN" altLang="en-US" sz="3200" dirty="0">
                <a:latin typeface="Arial" panose="020B0604020202020204" pitchFamily="34" charset="0"/>
              </a:rPr>
              <a:t>投影之后不仅取消了原关系中的某些列，而且还可能取消某些元组</a:t>
            </a:r>
            <a:r>
              <a:rPr lang="en-US" altLang="zh-CN" sz="3200" dirty="0">
                <a:latin typeface="Arial" panose="020B0604020202020204" pitchFamily="34" charset="0"/>
              </a:rPr>
              <a:t>(</a:t>
            </a:r>
            <a:r>
              <a:rPr lang="zh-CN" altLang="en-US" sz="3200" dirty="0">
                <a:latin typeface="Arial" panose="020B0604020202020204" pitchFamily="34" charset="0"/>
              </a:rPr>
              <a:t>避免重复行</a:t>
            </a:r>
            <a:r>
              <a:rPr lang="en-US" altLang="zh-CN" sz="3200" dirty="0">
                <a:latin typeface="Arial" panose="020B0604020202020204" pitchFamily="34" charset="0"/>
              </a:rPr>
              <a:t>)</a:t>
            </a:r>
            <a:r>
              <a:rPr lang="zh-CN" altLang="en-US" sz="3200" dirty="0">
                <a:latin typeface="Arial" panose="020B0604020202020204" pitchFamily="34" charset="0"/>
              </a:rPr>
              <a:t>。</a:t>
            </a:r>
            <a:endParaRPr lang="zh-CN" altLang="en-US" sz="3200" dirty="0">
              <a:latin typeface="Arial" panose="020B0604020202020204" pitchFamily="34" charset="0"/>
            </a:endParaRPr>
          </a:p>
        </p:txBody>
      </p:sp>
      <p:sp>
        <p:nvSpPr>
          <p:cNvPr id="55299" name="Text Box 3"/>
          <p:cNvSpPr txBox="1"/>
          <p:nvPr/>
        </p:nvSpPr>
        <p:spPr>
          <a:xfrm>
            <a:off x="1127125" y="5202238"/>
            <a:ext cx="184150" cy="45720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zh-CN" sz="2400" dirty="0">
              <a:solidFill>
                <a:schemeClr val="tx1"/>
              </a:solidFill>
              <a:ea typeface="宋体" panose="02010600030101010101" pitchFamily="2" charset="-122"/>
            </a:endParaRPr>
          </a:p>
        </p:txBody>
      </p:sp>
      <p:sp>
        <p:nvSpPr>
          <p:cNvPr id="223236" name="Rectangle 4"/>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dirty="0">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投影</a:t>
            </a:r>
            <a:r>
              <a:rPr kumimoji="0" lang="en-US" altLang="zh-CN"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П</a:t>
            </a:r>
            <a:r>
              <a:rPr kumimoji="0" lang="en-US" altLang="zh-CN"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j-lt"/>
                <a:ea typeface="+mj-ea"/>
                <a:cs typeface="+mj-cs"/>
              </a:rPr>
              <a:t> </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续</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a:t>
            </a:r>
            <a:endPar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55301" name="Group 5"/>
          <p:cNvGrpSpPr/>
          <p:nvPr/>
        </p:nvGrpSpPr>
        <p:grpSpPr>
          <a:xfrm>
            <a:off x="1908175" y="1916113"/>
            <a:ext cx="3502025" cy="2043112"/>
            <a:chOff x="1536" y="1584"/>
            <a:chExt cx="1728" cy="1008"/>
          </a:xfrm>
        </p:grpSpPr>
        <p:sp>
          <p:nvSpPr>
            <p:cNvPr id="55302" name="AutoShape 6"/>
            <p:cNvSpPr/>
            <p:nvPr/>
          </p:nvSpPr>
          <p:spPr>
            <a:xfrm>
              <a:off x="2352" y="2016"/>
              <a:ext cx="528" cy="144"/>
            </a:xfrm>
            <a:prstGeom prst="rightArrow">
              <a:avLst>
                <a:gd name="adj1" fmla="val 50000"/>
                <a:gd name="adj2" fmla="val 91666"/>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03" name="Text Box 7"/>
            <p:cNvSpPr txBox="1"/>
            <p:nvPr/>
          </p:nvSpPr>
          <p:spPr>
            <a:xfrm>
              <a:off x="2352" y="1728"/>
              <a:ext cx="432" cy="349"/>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a:spcBef>
                  <a:spcPct val="50000"/>
                </a:spcBef>
                <a:buClrTx/>
                <a:buSzTx/>
                <a:buFontTx/>
                <a:buNone/>
              </a:pPr>
              <a:r>
                <a:rPr lang="zh-CN" altLang="en-US" sz="4000">
                  <a:latin typeface="Times New Roman" panose="02020603050405020304" pitchFamily="18" charset="0"/>
                  <a:cs typeface="Times New Roman" panose="02020603050405020304" pitchFamily="18" charset="0"/>
                  <a:sym typeface="+mn-ea"/>
                </a:rPr>
                <a:t>П</a:t>
              </a:r>
              <a:endParaRPr lang="en-US" altLang="zh-CN" sz="4000" b="0" dirty="0">
                <a:ea typeface="宋体" panose="02010600030101010101" pitchFamily="2" charset="-122"/>
              </a:endParaRPr>
            </a:p>
          </p:txBody>
        </p:sp>
        <p:sp>
          <p:nvSpPr>
            <p:cNvPr id="55304" name="Rectangle 8"/>
            <p:cNvSpPr/>
            <p:nvPr/>
          </p:nvSpPr>
          <p:spPr>
            <a:xfrm>
              <a:off x="1536" y="1584"/>
              <a:ext cx="96" cy="1008"/>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05" name="Rectangle 9" descr="浅色下对角线"/>
            <p:cNvSpPr/>
            <p:nvPr/>
          </p:nvSpPr>
          <p:spPr>
            <a:xfrm>
              <a:off x="1632" y="1584"/>
              <a:ext cx="96" cy="1008"/>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06" name="Rectangle 10"/>
            <p:cNvSpPr/>
            <p:nvPr/>
          </p:nvSpPr>
          <p:spPr>
            <a:xfrm>
              <a:off x="1728" y="1584"/>
              <a:ext cx="96" cy="1008"/>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07" name="Rectangle 11"/>
            <p:cNvSpPr/>
            <p:nvPr/>
          </p:nvSpPr>
          <p:spPr>
            <a:xfrm>
              <a:off x="1824" y="1584"/>
              <a:ext cx="96" cy="1008"/>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08" name="Rectangle 12" descr="浅色下对角线"/>
            <p:cNvSpPr/>
            <p:nvPr/>
          </p:nvSpPr>
          <p:spPr>
            <a:xfrm>
              <a:off x="1920" y="1584"/>
              <a:ext cx="96" cy="1008"/>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09" name="Rectangle 13"/>
            <p:cNvSpPr/>
            <p:nvPr/>
          </p:nvSpPr>
          <p:spPr>
            <a:xfrm>
              <a:off x="2016" y="1584"/>
              <a:ext cx="96" cy="1008"/>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10" name="Rectangle 14" descr="浅色下对角线"/>
            <p:cNvSpPr/>
            <p:nvPr/>
          </p:nvSpPr>
          <p:spPr>
            <a:xfrm>
              <a:off x="3072" y="1584"/>
              <a:ext cx="96" cy="1008"/>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5311" name="Rectangle 15" descr="浅色下对角线"/>
            <p:cNvSpPr/>
            <p:nvPr/>
          </p:nvSpPr>
          <p:spPr>
            <a:xfrm>
              <a:off x="3168" y="1584"/>
              <a:ext cx="96" cy="1008"/>
            </a:xfrm>
            <a:prstGeom prst="rect">
              <a:avLst/>
            </a:prstGeom>
            <a:pattFill prst="ltDnDiag">
              <a:fgClr>
                <a:srgbClr val="000000"/>
              </a:fgClr>
              <a:bgClr>
                <a:srgbClr val="FFFFFF"/>
              </a:bgClr>
            </a:pattFill>
            <a:ln w="9525" cap="flat" cmpd="sng">
              <a:solidFill>
                <a:srgbClr val="000000"/>
              </a:solidFill>
              <a:prstDash val="solid"/>
              <a:miter/>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grpSp>
    </p:spTree>
  </p:cSld>
  <p:clrMapOvr>
    <a:masterClrMapping/>
  </p:clrMapOvr>
  <p:transition>
    <p:random/>
    <p:sndAc>
      <p:stSnd>
        <p:snd r:embed="rId3"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投影运算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56323" name="Text Box 52"/>
          <p:cNvSpPr txBox="1"/>
          <p:nvPr/>
        </p:nvSpPr>
        <p:spPr>
          <a:xfrm>
            <a:off x="396875" y="1196975"/>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graphicFrame>
        <p:nvGraphicFramePr>
          <p:cNvPr id="267396" name="Group 132"/>
          <p:cNvGraphicFramePr>
            <a:graphicFrameLocks noGrp="1"/>
          </p:cNvGraphicFramePr>
          <p:nvPr/>
        </p:nvGraphicFramePr>
        <p:xfrm>
          <a:off x="1046163" y="1214438"/>
          <a:ext cx="2373313" cy="2320925"/>
        </p:xfrm>
        <a:graphic>
          <a:graphicData uri="http://schemas.openxmlformats.org/drawingml/2006/table">
            <a:tbl>
              <a:tblPr/>
              <a:tblGrid>
                <a:gridCol w="790575"/>
                <a:gridCol w="792162"/>
                <a:gridCol w="79057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267339" name="Rectangle 75"/>
          <p:cNvSpPr>
            <a:spLocks noChangeArrowheads="1"/>
          </p:cNvSpPr>
          <p:nvPr/>
        </p:nvSpPr>
        <p:spPr bwMode="auto">
          <a:xfrm>
            <a:off x="4356100" y="3914775"/>
            <a:ext cx="3816350" cy="792163"/>
          </a:xfrm>
          <a:prstGeom prst="rect">
            <a:avLst/>
          </a:prstGeom>
          <a:noFill/>
          <a:ln w="12700" cap="sq">
            <a:noFill/>
            <a:miter lim="800000"/>
            <a:headEnd type="none" w="sm" len="sm"/>
            <a:tailEnd type="none" w="sm" len="sm"/>
          </a:ln>
          <a:effectLst/>
        </p:spPr>
        <p:txBody>
          <a:bodyPr/>
          <a:lstStyle/>
          <a:p>
            <a:pPr marL="342900" marR="0" lvl="0" indent="-34290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a:pP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П</a:t>
            </a: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en-US" altLang="zh-CN" sz="3600" b="1" i="0" u="none" strike="noStrike" kern="1200" cap="none" spc="0" normalizeH="0" baseline="-2500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A,B</a:t>
            </a:r>
            <a:r>
              <a:rPr kumimoji="1"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rPr>
              <a:t> </a:t>
            </a: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a:t>
            </a:r>
            <a:r>
              <a:rPr kumimoji="1"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rPr>
              <a:t> </a:t>
            </a: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en-US" altLang="zh-CN" sz="3600" b="1" i="0" u="none" strike="noStrike" kern="1200" cap="none" spc="0" normalizeH="0" baseline="-2500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B = b  </a:t>
            </a: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(R))</a:t>
            </a:r>
            <a:endPar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endParaRPr>
          </a:p>
        </p:txBody>
      </p:sp>
      <p:graphicFrame>
        <p:nvGraphicFramePr>
          <p:cNvPr id="267398" name="Group 134"/>
          <p:cNvGraphicFramePr>
            <a:graphicFrameLocks noGrp="1"/>
          </p:cNvGraphicFramePr>
          <p:nvPr/>
        </p:nvGraphicFramePr>
        <p:xfrm>
          <a:off x="5435600" y="4722813"/>
          <a:ext cx="1633538" cy="1803400"/>
        </p:xfrm>
        <a:graphic>
          <a:graphicData uri="http://schemas.openxmlformats.org/drawingml/2006/table">
            <a:tbl>
              <a:tblPr/>
              <a:tblGrid>
                <a:gridCol w="815975"/>
                <a:gridCol w="817563"/>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397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267354" name="Rectangle 90"/>
          <p:cNvSpPr>
            <a:spLocks noChangeArrowheads="1"/>
          </p:cNvSpPr>
          <p:nvPr/>
        </p:nvSpPr>
        <p:spPr bwMode="auto">
          <a:xfrm>
            <a:off x="5364163" y="412750"/>
            <a:ext cx="2520950" cy="792163"/>
          </a:xfrm>
          <a:prstGeom prst="rect">
            <a:avLst/>
          </a:prstGeom>
          <a:solidFill>
            <a:srgbClr val="FFFFFF"/>
          </a:solidFill>
          <a:ln w="12700" cap="sq">
            <a:noFill/>
            <a:miter lim="800000"/>
            <a:headEnd type="none" w="sm" len="sm"/>
            <a:tailEnd type="none" w="sm" len="sm"/>
          </a:ln>
          <a:effectLst/>
        </p:spPr>
        <p:txBody>
          <a:bodyPr/>
          <a:lstStyle/>
          <a:p>
            <a:pPr marL="342900" marR="0" lvl="0" indent="-34290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a:pP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П</a:t>
            </a: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 </a:t>
            </a:r>
            <a:r>
              <a:rPr kumimoji="1" lang="en-US" altLang="zh-CN" sz="3600" b="1" i="0" u="none" strike="noStrike" kern="1200" cap="none" spc="0" normalizeH="0" baseline="-2500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A,B </a:t>
            </a:r>
            <a:r>
              <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rPr>
              <a:t>(R)</a:t>
            </a:r>
            <a:endParaRPr kumimoji="1" lang="en-US" altLang="zh-CN" sz="36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sym typeface="Symbol" panose="05050102010706020507" pitchFamily="18" charset="2"/>
            </a:endParaRPr>
          </a:p>
        </p:txBody>
      </p:sp>
      <p:graphicFrame>
        <p:nvGraphicFramePr>
          <p:cNvPr id="267397" name="Group 133"/>
          <p:cNvGraphicFramePr>
            <a:graphicFrameLocks noGrp="1"/>
          </p:cNvGraphicFramePr>
          <p:nvPr/>
        </p:nvGraphicFramePr>
        <p:xfrm>
          <a:off x="5530850" y="1196975"/>
          <a:ext cx="1633538" cy="2443163"/>
        </p:xfrm>
        <a:graphic>
          <a:graphicData uri="http://schemas.openxmlformats.org/drawingml/2006/table">
            <a:tbl>
              <a:tblPr/>
              <a:tblGrid>
                <a:gridCol w="815975"/>
                <a:gridCol w="817563"/>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397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6397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3"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noChangeArrowheads="1"/>
          </p:cNvSpPr>
          <p:nvPr>
            <p:ph type="title"/>
          </p:nvPr>
        </p:nvSpPr>
        <p:spPr>
          <a:xfrm>
            <a:off x="179388" y="0"/>
            <a:ext cx="8964613" cy="8382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投影运算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应用举例</a:t>
            </a:r>
            <a:r>
              <a:rPr kumimoji="0"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1</a:t>
            </a:r>
            <a:endParaRPr kumimoji="0"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66563" name="Rectangle 3"/>
          <p:cNvSpPr>
            <a:spLocks noGrp="1"/>
          </p:cNvSpPr>
          <p:nvPr>
            <p:ph type="body" sz="half" idx="1"/>
          </p:nvPr>
        </p:nvSpPr>
        <p:spPr>
          <a:xfrm>
            <a:off x="1631950" y="5540375"/>
            <a:ext cx="5172075" cy="1103313"/>
          </a:xfrm>
        </p:spPr>
        <p:txBody>
          <a:bodyPr vert="horz" wrap="square" lIns="91440" tIns="45720" rIns="91440" bIns="45720" anchor="t" anchorCtr="0"/>
          <a:p>
            <a:pPr eaLnBrk="1" hangingPunct="1">
              <a:lnSpc>
                <a:spcPct val="90000"/>
              </a:lnSpc>
              <a:buClr>
                <a:srgbClr val="0000CC"/>
              </a:buClr>
              <a:buSzPct val="70000"/>
              <a:buFont typeface="Wingdings" panose="05000000000000000000" pitchFamily="2" charset="2"/>
              <a:buNone/>
            </a:pPr>
            <a:r>
              <a:rPr lang="en-US" altLang="zh-CN" sz="4400"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П</a:t>
            </a:r>
            <a:r>
              <a:rPr lang="en-US" altLang="zh-CN" sz="4400" dirty="0">
                <a:solidFill>
                  <a:srgbClr val="0000CC"/>
                </a:solidFill>
                <a:latin typeface="Arial" panose="020B0604020202020204" pitchFamily="34" charset="0"/>
                <a:sym typeface="Symbol" panose="05050102010706020507" pitchFamily="18" charset="2"/>
              </a:rPr>
              <a:t> </a:t>
            </a:r>
            <a:r>
              <a:rPr lang="zh-CN" altLang="en-US" sz="4000" baseline="-16000" dirty="0">
                <a:solidFill>
                  <a:srgbClr val="0000CC"/>
                </a:solidFill>
                <a:latin typeface="Arial" panose="020B0604020202020204" pitchFamily="34" charset="0"/>
                <a:sym typeface="Symbol" panose="05050102010706020507" pitchFamily="18" charset="2"/>
              </a:rPr>
              <a:t>学号</a:t>
            </a:r>
            <a:r>
              <a:rPr lang="en-US" altLang="zh-CN" sz="4000" baseline="-16000" dirty="0">
                <a:solidFill>
                  <a:srgbClr val="0000CC"/>
                </a:solidFill>
                <a:latin typeface="Arial" panose="020B0604020202020204" pitchFamily="34" charset="0"/>
                <a:sym typeface="Symbol" panose="05050102010706020507" pitchFamily="18" charset="2"/>
              </a:rPr>
              <a:t>, </a:t>
            </a:r>
            <a:r>
              <a:rPr lang="zh-CN" altLang="en-US" sz="4000" baseline="-16000" dirty="0">
                <a:solidFill>
                  <a:srgbClr val="0000CC"/>
                </a:solidFill>
                <a:latin typeface="Arial" panose="020B0604020202020204" pitchFamily="34" charset="0"/>
                <a:sym typeface="Symbol" panose="05050102010706020507" pitchFamily="18" charset="2"/>
              </a:rPr>
              <a:t>姓名 </a:t>
            </a:r>
            <a:r>
              <a:rPr lang="en-US" altLang="zh-CN" sz="4000" dirty="0">
                <a:solidFill>
                  <a:srgbClr val="0000CC"/>
                </a:solidFill>
                <a:latin typeface="Arial" panose="020B0604020202020204" pitchFamily="34" charset="0"/>
                <a:sym typeface="Symbol" panose="05050102010706020507" pitchFamily="18" charset="2"/>
              </a:rPr>
              <a:t>(</a:t>
            </a:r>
            <a:r>
              <a:rPr lang="zh-CN" altLang="en-US" sz="4000" dirty="0">
                <a:solidFill>
                  <a:srgbClr val="0000CC"/>
                </a:solidFill>
                <a:latin typeface="Arial" panose="020B0604020202020204" pitchFamily="34" charset="0"/>
                <a:sym typeface="Symbol" panose="05050102010706020507" pitchFamily="18" charset="2"/>
              </a:rPr>
              <a:t>学生</a:t>
            </a:r>
            <a:r>
              <a:rPr lang="en-US" altLang="zh-CN" sz="4000" dirty="0">
                <a:solidFill>
                  <a:srgbClr val="0000CC"/>
                </a:solidFill>
                <a:latin typeface="Arial" panose="020B0604020202020204" pitchFamily="34" charset="0"/>
                <a:sym typeface="Symbol" panose="05050102010706020507" pitchFamily="18" charset="2"/>
              </a:rPr>
              <a:t>)</a:t>
            </a:r>
            <a:endParaRPr lang="en-US" altLang="zh-CN" sz="4000" dirty="0">
              <a:solidFill>
                <a:srgbClr val="0000CC"/>
              </a:solidFill>
              <a:latin typeface="Arial" panose="020B0604020202020204" pitchFamily="34" charset="0"/>
            </a:endParaRPr>
          </a:p>
        </p:txBody>
      </p:sp>
      <p:sp>
        <p:nvSpPr>
          <p:cNvPr id="66565" name="AutoShape 5"/>
          <p:cNvSpPr/>
          <p:nvPr/>
        </p:nvSpPr>
        <p:spPr>
          <a:xfrm>
            <a:off x="785813" y="1049338"/>
            <a:ext cx="346075" cy="747712"/>
          </a:xfrm>
          <a:prstGeom prst="downArrow">
            <a:avLst>
              <a:gd name="adj1" fmla="val 50000"/>
              <a:gd name="adj2" fmla="val 31568"/>
            </a:avLst>
          </a:prstGeom>
          <a:solidFill>
            <a:srgbClr val="0000CC"/>
          </a:solidFill>
          <a:ln w="9525">
            <a:noFill/>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66566" name="AutoShape 6"/>
          <p:cNvSpPr/>
          <p:nvPr/>
        </p:nvSpPr>
        <p:spPr>
          <a:xfrm>
            <a:off x="2500313" y="1049338"/>
            <a:ext cx="360362" cy="747712"/>
          </a:xfrm>
          <a:prstGeom prst="downArrow">
            <a:avLst>
              <a:gd name="adj1" fmla="val 50000"/>
              <a:gd name="adj2" fmla="val 31565"/>
            </a:avLst>
          </a:prstGeom>
          <a:solidFill>
            <a:srgbClr val="0000CC"/>
          </a:solidFill>
          <a:ln w="9525" cap="flat" cmpd="sng">
            <a:solidFill>
              <a:schemeClr val="hlink"/>
            </a:solidFill>
            <a:prstDash val="solid"/>
            <a:miter/>
            <a:headEnd type="none" w="med" len="med"/>
            <a:tailEnd type="none" w="med" len="med"/>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endParaRPr lang="zh-CN" altLang="zh-CN" dirty="0">
              <a:solidFill>
                <a:srgbClr val="FFFF66"/>
              </a:solidFill>
              <a:ea typeface="华文中宋" panose="02010600040101010101" pitchFamily="2" charset="-122"/>
            </a:endParaRPr>
          </a:p>
        </p:txBody>
      </p:sp>
      <p:graphicFrame>
        <p:nvGraphicFramePr>
          <p:cNvPr id="66989" name="Group 429"/>
          <p:cNvGraphicFramePr>
            <a:graphicFrameLocks noGrp="1"/>
          </p:cNvGraphicFramePr>
          <p:nvPr>
            <p:ph sz="half" idx="1"/>
          </p:nvPr>
        </p:nvGraphicFramePr>
        <p:xfrm>
          <a:off x="107950" y="1822450"/>
          <a:ext cx="8605838" cy="3475038"/>
        </p:xfrm>
        <a:graphic>
          <a:graphicData uri="http://schemas.openxmlformats.org/drawingml/2006/table">
            <a:tbl>
              <a:tblPr/>
              <a:tblGrid>
                <a:gridCol w="1890713"/>
                <a:gridCol w="1985962"/>
                <a:gridCol w="1501775"/>
                <a:gridCol w="1590675"/>
                <a:gridCol w="1636713"/>
              </a:tblGrid>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学  号</a:t>
                      </a:r>
                      <a:endParaRPr kumimoji="0" lang="zh-CN" altLang="en-US"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姓   名</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年龄</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性别</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籍  贯</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王暁燕</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北京</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    波</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陈志坚</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长沙</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武汉</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57394" name="Rectangle 427"/>
          <p:cNvSpPr/>
          <p:nvPr/>
        </p:nvSpPr>
        <p:spPr>
          <a:xfrm>
            <a:off x="152400" y="1016000"/>
            <a:ext cx="8848725" cy="5473700"/>
          </a:xfrm>
          <a:prstGeom prst="rect">
            <a:avLst/>
          </a:prstGeom>
          <a:noFill/>
          <a:ln w="9525">
            <a:noFill/>
          </a:ln>
        </p:spPr>
        <p:txBody>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360680" lvl="0" indent="-360680" algn="r" eaLnBrk="1" hangingPunct="1"/>
            <a:r>
              <a:rPr lang="zh-CN" altLang="en-US" dirty="0">
                <a:solidFill>
                  <a:srgbClr val="0000CC"/>
                </a:solidFill>
                <a:latin typeface="黑体" panose="02010609060101010101" pitchFamily="2" charset="-122"/>
              </a:rPr>
              <a:t>查找</a:t>
            </a:r>
            <a:r>
              <a:rPr lang="zh-CN" altLang="en-US" dirty="0">
                <a:solidFill>
                  <a:srgbClr val="0000CC"/>
                </a:solidFill>
              </a:rPr>
              <a:t>所有学生的学号和姓名</a:t>
            </a:r>
            <a:endParaRPr lang="zh-CN" altLang="en-US" dirty="0">
              <a:solidFill>
                <a:srgbClr val="0000CC"/>
              </a:solidFill>
              <a:latin typeface="黑体" panose="02010609060101010101" pitchFamily="2" charset="-122"/>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63">
                                            <p:txEl>
                                              <p:charRg st="0" end="14"/>
                                            </p:txEl>
                                          </p:spTgt>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grpId="0" nodeType="afterEffect">
                                  <p:stCondLst>
                                    <p:cond delay="0"/>
                                  </p:stCondLst>
                                  <p:childTnLst>
                                    <p:set>
                                      <p:cBhvr>
                                        <p:cTn id="9" dur="1" fill="hold">
                                          <p:stCondLst>
                                            <p:cond delay="0"/>
                                          </p:stCondLst>
                                        </p:cTn>
                                        <p:tgtEl>
                                          <p:spTgt spid="66565"/>
                                        </p:tgtEl>
                                        <p:attrNameLst>
                                          <p:attrName>style.visibility</p:attrName>
                                        </p:attrNameLst>
                                      </p:cBhvr>
                                      <p:to>
                                        <p:strVal val="visible"/>
                                      </p:to>
                                    </p:set>
                                    <p:animEffect transition="in" filter="wipe(up)">
                                      <p:cBhvr>
                                        <p:cTn id="10" dur="500"/>
                                        <p:tgtEl>
                                          <p:spTgt spid="66565"/>
                                        </p:tgtEl>
                                      </p:cBhvr>
                                    </p:animEffect>
                                  </p:childTnLst>
                                </p:cTn>
                              </p:par>
                            </p:childTnLst>
                          </p:cTn>
                        </p:par>
                        <p:par>
                          <p:cTn id="11" fill="hold">
                            <p:stCondLst>
                              <p:cond delay="1000"/>
                            </p:stCondLst>
                            <p:childTnLst>
                              <p:par>
                                <p:cTn id="12" presetID="22" presetClass="entr" presetSubtype="1" fill="hold" grpId="0" nodeType="afterEffect">
                                  <p:stCondLst>
                                    <p:cond delay="0"/>
                                  </p:stCondLst>
                                  <p:childTnLst>
                                    <p:set>
                                      <p:cBhvr>
                                        <p:cTn id="13" dur="1" fill="hold">
                                          <p:stCondLst>
                                            <p:cond delay="0"/>
                                          </p:stCondLst>
                                        </p:cTn>
                                        <p:tgtEl>
                                          <p:spTgt spid="66566"/>
                                        </p:tgtEl>
                                        <p:attrNameLst>
                                          <p:attrName>style.visibility</p:attrName>
                                        </p:attrNameLst>
                                      </p:cBhvr>
                                      <p:to>
                                        <p:strVal val="visible"/>
                                      </p:to>
                                    </p:set>
                                    <p:animEffect transition="in" filter="wipe(up)">
                                      <p:cBhvr>
                                        <p:cTn id="14" dur="500"/>
                                        <p:tgtEl>
                                          <p:spTgt spid="66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P spid="66565" grpId="0" animBg="1"/>
      <p:bldP spid="6656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Rectangle 2"/>
          <p:cNvSpPr>
            <a:spLocks noGrp="1" noChangeArrowheads="1"/>
          </p:cNvSpPr>
          <p:nvPr>
            <p:ph type="title"/>
          </p:nvPr>
        </p:nvSpPr>
        <p:spPr>
          <a:xfrm>
            <a:off x="179388" y="0"/>
            <a:ext cx="8964613" cy="8382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投影运算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应用举例</a:t>
            </a:r>
            <a:r>
              <a:rPr kumimoji="0"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2 </a:t>
            </a:r>
            <a:r>
              <a:rPr kumimoji="0" lang="en-US" altLang="zh-CN" sz="40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j-lt"/>
                <a:ea typeface="+mj-ea"/>
                <a:cs typeface="+mj-cs"/>
              </a:rPr>
              <a:t>(</a:t>
            </a:r>
            <a:r>
              <a:rPr kumimoji="0" lang="zh-CN" altLang="en-US" sz="36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j-lt"/>
                <a:ea typeface="+mj-ea"/>
                <a:cs typeface="+mj-cs"/>
              </a:rPr>
              <a:t>消除重复行</a:t>
            </a:r>
            <a:r>
              <a:rPr kumimoji="0" lang="en-US" altLang="zh-CN" sz="40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j-lt"/>
                <a:ea typeface="+mj-ea"/>
                <a:cs typeface="+mj-cs"/>
              </a:rPr>
              <a:t>)</a:t>
            </a:r>
            <a:endParaRPr kumimoji="0" lang="en-US" altLang="zh-CN" sz="40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j-lt"/>
              <a:ea typeface="+mj-ea"/>
              <a:cs typeface="+mj-cs"/>
            </a:endParaRPr>
          </a:p>
        </p:txBody>
      </p:sp>
      <p:sp>
        <p:nvSpPr>
          <p:cNvPr id="58371" name="Rectangle 3"/>
          <p:cNvSpPr>
            <a:spLocks noGrp="1"/>
          </p:cNvSpPr>
          <p:nvPr>
            <p:ph type="body" sz="half" idx="1"/>
          </p:nvPr>
        </p:nvSpPr>
        <p:spPr>
          <a:xfrm>
            <a:off x="1847850" y="5286375"/>
            <a:ext cx="5172075" cy="1000125"/>
          </a:xfrm>
        </p:spPr>
        <p:txBody>
          <a:bodyPr vert="horz" wrap="square" lIns="91440" tIns="45720" rIns="91440" bIns="45720" anchor="t" anchorCtr="0"/>
          <a:p>
            <a:pPr eaLnBrk="1" hangingPunct="1">
              <a:lnSpc>
                <a:spcPct val="90000"/>
              </a:lnSpc>
              <a:buClr>
                <a:srgbClr val="0000CC"/>
              </a:buClr>
              <a:buSzPct val="70000"/>
              <a:buFont typeface="Wingdings" panose="05000000000000000000" pitchFamily="2" charset="2"/>
              <a:buNone/>
            </a:pPr>
            <a:r>
              <a:rPr lang="en-US" altLang="zh-CN" sz="4400" dirty="0">
                <a:solidFill>
                  <a:srgbClr val="0000CC"/>
                </a:solidFill>
                <a:latin typeface="Times New Roman" panose="02020603050405020304" pitchFamily="18" charset="0"/>
                <a:cs typeface="Times New Roman" panose="02020603050405020304" pitchFamily="18" charset="0"/>
                <a:sym typeface="Symbol" panose="05050102010706020507" pitchFamily="18" charset="2"/>
              </a:rPr>
              <a:t>П</a:t>
            </a:r>
            <a:r>
              <a:rPr lang="en-US" altLang="zh-CN" sz="4000" dirty="0">
                <a:solidFill>
                  <a:srgbClr val="0000CC"/>
                </a:solidFill>
                <a:latin typeface="Arial" panose="020B0604020202020204" pitchFamily="34" charset="0"/>
                <a:sym typeface="Symbol" panose="05050102010706020507" pitchFamily="18" charset="2"/>
              </a:rPr>
              <a:t> </a:t>
            </a:r>
            <a:r>
              <a:rPr lang="zh-CN" altLang="en-US" sz="4000" baseline="-18000" dirty="0">
                <a:solidFill>
                  <a:srgbClr val="0000CC"/>
                </a:solidFill>
                <a:latin typeface="Arial" panose="020B0604020202020204" pitchFamily="34" charset="0"/>
              </a:rPr>
              <a:t>籍贯</a:t>
            </a:r>
            <a:r>
              <a:rPr lang="zh-CN" altLang="en-US" sz="4000" baseline="-25000" dirty="0">
                <a:solidFill>
                  <a:srgbClr val="0000CC"/>
                </a:solidFill>
                <a:latin typeface="Arial" panose="020B0604020202020204" pitchFamily="34" charset="0"/>
                <a:sym typeface="Symbol" panose="05050102010706020507" pitchFamily="18" charset="2"/>
              </a:rPr>
              <a:t> </a:t>
            </a:r>
            <a:r>
              <a:rPr lang="en-US" altLang="zh-CN" sz="4000" dirty="0">
                <a:solidFill>
                  <a:srgbClr val="0000CC"/>
                </a:solidFill>
                <a:latin typeface="Arial" panose="020B0604020202020204" pitchFamily="34" charset="0"/>
                <a:sym typeface="Symbol" panose="05050102010706020507" pitchFamily="18" charset="2"/>
              </a:rPr>
              <a:t>(</a:t>
            </a:r>
            <a:r>
              <a:rPr lang="zh-CN" altLang="en-US" sz="4000" dirty="0">
                <a:solidFill>
                  <a:srgbClr val="0000CC"/>
                </a:solidFill>
                <a:latin typeface="Arial" panose="020B0604020202020204" pitchFamily="34" charset="0"/>
                <a:sym typeface="Symbol" panose="05050102010706020507" pitchFamily="18" charset="2"/>
              </a:rPr>
              <a:t>学生</a:t>
            </a:r>
            <a:r>
              <a:rPr lang="en-US" altLang="zh-CN" sz="4000" dirty="0">
                <a:solidFill>
                  <a:srgbClr val="0000CC"/>
                </a:solidFill>
                <a:latin typeface="Arial" panose="020B0604020202020204" pitchFamily="34" charset="0"/>
                <a:sym typeface="Symbol" panose="05050102010706020507" pitchFamily="18" charset="2"/>
              </a:rPr>
              <a:t>)</a:t>
            </a:r>
            <a:endParaRPr lang="en-US" altLang="zh-CN" sz="4000" dirty="0">
              <a:solidFill>
                <a:srgbClr val="0000CC"/>
              </a:solidFill>
              <a:latin typeface="Arial" panose="020B0604020202020204" pitchFamily="34" charset="0"/>
              <a:sym typeface="Symbol" panose="05050102010706020507" pitchFamily="18" charset="2"/>
            </a:endParaRPr>
          </a:p>
        </p:txBody>
      </p:sp>
      <p:sp>
        <p:nvSpPr>
          <p:cNvPr id="58372" name="AutoShape 4"/>
          <p:cNvSpPr/>
          <p:nvPr/>
        </p:nvSpPr>
        <p:spPr>
          <a:xfrm>
            <a:off x="6215063" y="1125538"/>
            <a:ext cx="317500" cy="747712"/>
          </a:xfrm>
          <a:prstGeom prst="downArrow">
            <a:avLst>
              <a:gd name="adj1" fmla="val 50000"/>
              <a:gd name="adj2" fmla="val 31563"/>
            </a:avLst>
          </a:prstGeom>
          <a:solidFill>
            <a:srgbClr val="0000CC"/>
          </a:solidFill>
          <a:ln w="9525">
            <a:noFill/>
          </a:ln>
        </p:spPr>
        <p:txBody>
          <a:bodyPr vert="eaVert" wrap="none"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endParaRPr lang="zh-CN" altLang="en-US" sz="1800" dirty="0">
              <a:solidFill>
                <a:schemeClr val="tx1"/>
              </a:solidFill>
              <a:latin typeface="Arial" panose="020B0604020202020204" pitchFamily="34" charset="0"/>
              <a:ea typeface="宋体" panose="02010600030101010101" pitchFamily="2" charset="-122"/>
            </a:endParaRPr>
          </a:p>
        </p:txBody>
      </p:sp>
      <p:graphicFrame>
        <p:nvGraphicFramePr>
          <p:cNvPr id="325693" name="Group 61"/>
          <p:cNvGraphicFramePr>
            <a:graphicFrameLocks noGrp="1"/>
          </p:cNvGraphicFramePr>
          <p:nvPr>
            <p:ph sz="half" idx="1"/>
          </p:nvPr>
        </p:nvGraphicFramePr>
        <p:xfrm>
          <a:off x="606425" y="1928813"/>
          <a:ext cx="6467475" cy="3155952"/>
        </p:xfrm>
        <a:graphic>
          <a:graphicData uri="http://schemas.openxmlformats.org/drawingml/2006/table">
            <a:tbl>
              <a:tblPr/>
              <a:tblGrid>
                <a:gridCol w="1347788"/>
                <a:gridCol w="1547812"/>
                <a:gridCol w="1150938"/>
                <a:gridCol w="1135062"/>
                <a:gridCol w="1285875"/>
              </a:tblGrid>
              <a:tr h="52546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学号</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姓名</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年龄</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性别</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籍贯</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7050">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王暁燕</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北京</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546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    波</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23</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546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陈志坚</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21</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长沙</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7050">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S4</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546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S5</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兵</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22</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武汉</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58417" name="Rectangle 50"/>
          <p:cNvSpPr/>
          <p:nvPr/>
        </p:nvSpPr>
        <p:spPr>
          <a:xfrm>
            <a:off x="152400" y="1016000"/>
            <a:ext cx="8848725" cy="5473700"/>
          </a:xfrm>
          <a:prstGeom prst="rect">
            <a:avLst/>
          </a:prstGeom>
          <a:noFill/>
          <a:ln w="9525">
            <a:noFill/>
          </a:ln>
        </p:spPr>
        <p:txBody>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360680" lvl="0" indent="-360680" eaLnBrk="1" hangingPunct="1"/>
            <a:r>
              <a:rPr lang="zh-CN" altLang="en-US" dirty="0">
                <a:solidFill>
                  <a:srgbClr val="0000CC"/>
                </a:solidFill>
                <a:latin typeface="黑体" panose="02010609060101010101" pitchFamily="2" charset="-122"/>
              </a:rPr>
              <a:t>查找</a:t>
            </a:r>
            <a:r>
              <a:rPr lang="zh-CN" altLang="en-US" dirty="0">
                <a:solidFill>
                  <a:srgbClr val="0000CC"/>
                </a:solidFill>
              </a:rPr>
              <a:t>所有学生的籍贯</a:t>
            </a:r>
            <a:endParaRPr lang="zh-CN" altLang="en-US" dirty="0">
              <a:solidFill>
                <a:srgbClr val="0000CC"/>
              </a:solidFill>
            </a:endParaRPr>
          </a:p>
        </p:txBody>
      </p:sp>
      <p:graphicFrame>
        <p:nvGraphicFramePr>
          <p:cNvPr id="325741" name="Group 109"/>
          <p:cNvGraphicFramePr>
            <a:graphicFrameLocks noGrp="1"/>
          </p:cNvGraphicFramePr>
          <p:nvPr/>
        </p:nvGraphicFramePr>
        <p:xfrm>
          <a:off x="7451725" y="1916113"/>
          <a:ext cx="1223963" cy="2590800"/>
        </p:xfrm>
        <a:graphic>
          <a:graphicData uri="http://schemas.openxmlformats.org/drawingml/2006/table">
            <a:tbl>
              <a:tblPr/>
              <a:tblGrid>
                <a:gridCol w="1223963"/>
              </a:tblGrid>
              <a:tr h="466725">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籍贯</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66725">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北京</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66725">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66725">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长沙</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66725">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武汉 </a:t>
                      </a:r>
                      <a:endPar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3"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noChangeArrowheads="1"/>
          </p:cNvSpPr>
          <p:nvPr>
            <p:ph type="title"/>
          </p:nvPr>
        </p:nvSpPr>
        <p:spPr>
          <a:xfrm>
            <a:off x="179388" y="44450"/>
            <a:ext cx="89646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dirty="0">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连接   </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(Join</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a:t>
            </a:r>
            <a:r>
              <a:rPr kumimoji="0"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也称 </a:t>
            </a:r>
            <a:r>
              <a:rPr kumimoji="0" lang="en-US" altLang="zh-CN"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θ </a:t>
            </a:r>
            <a:r>
              <a:rPr kumimoji="0"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连接</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a:t>
            </a:r>
            <a:endPar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9395" name="Rectangle 3"/>
          <p:cNvSpPr>
            <a:spLocks noGrp="1"/>
          </p:cNvSpPr>
          <p:nvPr>
            <p:ph idx="1"/>
          </p:nvPr>
        </p:nvSpPr>
        <p:spPr>
          <a:xfrm>
            <a:off x="152400" y="1016000"/>
            <a:ext cx="8848725" cy="5653088"/>
          </a:xfrm>
        </p:spPr>
        <p:txBody>
          <a:bodyPr vert="horz" wrap="square" lIns="91440" tIns="45720" rIns="91440" bIns="45720" anchor="t" anchorCtr="0"/>
          <a:p>
            <a:pPr eaLnBrk="1" hangingPunct="1"/>
            <a:r>
              <a:rPr lang="zh-CN" altLang="en-US" dirty="0">
                <a:latin typeface="Arial" panose="020B0604020202020204" pitchFamily="34" charset="0"/>
              </a:rPr>
              <a:t>连接运算的含义</a:t>
            </a:r>
            <a:endParaRPr lang="zh-CN" altLang="en-US" dirty="0">
              <a:latin typeface="Arial" panose="020B0604020202020204" pitchFamily="34" charset="0"/>
            </a:endParaRPr>
          </a:p>
          <a:p>
            <a:pPr algn="just" eaLnBrk="1" hangingPunct="1">
              <a:buNone/>
            </a:pPr>
            <a:r>
              <a:rPr lang="zh-CN" altLang="en-US" dirty="0">
                <a:latin typeface="Arial" panose="020B0604020202020204" pitchFamily="34" charset="0"/>
              </a:rPr>
              <a:t>       </a:t>
            </a:r>
            <a:r>
              <a:rPr lang="zh-CN" altLang="en-US" sz="3200" dirty="0">
                <a:latin typeface="Arial" panose="020B0604020202020204" pitchFamily="34" charset="0"/>
              </a:rPr>
              <a:t>从两个关系的笛卡尔积中选取属性间满足一定条件的元组。</a:t>
            </a:r>
            <a:endParaRPr lang="zh-CN" altLang="en-US" sz="3200" dirty="0">
              <a:latin typeface="Arial" panose="020B0604020202020204" pitchFamily="34" charset="0"/>
            </a:endParaRPr>
          </a:p>
          <a:p>
            <a:pPr marL="898525" lvl="1" indent="-358775" algn="just" eaLnBrk="1" hangingPunct="1">
              <a:spcBef>
                <a:spcPct val="0"/>
              </a:spcBef>
              <a:buNone/>
            </a:pPr>
            <a:endParaRPr lang="zh-CN" altLang="en-US" dirty="0">
              <a:latin typeface="Arial" panose="020B0604020202020204" pitchFamily="34" charset="0"/>
            </a:endParaRPr>
          </a:p>
          <a:p>
            <a:pPr marL="898525" lvl="1" indent="-358775" eaLnBrk="1" hangingPunct="1">
              <a:spcBef>
                <a:spcPct val="0"/>
              </a:spcBef>
              <a:buNone/>
            </a:pPr>
            <a:r>
              <a:rPr lang="en-US" altLang="zh-CN" dirty="0">
                <a:solidFill>
                  <a:srgbClr val="0000CC"/>
                </a:solidFill>
                <a:latin typeface="Arial" panose="020B0604020202020204" pitchFamily="34" charset="0"/>
              </a:rPr>
              <a:t>R     </a:t>
            </a:r>
            <a:r>
              <a:rPr lang="en-US" altLang="zh-CN" baseline="-25000" dirty="0">
                <a:solidFill>
                  <a:srgbClr val="0000CC"/>
                </a:solidFill>
                <a:latin typeface="Arial" panose="020B0604020202020204" pitchFamily="34" charset="0"/>
              </a:rPr>
              <a:t>θ</a:t>
            </a:r>
            <a:r>
              <a:rPr lang="en-US" altLang="zh-CN" dirty="0">
                <a:solidFill>
                  <a:srgbClr val="0000CC"/>
                </a:solidFill>
                <a:latin typeface="Arial" panose="020B0604020202020204" pitchFamily="34" charset="0"/>
              </a:rPr>
              <a:t>S ={ t</a:t>
            </a:r>
            <a:r>
              <a:rPr lang="en-US" altLang="zh-CN" baseline="-30000" dirty="0">
                <a:solidFill>
                  <a:srgbClr val="0000CC"/>
                </a:solidFill>
                <a:latin typeface="Arial" panose="020B0604020202020204" pitchFamily="34" charset="0"/>
              </a:rPr>
              <a:t>r </a:t>
            </a:r>
            <a:r>
              <a:rPr lang="en-US" altLang="zh-CN" dirty="0">
                <a:solidFill>
                  <a:srgbClr val="0000CC"/>
                </a:solidFill>
                <a:latin typeface="Arial" panose="020B0604020202020204" pitchFamily="34" charset="0"/>
              </a:rPr>
              <a:t>t</a:t>
            </a:r>
            <a:r>
              <a:rPr lang="en-US" altLang="zh-CN" baseline="-30000" dirty="0">
                <a:solidFill>
                  <a:srgbClr val="0000CC"/>
                </a:solidFill>
                <a:latin typeface="Arial" panose="020B0604020202020204" pitchFamily="34" charset="0"/>
              </a:rPr>
              <a:t>s</a:t>
            </a:r>
            <a:r>
              <a:rPr lang="en-US" altLang="zh-CN" dirty="0">
                <a:solidFill>
                  <a:srgbClr val="0000CC"/>
                </a:solidFill>
                <a:latin typeface="Arial" panose="020B0604020202020204" pitchFamily="34" charset="0"/>
              </a:rPr>
              <a:t> | t</a:t>
            </a:r>
            <a:r>
              <a:rPr lang="en-US" altLang="zh-CN" baseline="-30000" dirty="0">
                <a:solidFill>
                  <a:srgbClr val="0000CC"/>
                </a:solidFill>
                <a:latin typeface="Arial" panose="020B0604020202020204" pitchFamily="34" charset="0"/>
              </a:rPr>
              <a:t>r</a:t>
            </a:r>
            <a:r>
              <a:rPr lang="en-US" altLang="zh-CN" dirty="0">
                <a:solidFill>
                  <a:srgbClr val="0000CC"/>
                </a:solidFill>
                <a:latin typeface="Arial" panose="020B0604020202020204" pitchFamily="34" charset="0"/>
                <a:sym typeface="Symbol" panose="05050102010706020507" pitchFamily="18" charset="2"/>
              </a:rPr>
              <a:t></a:t>
            </a:r>
            <a:r>
              <a:rPr lang="en-US" altLang="zh-CN" dirty="0">
                <a:solidFill>
                  <a:srgbClr val="0000CC"/>
                </a:solidFill>
                <a:latin typeface="Arial" panose="020B0604020202020204" pitchFamily="34" charset="0"/>
              </a:rPr>
              <a:t>R∧t</a:t>
            </a:r>
            <a:r>
              <a:rPr lang="en-US" altLang="zh-CN" baseline="-30000" dirty="0">
                <a:solidFill>
                  <a:srgbClr val="0000CC"/>
                </a:solidFill>
                <a:latin typeface="Arial" panose="020B0604020202020204" pitchFamily="34" charset="0"/>
              </a:rPr>
              <a:t>s</a:t>
            </a:r>
            <a:r>
              <a:rPr lang="en-US" altLang="zh-CN" dirty="0">
                <a:solidFill>
                  <a:srgbClr val="0000CC"/>
                </a:solidFill>
                <a:latin typeface="Arial" panose="020B0604020202020204" pitchFamily="34" charset="0"/>
                <a:sym typeface="Symbol" panose="05050102010706020507" pitchFamily="18" charset="2"/>
              </a:rPr>
              <a:t></a:t>
            </a:r>
            <a:r>
              <a:rPr lang="en-US" altLang="zh-CN" dirty="0">
                <a:solidFill>
                  <a:srgbClr val="0000CC"/>
                </a:solidFill>
                <a:latin typeface="Arial" panose="020B0604020202020204" pitchFamily="34" charset="0"/>
              </a:rPr>
              <a:t>S∧</a:t>
            </a:r>
            <a:r>
              <a:rPr lang="en-US" altLang="zh-CN" dirty="0">
                <a:solidFill>
                  <a:srgbClr val="FF0000"/>
                </a:solidFill>
                <a:latin typeface="Arial" panose="020B0604020202020204" pitchFamily="34" charset="0"/>
              </a:rPr>
              <a:t>t</a:t>
            </a:r>
            <a:r>
              <a:rPr lang="en-US" altLang="zh-CN" baseline="-30000" dirty="0">
                <a:solidFill>
                  <a:srgbClr val="FF0000"/>
                </a:solidFill>
                <a:latin typeface="Arial" panose="020B0604020202020204" pitchFamily="34" charset="0"/>
              </a:rPr>
              <a:t>r</a:t>
            </a:r>
            <a:r>
              <a:rPr lang="en-US" altLang="zh-CN" dirty="0">
                <a:solidFill>
                  <a:srgbClr val="FF0000"/>
                </a:solidFill>
                <a:latin typeface="Arial" panose="020B0604020202020204" pitchFamily="34" charset="0"/>
              </a:rPr>
              <a:t>[A]θt</a:t>
            </a:r>
            <a:r>
              <a:rPr lang="en-US" altLang="zh-CN" baseline="-30000" dirty="0">
                <a:solidFill>
                  <a:srgbClr val="FF0000"/>
                </a:solidFill>
                <a:latin typeface="Arial" panose="020B0604020202020204" pitchFamily="34" charset="0"/>
              </a:rPr>
              <a:t>s</a:t>
            </a:r>
            <a:r>
              <a:rPr lang="en-US" altLang="zh-CN" dirty="0">
                <a:solidFill>
                  <a:srgbClr val="FF0000"/>
                </a:solidFill>
                <a:latin typeface="Arial" panose="020B0604020202020204" pitchFamily="34" charset="0"/>
              </a:rPr>
              <a:t>[B]</a:t>
            </a:r>
            <a:r>
              <a:rPr lang="en-US" altLang="zh-CN" dirty="0">
                <a:solidFill>
                  <a:srgbClr val="0000CC"/>
                </a:solidFill>
                <a:latin typeface="Arial" panose="020B0604020202020204" pitchFamily="34" charset="0"/>
              </a:rPr>
              <a:t> }</a:t>
            </a:r>
            <a:endParaRPr lang="en-US" altLang="zh-CN" dirty="0">
              <a:solidFill>
                <a:srgbClr val="0000CC"/>
              </a:solidFill>
              <a:latin typeface="Arial" panose="020B0604020202020204" pitchFamily="34" charset="0"/>
            </a:endParaRPr>
          </a:p>
          <a:p>
            <a:pPr marL="898525" lvl="1" indent="-358775" algn="just" eaLnBrk="1" hangingPunct="1">
              <a:spcBef>
                <a:spcPct val="0"/>
              </a:spcBef>
              <a:buNone/>
            </a:pPr>
            <a:endParaRPr lang="en-US" altLang="zh-CN" dirty="0">
              <a:latin typeface="Arial" panose="020B0604020202020204" pitchFamily="34" charset="0"/>
            </a:endParaRPr>
          </a:p>
          <a:p>
            <a:pPr marL="898525" lvl="1" indent="-358775" algn="just" eaLnBrk="1" hangingPunct="1">
              <a:spcBef>
                <a:spcPct val="0"/>
              </a:spcBef>
              <a:buNone/>
            </a:pPr>
            <a:r>
              <a:rPr lang="zh-CN" altLang="en-US" dirty="0">
                <a:latin typeface="Arial" panose="020B0604020202020204" pitchFamily="34" charset="0"/>
              </a:rPr>
              <a:t>其中：</a:t>
            </a:r>
            <a:endParaRPr lang="zh-CN" altLang="en-US" dirty="0">
              <a:latin typeface="Arial" panose="020B0604020202020204" pitchFamily="34" charset="0"/>
            </a:endParaRPr>
          </a:p>
          <a:p>
            <a:pPr marL="898525" lvl="1" indent="-358775" algn="just" eaLnBrk="1" hangingPunct="1">
              <a:spcBef>
                <a:spcPct val="0"/>
              </a:spcBef>
            </a:pPr>
            <a:r>
              <a:rPr lang="en-US" altLang="zh-CN" dirty="0">
                <a:latin typeface="Arial" panose="020B0604020202020204" pitchFamily="34" charset="0"/>
              </a:rPr>
              <a:t>A</a:t>
            </a:r>
            <a:r>
              <a:rPr lang="zh-CN" altLang="en-US" dirty="0">
                <a:latin typeface="Arial" panose="020B0604020202020204" pitchFamily="34" charset="0"/>
              </a:rPr>
              <a:t>和</a:t>
            </a:r>
            <a:r>
              <a:rPr lang="en-US" altLang="zh-CN" dirty="0">
                <a:latin typeface="Arial" panose="020B0604020202020204" pitchFamily="34" charset="0"/>
              </a:rPr>
              <a:t>B</a:t>
            </a:r>
            <a:r>
              <a:rPr lang="zh-CN" altLang="en-US" dirty="0">
                <a:latin typeface="Arial" panose="020B0604020202020204" pitchFamily="34" charset="0"/>
              </a:rPr>
              <a:t>：分别为</a:t>
            </a:r>
            <a:r>
              <a:rPr lang="en-US" altLang="zh-CN" dirty="0">
                <a:latin typeface="Arial" panose="020B0604020202020204" pitchFamily="34" charset="0"/>
              </a:rPr>
              <a:t>R</a:t>
            </a:r>
            <a:r>
              <a:rPr lang="zh-CN" altLang="en-US" dirty="0">
                <a:latin typeface="Arial" panose="020B0604020202020204" pitchFamily="34" charset="0"/>
              </a:rPr>
              <a:t>和</a:t>
            </a:r>
            <a:r>
              <a:rPr lang="en-US" altLang="zh-CN" dirty="0">
                <a:latin typeface="Arial" panose="020B0604020202020204" pitchFamily="34" charset="0"/>
              </a:rPr>
              <a:t>S</a:t>
            </a:r>
            <a:r>
              <a:rPr lang="zh-CN" altLang="en-US" dirty="0">
                <a:latin typeface="Arial" panose="020B0604020202020204" pitchFamily="34" charset="0"/>
              </a:rPr>
              <a:t>上</a:t>
            </a:r>
            <a:r>
              <a:rPr lang="zh-CN" altLang="en-US" dirty="0">
                <a:solidFill>
                  <a:srgbClr val="FF0000"/>
                </a:solidFill>
                <a:latin typeface="Arial" panose="020B0604020202020204" pitchFamily="34" charset="0"/>
              </a:rPr>
              <a:t>可比</a:t>
            </a:r>
            <a:r>
              <a:rPr lang="zh-CN" altLang="en-US" dirty="0">
                <a:latin typeface="Arial" panose="020B0604020202020204" pitchFamily="34" charset="0"/>
              </a:rPr>
              <a:t>的属性或常量</a:t>
            </a:r>
            <a:endParaRPr lang="zh-CN" altLang="en-US" dirty="0">
              <a:latin typeface="Arial" panose="020B0604020202020204" pitchFamily="34" charset="0"/>
            </a:endParaRPr>
          </a:p>
          <a:p>
            <a:pPr marL="898525" lvl="1" indent="-358775" algn="just" eaLnBrk="1" hangingPunct="1"/>
            <a:r>
              <a:rPr lang="en-US" altLang="zh-CN" dirty="0">
                <a:latin typeface="Arial" panose="020B0604020202020204" pitchFamily="34" charset="0"/>
              </a:rPr>
              <a:t>θ</a:t>
            </a:r>
            <a:r>
              <a:rPr lang="zh-CN" altLang="en-US" dirty="0">
                <a:latin typeface="Arial" panose="020B0604020202020204" pitchFamily="34" charset="0"/>
              </a:rPr>
              <a:t>：比较运算符</a:t>
            </a:r>
            <a:r>
              <a:rPr lang="zh-CN" altLang="en-US" dirty="0"/>
              <a:t> </a:t>
            </a:r>
            <a:endParaRPr lang="zh-CN" altLang="en-US" dirty="0">
              <a:latin typeface="Arial" panose="020B0604020202020204" pitchFamily="34" charset="0"/>
            </a:endParaRPr>
          </a:p>
        </p:txBody>
      </p:sp>
      <p:grpSp>
        <p:nvGrpSpPr>
          <p:cNvPr id="59396" name="Group 12"/>
          <p:cNvGrpSpPr/>
          <p:nvPr/>
        </p:nvGrpSpPr>
        <p:grpSpPr>
          <a:xfrm>
            <a:off x="1179513" y="3213100"/>
            <a:ext cx="431800" cy="269875"/>
            <a:chOff x="4320" y="2256"/>
            <a:chExt cx="240" cy="144"/>
          </a:xfrm>
        </p:grpSpPr>
        <p:sp>
          <p:nvSpPr>
            <p:cNvPr id="59403" name="Line 13"/>
            <p:cNvSpPr/>
            <p:nvPr/>
          </p:nvSpPr>
          <p:spPr>
            <a:xfrm>
              <a:off x="4320" y="2256"/>
              <a:ext cx="0" cy="144"/>
            </a:xfrm>
            <a:prstGeom prst="line">
              <a:avLst/>
            </a:prstGeom>
            <a:ln w="38100" cap="flat" cmpd="sng">
              <a:solidFill>
                <a:srgbClr val="0000CC"/>
              </a:solidFill>
              <a:prstDash val="solid"/>
              <a:headEnd type="none" w="med" len="med"/>
              <a:tailEnd type="none" w="med" len="med"/>
            </a:ln>
          </p:spPr>
        </p:sp>
        <p:sp>
          <p:nvSpPr>
            <p:cNvPr id="59404" name="Line 14"/>
            <p:cNvSpPr/>
            <p:nvPr/>
          </p:nvSpPr>
          <p:spPr>
            <a:xfrm>
              <a:off x="4560" y="2256"/>
              <a:ext cx="0" cy="144"/>
            </a:xfrm>
            <a:prstGeom prst="line">
              <a:avLst/>
            </a:prstGeom>
            <a:ln w="38100" cap="flat" cmpd="sng">
              <a:solidFill>
                <a:srgbClr val="0000CC"/>
              </a:solidFill>
              <a:prstDash val="solid"/>
              <a:headEnd type="none" w="med" len="med"/>
              <a:tailEnd type="none" w="med" len="med"/>
            </a:ln>
          </p:spPr>
        </p:sp>
        <p:sp>
          <p:nvSpPr>
            <p:cNvPr id="59405" name="Line 15"/>
            <p:cNvSpPr/>
            <p:nvPr/>
          </p:nvSpPr>
          <p:spPr>
            <a:xfrm>
              <a:off x="4320" y="2256"/>
              <a:ext cx="240" cy="144"/>
            </a:xfrm>
            <a:prstGeom prst="line">
              <a:avLst/>
            </a:prstGeom>
            <a:ln w="38100" cap="flat" cmpd="sng">
              <a:solidFill>
                <a:srgbClr val="0000CC"/>
              </a:solidFill>
              <a:prstDash val="solid"/>
              <a:headEnd type="none" w="med" len="med"/>
              <a:tailEnd type="none" w="med" len="med"/>
            </a:ln>
          </p:spPr>
        </p:sp>
        <p:sp>
          <p:nvSpPr>
            <p:cNvPr id="59406" name="Line 16"/>
            <p:cNvSpPr/>
            <p:nvPr/>
          </p:nvSpPr>
          <p:spPr>
            <a:xfrm flipV="1">
              <a:off x="4320" y="2256"/>
              <a:ext cx="240" cy="144"/>
            </a:xfrm>
            <a:prstGeom prst="line">
              <a:avLst/>
            </a:prstGeom>
            <a:ln w="38100" cap="flat" cmpd="sng">
              <a:solidFill>
                <a:srgbClr val="0000CC"/>
              </a:solidFill>
              <a:prstDash val="solid"/>
              <a:headEnd type="none" w="med" len="med"/>
              <a:tailEnd type="none" w="med" len="med"/>
            </a:ln>
          </p:spPr>
        </p:sp>
      </p:grpSp>
      <p:sp>
        <p:nvSpPr>
          <p:cNvPr id="59397" name="Freeform 17"/>
          <p:cNvSpPr/>
          <p:nvPr/>
        </p:nvSpPr>
        <p:spPr>
          <a:xfrm rot="-1517971">
            <a:off x="2708275" y="3063875"/>
            <a:ext cx="433388" cy="252413"/>
          </a:xfrm>
          <a:custGeom>
            <a:avLst/>
            <a:gdLst>
              <a:gd name="txL" fmla="*/ 0 w 273"/>
              <a:gd name="txT" fmla="*/ 0 h 159"/>
              <a:gd name="txR" fmla="*/ 273 w 273"/>
              <a:gd name="txB" fmla="*/ 159 h 159"/>
            </a:gdLst>
            <a:ahLst/>
            <a:cxnLst>
              <a:cxn ang="0">
                <a:pos x="0" y="2147483647"/>
              </a:cxn>
              <a:cxn ang="0">
                <a:pos x="2147483647" y="2147483647"/>
              </a:cxn>
              <a:cxn ang="0">
                <a:pos x="2147483647" y="2147483647"/>
              </a:cxn>
            </a:cxnLst>
            <a:rect l="txL" t="txT" r="txR" b="txB"/>
            <a:pathLst>
              <a:path w="273" h="159">
                <a:moveTo>
                  <a:pt x="0" y="23"/>
                </a:moveTo>
                <a:cubicBezTo>
                  <a:pt x="68" y="11"/>
                  <a:pt x="136" y="0"/>
                  <a:pt x="182" y="23"/>
                </a:cubicBezTo>
                <a:cubicBezTo>
                  <a:pt x="228" y="46"/>
                  <a:pt x="266" y="136"/>
                  <a:pt x="273" y="159"/>
                </a:cubicBezTo>
              </a:path>
            </a:pathLst>
          </a:custGeom>
          <a:noFill/>
          <a:ln w="38100" cap="flat" cmpd="sng">
            <a:solidFill>
              <a:srgbClr val="0000CC">
                <a:alpha val="100000"/>
              </a:srgbClr>
            </a:solidFill>
            <a:prstDash val="solid"/>
            <a:round/>
            <a:headEnd type="none" w="med" len="med"/>
            <a:tailEnd type="none" w="med" len="med"/>
          </a:ln>
        </p:spPr>
        <p:txBody>
          <a:bodyPr/>
          <a:p>
            <a:endParaRPr lang="zh-CN" altLang="en-US"/>
          </a:p>
        </p:txBody>
      </p:sp>
      <p:grpSp>
        <p:nvGrpSpPr>
          <p:cNvPr id="59398" name="Group 18"/>
          <p:cNvGrpSpPr/>
          <p:nvPr/>
        </p:nvGrpSpPr>
        <p:grpSpPr>
          <a:xfrm>
            <a:off x="1995488" y="245745"/>
            <a:ext cx="576262" cy="360363"/>
            <a:chOff x="4320" y="2256"/>
            <a:chExt cx="240" cy="144"/>
          </a:xfrm>
        </p:grpSpPr>
        <p:sp>
          <p:nvSpPr>
            <p:cNvPr id="59399" name="Line 19"/>
            <p:cNvSpPr/>
            <p:nvPr/>
          </p:nvSpPr>
          <p:spPr>
            <a:xfrm>
              <a:off x="4320" y="2256"/>
              <a:ext cx="0" cy="144"/>
            </a:xfrm>
            <a:prstGeom prst="line">
              <a:avLst/>
            </a:prstGeom>
            <a:ln w="57150" cap="flat" cmpd="sng">
              <a:solidFill>
                <a:srgbClr val="FF6600"/>
              </a:solidFill>
              <a:prstDash val="solid"/>
              <a:headEnd type="none" w="med" len="med"/>
              <a:tailEnd type="none" w="med" len="med"/>
            </a:ln>
          </p:spPr>
        </p:sp>
        <p:sp>
          <p:nvSpPr>
            <p:cNvPr id="59400" name="Line 20"/>
            <p:cNvSpPr/>
            <p:nvPr/>
          </p:nvSpPr>
          <p:spPr>
            <a:xfrm>
              <a:off x="4560" y="2256"/>
              <a:ext cx="0" cy="144"/>
            </a:xfrm>
            <a:prstGeom prst="line">
              <a:avLst/>
            </a:prstGeom>
            <a:ln w="57150" cap="flat" cmpd="sng">
              <a:solidFill>
                <a:srgbClr val="FF6600"/>
              </a:solidFill>
              <a:prstDash val="solid"/>
              <a:headEnd type="none" w="med" len="med"/>
              <a:tailEnd type="none" w="med" len="med"/>
            </a:ln>
          </p:spPr>
        </p:sp>
        <p:sp>
          <p:nvSpPr>
            <p:cNvPr id="59401" name="Line 21"/>
            <p:cNvSpPr/>
            <p:nvPr/>
          </p:nvSpPr>
          <p:spPr>
            <a:xfrm>
              <a:off x="4320" y="2256"/>
              <a:ext cx="240" cy="144"/>
            </a:xfrm>
            <a:prstGeom prst="line">
              <a:avLst/>
            </a:prstGeom>
            <a:ln w="57150" cap="flat" cmpd="sng">
              <a:solidFill>
                <a:srgbClr val="FF6600"/>
              </a:solidFill>
              <a:prstDash val="solid"/>
              <a:headEnd type="none" w="med" len="med"/>
              <a:tailEnd type="none" w="med" len="med"/>
            </a:ln>
          </p:spPr>
        </p:sp>
        <p:sp>
          <p:nvSpPr>
            <p:cNvPr id="59402" name="Line 22"/>
            <p:cNvSpPr/>
            <p:nvPr/>
          </p:nvSpPr>
          <p:spPr>
            <a:xfrm flipV="1">
              <a:off x="4320" y="2256"/>
              <a:ext cx="240" cy="144"/>
            </a:xfrm>
            <a:prstGeom prst="line">
              <a:avLst/>
            </a:prstGeom>
            <a:ln w="57150" cap="flat" cmpd="sng">
              <a:solidFill>
                <a:srgbClr val="FF6600"/>
              </a:solidFill>
              <a:prstDash val="solid"/>
              <a:headEnd type="none" w="med" len="med"/>
              <a:tailEnd type="none" w="med" len="med"/>
            </a:ln>
          </p:spPr>
        </p:sp>
      </p:grpSp>
    </p:spTree>
  </p:cSld>
  <p:clrMapOvr>
    <a:masterClrMapping/>
  </p:clrMapOvr>
  <p:transition>
    <p:random/>
    <p:sndAc>
      <p:stSnd>
        <p:snd r:embed="rId1" name="CAMERA.WAV"/>
      </p:stSnd>
    </p:sndAc>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60418" name="Picture 210" descr="paint"/>
          <p:cNvPicPr>
            <a:picLocks noChangeAspect="1"/>
          </p:cNvPicPr>
          <p:nvPr/>
        </p:nvPicPr>
        <p:blipFill>
          <a:blip r:embed="rId1">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103426"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连接运算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60420" name="Rectangle 3"/>
          <p:cNvSpPr>
            <a:spLocks noGrp="1"/>
          </p:cNvSpPr>
          <p:nvPr>
            <p:ph type="body" sz="half" idx="1"/>
          </p:nvPr>
        </p:nvSpPr>
        <p:spPr>
          <a:xfrm>
            <a:off x="107950" y="1989138"/>
            <a:ext cx="8883650" cy="1081087"/>
          </a:xfrm>
        </p:spPr>
        <p:txBody>
          <a:bodyPr vert="horz" wrap="square" lIns="91440" tIns="45720" rIns="91440" bIns="45720" anchor="t" anchorCtr="0"/>
          <a:p>
            <a:pPr eaLnBrk="1" hangingPunct="1">
              <a:lnSpc>
                <a:spcPct val="150000"/>
              </a:lnSpc>
              <a:buClr>
                <a:srgbClr val="0000CC"/>
              </a:buClr>
              <a:buSzPct val="70000"/>
              <a:buFont typeface="Wingdings" panose="05000000000000000000" pitchFamily="2" charset="2"/>
              <a:buNone/>
            </a:pPr>
            <a:r>
              <a:rPr lang="en-US" altLang="zh-CN" sz="4000" dirty="0">
                <a:solidFill>
                  <a:srgbClr val="FF0000"/>
                </a:solidFill>
                <a:latin typeface="Arial" panose="020B0604020202020204" pitchFamily="34" charset="0"/>
              </a:rPr>
              <a:t>R      </a:t>
            </a:r>
            <a:r>
              <a:rPr lang="en-US" altLang="zh-CN" sz="4000" baseline="-25000" dirty="0">
                <a:solidFill>
                  <a:srgbClr val="FF0000"/>
                </a:solidFill>
                <a:latin typeface="Arial" panose="020B0604020202020204" pitchFamily="34" charset="0"/>
              </a:rPr>
              <a:t>C&lt;E </a:t>
            </a:r>
            <a:r>
              <a:rPr lang="en-US" altLang="zh-CN" sz="4000" dirty="0">
                <a:solidFill>
                  <a:srgbClr val="FF0000"/>
                </a:solidFill>
                <a:latin typeface="Arial" panose="020B0604020202020204" pitchFamily="34" charset="0"/>
              </a:rPr>
              <a:t>S</a:t>
            </a:r>
            <a:endParaRPr lang="en-US" altLang="zh-CN" sz="4000" dirty="0">
              <a:solidFill>
                <a:srgbClr val="FF0000"/>
              </a:solidFill>
              <a:latin typeface="Arial" panose="020B0604020202020204" pitchFamily="34" charset="0"/>
            </a:endParaRPr>
          </a:p>
        </p:txBody>
      </p:sp>
      <p:sp>
        <p:nvSpPr>
          <p:cNvPr id="60421" name="Text Box 7"/>
          <p:cNvSpPr txBox="1"/>
          <p:nvPr/>
        </p:nvSpPr>
        <p:spPr>
          <a:xfrm>
            <a:off x="3409950" y="0"/>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R</a:t>
            </a:r>
            <a:endParaRPr lang="en-US" altLang="zh-CN" dirty="0">
              <a:solidFill>
                <a:srgbClr val="FF0000"/>
              </a:solidFill>
              <a:latin typeface="Arial" panose="020B0604020202020204" pitchFamily="34" charset="0"/>
              <a:ea typeface="宋体" panose="02010600030101010101" pitchFamily="2" charset="-122"/>
            </a:endParaRPr>
          </a:p>
        </p:txBody>
      </p:sp>
      <p:sp>
        <p:nvSpPr>
          <p:cNvPr id="60422" name="Text Box 8"/>
          <p:cNvSpPr txBox="1"/>
          <p:nvPr/>
        </p:nvSpPr>
        <p:spPr>
          <a:xfrm>
            <a:off x="6746875" y="44450"/>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S</a:t>
            </a:r>
            <a:endParaRPr lang="en-US" altLang="zh-CN" dirty="0">
              <a:solidFill>
                <a:srgbClr val="FF0000"/>
              </a:solidFill>
              <a:latin typeface="Arial" panose="020B0604020202020204" pitchFamily="34" charset="0"/>
              <a:ea typeface="宋体" panose="02010600030101010101" pitchFamily="2" charset="-122"/>
            </a:endParaRPr>
          </a:p>
        </p:txBody>
      </p:sp>
      <p:grpSp>
        <p:nvGrpSpPr>
          <p:cNvPr id="60423" name="Group 9"/>
          <p:cNvGrpSpPr/>
          <p:nvPr/>
        </p:nvGrpSpPr>
        <p:grpSpPr>
          <a:xfrm>
            <a:off x="757238" y="2422525"/>
            <a:ext cx="574675" cy="358775"/>
            <a:chOff x="4320" y="2256"/>
            <a:chExt cx="240" cy="144"/>
          </a:xfrm>
        </p:grpSpPr>
        <p:sp>
          <p:nvSpPr>
            <p:cNvPr id="60517" name="Line 10"/>
            <p:cNvSpPr/>
            <p:nvPr/>
          </p:nvSpPr>
          <p:spPr>
            <a:xfrm>
              <a:off x="4320" y="2256"/>
              <a:ext cx="0" cy="144"/>
            </a:xfrm>
            <a:prstGeom prst="line">
              <a:avLst/>
            </a:prstGeom>
            <a:ln w="38100" cap="flat" cmpd="sng">
              <a:solidFill>
                <a:srgbClr val="FF0000"/>
              </a:solidFill>
              <a:prstDash val="solid"/>
              <a:headEnd type="none" w="med" len="med"/>
              <a:tailEnd type="none" w="med" len="med"/>
            </a:ln>
          </p:spPr>
        </p:sp>
        <p:sp>
          <p:nvSpPr>
            <p:cNvPr id="60518" name="Line 11"/>
            <p:cNvSpPr/>
            <p:nvPr/>
          </p:nvSpPr>
          <p:spPr>
            <a:xfrm>
              <a:off x="4560" y="2256"/>
              <a:ext cx="0" cy="144"/>
            </a:xfrm>
            <a:prstGeom prst="line">
              <a:avLst/>
            </a:prstGeom>
            <a:ln w="38100" cap="flat" cmpd="sng">
              <a:solidFill>
                <a:srgbClr val="FF0000"/>
              </a:solidFill>
              <a:prstDash val="solid"/>
              <a:headEnd type="none" w="med" len="med"/>
              <a:tailEnd type="none" w="med" len="med"/>
            </a:ln>
          </p:spPr>
        </p:sp>
        <p:sp>
          <p:nvSpPr>
            <p:cNvPr id="60519" name="Line 12"/>
            <p:cNvSpPr/>
            <p:nvPr/>
          </p:nvSpPr>
          <p:spPr>
            <a:xfrm>
              <a:off x="4320" y="2256"/>
              <a:ext cx="240" cy="144"/>
            </a:xfrm>
            <a:prstGeom prst="line">
              <a:avLst/>
            </a:prstGeom>
            <a:ln w="38100" cap="flat" cmpd="sng">
              <a:solidFill>
                <a:srgbClr val="FF0000"/>
              </a:solidFill>
              <a:prstDash val="solid"/>
              <a:headEnd type="none" w="med" len="med"/>
              <a:tailEnd type="none" w="med" len="med"/>
            </a:ln>
          </p:spPr>
        </p:sp>
        <p:sp>
          <p:nvSpPr>
            <p:cNvPr id="60520" name="Line 13"/>
            <p:cNvSpPr/>
            <p:nvPr/>
          </p:nvSpPr>
          <p:spPr>
            <a:xfrm flipV="1">
              <a:off x="4320" y="2256"/>
              <a:ext cx="240" cy="144"/>
            </a:xfrm>
            <a:prstGeom prst="line">
              <a:avLst/>
            </a:prstGeom>
            <a:ln w="38100" cap="flat" cmpd="sng">
              <a:solidFill>
                <a:srgbClr val="FF0000"/>
              </a:solidFill>
              <a:prstDash val="solid"/>
              <a:headEnd type="none" w="med" len="med"/>
              <a:tailEnd type="none" w="med" len="med"/>
            </a:ln>
          </p:spPr>
        </p:sp>
      </p:grpSp>
      <p:graphicFrame>
        <p:nvGraphicFramePr>
          <p:cNvPr id="103595" name="Group 171"/>
          <p:cNvGraphicFramePr>
            <a:graphicFrameLocks noGrp="1"/>
          </p:cNvGraphicFramePr>
          <p:nvPr>
            <p:ph sz="half" idx="1"/>
          </p:nvPr>
        </p:nvGraphicFramePr>
        <p:xfrm>
          <a:off x="3925888" y="107950"/>
          <a:ext cx="2733675" cy="2895600"/>
        </p:xfrm>
        <a:graphic>
          <a:graphicData uri="http://schemas.openxmlformats.org/drawingml/2006/table">
            <a:tbl>
              <a:tblPr/>
              <a:tblGrid>
                <a:gridCol w="911225"/>
                <a:gridCol w="911225"/>
                <a:gridCol w="9112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397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103633" name="Group 209"/>
          <p:cNvGraphicFramePr>
            <a:graphicFrameLocks noGrp="1"/>
          </p:cNvGraphicFramePr>
          <p:nvPr/>
        </p:nvGraphicFramePr>
        <p:xfrm>
          <a:off x="7213600" y="115888"/>
          <a:ext cx="1822450" cy="3479800"/>
        </p:xfrm>
        <a:graphic>
          <a:graphicData uri="http://schemas.openxmlformats.org/drawingml/2006/table">
            <a:tbl>
              <a:tblPr/>
              <a:tblGrid>
                <a:gridCol w="887413"/>
                <a:gridCol w="935037"/>
              </a:tblGrid>
              <a:tr h="4286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103632" name="Group 208"/>
          <p:cNvGraphicFramePr>
            <a:graphicFrameLocks noGrp="1"/>
          </p:cNvGraphicFramePr>
          <p:nvPr/>
        </p:nvGraphicFramePr>
        <p:xfrm>
          <a:off x="395288" y="3141663"/>
          <a:ext cx="4556125" cy="3479800"/>
        </p:xfrm>
        <a:graphic>
          <a:graphicData uri="http://schemas.openxmlformats.org/drawingml/2006/table">
            <a:tbl>
              <a:tblPr/>
              <a:tblGrid>
                <a:gridCol w="911225"/>
                <a:gridCol w="911225"/>
                <a:gridCol w="911225"/>
                <a:gridCol w="911225"/>
                <a:gridCol w="9112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R.B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S.B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spTree>
  </p:cSld>
  <p:clrMapOvr>
    <a:masterClrMapping/>
  </p:clrMapOvr>
  <p:transition>
    <p:random/>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6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3"/>
          <p:cNvSpPr>
            <a:spLocks noGrp="1"/>
          </p:cNvSpPr>
          <p:nvPr>
            <p:ph idx="1"/>
          </p:nvPr>
        </p:nvSpPr>
        <p:spPr/>
        <p:txBody>
          <a:bodyPr vert="horz" wrap="square" lIns="91440" tIns="45720" rIns="91440" bIns="45720" anchor="t" anchorCtr="0"/>
          <a:p>
            <a:pPr eaLnBrk="1" hangingPunct="1"/>
            <a:r>
              <a:rPr lang="zh-CN" altLang="en-US" dirty="0">
                <a:latin typeface="Arial" panose="020B0604020202020204" pitchFamily="34" charset="0"/>
              </a:rPr>
              <a:t>连接运算从</a:t>
            </a:r>
            <a:r>
              <a:rPr lang="en-US" altLang="zh-CN" dirty="0">
                <a:latin typeface="Arial" panose="020B0604020202020204" pitchFamily="34" charset="0"/>
              </a:rPr>
              <a:t>R×S</a:t>
            </a:r>
            <a:r>
              <a:rPr lang="zh-CN" altLang="en-US" dirty="0">
                <a:latin typeface="Arial" panose="020B0604020202020204" pitchFamily="34" charset="0"/>
              </a:rPr>
              <a:t>中选取</a:t>
            </a:r>
            <a:r>
              <a:rPr lang="en-US" altLang="zh-CN" dirty="0">
                <a:latin typeface="Arial" panose="020B0604020202020204" pitchFamily="34" charset="0"/>
              </a:rPr>
              <a:t>(R</a:t>
            </a:r>
            <a:r>
              <a:rPr lang="zh-CN" altLang="en-US" dirty="0">
                <a:latin typeface="Arial" panose="020B0604020202020204" pitchFamily="34" charset="0"/>
              </a:rPr>
              <a:t>关系</a:t>
            </a:r>
            <a:r>
              <a:rPr lang="en-US" altLang="zh-CN" dirty="0">
                <a:latin typeface="Arial" panose="020B0604020202020204" pitchFamily="34" charset="0"/>
              </a:rPr>
              <a:t>)</a:t>
            </a:r>
            <a:r>
              <a:rPr lang="zh-CN" altLang="en-US" dirty="0">
                <a:latin typeface="Arial" panose="020B0604020202020204" pitchFamily="34" charset="0"/>
              </a:rPr>
              <a:t>在</a:t>
            </a:r>
            <a:r>
              <a:rPr lang="en-US" altLang="zh-CN" dirty="0">
                <a:solidFill>
                  <a:srgbClr val="0000CC"/>
                </a:solidFill>
                <a:latin typeface="Arial" panose="020B0604020202020204" pitchFamily="34" charset="0"/>
              </a:rPr>
              <a:t>A</a:t>
            </a:r>
            <a:r>
              <a:rPr lang="zh-CN" altLang="en-US" dirty="0">
                <a:solidFill>
                  <a:srgbClr val="0000CC"/>
                </a:solidFill>
                <a:latin typeface="Arial" panose="020B0604020202020204" pitchFamily="34" charset="0"/>
              </a:rPr>
              <a:t>属性组上的值</a:t>
            </a:r>
            <a:r>
              <a:rPr lang="zh-CN" altLang="en-US" dirty="0">
                <a:latin typeface="Arial" panose="020B0604020202020204" pitchFamily="34" charset="0"/>
              </a:rPr>
              <a:t>与</a:t>
            </a:r>
            <a:r>
              <a:rPr lang="en-US" altLang="zh-CN" dirty="0">
                <a:latin typeface="Arial" panose="020B0604020202020204" pitchFamily="34" charset="0"/>
              </a:rPr>
              <a:t>(S</a:t>
            </a:r>
            <a:r>
              <a:rPr lang="zh-CN" altLang="en-US" dirty="0">
                <a:latin typeface="Arial" panose="020B0604020202020204" pitchFamily="34" charset="0"/>
              </a:rPr>
              <a:t>关系</a:t>
            </a:r>
            <a:r>
              <a:rPr lang="en-US" altLang="zh-CN" dirty="0">
                <a:latin typeface="Arial" panose="020B0604020202020204" pitchFamily="34" charset="0"/>
              </a:rPr>
              <a:t>)</a:t>
            </a:r>
            <a:r>
              <a:rPr lang="zh-CN" altLang="en-US" dirty="0">
                <a:latin typeface="Arial" panose="020B0604020202020204" pitchFamily="34" charset="0"/>
              </a:rPr>
              <a:t>在</a:t>
            </a:r>
            <a:r>
              <a:rPr lang="en-US" altLang="zh-CN" dirty="0">
                <a:solidFill>
                  <a:srgbClr val="0000CC"/>
                </a:solidFill>
                <a:latin typeface="Arial" panose="020B0604020202020204" pitchFamily="34" charset="0"/>
              </a:rPr>
              <a:t>B</a:t>
            </a:r>
            <a:r>
              <a:rPr lang="zh-CN" altLang="en-US" dirty="0">
                <a:solidFill>
                  <a:srgbClr val="0000CC"/>
                </a:solidFill>
                <a:latin typeface="Arial" panose="020B0604020202020204" pitchFamily="34" charset="0"/>
              </a:rPr>
              <a:t>属性组上值</a:t>
            </a:r>
            <a:r>
              <a:rPr lang="zh-CN" altLang="en-US" dirty="0">
                <a:latin typeface="Arial" panose="020B0604020202020204" pitchFamily="34" charset="0"/>
              </a:rPr>
              <a:t>满足比较关系的元组。</a:t>
            </a:r>
            <a:endParaRPr lang="zh-CN" altLang="en-US" dirty="0">
              <a:latin typeface="Arial" panose="020B0604020202020204" pitchFamily="34" charset="0"/>
            </a:endParaRPr>
          </a:p>
          <a:p>
            <a:pPr eaLnBrk="1" hangingPunct="1">
              <a:spcBef>
                <a:spcPct val="35000"/>
              </a:spcBef>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rPr>
              <a:t>R      </a:t>
            </a:r>
            <a:r>
              <a:rPr lang="en-US" altLang="zh-CN" baseline="-25000" dirty="0">
                <a:solidFill>
                  <a:srgbClr val="0000CC"/>
                </a:solidFill>
                <a:latin typeface="Arial" panose="020B0604020202020204" pitchFamily="34" charset="0"/>
              </a:rPr>
              <a:t>θ</a:t>
            </a:r>
            <a:r>
              <a:rPr lang="en-US" altLang="zh-CN" dirty="0">
                <a:solidFill>
                  <a:srgbClr val="0000CC"/>
                </a:solidFill>
                <a:latin typeface="Arial" panose="020B0604020202020204" pitchFamily="34" charset="0"/>
              </a:rPr>
              <a:t>S = </a:t>
            </a:r>
            <a:r>
              <a:rPr lang="en-US" altLang="zh-CN" dirty="0">
                <a:solidFill>
                  <a:srgbClr val="0000CC"/>
                </a:solidFill>
                <a:latin typeface="Arial" panose="020B0604020202020204" pitchFamily="34" charset="0"/>
                <a:sym typeface="Symbol" panose="05050102010706020507" pitchFamily="18" charset="2"/>
              </a:rPr>
              <a:t></a:t>
            </a:r>
            <a:r>
              <a:rPr lang="en-US" altLang="zh-CN" baseline="-25000" dirty="0">
                <a:solidFill>
                  <a:srgbClr val="0000CC"/>
                </a:solidFill>
                <a:latin typeface="Arial" panose="020B0604020202020204" pitchFamily="34" charset="0"/>
              </a:rPr>
              <a:t>θ</a:t>
            </a:r>
            <a:r>
              <a:rPr lang="en-US" altLang="zh-CN" dirty="0">
                <a:solidFill>
                  <a:srgbClr val="0000CC"/>
                </a:solidFill>
                <a:latin typeface="Arial" panose="020B0604020202020204" pitchFamily="34" charset="0"/>
                <a:sym typeface="Symbol" panose="05050102010706020507" pitchFamily="18" charset="2"/>
              </a:rPr>
              <a:t>(R</a:t>
            </a:r>
            <a:r>
              <a:rPr lang="en-US" altLang="zh-CN" dirty="0">
                <a:solidFill>
                  <a:srgbClr val="0000CC"/>
                </a:solidFill>
                <a:latin typeface="Arial" panose="020B0604020202020204" pitchFamily="34" charset="0"/>
              </a:rPr>
              <a:t>×</a:t>
            </a:r>
            <a:r>
              <a:rPr lang="en-US" altLang="zh-CN" dirty="0">
                <a:solidFill>
                  <a:srgbClr val="0000CC"/>
                </a:solidFill>
                <a:latin typeface="Arial" panose="020B0604020202020204" pitchFamily="34" charset="0"/>
                <a:sym typeface="Symbol" panose="05050102010706020507" pitchFamily="18" charset="2"/>
              </a:rPr>
              <a:t>S) </a:t>
            </a:r>
            <a:endParaRPr lang="en-US" altLang="zh-CN" dirty="0">
              <a:solidFill>
                <a:srgbClr val="0000CC"/>
              </a:solidFill>
              <a:latin typeface="Arial" panose="020B0604020202020204" pitchFamily="34" charset="0"/>
              <a:sym typeface="Symbol" panose="05050102010706020507" pitchFamily="18" charset="2"/>
            </a:endParaRPr>
          </a:p>
          <a:p>
            <a:pPr eaLnBrk="1" hangingPunct="1">
              <a:buNone/>
            </a:pPr>
            <a:endParaRPr lang="en-US" altLang="zh-CN" sz="1400" dirty="0">
              <a:solidFill>
                <a:srgbClr val="0000CC"/>
              </a:solidFill>
              <a:latin typeface="Arial" panose="020B0604020202020204" pitchFamily="34" charset="0"/>
              <a:sym typeface="Symbol" panose="05050102010706020507" pitchFamily="18" charset="2"/>
            </a:endParaRPr>
          </a:p>
          <a:p>
            <a:pPr eaLnBrk="1" hangingPunct="1">
              <a:spcBef>
                <a:spcPct val="45000"/>
              </a:spcBef>
            </a:pPr>
            <a:r>
              <a:rPr lang="zh-CN" altLang="en-US" dirty="0">
                <a:latin typeface="Arial" panose="020B0604020202020204" pitchFamily="34" charset="0"/>
              </a:rPr>
              <a:t>两类常用连接运算</a:t>
            </a:r>
            <a:endParaRPr lang="zh-CN" altLang="en-US" dirty="0">
              <a:latin typeface="Arial" panose="020B0604020202020204" pitchFamily="34" charset="0"/>
            </a:endParaRPr>
          </a:p>
          <a:p>
            <a:pPr lvl="1" eaLnBrk="1" hangingPunct="1">
              <a:buNone/>
            </a:pPr>
            <a:r>
              <a:rPr lang="en-US" altLang="zh-CN" sz="3600" dirty="0">
                <a:latin typeface="Arial" panose="020B0604020202020204" pitchFamily="34" charset="0"/>
              </a:rPr>
              <a:t>(1) </a:t>
            </a:r>
            <a:r>
              <a:rPr lang="zh-CN" altLang="en-US" sz="3600" dirty="0">
                <a:latin typeface="Arial" panose="020B0604020202020204" pitchFamily="34" charset="0"/>
              </a:rPr>
              <a:t>等值连接</a:t>
            </a:r>
            <a:r>
              <a:rPr lang="en-US" altLang="zh-CN" sz="3600" dirty="0">
                <a:latin typeface="Arial" panose="020B0604020202020204" pitchFamily="34" charset="0"/>
              </a:rPr>
              <a:t>(Equijoin)</a:t>
            </a:r>
            <a:endParaRPr lang="en-US" altLang="zh-CN" sz="3600" dirty="0">
              <a:latin typeface="Arial" panose="020B0604020202020204" pitchFamily="34" charset="0"/>
            </a:endParaRPr>
          </a:p>
          <a:p>
            <a:pPr lvl="1" eaLnBrk="1" hangingPunct="1">
              <a:buNone/>
            </a:pPr>
            <a:r>
              <a:rPr lang="en-US" altLang="zh-CN" sz="3600" dirty="0">
                <a:latin typeface="Arial" panose="020B0604020202020204" pitchFamily="34" charset="0"/>
              </a:rPr>
              <a:t>(2) </a:t>
            </a:r>
            <a:r>
              <a:rPr lang="zh-CN" altLang="en-US" sz="3600" dirty="0">
                <a:latin typeface="Arial" panose="020B0604020202020204" pitchFamily="34" charset="0"/>
              </a:rPr>
              <a:t>自然连接</a:t>
            </a:r>
            <a:r>
              <a:rPr lang="en-US" altLang="zh-CN" sz="3600" dirty="0">
                <a:latin typeface="Arial" panose="020B0604020202020204" pitchFamily="34" charset="0"/>
              </a:rPr>
              <a:t>(Natural join)</a:t>
            </a:r>
            <a:endParaRPr lang="en-US" altLang="zh-CN" sz="3600" dirty="0">
              <a:latin typeface="Arial" panose="020B0604020202020204" pitchFamily="34" charset="0"/>
            </a:endParaRPr>
          </a:p>
        </p:txBody>
      </p:sp>
      <p:grpSp>
        <p:nvGrpSpPr>
          <p:cNvPr id="61443" name="Group 12"/>
          <p:cNvGrpSpPr/>
          <p:nvPr/>
        </p:nvGrpSpPr>
        <p:grpSpPr>
          <a:xfrm>
            <a:off x="1874838" y="2852738"/>
            <a:ext cx="574675" cy="358775"/>
            <a:chOff x="4320" y="2256"/>
            <a:chExt cx="240" cy="144"/>
          </a:xfrm>
        </p:grpSpPr>
        <p:sp>
          <p:nvSpPr>
            <p:cNvPr id="61450" name="Line 13"/>
            <p:cNvSpPr/>
            <p:nvPr/>
          </p:nvSpPr>
          <p:spPr>
            <a:xfrm>
              <a:off x="4320" y="2256"/>
              <a:ext cx="0" cy="144"/>
            </a:xfrm>
            <a:prstGeom prst="line">
              <a:avLst/>
            </a:prstGeom>
            <a:ln w="38100" cap="flat" cmpd="sng">
              <a:solidFill>
                <a:srgbClr val="0000CC"/>
              </a:solidFill>
              <a:prstDash val="solid"/>
              <a:headEnd type="none" w="med" len="med"/>
              <a:tailEnd type="none" w="med" len="med"/>
            </a:ln>
          </p:spPr>
        </p:sp>
        <p:sp>
          <p:nvSpPr>
            <p:cNvPr id="61451" name="Line 14"/>
            <p:cNvSpPr/>
            <p:nvPr/>
          </p:nvSpPr>
          <p:spPr>
            <a:xfrm>
              <a:off x="4560" y="2256"/>
              <a:ext cx="0" cy="144"/>
            </a:xfrm>
            <a:prstGeom prst="line">
              <a:avLst/>
            </a:prstGeom>
            <a:ln w="38100" cap="flat" cmpd="sng">
              <a:solidFill>
                <a:srgbClr val="0000CC"/>
              </a:solidFill>
              <a:prstDash val="solid"/>
              <a:headEnd type="none" w="med" len="med"/>
              <a:tailEnd type="none" w="med" len="med"/>
            </a:ln>
          </p:spPr>
        </p:sp>
        <p:sp>
          <p:nvSpPr>
            <p:cNvPr id="61452" name="Line 15"/>
            <p:cNvSpPr/>
            <p:nvPr/>
          </p:nvSpPr>
          <p:spPr>
            <a:xfrm>
              <a:off x="4320" y="2256"/>
              <a:ext cx="240" cy="144"/>
            </a:xfrm>
            <a:prstGeom prst="line">
              <a:avLst/>
            </a:prstGeom>
            <a:ln w="38100" cap="flat" cmpd="sng">
              <a:solidFill>
                <a:srgbClr val="0000CC"/>
              </a:solidFill>
              <a:prstDash val="solid"/>
              <a:headEnd type="none" w="med" len="med"/>
              <a:tailEnd type="none" w="med" len="med"/>
            </a:ln>
          </p:spPr>
        </p:sp>
        <p:sp>
          <p:nvSpPr>
            <p:cNvPr id="61453" name="Line 16"/>
            <p:cNvSpPr/>
            <p:nvPr/>
          </p:nvSpPr>
          <p:spPr>
            <a:xfrm flipV="1">
              <a:off x="4320" y="2256"/>
              <a:ext cx="240" cy="144"/>
            </a:xfrm>
            <a:prstGeom prst="line">
              <a:avLst/>
            </a:prstGeom>
            <a:ln w="38100" cap="flat" cmpd="sng">
              <a:solidFill>
                <a:srgbClr val="0000CC"/>
              </a:solidFill>
              <a:prstDash val="solid"/>
              <a:headEnd type="none" w="med" len="med"/>
              <a:tailEnd type="none" w="med" len="med"/>
            </a:ln>
          </p:spPr>
        </p:sp>
      </p:grpSp>
      <p:sp>
        <p:nvSpPr>
          <p:cNvPr id="82962" name="Rectangle 18"/>
          <p:cNvSpPr>
            <a:spLocks noGrp="1" noChangeArrowheads="1"/>
          </p:cNvSpPr>
          <p:nvPr>
            <p:ph type="title"/>
          </p:nvPr>
        </p:nvSpPr>
        <p:spPr>
          <a:xfrm>
            <a:off x="179388" y="44450"/>
            <a:ext cx="8820150"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dirty="0">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连接      </a:t>
            </a:r>
            <a:endPar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61445" name="Group 18"/>
          <p:cNvGrpSpPr/>
          <p:nvPr/>
        </p:nvGrpSpPr>
        <p:grpSpPr>
          <a:xfrm>
            <a:off x="2195513" y="260350"/>
            <a:ext cx="576262" cy="360363"/>
            <a:chOff x="4320" y="2256"/>
            <a:chExt cx="240" cy="144"/>
          </a:xfrm>
        </p:grpSpPr>
        <p:sp>
          <p:nvSpPr>
            <p:cNvPr id="61446" name="Line 19"/>
            <p:cNvSpPr/>
            <p:nvPr/>
          </p:nvSpPr>
          <p:spPr>
            <a:xfrm>
              <a:off x="4320" y="2256"/>
              <a:ext cx="0" cy="144"/>
            </a:xfrm>
            <a:prstGeom prst="line">
              <a:avLst/>
            </a:prstGeom>
            <a:ln w="57150" cap="flat" cmpd="sng">
              <a:solidFill>
                <a:srgbClr val="FF6600"/>
              </a:solidFill>
              <a:prstDash val="solid"/>
              <a:headEnd type="none" w="med" len="med"/>
              <a:tailEnd type="none" w="med" len="med"/>
            </a:ln>
          </p:spPr>
        </p:sp>
        <p:sp>
          <p:nvSpPr>
            <p:cNvPr id="61447" name="Line 20"/>
            <p:cNvSpPr/>
            <p:nvPr/>
          </p:nvSpPr>
          <p:spPr>
            <a:xfrm>
              <a:off x="4560" y="2256"/>
              <a:ext cx="0" cy="144"/>
            </a:xfrm>
            <a:prstGeom prst="line">
              <a:avLst/>
            </a:prstGeom>
            <a:ln w="57150" cap="flat" cmpd="sng">
              <a:solidFill>
                <a:srgbClr val="FF6600"/>
              </a:solidFill>
              <a:prstDash val="solid"/>
              <a:headEnd type="none" w="med" len="med"/>
              <a:tailEnd type="none" w="med" len="med"/>
            </a:ln>
          </p:spPr>
        </p:sp>
        <p:sp>
          <p:nvSpPr>
            <p:cNvPr id="61448" name="Line 21"/>
            <p:cNvSpPr/>
            <p:nvPr/>
          </p:nvSpPr>
          <p:spPr>
            <a:xfrm>
              <a:off x="4320" y="2256"/>
              <a:ext cx="240" cy="144"/>
            </a:xfrm>
            <a:prstGeom prst="line">
              <a:avLst/>
            </a:prstGeom>
            <a:ln w="57150" cap="flat" cmpd="sng">
              <a:solidFill>
                <a:srgbClr val="FF6600"/>
              </a:solidFill>
              <a:prstDash val="solid"/>
              <a:headEnd type="none" w="med" len="med"/>
              <a:tailEnd type="none" w="med" len="med"/>
            </a:ln>
          </p:spPr>
        </p:sp>
        <p:sp>
          <p:nvSpPr>
            <p:cNvPr id="61449" name="Line 22"/>
            <p:cNvSpPr/>
            <p:nvPr/>
          </p:nvSpPr>
          <p:spPr>
            <a:xfrm flipV="1">
              <a:off x="4320" y="2256"/>
              <a:ext cx="240" cy="144"/>
            </a:xfrm>
            <a:prstGeom prst="line">
              <a:avLst/>
            </a:prstGeom>
            <a:ln w="57150" cap="flat" cmpd="sng">
              <a:solidFill>
                <a:srgbClr val="FF6600"/>
              </a:solidFill>
              <a:prstDash val="solid"/>
              <a:headEnd type="none" w="med" len="med"/>
              <a:tailEnd type="none" w="med" len="med"/>
            </a:ln>
          </p:spPr>
        </p:sp>
      </p:grpSp>
    </p:spTree>
  </p:cSld>
  <p:clrMapOvr>
    <a:masterClrMapping/>
  </p:clrMapOvr>
  <p:transition>
    <p:random/>
    <p:sndAc>
      <p:stSnd>
        <p:snd r:embed="rId1" name="CAMERA.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71" name="Rectangle 15"/>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等值连接</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2467" name="Rectangle 16"/>
          <p:cNvSpPr>
            <a:spLocks noGrp="1"/>
          </p:cNvSpPr>
          <p:nvPr>
            <p:ph idx="1"/>
          </p:nvPr>
        </p:nvSpPr>
        <p:spPr/>
        <p:txBody>
          <a:bodyPr vert="horz" wrap="square" lIns="91440" tIns="45720" rIns="91440" bIns="45720" anchor="t" anchorCtr="0"/>
          <a:p>
            <a:pPr eaLnBrk="1" hangingPunct="1"/>
            <a:r>
              <a:rPr lang="en-US" altLang="zh-CN" dirty="0">
                <a:solidFill>
                  <a:srgbClr val="FF0000"/>
                </a:solidFill>
              </a:rPr>
              <a:t>θ </a:t>
            </a:r>
            <a:r>
              <a:rPr lang="zh-CN" altLang="en-US" dirty="0"/>
              <a:t>为“ </a:t>
            </a:r>
            <a:r>
              <a:rPr lang="en-US" altLang="zh-CN" dirty="0">
                <a:solidFill>
                  <a:srgbClr val="FF0000"/>
                </a:solidFill>
              </a:rPr>
              <a:t>=</a:t>
            </a:r>
            <a:r>
              <a:rPr lang="en-US" altLang="zh-CN" dirty="0"/>
              <a:t> </a:t>
            </a:r>
            <a:r>
              <a:rPr lang="zh-CN" altLang="en-US" dirty="0"/>
              <a:t>”的连接运算称为等值连接</a:t>
            </a:r>
            <a:endParaRPr lang="zh-CN" altLang="en-US" dirty="0"/>
          </a:p>
          <a:p>
            <a:pPr eaLnBrk="1" hangingPunct="1">
              <a:spcBef>
                <a:spcPct val="35000"/>
              </a:spcBef>
            </a:pPr>
            <a:r>
              <a:rPr lang="zh-CN" altLang="en-US" dirty="0"/>
              <a:t>等值连接的含义</a:t>
            </a:r>
            <a:endParaRPr lang="zh-CN" altLang="en-US" dirty="0"/>
          </a:p>
          <a:p>
            <a:pPr eaLnBrk="1" hangingPunct="1">
              <a:spcBef>
                <a:spcPct val="30000"/>
              </a:spcBef>
              <a:buNone/>
            </a:pPr>
            <a:r>
              <a:rPr lang="zh-CN" altLang="en-US" dirty="0"/>
              <a:t>       从关系</a:t>
            </a:r>
            <a:r>
              <a:rPr lang="en-US" altLang="zh-CN" dirty="0"/>
              <a:t>R</a:t>
            </a:r>
            <a:r>
              <a:rPr lang="zh-CN" altLang="en-US" dirty="0"/>
              <a:t>与</a:t>
            </a:r>
            <a:r>
              <a:rPr lang="en-US" altLang="zh-CN" dirty="0"/>
              <a:t>S</a:t>
            </a:r>
            <a:r>
              <a:rPr lang="zh-CN" altLang="en-US" dirty="0"/>
              <a:t>的广义笛卡尔积中选取</a:t>
            </a:r>
            <a:r>
              <a:rPr lang="en-US" altLang="zh-CN" dirty="0"/>
              <a:t>A</a:t>
            </a:r>
            <a:r>
              <a:rPr lang="zh-CN" altLang="en-US" dirty="0"/>
              <a:t>、</a:t>
            </a:r>
            <a:r>
              <a:rPr lang="en-US" altLang="zh-CN" dirty="0"/>
              <a:t>B</a:t>
            </a:r>
            <a:r>
              <a:rPr lang="zh-CN" altLang="en-US" dirty="0"/>
              <a:t>属性值相等的元组，即等值连接为：</a:t>
            </a:r>
            <a:endParaRPr lang="zh-CN" altLang="en-US" dirty="0"/>
          </a:p>
          <a:p>
            <a:pPr lvl="1" eaLnBrk="1" hangingPunct="1"/>
            <a:endParaRPr lang="zh-CN" altLang="en-US" dirty="0"/>
          </a:p>
          <a:p>
            <a:pPr lvl="1" eaLnBrk="1" hangingPunct="1">
              <a:buNone/>
            </a:pPr>
            <a:r>
              <a:rPr lang="en-US" altLang="zh-CN" dirty="0"/>
              <a:t>R      </a:t>
            </a:r>
            <a:r>
              <a:rPr lang="en-US" altLang="zh-CN" baseline="-25000" dirty="0">
                <a:latin typeface="Arial" panose="020B0604020202020204" pitchFamily="34" charset="0"/>
              </a:rPr>
              <a:t>A=B</a:t>
            </a:r>
            <a:r>
              <a:rPr lang="en-US" altLang="zh-CN" baseline="-25000" dirty="0"/>
              <a:t> </a:t>
            </a:r>
            <a:r>
              <a:rPr lang="en-US" altLang="zh-CN" dirty="0"/>
              <a:t>S ={ t</a:t>
            </a:r>
            <a:r>
              <a:rPr lang="en-US" altLang="zh-CN" baseline="-25000" dirty="0">
                <a:latin typeface="Arial" panose="020B0604020202020204" pitchFamily="34" charset="0"/>
              </a:rPr>
              <a:t>r</a:t>
            </a:r>
            <a:r>
              <a:rPr lang="en-US" altLang="zh-CN" dirty="0"/>
              <a:t> t</a:t>
            </a:r>
            <a:r>
              <a:rPr lang="en-US" altLang="zh-CN" baseline="-25000" dirty="0">
                <a:latin typeface="Arial" panose="020B0604020202020204" pitchFamily="34" charset="0"/>
              </a:rPr>
              <a:t>s</a:t>
            </a:r>
            <a:r>
              <a:rPr lang="en-US" altLang="zh-CN" dirty="0"/>
              <a:t> | t</a:t>
            </a:r>
            <a:r>
              <a:rPr lang="en-US" altLang="zh-CN" baseline="-25000" dirty="0">
                <a:latin typeface="Arial" panose="020B0604020202020204" pitchFamily="34" charset="0"/>
              </a:rPr>
              <a:t>r</a:t>
            </a:r>
            <a:r>
              <a:rPr lang="en-US" altLang="zh-CN" dirty="0">
                <a:sym typeface="Symbol" panose="05050102010706020507" pitchFamily="18" charset="2"/>
              </a:rPr>
              <a:t></a:t>
            </a:r>
            <a:r>
              <a:rPr lang="en-US" altLang="zh-CN" dirty="0"/>
              <a:t>R∧t</a:t>
            </a:r>
            <a:r>
              <a:rPr lang="en-US" altLang="zh-CN" baseline="-25000" dirty="0">
                <a:latin typeface="Arial" panose="020B0604020202020204" pitchFamily="34" charset="0"/>
              </a:rPr>
              <a:t>s</a:t>
            </a:r>
            <a:r>
              <a:rPr lang="en-US" altLang="zh-CN" dirty="0">
                <a:sym typeface="Symbol" panose="05050102010706020507" pitchFamily="18" charset="2"/>
              </a:rPr>
              <a:t></a:t>
            </a:r>
            <a:r>
              <a:rPr lang="en-US" altLang="zh-CN" dirty="0"/>
              <a:t>S∧t</a:t>
            </a:r>
            <a:r>
              <a:rPr lang="en-US" altLang="zh-CN" baseline="-25000" dirty="0">
                <a:latin typeface="Arial" panose="020B0604020202020204" pitchFamily="34" charset="0"/>
              </a:rPr>
              <a:t>r</a:t>
            </a:r>
            <a:r>
              <a:rPr lang="en-US" altLang="zh-CN" dirty="0"/>
              <a:t>[A] </a:t>
            </a:r>
            <a:r>
              <a:rPr lang="en-US" altLang="zh-CN" dirty="0">
                <a:solidFill>
                  <a:srgbClr val="FF0000"/>
                </a:solidFill>
              </a:rPr>
              <a:t>=</a:t>
            </a:r>
            <a:r>
              <a:rPr lang="en-US" altLang="zh-CN" dirty="0"/>
              <a:t> t</a:t>
            </a:r>
            <a:r>
              <a:rPr lang="en-US" altLang="zh-CN" baseline="-25000" dirty="0">
                <a:latin typeface="Arial" panose="020B0604020202020204" pitchFamily="34" charset="0"/>
              </a:rPr>
              <a:t>s</a:t>
            </a:r>
            <a:r>
              <a:rPr lang="en-US" altLang="zh-CN" dirty="0"/>
              <a:t>[B] }</a:t>
            </a:r>
            <a:endParaRPr lang="en-US" altLang="zh-CN" dirty="0"/>
          </a:p>
          <a:p>
            <a:pPr lvl="1" eaLnBrk="1" hangingPunct="1"/>
            <a:endParaRPr lang="en-US" altLang="zh-CN" dirty="0"/>
          </a:p>
        </p:txBody>
      </p:sp>
      <p:grpSp>
        <p:nvGrpSpPr>
          <p:cNvPr id="62468" name="Group 9"/>
          <p:cNvGrpSpPr/>
          <p:nvPr/>
        </p:nvGrpSpPr>
        <p:grpSpPr>
          <a:xfrm>
            <a:off x="1147763" y="4303713"/>
            <a:ext cx="431800" cy="269875"/>
            <a:chOff x="4320" y="2256"/>
            <a:chExt cx="240" cy="144"/>
          </a:xfrm>
        </p:grpSpPr>
        <p:sp>
          <p:nvSpPr>
            <p:cNvPr id="62470" name="Line 10"/>
            <p:cNvSpPr/>
            <p:nvPr/>
          </p:nvSpPr>
          <p:spPr>
            <a:xfrm>
              <a:off x="4320" y="2256"/>
              <a:ext cx="0" cy="144"/>
            </a:xfrm>
            <a:prstGeom prst="line">
              <a:avLst/>
            </a:prstGeom>
            <a:ln w="38100" cap="flat" cmpd="sng">
              <a:solidFill>
                <a:srgbClr val="0000CC"/>
              </a:solidFill>
              <a:prstDash val="solid"/>
              <a:headEnd type="none" w="med" len="med"/>
              <a:tailEnd type="none" w="med" len="med"/>
            </a:ln>
          </p:spPr>
        </p:sp>
        <p:sp>
          <p:nvSpPr>
            <p:cNvPr id="62471" name="Line 11"/>
            <p:cNvSpPr/>
            <p:nvPr/>
          </p:nvSpPr>
          <p:spPr>
            <a:xfrm>
              <a:off x="4560" y="2256"/>
              <a:ext cx="0" cy="144"/>
            </a:xfrm>
            <a:prstGeom prst="line">
              <a:avLst/>
            </a:prstGeom>
            <a:ln w="38100" cap="flat" cmpd="sng">
              <a:solidFill>
                <a:srgbClr val="0000CC"/>
              </a:solidFill>
              <a:prstDash val="solid"/>
              <a:headEnd type="none" w="med" len="med"/>
              <a:tailEnd type="none" w="med" len="med"/>
            </a:ln>
          </p:spPr>
        </p:sp>
        <p:sp>
          <p:nvSpPr>
            <p:cNvPr id="62472" name="Line 12"/>
            <p:cNvSpPr/>
            <p:nvPr/>
          </p:nvSpPr>
          <p:spPr>
            <a:xfrm>
              <a:off x="4320" y="2256"/>
              <a:ext cx="240" cy="144"/>
            </a:xfrm>
            <a:prstGeom prst="line">
              <a:avLst/>
            </a:prstGeom>
            <a:ln w="38100" cap="flat" cmpd="sng">
              <a:solidFill>
                <a:srgbClr val="0000CC"/>
              </a:solidFill>
              <a:prstDash val="solid"/>
              <a:headEnd type="none" w="med" len="med"/>
              <a:tailEnd type="none" w="med" len="med"/>
            </a:ln>
          </p:spPr>
        </p:sp>
        <p:sp>
          <p:nvSpPr>
            <p:cNvPr id="62473" name="Line 13"/>
            <p:cNvSpPr/>
            <p:nvPr/>
          </p:nvSpPr>
          <p:spPr>
            <a:xfrm flipV="1">
              <a:off x="4320" y="2256"/>
              <a:ext cx="240" cy="144"/>
            </a:xfrm>
            <a:prstGeom prst="line">
              <a:avLst/>
            </a:prstGeom>
            <a:ln w="38100" cap="flat" cmpd="sng">
              <a:solidFill>
                <a:srgbClr val="0000CC"/>
              </a:solidFill>
              <a:prstDash val="solid"/>
              <a:headEnd type="none" w="med" len="med"/>
              <a:tailEnd type="none" w="med" len="med"/>
            </a:ln>
          </p:spPr>
        </p:sp>
      </p:grpSp>
      <p:sp>
        <p:nvSpPr>
          <p:cNvPr id="62469" name="Freeform 14"/>
          <p:cNvSpPr/>
          <p:nvPr/>
        </p:nvSpPr>
        <p:spPr>
          <a:xfrm rot="-1517971">
            <a:off x="3044825" y="4230688"/>
            <a:ext cx="433388" cy="252412"/>
          </a:xfrm>
          <a:custGeom>
            <a:avLst/>
            <a:gdLst>
              <a:gd name="txL" fmla="*/ 0 w 273"/>
              <a:gd name="txT" fmla="*/ 0 h 159"/>
              <a:gd name="txR" fmla="*/ 273 w 273"/>
              <a:gd name="txB" fmla="*/ 159 h 159"/>
            </a:gdLst>
            <a:ahLst/>
            <a:cxnLst>
              <a:cxn ang="0">
                <a:pos x="0" y="2147483647"/>
              </a:cxn>
              <a:cxn ang="0">
                <a:pos x="2147483647" y="2147483647"/>
              </a:cxn>
              <a:cxn ang="0">
                <a:pos x="2147483647" y="2147483647"/>
              </a:cxn>
            </a:cxnLst>
            <a:rect l="txL" t="txT" r="txR" b="txB"/>
            <a:pathLst>
              <a:path w="273" h="159">
                <a:moveTo>
                  <a:pt x="0" y="23"/>
                </a:moveTo>
                <a:cubicBezTo>
                  <a:pt x="68" y="11"/>
                  <a:pt x="136" y="0"/>
                  <a:pt x="182" y="23"/>
                </a:cubicBezTo>
                <a:cubicBezTo>
                  <a:pt x="228" y="46"/>
                  <a:pt x="266" y="136"/>
                  <a:pt x="273" y="159"/>
                </a:cubicBezTo>
              </a:path>
            </a:pathLst>
          </a:custGeom>
          <a:noFill/>
          <a:ln w="38100" cap="flat" cmpd="sng">
            <a:solidFill>
              <a:srgbClr val="0000CC">
                <a:alpha val="100000"/>
              </a:srgbClr>
            </a:solidFill>
            <a:prstDash val="solid"/>
            <a:round/>
            <a:headEnd type="none" w="med" len="med"/>
            <a:tailEnd type="none" w="med" len="med"/>
          </a:ln>
        </p:spPr>
        <p:txBody>
          <a:bodyPr/>
          <a:p>
            <a:endParaRPr lang="zh-CN" altLang="en-US"/>
          </a:p>
        </p:txBody>
      </p:sp>
    </p:spTree>
  </p:cSld>
  <p:clrMapOvr>
    <a:masterClrMapping/>
  </p:clrMapOvr>
  <p:transition>
    <p:random/>
    <p:sndAc>
      <p:stSnd>
        <p:snd r:embed="rId1" name="CAMERA.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等值</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连接</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63491" name="Rectangle 3"/>
          <p:cNvSpPr>
            <a:spLocks noGrp="1"/>
          </p:cNvSpPr>
          <p:nvPr>
            <p:ph type="body" sz="half" idx="1"/>
          </p:nvPr>
        </p:nvSpPr>
        <p:spPr>
          <a:xfrm>
            <a:off x="107950" y="2203450"/>
            <a:ext cx="8883650" cy="1081088"/>
          </a:xfrm>
        </p:spPr>
        <p:txBody>
          <a:bodyPr vert="horz" wrap="square" lIns="91440" tIns="45720" rIns="91440" bIns="45720" anchor="t" anchorCtr="0"/>
          <a:p>
            <a:pPr eaLnBrk="1" hangingPunct="1">
              <a:lnSpc>
                <a:spcPct val="150000"/>
              </a:lnSpc>
              <a:buClr>
                <a:srgbClr val="0000CC"/>
              </a:buClr>
              <a:buSzPct val="70000"/>
              <a:buFont typeface="Wingdings" panose="05000000000000000000" pitchFamily="2" charset="2"/>
              <a:buNone/>
            </a:pPr>
            <a:r>
              <a:rPr lang="en-US" altLang="zh-CN" sz="4000" dirty="0">
                <a:solidFill>
                  <a:srgbClr val="FF0000"/>
                </a:solidFill>
                <a:latin typeface="Arial" panose="020B0604020202020204" pitchFamily="34" charset="0"/>
              </a:rPr>
              <a:t>R      </a:t>
            </a:r>
            <a:r>
              <a:rPr lang="en-US" altLang="zh-CN" sz="4000" baseline="-25000" dirty="0">
                <a:solidFill>
                  <a:srgbClr val="FF0000"/>
                </a:solidFill>
                <a:latin typeface="Arial" panose="020B0604020202020204" pitchFamily="34" charset="0"/>
              </a:rPr>
              <a:t>R.B=S.B </a:t>
            </a:r>
            <a:r>
              <a:rPr lang="en-US" altLang="zh-CN" sz="4000" dirty="0">
                <a:solidFill>
                  <a:srgbClr val="FF0000"/>
                </a:solidFill>
                <a:latin typeface="Arial" panose="020B0604020202020204" pitchFamily="34" charset="0"/>
              </a:rPr>
              <a:t>S</a:t>
            </a:r>
            <a:endParaRPr lang="en-US" altLang="zh-CN" sz="4000" dirty="0">
              <a:solidFill>
                <a:srgbClr val="FF0000"/>
              </a:solidFill>
              <a:latin typeface="Arial" panose="020B0604020202020204" pitchFamily="34" charset="0"/>
            </a:endParaRPr>
          </a:p>
        </p:txBody>
      </p:sp>
      <p:sp>
        <p:nvSpPr>
          <p:cNvPr id="63492" name="Text Box 4"/>
          <p:cNvSpPr txBox="1"/>
          <p:nvPr/>
        </p:nvSpPr>
        <p:spPr>
          <a:xfrm>
            <a:off x="3419475" y="0"/>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R</a:t>
            </a:r>
            <a:endParaRPr lang="en-US" altLang="zh-CN" dirty="0">
              <a:solidFill>
                <a:srgbClr val="FF0000"/>
              </a:solidFill>
              <a:latin typeface="Arial" panose="020B0604020202020204" pitchFamily="34" charset="0"/>
              <a:ea typeface="宋体" panose="02010600030101010101" pitchFamily="2" charset="-122"/>
            </a:endParaRPr>
          </a:p>
        </p:txBody>
      </p:sp>
      <p:sp>
        <p:nvSpPr>
          <p:cNvPr id="63493" name="Text Box 5"/>
          <p:cNvSpPr txBox="1"/>
          <p:nvPr/>
        </p:nvSpPr>
        <p:spPr>
          <a:xfrm>
            <a:off x="6746875" y="44450"/>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S</a:t>
            </a:r>
            <a:endParaRPr lang="en-US" altLang="zh-CN" dirty="0">
              <a:solidFill>
                <a:srgbClr val="FF0000"/>
              </a:solidFill>
              <a:latin typeface="Arial" panose="020B0604020202020204" pitchFamily="34" charset="0"/>
              <a:ea typeface="宋体" panose="02010600030101010101" pitchFamily="2" charset="-122"/>
            </a:endParaRPr>
          </a:p>
        </p:txBody>
      </p:sp>
      <p:grpSp>
        <p:nvGrpSpPr>
          <p:cNvPr id="63494" name="Group 6"/>
          <p:cNvGrpSpPr/>
          <p:nvPr/>
        </p:nvGrpSpPr>
        <p:grpSpPr>
          <a:xfrm>
            <a:off x="757238" y="2565400"/>
            <a:ext cx="574675" cy="358775"/>
            <a:chOff x="4320" y="2256"/>
            <a:chExt cx="240" cy="144"/>
          </a:xfrm>
        </p:grpSpPr>
        <p:sp>
          <p:nvSpPr>
            <p:cNvPr id="63582" name="Line 7"/>
            <p:cNvSpPr/>
            <p:nvPr/>
          </p:nvSpPr>
          <p:spPr>
            <a:xfrm>
              <a:off x="4320" y="2256"/>
              <a:ext cx="0" cy="144"/>
            </a:xfrm>
            <a:prstGeom prst="line">
              <a:avLst/>
            </a:prstGeom>
            <a:ln w="38100" cap="flat" cmpd="sng">
              <a:solidFill>
                <a:srgbClr val="FF0000"/>
              </a:solidFill>
              <a:prstDash val="solid"/>
              <a:headEnd type="none" w="med" len="med"/>
              <a:tailEnd type="none" w="med" len="med"/>
            </a:ln>
          </p:spPr>
        </p:sp>
        <p:sp>
          <p:nvSpPr>
            <p:cNvPr id="63583" name="Line 8"/>
            <p:cNvSpPr/>
            <p:nvPr/>
          </p:nvSpPr>
          <p:spPr>
            <a:xfrm>
              <a:off x="4560" y="2256"/>
              <a:ext cx="0" cy="144"/>
            </a:xfrm>
            <a:prstGeom prst="line">
              <a:avLst/>
            </a:prstGeom>
            <a:ln w="38100" cap="flat" cmpd="sng">
              <a:solidFill>
                <a:srgbClr val="FF0000"/>
              </a:solidFill>
              <a:prstDash val="solid"/>
              <a:headEnd type="none" w="med" len="med"/>
              <a:tailEnd type="none" w="med" len="med"/>
            </a:ln>
          </p:spPr>
        </p:sp>
        <p:sp>
          <p:nvSpPr>
            <p:cNvPr id="63584" name="Line 9"/>
            <p:cNvSpPr/>
            <p:nvPr/>
          </p:nvSpPr>
          <p:spPr>
            <a:xfrm>
              <a:off x="4320" y="2256"/>
              <a:ext cx="240" cy="144"/>
            </a:xfrm>
            <a:prstGeom prst="line">
              <a:avLst/>
            </a:prstGeom>
            <a:ln w="38100" cap="flat" cmpd="sng">
              <a:solidFill>
                <a:srgbClr val="FF0000"/>
              </a:solidFill>
              <a:prstDash val="solid"/>
              <a:headEnd type="none" w="med" len="med"/>
              <a:tailEnd type="none" w="med" len="med"/>
            </a:ln>
          </p:spPr>
        </p:sp>
        <p:sp>
          <p:nvSpPr>
            <p:cNvPr id="63585" name="Line 10"/>
            <p:cNvSpPr/>
            <p:nvPr/>
          </p:nvSpPr>
          <p:spPr>
            <a:xfrm flipV="1">
              <a:off x="4320" y="2256"/>
              <a:ext cx="240" cy="144"/>
            </a:xfrm>
            <a:prstGeom prst="line">
              <a:avLst/>
            </a:prstGeom>
            <a:ln w="38100" cap="flat" cmpd="sng">
              <a:solidFill>
                <a:srgbClr val="FF0000"/>
              </a:solidFill>
              <a:prstDash val="solid"/>
              <a:headEnd type="none" w="med" len="med"/>
              <a:tailEnd type="none" w="med" len="med"/>
            </a:ln>
          </p:spPr>
        </p:sp>
      </p:grpSp>
      <p:graphicFrame>
        <p:nvGraphicFramePr>
          <p:cNvPr id="232459" name="Group 11"/>
          <p:cNvGraphicFramePr>
            <a:graphicFrameLocks noGrp="1"/>
          </p:cNvGraphicFramePr>
          <p:nvPr>
            <p:ph sz="half" idx="1"/>
          </p:nvPr>
        </p:nvGraphicFramePr>
        <p:xfrm>
          <a:off x="3925888" y="107950"/>
          <a:ext cx="2733675" cy="2895600"/>
        </p:xfrm>
        <a:graphic>
          <a:graphicData uri="http://schemas.openxmlformats.org/drawingml/2006/table">
            <a:tbl>
              <a:tblPr/>
              <a:tblGrid>
                <a:gridCol w="911225"/>
                <a:gridCol w="911225"/>
                <a:gridCol w="9112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397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232485" name="Group 37"/>
          <p:cNvGraphicFramePr>
            <a:graphicFrameLocks noGrp="1"/>
          </p:cNvGraphicFramePr>
          <p:nvPr/>
        </p:nvGraphicFramePr>
        <p:xfrm>
          <a:off x="7213600" y="115888"/>
          <a:ext cx="1822450" cy="3479800"/>
        </p:xfrm>
        <a:graphic>
          <a:graphicData uri="http://schemas.openxmlformats.org/drawingml/2006/table">
            <a:tbl>
              <a:tblPr/>
              <a:tblGrid>
                <a:gridCol w="887413"/>
                <a:gridCol w="935037"/>
              </a:tblGrid>
              <a:tr h="4286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232552" name="Group 104"/>
          <p:cNvGraphicFramePr>
            <a:graphicFrameLocks noGrp="1"/>
          </p:cNvGraphicFramePr>
          <p:nvPr/>
        </p:nvGraphicFramePr>
        <p:xfrm>
          <a:off x="395288" y="3270250"/>
          <a:ext cx="4556125" cy="2900363"/>
        </p:xfrm>
        <a:graphic>
          <a:graphicData uri="http://schemas.openxmlformats.org/drawingml/2006/table">
            <a:tbl>
              <a:tblPr/>
              <a:tblGrid>
                <a:gridCol w="911225"/>
                <a:gridCol w="911225"/>
                <a:gridCol w="911225"/>
                <a:gridCol w="911225"/>
                <a:gridCol w="9112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R.B</a:t>
                      </a:r>
                      <a:endParaRPr kumimoji="0" lang="en-US" altLang="zh-CN" sz="32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S.B</a:t>
                      </a:r>
                      <a:endParaRPr kumimoji="0" lang="en-US" altLang="zh-CN" sz="32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5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等值</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连接运算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rPr>
              <a:t>应用举例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281603" name="Rectangle 3"/>
          <p:cNvSpPr>
            <a:spLocks noGrp="1"/>
          </p:cNvSpPr>
          <p:nvPr>
            <p:ph idx="1"/>
          </p:nvPr>
        </p:nvSpPr>
        <p:spPr>
          <a:xfrm>
            <a:off x="152400" y="3068638"/>
            <a:ext cx="8848725" cy="3155950"/>
          </a:xfrm>
        </p:spPr>
        <p:txBody>
          <a:bodyPr vert="horz" wrap="square" lIns="91440" tIns="45720" rIns="91440" bIns="45720" anchor="t" anchorCtr="0"/>
          <a:p>
            <a:pPr eaLnBrk="1" hangingPunct="1"/>
            <a:r>
              <a:rPr lang="zh-CN" altLang="en-US" dirty="0">
                <a:latin typeface="Arial" panose="020B0604020202020204" pitchFamily="34" charset="0"/>
              </a:rPr>
              <a:t>查询所有学生的基本信息、所修课程号及成绩。</a:t>
            </a:r>
            <a:endParaRPr lang="zh-CN" altLang="en-US" dirty="0">
              <a:latin typeface="Arial" panose="020B0604020202020204" pitchFamily="34" charset="0"/>
            </a:endParaRPr>
          </a:p>
          <a:p>
            <a:pPr eaLnBrk="1" hangingPunct="1">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sym typeface="Symbol" panose="05050102010706020507" pitchFamily="18" charset="2"/>
              </a:rPr>
              <a:t>S      </a:t>
            </a:r>
            <a:r>
              <a:rPr lang="en-US" altLang="zh-CN" baseline="-25000" dirty="0">
                <a:solidFill>
                  <a:srgbClr val="0000CC"/>
                </a:solidFill>
                <a:latin typeface="Arial" panose="020B0604020202020204" pitchFamily="34" charset="0"/>
                <a:sym typeface="Symbol" panose="05050102010706020507" pitchFamily="18" charset="2"/>
              </a:rPr>
              <a:t>S.</a:t>
            </a:r>
            <a:r>
              <a:rPr lang="en-US" altLang="zh-CN" baseline="-25000" dirty="0">
                <a:solidFill>
                  <a:srgbClr val="0000CC"/>
                </a:solidFill>
                <a:latin typeface="Arial" panose="020B0604020202020204" pitchFamily="34" charset="0"/>
                <a:cs typeface="Tahoma" panose="020B0604030504040204" pitchFamily="34" charset="0"/>
              </a:rPr>
              <a:t>Sno=SC.Sno</a:t>
            </a:r>
            <a:r>
              <a:rPr lang="en-US" altLang="zh-CN" dirty="0">
                <a:solidFill>
                  <a:srgbClr val="0000CC"/>
                </a:solidFill>
                <a:latin typeface="Arial" panose="020B0604020202020204" pitchFamily="34" charset="0"/>
                <a:cs typeface="Tahoma" panose="020B0604030504040204" pitchFamily="34" charset="0"/>
              </a:rPr>
              <a:t> SC</a:t>
            </a:r>
            <a:r>
              <a:rPr lang="en-US" altLang="zh-CN" dirty="0">
                <a:latin typeface="Arial" panose="020B0604020202020204" pitchFamily="34" charset="0"/>
              </a:rPr>
              <a:t> </a:t>
            </a:r>
            <a:endParaRPr lang="en-US" altLang="zh-CN" dirty="0">
              <a:latin typeface="Arial" panose="020B0604020202020204" pitchFamily="34" charset="0"/>
            </a:endParaRPr>
          </a:p>
          <a:p>
            <a:pPr eaLnBrk="1" hangingPunct="1">
              <a:spcBef>
                <a:spcPct val="25000"/>
              </a:spcBef>
              <a:buNone/>
            </a:pPr>
            <a:r>
              <a:rPr lang="en-US" altLang="zh-CN" dirty="0">
                <a:latin typeface="Arial" panose="020B0604020202020204" pitchFamily="34" charset="0"/>
              </a:rPr>
              <a:t>   (</a:t>
            </a:r>
            <a:r>
              <a:rPr lang="en-US" altLang="zh-CN" dirty="0">
                <a:solidFill>
                  <a:srgbClr val="FF0000"/>
                </a:solidFill>
                <a:latin typeface="Arial" panose="020B0604020202020204" pitchFamily="34" charset="0"/>
              </a:rPr>
              <a:t>S.Sno</a:t>
            </a:r>
            <a:r>
              <a:rPr lang="en-US" altLang="zh-CN" dirty="0">
                <a:latin typeface="Arial" panose="020B0604020202020204" pitchFamily="34" charset="0"/>
              </a:rPr>
              <a:t>,Sname,Ssex,Sage,</a:t>
            </a:r>
            <a:br>
              <a:rPr lang="en-US" altLang="zh-CN" dirty="0">
                <a:latin typeface="Arial" panose="020B0604020202020204" pitchFamily="34" charset="0"/>
              </a:rPr>
            </a:br>
            <a:r>
              <a:rPr lang="en-US" altLang="zh-CN" dirty="0">
                <a:latin typeface="Arial" panose="020B0604020202020204" pitchFamily="34" charset="0"/>
              </a:rPr>
              <a:t>                              </a:t>
            </a:r>
            <a:r>
              <a:rPr lang="en-US" altLang="zh-CN" dirty="0">
                <a:solidFill>
                  <a:srgbClr val="FF0000"/>
                </a:solidFill>
                <a:latin typeface="Arial" panose="020B0604020202020204" pitchFamily="34" charset="0"/>
              </a:rPr>
              <a:t>SC.Sno</a:t>
            </a:r>
            <a:r>
              <a:rPr lang="en-US" altLang="zh-CN" dirty="0">
                <a:latin typeface="Arial" panose="020B0604020202020204" pitchFamily="34" charset="0"/>
              </a:rPr>
              <a:t>,Cno,Score)</a:t>
            </a:r>
            <a:endParaRPr lang="en-US" altLang="zh-CN" dirty="0">
              <a:latin typeface="Arial" panose="020B0604020202020204" pitchFamily="34" charset="0"/>
            </a:endParaRPr>
          </a:p>
        </p:txBody>
      </p:sp>
      <p:grpSp>
        <p:nvGrpSpPr>
          <p:cNvPr id="64516" name="Group 19"/>
          <p:cNvGrpSpPr/>
          <p:nvPr/>
        </p:nvGrpSpPr>
        <p:grpSpPr>
          <a:xfrm>
            <a:off x="684213" y="1290638"/>
            <a:ext cx="8135937" cy="1490662"/>
            <a:chOff x="431" y="868"/>
            <a:chExt cx="5125" cy="939"/>
          </a:xfrm>
        </p:grpSpPr>
        <p:sp>
          <p:nvSpPr>
            <p:cNvPr id="64522" name="Text Box 5"/>
            <p:cNvSpPr txBox="1"/>
            <p:nvPr/>
          </p:nvSpPr>
          <p:spPr>
            <a:xfrm>
              <a:off x="2110" y="882"/>
              <a:ext cx="888"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Sno</a:t>
              </a:r>
              <a:endParaRPr lang="en-US" altLang="zh-CN" sz="3200" dirty="0">
                <a:latin typeface="Arial" panose="020B0604020202020204" pitchFamily="34" charset="0"/>
              </a:endParaRPr>
            </a:p>
          </p:txBody>
        </p:sp>
        <p:sp>
          <p:nvSpPr>
            <p:cNvPr id="64523" name="Text Box 6"/>
            <p:cNvSpPr txBox="1"/>
            <p:nvPr/>
          </p:nvSpPr>
          <p:spPr>
            <a:xfrm>
              <a:off x="2998" y="882"/>
              <a:ext cx="1016"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Sname</a:t>
              </a:r>
              <a:endParaRPr lang="en-US" altLang="zh-CN" sz="3200" dirty="0">
                <a:latin typeface="Arial" panose="020B0604020202020204" pitchFamily="34" charset="0"/>
              </a:endParaRPr>
            </a:p>
          </p:txBody>
        </p:sp>
        <p:sp>
          <p:nvSpPr>
            <p:cNvPr id="64524" name="Text Box 7"/>
            <p:cNvSpPr txBox="1"/>
            <p:nvPr/>
          </p:nvSpPr>
          <p:spPr>
            <a:xfrm>
              <a:off x="4015" y="882"/>
              <a:ext cx="770"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Ssex</a:t>
              </a:r>
              <a:endParaRPr lang="en-US" altLang="zh-CN" sz="3200" dirty="0">
                <a:latin typeface="Arial" panose="020B0604020202020204" pitchFamily="34" charset="0"/>
              </a:endParaRPr>
            </a:p>
          </p:txBody>
        </p:sp>
        <p:sp>
          <p:nvSpPr>
            <p:cNvPr id="64525" name="Text Box 8"/>
            <p:cNvSpPr txBox="1"/>
            <p:nvPr/>
          </p:nvSpPr>
          <p:spPr>
            <a:xfrm>
              <a:off x="4785" y="882"/>
              <a:ext cx="771"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Sage</a:t>
              </a:r>
              <a:endParaRPr lang="en-US" altLang="zh-CN" sz="3200" dirty="0">
                <a:latin typeface="Arial" panose="020B0604020202020204" pitchFamily="34" charset="0"/>
              </a:endParaRPr>
            </a:p>
          </p:txBody>
        </p:sp>
        <p:sp>
          <p:nvSpPr>
            <p:cNvPr id="64526" name="Text Box 9"/>
            <p:cNvSpPr txBox="1"/>
            <p:nvPr/>
          </p:nvSpPr>
          <p:spPr>
            <a:xfrm>
              <a:off x="558" y="868"/>
              <a:ext cx="1397" cy="307"/>
            </a:xfrm>
            <a:prstGeom prst="rect">
              <a:avLst/>
            </a:prstGeom>
            <a:noFill/>
            <a:ln w="28575">
              <a:noFill/>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r" eaLnBrk="1" hangingPunct="1">
                <a:buClrTx/>
                <a:buSzTx/>
                <a:buFontTx/>
                <a:buNone/>
              </a:pPr>
              <a:r>
                <a:rPr lang="zh-CN" altLang="en-US" sz="3200" dirty="0">
                  <a:solidFill>
                    <a:srgbClr val="0000FF"/>
                  </a:solidFill>
                  <a:latin typeface="Arial" panose="020B0604020202020204" pitchFamily="34" charset="0"/>
                </a:rPr>
                <a:t>学生关系</a:t>
              </a:r>
              <a:r>
                <a:rPr lang="en-US" altLang="zh-CN" sz="3200" dirty="0">
                  <a:solidFill>
                    <a:srgbClr val="0000FF"/>
                  </a:solidFill>
                  <a:latin typeface="Arial" panose="020B0604020202020204" pitchFamily="34" charset="0"/>
                </a:rPr>
                <a:t>S</a:t>
              </a:r>
              <a:endParaRPr lang="en-US" altLang="zh-CN" sz="3200" dirty="0">
                <a:solidFill>
                  <a:srgbClr val="0000FF"/>
                </a:solidFill>
                <a:latin typeface="Arial" panose="020B0604020202020204" pitchFamily="34" charset="0"/>
              </a:endParaRPr>
            </a:p>
          </p:txBody>
        </p:sp>
        <p:sp>
          <p:nvSpPr>
            <p:cNvPr id="64527" name="Text Box 10"/>
            <p:cNvSpPr txBox="1"/>
            <p:nvPr/>
          </p:nvSpPr>
          <p:spPr>
            <a:xfrm>
              <a:off x="2110" y="1482"/>
              <a:ext cx="889"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Sno</a:t>
              </a:r>
              <a:endParaRPr lang="en-US" altLang="zh-CN" sz="3200" dirty="0">
                <a:latin typeface="Arial" panose="020B0604020202020204" pitchFamily="34" charset="0"/>
              </a:endParaRPr>
            </a:p>
          </p:txBody>
        </p:sp>
        <p:sp>
          <p:nvSpPr>
            <p:cNvPr id="64528" name="Text Box 11"/>
            <p:cNvSpPr txBox="1"/>
            <p:nvPr/>
          </p:nvSpPr>
          <p:spPr>
            <a:xfrm>
              <a:off x="431" y="1468"/>
              <a:ext cx="1524" cy="307"/>
            </a:xfrm>
            <a:prstGeom prst="rect">
              <a:avLst/>
            </a:prstGeom>
            <a:noFill/>
            <a:ln w="28575">
              <a:noFill/>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r" eaLnBrk="1" hangingPunct="1">
                <a:buClrTx/>
                <a:buSzTx/>
                <a:buFontTx/>
                <a:buNone/>
              </a:pPr>
              <a:r>
                <a:rPr lang="zh-CN" altLang="en-US" sz="3200" dirty="0">
                  <a:solidFill>
                    <a:srgbClr val="0000FF"/>
                  </a:solidFill>
                  <a:latin typeface="Arial" panose="020B0604020202020204" pitchFamily="34" charset="0"/>
                </a:rPr>
                <a:t>选课关系</a:t>
              </a:r>
              <a:r>
                <a:rPr lang="en-US" altLang="zh-CN" sz="3200" dirty="0">
                  <a:solidFill>
                    <a:srgbClr val="0000FF"/>
                  </a:solidFill>
                  <a:latin typeface="Arial" panose="020B0604020202020204" pitchFamily="34" charset="0"/>
                </a:rPr>
                <a:t>SC</a:t>
              </a:r>
              <a:endParaRPr lang="en-US" altLang="zh-CN" sz="3200" dirty="0">
                <a:solidFill>
                  <a:srgbClr val="0000FF"/>
                </a:solidFill>
                <a:latin typeface="Arial" panose="020B0604020202020204" pitchFamily="34" charset="0"/>
              </a:endParaRPr>
            </a:p>
          </p:txBody>
        </p:sp>
        <p:sp>
          <p:nvSpPr>
            <p:cNvPr id="64529" name="Text Box 12"/>
            <p:cNvSpPr txBox="1"/>
            <p:nvPr/>
          </p:nvSpPr>
          <p:spPr>
            <a:xfrm>
              <a:off x="2999" y="1480"/>
              <a:ext cx="889"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Cno</a:t>
              </a:r>
              <a:endParaRPr lang="en-US" altLang="zh-CN" sz="3200" dirty="0">
                <a:latin typeface="Arial" panose="020B0604020202020204" pitchFamily="34" charset="0"/>
              </a:endParaRPr>
            </a:p>
          </p:txBody>
        </p:sp>
        <p:sp>
          <p:nvSpPr>
            <p:cNvPr id="64530" name="Text Box 13"/>
            <p:cNvSpPr txBox="1"/>
            <p:nvPr/>
          </p:nvSpPr>
          <p:spPr>
            <a:xfrm>
              <a:off x="3891" y="1480"/>
              <a:ext cx="1090"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Score</a:t>
              </a:r>
              <a:endParaRPr lang="en-US" altLang="zh-CN" sz="3200" dirty="0">
                <a:latin typeface="Arial" panose="020B0604020202020204" pitchFamily="34" charset="0"/>
              </a:endParaRPr>
            </a:p>
          </p:txBody>
        </p:sp>
      </p:grpSp>
      <p:grpSp>
        <p:nvGrpSpPr>
          <p:cNvPr id="3" name="Group 14"/>
          <p:cNvGrpSpPr/>
          <p:nvPr/>
        </p:nvGrpSpPr>
        <p:grpSpPr>
          <a:xfrm>
            <a:off x="2674938" y="4365625"/>
            <a:ext cx="574675" cy="358775"/>
            <a:chOff x="4320" y="2256"/>
            <a:chExt cx="240" cy="144"/>
          </a:xfrm>
        </p:grpSpPr>
        <p:sp>
          <p:nvSpPr>
            <p:cNvPr id="64518" name="Line 15"/>
            <p:cNvSpPr/>
            <p:nvPr/>
          </p:nvSpPr>
          <p:spPr>
            <a:xfrm>
              <a:off x="4320" y="2256"/>
              <a:ext cx="0" cy="144"/>
            </a:xfrm>
            <a:prstGeom prst="line">
              <a:avLst/>
            </a:prstGeom>
            <a:ln w="38100" cap="flat" cmpd="sng">
              <a:solidFill>
                <a:srgbClr val="0000CC"/>
              </a:solidFill>
              <a:prstDash val="solid"/>
              <a:headEnd type="none" w="med" len="med"/>
              <a:tailEnd type="none" w="med" len="med"/>
            </a:ln>
          </p:spPr>
        </p:sp>
        <p:sp>
          <p:nvSpPr>
            <p:cNvPr id="64519" name="Line 16"/>
            <p:cNvSpPr/>
            <p:nvPr/>
          </p:nvSpPr>
          <p:spPr>
            <a:xfrm>
              <a:off x="4560" y="2256"/>
              <a:ext cx="0" cy="144"/>
            </a:xfrm>
            <a:prstGeom prst="line">
              <a:avLst/>
            </a:prstGeom>
            <a:ln w="38100" cap="flat" cmpd="sng">
              <a:solidFill>
                <a:srgbClr val="0000CC"/>
              </a:solidFill>
              <a:prstDash val="solid"/>
              <a:headEnd type="none" w="med" len="med"/>
              <a:tailEnd type="none" w="med" len="med"/>
            </a:ln>
          </p:spPr>
        </p:sp>
        <p:sp>
          <p:nvSpPr>
            <p:cNvPr id="64520" name="Line 17"/>
            <p:cNvSpPr/>
            <p:nvPr/>
          </p:nvSpPr>
          <p:spPr>
            <a:xfrm>
              <a:off x="4320" y="2256"/>
              <a:ext cx="240" cy="144"/>
            </a:xfrm>
            <a:prstGeom prst="line">
              <a:avLst/>
            </a:prstGeom>
            <a:ln w="38100" cap="flat" cmpd="sng">
              <a:solidFill>
                <a:srgbClr val="0000CC"/>
              </a:solidFill>
              <a:prstDash val="solid"/>
              <a:headEnd type="none" w="med" len="med"/>
              <a:tailEnd type="none" w="med" len="med"/>
            </a:ln>
          </p:spPr>
        </p:sp>
        <p:sp>
          <p:nvSpPr>
            <p:cNvPr id="64521" name="Line 18"/>
            <p:cNvSpPr/>
            <p:nvPr/>
          </p:nvSpPr>
          <p:spPr>
            <a:xfrm flipV="1">
              <a:off x="4320" y="2256"/>
              <a:ext cx="240" cy="144"/>
            </a:xfrm>
            <a:prstGeom prst="line">
              <a:avLst/>
            </a:prstGeom>
            <a:ln w="38100" cap="flat" cmpd="sng">
              <a:solidFill>
                <a:srgbClr val="0000CC"/>
              </a:solidFill>
              <a:prstDash val="solid"/>
              <a:headEnd type="none" w="med" len="med"/>
              <a:tailEnd type="none" w="med" len="med"/>
            </a:ln>
          </p:spPr>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1603">
                                            <p:txEl>
                                              <p:charRg st="22" end="61"/>
                                            </p:txEl>
                                          </p:spTgt>
                                        </p:tgtEl>
                                        <p:attrNameLst>
                                          <p:attrName>style.visibility</p:attrName>
                                        </p:attrNameLst>
                                      </p:cBhvr>
                                      <p:to>
                                        <p:strVal val="visible"/>
                                      </p:to>
                                    </p:set>
                                    <p:anim calcmode="lin" valueType="num">
                                      <p:cBhvr additive="base">
                                        <p:cTn id="7" dur="500" fill="hold"/>
                                        <p:tgtEl>
                                          <p:spTgt spid="281603">
                                            <p:txEl>
                                              <p:charRg st="22" end="6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1603">
                                            <p:txEl>
                                              <p:charRg st="22" end="6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81603">
                                            <p:txEl>
                                              <p:charRg st="61" end="136"/>
                                            </p:txEl>
                                          </p:spTgt>
                                        </p:tgtEl>
                                        <p:attrNameLst>
                                          <p:attrName>style.visibility</p:attrName>
                                        </p:attrNameLst>
                                      </p:cBhvr>
                                      <p:to>
                                        <p:strVal val="visible"/>
                                      </p:to>
                                    </p:set>
                                    <p:anim calcmode="lin" valueType="num">
                                      <p:cBhvr additive="base">
                                        <p:cTn id="17" dur="500" fill="hold"/>
                                        <p:tgtEl>
                                          <p:spTgt spid="281603">
                                            <p:txEl>
                                              <p:charRg st="61" end="13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1603">
                                            <p:txEl>
                                              <p:charRg st="61" end="13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2"/>
          <p:cNvSpPr>
            <a:spLocks noGrp="1" noChangeArrowheads="1"/>
          </p:cNvSpPr>
          <p:nvPr>
            <p:ph type="title"/>
          </p:nvPr>
        </p:nvSpPr>
        <p:spPr>
          <a:xfrm>
            <a:off x="179388" y="142875"/>
            <a:ext cx="8535988" cy="5715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(2)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自然连接</a:t>
            </a:r>
            <a:endPar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5539" name="Rectangle 3"/>
          <p:cNvSpPr>
            <a:spLocks noGrp="1"/>
          </p:cNvSpPr>
          <p:nvPr>
            <p:ph idx="1"/>
          </p:nvPr>
        </p:nvSpPr>
        <p:spPr>
          <a:xfrm>
            <a:off x="441325" y="908050"/>
            <a:ext cx="8667750" cy="5581650"/>
          </a:xfrm>
        </p:spPr>
        <p:txBody>
          <a:bodyPr vert="horz" wrap="square" lIns="91440" tIns="45720" rIns="91440" bIns="45720" anchor="t" anchorCtr="0"/>
          <a:p>
            <a:pPr algn="just" eaLnBrk="1" hangingPunct="1"/>
            <a:r>
              <a:rPr lang="zh-CN" altLang="en-US" dirty="0">
                <a:latin typeface="Arial" panose="020B0604020202020204" pitchFamily="34" charset="0"/>
              </a:rPr>
              <a:t>自然连接是一种特殊的等值连接</a:t>
            </a:r>
            <a:endParaRPr lang="zh-CN" altLang="en-US" dirty="0">
              <a:latin typeface="Arial" panose="020B0604020202020204" pitchFamily="34" charset="0"/>
            </a:endParaRPr>
          </a:p>
          <a:p>
            <a:pPr lvl="1" eaLnBrk="1" hangingPunct="1"/>
            <a:r>
              <a:rPr lang="zh-CN" altLang="en-US" dirty="0">
                <a:latin typeface="Arial" panose="020B0604020202020204" pitchFamily="34" charset="0"/>
              </a:rPr>
              <a:t>两个关系中进行比较的分量必须是</a:t>
            </a:r>
            <a:r>
              <a:rPr lang="zh-CN" altLang="en-US" dirty="0">
                <a:solidFill>
                  <a:srgbClr val="0000CC"/>
                </a:solidFill>
                <a:latin typeface="Arial" panose="020B0604020202020204" pitchFamily="34" charset="0"/>
              </a:rPr>
              <a:t>相同的属性</a:t>
            </a:r>
            <a:endParaRPr lang="zh-CN" altLang="en-US" dirty="0">
              <a:solidFill>
                <a:srgbClr val="0000CC"/>
              </a:solidFill>
              <a:latin typeface="Arial" panose="020B0604020202020204" pitchFamily="34" charset="0"/>
            </a:endParaRPr>
          </a:p>
          <a:p>
            <a:pPr lvl="1" eaLnBrk="1" hangingPunct="1">
              <a:spcBef>
                <a:spcPct val="0"/>
              </a:spcBef>
            </a:pPr>
            <a:r>
              <a:rPr lang="zh-CN" altLang="en-US" dirty="0">
                <a:latin typeface="Arial" panose="020B0604020202020204" pitchFamily="34" charset="0"/>
              </a:rPr>
              <a:t>在结果中</a:t>
            </a:r>
            <a:r>
              <a:rPr lang="zh-CN" altLang="en-US" dirty="0">
                <a:solidFill>
                  <a:srgbClr val="0000CC"/>
                </a:solidFill>
                <a:latin typeface="Arial" panose="020B0604020202020204" pitchFamily="34" charset="0"/>
              </a:rPr>
              <a:t>去掉重复的属性列</a:t>
            </a:r>
            <a:endParaRPr lang="zh-CN" altLang="en-US" dirty="0">
              <a:solidFill>
                <a:srgbClr val="0000CC"/>
              </a:solidFill>
              <a:latin typeface="Arial" panose="020B0604020202020204" pitchFamily="34" charset="0"/>
            </a:endParaRPr>
          </a:p>
          <a:p>
            <a:pPr lvl="1" eaLnBrk="1" hangingPunct="1">
              <a:spcBef>
                <a:spcPct val="0"/>
              </a:spcBef>
            </a:pPr>
            <a:endParaRPr lang="zh-CN" altLang="en-US" sz="2800" dirty="0">
              <a:solidFill>
                <a:srgbClr val="0000CC"/>
              </a:solidFill>
              <a:latin typeface="Arial" panose="020B0604020202020204" pitchFamily="34" charset="0"/>
            </a:endParaRPr>
          </a:p>
          <a:p>
            <a:pPr algn="just" eaLnBrk="1" hangingPunct="1"/>
            <a:r>
              <a:rPr lang="zh-CN" altLang="en-US" dirty="0">
                <a:latin typeface="Arial" panose="020B0604020202020204" pitchFamily="34" charset="0"/>
              </a:rPr>
              <a:t>自然连接的含义</a:t>
            </a:r>
            <a:endParaRPr lang="zh-CN" altLang="en-US" dirty="0">
              <a:latin typeface="Arial" panose="020B0604020202020204" pitchFamily="34" charset="0"/>
            </a:endParaRPr>
          </a:p>
          <a:p>
            <a:pPr algn="just" eaLnBrk="1" hangingPunct="1">
              <a:buNone/>
            </a:pPr>
            <a:r>
              <a:rPr lang="zh-CN" altLang="en-US" dirty="0">
                <a:latin typeface="Arial" panose="020B0604020202020204" pitchFamily="34" charset="0"/>
              </a:rPr>
              <a:t>	 </a:t>
            </a:r>
            <a:r>
              <a:rPr lang="en-US" altLang="zh-CN" sz="3200" dirty="0">
                <a:latin typeface="Arial" panose="020B0604020202020204" pitchFamily="34" charset="0"/>
              </a:rPr>
              <a:t>R</a:t>
            </a:r>
            <a:r>
              <a:rPr lang="zh-CN" altLang="en-US" sz="3200" dirty="0">
                <a:latin typeface="Arial" panose="020B0604020202020204" pitchFamily="34" charset="0"/>
              </a:rPr>
              <a:t>和</a:t>
            </a:r>
            <a:r>
              <a:rPr lang="en-US" altLang="zh-CN" sz="3200" dirty="0">
                <a:latin typeface="Arial" panose="020B0604020202020204" pitchFamily="34" charset="0"/>
              </a:rPr>
              <a:t>S</a:t>
            </a:r>
            <a:r>
              <a:rPr lang="zh-CN" altLang="en-US" sz="3200" dirty="0">
                <a:latin typeface="Arial" panose="020B0604020202020204" pitchFamily="34" charset="0"/>
              </a:rPr>
              <a:t>具有相同的属性</a:t>
            </a:r>
            <a:r>
              <a:rPr lang="en-US" altLang="zh-CN" sz="3200" dirty="0">
                <a:latin typeface="Arial" panose="020B0604020202020204" pitchFamily="34" charset="0"/>
              </a:rPr>
              <a:t>B</a:t>
            </a:r>
            <a:endParaRPr lang="en-US" altLang="zh-CN" sz="3200" dirty="0">
              <a:latin typeface="Arial" panose="020B0604020202020204" pitchFamily="34" charset="0"/>
            </a:endParaRPr>
          </a:p>
          <a:p>
            <a:pPr lvl="1" algn="just" eaLnBrk="1" hangingPunct="1">
              <a:spcBef>
                <a:spcPct val="0"/>
              </a:spcBef>
              <a:buNone/>
            </a:pPr>
            <a:endParaRPr lang="en-US" altLang="zh-CN" sz="2400" dirty="0">
              <a:latin typeface="Arial" panose="020B0604020202020204" pitchFamily="34" charset="0"/>
            </a:endParaRPr>
          </a:p>
          <a:p>
            <a:pPr lvl="1" eaLnBrk="1" hangingPunct="1">
              <a:spcBef>
                <a:spcPct val="0"/>
              </a:spcBef>
              <a:buNone/>
            </a:pPr>
            <a:r>
              <a:rPr lang="en-US" altLang="zh-CN" dirty="0">
                <a:solidFill>
                  <a:srgbClr val="0000CC"/>
                </a:solidFill>
                <a:latin typeface="Arial" panose="020B0604020202020204" pitchFamily="34" charset="0"/>
              </a:rPr>
              <a:t>R     S ={ t</a:t>
            </a:r>
            <a:r>
              <a:rPr lang="en-US" altLang="zh-CN" baseline="-30000" dirty="0">
                <a:solidFill>
                  <a:srgbClr val="0000CC"/>
                </a:solidFill>
                <a:latin typeface="Arial" panose="020B0604020202020204" pitchFamily="34" charset="0"/>
              </a:rPr>
              <a:t>r </a:t>
            </a:r>
            <a:r>
              <a:rPr lang="en-US" altLang="zh-CN" dirty="0">
                <a:solidFill>
                  <a:srgbClr val="0000CC"/>
                </a:solidFill>
                <a:latin typeface="Arial" panose="020B0604020202020204" pitchFamily="34" charset="0"/>
              </a:rPr>
              <a:t>t</a:t>
            </a:r>
            <a:r>
              <a:rPr lang="en-US" altLang="zh-CN" baseline="-30000" dirty="0">
                <a:solidFill>
                  <a:srgbClr val="0000CC"/>
                </a:solidFill>
                <a:latin typeface="Arial" panose="020B0604020202020204" pitchFamily="34" charset="0"/>
              </a:rPr>
              <a:t>s</a:t>
            </a:r>
            <a:r>
              <a:rPr lang="en-US" altLang="zh-CN" dirty="0">
                <a:solidFill>
                  <a:srgbClr val="0000CC"/>
                </a:solidFill>
                <a:latin typeface="Arial" panose="020B0604020202020204" pitchFamily="34" charset="0"/>
              </a:rPr>
              <a:t> | t</a:t>
            </a:r>
            <a:r>
              <a:rPr lang="en-US" altLang="zh-CN" baseline="-30000" dirty="0">
                <a:solidFill>
                  <a:srgbClr val="0000CC"/>
                </a:solidFill>
                <a:latin typeface="Arial" panose="020B0604020202020204" pitchFamily="34" charset="0"/>
              </a:rPr>
              <a:t>r</a:t>
            </a:r>
            <a:r>
              <a:rPr lang="en-US" altLang="zh-CN" dirty="0">
                <a:solidFill>
                  <a:srgbClr val="0000CC"/>
                </a:solidFill>
                <a:latin typeface="Arial" panose="020B0604020202020204" pitchFamily="34" charset="0"/>
                <a:sym typeface="Symbol" panose="05050102010706020507" pitchFamily="18" charset="2"/>
              </a:rPr>
              <a:t></a:t>
            </a:r>
            <a:r>
              <a:rPr lang="en-US" altLang="zh-CN" dirty="0">
                <a:solidFill>
                  <a:srgbClr val="0000CC"/>
                </a:solidFill>
                <a:latin typeface="Arial" panose="020B0604020202020204" pitchFamily="34" charset="0"/>
              </a:rPr>
              <a:t>R∧t</a:t>
            </a:r>
            <a:r>
              <a:rPr lang="en-US" altLang="zh-CN" baseline="-30000" dirty="0">
                <a:solidFill>
                  <a:srgbClr val="0000CC"/>
                </a:solidFill>
                <a:latin typeface="Arial" panose="020B0604020202020204" pitchFamily="34" charset="0"/>
              </a:rPr>
              <a:t>s</a:t>
            </a:r>
            <a:r>
              <a:rPr lang="en-US" altLang="zh-CN" dirty="0">
                <a:solidFill>
                  <a:srgbClr val="0000CC"/>
                </a:solidFill>
                <a:latin typeface="Arial" panose="020B0604020202020204" pitchFamily="34" charset="0"/>
                <a:sym typeface="Symbol" panose="05050102010706020507" pitchFamily="18" charset="2"/>
              </a:rPr>
              <a:t></a:t>
            </a:r>
            <a:r>
              <a:rPr lang="en-US" altLang="zh-CN" dirty="0">
                <a:solidFill>
                  <a:srgbClr val="0000CC"/>
                </a:solidFill>
                <a:latin typeface="Arial" panose="020B0604020202020204" pitchFamily="34" charset="0"/>
              </a:rPr>
              <a:t>S∧t</a:t>
            </a:r>
            <a:r>
              <a:rPr lang="en-US" altLang="zh-CN" baseline="-30000" dirty="0">
                <a:solidFill>
                  <a:srgbClr val="0000CC"/>
                </a:solidFill>
                <a:latin typeface="Arial" panose="020B0604020202020204" pitchFamily="34" charset="0"/>
              </a:rPr>
              <a:t>r</a:t>
            </a:r>
            <a:r>
              <a:rPr lang="en-US" altLang="zh-CN" dirty="0">
                <a:solidFill>
                  <a:srgbClr val="0000CC"/>
                </a:solidFill>
                <a:latin typeface="Arial" panose="020B0604020202020204" pitchFamily="34" charset="0"/>
              </a:rPr>
              <a:t>[B]=t</a:t>
            </a:r>
            <a:r>
              <a:rPr lang="en-US" altLang="zh-CN" baseline="-30000" dirty="0">
                <a:solidFill>
                  <a:srgbClr val="0000CC"/>
                </a:solidFill>
                <a:latin typeface="Arial" panose="020B0604020202020204" pitchFamily="34" charset="0"/>
              </a:rPr>
              <a:t>s</a:t>
            </a:r>
            <a:r>
              <a:rPr lang="en-US" altLang="zh-CN" dirty="0">
                <a:solidFill>
                  <a:srgbClr val="0000CC"/>
                </a:solidFill>
                <a:latin typeface="Arial" panose="020B0604020202020204" pitchFamily="34" charset="0"/>
              </a:rPr>
              <a:t>[B] }</a:t>
            </a:r>
            <a:endParaRPr lang="en-US" altLang="zh-CN" dirty="0">
              <a:solidFill>
                <a:srgbClr val="0000CC"/>
              </a:solidFill>
              <a:latin typeface="Arial" panose="020B0604020202020204" pitchFamily="34" charset="0"/>
            </a:endParaRPr>
          </a:p>
        </p:txBody>
      </p:sp>
      <p:grpSp>
        <p:nvGrpSpPr>
          <p:cNvPr id="65540" name="Group 4"/>
          <p:cNvGrpSpPr/>
          <p:nvPr/>
        </p:nvGrpSpPr>
        <p:grpSpPr>
          <a:xfrm>
            <a:off x="1419225" y="5173663"/>
            <a:ext cx="431800" cy="269875"/>
            <a:chOff x="4320" y="2256"/>
            <a:chExt cx="240" cy="144"/>
          </a:xfrm>
        </p:grpSpPr>
        <p:sp>
          <p:nvSpPr>
            <p:cNvPr id="65542" name="Line 5"/>
            <p:cNvSpPr/>
            <p:nvPr/>
          </p:nvSpPr>
          <p:spPr>
            <a:xfrm>
              <a:off x="4320" y="2256"/>
              <a:ext cx="0" cy="144"/>
            </a:xfrm>
            <a:prstGeom prst="line">
              <a:avLst/>
            </a:prstGeom>
            <a:ln w="38100" cap="flat" cmpd="sng">
              <a:solidFill>
                <a:srgbClr val="0000CC"/>
              </a:solidFill>
              <a:prstDash val="solid"/>
              <a:headEnd type="none" w="med" len="med"/>
              <a:tailEnd type="none" w="med" len="med"/>
            </a:ln>
          </p:spPr>
        </p:sp>
        <p:sp>
          <p:nvSpPr>
            <p:cNvPr id="65543" name="Line 6"/>
            <p:cNvSpPr/>
            <p:nvPr/>
          </p:nvSpPr>
          <p:spPr>
            <a:xfrm>
              <a:off x="4560" y="2256"/>
              <a:ext cx="0" cy="144"/>
            </a:xfrm>
            <a:prstGeom prst="line">
              <a:avLst/>
            </a:prstGeom>
            <a:ln w="38100" cap="flat" cmpd="sng">
              <a:solidFill>
                <a:srgbClr val="0000CC"/>
              </a:solidFill>
              <a:prstDash val="solid"/>
              <a:headEnd type="none" w="med" len="med"/>
              <a:tailEnd type="none" w="med" len="med"/>
            </a:ln>
          </p:spPr>
        </p:sp>
        <p:sp>
          <p:nvSpPr>
            <p:cNvPr id="65544" name="Line 7"/>
            <p:cNvSpPr/>
            <p:nvPr/>
          </p:nvSpPr>
          <p:spPr>
            <a:xfrm>
              <a:off x="4320" y="2256"/>
              <a:ext cx="240" cy="144"/>
            </a:xfrm>
            <a:prstGeom prst="line">
              <a:avLst/>
            </a:prstGeom>
            <a:ln w="38100" cap="flat" cmpd="sng">
              <a:solidFill>
                <a:srgbClr val="0000CC"/>
              </a:solidFill>
              <a:prstDash val="solid"/>
              <a:headEnd type="none" w="med" len="med"/>
              <a:tailEnd type="none" w="med" len="med"/>
            </a:ln>
          </p:spPr>
        </p:sp>
        <p:sp>
          <p:nvSpPr>
            <p:cNvPr id="65545" name="Line 8"/>
            <p:cNvSpPr/>
            <p:nvPr/>
          </p:nvSpPr>
          <p:spPr>
            <a:xfrm flipV="1">
              <a:off x="4320" y="2256"/>
              <a:ext cx="240" cy="144"/>
            </a:xfrm>
            <a:prstGeom prst="line">
              <a:avLst/>
            </a:prstGeom>
            <a:ln w="38100" cap="flat" cmpd="sng">
              <a:solidFill>
                <a:srgbClr val="0000CC"/>
              </a:solidFill>
              <a:prstDash val="solid"/>
              <a:headEnd type="none" w="med" len="med"/>
              <a:tailEnd type="none" w="med" len="med"/>
            </a:ln>
          </p:spPr>
        </p:sp>
      </p:grpSp>
      <p:sp>
        <p:nvSpPr>
          <p:cNvPr id="65541" name="Freeform 9"/>
          <p:cNvSpPr/>
          <p:nvPr/>
        </p:nvSpPr>
        <p:spPr>
          <a:xfrm rot="-1517971">
            <a:off x="2843213" y="4867275"/>
            <a:ext cx="433387" cy="252413"/>
          </a:xfrm>
          <a:custGeom>
            <a:avLst/>
            <a:gdLst>
              <a:gd name="txL" fmla="*/ 0 w 273"/>
              <a:gd name="txT" fmla="*/ 0 h 159"/>
              <a:gd name="txR" fmla="*/ 273 w 273"/>
              <a:gd name="txB" fmla="*/ 159 h 159"/>
            </a:gdLst>
            <a:ahLst/>
            <a:cxnLst>
              <a:cxn ang="0">
                <a:pos x="0" y="2147483647"/>
              </a:cxn>
              <a:cxn ang="0">
                <a:pos x="2147483647" y="2147483647"/>
              </a:cxn>
              <a:cxn ang="0">
                <a:pos x="2147483647" y="2147483647"/>
              </a:cxn>
            </a:cxnLst>
            <a:rect l="txL" t="txT" r="txR" b="txB"/>
            <a:pathLst>
              <a:path w="273" h="159">
                <a:moveTo>
                  <a:pt x="0" y="23"/>
                </a:moveTo>
                <a:cubicBezTo>
                  <a:pt x="68" y="11"/>
                  <a:pt x="136" y="0"/>
                  <a:pt x="182" y="23"/>
                </a:cubicBezTo>
                <a:cubicBezTo>
                  <a:pt x="228" y="46"/>
                  <a:pt x="266" y="136"/>
                  <a:pt x="273" y="159"/>
                </a:cubicBezTo>
              </a:path>
            </a:pathLst>
          </a:custGeom>
          <a:noFill/>
          <a:ln w="38100" cap="flat" cmpd="sng">
            <a:solidFill>
              <a:srgbClr val="0000CC">
                <a:alpha val="100000"/>
              </a:srgbClr>
            </a:solidFill>
            <a:prstDash val="solid"/>
            <a:round/>
            <a:headEnd type="none" w="med" len="med"/>
            <a:tailEnd type="none" w="med" len="med"/>
          </a:ln>
        </p:spPr>
        <p:txBody>
          <a:bodyPr/>
          <a:p>
            <a:endParaRPr lang="zh-CN" altLang="en-US"/>
          </a:p>
        </p:txBody>
      </p:sp>
    </p:spTree>
  </p:cSld>
  <p:clrMapOvr>
    <a:masterClrMapping/>
  </p:clrMapOvr>
  <p:transition>
    <p:random/>
    <p:sndAc>
      <p:stSnd>
        <p:snd r:embed="rId1" name="CAMERA.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2"/>
          <p:cNvSpPr>
            <a:spLocks noGrp="1" noChangeArrowheads="1"/>
          </p:cNvSpPr>
          <p:nvPr>
            <p:ph type="title"/>
          </p:nvPr>
        </p:nvSpPr>
        <p:spPr>
          <a:xfrm>
            <a:off x="107950" y="76200"/>
            <a:ext cx="8351838" cy="6159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自然</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连接</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66563" name="Rectangle 3"/>
          <p:cNvSpPr>
            <a:spLocks noGrp="1"/>
          </p:cNvSpPr>
          <p:nvPr>
            <p:ph type="body" sz="half" idx="1"/>
          </p:nvPr>
        </p:nvSpPr>
        <p:spPr>
          <a:xfrm>
            <a:off x="252413" y="2276475"/>
            <a:ext cx="2016125" cy="1081088"/>
          </a:xfrm>
        </p:spPr>
        <p:txBody>
          <a:bodyPr vert="horz" wrap="square" lIns="91440" tIns="45720" rIns="91440" bIns="45720" anchor="t" anchorCtr="0"/>
          <a:p>
            <a:pPr eaLnBrk="1" hangingPunct="1">
              <a:lnSpc>
                <a:spcPct val="150000"/>
              </a:lnSpc>
              <a:buClr>
                <a:srgbClr val="0000CC"/>
              </a:buClr>
              <a:buSzPct val="70000"/>
              <a:buFont typeface="Wingdings" panose="05000000000000000000" pitchFamily="2" charset="2"/>
              <a:buNone/>
            </a:pPr>
            <a:r>
              <a:rPr lang="en-US" altLang="zh-CN" sz="4000" dirty="0">
                <a:solidFill>
                  <a:srgbClr val="FF0000"/>
                </a:solidFill>
                <a:latin typeface="Arial" panose="020B0604020202020204" pitchFamily="34" charset="0"/>
              </a:rPr>
              <a:t>R      </a:t>
            </a:r>
            <a:r>
              <a:rPr lang="en-US" altLang="zh-CN" sz="4000" baseline="-25000" dirty="0">
                <a:solidFill>
                  <a:srgbClr val="FF0000"/>
                </a:solidFill>
                <a:latin typeface="Arial" panose="020B0604020202020204" pitchFamily="34" charset="0"/>
              </a:rPr>
              <a:t> </a:t>
            </a:r>
            <a:r>
              <a:rPr lang="en-US" altLang="zh-CN" sz="4000" dirty="0">
                <a:solidFill>
                  <a:srgbClr val="FF0000"/>
                </a:solidFill>
                <a:latin typeface="Arial" panose="020B0604020202020204" pitchFamily="34" charset="0"/>
              </a:rPr>
              <a:t>S</a:t>
            </a:r>
            <a:endParaRPr lang="en-US" altLang="zh-CN" sz="4000" dirty="0">
              <a:solidFill>
                <a:srgbClr val="FF0000"/>
              </a:solidFill>
              <a:latin typeface="Arial" panose="020B0604020202020204" pitchFamily="34" charset="0"/>
            </a:endParaRPr>
          </a:p>
        </p:txBody>
      </p:sp>
      <p:sp>
        <p:nvSpPr>
          <p:cNvPr id="66564" name="Text Box 4"/>
          <p:cNvSpPr txBox="1"/>
          <p:nvPr/>
        </p:nvSpPr>
        <p:spPr>
          <a:xfrm>
            <a:off x="3419475" y="188913"/>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R</a:t>
            </a:r>
            <a:endParaRPr lang="en-US" altLang="zh-CN" dirty="0">
              <a:solidFill>
                <a:srgbClr val="FF0000"/>
              </a:solidFill>
              <a:latin typeface="Arial" panose="020B0604020202020204" pitchFamily="34" charset="0"/>
              <a:ea typeface="宋体" panose="02010600030101010101" pitchFamily="2" charset="-122"/>
            </a:endParaRPr>
          </a:p>
        </p:txBody>
      </p:sp>
      <p:sp>
        <p:nvSpPr>
          <p:cNvPr id="66565" name="Text Box 5"/>
          <p:cNvSpPr txBox="1"/>
          <p:nvPr/>
        </p:nvSpPr>
        <p:spPr>
          <a:xfrm>
            <a:off x="6746875" y="260350"/>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S</a:t>
            </a:r>
            <a:endParaRPr lang="en-US" altLang="zh-CN" dirty="0">
              <a:solidFill>
                <a:srgbClr val="FF0000"/>
              </a:solidFill>
              <a:latin typeface="Arial" panose="020B0604020202020204" pitchFamily="34" charset="0"/>
              <a:ea typeface="宋体" panose="02010600030101010101" pitchFamily="2" charset="-122"/>
            </a:endParaRPr>
          </a:p>
        </p:txBody>
      </p:sp>
      <p:grpSp>
        <p:nvGrpSpPr>
          <p:cNvPr id="66566" name="Group 6"/>
          <p:cNvGrpSpPr/>
          <p:nvPr/>
        </p:nvGrpSpPr>
        <p:grpSpPr>
          <a:xfrm>
            <a:off x="901700" y="2736850"/>
            <a:ext cx="574675" cy="358775"/>
            <a:chOff x="4320" y="2256"/>
            <a:chExt cx="240" cy="144"/>
          </a:xfrm>
        </p:grpSpPr>
        <p:sp>
          <p:nvSpPr>
            <p:cNvPr id="66648" name="Line 7"/>
            <p:cNvSpPr/>
            <p:nvPr/>
          </p:nvSpPr>
          <p:spPr>
            <a:xfrm>
              <a:off x="4320" y="2256"/>
              <a:ext cx="0" cy="144"/>
            </a:xfrm>
            <a:prstGeom prst="line">
              <a:avLst/>
            </a:prstGeom>
            <a:ln w="38100" cap="flat" cmpd="sng">
              <a:solidFill>
                <a:srgbClr val="FF0000"/>
              </a:solidFill>
              <a:prstDash val="solid"/>
              <a:headEnd type="none" w="med" len="med"/>
              <a:tailEnd type="none" w="med" len="med"/>
            </a:ln>
          </p:spPr>
        </p:sp>
        <p:sp>
          <p:nvSpPr>
            <p:cNvPr id="66649" name="Line 8"/>
            <p:cNvSpPr/>
            <p:nvPr/>
          </p:nvSpPr>
          <p:spPr>
            <a:xfrm>
              <a:off x="4560" y="2256"/>
              <a:ext cx="0" cy="144"/>
            </a:xfrm>
            <a:prstGeom prst="line">
              <a:avLst/>
            </a:prstGeom>
            <a:ln w="38100" cap="flat" cmpd="sng">
              <a:solidFill>
                <a:srgbClr val="FF0000"/>
              </a:solidFill>
              <a:prstDash val="solid"/>
              <a:headEnd type="none" w="med" len="med"/>
              <a:tailEnd type="none" w="med" len="med"/>
            </a:ln>
          </p:spPr>
        </p:sp>
        <p:sp>
          <p:nvSpPr>
            <p:cNvPr id="66650" name="Line 9"/>
            <p:cNvSpPr/>
            <p:nvPr/>
          </p:nvSpPr>
          <p:spPr>
            <a:xfrm>
              <a:off x="4320" y="2256"/>
              <a:ext cx="240" cy="144"/>
            </a:xfrm>
            <a:prstGeom prst="line">
              <a:avLst/>
            </a:prstGeom>
            <a:ln w="38100" cap="flat" cmpd="sng">
              <a:solidFill>
                <a:srgbClr val="FF0000"/>
              </a:solidFill>
              <a:prstDash val="solid"/>
              <a:headEnd type="none" w="med" len="med"/>
              <a:tailEnd type="none" w="med" len="med"/>
            </a:ln>
          </p:spPr>
        </p:sp>
        <p:sp>
          <p:nvSpPr>
            <p:cNvPr id="66651" name="Line 10"/>
            <p:cNvSpPr/>
            <p:nvPr/>
          </p:nvSpPr>
          <p:spPr>
            <a:xfrm flipV="1">
              <a:off x="4320" y="2256"/>
              <a:ext cx="240" cy="144"/>
            </a:xfrm>
            <a:prstGeom prst="line">
              <a:avLst/>
            </a:prstGeom>
            <a:ln w="38100" cap="flat" cmpd="sng">
              <a:solidFill>
                <a:srgbClr val="FF0000"/>
              </a:solidFill>
              <a:prstDash val="solid"/>
              <a:headEnd type="none" w="med" len="med"/>
              <a:tailEnd type="none" w="med" len="med"/>
            </a:ln>
          </p:spPr>
        </p:sp>
      </p:grpSp>
      <p:graphicFrame>
        <p:nvGraphicFramePr>
          <p:cNvPr id="234507" name="Group 11"/>
          <p:cNvGraphicFramePr>
            <a:graphicFrameLocks noGrp="1"/>
          </p:cNvGraphicFramePr>
          <p:nvPr>
            <p:ph sz="half" idx="1"/>
          </p:nvPr>
        </p:nvGraphicFramePr>
        <p:xfrm>
          <a:off x="3925888" y="333375"/>
          <a:ext cx="2733675" cy="2895600"/>
        </p:xfrm>
        <a:graphic>
          <a:graphicData uri="http://schemas.openxmlformats.org/drawingml/2006/table">
            <a:tbl>
              <a:tblPr/>
              <a:tblGrid>
                <a:gridCol w="911225"/>
                <a:gridCol w="911225"/>
                <a:gridCol w="9112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397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234533" name="Group 37"/>
          <p:cNvGraphicFramePr>
            <a:graphicFrameLocks noGrp="1"/>
          </p:cNvGraphicFramePr>
          <p:nvPr/>
        </p:nvGraphicFramePr>
        <p:xfrm>
          <a:off x="7213600" y="460375"/>
          <a:ext cx="1822450" cy="3479800"/>
        </p:xfrm>
        <a:graphic>
          <a:graphicData uri="http://schemas.openxmlformats.org/drawingml/2006/table">
            <a:tbl>
              <a:tblPr/>
              <a:tblGrid>
                <a:gridCol w="887413"/>
                <a:gridCol w="935037"/>
              </a:tblGrid>
              <a:tr h="4286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234594" name="Group 98"/>
          <p:cNvGraphicFramePr>
            <a:graphicFrameLocks noGrp="1"/>
          </p:cNvGraphicFramePr>
          <p:nvPr/>
        </p:nvGraphicFramePr>
        <p:xfrm>
          <a:off x="395288" y="3341688"/>
          <a:ext cx="3644900" cy="2900363"/>
        </p:xfrm>
        <a:graphic>
          <a:graphicData uri="http://schemas.openxmlformats.org/drawingml/2006/table">
            <a:tbl>
              <a:tblPr/>
              <a:tblGrid>
                <a:gridCol w="911225"/>
                <a:gridCol w="911225"/>
                <a:gridCol w="911225"/>
                <a:gridCol w="9112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5778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5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Rectangle 2"/>
          <p:cNvSpPr>
            <a:spLocks noGrp="1" noChangeArrowheads="1"/>
          </p:cNvSpPr>
          <p:nvPr>
            <p:ph type="title"/>
          </p:nvPr>
        </p:nvSpPr>
        <p:spPr>
          <a:xfrm>
            <a:off x="107950" y="115888"/>
            <a:ext cx="8659813" cy="50323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自然</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连接运算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rPr>
              <a:t>应用举例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283651" name="Rectangle 3"/>
          <p:cNvSpPr>
            <a:spLocks noGrp="1"/>
          </p:cNvSpPr>
          <p:nvPr>
            <p:ph idx="1"/>
          </p:nvPr>
        </p:nvSpPr>
        <p:spPr>
          <a:xfrm>
            <a:off x="152400" y="3068638"/>
            <a:ext cx="8848725" cy="2901950"/>
          </a:xfrm>
        </p:spPr>
        <p:txBody>
          <a:bodyPr vert="horz" wrap="square" lIns="91440" tIns="45720" rIns="91440" bIns="45720" anchor="t" anchorCtr="0"/>
          <a:p>
            <a:pPr eaLnBrk="1" hangingPunct="1"/>
            <a:r>
              <a:rPr lang="zh-CN" altLang="en-US" dirty="0">
                <a:latin typeface="Arial" panose="020B0604020202020204" pitchFamily="34" charset="0"/>
              </a:rPr>
              <a:t>查询所有学生的基本信息、所修课程号及成绩。</a:t>
            </a:r>
            <a:endParaRPr lang="zh-CN" altLang="en-US" dirty="0">
              <a:latin typeface="Arial" panose="020B0604020202020204" pitchFamily="34" charset="0"/>
            </a:endParaRPr>
          </a:p>
          <a:p>
            <a:pPr eaLnBrk="1" hangingPunct="1">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sym typeface="Symbol" panose="05050102010706020507" pitchFamily="18" charset="2"/>
              </a:rPr>
              <a:t>S      </a:t>
            </a:r>
            <a:r>
              <a:rPr lang="en-US" altLang="zh-CN" dirty="0">
                <a:solidFill>
                  <a:srgbClr val="0000CC"/>
                </a:solidFill>
                <a:latin typeface="Arial" panose="020B0604020202020204" pitchFamily="34" charset="0"/>
                <a:cs typeface="Tahoma" panose="020B0604030504040204" pitchFamily="34" charset="0"/>
              </a:rPr>
              <a:t>SC</a:t>
            </a:r>
            <a:r>
              <a:rPr lang="en-US" altLang="zh-CN" dirty="0">
                <a:latin typeface="Arial" panose="020B0604020202020204" pitchFamily="34" charset="0"/>
              </a:rPr>
              <a:t> </a:t>
            </a:r>
            <a:endParaRPr lang="en-US" altLang="zh-CN" dirty="0">
              <a:latin typeface="Arial" panose="020B0604020202020204" pitchFamily="34" charset="0"/>
            </a:endParaRPr>
          </a:p>
          <a:p>
            <a:pPr eaLnBrk="1" hangingPunct="1">
              <a:spcBef>
                <a:spcPct val="20000"/>
              </a:spcBef>
              <a:buNone/>
            </a:pPr>
            <a:r>
              <a:rPr lang="en-US" altLang="zh-CN" dirty="0">
                <a:latin typeface="Arial" panose="020B0604020202020204" pitchFamily="34" charset="0"/>
              </a:rPr>
              <a:t>      (Sno,Sname,Ssex,Sage,Cno,Score)</a:t>
            </a:r>
            <a:endParaRPr lang="en-US" altLang="zh-CN" dirty="0">
              <a:latin typeface="Arial" panose="020B0604020202020204" pitchFamily="34" charset="0"/>
            </a:endParaRPr>
          </a:p>
        </p:txBody>
      </p:sp>
      <p:grpSp>
        <p:nvGrpSpPr>
          <p:cNvPr id="2" name="Group 14"/>
          <p:cNvGrpSpPr/>
          <p:nvPr/>
        </p:nvGrpSpPr>
        <p:grpSpPr>
          <a:xfrm>
            <a:off x="2628900" y="4333875"/>
            <a:ext cx="574675" cy="358775"/>
            <a:chOff x="4320" y="2256"/>
            <a:chExt cx="240" cy="144"/>
          </a:xfrm>
        </p:grpSpPr>
        <p:sp>
          <p:nvSpPr>
            <p:cNvPr id="67600" name="Line 15"/>
            <p:cNvSpPr/>
            <p:nvPr/>
          </p:nvSpPr>
          <p:spPr>
            <a:xfrm>
              <a:off x="4320" y="2256"/>
              <a:ext cx="0" cy="144"/>
            </a:xfrm>
            <a:prstGeom prst="line">
              <a:avLst/>
            </a:prstGeom>
            <a:ln w="38100" cap="flat" cmpd="sng">
              <a:solidFill>
                <a:srgbClr val="0000CC"/>
              </a:solidFill>
              <a:prstDash val="solid"/>
              <a:headEnd type="none" w="med" len="med"/>
              <a:tailEnd type="none" w="med" len="med"/>
            </a:ln>
          </p:spPr>
        </p:sp>
        <p:sp>
          <p:nvSpPr>
            <p:cNvPr id="67601" name="Line 16"/>
            <p:cNvSpPr/>
            <p:nvPr/>
          </p:nvSpPr>
          <p:spPr>
            <a:xfrm>
              <a:off x="4560" y="2256"/>
              <a:ext cx="0" cy="144"/>
            </a:xfrm>
            <a:prstGeom prst="line">
              <a:avLst/>
            </a:prstGeom>
            <a:ln w="38100" cap="flat" cmpd="sng">
              <a:solidFill>
                <a:srgbClr val="0000CC"/>
              </a:solidFill>
              <a:prstDash val="solid"/>
              <a:headEnd type="none" w="med" len="med"/>
              <a:tailEnd type="none" w="med" len="med"/>
            </a:ln>
          </p:spPr>
        </p:sp>
        <p:sp>
          <p:nvSpPr>
            <p:cNvPr id="67602" name="Line 17"/>
            <p:cNvSpPr/>
            <p:nvPr/>
          </p:nvSpPr>
          <p:spPr>
            <a:xfrm>
              <a:off x="4320" y="2256"/>
              <a:ext cx="240" cy="144"/>
            </a:xfrm>
            <a:prstGeom prst="line">
              <a:avLst/>
            </a:prstGeom>
            <a:ln w="38100" cap="flat" cmpd="sng">
              <a:solidFill>
                <a:srgbClr val="0000CC"/>
              </a:solidFill>
              <a:prstDash val="solid"/>
              <a:headEnd type="none" w="med" len="med"/>
              <a:tailEnd type="none" w="med" len="med"/>
            </a:ln>
          </p:spPr>
        </p:sp>
        <p:sp>
          <p:nvSpPr>
            <p:cNvPr id="67603" name="Line 18"/>
            <p:cNvSpPr/>
            <p:nvPr/>
          </p:nvSpPr>
          <p:spPr>
            <a:xfrm flipV="1">
              <a:off x="4320" y="2256"/>
              <a:ext cx="240" cy="144"/>
            </a:xfrm>
            <a:prstGeom prst="line">
              <a:avLst/>
            </a:prstGeom>
            <a:ln w="38100" cap="flat" cmpd="sng">
              <a:solidFill>
                <a:srgbClr val="0000CC"/>
              </a:solidFill>
              <a:prstDash val="solid"/>
              <a:headEnd type="none" w="med" len="med"/>
              <a:tailEnd type="none" w="med" len="med"/>
            </a:ln>
          </p:spPr>
        </p:sp>
      </p:grpSp>
      <p:sp>
        <p:nvSpPr>
          <p:cNvPr id="283667" name="AutoShape 19">
            <a:hlinkClick r:id="rId1" action="ppaction://hlinksldjump"/>
          </p:cNvPr>
          <p:cNvSpPr>
            <a:spLocks noChangeArrowheads="1"/>
          </p:cNvSpPr>
          <p:nvPr/>
        </p:nvSpPr>
        <p:spPr bwMode="auto">
          <a:xfrm>
            <a:off x="8099425"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67590" name="Group 20"/>
          <p:cNvGrpSpPr/>
          <p:nvPr/>
        </p:nvGrpSpPr>
        <p:grpSpPr>
          <a:xfrm>
            <a:off x="684213" y="1290638"/>
            <a:ext cx="8135937" cy="1490662"/>
            <a:chOff x="431" y="868"/>
            <a:chExt cx="5125" cy="939"/>
          </a:xfrm>
        </p:grpSpPr>
        <p:sp>
          <p:nvSpPr>
            <p:cNvPr id="67591" name="Text Box 21"/>
            <p:cNvSpPr txBox="1"/>
            <p:nvPr/>
          </p:nvSpPr>
          <p:spPr>
            <a:xfrm>
              <a:off x="2110" y="882"/>
              <a:ext cx="888"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Sno</a:t>
              </a:r>
              <a:endParaRPr lang="en-US" altLang="zh-CN" sz="3200" dirty="0">
                <a:latin typeface="Arial" panose="020B0604020202020204" pitchFamily="34" charset="0"/>
              </a:endParaRPr>
            </a:p>
          </p:txBody>
        </p:sp>
        <p:sp>
          <p:nvSpPr>
            <p:cNvPr id="67592" name="Text Box 22"/>
            <p:cNvSpPr txBox="1"/>
            <p:nvPr/>
          </p:nvSpPr>
          <p:spPr>
            <a:xfrm>
              <a:off x="2998" y="882"/>
              <a:ext cx="1016"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Sname</a:t>
              </a:r>
              <a:endParaRPr lang="en-US" altLang="zh-CN" sz="3200" dirty="0">
                <a:latin typeface="Arial" panose="020B0604020202020204" pitchFamily="34" charset="0"/>
              </a:endParaRPr>
            </a:p>
          </p:txBody>
        </p:sp>
        <p:sp>
          <p:nvSpPr>
            <p:cNvPr id="67593" name="Text Box 23"/>
            <p:cNvSpPr txBox="1"/>
            <p:nvPr/>
          </p:nvSpPr>
          <p:spPr>
            <a:xfrm>
              <a:off x="4015" y="882"/>
              <a:ext cx="770"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Ssex</a:t>
              </a:r>
              <a:endParaRPr lang="en-US" altLang="zh-CN" sz="3200" dirty="0">
                <a:latin typeface="Arial" panose="020B0604020202020204" pitchFamily="34" charset="0"/>
              </a:endParaRPr>
            </a:p>
          </p:txBody>
        </p:sp>
        <p:sp>
          <p:nvSpPr>
            <p:cNvPr id="67594" name="Text Box 24"/>
            <p:cNvSpPr txBox="1"/>
            <p:nvPr/>
          </p:nvSpPr>
          <p:spPr>
            <a:xfrm>
              <a:off x="4785" y="882"/>
              <a:ext cx="771"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Sage</a:t>
              </a:r>
              <a:endParaRPr lang="en-US" altLang="zh-CN" sz="3200" dirty="0">
                <a:latin typeface="Arial" panose="020B0604020202020204" pitchFamily="34" charset="0"/>
              </a:endParaRPr>
            </a:p>
          </p:txBody>
        </p:sp>
        <p:sp>
          <p:nvSpPr>
            <p:cNvPr id="67595" name="Text Box 25"/>
            <p:cNvSpPr txBox="1"/>
            <p:nvPr/>
          </p:nvSpPr>
          <p:spPr>
            <a:xfrm>
              <a:off x="558" y="868"/>
              <a:ext cx="1397" cy="307"/>
            </a:xfrm>
            <a:prstGeom prst="rect">
              <a:avLst/>
            </a:prstGeom>
            <a:noFill/>
            <a:ln w="28575">
              <a:noFill/>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r" eaLnBrk="1" hangingPunct="1">
                <a:buClrTx/>
                <a:buSzTx/>
                <a:buFontTx/>
                <a:buNone/>
              </a:pPr>
              <a:r>
                <a:rPr lang="zh-CN" altLang="en-US" sz="3200" dirty="0">
                  <a:solidFill>
                    <a:srgbClr val="0000FF"/>
                  </a:solidFill>
                  <a:latin typeface="Arial" panose="020B0604020202020204" pitchFamily="34" charset="0"/>
                </a:rPr>
                <a:t>学生关系</a:t>
              </a:r>
              <a:r>
                <a:rPr lang="en-US" altLang="zh-CN" sz="3200" dirty="0">
                  <a:solidFill>
                    <a:srgbClr val="0000FF"/>
                  </a:solidFill>
                  <a:latin typeface="Arial" panose="020B0604020202020204" pitchFamily="34" charset="0"/>
                </a:rPr>
                <a:t>S</a:t>
              </a:r>
              <a:endParaRPr lang="en-US" altLang="zh-CN" sz="3200" dirty="0">
                <a:solidFill>
                  <a:srgbClr val="0000FF"/>
                </a:solidFill>
                <a:latin typeface="Arial" panose="020B0604020202020204" pitchFamily="34" charset="0"/>
              </a:endParaRPr>
            </a:p>
          </p:txBody>
        </p:sp>
        <p:sp>
          <p:nvSpPr>
            <p:cNvPr id="67596" name="Text Box 26"/>
            <p:cNvSpPr txBox="1"/>
            <p:nvPr/>
          </p:nvSpPr>
          <p:spPr>
            <a:xfrm>
              <a:off x="2110" y="1482"/>
              <a:ext cx="889"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Sno</a:t>
              </a:r>
              <a:endParaRPr lang="en-US" altLang="zh-CN" sz="3200" dirty="0">
                <a:latin typeface="Arial" panose="020B0604020202020204" pitchFamily="34" charset="0"/>
              </a:endParaRPr>
            </a:p>
          </p:txBody>
        </p:sp>
        <p:sp>
          <p:nvSpPr>
            <p:cNvPr id="67597" name="Text Box 27"/>
            <p:cNvSpPr txBox="1"/>
            <p:nvPr/>
          </p:nvSpPr>
          <p:spPr>
            <a:xfrm>
              <a:off x="431" y="1468"/>
              <a:ext cx="1524" cy="307"/>
            </a:xfrm>
            <a:prstGeom prst="rect">
              <a:avLst/>
            </a:prstGeom>
            <a:noFill/>
            <a:ln w="28575">
              <a:noFill/>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r" eaLnBrk="1" hangingPunct="1">
                <a:buClrTx/>
                <a:buSzTx/>
                <a:buFontTx/>
                <a:buNone/>
              </a:pPr>
              <a:r>
                <a:rPr lang="zh-CN" altLang="en-US" sz="3200" dirty="0">
                  <a:solidFill>
                    <a:srgbClr val="0000FF"/>
                  </a:solidFill>
                  <a:latin typeface="Arial" panose="020B0604020202020204" pitchFamily="34" charset="0"/>
                </a:rPr>
                <a:t>选课关系</a:t>
              </a:r>
              <a:r>
                <a:rPr lang="en-US" altLang="zh-CN" sz="3200" dirty="0">
                  <a:solidFill>
                    <a:srgbClr val="0000FF"/>
                  </a:solidFill>
                  <a:latin typeface="Arial" panose="020B0604020202020204" pitchFamily="34" charset="0"/>
                </a:rPr>
                <a:t>SC</a:t>
              </a:r>
              <a:endParaRPr lang="en-US" altLang="zh-CN" sz="3200" dirty="0">
                <a:solidFill>
                  <a:srgbClr val="0000FF"/>
                </a:solidFill>
                <a:latin typeface="Arial" panose="020B0604020202020204" pitchFamily="34" charset="0"/>
              </a:endParaRPr>
            </a:p>
          </p:txBody>
        </p:sp>
        <p:sp>
          <p:nvSpPr>
            <p:cNvPr id="67598" name="Text Box 28"/>
            <p:cNvSpPr txBox="1"/>
            <p:nvPr/>
          </p:nvSpPr>
          <p:spPr>
            <a:xfrm>
              <a:off x="2999" y="1480"/>
              <a:ext cx="889"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Cno</a:t>
              </a:r>
              <a:endParaRPr lang="en-US" altLang="zh-CN" sz="3200" dirty="0">
                <a:latin typeface="Arial" panose="020B0604020202020204" pitchFamily="34" charset="0"/>
              </a:endParaRPr>
            </a:p>
          </p:txBody>
        </p:sp>
        <p:sp>
          <p:nvSpPr>
            <p:cNvPr id="67599" name="Text Box 29"/>
            <p:cNvSpPr txBox="1"/>
            <p:nvPr/>
          </p:nvSpPr>
          <p:spPr>
            <a:xfrm>
              <a:off x="3886" y="1480"/>
              <a:ext cx="1090" cy="325"/>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2"/>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3"/>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Score</a:t>
              </a:r>
              <a:endParaRPr lang="en-US" altLang="zh-CN" sz="3200" dirty="0">
                <a:latin typeface="Arial" panose="020B0604020202020204" pitchFamily="34" charset="0"/>
              </a:endParaRPr>
            </a:p>
          </p:txBody>
        </p:sp>
      </p:grpSp>
    </p:spTree>
  </p:cSld>
  <p:clrMapOvr>
    <a:masterClrMapping/>
  </p:clrMapOvr>
  <p:transition>
    <p:random/>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3651">
                                            <p:txEl>
                                              <p:charRg st="22" end="48"/>
                                            </p:txEl>
                                          </p:spTgt>
                                        </p:tgtEl>
                                        <p:attrNameLst>
                                          <p:attrName>style.visibility</p:attrName>
                                        </p:attrNameLst>
                                      </p:cBhvr>
                                      <p:to>
                                        <p:strVal val="visible"/>
                                      </p:to>
                                    </p:set>
                                    <p:anim calcmode="lin" valueType="num">
                                      <p:cBhvr additive="base">
                                        <p:cTn id="7" dur="500" fill="hold"/>
                                        <p:tgtEl>
                                          <p:spTgt spid="283651">
                                            <p:txEl>
                                              <p:charRg st="22" end="4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3651">
                                            <p:txEl>
                                              <p:charRg st="22" end="4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83651">
                                            <p:txEl>
                                              <p:charRg st="48" end="86"/>
                                            </p:txEl>
                                          </p:spTgt>
                                        </p:tgtEl>
                                        <p:attrNameLst>
                                          <p:attrName>style.visibility</p:attrName>
                                        </p:attrNameLst>
                                      </p:cBhvr>
                                      <p:to>
                                        <p:strVal val="visible"/>
                                      </p:to>
                                    </p:set>
                                    <p:anim calcmode="lin" valueType="num">
                                      <p:cBhvr additive="base">
                                        <p:cTn id="15" dur="500" fill="hold"/>
                                        <p:tgtEl>
                                          <p:spTgt spid="283651">
                                            <p:txEl>
                                              <p:charRg st="48" end="8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83651">
                                            <p:txEl>
                                              <p:charRg st="48" end="8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68611" name="Rectangle 27"/>
          <p:cNvSpPr>
            <a:spLocks noGrp="1"/>
          </p:cNvSpPr>
          <p:nvPr>
            <p:ph idx="1"/>
          </p:nvPr>
        </p:nvSpPr>
        <p:spPr>
          <a:xfrm>
            <a:off x="179388" y="4076700"/>
            <a:ext cx="8821737" cy="2305050"/>
          </a:xfrm>
          <a:solidFill>
            <a:srgbClr val="FFFFFF">
              <a:alpha val="100000"/>
            </a:srgbClr>
          </a:solidFill>
        </p:spPr>
        <p:txBody>
          <a:bodyPr vert="horz" wrap="square" lIns="91440" tIns="45720" rIns="91440" bIns="45720" anchor="t" anchorCtr="0"/>
          <a:p>
            <a:pPr marL="685800" indent="-685800" eaLnBrk="1" hangingPunct="1">
              <a:buNone/>
            </a:pPr>
            <a:r>
              <a:rPr lang="en-US" altLang="zh-CN" dirty="0">
                <a:latin typeface="Arial" panose="020B0604020202020204" pitchFamily="34" charset="0"/>
              </a:rPr>
              <a:t>    </a:t>
            </a:r>
            <a:r>
              <a:rPr lang="zh-CN" altLang="en-US" dirty="0">
                <a:latin typeface="Arial" panose="020B0604020202020204" pitchFamily="34" charset="0"/>
              </a:rPr>
              <a:t>设有上图所示的关系</a:t>
            </a:r>
            <a:r>
              <a:rPr lang="en-US" altLang="zh-CN" dirty="0">
                <a:latin typeface="Arial" panose="020B0604020202020204" pitchFamily="34" charset="0"/>
              </a:rPr>
              <a:t>R</a:t>
            </a:r>
            <a:r>
              <a:rPr lang="zh-CN" altLang="en-US" dirty="0">
                <a:latin typeface="Arial" panose="020B0604020202020204" pitchFamily="34" charset="0"/>
              </a:rPr>
              <a:t>和</a:t>
            </a:r>
            <a:r>
              <a:rPr lang="en-US" altLang="zh-CN" dirty="0">
                <a:latin typeface="Arial" panose="020B0604020202020204" pitchFamily="34" charset="0"/>
              </a:rPr>
              <a:t>S</a:t>
            </a:r>
            <a:r>
              <a:rPr lang="zh-CN" altLang="en-US" dirty="0">
                <a:latin typeface="Arial" panose="020B0604020202020204" pitchFamily="34" charset="0"/>
              </a:rPr>
              <a:t>，计算：</a:t>
            </a:r>
            <a:endParaRPr lang="zh-CN" altLang="en-US" dirty="0">
              <a:latin typeface="Arial" panose="020B0604020202020204" pitchFamily="34" charset="0"/>
            </a:endParaRPr>
          </a:p>
          <a:p>
            <a:pPr marL="685800" indent="-685800" eaLnBrk="1" hangingPunct="1">
              <a:buNone/>
            </a:pPr>
            <a:r>
              <a:rPr lang="zh-CN" altLang="en-US" dirty="0">
                <a:latin typeface="Arial" panose="020B0604020202020204" pitchFamily="34" charset="0"/>
              </a:rPr>
              <a:t>               </a:t>
            </a:r>
            <a:r>
              <a:rPr lang="en-US" altLang="zh-CN" dirty="0">
                <a:latin typeface="Arial" panose="020B0604020202020204" pitchFamily="34" charset="0"/>
              </a:rPr>
              <a:t>(1) </a:t>
            </a:r>
            <a:r>
              <a:rPr lang="en-US" altLang="zh-CN" dirty="0">
                <a:latin typeface="Arial" panose="020B0604020202020204" pitchFamily="34" charset="0"/>
                <a:sym typeface="Symbol" panose="05050102010706020507" pitchFamily="18" charset="2"/>
              </a:rPr>
              <a:t>R      </a:t>
            </a:r>
            <a:r>
              <a:rPr lang="en-US" altLang="zh-CN" baseline="-25000" dirty="0">
                <a:latin typeface="Arial" panose="020B0604020202020204" pitchFamily="34" charset="0"/>
                <a:sym typeface="Symbol" panose="05050102010706020507" pitchFamily="18" charset="2"/>
              </a:rPr>
              <a:t>B&lt;D</a:t>
            </a:r>
            <a:r>
              <a:rPr lang="en-US" altLang="zh-CN" dirty="0">
                <a:latin typeface="Arial" panose="020B0604020202020204" pitchFamily="34" charset="0"/>
              </a:rPr>
              <a:t>S</a:t>
            </a:r>
            <a:endParaRPr lang="en-US" altLang="zh-CN" dirty="0">
              <a:latin typeface="Arial" panose="020B0604020202020204" pitchFamily="34" charset="0"/>
            </a:endParaRPr>
          </a:p>
          <a:p>
            <a:pPr marL="685800" indent="-685800" eaLnBrk="1" hangingPunct="1">
              <a:buNone/>
            </a:pPr>
            <a:r>
              <a:rPr lang="en-US" altLang="zh-CN" dirty="0">
                <a:latin typeface="Arial" panose="020B0604020202020204" pitchFamily="34" charset="0"/>
              </a:rPr>
              <a:t>               (2) R      S</a:t>
            </a:r>
            <a:endParaRPr lang="en-US" altLang="zh-CN" dirty="0">
              <a:latin typeface="Arial" panose="020B0604020202020204" pitchFamily="34" charset="0"/>
            </a:endParaRPr>
          </a:p>
          <a:p>
            <a:pPr marL="685800" indent="-685800" eaLnBrk="1" hangingPunct="1">
              <a:buNone/>
            </a:pPr>
            <a:r>
              <a:rPr lang="en-US" altLang="zh-CN" dirty="0">
                <a:latin typeface="Arial" panose="020B0604020202020204" pitchFamily="34" charset="0"/>
              </a:rPr>
              <a:t>               (3) </a:t>
            </a:r>
            <a:r>
              <a:rPr lang="en-US" altLang="zh-CN" dirty="0">
                <a:sym typeface="Symbol" panose="05050102010706020507" pitchFamily="18" charset="2"/>
              </a:rPr>
              <a:t></a:t>
            </a:r>
            <a:r>
              <a:rPr lang="en-US" altLang="zh-CN" dirty="0">
                <a:latin typeface="Arial" panose="020B0604020202020204" pitchFamily="34" charset="0"/>
              </a:rPr>
              <a:t> </a:t>
            </a:r>
            <a:r>
              <a:rPr lang="en-US" altLang="zh-CN" baseline="-25000" dirty="0">
                <a:latin typeface="Arial" panose="020B0604020202020204" pitchFamily="34" charset="0"/>
              </a:rPr>
              <a:t>B=D </a:t>
            </a:r>
            <a:r>
              <a:rPr lang="en-US" altLang="zh-CN" dirty="0">
                <a:latin typeface="Arial" panose="020B0604020202020204" pitchFamily="34" charset="0"/>
              </a:rPr>
              <a:t>(R</a:t>
            </a:r>
            <a:r>
              <a:rPr lang="en-US" altLang="zh-CN" dirty="0"/>
              <a:t>×</a:t>
            </a:r>
            <a:r>
              <a:rPr lang="en-US" altLang="zh-CN" dirty="0">
                <a:latin typeface="Arial" panose="020B0604020202020204" pitchFamily="34" charset="0"/>
              </a:rPr>
              <a:t>S)</a:t>
            </a:r>
            <a:endParaRPr lang="en-US" altLang="zh-CN" dirty="0">
              <a:latin typeface="Arial" panose="020B0604020202020204" pitchFamily="34" charset="0"/>
            </a:endParaRPr>
          </a:p>
        </p:txBody>
      </p:sp>
      <p:sp>
        <p:nvSpPr>
          <p:cNvPr id="68612" name="Text Box 28"/>
          <p:cNvSpPr txBox="1"/>
          <p:nvPr/>
        </p:nvSpPr>
        <p:spPr>
          <a:xfrm>
            <a:off x="685800" y="996950"/>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68613" name="Text Box 29"/>
          <p:cNvSpPr txBox="1"/>
          <p:nvPr/>
        </p:nvSpPr>
        <p:spPr>
          <a:xfrm>
            <a:off x="4500563" y="981075"/>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117850" name="Group 90"/>
          <p:cNvGraphicFramePr>
            <a:graphicFrameLocks noGrp="1"/>
          </p:cNvGraphicFramePr>
          <p:nvPr/>
        </p:nvGraphicFramePr>
        <p:xfrm>
          <a:off x="1335088" y="1014413"/>
          <a:ext cx="2160588" cy="2895600"/>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38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02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117848" name="Group 88"/>
          <p:cNvGraphicFramePr>
            <a:graphicFrameLocks noGrp="1"/>
          </p:cNvGraphicFramePr>
          <p:nvPr/>
        </p:nvGraphicFramePr>
        <p:xfrm>
          <a:off x="5148263" y="1014413"/>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pSp>
        <p:nvGrpSpPr>
          <p:cNvPr id="68658" name="Group 77"/>
          <p:cNvGrpSpPr/>
          <p:nvPr/>
        </p:nvGrpSpPr>
        <p:grpSpPr>
          <a:xfrm>
            <a:off x="3268663" y="4797425"/>
            <a:ext cx="574675" cy="358775"/>
            <a:chOff x="4320" y="2256"/>
            <a:chExt cx="240" cy="144"/>
          </a:xfrm>
        </p:grpSpPr>
        <p:sp>
          <p:nvSpPr>
            <p:cNvPr id="68664" name="Line 78"/>
            <p:cNvSpPr/>
            <p:nvPr/>
          </p:nvSpPr>
          <p:spPr>
            <a:xfrm>
              <a:off x="4320" y="2256"/>
              <a:ext cx="0" cy="144"/>
            </a:xfrm>
            <a:prstGeom prst="line">
              <a:avLst/>
            </a:prstGeom>
            <a:ln w="38100" cap="flat" cmpd="sng">
              <a:solidFill>
                <a:srgbClr val="000000"/>
              </a:solidFill>
              <a:prstDash val="solid"/>
              <a:headEnd type="none" w="med" len="med"/>
              <a:tailEnd type="none" w="med" len="med"/>
            </a:ln>
          </p:spPr>
        </p:sp>
        <p:sp>
          <p:nvSpPr>
            <p:cNvPr id="68665" name="Line 79"/>
            <p:cNvSpPr/>
            <p:nvPr/>
          </p:nvSpPr>
          <p:spPr>
            <a:xfrm>
              <a:off x="4560" y="2256"/>
              <a:ext cx="0" cy="144"/>
            </a:xfrm>
            <a:prstGeom prst="line">
              <a:avLst/>
            </a:prstGeom>
            <a:ln w="38100" cap="flat" cmpd="sng">
              <a:solidFill>
                <a:srgbClr val="000000"/>
              </a:solidFill>
              <a:prstDash val="solid"/>
              <a:headEnd type="none" w="med" len="med"/>
              <a:tailEnd type="none" w="med" len="med"/>
            </a:ln>
          </p:spPr>
        </p:sp>
        <p:sp>
          <p:nvSpPr>
            <p:cNvPr id="68666" name="Line 80"/>
            <p:cNvSpPr/>
            <p:nvPr/>
          </p:nvSpPr>
          <p:spPr>
            <a:xfrm>
              <a:off x="4320" y="2256"/>
              <a:ext cx="240" cy="144"/>
            </a:xfrm>
            <a:prstGeom prst="line">
              <a:avLst/>
            </a:prstGeom>
            <a:ln w="38100" cap="flat" cmpd="sng">
              <a:solidFill>
                <a:srgbClr val="000000"/>
              </a:solidFill>
              <a:prstDash val="solid"/>
              <a:headEnd type="none" w="med" len="med"/>
              <a:tailEnd type="none" w="med" len="med"/>
            </a:ln>
          </p:spPr>
        </p:sp>
        <p:sp>
          <p:nvSpPr>
            <p:cNvPr id="68667" name="Line 81"/>
            <p:cNvSpPr/>
            <p:nvPr/>
          </p:nvSpPr>
          <p:spPr>
            <a:xfrm flipV="1">
              <a:off x="4320" y="2256"/>
              <a:ext cx="240" cy="144"/>
            </a:xfrm>
            <a:prstGeom prst="line">
              <a:avLst/>
            </a:prstGeom>
            <a:ln w="38100" cap="flat" cmpd="sng">
              <a:solidFill>
                <a:srgbClr val="000000"/>
              </a:solidFill>
              <a:prstDash val="solid"/>
              <a:headEnd type="none" w="med" len="med"/>
              <a:tailEnd type="none" w="med" len="med"/>
            </a:ln>
          </p:spPr>
        </p:sp>
      </p:grpSp>
      <p:grpSp>
        <p:nvGrpSpPr>
          <p:cNvPr id="68659" name="Group 82"/>
          <p:cNvGrpSpPr/>
          <p:nvPr/>
        </p:nvGrpSpPr>
        <p:grpSpPr>
          <a:xfrm>
            <a:off x="3276600" y="5302250"/>
            <a:ext cx="574675" cy="358775"/>
            <a:chOff x="4320" y="2256"/>
            <a:chExt cx="240" cy="144"/>
          </a:xfrm>
        </p:grpSpPr>
        <p:sp>
          <p:nvSpPr>
            <p:cNvPr id="68660" name="Line 83"/>
            <p:cNvSpPr/>
            <p:nvPr/>
          </p:nvSpPr>
          <p:spPr>
            <a:xfrm>
              <a:off x="4320" y="2256"/>
              <a:ext cx="0" cy="144"/>
            </a:xfrm>
            <a:prstGeom prst="line">
              <a:avLst/>
            </a:prstGeom>
            <a:ln w="38100" cap="flat" cmpd="sng">
              <a:solidFill>
                <a:srgbClr val="000000"/>
              </a:solidFill>
              <a:prstDash val="solid"/>
              <a:headEnd type="none" w="med" len="med"/>
              <a:tailEnd type="none" w="med" len="med"/>
            </a:ln>
          </p:spPr>
        </p:sp>
        <p:sp>
          <p:nvSpPr>
            <p:cNvPr id="68661" name="Line 84"/>
            <p:cNvSpPr/>
            <p:nvPr/>
          </p:nvSpPr>
          <p:spPr>
            <a:xfrm>
              <a:off x="4560" y="2256"/>
              <a:ext cx="0" cy="144"/>
            </a:xfrm>
            <a:prstGeom prst="line">
              <a:avLst/>
            </a:prstGeom>
            <a:ln w="38100" cap="flat" cmpd="sng">
              <a:solidFill>
                <a:srgbClr val="000000"/>
              </a:solidFill>
              <a:prstDash val="solid"/>
              <a:headEnd type="none" w="med" len="med"/>
              <a:tailEnd type="none" w="med" len="med"/>
            </a:ln>
          </p:spPr>
        </p:sp>
        <p:sp>
          <p:nvSpPr>
            <p:cNvPr id="68662" name="Line 85"/>
            <p:cNvSpPr/>
            <p:nvPr/>
          </p:nvSpPr>
          <p:spPr>
            <a:xfrm>
              <a:off x="4320" y="2256"/>
              <a:ext cx="240" cy="144"/>
            </a:xfrm>
            <a:prstGeom prst="line">
              <a:avLst/>
            </a:prstGeom>
            <a:ln w="38100" cap="flat" cmpd="sng">
              <a:solidFill>
                <a:srgbClr val="000000"/>
              </a:solidFill>
              <a:prstDash val="solid"/>
              <a:headEnd type="none" w="med" len="med"/>
              <a:tailEnd type="none" w="med" len="med"/>
            </a:ln>
          </p:spPr>
        </p:sp>
        <p:sp>
          <p:nvSpPr>
            <p:cNvPr id="68663" name="Line 86"/>
            <p:cNvSpPr/>
            <p:nvPr/>
          </p:nvSpPr>
          <p:spPr>
            <a:xfrm flipV="1">
              <a:off x="4320" y="2256"/>
              <a:ext cx="240" cy="144"/>
            </a:xfrm>
            <a:prstGeom prst="line">
              <a:avLst/>
            </a:prstGeom>
            <a:ln w="38100" cap="flat" cmpd="sng">
              <a:solidFill>
                <a:srgbClr val="000000"/>
              </a:solidFill>
              <a:prstDash val="solid"/>
              <a:headEnd type="none" w="med" len="med"/>
              <a:tailEnd type="none" w="med" len="med"/>
            </a:ln>
          </p:spPr>
        </p:sp>
      </p:grpSp>
    </p:spTree>
  </p:cSld>
  <p:clrMapOvr>
    <a:masterClrMapping/>
  </p:clrMapOvr>
  <p:transition>
    <p:random/>
    <p:sndAc>
      <p:stSnd>
        <p:snd r:embed="rId3" name="CAMERA.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69635" name="Text Box 4"/>
          <p:cNvSpPr txBox="1"/>
          <p:nvPr/>
        </p:nvSpPr>
        <p:spPr>
          <a:xfrm>
            <a:off x="685800" y="1141413"/>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69636" name="Text Box 5"/>
          <p:cNvSpPr txBox="1"/>
          <p:nvPr/>
        </p:nvSpPr>
        <p:spPr>
          <a:xfrm>
            <a:off x="4500563" y="1125538"/>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335878" name="Group 6"/>
          <p:cNvGraphicFramePr>
            <a:graphicFrameLocks noGrp="1"/>
          </p:cNvGraphicFramePr>
          <p:nvPr/>
        </p:nvGraphicFramePr>
        <p:xfrm>
          <a:off x="1335088" y="1158875"/>
          <a:ext cx="2160588" cy="2895600"/>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38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02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35904" name="Group 32"/>
          <p:cNvGraphicFramePr>
            <a:graphicFrameLocks noGrp="1"/>
          </p:cNvGraphicFramePr>
          <p:nvPr/>
        </p:nvGraphicFramePr>
        <p:xfrm>
          <a:off x="5148263" y="1158875"/>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35933" name="Group 61"/>
          <p:cNvGraphicFramePr>
            <a:graphicFrameLocks noGrp="1"/>
          </p:cNvGraphicFramePr>
          <p:nvPr/>
        </p:nvGraphicFramePr>
        <p:xfrm>
          <a:off x="2771775" y="4759325"/>
          <a:ext cx="5832475" cy="974725"/>
        </p:xfrm>
        <a:graphic>
          <a:graphicData uri="http://schemas.openxmlformats.org/drawingml/2006/table">
            <a:tbl>
              <a:tblPr/>
              <a:tblGrid>
                <a:gridCol w="973138"/>
                <a:gridCol w="969962"/>
                <a:gridCol w="971550"/>
                <a:gridCol w="973138"/>
                <a:gridCol w="971550"/>
                <a:gridCol w="973137"/>
              </a:tblGrid>
              <a:tr h="2190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R.C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S.C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2127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pSp>
        <p:nvGrpSpPr>
          <p:cNvPr id="69704" name="Group 84"/>
          <p:cNvGrpSpPr/>
          <p:nvPr/>
        </p:nvGrpSpPr>
        <p:grpSpPr>
          <a:xfrm>
            <a:off x="503238" y="4687888"/>
            <a:ext cx="2232025" cy="641350"/>
            <a:chOff x="2699" y="2069"/>
            <a:chExt cx="1406" cy="404"/>
          </a:xfrm>
        </p:grpSpPr>
        <p:sp>
          <p:nvSpPr>
            <p:cNvPr id="69705" name="Text Box 85"/>
            <p:cNvSpPr txBox="1"/>
            <p:nvPr/>
          </p:nvSpPr>
          <p:spPr>
            <a:xfrm>
              <a:off x="2699" y="2069"/>
              <a:ext cx="1406" cy="404"/>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      </a:t>
              </a:r>
              <a:r>
                <a:rPr lang="en-US" altLang="zh-CN" baseline="-25000" dirty="0">
                  <a:latin typeface="Arial" panose="020B0604020202020204" pitchFamily="34" charset="0"/>
                  <a:ea typeface="宋体" panose="02010600030101010101" pitchFamily="2" charset="-122"/>
                  <a:sym typeface="Symbol" panose="05050102010706020507" pitchFamily="18" charset="2"/>
                </a:rPr>
                <a:t>B&lt;D</a:t>
              </a: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pSp>
          <p:nvGrpSpPr>
            <p:cNvPr id="69706" name="Group 86"/>
            <p:cNvGrpSpPr/>
            <p:nvPr/>
          </p:nvGrpSpPr>
          <p:grpSpPr>
            <a:xfrm>
              <a:off x="3053" y="2160"/>
              <a:ext cx="362" cy="226"/>
              <a:chOff x="4320" y="2256"/>
              <a:chExt cx="240" cy="144"/>
            </a:xfrm>
          </p:grpSpPr>
          <p:sp>
            <p:nvSpPr>
              <p:cNvPr id="69707" name="Line 87"/>
              <p:cNvSpPr/>
              <p:nvPr/>
            </p:nvSpPr>
            <p:spPr>
              <a:xfrm>
                <a:off x="4320" y="2256"/>
                <a:ext cx="0" cy="144"/>
              </a:xfrm>
              <a:prstGeom prst="line">
                <a:avLst/>
              </a:prstGeom>
              <a:ln w="38100" cap="flat" cmpd="sng">
                <a:solidFill>
                  <a:srgbClr val="000000"/>
                </a:solidFill>
                <a:prstDash val="solid"/>
                <a:headEnd type="none" w="med" len="med"/>
                <a:tailEnd type="none" w="med" len="med"/>
              </a:ln>
            </p:spPr>
          </p:sp>
          <p:sp>
            <p:nvSpPr>
              <p:cNvPr id="69708" name="Line 88"/>
              <p:cNvSpPr/>
              <p:nvPr/>
            </p:nvSpPr>
            <p:spPr>
              <a:xfrm>
                <a:off x="4560" y="2256"/>
                <a:ext cx="0" cy="144"/>
              </a:xfrm>
              <a:prstGeom prst="line">
                <a:avLst/>
              </a:prstGeom>
              <a:ln w="38100" cap="flat" cmpd="sng">
                <a:solidFill>
                  <a:srgbClr val="000000"/>
                </a:solidFill>
                <a:prstDash val="solid"/>
                <a:headEnd type="none" w="med" len="med"/>
                <a:tailEnd type="none" w="med" len="med"/>
              </a:ln>
            </p:spPr>
          </p:sp>
          <p:sp>
            <p:nvSpPr>
              <p:cNvPr id="69709" name="Line 89"/>
              <p:cNvSpPr/>
              <p:nvPr/>
            </p:nvSpPr>
            <p:spPr>
              <a:xfrm>
                <a:off x="4320" y="2256"/>
                <a:ext cx="240" cy="144"/>
              </a:xfrm>
              <a:prstGeom prst="line">
                <a:avLst/>
              </a:prstGeom>
              <a:ln w="38100" cap="flat" cmpd="sng">
                <a:solidFill>
                  <a:srgbClr val="000000"/>
                </a:solidFill>
                <a:prstDash val="solid"/>
                <a:headEnd type="none" w="med" len="med"/>
                <a:tailEnd type="none" w="med" len="med"/>
              </a:ln>
            </p:spPr>
          </p:sp>
          <p:sp>
            <p:nvSpPr>
              <p:cNvPr id="69710" name="Line 90"/>
              <p:cNvSpPr/>
              <p:nvPr/>
            </p:nvSpPr>
            <p:spPr>
              <a:xfrm flipV="1">
                <a:off x="4320" y="2256"/>
                <a:ext cx="240" cy="144"/>
              </a:xfrm>
              <a:prstGeom prst="line">
                <a:avLst/>
              </a:prstGeom>
              <a:ln w="38100" cap="flat" cmpd="sng">
                <a:solidFill>
                  <a:srgbClr val="000000"/>
                </a:solidFill>
                <a:prstDash val="solid"/>
                <a:headEnd type="none" w="med" len="med"/>
                <a:tailEnd type="none" w="med" len="med"/>
              </a:ln>
            </p:spPr>
          </p:sp>
        </p:gr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9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2" name="Rectangle 2"/>
          <p:cNvSpPr>
            <a:spLocks noGrp="1" noChangeArrowheads="1"/>
          </p:cNvSpPr>
          <p:nvPr>
            <p:ph type="title"/>
          </p:nvPr>
        </p:nvSpPr>
        <p:spPr>
          <a:xfrm>
            <a:off x="179388" y="115888"/>
            <a:ext cx="8659813" cy="42068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70659" name="Text Box 4"/>
          <p:cNvSpPr txBox="1"/>
          <p:nvPr/>
        </p:nvSpPr>
        <p:spPr>
          <a:xfrm>
            <a:off x="685800" y="908050"/>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70660" name="Text Box 5"/>
          <p:cNvSpPr txBox="1"/>
          <p:nvPr/>
        </p:nvSpPr>
        <p:spPr>
          <a:xfrm>
            <a:off x="4500563" y="1125538"/>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337926" name="Group 6"/>
          <p:cNvGraphicFramePr>
            <a:graphicFrameLocks noGrp="1"/>
          </p:cNvGraphicFramePr>
          <p:nvPr/>
        </p:nvGraphicFramePr>
        <p:xfrm>
          <a:off x="1335088" y="925513"/>
          <a:ext cx="2160588" cy="2895600"/>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38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02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37952" name="Group 32"/>
          <p:cNvGraphicFramePr>
            <a:graphicFrameLocks noGrp="1"/>
          </p:cNvGraphicFramePr>
          <p:nvPr/>
        </p:nvGraphicFramePr>
        <p:xfrm>
          <a:off x="5148263" y="1158875"/>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pSp>
        <p:nvGrpSpPr>
          <p:cNvPr id="70705" name="Group 61"/>
          <p:cNvGrpSpPr/>
          <p:nvPr/>
        </p:nvGrpSpPr>
        <p:grpSpPr>
          <a:xfrm>
            <a:off x="1979613" y="4017963"/>
            <a:ext cx="1800225" cy="641350"/>
            <a:chOff x="3334" y="2296"/>
            <a:chExt cx="1134" cy="404"/>
          </a:xfrm>
        </p:grpSpPr>
        <p:sp>
          <p:nvSpPr>
            <p:cNvPr id="70744" name="Text Box 62"/>
            <p:cNvSpPr txBox="1"/>
            <p:nvPr/>
          </p:nvSpPr>
          <p:spPr>
            <a:xfrm>
              <a:off x="3334" y="2296"/>
              <a:ext cx="1134" cy="404"/>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       S</a:t>
              </a:r>
              <a:endParaRPr lang="en-US" altLang="zh-CN" dirty="0">
                <a:latin typeface="Arial" panose="020B0604020202020204" pitchFamily="34" charset="0"/>
                <a:ea typeface="宋体" panose="02010600030101010101" pitchFamily="2" charset="-122"/>
              </a:endParaRPr>
            </a:p>
          </p:txBody>
        </p:sp>
        <p:grpSp>
          <p:nvGrpSpPr>
            <p:cNvPr id="70745" name="Group 63"/>
            <p:cNvGrpSpPr/>
            <p:nvPr/>
          </p:nvGrpSpPr>
          <p:grpSpPr>
            <a:xfrm>
              <a:off x="3688" y="2387"/>
              <a:ext cx="362" cy="226"/>
              <a:chOff x="4320" y="2256"/>
              <a:chExt cx="240" cy="144"/>
            </a:xfrm>
          </p:grpSpPr>
          <p:sp>
            <p:nvSpPr>
              <p:cNvPr id="70746" name="Line 64"/>
              <p:cNvSpPr/>
              <p:nvPr/>
            </p:nvSpPr>
            <p:spPr>
              <a:xfrm>
                <a:off x="4320" y="2256"/>
                <a:ext cx="0" cy="144"/>
              </a:xfrm>
              <a:prstGeom prst="line">
                <a:avLst/>
              </a:prstGeom>
              <a:ln w="38100" cap="flat" cmpd="sng">
                <a:solidFill>
                  <a:srgbClr val="000000"/>
                </a:solidFill>
                <a:prstDash val="solid"/>
                <a:headEnd type="none" w="med" len="med"/>
                <a:tailEnd type="none" w="med" len="med"/>
              </a:ln>
            </p:spPr>
          </p:sp>
          <p:sp>
            <p:nvSpPr>
              <p:cNvPr id="70747" name="Line 65"/>
              <p:cNvSpPr/>
              <p:nvPr/>
            </p:nvSpPr>
            <p:spPr>
              <a:xfrm>
                <a:off x="4560" y="2256"/>
                <a:ext cx="0" cy="144"/>
              </a:xfrm>
              <a:prstGeom prst="line">
                <a:avLst/>
              </a:prstGeom>
              <a:ln w="38100" cap="flat" cmpd="sng">
                <a:solidFill>
                  <a:srgbClr val="000000"/>
                </a:solidFill>
                <a:prstDash val="solid"/>
                <a:headEnd type="none" w="med" len="med"/>
                <a:tailEnd type="none" w="med" len="med"/>
              </a:ln>
            </p:spPr>
          </p:sp>
          <p:sp>
            <p:nvSpPr>
              <p:cNvPr id="70748" name="Line 66"/>
              <p:cNvSpPr/>
              <p:nvPr/>
            </p:nvSpPr>
            <p:spPr>
              <a:xfrm>
                <a:off x="4320" y="2256"/>
                <a:ext cx="240" cy="144"/>
              </a:xfrm>
              <a:prstGeom prst="line">
                <a:avLst/>
              </a:prstGeom>
              <a:ln w="38100" cap="flat" cmpd="sng">
                <a:solidFill>
                  <a:srgbClr val="000000"/>
                </a:solidFill>
                <a:prstDash val="solid"/>
                <a:headEnd type="none" w="med" len="med"/>
                <a:tailEnd type="none" w="med" len="med"/>
              </a:ln>
            </p:spPr>
          </p:sp>
          <p:sp>
            <p:nvSpPr>
              <p:cNvPr id="70749" name="Line 67"/>
              <p:cNvSpPr/>
              <p:nvPr/>
            </p:nvSpPr>
            <p:spPr>
              <a:xfrm flipV="1">
                <a:off x="4320" y="2256"/>
                <a:ext cx="240" cy="144"/>
              </a:xfrm>
              <a:prstGeom prst="line">
                <a:avLst/>
              </a:prstGeom>
              <a:ln w="38100" cap="flat" cmpd="sng">
                <a:solidFill>
                  <a:srgbClr val="000000"/>
                </a:solidFill>
                <a:prstDash val="solid"/>
                <a:headEnd type="none" w="med" len="med"/>
                <a:tailEnd type="none" w="med" len="med"/>
              </a:ln>
            </p:spPr>
          </p:sp>
        </p:grpSp>
      </p:grpSp>
      <p:graphicFrame>
        <p:nvGraphicFramePr>
          <p:cNvPr id="337988" name="Group 68"/>
          <p:cNvGraphicFramePr>
            <a:graphicFrameLocks noGrp="1"/>
          </p:cNvGraphicFramePr>
          <p:nvPr/>
        </p:nvGraphicFramePr>
        <p:xfrm>
          <a:off x="3779838" y="4160838"/>
          <a:ext cx="4859338" cy="2438400"/>
        </p:xfrm>
        <a:graphic>
          <a:graphicData uri="http://schemas.openxmlformats.org/drawingml/2006/table">
            <a:tbl>
              <a:tblPr/>
              <a:tblGrid>
                <a:gridCol w="973137"/>
                <a:gridCol w="969963"/>
                <a:gridCol w="971550"/>
                <a:gridCol w="971550"/>
                <a:gridCol w="973137"/>
              </a:tblGrid>
              <a:tr h="3492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19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3635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35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195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997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练习</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71683" name="Text Box 4"/>
          <p:cNvSpPr txBox="1"/>
          <p:nvPr/>
        </p:nvSpPr>
        <p:spPr>
          <a:xfrm>
            <a:off x="685800" y="1141413"/>
            <a:ext cx="514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71684" name="Text Box 5"/>
          <p:cNvSpPr txBox="1"/>
          <p:nvPr/>
        </p:nvSpPr>
        <p:spPr>
          <a:xfrm>
            <a:off x="4500563" y="1125538"/>
            <a:ext cx="4889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rPr>
              <a:t>S</a:t>
            </a:r>
            <a:endParaRPr lang="en-US" altLang="zh-CN" dirty="0">
              <a:latin typeface="Arial" panose="020B0604020202020204" pitchFamily="34" charset="0"/>
              <a:ea typeface="宋体" panose="02010600030101010101" pitchFamily="2" charset="-122"/>
            </a:endParaRPr>
          </a:p>
        </p:txBody>
      </p:sp>
      <p:graphicFrame>
        <p:nvGraphicFramePr>
          <p:cNvPr id="339974" name="Group 6"/>
          <p:cNvGraphicFramePr>
            <a:graphicFrameLocks noGrp="1"/>
          </p:cNvGraphicFramePr>
          <p:nvPr/>
        </p:nvGraphicFramePr>
        <p:xfrm>
          <a:off x="1335088" y="1158875"/>
          <a:ext cx="2160588" cy="2895600"/>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238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302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40000" name="Group 32"/>
          <p:cNvGraphicFramePr>
            <a:graphicFrameLocks noGrp="1"/>
          </p:cNvGraphicFramePr>
          <p:nvPr/>
        </p:nvGraphicFramePr>
        <p:xfrm>
          <a:off x="5148263" y="1158875"/>
          <a:ext cx="2160588" cy="1743075"/>
        </p:xfrm>
        <a:graphic>
          <a:graphicData uri="http://schemas.openxmlformats.org/drawingml/2006/table">
            <a:tbl>
              <a:tblPr/>
              <a:tblGrid>
                <a:gridCol w="720725"/>
                <a:gridCol w="719137"/>
                <a:gridCol w="720725"/>
              </a:tblGrid>
              <a:tr h="427038">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4200">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11163">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71729" name="Text Box 61"/>
          <p:cNvSpPr txBox="1"/>
          <p:nvPr/>
        </p:nvSpPr>
        <p:spPr>
          <a:xfrm>
            <a:off x="288925" y="4365625"/>
            <a:ext cx="2808288"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latin typeface="Arial" panose="020B0604020202020204" pitchFamily="34" charset="0"/>
                <a:ea typeface="宋体" panose="02010600030101010101" pitchFamily="2" charset="-122"/>
                <a:sym typeface="Symbol" panose="05050102010706020507" pitchFamily="18" charset="2"/>
              </a:rPr>
              <a:t></a:t>
            </a:r>
            <a:r>
              <a:rPr lang="en-US" altLang="zh-CN" dirty="0">
                <a:latin typeface="Arial" panose="020B0604020202020204" pitchFamily="34" charset="0"/>
                <a:ea typeface="宋体" panose="02010600030101010101" pitchFamily="2" charset="-122"/>
              </a:rPr>
              <a:t> </a:t>
            </a:r>
            <a:r>
              <a:rPr lang="en-US" altLang="zh-CN" baseline="-25000" dirty="0">
                <a:latin typeface="Arial" panose="020B0604020202020204" pitchFamily="34" charset="0"/>
                <a:ea typeface="宋体" panose="02010600030101010101" pitchFamily="2" charset="-122"/>
              </a:rPr>
              <a:t>B=D</a:t>
            </a:r>
            <a:r>
              <a:rPr lang="en-US" altLang="zh-CN" dirty="0">
                <a:latin typeface="Arial" panose="020B0604020202020204" pitchFamily="34" charset="0"/>
                <a:ea typeface="宋体" panose="02010600030101010101" pitchFamily="2" charset="-122"/>
              </a:rPr>
              <a:t> (R×S)</a:t>
            </a:r>
            <a:endParaRPr lang="en-US" altLang="zh-CN" dirty="0">
              <a:latin typeface="Arial" panose="020B0604020202020204" pitchFamily="34" charset="0"/>
              <a:ea typeface="宋体" panose="02010600030101010101" pitchFamily="2" charset="-122"/>
            </a:endParaRPr>
          </a:p>
        </p:txBody>
      </p:sp>
      <p:graphicFrame>
        <p:nvGraphicFramePr>
          <p:cNvPr id="340030" name="Group 62"/>
          <p:cNvGraphicFramePr>
            <a:graphicFrameLocks noGrp="1"/>
          </p:cNvGraphicFramePr>
          <p:nvPr/>
        </p:nvGraphicFramePr>
        <p:xfrm>
          <a:off x="3060700" y="4510088"/>
          <a:ext cx="5832475" cy="1584325"/>
        </p:xfrm>
        <a:graphic>
          <a:graphicData uri="http://schemas.openxmlformats.org/drawingml/2006/table">
            <a:tbl>
              <a:tblPr/>
              <a:tblGrid>
                <a:gridCol w="973138"/>
                <a:gridCol w="969962"/>
                <a:gridCol w="971550"/>
                <a:gridCol w="973138"/>
                <a:gridCol w="971550"/>
                <a:gridCol w="973137"/>
              </a:tblGrid>
              <a:tr h="21907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R.C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S.C</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0"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r h="2127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solidFill>
                      <a:srgbClr val="FFFFFF"/>
                    </a:solidFill>
                  </a:tcPr>
                </a:tc>
              </a:tr>
              <a:tr h="212725">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c>
                  <a:txBody>
                    <a:bodyPr/>
                    <a:lstStyle>
                      <a:lvl1pPr eaLnBrk="0" hangingPunct="0">
                        <a:buClr>
                          <a:srgbClr val="0000CC"/>
                        </a:buClr>
                        <a:buSzPct val="70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eaLnBrk="0" hangingPunct="0">
                        <a:spcBef>
                          <a:spcPct val="20000"/>
                        </a:spcBef>
                        <a:buClr>
                          <a:srgbClr val="FF3300"/>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eaLnBrk="0" hangingPunct="0">
                        <a:spcBef>
                          <a:spcPct val="20000"/>
                        </a:spcBef>
                        <a:buClr>
                          <a:srgbClr val="996633"/>
                        </a:buClr>
                        <a:buSzPct val="7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4pPr>
                      <a:lvl5pPr marL="2057400" indent="-228600" eaLnBrk="0" hangingPunct="0">
                        <a:spcBef>
                          <a:spcPct val="20000"/>
                        </a:spcBef>
                        <a:buSzPct val="130000"/>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SzPct val="130000"/>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solidFill>
                      <a:srgbClr val="FFFFFF"/>
                    </a:solidFill>
                  </a:tcPr>
                </a:tc>
              </a:tr>
            </a:tbl>
          </a:graphicData>
        </a:graphic>
      </p:graphicFrame>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0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综合应用举例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grpSp>
        <p:nvGrpSpPr>
          <p:cNvPr id="72707" name="Group 3"/>
          <p:cNvGrpSpPr/>
          <p:nvPr/>
        </p:nvGrpSpPr>
        <p:grpSpPr>
          <a:xfrm>
            <a:off x="1909763" y="981075"/>
            <a:ext cx="5470525" cy="1474788"/>
            <a:chOff x="1203" y="618"/>
            <a:chExt cx="3446" cy="929"/>
          </a:xfrm>
        </p:grpSpPr>
        <p:sp>
          <p:nvSpPr>
            <p:cNvPr id="72718" name="Text Box 4"/>
            <p:cNvSpPr txBox="1"/>
            <p:nvPr/>
          </p:nvSpPr>
          <p:spPr>
            <a:xfrm>
              <a:off x="1203" y="915"/>
              <a:ext cx="888"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Sno</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学号</a:t>
              </a:r>
              <a:endParaRPr lang="zh-CN" altLang="en-US" sz="3200" dirty="0">
                <a:latin typeface="Arial" panose="020B0604020202020204" pitchFamily="34" charset="0"/>
              </a:endParaRPr>
            </a:p>
          </p:txBody>
        </p:sp>
        <p:sp>
          <p:nvSpPr>
            <p:cNvPr id="72719" name="Text Box 5"/>
            <p:cNvSpPr txBox="1"/>
            <p:nvPr/>
          </p:nvSpPr>
          <p:spPr>
            <a:xfrm>
              <a:off x="2091" y="915"/>
              <a:ext cx="1016"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Sname</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姓名</a:t>
              </a:r>
              <a:endParaRPr lang="zh-CN" altLang="en-US" sz="3200" dirty="0">
                <a:latin typeface="Arial" panose="020B0604020202020204" pitchFamily="34" charset="0"/>
              </a:endParaRPr>
            </a:p>
          </p:txBody>
        </p:sp>
        <p:sp>
          <p:nvSpPr>
            <p:cNvPr id="72720" name="Text Box 6"/>
            <p:cNvSpPr txBox="1"/>
            <p:nvPr/>
          </p:nvSpPr>
          <p:spPr>
            <a:xfrm>
              <a:off x="3108" y="915"/>
              <a:ext cx="770"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Ssex</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性别</a:t>
              </a:r>
              <a:endParaRPr lang="zh-CN" altLang="en-US" sz="3200" dirty="0">
                <a:latin typeface="Arial" panose="020B0604020202020204" pitchFamily="34" charset="0"/>
              </a:endParaRPr>
            </a:p>
          </p:txBody>
        </p:sp>
        <p:sp>
          <p:nvSpPr>
            <p:cNvPr id="72721" name="Text Box 7"/>
            <p:cNvSpPr txBox="1"/>
            <p:nvPr/>
          </p:nvSpPr>
          <p:spPr>
            <a:xfrm>
              <a:off x="3878" y="915"/>
              <a:ext cx="771"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Sage</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年龄</a:t>
              </a:r>
              <a:endParaRPr lang="zh-CN" altLang="en-US" sz="3200" dirty="0">
                <a:latin typeface="Arial" panose="020B0604020202020204" pitchFamily="34" charset="0"/>
              </a:endParaRPr>
            </a:p>
          </p:txBody>
        </p:sp>
        <p:sp>
          <p:nvSpPr>
            <p:cNvPr id="72722" name="Text Box 8"/>
            <p:cNvSpPr txBox="1"/>
            <p:nvPr/>
          </p:nvSpPr>
          <p:spPr>
            <a:xfrm>
              <a:off x="1203" y="618"/>
              <a:ext cx="1397" cy="307"/>
            </a:xfrm>
            <a:prstGeom prst="rect">
              <a:avLst/>
            </a:prstGeom>
            <a:noFill/>
            <a:ln w="28575">
              <a:noFill/>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zh-CN" altLang="en-US" sz="3200" dirty="0">
                  <a:solidFill>
                    <a:srgbClr val="0000FF"/>
                  </a:solidFill>
                  <a:latin typeface="Arial" panose="020B0604020202020204" pitchFamily="34" charset="0"/>
                </a:rPr>
                <a:t>学生关系</a:t>
              </a:r>
              <a:r>
                <a:rPr lang="en-US" altLang="zh-CN" sz="3200" dirty="0">
                  <a:solidFill>
                    <a:srgbClr val="0000FF"/>
                  </a:solidFill>
                  <a:latin typeface="Arial" panose="020B0604020202020204" pitchFamily="34" charset="0"/>
                </a:rPr>
                <a:t>S</a:t>
              </a:r>
              <a:endParaRPr lang="en-US" altLang="zh-CN" sz="3200" dirty="0">
                <a:solidFill>
                  <a:srgbClr val="0000FF"/>
                </a:solidFill>
                <a:latin typeface="Arial" panose="020B0604020202020204" pitchFamily="34" charset="0"/>
              </a:endParaRPr>
            </a:p>
          </p:txBody>
        </p:sp>
      </p:grpSp>
      <p:grpSp>
        <p:nvGrpSpPr>
          <p:cNvPr id="72708" name="Group 9"/>
          <p:cNvGrpSpPr/>
          <p:nvPr/>
        </p:nvGrpSpPr>
        <p:grpSpPr>
          <a:xfrm>
            <a:off x="1909763" y="4646613"/>
            <a:ext cx="4564062" cy="1474787"/>
            <a:chOff x="1203" y="2927"/>
            <a:chExt cx="2875" cy="929"/>
          </a:xfrm>
        </p:grpSpPr>
        <p:sp>
          <p:nvSpPr>
            <p:cNvPr id="72714" name="Text Box 10"/>
            <p:cNvSpPr txBox="1"/>
            <p:nvPr/>
          </p:nvSpPr>
          <p:spPr>
            <a:xfrm>
              <a:off x="1203" y="3224"/>
              <a:ext cx="889"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Sno</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学号</a:t>
              </a:r>
              <a:endParaRPr lang="zh-CN" altLang="en-US" sz="3200" dirty="0">
                <a:latin typeface="Arial" panose="020B0604020202020204" pitchFamily="34" charset="0"/>
              </a:endParaRPr>
            </a:p>
          </p:txBody>
        </p:sp>
        <p:sp>
          <p:nvSpPr>
            <p:cNvPr id="72715" name="Text Box 11"/>
            <p:cNvSpPr txBox="1"/>
            <p:nvPr/>
          </p:nvSpPr>
          <p:spPr>
            <a:xfrm>
              <a:off x="1203" y="2927"/>
              <a:ext cx="1524" cy="307"/>
            </a:xfrm>
            <a:prstGeom prst="rect">
              <a:avLst/>
            </a:prstGeom>
            <a:noFill/>
            <a:ln w="28575">
              <a:noFill/>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zh-CN" altLang="en-US" sz="3200" dirty="0">
                  <a:solidFill>
                    <a:srgbClr val="0000FF"/>
                  </a:solidFill>
                  <a:latin typeface="Arial" panose="020B0604020202020204" pitchFamily="34" charset="0"/>
                </a:rPr>
                <a:t>选课关系</a:t>
              </a:r>
              <a:r>
                <a:rPr lang="en-US" altLang="zh-CN" sz="3200" dirty="0">
                  <a:solidFill>
                    <a:srgbClr val="0000FF"/>
                  </a:solidFill>
                  <a:latin typeface="Arial" panose="020B0604020202020204" pitchFamily="34" charset="0"/>
                </a:rPr>
                <a:t>SC</a:t>
              </a:r>
              <a:endParaRPr lang="en-US" altLang="zh-CN" sz="3200" dirty="0">
                <a:solidFill>
                  <a:srgbClr val="0000FF"/>
                </a:solidFill>
                <a:latin typeface="Arial" panose="020B0604020202020204" pitchFamily="34" charset="0"/>
              </a:endParaRPr>
            </a:p>
          </p:txBody>
        </p:sp>
        <p:sp>
          <p:nvSpPr>
            <p:cNvPr id="72716" name="Text Box 12"/>
            <p:cNvSpPr txBox="1"/>
            <p:nvPr/>
          </p:nvSpPr>
          <p:spPr>
            <a:xfrm>
              <a:off x="2092" y="3222"/>
              <a:ext cx="889"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Cno</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课程号</a:t>
              </a:r>
              <a:endParaRPr lang="zh-CN" altLang="en-US" sz="3200" dirty="0">
                <a:latin typeface="Arial" panose="020B0604020202020204" pitchFamily="34" charset="0"/>
              </a:endParaRPr>
            </a:p>
          </p:txBody>
        </p:sp>
        <p:sp>
          <p:nvSpPr>
            <p:cNvPr id="72717" name="Text Box 13"/>
            <p:cNvSpPr txBox="1"/>
            <p:nvPr/>
          </p:nvSpPr>
          <p:spPr>
            <a:xfrm>
              <a:off x="2988" y="3222"/>
              <a:ext cx="1090"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Score</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成绩</a:t>
              </a:r>
              <a:endParaRPr lang="zh-CN" altLang="en-US" sz="3200" dirty="0">
                <a:latin typeface="Arial" panose="020B0604020202020204" pitchFamily="34" charset="0"/>
              </a:endParaRPr>
            </a:p>
          </p:txBody>
        </p:sp>
      </p:grpSp>
      <p:grpSp>
        <p:nvGrpSpPr>
          <p:cNvPr id="72709" name="Group 20"/>
          <p:cNvGrpSpPr/>
          <p:nvPr/>
        </p:nvGrpSpPr>
        <p:grpSpPr>
          <a:xfrm>
            <a:off x="1909763" y="2751138"/>
            <a:ext cx="4391025" cy="1474787"/>
            <a:chOff x="1203" y="1733"/>
            <a:chExt cx="2766" cy="929"/>
          </a:xfrm>
        </p:grpSpPr>
        <p:sp>
          <p:nvSpPr>
            <p:cNvPr id="72710" name="Text Box 15"/>
            <p:cNvSpPr txBox="1"/>
            <p:nvPr/>
          </p:nvSpPr>
          <p:spPr>
            <a:xfrm>
              <a:off x="1203" y="2030"/>
              <a:ext cx="888"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Cno</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课程号</a:t>
              </a:r>
              <a:endParaRPr lang="zh-CN" altLang="en-US" sz="3200" dirty="0">
                <a:latin typeface="Arial" panose="020B0604020202020204" pitchFamily="34" charset="0"/>
              </a:endParaRPr>
            </a:p>
          </p:txBody>
        </p:sp>
        <p:sp>
          <p:nvSpPr>
            <p:cNvPr id="72711" name="Text Box 16"/>
            <p:cNvSpPr txBox="1"/>
            <p:nvPr/>
          </p:nvSpPr>
          <p:spPr>
            <a:xfrm>
              <a:off x="1203" y="1733"/>
              <a:ext cx="1397" cy="307"/>
            </a:xfrm>
            <a:prstGeom prst="rect">
              <a:avLst/>
            </a:prstGeom>
            <a:noFill/>
            <a:ln w="28575">
              <a:noFill/>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zh-CN" altLang="en-US" sz="3200" dirty="0">
                  <a:solidFill>
                    <a:srgbClr val="0000FF"/>
                  </a:solidFill>
                  <a:latin typeface="Arial" panose="020B0604020202020204" pitchFamily="34" charset="0"/>
                </a:rPr>
                <a:t>课程关系</a:t>
              </a:r>
              <a:r>
                <a:rPr lang="en-US" altLang="zh-CN" sz="3200" dirty="0">
                  <a:solidFill>
                    <a:srgbClr val="0000FF"/>
                  </a:solidFill>
                  <a:latin typeface="Arial" panose="020B0604020202020204" pitchFamily="34" charset="0"/>
                </a:rPr>
                <a:t>C</a:t>
              </a:r>
              <a:endParaRPr lang="en-US" altLang="zh-CN" sz="3200" dirty="0">
                <a:solidFill>
                  <a:srgbClr val="0000FF"/>
                </a:solidFill>
                <a:latin typeface="Arial" panose="020B0604020202020204" pitchFamily="34" charset="0"/>
              </a:endParaRPr>
            </a:p>
          </p:txBody>
        </p:sp>
        <p:sp>
          <p:nvSpPr>
            <p:cNvPr id="72712" name="Text Box 17"/>
            <p:cNvSpPr txBox="1"/>
            <p:nvPr/>
          </p:nvSpPr>
          <p:spPr>
            <a:xfrm>
              <a:off x="2091" y="2030"/>
              <a:ext cx="1061"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Cname</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课程名</a:t>
              </a:r>
              <a:endParaRPr lang="zh-CN" altLang="en-US" sz="3200" dirty="0">
                <a:latin typeface="Arial" panose="020B0604020202020204" pitchFamily="34" charset="0"/>
              </a:endParaRPr>
            </a:p>
          </p:txBody>
        </p:sp>
        <p:sp>
          <p:nvSpPr>
            <p:cNvPr id="72713" name="Text Box 18"/>
            <p:cNvSpPr txBox="1"/>
            <p:nvPr/>
          </p:nvSpPr>
          <p:spPr>
            <a:xfrm>
              <a:off x="3150" y="2030"/>
              <a:ext cx="819" cy="632"/>
            </a:xfrm>
            <a:prstGeom prst="rect">
              <a:avLst/>
            </a:prstGeom>
            <a:noFill/>
            <a:ln w="28575" cap="flat" cmpd="sng">
              <a:solidFill>
                <a:srgbClr val="000000"/>
              </a:solidFill>
              <a:prstDash val="solid"/>
              <a:miter/>
              <a:headEnd type="none" w="med" len="med"/>
              <a:tailEnd type="none" w="med" len="med"/>
            </a:ln>
          </p:spPr>
          <p:txBody>
            <a:bodyPr lIns="0" tIns="0" rIns="0" bIns="0">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en-US" altLang="zh-CN" sz="3200" dirty="0">
                  <a:latin typeface="Arial" panose="020B0604020202020204" pitchFamily="34" charset="0"/>
                </a:rPr>
                <a:t>Tno</a:t>
              </a:r>
              <a:endParaRPr lang="en-US" altLang="zh-CN" sz="3200" dirty="0">
                <a:latin typeface="Arial" panose="020B0604020202020204" pitchFamily="34" charset="0"/>
              </a:endParaRPr>
            </a:p>
            <a:p>
              <a:pPr marL="0" lvl="0" indent="0" algn="ctr" eaLnBrk="1" hangingPunct="1">
                <a:buClrTx/>
                <a:buSzTx/>
                <a:buFontTx/>
                <a:buNone/>
              </a:pPr>
              <a:r>
                <a:rPr lang="zh-CN" altLang="en-US" sz="3200" dirty="0">
                  <a:latin typeface="Arial" panose="020B0604020202020204" pitchFamily="34" charset="0"/>
                </a:rPr>
                <a:t>教师号</a:t>
              </a:r>
              <a:endParaRPr lang="zh-CN" altLang="en-US" sz="3200" dirty="0">
                <a:latin typeface="Arial" panose="020B0604020202020204" pitchFamily="34" charset="0"/>
              </a:endParaRPr>
            </a:p>
          </p:txBody>
        </p:sp>
      </p:grpSp>
    </p:spTree>
  </p:cSld>
  <p:clrMapOvr>
    <a:masterClrMapping/>
  </p:clrMapOvr>
  <p:transition>
    <p:random/>
    <p:sndAc>
      <p:stSnd>
        <p:snd r:embed="rId3" name="CAMERA.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综合应用举例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114691" name="Rectangle 3"/>
          <p:cNvSpPr>
            <a:spLocks noGrp="1"/>
          </p:cNvSpPr>
          <p:nvPr>
            <p:ph idx="1"/>
          </p:nvPr>
        </p:nvSpPr>
        <p:spPr>
          <a:xfrm>
            <a:off x="152400" y="3001963"/>
            <a:ext cx="8848725" cy="3303587"/>
          </a:xfrm>
        </p:spPr>
        <p:txBody>
          <a:bodyPr vert="horz" wrap="square" lIns="91440" tIns="45720" rIns="91440" bIns="45720" anchor="t" anchorCtr="0"/>
          <a:p>
            <a:pPr marL="354330" indent="-354330" eaLnBrk="1" hangingPunct="1">
              <a:lnSpc>
                <a:spcPct val="90000"/>
              </a:lnSpc>
              <a:buNone/>
            </a:pPr>
            <a:r>
              <a:rPr lang="en-US" altLang="zh-CN" sz="3200" dirty="0">
                <a:latin typeface="Arial" panose="020B0604020202020204" pitchFamily="34" charset="0"/>
              </a:rPr>
              <a:t>1) </a:t>
            </a:r>
            <a:r>
              <a:rPr lang="zh-CN" altLang="en-US" sz="3200" dirty="0">
                <a:latin typeface="Arial" panose="020B0604020202020204" pitchFamily="34" charset="0"/>
              </a:rPr>
              <a:t>查询年龄大于</a:t>
            </a:r>
            <a:r>
              <a:rPr lang="en-US" altLang="zh-CN" sz="3200" dirty="0">
                <a:latin typeface="Arial" panose="020B0604020202020204" pitchFamily="34" charset="0"/>
              </a:rPr>
              <a:t>21</a:t>
            </a:r>
            <a:r>
              <a:rPr lang="zh-CN" altLang="en-US" sz="3200" dirty="0">
                <a:latin typeface="Arial" panose="020B0604020202020204" pitchFamily="34" charset="0"/>
              </a:rPr>
              <a:t>岁的所有男学生的姓名。</a:t>
            </a:r>
            <a:endParaRPr lang="zh-CN" altLang="en-US" sz="3200" dirty="0">
              <a:latin typeface="Arial" panose="020B0604020202020204" pitchFamily="34" charset="0"/>
            </a:endParaRPr>
          </a:p>
          <a:p>
            <a:pPr marL="354330" indent="-354330" eaLnBrk="1" hangingPunct="1">
              <a:lnSpc>
                <a:spcPct val="90000"/>
              </a:lnSpc>
              <a:spcBef>
                <a:spcPct val="20000"/>
              </a:spcBef>
              <a:buNone/>
            </a:pPr>
            <a:r>
              <a:rPr lang="zh-CN" altLang="en-US" sz="3200" dirty="0">
                <a:latin typeface="Arial" panose="020B0604020202020204" pitchFamily="34" charset="0"/>
                <a:sym typeface="Symbol" panose="05050102010706020507" pitchFamily="18" charset="2"/>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8000" dirty="0">
                <a:latin typeface="Arial" panose="020B0604020202020204" pitchFamily="34" charset="0"/>
                <a:sym typeface="Symbol" panose="05050102010706020507" pitchFamily="18" charset="2"/>
              </a:rPr>
              <a:t>S</a:t>
            </a:r>
            <a:r>
              <a:rPr lang="en-US" altLang="zh-CN" sz="3200" baseline="-18000" dirty="0">
                <a:latin typeface="Arial" panose="020B0604020202020204" pitchFamily="34" charset="0"/>
              </a:rPr>
              <a:t>name</a:t>
            </a:r>
            <a:r>
              <a:rPr lang="en-US" altLang="zh-CN" sz="3200" dirty="0">
                <a:latin typeface="Arial" panose="020B0604020202020204" pitchFamily="34" charset="0"/>
              </a:rPr>
              <a:t> ( </a:t>
            </a:r>
            <a:r>
              <a:rPr lang="en-US" altLang="zh-CN" sz="3200" dirty="0">
                <a:sym typeface="Symbol" panose="05050102010706020507" pitchFamily="18" charset="2"/>
              </a:rPr>
              <a:t> </a:t>
            </a:r>
            <a:r>
              <a:rPr lang="en-US" altLang="zh-CN" sz="3200" baseline="-18000" dirty="0">
                <a:latin typeface="Arial" panose="020B0604020202020204" pitchFamily="34" charset="0"/>
                <a:sym typeface="Symbol" panose="05050102010706020507" pitchFamily="18" charset="2"/>
              </a:rPr>
              <a:t>Sage &gt; 21 ∧ Ssex = '</a:t>
            </a:r>
            <a:r>
              <a:rPr lang="zh-CN" altLang="en-US" sz="3200" baseline="-18000" dirty="0">
                <a:latin typeface="Arial" panose="020B0604020202020204" pitchFamily="34" charset="0"/>
                <a:sym typeface="Symbol" panose="05050102010706020507" pitchFamily="18" charset="2"/>
              </a:rPr>
              <a:t>男</a:t>
            </a:r>
            <a:r>
              <a:rPr lang="en-US" altLang="zh-CN" sz="3200" baseline="-18000" dirty="0">
                <a:latin typeface="Arial" panose="020B0604020202020204" pitchFamily="34" charset="0"/>
                <a:sym typeface="Symbol" panose="05050102010706020507" pitchFamily="18" charset="2"/>
              </a:rPr>
              <a:t>' </a:t>
            </a:r>
            <a:r>
              <a:rPr lang="en-US" altLang="zh-CN" sz="3200" dirty="0">
                <a:latin typeface="Arial" panose="020B0604020202020204" pitchFamily="34" charset="0"/>
                <a:cs typeface="Tahoma" panose="020B0604030504040204" pitchFamily="34" charset="0"/>
              </a:rPr>
              <a:t>(S) )</a:t>
            </a:r>
            <a:endParaRPr lang="en-US" altLang="zh-CN" sz="3200" dirty="0">
              <a:latin typeface="Arial" panose="020B0604020202020204" pitchFamily="34" charset="0"/>
              <a:cs typeface="Tahoma" panose="020B0604030504040204" pitchFamily="34" charset="0"/>
            </a:endParaRPr>
          </a:p>
          <a:p>
            <a:pPr marL="354330" indent="-354330" eaLnBrk="1" hangingPunct="1">
              <a:lnSpc>
                <a:spcPct val="90000"/>
              </a:lnSpc>
              <a:buNone/>
            </a:pPr>
            <a:endParaRPr lang="en-US" altLang="zh-CN" sz="3200" dirty="0">
              <a:latin typeface="Arial" panose="020B0604020202020204" pitchFamily="34" charset="0"/>
              <a:cs typeface="Tahoma" panose="020B0604030504040204" pitchFamily="34" charset="0"/>
            </a:endParaRPr>
          </a:p>
          <a:p>
            <a:pPr marL="354330" indent="-354330" eaLnBrk="1" hangingPunct="1">
              <a:lnSpc>
                <a:spcPct val="90000"/>
              </a:lnSpc>
              <a:buNone/>
            </a:pPr>
            <a:r>
              <a:rPr lang="en-US" altLang="zh-CN" sz="3200" dirty="0">
                <a:latin typeface="Arial" panose="020B0604020202020204" pitchFamily="34" charset="0"/>
                <a:cs typeface="Tahoma" panose="020B0604030504040204" pitchFamily="34" charset="0"/>
              </a:rPr>
              <a:t>2) </a:t>
            </a:r>
            <a:r>
              <a:rPr lang="zh-CN" altLang="en-US" sz="3200" dirty="0">
                <a:latin typeface="Arial" panose="020B0604020202020204" pitchFamily="34" charset="0"/>
              </a:rPr>
              <a:t>查询学习“</a:t>
            </a:r>
            <a:r>
              <a:rPr lang="en-US" altLang="zh-CN" sz="3200" dirty="0">
                <a:latin typeface="Arial" panose="020B0604020202020204" pitchFamily="34" charset="0"/>
              </a:rPr>
              <a:t>C2</a:t>
            </a:r>
            <a:r>
              <a:rPr lang="zh-CN" altLang="en-US" sz="3200" dirty="0">
                <a:latin typeface="Arial" panose="020B0604020202020204" pitchFamily="34" charset="0"/>
              </a:rPr>
              <a:t>”课程的所有学生的学号。</a:t>
            </a:r>
            <a:endParaRPr lang="zh-CN" altLang="en-US" sz="3200" dirty="0">
              <a:latin typeface="Arial" panose="020B0604020202020204" pitchFamily="34" charset="0"/>
            </a:endParaRPr>
          </a:p>
          <a:p>
            <a:pPr marL="354330" indent="-354330" eaLnBrk="1" hangingPunct="1">
              <a:lnSpc>
                <a:spcPct val="90000"/>
              </a:lnSpc>
              <a:spcBef>
                <a:spcPct val="25000"/>
              </a:spcBef>
              <a:buNone/>
            </a:pPr>
            <a:r>
              <a:rPr lang="zh-CN" altLang="en-US" sz="3200" dirty="0">
                <a:latin typeface="Arial" panose="020B0604020202020204" pitchFamily="34" charset="0"/>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8000" dirty="0">
                <a:latin typeface="Arial" panose="020B0604020202020204" pitchFamily="34" charset="0"/>
                <a:sym typeface="Symbol" panose="05050102010706020507" pitchFamily="18" charset="2"/>
              </a:rPr>
              <a:t>Sno</a:t>
            </a:r>
            <a:r>
              <a:rPr lang="en-US" altLang="zh-CN" sz="3200" baseline="-25000" dirty="0">
                <a:latin typeface="Arial" panose="020B0604020202020204" pitchFamily="34" charset="0"/>
              </a:rPr>
              <a:t> </a:t>
            </a:r>
            <a:r>
              <a:rPr lang="en-US" altLang="zh-CN" sz="3200" dirty="0">
                <a:latin typeface="Arial" panose="020B0604020202020204" pitchFamily="34" charset="0"/>
              </a:rPr>
              <a:t>( </a:t>
            </a:r>
            <a:r>
              <a:rPr lang="en-US" altLang="zh-CN" sz="3200" dirty="0">
                <a:sym typeface="Symbol" panose="05050102010706020507" pitchFamily="18" charset="2"/>
              </a:rPr>
              <a:t></a:t>
            </a:r>
            <a:r>
              <a:rPr lang="en-US" altLang="zh-CN" sz="3200" baseline="-18000" dirty="0">
                <a:latin typeface="Arial" panose="020B0604020202020204" pitchFamily="34" charset="0"/>
                <a:sym typeface="Symbol" panose="05050102010706020507" pitchFamily="18" charset="2"/>
              </a:rPr>
              <a:t>Cno='C2' </a:t>
            </a:r>
            <a:r>
              <a:rPr lang="en-US" altLang="zh-CN" sz="3200" dirty="0">
                <a:latin typeface="Arial" panose="020B0604020202020204" pitchFamily="34" charset="0"/>
                <a:cs typeface="Tahoma" panose="020B0604030504040204" pitchFamily="34" charset="0"/>
              </a:rPr>
              <a:t>( SC ) )</a:t>
            </a:r>
            <a:endParaRPr lang="en-US" altLang="zh-CN" sz="3200" dirty="0">
              <a:latin typeface="Arial" panose="020B0604020202020204" pitchFamily="34" charset="0"/>
              <a:cs typeface="Tahoma" panose="020B0604030504040204" pitchFamily="34" charset="0"/>
            </a:endParaRPr>
          </a:p>
          <a:p>
            <a:pPr marL="354330" indent="-354330" eaLnBrk="1" hangingPunct="1">
              <a:lnSpc>
                <a:spcPct val="90000"/>
              </a:lnSpc>
              <a:buNone/>
            </a:pPr>
            <a:endParaRPr lang="en-US" altLang="zh-CN" sz="3200" baseline="-18000" dirty="0">
              <a:latin typeface="Arial" panose="020B0604020202020204" pitchFamily="34" charset="0"/>
              <a:sym typeface="Symbol" panose="05050102010706020507" pitchFamily="18" charset="2"/>
            </a:endParaRPr>
          </a:p>
        </p:txBody>
      </p:sp>
      <p:sp>
        <p:nvSpPr>
          <p:cNvPr id="73732" name="Text Box 24"/>
          <p:cNvSpPr txBox="1"/>
          <p:nvPr/>
        </p:nvSpPr>
        <p:spPr>
          <a:xfrm>
            <a:off x="827088" y="981075"/>
            <a:ext cx="7345362" cy="173990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S ( Sno, Sname, Ssex, Sage )</a:t>
            </a:r>
            <a:endParaRPr lang="en-US" altLang="zh-CN" dirty="0">
              <a:solidFill>
                <a:srgbClr val="0000CC"/>
              </a:solidFill>
              <a:latin typeface="Arial" panose="020B0604020202020204" pitchFamily="34" charset="0"/>
              <a:ea typeface="宋体" panose="02010600030101010101" pitchFamily="2" charset="-122"/>
            </a:endParaRPr>
          </a:p>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C ( Cno, Cname, Tno )</a:t>
            </a:r>
            <a:endParaRPr lang="en-US" altLang="zh-CN" dirty="0">
              <a:solidFill>
                <a:schemeClr val="tx1"/>
              </a:solidFill>
              <a:latin typeface="Arial" panose="020B0604020202020204" pitchFamily="34" charset="0"/>
              <a:ea typeface="宋体" panose="02010600030101010101" pitchFamily="2" charset="-122"/>
            </a:endParaRPr>
          </a:p>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SC ( Sno, Cno, Score )</a:t>
            </a:r>
            <a:endParaRPr lang="en-US" altLang="zh-CN" dirty="0">
              <a:solidFill>
                <a:srgbClr val="0000CC"/>
              </a:solidFill>
              <a:latin typeface="Arial" panose="020B0604020202020204" pitchFamily="34" charset="0"/>
              <a:ea typeface="宋体" panose="02010600030101010101" pitchFamily="2" charset="-122"/>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1">
                                            <p:txEl>
                                              <p:charRg st="0" end="23"/>
                                            </p:txEl>
                                          </p:spTgt>
                                        </p:tgtEl>
                                        <p:attrNameLst>
                                          <p:attrName>style.visibility</p:attrName>
                                        </p:attrNameLst>
                                      </p:cBhvr>
                                      <p:to>
                                        <p:strVal val="visible"/>
                                      </p:to>
                                    </p:set>
                                    <p:anim calcmode="lin" valueType="num">
                                      <p:cBhvr additive="base">
                                        <p:cTn id="7" dur="500" fill="hold"/>
                                        <p:tgtEl>
                                          <p:spTgt spid="114691">
                                            <p:txEl>
                                              <p:charRg st="0" end="2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1">
                                            <p:txEl>
                                              <p:charRg st="0" end="2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1">
                                            <p:txEl>
                                              <p:charRg st="23" end="68"/>
                                            </p:txEl>
                                          </p:spTgt>
                                        </p:tgtEl>
                                        <p:attrNameLst>
                                          <p:attrName>style.visibility</p:attrName>
                                        </p:attrNameLst>
                                      </p:cBhvr>
                                      <p:to>
                                        <p:strVal val="visible"/>
                                      </p:to>
                                    </p:set>
                                    <p:anim calcmode="lin" valueType="num">
                                      <p:cBhvr additive="base">
                                        <p:cTn id="13" dur="500" fill="hold"/>
                                        <p:tgtEl>
                                          <p:spTgt spid="114691">
                                            <p:txEl>
                                              <p:charRg st="23" end="6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1">
                                            <p:txEl>
                                              <p:charRg st="23" end="6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691">
                                            <p:txEl>
                                              <p:charRg st="69" end="92"/>
                                            </p:txEl>
                                          </p:spTgt>
                                        </p:tgtEl>
                                        <p:attrNameLst>
                                          <p:attrName>style.visibility</p:attrName>
                                        </p:attrNameLst>
                                      </p:cBhvr>
                                      <p:to>
                                        <p:strVal val="visible"/>
                                      </p:to>
                                    </p:set>
                                    <p:anim calcmode="lin" valueType="num">
                                      <p:cBhvr additive="base">
                                        <p:cTn id="19" dur="500" fill="hold"/>
                                        <p:tgtEl>
                                          <p:spTgt spid="114691">
                                            <p:txEl>
                                              <p:charRg st="69" end="9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1">
                                            <p:txEl>
                                              <p:charRg st="69" end="9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691">
                                            <p:txEl>
                                              <p:charRg st="92" end="123"/>
                                            </p:txEl>
                                          </p:spTgt>
                                        </p:tgtEl>
                                        <p:attrNameLst>
                                          <p:attrName>style.visibility</p:attrName>
                                        </p:attrNameLst>
                                      </p:cBhvr>
                                      <p:to>
                                        <p:strVal val="visible"/>
                                      </p:to>
                                    </p:set>
                                    <p:anim calcmode="lin" valueType="num">
                                      <p:cBhvr additive="base">
                                        <p:cTn id="25" dur="500" fill="hold"/>
                                        <p:tgtEl>
                                          <p:spTgt spid="114691">
                                            <p:txEl>
                                              <p:charRg st="92" end="12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691">
                                            <p:txEl>
                                              <p:charRg st="92" end="12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综合应用举例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299011" name="Rectangle 3"/>
          <p:cNvSpPr>
            <a:spLocks noGrp="1"/>
          </p:cNvSpPr>
          <p:nvPr>
            <p:ph idx="1"/>
          </p:nvPr>
        </p:nvSpPr>
        <p:spPr>
          <a:xfrm>
            <a:off x="152400" y="3068638"/>
            <a:ext cx="8848725" cy="3600450"/>
          </a:xfrm>
        </p:spPr>
        <p:txBody>
          <a:bodyPr vert="horz" wrap="square" lIns="91440" tIns="45720" rIns="91440" bIns="45720" anchor="t" anchorCtr="0"/>
          <a:p>
            <a:pPr marL="354330" indent="-354330" eaLnBrk="1" hangingPunct="1">
              <a:buNone/>
            </a:pPr>
            <a:r>
              <a:rPr lang="en-US" altLang="zh-CN" sz="3200" dirty="0">
                <a:latin typeface="Arial" panose="020B0604020202020204" pitchFamily="34" charset="0"/>
                <a:cs typeface="Tahoma" panose="020B0604030504040204" pitchFamily="34" charset="0"/>
              </a:rPr>
              <a:t>3) </a:t>
            </a:r>
            <a:r>
              <a:rPr lang="zh-CN" altLang="en-US" sz="3200" dirty="0">
                <a:latin typeface="Arial" panose="020B0604020202020204" pitchFamily="34" charset="0"/>
              </a:rPr>
              <a:t>查询学习“</a:t>
            </a:r>
            <a:r>
              <a:rPr lang="en-US" altLang="zh-CN" sz="3200" dirty="0">
                <a:latin typeface="Arial" panose="020B0604020202020204" pitchFamily="34" charset="0"/>
              </a:rPr>
              <a:t>C2”</a:t>
            </a:r>
            <a:r>
              <a:rPr lang="zh-CN" altLang="en-US" sz="3200" dirty="0">
                <a:latin typeface="Arial" panose="020B0604020202020204" pitchFamily="34" charset="0"/>
              </a:rPr>
              <a:t>课程的所有学生的姓名、年龄</a:t>
            </a:r>
            <a:endParaRPr lang="zh-CN" altLang="en-US" sz="3200" dirty="0">
              <a:latin typeface="Arial" panose="020B0604020202020204" pitchFamily="34" charset="0"/>
            </a:endParaRPr>
          </a:p>
          <a:p>
            <a:pPr marL="354330" indent="-354330" eaLnBrk="1" hangingPunct="1">
              <a:spcBef>
                <a:spcPct val="15000"/>
              </a:spcBef>
              <a:buNone/>
            </a:pPr>
            <a:r>
              <a:rPr lang="zh-CN" altLang="en-US" sz="3200" dirty="0">
                <a:latin typeface="Arial" panose="020B0604020202020204" pitchFamily="34" charset="0"/>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8000" dirty="0">
                <a:latin typeface="Arial" panose="020B0604020202020204" pitchFamily="34" charset="0"/>
                <a:sym typeface="Symbol" panose="05050102010706020507" pitchFamily="18" charset="2"/>
              </a:rPr>
              <a:t>S</a:t>
            </a:r>
            <a:r>
              <a:rPr lang="en-US" altLang="zh-CN" sz="3200" baseline="-18000" dirty="0">
                <a:latin typeface="Arial" panose="020B0604020202020204" pitchFamily="34" charset="0"/>
              </a:rPr>
              <a:t>name,Sage</a:t>
            </a:r>
            <a:r>
              <a:rPr lang="en-US" altLang="zh-CN" sz="3200" baseline="-25000" dirty="0">
                <a:latin typeface="Arial" panose="020B0604020202020204" pitchFamily="34" charset="0"/>
              </a:rPr>
              <a:t> </a:t>
            </a:r>
            <a:r>
              <a:rPr lang="en-US" altLang="zh-CN" sz="3200" dirty="0">
                <a:latin typeface="Arial" panose="020B0604020202020204" pitchFamily="34" charset="0"/>
              </a:rPr>
              <a:t>( </a:t>
            </a:r>
            <a:r>
              <a:rPr lang="en-US" altLang="zh-CN" sz="3200" dirty="0">
                <a:sym typeface="Symbol" panose="05050102010706020507" pitchFamily="18" charset="2"/>
              </a:rPr>
              <a:t></a:t>
            </a:r>
            <a:r>
              <a:rPr lang="en-US" altLang="zh-CN" sz="3200" baseline="-18000" dirty="0">
                <a:latin typeface="Arial" panose="020B0604020202020204" pitchFamily="34" charset="0"/>
                <a:sym typeface="Symbol" panose="05050102010706020507" pitchFamily="18" charset="2"/>
              </a:rPr>
              <a:t>Cno='C2' </a:t>
            </a:r>
            <a:r>
              <a:rPr lang="en-US" altLang="zh-CN" sz="3200" dirty="0">
                <a:latin typeface="Arial" panose="020B0604020202020204" pitchFamily="34" charset="0"/>
                <a:cs typeface="Tahoma" panose="020B0604030504040204" pitchFamily="34" charset="0"/>
              </a:rPr>
              <a:t>(SC)      S ) </a:t>
            </a:r>
            <a:endParaRPr lang="en-US" altLang="zh-CN" sz="3200" dirty="0">
              <a:latin typeface="Arial" panose="020B0604020202020204" pitchFamily="34" charset="0"/>
            </a:endParaRPr>
          </a:p>
          <a:p>
            <a:pPr marL="354330" indent="-354330" eaLnBrk="1" hangingPunct="1">
              <a:spcBef>
                <a:spcPts val="1200"/>
              </a:spcBef>
              <a:buNone/>
            </a:pPr>
            <a:endParaRPr lang="en-US" altLang="zh-CN" sz="2800" dirty="0">
              <a:latin typeface="Arial" panose="020B0604020202020204" pitchFamily="34" charset="0"/>
              <a:cs typeface="Tahoma" panose="020B0604030504040204" pitchFamily="34" charset="0"/>
            </a:endParaRPr>
          </a:p>
          <a:p>
            <a:pPr marL="354330" indent="-354330" eaLnBrk="1" hangingPunct="1">
              <a:buNone/>
            </a:pPr>
            <a:r>
              <a:rPr lang="en-US" altLang="zh-CN" sz="3200" dirty="0">
                <a:latin typeface="Arial" panose="020B0604020202020204" pitchFamily="34" charset="0"/>
                <a:cs typeface="Tahoma" panose="020B0604030504040204" pitchFamily="34" charset="0"/>
              </a:rPr>
              <a:t>4) </a:t>
            </a:r>
            <a:r>
              <a:rPr lang="zh-CN" altLang="en-US" sz="3200" dirty="0">
                <a:latin typeface="Arial" panose="020B0604020202020204" pitchFamily="34" charset="0"/>
              </a:rPr>
              <a:t>查询</a:t>
            </a:r>
            <a:r>
              <a:rPr lang="zh-CN" altLang="en-US" sz="3200" dirty="0"/>
              <a:t>“</a:t>
            </a:r>
            <a:r>
              <a:rPr lang="zh-CN" altLang="en-US" sz="3200" dirty="0">
                <a:latin typeface="Arial" panose="020B0604020202020204" pitchFamily="34" charset="0"/>
              </a:rPr>
              <a:t>张三</a:t>
            </a:r>
            <a:r>
              <a:rPr lang="zh-CN" altLang="en-US" sz="3200" dirty="0"/>
              <a:t>”</a:t>
            </a:r>
            <a:r>
              <a:rPr lang="zh-CN" altLang="en-US" sz="3200" dirty="0">
                <a:latin typeface="Arial" panose="020B0604020202020204" pitchFamily="34" charset="0"/>
              </a:rPr>
              <a:t>同学不学课程的课程号。</a:t>
            </a:r>
            <a:endParaRPr lang="zh-CN" altLang="en-US" sz="3200" dirty="0">
              <a:latin typeface="Arial" panose="020B0604020202020204" pitchFamily="34" charset="0"/>
              <a:cs typeface="Tahoma" panose="020B0604030504040204" pitchFamily="34" charset="0"/>
            </a:endParaRPr>
          </a:p>
          <a:p>
            <a:pPr marL="354330" indent="-354330" eaLnBrk="1" hangingPunct="1">
              <a:spcBef>
                <a:spcPct val="15000"/>
              </a:spcBef>
              <a:buNone/>
            </a:pPr>
            <a:r>
              <a:rPr lang="zh-CN" altLang="en-US" sz="3200" dirty="0">
                <a:latin typeface="Arial" panose="020B0604020202020204" pitchFamily="34" charset="0"/>
                <a:sym typeface="Symbol" panose="05050102010706020507" pitchFamily="18" charset="2"/>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8000" dirty="0">
                <a:latin typeface="Arial" panose="020B0604020202020204" pitchFamily="34" charset="0"/>
                <a:sym typeface="Symbol" panose="05050102010706020507" pitchFamily="18" charset="2"/>
              </a:rPr>
              <a:t>Cno</a:t>
            </a:r>
            <a:r>
              <a:rPr lang="en-US" altLang="zh-CN" sz="3200" baseline="-25000" dirty="0">
                <a:latin typeface="Arial" panose="020B0604020202020204" pitchFamily="34" charset="0"/>
              </a:rPr>
              <a:t> </a:t>
            </a:r>
            <a:r>
              <a:rPr lang="en-US" altLang="zh-CN" sz="3200" dirty="0">
                <a:latin typeface="Arial" panose="020B0604020202020204" pitchFamily="34" charset="0"/>
              </a:rPr>
              <a:t>(C) </a:t>
            </a:r>
            <a:r>
              <a:rPr lang="zh-CN" altLang="en-US" sz="3200" dirty="0">
                <a:latin typeface="Arial" panose="020B0604020202020204" pitchFamily="34" charset="0"/>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8000" dirty="0">
                <a:latin typeface="Arial" panose="020B0604020202020204" pitchFamily="34" charset="0"/>
                <a:sym typeface="Symbol" panose="05050102010706020507" pitchFamily="18" charset="2"/>
              </a:rPr>
              <a:t>Cno</a:t>
            </a:r>
            <a:r>
              <a:rPr lang="en-US" altLang="zh-CN" sz="3200" baseline="-25000" dirty="0">
                <a:latin typeface="Arial" panose="020B0604020202020204" pitchFamily="34" charset="0"/>
              </a:rPr>
              <a:t> </a:t>
            </a:r>
            <a:r>
              <a:rPr lang="en-US" altLang="zh-CN" sz="3200" dirty="0">
                <a:latin typeface="Arial" panose="020B0604020202020204" pitchFamily="34" charset="0"/>
              </a:rPr>
              <a:t>(</a:t>
            </a:r>
            <a:r>
              <a:rPr lang="en-US" altLang="zh-CN" sz="3200" dirty="0">
                <a:sym typeface="Symbol" panose="05050102010706020507" pitchFamily="18" charset="2"/>
              </a:rPr>
              <a:t></a:t>
            </a:r>
            <a:r>
              <a:rPr lang="en-US" altLang="zh-CN" sz="3200" baseline="-18000" dirty="0">
                <a:latin typeface="Arial" panose="020B0604020202020204" pitchFamily="34" charset="0"/>
                <a:sym typeface="Symbol" panose="05050102010706020507" pitchFamily="18" charset="2"/>
              </a:rPr>
              <a:t>Sname='</a:t>
            </a:r>
            <a:r>
              <a:rPr lang="zh-CN" altLang="en-US" sz="3200" baseline="-18000" dirty="0">
                <a:latin typeface="Arial" panose="020B0604020202020204" pitchFamily="34" charset="0"/>
                <a:sym typeface="Symbol" panose="05050102010706020507" pitchFamily="18" charset="2"/>
              </a:rPr>
              <a:t>张三</a:t>
            </a:r>
            <a:r>
              <a:rPr lang="en-US" altLang="zh-CN" sz="3200" baseline="-18000" dirty="0">
                <a:latin typeface="Arial" panose="020B0604020202020204" pitchFamily="34" charset="0"/>
                <a:sym typeface="Symbol" panose="05050102010706020507" pitchFamily="18" charset="2"/>
              </a:rPr>
              <a:t>' </a:t>
            </a:r>
            <a:r>
              <a:rPr lang="en-US" altLang="zh-CN" sz="3200" dirty="0">
                <a:latin typeface="Arial" panose="020B0604020202020204" pitchFamily="34" charset="0"/>
                <a:cs typeface="Tahoma" panose="020B0604030504040204" pitchFamily="34" charset="0"/>
              </a:rPr>
              <a:t>(S)       SC ) </a:t>
            </a:r>
            <a:endParaRPr lang="en-US" altLang="zh-CN" sz="3200" dirty="0">
              <a:latin typeface="Arial" panose="020B0604020202020204" pitchFamily="34" charset="0"/>
              <a:ea typeface="Tahoma" panose="020B0604030504040204" pitchFamily="34" charset="0"/>
            </a:endParaRPr>
          </a:p>
        </p:txBody>
      </p:sp>
      <p:grpSp>
        <p:nvGrpSpPr>
          <p:cNvPr id="2" name="Group 9"/>
          <p:cNvGrpSpPr/>
          <p:nvPr/>
        </p:nvGrpSpPr>
        <p:grpSpPr>
          <a:xfrm>
            <a:off x="6500813" y="5427663"/>
            <a:ext cx="503237" cy="287337"/>
            <a:chOff x="4320" y="2256"/>
            <a:chExt cx="240" cy="144"/>
          </a:xfrm>
        </p:grpSpPr>
        <p:sp>
          <p:nvSpPr>
            <p:cNvPr id="74763" name="Line 10"/>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4764" name="Line 11"/>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4765" name="Line 12"/>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4766" name="Line 13"/>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sp>
        <p:nvSpPr>
          <p:cNvPr id="74757" name="Text Box 14"/>
          <p:cNvSpPr txBox="1"/>
          <p:nvPr/>
        </p:nvSpPr>
        <p:spPr>
          <a:xfrm>
            <a:off x="827088" y="981075"/>
            <a:ext cx="7345362" cy="173990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S ( Sno, Sname, Ssex, Sage )</a:t>
            </a:r>
            <a:endParaRPr lang="en-US" altLang="zh-CN" dirty="0">
              <a:solidFill>
                <a:srgbClr val="0000CC"/>
              </a:solidFill>
              <a:latin typeface="Arial" panose="020B0604020202020204" pitchFamily="34" charset="0"/>
              <a:ea typeface="宋体" panose="02010600030101010101" pitchFamily="2" charset="-122"/>
            </a:endParaRPr>
          </a:p>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C ( Cno, Cname, Tno )</a:t>
            </a:r>
            <a:endParaRPr lang="en-US" altLang="zh-CN" dirty="0">
              <a:solidFill>
                <a:schemeClr val="tx1"/>
              </a:solidFill>
              <a:latin typeface="Arial" panose="020B0604020202020204" pitchFamily="34" charset="0"/>
              <a:ea typeface="宋体" panose="02010600030101010101" pitchFamily="2" charset="-122"/>
            </a:endParaRPr>
          </a:p>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SC ( Sno, Cno, Score )</a:t>
            </a:r>
            <a:endParaRPr lang="en-US" altLang="zh-CN" dirty="0">
              <a:solidFill>
                <a:srgbClr val="0000CC"/>
              </a:solidFill>
              <a:latin typeface="Arial" panose="020B0604020202020204" pitchFamily="34" charset="0"/>
              <a:ea typeface="宋体" panose="02010600030101010101" pitchFamily="2" charset="-122"/>
            </a:endParaRPr>
          </a:p>
        </p:txBody>
      </p:sp>
      <p:grpSp>
        <p:nvGrpSpPr>
          <p:cNvPr id="3" name="Group 15"/>
          <p:cNvGrpSpPr/>
          <p:nvPr/>
        </p:nvGrpSpPr>
        <p:grpSpPr>
          <a:xfrm>
            <a:off x="5348288" y="3803650"/>
            <a:ext cx="503237" cy="287338"/>
            <a:chOff x="4320" y="2256"/>
            <a:chExt cx="240" cy="144"/>
          </a:xfrm>
        </p:grpSpPr>
        <p:sp>
          <p:nvSpPr>
            <p:cNvPr id="74759" name="Line 16"/>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4760" name="Line 17"/>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4761" name="Line 18"/>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4762" name="Line 19"/>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9011">
                                            <p:txEl>
                                              <p:charRg st="0" end="25"/>
                                            </p:txEl>
                                          </p:spTgt>
                                        </p:tgtEl>
                                        <p:attrNameLst>
                                          <p:attrName>style.visibility</p:attrName>
                                        </p:attrNameLst>
                                      </p:cBhvr>
                                      <p:to>
                                        <p:strVal val="visible"/>
                                      </p:to>
                                    </p:set>
                                    <p:anim calcmode="lin" valueType="num">
                                      <p:cBhvr additive="base">
                                        <p:cTn id="7" dur="500" fill="hold"/>
                                        <p:tgtEl>
                                          <p:spTgt spid="299011">
                                            <p:txEl>
                                              <p:charRg st="0" end="2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9011">
                                            <p:txEl>
                                              <p:charRg st="0" end="2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9011">
                                            <p:txEl>
                                              <p:charRg st="25" end="69"/>
                                            </p:txEl>
                                          </p:spTgt>
                                        </p:tgtEl>
                                        <p:attrNameLst>
                                          <p:attrName>style.visibility</p:attrName>
                                        </p:attrNameLst>
                                      </p:cBhvr>
                                      <p:to>
                                        <p:strVal val="visible"/>
                                      </p:to>
                                    </p:set>
                                    <p:anim calcmode="lin" valueType="num">
                                      <p:cBhvr additive="base">
                                        <p:cTn id="13" dur="500" fill="hold"/>
                                        <p:tgtEl>
                                          <p:spTgt spid="299011">
                                            <p:txEl>
                                              <p:charRg st="25" end="6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9011">
                                            <p:txEl>
                                              <p:charRg st="25" end="69"/>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99011">
                                            <p:txEl>
                                              <p:charRg st="70" end="91"/>
                                            </p:txEl>
                                          </p:spTgt>
                                        </p:tgtEl>
                                        <p:attrNameLst>
                                          <p:attrName>style.visibility</p:attrName>
                                        </p:attrNameLst>
                                      </p:cBhvr>
                                      <p:to>
                                        <p:strVal val="visible"/>
                                      </p:to>
                                    </p:set>
                                    <p:anim calcmode="lin" valueType="num">
                                      <p:cBhvr additive="base">
                                        <p:cTn id="23" dur="500" fill="hold"/>
                                        <p:tgtEl>
                                          <p:spTgt spid="299011">
                                            <p:txEl>
                                              <p:charRg st="70" end="9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99011">
                                            <p:txEl>
                                              <p:charRg st="70" end="9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99011">
                                            <p:txEl>
                                              <p:charRg st="91" end="141"/>
                                            </p:txEl>
                                          </p:spTgt>
                                        </p:tgtEl>
                                        <p:attrNameLst>
                                          <p:attrName>style.visibility</p:attrName>
                                        </p:attrNameLst>
                                      </p:cBhvr>
                                      <p:to>
                                        <p:strVal val="visible"/>
                                      </p:to>
                                    </p:set>
                                    <p:anim calcmode="lin" valueType="num">
                                      <p:cBhvr additive="base">
                                        <p:cTn id="29" dur="500" fill="hold"/>
                                        <p:tgtEl>
                                          <p:spTgt spid="299011">
                                            <p:txEl>
                                              <p:charRg st="91" end="14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99011">
                                            <p:txEl>
                                              <p:charRg st="91" end="14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38"/>
          <p:cNvSpPr txBox="1"/>
          <p:nvPr/>
        </p:nvSpPr>
        <p:spPr>
          <a:xfrm>
            <a:off x="827088" y="908050"/>
            <a:ext cx="7345362" cy="173990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S ( Sno, Sname, Ssex, Sage )</a:t>
            </a:r>
            <a:endParaRPr lang="en-US" altLang="zh-CN" dirty="0">
              <a:solidFill>
                <a:srgbClr val="0000CC"/>
              </a:solidFill>
              <a:latin typeface="Arial" panose="020B0604020202020204" pitchFamily="34" charset="0"/>
              <a:ea typeface="宋体" panose="02010600030101010101" pitchFamily="2" charset="-122"/>
            </a:endParaRPr>
          </a:p>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C ( Cno, Cname, Tno )</a:t>
            </a:r>
            <a:endParaRPr lang="en-US" altLang="zh-CN" dirty="0">
              <a:solidFill>
                <a:schemeClr val="tx1"/>
              </a:solidFill>
              <a:latin typeface="Arial" panose="020B0604020202020204" pitchFamily="34" charset="0"/>
              <a:ea typeface="宋体" panose="02010600030101010101" pitchFamily="2" charset="-122"/>
            </a:endParaRPr>
          </a:p>
          <a:p>
            <a:pPr marL="0" lvl="0" indent="0" eaLnBrk="1" hangingPunct="1">
              <a:buClrTx/>
              <a:buSzTx/>
              <a:buFontTx/>
              <a:buNone/>
            </a:pPr>
            <a:r>
              <a:rPr lang="en-US" altLang="zh-CN" dirty="0">
                <a:solidFill>
                  <a:srgbClr val="0000CC"/>
                </a:solidFill>
                <a:latin typeface="Arial" panose="020B0604020202020204" pitchFamily="34" charset="0"/>
                <a:ea typeface="宋体" panose="02010600030101010101" pitchFamily="2" charset="-122"/>
              </a:rPr>
              <a:t>SC ( Sno, Cno, Score )</a:t>
            </a:r>
            <a:endParaRPr lang="en-US" altLang="zh-CN" dirty="0">
              <a:solidFill>
                <a:srgbClr val="0000CC"/>
              </a:solidFill>
              <a:latin typeface="Arial" panose="020B0604020202020204" pitchFamily="34" charset="0"/>
              <a:ea typeface="宋体" panose="02010600030101010101" pitchFamily="2" charset="-122"/>
            </a:endParaRPr>
          </a:p>
        </p:txBody>
      </p:sp>
      <p:sp>
        <p:nvSpPr>
          <p:cNvPr id="30003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关系运算</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综合应用举例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00035" name="Rectangle 3"/>
          <p:cNvSpPr>
            <a:spLocks noGrp="1"/>
          </p:cNvSpPr>
          <p:nvPr>
            <p:ph idx="1"/>
          </p:nvPr>
        </p:nvSpPr>
        <p:spPr>
          <a:xfrm>
            <a:off x="144463" y="2781300"/>
            <a:ext cx="8964612" cy="3632200"/>
          </a:xfrm>
        </p:spPr>
        <p:txBody>
          <a:bodyPr vert="horz" wrap="square" lIns="91440" tIns="45720" rIns="91440" bIns="45720" anchor="t" anchorCtr="0"/>
          <a:p>
            <a:pPr marL="0" indent="0" eaLnBrk="1" hangingPunct="1">
              <a:lnSpc>
                <a:spcPct val="90000"/>
              </a:lnSpc>
              <a:buNone/>
            </a:pPr>
            <a:r>
              <a:rPr lang="en-US" altLang="zh-CN" sz="3200" dirty="0">
                <a:latin typeface="Arial" panose="020B0604020202020204" pitchFamily="34" charset="0"/>
              </a:rPr>
              <a:t>5) </a:t>
            </a:r>
            <a:r>
              <a:rPr lang="zh-CN" altLang="en-US" sz="3200" dirty="0">
                <a:latin typeface="Arial" panose="020B0604020202020204" pitchFamily="34" charset="0"/>
              </a:rPr>
              <a:t>查询至少学习</a:t>
            </a:r>
            <a:r>
              <a:rPr lang="en-US" altLang="zh-CN" sz="3200" dirty="0">
                <a:latin typeface="Arial" panose="020B0604020202020204" pitchFamily="34" charset="0"/>
              </a:rPr>
              <a:t>T5</a:t>
            </a:r>
            <a:r>
              <a:rPr lang="zh-CN" altLang="en-US" sz="3200" dirty="0">
                <a:latin typeface="Arial" panose="020B0604020202020204" pitchFamily="34" charset="0"/>
              </a:rPr>
              <a:t>老师所授一门课程的所有学生的姓名</a:t>
            </a:r>
            <a:endParaRPr lang="zh-CN" altLang="en-US" sz="3200" dirty="0">
              <a:latin typeface="Arial" panose="020B0604020202020204" pitchFamily="34" charset="0"/>
            </a:endParaRPr>
          </a:p>
          <a:p>
            <a:pPr marL="0" indent="0" eaLnBrk="1" hangingPunct="1">
              <a:lnSpc>
                <a:spcPct val="90000"/>
              </a:lnSpc>
              <a:buNone/>
            </a:pPr>
            <a:r>
              <a:rPr lang="zh-CN" altLang="en-US" sz="3200" dirty="0">
                <a:latin typeface="Arial" panose="020B0604020202020204" pitchFamily="34" charset="0"/>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4000" dirty="0">
                <a:latin typeface="Arial" panose="020B0604020202020204" pitchFamily="34" charset="0"/>
              </a:rPr>
              <a:t>Sname</a:t>
            </a:r>
            <a:r>
              <a:rPr lang="en-US" altLang="zh-CN" sz="3200" baseline="-30000" dirty="0">
                <a:latin typeface="Arial" panose="020B0604020202020204" pitchFamily="34" charset="0"/>
              </a:rPr>
              <a:t> </a:t>
            </a:r>
            <a:r>
              <a:rPr lang="en-US" altLang="zh-CN" sz="3200" dirty="0">
                <a:latin typeface="Arial" panose="020B0604020202020204" pitchFamily="34" charset="0"/>
              </a:rPr>
              <a:t>(σ</a:t>
            </a:r>
            <a:r>
              <a:rPr lang="en-US" altLang="zh-CN" sz="3200" baseline="-14000" dirty="0">
                <a:latin typeface="Arial" panose="020B0604020202020204" pitchFamily="34" charset="0"/>
              </a:rPr>
              <a:t>Tno='T5'</a:t>
            </a:r>
            <a:r>
              <a:rPr lang="en-US" altLang="zh-CN" sz="3200" baseline="-30000" dirty="0">
                <a:latin typeface="Arial" panose="020B0604020202020204" pitchFamily="34" charset="0"/>
              </a:rPr>
              <a:t> </a:t>
            </a:r>
            <a:r>
              <a:rPr lang="en-US" altLang="zh-CN" sz="3200" dirty="0">
                <a:latin typeface="Arial" panose="020B0604020202020204" pitchFamily="34" charset="0"/>
              </a:rPr>
              <a:t>(C      SC      S))</a:t>
            </a:r>
            <a:br>
              <a:rPr lang="en-US" altLang="zh-CN" sz="3200" dirty="0">
                <a:latin typeface="Arial" panose="020B0604020202020204" pitchFamily="34" charset="0"/>
              </a:rPr>
            </a:br>
            <a:endParaRPr lang="en-US" altLang="zh-CN" sz="3200" dirty="0">
              <a:latin typeface="Arial" panose="020B0604020202020204" pitchFamily="34" charset="0"/>
            </a:endParaRPr>
          </a:p>
          <a:p>
            <a:pPr marL="0" indent="0" eaLnBrk="1" hangingPunct="1">
              <a:lnSpc>
                <a:spcPct val="90000"/>
              </a:lnSpc>
              <a:buNone/>
            </a:pPr>
            <a:r>
              <a:rPr lang="en-US" altLang="zh-CN" sz="3200" dirty="0">
                <a:latin typeface="Arial" panose="020B0604020202020204" pitchFamily="34" charset="0"/>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4000" dirty="0">
                <a:latin typeface="Arial" panose="020B0604020202020204" pitchFamily="34" charset="0"/>
              </a:rPr>
              <a:t>Sname</a:t>
            </a:r>
            <a:r>
              <a:rPr lang="en-US" altLang="zh-CN" sz="3200" dirty="0">
                <a:latin typeface="Arial" panose="020B0604020202020204" pitchFamily="34" charset="0"/>
              </a:rPr>
              <a:t>(</a:t>
            </a:r>
            <a:r>
              <a:rPr lang="en-US" altLang="zh-CN" sz="3200" dirty="0">
                <a:solidFill>
                  <a:srgbClr val="FF0000"/>
                </a:solidFill>
                <a:latin typeface="Arial" panose="020B0604020202020204" pitchFamily="34" charset="0"/>
              </a:rPr>
              <a:t>σ</a:t>
            </a:r>
            <a:r>
              <a:rPr lang="en-US" altLang="zh-CN" sz="3200" baseline="-14000" dirty="0">
                <a:solidFill>
                  <a:srgbClr val="FF0000"/>
                </a:solidFill>
                <a:latin typeface="Arial" panose="020B0604020202020204" pitchFamily="34" charset="0"/>
              </a:rPr>
              <a:t>Tno='T5' </a:t>
            </a:r>
            <a:r>
              <a:rPr lang="en-US" altLang="zh-CN" sz="3200" dirty="0">
                <a:solidFill>
                  <a:srgbClr val="FF0000"/>
                </a:solidFill>
                <a:latin typeface="Arial" panose="020B0604020202020204" pitchFamily="34" charset="0"/>
              </a:rPr>
              <a:t>(C)</a:t>
            </a:r>
            <a:r>
              <a:rPr lang="en-US" altLang="zh-CN" sz="3200" dirty="0">
                <a:latin typeface="Arial" panose="020B0604020202020204" pitchFamily="34" charset="0"/>
              </a:rPr>
              <a:t>      SC      </a:t>
            </a:r>
            <a:r>
              <a:rPr lang="en-US" altLang="zh-CN" sz="3200" dirty="0">
                <a:solidFill>
                  <a:srgbClr val="FF0000"/>
                </a:solidFill>
                <a:latin typeface="Times New Roman" panose="02020603050405020304" pitchFamily="18" charset="0"/>
                <a:cs typeface="Times New Roman" panose="02020603050405020304" pitchFamily="18" charset="0"/>
              </a:rPr>
              <a:t>П</a:t>
            </a:r>
            <a:r>
              <a:rPr lang="en-US" altLang="zh-CN" sz="3200" baseline="-14000" dirty="0">
                <a:solidFill>
                  <a:srgbClr val="FF0000"/>
                </a:solidFill>
                <a:latin typeface="Arial" panose="020B0604020202020204" pitchFamily="34" charset="0"/>
              </a:rPr>
              <a:t>Sno, Sname</a:t>
            </a:r>
            <a:r>
              <a:rPr lang="en-US" altLang="zh-CN" sz="3200" dirty="0">
                <a:solidFill>
                  <a:srgbClr val="FF0000"/>
                </a:solidFill>
                <a:latin typeface="Arial" panose="020B0604020202020204" pitchFamily="34" charset="0"/>
              </a:rPr>
              <a:t>(S)</a:t>
            </a:r>
            <a:r>
              <a:rPr lang="en-US" altLang="zh-CN" sz="3200" dirty="0">
                <a:latin typeface="Arial" panose="020B0604020202020204" pitchFamily="34" charset="0"/>
              </a:rPr>
              <a:t>)</a:t>
            </a:r>
            <a:br>
              <a:rPr lang="en-US" altLang="zh-CN" sz="3200" dirty="0">
                <a:latin typeface="Arial" panose="020B0604020202020204" pitchFamily="34" charset="0"/>
              </a:rPr>
            </a:br>
            <a:endParaRPr lang="en-US" altLang="zh-CN" sz="3200" dirty="0">
              <a:latin typeface="Arial" panose="020B0604020202020204" pitchFamily="34" charset="0"/>
            </a:endParaRPr>
          </a:p>
          <a:p>
            <a:pPr marL="0" indent="0" eaLnBrk="1" hangingPunct="1">
              <a:lnSpc>
                <a:spcPct val="90000"/>
              </a:lnSpc>
              <a:buNone/>
            </a:pPr>
            <a:r>
              <a:rPr lang="en-US" altLang="zh-CN" sz="3200" dirty="0">
                <a:latin typeface="Arial" panose="020B0604020202020204" pitchFamily="34" charset="0"/>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П</a:t>
            </a:r>
            <a:r>
              <a:rPr lang="en-US" altLang="zh-CN" sz="3200" baseline="-14000" dirty="0">
                <a:latin typeface="Arial" panose="020B0604020202020204" pitchFamily="34" charset="0"/>
              </a:rPr>
              <a:t>Sname</a:t>
            </a:r>
            <a:r>
              <a:rPr lang="en-US" altLang="zh-CN" sz="3200" baseline="-30000" dirty="0">
                <a:latin typeface="Arial" panose="020B0604020202020204" pitchFamily="34" charset="0"/>
              </a:rPr>
              <a:t> </a:t>
            </a:r>
            <a:r>
              <a:rPr lang="en-US" altLang="zh-CN" sz="3200" dirty="0">
                <a:latin typeface="Arial" panose="020B0604020202020204" pitchFamily="34" charset="0"/>
              </a:rPr>
              <a:t>(</a:t>
            </a:r>
            <a:r>
              <a:rPr lang="en-US" altLang="zh-CN" sz="3200" dirty="0">
                <a:solidFill>
                  <a:srgbClr val="FF0000"/>
                </a:solidFill>
                <a:latin typeface="Times New Roman" panose="02020603050405020304" pitchFamily="18" charset="0"/>
                <a:cs typeface="Times New Roman" panose="02020603050405020304" pitchFamily="18" charset="0"/>
                <a:sym typeface="+mn-ea"/>
              </a:rPr>
              <a:t>П</a:t>
            </a:r>
            <a:r>
              <a:rPr lang="en-US" altLang="zh-CN" sz="3200" baseline="-14000" dirty="0">
                <a:solidFill>
                  <a:srgbClr val="FF0000"/>
                </a:solidFill>
                <a:latin typeface="Arial" panose="020B0604020202020204" pitchFamily="34" charset="0"/>
              </a:rPr>
              <a:t>Sno</a:t>
            </a:r>
            <a:r>
              <a:rPr lang="en-US" altLang="zh-CN" sz="3200" baseline="-30000" dirty="0">
                <a:latin typeface="Arial" panose="020B0604020202020204" pitchFamily="34" charset="0"/>
              </a:rPr>
              <a:t> </a:t>
            </a:r>
            <a:r>
              <a:rPr lang="en-US" altLang="zh-CN" sz="3200" dirty="0">
                <a:solidFill>
                  <a:srgbClr val="FF0000"/>
                </a:solidFill>
                <a:latin typeface="Arial" panose="020B0604020202020204" pitchFamily="34" charset="0"/>
              </a:rPr>
              <a:t>(</a:t>
            </a:r>
            <a:r>
              <a:rPr lang="en-US" altLang="zh-CN" sz="3200" dirty="0">
                <a:latin typeface="Arial" panose="020B0604020202020204" pitchFamily="34" charset="0"/>
              </a:rPr>
              <a:t>σ</a:t>
            </a:r>
            <a:r>
              <a:rPr lang="en-US" altLang="zh-CN" sz="3200" baseline="-14000" dirty="0">
                <a:latin typeface="Arial" panose="020B0604020202020204" pitchFamily="34" charset="0"/>
              </a:rPr>
              <a:t>Tno='T5' </a:t>
            </a:r>
            <a:r>
              <a:rPr lang="en-US" altLang="zh-CN" sz="3200" dirty="0">
                <a:latin typeface="Arial" panose="020B0604020202020204" pitchFamily="34" charset="0"/>
              </a:rPr>
              <a:t>(C)      SC</a:t>
            </a:r>
            <a:r>
              <a:rPr lang="en-US" altLang="zh-CN" sz="3200" dirty="0">
                <a:solidFill>
                  <a:srgbClr val="FF0000"/>
                </a:solidFill>
                <a:latin typeface="Arial" panose="020B0604020202020204" pitchFamily="34" charset="0"/>
              </a:rPr>
              <a:t>)</a:t>
            </a:r>
            <a:br>
              <a:rPr lang="en-US" altLang="zh-CN" sz="3200" dirty="0">
                <a:solidFill>
                  <a:srgbClr val="FF0000"/>
                </a:solidFill>
                <a:latin typeface="Arial" panose="020B0604020202020204" pitchFamily="34" charset="0"/>
              </a:rPr>
            </a:br>
            <a:r>
              <a:rPr lang="en-US" altLang="zh-CN" sz="3200" dirty="0">
                <a:latin typeface="Arial" panose="020B0604020202020204" pitchFamily="34" charset="0"/>
              </a:rPr>
              <a:t>                                             </a:t>
            </a:r>
            <a:r>
              <a:rPr lang="en-US" altLang="zh-CN" sz="3200" dirty="0"/>
              <a:t>π</a:t>
            </a:r>
            <a:r>
              <a:rPr lang="en-US" altLang="zh-CN" sz="3200" baseline="-14000" dirty="0">
                <a:latin typeface="Arial" panose="020B0604020202020204" pitchFamily="34" charset="0"/>
              </a:rPr>
              <a:t>Sno,Sname </a:t>
            </a:r>
            <a:r>
              <a:rPr lang="en-US" altLang="zh-CN" sz="3200" dirty="0">
                <a:latin typeface="Arial" panose="020B0604020202020204" pitchFamily="34" charset="0"/>
              </a:rPr>
              <a:t>(S))</a:t>
            </a:r>
            <a:r>
              <a:rPr lang="en-US" altLang="zh-CN" sz="3200" dirty="0"/>
              <a:t> </a:t>
            </a:r>
            <a:endParaRPr lang="en-US" altLang="zh-CN" sz="3200" dirty="0">
              <a:latin typeface="Arial" panose="020B0604020202020204" pitchFamily="34" charset="0"/>
            </a:endParaRPr>
          </a:p>
        </p:txBody>
      </p:sp>
      <p:grpSp>
        <p:nvGrpSpPr>
          <p:cNvPr id="2" name="Group 4"/>
          <p:cNvGrpSpPr/>
          <p:nvPr/>
        </p:nvGrpSpPr>
        <p:grpSpPr>
          <a:xfrm>
            <a:off x="3643313" y="3789363"/>
            <a:ext cx="1779587" cy="287337"/>
            <a:chOff x="2677" y="1464"/>
            <a:chExt cx="1121" cy="181"/>
          </a:xfrm>
        </p:grpSpPr>
        <p:grpSp>
          <p:nvGrpSpPr>
            <p:cNvPr id="75805" name="Group 5"/>
            <p:cNvGrpSpPr/>
            <p:nvPr/>
          </p:nvGrpSpPr>
          <p:grpSpPr>
            <a:xfrm>
              <a:off x="2677" y="1464"/>
              <a:ext cx="317" cy="181"/>
              <a:chOff x="4320" y="2256"/>
              <a:chExt cx="240" cy="144"/>
            </a:xfrm>
          </p:grpSpPr>
          <p:sp>
            <p:nvSpPr>
              <p:cNvPr id="75811" name="Line 6"/>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5812" name="Line 7"/>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5813" name="Line 8"/>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5814" name="Line 9"/>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grpSp>
          <p:nvGrpSpPr>
            <p:cNvPr id="75806" name="Group 10"/>
            <p:cNvGrpSpPr/>
            <p:nvPr/>
          </p:nvGrpSpPr>
          <p:grpSpPr>
            <a:xfrm>
              <a:off x="3481" y="1464"/>
              <a:ext cx="317" cy="181"/>
              <a:chOff x="4320" y="2256"/>
              <a:chExt cx="240" cy="144"/>
            </a:xfrm>
          </p:grpSpPr>
          <p:sp>
            <p:nvSpPr>
              <p:cNvPr id="75807" name="Line 11"/>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5808" name="Line 12"/>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5809" name="Line 13"/>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5810" name="Line 14"/>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grpSp>
      <p:grpSp>
        <p:nvGrpSpPr>
          <p:cNvPr id="5" name="Group 15"/>
          <p:cNvGrpSpPr/>
          <p:nvPr/>
        </p:nvGrpSpPr>
        <p:grpSpPr>
          <a:xfrm>
            <a:off x="3715068" y="4643438"/>
            <a:ext cx="1744662" cy="287337"/>
            <a:chOff x="2752" y="2401"/>
            <a:chExt cx="1099" cy="181"/>
          </a:xfrm>
        </p:grpSpPr>
        <p:grpSp>
          <p:nvGrpSpPr>
            <p:cNvPr id="75795" name="Group 16"/>
            <p:cNvGrpSpPr/>
            <p:nvPr/>
          </p:nvGrpSpPr>
          <p:grpSpPr>
            <a:xfrm>
              <a:off x="2752" y="2401"/>
              <a:ext cx="317" cy="181"/>
              <a:chOff x="4320" y="2256"/>
              <a:chExt cx="240" cy="144"/>
            </a:xfrm>
          </p:grpSpPr>
          <p:sp>
            <p:nvSpPr>
              <p:cNvPr id="75801" name="Line 17"/>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5802" name="Line 18"/>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5803" name="Line 19"/>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5804" name="Line 20"/>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grpSp>
          <p:nvGrpSpPr>
            <p:cNvPr id="75796" name="Group 21"/>
            <p:cNvGrpSpPr/>
            <p:nvPr/>
          </p:nvGrpSpPr>
          <p:grpSpPr>
            <a:xfrm>
              <a:off x="3534" y="2401"/>
              <a:ext cx="317" cy="181"/>
              <a:chOff x="4320" y="2256"/>
              <a:chExt cx="240" cy="144"/>
            </a:xfrm>
          </p:grpSpPr>
          <p:sp>
            <p:nvSpPr>
              <p:cNvPr id="75797" name="Line 22"/>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5798" name="Line 23"/>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5799" name="Line 24"/>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5800" name="Line 25"/>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grpSp>
      <p:grpSp>
        <p:nvGrpSpPr>
          <p:cNvPr id="8" name="Group 26"/>
          <p:cNvGrpSpPr/>
          <p:nvPr/>
        </p:nvGrpSpPr>
        <p:grpSpPr>
          <a:xfrm>
            <a:off x="4714875" y="5546725"/>
            <a:ext cx="503238" cy="815975"/>
            <a:chOff x="3548" y="3302"/>
            <a:chExt cx="317" cy="514"/>
          </a:xfrm>
        </p:grpSpPr>
        <p:grpSp>
          <p:nvGrpSpPr>
            <p:cNvPr id="75785" name="Group 27"/>
            <p:cNvGrpSpPr/>
            <p:nvPr/>
          </p:nvGrpSpPr>
          <p:grpSpPr>
            <a:xfrm>
              <a:off x="3548" y="3302"/>
              <a:ext cx="317" cy="181"/>
              <a:chOff x="4320" y="2256"/>
              <a:chExt cx="240" cy="144"/>
            </a:xfrm>
          </p:grpSpPr>
          <p:sp>
            <p:nvSpPr>
              <p:cNvPr id="75791" name="Line 28"/>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5792" name="Line 29"/>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5793" name="Line 30"/>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5794" name="Line 31"/>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grpSp>
          <p:nvGrpSpPr>
            <p:cNvPr id="75786" name="Group 32"/>
            <p:cNvGrpSpPr/>
            <p:nvPr/>
          </p:nvGrpSpPr>
          <p:grpSpPr>
            <a:xfrm>
              <a:off x="3548" y="3635"/>
              <a:ext cx="317" cy="181"/>
              <a:chOff x="4320" y="2256"/>
              <a:chExt cx="240" cy="144"/>
            </a:xfrm>
          </p:grpSpPr>
          <p:sp>
            <p:nvSpPr>
              <p:cNvPr id="75787" name="Line 33"/>
              <p:cNvSpPr/>
              <p:nvPr/>
            </p:nvSpPr>
            <p:spPr>
              <a:xfrm>
                <a:off x="4320" y="2256"/>
                <a:ext cx="0" cy="144"/>
              </a:xfrm>
              <a:prstGeom prst="line">
                <a:avLst/>
              </a:prstGeom>
              <a:ln w="28575" cap="flat" cmpd="sng">
                <a:solidFill>
                  <a:srgbClr val="000000"/>
                </a:solidFill>
                <a:prstDash val="solid"/>
                <a:headEnd type="none" w="med" len="med"/>
                <a:tailEnd type="none" w="med" len="med"/>
              </a:ln>
            </p:spPr>
          </p:sp>
          <p:sp>
            <p:nvSpPr>
              <p:cNvPr id="75788" name="Line 34"/>
              <p:cNvSpPr/>
              <p:nvPr/>
            </p:nvSpPr>
            <p:spPr>
              <a:xfrm>
                <a:off x="4560" y="2256"/>
                <a:ext cx="0" cy="144"/>
              </a:xfrm>
              <a:prstGeom prst="line">
                <a:avLst/>
              </a:prstGeom>
              <a:ln w="28575" cap="flat" cmpd="sng">
                <a:solidFill>
                  <a:srgbClr val="000000"/>
                </a:solidFill>
                <a:prstDash val="solid"/>
                <a:headEnd type="none" w="med" len="med"/>
                <a:tailEnd type="none" w="med" len="med"/>
              </a:ln>
            </p:spPr>
          </p:sp>
          <p:sp>
            <p:nvSpPr>
              <p:cNvPr id="75789" name="Line 35"/>
              <p:cNvSpPr/>
              <p:nvPr/>
            </p:nvSpPr>
            <p:spPr>
              <a:xfrm>
                <a:off x="4320" y="2256"/>
                <a:ext cx="240" cy="144"/>
              </a:xfrm>
              <a:prstGeom prst="line">
                <a:avLst/>
              </a:prstGeom>
              <a:ln w="28575" cap="flat" cmpd="sng">
                <a:solidFill>
                  <a:srgbClr val="000000"/>
                </a:solidFill>
                <a:prstDash val="solid"/>
                <a:headEnd type="none" w="med" len="med"/>
                <a:tailEnd type="none" w="med" len="med"/>
              </a:ln>
            </p:spPr>
          </p:sp>
          <p:sp>
            <p:nvSpPr>
              <p:cNvPr id="75790" name="Line 36"/>
              <p:cNvSpPr/>
              <p:nvPr/>
            </p:nvSpPr>
            <p:spPr>
              <a:xfrm flipV="1">
                <a:off x="4320" y="2256"/>
                <a:ext cx="240" cy="144"/>
              </a:xfrm>
              <a:prstGeom prst="line">
                <a:avLst/>
              </a:prstGeom>
              <a:ln w="28575" cap="flat" cmpd="sng">
                <a:solidFill>
                  <a:srgbClr val="000000"/>
                </a:solidFill>
                <a:prstDash val="solid"/>
                <a:headEnd type="none" w="med" len="med"/>
                <a:tailEnd type="none" w="med" len="med"/>
              </a:ln>
            </p:spPr>
          </p:sp>
        </p:grpSp>
      </p:grpSp>
      <p:sp>
        <p:nvSpPr>
          <p:cNvPr id="300069" name="AutoShape 37"/>
          <p:cNvSpPr/>
          <p:nvPr/>
        </p:nvSpPr>
        <p:spPr>
          <a:xfrm>
            <a:off x="6516688" y="44450"/>
            <a:ext cx="2554287" cy="1081088"/>
          </a:xfrm>
          <a:prstGeom prst="irregularSeal1">
            <a:avLst/>
          </a:prstGeom>
          <a:solidFill>
            <a:srgbClr val="FFFF00"/>
          </a:solidFill>
          <a:ln w="9525" cap="flat" cmpd="sng">
            <a:solidFill>
              <a:schemeClr val="tx1"/>
            </a:solidFill>
            <a:prstDash val="solid"/>
            <a:miter/>
            <a:headEnd type="none" w="med" len="med"/>
            <a:tailEnd type="none" w="med" len="med"/>
          </a:ln>
        </p:spPr>
        <p:txBody>
          <a:bodyPr wrap="none" lIns="0" tIns="0" rIns="0" bIns="0" anchor="ctr" anchorCtr="0"/>
          <a:lstStyle>
            <a:lvl1pPr marL="360680" indent="-360680" algn="l" rtl="0" eaLnBrk="0" fontAlgn="base" hangingPunct="0">
              <a:spcBef>
                <a:spcPct val="0"/>
              </a:spcBef>
              <a:spcAft>
                <a:spcPct val="0"/>
              </a:spcAft>
              <a:buClr>
                <a:srgbClr val="0000CC"/>
              </a:buClr>
              <a:buSzPct val="70000"/>
              <a:buFont typeface="Wingdings" panose="05000000000000000000" pitchFamily="2" charset="2"/>
              <a:buChar char="n"/>
              <a:defRPr sz="3600">
                <a:solidFill>
                  <a:srgbClr val="000000"/>
                </a:solidFill>
                <a:latin typeface="+mn-lt"/>
                <a:ea typeface="+mn-ea"/>
                <a:cs typeface="+mn-cs"/>
              </a:defRPr>
            </a:lvl1pPr>
            <a:lvl2pPr marL="809625" indent="-269875" algn="l" rtl="0" eaLnBrk="0" fontAlgn="base" hangingPunct="0">
              <a:spcBef>
                <a:spcPct val="20000"/>
              </a:spcBef>
              <a:spcAft>
                <a:spcPct val="0"/>
              </a:spcAft>
              <a:buClr>
                <a:srgbClr val="FF3300"/>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75000"/>
              <a:buFont typeface="Wingdings" panose="05000000000000000000" pitchFamily="2" charset="2"/>
              <a:buChar char="n"/>
              <a:defRPr sz="2800" b="1">
                <a:solidFill>
                  <a:srgbClr val="000000"/>
                </a:solidFill>
                <a:latin typeface="+mn-lt"/>
                <a:ea typeface="+mn-ea"/>
              </a:defRPr>
            </a:lvl3pPr>
            <a:lvl4pPr marL="1879600" indent="-269875" algn="l" rtl="0" eaLnBrk="0" fontAlgn="base" hangingPunct="0">
              <a:spcBef>
                <a:spcPct val="20000"/>
              </a:spcBef>
              <a:spcAft>
                <a:spcPct val="0"/>
              </a:spcAft>
              <a:buSzPct val="130000"/>
              <a:buBlip>
                <a:blip r:embed="rId1"/>
              </a:buBlip>
              <a:defRPr sz="2400" b="1">
                <a:solidFill>
                  <a:srgbClr val="000000"/>
                </a:solidFill>
                <a:latin typeface="+mn-lt"/>
                <a:ea typeface="+mn-ea"/>
              </a:defRPr>
            </a:lvl4pPr>
            <a:lvl5pPr marL="2335530" indent="-228600" algn="l" rtl="0" eaLnBrk="0" fontAlgn="base" hangingPunct="0">
              <a:spcBef>
                <a:spcPct val="20000"/>
              </a:spcBef>
              <a:spcAft>
                <a:spcPct val="0"/>
              </a:spcAft>
              <a:buSzPct val="130000"/>
              <a:buBlip>
                <a:blip r:embed="rId2"/>
              </a:buBlip>
              <a:defRPr sz="2400" b="1">
                <a:solidFill>
                  <a:srgbClr val="000000"/>
                </a:solidFill>
                <a:latin typeface="+mn-lt"/>
                <a:ea typeface="+mn-ea"/>
              </a:defRPr>
            </a:lvl5pPr>
          </a:lstStyle>
          <a:p>
            <a:pPr marL="0" lvl="0" indent="0" algn="ctr" eaLnBrk="1" hangingPunct="1">
              <a:buClrTx/>
              <a:buSzTx/>
              <a:buFontTx/>
              <a:buNone/>
            </a:pPr>
            <a:r>
              <a:rPr lang="zh-CN" altLang="en-US" sz="2400" dirty="0">
                <a:solidFill>
                  <a:srgbClr val="FF0000"/>
                </a:solidFill>
                <a:latin typeface="Arial" panose="020B0604020202020204" pitchFamily="34" charset="0"/>
              </a:rPr>
              <a:t>查询优化</a:t>
            </a:r>
            <a:endParaRPr lang="zh-CN" altLang="en-US" sz="2400" dirty="0">
              <a:solidFill>
                <a:srgbClr val="FF0000"/>
              </a:solidFill>
              <a:latin typeface="Arial" panose="020B0604020202020204" pitchFamily="34" charset="0"/>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035">
                                            <p:txEl>
                                              <p:charRg st="28" end="6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0035">
                                            <p:txEl>
                                              <p:charRg st="68" end="12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0035">
                                            <p:txEl>
                                              <p:charRg st="120" end="22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00069"/>
                                        </p:tgtEl>
                                        <p:attrNameLst>
                                          <p:attrName>style.visibility</p:attrName>
                                        </p:attrNameLst>
                                      </p:cBhvr>
                                      <p:to>
                                        <p:strVal val="visible"/>
                                      </p:to>
                                    </p:set>
                                    <p:animEffect transition="in" filter="box(in)">
                                      <p:cBhvr>
                                        <p:cTn id="25" dur="500"/>
                                        <p:tgtEl>
                                          <p:spTgt spid="300069"/>
                                        </p:tgtEl>
                                      </p:cBhvr>
                                    </p:animEffect>
                                  </p:childTnLst>
                                  <p:subTnLst>
                                    <p:audio>
                                      <p:cMediaNode>
                                        <p:cTn display="0" masterRel="sameClick">
                                          <p:stCondLst>
                                            <p:cond evt="begin" delay="0">
                                              <p:tn val="2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build="p"/>
      <p:bldP spid="30006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关系代数</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6803" name="Rectangle 3"/>
          <p:cNvSpPr>
            <a:spLocks noGrp="1"/>
          </p:cNvSpPr>
          <p:nvPr>
            <p:ph idx="1"/>
          </p:nvPr>
        </p:nvSpPr>
        <p:spPr>
          <a:xfrm>
            <a:off x="1231900" y="908050"/>
            <a:ext cx="7372350" cy="5472113"/>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6.1 </a:t>
            </a:r>
            <a:r>
              <a:rPr lang="zh-CN" altLang="en-US" dirty="0"/>
              <a:t>概述</a:t>
            </a:r>
            <a:endParaRPr lang="zh-CN" altLang="en-US" dirty="0"/>
          </a:p>
          <a:p>
            <a:pPr eaLnBrk="1" hangingPunct="1">
              <a:lnSpc>
                <a:spcPct val="140000"/>
              </a:lnSpc>
              <a:buNone/>
            </a:pPr>
            <a:r>
              <a:rPr lang="en-US" altLang="zh-CN" dirty="0">
                <a:latin typeface="Arial" panose="020B0604020202020204" pitchFamily="34" charset="0"/>
              </a:rPr>
              <a:t>6.2 </a:t>
            </a:r>
            <a:r>
              <a:rPr lang="zh-CN" altLang="en-US" dirty="0"/>
              <a:t>传统的集合运算</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6.3 </a:t>
            </a:r>
            <a:r>
              <a:rPr lang="zh-CN" altLang="en-US" dirty="0">
                <a:latin typeface="宋体" panose="02010600030101010101" pitchFamily="2" charset="-122"/>
              </a:rPr>
              <a:t>专门的关系运算</a:t>
            </a:r>
            <a:endParaRPr lang="zh-CN" altLang="en-US" dirty="0">
              <a:latin typeface="Arial" panose="020B0604020202020204" pitchFamily="34" charset="0"/>
            </a:endParaRPr>
          </a:p>
          <a:p>
            <a:pPr eaLnBrk="1" hangingPunct="1">
              <a:lnSpc>
                <a:spcPct val="140000"/>
              </a:lnSpc>
              <a:buNone/>
            </a:pPr>
            <a:r>
              <a:rPr lang="en-US" altLang="zh-CN" dirty="0">
                <a:solidFill>
                  <a:srgbClr val="0000CC"/>
                </a:solidFill>
                <a:latin typeface="Arial" panose="020B0604020202020204" pitchFamily="34" charset="0"/>
              </a:rPr>
              <a:t>6.4 </a:t>
            </a:r>
            <a:r>
              <a:rPr lang="zh-CN" altLang="en-US" dirty="0">
                <a:solidFill>
                  <a:srgbClr val="0000CC"/>
                </a:solidFill>
                <a:latin typeface="宋体" panose="02010600030101010101" pitchFamily="2" charset="-122"/>
              </a:rPr>
              <a:t>关系代数表达式</a:t>
            </a:r>
            <a:endParaRPr lang="zh-CN" altLang="en-US" dirty="0">
              <a:solidFill>
                <a:srgbClr val="0000CC"/>
              </a:solidFill>
              <a:latin typeface="宋体" panose="02010600030101010101" pitchFamily="2" charset="-122"/>
            </a:endParaRPr>
          </a:p>
        </p:txBody>
      </p:sp>
    </p:spTree>
  </p:cSld>
  <p:clrMapOvr>
    <a:masterClrMapping/>
  </p:clrMapOvr>
  <p:transition>
    <p:random/>
    <p:sndAc>
      <p:stSnd>
        <p:snd r:embed="rId1" name="CAMERA.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2" name="Rectangle 4"/>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6.4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关系代数表达式</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7827" name="Rectangle 5"/>
          <p:cNvSpPr>
            <a:spLocks noGrp="1"/>
          </p:cNvSpPr>
          <p:nvPr>
            <p:ph idx="1"/>
          </p:nvPr>
        </p:nvSpPr>
        <p:spPr/>
        <p:txBody>
          <a:bodyPr vert="horz" wrap="square" lIns="91440" tIns="45720" rIns="91440" bIns="45720" anchor="t" anchorCtr="0"/>
          <a:p>
            <a:pPr eaLnBrk="1" hangingPunct="1">
              <a:buNone/>
            </a:pPr>
            <a:r>
              <a:rPr lang="en-US" altLang="zh-CN" dirty="0"/>
              <a:t>   </a:t>
            </a:r>
            <a:r>
              <a:rPr lang="zh-CN" altLang="en-US" dirty="0"/>
              <a:t>用关系和前述运算经有限次合法的复合形成的表达式称为关系代数表达式。</a:t>
            </a:r>
            <a:endParaRPr lang="zh-CN" altLang="en-US" dirty="0"/>
          </a:p>
          <a:p>
            <a:pPr eaLnBrk="1" hangingPunct="1"/>
            <a:r>
              <a:rPr lang="zh-CN" altLang="en-US" dirty="0"/>
              <a:t>运算优先级：</a:t>
            </a:r>
            <a:r>
              <a:rPr lang="zh-CN" altLang="en-US" dirty="0">
                <a:solidFill>
                  <a:srgbClr val="FF0000"/>
                </a:solidFill>
              </a:rPr>
              <a:t>从高到低</a:t>
            </a:r>
            <a:r>
              <a:rPr lang="zh-CN" altLang="en-US" dirty="0"/>
              <a:t>的次序为：</a:t>
            </a:r>
            <a:endParaRPr lang="zh-CN" altLang="en-US" dirty="0"/>
          </a:p>
          <a:p>
            <a:pPr lvl="1" eaLnBrk="1" hangingPunct="1">
              <a:spcBef>
                <a:spcPct val="10000"/>
              </a:spcBef>
            </a:pPr>
            <a:r>
              <a:rPr lang="zh-CN" altLang="en-US" dirty="0"/>
              <a:t>括号</a:t>
            </a:r>
            <a:endParaRPr lang="zh-CN" altLang="en-US" dirty="0"/>
          </a:p>
          <a:p>
            <a:pPr lvl="1" eaLnBrk="1" hangingPunct="1">
              <a:spcBef>
                <a:spcPct val="10000"/>
              </a:spcBef>
            </a:pPr>
            <a:r>
              <a:rPr lang="zh-CN" altLang="en-US" dirty="0"/>
              <a:t>一目运算</a:t>
            </a:r>
            <a:r>
              <a:rPr lang="zh-CN" altLang="en-US" dirty="0">
                <a:solidFill>
                  <a:srgbClr val="0000CC"/>
                </a:solidFill>
              </a:rPr>
              <a:t>选择</a:t>
            </a:r>
            <a:r>
              <a:rPr lang="zh-CN" altLang="en-US" dirty="0"/>
              <a:t>、</a:t>
            </a:r>
            <a:r>
              <a:rPr lang="zh-CN" altLang="en-US" dirty="0">
                <a:solidFill>
                  <a:srgbClr val="0000CC"/>
                </a:solidFill>
              </a:rPr>
              <a:t>投影</a:t>
            </a:r>
            <a:endParaRPr lang="zh-CN" altLang="en-US" dirty="0">
              <a:solidFill>
                <a:srgbClr val="0000CC"/>
              </a:solidFill>
            </a:endParaRPr>
          </a:p>
          <a:p>
            <a:pPr lvl="1" eaLnBrk="1" hangingPunct="1">
              <a:spcBef>
                <a:spcPct val="10000"/>
              </a:spcBef>
            </a:pPr>
            <a:r>
              <a:rPr lang="zh-CN" altLang="en-US" dirty="0"/>
              <a:t>二目运算</a:t>
            </a:r>
            <a:r>
              <a:rPr lang="zh-CN" altLang="en-US" dirty="0">
                <a:solidFill>
                  <a:srgbClr val="0000CC"/>
                </a:solidFill>
              </a:rPr>
              <a:t>乘积</a:t>
            </a:r>
            <a:r>
              <a:rPr lang="zh-CN" altLang="en-US" dirty="0"/>
              <a:t>、</a:t>
            </a:r>
            <a:r>
              <a:rPr lang="zh-CN" altLang="en-US" dirty="0">
                <a:solidFill>
                  <a:srgbClr val="0000CC"/>
                </a:solidFill>
              </a:rPr>
              <a:t>相交</a:t>
            </a:r>
            <a:r>
              <a:rPr lang="zh-CN" altLang="en-US" dirty="0"/>
              <a:t>、</a:t>
            </a:r>
            <a:r>
              <a:rPr lang="zh-CN" altLang="en-US" dirty="0">
                <a:solidFill>
                  <a:srgbClr val="0000CC"/>
                </a:solidFill>
              </a:rPr>
              <a:t>连接</a:t>
            </a:r>
            <a:r>
              <a:rPr lang="zh-CN" altLang="en-US" dirty="0"/>
              <a:t>、</a:t>
            </a:r>
            <a:r>
              <a:rPr lang="zh-CN" altLang="en-US" dirty="0">
                <a:solidFill>
                  <a:srgbClr val="0000CC"/>
                </a:solidFill>
              </a:rPr>
              <a:t>除法</a:t>
            </a:r>
            <a:endParaRPr lang="zh-CN" altLang="en-US" dirty="0">
              <a:solidFill>
                <a:srgbClr val="0000CC"/>
              </a:solidFill>
            </a:endParaRPr>
          </a:p>
          <a:p>
            <a:pPr lvl="1" eaLnBrk="1" hangingPunct="1">
              <a:spcBef>
                <a:spcPct val="10000"/>
              </a:spcBef>
            </a:pPr>
            <a:r>
              <a:rPr lang="zh-CN" altLang="en-US" dirty="0"/>
              <a:t>二目运算</a:t>
            </a:r>
            <a:r>
              <a:rPr lang="zh-CN" altLang="en-US" dirty="0">
                <a:solidFill>
                  <a:srgbClr val="0000CC"/>
                </a:solidFill>
              </a:rPr>
              <a:t>合并</a:t>
            </a:r>
            <a:r>
              <a:rPr lang="zh-CN" altLang="en-US" dirty="0"/>
              <a:t>、</a:t>
            </a:r>
            <a:r>
              <a:rPr lang="zh-CN" altLang="en-US" dirty="0">
                <a:solidFill>
                  <a:srgbClr val="0000CC"/>
                </a:solidFill>
              </a:rPr>
              <a:t>求差</a:t>
            </a:r>
            <a:endParaRPr lang="zh-CN" altLang="en-US" dirty="0">
              <a:solidFill>
                <a:srgbClr val="0000CC"/>
              </a:solidFill>
            </a:endParaRPr>
          </a:p>
          <a:p>
            <a:pPr eaLnBrk="1" hangingPunct="1">
              <a:spcBef>
                <a:spcPct val="20000"/>
              </a:spcBef>
            </a:pPr>
            <a:r>
              <a:rPr lang="zh-CN" altLang="en-US" dirty="0"/>
              <a:t>关系代数表达式中运算的先后次序可用运算树表示</a:t>
            </a:r>
            <a:endParaRPr lang="zh-CN" altLang="en-US" dirty="0"/>
          </a:p>
        </p:txBody>
      </p:sp>
    </p:spTree>
  </p:cSld>
  <p:clrMapOvr>
    <a:masterClrMapping/>
  </p:clrMapOvr>
  <p:transition>
    <p:random/>
    <p:sndAc>
      <p:stSnd>
        <p:snd r:embed="rId1" name="CAMERA.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矩形 3"/>
          <p:cNvSpPr/>
          <p:nvPr/>
        </p:nvSpPr>
        <p:spPr>
          <a:xfrm>
            <a:off x="2727008" y="2829560"/>
            <a:ext cx="3689985" cy="1198880"/>
          </a:xfrm>
          <a:prstGeom prst="rect">
            <a:avLst/>
          </a:prstGeom>
          <a:noFill/>
          <a:ln>
            <a:noFill/>
          </a:ln>
        </p:spPr>
        <p:txBody>
          <a:bodyPr wrap="none" rtlCol="0" anchor="t">
            <a:spAutoFit/>
          </a:bodyPr>
          <a:p>
            <a:pPr algn="ctr"/>
            <a:r>
              <a:rPr lang="en-US" altLang="zh-CN" sz="7200" b="1">
                <a:solidFill>
                  <a:schemeClr val="accent1"/>
                </a:solidFill>
                <a:effectLst>
                  <a:outerShdw blurRad="38100" dist="25400" dir="5400000" algn="ctr" rotWithShape="0">
                    <a:srgbClr val="6E747A">
                      <a:alpha val="43000"/>
                    </a:srgbClr>
                  </a:outerShdw>
                </a:effectLst>
              </a:rPr>
              <a:t>Thanks!</a:t>
            </a:r>
            <a:endParaRPr lang="zh-CN" altLang="en-US" sz="7200" b="1">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random/>
    <p:sndAc>
      <p:stSnd>
        <p:snd r:embed="rId1" name="CAMERA.WAV"/>
      </p:stSnd>
    </p:sndAc>
  </p:transition>
</p:sld>
</file>

<file path=ppt/tags/tag1.xml><?xml version="1.0" encoding="utf-8"?>
<p:tagLst xmlns:p="http://schemas.openxmlformats.org/presentationml/2006/main">
  <p:tag name="COMMONDATA" val="eyJoZGlkIjoiNjAxYWNjNWM4YjUwYzdkM2Y4ZDNlNzBkZmE0NjZkZTkifQ=="/>
  <p:tag name="KSO_WPP_MARK_KEY" val="8cc24506-2fc0-4135-9990-b04967ae97f5"/>
</p:tagLst>
</file>

<file path=ppt/theme/theme1.xml><?xml version="1.0" encoding="utf-8"?>
<a:theme xmlns:a="http://schemas.openxmlformats.org/drawingml/2006/main" name="HXH">
  <a:themeElements>
    <a:clrScheme name="">
      <a:dk1>
        <a:srgbClr val="00354E"/>
      </a:dk1>
      <a:lt1>
        <a:srgbClr val="EAEAEA"/>
      </a:lt1>
      <a:dk2>
        <a:srgbClr val="0099CC"/>
      </a:dk2>
      <a:lt2>
        <a:srgbClr val="CCECFF"/>
      </a:lt2>
      <a:accent1>
        <a:srgbClr val="0099CC"/>
      </a:accent1>
      <a:accent2>
        <a:srgbClr val="6699FF"/>
      </a:accent2>
      <a:accent3>
        <a:srgbClr val="AACAE2"/>
      </a:accent3>
      <a:accent4>
        <a:srgbClr val="C8C8C8"/>
      </a:accent4>
      <a:accent5>
        <a:srgbClr val="AACAE2"/>
      </a:accent5>
      <a:accent6>
        <a:srgbClr val="5C8AE7"/>
      </a:accent6>
      <a:hlink>
        <a:srgbClr val="CCCCFF"/>
      </a:hlink>
      <a:folHlink>
        <a:srgbClr val="5E6FD4"/>
      </a:folHlink>
    </a:clrScheme>
    <a:fontScheme name="HXH">
      <a:majorFont>
        <a:latin typeface="Arial"/>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HXH 1">
        <a:dk1>
          <a:srgbClr val="00354E"/>
        </a:dk1>
        <a:lt1>
          <a:srgbClr val="EAEAEA"/>
        </a:lt1>
        <a:dk2>
          <a:srgbClr val="006699"/>
        </a:dk2>
        <a:lt2>
          <a:srgbClr val="CCECFF"/>
        </a:lt2>
        <a:accent1>
          <a:srgbClr val="006699"/>
        </a:accent1>
        <a:accent2>
          <a:srgbClr val="6699FF"/>
        </a:accent2>
        <a:accent3>
          <a:srgbClr val="AAB8CA"/>
        </a:accent3>
        <a:accent4>
          <a:srgbClr val="C8C8C8"/>
        </a:accent4>
        <a:accent5>
          <a:srgbClr val="AAB8CA"/>
        </a:accent5>
        <a:accent6>
          <a:srgbClr val="5C8AE7"/>
        </a:accent6>
        <a:hlink>
          <a:srgbClr val="CCCCFF"/>
        </a:hlink>
        <a:folHlink>
          <a:srgbClr val="5E6FD4"/>
        </a:folHlink>
      </a:clrScheme>
      <a:clrMap bg1="dk2" tx1="lt1" bg2="dk1" tx2="lt2" accent1="accent1" accent2="accent2" accent3="accent3" accent4="accent4" accent5="accent5" accent6="accent6" hlink="hlink" folHlink="folHlink"/>
    </a:extraClrScheme>
    <a:extraClrScheme>
      <a:clrScheme name="HXH 2">
        <a:dk1>
          <a:srgbClr val="000080"/>
        </a:dk1>
        <a:lt1>
          <a:srgbClr val="FFFFFF"/>
        </a:lt1>
        <a:dk2>
          <a:srgbClr val="3366CC"/>
        </a:dk2>
        <a:lt2>
          <a:srgbClr val="7A7C93"/>
        </a:lt2>
        <a:accent1>
          <a:srgbClr val="006699"/>
        </a:accent1>
        <a:accent2>
          <a:srgbClr val="6699FF"/>
        </a:accent2>
        <a:accent3>
          <a:srgbClr val="FFFFFF"/>
        </a:accent3>
        <a:accent4>
          <a:srgbClr val="00006C"/>
        </a:accent4>
        <a:accent5>
          <a:srgbClr val="AAB8CA"/>
        </a:accent5>
        <a:accent6>
          <a:srgbClr val="5C8AE7"/>
        </a:accent6>
        <a:hlink>
          <a:srgbClr val="CCCCFF"/>
        </a:hlink>
        <a:folHlink>
          <a:srgbClr val="5E6FD4"/>
        </a:folHlink>
      </a:clrScheme>
      <a:clrMap bg1="lt1" tx1="dk1" bg2="lt2" tx2="dk2" accent1="accent1" accent2="accent2" accent3="accent3" accent4="accent4" accent5="accent5" accent6="accent6" hlink="hlink" folHlink="folHlink"/>
    </a:extraClrScheme>
    <a:extraClrScheme>
      <a:clrScheme name="HXH 3">
        <a:dk1>
          <a:srgbClr val="000000"/>
        </a:dk1>
        <a:lt1>
          <a:srgbClr val="FFFFFF"/>
        </a:lt1>
        <a:dk2>
          <a:srgbClr val="000000"/>
        </a:dk2>
        <a:lt2>
          <a:srgbClr val="868686"/>
        </a:lt2>
        <a:accent1>
          <a:srgbClr val="969696"/>
        </a:accent1>
        <a:accent2>
          <a:srgbClr val="CBCBCB"/>
        </a:accent2>
        <a:accent3>
          <a:srgbClr val="FFFFFF"/>
        </a:accent3>
        <a:accent4>
          <a:srgbClr val="000000"/>
        </a:accent4>
        <a:accent5>
          <a:srgbClr val="C9C9C9"/>
        </a:accent5>
        <a:accent6>
          <a:srgbClr val="B8B8B8"/>
        </a:accent6>
        <a:hlink>
          <a:srgbClr val="EAEAEA"/>
        </a:hlink>
        <a:folHlink>
          <a:srgbClr val="5F5F5F"/>
        </a:folHlink>
      </a:clrScheme>
      <a:clrMap bg1="lt1" tx1="dk1" bg2="lt2" tx2="dk2" accent1="accent1" accent2="accent2" accent3="accent3" accent4="accent4" accent5="accent5" accent6="accent6" hlink="hlink" folHlink="folHlink"/>
    </a:extraClrScheme>
    <a:extraClrScheme>
      <a:clrScheme name="HXH 4">
        <a:dk1>
          <a:srgbClr val="660066"/>
        </a:dk1>
        <a:lt1>
          <a:srgbClr val="EAEAEA"/>
        </a:lt1>
        <a:dk2>
          <a:srgbClr val="3366CC"/>
        </a:dk2>
        <a:lt2>
          <a:srgbClr val="7A7C93"/>
        </a:lt2>
        <a:accent1>
          <a:srgbClr val="00CCCC"/>
        </a:accent1>
        <a:accent2>
          <a:srgbClr val="CC66FF"/>
        </a:accent2>
        <a:accent3>
          <a:srgbClr val="F3F3F3"/>
        </a:accent3>
        <a:accent4>
          <a:srgbClr val="560056"/>
        </a:accent4>
        <a:accent5>
          <a:srgbClr val="AAE2E2"/>
        </a:accent5>
        <a:accent6>
          <a:srgbClr val="B95CE7"/>
        </a:accent6>
        <a:hlink>
          <a:srgbClr val="CCFFCC"/>
        </a:hlink>
        <a:folHlink>
          <a:srgbClr val="FFCC66"/>
        </a:folHlink>
      </a:clrScheme>
      <a:clrMap bg1="lt1" tx1="dk1" bg2="lt2" tx2="dk2" accent1="accent1" accent2="accent2" accent3="accent3" accent4="accent4" accent5="accent5" accent6="accent6" hlink="hlink" folHlink="folHlink"/>
    </a:extraClrScheme>
    <a:extraClrScheme>
      <a:clrScheme name="HXH 5">
        <a:dk1>
          <a:srgbClr val="003366"/>
        </a:dk1>
        <a:lt1>
          <a:srgbClr val="EAEAEA"/>
        </a:lt1>
        <a:dk2>
          <a:srgbClr val="009999"/>
        </a:dk2>
        <a:lt2>
          <a:srgbClr val="FFFFFF"/>
        </a:lt2>
        <a:accent1>
          <a:srgbClr val="008080"/>
        </a:accent1>
        <a:accent2>
          <a:srgbClr val="00CCCC"/>
        </a:accent2>
        <a:accent3>
          <a:srgbClr val="AACACA"/>
        </a:accent3>
        <a:accent4>
          <a:srgbClr val="C8C8C8"/>
        </a:accent4>
        <a:accent5>
          <a:srgbClr val="AAC0C0"/>
        </a:accent5>
        <a:accent6>
          <a:srgbClr val="00B9B9"/>
        </a:accent6>
        <a:hlink>
          <a:srgbClr val="A7DDE1"/>
        </a:hlink>
        <a:folHlink>
          <a:srgbClr val="319CB7"/>
        </a:folHlink>
      </a:clrScheme>
      <a:clrMap bg1="dk2" tx1="lt1" bg2="dk1" tx2="lt2" accent1="accent1" accent2="accent2" accent3="accent3" accent4="accent4" accent5="accent5" accent6="accent6" hlink="hlink" folHlink="folHlink"/>
    </a:extraClrScheme>
    <a:extraClrScheme>
      <a:clrScheme name="HXH 6">
        <a:dk1>
          <a:srgbClr val="00354E"/>
        </a:dk1>
        <a:lt1>
          <a:srgbClr val="EAEAEA"/>
        </a:lt1>
        <a:dk2>
          <a:srgbClr val="6D67AA"/>
        </a:dk2>
        <a:lt2>
          <a:srgbClr val="CCCCFF"/>
        </a:lt2>
        <a:accent1>
          <a:srgbClr val="6600CC"/>
        </a:accent1>
        <a:accent2>
          <a:srgbClr val="9999FF"/>
        </a:accent2>
        <a:accent3>
          <a:srgbClr val="BAB8D2"/>
        </a:accent3>
        <a:accent4>
          <a:srgbClr val="C8C8C8"/>
        </a:accent4>
        <a:accent5>
          <a:srgbClr val="B8AAE2"/>
        </a:accent5>
        <a:accent6>
          <a:srgbClr val="8A8AE7"/>
        </a:accent6>
        <a:hlink>
          <a:srgbClr val="CCCCFF"/>
        </a:hlink>
        <a:folHlink>
          <a:srgbClr val="9D70B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5615</Words>
  <Application>WPS 演示</Application>
  <PresentationFormat>全屏显示(4:3)</PresentationFormat>
  <Paragraphs>2282</Paragraphs>
  <Slides>52</Slides>
  <Notes>36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52</vt:i4>
      </vt:variant>
    </vt:vector>
  </HeadingPairs>
  <TitlesOfParts>
    <vt:vector size="66" baseType="lpstr">
      <vt:lpstr>Arial</vt:lpstr>
      <vt:lpstr>宋体</vt:lpstr>
      <vt:lpstr>Wingdings</vt:lpstr>
      <vt:lpstr>楷体_GB2312</vt:lpstr>
      <vt:lpstr>华文中宋</vt:lpstr>
      <vt:lpstr>黑体</vt:lpstr>
      <vt:lpstr>华文新魏</vt:lpstr>
      <vt:lpstr>Times New Roman</vt:lpstr>
      <vt:lpstr>Symbol</vt:lpstr>
      <vt:lpstr>微软雅黑</vt:lpstr>
      <vt:lpstr>Arial Unicode MS</vt:lpstr>
      <vt:lpstr>Tahoma</vt:lpstr>
      <vt:lpstr>新宋体</vt:lpstr>
      <vt:lpstr>HXH</vt:lpstr>
      <vt:lpstr>PowerPoint 演示文稿</vt:lpstr>
      <vt:lpstr>主要内容</vt:lpstr>
      <vt:lpstr>6.1 概述</vt:lpstr>
      <vt:lpstr>关系代数的四类运算符</vt:lpstr>
      <vt:lpstr>6.1 概述</vt:lpstr>
      <vt:lpstr>6.1 概述</vt:lpstr>
      <vt:lpstr>6.1 概述</vt:lpstr>
      <vt:lpstr>6 关系代数</vt:lpstr>
      <vt:lpstr>1) 并(Union)</vt:lpstr>
      <vt:lpstr>并运算举例</vt:lpstr>
      <vt:lpstr>2) 差(Difference)</vt:lpstr>
      <vt:lpstr>差运算举例</vt:lpstr>
      <vt:lpstr>3) 交(Intersection)</vt:lpstr>
      <vt:lpstr>交运算举例</vt:lpstr>
      <vt:lpstr>4) 广义笛卡尔积(Extended Cartesian Product)</vt:lpstr>
      <vt:lpstr>广义笛卡尔积运算举例</vt:lpstr>
      <vt:lpstr>集合运算练习</vt:lpstr>
      <vt:lpstr>集合运算练习</vt:lpstr>
      <vt:lpstr>集合运算练习</vt:lpstr>
      <vt:lpstr>集合运算练习</vt:lpstr>
      <vt:lpstr>集合运算练习</vt:lpstr>
      <vt:lpstr>6 关系代数</vt:lpstr>
      <vt:lpstr>1) 选择σ  (Selection)</vt:lpstr>
      <vt:lpstr>1) 选择σ</vt:lpstr>
      <vt:lpstr>选择运算举例</vt:lpstr>
      <vt:lpstr>选择运算应用举例1</vt:lpstr>
      <vt:lpstr>选择运算应用举例2</vt:lpstr>
      <vt:lpstr>2) 投影 П  (Projection)</vt:lpstr>
      <vt:lpstr>2) 投影П (续)</vt:lpstr>
      <vt:lpstr>投影运算举例</vt:lpstr>
      <vt:lpstr>投影运算应用举例1</vt:lpstr>
      <vt:lpstr>投影运算应用举例2 (消除重复行)</vt:lpstr>
      <vt:lpstr>3) 连接   (Join，也称 θ 连接)</vt:lpstr>
      <vt:lpstr>连接运算举例</vt:lpstr>
      <vt:lpstr>3) 连接      </vt:lpstr>
      <vt:lpstr>(1) 等值连接</vt:lpstr>
      <vt:lpstr>等值连接举例</vt:lpstr>
      <vt:lpstr>等值连接运算应用举例</vt:lpstr>
      <vt:lpstr>(2) 自然连接</vt:lpstr>
      <vt:lpstr>自然连接举例</vt:lpstr>
      <vt:lpstr>自然连接运算应用举例</vt:lpstr>
      <vt:lpstr>关系运算练习</vt:lpstr>
      <vt:lpstr>关系运算练习</vt:lpstr>
      <vt:lpstr>关系运算练习</vt:lpstr>
      <vt:lpstr>关系运算练习</vt:lpstr>
      <vt:lpstr>关系运算综合应用举例</vt:lpstr>
      <vt:lpstr>关系运算综合应用举例</vt:lpstr>
      <vt:lpstr>关系运算综合应用举例</vt:lpstr>
      <vt:lpstr>关系运算综合应用举例</vt:lpstr>
      <vt:lpstr>6 关系代数</vt:lpstr>
      <vt:lpstr>6.4 关系代数表达式</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火星叔叔</cp:lastModifiedBy>
  <cp:revision>958</cp:revision>
  <dcterms:created xsi:type="dcterms:W3CDTF">2007-03-26T07:48:00Z</dcterms:created>
  <dcterms:modified xsi:type="dcterms:W3CDTF">2023-05-16T06:26:29Z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4BFA1859FD5C44218197E09445EF3E21</vt:lpwstr>
  </property>
  <property fmtid="{D5CDD505-2E9C-101B-9397-08002B2CF9AE}" pid="3" name="KSOProductBuildVer">
    <vt:lpwstr>2052-11.1.0.14309</vt:lpwstr>
  </property>
</Properties>
</file>