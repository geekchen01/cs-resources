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ctiveX/activeX1.bin" ContentType="application/vnd.ms-office.activeX"/>
  <Override PartName="/ppt/activeX/activeX1.xml" ContentType="application/vnd.ms-office.activeX+xml"/>
  <Override PartName="/ppt/activeX/activeX10.bin" ContentType="application/vnd.ms-office.activeX"/>
  <Override PartName="/ppt/activeX/activeX10.xml" ContentType="application/vnd.ms-office.activeX+xml"/>
  <Override PartName="/ppt/activeX/activeX11.bin" ContentType="application/vnd.ms-office.activeX"/>
  <Override PartName="/ppt/activeX/activeX11.xml" ContentType="application/vnd.ms-office.activeX+xml"/>
  <Override PartName="/ppt/activeX/activeX12.bin" ContentType="application/vnd.ms-office.activeX"/>
  <Override PartName="/ppt/activeX/activeX12.xml" ContentType="application/vnd.ms-office.activeX+xml"/>
  <Override PartName="/ppt/activeX/activeX2.bin" ContentType="application/vnd.ms-office.activeX"/>
  <Override PartName="/ppt/activeX/activeX2.xml" ContentType="application/vnd.ms-office.activeX+xml"/>
  <Override PartName="/ppt/activeX/activeX3.bin" ContentType="application/vnd.ms-office.activeX"/>
  <Override PartName="/ppt/activeX/activeX3.xml" ContentType="application/vnd.ms-office.activeX+xml"/>
  <Override PartName="/ppt/activeX/activeX4.bin" ContentType="application/vnd.ms-office.activeX"/>
  <Override PartName="/ppt/activeX/activeX4.xml" ContentType="application/vnd.ms-office.activeX+xml"/>
  <Override PartName="/ppt/activeX/activeX5.bin" ContentType="application/vnd.ms-office.activeX"/>
  <Override PartName="/ppt/activeX/activeX5.xml" ContentType="application/vnd.ms-office.activeX+xml"/>
  <Override PartName="/ppt/activeX/activeX6.bin" ContentType="application/vnd.ms-office.activeX"/>
  <Override PartName="/ppt/activeX/activeX6.xml" ContentType="application/vnd.ms-office.activeX+xml"/>
  <Override PartName="/ppt/activeX/activeX7.bin" ContentType="application/vnd.ms-office.activeX"/>
  <Override PartName="/ppt/activeX/activeX7.xml" ContentType="application/vnd.ms-office.activeX+xml"/>
  <Override PartName="/ppt/activeX/activeX8.bin" ContentType="application/vnd.ms-office.activeX"/>
  <Override PartName="/ppt/activeX/activeX8.xml" ContentType="application/vnd.ms-office.activeX+xml"/>
  <Override PartName="/ppt/activeX/activeX9.bin" ContentType="application/vnd.ms-office.activeX"/>
  <Override PartName="/ppt/activeX/activeX9.xml" ContentType="application/vnd.ms-office.activeX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2" r:id="rId3"/>
    <p:sldMasterId id="2147483676" r:id="rId4"/>
    <p:sldMasterId id="2147483690" r:id="rId5"/>
    <p:sldMasterId id="2147483704" r:id="rId6"/>
    <p:sldMasterId id="2147483718" r:id="rId7"/>
  </p:sldMasterIdLst>
  <p:notesMasterIdLst>
    <p:notesMasterId r:id="rId10"/>
  </p:notesMasterIdLst>
  <p:handoutMasterIdLst>
    <p:handoutMasterId r:id="rId66"/>
  </p:handoutMasterIdLst>
  <p:sldIdLst>
    <p:sldId id="449" r:id="rId8"/>
    <p:sldId id="268" r:id="rId9"/>
    <p:sldId id="477" r:id="rId11"/>
    <p:sldId id="426" r:id="rId12"/>
    <p:sldId id="425" r:id="rId13"/>
    <p:sldId id="468" r:id="rId14"/>
    <p:sldId id="469" r:id="rId15"/>
    <p:sldId id="346" r:id="rId16"/>
    <p:sldId id="431" r:id="rId17"/>
    <p:sldId id="432" r:id="rId18"/>
    <p:sldId id="410" r:id="rId19"/>
    <p:sldId id="412" r:id="rId20"/>
    <p:sldId id="414" r:id="rId21"/>
    <p:sldId id="365" r:id="rId22"/>
    <p:sldId id="441" r:id="rId23"/>
    <p:sldId id="442" r:id="rId24"/>
    <p:sldId id="443" r:id="rId25"/>
    <p:sldId id="415" r:id="rId26"/>
    <p:sldId id="476" r:id="rId27"/>
    <p:sldId id="440" r:id="rId28"/>
    <p:sldId id="459" r:id="rId29"/>
    <p:sldId id="462" r:id="rId30"/>
    <p:sldId id="416" r:id="rId31"/>
    <p:sldId id="434" r:id="rId32"/>
    <p:sldId id="435" r:id="rId33"/>
    <p:sldId id="529" r:id="rId34"/>
    <p:sldId id="528" r:id="rId35"/>
    <p:sldId id="543" r:id="rId36"/>
    <p:sldId id="544" r:id="rId37"/>
    <p:sldId id="545" r:id="rId38"/>
    <p:sldId id="546" r:id="rId39"/>
    <p:sldId id="465" r:id="rId40"/>
    <p:sldId id="470" r:id="rId41"/>
    <p:sldId id="452" r:id="rId42"/>
    <p:sldId id="471" r:id="rId43"/>
    <p:sldId id="446" r:id="rId44"/>
    <p:sldId id="448" r:id="rId45"/>
    <p:sldId id="447" r:id="rId46"/>
    <p:sldId id="555" r:id="rId47"/>
    <p:sldId id="556" r:id="rId48"/>
    <p:sldId id="557" r:id="rId49"/>
    <p:sldId id="558" r:id="rId50"/>
    <p:sldId id="559" r:id="rId51"/>
    <p:sldId id="560" r:id="rId52"/>
    <p:sldId id="561" r:id="rId53"/>
    <p:sldId id="562" r:id="rId54"/>
    <p:sldId id="563" r:id="rId55"/>
    <p:sldId id="564" r:id="rId56"/>
    <p:sldId id="565" r:id="rId57"/>
    <p:sldId id="566" r:id="rId58"/>
    <p:sldId id="567" r:id="rId59"/>
    <p:sldId id="568" r:id="rId60"/>
    <p:sldId id="569" r:id="rId61"/>
    <p:sldId id="570" r:id="rId62"/>
    <p:sldId id="571" r:id="rId63"/>
    <p:sldId id="572" r:id="rId64"/>
    <p:sldId id="547" r:id="rId65"/>
  </p:sldIdLst>
  <p:sldSz cx="9144000" cy="6858000" type="screen4x3"/>
  <p:notesSz cx="6858000" cy="9144000"/>
  <p:custDataLst>
    <p:tags r:id="rId70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CC"/>
    <a:srgbClr val="000000"/>
    <a:srgbClr val="0099CC"/>
    <a:srgbClr val="FFCCFF"/>
    <a:srgbClr val="00FF99"/>
    <a:srgbClr val="00CC6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4" autoAdjust="0"/>
    <p:restoredTop sz="99228" autoAdjust="0"/>
  </p:normalViewPr>
  <p:slideViewPr>
    <p:cSldViewPr>
      <p:cViewPr>
        <p:scale>
          <a:sx n="50" d="100"/>
          <a:sy n="50" d="100"/>
        </p:scale>
        <p:origin x="-1617" y="-1122"/>
      </p:cViewPr>
      <p:guideLst>
        <p:guide orient="horz" pos="2126"/>
        <p:guide pos="2840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2362" y="-77"/>
      </p:cViewPr>
      <p:guideLst>
        <p:guide orient="horz" pos="2835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0" Type="http://schemas.openxmlformats.org/officeDocument/2006/relationships/tags" Target="tags/tag1.xml"/><Relationship Id="rId7" Type="http://schemas.openxmlformats.org/officeDocument/2006/relationships/slideMaster" Target="slideMasters/slideMaster6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slide" Target="slides/slide57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0" Type="http://schemas.openxmlformats.org/officeDocument/2006/relationships/slide" Target="slides/slide52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1.xml"/><Relationship Id="rId58" Type="http://schemas.openxmlformats.org/officeDocument/2006/relationships/slide" Target="slides/slide50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12.xml"/><Relationship Id="rId8" Type="http://schemas.openxmlformats.org/officeDocument/2006/relationships/slide" Target="slides/slide11.xml"/><Relationship Id="rId7" Type="http://schemas.openxmlformats.org/officeDocument/2006/relationships/slide" Target="slides/slide10.xml"/><Relationship Id="rId6" Type="http://schemas.openxmlformats.org/officeDocument/2006/relationships/slide" Target="slides/slide9.xml"/><Relationship Id="rId5" Type="http://schemas.openxmlformats.org/officeDocument/2006/relationships/slide" Target="slides/slide8.xml"/><Relationship Id="rId4" Type="http://schemas.openxmlformats.org/officeDocument/2006/relationships/slide" Target="slides/slide5.xml"/><Relationship Id="rId3" Type="http://schemas.openxmlformats.org/officeDocument/2006/relationships/slide" Target="slides/slide4.xml"/><Relationship Id="rId2" Type="http://schemas.openxmlformats.org/officeDocument/2006/relationships/slide" Target="slides/slide2.xml"/><Relationship Id="rId14" Type="http://schemas.openxmlformats.org/officeDocument/2006/relationships/slide" Target="slides/slide34.xml"/><Relationship Id="rId13" Type="http://schemas.openxmlformats.org/officeDocument/2006/relationships/slide" Target="slides/slide22.xml"/><Relationship Id="rId12" Type="http://schemas.openxmlformats.org/officeDocument/2006/relationships/slide" Target="slides/slide19.xml"/><Relationship Id="rId11" Type="http://schemas.openxmlformats.org/officeDocument/2006/relationships/slide" Target="slides/slide18.xml"/><Relationship Id="rId10" Type="http://schemas.openxmlformats.org/officeDocument/2006/relationships/slide" Target="slides/slide14.xml"/><Relationship Id="rId1" Type="http://schemas.openxmlformats.org/officeDocument/2006/relationships/slide" Target="slides/slide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B1D179-D23D-41D4-AEEF-E4B9FEB06903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accent1" phldr="0"/>
      <dgm:spPr/>
    </dgm:pt>
    <dgm:pt modelId="{3F25DA44-7F3E-4C17-A40B-7F663FDBEA6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2"/>
              </a:solidFill>
            </a:rPr>
            <a:t>客观</a:t>
          </a:r>
          <a:r>
            <a:rPr lang="zh-CN" altLang="en-US">
              <a:solidFill>
                <a:schemeClr val="bg2"/>
              </a:solidFill>
            </a:rPr>
            <a:t>世界</a:t>
          </a:r>
          <a:r>
            <a:rPr lang="zh-CN" altLang="en-US">
              <a:solidFill>
                <a:schemeClr val="bg2"/>
              </a:solidFill>
            </a:rPr>
            <a:t/>
          </a:r>
          <a:endParaRPr lang="zh-CN" altLang="en-US">
            <a:solidFill>
              <a:schemeClr val="bg2"/>
            </a:solidFill>
          </a:endParaRPr>
        </a:p>
      </dgm:t>
    </dgm:pt>
    <dgm:pt modelId="{EE9066D1-3403-4469-8E8C-0D40A82430F2}" cxnId="{BD70587E-7388-44E3-BE46-CC640A55A059}" type="parTrans">
      <dgm:prSet/>
      <dgm:spPr/>
    </dgm:pt>
    <dgm:pt modelId="{8EC5AF5E-9C9F-410A-A755-A3EA5186F948}" cxnId="{BD70587E-7388-44E3-BE46-CC640A55A059}" type="sibTrans">
      <dgm:prSet/>
      <dgm:spPr/>
      <dgm:t>
        <a:bodyPr/>
        <a:p>
          <a:endParaRPr lang="zh-CN" altLang="en-US"/>
        </a:p>
      </dgm:t>
    </dgm:pt>
    <dgm:pt modelId="{2E2F4D3A-969C-4DB2-9FA9-5C4A4036935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2"/>
              </a:solidFill>
            </a:rPr>
            <a:t>概念</a:t>
          </a:r>
          <a:r>
            <a:rPr lang="zh-CN" altLang="en-US">
              <a:solidFill>
                <a:schemeClr val="bg2"/>
              </a:solidFill>
            </a:rPr>
            <a:t>模型</a:t>
          </a:r>
          <a:r>
            <a:rPr lang="zh-CN" altLang="en-US">
              <a:solidFill>
                <a:schemeClr val="bg2"/>
              </a:solidFill>
            </a:rPr>
            <a:t/>
          </a:r>
          <a:endParaRPr lang="zh-CN" altLang="en-US">
            <a:solidFill>
              <a:schemeClr val="bg2"/>
            </a:solidFill>
          </a:endParaRPr>
        </a:p>
      </dgm:t>
    </dgm:pt>
    <dgm:pt modelId="{1E934BFE-4D40-486C-8784-F698A10C4CF5}" cxnId="{CF8B3D90-8C23-4E8E-904E-95569B9EDDE0}" type="parTrans">
      <dgm:prSet/>
      <dgm:spPr/>
    </dgm:pt>
    <dgm:pt modelId="{EC1AFF77-9232-4EEB-95CB-85CEAB3B1FC0}" cxnId="{CF8B3D90-8C23-4E8E-904E-95569B9EDDE0}" type="sibTrans">
      <dgm:prSet/>
      <dgm:spPr/>
      <dgm:t>
        <a:bodyPr/>
        <a:p>
          <a:endParaRPr lang="zh-CN" altLang="en-US"/>
        </a:p>
      </dgm:t>
    </dgm:pt>
    <dgm:pt modelId="{37B86CFA-59B5-46FA-8A6B-9FB187CE14D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2"/>
              </a:solidFill>
            </a:rPr>
            <a:t>数据</a:t>
          </a:r>
          <a:r>
            <a:rPr lang="zh-CN" altLang="en-US">
              <a:solidFill>
                <a:schemeClr val="bg2"/>
              </a:solidFill>
            </a:rPr>
            <a:t>模型</a:t>
          </a:r>
          <a:r>
            <a:rPr lang="zh-CN" altLang="en-US">
              <a:solidFill>
                <a:schemeClr val="bg2"/>
              </a:solidFill>
            </a:rPr>
            <a:t/>
          </a:r>
          <a:endParaRPr lang="zh-CN" altLang="en-US">
            <a:solidFill>
              <a:schemeClr val="bg2"/>
            </a:solidFill>
          </a:endParaRPr>
        </a:p>
      </dgm:t>
    </dgm:pt>
    <dgm:pt modelId="{9DABF4F3-A9E6-40B1-A863-AC9409CC14BB}" cxnId="{5A748880-14CC-414D-8446-364994F4B159}" type="parTrans">
      <dgm:prSet/>
      <dgm:spPr/>
    </dgm:pt>
    <dgm:pt modelId="{18EFF3C3-47F9-402B-A3F3-E9310EA281B4}" cxnId="{5A748880-14CC-414D-8446-364994F4B159}" type="sibTrans">
      <dgm:prSet/>
      <dgm:spPr/>
    </dgm:pt>
    <dgm:pt modelId="{BF708676-7EFC-4C81-9D3A-3E677EAC1C7B}" type="pres">
      <dgm:prSet presAssocID="{8EB1D179-D23D-41D4-AEEF-E4B9FEB06903}" presName="Name0" presStyleCnt="0">
        <dgm:presLayoutVars>
          <dgm:dir/>
          <dgm:resizeHandles val="exact"/>
        </dgm:presLayoutVars>
      </dgm:prSet>
      <dgm:spPr/>
    </dgm:pt>
    <dgm:pt modelId="{111DEAC9-5D4C-4A6A-A44E-082A26F60596}" type="pres">
      <dgm:prSet presAssocID="{3F25DA44-7F3E-4C17-A40B-7F663FDBEA65}" presName="node" presStyleLbl="node1" presStyleIdx="0" presStyleCnt="3">
        <dgm:presLayoutVars>
          <dgm:bulletEnabled val="1"/>
        </dgm:presLayoutVars>
      </dgm:prSet>
      <dgm:spPr/>
    </dgm:pt>
    <dgm:pt modelId="{8A5CF0CE-3323-464D-9C63-05C1BDB053F5}" type="pres">
      <dgm:prSet presAssocID="{8EC5AF5E-9C9F-410A-A755-A3EA5186F948}" presName="sibTrans" presStyleLbl="sibTrans2D1" presStyleIdx="0" presStyleCnt="2"/>
      <dgm:spPr/>
    </dgm:pt>
    <dgm:pt modelId="{5FA465F6-7607-499F-BFB2-52F4E071FB67}" type="pres">
      <dgm:prSet presAssocID="{8EC5AF5E-9C9F-410A-A755-A3EA5186F948}" presName="connectorText" presStyleCnt="0"/>
      <dgm:spPr/>
    </dgm:pt>
    <dgm:pt modelId="{552FB8E7-A5FB-4CC3-94C3-CE0BDF19F9F1}" type="pres">
      <dgm:prSet presAssocID="{2E2F4D3A-969C-4DB2-9FA9-5C4A40369351}" presName="node" presStyleLbl="node1" presStyleIdx="1" presStyleCnt="3">
        <dgm:presLayoutVars>
          <dgm:bulletEnabled val="1"/>
        </dgm:presLayoutVars>
      </dgm:prSet>
      <dgm:spPr/>
    </dgm:pt>
    <dgm:pt modelId="{353C3794-50AA-4D44-83C9-CE28317C3317}" type="pres">
      <dgm:prSet presAssocID="{EC1AFF77-9232-4EEB-95CB-85CEAB3B1FC0}" presName="sibTrans" presStyleLbl="sibTrans2D1" presStyleIdx="1" presStyleCnt="2"/>
      <dgm:spPr/>
    </dgm:pt>
    <dgm:pt modelId="{5AFF040D-0639-4120-9E39-DA822CF9F321}" type="pres">
      <dgm:prSet presAssocID="{EC1AFF77-9232-4EEB-95CB-85CEAB3B1FC0}" presName="connectorText" presStyleCnt="0"/>
      <dgm:spPr/>
    </dgm:pt>
    <dgm:pt modelId="{A1E15D63-E1FF-4A28-A04F-A2B65927BC31}" type="pres">
      <dgm:prSet presAssocID="{37B86CFA-59B5-46FA-8A6B-9FB187CE14DF}" presName="node" presStyleLbl="node1" presStyleIdx="2" presStyleCnt="3">
        <dgm:presLayoutVars>
          <dgm:bulletEnabled val="1"/>
        </dgm:presLayoutVars>
      </dgm:prSet>
      <dgm:spPr/>
    </dgm:pt>
  </dgm:ptLst>
  <dgm:cxnLst>
    <dgm:cxn modelId="{BD70587E-7388-44E3-BE46-CC640A55A059}" srcId="{8EB1D179-D23D-41D4-AEEF-E4B9FEB06903}" destId="{3F25DA44-7F3E-4C17-A40B-7F663FDBEA65}" srcOrd="0" destOrd="0" parTransId="{EE9066D1-3403-4469-8E8C-0D40A82430F2}" sibTransId="{8EC5AF5E-9C9F-410A-A755-A3EA5186F948}"/>
    <dgm:cxn modelId="{CF8B3D90-8C23-4E8E-904E-95569B9EDDE0}" srcId="{8EB1D179-D23D-41D4-AEEF-E4B9FEB06903}" destId="{2E2F4D3A-969C-4DB2-9FA9-5C4A40369351}" srcOrd="1" destOrd="0" parTransId="{1E934BFE-4D40-486C-8784-F698A10C4CF5}" sibTransId="{EC1AFF77-9232-4EEB-95CB-85CEAB3B1FC0}"/>
    <dgm:cxn modelId="{5A748880-14CC-414D-8446-364994F4B159}" srcId="{8EB1D179-D23D-41D4-AEEF-E4B9FEB06903}" destId="{37B86CFA-59B5-46FA-8A6B-9FB187CE14DF}" srcOrd="2" destOrd="0" parTransId="{9DABF4F3-A9E6-40B1-A863-AC9409CC14BB}" sibTransId="{18EFF3C3-47F9-402B-A3F3-E9310EA281B4}"/>
    <dgm:cxn modelId="{AE16D41F-A6D0-47EF-BA94-F90432E61641}" type="presOf" srcId="{8EB1D179-D23D-41D4-AEEF-E4B9FEB06903}" destId="{BF708676-7EFC-4C81-9D3A-3E677EAC1C7B}" srcOrd="0" destOrd="0" presId="urn:microsoft.com/office/officeart/2005/8/layout/process1"/>
    <dgm:cxn modelId="{72466D6F-E12E-41E3-B4A3-94D11ECED84F}" type="presParOf" srcId="{BF708676-7EFC-4C81-9D3A-3E677EAC1C7B}" destId="{111DEAC9-5D4C-4A6A-A44E-082A26F60596}" srcOrd="0" destOrd="0" presId="urn:microsoft.com/office/officeart/2005/8/layout/process1"/>
    <dgm:cxn modelId="{E6C64E4A-64EE-47EA-96C3-4A6DF4758DE3}" type="presOf" srcId="{3F25DA44-7F3E-4C17-A40B-7F663FDBEA65}" destId="{111DEAC9-5D4C-4A6A-A44E-082A26F60596}" srcOrd="0" destOrd="0" presId="urn:microsoft.com/office/officeart/2005/8/layout/process1"/>
    <dgm:cxn modelId="{3A7DD367-92B5-4E8D-9CB3-76F9789CFF2A}" type="presParOf" srcId="{BF708676-7EFC-4C81-9D3A-3E677EAC1C7B}" destId="{8A5CF0CE-3323-464D-9C63-05C1BDB053F5}" srcOrd="1" destOrd="0" presId="urn:microsoft.com/office/officeart/2005/8/layout/process1"/>
    <dgm:cxn modelId="{BD251BBC-1906-4C89-A5F0-C319968F0DA8}" type="presOf" srcId="{8EC5AF5E-9C9F-410A-A755-A3EA5186F948}" destId="{8A5CF0CE-3323-464D-9C63-05C1BDB053F5}" srcOrd="0" destOrd="0" presId="urn:microsoft.com/office/officeart/2005/8/layout/process1"/>
    <dgm:cxn modelId="{C8041201-BD04-4D4D-86E3-A9FDFC596FCD}" type="presParOf" srcId="{8A5CF0CE-3323-464D-9C63-05C1BDB053F5}" destId="{5FA465F6-7607-499F-BFB2-52F4E071FB67}" srcOrd="0" destOrd="1" presId="urn:microsoft.com/office/officeart/2005/8/layout/process1"/>
    <dgm:cxn modelId="{AF4ABFE0-9122-49EE-B41B-EAA4FBDE1006}" type="presOf" srcId="{8EC5AF5E-9C9F-410A-A755-A3EA5186F948}" destId="{5FA465F6-7607-499F-BFB2-52F4E071FB67}" srcOrd="1" destOrd="0" presId="urn:microsoft.com/office/officeart/2005/8/layout/process1"/>
    <dgm:cxn modelId="{C668BF28-33F7-4EFD-A8D5-C76279FCAAD5}" type="presParOf" srcId="{BF708676-7EFC-4C81-9D3A-3E677EAC1C7B}" destId="{552FB8E7-A5FB-4CC3-94C3-CE0BDF19F9F1}" srcOrd="2" destOrd="0" presId="urn:microsoft.com/office/officeart/2005/8/layout/process1"/>
    <dgm:cxn modelId="{FBB1E0C5-3697-4C73-8D94-91555097878A}" type="presOf" srcId="{2E2F4D3A-969C-4DB2-9FA9-5C4A40369351}" destId="{552FB8E7-A5FB-4CC3-94C3-CE0BDF19F9F1}" srcOrd="0" destOrd="0" presId="urn:microsoft.com/office/officeart/2005/8/layout/process1"/>
    <dgm:cxn modelId="{EFD6EC75-804D-4D66-88A7-4BEDAB05CD78}" type="presParOf" srcId="{BF708676-7EFC-4C81-9D3A-3E677EAC1C7B}" destId="{353C3794-50AA-4D44-83C9-CE28317C3317}" srcOrd="3" destOrd="0" presId="urn:microsoft.com/office/officeart/2005/8/layout/process1"/>
    <dgm:cxn modelId="{252473FF-CB82-41C4-A2C1-C550DA5439EA}" type="presOf" srcId="{EC1AFF77-9232-4EEB-95CB-85CEAB3B1FC0}" destId="{353C3794-50AA-4D44-83C9-CE28317C3317}" srcOrd="0" destOrd="0" presId="urn:microsoft.com/office/officeart/2005/8/layout/process1"/>
    <dgm:cxn modelId="{7BE07541-F092-4F66-BA9C-14B954F7C525}" type="presParOf" srcId="{353C3794-50AA-4D44-83C9-CE28317C3317}" destId="{5AFF040D-0639-4120-9E39-DA822CF9F321}" srcOrd="0" destOrd="3" presId="urn:microsoft.com/office/officeart/2005/8/layout/process1"/>
    <dgm:cxn modelId="{6D0E87FB-1318-4CE6-975E-A14BC557D2ED}" type="presOf" srcId="{EC1AFF77-9232-4EEB-95CB-85CEAB3B1FC0}" destId="{5AFF040D-0639-4120-9E39-DA822CF9F321}" srcOrd="1" destOrd="0" presId="urn:microsoft.com/office/officeart/2005/8/layout/process1"/>
    <dgm:cxn modelId="{B4A8E5D7-D722-41BB-9CE8-50057C4B9AEA}" type="presParOf" srcId="{BF708676-7EFC-4C81-9D3A-3E677EAC1C7B}" destId="{A1E15D63-E1FF-4A28-A04F-A2B65927BC31}" srcOrd="4" destOrd="0" presId="urn:microsoft.com/office/officeart/2005/8/layout/process1"/>
    <dgm:cxn modelId="{8E4F3C94-69E4-4831-890D-5AD0AAF92CBE}" type="presOf" srcId="{37B86CFA-59B5-46FA-8A6B-9FB187CE14DF}" destId="{A1E15D63-E1FF-4A28-A04F-A2B65927BC3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B1D179-D23D-41D4-AEEF-E4B9FEB06903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0"/>
      <dgm:spPr/>
    </dgm:pt>
    <dgm:pt modelId="{3F25DA44-7F3E-4C17-A40B-7F663FDBEA65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患者</a:t>
          </a:r>
          <a:r>
            <a:rPr lang="zh-CN" altLang="en-US"/>
            <a:t/>
          </a:r>
          <a:endParaRPr lang="zh-CN" altLang="en-US"/>
        </a:p>
      </dgm:t>
    </dgm:pt>
    <dgm:pt modelId="{EE9066D1-3403-4469-8E8C-0D40A82430F2}" cxnId="{2682C23C-4F06-4FCF-B093-D7243C4E9047}" type="parTrans">
      <dgm:prSet/>
      <dgm:spPr/>
    </dgm:pt>
    <dgm:pt modelId="{8EC5AF5E-9C9F-410A-A755-A3EA5186F948}" cxnId="{2682C23C-4F06-4FCF-B093-D7243C4E9047}" type="sibTrans">
      <dgm:prSet/>
      <dgm:spPr/>
      <dgm:t>
        <a:bodyPr/>
        <a:p>
          <a:endParaRPr lang="zh-CN" altLang="en-US"/>
        </a:p>
      </dgm:t>
    </dgm:pt>
    <dgm:pt modelId="{2E2F4D3A-969C-4DB2-9FA9-5C4A4036935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rgbClr val="FF0000"/>
              </a:solidFill>
            </a:rPr>
            <a:t>挂号</a:t>
          </a:r>
          <a:r>
            <a:rPr lang="zh-CN" altLang="en-US">
              <a:solidFill>
                <a:srgbClr val="FF0000"/>
              </a:solidFill>
            </a:rPr>
            <a:t/>
          </a:r>
          <a:endParaRPr lang="zh-CN" altLang="en-US">
            <a:solidFill>
              <a:srgbClr val="FF0000"/>
            </a:solidFill>
          </a:endParaRPr>
        </a:p>
      </dgm:t>
    </dgm:pt>
    <dgm:pt modelId="{1E934BFE-4D40-486C-8784-F698A10C4CF5}" cxnId="{46881F15-00DB-4E0F-B2E0-8E4A87715349}" type="parTrans">
      <dgm:prSet/>
      <dgm:spPr/>
    </dgm:pt>
    <dgm:pt modelId="{EC1AFF77-9232-4EEB-95CB-85CEAB3B1FC0}" cxnId="{46881F15-00DB-4E0F-B2E0-8E4A87715349}" type="sibTrans">
      <dgm:prSet/>
      <dgm:spPr/>
      <dgm:t>
        <a:bodyPr/>
        <a:p>
          <a:endParaRPr lang="zh-CN" altLang="en-US"/>
        </a:p>
      </dgm:t>
    </dgm:pt>
    <dgm:pt modelId="{37B86CFA-59B5-46FA-8A6B-9FB187CE14DF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医生</a:t>
          </a:r>
          <a:r>
            <a:rPr lang="zh-CN" altLang="en-US"/>
            <a:t/>
          </a:r>
          <a:endParaRPr lang="zh-CN" altLang="en-US"/>
        </a:p>
      </dgm:t>
    </dgm:pt>
    <dgm:pt modelId="{9DABF4F3-A9E6-40B1-A863-AC9409CC14BB}" cxnId="{A5F5A315-4F59-42EB-8F16-1C0CDECC9298}" type="parTrans">
      <dgm:prSet/>
      <dgm:spPr/>
    </dgm:pt>
    <dgm:pt modelId="{18EFF3C3-47F9-402B-A3F3-E9310EA281B4}" cxnId="{A5F5A315-4F59-42EB-8F16-1C0CDECC9298}" type="sibTrans">
      <dgm:prSet/>
      <dgm:spPr/>
    </dgm:pt>
    <dgm:pt modelId="{BF708676-7EFC-4C81-9D3A-3E677EAC1C7B}" type="pres">
      <dgm:prSet presAssocID="{8EB1D179-D23D-41D4-AEEF-E4B9FEB06903}" presName="Name0" presStyleCnt="0">
        <dgm:presLayoutVars>
          <dgm:dir/>
          <dgm:resizeHandles val="exact"/>
        </dgm:presLayoutVars>
      </dgm:prSet>
      <dgm:spPr/>
    </dgm:pt>
    <dgm:pt modelId="{111DEAC9-5D4C-4A6A-A44E-082A26F60596}" type="pres">
      <dgm:prSet presAssocID="{3F25DA44-7F3E-4C17-A40B-7F663FDBEA65}" presName="node" presStyleLbl="node1" presStyleIdx="0" presStyleCnt="3">
        <dgm:presLayoutVars>
          <dgm:bulletEnabled val="1"/>
        </dgm:presLayoutVars>
      </dgm:prSet>
      <dgm:spPr/>
    </dgm:pt>
    <dgm:pt modelId="{8A5CF0CE-3323-464D-9C63-05C1BDB053F5}" type="pres">
      <dgm:prSet presAssocID="{8EC5AF5E-9C9F-410A-A755-A3EA5186F948}" presName="sibTrans" presStyleLbl="sibTrans2D1" presStyleIdx="0" presStyleCnt="2"/>
      <dgm:spPr/>
    </dgm:pt>
    <dgm:pt modelId="{5FA465F6-7607-499F-BFB2-52F4E071FB67}" type="pres">
      <dgm:prSet presAssocID="{8EC5AF5E-9C9F-410A-A755-A3EA5186F948}" presName="connectorText" presStyleCnt="0"/>
      <dgm:spPr/>
    </dgm:pt>
    <dgm:pt modelId="{552FB8E7-A5FB-4CC3-94C3-CE0BDF19F9F1}" type="pres">
      <dgm:prSet presAssocID="{2E2F4D3A-969C-4DB2-9FA9-5C4A40369351}" presName="node" presStyleLbl="node1" presStyleIdx="1" presStyleCnt="3">
        <dgm:presLayoutVars>
          <dgm:bulletEnabled val="1"/>
        </dgm:presLayoutVars>
      </dgm:prSet>
      <dgm:spPr/>
    </dgm:pt>
    <dgm:pt modelId="{353C3794-50AA-4D44-83C9-CE28317C3317}" type="pres">
      <dgm:prSet presAssocID="{EC1AFF77-9232-4EEB-95CB-85CEAB3B1FC0}" presName="sibTrans" presStyleLbl="sibTrans2D1" presStyleIdx="1" presStyleCnt="2"/>
      <dgm:spPr/>
    </dgm:pt>
    <dgm:pt modelId="{5AFF040D-0639-4120-9E39-DA822CF9F321}" type="pres">
      <dgm:prSet presAssocID="{EC1AFF77-9232-4EEB-95CB-85CEAB3B1FC0}" presName="connectorText" presStyleCnt="0"/>
      <dgm:spPr/>
    </dgm:pt>
    <dgm:pt modelId="{A1E15D63-E1FF-4A28-A04F-A2B65927BC31}" type="pres">
      <dgm:prSet presAssocID="{37B86CFA-59B5-46FA-8A6B-9FB187CE14DF}" presName="node" presStyleLbl="node1" presStyleIdx="2" presStyleCnt="3">
        <dgm:presLayoutVars>
          <dgm:bulletEnabled val="1"/>
        </dgm:presLayoutVars>
      </dgm:prSet>
      <dgm:spPr/>
    </dgm:pt>
  </dgm:ptLst>
  <dgm:cxnLst>
    <dgm:cxn modelId="{2682C23C-4F06-4FCF-B093-D7243C4E9047}" srcId="{8EB1D179-D23D-41D4-AEEF-E4B9FEB06903}" destId="{3F25DA44-7F3E-4C17-A40B-7F663FDBEA65}" srcOrd="0" destOrd="0" parTransId="{EE9066D1-3403-4469-8E8C-0D40A82430F2}" sibTransId="{8EC5AF5E-9C9F-410A-A755-A3EA5186F948}"/>
    <dgm:cxn modelId="{46881F15-00DB-4E0F-B2E0-8E4A87715349}" srcId="{8EB1D179-D23D-41D4-AEEF-E4B9FEB06903}" destId="{2E2F4D3A-969C-4DB2-9FA9-5C4A40369351}" srcOrd="1" destOrd="0" parTransId="{1E934BFE-4D40-486C-8784-F698A10C4CF5}" sibTransId="{EC1AFF77-9232-4EEB-95CB-85CEAB3B1FC0}"/>
    <dgm:cxn modelId="{A5F5A315-4F59-42EB-8F16-1C0CDECC9298}" srcId="{8EB1D179-D23D-41D4-AEEF-E4B9FEB06903}" destId="{37B86CFA-59B5-46FA-8A6B-9FB187CE14DF}" srcOrd="2" destOrd="0" parTransId="{9DABF4F3-A9E6-40B1-A863-AC9409CC14BB}" sibTransId="{18EFF3C3-47F9-402B-A3F3-E9310EA281B4}"/>
    <dgm:cxn modelId="{0DE1A5D2-EFAC-4BE5-88F8-B2751C29D990}" type="presOf" srcId="{8EB1D179-D23D-41D4-AEEF-E4B9FEB06903}" destId="{BF708676-7EFC-4C81-9D3A-3E677EAC1C7B}" srcOrd="0" destOrd="0" presId="urn:microsoft.com/office/officeart/2005/8/layout/process1"/>
    <dgm:cxn modelId="{883B7322-29BE-455E-B70E-55559B5B77F8}" type="presParOf" srcId="{BF708676-7EFC-4C81-9D3A-3E677EAC1C7B}" destId="{111DEAC9-5D4C-4A6A-A44E-082A26F60596}" srcOrd="0" destOrd="0" presId="urn:microsoft.com/office/officeart/2005/8/layout/process1"/>
    <dgm:cxn modelId="{025C063D-8F73-4E5D-A5D0-78EC6F9EDEF4}" type="presOf" srcId="{3F25DA44-7F3E-4C17-A40B-7F663FDBEA65}" destId="{111DEAC9-5D4C-4A6A-A44E-082A26F60596}" srcOrd="0" destOrd="0" presId="urn:microsoft.com/office/officeart/2005/8/layout/process1"/>
    <dgm:cxn modelId="{A2107034-5023-4086-8464-20BD044733AE}" type="presParOf" srcId="{BF708676-7EFC-4C81-9D3A-3E677EAC1C7B}" destId="{8A5CF0CE-3323-464D-9C63-05C1BDB053F5}" srcOrd="1" destOrd="0" presId="urn:microsoft.com/office/officeart/2005/8/layout/process1"/>
    <dgm:cxn modelId="{DF2CB358-A74E-4BD5-B449-12AC82BDDE90}" type="presOf" srcId="{8EC5AF5E-9C9F-410A-A755-A3EA5186F948}" destId="{8A5CF0CE-3323-464D-9C63-05C1BDB053F5}" srcOrd="0" destOrd="0" presId="urn:microsoft.com/office/officeart/2005/8/layout/process1"/>
    <dgm:cxn modelId="{AE3B7A4F-72B1-4AB7-89E5-035C42A9BEFC}" type="presParOf" srcId="{8A5CF0CE-3323-464D-9C63-05C1BDB053F5}" destId="{5FA465F6-7607-499F-BFB2-52F4E071FB67}" srcOrd="0" destOrd="1" presId="urn:microsoft.com/office/officeart/2005/8/layout/process1"/>
    <dgm:cxn modelId="{F686807C-CF44-44B5-AE89-133112EA34BC}" type="presOf" srcId="{8EC5AF5E-9C9F-410A-A755-A3EA5186F948}" destId="{5FA465F6-7607-499F-BFB2-52F4E071FB67}" srcOrd="1" destOrd="0" presId="urn:microsoft.com/office/officeart/2005/8/layout/process1"/>
    <dgm:cxn modelId="{0091B8CF-7BEE-489A-A88D-9C78E0896881}" type="presParOf" srcId="{BF708676-7EFC-4C81-9D3A-3E677EAC1C7B}" destId="{552FB8E7-A5FB-4CC3-94C3-CE0BDF19F9F1}" srcOrd="2" destOrd="0" presId="urn:microsoft.com/office/officeart/2005/8/layout/process1"/>
    <dgm:cxn modelId="{2D8937CE-2A9F-4ACD-9057-13902AE00CEA}" type="presOf" srcId="{2E2F4D3A-969C-4DB2-9FA9-5C4A40369351}" destId="{552FB8E7-A5FB-4CC3-94C3-CE0BDF19F9F1}" srcOrd="0" destOrd="0" presId="urn:microsoft.com/office/officeart/2005/8/layout/process1"/>
    <dgm:cxn modelId="{DD8AC040-B8F4-4E3D-92EE-E88D9B73F0CA}" type="presParOf" srcId="{BF708676-7EFC-4C81-9D3A-3E677EAC1C7B}" destId="{353C3794-50AA-4D44-83C9-CE28317C3317}" srcOrd="3" destOrd="0" presId="urn:microsoft.com/office/officeart/2005/8/layout/process1"/>
    <dgm:cxn modelId="{52C27385-B617-48C8-BDDF-507C71788844}" type="presOf" srcId="{EC1AFF77-9232-4EEB-95CB-85CEAB3B1FC0}" destId="{353C3794-50AA-4D44-83C9-CE28317C3317}" srcOrd="0" destOrd="0" presId="urn:microsoft.com/office/officeart/2005/8/layout/process1"/>
    <dgm:cxn modelId="{C6D95364-A109-4D61-AA4A-0EF0699E593B}" type="presParOf" srcId="{353C3794-50AA-4D44-83C9-CE28317C3317}" destId="{5AFF040D-0639-4120-9E39-DA822CF9F321}" srcOrd="0" destOrd="3" presId="urn:microsoft.com/office/officeart/2005/8/layout/process1"/>
    <dgm:cxn modelId="{0C068D58-C30F-4659-ADB0-503746E4619C}" type="presOf" srcId="{EC1AFF77-9232-4EEB-95CB-85CEAB3B1FC0}" destId="{5AFF040D-0639-4120-9E39-DA822CF9F321}" srcOrd="1" destOrd="0" presId="urn:microsoft.com/office/officeart/2005/8/layout/process1"/>
    <dgm:cxn modelId="{4E676A3D-05C9-415F-A8FE-CCDC5D0A2D26}" type="presParOf" srcId="{BF708676-7EFC-4C81-9D3A-3E677EAC1C7B}" destId="{A1E15D63-E1FF-4A28-A04F-A2B65927BC31}" srcOrd="4" destOrd="0" presId="urn:microsoft.com/office/officeart/2005/8/layout/process1"/>
    <dgm:cxn modelId="{BFC8DA4B-D1EA-475F-A0C7-BB86D7B427CB}" type="presOf" srcId="{37B86CFA-59B5-46FA-8A6B-9FB187CE14DF}" destId="{A1E15D63-E1FF-4A28-A04F-A2B65927BC3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2878455"/>
        <a:chOff x="0" y="0"/>
        <a:chExt cx="8128000" cy="2878455"/>
      </a:xfrm>
    </dsp:grpSpPr>
    <dsp:sp modelId="{111DEAC9-5D4C-4A6A-A44E-082A26F60596}">
      <dsp:nvSpPr>
        <dsp:cNvPr id="3" name="圆角矩形 2"/>
        <dsp:cNvSpPr/>
      </dsp:nvSpPr>
      <dsp:spPr bwMode="white">
        <a:xfrm>
          <a:off x="0" y="797543"/>
          <a:ext cx="2138947" cy="128336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2"/>
              </a:solidFill>
            </a:rPr>
            <a:t>客观</a:t>
          </a:r>
          <a:r>
            <a:rPr lang="zh-CN" altLang="en-US">
              <a:solidFill>
                <a:schemeClr val="bg2"/>
              </a:solidFill>
            </a:rPr>
            <a:t>世界</a:t>
          </a:r>
          <a:endParaRPr lang="zh-CN" altLang="en-US">
            <a:solidFill>
              <a:schemeClr val="bg2"/>
            </a:solidFill>
          </a:endParaRPr>
        </a:p>
      </dsp:txBody>
      <dsp:txXfrm>
        <a:off x="0" y="797543"/>
        <a:ext cx="2138947" cy="1283368"/>
      </dsp:txXfrm>
    </dsp:sp>
    <dsp:sp modelId="{8A5CF0CE-3323-464D-9C63-05C1BDB053F5}">
      <dsp:nvSpPr>
        <dsp:cNvPr id="4" name="右箭头 3"/>
        <dsp:cNvSpPr/>
      </dsp:nvSpPr>
      <dsp:spPr bwMode="white">
        <a:xfrm>
          <a:off x="2340008" y="1173998"/>
          <a:ext cx="453457" cy="5304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0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40008" y="1173998"/>
        <a:ext cx="453457" cy="530459"/>
      </dsp:txXfrm>
    </dsp:sp>
    <dsp:sp modelId="{552FB8E7-A5FB-4CC3-94C3-CE0BDF19F9F1}">
      <dsp:nvSpPr>
        <dsp:cNvPr id="5" name="圆角矩形 4"/>
        <dsp:cNvSpPr/>
      </dsp:nvSpPr>
      <dsp:spPr bwMode="white">
        <a:xfrm>
          <a:off x="2994526" y="797543"/>
          <a:ext cx="2138947" cy="128336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6180000"/>
            <a:satOff val="24510"/>
            <a:lumOff val="-39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2"/>
              </a:solidFill>
            </a:rPr>
            <a:t>概念</a:t>
          </a:r>
          <a:r>
            <a:rPr lang="zh-CN" altLang="en-US">
              <a:solidFill>
                <a:schemeClr val="bg2"/>
              </a:solidFill>
            </a:rPr>
            <a:t>模型</a:t>
          </a:r>
          <a:endParaRPr lang="zh-CN" altLang="en-US">
            <a:solidFill>
              <a:schemeClr val="bg2"/>
            </a:solidFill>
          </a:endParaRPr>
        </a:p>
      </dsp:txBody>
      <dsp:txXfrm>
        <a:off x="2994526" y="797543"/>
        <a:ext cx="2138947" cy="1283368"/>
      </dsp:txXfrm>
    </dsp:sp>
    <dsp:sp modelId="{353C3794-50AA-4D44-83C9-CE28317C3317}">
      <dsp:nvSpPr>
        <dsp:cNvPr id="6" name="右箭头 5"/>
        <dsp:cNvSpPr/>
      </dsp:nvSpPr>
      <dsp:spPr bwMode="white">
        <a:xfrm>
          <a:off x="5334535" y="1173998"/>
          <a:ext cx="453457" cy="5304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/>
        </a:lnRef>
        <a:fillRef idx="1">
          <a:schemeClr val="accent4">
            <a:hueOff val="12360000"/>
            <a:satOff val="49020"/>
            <a:lumOff val="-78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0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5334535" y="1173998"/>
        <a:ext cx="453457" cy="530459"/>
      </dsp:txXfrm>
    </dsp:sp>
    <dsp:sp modelId="{A1E15D63-E1FF-4A28-A04F-A2B65927BC31}">
      <dsp:nvSpPr>
        <dsp:cNvPr id="7" name="圆角矩形 6"/>
        <dsp:cNvSpPr/>
      </dsp:nvSpPr>
      <dsp:spPr bwMode="white">
        <a:xfrm>
          <a:off x="5989053" y="797543"/>
          <a:ext cx="2138947" cy="128336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12360000"/>
            <a:satOff val="49020"/>
            <a:lumOff val="-78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bg2"/>
              </a:solidFill>
            </a:rPr>
            <a:t>数据</a:t>
          </a:r>
          <a:r>
            <a:rPr lang="zh-CN" altLang="en-US">
              <a:solidFill>
                <a:schemeClr val="bg2"/>
              </a:solidFill>
            </a:rPr>
            <a:t>模型</a:t>
          </a:r>
          <a:endParaRPr lang="zh-CN" altLang="en-US">
            <a:solidFill>
              <a:schemeClr val="bg2"/>
            </a:solidFill>
          </a:endParaRPr>
        </a:p>
      </dsp:txBody>
      <dsp:txXfrm>
        <a:off x="5989053" y="797543"/>
        <a:ext cx="2138947" cy="12833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953135"/>
        <a:chOff x="0" y="0"/>
        <a:chExt cx="8128000" cy="953135"/>
      </a:xfrm>
    </dsp:grpSpPr>
    <dsp:sp modelId="{111DEAC9-5D4C-4A6A-A44E-082A26F60596}">
      <dsp:nvSpPr>
        <dsp:cNvPr id="3" name="圆角矩形 2"/>
        <dsp:cNvSpPr/>
      </dsp:nvSpPr>
      <dsp:spPr bwMode="white">
        <a:xfrm>
          <a:off x="0" y="0"/>
          <a:ext cx="2138947" cy="95313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8590" tIns="148590" rIns="148590" bIns="148590" anchor="ctr"/>
        <a:lstStyle>
          <a:lvl1pPr algn="ctr">
            <a:defRPr sz="3900"/>
          </a:lvl1pPr>
          <a:lvl2pPr marL="285750" indent="-285750" algn="ctr">
            <a:defRPr sz="3000"/>
          </a:lvl2pPr>
          <a:lvl3pPr marL="571500" indent="-285750" algn="ctr">
            <a:defRPr sz="3000"/>
          </a:lvl3pPr>
          <a:lvl4pPr marL="857250" indent="-285750" algn="ctr">
            <a:defRPr sz="3000"/>
          </a:lvl4pPr>
          <a:lvl5pPr marL="1143000" indent="-285750" algn="ctr">
            <a:defRPr sz="3000"/>
          </a:lvl5pPr>
          <a:lvl6pPr marL="1428750" indent="-285750" algn="ctr">
            <a:defRPr sz="3000"/>
          </a:lvl6pPr>
          <a:lvl7pPr marL="1714500" indent="-285750" algn="ctr">
            <a:defRPr sz="3000"/>
          </a:lvl7pPr>
          <a:lvl8pPr marL="2000250" indent="-285750" algn="ctr">
            <a:defRPr sz="3000"/>
          </a:lvl8pPr>
          <a:lvl9pPr marL="2286000" indent="-285750" algn="ctr">
            <a:defRPr sz="3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患者</a:t>
          </a:r>
          <a:endParaRPr lang="zh-CN" altLang="en-US"/>
        </a:p>
      </dsp:txBody>
      <dsp:txXfrm>
        <a:off x="0" y="0"/>
        <a:ext cx="2138947" cy="953135"/>
      </dsp:txXfrm>
    </dsp:sp>
    <dsp:sp modelId="{8A5CF0CE-3323-464D-9C63-05C1BDB053F5}">
      <dsp:nvSpPr>
        <dsp:cNvPr id="4" name="右箭头 3"/>
        <dsp:cNvSpPr/>
      </dsp:nvSpPr>
      <dsp:spPr bwMode="white">
        <a:xfrm>
          <a:off x="2340008" y="211338"/>
          <a:ext cx="453457" cy="5304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2">
          <a:schemeClr val="accent1">
            <a:tint val="6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0" tIns="0" rIns="0" bIns="0" anchor="ctr"/>
        <a:lstStyle>
          <a:lvl1pPr algn="ctr">
            <a:defRPr sz="20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2340008" y="211338"/>
        <a:ext cx="453457" cy="530459"/>
      </dsp:txXfrm>
    </dsp:sp>
    <dsp:sp modelId="{552FB8E7-A5FB-4CC3-94C3-CE0BDF19F9F1}">
      <dsp:nvSpPr>
        <dsp:cNvPr id="5" name="圆角矩形 4"/>
        <dsp:cNvSpPr/>
      </dsp:nvSpPr>
      <dsp:spPr bwMode="white">
        <a:xfrm>
          <a:off x="2994526" y="0"/>
          <a:ext cx="2138947" cy="95313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8590" tIns="148590" rIns="148590" bIns="148590" anchor="ctr"/>
        <a:lstStyle>
          <a:lvl1pPr algn="ctr">
            <a:defRPr sz="3900"/>
          </a:lvl1pPr>
          <a:lvl2pPr marL="285750" indent="-285750" algn="ctr">
            <a:defRPr sz="3000"/>
          </a:lvl2pPr>
          <a:lvl3pPr marL="571500" indent="-285750" algn="ctr">
            <a:defRPr sz="3000"/>
          </a:lvl3pPr>
          <a:lvl4pPr marL="857250" indent="-285750" algn="ctr">
            <a:defRPr sz="3000"/>
          </a:lvl4pPr>
          <a:lvl5pPr marL="1143000" indent="-285750" algn="ctr">
            <a:defRPr sz="3000"/>
          </a:lvl5pPr>
          <a:lvl6pPr marL="1428750" indent="-285750" algn="ctr">
            <a:defRPr sz="3000"/>
          </a:lvl6pPr>
          <a:lvl7pPr marL="1714500" indent="-285750" algn="ctr">
            <a:defRPr sz="3000"/>
          </a:lvl7pPr>
          <a:lvl8pPr marL="2000250" indent="-285750" algn="ctr">
            <a:defRPr sz="3000"/>
          </a:lvl8pPr>
          <a:lvl9pPr marL="2286000" indent="-285750" algn="ctr">
            <a:defRPr sz="3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rgbClr val="FF0000"/>
              </a:solidFill>
            </a:rPr>
            <a:t>挂号</a:t>
          </a:r>
          <a:endParaRPr lang="zh-CN" altLang="en-US">
            <a:solidFill>
              <a:srgbClr val="FF0000"/>
            </a:solidFill>
          </a:endParaRPr>
        </a:p>
      </dsp:txBody>
      <dsp:txXfrm>
        <a:off x="2994526" y="0"/>
        <a:ext cx="2138947" cy="953135"/>
      </dsp:txXfrm>
    </dsp:sp>
    <dsp:sp modelId="{353C3794-50AA-4D44-83C9-CE28317C3317}">
      <dsp:nvSpPr>
        <dsp:cNvPr id="6" name="右箭头 5"/>
        <dsp:cNvSpPr/>
      </dsp:nvSpPr>
      <dsp:spPr bwMode="white">
        <a:xfrm>
          <a:off x="5334535" y="211338"/>
          <a:ext cx="453457" cy="5304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2">
          <a:schemeClr val="accent1">
            <a:tint val="6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0" tIns="0" rIns="0" bIns="0" anchor="ctr"/>
        <a:lstStyle>
          <a:lvl1pPr algn="ctr">
            <a:defRPr sz="20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/>
        </a:p>
      </dsp:txBody>
      <dsp:txXfrm>
        <a:off x="5334535" y="211338"/>
        <a:ext cx="453457" cy="530459"/>
      </dsp:txXfrm>
    </dsp:sp>
    <dsp:sp modelId="{A1E15D63-E1FF-4A28-A04F-A2B65927BC31}">
      <dsp:nvSpPr>
        <dsp:cNvPr id="7" name="圆角矩形 6"/>
        <dsp:cNvSpPr/>
      </dsp:nvSpPr>
      <dsp:spPr bwMode="white">
        <a:xfrm>
          <a:off x="5989053" y="0"/>
          <a:ext cx="2138947" cy="953135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vert="horz" wrap="square" lIns="148590" tIns="148590" rIns="148590" bIns="148590" anchor="ctr"/>
        <a:lstStyle>
          <a:lvl1pPr algn="ctr">
            <a:defRPr sz="3900"/>
          </a:lvl1pPr>
          <a:lvl2pPr marL="285750" indent="-285750" algn="ctr">
            <a:defRPr sz="3000"/>
          </a:lvl2pPr>
          <a:lvl3pPr marL="571500" indent="-285750" algn="ctr">
            <a:defRPr sz="3000"/>
          </a:lvl3pPr>
          <a:lvl4pPr marL="857250" indent="-285750" algn="ctr">
            <a:defRPr sz="3000"/>
          </a:lvl4pPr>
          <a:lvl5pPr marL="1143000" indent="-285750" algn="ctr">
            <a:defRPr sz="3000"/>
          </a:lvl5pPr>
          <a:lvl6pPr marL="1428750" indent="-285750" algn="ctr">
            <a:defRPr sz="3000"/>
          </a:lvl6pPr>
          <a:lvl7pPr marL="1714500" indent="-285750" algn="ctr">
            <a:defRPr sz="3000"/>
          </a:lvl7pPr>
          <a:lvl8pPr marL="2000250" indent="-285750" algn="ctr">
            <a:defRPr sz="3000"/>
          </a:lvl8pPr>
          <a:lvl9pPr marL="2286000" indent="-285750" algn="ctr">
            <a:defRPr sz="3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医生</a:t>
          </a:r>
          <a:endParaRPr lang="zh-CN" altLang="en-US"/>
        </a:p>
      </dsp:txBody>
      <dsp:txXfrm>
        <a:off x="5989053" y="0"/>
        <a:ext cx="2138947" cy="953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7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EC4121BB-3E35-4776-8502-5E20090F2D1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965C5D8D-C15D-4134-A392-1F30BA60388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F5875F7-9497-46D8-9048-0E3B205A7C9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771726-65B1-49E0-8CA1-2723013328A7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kumimoji="1" lang="en-US" altLang="zh-CN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DEAFD5F-FCA7-4EB5-BFC2-625DE5E690A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2596F68-DE66-45CE-B6D6-0628BD38D7C9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2C4B82F-9CAB-4FC6-86BE-4D62B3FCC27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mtClean="0"/>
              <a:t>对概念模型的基本要求：较强的语义表达能力，能够方便、直接地表达应用中的各种语义知识、简单、清晰、易于用户理解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信息模型并不依赖于具体的计算机系统，不是某一个</a:t>
            </a:r>
            <a:r>
              <a:rPr lang="en-US" altLang="zh-CN" smtClean="0"/>
              <a:t>DBMS</a:t>
            </a:r>
            <a:r>
              <a:rPr lang="zh-CN" altLang="en-US" smtClean="0"/>
              <a:t>所支持的数据模型，它是计算机内部数据的抽象表示，是概念模型；</a:t>
            </a:r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61CE6D8-CD55-4512-A38F-BC93716DF342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"/>
              </a:spcBef>
            </a:pPr>
            <a:r>
              <a:rPr lang="en-US" altLang="zh-CN" b="1" smtClean="0">
                <a:latin typeface="宋体" panose="02010600030101010101" pitchFamily="2" charset="-122"/>
              </a:rPr>
              <a:t>ER</a:t>
            </a:r>
            <a:r>
              <a:rPr lang="zh-CN" altLang="en-US" b="1" smtClean="0">
                <a:latin typeface="宋体" panose="02010600030101010101" pitchFamily="2" charset="-122"/>
              </a:rPr>
              <a:t>图是直观表示概念模型的工具。</a:t>
            </a:r>
            <a:endParaRPr lang="zh-CN" altLang="en-US" b="1" smtClean="0">
              <a:latin typeface="宋体" panose="02010600030101010101" pitchFamily="2" charset="-122"/>
            </a:endParaRPr>
          </a:p>
          <a:p>
            <a:pPr eaLnBrk="1" hangingPunct="1">
              <a:spcBef>
                <a:spcPct val="5000"/>
              </a:spcBef>
            </a:pPr>
            <a:r>
              <a:rPr lang="zh-CN" altLang="en-US" smtClean="0"/>
              <a:t>概念数据模型中，具体或抽象的事物都归类为</a:t>
            </a:r>
            <a:r>
              <a:rPr lang="zh-CN" altLang="en-US" smtClean="0">
                <a:solidFill>
                  <a:schemeClr val="hlink"/>
                </a:solidFill>
              </a:rPr>
              <a:t>实体</a:t>
            </a:r>
            <a:r>
              <a:rPr lang="zh-CN" altLang="en-US" smtClean="0"/>
              <a:t>。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2FB29A1-CB04-4F70-94D5-E7F72D3FA29D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635D4CD-CAD0-459F-9257-5A83CF9D972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AE355EF-5607-4A74-BF6D-C9D19321B0A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F7AC55C-D741-4C3D-BADC-D8AC60C5350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lnSpc>
                <a:spcPct val="160000"/>
              </a:lnSpc>
            </a:pPr>
            <a:r>
              <a:rPr lang="zh-CN" altLang="en-US" b="1" smtClean="0"/>
              <a:t>现实世界中事物内部以及事物之间的联系在信息世界</a:t>
            </a:r>
            <a:endParaRPr lang="zh-CN" altLang="en-US" b="1" smtClean="0"/>
          </a:p>
          <a:p>
            <a:pPr lvl="1" eaLnBrk="1" hangingPunct="1">
              <a:lnSpc>
                <a:spcPct val="160000"/>
              </a:lnSpc>
            </a:pPr>
            <a:r>
              <a:rPr lang="zh-CN" altLang="en-US" b="1" smtClean="0"/>
              <a:t>中反映为实体内部的联系和实体之间的联系</a:t>
            </a:r>
            <a:endParaRPr lang="zh-CN" altLang="en-US" sz="1400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一对一 </a:t>
            </a:r>
            <a:r>
              <a:rPr lang="en-US" altLang="zh-CN" smtClean="0"/>
              <a:t>( </a:t>
            </a:r>
            <a:r>
              <a:rPr lang="en-US" altLang="zh-CN" smtClean="0">
                <a:solidFill>
                  <a:schemeClr val="hlink"/>
                </a:solidFill>
              </a:rPr>
              <a:t>1:1</a:t>
            </a:r>
            <a:r>
              <a:rPr lang="en-US" altLang="zh-CN" smtClean="0"/>
              <a:t> )	    </a:t>
            </a:r>
            <a:r>
              <a:rPr lang="zh-CN" altLang="en-US" smtClean="0"/>
              <a:t>一个学校一个校长</a:t>
            </a: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一对多 </a:t>
            </a:r>
            <a:r>
              <a:rPr lang="en-US" altLang="zh-CN" smtClean="0"/>
              <a:t>( </a:t>
            </a:r>
            <a:r>
              <a:rPr lang="en-US" altLang="zh-CN" smtClean="0">
                <a:solidFill>
                  <a:schemeClr val="hlink"/>
                </a:solidFill>
              </a:rPr>
              <a:t>1:n</a:t>
            </a:r>
            <a:r>
              <a:rPr lang="en-US" altLang="zh-CN" smtClean="0"/>
              <a:t> )	    </a:t>
            </a:r>
            <a:r>
              <a:rPr lang="zh-CN" altLang="en-US" smtClean="0"/>
              <a:t>一个学校多个副校长</a:t>
            </a: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多对多</a:t>
            </a:r>
            <a:r>
              <a:rPr lang="en-US" altLang="zh-CN" smtClean="0"/>
              <a:t>( </a:t>
            </a:r>
            <a:r>
              <a:rPr lang="en-US" altLang="zh-CN" smtClean="0">
                <a:solidFill>
                  <a:schemeClr val="hlink"/>
                </a:solidFill>
              </a:rPr>
              <a:t>m:n</a:t>
            </a:r>
            <a:r>
              <a:rPr lang="en-US" altLang="zh-CN" smtClean="0"/>
              <a:t> )         </a:t>
            </a:r>
            <a:r>
              <a:rPr lang="zh-CN" altLang="en-US" smtClean="0"/>
              <a:t>一个学生修多门课程</a:t>
            </a: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                                  一门课程被多个学生选修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23E1781-7289-4F4C-9157-D232F81AECD8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AAA3F63-B5AC-4283-B52B-619C17B71EC5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7E53CB9-CBB6-4E7F-8087-6DA316421AD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lnSpc>
                <a:spcPct val="160000"/>
              </a:lnSpc>
            </a:pPr>
            <a:r>
              <a:rPr lang="zh-CN" altLang="en-US" b="1" smtClean="0"/>
              <a:t>现实世界中事物内部以及事物之间的联系在信息世界</a:t>
            </a:r>
            <a:endParaRPr lang="zh-CN" altLang="en-US" b="1" smtClean="0"/>
          </a:p>
          <a:p>
            <a:pPr lvl="1" eaLnBrk="1" hangingPunct="1">
              <a:lnSpc>
                <a:spcPct val="160000"/>
              </a:lnSpc>
            </a:pPr>
            <a:r>
              <a:rPr lang="zh-CN" altLang="en-US" b="1" smtClean="0"/>
              <a:t>中反映为实体内部的联系和实体之间的联系</a:t>
            </a:r>
            <a:endParaRPr lang="zh-CN" altLang="en-US" sz="1400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一对一 </a:t>
            </a:r>
            <a:r>
              <a:rPr lang="en-US" altLang="zh-CN" smtClean="0"/>
              <a:t>( </a:t>
            </a:r>
            <a:r>
              <a:rPr lang="en-US" altLang="zh-CN" smtClean="0">
                <a:solidFill>
                  <a:schemeClr val="hlink"/>
                </a:solidFill>
              </a:rPr>
              <a:t>1:1</a:t>
            </a:r>
            <a:r>
              <a:rPr lang="en-US" altLang="zh-CN" smtClean="0"/>
              <a:t> )	    </a:t>
            </a:r>
            <a:r>
              <a:rPr lang="zh-CN" altLang="en-US" smtClean="0"/>
              <a:t>一个学校一个校长</a:t>
            </a: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一对多 </a:t>
            </a:r>
            <a:r>
              <a:rPr lang="en-US" altLang="zh-CN" smtClean="0"/>
              <a:t>( </a:t>
            </a:r>
            <a:r>
              <a:rPr lang="en-US" altLang="zh-CN" smtClean="0">
                <a:solidFill>
                  <a:schemeClr val="hlink"/>
                </a:solidFill>
              </a:rPr>
              <a:t>1:n</a:t>
            </a:r>
            <a:r>
              <a:rPr lang="en-US" altLang="zh-CN" smtClean="0"/>
              <a:t> )	    </a:t>
            </a:r>
            <a:r>
              <a:rPr lang="zh-CN" altLang="en-US" smtClean="0"/>
              <a:t>一个学校多个副校长</a:t>
            </a: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多对多</a:t>
            </a:r>
            <a:r>
              <a:rPr lang="en-US" altLang="zh-CN" smtClean="0"/>
              <a:t>( </a:t>
            </a:r>
            <a:r>
              <a:rPr lang="en-US" altLang="zh-CN" smtClean="0">
                <a:solidFill>
                  <a:schemeClr val="hlink"/>
                </a:solidFill>
              </a:rPr>
              <a:t>m:n</a:t>
            </a:r>
            <a:r>
              <a:rPr lang="en-US" altLang="zh-CN" smtClean="0"/>
              <a:t> )         </a:t>
            </a:r>
            <a:r>
              <a:rPr lang="zh-CN" altLang="en-US" smtClean="0"/>
              <a:t>一个学生修多门课程</a:t>
            </a:r>
            <a:endParaRPr lang="zh-CN" altLang="en-US" smtClean="0"/>
          </a:p>
          <a:p>
            <a:pPr lvl="1" eaLnBrk="1" hangingPunct="1">
              <a:lnSpc>
                <a:spcPct val="105000"/>
              </a:lnSpc>
              <a:spcBef>
                <a:spcPct val="35000"/>
              </a:spcBef>
            </a:pPr>
            <a:r>
              <a:rPr lang="zh-CN" altLang="en-US" smtClean="0"/>
              <a:t>                                  一门课程被多个学生选修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4C7BEA-07B0-405F-9D31-D56A2E1E906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F4C82CF-ACB2-4EC3-8816-C3217A6A21E6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z="14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5068376-44E0-4A23-AF5F-DCD70F8A2814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19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397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49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601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70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80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890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011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113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21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35000"/>
              </a:spcBef>
            </a:pPr>
            <a:r>
              <a:rPr lang="zh-CN" altLang="en-US" dirty="0"/>
              <a:t>尽量采用二元联系，简化实体之间的联系</a:t>
            </a:r>
            <a:endParaRPr lang="zh-CN" altLang="en-US" dirty="0"/>
          </a:p>
          <a:p>
            <a:pPr lvl="0" eaLnBrk="1" hangingPunct="1">
              <a:spcBef>
                <a:spcPct val="35000"/>
              </a:spcBef>
            </a:pPr>
            <a:r>
              <a:rPr lang="zh-CN" altLang="en-US" dirty="0"/>
              <a:t>少数场合使用多元联系可以表示二元联系无法表示的约束</a:t>
            </a:r>
            <a:endParaRPr lang="zh-CN" altLang="en-US" dirty="0"/>
          </a:p>
          <a:p>
            <a:pPr lvl="0" eaLnBrk="1" hangingPunct="1"/>
            <a:endParaRPr lang="en-US" altLang="zh-CN" sz="14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31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42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sz="14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952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lnSpc>
                <a:spcPct val="11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、数据模型的优化</a:t>
            </a:r>
            <a:endParaRPr lang="zh-CN" altLang="en-US" dirty="0"/>
          </a:p>
          <a:p>
            <a:pPr lvl="1" eaLnBrk="1" hangingPunct="1">
              <a:spcBef>
                <a:spcPct val="25000"/>
              </a:spcBef>
            </a:pPr>
            <a:r>
              <a:rPr lang="zh-CN" altLang="en-US" sz="1400" dirty="0"/>
              <a:t>数据库逻辑设计的结果不唯一</a:t>
            </a:r>
            <a:endParaRPr lang="zh-CN" altLang="en-US" sz="1400" dirty="0"/>
          </a:p>
          <a:p>
            <a:pPr lvl="1" eaLnBrk="1" hangingPunct="1">
              <a:spcBef>
                <a:spcPct val="25000"/>
              </a:spcBef>
            </a:pPr>
            <a:r>
              <a:rPr lang="zh-CN" altLang="en-US" sz="1400" dirty="0"/>
              <a:t>得到初步数据模型后，要适当修改、调整其结构，提高系统性能，即进行数据模型的优化</a:t>
            </a:r>
            <a:endParaRPr lang="zh-CN" altLang="en-US" sz="1400" dirty="0"/>
          </a:p>
          <a:p>
            <a:pPr lvl="1" eaLnBrk="1" hangingPunct="1">
              <a:spcBef>
                <a:spcPct val="25000"/>
              </a:spcBef>
            </a:pPr>
            <a:r>
              <a:rPr lang="zh-CN" altLang="en-US" sz="1400" dirty="0"/>
              <a:t>关系数据模型的优化通常以规范化理论为指导</a:t>
            </a:r>
            <a:endParaRPr lang="zh-CN" altLang="en-US" sz="1400" dirty="0"/>
          </a:p>
          <a:p>
            <a:pPr lvl="0" eaLnBrk="1" hangingPunct="1">
              <a:lnSpc>
                <a:spcPct val="110000"/>
              </a:lnSpc>
            </a:pPr>
            <a:r>
              <a:rPr lang="en-US" altLang="zh-CN" dirty="0"/>
              <a:t>5</a:t>
            </a:r>
            <a:r>
              <a:rPr lang="zh-CN" altLang="en-US" dirty="0"/>
              <a:t>、设计用户外模式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1400" dirty="0"/>
              <a:t>使用更符合用户习惯的别名</a:t>
            </a:r>
            <a:endParaRPr lang="zh-CN" altLang="en-US" sz="14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1400" dirty="0"/>
              <a:t>针对不同级别的用户定义不同的外模式，以满足系统对安全性的要求</a:t>
            </a:r>
            <a:endParaRPr lang="zh-CN" altLang="en-US" sz="1400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1400" dirty="0"/>
              <a:t>简化用户对系统的使用</a:t>
            </a:r>
            <a:endParaRPr lang="zh-CN" altLang="en-US" sz="1400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audio" Target="../media/audio1.wav"/><Relationship Id="rId4" Type="http://schemas.openxmlformats.org/officeDocument/2006/relationships/image" Target="../media/image2.wmf"/><Relationship Id="rId3" Type="http://schemas.openxmlformats.org/officeDocument/2006/relationships/control" Target="../activeX/activeX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audio" Target="../media/audio1.wav"/><Relationship Id="rId4" Type="http://schemas.openxmlformats.org/officeDocument/2006/relationships/image" Target="../media/image6.wmf"/><Relationship Id="rId3" Type="http://schemas.openxmlformats.org/officeDocument/2006/relationships/control" Target="../activeX/activeX3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audio" Target="../media/audio1.wav"/><Relationship Id="rId4" Type="http://schemas.openxmlformats.org/officeDocument/2006/relationships/image" Target="../media/image7.wmf"/><Relationship Id="rId3" Type="http://schemas.openxmlformats.org/officeDocument/2006/relationships/control" Target="../activeX/activeX5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audio" Target="../media/audio1.wav"/><Relationship Id="rId4" Type="http://schemas.openxmlformats.org/officeDocument/2006/relationships/image" Target="../media/image9.wmf"/><Relationship Id="rId3" Type="http://schemas.openxmlformats.org/officeDocument/2006/relationships/control" Target="../activeX/activeX7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audio" Target="../media/audio1.wav"/><Relationship Id="rId4" Type="http://schemas.openxmlformats.org/officeDocument/2006/relationships/image" Target="../media/image10.wmf"/><Relationship Id="rId3" Type="http://schemas.openxmlformats.org/officeDocument/2006/relationships/control" Target="../activeX/activeX9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audio" Target="../media/audio1.wav"/><Relationship Id="rId4" Type="http://schemas.openxmlformats.org/officeDocument/2006/relationships/image" Target="../media/image12.wmf"/><Relationship Id="rId3" Type="http://schemas.openxmlformats.org/officeDocument/2006/relationships/control" Target="../activeX/activeX1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7742238" y="76200"/>
            <a:ext cx="0" cy="6858000"/>
          </a:xfrm>
          <a:prstGeom prst="line">
            <a:avLst/>
          </a:prstGeom>
          <a:noFill/>
          <a:ln w="1905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rc 10"/>
          <p:cNvSpPr/>
          <p:nvPr/>
        </p:nvSpPr>
        <p:spPr bwMode="auto">
          <a:xfrm rot="16200000" flipH="1">
            <a:off x="6653213" y="941387"/>
            <a:ext cx="3352800" cy="1628775"/>
          </a:xfrm>
          <a:custGeom>
            <a:avLst/>
            <a:gdLst>
              <a:gd name="T0" fmla="*/ 3182 w 43200"/>
              <a:gd name="T1" fmla="*/ 1456997 h 25639"/>
              <a:gd name="T2" fmla="*/ 3323230 w 43200"/>
              <a:gd name="T3" fmla="*/ 1628775 h 25639"/>
              <a:gd name="T4" fmla="*/ 1676400 w 43200"/>
              <a:gd name="T5" fmla="*/ 1372188 h 256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639" fill="none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</a:path>
              <a:path w="43200" h="25639" stroke="0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  <a:lnTo>
                  <a:pt x="21600" y="21600"/>
                </a:lnTo>
                <a:lnTo>
                  <a:pt x="41" y="22934"/>
                </a:lnTo>
                <a:close/>
              </a:path>
            </a:pathLst>
          </a:custGeom>
          <a:noFill/>
          <a:ln w="1270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1850" y="1219200"/>
            <a:ext cx="7772400" cy="1143000"/>
          </a:xfrm>
        </p:spPr>
        <p:txBody>
          <a:bodyPr/>
          <a:lstStyle>
            <a:lvl1pPr>
              <a:defRPr sz="4800">
                <a:ea typeface="华文新魏" panose="0201080004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3850" y="2636838"/>
            <a:ext cx="8523288" cy="8636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kumimoji="0" sz="1400" i="1">
                <a:latin typeface="+mj-lt"/>
              </a:defRPr>
            </a:lvl1pPr>
          </a:lstStyle>
          <a:p>
            <a:pPr>
              <a:defRPr/>
            </a:pPr>
            <a:fld id="{CC54148E-FA63-4BC9-93A7-D11E5510E2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115888"/>
            <a:ext cx="2211387" cy="63738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115888"/>
            <a:ext cx="6484938" cy="63738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PhAnim="0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402638" y="42863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B239DBCA-A75C-44B5-AFC3-7DF2E8145D1F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" name="Picture 9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813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" y="908050"/>
            <a:ext cx="8848725" cy="558165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D63B6-C1F0-45F4-972A-57EA3DD26302}" type="slidenum">
              <a:rPr lang="en-US" altLang="zh-CN"/>
            </a:fld>
            <a:endParaRPr lang="en-US" altLang="zh-CN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428" name="" r:id="rId3" imgW="684213" imgH="569912"/>
        </mc:Choice>
        <mc:Fallback>
          <p:control name="" r:id="rId3" imgW="684213" imgH="569912">
            <p:pic>
              <p:nvPicPr>
                <p:cNvPr id="0" name="Host Control  103427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0" y="6259513"/>
                  <a:ext cx="684213" cy="5699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7742238" y="76200"/>
            <a:ext cx="0" cy="6858000"/>
          </a:xfrm>
          <a:prstGeom prst="line">
            <a:avLst/>
          </a:prstGeom>
          <a:noFill/>
          <a:ln w="1905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rc 10"/>
          <p:cNvSpPr/>
          <p:nvPr/>
        </p:nvSpPr>
        <p:spPr bwMode="auto">
          <a:xfrm rot="16200000" flipH="1">
            <a:off x="6653213" y="941387"/>
            <a:ext cx="3352800" cy="1628775"/>
          </a:xfrm>
          <a:custGeom>
            <a:avLst/>
            <a:gdLst>
              <a:gd name="T0" fmla="*/ 3182 w 43200"/>
              <a:gd name="T1" fmla="*/ 1456997 h 25639"/>
              <a:gd name="T2" fmla="*/ 3323230 w 43200"/>
              <a:gd name="T3" fmla="*/ 1628775 h 25639"/>
              <a:gd name="T4" fmla="*/ 1676400 w 43200"/>
              <a:gd name="T5" fmla="*/ 1372188 h 256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639" fill="none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</a:path>
              <a:path w="43200" h="25639" stroke="0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  <a:lnTo>
                  <a:pt x="21600" y="21600"/>
                </a:lnTo>
                <a:lnTo>
                  <a:pt x="41" y="22934"/>
                </a:lnTo>
                <a:close/>
              </a:path>
            </a:pathLst>
          </a:custGeom>
          <a:noFill/>
          <a:ln w="1270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1850" y="1219200"/>
            <a:ext cx="7772400" cy="1143000"/>
          </a:xfrm>
        </p:spPr>
        <p:txBody>
          <a:bodyPr/>
          <a:lstStyle>
            <a:lvl1pPr>
              <a:defRPr sz="4800">
                <a:ea typeface="华文新魏" panose="0201080004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3850" y="2636838"/>
            <a:ext cx="8523288" cy="8636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kumimoji="0" sz="1400" i="1">
                <a:latin typeface="+mj-lt"/>
              </a:defRPr>
            </a:lvl1pPr>
          </a:lstStyle>
          <a:p>
            <a:pPr>
              <a:defRPr/>
            </a:pPr>
            <a:fld id="{CC54148E-FA63-4BC9-93A7-D11E5510E2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115888"/>
            <a:ext cx="2211387" cy="63738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115888"/>
            <a:ext cx="6484938" cy="63738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PhAnim="0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402638" y="42863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B239DBCA-A75C-44B5-AFC3-7DF2E8145D1F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" name="Picture 9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813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" y="908050"/>
            <a:ext cx="8848725" cy="558165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D63B6-C1F0-45F4-972A-57EA3DD26302}" type="slidenum">
              <a:rPr lang="en-US" altLang="zh-CN"/>
            </a:fld>
            <a:endParaRPr lang="en-US" altLang="zh-CN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51" name="" r:id="rId3" imgW="684213" imgH="569912"/>
        </mc:Choice>
        <mc:Fallback>
          <p:control name="" r:id="rId3" imgW="684213" imgH="569912">
            <p:pic>
              <p:nvPicPr>
                <p:cNvPr id="0" name="Host Control  2050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 bwMode="auto">
                <a:xfrm>
                  <a:off x="0" y="6259513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7742238" y="76200"/>
            <a:ext cx="0" cy="6858000"/>
          </a:xfrm>
          <a:prstGeom prst="line">
            <a:avLst/>
          </a:prstGeom>
          <a:noFill/>
          <a:ln w="1905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rc 10"/>
          <p:cNvSpPr/>
          <p:nvPr/>
        </p:nvSpPr>
        <p:spPr bwMode="auto">
          <a:xfrm rot="16200000" flipH="1">
            <a:off x="6653213" y="941387"/>
            <a:ext cx="3352800" cy="1628775"/>
          </a:xfrm>
          <a:custGeom>
            <a:avLst/>
            <a:gdLst>
              <a:gd name="T0" fmla="*/ 3182 w 43200"/>
              <a:gd name="T1" fmla="*/ 1456997 h 25639"/>
              <a:gd name="T2" fmla="*/ 3323230 w 43200"/>
              <a:gd name="T3" fmla="*/ 1628775 h 25639"/>
              <a:gd name="T4" fmla="*/ 1676400 w 43200"/>
              <a:gd name="T5" fmla="*/ 1372188 h 256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639" fill="none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</a:path>
              <a:path w="43200" h="25639" stroke="0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  <a:lnTo>
                  <a:pt x="21600" y="21600"/>
                </a:lnTo>
                <a:lnTo>
                  <a:pt x="41" y="22934"/>
                </a:lnTo>
                <a:close/>
              </a:path>
            </a:pathLst>
          </a:custGeom>
          <a:noFill/>
          <a:ln w="1270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1850" y="1219200"/>
            <a:ext cx="7772400" cy="1143000"/>
          </a:xfrm>
        </p:spPr>
        <p:txBody>
          <a:bodyPr/>
          <a:lstStyle>
            <a:lvl1pPr>
              <a:defRPr sz="4800">
                <a:ea typeface="华文新魏" panose="0201080004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3850" y="2636838"/>
            <a:ext cx="8523288" cy="8636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kumimoji="0" sz="1400" i="1">
                <a:latin typeface="+mj-lt"/>
              </a:defRPr>
            </a:lvl1pPr>
          </a:lstStyle>
          <a:p>
            <a:pPr>
              <a:defRPr/>
            </a:pPr>
            <a:fld id="{CC54148E-FA63-4BC9-93A7-D11E5510E2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115888"/>
            <a:ext cx="2211387" cy="63738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115888"/>
            <a:ext cx="6484938" cy="63738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PhAnim="0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402638" y="42863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B239DBCA-A75C-44B5-AFC3-7DF2E8145D1F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" name="Picture 9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813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" y="908050"/>
            <a:ext cx="8848725" cy="558165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D63B6-C1F0-45F4-972A-57EA3DD26302}" type="slidenum">
              <a:rPr lang="en-US" altLang="zh-CN"/>
            </a:fld>
            <a:endParaRPr lang="en-US" altLang="zh-CN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051" name="" r:id="rId3" imgW="684213" imgH="569912"/>
        </mc:Choice>
        <mc:Fallback>
          <p:control name="" r:id="rId3" imgW="684213" imgH="569912">
            <p:pic>
              <p:nvPicPr>
                <p:cNvPr id="0" name="Host Control  2050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 bwMode="auto">
                <a:xfrm>
                  <a:off x="0" y="6259513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7742238" y="76200"/>
            <a:ext cx="0" cy="6858000"/>
          </a:xfrm>
          <a:prstGeom prst="line">
            <a:avLst/>
          </a:prstGeom>
          <a:noFill/>
          <a:ln w="1905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rc 10"/>
          <p:cNvSpPr/>
          <p:nvPr/>
        </p:nvSpPr>
        <p:spPr bwMode="auto">
          <a:xfrm rot="16200000" flipH="1">
            <a:off x="6653213" y="941387"/>
            <a:ext cx="3352800" cy="1628775"/>
          </a:xfrm>
          <a:custGeom>
            <a:avLst/>
            <a:gdLst>
              <a:gd name="T0" fmla="*/ 3182 w 43200"/>
              <a:gd name="T1" fmla="*/ 1456997 h 25639"/>
              <a:gd name="T2" fmla="*/ 3323230 w 43200"/>
              <a:gd name="T3" fmla="*/ 1628775 h 25639"/>
              <a:gd name="T4" fmla="*/ 1676400 w 43200"/>
              <a:gd name="T5" fmla="*/ 1372188 h 256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639" fill="none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</a:path>
              <a:path w="43200" h="25639" stroke="0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  <a:lnTo>
                  <a:pt x="21600" y="21600"/>
                </a:lnTo>
                <a:lnTo>
                  <a:pt x="41" y="22934"/>
                </a:lnTo>
                <a:close/>
              </a:path>
            </a:pathLst>
          </a:custGeom>
          <a:noFill/>
          <a:ln w="1270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1850" y="1219200"/>
            <a:ext cx="7772400" cy="1143000"/>
          </a:xfrm>
        </p:spPr>
        <p:txBody>
          <a:bodyPr/>
          <a:lstStyle>
            <a:lvl1pPr>
              <a:defRPr sz="4800">
                <a:ea typeface="华文新魏" panose="0201080004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3850" y="2636838"/>
            <a:ext cx="8523288" cy="8636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kumimoji="0" sz="1400" i="1">
                <a:latin typeface="+mj-lt"/>
              </a:defRPr>
            </a:lvl1pPr>
          </a:lstStyle>
          <a:p>
            <a:pPr>
              <a:defRPr/>
            </a:pPr>
            <a:fld id="{CC54148E-FA63-4BC9-93A7-D11E5510E2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115888"/>
            <a:ext cx="2211387" cy="63738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115888"/>
            <a:ext cx="6484938" cy="63738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PhAnim="0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402638" y="42863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B239DBCA-A75C-44B5-AFC3-7DF2E8145D1F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" name="Picture 9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813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" y="908050"/>
            <a:ext cx="8848725" cy="558165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D63B6-C1F0-45F4-972A-57EA3DD26302}" type="slidenum">
              <a:rPr lang="en-US" altLang="zh-CN"/>
            </a:fld>
            <a:endParaRPr lang="en-US" altLang="zh-CN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099" name="" r:id="rId3" imgW="684213" imgH="569912"/>
        </mc:Choice>
        <mc:Fallback>
          <p:control name="" r:id="rId3" imgW="684213" imgH="569912">
            <p:pic>
              <p:nvPicPr>
                <p:cNvPr id="0" name="Host Control  4098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 bwMode="auto">
                <a:xfrm>
                  <a:off x="0" y="6259513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7742238" y="76200"/>
            <a:ext cx="0" cy="6858000"/>
          </a:xfrm>
          <a:prstGeom prst="line">
            <a:avLst/>
          </a:prstGeom>
          <a:noFill/>
          <a:ln w="1905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rc 10"/>
          <p:cNvSpPr/>
          <p:nvPr/>
        </p:nvSpPr>
        <p:spPr bwMode="auto">
          <a:xfrm rot="16200000" flipH="1">
            <a:off x="6653213" y="941387"/>
            <a:ext cx="3352800" cy="1628775"/>
          </a:xfrm>
          <a:custGeom>
            <a:avLst/>
            <a:gdLst>
              <a:gd name="T0" fmla="*/ 3182 w 43200"/>
              <a:gd name="T1" fmla="*/ 1456997 h 25639"/>
              <a:gd name="T2" fmla="*/ 3323230 w 43200"/>
              <a:gd name="T3" fmla="*/ 1628775 h 25639"/>
              <a:gd name="T4" fmla="*/ 1676400 w 43200"/>
              <a:gd name="T5" fmla="*/ 1372188 h 256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639" fill="none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</a:path>
              <a:path w="43200" h="25639" stroke="0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  <a:lnTo>
                  <a:pt x="21600" y="21600"/>
                </a:lnTo>
                <a:lnTo>
                  <a:pt x="41" y="22934"/>
                </a:lnTo>
                <a:close/>
              </a:path>
            </a:pathLst>
          </a:custGeom>
          <a:noFill/>
          <a:ln w="1270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1850" y="1219200"/>
            <a:ext cx="7772400" cy="1143000"/>
          </a:xfrm>
        </p:spPr>
        <p:txBody>
          <a:bodyPr/>
          <a:lstStyle>
            <a:lvl1pPr>
              <a:defRPr sz="4800">
                <a:ea typeface="华文新魏" panose="0201080004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3850" y="2636838"/>
            <a:ext cx="8523288" cy="8636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kumimoji="0" sz="1400" i="1">
                <a:latin typeface="+mj-lt"/>
              </a:defRPr>
            </a:lvl1pPr>
          </a:lstStyle>
          <a:p>
            <a:pPr>
              <a:defRPr/>
            </a:pPr>
            <a:fld id="{CC54148E-FA63-4BC9-93A7-D11E5510E2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115888"/>
            <a:ext cx="2211387" cy="63738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115888"/>
            <a:ext cx="6484938" cy="63738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PhAnim="0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402638" y="42863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B239DBCA-A75C-44B5-AFC3-7DF2E8145D1F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" name="Picture 9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813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" y="908050"/>
            <a:ext cx="8848725" cy="558165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D63B6-C1F0-45F4-972A-57EA3DD26302}" type="slidenum">
              <a:rPr lang="en-US" altLang="zh-CN"/>
            </a:fld>
            <a:endParaRPr lang="en-US" altLang="zh-CN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6147" name="" r:id="rId3" imgW="684213" imgH="569912"/>
        </mc:Choice>
        <mc:Fallback>
          <p:control name="" r:id="rId3" imgW="684213" imgH="569912">
            <p:pic>
              <p:nvPicPr>
                <p:cNvPr id="0" name="Host Control  6146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 bwMode="auto">
                <a:xfrm>
                  <a:off x="0" y="6259513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88" y="6513513"/>
            <a:ext cx="9144000" cy="4206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3333CC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-76200"/>
            <a:ext cx="9144000" cy="420688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7742238" y="76200"/>
            <a:ext cx="0" cy="6858000"/>
          </a:xfrm>
          <a:prstGeom prst="line">
            <a:avLst/>
          </a:prstGeom>
          <a:noFill/>
          <a:ln w="1905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rc 10"/>
          <p:cNvSpPr/>
          <p:nvPr/>
        </p:nvSpPr>
        <p:spPr bwMode="auto">
          <a:xfrm rot="16200000" flipH="1">
            <a:off x="6653213" y="941387"/>
            <a:ext cx="3352800" cy="1628775"/>
          </a:xfrm>
          <a:custGeom>
            <a:avLst/>
            <a:gdLst>
              <a:gd name="T0" fmla="*/ 3182 w 43200"/>
              <a:gd name="T1" fmla="*/ 1456997 h 25639"/>
              <a:gd name="T2" fmla="*/ 3323230 w 43200"/>
              <a:gd name="T3" fmla="*/ 1628775 h 25639"/>
              <a:gd name="T4" fmla="*/ 1676400 w 43200"/>
              <a:gd name="T5" fmla="*/ 1372188 h 256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5639" fill="none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</a:path>
              <a:path w="43200" h="25639" stroke="0" extrusionOk="0">
                <a:moveTo>
                  <a:pt x="41" y="22934"/>
                </a:moveTo>
                <a:cubicBezTo>
                  <a:pt x="13" y="22490"/>
                  <a:pt x="0" y="22045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955"/>
                  <a:pt x="43072" y="24307"/>
                  <a:pt x="42819" y="25639"/>
                </a:cubicBezTo>
                <a:lnTo>
                  <a:pt x="21600" y="21600"/>
                </a:lnTo>
                <a:lnTo>
                  <a:pt x="41" y="22934"/>
                </a:lnTo>
                <a:close/>
              </a:path>
            </a:pathLst>
          </a:custGeom>
          <a:noFill/>
          <a:ln w="12700">
            <a:solidFill>
              <a:srgbClr val="99CC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358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831850" y="1219200"/>
            <a:ext cx="7772400" cy="1143000"/>
          </a:xfrm>
        </p:spPr>
        <p:txBody>
          <a:bodyPr/>
          <a:lstStyle>
            <a:lvl1pPr>
              <a:defRPr sz="4800">
                <a:ea typeface="华文新魏" panose="0201080004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3850" y="2636838"/>
            <a:ext cx="8523288" cy="863600"/>
          </a:xfrm>
        </p:spPr>
        <p:txBody>
          <a:bodyPr lIns="92075" tIns="46038" rIns="92075" bIns="46038"/>
          <a:lstStyle>
            <a:lvl1pPr marL="0" indent="0" algn="ctr">
              <a:buFont typeface="Wingdings" panose="05000000000000000000" pitchFamily="2" charset="2"/>
              <a:buNone/>
              <a:defRPr sz="4000"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i="1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 algn="r" eaLnBrk="0" hangingPunct="0">
              <a:defRPr kumimoji="0" sz="1400" i="1">
                <a:latin typeface="+mj-lt"/>
              </a:defRPr>
            </a:lvl1pPr>
          </a:lstStyle>
          <a:p>
            <a:pPr>
              <a:defRPr/>
            </a:pPr>
            <a:fld id="{CC54148E-FA63-4BC9-93A7-D11E5510E23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115888"/>
            <a:ext cx="2211387" cy="63738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115888"/>
            <a:ext cx="6484938" cy="63738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908050"/>
            <a:ext cx="4348163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2963" y="908050"/>
            <a:ext cx="4348162" cy="55816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showMasterPhAnim="0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8402638" y="42863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B239DBCA-A75C-44B5-AFC3-7DF2E8145D1F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6" name="Picture 9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813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15888"/>
            <a:ext cx="8659812" cy="5032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52400" y="908050"/>
            <a:ext cx="8848725" cy="558165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D63B6-C1F0-45F4-972A-57EA3DD26302}" type="slidenum">
              <a:rPr lang="en-US" altLang="zh-CN"/>
            </a:fld>
            <a:endParaRPr lang="en-US" altLang="zh-CN"/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8195" name="" r:id="rId3" imgW="684213" imgH="569912"/>
        </mc:Choice>
        <mc:Fallback>
          <p:control name="" r:id="rId3" imgW="684213" imgH="569912">
            <p:pic>
              <p:nvPicPr>
                <p:cNvPr id="0" name="Host Control  819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 bwMode="auto">
                <a:xfrm>
                  <a:off x="0" y="6259513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5.png"/><Relationship Id="rId18" Type="http://schemas.openxmlformats.org/officeDocument/2006/relationships/image" Target="../media/image4.png"/><Relationship Id="rId17" Type="http://schemas.openxmlformats.org/officeDocument/2006/relationships/audio" Target="../media/audio1.wav"/><Relationship Id="rId16" Type="http://schemas.openxmlformats.org/officeDocument/2006/relationships/image" Target="../media/image3.wmf"/><Relationship Id="rId15" Type="http://schemas.openxmlformats.org/officeDocument/2006/relationships/control" Target="../activeX/activeX2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20" Type="http://schemas.openxmlformats.org/officeDocument/2006/relationships/vmlDrawing" Target="../drawings/vmlDrawing4.vml"/><Relationship Id="rId2" Type="http://schemas.openxmlformats.org/officeDocument/2006/relationships/slideLayout" Target="../slideLayouts/slideLayout15.xml"/><Relationship Id="rId19" Type="http://schemas.openxmlformats.org/officeDocument/2006/relationships/image" Target="../media/image5.png"/><Relationship Id="rId18" Type="http://schemas.openxmlformats.org/officeDocument/2006/relationships/image" Target="../media/image4.png"/><Relationship Id="rId17" Type="http://schemas.openxmlformats.org/officeDocument/2006/relationships/audio" Target="../media/audio1.wav"/><Relationship Id="rId16" Type="http://schemas.openxmlformats.org/officeDocument/2006/relationships/image" Target="../media/image2.wmf"/><Relationship Id="rId15" Type="http://schemas.openxmlformats.org/officeDocument/2006/relationships/control" Target="../activeX/activeX4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1" Type="http://schemas.openxmlformats.org/officeDocument/2006/relationships/theme" Target="../theme/theme3.xml"/><Relationship Id="rId20" Type="http://schemas.openxmlformats.org/officeDocument/2006/relationships/vmlDrawing" Target="../drawings/vmlDrawing6.vml"/><Relationship Id="rId2" Type="http://schemas.openxmlformats.org/officeDocument/2006/relationships/slideLayout" Target="../slideLayouts/slideLayout28.xml"/><Relationship Id="rId19" Type="http://schemas.openxmlformats.org/officeDocument/2006/relationships/image" Target="../media/image5.png"/><Relationship Id="rId18" Type="http://schemas.openxmlformats.org/officeDocument/2006/relationships/image" Target="../media/image4.png"/><Relationship Id="rId17" Type="http://schemas.openxmlformats.org/officeDocument/2006/relationships/audio" Target="../media/audio1.wav"/><Relationship Id="rId16" Type="http://schemas.openxmlformats.org/officeDocument/2006/relationships/image" Target="../media/image8.wmf"/><Relationship Id="rId15" Type="http://schemas.openxmlformats.org/officeDocument/2006/relationships/control" Target="../activeX/activeX6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1" Type="http://schemas.openxmlformats.org/officeDocument/2006/relationships/theme" Target="../theme/theme4.xml"/><Relationship Id="rId20" Type="http://schemas.openxmlformats.org/officeDocument/2006/relationships/vmlDrawing" Target="../drawings/vmlDrawing8.vml"/><Relationship Id="rId2" Type="http://schemas.openxmlformats.org/officeDocument/2006/relationships/slideLayout" Target="../slideLayouts/slideLayout41.xml"/><Relationship Id="rId19" Type="http://schemas.openxmlformats.org/officeDocument/2006/relationships/image" Target="../media/image5.png"/><Relationship Id="rId18" Type="http://schemas.openxmlformats.org/officeDocument/2006/relationships/image" Target="../media/image4.png"/><Relationship Id="rId17" Type="http://schemas.openxmlformats.org/officeDocument/2006/relationships/audio" Target="../media/audio1.wav"/><Relationship Id="rId16" Type="http://schemas.openxmlformats.org/officeDocument/2006/relationships/image" Target="../media/image7.wmf"/><Relationship Id="rId15" Type="http://schemas.openxmlformats.org/officeDocument/2006/relationships/control" Target="../activeX/activeX8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1" Type="http://schemas.openxmlformats.org/officeDocument/2006/relationships/theme" Target="../theme/theme5.xml"/><Relationship Id="rId20" Type="http://schemas.openxmlformats.org/officeDocument/2006/relationships/vmlDrawing" Target="../drawings/vmlDrawing10.v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5.png"/><Relationship Id="rId18" Type="http://schemas.openxmlformats.org/officeDocument/2006/relationships/image" Target="../media/image4.png"/><Relationship Id="rId17" Type="http://schemas.openxmlformats.org/officeDocument/2006/relationships/audio" Target="../media/audio1.wav"/><Relationship Id="rId16" Type="http://schemas.openxmlformats.org/officeDocument/2006/relationships/image" Target="../media/image11.wmf"/><Relationship Id="rId15" Type="http://schemas.openxmlformats.org/officeDocument/2006/relationships/control" Target="../activeX/activeX10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1" Type="http://schemas.openxmlformats.org/officeDocument/2006/relationships/theme" Target="../theme/theme6.xml"/><Relationship Id="rId20" Type="http://schemas.openxmlformats.org/officeDocument/2006/relationships/vmlDrawing" Target="../drawings/vmlDrawing12.vml"/><Relationship Id="rId2" Type="http://schemas.openxmlformats.org/officeDocument/2006/relationships/slideLayout" Target="../slideLayouts/slideLayout67.xml"/><Relationship Id="rId19" Type="http://schemas.openxmlformats.org/officeDocument/2006/relationships/image" Target="../media/image5.png"/><Relationship Id="rId18" Type="http://schemas.openxmlformats.org/officeDocument/2006/relationships/image" Target="../media/image4.png"/><Relationship Id="rId17" Type="http://schemas.openxmlformats.org/officeDocument/2006/relationships/audio" Target="../media/audio1.wav"/><Relationship Id="rId16" Type="http://schemas.openxmlformats.org/officeDocument/2006/relationships/image" Target="../media/image10.wmf"/><Relationship Id="rId15" Type="http://schemas.openxmlformats.org/officeDocument/2006/relationships/control" Target="../activeX/activeX12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08050"/>
            <a:ext cx="88487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73038"/>
            <a:ext cx="8659812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8439150" y="5715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AC8C6BD3-0F4A-4270-B264-35B3F98E0E97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34857" name="Picture 9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4538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Text Box 10"/>
          <p:cNvSpPr txBox="1">
            <a:spLocks noChangeArrowheads="1"/>
          </p:cNvSpPr>
          <p:nvPr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" name="" r:id="rId15" imgW="684213" imgH="569912"/>
        </mc:Choice>
        <mc:Fallback>
          <p:control name="" r:id="rId15" imgW="684213" imgH="569912">
            <p:pic>
              <p:nvPicPr>
                <p:cNvPr id="0" name="Host Control  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rcRect/>
                <a:stretch>
                  <a:fillRect/>
                </a:stretch>
              </p:blipFill>
              <p:spPr bwMode="auto">
                <a:xfrm>
                  <a:off x="0" y="6230938"/>
                  <a:ext cx="684213" cy="5699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60680" indent="-360680" algn="l" rtl="0" eaLnBrk="0" fontAlgn="base" hangingPunct="0">
        <a:spcBef>
          <a:spcPct val="0"/>
        </a:spcBef>
        <a:spcAft>
          <a:spcPct val="0"/>
        </a:spcAft>
        <a:buClr>
          <a:srgbClr val="0000CC"/>
        </a:buClr>
        <a:buSzPct val="70000"/>
        <a:buFont typeface="Wingdings" panose="05000000000000000000" pitchFamily="2" charset="2"/>
        <a:buChar char="n"/>
        <a:defRPr sz="3600" b="1">
          <a:solidFill>
            <a:srgbClr val="000000"/>
          </a:solidFill>
          <a:latin typeface="+mn-lt"/>
          <a:ea typeface="+mn-ea"/>
          <a:cs typeface="+mn-cs"/>
        </a:defRPr>
      </a:lvl1pPr>
      <a:lvl2pPr marL="809625" indent="-26987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65000"/>
        <a:buFont typeface="Wingdings" panose="05000000000000000000" pitchFamily="2" charset="2"/>
        <a:buChar char="n"/>
        <a:defRPr sz="3200" b="1">
          <a:solidFill>
            <a:srgbClr val="000000"/>
          </a:solidFill>
          <a:latin typeface="+mn-lt"/>
          <a:ea typeface="+mn-ea"/>
        </a:defRPr>
      </a:lvl2pPr>
      <a:lvl3pPr marL="1262380" indent="-26987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n"/>
        <a:defRPr sz="2800" b="1">
          <a:solidFill>
            <a:srgbClr val="000000"/>
          </a:solidFill>
          <a:latin typeface="+mn-lt"/>
          <a:ea typeface="+mn-ea"/>
        </a:defRPr>
      </a:lvl3pPr>
      <a:lvl4pPr marL="1879600" indent="-269875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8"/>
        </a:buBlip>
        <a:defRPr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08050"/>
            <a:ext cx="88487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73038"/>
            <a:ext cx="8659812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8439150" y="5715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AC8C6BD3-0F4A-4270-B264-35B3F98E0E97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34857" name="Picture 9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4538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Text Box 10"/>
          <p:cNvSpPr txBox="1">
            <a:spLocks noChangeArrowheads="1"/>
          </p:cNvSpPr>
          <p:nvPr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7" name="" r:id="rId15" imgW="684213" imgH="569912"/>
        </mc:Choice>
        <mc:Fallback>
          <p:control name="" r:id="rId15" imgW="684213" imgH="569912">
            <p:pic>
              <p:nvPicPr>
                <p:cNvPr id="0" name="Host Control  1026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 bwMode="auto">
                <a:xfrm>
                  <a:off x="0" y="6230938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60680" indent="-360680" algn="l" rtl="0" eaLnBrk="0" fontAlgn="base" hangingPunct="0">
        <a:spcBef>
          <a:spcPct val="0"/>
        </a:spcBef>
        <a:spcAft>
          <a:spcPct val="0"/>
        </a:spcAft>
        <a:buClr>
          <a:srgbClr val="0000CC"/>
        </a:buClr>
        <a:buSzPct val="70000"/>
        <a:buFont typeface="Wingdings" panose="05000000000000000000" pitchFamily="2" charset="2"/>
        <a:buChar char="n"/>
        <a:defRPr sz="3600" b="1">
          <a:solidFill>
            <a:srgbClr val="000000"/>
          </a:solidFill>
          <a:latin typeface="+mn-lt"/>
          <a:ea typeface="+mn-ea"/>
          <a:cs typeface="+mn-cs"/>
        </a:defRPr>
      </a:lvl1pPr>
      <a:lvl2pPr marL="809625" indent="-26987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65000"/>
        <a:buFont typeface="Wingdings" panose="05000000000000000000" pitchFamily="2" charset="2"/>
        <a:buChar char="n"/>
        <a:defRPr sz="3200" b="1">
          <a:solidFill>
            <a:srgbClr val="000000"/>
          </a:solidFill>
          <a:latin typeface="+mn-lt"/>
          <a:ea typeface="+mn-ea"/>
        </a:defRPr>
      </a:lvl2pPr>
      <a:lvl3pPr marL="1262380" indent="-26987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n"/>
        <a:defRPr sz="2800" b="1">
          <a:solidFill>
            <a:srgbClr val="000000"/>
          </a:solidFill>
          <a:latin typeface="+mn-lt"/>
          <a:ea typeface="+mn-ea"/>
        </a:defRPr>
      </a:lvl3pPr>
      <a:lvl4pPr marL="1879600" indent="-269875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8"/>
        </a:buBlip>
        <a:defRPr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08050"/>
            <a:ext cx="88487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73038"/>
            <a:ext cx="8659812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8439150" y="5715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AC8C6BD3-0F4A-4270-B264-35B3F98E0E97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34857" name="Picture 9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4538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Text Box 10"/>
          <p:cNvSpPr txBox="1">
            <a:spLocks noChangeArrowheads="1"/>
          </p:cNvSpPr>
          <p:nvPr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7" name="" r:id="rId15" imgW="684213" imgH="569912"/>
        </mc:Choice>
        <mc:Fallback>
          <p:control name="" r:id="rId15" imgW="684213" imgH="569912">
            <p:pic>
              <p:nvPicPr>
                <p:cNvPr id="0" name="Host Control  1026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 bwMode="auto">
                <a:xfrm>
                  <a:off x="0" y="6230938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60680" indent="-360680" algn="l" rtl="0" eaLnBrk="0" fontAlgn="base" hangingPunct="0">
        <a:spcBef>
          <a:spcPct val="0"/>
        </a:spcBef>
        <a:spcAft>
          <a:spcPct val="0"/>
        </a:spcAft>
        <a:buClr>
          <a:srgbClr val="0000CC"/>
        </a:buClr>
        <a:buSzPct val="70000"/>
        <a:buFont typeface="Wingdings" panose="05000000000000000000" pitchFamily="2" charset="2"/>
        <a:buChar char="n"/>
        <a:defRPr sz="3600" b="1">
          <a:solidFill>
            <a:srgbClr val="000000"/>
          </a:solidFill>
          <a:latin typeface="+mn-lt"/>
          <a:ea typeface="+mn-ea"/>
          <a:cs typeface="+mn-cs"/>
        </a:defRPr>
      </a:lvl1pPr>
      <a:lvl2pPr marL="809625" indent="-26987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65000"/>
        <a:buFont typeface="Wingdings" panose="05000000000000000000" pitchFamily="2" charset="2"/>
        <a:buChar char="n"/>
        <a:defRPr sz="3200" b="1">
          <a:solidFill>
            <a:srgbClr val="000000"/>
          </a:solidFill>
          <a:latin typeface="+mn-lt"/>
          <a:ea typeface="+mn-ea"/>
        </a:defRPr>
      </a:lvl2pPr>
      <a:lvl3pPr marL="1262380" indent="-26987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n"/>
        <a:defRPr sz="2800" b="1">
          <a:solidFill>
            <a:srgbClr val="000000"/>
          </a:solidFill>
          <a:latin typeface="+mn-lt"/>
          <a:ea typeface="+mn-ea"/>
        </a:defRPr>
      </a:lvl3pPr>
      <a:lvl4pPr marL="1879600" indent="-269875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8"/>
        </a:buBlip>
        <a:defRPr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08050"/>
            <a:ext cx="88487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73038"/>
            <a:ext cx="8659812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8439150" y="5715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AC8C6BD3-0F4A-4270-B264-35B3F98E0E97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34857" name="Picture 9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4538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Text Box 10"/>
          <p:cNvSpPr txBox="1">
            <a:spLocks noChangeArrowheads="1"/>
          </p:cNvSpPr>
          <p:nvPr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075" name="" r:id="rId15" imgW="684213" imgH="569912"/>
        </mc:Choice>
        <mc:Fallback>
          <p:control name="" r:id="rId15" imgW="684213" imgH="569912">
            <p:pic>
              <p:nvPicPr>
                <p:cNvPr id="0" name="Host Control  307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 bwMode="auto">
                <a:xfrm>
                  <a:off x="0" y="6230938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60680" indent="-360680" algn="l" rtl="0" eaLnBrk="0" fontAlgn="base" hangingPunct="0">
        <a:spcBef>
          <a:spcPct val="0"/>
        </a:spcBef>
        <a:spcAft>
          <a:spcPct val="0"/>
        </a:spcAft>
        <a:buClr>
          <a:srgbClr val="0000CC"/>
        </a:buClr>
        <a:buSzPct val="70000"/>
        <a:buFont typeface="Wingdings" panose="05000000000000000000" pitchFamily="2" charset="2"/>
        <a:buChar char="n"/>
        <a:defRPr sz="3600" b="1">
          <a:solidFill>
            <a:srgbClr val="000000"/>
          </a:solidFill>
          <a:latin typeface="+mn-lt"/>
          <a:ea typeface="+mn-ea"/>
          <a:cs typeface="+mn-cs"/>
        </a:defRPr>
      </a:lvl1pPr>
      <a:lvl2pPr marL="809625" indent="-26987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65000"/>
        <a:buFont typeface="Wingdings" panose="05000000000000000000" pitchFamily="2" charset="2"/>
        <a:buChar char="n"/>
        <a:defRPr sz="3200" b="1">
          <a:solidFill>
            <a:srgbClr val="000000"/>
          </a:solidFill>
          <a:latin typeface="+mn-lt"/>
          <a:ea typeface="+mn-ea"/>
        </a:defRPr>
      </a:lvl2pPr>
      <a:lvl3pPr marL="1262380" indent="-26987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n"/>
        <a:defRPr sz="2800" b="1">
          <a:solidFill>
            <a:srgbClr val="000000"/>
          </a:solidFill>
          <a:latin typeface="+mn-lt"/>
          <a:ea typeface="+mn-ea"/>
        </a:defRPr>
      </a:lvl3pPr>
      <a:lvl4pPr marL="1879600" indent="-269875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8"/>
        </a:buBlip>
        <a:defRPr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08050"/>
            <a:ext cx="88487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73038"/>
            <a:ext cx="8659812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8439150" y="5715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AC8C6BD3-0F4A-4270-B264-35B3F98E0E97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34857" name="Picture 9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4538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Text Box 10"/>
          <p:cNvSpPr txBox="1">
            <a:spLocks noChangeArrowheads="1"/>
          </p:cNvSpPr>
          <p:nvPr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123" name="" r:id="rId15" imgW="684213" imgH="569912"/>
        </mc:Choice>
        <mc:Fallback>
          <p:control name="" r:id="rId15" imgW="684213" imgH="569912">
            <p:pic>
              <p:nvPicPr>
                <p:cNvPr id="0" name="Host Control  512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 bwMode="auto">
                <a:xfrm>
                  <a:off x="0" y="6230938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60680" indent="-360680" algn="l" rtl="0" eaLnBrk="0" fontAlgn="base" hangingPunct="0">
        <a:spcBef>
          <a:spcPct val="0"/>
        </a:spcBef>
        <a:spcAft>
          <a:spcPct val="0"/>
        </a:spcAft>
        <a:buClr>
          <a:srgbClr val="0000CC"/>
        </a:buClr>
        <a:buSzPct val="70000"/>
        <a:buFont typeface="Wingdings" panose="05000000000000000000" pitchFamily="2" charset="2"/>
        <a:buChar char="n"/>
        <a:defRPr sz="3600" b="1">
          <a:solidFill>
            <a:srgbClr val="000000"/>
          </a:solidFill>
          <a:latin typeface="+mn-lt"/>
          <a:ea typeface="+mn-ea"/>
          <a:cs typeface="+mn-cs"/>
        </a:defRPr>
      </a:lvl1pPr>
      <a:lvl2pPr marL="809625" indent="-26987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65000"/>
        <a:buFont typeface="Wingdings" panose="05000000000000000000" pitchFamily="2" charset="2"/>
        <a:buChar char="n"/>
        <a:defRPr sz="3200" b="1">
          <a:solidFill>
            <a:srgbClr val="000000"/>
          </a:solidFill>
          <a:latin typeface="+mn-lt"/>
          <a:ea typeface="+mn-ea"/>
        </a:defRPr>
      </a:lvl2pPr>
      <a:lvl3pPr marL="1262380" indent="-26987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n"/>
        <a:defRPr sz="2800" b="1">
          <a:solidFill>
            <a:srgbClr val="000000"/>
          </a:solidFill>
          <a:latin typeface="+mn-lt"/>
          <a:ea typeface="+mn-ea"/>
        </a:defRPr>
      </a:lvl3pPr>
      <a:lvl4pPr marL="1879600" indent="-269875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8"/>
        </a:buBlip>
        <a:defRPr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08050"/>
            <a:ext cx="88487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73038"/>
            <a:ext cx="8659812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  <a:endParaRPr lang="en-US" altLang="zh-CN" dirty="0" smtClean="0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95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l"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33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0" hangingPunct="0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8439150" y="57150"/>
            <a:ext cx="647700" cy="457200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fld id="{AC8C6BD3-0F4A-4270-B264-35B3F98E0E97}" type="slidenum">
              <a:rPr lang="en-US" altLang="zh-CN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</a:fld>
            <a:endParaRPr lang="en-US" altLang="zh-CN" b="1">
              <a:solidFill>
                <a:srgbClr val="808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1828800" y="6461125"/>
            <a:ext cx="2667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endParaRPr lang="en-US" altLang="zh-CN" sz="2000">
              <a:solidFill>
                <a:srgbClr val="808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34857" name="Picture 9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4538"/>
            <a:ext cx="4716463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Text Box 10"/>
          <p:cNvSpPr txBox="1">
            <a:spLocks noChangeArrowheads="1"/>
          </p:cNvSpPr>
          <p:nvPr/>
        </p:nvSpPr>
        <p:spPr bwMode="auto">
          <a:xfrm rot="5400000">
            <a:off x="4313238" y="-4316413"/>
            <a:ext cx="512762" cy="42068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vert="eaVert"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  <a:spcBef>
                <a:spcPct val="50000"/>
              </a:spcBef>
            </a:pPr>
            <a:endParaRPr lang="zh-CN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7171" name="" r:id="rId15" imgW="684213" imgH="569912"/>
        </mc:Choice>
        <mc:Fallback>
          <p:control name="" r:id="rId15" imgW="684213" imgH="569912">
            <p:pic>
              <p:nvPicPr>
                <p:cNvPr id="0" name="Host Control  7170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 bwMode="auto">
                <a:xfrm>
                  <a:off x="0" y="6230938"/>
                  <a:ext cx="684213" cy="569912"/>
                </a:xfrm>
                <a:prstGeom prst="rect">
                  <a:avLst/>
                </a:prstGeom>
                <a:noFill/>
                <a:ln w="9525"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 bg1="dk2" tx1="lt1" bg2="dk1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transition>
    <p:random/>
    <p:sndAc>
      <p:stSnd>
        <p:snd r:embed="rId17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FF66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60680" indent="-360680" algn="l" rtl="0" eaLnBrk="0" fontAlgn="base" hangingPunct="0">
        <a:spcBef>
          <a:spcPct val="0"/>
        </a:spcBef>
        <a:spcAft>
          <a:spcPct val="0"/>
        </a:spcAft>
        <a:buClr>
          <a:srgbClr val="0000CC"/>
        </a:buClr>
        <a:buSzPct val="70000"/>
        <a:buFont typeface="Wingdings" panose="05000000000000000000" pitchFamily="2" charset="2"/>
        <a:buChar char="n"/>
        <a:defRPr sz="3600" b="1">
          <a:solidFill>
            <a:srgbClr val="000000"/>
          </a:solidFill>
          <a:latin typeface="+mn-lt"/>
          <a:ea typeface="+mn-ea"/>
          <a:cs typeface="+mn-cs"/>
        </a:defRPr>
      </a:lvl1pPr>
      <a:lvl2pPr marL="809625" indent="-26987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65000"/>
        <a:buFont typeface="Wingdings" panose="05000000000000000000" pitchFamily="2" charset="2"/>
        <a:buChar char="n"/>
        <a:defRPr sz="3200" b="1">
          <a:solidFill>
            <a:srgbClr val="000000"/>
          </a:solidFill>
          <a:latin typeface="+mn-lt"/>
          <a:ea typeface="+mn-ea"/>
        </a:defRPr>
      </a:lvl2pPr>
      <a:lvl3pPr marL="1262380" indent="-26987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n"/>
        <a:defRPr sz="2800" b="1">
          <a:solidFill>
            <a:srgbClr val="000000"/>
          </a:solidFill>
          <a:latin typeface="+mn-lt"/>
          <a:ea typeface="+mn-ea"/>
        </a:defRPr>
      </a:lvl3pPr>
      <a:lvl4pPr marL="1879600" indent="-269875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8"/>
        </a:buBlip>
        <a:defRPr sz="2400" b="1">
          <a:solidFill>
            <a:srgbClr val="000000"/>
          </a:solidFill>
          <a:latin typeface="+mn-lt"/>
          <a:ea typeface="+mn-ea"/>
        </a:defRPr>
      </a:lvl4pPr>
      <a:lvl5pPr marL="2335530" indent="-228600" algn="l" rtl="0" eaLnBrk="0" fontAlgn="base" hangingPunct="0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5pPr>
      <a:lvl6pPr marL="27927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6pPr>
      <a:lvl7pPr marL="32499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7pPr>
      <a:lvl8pPr marL="37071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8pPr>
      <a:lvl9pPr marL="4164330" indent="-228600" algn="l" rtl="0" fontAlgn="base">
        <a:spcBef>
          <a:spcPct val="20000"/>
        </a:spcBef>
        <a:spcAft>
          <a:spcPct val="0"/>
        </a:spcAft>
        <a:buSzPct val="130000"/>
        <a:buBlip>
          <a:blip r:embed="rId19"/>
        </a:buBlip>
        <a:defRPr sz="24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audio" Target="../media/audio1.wav"/><Relationship Id="rId7" Type="http://schemas.microsoft.com/office/2007/relationships/diagramDrawing" Target="../diagrams/drawing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3" Type="http://schemas.openxmlformats.org/officeDocument/2006/relationships/diagramData" Target="../diagrams/data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4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7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audio1.wav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audio1.wav"/><Relationship Id="rId1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1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Multi_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4800A1"/>
              </a:clrFrom>
              <a:clrTo>
                <a:srgbClr val="4800A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581525"/>
            <a:ext cx="1905000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6899" name="Rectangle 3"/>
          <p:cNvSpPr>
            <a:spLocks noChangeArrowheads="1"/>
          </p:cNvSpPr>
          <p:nvPr/>
        </p:nvSpPr>
        <p:spPr bwMode="auto">
          <a:xfrm>
            <a:off x="827088" y="3141663"/>
            <a:ext cx="7772400" cy="10080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endParaRPr kumimoji="0" lang="zh-CN" altLang="zh-CN" sz="6600" b="1"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69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zh-CN" altLang="en-US" sz="5400" smtClean="0"/>
              <a:t>数据库</a:t>
            </a:r>
            <a:r>
              <a:rPr lang="zh-CN" altLang="en-US" sz="5400" smtClean="0"/>
              <a:t>系统</a:t>
            </a:r>
            <a:endParaRPr lang="zh-CN" altLang="en-US" sz="5400" smtClean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23850" y="3070225"/>
            <a:ext cx="8523288" cy="86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600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600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600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章    概念</a:t>
            </a:r>
            <a:r>
              <a:rPr lang="zh-CN" altLang="en-US" sz="600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模型</a:t>
            </a:r>
            <a:endParaRPr lang="zh-CN" altLang="en-US" sz="6000" smtClean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8" name="Rectangle 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4.1  </a:t>
            </a:r>
            <a:r>
              <a:rPr lang="zh-CN" altLang="en-US" dirty="0" smtClean="0"/>
              <a:t>数据模型</a:t>
            </a:r>
            <a:endParaRPr lang="zh-CN" altLang="en-US" dirty="0" smtClean="0"/>
          </a:p>
        </p:txBody>
      </p:sp>
      <p:sp>
        <p:nvSpPr>
          <p:cNvPr id="7171" name="Rectangle 3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zh-CN" altLang="en-US" u="sng" smtClean="0">
                <a:solidFill>
                  <a:srgbClr val="0000CC"/>
                </a:solidFill>
              </a:rPr>
              <a:t>模型</a:t>
            </a:r>
            <a:r>
              <a:rPr lang="zh-CN" altLang="en-US" smtClean="0"/>
              <a:t>是对某个对象特征的模拟和抽象</a:t>
            </a:r>
            <a:endParaRPr lang="zh-CN" altLang="en-US" smtClean="0"/>
          </a:p>
          <a:p>
            <a:pPr eaLnBrk="1" hangingPunct="1">
              <a:spcBef>
                <a:spcPct val="40000"/>
              </a:spcBef>
            </a:pPr>
            <a:r>
              <a:rPr lang="zh-CN" altLang="en-US" u="sng" smtClean="0">
                <a:solidFill>
                  <a:srgbClr val="0000CC"/>
                </a:solidFill>
              </a:rPr>
              <a:t>数据模型</a:t>
            </a:r>
            <a:r>
              <a:rPr lang="zh-CN" altLang="en-US" smtClean="0"/>
              <a:t>是现实世界数据特征的抽象</a:t>
            </a:r>
            <a:endParaRPr lang="zh-CN" altLang="en-US" smtClean="0"/>
          </a:p>
          <a:p>
            <a:pPr eaLnBrk="1" hangingPunct="1">
              <a:spcBef>
                <a:spcPct val="40000"/>
              </a:spcBef>
            </a:pPr>
            <a:r>
              <a:rPr lang="zh-CN" altLang="en-US" smtClean="0"/>
              <a:t>数据库中用</a:t>
            </a:r>
            <a:r>
              <a:rPr lang="zh-CN" altLang="en-US" u="sng" smtClean="0">
                <a:solidFill>
                  <a:srgbClr val="0000CC"/>
                </a:solidFill>
              </a:rPr>
              <a:t>数据模型</a:t>
            </a:r>
            <a:r>
              <a:rPr lang="zh-CN" altLang="en-US" smtClean="0"/>
              <a:t>来</a:t>
            </a:r>
            <a:r>
              <a:rPr lang="zh-CN" altLang="en-US" u="sng" smtClean="0">
                <a:solidFill>
                  <a:srgbClr val="0000CC"/>
                </a:solidFill>
              </a:rPr>
              <a:t>抽象</a:t>
            </a:r>
            <a:r>
              <a:rPr lang="zh-CN" altLang="en-US" smtClean="0"/>
              <a:t>、</a:t>
            </a:r>
            <a:r>
              <a:rPr lang="zh-CN" altLang="en-US" u="sng" smtClean="0">
                <a:solidFill>
                  <a:srgbClr val="0000CC"/>
                </a:solidFill>
              </a:rPr>
              <a:t>表示</a:t>
            </a:r>
            <a:r>
              <a:rPr lang="zh-CN" altLang="en-US" smtClean="0"/>
              <a:t>和</a:t>
            </a:r>
            <a:r>
              <a:rPr lang="zh-CN" altLang="en-US" u="sng" smtClean="0">
                <a:solidFill>
                  <a:srgbClr val="0000CC"/>
                </a:solidFill>
              </a:rPr>
              <a:t>处理</a:t>
            </a:r>
            <a:r>
              <a:rPr lang="zh-CN" altLang="en-US" smtClean="0"/>
              <a:t>现实世界中具体的人、物和活动等</a:t>
            </a:r>
            <a:endParaRPr lang="zh-CN" altLang="en-US" smtClean="0"/>
          </a:p>
          <a:p>
            <a:pPr eaLnBrk="1" hangingPunct="1">
              <a:spcBef>
                <a:spcPct val="40000"/>
              </a:spcBef>
            </a:pPr>
            <a:r>
              <a:rPr lang="zh-CN" altLang="en-US" smtClean="0"/>
              <a:t>数据模型的基本要求：</a:t>
            </a:r>
            <a:endParaRPr lang="zh-CN" altLang="en-US" smtClean="0"/>
          </a:p>
          <a:p>
            <a:pPr lvl="1" eaLnBrk="1" hangingPunct="1">
              <a:spcBef>
                <a:spcPct val="10000"/>
              </a:spcBef>
            </a:pPr>
            <a:r>
              <a:rPr lang="zh-CN" altLang="en-US" smtClean="0"/>
              <a:t>能比较</a:t>
            </a:r>
            <a:r>
              <a:rPr lang="zh-CN" altLang="en-US" u="sng" smtClean="0">
                <a:solidFill>
                  <a:srgbClr val="0000CC"/>
                </a:solidFill>
              </a:rPr>
              <a:t>真实</a:t>
            </a:r>
            <a:r>
              <a:rPr lang="zh-CN" altLang="en-US" smtClean="0"/>
              <a:t>地模拟现实世界</a:t>
            </a:r>
            <a:endParaRPr lang="zh-CN" altLang="en-US" smtClean="0"/>
          </a:p>
          <a:p>
            <a:pPr lvl="1" eaLnBrk="1" hangingPunct="1">
              <a:spcBef>
                <a:spcPct val="10000"/>
              </a:spcBef>
            </a:pPr>
            <a:r>
              <a:rPr lang="zh-CN" altLang="en-US" u="sng" smtClean="0">
                <a:solidFill>
                  <a:srgbClr val="0000CC"/>
                </a:solidFill>
              </a:rPr>
              <a:t>容易</a:t>
            </a:r>
            <a:r>
              <a:rPr lang="zh-CN" altLang="en-US" smtClean="0"/>
              <a:t>为人所</a:t>
            </a:r>
            <a:r>
              <a:rPr lang="zh-CN" altLang="en-US" u="sng" smtClean="0">
                <a:solidFill>
                  <a:srgbClr val="0000CC"/>
                </a:solidFill>
              </a:rPr>
              <a:t>理解</a:t>
            </a:r>
            <a:endParaRPr lang="zh-CN" altLang="en-US" smtClean="0"/>
          </a:p>
          <a:p>
            <a:pPr lvl="1" eaLnBrk="1" hangingPunct="1">
              <a:spcBef>
                <a:spcPct val="10000"/>
              </a:spcBef>
            </a:pPr>
            <a:r>
              <a:rPr lang="zh-CN" altLang="en-US" smtClean="0"/>
              <a:t>便于在计算机上</a:t>
            </a:r>
            <a:r>
              <a:rPr lang="zh-CN" altLang="en-US" u="sng" smtClean="0">
                <a:solidFill>
                  <a:srgbClr val="0000CC"/>
                </a:solidFill>
              </a:rPr>
              <a:t>实现</a:t>
            </a:r>
            <a:endParaRPr lang="zh-CN" altLang="en-US" u="sng" smtClean="0">
              <a:solidFill>
                <a:srgbClr val="0000CC"/>
              </a:solidFill>
            </a:endParaRPr>
          </a:p>
        </p:txBody>
      </p:sp>
      <p:sp>
        <p:nvSpPr>
          <p:cNvPr id="7172" name="Rectangle 16"/>
          <p:cNvSpPr>
            <a:spLocks noChangeArrowheads="1"/>
          </p:cNvSpPr>
          <p:nvPr/>
        </p:nvSpPr>
        <p:spPr bwMode="auto">
          <a:xfrm>
            <a:off x="2052638" y="2409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4.2 </a:t>
            </a:r>
            <a:r>
              <a:rPr lang="zh-CN" altLang="en-US" dirty="0" smtClean="0"/>
              <a:t>数据模型的组成要素</a:t>
            </a:r>
            <a:endParaRPr lang="zh-CN" altLang="en-US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765175"/>
            <a:ext cx="8848725" cy="5832475"/>
          </a:xfrm>
        </p:spPr>
        <p:txBody>
          <a:bodyPr/>
          <a:lstStyle/>
          <a:p>
            <a:pPr marL="361950" indent="-361950" eaLnBrk="1" hangingPunct="1"/>
            <a:r>
              <a:rPr lang="zh-CN" altLang="en-US" sz="3200" smtClean="0">
                <a:latin typeface="Arial" panose="020B0604020202020204" pitchFamily="34" charset="0"/>
              </a:rPr>
              <a:t>数据</a:t>
            </a:r>
            <a:r>
              <a:rPr lang="zh-CN" altLang="en-US" sz="3200" smtClean="0"/>
              <a:t>结构    </a:t>
            </a:r>
            <a:r>
              <a:rPr lang="zh-CN" altLang="en-US" sz="3200" smtClean="0">
                <a:solidFill>
                  <a:srgbClr val="0000CC"/>
                </a:solidFill>
              </a:rPr>
              <a:t>静态特性</a:t>
            </a:r>
            <a:endParaRPr lang="zh-CN" altLang="en-US" sz="3200" smtClean="0"/>
          </a:p>
          <a:p>
            <a:pPr marL="803275" lvl="1" indent="-262255" eaLnBrk="1" hangingPunct="1">
              <a:spcBef>
                <a:spcPct val="5000"/>
              </a:spcBef>
            </a:pPr>
            <a:r>
              <a:rPr lang="zh-CN" altLang="en-US" sz="2800" smtClean="0"/>
              <a:t>描述数据库的组成对象及对象之间的联系</a:t>
            </a:r>
            <a:endParaRPr lang="zh-CN" altLang="en-US" sz="2800" smtClean="0"/>
          </a:p>
          <a:p>
            <a:pPr marL="803275" lvl="1" indent="-262255" eaLnBrk="1" hangingPunct="1">
              <a:spcBef>
                <a:spcPct val="5000"/>
              </a:spcBef>
            </a:pPr>
            <a:r>
              <a:rPr lang="zh-CN" altLang="en-US" sz="2800" smtClean="0"/>
              <a:t>通常按数据结构的类型命名数据模型</a:t>
            </a:r>
            <a:endParaRPr lang="zh-CN" altLang="en-US" sz="2800" smtClean="0"/>
          </a:p>
          <a:p>
            <a:pPr marL="361950" indent="-361950" eaLnBrk="1" hangingPunct="1">
              <a:spcBef>
                <a:spcPct val="50000"/>
              </a:spcBef>
            </a:pPr>
            <a:r>
              <a:rPr lang="zh-CN" altLang="en-US" sz="3200" smtClean="0"/>
              <a:t>数据操作    </a:t>
            </a:r>
            <a:r>
              <a:rPr lang="zh-CN" altLang="en-US" sz="3200" smtClean="0">
                <a:solidFill>
                  <a:srgbClr val="0000CC"/>
                </a:solidFill>
              </a:rPr>
              <a:t>动态特性</a:t>
            </a:r>
            <a:endParaRPr lang="zh-CN" altLang="en-US" sz="3200" smtClean="0"/>
          </a:p>
          <a:p>
            <a:pPr marL="803275" lvl="1" indent="-262255" eaLnBrk="1" hangingPunct="1">
              <a:spcBef>
                <a:spcPct val="5000"/>
              </a:spcBef>
            </a:pPr>
            <a:r>
              <a:rPr lang="zh-CN" altLang="en-US" sz="2800" smtClean="0"/>
              <a:t>对数据库中各种对象所允许执行的操作的集合</a:t>
            </a:r>
            <a:endParaRPr lang="zh-CN" altLang="en-US" sz="2800" smtClean="0"/>
          </a:p>
          <a:p>
            <a:pPr marL="803275" lvl="1" indent="-262255" eaLnBrk="1" hangingPunct="1">
              <a:spcBef>
                <a:spcPct val="5000"/>
              </a:spcBef>
            </a:pPr>
            <a:r>
              <a:rPr lang="zh-CN" altLang="en-US" sz="2800" smtClean="0"/>
              <a:t>对操作的定义：操作含义、操作符号、操作规则、实现操作的语言等</a:t>
            </a:r>
            <a:endParaRPr lang="zh-CN" altLang="en-US" sz="2800" smtClean="0"/>
          </a:p>
          <a:p>
            <a:pPr marL="361950" indent="-361950" eaLnBrk="1" hangingPunct="1">
              <a:spcBef>
                <a:spcPct val="25000"/>
              </a:spcBef>
            </a:pPr>
            <a:r>
              <a:rPr lang="zh-CN" altLang="en-US" sz="3200" smtClean="0"/>
              <a:t>数据的约束条件</a:t>
            </a:r>
            <a:endParaRPr lang="zh-CN" altLang="en-US" sz="3200" smtClean="0"/>
          </a:p>
          <a:p>
            <a:pPr marL="803275" lvl="1" indent="-262255" eaLnBrk="1" hangingPunct="1"/>
            <a:r>
              <a:rPr lang="zh-CN" altLang="en-US" sz="2800" smtClean="0"/>
              <a:t>是一组数据完整性规则的集合</a:t>
            </a:r>
            <a:endParaRPr lang="zh-CN" altLang="en-US" sz="2800" smtClean="0"/>
          </a:p>
          <a:p>
            <a:pPr marL="803275" lvl="1" indent="-262255" eaLnBrk="1" hangingPunct="1"/>
            <a:r>
              <a:rPr lang="zh-CN" altLang="en-US" sz="2800" smtClean="0"/>
              <a:t>规定本数据模型必须遵守的、基本的、通用的完整性约束条件</a:t>
            </a:r>
            <a:endParaRPr lang="zh-CN" altLang="en-US" sz="2800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4.3  </a:t>
            </a:r>
            <a:r>
              <a:rPr lang="zh-CN" altLang="en-US" dirty="0" smtClean="0"/>
              <a:t>三种数据模型</a:t>
            </a:r>
            <a:endParaRPr lang="zh-CN" altLang="en-US" dirty="0" smtClean="0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52400" y="908050"/>
            <a:ext cx="8848725" cy="5510213"/>
          </a:xfrm>
        </p:spPr>
        <p:txBody>
          <a:bodyPr/>
          <a:lstStyle/>
          <a:p>
            <a:pPr eaLnBrk="1" latinLnBrk="0" hangingPunct="1">
              <a:lnSpc>
                <a:spcPts val="4540"/>
              </a:lnSpc>
            </a:pPr>
            <a:r>
              <a:rPr lang="zh-CN" altLang="en-US" sz="3200" smtClean="0">
                <a:solidFill>
                  <a:srgbClr val="FF0000"/>
                </a:solidFill>
              </a:rPr>
              <a:t>概念模型</a:t>
            </a:r>
            <a:r>
              <a:rPr lang="zh-CN" altLang="en-US" sz="3200" smtClean="0"/>
              <a:t>：又称信息模型，按</a:t>
            </a:r>
            <a:r>
              <a:rPr lang="zh-CN" altLang="en-US" sz="3200" u="sng" smtClean="0">
                <a:latin typeface="Arial" panose="020B0604020202020204" pitchFamily="34" charset="0"/>
              </a:rPr>
              <a:t>用户的观点</a:t>
            </a:r>
            <a:r>
              <a:rPr lang="zh-CN" altLang="en-US" sz="3200" smtClean="0">
                <a:latin typeface="Arial" panose="020B0604020202020204" pitchFamily="34" charset="0"/>
              </a:rPr>
              <a:t>来对数据</a:t>
            </a:r>
            <a:r>
              <a:rPr lang="zh-CN" altLang="en-US" sz="3200" smtClean="0"/>
              <a:t>建模 </a:t>
            </a:r>
            <a:r>
              <a:rPr lang="zh-CN" altLang="en-US" sz="3200" smtClean="0">
                <a:latin typeface="Arial" panose="020B0604020202020204" pitchFamily="34" charset="0"/>
              </a:rPr>
              <a:t>，用于数据库设计。</a:t>
            </a:r>
            <a:endParaRPr lang="zh-CN" altLang="en-US" sz="3200" smtClean="0"/>
          </a:p>
          <a:p>
            <a:pPr eaLnBrk="1" latinLnBrk="0" hangingPunct="1">
              <a:lnSpc>
                <a:spcPts val="4540"/>
              </a:lnSpc>
              <a:spcBef>
                <a:spcPct val="30000"/>
              </a:spcBef>
            </a:pPr>
            <a:r>
              <a:rPr lang="zh-CN" altLang="en-US" sz="3200" smtClean="0">
                <a:solidFill>
                  <a:srgbClr val="FF0000"/>
                </a:solidFill>
              </a:rPr>
              <a:t>逻辑模型</a:t>
            </a:r>
            <a:r>
              <a:rPr lang="zh-CN" altLang="en-US" sz="3200" smtClean="0"/>
              <a:t>：是按</a:t>
            </a:r>
            <a:r>
              <a:rPr lang="zh-CN" altLang="en-US" sz="3200" u="sng" smtClean="0"/>
              <a:t>计算机系统的观点</a:t>
            </a:r>
            <a:r>
              <a:rPr lang="zh-CN" altLang="en-US" sz="3200" smtClean="0"/>
              <a:t>对数据建模，例如，数据库表设计可</a:t>
            </a:r>
            <a:r>
              <a:rPr lang="zh-CN" altLang="en-US" sz="3200" smtClean="0">
                <a:latin typeface="Arial" panose="020B0604020202020204" pitchFamily="34" charset="0"/>
              </a:rPr>
              <a:t>用于在</a:t>
            </a:r>
            <a:r>
              <a:rPr lang="en-US" altLang="zh-CN" sz="3200" smtClean="0">
                <a:latin typeface="Arial" panose="020B0604020202020204" pitchFamily="34" charset="0"/>
              </a:rPr>
              <a:t>DBMS</a:t>
            </a:r>
            <a:r>
              <a:rPr lang="zh-CN" altLang="en-US" sz="3200" smtClean="0">
                <a:latin typeface="Arial" panose="020B0604020202020204" pitchFamily="34" charset="0"/>
              </a:rPr>
              <a:t>中实现，类设计可用于面向对象编程实现。</a:t>
            </a:r>
            <a:endParaRPr lang="zh-CN" altLang="en-US" sz="3200" smtClean="0">
              <a:solidFill>
                <a:srgbClr val="FF0000"/>
              </a:solidFill>
            </a:endParaRPr>
          </a:p>
          <a:p>
            <a:pPr eaLnBrk="1" latinLnBrk="0" hangingPunct="1">
              <a:lnSpc>
                <a:spcPts val="4540"/>
              </a:lnSpc>
              <a:spcBef>
                <a:spcPct val="30000"/>
              </a:spcBef>
            </a:pPr>
            <a:r>
              <a:rPr lang="zh-CN" altLang="en-US" sz="3200" smtClean="0">
                <a:solidFill>
                  <a:srgbClr val="FF0000"/>
                </a:solidFill>
              </a:rPr>
              <a:t>物理模型</a:t>
            </a:r>
            <a:r>
              <a:rPr lang="zh-CN" altLang="en-US" sz="3200" smtClean="0"/>
              <a:t>：</a:t>
            </a:r>
            <a:r>
              <a:rPr lang="zh-CN" altLang="en-US" sz="3200" smtClean="0">
                <a:latin typeface="Arial" panose="020B0604020202020204" pitchFamily="34" charset="0"/>
              </a:rPr>
              <a:t>是数据最低层的抽象，描述数据在系统内部的表示方式和存取方法，是面向计算机系统的。</a:t>
            </a:r>
            <a:endParaRPr lang="zh-CN" altLang="en-US" sz="3200" smtClean="0">
              <a:latin typeface="Arial" panose="020B0604020202020204" pitchFamily="34" charset="0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052638" y="2409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6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现实世界中客观对象的抽象过程</a:t>
            </a:r>
            <a:endParaRPr lang="zh-CN" altLang="en-US" smtClean="0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2052638" y="2409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en-US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10244" name="Group 34"/>
          <p:cNvGrpSpPr/>
          <p:nvPr/>
        </p:nvGrpSpPr>
        <p:grpSpPr bwMode="auto">
          <a:xfrm>
            <a:off x="539750" y="981075"/>
            <a:ext cx="8353425" cy="5437188"/>
            <a:chOff x="476" y="663"/>
            <a:chExt cx="5126" cy="3425"/>
          </a:xfrm>
        </p:grpSpPr>
        <p:sp>
          <p:nvSpPr>
            <p:cNvPr id="10245" name="Rectangle 21"/>
            <p:cNvSpPr>
              <a:spLocks noChangeArrowheads="1"/>
            </p:cNvSpPr>
            <p:nvPr/>
          </p:nvSpPr>
          <p:spPr bwMode="auto">
            <a:xfrm>
              <a:off x="2562" y="1094"/>
              <a:ext cx="2959" cy="567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0000"/>
              </a:solidFill>
              <a:miter lim="800000"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FF"/>
                  </a:solidFill>
                  <a:ea typeface="黑体" panose="02010609060101010101" pitchFamily="2" charset="-122"/>
                </a:rPr>
                <a:t>信息世界－概念数据模型</a:t>
              </a:r>
              <a:endParaRPr lang="zh-CN" altLang="en-US" sz="2800" b="1">
                <a:solidFill>
                  <a:srgbClr val="FFFFFF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0246" name="Rectangle 22"/>
            <p:cNvSpPr>
              <a:spLocks noChangeArrowheads="1"/>
            </p:cNvSpPr>
            <p:nvPr/>
          </p:nvSpPr>
          <p:spPr bwMode="auto">
            <a:xfrm>
              <a:off x="2562" y="2251"/>
              <a:ext cx="2959" cy="635"/>
            </a:xfrm>
            <a:prstGeom prst="rect">
              <a:avLst/>
            </a:prstGeom>
            <a:solidFill>
              <a:srgbClr val="E20000"/>
            </a:solidFill>
            <a:ln w="9525">
              <a:solidFill>
                <a:srgbClr val="000000"/>
              </a:solidFill>
              <a:miter lim="800000"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FF"/>
                  </a:solidFill>
                  <a:ea typeface="黑体" panose="02010609060101010101" pitchFamily="2" charset="-122"/>
                </a:rPr>
                <a:t>机器世界－</a:t>
              </a:r>
              <a:endParaRPr lang="zh-CN" altLang="en-US" sz="2800" b="1">
                <a:solidFill>
                  <a:srgbClr val="FFFFFF"/>
                </a:solidFill>
                <a:ea typeface="黑体" panose="02010609060101010101" pitchFamily="2" charset="-122"/>
              </a:endParaRPr>
            </a:p>
            <a:p>
              <a:pPr eaLnBrk="1" hangingPunct="1"/>
              <a:r>
                <a:rPr lang="zh-CN" altLang="en-US" sz="2800" b="1">
                  <a:solidFill>
                    <a:srgbClr val="FFFFFF"/>
                  </a:solidFill>
                  <a:ea typeface="黑体" panose="02010609060101010101" pitchFamily="2" charset="-122"/>
                </a:rPr>
                <a:t>数据库支持的逻辑数据模型</a:t>
              </a:r>
              <a:endParaRPr lang="zh-CN" altLang="en-US" sz="2800" b="1">
                <a:solidFill>
                  <a:srgbClr val="FFFFFF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0247" name="AutoShape 23"/>
            <p:cNvSpPr>
              <a:spLocks noChangeArrowheads="1"/>
            </p:cNvSpPr>
            <p:nvPr/>
          </p:nvSpPr>
          <p:spPr bwMode="auto">
            <a:xfrm rot="-2167930">
              <a:off x="1369" y="1933"/>
              <a:ext cx="1281" cy="243"/>
            </a:xfrm>
            <a:prstGeom prst="rightArrow">
              <a:avLst>
                <a:gd name="adj1" fmla="val 50000"/>
                <a:gd name="adj2" fmla="val 131790"/>
              </a:avLst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8" name="AutoShape 24"/>
            <p:cNvSpPr>
              <a:spLocks noChangeArrowheads="1"/>
            </p:cNvSpPr>
            <p:nvPr/>
          </p:nvSpPr>
          <p:spPr bwMode="auto">
            <a:xfrm>
              <a:off x="3963" y="1729"/>
              <a:ext cx="192" cy="432"/>
            </a:xfrm>
            <a:prstGeom prst="downArrow">
              <a:avLst>
                <a:gd name="adj1" fmla="val 50000"/>
                <a:gd name="adj2" fmla="val 56250"/>
              </a:avLst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9" name="Rectangle 25"/>
            <p:cNvSpPr>
              <a:spLocks noChangeArrowheads="1"/>
            </p:cNvSpPr>
            <p:nvPr/>
          </p:nvSpPr>
          <p:spPr bwMode="auto">
            <a:xfrm>
              <a:off x="3379" y="1729"/>
              <a:ext cx="58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800"/>
                <a:t>转换</a:t>
              </a:r>
              <a:endParaRPr lang="zh-CN" altLang="en-US" sz="2800"/>
            </a:p>
          </p:txBody>
        </p:sp>
        <p:grpSp>
          <p:nvGrpSpPr>
            <p:cNvPr id="10250" name="Group 26"/>
            <p:cNvGrpSpPr/>
            <p:nvPr/>
          </p:nvGrpSpPr>
          <p:grpSpPr bwMode="auto">
            <a:xfrm>
              <a:off x="476" y="2256"/>
              <a:ext cx="1134" cy="1200"/>
              <a:chOff x="720" y="2160"/>
              <a:chExt cx="1103" cy="1200"/>
            </a:xfrm>
          </p:grpSpPr>
          <p:graphicFrame>
            <p:nvGraphicFramePr>
              <p:cNvPr id="10256" name="Object 27"/>
              <p:cNvGraphicFramePr>
                <a:graphicFrameLocks noChangeAspect="1"/>
              </p:cNvGraphicFramePr>
              <p:nvPr/>
            </p:nvGraphicFramePr>
            <p:xfrm>
              <a:off x="720" y="2160"/>
              <a:ext cx="1103" cy="1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1" name="剪辑" r:id="rId3" imgW="2101850" imgH="2286635" progId="MS_ClipArt_Gallery.2">
                      <p:embed/>
                    </p:oleObj>
                  </mc:Choice>
                  <mc:Fallback>
                    <p:oleObj name="剪辑" r:id="rId3" imgW="2101850" imgH="2286635" progId="MS_ClipArt_Gallery.2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2160"/>
                            <a:ext cx="1103" cy="1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57" name="Oval 28"/>
              <p:cNvSpPr>
                <a:spLocks noChangeArrowheads="1"/>
              </p:cNvSpPr>
              <p:nvPr/>
            </p:nvSpPr>
            <p:spPr bwMode="auto">
              <a:xfrm>
                <a:off x="768" y="2256"/>
                <a:ext cx="960" cy="576"/>
              </a:xfrm>
              <a:prstGeom prst="ellipse">
                <a:avLst/>
              </a:prstGeom>
              <a:solidFill>
                <a:srgbClr val="FC7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2400"/>
                  <a:t>认识抽象</a:t>
                </a:r>
                <a:endParaRPr lang="zh-CN" altLang="en-US" sz="2400"/>
              </a:p>
            </p:txBody>
          </p:sp>
        </p:grpSp>
        <p:sp>
          <p:nvSpPr>
            <p:cNvPr id="10251" name="AutoShape 29"/>
            <p:cNvSpPr>
              <a:spLocks noChangeArrowheads="1"/>
            </p:cNvSpPr>
            <p:nvPr/>
          </p:nvSpPr>
          <p:spPr bwMode="auto">
            <a:xfrm>
              <a:off x="524" y="837"/>
              <a:ext cx="1728" cy="960"/>
            </a:xfrm>
            <a:prstGeom prst="cloudCallout">
              <a:avLst>
                <a:gd name="adj1" fmla="val -22569"/>
                <a:gd name="adj2" fmla="val 96875"/>
              </a:avLst>
            </a:prstGeom>
            <a:solidFill>
              <a:srgbClr val="CCFF99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buClrTx/>
                <a:buSzTx/>
                <a:buFontTx/>
                <a:buNone/>
              </a:pPr>
              <a:r>
                <a:rPr lang="zh-CN" altLang="en-US" sz="3200"/>
                <a:t>现实世界</a:t>
              </a:r>
              <a:endParaRPr lang="zh-CN" altLang="en-US" sz="3200"/>
            </a:p>
          </p:txBody>
        </p:sp>
        <p:sp>
          <p:nvSpPr>
            <p:cNvPr id="10252" name="Rectangle 30"/>
            <p:cNvSpPr>
              <a:spLocks noChangeArrowheads="1"/>
            </p:cNvSpPr>
            <p:nvPr/>
          </p:nvSpPr>
          <p:spPr bwMode="auto">
            <a:xfrm>
              <a:off x="2744" y="663"/>
              <a:ext cx="259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800"/>
                <a:t>为现实世界中的数据建模</a:t>
              </a:r>
              <a:endParaRPr lang="zh-CN" altLang="en-US" sz="2800"/>
            </a:p>
          </p:txBody>
        </p:sp>
        <p:sp>
          <p:nvSpPr>
            <p:cNvPr id="10253" name="AutoShape 31"/>
            <p:cNvSpPr>
              <a:spLocks noChangeArrowheads="1"/>
            </p:cNvSpPr>
            <p:nvPr/>
          </p:nvSpPr>
          <p:spPr bwMode="auto">
            <a:xfrm>
              <a:off x="2553" y="3453"/>
              <a:ext cx="3049" cy="635"/>
            </a:xfrm>
            <a:prstGeom prst="flowChartMagneticDisk">
              <a:avLst/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</a:ln>
            <a:effectLst>
              <a:outerShdw dist="107763" dir="189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FF"/>
                  </a:solidFill>
                  <a:ea typeface="黑体" panose="02010609060101010101" pitchFamily="2" charset="-122"/>
                </a:rPr>
                <a:t>存储介质上的物理数据模型</a:t>
              </a:r>
              <a:endParaRPr lang="zh-CN" altLang="en-US" sz="2800" b="1">
                <a:solidFill>
                  <a:srgbClr val="FFFFFF"/>
                </a:solidFill>
                <a:ea typeface="黑体" panose="02010609060101010101" pitchFamily="2" charset="-122"/>
              </a:endParaRPr>
            </a:p>
          </p:txBody>
        </p:sp>
        <p:sp>
          <p:nvSpPr>
            <p:cNvPr id="10254" name="AutoShape 32"/>
            <p:cNvSpPr>
              <a:spLocks noChangeArrowheads="1"/>
            </p:cNvSpPr>
            <p:nvPr/>
          </p:nvSpPr>
          <p:spPr bwMode="auto">
            <a:xfrm>
              <a:off x="3963" y="2931"/>
              <a:ext cx="192" cy="432"/>
            </a:xfrm>
            <a:prstGeom prst="downArrow">
              <a:avLst>
                <a:gd name="adj1" fmla="val 50000"/>
                <a:gd name="adj2" fmla="val 56250"/>
              </a:avLst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en-US" sz="24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55" name="Rectangle 33"/>
            <p:cNvSpPr>
              <a:spLocks noChangeArrowheads="1"/>
            </p:cNvSpPr>
            <p:nvPr/>
          </p:nvSpPr>
          <p:spPr bwMode="auto">
            <a:xfrm>
              <a:off x="3379" y="2931"/>
              <a:ext cx="58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800"/>
                <a:t>存储</a:t>
              </a:r>
              <a:endParaRPr lang="zh-CN" altLang="en-US" sz="2800"/>
            </a:p>
          </p:txBody>
        </p:sp>
      </p:grpSp>
    </p:spTree>
  </p:cSld>
  <p:clrMapOvr>
    <a:masterClrMapping/>
  </p:clrMapOvr>
  <p:transition>
    <p:random/>
    <p:sndAc>
      <p:stSnd>
        <p:snd r:embed="rId5" name="CAMERA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71780" indent="-271780" eaLnBrk="1" hangingPunct="1"/>
            <a:endParaRPr lang="zh-CN" altLang="en-US" sz="3200" smtClean="0"/>
          </a:p>
          <a:p>
            <a:pPr marL="271780" indent="-271780" eaLnBrk="1" hangingPunct="1"/>
            <a:r>
              <a:rPr lang="zh-CN" altLang="en-US" sz="3200" smtClean="0"/>
              <a:t>客观对象的抽象过程</a:t>
            </a:r>
            <a:r>
              <a:rPr lang="en-US" altLang="zh-CN" sz="3200" smtClean="0">
                <a:latin typeface="Arial" panose="020B0604020202020204" pitchFamily="34" charset="0"/>
              </a:rPr>
              <a:t>——</a:t>
            </a:r>
            <a:r>
              <a:rPr lang="zh-CN" altLang="en-US" sz="3200" smtClean="0"/>
              <a:t>两步抽象</a:t>
            </a:r>
            <a:endParaRPr lang="zh-CN" altLang="en-US" sz="3200" smtClean="0"/>
          </a:p>
          <a:p>
            <a:pPr marL="803275" lvl="1" indent="-262255" algn="l" eaLnBrk="1" latinLnBrk="0" hangingPunct="1">
              <a:lnSpc>
                <a:spcPct val="150000"/>
              </a:lnSpc>
              <a:spcBef>
                <a:spcPct val="5000"/>
              </a:spcBef>
              <a:buChar char="n"/>
            </a:pPr>
            <a:r>
              <a:rPr lang="zh-CN" altLang="en-US" smtClean="0">
                <a:cs typeface="+mn-ea"/>
              </a:rPr>
              <a:t>现实世界中的</a:t>
            </a:r>
            <a:r>
              <a:rPr lang="zh-CN" altLang="en-US" smtClean="0">
                <a:solidFill>
                  <a:srgbClr val="FF0000"/>
                </a:solidFill>
                <a:cs typeface="+mn-ea"/>
              </a:rPr>
              <a:t>客观对象</a:t>
            </a:r>
            <a:r>
              <a:rPr lang="zh-CN" altLang="en-US" smtClean="0">
                <a:solidFill>
                  <a:srgbClr val="0000CC"/>
                </a:solidFill>
                <a:cs typeface="+mn-cs"/>
              </a:rPr>
              <a:t>抽象</a:t>
            </a:r>
            <a:r>
              <a:rPr lang="zh-CN" altLang="en-US" smtClean="0">
                <a:cs typeface="+mn-ea"/>
              </a:rPr>
              <a:t>为</a:t>
            </a:r>
            <a:r>
              <a:rPr lang="zh-CN" altLang="en-US" smtClean="0">
                <a:solidFill>
                  <a:srgbClr val="FF0000"/>
                </a:solidFill>
                <a:cs typeface="+mn-ea"/>
              </a:rPr>
              <a:t>概念模型</a:t>
            </a:r>
            <a:endParaRPr lang="zh-CN" altLang="en-US" smtClean="0">
              <a:cs typeface="+mn-ea"/>
            </a:endParaRPr>
          </a:p>
          <a:p>
            <a:pPr marL="803275" lvl="1" indent="-262255" algn="l" eaLnBrk="1" latinLnBrk="0" hangingPunct="1">
              <a:lnSpc>
                <a:spcPct val="150000"/>
              </a:lnSpc>
              <a:spcBef>
                <a:spcPct val="5000"/>
              </a:spcBef>
              <a:buChar char="n"/>
            </a:pPr>
            <a:r>
              <a:rPr lang="zh-CN" altLang="en-US" smtClean="0">
                <a:solidFill>
                  <a:srgbClr val="FF0000"/>
                </a:solidFill>
                <a:cs typeface="+mn-ea"/>
              </a:rPr>
              <a:t>概念模型</a:t>
            </a:r>
            <a:r>
              <a:rPr lang="zh-CN" altLang="en-US" smtClean="0">
                <a:solidFill>
                  <a:srgbClr val="0000CC"/>
                </a:solidFill>
                <a:cs typeface="+mn-cs"/>
              </a:rPr>
              <a:t>转换</a:t>
            </a:r>
            <a:r>
              <a:rPr lang="zh-CN" altLang="en-US" smtClean="0">
                <a:cs typeface="+mn-ea"/>
              </a:rPr>
              <a:t>为DBMS支持的</a:t>
            </a:r>
            <a:r>
              <a:rPr lang="zh-CN" altLang="en-US" smtClean="0">
                <a:solidFill>
                  <a:srgbClr val="FF0000"/>
                </a:solidFill>
                <a:cs typeface="+mn-ea"/>
              </a:rPr>
              <a:t>数据模型</a:t>
            </a:r>
            <a:endParaRPr lang="zh-CN" altLang="en-US" smtClean="0">
              <a:solidFill>
                <a:srgbClr val="FF0000"/>
              </a:solidFill>
              <a:cs typeface="+mn-ea"/>
            </a:endParaRPr>
          </a:p>
        </p:txBody>
      </p:sp>
      <p:sp>
        <p:nvSpPr>
          <p:cNvPr id="37888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4.3  </a:t>
            </a:r>
            <a:r>
              <a:rPr lang="zh-CN" altLang="en-US" dirty="0" smtClean="0"/>
              <a:t>三种数据模型</a:t>
            </a:r>
            <a:endParaRPr lang="zh-CN" altLang="en-US" dirty="0" smtClean="0"/>
          </a:p>
        </p:txBody>
      </p:sp>
      <p:graphicFrame>
        <p:nvGraphicFramePr>
          <p:cNvPr id="2" name="图示 1"/>
          <p:cNvGraphicFramePr/>
          <p:nvPr/>
        </p:nvGraphicFramePr>
        <p:xfrm>
          <a:off x="508000" y="3259455"/>
          <a:ext cx="8128000" cy="287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>
    <p:random/>
    <p:sndAc>
      <p:stSnd>
        <p:snd r:embed="rId6" name="CAMERA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smtClean="0"/>
              <a:t>问题的提出：</a:t>
            </a:r>
            <a:r>
              <a:rPr lang="zh-CN" altLang="en-US" sz="3600" smtClean="0">
                <a:solidFill>
                  <a:srgbClr val="0033CC"/>
                </a:solidFill>
              </a:rPr>
              <a:t>教学管理</a:t>
            </a:r>
            <a:endParaRPr lang="zh-CN" altLang="en-US" sz="3600" smtClean="0">
              <a:solidFill>
                <a:srgbClr val="0033CC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smtClean="0"/>
              <a:t>    </a:t>
            </a:r>
            <a:r>
              <a:rPr lang="zh-CN" altLang="en-US" sz="3200" smtClean="0"/>
              <a:t>某学院有多名学生，开设多门课程；</a:t>
            </a:r>
            <a:endParaRPr lang="zh-CN" altLang="en-US" sz="32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smtClean="0"/>
              <a:t>    一名学生可学习多门课程；</a:t>
            </a:r>
            <a:endParaRPr lang="zh-CN" altLang="en-US" sz="32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smtClean="0"/>
              <a:t>    一门课程可有多名学生学习。</a:t>
            </a:r>
            <a:endParaRPr lang="zh-CN" altLang="en-US" sz="32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smtClean="0"/>
              <a:t>    设计一个数据库系统，对该学院教学进行管理</a:t>
            </a:r>
            <a:endParaRPr lang="zh-CN" altLang="en-US" sz="3200" smtClean="0"/>
          </a:p>
          <a:p>
            <a:pPr lvl="1" eaLnBrk="1" hangingPunct="1"/>
            <a:r>
              <a:rPr lang="zh-CN" altLang="en-US" smtClean="0"/>
              <a:t>学生信息包括：学号、姓名、年龄、性别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课程信息包括：课程代码、课程名称、任课教师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学生修课的成绩</a:t>
            </a:r>
            <a:endParaRPr lang="zh-CN" altLang="en-US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4.4 </a:t>
            </a:r>
            <a:r>
              <a:rPr lang="zh-CN" altLang="en-US" dirty="0" smtClean="0"/>
              <a:t>概念</a:t>
            </a:r>
            <a:r>
              <a:rPr lang="zh-CN" altLang="en-US" dirty="0" smtClean="0"/>
              <a:t>模型</a:t>
            </a:r>
            <a:endParaRPr lang="en-US" altLang="zh-CN" dirty="0" smtClean="0"/>
          </a:p>
        </p:txBody>
      </p:sp>
      <p:sp>
        <p:nvSpPr>
          <p:cNvPr id="1331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概念模型</a:t>
            </a:r>
            <a:endParaRPr lang="zh-CN" altLang="en-US" smtClean="0"/>
          </a:p>
          <a:p>
            <a:pPr lvl="1" algn="just"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smtClean="0"/>
              <a:t>用于对信息世界建模</a:t>
            </a:r>
            <a:endParaRPr lang="zh-CN" altLang="en-US" smtClean="0"/>
          </a:p>
          <a:p>
            <a:pPr lvl="1"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smtClean="0"/>
              <a:t>是现实世界到机器世界的一个中间层次</a:t>
            </a:r>
            <a:endParaRPr lang="zh-CN" altLang="en-US" smtClean="0"/>
          </a:p>
          <a:p>
            <a:pPr lvl="1" algn="just"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smtClean="0"/>
              <a:t>是数据库设计的有力工具</a:t>
            </a:r>
            <a:endParaRPr lang="zh-CN" altLang="en-US" smtClean="0"/>
          </a:p>
          <a:p>
            <a:pPr lvl="1" algn="just"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smtClean="0"/>
              <a:t>数据库设计人员和用户之间进行交流的语言</a:t>
            </a:r>
            <a:endParaRPr lang="zh-CN" altLang="en-US" sz="3600" smtClean="0"/>
          </a:p>
          <a:p>
            <a:pPr algn="just" eaLnBrk="1" hangingPunct="1">
              <a:lnSpc>
                <a:spcPct val="120000"/>
              </a:lnSpc>
              <a:spcBef>
                <a:spcPct val="40000"/>
              </a:spcBef>
            </a:pPr>
            <a:r>
              <a:rPr lang="zh-CN" altLang="en-US" smtClean="0"/>
              <a:t>概念模型的一种表示方法</a:t>
            </a:r>
            <a:endParaRPr lang="zh-CN" altLang="en-US" smtClean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mtClean="0">
                <a:latin typeface="Arial" panose="020B0604020202020204" pitchFamily="34" charset="0"/>
              </a:rPr>
              <a:t>实体</a:t>
            </a:r>
            <a:r>
              <a:rPr lang="en-US" altLang="zh-CN" smtClean="0">
                <a:latin typeface="Arial" panose="020B0604020202020204" pitchFamily="34" charset="0"/>
              </a:rPr>
              <a:t>-</a:t>
            </a:r>
            <a:r>
              <a:rPr lang="zh-CN" altLang="en-US" smtClean="0">
                <a:latin typeface="Arial" panose="020B0604020202020204" pitchFamily="34" charset="0"/>
              </a:rPr>
              <a:t>联系</a:t>
            </a:r>
            <a:r>
              <a:rPr lang="en-US" altLang="zh-CN" smtClean="0">
                <a:latin typeface="Arial" panose="020B0604020202020204" pitchFamily="34" charset="0"/>
              </a:rPr>
              <a:t>(</a:t>
            </a:r>
            <a:r>
              <a:rPr lang="en-US" altLang="zh-CN" smtClean="0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n-US" altLang="zh-CN" smtClean="0">
                <a:latin typeface="Arial" panose="020B0604020202020204" pitchFamily="34" charset="0"/>
              </a:rPr>
              <a:t>ntity-</a:t>
            </a:r>
            <a:r>
              <a:rPr lang="en-US" altLang="zh-CN" smtClean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mtClean="0">
                <a:latin typeface="Arial" panose="020B0604020202020204" pitchFamily="34" charset="0"/>
              </a:rPr>
              <a:t>elationship)</a:t>
            </a:r>
            <a:r>
              <a:rPr lang="zh-CN" altLang="en-US" smtClean="0">
                <a:latin typeface="Arial" panose="020B0604020202020204" pitchFamily="34" charset="0"/>
              </a:rPr>
              <a:t>方法</a:t>
            </a:r>
            <a:endParaRPr lang="zh-CN" altLang="en-US" smtClean="0">
              <a:latin typeface="Arial" panose="020B0604020202020204" pitchFamily="34" charset="0"/>
            </a:endParaRP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     </a:t>
            </a:r>
            <a:r>
              <a:rPr lang="en-US" altLang="zh-CN" smtClean="0"/>
              <a:t>(E-R</a:t>
            </a:r>
            <a:r>
              <a:rPr lang="zh-CN" altLang="en-US" smtClean="0"/>
              <a:t>图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1) </a:t>
            </a:r>
            <a:r>
              <a:rPr lang="zh-CN" altLang="en-US" smtClean="0"/>
              <a:t>实体</a:t>
            </a:r>
            <a:endParaRPr lang="zh-CN" altLang="en-US" smtClean="0"/>
          </a:p>
        </p:txBody>
      </p:sp>
      <p:sp>
        <p:nvSpPr>
          <p:cNvPr id="31130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>
                <a:solidFill>
                  <a:srgbClr val="FF0000"/>
                </a:solidFill>
              </a:rPr>
              <a:t>实体</a:t>
            </a:r>
            <a:r>
              <a:rPr lang="en-US" altLang="zh-CN" smtClean="0"/>
              <a:t>(Entity)</a:t>
            </a:r>
            <a:r>
              <a:rPr lang="zh-CN" altLang="en-US" smtClean="0"/>
              <a:t>：具体或抽象的事物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具体事物如学生、图书等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抽象事物如课程、考试等</a:t>
            </a:r>
            <a:endParaRPr lang="zh-CN" altLang="en-US" smtClean="0"/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smtClean="0">
                <a:solidFill>
                  <a:srgbClr val="FF0000"/>
                </a:solidFill>
              </a:rPr>
              <a:t>属性</a:t>
            </a:r>
            <a:r>
              <a:rPr lang="en-US" altLang="zh-CN" smtClean="0"/>
              <a:t>(Attribute) </a:t>
            </a:r>
            <a:r>
              <a:rPr lang="zh-CN" altLang="en-US" smtClean="0"/>
              <a:t>：实体具有的特征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如学生实体包含学号、姓名、年龄等属性</a:t>
            </a:r>
            <a:endParaRPr lang="zh-CN" altLang="en-US" smtClean="0"/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smtClean="0">
                <a:solidFill>
                  <a:srgbClr val="FF0000"/>
                </a:solidFill>
              </a:rPr>
              <a:t>实体集</a:t>
            </a:r>
            <a:r>
              <a:rPr lang="en-US" altLang="zh-CN" smtClean="0"/>
              <a:t>(</a:t>
            </a:r>
            <a:r>
              <a:rPr lang="zh-CN" altLang="en-US" smtClean="0"/>
              <a:t>型</a:t>
            </a:r>
            <a:r>
              <a:rPr lang="en-US" altLang="zh-CN" smtClean="0"/>
              <a:t>)</a:t>
            </a:r>
            <a:r>
              <a:rPr lang="en-US" altLang="zh-CN" smtClean="0">
                <a:solidFill>
                  <a:srgbClr val="FF0000"/>
                </a:solidFill>
              </a:rPr>
              <a:t> </a:t>
            </a:r>
            <a:r>
              <a:rPr lang="en-US" altLang="zh-CN" smtClean="0"/>
              <a:t>(Entity Set)</a:t>
            </a:r>
            <a:r>
              <a:rPr lang="zh-CN" altLang="en-US" smtClean="0"/>
              <a:t>：具有相同属性的实体集合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如若干个学生实体构成学生实体集</a:t>
            </a:r>
            <a:endParaRPr lang="zh-CN" altLang="en-US" smtClean="0"/>
          </a:p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lang="zh-CN" altLang="en-US" smtClean="0">
                <a:solidFill>
                  <a:srgbClr val="FF0000"/>
                </a:solidFill>
              </a:rPr>
              <a:t>域</a:t>
            </a:r>
            <a:r>
              <a:rPr lang="en-US" altLang="zh-CN" smtClean="0"/>
              <a:t>(Domain)</a:t>
            </a:r>
            <a:r>
              <a:rPr lang="zh-CN" altLang="en-US" smtClean="0"/>
              <a:t>：属性的取值范围</a:t>
            </a:r>
            <a:endParaRPr lang="zh-CN" altLang="en-US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1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1</a:t>
            </a:r>
            <a:r>
              <a:rPr lang="en-US" altLang="zh-CN" smtClean="0">
                <a:sym typeface="+mn-ea"/>
              </a:rPr>
              <a:t>) </a:t>
            </a:r>
            <a:r>
              <a:rPr lang="zh-CN" altLang="en-US" smtClean="0"/>
              <a:t>实体</a:t>
            </a:r>
            <a:endParaRPr lang="en-US" altLang="zh-CN" smtClean="0"/>
          </a:p>
        </p:txBody>
      </p:sp>
      <p:sp>
        <p:nvSpPr>
          <p:cNvPr id="3133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属性的分类：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单值属性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smtClean="0"/>
              <a:t>   只能取一个值的属性，如性别</a:t>
            </a:r>
            <a:endParaRPr lang="zh-CN" altLang="en-US" sz="2800" smtClean="0"/>
          </a:p>
          <a:p>
            <a:pPr lvl="1" eaLnBrk="1" hangingPunct="1"/>
            <a:r>
              <a:rPr lang="zh-CN" altLang="en-US" smtClean="0"/>
              <a:t>多值属性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smtClean="0"/>
              <a:t>   能取多个值的属性，如电话号码、学位</a:t>
            </a:r>
            <a:endParaRPr lang="zh-CN" altLang="en-US" sz="2800" smtClean="0"/>
          </a:p>
          <a:p>
            <a:pPr lvl="1" eaLnBrk="1" hangingPunct="1"/>
            <a:r>
              <a:rPr lang="zh-CN" altLang="en-US" smtClean="0"/>
              <a:t>导出属性</a:t>
            </a:r>
            <a:r>
              <a:rPr lang="en-US" altLang="zh-CN" smtClean="0"/>
              <a:t>(</a:t>
            </a:r>
            <a:r>
              <a:rPr lang="zh-CN" altLang="en-US" smtClean="0"/>
              <a:t>派生属性</a:t>
            </a:r>
            <a:r>
              <a:rPr lang="en-US" altLang="zh-CN" smtClean="0"/>
              <a:t>)</a:t>
            </a:r>
            <a:endParaRPr lang="en-US" altLang="zh-CN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smtClean="0"/>
              <a:t>   </a:t>
            </a:r>
            <a:r>
              <a:rPr lang="zh-CN" altLang="en-US" sz="2800" smtClean="0"/>
              <a:t>由其它属性推导出的，如年龄相对于出生时间</a:t>
            </a:r>
            <a:endParaRPr lang="zh-CN" altLang="en-US" sz="2800" smtClean="0"/>
          </a:p>
          <a:p>
            <a:pPr lvl="1" eaLnBrk="1" hangingPunct="1"/>
            <a:r>
              <a:rPr lang="zh-CN" altLang="en-US" smtClean="0"/>
              <a:t>复合属性</a:t>
            </a:r>
            <a:endParaRPr lang="zh-CN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smtClean="0"/>
              <a:t>   由其它属性组成，如住址可由省、市、区、街道等组成</a:t>
            </a:r>
            <a:endParaRPr lang="zh-CN" altLang="en-US" sz="2800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753475" cy="5472113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zh-CN" altLang="en-US" smtClean="0">
                <a:solidFill>
                  <a:srgbClr val="FF0000"/>
                </a:solidFill>
              </a:rPr>
              <a:t>关键字</a:t>
            </a:r>
            <a:r>
              <a:rPr lang="en-US" altLang="zh-CN" sz="3200" smtClean="0"/>
              <a:t>(Key)</a:t>
            </a:r>
            <a:r>
              <a:rPr lang="en-US" altLang="zh-CN" sz="4000" smtClean="0">
                <a:solidFill>
                  <a:srgbClr val="FF0000"/>
                </a:solidFill>
              </a:rPr>
              <a:t> </a:t>
            </a:r>
            <a:r>
              <a:rPr lang="zh-CN" altLang="en-US" sz="4000" smtClean="0"/>
              <a:t>：</a:t>
            </a:r>
            <a:r>
              <a:rPr lang="zh-CN" altLang="en-US" sz="3200" smtClean="0"/>
              <a:t>能够唯一标识一个实体的属性组</a:t>
            </a:r>
            <a:endParaRPr lang="zh-CN" altLang="en-US" sz="3200" smtClean="0"/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mtClean="0"/>
              <a:t>如学号、 </a:t>
            </a:r>
            <a:r>
              <a:rPr lang="en-US" altLang="zh-CN" smtClean="0"/>
              <a:t>Email</a:t>
            </a:r>
            <a:r>
              <a:rPr lang="zh-CN" altLang="en-US" smtClean="0"/>
              <a:t>可以作为关键字</a:t>
            </a:r>
            <a:endParaRPr lang="zh-CN" altLang="en-US" smtClean="0"/>
          </a:p>
          <a:p>
            <a:pPr eaLnBrk="1" hangingPunct="1">
              <a:spcBef>
                <a:spcPct val="30000"/>
              </a:spcBef>
            </a:pPr>
            <a:r>
              <a:rPr lang="zh-CN" altLang="en-US" smtClean="0">
                <a:solidFill>
                  <a:srgbClr val="FF0000"/>
                </a:solidFill>
              </a:rPr>
              <a:t>主键</a:t>
            </a:r>
            <a:r>
              <a:rPr lang="en-US" altLang="zh-CN" sz="3200" smtClean="0"/>
              <a:t>(Primary Key) </a:t>
            </a:r>
            <a:r>
              <a:rPr lang="zh-CN" altLang="en-US" sz="4000" smtClean="0"/>
              <a:t>：</a:t>
            </a:r>
            <a:r>
              <a:rPr lang="zh-CN" altLang="en-US" sz="3200" smtClean="0"/>
              <a:t>有多个关键字存在，从中选择一个最为常用的作为主键</a:t>
            </a:r>
            <a:endParaRPr lang="zh-CN" altLang="en-US" sz="3200" smtClean="0"/>
          </a:p>
          <a:p>
            <a:pPr lvl="1" eaLnBrk="1" hangingPunct="1"/>
            <a:r>
              <a:rPr lang="zh-CN" altLang="en-US" smtClean="0"/>
              <a:t>如学号作为主键</a:t>
            </a:r>
            <a:endParaRPr lang="zh-CN" altLang="en-US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b="0" smtClean="0"/>
          </a:p>
          <a:p>
            <a:pPr lvl="1" eaLnBrk="1" hangingPunct="1"/>
            <a:endParaRPr lang="en-US" altLang="zh-CN" smtClean="0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1</a:t>
            </a:r>
            <a:r>
              <a:rPr lang="en-US" altLang="zh-CN" smtClean="0">
                <a:sym typeface="+mn-ea"/>
              </a:rPr>
              <a:t>) </a:t>
            </a:r>
            <a:r>
              <a:rPr lang="zh-CN" altLang="en-US" smtClean="0"/>
              <a:t>实体</a:t>
            </a:r>
            <a:endParaRPr lang="en-US" altLang="zh-CN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908050"/>
            <a:ext cx="8753475" cy="54721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smtClean="0"/>
              <a:t>  </a:t>
            </a:r>
            <a:r>
              <a:rPr lang="en-US" altLang="zh-CN" smtClean="0"/>
              <a:t>E-R</a:t>
            </a:r>
            <a:r>
              <a:rPr lang="zh-CN" altLang="en-US" smtClean="0"/>
              <a:t>图图例</a:t>
            </a:r>
            <a:r>
              <a:rPr lang="en-US" altLang="zh-CN" smtClean="0"/>
              <a:t>(1)</a:t>
            </a:r>
            <a:endParaRPr lang="en-US" altLang="zh-CN" smtClean="0"/>
          </a:p>
          <a:p>
            <a:pPr lvl="1" eaLnBrk="1" hangingPunct="1">
              <a:spcBef>
                <a:spcPct val="95000"/>
              </a:spcBef>
              <a:buClr>
                <a:srgbClr val="0000FF"/>
              </a:buClr>
            </a:pPr>
            <a:r>
              <a:rPr lang="zh-CN" altLang="en-US" smtClean="0">
                <a:solidFill>
                  <a:srgbClr val="FF0000"/>
                </a:solidFill>
              </a:rPr>
              <a:t>矩形</a:t>
            </a:r>
            <a:r>
              <a:rPr lang="zh-CN" altLang="en-US" smtClean="0"/>
              <a:t>：表示实体集</a:t>
            </a:r>
            <a:endParaRPr lang="zh-CN" altLang="en-US" smtClean="0"/>
          </a:p>
          <a:p>
            <a:pPr lvl="1" eaLnBrk="1" hangingPunct="1">
              <a:spcBef>
                <a:spcPct val="125000"/>
              </a:spcBef>
              <a:buClr>
                <a:srgbClr val="0000FF"/>
              </a:buClr>
            </a:pPr>
            <a:r>
              <a:rPr lang="zh-CN" altLang="en-US" smtClean="0">
                <a:solidFill>
                  <a:srgbClr val="FF0000"/>
                </a:solidFill>
              </a:rPr>
              <a:t>椭圆</a:t>
            </a:r>
            <a:r>
              <a:rPr lang="zh-CN" altLang="en-US" smtClean="0"/>
              <a:t>：表示实体或联系的属性</a:t>
            </a:r>
            <a:endParaRPr lang="zh-CN" altLang="en-US" smtClean="0"/>
          </a:p>
          <a:p>
            <a:pPr lvl="1" eaLnBrk="1" hangingPunct="1">
              <a:spcBef>
                <a:spcPct val="125000"/>
              </a:spcBef>
              <a:buClr>
                <a:srgbClr val="0000FF"/>
              </a:buClr>
            </a:pPr>
            <a:r>
              <a:rPr lang="zh-CN" altLang="en-US" smtClean="0">
                <a:solidFill>
                  <a:srgbClr val="FF0000"/>
                </a:solidFill>
              </a:rPr>
              <a:t>双线椭圆</a:t>
            </a:r>
            <a:r>
              <a:rPr lang="zh-CN" altLang="en-US" smtClean="0"/>
              <a:t>：表示多值属性</a:t>
            </a:r>
            <a:endParaRPr lang="zh-CN" altLang="en-US" smtClean="0"/>
          </a:p>
          <a:p>
            <a:pPr lvl="1" eaLnBrk="1" hangingPunct="1">
              <a:spcBef>
                <a:spcPct val="125000"/>
              </a:spcBef>
              <a:buClr>
                <a:srgbClr val="0000FF"/>
              </a:buClr>
            </a:pPr>
            <a:r>
              <a:rPr lang="zh-CN" altLang="en-US" smtClean="0">
                <a:solidFill>
                  <a:srgbClr val="FF0000"/>
                </a:solidFill>
              </a:rPr>
              <a:t>属性名带下划线</a:t>
            </a:r>
            <a:r>
              <a:rPr lang="zh-CN" altLang="en-US" smtClean="0"/>
              <a:t>：表示主键</a:t>
            </a:r>
            <a:endParaRPr lang="zh-CN" altLang="en-US" smtClean="0"/>
          </a:p>
        </p:txBody>
      </p:sp>
      <p:grpSp>
        <p:nvGrpSpPr>
          <p:cNvPr id="17411" name="Group 4"/>
          <p:cNvGrpSpPr/>
          <p:nvPr/>
        </p:nvGrpSpPr>
        <p:grpSpPr bwMode="auto">
          <a:xfrm>
            <a:off x="4859338" y="1628775"/>
            <a:ext cx="1366837" cy="1093788"/>
            <a:chOff x="748" y="1207"/>
            <a:chExt cx="861" cy="689"/>
          </a:xfrm>
        </p:grpSpPr>
        <p:sp>
          <p:nvSpPr>
            <p:cNvPr id="17426" name="Rectangle 5"/>
            <p:cNvSpPr>
              <a:spLocks noChangeArrowheads="1"/>
            </p:cNvSpPr>
            <p:nvPr/>
          </p:nvSpPr>
          <p:spPr bwMode="auto">
            <a:xfrm>
              <a:off x="748" y="1207"/>
              <a:ext cx="861" cy="273"/>
            </a:xfrm>
            <a:prstGeom prst="rect">
              <a:avLst/>
            </a:prstGeom>
            <a:solidFill>
              <a:srgbClr val="00FF99"/>
            </a:solidFill>
            <a:ln w="38100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E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17427" name="Text Box 6"/>
            <p:cNvSpPr txBox="1">
              <a:spLocks noChangeArrowheads="1"/>
            </p:cNvSpPr>
            <p:nvPr/>
          </p:nvSpPr>
          <p:spPr bwMode="auto">
            <a:xfrm>
              <a:off x="748" y="1608"/>
              <a:ext cx="8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实体集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</p:grpSp>
      <p:grpSp>
        <p:nvGrpSpPr>
          <p:cNvPr id="17412" name="Group 7"/>
          <p:cNvGrpSpPr/>
          <p:nvPr/>
        </p:nvGrpSpPr>
        <p:grpSpPr bwMode="auto">
          <a:xfrm>
            <a:off x="6877050" y="2924175"/>
            <a:ext cx="1439863" cy="1117600"/>
            <a:chOff x="2018" y="1178"/>
            <a:chExt cx="907" cy="704"/>
          </a:xfrm>
        </p:grpSpPr>
        <p:sp>
          <p:nvSpPr>
            <p:cNvPr id="17424" name="Oval 8"/>
            <p:cNvSpPr>
              <a:spLocks noChangeArrowheads="1"/>
            </p:cNvSpPr>
            <p:nvPr/>
          </p:nvSpPr>
          <p:spPr bwMode="auto">
            <a:xfrm>
              <a:off x="2018" y="1178"/>
              <a:ext cx="907" cy="318"/>
            </a:xfrm>
            <a:prstGeom prst="ellipse">
              <a:avLst/>
            </a:prstGeom>
            <a:solidFill>
              <a:srgbClr val="00FF99"/>
            </a:solidFill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A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17425" name="Text Box 9"/>
            <p:cNvSpPr txBox="1">
              <a:spLocks noChangeArrowheads="1"/>
            </p:cNvSpPr>
            <p:nvPr/>
          </p:nvSpPr>
          <p:spPr bwMode="auto">
            <a:xfrm>
              <a:off x="2042" y="1594"/>
              <a:ext cx="8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属  性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</p:grpSp>
      <p:grpSp>
        <p:nvGrpSpPr>
          <p:cNvPr id="17413" name="Group 10"/>
          <p:cNvGrpSpPr/>
          <p:nvPr/>
        </p:nvGrpSpPr>
        <p:grpSpPr bwMode="auto">
          <a:xfrm>
            <a:off x="5795963" y="4149725"/>
            <a:ext cx="1439862" cy="1112838"/>
            <a:chOff x="1338" y="2387"/>
            <a:chExt cx="907" cy="701"/>
          </a:xfrm>
        </p:grpSpPr>
        <p:grpSp>
          <p:nvGrpSpPr>
            <p:cNvPr id="17420" name="Group 11"/>
            <p:cNvGrpSpPr/>
            <p:nvPr/>
          </p:nvGrpSpPr>
          <p:grpSpPr bwMode="auto">
            <a:xfrm>
              <a:off x="1338" y="2387"/>
              <a:ext cx="907" cy="701"/>
              <a:chOff x="2245" y="2387"/>
              <a:chExt cx="907" cy="701"/>
            </a:xfrm>
          </p:grpSpPr>
          <p:sp>
            <p:nvSpPr>
              <p:cNvPr id="17422" name="Oval 12"/>
              <p:cNvSpPr>
                <a:spLocks noChangeArrowheads="1"/>
              </p:cNvSpPr>
              <p:nvPr/>
            </p:nvSpPr>
            <p:spPr bwMode="auto">
              <a:xfrm>
                <a:off x="2245" y="2387"/>
                <a:ext cx="907" cy="318"/>
              </a:xfrm>
              <a:prstGeom prst="ellipse">
                <a:avLst/>
              </a:prstGeom>
              <a:solidFill>
                <a:srgbClr val="00FF99"/>
              </a:solidFill>
              <a:ln w="381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en-US" altLang="zh-CN" sz="2400">
                    <a:ea typeface="宋体" panose="02010600030101010101" pitchFamily="2" charset="-122"/>
                  </a:rPr>
                  <a:t>A</a:t>
                </a:r>
                <a:endParaRPr lang="en-US" altLang="zh-CN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17423" name="Text Box 13"/>
              <p:cNvSpPr txBox="1">
                <a:spLocks noChangeArrowheads="1"/>
              </p:cNvSpPr>
              <p:nvPr/>
            </p:nvSpPr>
            <p:spPr bwMode="auto">
              <a:xfrm>
                <a:off x="2269" y="2819"/>
                <a:ext cx="86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200">
                    <a:ea typeface="宋体" panose="02010600030101010101" pitchFamily="2" charset="-122"/>
                  </a:rPr>
                  <a:t>多值属性</a:t>
                </a:r>
                <a:endParaRPr lang="zh-CN" altLang="en-US" sz="22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21" name="Oval 14"/>
            <p:cNvSpPr>
              <a:spLocks noChangeArrowheads="1"/>
            </p:cNvSpPr>
            <p:nvPr/>
          </p:nvSpPr>
          <p:spPr bwMode="auto">
            <a:xfrm>
              <a:off x="1429" y="2416"/>
              <a:ext cx="726" cy="248"/>
            </a:xfrm>
            <a:prstGeom prst="ellipse">
              <a:avLst/>
            </a:prstGeom>
            <a:solidFill>
              <a:srgbClr val="00FF99"/>
            </a:solidFill>
            <a:ln w="28575">
              <a:solidFill>
                <a:srgbClr val="FF0000"/>
              </a:solidFill>
              <a:round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</p:grpSp>
      <p:grpSp>
        <p:nvGrpSpPr>
          <p:cNvPr id="17414" name="Group 15"/>
          <p:cNvGrpSpPr/>
          <p:nvPr/>
        </p:nvGrpSpPr>
        <p:grpSpPr bwMode="auto">
          <a:xfrm>
            <a:off x="7092950" y="5445125"/>
            <a:ext cx="1439863" cy="1117600"/>
            <a:chOff x="4468" y="2112"/>
            <a:chExt cx="907" cy="704"/>
          </a:xfrm>
        </p:grpSpPr>
        <p:grpSp>
          <p:nvGrpSpPr>
            <p:cNvPr id="17416" name="Group 16"/>
            <p:cNvGrpSpPr/>
            <p:nvPr/>
          </p:nvGrpSpPr>
          <p:grpSpPr bwMode="auto">
            <a:xfrm>
              <a:off x="4468" y="2112"/>
              <a:ext cx="907" cy="704"/>
              <a:chOff x="2018" y="1178"/>
              <a:chExt cx="907" cy="704"/>
            </a:xfrm>
          </p:grpSpPr>
          <p:sp>
            <p:nvSpPr>
              <p:cNvPr id="17418" name="Oval 17"/>
              <p:cNvSpPr>
                <a:spLocks noChangeArrowheads="1"/>
              </p:cNvSpPr>
              <p:nvPr/>
            </p:nvSpPr>
            <p:spPr bwMode="auto">
              <a:xfrm>
                <a:off x="2018" y="1178"/>
                <a:ext cx="907" cy="318"/>
              </a:xfrm>
              <a:prstGeom prst="ellipse">
                <a:avLst/>
              </a:prstGeom>
              <a:solidFill>
                <a:srgbClr val="00FF99"/>
              </a:solidFill>
              <a:ln w="381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en-US" altLang="zh-CN" sz="2400">
                    <a:ea typeface="宋体" panose="02010600030101010101" pitchFamily="2" charset="-122"/>
                  </a:rPr>
                  <a:t>A</a:t>
                </a:r>
                <a:endParaRPr lang="en-US" altLang="zh-CN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17419" name="Text Box 18"/>
              <p:cNvSpPr txBox="1">
                <a:spLocks noChangeArrowheads="1"/>
              </p:cNvSpPr>
              <p:nvPr/>
            </p:nvSpPr>
            <p:spPr bwMode="auto">
              <a:xfrm>
                <a:off x="2042" y="1594"/>
                <a:ext cx="86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ea typeface="宋体" panose="02010600030101010101" pitchFamily="2" charset="-122"/>
                  </a:rPr>
                  <a:t>主  键</a:t>
                </a: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17" name="Line 19"/>
            <p:cNvSpPr>
              <a:spLocks noChangeShapeType="1"/>
            </p:cNvSpPr>
            <p:nvPr/>
          </p:nvSpPr>
          <p:spPr bwMode="auto">
            <a:xfrm flipV="1">
              <a:off x="4777" y="2371"/>
              <a:ext cx="317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7547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1</a:t>
            </a:r>
            <a:r>
              <a:rPr lang="en-US" altLang="zh-CN" smtClean="0">
                <a:sym typeface="+mn-ea"/>
              </a:rPr>
              <a:t>) </a:t>
            </a:r>
            <a:r>
              <a:rPr lang="zh-CN" altLang="en-US" smtClean="0"/>
              <a:t>实体</a:t>
            </a:r>
            <a:endParaRPr lang="en-US" altLang="zh-CN" smtClean="0"/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例：</a:t>
            </a:r>
            <a:r>
              <a:rPr lang="zh-CN" altLang="en-US" smtClean="0">
                <a:solidFill>
                  <a:srgbClr val="0033CC"/>
                </a:solidFill>
              </a:rPr>
              <a:t>教学管理</a:t>
            </a:r>
            <a:endParaRPr lang="zh-CN" altLang="en-US" smtClean="0">
              <a:solidFill>
                <a:srgbClr val="0033CC"/>
              </a:solidFill>
            </a:endParaRP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3775075" y="2781300"/>
            <a:ext cx="1304925" cy="4318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学生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pSp>
        <p:nvGrpSpPr>
          <p:cNvPr id="18436" name="Group 42"/>
          <p:cNvGrpSpPr/>
          <p:nvPr/>
        </p:nvGrpSpPr>
        <p:grpSpPr bwMode="auto">
          <a:xfrm>
            <a:off x="3009900" y="1341438"/>
            <a:ext cx="1379538" cy="1439862"/>
            <a:chOff x="1896" y="845"/>
            <a:chExt cx="869" cy="907"/>
          </a:xfrm>
        </p:grpSpPr>
        <p:sp>
          <p:nvSpPr>
            <p:cNvPr id="18460" name="Oval 10"/>
            <p:cNvSpPr>
              <a:spLocks noChangeArrowheads="1"/>
            </p:cNvSpPr>
            <p:nvPr/>
          </p:nvSpPr>
          <p:spPr bwMode="auto">
            <a:xfrm>
              <a:off x="1896" y="845"/>
              <a:ext cx="82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姓名</a:t>
              </a:r>
              <a:endParaRPr lang="zh-CN" altLang="en-US" sz="2400"/>
            </a:p>
          </p:txBody>
        </p:sp>
        <p:sp>
          <p:nvSpPr>
            <p:cNvPr id="18461" name="Line 14"/>
            <p:cNvSpPr>
              <a:spLocks noChangeShapeType="1"/>
            </p:cNvSpPr>
            <p:nvPr/>
          </p:nvSpPr>
          <p:spPr bwMode="auto">
            <a:xfrm>
              <a:off x="2330" y="1253"/>
              <a:ext cx="435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437" name="Group 43"/>
          <p:cNvGrpSpPr/>
          <p:nvPr/>
        </p:nvGrpSpPr>
        <p:grpSpPr bwMode="auto">
          <a:xfrm>
            <a:off x="4389438" y="1341438"/>
            <a:ext cx="1457325" cy="1439862"/>
            <a:chOff x="2765" y="845"/>
            <a:chExt cx="918" cy="907"/>
          </a:xfrm>
        </p:grpSpPr>
        <p:sp>
          <p:nvSpPr>
            <p:cNvPr id="18458" name="Oval 11"/>
            <p:cNvSpPr>
              <a:spLocks noChangeArrowheads="1"/>
            </p:cNvSpPr>
            <p:nvPr/>
          </p:nvSpPr>
          <p:spPr bwMode="auto">
            <a:xfrm>
              <a:off x="2862" y="845"/>
              <a:ext cx="82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性别</a:t>
              </a:r>
              <a:endParaRPr lang="zh-CN" altLang="en-US" sz="2400"/>
            </a:p>
          </p:txBody>
        </p:sp>
        <p:sp>
          <p:nvSpPr>
            <p:cNvPr id="18459" name="Line 15"/>
            <p:cNvSpPr>
              <a:spLocks noChangeShapeType="1"/>
            </p:cNvSpPr>
            <p:nvPr/>
          </p:nvSpPr>
          <p:spPr bwMode="auto">
            <a:xfrm flipH="1">
              <a:off x="2765" y="1253"/>
              <a:ext cx="531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438" name="Group 44"/>
          <p:cNvGrpSpPr/>
          <p:nvPr/>
        </p:nvGrpSpPr>
        <p:grpSpPr bwMode="auto">
          <a:xfrm>
            <a:off x="4389438" y="1341438"/>
            <a:ext cx="2990850" cy="1439862"/>
            <a:chOff x="2765" y="845"/>
            <a:chExt cx="1884" cy="907"/>
          </a:xfrm>
        </p:grpSpPr>
        <p:sp>
          <p:nvSpPr>
            <p:cNvPr id="18456" name="Oval 12"/>
            <p:cNvSpPr>
              <a:spLocks noChangeArrowheads="1"/>
            </p:cNvSpPr>
            <p:nvPr/>
          </p:nvSpPr>
          <p:spPr bwMode="auto">
            <a:xfrm>
              <a:off x="3828" y="845"/>
              <a:ext cx="82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年龄</a:t>
              </a:r>
              <a:endParaRPr lang="zh-CN" altLang="en-US" sz="2400"/>
            </a:p>
          </p:txBody>
        </p:sp>
        <p:sp>
          <p:nvSpPr>
            <p:cNvPr id="18457" name="Line 16"/>
            <p:cNvSpPr>
              <a:spLocks noChangeShapeType="1"/>
            </p:cNvSpPr>
            <p:nvPr/>
          </p:nvSpPr>
          <p:spPr bwMode="auto">
            <a:xfrm flipH="1">
              <a:off x="2765" y="1253"/>
              <a:ext cx="1498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439" name="Group 48"/>
          <p:cNvGrpSpPr/>
          <p:nvPr/>
        </p:nvGrpSpPr>
        <p:grpSpPr bwMode="auto">
          <a:xfrm>
            <a:off x="1476375" y="1341438"/>
            <a:ext cx="2913063" cy="1439862"/>
            <a:chOff x="930" y="845"/>
            <a:chExt cx="1835" cy="907"/>
          </a:xfrm>
        </p:grpSpPr>
        <p:grpSp>
          <p:nvGrpSpPr>
            <p:cNvPr id="18452" name="Group 41"/>
            <p:cNvGrpSpPr/>
            <p:nvPr/>
          </p:nvGrpSpPr>
          <p:grpSpPr bwMode="auto">
            <a:xfrm>
              <a:off x="930" y="845"/>
              <a:ext cx="1835" cy="907"/>
              <a:chOff x="930" y="845"/>
              <a:chExt cx="1835" cy="907"/>
            </a:xfrm>
          </p:grpSpPr>
          <p:sp>
            <p:nvSpPr>
              <p:cNvPr id="18454" name="Oval 9"/>
              <p:cNvSpPr>
                <a:spLocks noChangeArrowheads="1"/>
              </p:cNvSpPr>
              <p:nvPr/>
            </p:nvSpPr>
            <p:spPr bwMode="auto">
              <a:xfrm>
                <a:off x="930" y="845"/>
                <a:ext cx="82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2400"/>
                  <a:t>学号</a:t>
                </a:r>
                <a:endParaRPr lang="zh-CN" altLang="en-US" sz="2400"/>
              </a:p>
            </p:txBody>
          </p:sp>
          <p:sp>
            <p:nvSpPr>
              <p:cNvPr id="18455" name="Line 13"/>
              <p:cNvSpPr>
                <a:spLocks noChangeShapeType="1"/>
              </p:cNvSpPr>
              <p:nvPr/>
            </p:nvSpPr>
            <p:spPr bwMode="auto">
              <a:xfrm>
                <a:off x="1461" y="1253"/>
                <a:ext cx="130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53" name="Line 37"/>
            <p:cNvSpPr>
              <a:spLocks noChangeShapeType="1"/>
            </p:cNvSpPr>
            <p:nvPr/>
          </p:nvSpPr>
          <p:spPr bwMode="auto">
            <a:xfrm>
              <a:off x="1172" y="1163"/>
              <a:ext cx="3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40" name="Rectangle 19"/>
          <p:cNvSpPr>
            <a:spLocks noChangeArrowheads="1"/>
          </p:cNvSpPr>
          <p:nvPr/>
        </p:nvSpPr>
        <p:spPr bwMode="auto">
          <a:xfrm>
            <a:off x="3781425" y="3933825"/>
            <a:ext cx="1365250" cy="4318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课程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grpSp>
        <p:nvGrpSpPr>
          <p:cNvPr id="18441" name="Group 46"/>
          <p:cNvGrpSpPr/>
          <p:nvPr/>
        </p:nvGrpSpPr>
        <p:grpSpPr bwMode="auto">
          <a:xfrm>
            <a:off x="3635375" y="4367213"/>
            <a:ext cx="1687513" cy="1509712"/>
            <a:chOff x="2290" y="2751"/>
            <a:chExt cx="1063" cy="951"/>
          </a:xfrm>
        </p:grpSpPr>
        <p:sp>
          <p:nvSpPr>
            <p:cNvPr id="18450" name="Line 32"/>
            <p:cNvSpPr>
              <a:spLocks noChangeShapeType="1"/>
            </p:cNvSpPr>
            <p:nvPr/>
          </p:nvSpPr>
          <p:spPr bwMode="auto">
            <a:xfrm>
              <a:off x="2787" y="2751"/>
              <a:ext cx="0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Oval 34"/>
            <p:cNvSpPr>
              <a:spLocks noChangeArrowheads="1"/>
            </p:cNvSpPr>
            <p:nvPr/>
          </p:nvSpPr>
          <p:spPr bwMode="auto">
            <a:xfrm>
              <a:off x="2290" y="3294"/>
              <a:ext cx="1063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课程名称</a:t>
              </a:r>
              <a:endParaRPr lang="zh-CN" altLang="en-US" sz="2400"/>
            </a:p>
          </p:txBody>
        </p:sp>
      </p:grpSp>
      <p:grpSp>
        <p:nvGrpSpPr>
          <p:cNvPr id="18442" name="Group 47"/>
          <p:cNvGrpSpPr/>
          <p:nvPr/>
        </p:nvGrpSpPr>
        <p:grpSpPr bwMode="auto">
          <a:xfrm>
            <a:off x="4424363" y="4367213"/>
            <a:ext cx="2811462" cy="1509712"/>
            <a:chOff x="2787" y="2751"/>
            <a:chExt cx="1771" cy="951"/>
          </a:xfrm>
        </p:grpSpPr>
        <p:sp>
          <p:nvSpPr>
            <p:cNvPr id="18448" name="Line 30"/>
            <p:cNvSpPr>
              <a:spLocks noChangeShapeType="1"/>
            </p:cNvSpPr>
            <p:nvPr/>
          </p:nvSpPr>
          <p:spPr bwMode="auto">
            <a:xfrm flipH="1" flipV="1">
              <a:off x="2787" y="2751"/>
              <a:ext cx="1215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Oval 35"/>
            <p:cNvSpPr>
              <a:spLocks noChangeArrowheads="1"/>
            </p:cNvSpPr>
            <p:nvPr/>
          </p:nvSpPr>
          <p:spPr bwMode="auto">
            <a:xfrm>
              <a:off x="3496" y="3294"/>
              <a:ext cx="1062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任课教师</a:t>
              </a:r>
              <a:endParaRPr lang="zh-CN" altLang="en-US" sz="2400"/>
            </a:p>
          </p:txBody>
        </p:sp>
      </p:grpSp>
      <p:grpSp>
        <p:nvGrpSpPr>
          <p:cNvPr id="18443" name="Group 49"/>
          <p:cNvGrpSpPr/>
          <p:nvPr/>
        </p:nvGrpSpPr>
        <p:grpSpPr bwMode="auto">
          <a:xfrm>
            <a:off x="1692275" y="4367213"/>
            <a:ext cx="2732088" cy="1511300"/>
            <a:chOff x="1066" y="2751"/>
            <a:chExt cx="1721" cy="952"/>
          </a:xfrm>
        </p:grpSpPr>
        <p:grpSp>
          <p:nvGrpSpPr>
            <p:cNvPr id="18444" name="Group 45"/>
            <p:cNvGrpSpPr/>
            <p:nvPr/>
          </p:nvGrpSpPr>
          <p:grpSpPr bwMode="auto">
            <a:xfrm>
              <a:off x="1066" y="2751"/>
              <a:ext cx="1721" cy="952"/>
              <a:chOff x="1066" y="2751"/>
              <a:chExt cx="1721" cy="952"/>
            </a:xfrm>
          </p:grpSpPr>
          <p:sp>
            <p:nvSpPr>
              <p:cNvPr id="18446" name="Oval 20"/>
              <p:cNvSpPr>
                <a:spLocks noChangeArrowheads="1"/>
              </p:cNvSpPr>
              <p:nvPr/>
            </p:nvSpPr>
            <p:spPr bwMode="auto">
              <a:xfrm>
                <a:off x="1066" y="3295"/>
                <a:ext cx="1062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2400"/>
                  <a:t>课程代码</a:t>
                </a:r>
                <a:endParaRPr lang="zh-CN" altLang="en-US" sz="2400"/>
              </a:p>
            </p:txBody>
          </p:sp>
          <p:sp>
            <p:nvSpPr>
              <p:cNvPr id="18447" name="Line 24"/>
              <p:cNvSpPr>
                <a:spLocks noChangeShapeType="1"/>
              </p:cNvSpPr>
              <p:nvPr/>
            </p:nvSpPr>
            <p:spPr bwMode="auto">
              <a:xfrm flipV="1">
                <a:off x="1775" y="2751"/>
                <a:ext cx="1012" cy="5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45" name="Line 38"/>
            <p:cNvSpPr>
              <a:spLocks noChangeShapeType="1"/>
            </p:cNvSpPr>
            <p:nvPr/>
          </p:nvSpPr>
          <p:spPr bwMode="auto">
            <a:xfrm>
              <a:off x="1218" y="3612"/>
              <a:ext cx="80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2</a:t>
            </a:r>
            <a:r>
              <a:rPr lang="en-US" altLang="zh-CN" smtClean="0">
                <a:sym typeface="+mn-ea"/>
              </a:rPr>
              <a:t>) </a:t>
            </a:r>
            <a:r>
              <a:rPr lang="zh-CN" altLang="en-US" smtClean="0"/>
              <a:t>联系</a:t>
            </a:r>
            <a:endParaRPr lang="zh-CN" altLang="en-US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09638"/>
            <a:ext cx="8667750" cy="5832475"/>
          </a:xfrm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rgbClr val="FF0000"/>
                </a:solidFill>
                <a:latin typeface="Arial" panose="020B0604020202020204" pitchFamily="34" charset="0"/>
              </a:rPr>
              <a:t>联系</a:t>
            </a:r>
            <a:r>
              <a:rPr lang="en-US" altLang="zh-CN" sz="3200" smtClean="0"/>
              <a:t>(Relationship)</a:t>
            </a:r>
            <a:r>
              <a:rPr lang="en-US" altLang="zh-CN" smtClean="0"/>
              <a:t> </a:t>
            </a:r>
            <a:r>
              <a:rPr lang="zh-CN" altLang="en-US" sz="3200" smtClean="0">
                <a:latin typeface="Arial" panose="020B0604020202020204" pitchFamily="34" charset="0"/>
              </a:rPr>
              <a:t>：实体内部与实体之间的的关联</a:t>
            </a:r>
            <a:endParaRPr lang="zh-CN" altLang="en-US" sz="3200" smtClean="0">
              <a:latin typeface="Arial" panose="020B0604020202020204" pitchFamily="34" charset="0"/>
            </a:endParaRPr>
          </a:p>
          <a:p>
            <a:pPr eaLnBrk="1" hangingPunct="1">
              <a:spcBef>
                <a:spcPct val="35000"/>
              </a:spcBef>
            </a:pPr>
            <a:r>
              <a:rPr lang="zh-CN" altLang="en-US" smtClean="0">
                <a:solidFill>
                  <a:srgbClr val="FF0000"/>
                </a:solidFill>
                <a:latin typeface="Arial" panose="020B0604020202020204" pitchFamily="34" charset="0"/>
              </a:rPr>
              <a:t>联系集</a:t>
            </a:r>
            <a:r>
              <a:rPr lang="zh-CN" altLang="en-US" sz="3200" smtClean="0">
                <a:latin typeface="Arial" panose="020B0604020202020204" pitchFamily="34" charset="0"/>
              </a:rPr>
              <a:t>：实体集间的联系</a:t>
            </a:r>
            <a:endParaRPr lang="zh-CN" altLang="en-US" sz="3200" smtClean="0">
              <a:latin typeface="Arial" panose="020B0604020202020204" pitchFamily="34" charset="0"/>
            </a:endParaRPr>
          </a:p>
          <a:p>
            <a:pPr eaLnBrk="1" hangingPunct="1">
              <a:spcBef>
                <a:spcPct val="45000"/>
              </a:spcBef>
            </a:pPr>
            <a:r>
              <a:rPr lang="zh-CN" altLang="en-US" smtClean="0">
                <a:solidFill>
                  <a:srgbClr val="FF0000"/>
                </a:solidFill>
                <a:latin typeface="Arial" panose="020B0604020202020204" pitchFamily="34" charset="0"/>
              </a:rPr>
              <a:t>联系的分类</a:t>
            </a:r>
            <a:endParaRPr lang="en-US" altLang="zh-CN" smtClean="0">
              <a:solidFill>
                <a:schemeClr val="hlink"/>
              </a:solidFill>
            </a:endParaRPr>
          </a:p>
          <a:p>
            <a:pPr lvl="1" eaLnBrk="1" hangingPunct="1"/>
            <a:r>
              <a:rPr lang="zh-CN" altLang="en-US" smtClean="0"/>
              <a:t>一对一</a:t>
            </a:r>
            <a:r>
              <a:rPr lang="en-US" altLang="zh-CN" smtClean="0"/>
              <a:t>( </a:t>
            </a:r>
            <a:r>
              <a:rPr lang="en-US" altLang="zh-CN" sz="3600" smtClean="0">
                <a:solidFill>
                  <a:srgbClr val="FF0000"/>
                </a:solidFill>
                <a:latin typeface="Arial" panose="020B0604020202020204" pitchFamily="34" charset="0"/>
              </a:rPr>
              <a:t>1:1</a:t>
            </a:r>
            <a:r>
              <a:rPr lang="en-US" altLang="zh-CN" smtClean="0"/>
              <a:t> )             </a:t>
            </a:r>
            <a:endParaRPr lang="en-US" altLang="zh-CN" smtClean="0"/>
          </a:p>
          <a:p>
            <a:pPr lvl="1" eaLnBrk="1" hangingPunct="1">
              <a:spcBef>
                <a:spcPct val="0"/>
              </a:spcBef>
            </a:pPr>
            <a:r>
              <a:rPr lang="zh-CN" altLang="en-US" smtClean="0"/>
              <a:t>一对多</a:t>
            </a:r>
            <a:r>
              <a:rPr lang="en-US" altLang="zh-CN" smtClean="0"/>
              <a:t>( </a:t>
            </a:r>
            <a:r>
              <a:rPr lang="en-US" altLang="zh-CN" sz="3600" smtClean="0">
                <a:solidFill>
                  <a:srgbClr val="FF0000"/>
                </a:solidFill>
                <a:latin typeface="Arial" panose="020B0604020202020204" pitchFamily="34" charset="0"/>
              </a:rPr>
              <a:t>1:m</a:t>
            </a:r>
            <a:r>
              <a:rPr lang="en-US" altLang="zh-CN" smtClean="0"/>
              <a:t> )	</a:t>
            </a:r>
            <a:endParaRPr lang="en-US" altLang="zh-CN" smtClean="0"/>
          </a:p>
          <a:p>
            <a:pPr lvl="1" eaLnBrk="1" hangingPunct="1">
              <a:spcBef>
                <a:spcPct val="0"/>
              </a:spcBef>
            </a:pPr>
            <a:r>
              <a:rPr lang="zh-CN" altLang="en-US" smtClean="0"/>
              <a:t>多对一</a:t>
            </a:r>
            <a:r>
              <a:rPr lang="en-US" altLang="zh-CN" smtClean="0"/>
              <a:t>( </a:t>
            </a:r>
            <a:r>
              <a:rPr lang="en-US" altLang="zh-CN" sz="3600" smtClean="0">
                <a:solidFill>
                  <a:srgbClr val="FF0000"/>
                </a:solidFill>
                <a:latin typeface="Arial" panose="020B0604020202020204" pitchFamily="34" charset="0"/>
              </a:rPr>
              <a:t>m:1</a:t>
            </a:r>
            <a:r>
              <a:rPr lang="en-US" altLang="zh-CN" smtClean="0"/>
              <a:t> ) </a:t>
            </a:r>
            <a:endParaRPr lang="en-US" altLang="zh-CN" smtClean="0"/>
          </a:p>
          <a:p>
            <a:pPr lvl="1" eaLnBrk="1" hangingPunct="1">
              <a:spcBef>
                <a:spcPct val="0"/>
              </a:spcBef>
            </a:pPr>
            <a:r>
              <a:rPr lang="zh-CN" altLang="en-US" smtClean="0"/>
              <a:t>多对多</a:t>
            </a:r>
            <a:r>
              <a:rPr lang="en-US" altLang="zh-CN" smtClean="0"/>
              <a:t>( </a:t>
            </a:r>
            <a:r>
              <a:rPr lang="en-US" altLang="zh-CN" sz="3600" smtClean="0">
                <a:solidFill>
                  <a:srgbClr val="FF0000"/>
                </a:solidFill>
                <a:latin typeface="Arial" panose="020B0604020202020204" pitchFamily="34" charset="0"/>
              </a:rPr>
              <a:t>m:n</a:t>
            </a:r>
            <a:r>
              <a:rPr lang="en-US" altLang="zh-CN" smtClean="0"/>
              <a:t> ) </a:t>
            </a:r>
            <a:endParaRPr lang="en-US" altLang="zh-CN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两个实体集间的联系</a:t>
            </a:r>
            <a:endParaRPr lang="zh-CN" altLang="en-US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1075"/>
            <a:ext cx="8569325" cy="5492750"/>
          </a:xfrm>
        </p:spPr>
        <p:txBody>
          <a:bodyPr/>
          <a:lstStyle/>
          <a:p>
            <a:pPr algn="just" eaLnBrk="1" hangingPunct="1"/>
            <a:r>
              <a:rPr lang="zh-CN" altLang="en-US" smtClean="0">
                <a:solidFill>
                  <a:srgbClr val="FF0000"/>
                </a:solidFill>
              </a:rPr>
              <a:t>一对一</a:t>
            </a:r>
            <a:r>
              <a:rPr lang="zh-CN" altLang="en-US" smtClean="0"/>
              <a:t>联系</a:t>
            </a:r>
            <a:r>
              <a:rPr lang="zh-CN" altLang="en-US" sz="4000" smtClean="0"/>
              <a:t> 　 </a:t>
            </a:r>
            <a:endParaRPr lang="zh-CN" altLang="en-US" sz="4000" smtClean="0"/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mtClean="0"/>
              <a:t>对于实体集</a:t>
            </a:r>
            <a:r>
              <a:rPr lang="en-US" altLang="zh-CN" smtClean="0"/>
              <a:t>A</a:t>
            </a:r>
            <a:r>
              <a:rPr lang="zh-CN" altLang="en-US" smtClean="0"/>
              <a:t>中的一个实体，实体集</a:t>
            </a:r>
            <a:r>
              <a:rPr lang="en-US" altLang="zh-CN" smtClean="0"/>
              <a:t>B</a:t>
            </a:r>
            <a:r>
              <a:rPr lang="zh-CN" altLang="en-US" smtClean="0"/>
              <a:t>中至多有一个实体与之联系，反之亦然，则称实体集</a:t>
            </a:r>
            <a:r>
              <a:rPr lang="en-US" altLang="zh-CN" smtClean="0"/>
              <a:t>A</a:t>
            </a:r>
            <a:r>
              <a:rPr lang="zh-CN" altLang="en-US" smtClean="0"/>
              <a:t>与实体集</a:t>
            </a:r>
            <a:r>
              <a:rPr lang="en-US" altLang="zh-CN" smtClean="0"/>
              <a:t>B</a:t>
            </a:r>
            <a:r>
              <a:rPr lang="zh-CN" altLang="en-US" smtClean="0"/>
              <a:t>具有一对一联系。</a:t>
            </a:r>
            <a:endParaRPr lang="zh-CN" altLang="en-US" smtClean="0"/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   记为</a:t>
            </a:r>
            <a:r>
              <a:rPr lang="en-US" altLang="zh-CN" smtClean="0">
                <a:solidFill>
                  <a:srgbClr val="FF0000"/>
                </a:solidFill>
              </a:rPr>
              <a:t>1:1</a:t>
            </a:r>
            <a:r>
              <a:rPr lang="zh-CN" altLang="en-US" smtClean="0"/>
              <a:t>。</a:t>
            </a:r>
            <a:endParaRPr lang="zh-CN" altLang="en-US" smtClean="0"/>
          </a:p>
          <a:p>
            <a:pPr lvl="1" algn="just" eaLnBrk="1" hangingPunct="1">
              <a:lnSpc>
                <a:spcPct val="105000"/>
              </a:lnSpc>
            </a:pPr>
            <a:r>
              <a:rPr lang="zh-CN" altLang="en-US" smtClean="0"/>
              <a:t>实例</a:t>
            </a:r>
            <a:endParaRPr lang="zh-CN" altLang="en-US" smtClean="0"/>
          </a:p>
          <a:p>
            <a:pPr lvl="2" algn="just"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200" smtClean="0"/>
              <a:t>班级与班长之间的联系：</a:t>
            </a:r>
            <a:endParaRPr lang="zh-CN" altLang="en-US" sz="3200" smtClean="0"/>
          </a:p>
          <a:p>
            <a:pPr lvl="2" algn="just"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200" smtClean="0"/>
              <a:t>      一个班级只有一个正班长，</a:t>
            </a:r>
            <a:endParaRPr lang="zh-CN" altLang="en-US" sz="3200" smtClean="0"/>
          </a:p>
          <a:p>
            <a:pPr lvl="2" algn="just"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3200" smtClean="0"/>
              <a:t>      一个班长只在一个班中任职</a:t>
            </a:r>
            <a:endParaRPr lang="zh-CN" altLang="en-US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两个实体集间的联系</a:t>
            </a:r>
            <a:endParaRPr lang="en-US" altLang="zh-CN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640763" cy="54927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smtClean="0">
                <a:solidFill>
                  <a:srgbClr val="FF0000"/>
                </a:solidFill>
              </a:rPr>
              <a:t>一对多</a:t>
            </a:r>
            <a:r>
              <a:rPr lang="zh-CN" altLang="en-US" smtClean="0"/>
              <a:t>联系</a:t>
            </a:r>
            <a:endParaRPr lang="zh-CN" altLang="en-US" smtClean="0"/>
          </a:p>
          <a:p>
            <a:pPr lvl="1" algn="just" eaLnBrk="1" hangingPunct="1"/>
            <a:r>
              <a:rPr lang="zh-CN" altLang="en-US" smtClean="0"/>
              <a:t>对于实体集</a:t>
            </a:r>
            <a:r>
              <a:rPr lang="en-US" altLang="zh-CN" smtClean="0"/>
              <a:t>A</a:t>
            </a:r>
            <a:r>
              <a:rPr lang="zh-CN" altLang="en-US" smtClean="0"/>
              <a:t>中的一个实体，实体集</a:t>
            </a:r>
            <a:r>
              <a:rPr lang="en-US" altLang="zh-CN" smtClean="0"/>
              <a:t>B</a:t>
            </a:r>
            <a:r>
              <a:rPr lang="zh-CN" altLang="en-US" smtClean="0"/>
              <a:t>中有</a:t>
            </a:r>
            <a:r>
              <a:rPr lang="en-US" altLang="zh-CN" smtClean="0"/>
              <a:t>n</a:t>
            </a:r>
            <a:r>
              <a:rPr lang="zh-CN" altLang="en-US" smtClean="0"/>
              <a:t>个实体</a:t>
            </a:r>
            <a:r>
              <a:rPr lang="en-US" altLang="zh-CN" smtClean="0"/>
              <a:t>(n≥0)</a:t>
            </a:r>
            <a:r>
              <a:rPr lang="zh-CN" altLang="en-US" smtClean="0"/>
              <a:t>与之联系，反之，对于实体集</a:t>
            </a:r>
            <a:r>
              <a:rPr lang="en-US" altLang="zh-CN" smtClean="0"/>
              <a:t>B</a:t>
            </a:r>
            <a:r>
              <a:rPr lang="zh-CN" altLang="en-US" smtClean="0"/>
              <a:t>中的一个实体，实体集</a:t>
            </a:r>
            <a:r>
              <a:rPr lang="en-US" altLang="zh-CN" smtClean="0"/>
              <a:t>A</a:t>
            </a:r>
            <a:r>
              <a:rPr lang="zh-CN" altLang="en-US" smtClean="0"/>
              <a:t>中至多只有一个实体与之联系，则称实体集</a:t>
            </a:r>
            <a:r>
              <a:rPr lang="en-US" altLang="zh-CN" smtClean="0"/>
              <a:t>A</a:t>
            </a:r>
            <a:r>
              <a:rPr lang="zh-CN" altLang="en-US" smtClean="0"/>
              <a:t>与实体集</a:t>
            </a:r>
            <a:r>
              <a:rPr lang="en-US" altLang="zh-CN" smtClean="0"/>
              <a:t>B</a:t>
            </a:r>
            <a:r>
              <a:rPr lang="zh-CN" altLang="en-US" smtClean="0"/>
              <a:t>有一对多联系，记为</a:t>
            </a:r>
            <a:r>
              <a:rPr lang="en-US" altLang="zh-CN" smtClean="0">
                <a:solidFill>
                  <a:srgbClr val="FF0000"/>
                </a:solidFill>
              </a:rPr>
              <a:t>1:n</a:t>
            </a:r>
            <a:r>
              <a:rPr lang="zh-CN" altLang="en-US" smtClean="0"/>
              <a:t>。</a:t>
            </a:r>
            <a:endParaRPr lang="zh-CN" altLang="en-US" smtClean="0"/>
          </a:p>
          <a:p>
            <a:pPr lvl="1" algn="just" eaLnBrk="1" hangingPunct="1"/>
            <a:r>
              <a:rPr lang="zh-CN" altLang="en-US" smtClean="0"/>
              <a:t>实例</a:t>
            </a:r>
            <a:endParaRPr lang="zh-CN" altLang="en-US" smtClean="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zh-CN" altLang="en-US" sz="3200" smtClean="0"/>
              <a:t>班级与学生之间的联系：</a:t>
            </a:r>
            <a:endParaRPr lang="zh-CN" altLang="en-US" sz="3200" smtClean="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zh-CN" altLang="en-US" sz="3200" smtClean="0"/>
              <a:t>      一个班级中有若干名学生，</a:t>
            </a:r>
            <a:endParaRPr lang="zh-CN" altLang="en-US" sz="3200" smtClean="0"/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zh-CN" altLang="en-US" sz="3200" smtClean="0"/>
              <a:t>      每个学生只在一个班级中学习</a:t>
            </a:r>
            <a:endParaRPr lang="zh-CN" altLang="en-US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两个实体集间的联系</a:t>
            </a:r>
            <a:r>
              <a:rPr lang="en-US" altLang="zh-CN" smtClean="0"/>
              <a:t>(</a:t>
            </a:r>
            <a:r>
              <a:rPr lang="zh-CN" altLang="en-US" smtClean="0"/>
              <a:t>续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31875"/>
            <a:ext cx="8642350" cy="5492750"/>
          </a:xfrm>
        </p:spPr>
        <p:txBody>
          <a:bodyPr/>
          <a:lstStyle/>
          <a:p>
            <a:pPr algn="just" eaLnBrk="1" hangingPunct="1"/>
            <a:r>
              <a:rPr lang="zh-CN" altLang="en-US" smtClean="0">
                <a:solidFill>
                  <a:srgbClr val="FF0000"/>
                </a:solidFill>
              </a:rPr>
              <a:t>多对多</a:t>
            </a:r>
            <a:r>
              <a:rPr lang="zh-CN" altLang="en-US" smtClean="0"/>
              <a:t>联系</a:t>
            </a:r>
            <a:endParaRPr lang="zh-CN" altLang="en-US" smtClean="0"/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mtClean="0"/>
              <a:t>如对于实体集</a:t>
            </a:r>
            <a:r>
              <a:rPr lang="en-US" altLang="zh-CN" smtClean="0"/>
              <a:t>A</a:t>
            </a:r>
            <a:r>
              <a:rPr lang="zh-CN" altLang="en-US" smtClean="0"/>
              <a:t>中的一个实体，实体集</a:t>
            </a:r>
            <a:r>
              <a:rPr lang="en-US" altLang="zh-CN" smtClean="0"/>
              <a:t>B</a:t>
            </a:r>
            <a:r>
              <a:rPr lang="zh-CN" altLang="en-US" smtClean="0"/>
              <a:t>中有</a:t>
            </a:r>
            <a:r>
              <a:rPr lang="en-US" altLang="zh-CN" smtClean="0"/>
              <a:t>n</a:t>
            </a:r>
            <a:r>
              <a:rPr lang="zh-CN" altLang="en-US" smtClean="0"/>
              <a:t>个实体</a:t>
            </a:r>
            <a:r>
              <a:rPr lang="en-US" altLang="zh-CN" smtClean="0"/>
              <a:t>(n≥0)</a:t>
            </a:r>
            <a:r>
              <a:rPr lang="zh-CN" altLang="en-US" smtClean="0"/>
              <a:t>与之联系，反之，对于实体集</a:t>
            </a:r>
            <a:r>
              <a:rPr lang="en-US" altLang="zh-CN" smtClean="0"/>
              <a:t>B</a:t>
            </a:r>
            <a:r>
              <a:rPr lang="zh-CN" altLang="en-US" smtClean="0"/>
              <a:t>中的一个实体，实体集</a:t>
            </a:r>
            <a:r>
              <a:rPr lang="en-US" altLang="zh-CN" smtClean="0"/>
              <a:t>A</a:t>
            </a:r>
            <a:r>
              <a:rPr lang="zh-CN" altLang="en-US" smtClean="0"/>
              <a:t>中也有</a:t>
            </a:r>
            <a:r>
              <a:rPr lang="en-US" altLang="zh-CN" smtClean="0"/>
              <a:t>m</a:t>
            </a:r>
            <a:r>
              <a:rPr lang="zh-CN" altLang="en-US" smtClean="0"/>
              <a:t>个实体</a:t>
            </a:r>
            <a:r>
              <a:rPr lang="en-US" altLang="zh-CN" smtClean="0"/>
              <a:t>(m≥0)</a:t>
            </a:r>
            <a:r>
              <a:rPr lang="zh-CN" altLang="en-US" smtClean="0"/>
              <a:t>与之联系，则称实体集</a:t>
            </a:r>
            <a:r>
              <a:rPr lang="en-US" altLang="zh-CN" smtClean="0"/>
              <a:t>A</a:t>
            </a:r>
            <a:r>
              <a:rPr lang="zh-CN" altLang="en-US" smtClean="0"/>
              <a:t>与实体</a:t>
            </a:r>
            <a:r>
              <a:rPr lang="en-US" altLang="zh-CN" smtClean="0"/>
              <a:t>B</a:t>
            </a:r>
            <a:r>
              <a:rPr lang="zh-CN" altLang="en-US" smtClean="0"/>
              <a:t>具有多对多联系。记为</a:t>
            </a:r>
            <a:r>
              <a:rPr lang="en-US" altLang="zh-CN" smtClean="0">
                <a:solidFill>
                  <a:srgbClr val="FF0000"/>
                </a:solidFill>
              </a:rPr>
              <a:t>m:n </a:t>
            </a:r>
            <a:r>
              <a:rPr lang="zh-CN" altLang="en-US" smtClean="0"/>
              <a:t>。</a:t>
            </a:r>
            <a:endParaRPr lang="zh-CN" altLang="en-US" sz="3600" smtClean="0">
              <a:solidFill>
                <a:srgbClr val="FF0000"/>
              </a:solidFill>
            </a:endParaRPr>
          </a:p>
          <a:p>
            <a:pPr lvl="1" algn="just" eaLnBrk="1" hangingPunct="1"/>
            <a:r>
              <a:rPr lang="zh-CN" altLang="en-US" smtClean="0"/>
              <a:t>实例</a:t>
            </a:r>
            <a:endParaRPr lang="zh-CN" altLang="en-US" smtClean="0"/>
          </a:p>
          <a:p>
            <a:pPr lvl="2" algn="just" eaLnBrk="1" hangingPunct="1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smtClean="0"/>
              <a:t>课程与学生之间的联系：</a:t>
            </a:r>
            <a:endParaRPr lang="zh-CN" altLang="en-US" sz="3200" smtClean="0"/>
          </a:p>
          <a:p>
            <a:pPr lvl="2" algn="just" eaLnBrk="1" hangingPunct="1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smtClean="0"/>
              <a:t>         一门课程同时有若干个学生选修，</a:t>
            </a:r>
            <a:endParaRPr lang="zh-CN" altLang="en-US" sz="3200" smtClean="0"/>
          </a:p>
          <a:p>
            <a:pPr lvl="2" algn="just" eaLnBrk="1" hangingPunct="1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smtClean="0"/>
              <a:t>         一个学生可以同时选修多门课程</a:t>
            </a:r>
            <a:endParaRPr lang="zh-CN" altLang="en-US" sz="3200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2</a:t>
            </a:r>
            <a:r>
              <a:rPr lang="zh-CN" altLang="en-US" smtClean="0"/>
              <a:t>、联系</a:t>
            </a:r>
            <a:r>
              <a:rPr lang="en-US" altLang="zh-CN" smtClean="0"/>
              <a:t>(</a:t>
            </a:r>
            <a:r>
              <a:rPr lang="zh-CN" altLang="en-US" smtClean="0"/>
              <a:t>续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667750" cy="5472113"/>
          </a:xfrm>
        </p:spPr>
        <p:txBody>
          <a:bodyPr/>
          <a:lstStyle/>
          <a:p>
            <a:pPr eaLnBrk="1" hangingPunct="1"/>
            <a:r>
              <a:rPr lang="zh-CN" altLang="en-US" smtClean="0"/>
              <a:t>实体集在联系中的参与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部分参与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全参与</a:t>
            </a:r>
            <a:endParaRPr lang="zh-CN" altLang="en-US" smtClean="0"/>
          </a:p>
          <a:p>
            <a:pPr eaLnBrk="1" hangingPunct="1">
              <a:spcBef>
                <a:spcPct val="25000"/>
              </a:spcBef>
            </a:pPr>
            <a:endParaRPr lang="zh-CN" altLang="en-US" smtClean="0">
              <a:solidFill>
                <a:srgbClr val="FF0000"/>
              </a:solidFill>
            </a:endParaRPr>
          </a:p>
          <a:p>
            <a:pPr eaLnBrk="1" hangingPunct="1">
              <a:spcBef>
                <a:spcPct val="25000"/>
              </a:spcBef>
            </a:pPr>
            <a:r>
              <a:rPr lang="zh-CN" altLang="en-US" smtClean="0">
                <a:solidFill>
                  <a:srgbClr val="FF0000"/>
                </a:solidFill>
              </a:rPr>
              <a:t>二元联系</a:t>
            </a:r>
            <a:r>
              <a:rPr lang="zh-CN" altLang="en-US" smtClean="0"/>
              <a:t>：只存在于两个实体集之间的联系</a:t>
            </a:r>
            <a:endParaRPr lang="zh-CN" altLang="en-US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753475" cy="57610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/>
              <a:t>E-R</a:t>
            </a:r>
            <a:r>
              <a:rPr lang="zh-CN" altLang="en-US" smtClean="0"/>
              <a:t>图例</a:t>
            </a:r>
            <a:endParaRPr lang="en-US" altLang="zh-CN" smtClean="0"/>
          </a:p>
          <a:p>
            <a:pPr lvl="1" eaLnBrk="1" hangingPunct="1">
              <a:spcBef>
                <a:spcPct val="35000"/>
              </a:spcBef>
            </a:pPr>
            <a:r>
              <a:rPr lang="zh-CN" altLang="en-US" smtClean="0"/>
              <a:t>菱形：表示联系集</a:t>
            </a:r>
            <a:endParaRPr lang="zh-CN" altLang="en-US" smtClean="0"/>
          </a:p>
          <a:p>
            <a:pPr lvl="1" eaLnBrk="1" hangingPunct="1">
              <a:spcBef>
                <a:spcPct val="85000"/>
              </a:spcBef>
            </a:pPr>
            <a:r>
              <a:rPr lang="zh-CN" altLang="en-US" smtClean="0"/>
              <a:t>一对一联系</a:t>
            </a:r>
            <a:endParaRPr lang="zh-CN" altLang="en-US" smtClean="0"/>
          </a:p>
          <a:p>
            <a:pPr lvl="1" eaLnBrk="1" hangingPunct="1">
              <a:spcBef>
                <a:spcPct val="85000"/>
              </a:spcBef>
            </a:pPr>
            <a:r>
              <a:rPr lang="zh-CN" altLang="en-US" smtClean="0"/>
              <a:t>多对一联系</a:t>
            </a:r>
            <a:endParaRPr lang="zh-CN" altLang="en-US" smtClean="0"/>
          </a:p>
          <a:p>
            <a:pPr lvl="1" eaLnBrk="1" hangingPunct="1">
              <a:spcBef>
                <a:spcPct val="85000"/>
              </a:spcBef>
            </a:pPr>
            <a:r>
              <a:rPr lang="zh-CN" altLang="en-US" smtClean="0"/>
              <a:t>多对多联系</a:t>
            </a:r>
            <a:endParaRPr lang="zh-CN" altLang="en-US" smtClean="0"/>
          </a:p>
          <a:p>
            <a:pPr lvl="1" eaLnBrk="1" hangingPunct="1">
              <a:spcBef>
                <a:spcPct val="85000"/>
              </a:spcBef>
            </a:pPr>
            <a:r>
              <a:rPr lang="zh-CN" altLang="en-US" smtClean="0"/>
              <a:t>实体集的全参与</a:t>
            </a:r>
            <a:endParaRPr lang="zh-CN" altLang="en-US" smtClean="0"/>
          </a:p>
        </p:txBody>
      </p:sp>
      <p:grpSp>
        <p:nvGrpSpPr>
          <p:cNvPr id="2" name="Group 3"/>
          <p:cNvGrpSpPr/>
          <p:nvPr/>
        </p:nvGrpSpPr>
        <p:grpSpPr bwMode="auto">
          <a:xfrm>
            <a:off x="4775200" y="1287463"/>
            <a:ext cx="1439863" cy="998537"/>
            <a:chOff x="748" y="2160"/>
            <a:chExt cx="907" cy="629"/>
          </a:xfrm>
        </p:grpSpPr>
        <p:sp>
          <p:nvSpPr>
            <p:cNvPr id="24614" name="AutoShape 4"/>
            <p:cNvSpPr>
              <a:spLocks noChangeArrowheads="1"/>
            </p:cNvSpPr>
            <p:nvPr/>
          </p:nvSpPr>
          <p:spPr bwMode="auto">
            <a:xfrm>
              <a:off x="748" y="2160"/>
              <a:ext cx="907" cy="318"/>
            </a:xfrm>
            <a:prstGeom prst="diamond">
              <a:avLst/>
            </a:prstGeom>
            <a:solidFill>
              <a:srgbClr val="00FF99"/>
            </a:solidFill>
            <a:ln w="38100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R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4615" name="Text Box 5"/>
            <p:cNvSpPr txBox="1">
              <a:spLocks noChangeArrowheads="1"/>
            </p:cNvSpPr>
            <p:nvPr/>
          </p:nvSpPr>
          <p:spPr bwMode="auto">
            <a:xfrm>
              <a:off x="769" y="2539"/>
              <a:ext cx="86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ea typeface="宋体" panose="02010600030101010101" pitchFamily="2" charset="-122"/>
                </a:rPr>
                <a:t>联系集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</p:grpSp>
      <p:sp>
        <p:nvSpPr>
          <p:cNvPr id="3921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2) </a:t>
            </a:r>
            <a:r>
              <a:rPr lang="zh-CN" altLang="en-US" smtClean="0"/>
              <a:t>联系</a:t>
            </a:r>
            <a:endParaRPr lang="en-US" altLang="zh-CN" smtClean="0"/>
          </a:p>
        </p:txBody>
      </p:sp>
      <p:grpSp>
        <p:nvGrpSpPr>
          <p:cNvPr id="3" name="Group 7"/>
          <p:cNvGrpSpPr/>
          <p:nvPr/>
        </p:nvGrpSpPr>
        <p:grpSpPr bwMode="auto">
          <a:xfrm>
            <a:off x="3579813" y="2365375"/>
            <a:ext cx="2147887" cy="1112838"/>
            <a:chOff x="2336" y="1706"/>
            <a:chExt cx="1353" cy="701"/>
          </a:xfrm>
        </p:grpSpPr>
        <p:grpSp>
          <p:nvGrpSpPr>
            <p:cNvPr id="24606" name="Group 8"/>
            <p:cNvGrpSpPr/>
            <p:nvPr/>
          </p:nvGrpSpPr>
          <p:grpSpPr bwMode="auto">
            <a:xfrm>
              <a:off x="2336" y="1797"/>
              <a:ext cx="1353" cy="610"/>
              <a:chOff x="1890" y="3038"/>
              <a:chExt cx="1353" cy="610"/>
            </a:xfrm>
          </p:grpSpPr>
          <p:grpSp>
            <p:nvGrpSpPr>
              <p:cNvPr id="24609" name="Group 9"/>
              <p:cNvGrpSpPr/>
              <p:nvPr/>
            </p:nvGrpSpPr>
            <p:grpSpPr bwMode="auto">
              <a:xfrm>
                <a:off x="2114" y="3038"/>
                <a:ext cx="907" cy="610"/>
                <a:chOff x="748" y="2160"/>
                <a:chExt cx="907" cy="610"/>
              </a:xfrm>
            </p:grpSpPr>
            <p:sp>
              <p:nvSpPr>
                <p:cNvPr id="24612" name="AutoShape 10"/>
                <p:cNvSpPr>
                  <a:spLocks noChangeArrowheads="1"/>
                </p:cNvSpPr>
                <p:nvPr/>
              </p:nvSpPr>
              <p:spPr bwMode="auto">
                <a:xfrm>
                  <a:off x="748" y="2160"/>
                  <a:ext cx="907" cy="318"/>
                </a:xfrm>
                <a:prstGeom prst="diamond">
                  <a:avLst/>
                </a:prstGeom>
                <a:solidFill>
                  <a:srgbClr val="00FF99"/>
                </a:solidFill>
                <a:ln w="38100">
                  <a:solidFill>
                    <a:srgbClr val="FF0000"/>
                  </a:solidFill>
                  <a:miter lim="800000"/>
                </a:ln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宋体" panose="02010600030101010101" pitchFamily="2" charset="-122"/>
                    </a:rPr>
                    <a:t>R</a:t>
                  </a:r>
                  <a:endParaRPr lang="en-US" altLang="zh-CN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61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769" y="2539"/>
                  <a:ext cx="861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一对一联系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4610" name="Line 12"/>
              <p:cNvSpPr>
                <a:spLocks noChangeShapeType="1"/>
              </p:cNvSpPr>
              <p:nvPr/>
            </p:nvSpPr>
            <p:spPr bwMode="auto">
              <a:xfrm>
                <a:off x="3016" y="3195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4611" name="Line 13"/>
              <p:cNvSpPr>
                <a:spLocks noChangeShapeType="1"/>
              </p:cNvSpPr>
              <p:nvPr/>
            </p:nvSpPr>
            <p:spPr bwMode="auto">
              <a:xfrm>
                <a:off x="1890" y="3195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4607" name="Text Box 14"/>
            <p:cNvSpPr txBox="1">
              <a:spLocks noChangeArrowheads="1"/>
            </p:cNvSpPr>
            <p:nvPr/>
          </p:nvSpPr>
          <p:spPr bwMode="auto">
            <a:xfrm>
              <a:off x="2336" y="1706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1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24608" name="Text Box 15"/>
            <p:cNvSpPr txBox="1">
              <a:spLocks noChangeArrowheads="1"/>
            </p:cNvSpPr>
            <p:nvPr/>
          </p:nvSpPr>
          <p:spPr bwMode="auto">
            <a:xfrm>
              <a:off x="3470" y="1706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1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5321300" y="3203575"/>
            <a:ext cx="2159000" cy="1112838"/>
            <a:chOff x="3379" y="2115"/>
            <a:chExt cx="1360" cy="701"/>
          </a:xfrm>
        </p:grpSpPr>
        <p:grpSp>
          <p:nvGrpSpPr>
            <p:cNvPr id="24598" name="Group 17"/>
            <p:cNvGrpSpPr/>
            <p:nvPr/>
          </p:nvGrpSpPr>
          <p:grpSpPr bwMode="auto">
            <a:xfrm>
              <a:off x="3379" y="2206"/>
              <a:ext cx="1353" cy="610"/>
              <a:chOff x="1890" y="3038"/>
              <a:chExt cx="1353" cy="610"/>
            </a:xfrm>
          </p:grpSpPr>
          <p:grpSp>
            <p:nvGrpSpPr>
              <p:cNvPr id="24601" name="Group 18"/>
              <p:cNvGrpSpPr/>
              <p:nvPr/>
            </p:nvGrpSpPr>
            <p:grpSpPr bwMode="auto">
              <a:xfrm>
                <a:off x="2114" y="3038"/>
                <a:ext cx="907" cy="610"/>
                <a:chOff x="748" y="2160"/>
                <a:chExt cx="907" cy="610"/>
              </a:xfrm>
            </p:grpSpPr>
            <p:sp>
              <p:nvSpPr>
                <p:cNvPr id="24604" name="AutoShape 19"/>
                <p:cNvSpPr>
                  <a:spLocks noChangeArrowheads="1"/>
                </p:cNvSpPr>
                <p:nvPr/>
              </p:nvSpPr>
              <p:spPr bwMode="auto">
                <a:xfrm>
                  <a:off x="748" y="2160"/>
                  <a:ext cx="907" cy="318"/>
                </a:xfrm>
                <a:prstGeom prst="diamond">
                  <a:avLst/>
                </a:prstGeom>
                <a:solidFill>
                  <a:srgbClr val="00FF99"/>
                </a:solidFill>
                <a:ln w="38100">
                  <a:solidFill>
                    <a:srgbClr val="FF0000"/>
                  </a:solidFill>
                  <a:miter lim="800000"/>
                </a:ln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宋体" panose="02010600030101010101" pitchFamily="2" charset="-122"/>
                    </a:rPr>
                    <a:t>R</a:t>
                  </a:r>
                  <a:endParaRPr lang="en-US" altLang="zh-CN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60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769" y="2539"/>
                  <a:ext cx="861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多对一联系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4602" name="Line 21"/>
              <p:cNvSpPr>
                <a:spLocks noChangeShapeType="1"/>
              </p:cNvSpPr>
              <p:nvPr/>
            </p:nvSpPr>
            <p:spPr bwMode="auto">
              <a:xfrm>
                <a:off x="3016" y="3195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4603" name="Line 22"/>
              <p:cNvSpPr>
                <a:spLocks noChangeShapeType="1"/>
              </p:cNvSpPr>
              <p:nvPr/>
            </p:nvSpPr>
            <p:spPr bwMode="auto">
              <a:xfrm>
                <a:off x="1890" y="3195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4599" name="Text Box 23"/>
            <p:cNvSpPr txBox="1">
              <a:spLocks noChangeArrowheads="1"/>
            </p:cNvSpPr>
            <p:nvPr/>
          </p:nvSpPr>
          <p:spPr bwMode="auto">
            <a:xfrm>
              <a:off x="4558" y="2115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1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24600" name="Text Box 24"/>
            <p:cNvSpPr txBox="1">
              <a:spLocks noChangeArrowheads="1"/>
            </p:cNvSpPr>
            <p:nvPr/>
          </p:nvSpPr>
          <p:spPr bwMode="auto">
            <a:xfrm>
              <a:off x="3379" y="2115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n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25"/>
          <p:cNvGrpSpPr/>
          <p:nvPr/>
        </p:nvGrpSpPr>
        <p:grpSpPr bwMode="auto">
          <a:xfrm>
            <a:off x="6429375" y="4284663"/>
            <a:ext cx="2303463" cy="1112837"/>
            <a:chOff x="4105" y="2750"/>
            <a:chExt cx="1451" cy="701"/>
          </a:xfrm>
        </p:grpSpPr>
        <p:grpSp>
          <p:nvGrpSpPr>
            <p:cNvPr id="24590" name="Group 26"/>
            <p:cNvGrpSpPr/>
            <p:nvPr/>
          </p:nvGrpSpPr>
          <p:grpSpPr bwMode="auto">
            <a:xfrm>
              <a:off x="4150" y="2841"/>
              <a:ext cx="1353" cy="610"/>
              <a:chOff x="1890" y="3038"/>
              <a:chExt cx="1353" cy="610"/>
            </a:xfrm>
          </p:grpSpPr>
          <p:grpSp>
            <p:nvGrpSpPr>
              <p:cNvPr id="24593" name="Group 27"/>
              <p:cNvGrpSpPr/>
              <p:nvPr/>
            </p:nvGrpSpPr>
            <p:grpSpPr bwMode="auto">
              <a:xfrm>
                <a:off x="2114" y="3038"/>
                <a:ext cx="907" cy="610"/>
                <a:chOff x="748" y="2160"/>
                <a:chExt cx="907" cy="610"/>
              </a:xfrm>
            </p:grpSpPr>
            <p:sp>
              <p:nvSpPr>
                <p:cNvPr id="24596" name="AutoShape 28"/>
                <p:cNvSpPr>
                  <a:spLocks noChangeArrowheads="1"/>
                </p:cNvSpPr>
                <p:nvPr/>
              </p:nvSpPr>
              <p:spPr bwMode="auto">
                <a:xfrm>
                  <a:off x="748" y="2160"/>
                  <a:ext cx="907" cy="318"/>
                </a:xfrm>
                <a:prstGeom prst="diamond">
                  <a:avLst/>
                </a:prstGeom>
                <a:solidFill>
                  <a:srgbClr val="00FF99"/>
                </a:solidFill>
                <a:ln w="38100">
                  <a:solidFill>
                    <a:srgbClr val="FF0000"/>
                  </a:solidFill>
                  <a:miter lim="800000"/>
                </a:ln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宋体" panose="02010600030101010101" pitchFamily="2" charset="-122"/>
                    </a:rPr>
                    <a:t>R</a:t>
                  </a:r>
                  <a:endParaRPr lang="en-US" altLang="zh-CN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597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769" y="2539"/>
                  <a:ext cx="861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多对多联系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4594" name="Line 30"/>
              <p:cNvSpPr>
                <a:spLocks noChangeShapeType="1"/>
              </p:cNvSpPr>
              <p:nvPr/>
            </p:nvSpPr>
            <p:spPr bwMode="auto">
              <a:xfrm>
                <a:off x="3016" y="3195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4595" name="Line 31"/>
              <p:cNvSpPr>
                <a:spLocks noChangeShapeType="1"/>
              </p:cNvSpPr>
              <p:nvPr/>
            </p:nvSpPr>
            <p:spPr bwMode="auto">
              <a:xfrm>
                <a:off x="1890" y="3195"/>
                <a:ext cx="227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4591" name="Text Box 32"/>
            <p:cNvSpPr txBox="1">
              <a:spLocks noChangeArrowheads="1"/>
            </p:cNvSpPr>
            <p:nvPr/>
          </p:nvSpPr>
          <p:spPr bwMode="auto">
            <a:xfrm>
              <a:off x="5375" y="2750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n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24592" name="Text Box 33"/>
            <p:cNvSpPr txBox="1">
              <a:spLocks noChangeArrowheads="1"/>
            </p:cNvSpPr>
            <p:nvPr/>
          </p:nvSpPr>
          <p:spPr bwMode="auto">
            <a:xfrm>
              <a:off x="4105" y="2750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m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34"/>
          <p:cNvGrpSpPr/>
          <p:nvPr/>
        </p:nvGrpSpPr>
        <p:grpSpPr bwMode="auto">
          <a:xfrm>
            <a:off x="4356100" y="5518150"/>
            <a:ext cx="3240088" cy="881063"/>
            <a:chOff x="2653" y="572"/>
            <a:chExt cx="2404" cy="690"/>
          </a:xfrm>
        </p:grpSpPr>
        <p:sp>
          <p:nvSpPr>
            <p:cNvPr id="24585" name="AutoShape 35"/>
            <p:cNvSpPr>
              <a:spLocks noChangeArrowheads="1"/>
            </p:cNvSpPr>
            <p:nvPr/>
          </p:nvSpPr>
          <p:spPr bwMode="auto">
            <a:xfrm>
              <a:off x="2653" y="572"/>
              <a:ext cx="907" cy="318"/>
            </a:xfrm>
            <a:prstGeom prst="diamond">
              <a:avLst/>
            </a:prstGeom>
            <a:solidFill>
              <a:srgbClr val="00FF99"/>
            </a:solidFill>
            <a:ln w="38100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R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4586" name="Text Box 36"/>
            <p:cNvSpPr txBox="1">
              <a:spLocks noChangeArrowheads="1"/>
            </p:cNvSpPr>
            <p:nvPr/>
          </p:nvSpPr>
          <p:spPr bwMode="auto">
            <a:xfrm>
              <a:off x="2674" y="951"/>
              <a:ext cx="2383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ea typeface="宋体" panose="02010600030101010101" pitchFamily="2" charset="-122"/>
                </a:rPr>
                <a:t>实体集在联系中的全参与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4587" name="Rectangle 37"/>
            <p:cNvSpPr>
              <a:spLocks noChangeArrowheads="1"/>
            </p:cNvSpPr>
            <p:nvPr/>
          </p:nvSpPr>
          <p:spPr bwMode="auto">
            <a:xfrm>
              <a:off x="4150" y="590"/>
              <a:ext cx="861" cy="273"/>
            </a:xfrm>
            <a:prstGeom prst="rect">
              <a:avLst/>
            </a:prstGeom>
            <a:solidFill>
              <a:srgbClr val="00FF99"/>
            </a:solidFill>
            <a:ln w="38100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E</a:t>
              </a:r>
              <a:endParaRPr lang="en-US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24588" name="Line 38"/>
            <p:cNvSpPr>
              <a:spLocks noChangeShapeType="1"/>
            </p:cNvSpPr>
            <p:nvPr/>
          </p:nvSpPr>
          <p:spPr bwMode="auto">
            <a:xfrm>
              <a:off x="3515" y="708"/>
              <a:ext cx="63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89" name="Line 39"/>
            <p:cNvSpPr>
              <a:spLocks noChangeShapeType="1"/>
            </p:cNvSpPr>
            <p:nvPr/>
          </p:nvSpPr>
          <p:spPr bwMode="auto">
            <a:xfrm>
              <a:off x="3515" y="754"/>
              <a:ext cx="63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其它教材中联系的图例</a:t>
            </a:r>
            <a:r>
              <a:rPr lang="en-US" altLang="zh-CN" dirty="0" smtClean="0"/>
              <a:t>(</a:t>
            </a:r>
            <a:r>
              <a:rPr lang="zh-CN" altLang="en-US" dirty="0" smtClean="0"/>
              <a:t>二元联系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grpSp>
        <p:nvGrpSpPr>
          <p:cNvPr id="25603" name="Group 52"/>
          <p:cNvGrpSpPr/>
          <p:nvPr/>
        </p:nvGrpSpPr>
        <p:grpSpPr bwMode="auto">
          <a:xfrm>
            <a:off x="1187450" y="1316038"/>
            <a:ext cx="1860550" cy="4278312"/>
            <a:chOff x="748" y="829"/>
            <a:chExt cx="1172" cy="2695"/>
          </a:xfrm>
        </p:grpSpPr>
        <p:sp>
          <p:nvSpPr>
            <p:cNvPr id="25618" name="Text Box 4"/>
            <p:cNvSpPr txBox="1">
              <a:spLocks noChangeArrowheads="1"/>
            </p:cNvSpPr>
            <p:nvPr/>
          </p:nvSpPr>
          <p:spPr bwMode="auto">
            <a:xfrm>
              <a:off x="804" y="829"/>
              <a:ext cx="949" cy="306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实体集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5619" name="AutoShape 5"/>
            <p:cNvSpPr>
              <a:spLocks noChangeArrowheads="1"/>
            </p:cNvSpPr>
            <p:nvPr/>
          </p:nvSpPr>
          <p:spPr bwMode="auto">
            <a:xfrm>
              <a:off x="748" y="1613"/>
              <a:ext cx="1116" cy="480"/>
            </a:xfrm>
            <a:prstGeom prst="diamond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联系名</a:t>
              </a: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20" name="Text Box 6"/>
            <p:cNvSpPr txBox="1">
              <a:spLocks noChangeArrowheads="1"/>
            </p:cNvSpPr>
            <p:nvPr/>
          </p:nvSpPr>
          <p:spPr bwMode="auto">
            <a:xfrm>
              <a:off x="860" y="2669"/>
              <a:ext cx="948" cy="306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实体集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5621" name="Line 7"/>
            <p:cNvSpPr>
              <a:spLocks noChangeShapeType="1"/>
            </p:cNvSpPr>
            <p:nvPr/>
          </p:nvSpPr>
          <p:spPr bwMode="auto">
            <a:xfrm flipV="1">
              <a:off x="1306" y="1133"/>
              <a:ext cx="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2" name="Line 8"/>
            <p:cNvSpPr>
              <a:spLocks noChangeShapeType="1"/>
            </p:cNvSpPr>
            <p:nvPr/>
          </p:nvSpPr>
          <p:spPr bwMode="auto">
            <a:xfrm>
              <a:off x="1306" y="2093"/>
              <a:ext cx="0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3" name="Text Box 11"/>
            <p:cNvSpPr txBox="1">
              <a:spLocks noChangeArrowheads="1"/>
            </p:cNvSpPr>
            <p:nvPr/>
          </p:nvSpPr>
          <p:spPr bwMode="auto">
            <a:xfrm>
              <a:off x="915" y="3197"/>
              <a:ext cx="10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ea typeface="宋体" panose="02010600030101010101" pitchFamily="2" charset="-122"/>
                </a:rPr>
                <a:t>1:1</a:t>
              </a:r>
              <a:r>
                <a:rPr lang="zh-CN" altLang="en-US" sz="2800">
                  <a:ea typeface="宋体" panose="02010600030101010101" pitchFamily="2" charset="-122"/>
                </a:rPr>
                <a:t>联系</a:t>
              </a:r>
              <a:endParaRPr lang="zh-CN" altLang="en-US" sz="2800" b="0">
                <a:ea typeface="宋体" panose="02010600030101010101" pitchFamily="2" charset="-122"/>
              </a:endParaRPr>
            </a:p>
          </p:txBody>
        </p:sp>
      </p:grpSp>
      <p:grpSp>
        <p:nvGrpSpPr>
          <p:cNvPr id="25604" name="Group 50"/>
          <p:cNvGrpSpPr/>
          <p:nvPr/>
        </p:nvGrpSpPr>
        <p:grpSpPr bwMode="auto">
          <a:xfrm>
            <a:off x="6477000" y="1362075"/>
            <a:ext cx="1766888" cy="4183063"/>
            <a:chOff x="4080" y="858"/>
            <a:chExt cx="1113" cy="2635"/>
          </a:xfrm>
        </p:grpSpPr>
        <p:sp>
          <p:nvSpPr>
            <p:cNvPr id="25612" name="Text Box 12"/>
            <p:cNvSpPr txBox="1">
              <a:spLocks noChangeArrowheads="1"/>
            </p:cNvSpPr>
            <p:nvPr/>
          </p:nvSpPr>
          <p:spPr bwMode="auto">
            <a:xfrm>
              <a:off x="4133" y="858"/>
              <a:ext cx="901" cy="306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实体集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5613" name="AutoShape 13"/>
            <p:cNvSpPr>
              <a:spLocks noChangeArrowheads="1"/>
            </p:cNvSpPr>
            <p:nvPr/>
          </p:nvSpPr>
          <p:spPr bwMode="auto">
            <a:xfrm>
              <a:off x="4080" y="1634"/>
              <a:ext cx="1060" cy="480"/>
            </a:xfrm>
            <a:prstGeom prst="diamond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联系名</a:t>
              </a: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14" name="Text Box 14"/>
            <p:cNvSpPr txBox="1">
              <a:spLocks noChangeArrowheads="1"/>
            </p:cNvSpPr>
            <p:nvPr/>
          </p:nvSpPr>
          <p:spPr bwMode="auto">
            <a:xfrm>
              <a:off x="4186" y="2690"/>
              <a:ext cx="901" cy="306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实体集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5615" name="Line 15"/>
            <p:cNvSpPr>
              <a:spLocks noChangeShapeType="1"/>
            </p:cNvSpPr>
            <p:nvPr/>
          </p:nvSpPr>
          <p:spPr bwMode="auto">
            <a:xfrm flipV="1">
              <a:off x="4610" y="1154"/>
              <a:ext cx="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6" name="Line 16"/>
            <p:cNvSpPr>
              <a:spLocks noChangeShapeType="1"/>
            </p:cNvSpPr>
            <p:nvPr/>
          </p:nvSpPr>
          <p:spPr bwMode="auto">
            <a:xfrm>
              <a:off x="4610" y="2114"/>
              <a:ext cx="0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7" name="Text Box 19"/>
            <p:cNvSpPr txBox="1">
              <a:spLocks noChangeArrowheads="1"/>
            </p:cNvSpPr>
            <p:nvPr/>
          </p:nvSpPr>
          <p:spPr bwMode="auto">
            <a:xfrm>
              <a:off x="4239" y="3166"/>
              <a:ext cx="9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ea typeface="宋体" panose="02010600030101010101" pitchFamily="2" charset="-122"/>
                </a:rPr>
                <a:t>m:n</a:t>
              </a:r>
              <a:r>
                <a:rPr lang="zh-CN" altLang="en-US" sz="2800">
                  <a:ea typeface="宋体" panose="02010600030101010101" pitchFamily="2" charset="-122"/>
                </a:rPr>
                <a:t>联系</a:t>
              </a:r>
              <a:endParaRPr lang="zh-CN" altLang="en-US" sz="2800" b="0">
                <a:ea typeface="宋体" panose="02010600030101010101" pitchFamily="2" charset="-122"/>
              </a:endParaRPr>
            </a:p>
          </p:txBody>
        </p:sp>
      </p:grpSp>
      <p:grpSp>
        <p:nvGrpSpPr>
          <p:cNvPr id="25605" name="Group 51"/>
          <p:cNvGrpSpPr/>
          <p:nvPr/>
        </p:nvGrpSpPr>
        <p:grpSpPr bwMode="auto">
          <a:xfrm>
            <a:off x="3962400" y="1328738"/>
            <a:ext cx="1762125" cy="4265612"/>
            <a:chOff x="2496" y="837"/>
            <a:chExt cx="1110" cy="2687"/>
          </a:xfrm>
        </p:grpSpPr>
        <p:sp>
          <p:nvSpPr>
            <p:cNvPr id="25606" name="Text Box 20"/>
            <p:cNvSpPr txBox="1">
              <a:spLocks noChangeArrowheads="1"/>
            </p:cNvSpPr>
            <p:nvPr/>
          </p:nvSpPr>
          <p:spPr bwMode="auto">
            <a:xfrm>
              <a:off x="2549" y="837"/>
              <a:ext cx="898" cy="306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实体集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5607" name="AutoShape 21"/>
            <p:cNvSpPr>
              <a:spLocks noChangeArrowheads="1"/>
            </p:cNvSpPr>
            <p:nvPr/>
          </p:nvSpPr>
          <p:spPr bwMode="auto">
            <a:xfrm>
              <a:off x="2496" y="1613"/>
              <a:ext cx="1057" cy="480"/>
            </a:xfrm>
            <a:prstGeom prst="diamond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联系名</a:t>
              </a: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08" name="Text Box 22"/>
            <p:cNvSpPr txBox="1">
              <a:spLocks noChangeArrowheads="1"/>
            </p:cNvSpPr>
            <p:nvPr/>
          </p:nvSpPr>
          <p:spPr bwMode="auto">
            <a:xfrm>
              <a:off x="2602" y="2669"/>
              <a:ext cx="898" cy="306"/>
            </a:xfrm>
            <a:prstGeom prst="rect">
              <a:avLst/>
            </a:prstGeom>
            <a:solidFill>
              <a:srgbClr val="00FF99"/>
            </a:solidFill>
            <a:ln w="28575">
              <a:solidFill>
                <a:srgbClr val="002060"/>
              </a:solidFill>
              <a:miter lim="800000"/>
            </a:ln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实体集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5609" name="Line 23"/>
            <p:cNvSpPr>
              <a:spLocks noChangeShapeType="1"/>
            </p:cNvSpPr>
            <p:nvPr/>
          </p:nvSpPr>
          <p:spPr bwMode="auto">
            <a:xfrm flipV="1">
              <a:off x="3025" y="1133"/>
              <a:ext cx="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0" name="Line 24"/>
            <p:cNvSpPr>
              <a:spLocks noChangeShapeType="1"/>
            </p:cNvSpPr>
            <p:nvPr/>
          </p:nvSpPr>
          <p:spPr bwMode="auto">
            <a:xfrm>
              <a:off x="3025" y="2093"/>
              <a:ext cx="0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1" name="Text Box 27"/>
            <p:cNvSpPr txBox="1">
              <a:spLocks noChangeArrowheads="1"/>
            </p:cNvSpPr>
            <p:nvPr/>
          </p:nvSpPr>
          <p:spPr bwMode="auto">
            <a:xfrm>
              <a:off x="2655" y="3197"/>
              <a:ext cx="9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ea typeface="宋体" panose="02010600030101010101" pitchFamily="2" charset="-122"/>
                </a:rPr>
                <a:t>1:n</a:t>
              </a:r>
              <a:r>
                <a:rPr lang="zh-CN" altLang="en-US" sz="2800">
                  <a:ea typeface="宋体" panose="02010600030101010101" pitchFamily="2" charset="-122"/>
                </a:rPr>
                <a:t>联系</a:t>
              </a:r>
              <a:endParaRPr lang="zh-CN" altLang="en-US" sz="2800" b="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联系举例</a:t>
            </a:r>
            <a:endParaRPr lang="zh-CN" altLang="en-US" smtClean="0"/>
          </a:p>
        </p:txBody>
      </p:sp>
      <p:grpSp>
        <p:nvGrpSpPr>
          <p:cNvPr id="26627" name="Group 4"/>
          <p:cNvGrpSpPr/>
          <p:nvPr/>
        </p:nvGrpSpPr>
        <p:grpSpPr bwMode="auto">
          <a:xfrm>
            <a:off x="1143000" y="1193800"/>
            <a:ext cx="6740525" cy="939800"/>
            <a:chOff x="1292" y="3475"/>
            <a:chExt cx="3765" cy="592"/>
          </a:xfrm>
        </p:grpSpPr>
        <p:sp>
          <p:nvSpPr>
            <p:cNvPr id="26642" name="Text Box 5"/>
            <p:cNvSpPr txBox="1">
              <a:spLocks noChangeArrowheads="1"/>
            </p:cNvSpPr>
            <p:nvPr/>
          </p:nvSpPr>
          <p:spPr bwMode="auto">
            <a:xfrm>
              <a:off x="1292" y="3611"/>
              <a:ext cx="590" cy="409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</a:rPr>
                <a:t>班长</a:t>
              </a:r>
              <a:endParaRPr kumimoji="0"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26643" name="Text Box 6"/>
            <p:cNvSpPr txBox="1">
              <a:spLocks noChangeArrowheads="1"/>
            </p:cNvSpPr>
            <p:nvPr/>
          </p:nvSpPr>
          <p:spPr bwMode="auto">
            <a:xfrm>
              <a:off x="4241" y="3611"/>
              <a:ext cx="816" cy="409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</a:rPr>
                <a:t>班级</a:t>
              </a:r>
              <a:endParaRPr kumimoji="0"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26644" name="Line 7"/>
            <p:cNvSpPr>
              <a:spLocks noChangeShapeType="1"/>
            </p:cNvSpPr>
            <p:nvPr/>
          </p:nvSpPr>
          <p:spPr bwMode="auto">
            <a:xfrm>
              <a:off x="1882" y="3792"/>
              <a:ext cx="235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AutoShape 8"/>
            <p:cNvSpPr>
              <a:spLocks noChangeArrowheads="1"/>
            </p:cNvSpPr>
            <p:nvPr/>
          </p:nvSpPr>
          <p:spPr bwMode="auto">
            <a:xfrm>
              <a:off x="2517" y="3521"/>
              <a:ext cx="1224" cy="546"/>
            </a:xfrm>
            <a:prstGeom prst="flowChartDecision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miter lim="800000"/>
            </a:ln>
          </p:spPr>
          <p:txBody>
            <a:bodyPr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fontAlgn="ctr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  <a:cs typeface="Arial" panose="020B0604020202020204" pitchFamily="34" charset="0"/>
                </a:rPr>
                <a:t>管理</a:t>
              </a:r>
              <a:endParaRPr kumimoji="0"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46" name="Text Box 9"/>
            <p:cNvSpPr txBox="1">
              <a:spLocks noChangeArrowheads="1"/>
            </p:cNvSpPr>
            <p:nvPr/>
          </p:nvSpPr>
          <p:spPr bwMode="auto">
            <a:xfrm>
              <a:off x="2064" y="3475"/>
              <a:ext cx="59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3200">
                  <a:latin typeface="Arial" panose="020B0604020202020204" pitchFamily="34" charset="0"/>
                </a:rPr>
                <a:t>1</a:t>
              </a:r>
              <a:endParaRPr kumimoji="0" lang="en-US" altLang="zh-CN" sz="3200">
                <a:latin typeface="Arial" panose="020B0604020202020204" pitchFamily="34" charset="0"/>
              </a:endParaRPr>
            </a:p>
          </p:txBody>
        </p:sp>
        <p:sp>
          <p:nvSpPr>
            <p:cNvPr id="26647" name="Text Box 10"/>
            <p:cNvSpPr txBox="1">
              <a:spLocks noChangeArrowheads="1"/>
            </p:cNvSpPr>
            <p:nvPr/>
          </p:nvSpPr>
          <p:spPr bwMode="auto">
            <a:xfrm>
              <a:off x="3606" y="3475"/>
              <a:ext cx="59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3200">
                  <a:latin typeface="Arial" panose="020B0604020202020204" pitchFamily="34" charset="0"/>
                </a:rPr>
                <a:t>1</a:t>
              </a:r>
              <a:endParaRPr kumimoji="0" lang="en-US" altLang="zh-CN" sz="3200">
                <a:latin typeface="Arial" panose="020B0604020202020204" pitchFamily="34" charset="0"/>
              </a:endParaRPr>
            </a:p>
          </p:txBody>
        </p:sp>
      </p:grpSp>
      <p:grpSp>
        <p:nvGrpSpPr>
          <p:cNvPr id="26628" name="Group 11"/>
          <p:cNvGrpSpPr/>
          <p:nvPr/>
        </p:nvGrpSpPr>
        <p:grpSpPr bwMode="auto">
          <a:xfrm>
            <a:off x="1214438" y="2849563"/>
            <a:ext cx="6669087" cy="939800"/>
            <a:chOff x="1292" y="3475"/>
            <a:chExt cx="3765" cy="592"/>
          </a:xfrm>
        </p:grpSpPr>
        <p:sp>
          <p:nvSpPr>
            <p:cNvPr id="26636" name="Text Box 12"/>
            <p:cNvSpPr txBox="1">
              <a:spLocks noChangeArrowheads="1"/>
            </p:cNvSpPr>
            <p:nvPr/>
          </p:nvSpPr>
          <p:spPr bwMode="auto">
            <a:xfrm>
              <a:off x="1292" y="3611"/>
              <a:ext cx="590" cy="409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</a:rPr>
                <a:t>班级</a:t>
              </a:r>
              <a:endParaRPr kumimoji="0"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26637" name="Text Box 13"/>
            <p:cNvSpPr txBox="1">
              <a:spLocks noChangeArrowheads="1"/>
            </p:cNvSpPr>
            <p:nvPr/>
          </p:nvSpPr>
          <p:spPr bwMode="auto">
            <a:xfrm>
              <a:off x="4241" y="3611"/>
              <a:ext cx="816" cy="409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</a:rPr>
                <a:t>学生</a:t>
              </a:r>
              <a:endParaRPr kumimoji="0"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26638" name="Line 14"/>
            <p:cNvSpPr>
              <a:spLocks noChangeShapeType="1"/>
            </p:cNvSpPr>
            <p:nvPr/>
          </p:nvSpPr>
          <p:spPr bwMode="auto">
            <a:xfrm>
              <a:off x="1882" y="3792"/>
              <a:ext cx="235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AutoShape 15"/>
            <p:cNvSpPr>
              <a:spLocks noChangeArrowheads="1"/>
            </p:cNvSpPr>
            <p:nvPr/>
          </p:nvSpPr>
          <p:spPr bwMode="auto">
            <a:xfrm>
              <a:off x="2517" y="3521"/>
              <a:ext cx="1224" cy="546"/>
            </a:xfrm>
            <a:prstGeom prst="flowChartDecision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miter lim="800000"/>
            </a:ln>
          </p:spPr>
          <p:txBody>
            <a:bodyPr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fontAlgn="ctr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  <a:cs typeface="Arial" panose="020B0604020202020204" pitchFamily="34" charset="0"/>
                </a:rPr>
                <a:t>组成</a:t>
              </a:r>
              <a:endParaRPr kumimoji="0"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40" name="Text Box 16"/>
            <p:cNvSpPr txBox="1">
              <a:spLocks noChangeArrowheads="1"/>
            </p:cNvSpPr>
            <p:nvPr/>
          </p:nvSpPr>
          <p:spPr bwMode="auto">
            <a:xfrm>
              <a:off x="2064" y="3475"/>
              <a:ext cx="59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3200">
                  <a:latin typeface="Arial" panose="020B0604020202020204" pitchFamily="34" charset="0"/>
                </a:rPr>
                <a:t>1</a:t>
              </a:r>
              <a:endParaRPr kumimoji="0" lang="en-US" altLang="zh-CN" sz="3200">
                <a:latin typeface="Arial" panose="020B0604020202020204" pitchFamily="34" charset="0"/>
              </a:endParaRPr>
            </a:p>
          </p:txBody>
        </p:sp>
        <p:sp>
          <p:nvSpPr>
            <p:cNvPr id="26641" name="Text Box 17"/>
            <p:cNvSpPr txBox="1">
              <a:spLocks noChangeArrowheads="1"/>
            </p:cNvSpPr>
            <p:nvPr/>
          </p:nvSpPr>
          <p:spPr bwMode="auto">
            <a:xfrm>
              <a:off x="3606" y="3475"/>
              <a:ext cx="59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3200">
                  <a:latin typeface="Arial" panose="020B0604020202020204" pitchFamily="34" charset="0"/>
                </a:rPr>
                <a:t>n</a:t>
              </a:r>
              <a:endParaRPr kumimoji="0" lang="en-US" altLang="zh-CN" sz="3200">
                <a:latin typeface="Arial" panose="020B0604020202020204" pitchFamily="34" charset="0"/>
              </a:endParaRPr>
            </a:p>
          </p:txBody>
        </p:sp>
      </p:grpSp>
      <p:grpSp>
        <p:nvGrpSpPr>
          <p:cNvPr id="26629" name="Group 18"/>
          <p:cNvGrpSpPr/>
          <p:nvPr/>
        </p:nvGrpSpPr>
        <p:grpSpPr bwMode="auto">
          <a:xfrm>
            <a:off x="1216025" y="4576763"/>
            <a:ext cx="6810375" cy="939800"/>
            <a:chOff x="1292" y="3475"/>
            <a:chExt cx="3765" cy="592"/>
          </a:xfrm>
        </p:grpSpPr>
        <p:sp>
          <p:nvSpPr>
            <p:cNvPr id="26630" name="Text Box 19"/>
            <p:cNvSpPr txBox="1">
              <a:spLocks noChangeArrowheads="1"/>
            </p:cNvSpPr>
            <p:nvPr/>
          </p:nvSpPr>
          <p:spPr bwMode="auto">
            <a:xfrm>
              <a:off x="1292" y="3611"/>
              <a:ext cx="590" cy="409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</a:rPr>
                <a:t>课程</a:t>
              </a:r>
              <a:endParaRPr kumimoji="0"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26631" name="Text Box 20"/>
            <p:cNvSpPr txBox="1">
              <a:spLocks noChangeArrowheads="1"/>
            </p:cNvSpPr>
            <p:nvPr/>
          </p:nvSpPr>
          <p:spPr bwMode="auto">
            <a:xfrm>
              <a:off x="4241" y="3611"/>
              <a:ext cx="816" cy="409"/>
            </a:xfrm>
            <a:prstGeom prst="rect">
              <a:avLst/>
            </a:prstGeom>
            <a:noFill/>
            <a:ln w="28575" algn="ctr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</a:rPr>
                <a:t>学生</a:t>
              </a:r>
              <a:endParaRPr kumimoji="0"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26632" name="Line 21"/>
            <p:cNvSpPr>
              <a:spLocks noChangeShapeType="1"/>
            </p:cNvSpPr>
            <p:nvPr/>
          </p:nvSpPr>
          <p:spPr bwMode="auto">
            <a:xfrm>
              <a:off x="1882" y="3792"/>
              <a:ext cx="235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AutoShape 22"/>
            <p:cNvSpPr>
              <a:spLocks noChangeArrowheads="1"/>
            </p:cNvSpPr>
            <p:nvPr/>
          </p:nvSpPr>
          <p:spPr bwMode="auto">
            <a:xfrm>
              <a:off x="2517" y="3521"/>
              <a:ext cx="1224" cy="546"/>
            </a:xfrm>
            <a:prstGeom prst="flowChartDecision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miter lim="800000"/>
            </a:ln>
          </p:spPr>
          <p:txBody>
            <a:bodyPr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fontAlgn="ctr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3200">
                  <a:latin typeface="Arial" panose="020B0604020202020204" pitchFamily="34" charset="0"/>
                  <a:cs typeface="Arial" panose="020B0604020202020204" pitchFamily="34" charset="0"/>
                </a:rPr>
                <a:t>选修</a:t>
              </a:r>
              <a:endParaRPr kumimoji="0"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34" name="Text Box 23"/>
            <p:cNvSpPr txBox="1">
              <a:spLocks noChangeArrowheads="1"/>
            </p:cNvSpPr>
            <p:nvPr/>
          </p:nvSpPr>
          <p:spPr bwMode="auto">
            <a:xfrm>
              <a:off x="2064" y="3475"/>
              <a:ext cx="59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3200">
                  <a:latin typeface="Arial" panose="020B0604020202020204" pitchFamily="34" charset="0"/>
                </a:rPr>
                <a:t>m</a:t>
              </a:r>
              <a:endParaRPr kumimoji="0" lang="en-US" altLang="zh-CN" sz="3200">
                <a:latin typeface="Arial" panose="020B0604020202020204" pitchFamily="34" charset="0"/>
              </a:endParaRPr>
            </a:p>
          </p:txBody>
        </p:sp>
        <p:sp>
          <p:nvSpPr>
            <p:cNvPr id="26635" name="Text Box 24"/>
            <p:cNvSpPr txBox="1">
              <a:spLocks noChangeArrowheads="1"/>
            </p:cNvSpPr>
            <p:nvPr/>
          </p:nvSpPr>
          <p:spPr bwMode="auto">
            <a:xfrm>
              <a:off x="3606" y="3475"/>
              <a:ext cx="590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3200">
                  <a:latin typeface="Arial" panose="020B0604020202020204" pitchFamily="34" charset="0"/>
                </a:rPr>
                <a:t>n</a:t>
              </a:r>
              <a:endParaRPr kumimoji="0" lang="en-US" altLang="zh-CN" sz="32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2) </a:t>
            </a:r>
            <a:r>
              <a:rPr lang="zh-CN" altLang="en-US" smtClean="0"/>
              <a:t>联系</a:t>
            </a:r>
            <a:endParaRPr lang="en-US" altLang="zh-CN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09638"/>
            <a:ext cx="8667750" cy="5832475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zh-CN" altLang="en-US" smtClean="0">
                <a:latin typeface="Arial" panose="020B0604020202020204" pitchFamily="34" charset="0"/>
              </a:rPr>
              <a:t>联系本身也是一种实体型，也有属性</a:t>
            </a:r>
            <a:endParaRPr lang="zh-CN" altLang="en-US" smtClean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15000"/>
              </a:spcBef>
            </a:pPr>
            <a:r>
              <a:rPr lang="zh-CN" altLang="en-US" smtClean="0">
                <a:solidFill>
                  <a:srgbClr val="FF0000"/>
                </a:solidFill>
                <a:latin typeface="Arial" panose="020B0604020202020204" pitchFamily="34" charset="0"/>
              </a:rPr>
              <a:t>描述属性</a:t>
            </a:r>
            <a:r>
              <a:rPr lang="en-US" altLang="zh-CN" sz="3200" smtClean="0"/>
              <a:t>(Descriptive Attribute</a:t>
            </a:r>
            <a:r>
              <a:rPr lang="en-US" altLang="zh-CN" smtClean="0"/>
              <a:t>) </a:t>
            </a:r>
            <a:r>
              <a:rPr lang="zh-CN" altLang="en-US" sz="3200" smtClean="0"/>
              <a:t>：联系集自己拥有的属性</a:t>
            </a:r>
            <a:endParaRPr lang="zh-CN" altLang="en-US" sz="3200" smtClean="0"/>
          </a:p>
          <a:p>
            <a:pPr lvl="1" eaLnBrk="1" hangingPunct="1"/>
            <a:r>
              <a:rPr lang="zh-CN" altLang="en-US" sz="2800" smtClean="0"/>
              <a:t>如学生选课所得的成绩</a:t>
            </a:r>
            <a:endParaRPr lang="zh-CN" altLang="en-US" sz="2800" smtClean="0"/>
          </a:p>
        </p:txBody>
      </p:sp>
      <p:grpSp>
        <p:nvGrpSpPr>
          <p:cNvPr id="2" name="组合 14"/>
          <p:cNvGrpSpPr/>
          <p:nvPr/>
        </p:nvGrpSpPr>
        <p:grpSpPr bwMode="auto">
          <a:xfrm>
            <a:off x="1214438" y="3643313"/>
            <a:ext cx="6738937" cy="2309812"/>
            <a:chOff x="1214414" y="3786189"/>
            <a:chExt cx="6738963" cy="2309813"/>
          </a:xfrm>
        </p:grpSpPr>
        <p:grpSp>
          <p:nvGrpSpPr>
            <p:cNvPr id="27653" name="Group 4"/>
            <p:cNvGrpSpPr/>
            <p:nvPr/>
          </p:nvGrpSpPr>
          <p:grpSpPr bwMode="auto">
            <a:xfrm>
              <a:off x="1214414" y="3786189"/>
              <a:ext cx="6738963" cy="2309813"/>
              <a:chOff x="930" y="2204"/>
              <a:chExt cx="3765" cy="1455"/>
            </a:xfrm>
          </p:grpSpPr>
          <p:sp>
            <p:nvSpPr>
              <p:cNvPr id="27655" name="Text Box 5"/>
              <p:cNvSpPr txBox="1">
                <a:spLocks noChangeArrowheads="1"/>
              </p:cNvSpPr>
              <p:nvPr/>
            </p:nvSpPr>
            <p:spPr bwMode="auto">
              <a:xfrm>
                <a:off x="930" y="3203"/>
                <a:ext cx="590" cy="409"/>
              </a:xfrm>
              <a:prstGeom prst="rect">
                <a:avLst/>
              </a:prstGeom>
              <a:noFill/>
              <a:ln w="28575" algn="ctr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zh-CN" altLang="en-US" sz="3200">
                    <a:latin typeface="Arial" panose="020B0604020202020204" pitchFamily="34" charset="0"/>
                  </a:rPr>
                  <a:t>课程</a:t>
                </a:r>
                <a:endParaRPr kumimoji="0" lang="zh-CN" altLang="en-US" sz="3200">
                  <a:latin typeface="Arial" panose="020B0604020202020204" pitchFamily="34" charset="0"/>
                </a:endParaRPr>
              </a:p>
            </p:txBody>
          </p:sp>
          <p:sp>
            <p:nvSpPr>
              <p:cNvPr id="27656" name="Text Box 6"/>
              <p:cNvSpPr txBox="1">
                <a:spLocks noChangeArrowheads="1"/>
              </p:cNvSpPr>
              <p:nvPr/>
            </p:nvSpPr>
            <p:spPr bwMode="auto">
              <a:xfrm>
                <a:off x="3879" y="3203"/>
                <a:ext cx="816" cy="409"/>
              </a:xfrm>
              <a:prstGeom prst="rect">
                <a:avLst/>
              </a:prstGeom>
              <a:noFill/>
              <a:ln w="28575" algn="ctr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zh-CN" altLang="en-US" sz="3200">
                    <a:latin typeface="Arial" panose="020B0604020202020204" pitchFamily="34" charset="0"/>
                  </a:rPr>
                  <a:t>学生</a:t>
                </a:r>
                <a:endParaRPr kumimoji="0" lang="zh-CN" altLang="en-US" sz="3200">
                  <a:latin typeface="Arial" panose="020B0604020202020204" pitchFamily="34" charset="0"/>
                </a:endParaRPr>
              </a:p>
            </p:txBody>
          </p:sp>
          <p:sp>
            <p:nvSpPr>
              <p:cNvPr id="27657" name="Line 7"/>
              <p:cNvSpPr>
                <a:spLocks noChangeShapeType="1"/>
              </p:cNvSpPr>
              <p:nvPr/>
            </p:nvSpPr>
            <p:spPr bwMode="auto">
              <a:xfrm>
                <a:off x="1520" y="3384"/>
                <a:ext cx="235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58" name="AutoShape 8"/>
              <p:cNvSpPr>
                <a:spLocks noChangeArrowheads="1"/>
              </p:cNvSpPr>
              <p:nvPr/>
            </p:nvSpPr>
            <p:spPr bwMode="auto">
              <a:xfrm>
                <a:off x="2155" y="3113"/>
                <a:ext cx="1224" cy="546"/>
              </a:xfrm>
              <a:prstGeom prst="flowChartDecision">
                <a:avLst/>
              </a:prstGeom>
              <a:solidFill>
                <a:srgbClr val="FFFFFF"/>
              </a:solidFill>
              <a:ln w="28575" algn="ctr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fontAlgn="ctr" hangingPunct="1">
                  <a:lnSpc>
                    <a:spcPct val="8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zh-CN" altLang="en-US" sz="3200">
                    <a:latin typeface="Arial" panose="020B0604020202020204" pitchFamily="34" charset="0"/>
                    <a:cs typeface="Arial" panose="020B0604020202020204" pitchFamily="34" charset="0"/>
                  </a:rPr>
                  <a:t>选修</a:t>
                </a:r>
                <a:endParaRPr kumimoji="0" lang="zh-CN" altLang="en-US" sz="32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659" name="Text Box 9"/>
              <p:cNvSpPr txBox="1">
                <a:spLocks noChangeArrowheads="1"/>
              </p:cNvSpPr>
              <p:nvPr/>
            </p:nvSpPr>
            <p:spPr bwMode="auto">
              <a:xfrm>
                <a:off x="1791" y="3067"/>
                <a:ext cx="409" cy="4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3200">
                    <a:latin typeface="Arial" panose="020B0604020202020204" pitchFamily="34" charset="0"/>
                  </a:rPr>
                  <a:t>m</a:t>
                </a:r>
                <a:endParaRPr kumimoji="0" lang="en-US" altLang="zh-CN" sz="3200">
                  <a:latin typeface="Arial" panose="020B0604020202020204" pitchFamily="34" charset="0"/>
                </a:endParaRPr>
              </a:p>
            </p:txBody>
          </p:sp>
          <p:sp>
            <p:nvSpPr>
              <p:cNvPr id="27660" name="Text Box 10"/>
              <p:cNvSpPr txBox="1">
                <a:spLocks noChangeArrowheads="1"/>
              </p:cNvSpPr>
              <p:nvPr/>
            </p:nvSpPr>
            <p:spPr bwMode="auto">
              <a:xfrm>
                <a:off x="3244" y="3067"/>
                <a:ext cx="590" cy="4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3200">
                    <a:latin typeface="Arial" panose="020B0604020202020204" pitchFamily="34" charset="0"/>
                  </a:rPr>
                  <a:t>n</a:t>
                </a:r>
                <a:endParaRPr kumimoji="0" lang="en-US" altLang="zh-CN" sz="3200">
                  <a:latin typeface="Arial" panose="020B0604020202020204" pitchFamily="34" charset="0"/>
                </a:endParaRPr>
              </a:p>
            </p:txBody>
          </p:sp>
          <p:sp>
            <p:nvSpPr>
              <p:cNvPr id="27661" name="Oval 11"/>
              <p:cNvSpPr>
                <a:spLocks noChangeArrowheads="1"/>
              </p:cNvSpPr>
              <p:nvPr/>
            </p:nvSpPr>
            <p:spPr bwMode="auto">
              <a:xfrm>
                <a:off x="2349" y="2204"/>
                <a:ext cx="816" cy="409"/>
              </a:xfrm>
              <a:prstGeom prst="ellipse">
                <a:avLst/>
              </a:prstGeom>
              <a:noFill/>
              <a:ln w="28575" algn="ctr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lnSpc>
                    <a:spcPct val="9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zh-CN" altLang="en-US" sz="3200">
                    <a:latin typeface="Arial" panose="020B0604020202020204" pitchFamily="34" charset="0"/>
                  </a:rPr>
                  <a:t>成绩</a:t>
                </a:r>
                <a:endParaRPr kumimoji="0" lang="zh-CN" altLang="en-US" sz="32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27654" name="直接连接符 13"/>
            <p:cNvCxnSpPr>
              <a:cxnSpLocks noChangeShapeType="1"/>
              <a:stCxn id="27661" idx="4"/>
              <a:endCxn id="27658" idx="0"/>
            </p:cNvCxnSpPr>
            <p:nvPr/>
          </p:nvCxnSpPr>
          <p:spPr bwMode="auto">
            <a:xfrm rot="16200000" flipH="1">
              <a:off x="4096685" y="4823455"/>
              <a:ext cx="793748" cy="17791"/>
            </a:xfrm>
            <a:prstGeom prst="lin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659812" cy="4206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smtClean="0"/>
              <a:t>例</a:t>
            </a:r>
            <a:r>
              <a:rPr lang="en-US" altLang="zh-CN" sz="3600" smtClean="0"/>
              <a:t>1 </a:t>
            </a:r>
            <a:r>
              <a:rPr lang="zh-CN" altLang="en-US" sz="3600" smtClean="0"/>
              <a:t>学生和课程之间的选</a:t>
            </a:r>
            <a:r>
              <a:rPr lang="zh-CN" altLang="en-US" sz="3600" smtClean="0"/>
              <a:t>修关系</a:t>
            </a:r>
            <a:endParaRPr lang="zh-CN" altLang="en-US" sz="3600" smtClean="0"/>
          </a:p>
        </p:txBody>
      </p:sp>
      <p:grpSp>
        <p:nvGrpSpPr>
          <p:cNvPr id="28675" name="Group 30"/>
          <p:cNvGrpSpPr/>
          <p:nvPr/>
        </p:nvGrpSpPr>
        <p:grpSpPr bwMode="auto">
          <a:xfrm>
            <a:off x="1619250" y="908050"/>
            <a:ext cx="5976938" cy="1871663"/>
            <a:chOff x="1202" y="391"/>
            <a:chExt cx="3492" cy="1179"/>
          </a:xfrm>
        </p:grpSpPr>
        <p:sp>
          <p:nvSpPr>
            <p:cNvPr id="28696" name="Rectangle 5"/>
            <p:cNvSpPr>
              <a:spLocks noChangeArrowheads="1"/>
            </p:cNvSpPr>
            <p:nvPr/>
          </p:nvSpPr>
          <p:spPr bwMode="auto">
            <a:xfrm>
              <a:off x="2562" y="1298"/>
              <a:ext cx="771" cy="2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学生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8697" name="Oval 6"/>
            <p:cNvSpPr>
              <a:spLocks noChangeArrowheads="1"/>
            </p:cNvSpPr>
            <p:nvPr/>
          </p:nvSpPr>
          <p:spPr bwMode="auto">
            <a:xfrm>
              <a:off x="1202" y="391"/>
              <a:ext cx="77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学号</a:t>
              </a:r>
              <a:endParaRPr lang="zh-CN" altLang="en-US" sz="2400"/>
            </a:p>
          </p:txBody>
        </p:sp>
        <p:sp>
          <p:nvSpPr>
            <p:cNvPr id="28698" name="Oval 7"/>
            <p:cNvSpPr>
              <a:spLocks noChangeArrowheads="1"/>
            </p:cNvSpPr>
            <p:nvPr/>
          </p:nvSpPr>
          <p:spPr bwMode="auto">
            <a:xfrm>
              <a:off x="2109" y="391"/>
              <a:ext cx="77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姓名</a:t>
              </a:r>
              <a:endParaRPr lang="zh-CN" altLang="en-US" sz="2400"/>
            </a:p>
          </p:txBody>
        </p:sp>
        <p:sp>
          <p:nvSpPr>
            <p:cNvPr id="28699" name="Oval 8"/>
            <p:cNvSpPr>
              <a:spLocks noChangeArrowheads="1"/>
            </p:cNvSpPr>
            <p:nvPr/>
          </p:nvSpPr>
          <p:spPr bwMode="auto">
            <a:xfrm>
              <a:off x="3016" y="391"/>
              <a:ext cx="77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性别</a:t>
              </a:r>
              <a:endParaRPr lang="zh-CN" altLang="en-US" sz="2400"/>
            </a:p>
          </p:txBody>
        </p:sp>
        <p:sp>
          <p:nvSpPr>
            <p:cNvPr id="28700" name="Oval 9"/>
            <p:cNvSpPr>
              <a:spLocks noChangeArrowheads="1"/>
            </p:cNvSpPr>
            <p:nvPr/>
          </p:nvSpPr>
          <p:spPr bwMode="auto">
            <a:xfrm>
              <a:off x="3923" y="391"/>
              <a:ext cx="77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年龄</a:t>
              </a:r>
              <a:endParaRPr lang="zh-CN" altLang="en-US" sz="2400"/>
            </a:p>
          </p:txBody>
        </p:sp>
        <p:sp>
          <p:nvSpPr>
            <p:cNvPr id="28701" name="Line 10"/>
            <p:cNvSpPr>
              <a:spLocks noChangeShapeType="1"/>
            </p:cNvSpPr>
            <p:nvPr/>
          </p:nvSpPr>
          <p:spPr bwMode="auto">
            <a:xfrm>
              <a:off x="1701" y="799"/>
              <a:ext cx="1224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Line 11"/>
            <p:cNvSpPr>
              <a:spLocks noChangeShapeType="1"/>
            </p:cNvSpPr>
            <p:nvPr/>
          </p:nvSpPr>
          <p:spPr bwMode="auto">
            <a:xfrm>
              <a:off x="2517" y="799"/>
              <a:ext cx="408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12"/>
            <p:cNvSpPr>
              <a:spLocks noChangeShapeType="1"/>
            </p:cNvSpPr>
            <p:nvPr/>
          </p:nvSpPr>
          <p:spPr bwMode="auto">
            <a:xfrm flipH="1">
              <a:off x="2925" y="799"/>
              <a:ext cx="499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4" name="Line 13"/>
            <p:cNvSpPr>
              <a:spLocks noChangeShapeType="1"/>
            </p:cNvSpPr>
            <p:nvPr/>
          </p:nvSpPr>
          <p:spPr bwMode="auto">
            <a:xfrm flipH="1">
              <a:off x="2925" y="799"/>
              <a:ext cx="1407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5" name="Line 14"/>
            <p:cNvSpPr>
              <a:spLocks noChangeShapeType="1"/>
            </p:cNvSpPr>
            <p:nvPr/>
          </p:nvSpPr>
          <p:spPr bwMode="auto">
            <a:xfrm>
              <a:off x="1429" y="709"/>
              <a:ext cx="31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676" name="Group 15"/>
          <p:cNvGrpSpPr/>
          <p:nvPr/>
        </p:nvGrpSpPr>
        <p:grpSpPr bwMode="auto">
          <a:xfrm>
            <a:off x="1979613" y="4508500"/>
            <a:ext cx="5329237" cy="1944688"/>
            <a:chOff x="1429" y="2478"/>
            <a:chExt cx="3129" cy="1225"/>
          </a:xfrm>
        </p:grpSpPr>
        <p:grpSp>
          <p:nvGrpSpPr>
            <p:cNvPr id="28687" name="Group 16"/>
            <p:cNvGrpSpPr/>
            <p:nvPr/>
          </p:nvGrpSpPr>
          <p:grpSpPr bwMode="auto">
            <a:xfrm>
              <a:off x="1429" y="2478"/>
              <a:ext cx="3129" cy="1225"/>
              <a:chOff x="1429" y="2478"/>
              <a:chExt cx="3129" cy="1225"/>
            </a:xfrm>
          </p:grpSpPr>
          <p:sp>
            <p:nvSpPr>
              <p:cNvPr id="28689" name="Rectangle 17"/>
              <p:cNvSpPr>
                <a:spLocks noChangeArrowheads="1"/>
              </p:cNvSpPr>
              <p:nvPr/>
            </p:nvSpPr>
            <p:spPr bwMode="auto">
              <a:xfrm>
                <a:off x="2608" y="247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2400">
                    <a:ea typeface="宋体" panose="02010600030101010101" pitchFamily="2" charset="-122"/>
                  </a:rPr>
                  <a:t>课程</a:t>
                </a: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8690" name="Oval 18"/>
              <p:cNvSpPr>
                <a:spLocks noChangeArrowheads="1"/>
              </p:cNvSpPr>
              <p:nvPr/>
            </p:nvSpPr>
            <p:spPr bwMode="auto">
              <a:xfrm>
                <a:off x="1429" y="3295"/>
                <a:ext cx="952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2400"/>
                  <a:t>课程代码</a:t>
                </a:r>
                <a:endParaRPr lang="zh-CN" altLang="en-US" sz="2400"/>
              </a:p>
            </p:txBody>
          </p:sp>
          <p:sp>
            <p:nvSpPr>
              <p:cNvPr id="28691" name="Line 19"/>
              <p:cNvSpPr>
                <a:spLocks noChangeShapeType="1"/>
              </p:cNvSpPr>
              <p:nvPr/>
            </p:nvSpPr>
            <p:spPr bwMode="auto">
              <a:xfrm flipV="1">
                <a:off x="2064" y="2751"/>
                <a:ext cx="907" cy="5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2" name="Line 20"/>
              <p:cNvSpPr>
                <a:spLocks noChangeShapeType="1"/>
              </p:cNvSpPr>
              <p:nvPr/>
            </p:nvSpPr>
            <p:spPr bwMode="auto">
              <a:xfrm flipH="1" flipV="1">
                <a:off x="2971" y="2751"/>
                <a:ext cx="1089" cy="5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3" name="Line 21"/>
              <p:cNvSpPr>
                <a:spLocks noChangeShapeType="1"/>
              </p:cNvSpPr>
              <p:nvPr/>
            </p:nvSpPr>
            <p:spPr bwMode="auto">
              <a:xfrm>
                <a:off x="2971" y="2751"/>
                <a:ext cx="0" cy="5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94" name="Oval 22"/>
              <p:cNvSpPr>
                <a:spLocks noChangeArrowheads="1"/>
              </p:cNvSpPr>
              <p:nvPr/>
            </p:nvSpPr>
            <p:spPr bwMode="auto">
              <a:xfrm>
                <a:off x="2526" y="3294"/>
                <a:ext cx="952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2400"/>
                  <a:t>课程名称</a:t>
                </a:r>
                <a:endParaRPr lang="zh-CN" altLang="en-US" sz="2400"/>
              </a:p>
            </p:txBody>
          </p:sp>
          <p:sp>
            <p:nvSpPr>
              <p:cNvPr id="28695" name="Oval 23"/>
              <p:cNvSpPr>
                <a:spLocks noChangeArrowheads="1"/>
              </p:cNvSpPr>
              <p:nvPr/>
            </p:nvSpPr>
            <p:spPr bwMode="auto">
              <a:xfrm>
                <a:off x="3606" y="3294"/>
                <a:ext cx="952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2400"/>
                  <a:t>任课教师</a:t>
                </a:r>
                <a:endParaRPr lang="zh-CN" altLang="en-US" sz="2400"/>
              </a:p>
            </p:txBody>
          </p:sp>
        </p:grpSp>
        <p:sp>
          <p:nvSpPr>
            <p:cNvPr id="28688" name="Line 24"/>
            <p:cNvSpPr>
              <a:spLocks noChangeShapeType="1"/>
            </p:cNvSpPr>
            <p:nvPr/>
          </p:nvSpPr>
          <p:spPr bwMode="auto">
            <a:xfrm>
              <a:off x="1565" y="3612"/>
              <a:ext cx="7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677" name="Group 37"/>
          <p:cNvGrpSpPr/>
          <p:nvPr/>
        </p:nvGrpSpPr>
        <p:grpSpPr bwMode="auto">
          <a:xfrm>
            <a:off x="3635375" y="2779713"/>
            <a:ext cx="3975100" cy="1728787"/>
            <a:chOff x="2290" y="1751"/>
            <a:chExt cx="2504" cy="1089"/>
          </a:xfrm>
        </p:grpSpPr>
        <p:grpSp>
          <p:nvGrpSpPr>
            <p:cNvPr id="28678" name="Group 34"/>
            <p:cNvGrpSpPr/>
            <p:nvPr/>
          </p:nvGrpSpPr>
          <p:grpSpPr bwMode="auto">
            <a:xfrm>
              <a:off x="2290" y="1751"/>
              <a:ext cx="2504" cy="1089"/>
              <a:chOff x="2381" y="1434"/>
              <a:chExt cx="2413" cy="1089"/>
            </a:xfrm>
          </p:grpSpPr>
          <p:sp>
            <p:nvSpPr>
              <p:cNvPr id="28681" name="Line 26"/>
              <p:cNvSpPr>
                <a:spLocks noChangeShapeType="1"/>
              </p:cNvSpPr>
              <p:nvPr/>
            </p:nvSpPr>
            <p:spPr bwMode="auto">
              <a:xfrm flipV="1">
                <a:off x="2943" y="1434"/>
                <a:ext cx="0" cy="3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682" name="Line 27"/>
              <p:cNvSpPr>
                <a:spLocks noChangeShapeType="1"/>
              </p:cNvSpPr>
              <p:nvPr/>
            </p:nvSpPr>
            <p:spPr bwMode="auto">
              <a:xfrm>
                <a:off x="2953" y="2205"/>
                <a:ext cx="0" cy="3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683" name="Group 31"/>
              <p:cNvGrpSpPr/>
              <p:nvPr/>
            </p:nvGrpSpPr>
            <p:grpSpPr bwMode="auto">
              <a:xfrm>
                <a:off x="2381" y="1751"/>
                <a:ext cx="2413" cy="454"/>
                <a:chOff x="2381" y="1887"/>
                <a:chExt cx="2413" cy="454"/>
              </a:xfrm>
            </p:grpSpPr>
            <p:sp>
              <p:nvSpPr>
                <p:cNvPr id="28684" name="AutoShape 25"/>
                <p:cNvSpPr>
                  <a:spLocks noChangeArrowheads="1"/>
                </p:cNvSpPr>
                <p:nvPr/>
              </p:nvSpPr>
              <p:spPr bwMode="auto">
                <a:xfrm>
                  <a:off x="2381" y="1887"/>
                  <a:ext cx="1134" cy="454"/>
                </a:xfrm>
                <a:prstGeom prst="diamond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2400"/>
                    <a:t>选修</a:t>
                  </a:r>
                  <a:endParaRPr lang="zh-CN" altLang="en-US" sz="2400"/>
                </a:p>
              </p:txBody>
            </p:sp>
            <p:sp>
              <p:nvSpPr>
                <p:cNvPr id="28685" name="Oval 28"/>
                <p:cNvSpPr>
                  <a:spLocks noChangeArrowheads="1"/>
                </p:cNvSpPr>
                <p:nvPr/>
              </p:nvSpPr>
              <p:spPr bwMode="auto">
                <a:xfrm>
                  <a:off x="4023" y="1906"/>
                  <a:ext cx="771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2400"/>
                    <a:t>成绩</a:t>
                  </a:r>
                  <a:endParaRPr lang="zh-CN" altLang="en-US" sz="2400"/>
                </a:p>
              </p:txBody>
            </p:sp>
            <p:sp>
              <p:nvSpPr>
                <p:cNvPr id="28686" name="Line 29"/>
                <p:cNvSpPr>
                  <a:spLocks noChangeShapeType="1"/>
                </p:cNvSpPr>
                <p:nvPr/>
              </p:nvSpPr>
              <p:spPr bwMode="auto">
                <a:xfrm>
                  <a:off x="3515" y="2115"/>
                  <a:ext cx="499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8679" name="Text Box 35"/>
            <p:cNvSpPr txBox="1">
              <a:spLocks noChangeArrowheads="1"/>
            </p:cNvSpPr>
            <p:nvPr/>
          </p:nvSpPr>
          <p:spPr bwMode="auto">
            <a:xfrm>
              <a:off x="2925" y="2523"/>
              <a:ext cx="2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m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  <p:sp>
          <p:nvSpPr>
            <p:cNvPr id="28680" name="Text Box 36"/>
            <p:cNvSpPr txBox="1">
              <a:spLocks noChangeArrowheads="1"/>
            </p:cNvSpPr>
            <p:nvPr/>
          </p:nvSpPr>
          <p:spPr bwMode="auto">
            <a:xfrm>
              <a:off x="2925" y="1842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n</a:t>
              </a:r>
              <a:endParaRPr lang="en-US" altLang="zh-CN" sz="1800" b="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659812" cy="381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smtClean="0"/>
              <a:t>例</a:t>
            </a:r>
            <a:r>
              <a:rPr lang="en-US" altLang="zh-CN" sz="3600" smtClean="0"/>
              <a:t>2 </a:t>
            </a:r>
            <a:r>
              <a:rPr lang="zh-CN" altLang="en-US" sz="3600" smtClean="0"/>
              <a:t>观众和座位之间的看</a:t>
            </a:r>
            <a:r>
              <a:rPr lang="zh-CN" altLang="en-US" sz="3600" smtClean="0"/>
              <a:t>电影关系</a:t>
            </a:r>
            <a:endParaRPr lang="zh-CN" altLang="en-US" sz="3600" smtClean="0"/>
          </a:p>
        </p:txBody>
      </p:sp>
      <p:sp>
        <p:nvSpPr>
          <p:cNvPr id="29713" name="Rectangle 4"/>
          <p:cNvSpPr>
            <a:spLocks noChangeArrowheads="1"/>
          </p:cNvSpPr>
          <p:nvPr/>
        </p:nvSpPr>
        <p:spPr bwMode="auto">
          <a:xfrm>
            <a:off x="3776345" y="2533650"/>
            <a:ext cx="1440815" cy="41465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观众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29714" name="Oval 5"/>
          <p:cNvSpPr>
            <a:spLocks noChangeArrowheads="1"/>
          </p:cNvSpPr>
          <p:nvPr/>
        </p:nvSpPr>
        <p:spPr bwMode="auto">
          <a:xfrm>
            <a:off x="1617980" y="1149985"/>
            <a:ext cx="1781175" cy="6223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zh-CN" altLang="en-US" sz="2400"/>
              <a:t>身份证号</a:t>
            </a:r>
            <a:endParaRPr lang="zh-CN" altLang="en-US" sz="2400"/>
          </a:p>
        </p:txBody>
      </p:sp>
      <p:sp>
        <p:nvSpPr>
          <p:cNvPr id="29715" name="Oval 6"/>
          <p:cNvSpPr>
            <a:spLocks noChangeArrowheads="1"/>
          </p:cNvSpPr>
          <p:nvPr/>
        </p:nvSpPr>
        <p:spPr bwMode="auto">
          <a:xfrm>
            <a:off x="3739515" y="1149985"/>
            <a:ext cx="1440815" cy="6223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zh-CN" altLang="en-US" sz="2400"/>
              <a:t>姓名</a:t>
            </a:r>
            <a:endParaRPr lang="zh-CN" altLang="en-US" sz="2400"/>
          </a:p>
        </p:txBody>
      </p:sp>
      <p:sp>
        <p:nvSpPr>
          <p:cNvPr id="29716" name="Oval 7"/>
          <p:cNvSpPr>
            <a:spLocks noChangeArrowheads="1"/>
          </p:cNvSpPr>
          <p:nvPr/>
        </p:nvSpPr>
        <p:spPr bwMode="auto">
          <a:xfrm>
            <a:off x="5434965" y="1149985"/>
            <a:ext cx="1440815" cy="62230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zh-CN" altLang="en-US" sz="2400"/>
              <a:t>性别</a:t>
            </a:r>
            <a:endParaRPr lang="zh-CN" altLang="en-US" sz="2400"/>
          </a:p>
        </p:txBody>
      </p:sp>
      <p:sp>
        <p:nvSpPr>
          <p:cNvPr id="29717" name="Line 9"/>
          <p:cNvSpPr>
            <a:spLocks noChangeShapeType="1"/>
          </p:cNvSpPr>
          <p:nvPr/>
        </p:nvSpPr>
        <p:spPr bwMode="auto">
          <a:xfrm>
            <a:off x="2496820" y="1774190"/>
            <a:ext cx="1958340" cy="75946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8" name="Line 10"/>
          <p:cNvSpPr>
            <a:spLocks noChangeShapeType="1"/>
          </p:cNvSpPr>
          <p:nvPr/>
        </p:nvSpPr>
        <p:spPr bwMode="auto">
          <a:xfrm>
            <a:off x="4370705" y="1772285"/>
            <a:ext cx="83820" cy="76136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Line 11"/>
          <p:cNvSpPr>
            <a:spLocks noChangeShapeType="1"/>
          </p:cNvSpPr>
          <p:nvPr/>
        </p:nvSpPr>
        <p:spPr bwMode="auto">
          <a:xfrm flipH="1">
            <a:off x="4455160" y="1776730"/>
            <a:ext cx="1628140" cy="75692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0" name="Line 13"/>
          <p:cNvSpPr>
            <a:spLocks noChangeShapeType="1"/>
          </p:cNvSpPr>
          <p:nvPr/>
        </p:nvSpPr>
        <p:spPr bwMode="auto">
          <a:xfrm>
            <a:off x="1788160" y="1633855"/>
            <a:ext cx="135699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700" name="Group 35"/>
          <p:cNvGrpSpPr/>
          <p:nvPr/>
        </p:nvGrpSpPr>
        <p:grpSpPr bwMode="auto">
          <a:xfrm>
            <a:off x="3491865" y="2945448"/>
            <a:ext cx="4470400" cy="1662112"/>
            <a:chOff x="2381" y="1843"/>
            <a:chExt cx="2585" cy="1089"/>
          </a:xfrm>
        </p:grpSpPr>
        <p:sp>
          <p:nvSpPr>
            <p:cNvPr id="29708" name="Line 19"/>
            <p:cNvSpPr>
              <a:spLocks noChangeShapeType="1"/>
            </p:cNvSpPr>
            <p:nvPr/>
          </p:nvSpPr>
          <p:spPr bwMode="auto">
            <a:xfrm flipH="1" flipV="1">
              <a:off x="3515" y="2387"/>
              <a:ext cx="63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9" name="Oval 22"/>
            <p:cNvSpPr>
              <a:spLocks noChangeArrowheads="1"/>
            </p:cNvSpPr>
            <p:nvPr/>
          </p:nvSpPr>
          <p:spPr bwMode="auto">
            <a:xfrm>
              <a:off x="4150" y="2160"/>
              <a:ext cx="816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时间</a:t>
              </a:r>
              <a:endParaRPr lang="zh-CN" altLang="en-US" sz="2400"/>
            </a:p>
          </p:txBody>
        </p:sp>
        <p:sp>
          <p:nvSpPr>
            <p:cNvPr id="29710" name="Line 24"/>
            <p:cNvSpPr>
              <a:spLocks noChangeShapeType="1"/>
            </p:cNvSpPr>
            <p:nvPr/>
          </p:nvSpPr>
          <p:spPr bwMode="auto">
            <a:xfrm flipV="1">
              <a:off x="2943" y="1843"/>
              <a:ext cx="0" cy="3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1" name="Line 25"/>
            <p:cNvSpPr>
              <a:spLocks noChangeShapeType="1"/>
            </p:cNvSpPr>
            <p:nvPr/>
          </p:nvSpPr>
          <p:spPr bwMode="auto">
            <a:xfrm>
              <a:off x="2953" y="2614"/>
              <a:ext cx="0" cy="31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12" name="AutoShape 27"/>
            <p:cNvSpPr>
              <a:spLocks noChangeArrowheads="1"/>
            </p:cNvSpPr>
            <p:nvPr/>
          </p:nvSpPr>
          <p:spPr bwMode="auto">
            <a:xfrm>
              <a:off x="2381" y="2160"/>
              <a:ext cx="1134" cy="454"/>
            </a:xfrm>
            <a:prstGeom prst="diamond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看电影</a:t>
              </a:r>
              <a:endParaRPr lang="zh-CN" altLang="en-US" sz="2400"/>
            </a:p>
          </p:txBody>
        </p:sp>
      </p:grpSp>
      <p:grpSp>
        <p:nvGrpSpPr>
          <p:cNvPr id="29701" name="Group 34"/>
          <p:cNvGrpSpPr/>
          <p:nvPr/>
        </p:nvGrpSpPr>
        <p:grpSpPr bwMode="auto">
          <a:xfrm>
            <a:off x="2712403" y="4591685"/>
            <a:ext cx="3370262" cy="1660525"/>
            <a:chOff x="1883" y="2932"/>
            <a:chExt cx="1949" cy="1088"/>
          </a:xfrm>
        </p:grpSpPr>
        <p:sp>
          <p:nvSpPr>
            <p:cNvPr id="29702" name="Rectangle 16"/>
            <p:cNvSpPr>
              <a:spLocks noChangeArrowheads="1"/>
            </p:cNvSpPr>
            <p:nvPr/>
          </p:nvSpPr>
          <p:spPr bwMode="auto">
            <a:xfrm>
              <a:off x="2563" y="2932"/>
              <a:ext cx="771" cy="2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座位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9703" name="Line 20"/>
            <p:cNvSpPr>
              <a:spLocks noChangeShapeType="1"/>
            </p:cNvSpPr>
            <p:nvPr/>
          </p:nvSpPr>
          <p:spPr bwMode="auto">
            <a:xfrm flipH="1">
              <a:off x="2426" y="3203"/>
              <a:ext cx="363" cy="4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Oval 21"/>
            <p:cNvSpPr>
              <a:spLocks noChangeArrowheads="1"/>
            </p:cNvSpPr>
            <p:nvPr/>
          </p:nvSpPr>
          <p:spPr bwMode="auto">
            <a:xfrm>
              <a:off x="1883" y="3612"/>
              <a:ext cx="952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座位号</a:t>
              </a:r>
              <a:endParaRPr lang="zh-CN" altLang="en-US" sz="2400"/>
            </a:p>
          </p:txBody>
        </p:sp>
        <p:sp>
          <p:nvSpPr>
            <p:cNvPr id="29705" name="Line 23"/>
            <p:cNvSpPr>
              <a:spLocks noChangeShapeType="1"/>
            </p:cNvSpPr>
            <p:nvPr/>
          </p:nvSpPr>
          <p:spPr bwMode="auto">
            <a:xfrm>
              <a:off x="2055" y="3921"/>
              <a:ext cx="590" cy="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Oval 28"/>
            <p:cNvSpPr>
              <a:spLocks noChangeArrowheads="1"/>
            </p:cNvSpPr>
            <p:nvPr/>
          </p:nvSpPr>
          <p:spPr bwMode="auto">
            <a:xfrm>
              <a:off x="3061" y="3612"/>
              <a:ext cx="77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影院</a:t>
              </a:r>
              <a:endParaRPr lang="zh-CN" altLang="en-US" sz="2400"/>
            </a:p>
          </p:txBody>
        </p:sp>
        <p:sp>
          <p:nvSpPr>
            <p:cNvPr id="29707" name="Line 29"/>
            <p:cNvSpPr>
              <a:spLocks noChangeShapeType="1"/>
            </p:cNvSpPr>
            <p:nvPr/>
          </p:nvSpPr>
          <p:spPr bwMode="auto">
            <a:xfrm flipH="1" flipV="1">
              <a:off x="3061" y="3203"/>
              <a:ext cx="409" cy="4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680" name="Text Box 36"/>
          <p:cNvSpPr txBox="1">
            <a:spLocks noChangeArrowheads="1"/>
          </p:cNvSpPr>
          <p:nvPr/>
        </p:nvSpPr>
        <p:spPr bwMode="auto">
          <a:xfrm>
            <a:off x="4642803" y="3015615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n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  <p:sp>
        <p:nvSpPr>
          <p:cNvPr id="2" name="Text Box 36"/>
          <p:cNvSpPr txBox="1">
            <a:spLocks noChangeArrowheads="1"/>
          </p:cNvSpPr>
          <p:nvPr/>
        </p:nvSpPr>
        <p:spPr bwMode="auto">
          <a:xfrm>
            <a:off x="4642803" y="4091940"/>
            <a:ext cx="287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m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22425" y="1149985"/>
            <a:ext cx="5257165" cy="1797685"/>
            <a:chOff x="2556" y="1780"/>
            <a:chExt cx="8279" cy="2831"/>
          </a:xfrm>
        </p:grpSpPr>
        <p:sp>
          <p:nvSpPr>
            <p:cNvPr id="3" name="Rectangle 4"/>
            <p:cNvSpPr>
              <a:spLocks noChangeArrowheads="1"/>
            </p:cNvSpPr>
            <p:nvPr/>
          </p:nvSpPr>
          <p:spPr bwMode="auto">
            <a:xfrm>
              <a:off x="5955" y="3959"/>
              <a:ext cx="2269" cy="653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观众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4" name="Oval 5"/>
            <p:cNvSpPr>
              <a:spLocks noChangeArrowheads="1"/>
            </p:cNvSpPr>
            <p:nvPr/>
          </p:nvSpPr>
          <p:spPr bwMode="auto">
            <a:xfrm>
              <a:off x="2556" y="1780"/>
              <a:ext cx="2805" cy="98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身份证号</a:t>
              </a:r>
              <a:endParaRPr lang="zh-CN" altLang="en-US" sz="2400"/>
            </a:p>
          </p:txBody>
        </p:sp>
        <p:sp>
          <p:nvSpPr>
            <p:cNvPr id="5" name="Oval 6"/>
            <p:cNvSpPr>
              <a:spLocks noChangeArrowheads="1"/>
            </p:cNvSpPr>
            <p:nvPr/>
          </p:nvSpPr>
          <p:spPr bwMode="auto">
            <a:xfrm>
              <a:off x="5897" y="1780"/>
              <a:ext cx="2269" cy="98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姓名</a:t>
              </a:r>
              <a:endParaRPr lang="zh-CN" altLang="en-US" sz="2400"/>
            </a:p>
          </p:txBody>
        </p:sp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8567" y="1780"/>
              <a:ext cx="2269" cy="98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性别</a:t>
              </a:r>
              <a:endParaRPr lang="zh-CN" altLang="en-US" sz="2400"/>
            </a:p>
          </p:txBody>
        </p:sp>
        <p:sp>
          <p:nvSpPr>
            <p:cNvPr id="7" name="Line 9"/>
            <p:cNvSpPr>
              <a:spLocks noChangeShapeType="1"/>
            </p:cNvSpPr>
            <p:nvPr/>
          </p:nvSpPr>
          <p:spPr bwMode="auto">
            <a:xfrm>
              <a:off x="3940" y="2763"/>
              <a:ext cx="3084" cy="11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0"/>
            <p:cNvSpPr>
              <a:spLocks noChangeShapeType="1"/>
            </p:cNvSpPr>
            <p:nvPr/>
          </p:nvSpPr>
          <p:spPr bwMode="auto">
            <a:xfrm>
              <a:off x="6891" y="2760"/>
              <a:ext cx="132" cy="11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 flipH="1">
              <a:off x="7024" y="2767"/>
              <a:ext cx="2564" cy="119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2824" y="2542"/>
              <a:ext cx="21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659812" cy="381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smtClean="0"/>
              <a:t>例</a:t>
            </a:r>
            <a:r>
              <a:rPr lang="en-US" altLang="zh-CN" sz="3600" smtClean="0"/>
              <a:t>3 </a:t>
            </a:r>
            <a:r>
              <a:rPr lang="zh-CN" altLang="en-US" sz="3600" smtClean="0"/>
              <a:t>学生和学员队之间的</a:t>
            </a:r>
            <a:r>
              <a:rPr lang="zh-CN" altLang="en-US" sz="3600" smtClean="0"/>
              <a:t>组成关系</a:t>
            </a:r>
            <a:endParaRPr lang="zh-CN" altLang="en-US" sz="3600" smtClean="0"/>
          </a:p>
        </p:txBody>
      </p:sp>
      <p:grpSp>
        <p:nvGrpSpPr>
          <p:cNvPr id="30723" name="Group 26"/>
          <p:cNvGrpSpPr/>
          <p:nvPr/>
        </p:nvGrpSpPr>
        <p:grpSpPr bwMode="auto">
          <a:xfrm>
            <a:off x="1782763" y="1054100"/>
            <a:ext cx="5021262" cy="1871663"/>
            <a:chOff x="1429" y="255"/>
            <a:chExt cx="2676" cy="1179"/>
          </a:xfrm>
        </p:grpSpPr>
        <p:sp>
          <p:nvSpPr>
            <p:cNvPr id="30735" name="Rectangle 4"/>
            <p:cNvSpPr>
              <a:spLocks noChangeArrowheads="1"/>
            </p:cNvSpPr>
            <p:nvPr/>
          </p:nvSpPr>
          <p:spPr bwMode="auto">
            <a:xfrm>
              <a:off x="2562" y="1162"/>
              <a:ext cx="771" cy="2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学生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30736" name="Oval 5"/>
            <p:cNvSpPr>
              <a:spLocks noChangeArrowheads="1"/>
            </p:cNvSpPr>
            <p:nvPr/>
          </p:nvSpPr>
          <p:spPr bwMode="auto">
            <a:xfrm>
              <a:off x="1429" y="255"/>
              <a:ext cx="816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学号</a:t>
              </a:r>
              <a:endParaRPr lang="zh-CN" altLang="en-US" sz="2400"/>
            </a:p>
          </p:txBody>
        </p:sp>
        <p:sp>
          <p:nvSpPr>
            <p:cNvPr id="30737" name="Oval 6"/>
            <p:cNvSpPr>
              <a:spLocks noChangeArrowheads="1"/>
            </p:cNvSpPr>
            <p:nvPr/>
          </p:nvSpPr>
          <p:spPr bwMode="auto">
            <a:xfrm>
              <a:off x="2427" y="255"/>
              <a:ext cx="77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姓名</a:t>
              </a:r>
              <a:endParaRPr lang="zh-CN" altLang="en-US" sz="2400"/>
            </a:p>
          </p:txBody>
        </p:sp>
        <p:sp>
          <p:nvSpPr>
            <p:cNvPr id="30738" name="Oval 7"/>
            <p:cNvSpPr>
              <a:spLocks noChangeArrowheads="1"/>
            </p:cNvSpPr>
            <p:nvPr/>
          </p:nvSpPr>
          <p:spPr bwMode="auto">
            <a:xfrm>
              <a:off x="3334" y="255"/>
              <a:ext cx="771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专业</a:t>
              </a:r>
              <a:endParaRPr lang="zh-CN" altLang="en-US" sz="2400"/>
            </a:p>
          </p:txBody>
        </p:sp>
        <p:sp>
          <p:nvSpPr>
            <p:cNvPr id="30739" name="Line 8"/>
            <p:cNvSpPr>
              <a:spLocks noChangeShapeType="1"/>
            </p:cNvSpPr>
            <p:nvPr/>
          </p:nvSpPr>
          <p:spPr bwMode="auto">
            <a:xfrm>
              <a:off x="1701" y="663"/>
              <a:ext cx="1224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0" name="Line 9"/>
            <p:cNvSpPr>
              <a:spLocks noChangeShapeType="1"/>
            </p:cNvSpPr>
            <p:nvPr/>
          </p:nvSpPr>
          <p:spPr bwMode="auto">
            <a:xfrm>
              <a:off x="2880" y="663"/>
              <a:ext cx="45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1" name="Line 10"/>
            <p:cNvSpPr>
              <a:spLocks noChangeShapeType="1"/>
            </p:cNvSpPr>
            <p:nvPr/>
          </p:nvSpPr>
          <p:spPr bwMode="auto">
            <a:xfrm flipH="1">
              <a:off x="2925" y="663"/>
              <a:ext cx="771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2" name="Line 11"/>
            <p:cNvSpPr>
              <a:spLocks noChangeShapeType="1"/>
            </p:cNvSpPr>
            <p:nvPr/>
          </p:nvSpPr>
          <p:spPr bwMode="auto">
            <a:xfrm>
              <a:off x="1610" y="572"/>
              <a:ext cx="45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24" name="Group 27"/>
          <p:cNvGrpSpPr/>
          <p:nvPr/>
        </p:nvGrpSpPr>
        <p:grpSpPr bwMode="auto">
          <a:xfrm>
            <a:off x="2268538" y="4654550"/>
            <a:ext cx="4464050" cy="1943100"/>
            <a:chOff x="1701" y="2523"/>
            <a:chExt cx="2358" cy="1224"/>
          </a:xfrm>
        </p:grpSpPr>
        <p:sp>
          <p:nvSpPr>
            <p:cNvPr id="30729" name="Rectangle 13"/>
            <p:cNvSpPr>
              <a:spLocks noChangeArrowheads="1"/>
            </p:cNvSpPr>
            <p:nvPr/>
          </p:nvSpPr>
          <p:spPr bwMode="auto">
            <a:xfrm>
              <a:off x="2563" y="2523"/>
              <a:ext cx="771" cy="27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>
                  <a:ea typeface="宋体" panose="02010600030101010101" pitchFamily="2" charset="-122"/>
                </a:rPr>
                <a:t>学员队</a:t>
              </a: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30730" name="Line 14"/>
            <p:cNvSpPr>
              <a:spLocks noChangeShapeType="1"/>
            </p:cNvSpPr>
            <p:nvPr/>
          </p:nvSpPr>
          <p:spPr bwMode="auto">
            <a:xfrm flipH="1">
              <a:off x="2245" y="2796"/>
              <a:ext cx="681" cy="54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Oval 15"/>
            <p:cNvSpPr>
              <a:spLocks noChangeArrowheads="1"/>
            </p:cNvSpPr>
            <p:nvPr/>
          </p:nvSpPr>
          <p:spPr bwMode="auto">
            <a:xfrm>
              <a:off x="1701" y="3339"/>
              <a:ext cx="952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队别号</a:t>
              </a:r>
              <a:endParaRPr lang="zh-CN" altLang="en-US" sz="2400"/>
            </a:p>
          </p:txBody>
        </p:sp>
        <p:sp>
          <p:nvSpPr>
            <p:cNvPr id="30732" name="Line 16"/>
            <p:cNvSpPr>
              <a:spLocks noChangeShapeType="1"/>
            </p:cNvSpPr>
            <p:nvPr/>
          </p:nvSpPr>
          <p:spPr bwMode="auto">
            <a:xfrm flipV="1">
              <a:off x="1907" y="3667"/>
              <a:ext cx="509" cy="1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Line 18"/>
            <p:cNvSpPr>
              <a:spLocks noChangeShapeType="1"/>
            </p:cNvSpPr>
            <p:nvPr/>
          </p:nvSpPr>
          <p:spPr bwMode="auto">
            <a:xfrm flipH="1" flipV="1">
              <a:off x="3016" y="2795"/>
              <a:ext cx="590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4" name="Oval 19"/>
            <p:cNvSpPr>
              <a:spLocks noChangeArrowheads="1"/>
            </p:cNvSpPr>
            <p:nvPr/>
          </p:nvSpPr>
          <p:spPr bwMode="auto">
            <a:xfrm>
              <a:off x="3243" y="3294"/>
              <a:ext cx="816" cy="40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学院</a:t>
              </a:r>
              <a:endParaRPr lang="zh-CN" altLang="en-US" sz="2400"/>
            </a:p>
          </p:txBody>
        </p:sp>
      </p:grpSp>
      <p:grpSp>
        <p:nvGrpSpPr>
          <p:cNvPr id="30725" name="Group 28"/>
          <p:cNvGrpSpPr/>
          <p:nvPr/>
        </p:nvGrpSpPr>
        <p:grpSpPr bwMode="auto">
          <a:xfrm>
            <a:off x="3563303" y="2926398"/>
            <a:ext cx="2232025" cy="1728787"/>
            <a:chOff x="2381" y="1434"/>
            <a:chExt cx="1134" cy="1089"/>
          </a:xfrm>
        </p:grpSpPr>
        <p:sp>
          <p:nvSpPr>
            <p:cNvPr id="30726" name="Line 20"/>
            <p:cNvSpPr>
              <a:spLocks noChangeShapeType="1"/>
            </p:cNvSpPr>
            <p:nvPr/>
          </p:nvSpPr>
          <p:spPr bwMode="auto">
            <a:xfrm flipV="1">
              <a:off x="2943" y="1434"/>
              <a:ext cx="0" cy="31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7" name="Line 21"/>
            <p:cNvSpPr>
              <a:spLocks noChangeShapeType="1"/>
            </p:cNvSpPr>
            <p:nvPr/>
          </p:nvSpPr>
          <p:spPr bwMode="auto">
            <a:xfrm>
              <a:off x="2953" y="2205"/>
              <a:ext cx="0" cy="31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28" name="AutoShape 22"/>
            <p:cNvSpPr>
              <a:spLocks noChangeArrowheads="1"/>
            </p:cNvSpPr>
            <p:nvPr/>
          </p:nvSpPr>
          <p:spPr bwMode="auto">
            <a:xfrm>
              <a:off x="2381" y="1751"/>
              <a:ext cx="1134" cy="454"/>
            </a:xfrm>
            <a:prstGeom prst="diamond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400"/>
                <a:t>组成</a:t>
              </a:r>
              <a:endParaRPr lang="zh-CN" altLang="en-US" sz="2400"/>
            </a:p>
          </p:txBody>
        </p:sp>
      </p:grpSp>
      <p:sp>
        <p:nvSpPr>
          <p:cNvPr id="28680" name="Text Box 36"/>
          <p:cNvSpPr txBox="1">
            <a:spLocks noChangeArrowheads="1"/>
          </p:cNvSpPr>
          <p:nvPr/>
        </p:nvSpPr>
        <p:spPr bwMode="auto">
          <a:xfrm>
            <a:off x="4858703" y="2995930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n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  <p:sp>
        <p:nvSpPr>
          <p:cNvPr id="2" name="Text Box 36"/>
          <p:cNvSpPr txBox="1">
            <a:spLocks noChangeArrowheads="1"/>
          </p:cNvSpPr>
          <p:nvPr/>
        </p:nvSpPr>
        <p:spPr bwMode="auto">
          <a:xfrm>
            <a:off x="4858703" y="4144010"/>
            <a:ext cx="287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1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584200"/>
          </a:xfrm>
        </p:spPr>
        <p:txBody>
          <a:bodyPr/>
          <a:p>
            <a:r>
              <a:rPr lang="zh-CN" altLang="en-US" sz="3200"/>
              <a:t>学生选修课程案例是否存在问题？</a:t>
            </a:r>
            <a:endParaRPr lang="zh-CN" altLang="en-US" sz="3200"/>
          </a:p>
          <a:p>
            <a:endParaRPr lang="zh-CN" altLang="en-US" sz="3200"/>
          </a:p>
        </p:txBody>
      </p:sp>
      <p:grpSp>
        <p:nvGrpSpPr>
          <p:cNvPr id="4" name="组合 3"/>
          <p:cNvGrpSpPr/>
          <p:nvPr/>
        </p:nvGrpSpPr>
        <p:grpSpPr>
          <a:xfrm>
            <a:off x="445770" y="2239645"/>
            <a:ext cx="4330700" cy="3406775"/>
            <a:chOff x="956" y="2650"/>
            <a:chExt cx="6820" cy="5365"/>
          </a:xfrm>
        </p:grpSpPr>
        <p:grpSp>
          <p:nvGrpSpPr>
            <p:cNvPr id="28675" name="Group 30"/>
            <p:cNvGrpSpPr/>
            <p:nvPr/>
          </p:nvGrpSpPr>
          <p:grpSpPr bwMode="auto">
            <a:xfrm>
              <a:off x="956" y="2650"/>
              <a:ext cx="6716" cy="1805"/>
              <a:chOff x="1202" y="391"/>
              <a:chExt cx="3492" cy="1179"/>
            </a:xfrm>
          </p:grpSpPr>
          <p:sp>
            <p:nvSpPr>
              <p:cNvPr id="28696" name="Rectangle 5"/>
              <p:cNvSpPr>
                <a:spLocks noChangeArrowheads="1"/>
              </p:cNvSpPr>
              <p:nvPr/>
            </p:nvSpPr>
            <p:spPr bwMode="auto">
              <a:xfrm>
                <a:off x="2562" y="129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学生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8697" name="Oval 6"/>
              <p:cNvSpPr>
                <a:spLocks noChangeArrowheads="1"/>
              </p:cNvSpPr>
              <p:nvPr/>
            </p:nvSpPr>
            <p:spPr bwMode="auto">
              <a:xfrm>
                <a:off x="1202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学号</a:t>
                </a:r>
                <a:endParaRPr lang="zh-CN" altLang="en-US" sz="1800"/>
              </a:p>
            </p:txBody>
          </p:sp>
          <p:sp>
            <p:nvSpPr>
              <p:cNvPr id="28698" name="Oval 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28699" name="Oval 8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28700" name="Oval 9"/>
              <p:cNvSpPr>
                <a:spLocks noChangeArrowheads="1"/>
              </p:cNvSpPr>
              <p:nvPr/>
            </p:nvSpPr>
            <p:spPr bwMode="auto">
              <a:xfrm>
                <a:off x="3923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年龄</a:t>
                </a:r>
                <a:endParaRPr lang="zh-CN" altLang="en-US" sz="1800"/>
              </a:p>
            </p:txBody>
          </p:sp>
          <p:sp>
            <p:nvSpPr>
              <p:cNvPr id="28701" name="Line 10"/>
              <p:cNvSpPr>
                <a:spLocks noChangeShapeType="1"/>
              </p:cNvSpPr>
              <p:nvPr/>
            </p:nvSpPr>
            <p:spPr bwMode="auto">
              <a:xfrm>
                <a:off x="1701" y="799"/>
                <a:ext cx="122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Line 11"/>
              <p:cNvSpPr>
                <a:spLocks noChangeShapeType="1"/>
              </p:cNvSpPr>
              <p:nvPr/>
            </p:nvSpPr>
            <p:spPr bwMode="auto">
              <a:xfrm>
                <a:off x="2517" y="799"/>
                <a:ext cx="408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3" name="Line 12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499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4" name="Line 13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1407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14"/>
              <p:cNvSpPr>
                <a:spLocks noChangeShapeType="1"/>
              </p:cNvSpPr>
              <p:nvPr/>
            </p:nvSpPr>
            <p:spPr bwMode="auto">
              <a:xfrm>
                <a:off x="1429" y="709"/>
                <a:ext cx="31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6" name="Group 15"/>
            <p:cNvGrpSpPr/>
            <p:nvPr/>
          </p:nvGrpSpPr>
          <p:grpSpPr bwMode="auto">
            <a:xfrm>
              <a:off x="1376" y="6143"/>
              <a:ext cx="5988" cy="1873"/>
              <a:chOff x="1429" y="2478"/>
              <a:chExt cx="3129" cy="1225"/>
            </a:xfrm>
          </p:grpSpPr>
          <p:grpSp>
            <p:nvGrpSpPr>
              <p:cNvPr id="28687" name="Group 16"/>
              <p:cNvGrpSpPr/>
              <p:nvPr/>
            </p:nvGrpSpPr>
            <p:grpSpPr bwMode="auto">
              <a:xfrm>
                <a:off x="1429" y="2478"/>
                <a:ext cx="3129" cy="1225"/>
                <a:chOff x="1429" y="2478"/>
                <a:chExt cx="3129" cy="1225"/>
              </a:xfrm>
            </p:grpSpPr>
            <p:sp>
              <p:nvSpPr>
                <p:cNvPr id="28689" name="Rectangle 17"/>
                <p:cNvSpPr>
                  <a:spLocks noChangeArrowheads="1"/>
                </p:cNvSpPr>
                <p:nvPr/>
              </p:nvSpPr>
              <p:spPr bwMode="auto">
                <a:xfrm>
                  <a:off x="2608" y="2478"/>
                  <a:ext cx="771" cy="2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课程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690" name="Oval 18"/>
                <p:cNvSpPr>
                  <a:spLocks noChangeArrowheads="1"/>
                </p:cNvSpPr>
                <p:nvPr/>
              </p:nvSpPr>
              <p:spPr bwMode="auto">
                <a:xfrm>
                  <a:off x="1429" y="3295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课程代码</a:t>
                  </a:r>
                  <a:endParaRPr lang="zh-CN" altLang="en-US" sz="1800"/>
                </a:p>
              </p:txBody>
            </p:sp>
            <p:sp>
              <p:nvSpPr>
                <p:cNvPr id="2869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064" y="2751"/>
                  <a:ext cx="907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2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971" y="2751"/>
                  <a:ext cx="1089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3" name="Line 21"/>
                <p:cNvSpPr>
                  <a:spLocks noChangeShapeType="1"/>
                </p:cNvSpPr>
                <p:nvPr/>
              </p:nvSpPr>
              <p:spPr bwMode="auto">
                <a:xfrm>
                  <a:off x="2971" y="2751"/>
                  <a:ext cx="0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4" name="Oval 22"/>
                <p:cNvSpPr>
                  <a:spLocks noChangeArrowheads="1"/>
                </p:cNvSpPr>
                <p:nvPr/>
              </p:nvSpPr>
              <p:spPr bwMode="auto">
                <a:xfrm>
                  <a:off x="252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课程名称</a:t>
                  </a:r>
                  <a:endParaRPr lang="zh-CN" altLang="en-US" sz="1800"/>
                </a:p>
              </p:txBody>
            </p:sp>
            <p:sp>
              <p:nvSpPr>
                <p:cNvPr id="28695" name="Oval 23"/>
                <p:cNvSpPr>
                  <a:spLocks noChangeArrowheads="1"/>
                </p:cNvSpPr>
                <p:nvPr/>
              </p:nvSpPr>
              <p:spPr bwMode="auto">
                <a:xfrm>
                  <a:off x="360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任课教师</a:t>
                  </a:r>
                  <a:endParaRPr lang="zh-CN" altLang="en-US" sz="1800"/>
                </a:p>
              </p:txBody>
            </p:sp>
          </p:grpSp>
          <p:sp>
            <p:nvSpPr>
              <p:cNvPr id="28688" name="Line 24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7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7" name="Group 37"/>
            <p:cNvGrpSpPr/>
            <p:nvPr/>
          </p:nvGrpSpPr>
          <p:grpSpPr bwMode="auto">
            <a:xfrm>
              <a:off x="3310" y="4467"/>
              <a:ext cx="4467" cy="1666"/>
              <a:chOff x="2290" y="1751"/>
              <a:chExt cx="2504" cy="1089"/>
            </a:xfrm>
          </p:grpSpPr>
          <p:grpSp>
            <p:nvGrpSpPr>
              <p:cNvPr id="28678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28681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82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8683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2868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选修</a:t>
                    </a:r>
                    <a:endParaRPr lang="zh-CN" altLang="en-US" sz="1800"/>
                  </a:p>
                </p:txBody>
              </p:sp>
              <p:sp>
                <p:nvSpPr>
                  <p:cNvPr id="2868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成绩</a:t>
                    </a:r>
                    <a:endParaRPr lang="zh-CN" altLang="en-US" sz="1800"/>
                  </a:p>
                </p:txBody>
              </p:sp>
              <p:sp>
                <p:nvSpPr>
                  <p:cNvPr id="2868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8679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m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  <p:sp>
            <p:nvSpPr>
              <p:cNvPr id="28680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" name="内容占位符 2"/>
          <p:cNvSpPr>
            <a:spLocks noGrp="1"/>
          </p:cNvSpPr>
          <p:nvPr/>
        </p:nvSpPr>
        <p:spPr>
          <a:xfrm>
            <a:off x="4860290" y="2924810"/>
            <a:ext cx="4186555" cy="998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0680" indent="-36068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096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26238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87960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7927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32499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7071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41643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</a:rPr>
              <a:t>一个学生能否两次选修同一门课程？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584200"/>
          </a:xfrm>
        </p:spPr>
        <p:txBody>
          <a:bodyPr/>
          <a:p>
            <a:r>
              <a:rPr lang="zh-CN" altLang="en-US" sz="3200"/>
              <a:t>观众选座位看</a:t>
            </a:r>
            <a:r>
              <a:rPr lang="zh-CN" altLang="en-US" sz="3200"/>
              <a:t>电影案例是否存在问题？</a:t>
            </a:r>
            <a:endParaRPr lang="zh-CN" altLang="en-US" sz="3200"/>
          </a:p>
          <a:p>
            <a:endParaRPr lang="zh-CN" altLang="en-US" sz="32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4860290" y="2924810"/>
            <a:ext cx="4147185" cy="998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0680" indent="-36068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096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26238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87960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7927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32499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7071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41643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</a:rPr>
              <a:t>一个观众能否两次在同一个座位上看</a:t>
            </a:r>
            <a:r>
              <a:rPr lang="zh-CN" altLang="en-US" sz="2800">
                <a:solidFill>
                  <a:srgbClr val="FF0000"/>
                </a:solidFill>
              </a:rPr>
              <a:t>电影？</a:t>
            </a:r>
            <a:endParaRPr lang="zh-CN" altLang="en-US" sz="2800">
              <a:solidFill>
                <a:srgbClr val="FF0000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04825" y="2459355"/>
            <a:ext cx="3950970" cy="3211830"/>
            <a:chOff x="795" y="3873"/>
            <a:chExt cx="6222" cy="5058"/>
          </a:xfrm>
        </p:grpSpPr>
        <p:sp>
          <p:nvSpPr>
            <p:cNvPr id="6" name="Text Box 36"/>
            <p:cNvSpPr txBox="1">
              <a:spLocks noChangeArrowheads="1"/>
            </p:cNvSpPr>
            <p:nvPr/>
          </p:nvSpPr>
          <p:spPr bwMode="auto">
            <a:xfrm>
              <a:off x="3938" y="5613"/>
              <a:ext cx="378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n</a:t>
              </a:r>
              <a:endParaRPr lang="en-US" altLang="zh-CN" sz="1400" b="0">
                <a:ea typeface="宋体" panose="02010600030101010101" pitchFamily="2" charset="-122"/>
              </a:endParaRPr>
            </a:p>
          </p:txBody>
        </p:sp>
        <p:sp>
          <p:nvSpPr>
            <p:cNvPr id="7" name="Text Box 36"/>
            <p:cNvSpPr txBox="1">
              <a:spLocks noChangeArrowheads="1"/>
            </p:cNvSpPr>
            <p:nvPr/>
          </p:nvSpPr>
          <p:spPr bwMode="auto">
            <a:xfrm>
              <a:off x="3903" y="6815"/>
              <a:ext cx="448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</a:t>
              </a:r>
              <a:endParaRPr lang="en-US" altLang="zh-CN" sz="1400" b="0">
                <a:ea typeface="宋体" panose="02010600030101010101" pitchFamily="2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795" y="3873"/>
              <a:ext cx="6223" cy="5058"/>
              <a:chOff x="773" y="2925"/>
              <a:chExt cx="6223" cy="5058"/>
            </a:xfrm>
          </p:grpSpPr>
          <p:sp>
            <p:nvSpPr>
              <p:cNvPr id="29708" name="Line 19"/>
              <p:cNvSpPr>
                <a:spLocks noChangeShapeType="1"/>
              </p:cNvSpPr>
              <p:nvPr/>
            </p:nvSpPr>
            <p:spPr bwMode="auto">
              <a:xfrm flipH="1" flipV="1">
                <a:off x="4768" y="5516"/>
                <a:ext cx="776" cy="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9" name="Oval 22"/>
              <p:cNvSpPr>
                <a:spLocks noChangeArrowheads="1"/>
              </p:cNvSpPr>
              <p:nvPr/>
            </p:nvSpPr>
            <p:spPr bwMode="auto">
              <a:xfrm>
                <a:off x="5504" y="5215"/>
                <a:ext cx="1493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时间</a:t>
                </a:r>
                <a:endParaRPr lang="zh-CN" altLang="en-US" sz="1800"/>
              </a:p>
            </p:txBody>
          </p:sp>
          <p:sp>
            <p:nvSpPr>
              <p:cNvPr id="29710" name="Line 24"/>
              <p:cNvSpPr>
                <a:spLocks noChangeShapeType="1"/>
              </p:cNvSpPr>
              <p:nvPr/>
            </p:nvSpPr>
            <p:spPr bwMode="auto">
              <a:xfrm flipV="1">
                <a:off x="3722" y="469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1" name="Line 25"/>
              <p:cNvSpPr>
                <a:spLocks noChangeShapeType="1"/>
              </p:cNvSpPr>
              <p:nvPr/>
            </p:nvSpPr>
            <p:spPr bwMode="auto">
              <a:xfrm>
                <a:off x="3740" y="5859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2" name="AutoShape 27"/>
              <p:cNvSpPr>
                <a:spLocks noChangeArrowheads="1"/>
              </p:cNvSpPr>
              <p:nvPr/>
            </p:nvSpPr>
            <p:spPr bwMode="auto">
              <a:xfrm>
                <a:off x="2693" y="5173"/>
                <a:ext cx="2075" cy="686"/>
              </a:xfrm>
              <a:prstGeom prst="diamond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看电影</a:t>
                </a:r>
                <a:endParaRPr lang="zh-CN" altLang="en-US" sz="1800"/>
              </a:p>
            </p:txBody>
          </p:sp>
          <p:sp>
            <p:nvSpPr>
              <p:cNvPr id="29702" name="Rectangle 16"/>
              <p:cNvSpPr>
                <a:spLocks noChangeArrowheads="1"/>
              </p:cNvSpPr>
              <p:nvPr/>
            </p:nvSpPr>
            <p:spPr bwMode="auto">
              <a:xfrm>
                <a:off x="3035" y="6339"/>
                <a:ext cx="1411" cy="411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座位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9703" name="Line 20"/>
              <p:cNvSpPr>
                <a:spLocks noChangeShapeType="1"/>
              </p:cNvSpPr>
              <p:nvPr/>
            </p:nvSpPr>
            <p:spPr bwMode="auto">
              <a:xfrm flipH="1">
                <a:off x="2785" y="6748"/>
                <a:ext cx="664" cy="6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4" name="Oval 21"/>
              <p:cNvSpPr>
                <a:spLocks noChangeArrowheads="1"/>
              </p:cNvSpPr>
              <p:nvPr/>
            </p:nvSpPr>
            <p:spPr bwMode="auto">
              <a:xfrm>
                <a:off x="1791" y="7367"/>
                <a:ext cx="1742" cy="61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座位号</a:t>
                </a:r>
                <a:endParaRPr lang="zh-CN" altLang="en-US" sz="1800"/>
              </a:p>
            </p:txBody>
          </p:sp>
          <p:sp>
            <p:nvSpPr>
              <p:cNvPr id="29705" name="Line 23"/>
              <p:cNvSpPr>
                <a:spLocks noChangeShapeType="1"/>
              </p:cNvSpPr>
              <p:nvPr/>
            </p:nvSpPr>
            <p:spPr bwMode="auto">
              <a:xfrm>
                <a:off x="2106" y="7833"/>
                <a:ext cx="1079" cy="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6" name="Oval 28"/>
              <p:cNvSpPr>
                <a:spLocks noChangeArrowheads="1"/>
              </p:cNvSpPr>
              <p:nvPr/>
            </p:nvSpPr>
            <p:spPr bwMode="auto">
              <a:xfrm>
                <a:off x="3946" y="7367"/>
                <a:ext cx="1411" cy="61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影院</a:t>
                </a:r>
                <a:endParaRPr lang="zh-CN" altLang="en-US" sz="1800"/>
              </a:p>
            </p:txBody>
          </p:sp>
          <p:sp>
            <p:nvSpPr>
              <p:cNvPr id="29707" name="Line 29"/>
              <p:cNvSpPr>
                <a:spLocks noChangeShapeType="1"/>
              </p:cNvSpPr>
              <p:nvPr/>
            </p:nvSpPr>
            <p:spPr bwMode="auto">
              <a:xfrm flipH="1" flipV="1">
                <a:off x="3946" y="6748"/>
                <a:ext cx="748" cy="6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3057" y="4294"/>
                <a:ext cx="1525" cy="410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观众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" name="Oval 5"/>
              <p:cNvSpPr>
                <a:spLocks noChangeArrowheads="1"/>
              </p:cNvSpPr>
              <p:nvPr/>
            </p:nvSpPr>
            <p:spPr bwMode="auto">
              <a:xfrm>
                <a:off x="773" y="2925"/>
                <a:ext cx="1885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身份证号</a:t>
                </a:r>
                <a:endParaRPr lang="zh-CN" altLang="en-US" sz="1800"/>
              </a:p>
            </p:txBody>
          </p:sp>
          <p:sp>
            <p:nvSpPr>
              <p:cNvPr id="10" name="Oval 6"/>
              <p:cNvSpPr>
                <a:spLocks noChangeArrowheads="1"/>
              </p:cNvSpPr>
              <p:nvPr/>
            </p:nvSpPr>
            <p:spPr bwMode="auto">
              <a:xfrm>
                <a:off x="3018" y="2925"/>
                <a:ext cx="1525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12" name="Oval 7"/>
              <p:cNvSpPr>
                <a:spLocks noChangeArrowheads="1"/>
              </p:cNvSpPr>
              <p:nvPr/>
            </p:nvSpPr>
            <p:spPr bwMode="auto">
              <a:xfrm>
                <a:off x="4813" y="2925"/>
                <a:ext cx="1525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13" name="Line 9"/>
              <p:cNvSpPr>
                <a:spLocks noChangeShapeType="1"/>
              </p:cNvSpPr>
              <p:nvPr/>
            </p:nvSpPr>
            <p:spPr bwMode="auto">
              <a:xfrm>
                <a:off x="1703" y="3543"/>
                <a:ext cx="2073" cy="75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0"/>
              <p:cNvSpPr>
                <a:spLocks noChangeShapeType="1"/>
              </p:cNvSpPr>
              <p:nvPr/>
            </p:nvSpPr>
            <p:spPr bwMode="auto">
              <a:xfrm>
                <a:off x="3686" y="3541"/>
                <a:ext cx="89" cy="75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 flipH="1">
                <a:off x="3776" y="3545"/>
                <a:ext cx="1723" cy="74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>
                <a:off x="953" y="3404"/>
                <a:ext cx="143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问题：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1315085"/>
          </a:xfrm>
        </p:spPr>
        <p:txBody>
          <a:bodyPr/>
          <a:p>
            <a:r>
              <a:rPr lang="zh-CN" altLang="en-US" sz="3200"/>
              <a:t>上述案例存在问题的</a:t>
            </a:r>
            <a:r>
              <a:rPr lang="zh-CN" altLang="en-US" sz="3200"/>
              <a:t>原因？</a:t>
            </a:r>
            <a:endParaRPr lang="zh-CN" altLang="en-US" sz="3200"/>
          </a:p>
          <a:p>
            <a:pPr lvl="1"/>
            <a:r>
              <a:rPr lang="zh-CN" altLang="en-US" sz="2840"/>
              <a:t>实体之间的联系只能满足</a:t>
            </a:r>
            <a:r>
              <a:rPr lang="zh-CN" altLang="en-US" sz="2840">
                <a:solidFill>
                  <a:srgbClr val="FF0000"/>
                </a:solidFill>
              </a:rPr>
              <a:t>一次</a:t>
            </a:r>
            <a:r>
              <a:rPr lang="zh-CN" altLang="en-US" sz="2840"/>
              <a:t>对应</a:t>
            </a:r>
            <a:r>
              <a:rPr lang="zh-CN" altLang="en-US" sz="2840"/>
              <a:t>关系</a:t>
            </a:r>
            <a:endParaRPr lang="zh-CN" altLang="en-US" sz="2840"/>
          </a:p>
        </p:txBody>
      </p:sp>
      <p:grpSp>
        <p:nvGrpSpPr>
          <p:cNvPr id="18" name="组合 17"/>
          <p:cNvGrpSpPr/>
          <p:nvPr/>
        </p:nvGrpSpPr>
        <p:grpSpPr>
          <a:xfrm>
            <a:off x="4777740" y="2702560"/>
            <a:ext cx="4057032" cy="3280410"/>
            <a:chOff x="7524" y="4256"/>
            <a:chExt cx="6223" cy="5058"/>
          </a:xfrm>
        </p:grpSpPr>
        <p:grpSp>
          <p:nvGrpSpPr>
            <p:cNvPr id="4" name="组合 3"/>
            <p:cNvGrpSpPr/>
            <p:nvPr/>
          </p:nvGrpSpPr>
          <p:grpSpPr>
            <a:xfrm>
              <a:off x="7524" y="4256"/>
              <a:ext cx="6223" cy="5058"/>
              <a:chOff x="773" y="2925"/>
              <a:chExt cx="6223" cy="5058"/>
            </a:xfrm>
          </p:grpSpPr>
          <p:sp>
            <p:nvSpPr>
              <p:cNvPr id="29708" name="Line 19"/>
              <p:cNvSpPr>
                <a:spLocks noChangeShapeType="1"/>
              </p:cNvSpPr>
              <p:nvPr/>
            </p:nvSpPr>
            <p:spPr bwMode="auto">
              <a:xfrm flipH="1" flipV="1">
                <a:off x="4768" y="5516"/>
                <a:ext cx="776" cy="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9" name="Oval 22"/>
              <p:cNvSpPr>
                <a:spLocks noChangeArrowheads="1"/>
              </p:cNvSpPr>
              <p:nvPr/>
            </p:nvSpPr>
            <p:spPr bwMode="auto">
              <a:xfrm>
                <a:off x="5504" y="5215"/>
                <a:ext cx="1493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时间</a:t>
                </a:r>
                <a:endParaRPr lang="zh-CN" altLang="en-US" sz="1800"/>
              </a:p>
            </p:txBody>
          </p:sp>
          <p:sp>
            <p:nvSpPr>
              <p:cNvPr id="29710" name="Line 24"/>
              <p:cNvSpPr>
                <a:spLocks noChangeShapeType="1"/>
              </p:cNvSpPr>
              <p:nvPr/>
            </p:nvSpPr>
            <p:spPr bwMode="auto">
              <a:xfrm flipV="1">
                <a:off x="3722" y="4694"/>
                <a:ext cx="0" cy="48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1" name="Line 25"/>
              <p:cNvSpPr>
                <a:spLocks noChangeShapeType="1"/>
              </p:cNvSpPr>
              <p:nvPr/>
            </p:nvSpPr>
            <p:spPr bwMode="auto">
              <a:xfrm>
                <a:off x="3740" y="5859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12" name="AutoShape 27"/>
              <p:cNvSpPr>
                <a:spLocks noChangeArrowheads="1"/>
              </p:cNvSpPr>
              <p:nvPr/>
            </p:nvSpPr>
            <p:spPr bwMode="auto">
              <a:xfrm>
                <a:off x="2693" y="5173"/>
                <a:ext cx="2075" cy="686"/>
              </a:xfrm>
              <a:prstGeom prst="diamond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看电影</a:t>
                </a:r>
                <a:endParaRPr lang="zh-CN" altLang="en-US" sz="1800"/>
              </a:p>
            </p:txBody>
          </p:sp>
          <p:sp>
            <p:nvSpPr>
              <p:cNvPr id="29702" name="Rectangle 16"/>
              <p:cNvSpPr>
                <a:spLocks noChangeArrowheads="1"/>
              </p:cNvSpPr>
              <p:nvPr/>
            </p:nvSpPr>
            <p:spPr bwMode="auto">
              <a:xfrm>
                <a:off x="3035" y="6339"/>
                <a:ext cx="1411" cy="411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座位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9703" name="Line 20"/>
              <p:cNvSpPr>
                <a:spLocks noChangeShapeType="1"/>
              </p:cNvSpPr>
              <p:nvPr/>
            </p:nvSpPr>
            <p:spPr bwMode="auto">
              <a:xfrm flipH="1">
                <a:off x="2785" y="6748"/>
                <a:ext cx="664" cy="6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4" name="Oval 21"/>
              <p:cNvSpPr>
                <a:spLocks noChangeArrowheads="1"/>
              </p:cNvSpPr>
              <p:nvPr/>
            </p:nvSpPr>
            <p:spPr bwMode="auto">
              <a:xfrm>
                <a:off x="1791" y="7367"/>
                <a:ext cx="1742" cy="61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座位号</a:t>
                </a:r>
                <a:endParaRPr lang="zh-CN" altLang="en-US" sz="1800"/>
              </a:p>
            </p:txBody>
          </p:sp>
          <p:sp>
            <p:nvSpPr>
              <p:cNvPr id="29705" name="Line 23"/>
              <p:cNvSpPr>
                <a:spLocks noChangeShapeType="1"/>
              </p:cNvSpPr>
              <p:nvPr/>
            </p:nvSpPr>
            <p:spPr bwMode="auto">
              <a:xfrm>
                <a:off x="2106" y="7833"/>
                <a:ext cx="1079" cy="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706" name="Oval 28"/>
              <p:cNvSpPr>
                <a:spLocks noChangeArrowheads="1"/>
              </p:cNvSpPr>
              <p:nvPr/>
            </p:nvSpPr>
            <p:spPr bwMode="auto">
              <a:xfrm>
                <a:off x="3946" y="7367"/>
                <a:ext cx="1411" cy="617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影院</a:t>
                </a:r>
                <a:endParaRPr lang="zh-CN" altLang="en-US" sz="1800"/>
              </a:p>
            </p:txBody>
          </p:sp>
          <p:sp>
            <p:nvSpPr>
              <p:cNvPr id="29707" name="Line 29"/>
              <p:cNvSpPr>
                <a:spLocks noChangeShapeType="1"/>
              </p:cNvSpPr>
              <p:nvPr/>
            </p:nvSpPr>
            <p:spPr bwMode="auto">
              <a:xfrm flipH="1" flipV="1">
                <a:off x="3946" y="6748"/>
                <a:ext cx="748" cy="6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Rectangle 4"/>
              <p:cNvSpPr>
                <a:spLocks noChangeArrowheads="1"/>
              </p:cNvSpPr>
              <p:nvPr/>
            </p:nvSpPr>
            <p:spPr bwMode="auto">
              <a:xfrm>
                <a:off x="3057" y="4294"/>
                <a:ext cx="1525" cy="410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观众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" name="Oval 5"/>
              <p:cNvSpPr>
                <a:spLocks noChangeArrowheads="1"/>
              </p:cNvSpPr>
              <p:nvPr/>
            </p:nvSpPr>
            <p:spPr bwMode="auto">
              <a:xfrm>
                <a:off x="773" y="2925"/>
                <a:ext cx="1885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身份证号</a:t>
                </a:r>
                <a:endParaRPr lang="zh-CN" altLang="en-US" sz="1800"/>
              </a:p>
            </p:txBody>
          </p:sp>
          <p:sp>
            <p:nvSpPr>
              <p:cNvPr id="10" name="Oval 6"/>
              <p:cNvSpPr>
                <a:spLocks noChangeArrowheads="1"/>
              </p:cNvSpPr>
              <p:nvPr/>
            </p:nvSpPr>
            <p:spPr bwMode="auto">
              <a:xfrm>
                <a:off x="3018" y="2925"/>
                <a:ext cx="1525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12" name="Oval 7"/>
              <p:cNvSpPr>
                <a:spLocks noChangeArrowheads="1"/>
              </p:cNvSpPr>
              <p:nvPr/>
            </p:nvSpPr>
            <p:spPr bwMode="auto">
              <a:xfrm>
                <a:off x="4813" y="2925"/>
                <a:ext cx="1525" cy="616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13" name="Line 9"/>
              <p:cNvSpPr>
                <a:spLocks noChangeShapeType="1"/>
              </p:cNvSpPr>
              <p:nvPr/>
            </p:nvSpPr>
            <p:spPr bwMode="auto">
              <a:xfrm>
                <a:off x="1703" y="3543"/>
                <a:ext cx="2073" cy="75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Line 10"/>
              <p:cNvSpPr>
                <a:spLocks noChangeShapeType="1"/>
              </p:cNvSpPr>
              <p:nvPr/>
            </p:nvSpPr>
            <p:spPr bwMode="auto">
              <a:xfrm>
                <a:off x="3686" y="3541"/>
                <a:ext cx="89" cy="75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 flipH="1">
                <a:off x="3776" y="3545"/>
                <a:ext cx="1723" cy="74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3"/>
              <p:cNvSpPr>
                <a:spLocks noChangeShapeType="1"/>
              </p:cNvSpPr>
              <p:nvPr/>
            </p:nvSpPr>
            <p:spPr bwMode="auto">
              <a:xfrm>
                <a:off x="953" y="3404"/>
                <a:ext cx="143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" name="Text Box 36"/>
            <p:cNvSpPr txBox="1">
              <a:spLocks noChangeArrowheads="1"/>
            </p:cNvSpPr>
            <p:nvPr/>
          </p:nvSpPr>
          <p:spPr bwMode="auto">
            <a:xfrm>
              <a:off x="10718" y="5963"/>
              <a:ext cx="378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n</a:t>
              </a:r>
              <a:endParaRPr lang="en-US" altLang="zh-CN" sz="1400" b="0">
                <a:ea typeface="宋体" panose="02010600030101010101" pitchFamily="2" charset="-122"/>
              </a:endParaRPr>
            </a:p>
          </p:txBody>
        </p:sp>
        <p:sp>
          <p:nvSpPr>
            <p:cNvPr id="17" name="Text Box 36"/>
            <p:cNvSpPr txBox="1">
              <a:spLocks noChangeArrowheads="1"/>
            </p:cNvSpPr>
            <p:nvPr/>
          </p:nvSpPr>
          <p:spPr bwMode="auto">
            <a:xfrm>
              <a:off x="10683" y="7165"/>
              <a:ext cx="448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>
                  <a:ea typeface="宋体" panose="02010600030101010101" pitchFamily="2" charset="-122"/>
                </a:rPr>
                <a:t>m</a:t>
              </a:r>
              <a:endParaRPr lang="en-US" altLang="zh-CN" sz="1400" b="0"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04165" y="2681605"/>
            <a:ext cx="4330700" cy="3406775"/>
            <a:chOff x="956" y="2650"/>
            <a:chExt cx="6820" cy="5365"/>
          </a:xfrm>
        </p:grpSpPr>
        <p:grpSp>
          <p:nvGrpSpPr>
            <p:cNvPr id="28675" name="Group 30"/>
            <p:cNvGrpSpPr/>
            <p:nvPr/>
          </p:nvGrpSpPr>
          <p:grpSpPr bwMode="auto">
            <a:xfrm>
              <a:off x="956" y="2650"/>
              <a:ext cx="6716" cy="1805"/>
              <a:chOff x="1202" y="391"/>
              <a:chExt cx="3492" cy="1179"/>
            </a:xfrm>
          </p:grpSpPr>
          <p:sp>
            <p:nvSpPr>
              <p:cNvPr id="28696" name="Rectangle 5"/>
              <p:cNvSpPr>
                <a:spLocks noChangeArrowheads="1"/>
              </p:cNvSpPr>
              <p:nvPr/>
            </p:nvSpPr>
            <p:spPr bwMode="auto">
              <a:xfrm>
                <a:off x="2562" y="129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学生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8697" name="Oval 6"/>
              <p:cNvSpPr>
                <a:spLocks noChangeArrowheads="1"/>
              </p:cNvSpPr>
              <p:nvPr/>
            </p:nvSpPr>
            <p:spPr bwMode="auto">
              <a:xfrm>
                <a:off x="1202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学号</a:t>
                </a:r>
                <a:endParaRPr lang="zh-CN" altLang="en-US" sz="1800"/>
              </a:p>
            </p:txBody>
          </p:sp>
          <p:sp>
            <p:nvSpPr>
              <p:cNvPr id="28698" name="Oval 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28699" name="Oval 8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28700" name="Oval 9"/>
              <p:cNvSpPr>
                <a:spLocks noChangeArrowheads="1"/>
              </p:cNvSpPr>
              <p:nvPr/>
            </p:nvSpPr>
            <p:spPr bwMode="auto">
              <a:xfrm>
                <a:off x="3923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年龄</a:t>
                </a:r>
                <a:endParaRPr lang="zh-CN" altLang="en-US" sz="1800"/>
              </a:p>
            </p:txBody>
          </p:sp>
          <p:sp>
            <p:nvSpPr>
              <p:cNvPr id="28701" name="Line 10"/>
              <p:cNvSpPr>
                <a:spLocks noChangeShapeType="1"/>
              </p:cNvSpPr>
              <p:nvPr/>
            </p:nvSpPr>
            <p:spPr bwMode="auto">
              <a:xfrm>
                <a:off x="1701" y="799"/>
                <a:ext cx="122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Line 11"/>
              <p:cNvSpPr>
                <a:spLocks noChangeShapeType="1"/>
              </p:cNvSpPr>
              <p:nvPr/>
            </p:nvSpPr>
            <p:spPr bwMode="auto">
              <a:xfrm>
                <a:off x="2517" y="799"/>
                <a:ext cx="408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3" name="Line 12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499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4" name="Line 13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1407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14"/>
              <p:cNvSpPr>
                <a:spLocks noChangeShapeType="1"/>
              </p:cNvSpPr>
              <p:nvPr/>
            </p:nvSpPr>
            <p:spPr bwMode="auto">
              <a:xfrm>
                <a:off x="1429" y="709"/>
                <a:ext cx="31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6" name="Group 15"/>
            <p:cNvGrpSpPr/>
            <p:nvPr/>
          </p:nvGrpSpPr>
          <p:grpSpPr bwMode="auto">
            <a:xfrm>
              <a:off x="1376" y="6143"/>
              <a:ext cx="5988" cy="1873"/>
              <a:chOff x="1429" y="2478"/>
              <a:chExt cx="3129" cy="1225"/>
            </a:xfrm>
          </p:grpSpPr>
          <p:grpSp>
            <p:nvGrpSpPr>
              <p:cNvPr id="28687" name="Group 16"/>
              <p:cNvGrpSpPr/>
              <p:nvPr/>
            </p:nvGrpSpPr>
            <p:grpSpPr bwMode="auto">
              <a:xfrm>
                <a:off x="1429" y="2478"/>
                <a:ext cx="3129" cy="1225"/>
                <a:chOff x="1429" y="2478"/>
                <a:chExt cx="3129" cy="1225"/>
              </a:xfrm>
            </p:grpSpPr>
            <p:sp>
              <p:nvSpPr>
                <p:cNvPr id="28689" name="Rectangle 17"/>
                <p:cNvSpPr>
                  <a:spLocks noChangeArrowheads="1"/>
                </p:cNvSpPr>
                <p:nvPr/>
              </p:nvSpPr>
              <p:spPr bwMode="auto">
                <a:xfrm>
                  <a:off x="2608" y="2478"/>
                  <a:ext cx="771" cy="2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课程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690" name="Oval 18"/>
                <p:cNvSpPr>
                  <a:spLocks noChangeArrowheads="1"/>
                </p:cNvSpPr>
                <p:nvPr/>
              </p:nvSpPr>
              <p:spPr bwMode="auto">
                <a:xfrm>
                  <a:off x="1429" y="3295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课程代码</a:t>
                  </a:r>
                  <a:endParaRPr lang="zh-CN" altLang="en-US" sz="1800"/>
                </a:p>
              </p:txBody>
            </p:sp>
            <p:sp>
              <p:nvSpPr>
                <p:cNvPr id="2869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064" y="2751"/>
                  <a:ext cx="907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2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971" y="2751"/>
                  <a:ext cx="1089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3" name="Line 21"/>
                <p:cNvSpPr>
                  <a:spLocks noChangeShapeType="1"/>
                </p:cNvSpPr>
                <p:nvPr/>
              </p:nvSpPr>
              <p:spPr bwMode="auto">
                <a:xfrm>
                  <a:off x="2971" y="2751"/>
                  <a:ext cx="0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4" name="Oval 22"/>
                <p:cNvSpPr>
                  <a:spLocks noChangeArrowheads="1"/>
                </p:cNvSpPr>
                <p:nvPr/>
              </p:nvSpPr>
              <p:spPr bwMode="auto">
                <a:xfrm>
                  <a:off x="252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课程名称</a:t>
                  </a:r>
                  <a:endParaRPr lang="zh-CN" altLang="en-US" sz="1800"/>
                </a:p>
              </p:txBody>
            </p:sp>
            <p:sp>
              <p:nvSpPr>
                <p:cNvPr id="28695" name="Oval 23"/>
                <p:cNvSpPr>
                  <a:spLocks noChangeArrowheads="1"/>
                </p:cNvSpPr>
                <p:nvPr/>
              </p:nvSpPr>
              <p:spPr bwMode="auto">
                <a:xfrm>
                  <a:off x="360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任课教师</a:t>
                  </a:r>
                  <a:endParaRPr lang="zh-CN" altLang="en-US" sz="1800"/>
                </a:p>
              </p:txBody>
            </p:sp>
          </p:grpSp>
          <p:sp>
            <p:nvSpPr>
              <p:cNvPr id="28688" name="Line 24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7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7" name="Group 37"/>
            <p:cNvGrpSpPr/>
            <p:nvPr/>
          </p:nvGrpSpPr>
          <p:grpSpPr bwMode="auto">
            <a:xfrm>
              <a:off x="3310" y="4467"/>
              <a:ext cx="4467" cy="1666"/>
              <a:chOff x="2290" y="1751"/>
              <a:chExt cx="2504" cy="1089"/>
            </a:xfrm>
          </p:grpSpPr>
          <p:grpSp>
            <p:nvGrpSpPr>
              <p:cNvPr id="28678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28681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82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8683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2868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选修</a:t>
                    </a:r>
                    <a:endParaRPr lang="zh-CN" altLang="en-US" sz="1800"/>
                  </a:p>
                </p:txBody>
              </p:sp>
              <p:sp>
                <p:nvSpPr>
                  <p:cNvPr id="2868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成绩</a:t>
                    </a:r>
                    <a:endParaRPr lang="zh-CN" altLang="en-US" sz="1800"/>
                  </a:p>
                </p:txBody>
              </p:sp>
              <p:sp>
                <p:nvSpPr>
                  <p:cNvPr id="2868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8679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m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  <p:sp>
            <p:nvSpPr>
              <p:cNvPr id="28680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解决</a:t>
            </a:r>
            <a:r>
              <a:rPr lang="zh-CN" altLang="en-US"/>
              <a:t>方案：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584200"/>
          </a:xfrm>
        </p:spPr>
        <p:txBody>
          <a:bodyPr/>
          <a:p>
            <a:r>
              <a:rPr lang="zh-CN" altLang="en-US" sz="3200"/>
              <a:t>从患者找医生看病的案例来</a:t>
            </a:r>
            <a:r>
              <a:rPr lang="zh-CN" altLang="en-US" sz="3200"/>
              <a:t>观察：</a:t>
            </a:r>
            <a:endParaRPr lang="zh-CN" altLang="en-US" sz="3200"/>
          </a:p>
          <a:p>
            <a:endParaRPr lang="zh-CN" altLang="en-US" sz="3200"/>
          </a:p>
        </p:txBody>
      </p:sp>
      <p:grpSp>
        <p:nvGrpSpPr>
          <p:cNvPr id="4" name="组合 3"/>
          <p:cNvGrpSpPr/>
          <p:nvPr/>
        </p:nvGrpSpPr>
        <p:grpSpPr>
          <a:xfrm>
            <a:off x="230505" y="1665605"/>
            <a:ext cx="4330700" cy="3406775"/>
            <a:chOff x="956" y="2650"/>
            <a:chExt cx="6820" cy="5365"/>
          </a:xfrm>
        </p:grpSpPr>
        <p:grpSp>
          <p:nvGrpSpPr>
            <p:cNvPr id="28675" name="Group 30"/>
            <p:cNvGrpSpPr/>
            <p:nvPr/>
          </p:nvGrpSpPr>
          <p:grpSpPr bwMode="auto">
            <a:xfrm>
              <a:off x="956" y="2650"/>
              <a:ext cx="6716" cy="1805"/>
              <a:chOff x="1202" y="391"/>
              <a:chExt cx="3492" cy="1179"/>
            </a:xfrm>
          </p:grpSpPr>
          <p:sp>
            <p:nvSpPr>
              <p:cNvPr id="28696" name="Rectangle 5"/>
              <p:cNvSpPr>
                <a:spLocks noChangeArrowheads="1"/>
              </p:cNvSpPr>
              <p:nvPr/>
            </p:nvSpPr>
            <p:spPr bwMode="auto">
              <a:xfrm>
                <a:off x="2562" y="129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患者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8697" name="Oval 6"/>
              <p:cNvSpPr>
                <a:spLocks noChangeArrowheads="1"/>
              </p:cNvSpPr>
              <p:nvPr/>
            </p:nvSpPr>
            <p:spPr bwMode="auto">
              <a:xfrm>
                <a:off x="1202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en-US" altLang="zh-CN" sz="1800"/>
                  <a:t>ID</a:t>
                </a:r>
                <a:r>
                  <a:rPr lang="zh-CN" altLang="en-US" sz="1800"/>
                  <a:t>号</a:t>
                </a:r>
                <a:endParaRPr lang="zh-CN" altLang="en-US" sz="1800"/>
              </a:p>
            </p:txBody>
          </p:sp>
          <p:sp>
            <p:nvSpPr>
              <p:cNvPr id="28698" name="Oval 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28699" name="Oval 8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28700" name="Oval 9"/>
              <p:cNvSpPr>
                <a:spLocks noChangeArrowheads="1"/>
              </p:cNvSpPr>
              <p:nvPr/>
            </p:nvSpPr>
            <p:spPr bwMode="auto">
              <a:xfrm>
                <a:off x="3923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年龄</a:t>
                </a:r>
                <a:endParaRPr lang="zh-CN" altLang="en-US" sz="1800"/>
              </a:p>
            </p:txBody>
          </p:sp>
          <p:sp>
            <p:nvSpPr>
              <p:cNvPr id="28701" name="Line 10"/>
              <p:cNvSpPr>
                <a:spLocks noChangeShapeType="1"/>
              </p:cNvSpPr>
              <p:nvPr/>
            </p:nvSpPr>
            <p:spPr bwMode="auto">
              <a:xfrm>
                <a:off x="1701" y="799"/>
                <a:ext cx="122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Line 11"/>
              <p:cNvSpPr>
                <a:spLocks noChangeShapeType="1"/>
              </p:cNvSpPr>
              <p:nvPr/>
            </p:nvSpPr>
            <p:spPr bwMode="auto">
              <a:xfrm>
                <a:off x="2517" y="799"/>
                <a:ext cx="408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3" name="Line 12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499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4" name="Line 13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1407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14"/>
              <p:cNvSpPr>
                <a:spLocks noChangeShapeType="1"/>
              </p:cNvSpPr>
              <p:nvPr/>
            </p:nvSpPr>
            <p:spPr bwMode="auto">
              <a:xfrm>
                <a:off x="1429" y="709"/>
                <a:ext cx="31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6" name="Group 15"/>
            <p:cNvGrpSpPr/>
            <p:nvPr/>
          </p:nvGrpSpPr>
          <p:grpSpPr bwMode="auto">
            <a:xfrm>
              <a:off x="1376" y="6143"/>
              <a:ext cx="5988" cy="1873"/>
              <a:chOff x="1429" y="2478"/>
              <a:chExt cx="3129" cy="1225"/>
            </a:xfrm>
          </p:grpSpPr>
          <p:grpSp>
            <p:nvGrpSpPr>
              <p:cNvPr id="28687" name="Group 16"/>
              <p:cNvGrpSpPr/>
              <p:nvPr/>
            </p:nvGrpSpPr>
            <p:grpSpPr bwMode="auto">
              <a:xfrm>
                <a:off x="1429" y="2478"/>
                <a:ext cx="3129" cy="1225"/>
                <a:chOff x="1429" y="2478"/>
                <a:chExt cx="3129" cy="1225"/>
              </a:xfrm>
            </p:grpSpPr>
            <p:sp>
              <p:nvSpPr>
                <p:cNvPr id="28689" name="Rectangle 17"/>
                <p:cNvSpPr>
                  <a:spLocks noChangeArrowheads="1"/>
                </p:cNvSpPr>
                <p:nvPr/>
              </p:nvSpPr>
              <p:spPr bwMode="auto">
                <a:xfrm>
                  <a:off x="2608" y="2478"/>
                  <a:ext cx="771" cy="2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医生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690" name="Oval 18"/>
                <p:cNvSpPr>
                  <a:spLocks noChangeArrowheads="1"/>
                </p:cNvSpPr>
                <p:nvPr/>
              </p:nvSpPr>
              <p:spPr bwMode="auto">
                <a:xfrm>
                  <a:off x="1429" y="3295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1800"/>
                    <a:t>ID</a:t>
                  </a:r>
                  <a:r>
                    <a:rPr lang="zh-CN" altLang="en-US" sz="1800"/>
                    <a:t>号</a:t>
                  </a:r>
                  <a:endParaRPr lang="zh-CN" altLang="en-US" sz="1800"/>
                </a:p>
              </p:txBody>
            </p:sp>
            <p:sp>
              <p:nvSpPr>
                <p:cNvPr id="2869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064" y="2751"/>
                  <a:ext cx="907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2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971" y="2751"/>
                  <a:ext cx="1089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3" name="Line 21"/>
                <p:cNvSpPr>
                  <a:spLocks noChangeShapeType="1"/>
                </p:cNvSpPr>
                <p:nvPr/>
              </p:nvSpPr>
              <p:spPr bwMode="auto">
                <a:xfrm>
                  <a:off x="2971" y="2751"/>
                  <a:ext cx="0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4" name="Oval 22"/>
                <p:cNvSpPr>
                  <a:spLocks noChangeArrowheads="1"/>
                </p:cNvSpPr>
                <p:nvPr/>
              </p:nvSpPr>
              <p:spPr bwMode="auto">
                <a:xfrm>
                  <a:off x="252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姓名</a:t>
                  </a:r>
                  <a:endParaRPr lang="zh-CN" altLang="en-US" sz="1800"/>
                </a:p>
              </p:txBody>
            </p:sp>
            <p:sp>
              <p:nvSpPr>
                <p:cNvPr id="28695" name="Oval 23"/>
                <p:cNvSpPr>
                  <a:spLocks noChangeArrowheads="1"/>
                </p:cNvSpPr>
                <p:nvPr/>
              </p:nvSpPr>
              <p:spPr bwMode="auto">
                <a:xfrm>
                  <a:off x="360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科室</a:t>
                  </a:r>
                  <a:endParaRPr lang="zh-CN" altLang="en-US" sz="1800"/>
                </a:p>
              </p:txBody>
            </p:sp>
          </p:grpSp>
          <p:sp>
            <p:nvSpPr>
              <p:cNvPr id="28688" name="Line 24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7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7" name="Group 37"/>
            <p:cNvGrpSpPr/>
            <p:nvPr/>
          </p:nvGrpSpPr>
          <p:grpSpPr bwMode="auto">
            <a:xfrm>
              <a:off x="3310" y="4467"/>
              <a:ext cx="4467" cy="1666"/>
              <a:chOff x="2290" y="1751"/>
              <a:chExt cx="2504" cy="1089"/>
            </a:xfrm>
          </p:grpSpPr>
          <p:grpSp>
            <p:nvGrpSpPr>
              <p:cNvPr id="28678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28681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82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8683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2868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看</a:t>
                    </a:r>
                    <a:r>
                      <a:rPr lang="zh-CN" altLang="en-US" sz="1800"/>
                      <a:t>病</a:t>
                    </a:r>
                    <a:endParaRPr lang="zh-CN" altLang="en-US" sz="1800"/>
                  </a:p>
                </p:txBody>
              </p:sp>
              <p:sp>
                <p:nvSpPr>
                  <p:cNvPr id="2868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病历</a:t>
                    </a:r>
                    <a:endParaRPr lang="zh-CN" altLang="en-US" sz="1800"/>
                  </a:p>
                </p:txBody>
              </p:sp>
              <p:sp>
                <p:nvSpPr>
                  <p:cNvPr id="2868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8679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m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  <p:sp>
            <p:nvSpPr>
              <p:cNvPr id="28680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" name="内容占位符 2"/>
          <p:cNvSpPr>
            <a:spLocks noGrp="1"/>
          </p:cNvSpPr>
          <p:nvPr/>
        </p:nvSpPr>
        <p:spPr>
          <a:xfrm>
            <a:off x="4787900" y="1556385"/>
            <a:ext cx="4147185" cy="21863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0680" indent="-36068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CC"/>
              </a:buClr>
              <a:buSzPct val="70000"/>
              <a:buFont typeface="Wingdings" panose="05000000000000000000" pitchFamily="2" charset="2"/>
              <a:buChar char="n"/>
              <a:defRPr sz="36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096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26238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87960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1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7927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32499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7071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4164330" indent="-228600" algn="l" rtl="0" fontAlgn="base">
              <a:spcBef>
                <a:spcPct val="20000"/>
              </a:spcBef>
              <a:spcAft>
                <a:spcPct val="0"/>
              </a:spcAft>
              <a:buSzPct val="130000"/>
              <a:buBlip>
                <a:blip r:embed="rId2"/>
              </a:buBlip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r>
              <a:rPr kumimoji="0" lang="zh-CN" altLang="en-US" sz="2800" kern="0"/>
              <a:t>一个患者只能找同一个医生</a:t>
            </a:r>
            <a:r>
              <a:rPr kumimoji="0" lang="zh-CN" altLang="en-US" sz="2800" kern="0">
                <a:solidFill>
                  <a:srgbClr val="FF0000"/>
                </a:solidFill>
              </a:rPr>
              <a:t>看一次病</a:t>
            </a:r>
            <a:r>
              <a:rPr kumimoji="0" lang="zh-CN" altLang="en-US" sz="2800" kern="0"/>
              <a:t>！！！</a:t>
            </a:r>
            <a:endParaRPr kumimoji="0" lang="zh-CN" altLang="en-US" sz="2800" kern="0"/>
          </a:p>
          <a:p>
            <a:endParaRPr kumimoji="0" lang="zh-CN" altLang="en-US" sz="2800" kern="0"/>
          </a:p>
          <a:p>
            <a:r>
              <a:rPr kumimoji="0" lang="zh-CN" altLang="en-US" sz="2800" kern="0"/>
              <a:t>我们</a:t>
            </a:r>
            <a:r>
              <a:rPr kumimoji="0" lang="zh-CN" altLang="en-US" sz="2800" kern="0">
                <a:solidFill>
                  <a:srgbClr val="FF0000"/>
                </a:solidFill>
              </a:rPr>
              <a:t>忽略</a:t>
            </a:r>
            <a:r>
              <a:rPr kumimoji="0" lang="zh-CN" altLang="en-US" sz="2800" kern="0"/>
              <a:t>了什么？</a:t>
            </a:r>
            <a:endParaRPr kumimoji="0" lang="zh-CN" altLang="en-US" sz="2800" kern="0"/>
          </a:p>
        </p:txBody>
      </p:sp>
      <p:graphicFrame>
        <p:nvGraphicFramePr>
          <p:cNvPr id="7" name="图示 6"/>
          <p:cNvGraphicFramePr/>
          <p:nvPr/>
        </p:nvGraphicFramePr>
        <p:xfrm>
          <a:off x="513080" y="5302250"/>
          <a:ext cx="8128000" cy="953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random/>
    <p:sndAc>
      <p:stSnd>
        <p:snd r:embed="rId8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解决</a:t>
            </a:r>
            <a:r>
              <a:rPr lang="zh-CN" altLang="en-US"/>
              <a:t>方案：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584200"/>
          </a:xfrm>
        </p:spPr>
        <p:txBody>
          <a:bodyPr/>
          <a:p>
            <a:r>
              <a:rPr lang="zh-CN" altLang="en-US" sz="3200"/>
              <a:t>从患者找医生看病的案例来</a:t>
            </a:r>
            <a:r>
              <a:rPr lang="zh-CN" altLang="en-US" sz="3200"/>
              <a:t>观察：</a:t>
            </a:r>
            <a:endParaRPr lang="zh-CN" altLang="en-US" sz="3200"/>
          </a:p>
          <a:p>
            <a:endParaRPr lang="zh-CN" altLang="en-US" sz="3200"/>
          </a:p>
        </p:txBody>
      </p:sp>
      <p:grpSp>
        <p:nvGrpSpPr>
          <p:cNvPr id="4" name="组合 3"/>
          <p:cNvGrpSpPr/>
          <p:nvPr/>
        </p:nvGrpSpPr>
        <p:grpSpPr>
          <a:xfrm>
            <a:off x="125095" y="2327275"/>
            <a:ext cx="3574939" cy="2982516"/>
            <a:chOff x="956" y="2650"/>
            <a:chExt cx="6821" cy="5366"/>
          </a:xfrm>
        </p:grpSpPr>
        <p:grpSp>
          <p:nvGrpSpPr>
            <p:cNvPr id="28675" name="Group 30"/>
            <p:cNvGrpSpPr/>
            <p:nvPr/>
          </p:nvGrpSpPr>
          <p:grpSpPr bwMode="auto">
            <a:xfrm>
              <a:off x="956" y="2650"/>
              <a:ext cx="6716" cy="1805"/>
              <a:chOff x="1202" y="391"/>
              <a:chExt cx="3492" cy="1179"/>
            </a:xfrm>
          </p:grpSpPr>
          <p:sp>
            <p:nvSpPr>
              <p:cNvPr id="28696" name="Rectangle 5"/>
              <p:cNvSpPr>
                <a:spLocks noChangeArrowheads="1"/>
              </p:cNvSpPr>
              <p:nvPr/>
            </p:nvSpPr>
            <p:spPr bwMode="auto">
              <a:xfrm>
                <a:off x="2562" y="129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患者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8697" name="Oval 6"/>
              <p:cNvSpPr>
                <a:spLocks noChangeArrowheads="1"/>
              </p:cNvSpPr>
              <p:nvPr/>
            </p:nvSpPr>
            <p:spPr bwMode="auto">
              <a:xfrm>
                <a:off x="1202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en-US" altLang="zh-CN" sz="1800"/>
                  <a:t>ID</a:t>
                </a:r>
                <a:r>
                  <a:rPr lang="zh-CN" altLang="en-US" sz="1800"/>
                  <a:t>号</a:t>
                </a:r>
                <a:endParaRPr lang="zh-CN" altLang="en-US" sz="1800"/>
              </a:p>
            </p:txBody>
          </p:sp>
          <p:sp>
            <p:nvSpPr>
              <p:cNvPr id="28698" name="Oval 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28699" name="Oval 8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28700" name="Oval 9"/>
              <p:cNvSpPr>
                <a:spLocks noChangeArrowheads="1"/>
              </p:cNvSpPr>
              <p:nvPr/>
            </p:nvSpPr>
            <p:spPr bwMode="auto">
              <a:xfrm>
                <a:off x="3923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年龄</a:t>
                </a:r>
                <a:endParaRPr lang="zh-CN" altLang="en-US" sz="1800"/>
              </a:p>
            </p:txBody>
          </p:sp>
          <p:sp>
            <p:nvSpPr>
              <p:cNvPr id="28701" name="Line 10"/>
              <p:cNvSpPr>
                <a:spLocks noChangeShapeType="1"/>
              </p:cNvSpPr>
              <p:nvPr/>
            </p:nvSpPr>
            <p:spPr bwMode="auto">
              <a:xfrm>
                <a:off x="1701" y="799"/>
                <a:ext cx="122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Line 11"/>
              <p:cNvSpPr>
                <a:spLocks noChangeShapeType="1"/>
              </p:cNvSpPr>
              <p:nvPr/>
            </p:nvSpPr>
            <p:spPr bwMode="auto">
              <a:xfrm>
                <a:off x="2517" y="799"/>
                <a:ext cx="408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3" name="Line 12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499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4" name="Line 13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1407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14"/>
              <p:cNvSpPr>
                <a:spLocks noChangeShapeType="1"/>
              </p:cNvSpPr>
              <p:nvPr/>
            </p:nvSpPr>
            <p:spPr bwMode="auto">
              <a:xfrm>
                <a:off x="1429" y="709"/>
                <a:ext cx="31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6" name="Group 15"/>
            <p:cNvGrpSpPr/>
            <p:nvPr/>
          </p:nvGrpSpPr>
          <p:grpSpPr bwMode="auto">
            <a:xfrm>
              <a:off x="1376" y="6143"/>
              <a:ext cx="5988" cy="1873"/>
              <a:chOff x="1429" y="2478"/>
              <a:chExt cx="3129" cy="1225"/>
            </a:xfrm>
          </p:grpSpPr>
          <p:grpSp>
            <p:nvGrpSpPr>
              <p:cNvPr id="28687" name="Group 16"/>
              <p:cNvGrpSpPr/>
              <p:nvPr/>
            </p:nvGrpSpPr>
            <p:grpSpPr bwMode="auto">
              <a:xfrm>
                <a:off x="1429" y="2478"/>
                <a:ext cx="3129" cy="1225"/>
                <a:chOff x="1429" y="2478"/>
                <a:chExt cx="3129" cy="1225"/>
              </a:xfrm>
            </p:grpSpPr>
            <p:sp>
              <p:nvSpPr>
                <p:cNvPr id="28689" name="Rectangle 17"/>
                <p:cNvSpPr>
                  <a:spLocks noChangeArrowheads="1"/>
                </p:cNvSpPr>
                <p:nvPr/>
              </p:nvSpPr>
              <p:spPr bwMode="auto">
                <a:xfrm>
                  <a:off x="2608" y="2478"/>
                  <a:ext cx="771" cy="2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医生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690" name="Oval 18"/>
                <p:cNvSpPr>
                  <a:spLocks noChangeArrowheads="1"/>
                </p:cNvSpPr>
                <p:nvPr/>
              </p:nvSpPr>
              <p:spPr bwMode="auto">
                <a:xfrm>
                  <a:off x="1429" y="3295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1800"/>
                    <a:t>ID</a:t>
                  </a:r>
                  <a:r>
                    <a:rPr lang="zh-CN" altLang="en-US" sz="1800"/>
                    <a:t>号</a:t>
                  </a:r>
                  <a:endParaRPr lang="zh-CN" altLang="en-US" sz="1800"/>
                </a:p>
              </p:txBody>
            </p:sp>
            <p:sp>
              <p:nvSpPr>
                <p:cNvPr id="2869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064" y="2751"/>
                  <a:ext cx="907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2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971" y="2751"/>
                  <a:ext cx="1089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3" name="Line 21"/>
                <p:cNvSpPr>
                  <a:spLocks noChangeShapeType="1"/>
                </p:cNvSpPr>
                <p:nvPr/>
              </p:nvSpPr>
              <p:spPr bwMode="auto">
                <a:xfrm>
                  <a:off x="2971" y="2751"/>
                  <a:ext cx="0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4" name="Oval 22"/>
                <p:cNvSpPr>
                  <a:spLocks noChangeArrowheads="1"/>
                </p:cNvSpPr>
                <p:nvPr/>
              </p:nvSpPr>
              <p:spPr bwMode="auto">
                <a:xfrm>
                  <a:off x="252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姓名</a:t>
                  </a:r>
                  <a:endParaRPr lang="zh-CN" altLang="en-US" sz="1800"/>
                </a:p>
              </p:txBody>
            </p:sp>
            <p:sp>
              <p:nvSpPr>
                <p:cNvPr id="28695" name="Oval 23"/>
                <p:cNvSpPr>
                  <a:spLocks noChangeArrowheads="1"/>
                </p:cNvSpPr>
                <p:nvPr/>
              </p:nvSpPr>
              <p:spPr bwMode="auto">
                <a:xfrm>
                  <a:off x="360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科室</a:t>
                  </a:r>
                  <a:endParaRPr lang="zh-CN" altLang="en-US" sz="1800"/>
                </a:p>
              </p:txBody>
            </p:sp>
          </p:grpSp>
          <p:sp>
            <p:nvSpPr>
              <p:cNvPr id="28688" name="Line 24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7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7" name="Group 37"/>
            <p:cNvGrpSpPr/>
            <p:nvPr/>
          </p:nvGrpSpPr>
          <p:grpSpPr bwMode="auto">
            <a:xfrm>
              <a:off x="3310" y="4467"/>
              <a:ext cx="4467" cy="1733"/>
              <a:chOff x="2290" y="1751"/>
              <a:chExt cx="2504" cy="1133"/>
            </a:xfrm>
          </p:grpSpPr>
          <p:grpSp>
            <p:nvGrpSpPr>
              <p:cNvPr id="28678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28681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82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8683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2868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看</a:t>
                    </a:r>
                    <a:r>
                      <a:rPr lang="zh-CN" altLang="en-US" sz="1800"/>
                      <a:t>病</a:t>
                    </a:r>
                    <a:endParaRPr lang="zh-CN" altLang="en-US" sz="1800"/>
                  </a:p>
                </p:txBody>
              </p:sp>
              <p:sp>
                <p:nvSpPr>
                  <p:cNvPr id="2868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病历</a:t>
                    </a:r>
                    <a:endParaRPr lang="zh-CN" altLang="en-US" sz="1800"/>
                  </a:p>
                </p:txBody>
              </p:sp>
              <p:sp>
                <p:nvSpPr>
                  <p:cNvPr id="2868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8679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m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  <p:sp>
            <p:nvSpPr>
              <p:cNvPr id="28680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4700905" y="1808480"/>
            <a:ext cx="3580130" cy="4159885"/>
            <a:chOff x="7403" y="2283"/>
            <a:chExt cx="5638" cy="6551"/>
          </a:xfrm>
        </p:grpSpPr>
        <p:grpSp>
          <p:nvGrpSpPr>
            <p:cNvPr id="8" name="Group 30"/>
            <p:cNvGrpSpPr/>
            <p:nvPr/>
          </p:nvGrpSpPr>
          <p:grpSpPr bwMode="auto">
            <a:xfrm rot="0">
              <a:off x="7403" y="2283"/>
              <a:ext cx="5543" cy="1580"/>
              <a:chOff x="1202" y="391"/>
              <a:chExt cx="3492" cy="1179"/>
            </a:xfrm>
          </p:grpSpPr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2562" y="129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患者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" name="Oval 6"/>
              <p:cNvSpPr>
                <a:spLocks noChangeArrowheads="1"/>
              </p:cNvSpPr>
              <p:nvPr/>
            </p:nvSpPr>
            <p:spPr bwMode="auto">
              <a:xfrm>
                <a:off x="1202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en-US" altLang="zh-CN" sz="1800"/>
                  <a:t>ID</a:t>
                </a:r>
                <a:r>
                  <a:rPr lang="zh-CN" altLang="en-US" sz="1800"/>
                  <a:t>号</a:t>
                </a:r>
                <a:endParaRPr lang="zh-CN" altLang="en-US" sz="1800"/>
              </a:p>
            </p:txBody>
          </p:sp>
          <p:sp>
            <p:nvSpPr>
              <p:cNvPr id="11" name="Oval 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12" name="Oval 8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13" name="Oval 9"/>
              <p:cNvSpPr>
                <a:spLocks noChangeArrowheads="1"/>
              </p:cNvSpPr>
              <p:nvPr/>
            </p:nvSpPr>
            <p:spPr bwMode="auto">
              <a:xfrm>
                <a:off x="3923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年龄</a:t>
                </a:r>
                <a:endParaRPr lang="zh-CN" altLang="en-US" sz="1800"/>
              </a:p>
            </p:txBody>
          </p:sp>
          <p:sp>
            <p:nvSpPr>
              <p:cNvPr id="14" name="Line 10"/>
              <p:cNvSpPr>
                <a:spLocks noChangeShapeType="1"/>
              </p:cNvSpPr>
              <p:nvPr/>
            </p:nvSpPr>
            <p:spPr bwMode="auto">
              <a:xfrm>
                <a:off x="1701" y="799"/>
                <a:ext cx="122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>
                <a:off x="2517" y="799"/>
                <a:ext cx="408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499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1407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1429" y="709"/>
                <a:ext cx="31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15"/>
            <p:cNvGrpSpPr/>
            <p:nvPr/>
          </p:nvGrpSpPr>
          <p:grpSpPr bwMode="auto">
            <a:xfrm rot="0">
              <a:off x="7750" y="7196"/>
              <a:ext cx="4942" cy="1639"/>
              <a:chOff x="1429" y="2478"/>
              <a:chExt cx="3129" cy="1225"/>
            </a:xfrm>
          </p:grpSpPr>
          <p:grpSp>
            <p:nvGrpSpPr>
              <p:cNvPr id="20" name="Group 16"/>
              <p:cNvGrpSpPr/>
              <p:nvPr/>
            </p:nvGrpSpPr>
            <p:grpSpPr bwMode="auto">
              <a:xfrm>
                <a:off x="1429" y="2478"/>
                <a:ext cx="3129" cy="1225"/>
                <a:chOff x="1429" y="2478"/>
                <a:chExt cx="3129" cy="1225"/>
              </a:xfrm>
            </p:grpSpPr>
            <p:sp>
              <p:nvSpPr>
                <p:cNvPr id="21" name="Rectangle 17"/>
                <p:cNvSpPr>
                  <a:spLocks noChangeArrowheads="1"/>
                </p:cNvSpPr>
                <p:nvPr/>
              </p:nvSpPr>
              <p:spPr bwMode="auto">
                <a:xfrm>
                  <a:off x="2608" y="2478"/>
                  <a:ext cx="771" cy="2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医生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Oval 18"/>
                <p:cNvSpPr>
                  <a:spLocks noChangeArrowheads="1"/>
                </p:cNvSpPr>
                <p:nvPr/>
              </p:nvSpPr>
              <p:spPr bwMode="auto">
                <a:xfrm>
                  <a:off x="1429" y="3295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en-US" altLang="zh-CN" sz="1800"/>
                    <a:t>ID</a:t>
                  </a:r>
                  <a:r>
                    <a:rPr lang="zh-CN" altLang="en-US" sz="1800"/>
                    <a:t>号</a:t>
                  </a:r>
                  <a:endParaRPr lang="zh-CN" altLang="en-US" sz="1800"/>
                </a:p>
              </p:txBody>
            </p:sp>
            <p:sp>
              <p:nvSpPr>
                <p:cNvPr id="2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064" y="2751"/>
                  <a:ext cx="907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971" y="2751"/>
                  <a:ext cx="1089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21"/>
                <p:cNvSpPr>
                  <a:spLocks noChangeShapeType="1"/>
                </p:cNvSpPr>
                <p:nvPr/>
              </p:nvSpPr>
              <p:spPr bwMode="auto">
                <a:xfrm>
                  <a:off x="2971" y="2751"/>
                  <a:ext cx="0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22"/>
                <p:cNvSpPr>
                  <a:spLocks noChangeArrowheads="1"/>
                </p:cNvSpPr>
                <p:nvPr/>
              </p:nvSpPr>
              <p:spPr bwMode="auto">
                <a:xfrm>
                  <a:off x="252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姓名</a:t>
                  </a:r>
                  <a:endParaRPr lang="zh-CN" altLang="en-US" sz="1800"/>
                </a:p>
              </p:txBody>
            </p:sp>
            <p:sp>
              <p:nvSpPr>
                <p:cNvPr id="27" name="Oval 23"/>
                <p:cNvSpPr>
                  <a:spLocks noChangeArrowheads="1"/>
                </p:cNvSpPr>
                <p:nvPr/>
              </p:nvSpPr>
              <p:spPr bwMode="auto">
                <a:xfrm>
                  <a:off x="360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科室</a:t>
                  </a:r>
                  <a:endParaRPr lang="zh-CN" altLang="en-US" sz="1800"/>
                </a:p>
              </p:txBody>
            </p:sp>
          </p:grpSp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7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" name="Group 37"/>
            <p:cNvGrpSpPr/>
            <p:nvPr/>
          </p:nvGrpSpPr>
          <p:grpSpPr bwMode="auto">
            <a:xfrm rot="0">
              <a:off x="9346" y="3873"/>
              <a:ext cx="3687" cy="1517"/>
              <a:chOff x="2290" y="1751"/>
              <a:chExt cx="2504" cy="1133"/>
            </a:xfrm>
          </p:grpSpPr>
          <p:grpSp>
            <p:nvGrpSpPr>
              <p:cNvPr id="30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31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3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3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取</a:t>
                    </a:r>
                    <a:r>
                      <a:rPr lang="zh-CN" altLang="en-US" sz="1800"/>
                      <a:t>号</a:t>
                    </a:r>
                    <a:endParaRPr lang="zh-CN" altLang="en-US" sz="1800"/>
                  </a:p>
                </p:txBody>
              </p:sp>
              <p:sp>
                <p:nvSpPr>
                  <p:cNvPr id="3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时间</a:t>
                    </a:r>
                    <a:endParaRPr lang="zh-CN" altLang="en-US" sz="1800"/>
                  </a:p>
                </p:txBody>
              </p:sp>
              <p:sp>
                <p:nvSpPr>
                  <p:cNvPr id="3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37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1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" name="Rectangle 5"/>
            <p:cNvSpPr>
              <a:spLocks noChangeArrowheads="1"/>
            </p:cNvSpPr>
            <p:nvPr/>
          </p:nvSpPr>
          <p:spPr bwMode="auto">
            <a:xfrm>
              <a:off x="9614" y="5357"/>
              <a:ext cx="1224" cy="36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ea typeface="宋体" panose="02010600030101010101" pitchFamily="2" charset="-122"/>
                </a:rPr>
                <a:t>挂号</a:t>
              </a:r>
              <a:endParaRPr lang="zh-CN" altLang="en-US" sz="18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0" name="Group 37"/>
            <p:cNvGrpSpPr/>
            <p:nvPr/>
          </p:nvGrpSpPr>
          <p:grpSpPr bwMode="auto">
            <a:xfrm rot="0">
              <a:off x="9355" y="5742"/>
              <a:ext cx="3687" cy="1517"/>
              <a:chOff x="2290" y="1751"/>
              <a:chExt cx="2504" cy="1133"/>
            </a:xfrm>
          </p:grpSpPr>
          <p:grpSp>
            <p:nvGrpSpPr>
              <p:cNvPr id="41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42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4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45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看</a:t>
                    </a:r>
                    <a:r>
                      <a:rPr lang="zh-CN" altLang="en-US" sz="1800"/>
                      <a:t>病</a:t>
                    </a:r>
                    <a:endParaRPr lang="zh-CN" altLang="en-US" sz="1800"/>
                  </a:p>
                </p:txBody>
              </p:sp>
              <p:sp>
                <p:nvSpPr>
                  <p:cNvPr id="46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病历</a:t>
                    </a:r>
                    <a:endParaRPr lang="zh-CN" altLang="en-US" sz="1800"/>
                  </a:p>
                </p:txBody>
              </p:sp>
              <p:sp>
                <p:nvSpPr>
                  <p:cNvPr id="47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48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1</a:t>
                </a:r>
                <a:endParaRPr lang="en-US" altLang="zh-CN" sz="1400">
                  <a:ea typeface="宋体" panose="02010600030101010101" pitchFamily="2" charset="-122"/>
                </a:endParaRPr>
              </a:p>
            </p:txBody>
          </p:sp>
          <p:sp>
            <p:nvSpPr>
              <p:cNvPr id="49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1" name="右箭头 50"/>
          <p:cNvSpPr/>
          <p:nvPr/>
        </p:nvSpPr>
        <p:spPr>
          <a:xfrm>
            <a:off x="4356100" y="3500755"/>
            <a:ext cx="720090" cy="50419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1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解决</a:t>
            </a:r>
            <a:r>
              <a:rPr lang="zh-CN" altLang="en-US"/>
              <a:t>方案：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908050"/>
            <a:ext cx="8848725" cy="584200"/>
          </a:xfrm>
        </p:spPr>
        <p:txBody>
          <a:bodyPr/>
          <a:p>
            <a:r>
              <a:rPr lang="zh-CN" altLang="en-US" sz="3200"/>
              <a:t>优化后</a:t>
            </a:r>
            <a:r>
              <a:rPr lang="zh-CN" altLang="en-US" sz="3200"/>
              <a:t>的学生选修课程</a:t>
            </a:r>
            <a:r>
              <a:rPr lang="zh-CN" altLang="en-US" sz="3200"/>
              <a:t>案例：</a:t>
            </a:r>
            <a:endParaRPr lang="zh-CN" altLang="en-US" sz="3200"/>
          </a:p>
        </p:txBody>
      </p:sp>
      <p:grpSp>
        <p:nvGrpSpPr>
          <p:cNvPr id="4" name="组合 3"/>
          <p:cNvGrpSpPr/>
          <p:nvPr/>
        </p:nvGrpSpPr>
        <p:grpSpPr>
          <a:xfrm>
            <a:off x="125095" y="2327275"/>
            <a:ext cx="3574939" cy="2982516"/>
            <a:chOff x="956" y="2650"/>
            <a:chExt cx="6821" cy="5366"/>
          </a:xfrm>
        </p:grpSpPr>
        <p:grpSp>
          <p:nvGrpSpPr>
            <p:cNvPr id="28675" name="Group 30"/>
            <p:cNvGrpSpPr/>
            <p:nvPr/>
          </p:nvGrpSpPr>
          <p:grpSpPr bwMode="auto">
            <a:xfrm>
              <a:off x="956" y="2650"/>
              <a:ext cx="6716" cy="1805"/>
              <a:chOff x="1202" y="391"/>
              <a:chExt cx="3492" cy="1179"/>
            </a:xfrm>
          </p:grpSpPr>
          <p:sp>
            <p:nvSpPr>
              <p:cNvPr id="28696" name="Rectangle 5"/>
              <p:cNvSpPr>
                <a:spLocks noChangeArrowheads="1"/>
              </p:cNvSpPr>
              <p:nvPr/>
            </p:nvSpPr>
            <p:spPr bwMode="auto">
              <a:xfrm>
                <a:off x="2562" y="129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学生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8697" name="Oval 6"/>
              <p:cNvSpPr>
                <a:spLocks noChangeArrowheads="1"/>
              </p:cNvSpPr>
              <p:nvPr/>
            </p:nvSpPr>
            <p:spPr bwMode="auto">
              <a:xfrm>
                <a:off x="1202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学号</a:t>
                </a:r>
                <a:endParaRPr lang="zh-CN" altLang="en-US" sz="1800"/>
              </a:p>
            </p:txBody>
          </p:sp>
          <p:sp>
            <p:nvSpPr>
              <p:cNvPr id="28698" name="Oval 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28699" name="Oval 8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28700" name="Oval 9"/>
              <p:cNvSpPr>
                <a:spLocks noChangeArrowheads="1"/>
              </p:cNvSpPr>
              <p:nvPr/>
            </p:nvSpPr>
            <p:spPr bwMode="auto">
              <a:xfrm>
                <a:off x="3923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年龄</a:t>
                </a:r>
                <a:endParaRPr lang="zh-CN" altLang="en-US" sz="1800"/>
              </a:p>
            </p:txBody>
          </p:sp>
          <p:sp>
            <p:nvSpPr>
              <p:cNvPr id="28701" name="Line 10"/>
              <p:cNvSpPr>
                <a:spLocks noChangeShapeType="1"/>
              </p:cNvSpPr>
              <p:nvPr/>
            </p:nvSpPr>
            <p:spPr bwMode="auto">
              <a:xfrm>
                <a:off x="1701" y="799"/>
                <a:ext cx="122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2" name="Line 11"/>
              <p:cNvSpPr>
                <a:spLocks noChangeShapeType="1"/>
              </p:cNvSpPr>
              <p:nvPr/>
            </p:nvSpPr>
            <p:spPr bwMode="auto">
              <a:xfrm>
                <a:off x="2517" y="799"/>
                <a:ext cx="408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3" name="Line 12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499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4" name="Line 13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1407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14"/>
              <p:cNvSpPr>
                <a:spLocks noChangeShapeType="1"/>
              </p:cNvSpPr>
              <p:nvPr/>
            </p:nvSpPr>
            <p:spPr bwMode="auto">
              <a:xfrm>
                <a:off x="1429" y="709"/>
                <a:ext cx="31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6" name="Group 15"/>
            <p:cNvGrpSpPr/>
            <p:nvPr/>
          </p:nvGrpSpPr>
          <p:grpSpPr bwMode="auto">
            <a:xfrm>
              <a:off x="1376" y="6143"/>
              <a:ext cx="5988" cy="1873"/>
              <a:chOff x="1429" y="2478"/>
              <a:chExt cx="3129" cy="1225"/>
            </a:xfrm>
          </p:grpSpPr>
          <p:grpSp>
            <p:nvGrpSpPr>
              <p:cNvPr id="28687" name="Group 16"/>
              <p:cNvGrpSpPr/>
              <p:nvPr/>
            </p:nvGrpSpPr>
            <p:grpSpPr bwMode="auto">
              <a:xfrm>
                <a:off x="1429" y="2478"/>
                <a:ext cx="3129" cy="1225"/>
                <a:chOff x="1429" y="2478"/>
                <a:chExt cx="3129" cy="1225"/>
              </a:xfrm>
            </p:grpSpPr>
            <p:sp>
              <p:nvSpPr>
                <p:cNvPr id="28689" name="Rectangle 17"/>
                <p:cNvSpPr>
                  <a:spLocks noChangeArrowheads="1"/>
                </p:cNvSpPr>
                <p:nvPr/>
              </p:nvSpPr>
              <p:spPr bwMode="auto">
                <a:xfrm>
                  <a:off x="2608" y="2478"/>
                  <a:ext cx="771" cy="2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课程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690" name="Oval 18"/>
                <p:cNvSpPr>
                  <a:spLocks noChangeArrowheads="1"/>
                </p:cNvSpPr>
                <p:nvPr/>
              </p:nvSpPr>
              <p:spPr bwMode="auto">
                <a:xfrm>
                  <a:off x="1429" y="3295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</a:t>
                  </a:r>
                  <a:r>
                    <a:rPr lang="zh-CN" altLang="en-US" sz="1800"/>
                    <a:t>代码</a:t>
                  </a:r>
                  <a:endParaRPr lang="zh-CN" altLang="en-US" sz="1800"/>
                </a:p>
              </p:txBody>
            </p:sp>
            <p:sp>
              <p:nvSpPr>
                <p:cNvPr id="2869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064" y="2751"/>
                  <a:ext cx="907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2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971" y="2751"/>
                  <a:ext cx="1089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3" name="Line 21"/>
                <p:cNvSpPr>
                  <a:spLocks noChangeShapeType="1"/>
                </p:cNvSpPr>
                <p:nvPr/>
              </p:nvSpPr>
              <p:spPr bwMode="auto">
                <a:xfrm>
                  <a:off x="2971" y="2751"/>
                  <a:ext cx="0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94" name="Oval 22"/>
                <p:cNvSpPr>
                  <a:spLocks noChangeArrowheads="1"/>
                </p:cNvSpPr>
                <p:nvPr/>
              </p:nvSpPr>
              <p:spPr bwMode="auto">
                <a:xfrm>
                  <a:off x="252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</a:t>
                  </a:r>
                  <a:r>
                    <a:rPr lang="zh-CN" altLang="en-US" sz="1800"/>
                    <a:t>名称</a:t>
                  </a:r>
                  <a:endParaRPr lang="zh-CN" altLang="en-US" sz="1800"/>
                </a:p>
              </p:txBody>
            </p:sp>
            <p:sp>
              <p:nvSpPr>
                <p:cNvPr id="28695" name="Oval 23"/>
                <p:cNvSpPr>
                  <a:spLocks noChangeArrowheads="1"/>
                </p:cNvSpPr>
                <p:nvPr/>
              </p:nvSpPr>
              <p:spPr bwMode="auto">
                <a:xfrm>
                  <a:off x="360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任课</a:t>
                  </a:r>
                  <a:r>
                    <a:rPr lang="zh-CN" altLang="en-US" sz="1800"/>
                    <a:t>教师</a:t>
                  </a:r>
                  <a:endParaRPr lang="zh-CN" altLang="en-US" sz="1800"/>
                </a:p>
              </p:txBody>
            </p:sp>
          </p:grpSp>
          <p:sp>
            <p:nvSpPr>
              <p:cNvPr id="28688" name="Line 24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7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677" name="Group 37"/>
            <p:cNvGrpSpPr/>
            <p:nvPr/>
          </p:nvGrpSpPr>
          <p:grpSpPr bwMode="auto">
            <a:xfrm>
              <a:off x="3310" y="4467"/>
              <a:ext cx="4467" cy="1733"/>
              <a:chOff x="2290" y="1751"/>
              <a:chExt cx="2504" cy="1133"/>
            </a:xfrm>
          </p:grpSpPr>
          <p:grpSp>
            <p:nvGrpSpPr>
              <p:cNvPr id="28678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28681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682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8683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2868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选修</a:t>
                    </a:r>
                    <a:endParaRPr lang="zh-CN" altLang="en-US" sz="1800"/>
                  </a:p>
                </p:txBody>
              </p:sp>
              <p:sp>
                <p:nvSpPr>
                  <p:cNvPr id="2868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成绩</a:t>
                    </a:r>
                    <a:endParaRPr lang="zh-CN" altLang="en-US" sz="1800"/>
                  </a:p>
                </p:txBody>
              </p:sp>
              <p:sp>
                <p:nvSpPr>
                  <p:cNvPr id="2868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8679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m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  <p:sp>
            <p:nvSpPr>
              <p:cNvPr id="28680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0" name="组合 49"/>
          <p:cNvGrpSpPr/>
          <p:nvPr/>
        </p:nvGrpSpPr>
        <p:grpSpPr>
          <a:xfrm>
            <a:off x="4700905" y="1808480"/>
            <a:ext cx="3575050" cy="4160520"/>
            <a:chOff x="7403" y="2283"/>
            <a:chExt cx="5630" cy="6552"/>
          </a:xfrm>
        </p:grpSpPr>
        <p:grpSp>
          <p:nvGrpSpPr>
            <p:cNvPr id="8" name="Group 30"/>
            <p:cNvGrpSpPr/>
            <p:nvPr/>
          </p:nvGrpSpPr>
          <p:grpSpPr bwMode="auto">
            <a:xfrm rot="0">
              <a:off x="7403" y="2283"/>
              <a:ext cx="5543" cy="1580"/>
              <a:chOff x="1202" y="391"/>
              <a:chExt cx="3492" cy="1179"/>
            </a:xfrm>
          </p:grpSpPr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2562" y="1298"/>
                <a:ext cx="771" cy="272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>
                    <a:ea typeface="宋体" panose="02010600030101010101" pitchFamily="2" charset="-122"/>
                  </a:rPr>
                  <a:t>学生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" name="Oval 6"/>
              <p:cNvSpPr>
                <a:spLocks noChangeArrowheads="1"/>
              </p:cNvSpPr>
              <p:nvPr/>
            </p:nvSpPr>
            <p:spPr bwMode="auto">
              <a:xfrm>
                <a:off x="1202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学号</a:t>
                </a:r>
                <a:endParaRPr lang="zh-CN" altLang="en-US" sz="1800"/>
              </a:p>
            </p:txBody>
          </p:sp>
          <p:sp>
            <p:nvSpPr>
              <p:cNvPr id="11" name="Oval 7"/>
              <p:cNvSpPr>
                <a:spLocks noChangeArrowheads="1"/>
              </p:cNvSpPr>
              <p:nvPr/>
            </p:nvSpPr>
            <p:spPr bwMode="auto">
              <a:xfrm>
                <a:off x="2109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姓名</a:t>
                </a:r>
                <a:endParaRPr lang="zh-CN" altLang="en-US" sz="1800"/>
              </a:p>
            </p:txBody>
          </p:sp>
          <p:sp>
            <p:nvSpPr>
              <p:cNvPr id="12" name="Oval 8"/>
              <p:cNvSpPr>
                <a:spLocks noChangeArrowheads="1"/>
              </p:cNvSpPr>
              <p:nvPr/>
            </p:nvSpPr>
            <p:spPr bwMode="auto">
              <a:xfrm>
                <a:off x="3016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性别</a:t>
                </a:r>
                <a:endParaRPr lang="zh-CN" altLang="en-US" sz="1800"/>
              </a:p>
            </p:txBody>
          </p:sp>
          <p:sp>
            <p:nvSpPr>
              <p:cNvPr id="13" name="Oval 9"/>
              <p:cNvSpPr>
                <a:spLocks noChangeArrowheads="1"/>
              </p:cNvSpPr>
              <p:nvPr/>
            </p:nvSpPr>
            <p:spPr bwMode="auto">
              <a:xfrm>
                <a:off x="3923" y="391"/>
                <a:ext cx="771" cy="40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lang="zh-CN" altLang="en-US" sz="1800"/>
                  <a:t>年龄</a:t>
                </a:r>
                <a:endParaRPr lang="zh-CN" altLang="en-US" sz="1800"/>
              </a:p>
            </p:txBody>
          </p:sp>
          <p:sp>
            <p:nvSpPr>
              <p:cNvPr id="14" name="Line 10"/>
              <p:cNvSpPr>
                <a:spLocks noChangeShapeType="1"/>
              </p:cNvSpPr>
              <p:nvPr/>
            </p:nvSpPr>
            <p:spPr bwMode="auto">
              <a:xfrm>
                <a:off x="1701" y="799"/>
                <a:ext cx="1224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1"/>
              <p:cNvSpPr>
                <a:spLocks noChangeShapeType="1"/>
              </p:cNvSpPr>
              <p:nvPr/>
            </p:nvSpPr>
            <p:spPr bwMode="auto">
              <a:xfrm>
                <a:off x="2517" y="799"/>
                <a:ext cx="408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2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499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13"/>
              <p:cNvSpPr>
                <a:spLocks noChangeShapeType="1"/>
              </p:cNvSpPr>
              <p:nvPr/>
            </p:nvSpPr>
            <p:spPr bwMode="auto">
              <a:xfrm flipH="1">
                <a:off x="2925" y="799"/>
                <a:ext cx="1407" cy="49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1429" y="709"/>
                <a:ext cx="317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15"/>
            <p:cNvGrpSpPr/>
            <p:nvPr/>
          </p:nvGrpSpPr>
          <p:grpSpPr bwMode="auto">
            <a:xfrm rot="0">
              <a:off x="7750" y="7196"/>
              <a:ext cx="4942" cy="1639"/>
              <a:chOff x="1429" y="2478"/>
              <a:chExt cx="3129" cy="1225"/>
            </a:xfrm>
          </p:grpSpPr>
          <p:grpSp>
            <p:nvGrpSpPr>
              <p:cNvPr id="20" name="Group 16"/>
              <p:cNvGrpSpPr/>
              <p:nvPr/>
            </p:nvGrpSpPr>
            <p:grpSpPr bwMode="auto">
              <a:xfrm>
                <a:off x="1429" y="2478"/>
                <a:ext cx="3129" cy="1225"/>
                <a:chOff x="1429" y="2478"/>
                <a:chExt cx="3129" cy="1225"/>
              </a:xfrm>
            </p:grpSpPr>
            <p:sp>
              <p:nvSpPr>
                <p:cNvPr id="21" name="Rectangle 17"/>
                <p:cNvSpPr>
                  <a:spLocks noChangeArrowheads="1"/>
                </p:cNvSpPr>
                <p:nvPr/>
              </p:nvSpPr>
              <p:spPr bwMode="auto">
                <a:xfrm>
                  <a:off x="2608" y="2478"/>
                  <a:ext cx="771" cy="2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>
                      <a:ea typeface="宋体" panose="02010600030101010101" pitchFamily="2" charset="-122"/>
                    </a:rPr>
                    <a:t>课程</a:t>
                  </a: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Oval 18"/>
                <p:cNvSpPr>
                  <a:spLocks noChangeArrowheads="1"/>
                </p:cNvSpPr>
                <p:nvPr/>
              </p:nvSpPr>
              <p:spPr bwMode="auto">
                <a:xfrm>
                  <a:off x="1429" y="3295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课程代码</a:t>
                  </a:r>
                  <a:endParaRPr lang="zh-CN" altLang="en-US" sz="1800"/>
                </a:p>
              </p:txBody>
            </p:sp>
            <p:sp>
              <p:nvSpPr>
                <p:cNvPr id="2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064" y="2751"/>
                  <a:ext cx="907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20"/>
                <p:cNvSpPr>
                  <a:spLocks noChangeShapeType="1"/>
                </p:cNvSpPr>
                <p:nvPr/>
              </p:nvSpPr>
              <p:spPr bwMode="auto">
                <a:xfrm flipH="1" flipV="1">
                  <a:off x="2971" y="2751"/>
                  <a:ext cx="1089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21"/>
                <p:cNvSpPr>
                  <a:spLocks noChangeShapeType="1"/>
                </p:cNvSpPr>
                <p:nvPr/>
              </p:nvSpPr>
              <p:spPr bwMode="auto">
                <a:xfrm>
                  <a:off x="2971" y="2751"/>
                  <a:ext cx="0" cy="54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22"/>
                <p:cNvSpPr>
                  <a:spLocks noChangeArrowheads="1"/>
                </p:cNvSpPr>
                <p:nvPr/>
              </p:nvSpPr>
              <p:spPr bwMode="auto">
                <a:xfrm>
                  <a:off x="252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课程</a:t>
                  </a:r>
                  <a:r>
                    <a:rPr lang="zh-CN" altLang="en-US" sz="1800"/>
                    <a:t>名称</a:t>
                  </a:r>
                  <a:endParaRPr lang="zh-CN" altLang="en-US" sz="1800"/>
                </a:p>
              </p:txBody>
            </p:sp>
            <p:sp>
              <p:nvSpPr>
                <p:cNvPr id="27" name="Oval 23"/>
                <p:cNvSpPr>
                  <a:spLocks noChangeArrowheads="1"/>
                </p:cNvSpPr>
                <p:nvPr/>
              </p:nvSpPr>
              <p:spPr bwMode="auto">
                <a:xfrm>
                  <a:off x="3606" y="3294"/>
                  <a:ext cx="952" cy="408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任课</a:t>
                  </a:r>
                  <a:r>
                    <a:rPr lang="zh-CN" altLang="en-US" sz="1800"/>
                    <a:t>教师</a:t>
                  </a:r>
                  <a:endParaRPr lang="zh-CN" altLang="en-US" sz="1800"/>
                </a:p>
              </p:txBody>
            </p:sp>
          </p:grpSp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>
                <a:off x="1565" y="3612"/>
                <a:ext cx="72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" name="Group 37"/>
            <p:cNvGrpSpPr/>
            <p:nvPr/>
          </p:nvGrpSpPr>
          <p:grpSpPr bwMode="auto">
            <a:xfrm rot="0">
              <a:off x="9346" y="3873"/>
              <a:ext cx="3687" cy="1517"/>
              <a:chOff x="2290" y="1751"/>
              <a:chExt cx="2504" cy="1133"/>
            </a:xfrm>
          </p:grpSpPr>
          <p:grpSp>
            <p:nvGrpSpPr>
              <p:cNvPr id="30" name="Group 34"/>
              <p:cNvGrpSpPr/>
              <p:nvPr/>
            </p:nvGrpSpPr>
            <p:grpSpPr bwMode="auto"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31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33" name="Group 31"/>
                <p:cNvGrpSpPr/>
                <p:nvPr/>
              </p:nvGrpSpPr>
              <p:grpSpPr bwMode="auto"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34" name="AutoShape 25"/>
                  <p:cNvSpPr>
                    <a:spLocks noChangeArrowheads="1"/>
                  </p:cNvSpPr>
                  <p:nvPr/>
                </p:nvSpPr>
                <p:spPr bwMode="auto"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选课</a:t>
                    </a:r>
                    <a:endParaRPr lang="zh-CN" altLang="en-US" sz="1800"/>
                  </a:p>
                </p:txBody>
              </p:sp>
              <p:sp>
                <p:nvSpPr>
                  <p:cNvPr id="35" name="Oval 28"/>
                  <p:cNvSpPr>
                    <a:spLocks noChangeArrowheads="1"/>
                  </p:cNvSpPr>
                  <p:nvPr/>
                </p:nvSpPr>
                <p:spPr bwMode="auto"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algn="l" eaLnBrk="0" hangingPunct="0">
                      <a:buClr>
                        <a:srgbClr val="0000CC"/>
                      </a:buClr>
                      <a:buSzPct val="70000"/>
                      <a:buFont typeface="Wingdings" panose="05000000000000000000" pitchFamily="2" charset="2"/>
                      <a:buChar char="n"/>
                      <a:defRPr sz="36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1pPr>
                    <a:lvl2pPr marL="742950" indent="-285750" algn="l" eaLnBrk="0" hangingPunct="0">
                      <a:spcBef>
                        <a:spcPct val="20000"/>
                      </a:spcBef>
                      <a:buClr>
                        <a:srgbClr val="FF3300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2pPr>
                    <a:lvl3pPr marL="1143000" indent="-228600" algn="l" eaLnBrk="0" hangingPunct="0">
                      <a:spcBef>
                        <a:spcPct val="20000"/>
                      </a:spcBef>
                      <a:buClr>
                        <a:srgbClr val="996633"/>
                      </a:buClr>
                      <a:buSzPct val="7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3pPr>
                    <a:lvl4pPr marL="16002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1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4pPr>
                    <a:lvl5pPr marL="2057400" indent="-228600" algn="l" eaLnBrk="0" hangingPunct="0">
                      <a:spcBef>
                        <a:spcPct val="20000"/>
                      </a:spcBef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30000"/>
                      <a:buBlip>
                        <a:blip r:embed="rId2"/>
                      </a:buBlip>
                      <a:defRPr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黑体" panose="02010609060101010101" pitchFamily="2" charset="-122"/>
                      </a:defRPr>
                    </a:lvl9pPr>
                  </a:lstStyle>
                  <a:p>
                    <a:pPr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1800"/>
                      <a:t>成绩</a:t>
                    </a:r>
                    <a:endParaRPr lang="zh-CN" altLang="en-US" sz="1800"/>
                  </a:p>
                </p:txBody>
              </p:sp>
              <p:sp>
                <p:nvSpPr>
                  <p:cNvPr id="36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15" y="2115"/>
                    <a:ext cx="499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37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1</a:t>
                </a:r>
                <a:endParaRPr lang="en-US" altLang="zh-CN" sz="1400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9" name="Rectangle 5"/>
            <p:cNvSpPr>
              <a:spLocks noChangeArrowheads="1"/>
            </p:cNvSpPr>
            <p:nvPr/>
          </p:nvSpPr>
          <p:spPr bwMode="auto">
            <a:xfrm>
              <a:off x="9614" y="5357"/>
              <a:ext cx="1224" cy="36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FF0000"/>
                  </a:solidFill>
                  <a:ea typeface="宋体" panose="02010600030101010101" pitchFamily="2" charset="-122"/>
                </a:rPr>
                <a:t>授课</a:t>
              </a:r>
              <a:endParaRPr lang="zh-CN" altLang="en-US" sz="180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0" name="Group 37"/>
            <p:cNvGrpSpPr/>
            <p:nvPr/>
          </p:nvGrpSpPr>
          <p:grpSpPr bwMode="auto">
            <a:xfrm rot="0">
              <a:off x="9355" y="5742"/>
              <a:ext cx="1733" cy="1517"/>
              <a:chOff x="2290" y="1751"/>
              <a:chExt cx="1177" cy="1133"/>
            </a:xfrm>
          </p:grpSpPr>
          <p:grpSp>
            <p:nvGrpSpPr>
              <p:cNvPr id="41" name="Group 34"/>
              <p:cNvGrpSpPr/>
              <p:nvPr/>
            </p:nvGrpSpPr>
            <p:grpSpPr bwMode="auto">
              <a:xfrm>
                <a:off x="2290" y="1751"/>
                <a:ext cx="1177" cy="1089"/>
                <a:chOff x="2381" y="1434"/>
                <a:chExt cx="1134" cy="1089"/>
              </a:xfrm>
            </p:grpSpPr>
            <p:sp>
              <p:nvSpPr>
                <p:cNvPr id="42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943" y="1434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27"/>
                <p:cNvSpPr>
                  <a:spLocks noChangeShapeType="1"/>
                </p:cNvSpPr>
                <p:nvPr/>
              </p:nvSpPr>
              <p:spPr bwMode="auto">
                <a:xfrm>
                  <a:off x="2953" y="2205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AutoShape 25"/>
                <p:cNvSpPr>
                  <a:spLocks noChangeArrowheads="1"/>
                </p:cNvSpPr>
                <p:nvPr/>
              </p:nvSpPr>
              <p:spPr bwMode="auto">
                <a:xfrm>
                  <a:off x="2381" y="1751"/>
                  <a:ext cx="1134" cy="454"/>
                </a:xfrm>
                <a:prstGeom prst="diamond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algn="l" eaLnBrk="0" hangingPunct="0">
                    <a:buClr>
                      <a:srgbClr val="0000CC"/>
                    </a:buClr>
                    <a:buSzPct val="70000"/>
                    <a:buFont typeface="Wingdings" panose="05000000000000000000" pitchFamily="2" charset="2"/>
                    <a:buChar char="n"/>
                    <a:defRPr sz="36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rgbClr val="FF3300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lr>
                      <a:srgbClr val="996633"/>
                    </a:buClr>
                    <a:buSzPct val="7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1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30000"/>
                    <a:buBlip>
                      <a:blip r:embed="rId2"/>
                    </a:buBlip>
                    <a:defRPr sz="24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defRPr>
                  </a:lvl9pPr>
                </a:lstStyle>
                <a:p>
                  <a:pPr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1800"/>
                    <a:t>教学</a:t>
                  </a:r>
                  <a:endParaRPr lang="zh-CN" altLang="en-US" sz="1800"/>
                </a:p>
              </p:txBody>
            </p:sp>
          </p:grpSp>
          <p:sp>
            <p:nvSpPr>
              <p:cNvPr id="48" name="Text Box 35"/>
              <p:cNvSpPr txBox="1">
                <a:spLocks noChangeArrowheads="1"/>
              </p:cNvSpPr>
              <p:nvPr/>
            </p:nvSpPr>
            <p:spPr bwMode="auto">
              <a:xfrm>
                <a:off x="2925" y="2523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1</a:t>
                </a:r>
                <a:endParaRPr lang="en-US" altLang="zh-CN" sz="1400">
                  <a:ea typeface="宋体" panose="02010600030101010101" pitchFamily="2" charset="-122"/>
                </a:endParaRPr>
              </a:p>
            </p:txBody>
          </p:sp>
          <p:sp>
            <p:nvSpPr>
              <p:cNvPr id="49" name="Text Box 36"/>
              <p:cNvSpPr txBox="1">
                <a:spLocks noChangeArrowheads="1"/>
              </p:cNvSpPr>
              <p:nvPr/>
            </p:nvSpPr>
            <p:spPr bwMode="auto">
              <a:xfrm>
                <a:off x="2967" y="1768"/>
                <a:ext cx="227" cy="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algn="l" eaLnBrk="0" hangingPunct="0">
                  <a:buClr>
                    <a:srgbClr val="0000CC"/>
                  </a:buClr>
                  <a:buSzPct val="70000"/>
                  <a:buFont typeface="Wingdings" panose="05000000000000000000" pitchFamily="2" charset="2"/>
                  <a:buChar char="n"/>
                  <a:defRPr sz="36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3300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rgbClr val="996633"/>
                  </a:buClr>
                  <a:buSzPct val="7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SzPct val="130000"/>
                  <a:buBlip>
                    <a:blip r:embed="rId1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30000"/>
                  <a:buBlip>
                    <a:blip r:embed="rId2"/>
                  </a:buBlip>
                  <a:defRPr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400">
                    <a:ea typeface="宋体" panose="02010600030101010101" pitchFamily="2" charset="-122"/>
                  </a:rPr>
                  <a:t>n</a:t>
                </a:r>
                <a:endParaRPr lang="en-US" altLang="zh-CN" sz="140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1" name="右箭头 50"/>
          <p:cNvSpPr/>
          <p:nvPr/>
        </p:nvSpPr>
        <p:spPr>
          <a:xfrm>
            <a:off x="4356100" y="3500755"/>
            <a:ext cx="720090" cy="50419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51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3) </a:t>
            </a:r>
            <a:r>
              <a:rPr lang="zh-CN" altLang="en-US" smtClean="0"/>
              <a:t>同一实体集内各实体间的联系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2285" y="908050"/>
            <a:ext cx="8180705" cy="5581650"/>
          </a:xfrm>
        </p:spPr>
        <p:txBody>
          <a:bodyPr/>
          <a:lstStyle/>
          <a:p>
            <a:pPr eaLnBrk="1" hangingPunct="1"/>
            <a:r>
              <a:rPr lang="zh-CN" altLang="en-US" sz="3200" smtClean="0"/>
              <a:t>一对多联系</a:t>
            </a:r>
            <a:endParaRPr lang="zh-CN" altLang="en-US" sz="3200" smtClean="0"/>
          </a:p>
          <a:p>
            <a:pPr eaLnBrk="1" hangingPunct="1"/>
            <a:r>
              <a:rPr lang="zh-CN" altLang="en-US" sz="3200" smtClean="0"/>
              <a:t>一对一联系</a:t>
            </a:r>
            <a:endParaRPr lang="zh-CN" altLang="en-US" sz="3200" smtClean="0"/>
          </a:p>
          <a:p>
            <a:pPr eaLnBrk="1" hangingPunct="1"/>
            <a:r>
              <a:rPr lang="zh-CN" altLang="en-US" sz="3200" smtClean="0"/>
              <a:t>多对多联系</a:t>
            </a:r>
            <a:endParaRPr lang="en-US" altLang="zh-CN" sz="3200" smtClean="0"/>
          </a:p>
          <a:p>
            <a:pPr eaLnBrk="1" hangingPunct="1">
              <a:spcBef>
                <a:spcPts val="36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         例：</a:t>
            </a:r>
            <a:endParaRPr lang="zh-CN" altLang="en-US" smtClean="0"/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2853055" y="2999423"/>
            <a:ext cx="3000375" cy="3384550"/>
            <a:chOff x="2880" y="1207"/>
            <a:chExt cx="1890" cy="2132"/>
          </a:xfrm>
        </p:grpSpPr>
        <p:sp>
          <p:nvSpPr>
            <p:cNvPr id="34821" name="Text Box 5"/>
            <p:cNvSpPr txBox="1">
              <a:spLocks noChangeArrowheads="1"/>
            </p:cNvSpPr>
            <p:nvPr/>
          </p:nvSpPr>
          <p:spPr bwMode="auto">
            <a:xfrm>
              <a:off x="3268" y="1207"/>
              <a:ext cx="1071" cy="38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>
                  <a:latin typeface="Arial" panose="020B0604020202020204" pitchFamily="34" charset="0"/>
                </a:rPr>
                <a:t>雇员</a:t>
              </a:r>
              <a:endParaRPr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34822" name="Line 6"/>
            <p:cNvSpPr>
              <a:spLocks noChangeShapeType="1"/>
            </p:cNvSpPr>
            <p:nvPr/>
          </p:nvSpPr>
          <p:spPr bwMode="auto">
            <a:xfrm flipV="1">
              <a:off x="3583" y="1593"/>
              <a:ext cx="0" cy="6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3" name="Line 7"/>
            <p:cNvSpPr>
              <a:spLocks noChangeShapeType="1"/>
            </p:cNvSpPr>
            <p:nvPr/>
          </p:nvSpPr>
          <p:spPr bwMode="auto">
            <a:xfrm>
              <a:off x="4024" y="1593"/>
              <a:ext cx="0" cy="6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4" name="Text Box 8"/>
            <p:cNvSpPr txBox="1">
              <a:spLocks noChangeArrowheads="1"/>
            </p:cNvSpPr>
            <p:nvPr/>
          </p:nvSpPr>
          <p:spPr bwMode="auto">
            <a:xfrm>
              <a:off x="3336" y="1764"/>
              <a:ext cx="3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>
                  <a:latin typeface="Arial" panose="020B0604020202020204" pitchFamily="34" charset="0"/>
                </a:rPr>
                <a:t>1</a:t>
              </a:r>
              <a:endParaRPr lang="en-US" altLang="zh-CN" sz="3200">
                <a:latin typeface="Arial" panose="020B0604020202020204" pitchFamily="34" charset="0"/>
              </a:endParaRPr>
            </a:p>
          </p:txBody>
        </p:sp>
        <p:sp>
          <p:nvSpPr>
            <p:cNvPr id="34825" name="Text Box 9"/>
            <p:cNvSpPr txBox="1">
              <a:spLocks noChangeArrowheads="1"/>
            </p:cNvSpPr>
            <p:nvPr/>
          </p:nvSpPr>
          <p:spPr bwMode="auto">
            <a:xfrm>
              <a:off x="4059" y="1764"/>
              <a:ext cx="3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>
                  <a:latin typeface="Arial" panose="020B0604020202020204" pitchFamily="34" charset="0"/>
                </a:rPr>
                <a:t>n</a:t>
              </a:r>
              <a:endParaRPr lang="en-US" altLang="zh-CN" sz="3200">
                <a:latin typeface="Arial" panose="020B0604020202020204" pitchFamily="34" charset="0"/>
              </a:endParaRPr>
            </a:p>
          </p:txBody>
        </p:sp>
        <p:sp>
          <p:nvSpPr>
            <p:cNvPr id="34826" name="Text Box 10"/>
            <p:cNvSpPr txBox="1">
              <a:spLocks noChangeArrowheads="1"/>
            </p:cNvSpPr>
            <p:nvPr/>
          </p:nvSpPr>
          <p:spPr bwMode="auto">
            <a:xfrm>
              <a:off x="2880" y="2974"/>
              <a:ext cx="189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>
                  <a:latin typeface="Arial" panose="020B0604020202020204" pitchFamily="34" charset="0"/>
                </a:rPr>
                <a:t>1:n </a:t>
              </a:r>
              <a:r>
                <a:rPr lang="zh-CN" altLang="en-US" sz="3200">
                  <a:latin typeface="Arial" panose="020B0604020202020204" pitchFamily="34" charset="0"/>
                </a:rPr>
                <a:t>联系</a:t>
              </a:r>
              <a:endParaRPr lang="zh-CN" altLang="en-US" sz="3200">
                <a:latin typeface="Arial" panose="020B0604020202020204" pitchFamily="34" charset="0"/>
              </a:endParaRPr>
            </a:p>
          </p:txBody>
        </p:sp>
        <p:sp>
          <p:nvSpPr>
            <p:cNvPr id="34827" name="AutoShape 11"/>
            <p:cNvSpPr>
              <a:spLocks noChangeArrowheads="1"/>
            </p:cNvSpPr>
            <p:nvPr/>
          </p:nvSpPr>
          <p:spPr bwMode="auto">
            <a:xfrm>
              <a:off x="3205" y="2161"/>
              <a:ext cx="1260" cy="567"/>
            </a:xfrm>
            <a:prstGeom prst="diamond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3200">
                  <a:latin typeface="Arial" panose="020B0604020202020204" pitchFamily="34" charset="0"/>
                </a:rPr>
                <a:t>领导</a:t>
              </a:r>
              <a:endParaRPr lang="zh-CN" altLang="en-US" sz="32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08050"/>
            <a:ext cx="8848725" cy="5936615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</a:pPr>
            <a:r>
              <a:rPr lang="zh-CN" altLang="en-US" sz="3200" smtClean="0"/>
              <a:t>需求</a:t>
            </a:r>
            <a:r>
              <a:rPr lang="zh-CN" altLang="en-US" sz="3200" smtClean="0"/>
              <a:t>背景：</a:t>
            </a:r>
            <a:endParaRPr lang="zh-CN" altLang="en-US" sz="3200" smtClean="0"/>
          </a:p>
          <a:p>
            <a:pPr lvl="1" algn="l" eaLnBrk="1" hangingPunct="1">
              <a:lnSpc>
                <a:spcPct val="90000"/>
              </a:lnSpc>
              <a:buFont typeface="Wingdings" panose="05000000000000000000" pitchFamily="2" charset="2"/>
            </a:pPr>
            <a:r>
              <a:rPr lang="zh-CN" altLang="en-US" sz="2840" smtClean="0"/>
              <a:t>某学院有多名教师和学生，开设多门课程</a:t>
            </a:r>
            <a:endParaRPr lang="zh-CN" altLang="en-US" sz="284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40" smtClean="0"/>
              <a:t>一名学生可以学习多门课程，而一门课程又有多个学生学习</a:t>
            </a:r>
            <a:endParaRPr lang="zh-CN" altLang="en-US" sz="284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40" smtClean="0"/>
              <a:t>约定一个教师可以讲授多门课程，一门课程只能由一个教师任教</a:t>
            </a:r>
            <a:endParaRPr lang="zh-CN" altLang="en-US" sz="2840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840" smtClean="0"/>
              <a:t>教师无重名</a:t>
            </a:r>
            <a:endParaRPr lang="zh-CN" altLang="en-US" sz="2840" smtClean="0"/>
          </a:p>
          <a:p>
            <a:pPr algn="l" eaLnBrk="1" hangingPunct="1">
              <a:lnSpc>
                <a:spcPct val="100000"/>
              </a:lnSpc>
              <a:spcBef>
                <a:spcPct val="30000"/>
              </a:spcBef>
              <a:buFont typeface="Wingdings" panose="05000000000000000000" pitchFamily="2" charset="2"/>
            </a:pPr>
            <a:r>
              <a:rPr lang="zh-CN" altLang="en-US" sz="3200" smtClean="0"/>
              <a:t>设计一个数据库系统，对该学院教学进行管理</a:t>
            </a:r>
            <a:endParaRPr lang="zh-CN" altLang="en-US" sz="3200" smtClean="0"/>
          </a:p>
          <a:p>
            <a:pPr lvl="1" eaLnBrk="1" hangingPunct="1"/>
            <a:r>
              <a:rPr lang="zh-CN" altLang="en-US" sz="2840" smtClean="0"/>
              <a:t>学生信息包括：学号、姓名、年龄、性别</a:t>
            </a:r>
            <a:endParaRPr lang="zh-CN" altLang="en-US" sz="2840" smtClean="0"/>
          </a:p>
          <a:p>
            <a:pPr lvl="1" eaLnBrk="1" hangingPunct="1"/>
            <a:r>
              <a:rPr lang="zh-CN" altLang="en-US" sz="2840" smtClean="0"/>
              <a:t>教师信息包括：姓名、年龄、职称</a:t>
            </a:r>
            <a:endParaRPr lang="zh-CN" altLang="en-US" sz="2840" smtClean="0"/>
          </a:p>
          <a:p>
            <a:pPr lvl="1" eaLnBrk="1" hangingPunct="1"/>
            <a:r>
              <a:rPr lang="zh-CN" altLang="en-US" sz="2840" smtClean="0"/>
              <a:t>课程信息包括：课程号、课程名、学时数</a:t>
            </a:r>
            <a:endParaRPr lang="zh-CN" altLang="en-US" sz="2840" smtClean="0"/>
          </a:p>
          <a:p>
            <a:pPr lvl="1" eaLnBrk="1" hangingPunct="1"/>
            <a:r>
              <a:rPr lang="zh-CN" altLang="en-US" sz="2840" smtClean="0"/>
              <a:t>学生修课的成绩</a:t>
            </a:r>
            <a:endParaRPr lang="zh-CN" altLang="en-US" sz="2840" smtClean="0"/>
          </a:p>
        </p:txBody>
      </p:sp>
      <p:sp>
        <p:nvSpPr>
          <p:cNvPr id="3819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概念模型举例－</a:t>
            </a:r>
            <a:r>
              <a:rPr lang="zh-CN" altLang="en-US" dirty="0" smtClean="0">
                <a:solidFill>
                  <a:srgbClr val="0000CC"/>
                </a:solidFill>
              </a:rPr>
              <a:t>教学管理</a:t>
            </a:r>
            <a:endParaRPr lang="zh-CN" altLang="en-US" dirty="0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概念模型举例－</a:t>
            </a:r>
            <a:r>
              <a:rPr lang="zh-CN" altLang="en-US" dirty="0" smtClean="0">
                <a:solidFill>
                  <a:srgbClr val="0000CC"/>
                </a:solidFill>
              </a:rPr>
              <a:t>教学管理</a:t>
            </a:r>
            <a:endParaRPr lang="zh-CN" altLang="en-US" dirty="0" smtClean="0"/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908050"/>
            <a:ext cx="8848725" cy="568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抽取实体类型及其属性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学生：学号、姓名、年龄、性别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课程：课程号、课程名、学时数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教师：姓名、年龄、职称 </a:t>
            </a:r>
            <a:endParaRPr lang="zh-CN" altLang="en-US" smtClean="0"/>
          </a:p>
          <a:p>
            <a:pPr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smtClean="0"/>
              <a:t>分析实体类型之间的联系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学生与课程 </a:t>
            </a:r>
            <a:r>
              <a:rPr lang="en-US" altLang="zh-CN" smtClean="0">
                <a:latin typeface="Arial" panose="020B0604020202020204" pitchFamily="34" charset="0"/>
              </a:rPr>
              <a:t>—</a:t>
            </a:r>
            <a:r>
              <a:rPr lang="en-US" altLang="zh-CN" smtClean="0"/>
              <a:t> </a:t>
            </a:r>
            <a:r>
              <a:rPr lang="zh-CN" altLang="en-US" smtClean="0"/>
              <a:t>选课，具有属性分数 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教师与课程 </a:t>
            </a:r>
            <a:r>
              <a:rPr lang="en-US" altLang="zh-CN" smtClean="0">
                <a:latin typeface="Arial" panose="020B0604020202020204" pitchFamily="34" charset="0"/>
              </a:rPr>
              <a:t>—</a:t>
            </a:r>
            <a:r>
              <a:rPr lang="en-US" altLang="zh-CN" smtClean="0"/>
              <a:t> </a:t>
            </a:r>
            <a:r>
              <a:rPr lang="zh-CN" altLang="en-US" smtClean="0"/>
              <a:t>任课</a:t>
            </a:r>
            <a:endParaRPr lang="zh-CN" altLang="en-US" smtClean="0"/>
          </a:p>
          <a:p>
            <a:pPr eaLnBrk="1" hangingPunct="1">
              <a:lnSpc>
                <a:spcPct val="90000"/>
              </a:lnSpc>
              <a:spcBef>
                <a:spcPct val="15000"/>
              </a:spcBef>
            </a:pPr>
            <a:r>
              <a:rPr lang="zh-CN" altLang="en-US" smtClean="0"/>
              <a:t>分析联系的类型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选课：多对多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任课：</a:t>
            </a:r>
            <a:r>
              <a:rPr lang="en-US" altLang="zh-CN" smtClean="0"/>
              <a:t>1</a:t>
            </a:r>
            <a:r>
              <a:rPr lang="zh-CN" altLang="en-US" smtClean="0"/>
              <a:t>对多</a:t>
            </a:r>
            <a:endParaRPr lang="zh-CN" altLang="en-US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概念模型</a:t>
            </a:r>
            <a:r>
              <a:rPr lang="zh-CN" altLang="en-US" dirty="0" smtClean="0">
                <a:solidFill>
                  <a:srgbClr val="000000"/>
                </a:solidFill>
              </a:rPr>
              <a:t>举例</a:t>
            </a:r>
            <a:endParaRPr lang="zh-CN" altLang="en-US" dirty="0" smtClean="0">
              <a:solidFill>
                <a:srgbClr val="000000"/>
              </a:solidFill>
            </a:endParaRPr>
          </a:p>
        </p:txBody>
      </p:sp>
      <p:grpSp>
        <p:nvGrpSpPr>
          <p:cNvPr id="2" name="Group 42"/>
          <p:cNvGrpSpPr/>
          <p:nvPr/>
        </p:nvGrpSpPr>
        <p:grpSpPr bwMode="auto">
          <a:xfrm>
            <a:off x="5484813" y="2425700"/>
            <a:ext cx="2303462" cy="2479675"/>
            <a:chOff x="3198" y="1528"/>
            <a:chExt cx="1451" cy="1562"/>
          </a:xfrm>
        </p:grpSpPr>
        <p:sp>
          <p:nvSpPr>
            <p:cNvPr id="45094" name="AutoShape 8"/>
            <p:cNvSpPr>
              <a:spLocks noChangeArrowheads="1"/>
            </p:cNvSpPr>
            <p:nvPr/>
          </p:nvSpPr>
          <p:spPr bwMode="auto">
            <a:xfrm>
              <a:off x="3731" y="2034"/>
              <a:ext cx="918" cy="556"/>
            </a:xfrm>
            <a:prstGeom prst="diamond">
              <a:avLst/>
            </a:prstGeom>
            <a:solidFill>
              <a:schemeClr val="tx2"/>
            </a:solidFill>
            <a:ln w="28575" algn="ctr">
              <a:solidFill>
                <a:srgbClr val="000000"/>
              </a:solidFill>
              <a:miter lim="800000"/>
            </a:ln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任课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95" name="Line 11"/>
            <p:cNvSpPr>
              <a:spLocks noChangeShapeType="1"/>
            </p:cNvSpPr>
            <p:nvPr/>
          </p:nvSpPr>
          <p:spPr bwMode="auto">
            <a:xfrm>
              <a:off x="3198" y="1616"/>
              <a:ext cx="997" cy="4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96" name="Line 12"/>
            <p:cNvSpPr>
              <a:spLocks noChangeShapeType="1"/>
            </p:cNvSpPr>
            <p:nvPr/>
          </p:nvSpPr>
          <p:spPr bwMode="auto">
            <a:xfrm>
              <a:off x="4193" y="2578"/>
              <a:ext cx="0" cy="5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97" name="Rectangle 13"/>
            <p:cNvSpPr>
              <a:spLocks noChangeArrowheads="1"/>
            </p:cNvSpPr>
            <p:nvPr/>
          </p:nvSpPr>
          <p:spPr bwMode="auto">
            <a:xfrm>
              <a:off x="4239" y="2714"/>
              <a:ext cx="1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en-US" altLang="zh-CN" sz="2800">
                  <a:latin typeface="Arial" panose="020B0604020202020204" pitchFamily="34" charset="0"/>
                </a:rPr>
                <a:t>1</a:t>
              </a:r>
              <a:endParaRPr kumimoji="0" lang="en-US" altLang="zh-CN" sz="2800">
                <a:latin typeface="Arial" panose="020B0604020202020204" pitchFamily="34" charset="0"/>
              </a:endParaRPr>
            </a:p>
          </p:txBody>
        </p:sp>
        <p:sp>
          <p:nvSpPr>
            <p:cNvPr id="45098" name="Rectangle 14"/>
            <p:cNvSpPr>
              <a:spLocks noChangeArrowheads="1"/>
            </p:cNvSpPr>
            <p:nvPr/>
          </p:nvSpPr>
          <p:spPr bwMode="auto">
            <a:xfrm>
              <a:off x="3605" y="1528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en-US" altLang="zh-CN" sz="2800">
                  <a:latin typeface="Arial" panose="020B0604020202020204" pitchFamily="34" charset="0"/>
                </a:rPr>
                <a:t>n</a:t>
              </a:r>
              <a:endParaRPr kumimoji="0" lang="en-US" altLang="zh-CN" sz="280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9"/>
          <p:cNvGrpSpPr/>
          <p:nvPr/>
        </p:nvGrpSpPr>
        <p:grpSpPr bwMode="auto">
          <a:xfrm>
            <a:off x="2387600" y="981075"/>
            <a:ext cx="4889500" cy="1824038"/>
            <a:chOff x="1247" y="618"/>
            <a:chExt cx="3080" cy="1149"/>
          </a:xfrm>
        </p:grpSpPr>
        <p:sp>
          <p:nvSpPr>
            <p:cNvPr id="45087" name="Text Box 6"/>
            <p:cNvSpPr txBox="1">
              <a:spLocks noChangeArrowheads="1"/>
            </p:cNvSpPr>
            <p:nvPr/>
          </p:nvSpPr>
          <p:spPr bwMode="auto">
            <a:xfrm>
              <a:off x="2402" y="1480"/>
              <a:ext cx="816" cy="287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lIns="108000" tIns="0" rIns="108000" bIns="0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solidFill>
                    <a:srgbClr val="0000CC"/>
                  </a:solidFill>
                  <a:latin typeface="Arial" panose="020B0604020202020204" pitchFamily="34" charset="0"/>
                </a:rPr>
                <a:t>课程</a:t>
              </a:r>
              <a:endParaRPr kumimoji="0" lang="zh-CN" altLang="en-US" sz="2800">
                <a:solidFill>
                  <a:srgbClr val="0000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088" name="Oval 17"/>
            <p:cNvSpPr>
              <a:spLocks noChangeArrowheads="1"/>
            </p:cNvSpPr>
            <p:nvPr/>
          </p:nvSpPr>
          <p:spPr bwMode="auto">
            <a:xfrm>
              <a:off x="1247" y="618"/>
              <a:ext cx="973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 u="sng">
                  <a:latin typeface="Arial" panose="020B0604020202020204" pitchFamily="34" charset="0"/>
                </a:rPr>
                <a:t>课程号</a:t>
              </a:r>
              <a:endParaRPr kumimoji="0" lang="zh-CN" altLang="en-US" sz="2800" u="sng">
                <a:latin typeface="Arial" panose="020B0604020202020204" pitchFamily="34" charset="0"/>
              </a:endParaRPr>
            </a:p>
          </p:txBody>
        </p:sp>
        <p:sp>
          <p:nvSpPr>
            <p:cNvPr id="45089" name="Oval 18"/>
            <p:cNvSpPr>
              <a:spLocks noChangeArrowheads="1"/>
            </p:cNvSpPr>
            <p:nvPr/>
          </p:nvSpPr>
          <p:spPr bwMode="auto">
            <a:xfrm>
              <a:off x="2311" y="618"/>
              <a:ext cx="973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课程名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90" name="Oval 19"/>
            <p:cNvSpPr>
              <a:spLocks noChangeArrowheads="1"/>
            </p:cNvSpPr>
            <p:nvPr/>
          </p:nvSpPr>
          <p:spPr bwMode="auto">
            <a:xfrm>
              <a:off x="3354" y="618"/>
              <a:ext cx="973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学时数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91" name="Line 20"/>
            <p:cNvSpPr>
              <a:spLocks noChangeShapeType="1"/>
            </p:cNvSpPr>
            <p:nvPr/>
          </p:nvSpPr>
          <p:spPr bwMode="auto">
            <a:xfrm flipV="1">
              <a:off x="2810" y="1026"/>
              <a:ext cx="0" cy="4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92" name="Line 21"/>
            <p:cNvSpPr>
              <a:spLocks noChangeShapeType="1"/>
            </p:cNvSpPr>
            <p:nvPr/>
          </p:nvSpPr>
          <p:spPr bwMode="auto">
            <a:xfrm flipV="1">
              <a:off x="3057" y="981"/>
              <a:ext cx="569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93" name="Line 22"/>
            <p:cNvSpPr>
              <a:spLocks noChangeShapeType="1"/>
            </p:cNvSpPr>
            <p:nvPr/>
          </p:nvSpPr>
          <p:spPr bwMode="auto">
            <a:xfrm flipH="1" flipV="1">
              <a:off x="1882" y="1026"/>
              <a:ext cx="630" cy="4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40"/>
          <p:cNvGrpSpPr/>
          <p:nvPr/>
        </p:nvGrpSpPr>
        <p:grpSpPr bwMode="auto">
          <a:xfrm>
            <a:off x="5411788" y="4884738"/>
            <a:ext cx="3408362" cy="1784350"/>
            <a:chOff x="3152" y="3077"/>
            <a:chExt cx="2147" cy="1124"/>
          </a:xfrm>
        </p:grpSpPr>
        <p:sp>
          <p:nvSpPr>
            <p:cNvPr id="45080" name="Text Box 5"/>
            <p:cNvSpPr txBox="1">
              <a:spLocks noChangeArrowheads="1"/>
            </p:cNvSpPr>
            <p:nvPr/>
          </p:nvSpPr>
          <p:spPr bwMode="auto">
            <a:xfrm>
              <a:off x="3831" y="3077"/>
              <a:ext cx="682" cy="287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</p:spPr>
          <p:txBody>
            <a:bodyPr lIns="108000" tIns="0" rIns="108000" bIns="0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solidFill>
                    <a:srgbClr val="0000CC"/>
                  </a:solidFill>
                  <a:latin typeface="Arial" panose="020B0604020202020204" pitchFamily="34" charset="0"/>
                </a:rPr>
                <a:t>教师</a:t>
              </a:r>
              <a:endParaRPr kumimoji="0" lang="zh-CN" altLang="en-US" sz="2800">
                <a:solidFill>
                  <a:srgbClr val="0000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081" name="Oval 23"/>
            <p:cNvSpPr>
              <a:spLocks noChangeArrowheads="1"/>
            </p:cNvSpPr>
            <p:nvPr/>
          </p:nvSpPr>
          <p:spPr bwMode="auto">
            <a:xfrm>
              <a:off x="3152" y="3803"/>
              <a:ext cx="654" cy="398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 u="sng">
                  <a:latin typeface="Arial" panose="020B0604020202020204" pitchFamily="34" charset="0"/>
                </a:rPr>
                <a:t>姓名</a:t>
              </a:r>
              <a:endParaRPr kumimoji="0" lang="zh-CN" altLang="en-US" sz="2800" u="sng">
                <a:latin typeface="Arial" panose="020B0604020202020204" pitchFamily="34" charset="0"/>
              </a:endParaRPr>
            </a:p>
          </p:txBody>
        </p:sp>
        <p:sp>
          <p:nvSpPr>
            <p:cNvPr id="45082" name="Oval 24"/>
            <p:cNvSpPr>
              <a:spLocks noChangeArrowheads="1"/>
            </p:cNvSpPr>
            <p:nvPr/>
          </p:nvSpPr>
          <p:spPr bwMode="auto">
            <a:xfrm>
              <a:off x="3877" y="3803"/>
              <a:ext cx="654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年龄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83" name="Oval 25"/>
            <p:cNvSpPr>
              <a:spLocks noChangeArrowheads="1"/>
            </p:cNvSpPr>
            <p:nvPr/>
          </p:nvSpPr>
          <p:spPr bwMode="auto">
            <a:xfrm>
              <a:off x="4645" y="3803"/>
              <a:ext cx="654" cy="398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职称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84" name="Line 30"/>
            <p:cNvSpPr>
              <a:spLocks noChangeShapeType="1"/>
            </p:cNvSpPr>
            <p:nvPr/>
          </p:nvSpPr>
          <p:spPr bwMode="auto">
            <a:xfrm>
              <a:off x="4193" y="3385"/>
              <a:ext cx="2" cy="4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85" name="Line 31"/>
            <p:cNvSpPr>
              <a:spLocks noChangeShapeType="1"/>
            </p:cNvSpPr>
            <p:nvPr/>
          </p:nvSpPr>
          <p:spPr bwMode="auto">
            <a:xfrm flipH="1">
              <a:off x="3515" y="3385"/>
              <a:ext cx="499" cy="4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86" name="Line 32"/>
            <p:cNvSpPr>
              <a:spLocks noChangeShapeType="1"/>
            </p:cNvSpPr>
            <p:nvPr/>
          </p:nvSpPr>
          <p:spPr bwMode="auto">
            <a:xfrm>
              <a:off x="4377" y="3385"/>
              <a:ext cx="590" cy="4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41"/>
          <p:cNvGrpSpPr/>
          <p:nvPr/>
        </p:nvGrpSpPr>
        <p:grpSpPr bwMode="auto">
          <a:xfrm>
            <a:off x="587375" y="4629150"/>
            <a:ext cx="4638675" cy="1752600"/>
            <a:chOff x="113" y="2916"/>
            <a:chExt cx="2922" cy="1104"/>
          </a:xfrm>
        </p:grpSpPr>
        <p:sp>
          <p:nvSpPr>
            <p:cNvPr id="45071" name="Text Box 4"/>
            <p:cNvSpPr txBox="1">
              <a:spLocks noChangeArrowheads="1"/>
            </p:cNvSpPr>
            <p:nvPr/>
          </p:nvSpPr>
          <p:spPr bwMode="auto">
            <a:xfrm>
              <a:off x="1200" y="2916"/>
              <a:ext cx="682" cy="287"/>
            </a:xfrm>
            <a:prstGeom prst="rect">
              <a:avLst/>
            </a:prstGeom>
            <a:solidFill>
              <a:srgbClr val="FFCCFF"/>
            </a:solidFill>
            <a:ln w="28575" algn="ctr">
              <a:solidFill>
                <a:srgbClr val="000000"/>
              </a:solidFill>
              <a:miter lim="800000"/>
            </a:ln>
          </p:spPr>
          <p:txBody>
            <a:bodyPr lIns="108000" tIns="0" rIns="108000" bIns="0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solidFill>
                    <a:srgbClr val="0000CC"/>
                  </a:solidFill>
                  <a:latin typeface="Arial" panose="020B0604020202020204" pitchFamily="34" charset="0"/>
                </a:rPr>
                <a:t>学生</a:t>
              </a:r>
              <a:endParaRPr kumimoji="0" lang="zh-CN" altLang="en-US" sz="2800">
                <a:solidFill>
                  <a:srgbClr val="0000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072" name="Oval 26"/>
            <p:cNvSpPr>
              <a:spLocks noChangeArrowheads="1"/>
            </p:cNvSpPr>
            <p:nvPr/>
          </p:nvSpPr>
          <p:spPr bwMode="auto">
            <a:xfrm>
              <a:off x="113" y="3622"/>
              <a:ext cx="654" cy="398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 u="sng">
                  <a:latin typeface="Arial" panose="020B0604020202020204" pitchFamily="34" charset="0"/>
                </a:rPr>
                <a:t>学号</a:t>
              </a:r>
              <a:endParaRPr kumimoji="0" lang="zh-CN" altLang="en-US" sz="2800" u="sng">
                <a:latin typeface="Arial" panose="020B0604020202020204" pitchFamily="34" charset="0"/>
              </a:endParaRPr>
            </a:p>
          </p:txBody>
        </p:sp>
        <p:sp>
          <p:nvSpPr>
            <p:cNvPr id="45073" name="Oval 27"/>
            <p:cNvSpPr>
              <a:spLocks noChangeArrowheads="1"/>
            </p:cNvSpPr>
            <p:nvPr/>
          </p:nvSpPr>
          <p:spPr bwMode="auto">
            <a:xfrm>
              <a:off x="1613" y="3622"/>
              <a:ext cx="654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年龄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74" name="Oval 28"/>
            <p:cNvSpPr>
              <a:spLocks noChangeArrowheads="1"/>
            </p:cNvSpPr>
            <p:nvPr/>
          </p:nvSpPr>
          <p:spPr bwMode="auto">
            <a:xfrm>
              <a:off x="2381" y="3622"/>
              <a:ext cx="654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性别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75" name="Oval 29"/>
            <p:cNvSpPr>
              <a:spLocks noChangeArrowheads="1"/>
            </p:cNvSpPr>
            <p:nvPr/>
          </p:nvSpPr>
          <p:spPr bwMode="auto">
            <a:xfrm>
              <a:off x="839" y="3622"/>
              <a:ext cx="654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姓名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76" name="Line 33"/>
            <p:cNvSpPr>
              <a:spLocks noChangeShapeType="1"/>
            </p:cNvSpPr>
            <p:nvPr/>
          </p:nvSpPr>
          <p:spPr bwMode="auto">
            <a:xfrm flipH="1">
              <a:off x="1202" y="3203"/>
              <a:ext cx="272" cy="4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77" name="Line 34"/>
            <p:cNvSpPr>
              <a:spLocks noChangeShapeType="1"/>
            </p:cNvSpPr>
            <p:nvPr/>
          </p:nvSpPr>
          <p:spPr bwMode="auto">
            <a:xfrm>
              <a:off x="1565" y="3203"/>
              <a:ext cx="317" cy="4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78" name="Line 35"/>
            <p:cNvSpPr>
              <a:spLocks noChangeShapeType="1"/>
            </p:cNvSpPr>
            <p:nvPr/>
          </p:nvSpPr>
          <p:spPr bwMode="auto">
            <a:xfrm flipH="1">
              <a:off x="521" y="3203"/>
              <a:ext cx="817" cy="4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79" name="Line 36"/>
            <p:cNvSpPr>
              <a:spLocks noChangeShapeType="1"/>
            </p:cNvSpPr>
            <p:nvPr/>
          </p:nvSpPr>
          <p:spPr bwMode="auto">
            <a:xfrm>
              <a:off x="1746" y="3203"/>
              <a:ext cx="907" cy="4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43"/>
          <p:cNvGrpSpPr/>
          <p:nvPr/>
        </p:nvGrpSpPr>
        <p:grpSpPr bwMode="auto">
          <a:xfrm>
            <a:off x="587375" y="2281238"/>
            <a:ext cx="3600450" cy="2347912"/>
            <a:chOff x="113" y="1437"/>
            <a:chExt cx="2268" cy="1479"/>
          </a:xfrm>
        </p:grpSpPr>
        <p:sp>
          <p:nvSpPr>
            <p:cNvPr id="45064" name="AutoShape 7"/>
            <p:cNvSpPr>
              <a:spLocks noChangeArrowheads="1"/>
            </p:cNvSpPr>
            <p:nvPr/>
          </p:nvSpPr>
          <p:spPr bwMode="auto">
            <a:xfrm>
              <a:off x="1114" y="1840"/>
              <a:ext cx="918" cy="556"/>
            </a:xfrm>
            <a:prstGeom prst="diamond">
              <a:avLst/>
            </a:prstGeom>
            <a:solidFill>
              <a:schemeClr val="tx2"/>
            </a:solidFill>
            <a:ln w="28575" algn="ctr">
              <a:solidFill>
                <a:srgbClr val="000000"/>
              </a:solidFill>
              <a:miter lim="800000"/>
            </a:ln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选课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65" name="Line 9"/>
            <p:cNvSpPr>
              <a:spLocks noChangeShapeType="1"/>
            </p:cNvSpPr>
            <p:nvPr/>
          </p:nvSpPr>
          <p:spPr bwMode="auto">
            <a:xfrm flipH="1">
              <a:off x="1565" y="1616"/>
              <a:ext cx="816" cy="22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66" name="Line 10"/>
            <p:cNvSpPr>
              <a:spLocks noChangeShapeType="1"/>
            </p:cNvSpPr>
            <p:nvPr/>
          </p:nvSpPr>
          <p:spPr bwMode="auto">
            <a:xfrm flipH="1">
              <a:off x="1565" y="2384"/>
              <a:ext cx="0" cy="5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5067" name="Rectangle 15"/>
            <p:cNvSpPr>
              <a:spLocks noChangeArrowheads="1"/>
            </p:cNvSpPr>
            <p:nvPr/>
          </p:nvSpPr>
          <p:spPr bwMode="auto">
            <a:xfrm>
              <a:off x="1882" y="1437"/>
              <a:ext cx="1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en-US" altLang="zh-CN" sz="2800">
                  <a:latin typeface="Arial" panose="020B0604020202020204" pitchFamily="34" charset="0"/>
                </a:rPr>
                <a:t>m</a:t>
              </a:r>
              <a:endParaRPr kumimoji="0" lang="en-US" altLang="zh-CN" sz="2800">
                <a:latin typeface="Arial" panose="020B0604020202020204" pitchFamily="34" charset="0"/>
              </a:endParaRPr>
            </a:p>
          </p:txBody>
        </p:sp>
        <p:sp>
          <p:nvSpPr>
            <p:cNvPr id="45068" name="Rectangle 16"/>
            <p:cNvSpPr>
              <a:spLocks noChangeArrowheads="1"/>
            </p:cNvSpPr>
            <p:nvPr/>
          </p:nvSpPr>
          <p:spPr bwMode="auto">
            <a:xfrm>
              <a:off x="1641" y="2429"/>
              <a:ext cx="13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en-US" altLang="zh-CN" sz="2800">
                  <a:latin typeface="Arial" panose="020B0604020202020204" pitchFamily="34" charset="0"/>
                </a:rPr>
                <a:t>n</a:t>
              </a:r>
              <a:endParaRPr kumimoji="0" lang="en-US" altLang="zh-CN" sz="2800">
                <a:latin typeface="Arial" panose="020B0604020202020204" pitchFamily="34" charset="0"/>
              </a:endParaRPr>
            </a:p>
          </p:txBody>
        </p:sp>
        <p:sp>
          <p:nvSpPr>
            <p:cNvPr id="45069" name="Oval 37"/>
            <p:cNvSpPr>
              <a:spLocks noChangeArrowheads="1"/>
            </p:cNvSpPr>
            <p:nvPr/>
          </p:nvSpPr>
          <p:spPr bwMode="auto">
            <a:xfrm>
              <a:off x="113" y="1943"/>
              <a:ext cx="654" cy="398"/>
            </a:xfrm>
            <a:prstGeom prst="ellipse">
              <a:avLst/>
            </a:prstGeom>
            <a:noFill/>
            <a:ln w="28575" algn="ctr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0" lang="zh-CN" altLang="en-US" sz="2800">
                  <a:latin typeface="Arial" panose="020B0604020202020204" pitchFamily="34" charset="0"/>
                </a:rPr>
                <a:t>成绩</a:t>
              </a:r>
              <a:endParaRPr kumimoji="0"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45070" name="Line 38"/>
            <p:cNvSpPr>
              <a:spLocks noChangeShapeType="1"/>
            </p:cNvSpPr>
            <p:nvPr/>
          </p:nvSpPr>
          <p:spPr bwMode="auto">
            <a:xfrm flipH="1">
              <a:off x="793" y="2115"/>
              <a:ext cx="31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569325" cy="504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练习：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08685"/>
            <a:ext cx="8497570" cy="5792470"/>
          </a:xfrm>
        </p:spPr>
        <p:txBody>
          <a:bodyPr/>
          <a:lstStyle/>
          <a:p>
            <a:pPr marL="355600" indent="-355600" algn="l" eaLnBrk="1" latinLnBrk="0" hangingPunct="1">
              <a:lnSpc>
                <a:spcPct val="100000"/>
              </a:lnSpc>
              <a:spcBef>
                <a:spcPct val="15000"/>
              </a:spcBef>
              <a:buFont typeface="Wingdings" panose="05000000000000000000" pitchFamily="2" charset="2"/>
            </a:pPr>
            <a:r>
              <a:rPr lang="zh-CN" altLang="en-US" sz="2800" smtClean="0"/>
              <a:t>设某海军基地要建立一个舰队管理信息系统，主要管理如下信息： </a:t>
            </a:r>
            <a:endParaRPr lang="zh-CN" altLang="en-US" sz="2800" smtClean="0"/>
          </a:p>
          <a:p>
            <a:pPr marL="355600" indent="-355600" eaLnBrk="1" latinLnBrk="0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solidFill>
                  <a:schemeClr val="hlink"/>
                </a:solidFill>
              </a:rPr>
              <a:t>    </a:t>
            </a:r>
            <a:r>
              <a:rPr lang="zh-CN" altLang="en-US" sz="2800" smtClean="0">
                <a:solidFill>
                  <a:srgbClr val="FF0000"/>
                </a:solidFill>
              </a:rPr>
              <a:t>舰队：</a:t>
            </a:r>
            <a:r>
              <a:rPr lang="zh-CN" altLang="en-US" sz="2800" smtClean="0">
                <a:solidFill>
                  <a:srgbClr val="0000CC"/>
                </a:solidFill>
              </a:rPr>
              <a:t>舰队名称、基地地点</a:t>
            </a:r>
            <a:endParaRPr lang="zh-CN" altLang="en-US" sz="2800" smtClean="0">
              <a:solidFill>
                <a:srgbClr val="0000CC"/>
              </a:solidFill>
            </a:endParaRPr>
          </a:p>
          <a:p>
            <a:pPr marL="355600" indent="-355600" eaLnBrk="1" latinLnBrk="0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solidFill>
                  <a:srgbClr val="0000CC"/>
                </a:solidFill>
              </a:rPr>
              <a:t>    </a:t>
            </a:r>
            <a:r>
              <a:rPr lang="zh-CN" altLang="en-US" sz="2800" smtClean="0">
                <a:solidFill>
                  <a:srgbClr val="FF0000"/>
                </a:solidFill>
              </a:rPr>
              <a:t>舰艇：</a:t>
            </a:r>
            <a:r>
              <a:rPr lang="zh-CN" altLang="en-US" sz="2800" smtClean="0">
                <a:solidFill>
                  <a:srgbClr val="0000CC"/>
                </a:solidFill>
              </a:rPr>
              <a:t>舰艇编号、舰艇名称</a:t>
            </a:r>
            <a:endParaRPr lang="zh-CN" altLang="en-US" sz="2800" smtClean="0">
              <a:solidFill>
                <a:srgbClr val="0000CC"/>
              </a:solidFill>
            </a:endParaRPr>
          </a:p>
          <a:p>
            <a:pPr marL="355600" indent="-355600" eaLnBrk="1" latinLnBrk="0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solidFill>
                  <a:srgbClr val="0000CC"/>
                </a:solidFill>
              </a:rPr>
              <a:t>   </a:t>
            </a:r>
            <a:r>
              <a:rPr lang="zh-CN" altLang="en-US" sz="2800" smtClean="0">
                <a:solidFill>
                  <a:srgbClr val="FF0000"/>
                </a:solidFill>
              </a:rPr>
              <a:t> 武器：</a:t>
            </a:r>
            <a:r>
              <a:rPr lang="zh-CN" altLang="en-US" sz="2800" smtClean="0">
                <a:solidFill>
                  <a:srgbClr val="0000CC"/>
                </a:solidFill>
              </a:rPr>
              <a:t>武器名称、武器生产时间</a:t>
            </a:r>
            <a:endParaRPr lang="zh-CN" altLang="en-US" sz="2800" smtClean="0">
              <a:solidFill>
                <a:srgbClr val="0000CC"/>
              </a:solidFill>
            </a:endParaRPr>
          </a:p>
          <a:p>
            <a:pPr marL="355600" indent="-355600" eaLnBrk="1" latinLnBrk="0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800" smtClean="0">
                <a:solidFill>
                  <a:srgbClr val="0000CC"/>
                </a:solidFill>
              </a:rPr>
              <a:t>    </a:t>
            </a:r>
            <a:r>
              <a:rPr lang="zh-CN" altLang="en-US" sz="2800" smtClean="0">
                <a:solidFill>
                  <a:srgbClr val="FF0000"/>
                </a:solidFill>
              </a:rPr>
              <a:t>官兵：</a:t>
            </a:r>
            <a:r>
              <a:rPr lang="zh-CN" altLang="en-US" sz="2800" smtClean="0">
                <a:solidFill>
                  <a:srgbClr val="0000CC"/>
                </a:solidFill>
              </a:rPr>
              <a:t>官兵证号、姓名</a:t>
            </a:r>
            <a:endParaRPr lang="zh-CN" altLang="en-US" sz="2800" smtClean="0">
              <a:solidFill>
                <a:srgbClr val="0000CC"/>
              </a:solidFill>
            </a:endParaRPr>
          </a:p>
          <a:p>
            <a:pPr marL="355600" indent="-355600" eaLnBrk="1" latinLnBrk="0" hangingPunct="1">
              <a:lnSpc>
                <a:spcPct val="100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zh-CN" altLang="en-US" sz="2800" smtClean="0"/>
              <a:t>其中：</a:t>
            </a:r>
            <a:endParaRPr lang="zh-CN" altLang="en-US" sz="2800" smtClean="0"/>
          </a:p>
          <a:p>
            <a:pPr marL="355600" indent="-355600" eaLnBrk="1" latinLnBrk="0" hangingPunct="1">
              <a:lnSpc>
                <a:spcPct val="100000"/>
              </a:lnSpc>
              <a:spcBef>
                <a:spcPct val="15000"/>
              </a:spcBef>
            </a:pPr>
            <a:r>
              <a:rPr lang="zh-CN" altLang="en-US" sz="2800" smtClean="0"/>
              <a:t>一个舰队拥有多艘舰艇，一艘舰艇属于一个舰队，</a:t>
            </a:r>
            <a:r>
              <a:rPr lang="zh-CN" altLang="en-US" sz="2800" smtClean="0">
                <a:solidFill>
                  <a:srgbClr val="FF0000"/>
                </a:solidFill>
              </a:rPr>
              <a:t>要求了解一个舰队拥有舰艇的数量</a:t>
            </a:r>
            <a:endParaRPr lang="zh-CN" altLang="en-US" sz="2800" smtClean="0"/>
          </a:p>
          <a:p>
            <a:pPr marL="355600" indent="-355600" eaLnBrk="1" latinLnBrk="0" hangingPunct="1">
              <a:lnSpc>
                <a:spcPct val="100000"/>
              </a:lnSpc>
              <a:spcBef>
                <a:spcPct val="15000"/>
              </a:spcBef>
            </a:pPr>
            <a:r>
              <a:rPr lang="zh-CN" altLang="en-US" sz="2800" smtClean="0"/>
              <a:t>一艘舰艇安装多</a:t>
            </a:r>
            <a:r>
              <a:rPr lang="zh-CN" altLang="en-US" sz="2800" smtClean="0">
                <a:solidFill>
                  <a:srgbClr val="FF0000"/>
                </a:solidFill>
              </a:rPr>
              <a:t>种</a:t>
            </a:r>
            <a:r>
              <a:rPr lang="zh-CN" altLang="en-US" sz="2800" smtClean="0"/>
              <a:t>武器，一</a:t>
            </a:r>
            <a:r>
              <a:rPr lang="zh-CN" altLang="en-US" sz="2800" smtClean="0">
                <a:solidFill>
                  <a:srgbClr val="FF0000"/>
                </a:solidFill>
              </a:rPr>
              <a:t>种</a:t>
            </a:r>
            <a:r>
              <a:rPr lang="zh-CN" altLang="en-US" sz="2800" smtClean="0"/>
              <a:t>武器可安装在多艘舰艇上</a:t>
            </a:r>
            <a:endParaRPr lang="zh-CN" altLang="en-US" sz="2800" smtClean="0"/>
          </a:p>
          <a:p>
            <a:pPr marL="355600" indent="-355600" eaLnBrk="1" latinLnBrk="0" hangingPunct="1">
              <a:lnSpc>
                <a:spcPct val="100000"/>
              </a:lnSpc>
              <a:spcBef>
                <a:spcPct val="15000"/>
              </a:spcBef>
            </a:pPr>
            <a:r>
              <a:rPr lang="zh-CN" altLang="en-US" sz="2800" smtClean="0"/>
              <a:t>一艘舰艇有多名官兵，一名官兵只属于一艘舰艇</a:t>
            </a:r>
            <a:endParaRPr lang="zh-CN" altLang="en-US" sz="2800" smtClean="0"/>
          </a:p>
          <a:p>
            <a:pPr marL="355600" indent="-355600" eaLnBrk="1" hangingPunct="1">
              <a:lnSpc>
                <a:spcPct val="90000"/>
              </a:lnSpc>
              <a:spcBef>
                <a:spcPct val="45000"/>
              </a:spcBef>
              <a:buFont typeface="Wingdings" panose="05000000000000000000" pitchFamily="2" charset="2"/>
              <a:buNone/>
            </a:pPr>
            <a:endParaRPr lang="zh-CN" altLang="en-US" sz="3200" smtClean="0"/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9"/>
          <p:cNvGrpSpPr/>
          <p:nvPr/>
        </p:nvGrpSpPr>
        <p:grpSpPr bwMode="auto">
          <a:xfrm>
            <a:off x="611188" y="981075"/>
            <a:ext cx="3621087" cy="1584325"/>
            <a:chOff x="508" y="618"/>
            <a:chExt cx="1224" cy="530"/>
          </a:xfrm>
        </p:grpSpPr>
        <p:sp>
          <p:nvSpPr>
            <p:cNvPr id="47125" name="Oval 4"/>
            <p:cNvSpPr>
              <a:spLocks noChangeArrowheads="1"/>
            </p:cNvSpPr>
            <p:nvPr/>
          </p:nvSpPr>
          <p:spPr bwMode="auto">
            <a:xfrm>
              <a:off x="508" y="618"/>
              <a:ext cx="576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000" u="sng">
                  <a:ea typeface="宋体" panose="02010600030101010101" pitchFamily="2" charset="-122"/>
                </a:rPr>
                <a:t>舰队名称</a:t>
              </a:r>
              <a:endParaRPr lang="zh-CN" altLang="en-US" sz="4800" u="sng">
                <a:ea typeface="宋体" panose="02010600030101010101" pitchFamily="2" charset="-122"/>
              </a:endParaRPr>
            </a:p>
          </p:txBody>
        </p:sp>
        <p:sp>
          <p:nvSpPr>
            <p:cNvPr id="47126" name="Oval 5"/>
            <p:cNvSpPr>
              <a:spLocks noChangeArrowheads="1"/>
            </p:cNvSpPr>
            <p:nvPr/>
          </p:nvSpPr>
          <p:spPr bwMode="auto">
            <a:xfrm>
              <a:off x="1156" y="618"/>
              <a:ext cx="576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基地地点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  <p:sp>
          <p:nvSpPr>
            <p:cNvPr id="47127" name="Line 6"/>
            <p:cNvSpPr>
              <a:spLocks noChangeShapeType="1"/>
            </p:cNvSpPr>
            <p:nvPr/>
          </p:nvSpPr>
          <p:spPr bwMode="auto">
            <a:xfrm flipH="1" flipV="1">
              <a:off x="910" y="805"/>
              <a:ext cx="144" cy="1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8" name="Line 7"/>
            <p:cNvSpPr>
              <a:spLocks noChangeShapeType="1"/>
            </p:cNvSpPr>
            <p:nvPr/>
          </p:nvSpPr>
          <p:spPr bwMode="auto">
            <a:xfrm flipV="1">
              <a:off x="1198" y="805"/>
              <a:ext cx="144" cy="1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Text Box 8"/>
            <p:cNvSpPr txBox="1">
              <a:spLocks noChangeArrowheads="1"/>
            </p:cNvSpPr>
            <p:nvPr/>
          </p:nvSpPr>
          <p:spPr bwMode="auto">
            <a:xfrm>
              <a:off x="946" y="992"/>
              <a:ext cx="360" cy="15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000">
                  <a:ea typeface="宋体" panose="02010600030101010101" pitchFamily="2" charset="-122"/>
                </a:rPr>
                <a:t>舰队</a:t>
              </a:r>
              <a:endParaRPr lang="zh-CN" altLang="en-US" sz="4800">
                <a:ea typeface="宋体" panose="02010600030101010101" pitchFamily="2" charset="-122"/>
              </a:endParaRPr>
            </a:p>
          </p:txBody>
        </p:sp>
      </p:grpSp>
      <p:grpSp>
        <p:nvGrpSpPr>
          <p:cNvPr id="47107" name="Group 15"/>
          <p:cNvGrpSpPr/>
          <p:nvPr/>
        </p:nvGrpSpPr>
        <p:grpSpPr bwMode="auto">
          <a:xfrm>
            <a:off x="749300" y="4149090"/>
            <a:ext cx="3387725" cy="1656080"/>
            <a:chOff x="957" y="2614"/>
            <a:chExt cx="1224" cy="515"/>
          </a:xfrm>
        </p:grpSpPr>
        <p:sp>
          <p:nvSpPr>
            <p:cNvPr id="47120" name="Oval 10"/>
            <p:cNvSpPr>
              <a:spLocks noChangeArrowheads="1"/>
            </p:cNvSpPr>
            <p:nvPr/>
          </p:nvSpPr>
          <p:spPr bwMode="auto">
            <a:xfrm>
              <a:off x="957" y="2942"/>
              <a:ext cx="576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 u="sng">
                  <a:ea typeface="宋体" panose="02010600030101010101" pitchFamily="2" charset="-122"/>
                </a:rPr>
                <a:t>舰艇编号</a:t>
              </a:r>
              <a:endParaRPr lang="zh-CN" altLang="en-US" sz="4400" u="sng">
                <a:ea typeface="宋体" panose="02010600030101010101" pitchFamily="2" charset="-122"/>
              </a:endParaRPr>
            </a:p>
          </p:txBody>
        </p:sp>
        <p:sp>
          <p:nvSpPr>
            <p:cNvPr id="47121" name="Oval 11"/>
            <p:cNvSpPr>
              <a:spLocks noChangeArrowheads="1"/>
            </p:cNvSpPr>
            <p:nvPr/>
          </p:nvSpPr>
          <p:spPr bwMode="auto">
            <a:xfrm>
              <a:off x="1605" y="2942"/>
              <a:ext cx="576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舰艇名称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  <p:sp>
          <p:nvSpPr>
            <p:cNvPr id="47122" name="Line 12"/>
            <p:cNvSpPr>
              <a:spLocks noChangeShapeType="1"/>
            </p:cNvSpPr>
            <p:nvPr/>
          </p:nvSpPr>
          <p:spPr bwMode="auto">
            <a:xfrm flipH="1">
              <a:off x="1347" y="2754"/>
              <a:ext cx="144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3" name="Line 13"/>
            <p:cNvSpPr>
              <a:spLocks noChangeShapeType="1"/>
            </p:cNvSpPr>
            <p:nvPr/>
          </p:nvSpPr>
          <p:spPr bwMode="auto">
            <a:xfrm>
              <a:off x="1635" y="2754"/>
              <a:ext cx="144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4" name="Text Box 14"/>
            <p:cNvSpPr txBox="1">
              <a:spLocks noChangeArrowheads="1"/>
            </p:cNvSpPr>
            <p:nvPr/>
          </p:nvSpPr>
          <p:spPr bwMode="auto">
            <a:xfrm>
              <a:off x="1383" y="2614"/>
              <a:ext cx="360" cy="15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舰艇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  <p:grpSp>
        <p:nvGrpSpPr>
          <p:cNvPr id="47108" name="Group 21"/>
          <p:cNvGrpSpPr/>
          <p:nvPr/>
        </p:nvGrpSpPr>
        <p:grpSpPr bwMode="auto">
          <a:xfrm>
            <a:off x="4444365" y="1052830"/>
            <a:ext cx="4088765" cy="1545590"/>
            <a:chOff x="3457" y="935"/>
            <a:chExt cx="1440" cy="577"/>
          </a:xfrm>
        </p:grpSpPr>
        <p:sp>
          <p:nvSpPr>
            <p:cNvPr id="47115" name="Oval 16"/>
            <p:cNvSpPr>
              <a:spLocks noChangeArrowheads="1"/>
            </p:cNvSpPr>
            <p:nvPr/>
          </p:nvSpPr>
          <p:spPr bwMode="auto">
            <a:xfrm>
              <a:off x="3457" y="935"/>
              <a:ext cx="576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 u="sng">
                  <a:ea typeface="宋体" panose="02010600030101010101" pitchFamily="2" charset="-122"/>
                </a:rPr>
                <a:t>武器名称</a:t>
              </a:r>
              <a:endParaRPr lang="zh-CN" altLang="en-US" sz="4400" u="sng">
                <a:ea typeface="宋体" panose="02010600030101010101" pitchFamily="2" charset="-122"/>
              </a:endParaRPr>
            </a:p>
          </p:txBody>
        </p:sp>
        <p:sp>
          <p:nvSpPr>
            <p:cNvPr id="47116" name="Oval 17"/>
            <p:cNvSpPr>
              <a:spLocks noChangeArrowheads="1"/>
            </p:cNvSpPr>
            <p:nvPr/>
          </p:nvSpPr>
          <p:spPr bwMode="auto">
            <a:xfrm>
              <a:off x="4105" y="935"/>
              <a:ext cx="792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武器生产时间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  <p:sp>
          <p:nvSpPr>
            <p:cNvPr id="47117" name="Line 18"/>
            <p:cNvSpPr>
              <a:spLocks noChangeShapeType="1"/>
            </p:cNvSpPr>
            <p:nvPr/>
          </p:nvSpPr>
          <p:spPr bwMode="auto">
            <a:xfrm flipH="1" flipV="1">
              <a:off x="3889" y="1122"/>
              <a:ext cx="360" cy="2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8" name="Line 19"/>
            <p:cNvSpPr>
              <a:spLocks noChangeShapeType="1"/>
            </p:cNvSpPr>
            <p:nvPr/>
          </p:nvSpPr>
          <p:spPr bwMode="auto">
            <a:xfrm flipV="1">
              <a:off x="4393" y="1122"/>
              <a:ext cx="144" cy="2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9" name="Text Box 20"/>
            <p:cNvSpPr txBox="1">
              <a:spLocks noChangeArrowheads="1"/>
            </p:cNvSpPr>
            <p:nvPr/>
          </p:nvSpPr>
          <p:spPr bwMode="auto">
            <a:xfrm>
              <a:off x="4177" y="1356"/>
              <a:ext cx="360" cy="15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武器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  <p:grpSp>
        <p:nvGrpSpPr>
          <p:cNvPr id="47109" name="Group 27"/>
          <p:cNvGrpSpPr/>
          <p:nvPr/>
        </p:nvGrpSpPr>
        <p:grpSpPr bwMode="auto">
          <a:xfrm>
            <a:off x="5721350" y="4221163"/>
            <a:ext cx="3168650" cy="1655762"/>
            <a:chOff x="3230" y="2785"/>
            <a:chExt cx="1008" cy="515"/>
          </a:xfrm>
        </p:grpSpPr>
        <p:sp>
          <p:nvSpPr>
            <p:cNvPr id="47110" name="Oval 22"/>
            <p:cNvSpPr>
              <a:spLocks noChangeArrowheads="1"/>
            </p:cNvSpPr>
            <p:nvPr/>
          </p:nvSpPr>
          <p:spPr bwMode="auto">
            <a:xfrm>
              <a:off x="3230" y="3113"/>
              <a:ext cx="576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000" u="sng">
                  <a:ea typeface="宋体" panose="02010600030101010101" pitchFamily="2" charset="-122"/>
                </a:rPr>
                <a:t>官兵证号</a:t>
              </a:r>
              <a:endParaRPr lang="zh-CN" altLang="en-US" sz="4800" u="sng">
                <a:ea typeface="宋体" panose="02010600030101010101" pitchFamily="2" charset="-122"/>
              </a:endParaRPr>
            </a:p>
          </p:txBody>
        </p:sp>
        <p:sp>
          <p:nvSpPr>
            <p:cNvPr id="47111" name="Oval 23"/>
            <p:cNvSpPr>
              <a:spLocks noChangeArrowheads="1"/>
            </p:cNvSpPr>
            <p:nvPr/>
          </p:nvSpPr>
          <p:spPr bwMode="auto">
            <a:xfrm>
              <a:off x="3878" y="3113"/>
              <a:ext cx="360" cy="1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000">
                  <a:ea typeface="宋体" panose="02010600030101010101" pitchFamily="2" charset="-122"/>
                </a:rPr>
                <a:t>姓名</a:t>
              </a:r>
              <a:endParaRPr lang="zh-CN" altLang="en-US" sz="4800">
                <a:ea typeface="宋体" panose="02010600030101010101" pitchFamily="2" charset="-122"/>
              </a:endParaRPr>
            </a:p>
          </p:txBody>
        </p:sp>
        <p:sp>
          <p:nvSpPr>
            <p:cNvPr id="47112" name="Line 24"/>
            <p:cNvSpPr>
              <a:spLocks noChangeShapeType="1"/>
            </p:cNvSpPr>
            <p:nvPr/>
          </p:nvSpPr>
          <p:spPr bwMode="auto">
            <a:xfrm flipH="1">
              <a:off x="3518" y="2925"/>
              <a:ext cx="72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3" name="Line 25"/>
            <p:cNvSpPr>
              <a:spLocks noChangeShapeType="1"/>
            </p:cNvSpPr>
            <p:nvPr/>
          </p:nvSpPr>
          <p:spPr bwMode="auto">
            <a:xfrm>
              <a:off x="3662" y="2925"/>
              <a:ext cx="288" cy="1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Text Box 26"/>
            <p:cNvSpPr txBox="1">
              <a:spLocks noChangeArrowheads="1"/>
            </p:cNvSpPr>
            <p:nvPr/>
          </p:nvSpPr>
          <p:spPr bwMode="auto">
            <a:xfrm>
              <a:off x="3446" y="2785"/>
              <a:ext cx="360" cy="15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lIns="36000" tIns="36000" rIns="36000" bIns="36000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2000">
                  <a:ea typeface="宋体" panose="02010600030101010101" pitchFamily="2" charset="-122"/>
                </a:rPr>
                <a:t>官兵</a:t>
              </a:r>
              <a:endParaRPr lang="zh-CN" altLang="en-US" sz="480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44"/>
          <p:cNvGrpSpPr/>
          <p:nvPr/>
        </p:nvGrpSpPr>
        <p:grpSpPr bwMode="auto">
          <a:xfrm>
            <a:off x="2874963" y="200025"/>
            <a:ext cx="3095625" cy="1833563"/>
            <a:chOff x="1746" y="126"/>
            <a:chExt cx="1950" cy="1155"/>
          </a:xfrm>
        </p:grpSpPr>
        <p:sp>
          <p:nvSpPr>
            <p:cNvPr id="48169" name="Oval 10"/>
            <p:cNvSpPr>
              <a:spLocks noChangeArrowheads="1"/>
            </p:cNvSpPr>
            <p:nvPr/>
          </p:nvSpPr>
          <p:spPr bwMode="auto">
            <a:xfrm>
              <a:off x="1746" y="126"/>
              <a:ext cx="953" cy="40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 u="sng">
                  <a:solidFill>
                    <a:srgbClr val="0000FF"/>
                  </a:solidFill>
                  <a:ea typeface="宋体" panose="02010600030101010101" pitchFamily="2" charset="-122"/>
                </a:rPr>
                <a:t>舰队名称</a:t>
              </a:r>
              <a:endParaRPr lang="zh-CN" altLang="en-US" sz="4400" u="sng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70" name="Oval 11"/>
            <p:cNvSpPr>
              <a:spLocks noChangeArrowheads="1"/>
            </p:cNvSpPr>
            <p:nvPr/>
          </p:nvSpPr>
          <p:spPr bwMode="auto">
            <a:xfrm>
              <a:off x="2801" y="126"/>
              <a:ext cx="895" cy="40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FF"/>
                  </a:solidFill>
                  <a:ea typeface="宋体" panose="02010600030101010101" pitchFamily="2" charset="-122"/>
                </a:rPr>
                <a:t>基地地点</a:t>
              </a:r>
              <a:endParaRPr lang="zh-CN" altLang="en-US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71" name="Line 19"/>
            <p:cNvSpPr>
              <a:spLocks noChangeShapeType="1"/>
            </p:cNvSpPr>
            <p:nvPr/>
          </p:nvSpPr>
          <p:spPr bwMode="auto">
            <a:xfrm flipH="1" flipV="1">
              <a:off x="2453" y="533"/>
              <a:ext cx="204" cy="4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72" name="Line 20"/>
            <p:cNvSpPr>
              <a:spLocks noChangeShapeType="1"/>
            </p:cNvSpPr>
            <p:nvPr/>
          </p:nvSpPr>
          <p:spPr bwMode="auto">
            <a:xfrm flipV="1">
              <a:off x="2860" y="533"/>
              <a:ext cx="203" cy="4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73" name="Text Box 34"/>
            <p:cNvSpPr txBox="1">
              <a:spLocks noChangeArrowheads="1"/>
            </p:cNvSpPr>
            <p:nvPr/>
          </p:nvSpPr>
          <p:spPr bwMode="auto">
            <a:xfrm>
              <a:off x="2504" y="941"/>
              <a:ext cx="508" cy="340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0000FF"/>
              </a:solidFill>
              <a:miter lim="800000"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舰队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62"/>
          <p:cNvGrpSpPr/>
          <p:nvPr/>
        </p:nvGrpSpPr>
        <p:grpSpPr bwMode="auto">
          <a:xfrm>
            <a:off x="3019425" y="4889500"/>
            <a:ext cx="3095625" cy="1779588"/>
            <a:chOff x="1837" y="3080"/>
            <a:chExt cx="1950" cy="1121"/>
          </a:xfrm>
        </p:grpSpPr>
        <p:sp>
          <p:nvSpPr>
            <p:cNvPr id="48164" name="Oval 14"/>
            <p:cNvSpPr>
              <a:spLocks noChangeArrowheads="1"/>
            </p:cNvSpPr>
            <p:nvPr/>
          </p:nvSpPr>
          <p:spPr bwMode="auto">
            <a:xfrm>
              <a:off x="1837" y="3793"/>
              <a:ext cx="907" cy="408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 u="sng">
                  <a:solidFill>
                    <a:srgbClr val="0000FF"/>
                  </a:solidFill>
                  <a:ea typeface="宋体" panose="02010600030101010101" pitchFamily="2" charset="-122"/>
                </a:rPr>
                <a:t>舰艇编号</a:t>
              </a:r>
              <a:endParaRPr lang="zh-CN" altLang="en-US" sz="4400" u="sng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65" name="Oval 15"/>
            <p:cNvSpPr>
              <a:spLocks noChangeArrowheads="1"/>
            </p:cNvSpPr>
            <p:nvPr/>
          </p:nvSpPr>
          <p:spPr bwMode="auto">
            <a:xfrm>
              <a:off x="2817" y="3793"/>
              <a:ext cx="970" cy="408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FF"/>
                  </a:solidFill>
                  <a:ea typeface="宋体" panose="02010600030101010101" pitchFamily="2" charset="-122"/>
                </a:rPr>
                <a:t>舰艇名称</a:t>
              </a:r>
              <a:endParaRPr lang="zh-CN" altLang="en-US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66" name="Line 32"/>
            <p:cNvSpPr>
              <a:spLocks noChangeShapeType="1"/>
            </p:cNvSpPr>
            <p:nvPr/>
          </p:nvSpPr>
          <p:spPr bwMode="auto">
            <a:xfrm flipH="1">
              <a:off x="2453" y="3386"/>
              <a:ext cx="204" cy="40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67" name="Line 33"/>
            <p:cNvSpPr>
              <a:spLocks noChangeShapeType="1"/>
            </p:cNvSpPr>
            <p:nvPr/>
          </p:nvSpPr>
          <p:spPr bwMode="auto">
            <a:xfrm>
              <a:off x="2860" y="3386"/>
              <a:ext cx="203" cy="40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68" name="Text Box 35"/>
            <p:cNvSpPr txBox="1">
              <a:spLocks noChangeArrowheads="1"/>
            </p:cNvSpPr>
            <p:nvPr/>
          </p:nvSpPr>
          <p:spPr bwMode="auto">
            <a:xfrm>
              <a:off x="2504" y="3080"/>
              <a:ext cx="508" cy="340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0000FF"/>
              </a:solidFill>
              <a:miter lim="800000"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舰艇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48"/>
          <p:cNvGrpSpPr/>
          <p:nvPr/>
        </p:nvGrpSpPr>
        <p:grpSpPr bwMode="auto">
          <a:xfrm>
            <a:off x="5544503" y="3400108"/>
            <a:ext cx="3444875" cy="2024062"/>
            <a:chOff x="3432" y="2145"/>
            <a:chExt cx="2170" cy="1275"/>
          </a:xfrm>
        </p:grpSpPr>
        <p:sp>
          <p:nvSpPr>
            <p:cNvPr id="48159" name="Oval 12"/>
            <p:cNvSpPr>
              <a:spLocks noChangeArrowheads="1"/>
            </p:cNvSpPr>
            <p:nvPr/>
          </p:nvSpPr>
          <p:spPr bwMode="auto">
            <a:xfrm>
              <a:off x="3432" y="2145"/>
              <a:ext cx="1003" cy="442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 u="sng">
                  <a:solidFill>
                    <a:srgbClr val="0000FF"/>
                  </a:solidFill>
                  <a:ea typeface="宋体" panose="02010600030101010101" pitchFamily="2" charset="-122"/>
                </a:rPr>
                <a:t>武器名称</a:t>
              </a:r>
              <a:endParaRPr lang="zh-CN" altLang="en-US" sz="4400" u="sng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60" name="Oval 13"/>
            <p:cNvSpPr>
              <a:spLocks noChangeArrowheads="1"/>
            </p:cNvSpPr>
            <p:nvPr/>
          </p:nvSpPr>
          <p:spPr bwMode="auto">
            <a:xfrm>
              <a:off x="4485" y="2163"/>
              <a:ext cx="1117" cy="408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FF"/>
                  </a:solidFill>
                  <a:ea typeface="宋体" panose="02010600030101010101" pitchFamily="2" charset="-122"/>
                </a:rPr>
                <a:t>武器生产</a:t>
              </a:r>
              <a:endParaRPr lang="zh-CN" altLang="en-US" sz="1800">
                <a:solidFill>
                  <a:srgbClr val="0000FF"/>
                </a:solidFill>
                <a:ea typeface="宋体" panose="02010600030101010101" pitchFamily="2" charset="-122"/>
              </a:endParaRPr>
            </a:p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FF"/>
                  </a:solidFill>
                  <a:ea typeface="宋体" panose="02010600030101010101" pitchFamily="2" charset="-122"/>
                </a:rPr>
                <a:t>时间</a:t>
              </a:r>
              <a:endParaRPr lang="zh-CN" altLang="en-US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61" name="Line 30"/>
            <p:cNvSpPr>
              <a:spLocks noChangeShapeType="1"/>
            </p:cNvSpPr>
            <p:nvPr/>
          </p:nvSpPr>
          <p:spPr bwMode="auto">
            <a:xfrm flipH="1" flipV="1">
              <a:off x="4171" y="2566"/>
              <a:ext cx="517" cy="54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62" name="Line 31"/>
            <p:cNvSpPr>
              <a:spLocks noChangeShapeType="1"/>
            </p:cNvSpPr>
            <p:nvPr/>
          </p:nvSpPr>
          <p:spPr bwMode="auto">
            <a:xfrm flipV="1">
              <a:off x="4891" y="2571"/>
              <a:ext cx="203" cy="54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63" name="Text Box 36"/>
            <p:cNvSpPr txBox="1">
              <a:spLocks noChangeArrowheads="1"/>
            </p:cNvSpPr>
            <p:nvPr/>
          </p:nvSpPr>
          <p:spPr bwMode="auto">
            <a:xfrm>
              <a:off x="4586" y="3080"/>
              <a:ext cx="508" cy="340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0000FF"/>
              </a:solidFill>
              <a:miter lim="800000"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武器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49"/>
          <p:cNvGrpSpPr/>
          <p:nvPr/>
        </p:nvGrpSpPr>
        <p:grpSpPr bwMode="auto">
          <a:xfrm>
            <a:off x="103188" y="4889500"/>
            <a:ext cx="2722562" cy="1779588"/>
            <a:chOff x="0" y="3080"/>
            <a:chExt cx="1715" cy="1121"/>
          </a:xfrm>
        </p:grpSpPr>
        <p:sp>
          <p:nvSpPr>
            <p:cNvPr id="48154" name="Oval 16"/>
            <p:cNvSpPr>
              <a:spLocks noChangeArrowheads="1"/>
            </p:cNvSpPr>
            <p:nvPr/>
          </p:nvSpPr>
          <p:spPr bwMode="auto">
            <a:xfrm>
              <a:off x="0" y="3793"/>
              <a:ext cx="930" cy="408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 u="sng">
                  <a:solidFill>
                    <a:srgbClr val="0000FF"/>
                  </a:solidFill>
                  <a:ea typeface="宋体" panose="02010600030101010101" pitchFamily="2" charset="-122"/>
                </a:rPr>
                <a:t>官兵证号</a:t>
              </a:r>
              <a:endParaRPr lang="zh-CN" altLang="en-US" sz="4400" u="sng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55" name="Oval 17"/>
            <p:cNvSpPr>
              <a:spLocks noChangeArrowheads="1"/>
            </p:cNvSpPr>
            <p:nvPr/>
          </p:nvSpPr>
          <p:spPr bwMode="auto">
            <a:xfrm>
              <a:off x="1032" y="3804"/>
              <a:ext cx="683" cy="387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FF"/>
              </a:solidFill>
              <a:round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FF"/>
                  </a:solidFill>
                  <a:ea typeface="宋体" panose="02010600030101010101" pitchFamily="2" charset="-122"/>
                </a:rPr>
                <a:t>姓名</a:t>
              </a:r>
              <a:endParaRPr lang="zh-CN" altLang="en-US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56" name="Line 24"/>
            <p:cNvSpPr>
              <a:spLocks noChangeShapeType="1"/>
            </p:cNvSpPr>
            <p:nvPr/>
          </p:nvSpPr>
          <p:spPr bwMode="auto">
            <a:xfrm flipH="1">
              <a:off x="524" y="3386"/>
              <a:ext cx="101" cy="40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57" name="Line 25"/>
            <p:cNvSpPr>
              <a:spLocks noChangeShapeType="1"/>
            </p:cNvSpPr>
            <p:nvPr/>
          </p:nvSpPr>
          <p:spPr bwMode="auto">
            <a:xfrm>
              <a:off x="727" y="3386"/>
              <a:ext cx="460" cy="44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58" name="Text Box 37"/>
            <p:cNvSpPr txBox="1">
              <a:spLocks noChangeArrowheads="1"/>
            </p:cNvSpPr>
            <p:nvPr/>
          </p:nvSpPr>
          <p:spPr bwMode="auto">
            <a:xfrm>
              <a:off x="422" y="3080"/>
              <a:ext cx="508" cy="340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0000FF"/>
              </a:solidFill>
              <a:miter lim="800000"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官兵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85235" y="2026920"/>
            <a:ext cx="1388110" cy="2843530"/>
            <a:chOff x="5961" y="3192"/>
            <a:chExt cx="2186" cy="4478"/>
          </a:xfrm>
        </p:grpSpPr>
        <p:sp>
          <p:nvSpPr>
            <p:cNvPr id="48147" name="AutoShape 7"/>
            <p:cNvSpPr>
              <a:spLocks noChangeArrowheads="1"/>
            </p:cNvSpPr>
            <p:nvPr/>
          </p:nvSpPr>
          <p:spPr bwMode="auto">
            <a:xfrm>
              <a:off x="5961" y="4784"/>
              <a:ext cx="2187" cy="1334"/>
            </a:xfrm>
            <a:prstGeom prst="diamond">
              <a:avLst/>
            </a:prstGeom>
            <a:solidFill>
              <a:schemeClr val="tx2"/>
            </a:solidFill>
            <a:ln w="28575" algn="ctr">
              <a:solidFill>
                <a:srgbClr val="0000FF"/>
              </a:solidFill>
              <a:miter lim="800000"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拥有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  <p:sp>
          <p:nvSpPr>
            <p:cNvPr id="48150" name="Line 22"/>
            <p:cNvSpPr>
              <a:spLocks noChangeShapeType="1"/>
            </p:cNvSpPr>
            <p:nvPr/>
          </p:nvSpPr>
          <p:spPr bwMode="auto">
            <a:xfrm flipV="1">
              <a:off x="7043" y="3192"/>
              <a:ext cx="1" cy="15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51" name="Line 23"/>
            <p:cNvSpPr>
              <a:spLocks noChangeShapeType="1"/>
            </p:cNvSpPr>
            <p:nvPr/>
          </p:nvSpPr>
          <p:spPr bwMode="auto">
            <a:xfrm flipH="1">
              <a:off x="7058" y="6118"/>
              <a:ext cx="4" cy="155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52" name="Text Box 38"/>
            <p:cNvSpPr txBox="1">
              <a:spLocks noChangeArrowheads="1"/>
            </p:cNvSpPr>
            <p:nvPr/>
          </p:nvSpPr>
          <p:spPr bwMode="auto">
            <a:xfrm>
              <a:off x="7123" y="3630"/>
              <a:ext cx="732" cy="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en-US" altLang="zh-CN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53" name="Text Box 39"/>
            <p:cNvSpPr txBox="1">
              <a:spLocks noChangeArrowheads="1"/>
            </p:cNvSpPr>
            <p:nvPr/>
          </p:nvSpPr>
          <p:spPr bwMode="auto">
            <a:xfrm>
              <a:off x="7123" y="6452"/>
              <a:ext cx="732" cy="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m</a:t>
              </a:r>
              <a:endParaRPr lang="en-US" altLang="zh-CN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65"/>
          <p:cNvGrpSpPr/>
          <p:nvPr/>
        </p:nvGrpSpPr>
        <p:grpSpPr bwMode="auto">
          <a:xfrm>
            <a:off x="1579563" y="4652963"/>
            <a:ext cx="2447925" cy="938212"/>
            <a:chOff x="930" y="2931"/>
            <a:chExt cx="1542" cy="591"/>
          </a:xfrm>
        </p:grpSpPr>
        <p:sp>
          <p:nvSpPr>
            <p:cNvPr id="48142" name="Text Box 40"/>
            <p:cNvSpPr txBox="1">
              <a:spLocks noChangeArrowheads="1"/>
            </p:cNvSpPr>
            <p:nvPr/>
          </p:nvSpPr>
          <p:spPr bwMode="auto">
            <a:xfrm>
              <a:off x="2245" y="2931"/>
              <a:ext cx="20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  <a:endParaRPr lang="en-US" altLang="zh-CN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44" name="Line 26"/>
            <p:cNvSpPr>
              <a:spLocks noChangeShapeType="1"/>
            </p:cNvSpPr>
            <p:nvPr/>
          </p:nvSpPr>
          <p:spPr bwMode="auto">
            <a:xfrm flipH="1">
              <a:off x="930" y="3250"/>
              <a:ext cx="50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45" name="Line 27"/>
            <p:cNvSpPr>
              <a:spLocks noChangeShapeType="1"/>
            </p:cNvSpPr>
            <p:nvPr/>
          </p:nvSpPr>
          <p:spPr bwMode="auto">
            <a:xfrm flipV="1">
              <a:off x="2047" y="3249"/>
              <a:ext cx="425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46" name="Text Box 41"/>
            <p:cNvSpPr txBox="1">
              <a:spLocks noChangeArrowheads="1"/>
            </p:cNvSpPr>
            <p:nvPr/>
          </p:nvSpPr>
          <p:spPr bwMode="auto">
            <a:xfrm>
              <a:off x="1128" y="2931"/>
              <a:ext cx="20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m</a:t>
              </a:r>
              <a:endParaRPr lang="en-US" altLang="zh-CN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43" name="AutoShape 9"/>
            <p:cNvSpPr>
              <a:spLocks noChangeArrowheads="1"/>
            </p:cNvSpPr>
            <p:nvPr/>
          </p:nvSpPr>
          <p:spPr bwMode="auto">
            <a:xfrm>
              <a:off x="1366" y="2978"/>
              <a:ext cx="729" cy="544"/>
            </a:xfrm>
            <a:prstGeom prst="diamond">
              <a:avLst/>
            </a:prstGeom>
            <a:solidFill>
              <a:schemeClr val="tx2"/>
            </a:solidFill>
            <a:ln w="28575" algn="ctr">
              <a:solidFill>
                <a:srgbClr val="0000FF"/>
              </a:solidFill>
              <a:miter lim="800000"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属于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63"/>
          <p:cNvGrpSpPr/>
          <p:nvPr/>
        </p:nvGrpSpPr>
        <p:grpSpPr bwMode="auto">
          <a:xfrm>
            <a:off x="4891088" y="4652963"/>
            <a:ext cx="2492375" cy="938212"/>
            <a:chOff x="2961" y="2931"/>
            <a:chExt cx="1625" cy="591"/>
          </a:xfrm>
        </p:grpSpPr>
        <p:sp>
          <p:nvSpPr>
            <p:cNvPr id="48138" name="Line 29"/>
            <p:cNvSpPr>
              <a:spLocks noChangeShapeType="1"/>
            </p:cNvSpPr>
            <p:nvPr/>
          </p:nvSpPr>
          <p:spPr bwMode="auto">
            <a:xfrm>
              <a:off x="4079" y="3250"/>
              <a:ext cx="50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39" name="Line 28"/>
            <p:cNvSpPr>
              <a:spLocks noChangeShapeType="1"/>
            </p:cNvSpPr>
            <p:nvPr/>
          </p:nvSpPr>
          <p:spPr bwMode="auto">
            <a:xfrm>
              <a:off x="2961" y="3250"/>
              <a:ext cx="50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140" name="Text Box 42"/>
            <p:cNvSpPr txBox="1">
              <a:spLocks noChangeArrowheads="1"/>
            </p:cNvSpPr>
            <p:nvPr/>
          </p:nvSpPr>
          <p:spPr bwMode="auto">
            <a:xfrm>
              <a:off x="3193" y="2931"/>
              <a:ext cx="20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m</a:t>
              </a:r>
              <a:endParaRPr lang="en-US" altLang="zh-CN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41" name="Text Box 43"/>
            <p:cNvSpPr txBox="1">
              <a:spLocks noChangeArrowheads="1"/>
            </p:cNvSpPr>
            <p:nvPr/>
          </p:nvSpPr>
          <p:spPr bwMode="auto">
            <a:xfrm>
              <a:off x="4276" y="2931"/>
              <a:ext cx="203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FF"/>
                  </a:solidFill>
                  <a:ea typeface="宋体" panose="02010600030101010101" pitchFamily="2" charset="-122"/>
                </a:rPr>
                <a:t>n</a:t>
              </a:r>
              <a:endParaRPr lang="en-US" altLang="zh-CN" sz="44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137" name="AutoShape 8"/>
            <p:cNvSpPr>
              <a:spLocks noChangeArrowheads="1"/>
            </p:cNvSpPr>
            <p:nvPr/>
          </p:nvSpPr>
          <p:spPr bwMode="auto">
            <a:xfrm>
              <a:off x="3381" y="2978"/>
              <a:ext cx="749" cy="544"/>
            </a:xfrm>
            <a:prstGeom prst="diamond">
              <a:avLst/>
            </a:prstGeom>
            <a:solidFill>
              <a:schemeClr val="tx2"/>
            </a:solidFill>
            <a:ln w="28575" algn="ctr">
              <a:solidFill>
                <a:srgbClr val="0000FF"/>
              </a:solidFill>
              <a:miter lim="800000"/>
            </a:ln>
          </p:spPr>
          <p:txBody>
            <a:bodyPr lIns="36000" tIns="36000" rIns="36000" bIns="36000" anchor="ctr"/>
            <a:lstStyle>
              <a:lvl1pPr algn="l" eaLnBrk="0" hangingPunct="0">
                <a:buClr>
                  <a:srgbClr val="0000CC"/>
                </a:buClr>
                <a:buSzPct val="70000"/>
                <a:buFont typeface="Wingdings" panose="05000000000000000000" pitchFamily="2" charset="2"/>
                <a:buChar char="n"/>
                <a:defRPr sz="36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3300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rgbClr val="996633"/>
                </a:buClr>
                <a:buSzPct val="7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SzPct val="130000"/>
                <a:buBlip>
                  <a:blip r:embed="rId1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30000"/>
                <a:buBlip>
                  <a:blip r:embed="rId2"/>
                </a:buBlip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lang="zh-CN" altLang="en-US" sz="1800">
                  <a:ea typeface="宋体" panose="02010600030101010101" pitchFamily="2" charset="-122"/>
                </a:rPr>
                <a:t>安装</a:t>
              </a:r>
              <a:endParaRPr lang="zh-CN" altLang="en-US" sz="440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idx="1"/>
          </p:nvPr>
        </p:nvSpPr>
        <p:spPr>
          <a:xfrm>
            <a:off x="152400" y="1052513"/>
            <a:ext cx="8740775" cy="5616575"/>
          </a:xfrm>
        </p:spPr>
        <p:txBody>
          <a:bodyPr vert="horz" wrap="square" lIns="91440" tIns="45720" rIns="91440" bIns="45720" anchor="t" anchorCtr="0"/>
          <a:p>
            <a:pPr marL="351155" indent="-351155" eaLnBrk="1" hangingPunct="1">
              <a:lnSpc>
                <a:spcPct val="110000"/>
              </a:lnSpc>
              <a:buNone/>
            </a:pPr>
            <a:r>
              <a:rPr lang="en-US" altLang="zh-CN" dirty="0">
                <a:latin typeface="Arial" panose="020B0604020202020204" pitchFamily="34" charset="0"/>
              </a:rPr>
              <a:t>  E-R</a:t>
            </a:r>
            <a:r>
              <a:rPr lang="zh-CN" altLang="en-US" dirty="0">
                <a:latin typeface="Arial" panose="020B0604020202020204" pitchFamily="34" charset="0"/>
              </a:rPr>
              <a:t>图向关系模型转换的原则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1155" indent="-351155" eaLnBrk="1" hangingPunct="1">
              <a:lnSpc>
                <a:spcPct val="130000"/>
              </a:lnSpc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		</a:t>
            </a:r>
            <a:r>
              <a:rPr lang="en-US" altLang="zh-CN" dirty="0">
                <a:latin typeface="Arial" panose="020B0604020202020204" pitchFamily="34" charset="0"/>
              </a:rPr>
              <a:t>(1) </a:t>
            </a:r>
            <a:r>
              <a:rPr lang="zh-CN" altLang="en-US" dirty="0">
                <a:latin typeface="Arial" panose="020B0604020202020204" pitchFamily="34" charset="0"/>
              </a:rPr>
              <a:t>实体的转换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1155" indent="-351155" eaLnBrk="1" hangingPunct="1">
              <a:lnSpc>
                <a:spcPct val="130000"/>
              </a:lnSpc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Arial" panose="020B0604020202020204" pitchFamily="34" charset="0"/>
              </a:rPr>
              <a:t>		</a:t>
            </a:r>
            <a:r>
              <a:rPr lang="en-US" altLang="zh-CN" dirty="0">
                <a:latin typeface="Arial" panose="020B0604020202020204" pitchFamily="34" charset="0"/>
              </a:rPr>
              <a:t>(2) </a:t>
            </a:r>
            <a:r>
              <a:rPr lang="zh-CN" altLang="en-US" dirty="0">
                <a:latin typeface="Arial" panose="020B0604020202020204" pitchFamily="34" charset="0"/>
              </a:rPr>
              <a:t>联系的转换 </a:t>
            </a:r>
            <a:r>
              <a:rPr lang="en-US" altLang="zh-CN" dirty="0">
                <a:latin typeface="Arial" panose="020B0604020202020204" pitchFamily="34" charset="0"/>
              </a:rPr>
              <a:t>(m:n)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1155" indent="-351155" eaLnBrk="1" hangingPunct="1">
              <a:lnSpc>
                <a:spcPct val="130000"/>
              </a:lnSpc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</a:rPr>
              <a:t> 		(3) </a:t>
            </a:r>
            <a:r>
              <a:rPr lang="zh-CN" altLang="en-US" dirty="0">
                <a:latin typeface="Arial" panose="020B0604020202020204" pitchFamily="34" charset="0"/>
              </a:rPr>
              <a:t>联系的转换 </a:t>
            </a:r>
            <a:r>
              <a:rPr lang="en-US" altLang="zh-CN" dirty="0">
                <a:latin typeface="Arial" panose="020B0604020202020204" pitchFamily="34" charset="0"/>
              </a:rPr>
              <a:t>(1:n)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1155" indent="-351155" eaLnBrk="1" hangingPunct="1">
              <a:lnSpc>
                <a:spcPct val="130000"/>
              </a:lnSpc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</a:rPr>
              <a:t>		(4) </a:t>
            </a:r>
            <a:r>
              <a:rPr lang="zh-CN" altLang="en-US" dirty="0">
                <a:latin typeface="Arial" panose="020B0604020202020204" pitchFamily="34" charset="0"/>
              </a:rPr>
              <a:t>联系的转换 </a:t>
            </a:r>
            <a:r>
              <a:rPr lang="en-US" altLang="zh-CN" dirty="0">
                <a:latin typeface="Arial" panose="020B0604020202020204" pitchFamily="34" charset="0"/>
              </a:rPr>
              <a:t>(1:1)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51155" indent="-351155" eaLnBrk="1" hangingPunct="1">
              <a:lnSpc>
                <a:spcPct val="130000"/>
              </a:lnSpc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</a:rPr>
              <a:t>       (5) </a:t>
            </a:r>
            <a:r>
              <a:rPr lang="zh-CN" altLang="en-US" dirty="0">
                <a:latin typeface="Arial" panose="020B0604020202020204" pitchFamily="34" charset="0"/>
              </a:rPr>
              <a:t>多元联系的转换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1155" indent="-351155" eaLnBrk="1" hangingPunct="1">
              <a:lnSpc>
                <a:spcPct val="130000"/>
              </a:lnSpc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Arial" panose="020B0604020202020204" pitchFamily="34" charset="0"/>
              </a:rPr>
              <a:t>       </a:t>
            </a:r>
            <a:r>
              <a:rPr lang="en-US" altLang="zh-CN" dirty="0">
                <a:latin typeface="Arial" panose="020B0604020202020204" pitchFamily="34" charset="0"/>
              </a:rPr>
              <a:t>(6) </a:t>
            </a:r>
            <a:r>
              <a:rPr lang="zh-CN" altLang="en-US" dirty="0">
                <a:latin typeface="Arial" panose="020B0604020202020204" pitchFamily="34" charset="0"/>
              </a:rPr>
              <a:t>一元联系的转换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51155" indent="-351155" eaLnBrk="1" hangingPunct="1">
              <a:lnSpc>
                <a:spcPct val="110000"/>
              </a:lnSpc>
              <a:buClrTx/>
              <a:buFont typeface="Arial" panose="020B0604020202020204" pitchFamily="34" charset="0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		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从概念模型到逻辑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模型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实体的转换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body" sz="half" idx="1"/>
          </p:nvPr>
        </p:nvSpPr>
        <p:spPr>
          <a:xfrm>
            <a:off x="223838" y="1016000"/>
            <a:ext cx="8740775" cy="5437188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lnSpc>
                <a:spcPct val="95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/>
              <a:t>一个实体集转换为一个关系模式：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关系名</a:t>
            </a:r>
            <a:r>
              <a:rPr lang="zh-CN" altLang="en-US" sz="3600" dirty="0">
                <a:latin typeface="Arial" panose="020B0604020202020204" pitchFamily="34" charset="0"/>
              </a:rPr>
              <a:t>：实体集名 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关系属性</a:t>
            </a:r>
            <a:r>
              <a:rPr lang="zh-CN" altLang="en-US" sz="3600" dirty="0">
                <a:latin typeface="Arial" panose="020B0604020202020204" pitchFamily="34" charset="0"/>
              </a:rPr>
              <a:t>：实体集属性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关系的主键</a:t>
            </a:r>
            <a:r>
              <a:rPr lang="zh-CN" altLang="en-US" sz="3600" dirty="0">
                <a:latin typeface="Arial" panose="020B0604020202020204" pitchFamily="34" charset="0"/>
              </a:rPr>
              <a:t>：实体集主键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95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en-US" altLang="zh-CN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实体的转换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type="body" sz="half" idx="1"/>
          </p:nvPr>
        </p:nvSpPr>
        <p:spPr>
          <a:xfrm>
            <a:off x="223838" y="1016000"/>
            <a:ext cx="8740775" cy="3492500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lnSpc>
                <a:spcPct val="95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latin typeface="Arial" panose="020B0604020202020204" pitchFamily="34" charset="0"/>
              </a:rPr>
              <a:t>举例：</a:t>
            </a:r>
            <a:r>
              <a:rPr lang="zh-CN" altLang="en-US" sz="3200" dirty="0"/>
              <a:t>“</a:t>
            </a:r>
            <a:r>
              <a:rPr lang="zh-CN" altLang="en-US" sz="3200" dirty="0">
                <a:latin typeface="Arial" panose="020B0604020202020204" pitchFamily="34" charset="0"/>
              </a:rPr>
              <a:t>学生</a:t>
            </a:r>
            <a:r>
              <a:rPr lang="zh-CN" altLang="en-US" sz="3200" dirty="0"/>
              <a:t>”</a:t>
            </a:r>
            <a:r>
              <a:rPr lang="zh-CN" altLang="en-US" sz="3200" dirty="0">
                <a:latin typeface="Arial" panose="020B0604020202020204" pitchFamily="34" charset="0"/>
              </a:rPr>
              <a:t>实体集可以转换为如下关系模式：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95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endParaRPr lang="zh-CN" altLang="en-US" sz="3200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95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95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95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3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学生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姓名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性别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年龄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pSp>
        <p:nvGrpSpPr>
          <p:cNvPr id="27652" name="Group 67"/>
          <p:cNvGrpSpPr/>
          <p:nvPr/>
        </p:nvGrpSpPr>
        <p:grpSpPr>
          <a:xfrm>
            <a:off x="1187450" y="1658938"/>
            <a:ext cx="5870575" cy="1871662"/>
            <a:chOff x="748" y="1045"/>
            <a:chExt cx="3698" cy="1179"/>
          </a:xfrm>
        </p:grpSpPr>
        <p:sp>
          <p:nvSpPr>
            <p:cNvPr id="27683" name="Rectangle 4"/>
            <p:cNvSpPr/>
            <p:nvPr/>
          </p:nvSpPr>
          <p:spPr>
            <a:xfrm>
              <a:off x="2154" y="1952"/>
              <a:ext cx="822" cy="272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400" dirty="0">
                  <a:ea typeface="宋体" panose="02010600030101010101" pitchFamily="2" charset="-122"/>
                </a:rPr>
                <a:t>学生</a:t>
              </a:r>
              <a:endParaRPr lang="zh-CN" altLang="en-US" sz="2400" dirty="0">
                <a:ea typeface="宋体" panose="02010600030101010101" pitchFamily="2" charset="-122"/>
              </a:endParaRPr>
            </a:p>
          </p:txBody>
        </p:sp>
        <p:grpSp>
          <p:nvGrpSpPr>
            <p:cNvPr id="27684" name="Group 5"/>
            <p:cNvGrpSpPr/>
            <p:nvPr/>
          </p:nvGrpSpPr>
          <p:grpSpPr>
            <a:xfrm>
              <a:off x="1701" y="1045"/>
              <a:ext cx="869" cy="907"/>
              <a:chOff x="1896" y="845"/>
              <a:chExt cx="869" cy="907"/>
            </a:xfrm>
          </p:grpSpPr>
          <p:sp>
            <p:nvSpPr>
              <p:cNvPr id="27696" name="Oval 6"/>
              <p:cNvSpPr/>
              <p:nvPr/>
            </p:nvSpPr>
            <p:spPr>
              <a:xfrm>
                <a:off x="1896" y="845"/>
                <a:ext cx="821" cy="408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FontTx/>
                  <a:buNone/>
                </a:pPr>
                <a:r>
                  <a:rPr lang="zh-CN" altLang="en-US" sz="2400" dirty="0"/>
                  <a:t>姓名</a:t>
                </a:r>
                <a:endParaRPr lang="zh-CN" altLang="en-US" sz="2400" dirty="0"/>
              </a:p>
            </p:txBody>
          </p:sp>
          <p:sp>
            <p:nvSpPr>
              <p:cNvPr id="27697" name="Line 7"/>
              <p:cNvSpPr/>
              <p:nvPr/>
            </p:nvSpPr>
            <p:spPr>
              <a:xfrm>
                <a:off x="2330" y="1253"/>
                <a:ext cx="435" cy="49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685" name="Group 8"/>
            <p:cNvGrpSpPr/>
            <p:nvPr/>
          </p:nvGrpSpPr>
          <p:grpSpPr>
            <a:xfrm>
              <a:off x="2562" y="1045"/>
              <a:ext cx="918" cy="907"/>
              <a:chOff x="2765" y="845"/>
              <a:chExt cx="918" cy="907"/>
            </a:xfrm>
          </p:grpSpPr>
          <p:sp>
            <p:nvSpPr>
              <p:cNvPr id="27694" name="Oval 9"/>
              <p:cNvSpPr/>
              <p:nvPr/>
            </p:nvSpPr>
            <p:spPr>
              <a:xfrm>
                <a:off x="2862" y="845"/>
                <a:ext cx="821" cy="408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FontTx/>
                  <a:buNone/>
                </a:pPr>
                <a:r>
                  <a:rPr lang="zh-CN" altLang="en-US" sz="2400" dirty="0"/>
                  <a:t>性别</a:t>
                </a:r>
                <a:endParaRPr lang="zh-CN" altLang="en-US" sz="2400" dirty="0"/>
              </a:p>
            </p:txBody>
          </p:sp>
          <p:sp>
            <p:nvSpPr>
              <p:cNvPr id="27695" name="Line 10"/>
              <p:cNvSpPr/>
              <p:nvPr/>
            </p:nvSpPr>
            <p:spPr>
              <a:xfrm flipH="1">
                <a:off x="2765" y="1253"/>
                <a:ext cx="531" cy="49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686" name="Group 11"/>
            <p:cNvGrpSpPr/>
            <p:nvPr/>
          </p:nvGrpSpPr>
          <p:grpSpPr>
            <a:xfrm>
              <a:off x="2562" y="1045"/>
              <a:ext cx="1884" cy="907"/>
              <a:chOff x="2765" y="845"/>
              <a:chExt cx="1884" cy="907"/>
            </a:xfrm>
          </p:grpSpPr>
          <p:sp>
            <p:nvSpPr>
              <p:cNvPr id="27692" name="Oval 12"/>
              <p:cNvSpPr/>
              <p:nvPr/>
            </p:nvSpPr>
            <p:spPr>
              <a:xfrm>
                <a:off x="3828" y="845"/>
                <a:ext cx="821" cy="408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buClrTx/>
                  <a:buSzTx/>
                  <a:buFontTx/>
                  <a:buNone/>
                </a:pPr>
                <a:r>
                  <a:rPr lang="zh-CN" altLang="en-US" sz="2400" dirty="0"/>
                  <a:t>年龄</a:t>
                </a:r>
                <a:endParaRPr lang="zh-CN" altLang="en-US" sz="2400" dirty="0"/>
              </a:p>
            </p:txBody>
          </p:sp>
          <p:sp>
            <p:nvSpPr>
              <p:cNvPr id="27693" name="Line 13"/>
              <p:cNvSpPr/>
              <p:nvPr/>
            </p:nvSpPr>
            <p:spPr>
              <a:xfrm flipH="1">
                <a:off x="2765" y="1253"/>
                <a:ext cx="1498" cy="49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687" name="Group 14"/>
            <p:cNvGrpSpPr/>
            <p:nvPr/>
          </p:nvGrpSpPr>
          <p:grpSpPr>
            <a:xfrm>
              <a:off x="748" y="1045"/>
              <a:ext cx="1835" cy="907"/>
              <a:chOff x="930" y="845"/>
              <a:chExt cx="1835" cy="907"/>
            </a:xfrm>
          </p:grpSpPr>
          <p:grpSp>
            <p:nvGrpSpPr>
              <p:cNvPr id="27688" name="Group 15"/>
              <p:cNvGrpSpPr/>
              <p:nvPr/>
            </p:nvGrpSpPr>
            <p:grpSpPr>
              <a:xfrm>
                <a:off x="930" y="845"/>
                <a:ext cx="1835" cy="907"/>
                <a:chOff x="930" y="845"/>
                <a:chExt cx="1835" cy="907"/>
              </a:xfrm>
            </p:grpSpPr>
            <p:sp>
              <p:nvSpPr>
                <p:cNvPr id="27690" name="Oval 16"/>
                <p:cNvSpPr/>
                <p:nvPr/>
              </p:nvSpPr>
              <p:spPr>
                <a:xfrm>
                  <a:off x="930" y="845"/>
                  <a:ext cx="821" cy="408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269875" indent="-269875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65000"/>
                    <a:buFont typeface="Wingdings" panose="05000000000000000000" pitchFamily="2" charset="2"/>
                    <a:buChar char="n"/>
                    <a:defRPr sz="360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811530" indent="-26987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5000"/>
                    <a:buFont typeface="Wingdings" panose="05000000000000000000" pitchFamily="2" charset="2"/>
                    <a:buChar char="n"/>
                    <a:defRPr sz="32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2pPr>
                  <a:lvl3pPr marL="1339850" indent="-2590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sz="28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3pPr>
                  <a:lvl4pPr marL="1927225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4pPr>
                  <a:lvl5pPr marL="2335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996633"/>
                    </a:buClr>
                    <a:buSzPct val="65000"/>
                    <a:buFont typeface="Wingdings" panose="05000000000000000000" pitchFamily="2" charset="2"/>
                    <a:buChar char="n"/>
                    <a:defRPr sz="2400" b="1">
                      <a:solidFill>
                        <a:srgbClr val="000000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buClrTx/>
                    <a:buSzTx/>
                    <a:buFontTx/>
                    <a:buNone/>
                  </a:pPr>
                  <a:r>
                    <a:rPr lang="zh-CN" altLang="en-US" sz="2400" dirty="0"/>
                    <a:t>学号</a:t>
                  </a:r>
                  <a:endParaRPr lang="zh-CN" altLang="en-US" sz="2400" dirty="0"/>
                </a:p>
              </p:txBody>
            </p:sp>
            <p:sp>
              <p:nvSpPr>
                <p:cNvPr id="27691" name="Line 17"/>
                <p:cNvSpPr/>
                <p:nvPr/>
              </p:nvSpPr>
              <p:spPr>
                <a:xfrm>
                  <a:off x="1461" y="1253"/>
                  <a:ext cx="1304" cy="499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689" name="Line 18"/>
              <p:cNvSpPr/>
              <p:nvPr/>
            </p:nvSpPr>
            <p:spPr>
              <a:xfrm>
                <a:off x="1172" y="1163"/>
                <a:ext cx="337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434381" name="Group 205"/>
          <p:cNvGraphicFramePr>
            <a:graphicFrameLocks noGrp="1"/>
          </p:cNvGraphicFramePr>
          <p:nvPr>
            <p:ph sz="half" idx="1"/>
          </p:nvPr>
        </p:nvGraphicFramePr>
        <p:xfrm>
          <a:off x="1403350" y="4652963"/>
          <a:ext cx="4824413" cy="1792288"/>
        </p:xfrm>
        <a:graphic>
          <a:graphicData uri="http://schemas.openxmlformats.org/drawingml/2006/table">
            <a:tbl>
              <a:tblPr/>
              <a:tblGrid>
                <a:gridCol w="1206500"/>
                <a:gridCol w="1206500"/>
                <a:gridCol w="1204913"/>
                <a:gridCol w="1206500"/>
              </a:tblGrid>
              <a:tr h="4206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Sno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Sname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Ssex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Sage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4572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赵强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572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李明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anchor="ctr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572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孙珊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680" name="AutoShape 65"/>
          <p:cNvSpPr/>
          <p:nvPr/>
        </p:nvSpPr>
        <p:spPr>
          <a:xfrm flipH="1">
            <a:off x="395288" y="4868863"/>
            <a:ext cx="792162" cy="576262"/>
          </a:xfrm>
          <a:prstGeom prst="wedgeEllipseCallout">
            <a:avLst>
              <a:gd name="adj1" fmla="val -92486"/>
              <a:gd name="adj2" fmla="val -49176"/>
            </a:avLst>
          </a:prstGeom>
          <a:noFill/>
          <a:ln w="28575" cap="flat" cmpd="sng">
            <a:solidFill>
              <a:srgbClr val="00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主键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27681" name="AutoShape 62"/>
          <p:cNvSpPr/>
          <p:nvPr/>
        </p:nvSpPr>
        <p:spPr>
          <a:xfrm>
            <a:off x="7091363" y="4508500"/>
            <a:ext cx="1584325" cy="647700"/>
          </a:xfrm>
          <a:prstGeom prst="wedgeEllipseCallout">
            <a:avLst>
              <a:gd name="adj1" fmla="val -108417"/>
              <a:gd name="adj2" fmla="val 9560"/>
            </a:avLst>
          </a:prstGeom>
          <a:noFill/>
          <a:ln w="28575" cap="flat" cmpd="sng">
            <a:solidFill>
              <a:srgbClr val="00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表的结构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27682" name="AutoShape 63"/>
          <p:cNvSpPr/>
          <p:nvPr/>
        </p:nvSpPr>
        <p:spPr>
          <a:xfrm>
            <a:off x="6732588" y="5516563"/>
            <a:ext cx="1511300" cy="576262"/>
          </a:xfrm>
          <a:prstGeom prst="wedgeEllipseCallout">
            <a:avLst>
              <a:gd name="adj1" fmla="val -93278"/>
              <a:gd name="adj2" fmla="val 5648"/>
            </a:avLst>
          </a:prstGeom>
          <a:noFill/>
          <a:ln w="28575" cap="flat" cmpd="sng">
            <a:solidFill>
              <a:srgbClr val="00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</a:rPr>
              <a:t>表中数据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(m:n)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812213" cy="5437188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lnSpc>
                <a:spcPct val="110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一个</a:t>
            </a:r>
            <a:r>
              <a:rPr lang="en-US" altLang="zh-CN" dirty="0">
                <a:latin typeface="Arial" panose="020B0604020202020204" pitchFamily="34" charset="0"/>
              </a:rPr>
              <a:t>(m:n)</a:t>
            </a:r>
            <a:r>
              <a:rPr lang="zh-CN" altLang="en-US" dirty="0">
                <a:latin typeface="Arial" panose="020B0604020202020204" pitchFamily="34" charset="0"/>
              </a:rPr>
              <a:t>联系，转换为一个关系模式：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关系名</a:t>
            </a:r>
            <a:r>
              <a:rPr lang="zh-CN" altLang="en-US" sz="3600" dirty="0">
                <a:latin typeface="Arial" panose="020B0604020202020204" pitchFamily="34" charset="0"/>
              </a:rPr>
              <a:t>：联系名 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关系的属性</a:t>
            </a:r>
            <a:r>
              <a:rPr lang="zh-CN" altLang="en-US" sz="3600" dirty="0">
                <a:latin typeface="Arial" panose="020B0604020202020204" pitchFamily="34" charset="0"/>
              </a:rPr>
              <a:t>：与该联系相连的各实体的主键以及联系本身的属性。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关系的主键</a:t>
            </a:r>
            <a:r>
              <a:rPr lang="zh-CN" altLang="en-US" sz="3600" dirty="0">
                <a:latin typeface="Arial" panose="020B0604020202020204" pitchFamily="34" charset="0"/>
              </a:rPr>
              <a:t>：各实体主键的组合。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en-US" altLang="zh-CN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(m:n)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812213" cy="5437188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lnSpc>
                <a:spcPct val="110000"/>
              </a:lnSpc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举例：</a:t>
            </a:r>
            <a:r>
              <a:rPr lang="zh-CN" altLang="en-US" dirty="0"/>
              <a:t>“</a:t>
            </a:r>
            <a:r>
              <a:rPr lang="zh-CN" altLang="en-US" dirty="0">
                <a:latin typeface="Arial" panose="020B0604020202020204" pitchFamily="34" charset="0"/>
              </a:rPr>
              <a:t>选课</a:t>
            </a:r>
            <a:r>
              <a:rPr lang="zh-CN" altLang="en-US" dirty="0"/>
              <a:t>”</a:t>
            </a:r>
            <a:r>
              <a:rPr lang="zh-CN" altLang="en-US" dirty="0">
                <a:latin typeface="Arial" panose="020B0604020202020204" pitchFamily="34" charset="0"/>
              </a:rPr>
              <a:t>联系可转换为如下关系模式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110000"/>
              </a:lnSpc>
              <a:spcBef>
                <a:spcPct val="2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　　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110000"/>
              </a:lnSpc>
              <a:spcBef>
                <a:spcPct val="2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110000"/>
              </a:lnSpc>
              <a:spcBef>
                <a:spcPct val="2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110000"/>
              </a:lnSpc>
              <a:spcBef>
                <a:spcPct val="2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         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lnSpc>
                <a:spcPct val="110000"/>
              </a:lnSpc>
              <a:spcBef>
                <a:spcPct val="5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选课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课程号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成绩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pSp>
        <p:nvGrpSpPr>
          <p:cNvPr id="29700" name="Group 35"/>
          <p:cNvGrpSpPr/>
          <p:nvPr/>
        </p:nvGrpSpPr>
        <p:grpSpPr>
          <a:xfrm>
            <a:off x="1965325" y="1916113"/>
            <a:ext cx="3975100" cy="2592387"/>
            <a:chOff x="2290" y="1479"/>
            <a:chExt cx="2504" cy="1633"/>
          </a:xfrm>
        </p:grpSpPr>
        <p:sp>
          <p:nvSpPr>
            <p:cNvPr id="29701" name="Rectangle 5"/>
            <p:cNvSpPr/>
            <p:nvPr/>
          </p:nvSpPr>
          <p:spPr>
            <a:xfrm>
              <a:off x="2486" y="1479"/>
              <a:ext cx="832" cy="272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400" dirty="0">
                  <a:ea typeface="宋体" panose="02010600030101010101" pitchFamily="2" charset="-122"/>
                </a:rPr>
                <a:t>学生</a:t>
              </a:r>
              <a:endParaRPr lang="zh-CN" altLang="en-US" sz="2400" dirty="0">
                <a:ea typeface="宋体" panose="02010600030101010101" pitchFamily="2" charset="-122"/>
              </a:endParaRPr>
            </a:p>
          </p:txBody>
        </p:sp>
        <p:sp>
          <p:nvSpPr>
            <p:cNvPr id="29702" name="Rectangle 17"/>
            <p:cNvSpPr/>
            <p:nvPr/>
          </p:nvSpPr>
          <p:spPr>
            <a:xfrm>
              <a:off x="2512" y="2840"/>
              <a:ext cx="827" cy="272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400" dirty="0">
                  <a:ea typeface="宋体" panose="02010600030101010101" pitchFamily="2" charset="-122"/>
                </a:rPr>
                <a:t>课程</a:t>
              </a:r>
              <a:endParaRPr lang="zh-CN" altLang="en-US" sz="2400" dirty="0">
                <a:ea typeface="宋体" panose="02010600030101010101" pitchFamily="2" charset="-122"/>
              </a:endParaRPr>
            </a:p>
          </p:txBody>
        </p:sp>
        <p:grpSp>
          <p:nvGrpSpPr>
            <p:cNvPr id="29703" name="Group 25"/>
            <p:cNvGrpSpPr/>
            <p:nvPr/>
          </p:nvGrpSpPr>
          <p:grpSpPr>
            <a:xfrm>
              <a:off x="2290" y="1751"/>
              <a:ext cx="2504" cy="1089"/>
              <a:chOff x="2290" y="1751"/>
              <a:chExt cx="2504" cy="1089"/>
            </a:xfrm>
          </p:grpSpPr>
          <p:grpSp>
            <p:nvGrpSpPr>
              <p:cNvPr id="29704" name="Group 26"/>
              <p:cNvGrpSpPr/>
              <p:nvPr/>
            </p:nvGrpSpPr>
            <p:grpSpPr>
              <a:xfrm>
                <a:off x="2290" y="1751"/>
                <a:ext cx="2504" cy="1089"/>
                <a:chOff x="2381" y="1434"/>
                <a:chExt cx="2413" cy="1089"/>
              </a:xfrm>
            </p:grpSpPr>
            <p:sp>
              <p:nvSpPr>
                <p:cNvPr id="29707" name="Line 27"/>
                <p:cNvSpPr/>
                <p:nvPr/>
              </p:nvSpPr>
              <p:spPr>
                <a:xfrm flipV="1">
                  <a:off x="2943" y="1434"/>
                  <a:ext cx="0" cy="318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9708" name="Line 28"/>
                <p:cNvSpPr/>
                <p:nvPr/>
              </p:nvSpPr>
              <p:spPr>
                <a:xfrm>
                  <a:off x="2953" y="2205"/>
                  <a:ext cx="0" cy="318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9709" name="Group 29"/>
                <p:cNvGrpSpPr/>
                <p:nvPr/>
              </p:nvGrpSpPr>
              <p:grpSpPr>
                <a:xfrm>
                  <a:off x="2381" y="1751"/>
                  <a:ext cx="2413" cy="454"/>
                  <a:chOff x="2381" y="1887"/>
                  <a:chExt cx="2413" cy="454"/>
                </a:xfrm>
              </p:grpSpPr>
              <p:sp>
                <p:nvSpPr>
                  <p:cNvPr id="29710" name="AutoShape 30"/>
                  <p:cNvSpPr/>
                  <p:nvPr/>
                </p:nvSpPr>
                <p:spPr>
                  <a:xfrm>
                    <a:off x="2381" y="1887"/>
                    <a:ext cx="1134" cy="454"/>
                  </a:xfrm>
                  <a:prstGeom prst="diamond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269875" indent="-269875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SzPct val="65000"/>
                      <a:buFont typeface="Wingdings" panose="05000000000000000000" pitchFamily="2" charset="2"/>
                      <a:buChar char="n"/>
                      <a:defRPr sz="36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11530" indent="-269875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2pPr>
                    <a:lvl3pPr marL="1339850" indent="-25908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996633"/>
                      </a:buClr>
                      <a:buSzPct val="6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3pPr>
                    <a:lvl4pPr marL="1927225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996633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4pPr>
                    <a:lvl5pPr marL="233553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996633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2400" dirty="0"/>
                      <a:t>选课</a:t>
                    </a:r>
                    <a:endParaRPr lang="zh-CN" altLang="en-US" sz="2400" dirty="0"/>
                  </a:p>
                </p:txBody>
              </p:sp>
              <p:sp>
                <p:nvSpPr>
                  <p:cNvPr id="29711" name="Oval 31"/>
                  <p:cNvSpPr/>
                  <p:nvPr/>
                </p:nvSpPr>
                <p:spPr>
                  <a:xfrm>
                    <a:off x="4023" y="1906"/>
                    <a:ext cx="771" cy="408"/>
                  </a:xfrm>
                  <a:prstGeom prst="ellipse">
                    <a:avLst/>
                  </a:prstGeom>
                  <a:noFill/>
                  <a:ln w="285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269875" indent="-269875" algn="l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FF0000"/>
                      </a:buClr>
                      <a:buSzPct val="65000"/>
                      <a:buFont typeface="Wingdings" panose="05000000000000000000" pitchFamily="2" charset="2"/>
                      <a:buChar char="n"/>
                      <a:defRPr sz="360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811530" indent="-269875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65000"/>
                      <a:buFont typeface="Wingdings" panose="05000000000000000000" pitchFamily="2" charset="2"/>
                      <a:buChar char="n"/>
                      <a:defRPr sz="32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2pPr>
                    <a:lvl3pPr marL="1339850" indent="-25908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996633"/>
                      </a:buClr>
                      <a:buSzPct val="65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3pPr>
                    <a:lvl4pPr marL="1927225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996633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4pPr>
                    <a:lvl5pPr marL="233553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996633"/>
                      </a:buClr>
                      <a:buSzPct val="65000"/>
                      <a:buFont typeface="Wingdings" panose="05000000000000000000" pitchFamily="2" charset="2"/>
                      <a:buChar char="n"/>
                      <a:defRPr sz="2400" b="1">
                        <a:solidFill>
                          <a:srgbClr val="000000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ctr" eaLnBrk="1" hangingPunct="1">
                      <a:buClrTx/>
                      <a:buSzTx/>
                      <a:buFontTx/>
                      <a:buNone/>
                    </a:pPr>
                    <a:r>
                      <a:rPr lang="zh-CN" altLang="en-US" sz="2400" dirty="0"/>
                      <a:t>成绩</a:t>
                    </a:r>
                    <a:endParaRPr lang="zh-CN" altLang="en-US" sz="2400" dirty="0"/>
                  </a:p>
                </p:txBody>
              </p:sp>
              <p:sp>
                <p:nvSpPr>
                  <p:cNvPr id="29712" name="Line 32"/>
                  <p:cNvSpPr/>
                  <p:nvPr/>
                </p:nvSpPr>
                <p:spPr>
                  <a:xfrm>
                    <a:off x="3515" y="2115"/>
                    <a:ext cx="499" cy="0"/>
                  </a:xfrm>
                  <a:prstGeom prst="line">
                    <a:avLst/>
                  </a:prstGeom>
                  <a:ln w="2857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9705" name="Text Box 33"/>
              <p:cNvSpPr txBox="1"/>
              <p:nvPr/>
            </p:nvSpPr>
            <p:spPr>
              <a:xfrm>
                <a:off x="2925" y="2523"/>
                <a:ext cx="227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m</a:t>
                </a:r>
                <a:endParaRPr lang="en-US" altLang="zh-CN" sz="2000" b="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9706" name="Text Box 34"/>
              <p:cNvSpPr txBox="1"/>
              <p:nvPr/>
            </p:nvSpPr>
            <p:spPr>
              <a:xfrm>
                <a:off x="2925" y="1842"/>
                <a:ext cx="181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>
                <a:lvl1pPr marL="269875" indent="-269875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65000"/>
                  <a:buFont typeface="Wingdings" panose="05000000000000000000" pitchFamily="2" charset="2"/>
                  <a:buChar char="n"/>
                  <a:defRPr sz="36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811530" indent="-2698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5000"/>
                  <a:buFont typeface="Wingdings" panose="05000000000000000000" pitchFamily="2" charset="2"/>
                  <a:buChar char="n"/>
                  <a:defRPr sz="3200" b="1">
                    <a:solidFill>
                      <a:srgbClr val="000000"/>
                    </a:solidFill>
                    <a:latin typeface="+mn-lt"/>
                    <a:ea typeface="+mn-ea"/>
                  </a:defRPr>
                </a:lvl2pPr>
                <a:lvl3pPr marL="1339850" indent="-2590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800" b="1">
                    <a:solidFill>
                      <a:srgbClr val="000000"/>
                    </a:solidFill>
                    <a:latin typeface="+mn-lt"/>
                    <a:ea typeface="+mn-ea"/>
                  </a:defRPr>
                </a:lvl3pPr>
                <a:lvl4pPr marL="1927225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4pPr>
                <a:lvl5pPr marL="2335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rgbClr val="000000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n</a:t>
                </a:r>
                <a:endParaRPr lang="en-US" altLang="zh-CN" sz="2000" b="0" dirty="0"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7620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(2)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(m:n)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3" name="Rectangle 3"/>
          <p:cNvSpPr/>
          <p:nvPr/>
        </p:nvSpPr>
        <p:spPr>
          <a:xfrm>
            <a:off x="381000" y="4292600"/>
            <a:ext cx="8547100" cy="2016125"/>
          </a:xfrm>
          <a:prstGeom prst="rect">
            <a:avLst/>
          </a:prstGeom>
          <a:solidFill>
            <a:srgbClr val="CC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85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新建一个表，专门存储 </a:t>
            </a:r>
            <a:r>
              <a:rPr lang="en-US" altLang="zh-CN" sz="3200" dirty="0">
                <a:latin typeface="Arial" panose="020B0604020202020204" pitchFamily="34" charset="0"/>
              </a:rPr>
              <a:t>m:n </a:t>
            </a:r>
            <a:r>
              <a:rPr lang="zh-CN" altLang="en-US" sz="3200" dirty="0">
                <a:latin typeface="Arial" panose="020B0604020202020204" pitchFamily="34" charset="0"/>
              </a:rPr>
              <a:t>的联系信息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85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学生表和课程表通过选课表建立了</a:t>
            </a:r>
            <a:r>
              <a:rPr lang="en-US" altLang="zh-CN" sz="3200" dirty="0">
                <a:latin typeface="Arial" panose="020B0604020202020204" pitchFamily="34" charset="0"/>
              </a:rPr>
              <a:t>m:n</a:t>
            </a:r>
            <a:r>
              <a:rPr lang="zh-CN" altLang="en-US" sz="3200" dirty="0">
                <a:latin typeface="Arial" panose="020B0604020202020204" pitchFamily="34" charset="0"/>
              </a:rPr>
              <a:t>的联系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85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学生表和选课表是</a:t>
            </a:r>
            <a:r>
              <a:rPr lang="en-US" altLang="zh-CN" sz="3200" dirty="0">
                <a:latin typeface="Arial" panose="020B0604020202020204" pitchFamily="34" charset="0"/>
              </a:rPr>
              <a:t>1:n</a:t>
            </a:r>
            <a:r>
              <a:rPr lang="zh-CN" altLang="en-US" sz="3200" dirty="0">
                <a:latin typeface="Arial" panose="020B0604020202020204" pitchFamily="34" charset="0"/>
              </a:rPr>
              <a:t>的联系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85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课程表和选课表是</a:t>
            </a:r>
            <a:r>
              <a:rPr lang="en-US" altLang="zh-CN" sz="3200" dirty="0">
                <a:latin typeface="Arial" panose="020B0604020202020204" pitchFamily="34" charset="0"/>
              </a:rPr>
              <a:t>1:n</a:t>
            </a:r>
            <a:r>
              <a:rPr lang="zh-CN" altLang="en-US" sz="3200" dirty="0">
                <a:latin typeface="Arial" panose="020B0604020202020204" pitchFamily="34" charset="0"/>
              </a:rPr>
              <a:t>的联系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0724" name="Line 5"/>
          <p:cNvSpPr/>
          <p:nvPr/>
        </p:nvSpPr>
        <p:spPr>
          <a:xfrm>
            <a:off x="8696325" y="3132138"/>
            <a:ext cx="1588" cy="9525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5" name="Rectangle 6"/>
          <p:cNvSpPr/>
          <p:nvPr/>
        </p:nvSpPr>
        <p:spPr>
          <a:xfrm>
            <a:off x="9028113" y="31321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0726" name="Line 7"/>
          <p:cNvSpPr/>
          <p:nvPr/>
        </p:nvSpPr>
        <p:spPr>
          <a:xfrm>
            <a:off x="9028113" y="3132138"/>
            <a:ext cx="9525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7" name="Line 8"/>
          <p:cNvSpPr/>
          <p:nvPr/>
        </p:nvSpPr>
        <p:spPr>
          <a:xfrm>
            <a:off x="9028113" y="3132138"/>
            <a:ext cx="1587" cy="9525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8" name="Rectangle 9"/>
          <p:cNvSpPr/>
          <p:nvPr/>
        </p:nvSpPr>
        <p:spPr>
          <a:xfrm>
            <a:off x="9028113" y="31321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graphicFrame>
        <p:nvGraphicFramePr>
          <p:cNvPr id="405514" name="Group 10"/>
          <p:cNvGraphicFramePr>
            <a:graphicFrameLocks noGrp="1"/>
          </p:cNvGraphicFramePr>
          <p:nvPr>
            <p:ph idx="1"/>
          </p:nvPr>
        </p:nvGraphicFramePr>
        <p:xfrm>
          <a:off x="179388" y="1462088"/>
          <a:ext cx="2592388" cy="1727200"/>
        </p:xfrm>
        <a:graphic>
          <a:graphicData uri="http://schemas.openxmlformats.org/drawingml/2006/table">
            <a:tbl>
              <a:tblPr/>
              <a:tblGrid>
                <a:gridCol w="863600"/>
                <a:gridCol w="865187"/>
                <a:gridCol w="863600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学号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性别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张伟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李明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孙珊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51" name="AutoShape 37"/>
          <p:cNvSpPr/>
          <p:nvPr/>
        </p:nvSpPr>
        <p:spPr>
          <a:xfrm>
            <a:off x="971550" y="3500438"/>
            <a:ext cx="1143000" cy="457200"/>
          </a:xfrm>
          <a:prstGeom prst="wedgeRoundRectCallout">
            <a:avLst>
              <a:gd name="adj1" fmla="val -86944"/>
              <a:gd name="adj2" fmla="val -123611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主键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30752" name="Rectangle 38"/>
          <p:cNvSpPr/>
          <p:nvPr/>
        </p:nvSpPr>
        <p:spPr>
          <a:xfrm>
            <a:off x="250825" y="981075"/>
            <a:ext cx="1173163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学生</a:t>
            </a:r>
            <a:endParaRPr lang="zh-CN" altLang="en-US" sz="2800" dirty="0"/>
          </a:p>
        </p:txBody>
      </p:sp>
      <p:graphicFrame>
        <p:nvGraphicFramePr>
          <p:cNvPr id="405543" name="Group 39"/>
          <p:cNvGraphicFramePr>
            <a:graphicFrameLocks noGrp="1"/>
          </p:cNvGraphicFramePr>
          <p:nvPr/>
        </p:nvGraphicFramePr>
        <p:xfrm>
          <a:off x="6300788" y="1466850"/>
          <a:ext cx="2735263" cy="1724025"/>
        </p:xfrm>
        <a:graphic>
          <a:graphicData uri="http://schemas.openxmlformats.org/drawingml/2006/table">
            <a:tbl>
              <a:tblPr/>
              <a:tblGrid>
                <a:gridCol w="1008062"/>
                <a:gridCol w="1008063"/>
                <a:gridCol w="719137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课程号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课程名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学时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数学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英语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通信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48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75" name="AutoShape 66"/>
          <p:cNvSpPr/>
          <p:nvPr/>
        </p:nvSpPr>
        <p:spPr>
          <a:xfrm>
            <a:off x="7092950" y="3500438"/>
            <a:ext cx="1143000" cy="457200"/>
          </a:xfrm>
          <a:prstGeom prst="wedgeRoundRectCallout">
            <a:avLst>
              <a:gd name="adj1" fmla="val -86944"/>
              <a:gd name="adj2" fmla="val -113194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主键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30776" name="Rectangle 67"/>
          <p:cNvSpPr/>
          <p:nvPr/>
        </p:nvSpPr>
        <p:spPr>
          <a:xfrm>
            <a:off x="6423025" y="981075"/>
            <a:ext cx="1173163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课程</a:t>
            </a:r>
            <a:endParaRPr lang="zh-CN" altLang="en-US" sz="2800" dirty="0"/>
          </a:p>
        </p:txBody>
      </p:sp>
      <p:graphicFrame>
        <p:nvGraphicFramePr>
          <p:cNvPr id="405572" name="Group 68"/>
          <p:cNvGraphicFramePr>
            <a:graphicFrameLocks noGrp="1"/>
          </p:cNvGraphicFramePr>
          <p:nvPr/>
        </p:nvGraphicFramePr>
        <p:xfrm>
          <a:off x="3276600" y="1462088"/>
          <a:ext cx="2592388" cy="1727200"/>
        </p:xfrm>
        <a:graphic>
          <a:graphicData uri="http://schemas.openxmlformats.org/drawingml/2006/table">
            <a:tbl>
              <a:tblPr/>
              <a:tblGrid>
                <a:gridCol w="863600"/>
                <a:gridCol w="1008063"/>
                <a:gridCol w="72072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学号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课程号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成绩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87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C2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9" name="Rectangle 95"/>
          <p:cNvSpPr/>
          <p:nvPr/>
        </p:nvSpPr>
        <p:spPr>
          <a:xfrm>
            <a:off x="3419475" y="981075"/>
            <a:ext cx="1173163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选课</a:t>
            </a:r>
            <a:endParaRPr lang="zh-CN" altLang="en-US" sz="2800" dirty="0"/>
          </a:p>
        </p:txBody>
      </p:sp>
      <p:sp>
        <p:nvSpPr>
          <p:cNvPr id="30800" name="AutoShape 96"/>
          <p:cNvSpPr/>
          <p:nvPr/>
        </p:nvSpPr>
        <p:spPr>
          <a:xfrm>
            <a:off x="2987675" y="3500438"/>
            <a:ext cx="1143000" cy="457200"/>
          </a:xfrm>
          <a:prstGeom prst="wedgeRoundRectCallout">
            <a:avLst>
              <a:gd name="adj1" fmla="val 37500"/>
              <a:gd name="adj2" fmla="val -114931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外键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30801" name="AutoShape 97"/>
          <p:cNvSpPr/>
          <p:nvPr/>
        </p:nvSpPr>
        <p:spPr>
          <a:xfrm>
            <a:off x="4716463" y="3500438"/>
            <a:ext cx="1143000" cy="457200"/>
          </a:xfrm>
          <a:prstGeom prst="wedgeRoundRectCallout">
            <a:avLst>
              <a:gd name="adj1" fmla="val -51389"/>
              <a:gd name="adj2" fmla="val -118750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外键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(3)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(1:n)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812213" cy="5076825"/>
          </a:xfrm>
        </p:spPr>
        <p:txBody>
          <a:bodyPr vert="horz" wrap="square" lIns="91440" tIns="45720" rIns="91440" bIns="45720" anchor="t" anchorCtr="0"/>
          <a:p>
            <a:pPr marL="268605" indent="-26860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方法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：与</a:t>
            </a:r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端对应的关系模式合并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推荐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3500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合并后关系的属性</a:t>
            </a:r>
            <a:r>
              <a:rPr lang="zh-CN" altLang="en-US" sz="3600" dirty="0">
                <a:latin typeface="Arial" panose="020B0604020202020204" pitchFamily="34" charset="0"/>
              </a:rPr>
              <a:t>：在 </a:t>
            </a:r>
            <a:r>
              <a:rPr lang="en-US" altLang="zh-CN" sz="3600" dirty="0">
                <a:latin typeface="Arial" panose="020B0604020202020204" pitchFamily="34" charset="0"/>
              </a:rPr>
              <a:t>n </a:t>
            </a:r>
            <a:r>
              <a:rPr lang="zh-CN" altLang="en-US" sz="3600" dirty="0">
                <a:latin typeface="Arial" panose="020B0604020202020204" pitchFamily="34" charset="0"/>
              </a:rPr>
              <a:t>端关系中加入 </a:t>
            </a:r>
            <a:r>
              <a:rPr lang="en-US" altLang="zh-CN" sz="3600" dirty="0">
                <a:latin typeface="Arial" panose="020B0604020202020204" pitchFamily="34" charset="0"/>
              </a:rPr>
              <a:t>1 </a:t>
            </a:r>
            <a:r>
              <a:rPr lang="zh-CN" altLang="en-US" sz="3600" dirty="0">
                <a:latin typeface="Arial" panose="020B0604020202020204" pitchFamily="34" charset="0"/>
              </a:rPr>
              <a:t>端关系的主键和联系本身的属性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合并后关系的主键</a:t>
            </a:r>
            <a:r>
              <a:rPr lang="zh-CN" altLang="en-US" sz="3600" dirty="0">
                <a:latin typeface="Arial" panose="020B0604020202020204" pitchFamily="34" charset="0"/>
              </a:rPr>
              <a:t>：不变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marL="268605" indent="-26860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(3)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(1:n)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812213" cy="5076825"/>
          </a:xfrm>
        </p:spPr>
        <p:txBody>
          <a:bodyPr vert="horz" wrap="square" lIns="91440" tIns="45720" rIns="91440" bIns="45720" anchor="t" anchorCtr="0"/>
          <a:p>
            <a:pPr marL="268605" indent="-26860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举例：系与学生之间的</a:t>
            </a:r>
            <a:r>
              <a:rPr lang="zh-CN" altLang="en-US" dirty="0"/>
              <a:t>“</a:t>
            </a:r>
            <a:r>
              <a:rPr lang="zh-CN" altLang="en-US" dirty="0">
                <a:latin typeface="Arial" panose="020B0604020202020204" pitchFamily="34" charset="0"/>
              </a:rPr>
              <a:t>组成</a:t>
            </a:r>
            <a:r>
              <a:rPr lang="zh-CN" altLang="en-US" dirty="0"/>
              <a:t>”</a:t>
            </a:r>
            <a:r>
              <a:rPr lang="zh-CN" altLang="en-US" dirty="0">
                <a:latin typeface="Arial" panose="020B0604020202020204" pitchFamily="34" charset="0"/>
              </a:rPr>
              <a:t>联系可以与</a:t>
            </a:r>
            <a:r>
              <a:rPr lang="zh-CN" altLang="en-US" dirty="0"/>
              <a:t>“</a:t>
            </a:r>
            <a:r>
              <a:rPr lang="zh-CN" altLang="en-US" dirty="0">
                <a:latin typeface="Arial" panose="020B0604020202020204" pitchFamily="34" charset="0"/>
              </a:rPr>
              <a:t>学生</a:t>
            </a:r>
            <a:r>
              <a:rPr lang="zh-CN" altLang="en-US" dirty="0"/>
              <a:t>”</a:t>
            </a:r>
            <a:r>
              <a:rPr lang="zh-CN" altLang="en-US" dirty="0">
                <a:latin typeface="Arial" panose="020B0604020202020204" pitchFamily="34" charset="0"/>
              </a:rPr>
              <a:t>关系模式合并：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68605" indent="-268605" eaLnBrk="1" hangingPunct="1">
              <a:spcBef>
                <a:spcPct val="3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68605" indent="-268605" eaLnBrk="1" hangingPunct="1">
              <a:spcBef>
                <a:spcPct val="3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68605" indent="-268605" eaLnBrk="1" hangingPunct="1">
              <a:spcBef>
                <a:spcPct val="3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268605" indent="-268605" eaLnBrk="1" hangingPunct="1">
              <a:spcBef>
                <a:spcPct val="3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学生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姓名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性别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年龄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系号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pSp>
        <p:nvGrpSpPr>
          <p:cNvPr id="32772" name="Group 4"/>
          <p:cNvGrpSpPr/>
          <p:nvPr/>
        </p:nvGrpSpPr>
        <p:grpSpPr>
          <a:xfrm>
            <a:off x="1331913" y="2636838"/>
            <a:ext cx="5976937" cy="939800"/>
            <a:chOff x="1292" y="3475"/>
            <a:chExt cx="3765" cy="592"/>
          </a:xfrm>
        </p:grpSpPr>
        <p:sp>
          <p:nvSpPr>
            <p:cNvPr id="32773" name="Text Box 5"/>
            <p:cNvSpPr txBox="1"/>
            <p:nvPr/>
          </p:nvSpPr>
          <p:spPr>
            <a:xfrm>
              <a:off x="1292" y="3611"/>
              <a:ext cx="590" cy="409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系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32774" name="Text Box 6"/>
            <p:cNvSpPr txBox="1"/>
            <p:nvPr/>
          </p:nvSpPr>
          <p:spPr>
            <a:xfrm>
              <a:off x="4241" y="3611"/>
              <a:ext cx="816" cy="409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学生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32775" name="Line 7"/>
            <p:cNvSpPr/>
            <p:nvPr/>
          </p:nvSpPr>
          <p:spPr>
            <a:xfrm>
              <a:off x="1882" y="3792"/>
              <a:ext cx="235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76" name="AutoShape 8"/>
            <p:cNvSpPr/>
            <p:nvPr/>
          </p:nvSpPr>
          <p:spPr>
            <a:xfrm>
              <a:off x="2517" y="3521"/>
              <a:ext cx="1224" cy="546"/>
            </a:xfrm>
            <a:prstGeom prst="flowChartDecision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fontAlgn="ctr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组成</a:t>
              </a:r>
              <a:endParaRPr lang="zh-CN" altLang="en-US" sz="3200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2777" name="Text Box 9"/>
            <p:cNvSpPr txBox="1"/>
            <p:nvPr/>
          </p:nvSpPr>
          <p:spPr>
            <a:xfrm>
              <a:off x="2064" y="3475"/>
              <a:ext cx="590" cy="40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1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  <p:sp>
          <p:nvSpPr>
            <p:cNvPr id="32778" name="Text Box 10"/>
            <p:cNvSpPr txBox="1"/>
            <p:nvPr/>
          </p:nvSpPr>
          <p:spPr>
            <a:xfrm>
              <a:off x="3606" y="3475"/>
              <a:ext cx="590" cy="40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n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7620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(3)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(1:n)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795" name="Rectangle 4"/>
          <p:cNvSpPr/>
          <p:nvPr/>
        </p:nvSpPr>
        <p:spPr>
          <a:xfrm>
            <a:off x="381000" y="4292600"/>
            <a:ext cx="8547100" cy="1512888"/>
          </a:xfrm>
          <a:prstGeom prst="rect">
            <a:avLst/>
          </a:prstGeom>
          <a:solidFill>
            <a:srgbClr val="CC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85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</a:rPr>
              <a:t>n</a:t>
            </a:r>
            <a:r>
              <a:rPr lang="zh-CN" altLang="en-US" sz="3200" dirty="0">
                <a:latin typeface="Arial" panose="020B0604020202020204" pitchFamily="34" charset="0"/>
              </a:rPr>
              <a:t>端表中增加一列，存放 </a:t>
            </a:r>
            <a:r>
              <a:rPr lang="en-US" altLang="zh-CN" sz="3200" dirty="0">
                <a:latin typeface="Arial" panose="020B0604020202020204" pitchFamily="34" charset="0"/>
              </a:rPr>
              <a:t>1 </a:t>
            </a:r>
            <a:r>
              <a:rPr lang="zh-CN" altLang="en-US" sz="3200" dirty="0">
                <a:latin typeface="Arial" panose="020B0604020202020204" pitchFamily="34" charset="0"/>
              </a:rPr>
              <a:t>端表的主键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80000"/>
              </a:lnSpc>
              <a:spcBef>
                <a:spcPct val="20000"/>
              </a:spcBef>
              <a:buClr>
                <a:srgbClr val="3333CC"/>
              </a:buClr>
              <a:buSzPct val="85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系表和学生表是</a:t>
            </a:r>
            <a:r>
              <a:rPr lang="en-US" altLang="zh-CN" sz="3200" dirty="0">
                <a:latin typeface="Arial" panose="020B0604020202020204" pitchFamily="34" charset="0"/>
              </a:rPr>
              <a:t>1:n</a:t>
            </a:r>
            <a:r>
              <a:rPr lang="zh-CN" altLang="en-US" sz="3200" dirty="0">
                <a:latin typeface="Arial" panose="020B0604020202020204" pitchFamily="34" charset="0"/>
              </a:rPr>
              <a:t>的联系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3796" name="Line 415"/>
          <p:cNvSpPr/>
          <p:nvPr/>
        </p:nvSpPr>
        <p:spPr>
          <a:xfrm>
            <a:off x="8696325" y="3132138"/>
            <a:ext cx="1588" cy="9525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7" name="Rectangle 420"/>
          <p:cNvSpPr/>
          <p:nvPr/>
        </p:nvSpPr>
        <p:spPr>
          <a:xfrm>
            <a:off x="9028113" y="31321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3798" name="Line 421"/>
          <p:cNvSpPr/>
          <p:nvPr/>
        </p:nvSpPr>
        <p:spPr>
          <a:xfrm>
            <a:off x="9028113" y="3132138"/>
            <a:ext cx="9525" cy="1587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9" name="Line 422"/>
          <p:cNvSpPr/>
          <p:nvPr/>
        </p:nvSpPr>
        <p:spPr>
          <a:xfrm>
            <a:off x="9028113" y="3132138"/>
            <a:ext cx="1587" cy="9525"/>
          </a:xfrm>
          <a:prstGeom prst="line">
            <a:avLst/>
          </a:prstGeom>
          <a:ln w="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0" name="Rectangle 423"/>
          <p:cNvSpPr/>
          <p:nvPr/>
        </p:nvSpPr>
        <p:spPr>
          <a:xfrm>
            <a:off x="9028113" y="3132138"/>
            <a:ext cx="9525" cy="9525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graphicFrame>
        <p:nvGraphicFramePr>
          <p:cNvPr id="404294" name="Group 838"/>
          <p:cNvGraphicFramePr>
            <a:graphicFrameLocks noGrp="1"/>
          </p:cNvGraphicFramePr>
          <p:nvPr>
            <p:ph idx="1"/>
          </p:nvPr>
        </p:nvGraphicFramePr>
        <p:xfrm>
          <a:off x="466725" y="1484313"/>
          <a:ext cx="4897438" cy="1704975"/>
        </p:xfrm>
        <a:graphic>
          <a:graphicData uri="http://schemas.openxmlformats.org/drawingml/2006/table">
            <a:tbl>
              <a:tblPr/>
              <a:tblGrid>
                <a:gridCol w="863600"/>
                <a:gridCol w="936625"/>
                <a:gridCol w="1008063"/>
                <a:gridCol w="936625"/>
                <a:gridCol w="1152525"/>
              </a:tblGrid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学号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性别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年龄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系号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张伟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李明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孙珊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18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3833" name="AutoShape 5"/>
          <p:cNvSpPr/>
          <p:nvPr/>
        </p:nvSpPr>
        <p:spPr>
          <a:xfrm>
            <a:off x="1268413" y="3548063"/>
            <a:ext cx="1143000" cy="457200"/>
          </a:xfrm>
          <a:prstGeom prst="wedgeRoundRectCallout">
            <a:avLst>
              <a:gd name="adj1" fmla="val -86944"/>
              <a:gd name="adj2" fmla="val -123611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主键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33834" name="Rectangle 655"/>
          <p:cNvSpPr/>
          <p:nvPr/>
        </p:nvSpPr>
        <p:spPr>
          <a:xfrm>
            <a:off x="446088" y="981075"/>
            <a:ext cx="1173162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学生</a:t>
            </a:r>
            <a:endParaRPr lang="zh-CN" altLang="en-US" sz="2800" dirty="0"/>
          </a:p>
        </p:txBody>
      </p:sp>
      <p:graphicFrame>
        <p:nvGraphicFramePr>
          <p:cNvPr id="404297" name="Group 841"/>
          <p:cNvGraphicFramePr>
            <a:graphicFrameLocks noGrp="1"/>
          </p:cNvGraphicFramePr>
          <p:nvPr/>
        </p:nvGraphicFramePr>
        <p:xfrm>
          <a:off x="5651500" y="1466850"/>
          <a:ext cx="3240088" cy="1724025"/>
        </p:xfrm>
        <a:graphic>
          <a:graphicData uri="http://schemas.openxmlformats.org/drawingml/2006/table">
            <a:tbl>
              <a:tblPr/>
              <a:tblGrid>
                <a:gridCol w="792163"/>
                <a:gridCol w="1439862"/>
                <a:gridCol w="1008063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系号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系名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电话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计算机系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72290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物理系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73309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数学系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73011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857" name="AutoShape 683"/>
          <p:cNvSpPr/>
          <p:nvPr/>
        </p:nvSpPr>
        <p:spPr>
          <a:xfrm>
            <a:off x="6516688" y="3500438"/>
            <a:ext cx="1143000" cy="457200"/>
          </a:xfrm>
          <a:prstGeom prst="wedgeRoundRectCallout">
            <a:avLst>
              <a:gd name="adj1" fmla="val -86944"/>
              <a:gd name="adj2" fmla="val -113194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主键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33858" name="Rectangle 684"/>
          <p:cNvSpPr/>
          <p:nvPr/>
        </p:nvSpPr>
        <p:spPr>
          <a:xfrm>
            <a:off x="5867400" y="981075"/>
            <a:ext cx="1173163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系</a:t>
            </a:r>
            <a:endParaRPr lang="zh-CN" altLang="en-US" sz="2800" dirty="0"/>
          </a:p>
        </p:txBody>
      </p:sp>
      <p:sp>
        <p:nvSpPr>
          <p:cNvPr id="33859" name="AutoShape 842"/>
          <p:cNvSpPr/>
          <p:nvPr/>
        </p:nvSpPr>
        <p:spPr>
          <a:xfrm>
            <a:off x="4716463" y="3548063"/>
            <a:ext cx="1143000" cy="457200"/>
          </a:xfrm>
          <a:prstGeom prst="wedgeRoundRectCallout">
            <a:avLst>
              <a:gd name="adj1" fmla="val -51389"/>
              <a:gd name="adj2" fmla="val -118750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外键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(3)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(1:n)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812213" cy="5437188"/>
          </a:xfrm>
        </p:spPr>
        <p:txBody>
          <a:bodyPr vert="horz" wrap="square" lIns="91440" tIns="45720" rIns="91440" bIns="45720" anchor="t" anchorCtr="0"/>
          <a:p>
            <a:pPr marL="268605" indent="-26860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方法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：可以转换为一个独立的关系模式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关系名</a:t>
            </a:r>
            <a:r>
              <a:rPr lang="zh-CN" altLang="en-US" sz="3600" dirty="0">
                <a:latin typeface="Arial" panose="020B0604020202020204" pitchFamily="34" charset="0"/>
              </a:rPr>
              <a:t>：联系名 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关系的属性</a:t>
            </a:r>
            <a:r>
              <a:rPr lang="zh-CN" altLang="en-US" sz="3600" dirty="0">
                <a:latin typeface="Arial" panose="020B0604020202020204" pitchFamily="34" charset="0"/>
              </a:rPr>
              <a:t>：与该联系相连的各实体的主键以及联系本身的属性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关系的主键</a:t>
            </a:r>
            <a:r>
              <a:rPr lang="zh-CN" altLang="en-US" sz="3600" dirty="0">
                <a:latin typeface="Arial" panose="020B0604020202020204" pitchFamily="34" charset="0"/>
              </a:rPr>
              <a:t>：</a:t>
            </a:r>
            <a:r>
              <a:rPr lang="en-US" altLang="zh-CN" sz="3600" dirty="0">
                <a:latin typeface="Arial" panose="020B0604020202020204" pitchFamily="34" charset="0"/>
              </a:rPr>
              <a:t>n </a:t>
            </a:r>
            <a:r>
              <a:rPr lang="zh-CN" altLang="en-US" sz="3600" dirty="0">
                <a:latin typeface="Arial" panose="020B0604020202020204" pitchFamily="34" charset="0"/>
              </a:rPr>
              <a:t>端实体的主键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zh-CN" altLang="en-US" sz="3600" dirty="0">
              <a:latin typeface="Arial" panose="020B0604020202020204" pitchFamily="34" charset="0"/>
            </a:endParaRPr>
          </a:p>
          <a:p>
            <a:pPr marL="268605" indent="-26860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举例：系与学生之间的</a:t>
            </a:r>
            <a:r>
              <a:rPr lang="zh-CN" altLang="en-US" dirty="0"/>
              <a:t>“</a:t>
            </a:r>
            <a:r>
              <a:rPr lang="zh-CN" altLang="en-US" dirty="0">
                <a:latin typeface="Arial" panose="020B0604020202020204" pitchFamily="34" charset="0"/>
              </a:rPr>
              <a:t>组成</a:t>
            </a:r>
            <a:r>
              <a:rPr lang="zh-CN" altLang="en-US" dirty="0"/>
              <a:t>”</a:t>
            </a:r>
            <a:r>
              <a:rPr lang="zh-CN" altLang="en-US" dirty="0">
                <a:latin typeface="Arial" panose="020B0604020202020204" pitchFamily="34" charset="0"/>
              </a:rPr>
              <a:t>联系可以转换为如下关系模式：</a:t>
            </a:r>
            <a:endParaRPr lang="zh-CN" altLang="en-US" dirty="0">
              <a:latin typeface="Arial" panose="020B0604020202020204" pitchFamily="34" charset="0"/>
            </a:endParaRPr>
          </a:p>
          <a:p>
            <a:pPr marL="268605" indent="-268605" eaLnBrk="1" hangingPunct="1">
              <a:spcBef>
                <a:spcPct val="2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          组成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系号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(4)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(1:1)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type="body" sz="half" idx="1"/>
          </p:nvPr>
        </p:nvSpPr>
        <p:spPr>
          <a:xfrm>
            <a:off x="223838" y="1016000"/>
            <a:ext cx="8740775" cy="5581650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方法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：与某一端对应的关系模式合并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推荐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2500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将合并后关系的属性</a:t>
            </a:r>
            <a:r>
              <a:rPr lang="zh-CN" altLang="en-US" sz="3600" dirty="0">
                <a:latin typeface="Arial" panose="020B0604020202020204" pitchFamily="34" charset="0"/>
              </a:rPr>
              <a:t>：加入对应关系的主键和联系本身的属性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2500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合并后关系的主键</a:t>
            </a:r>
            <a:r>
              <a:rPr lang="zh-CN" altLang="en-US" sz="3600" dirty="0">
                <a:latin typeface="Arial" panose="020B0604020202020204" pitchFamily="34" charset="0"/>
              </a:rPr>
              <a:t>：不变</a:t>
            </a:r>
            <a:endParaRPr lang="zh-CN" altLang="en-US" sz="3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(4)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(1:1)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type="body" sz="half" idx="1"/>
          </p:nvPr>
        </p:nvSpPr>
        <p:spPr>
          <a:xfrm>
            <a:off x="223838" y="1016000"/>
            <a:ext cx="8740775" cy="5581650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spcBef>
                <a:spcPct val="40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举例：系主任与系之间的</a:t>
            </a:r>
            <a:r>
              <a:rPr lang="zh-CN" altLang="en-US" dirty="0"/>
              <a:t>“</a:t>
            </a:r>
            <a:r>
              <a:rPr lang="zh-CN" altLang="en-US" dirty="0">
                <a:latin typeface="Arial" panose="020B0604020202020204" pitchFamily="34" charset="0"/>
              </a:rPr>
              <a:t>管理</a:t>
            </a:r>
            <a:r>
              <a:rPr lang="zh-CN" altLang="en-US" dirty="0"/>
              <a:t>”</a:t>
            </a:r>
            <a:r>
              <a:rPr lang="zh-CN" altLang="en-US" dirty="0">
                <a:latin typeface="Arial" panose="020B0604020202020204" pitchFamily="34" charset="0"/>
              </a:rPr>
              <a:t>联系可以转换为如下关系模式：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3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   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3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5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   系主任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工作证号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姓名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电话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系号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  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2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或    系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系号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系名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电话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系主任工作证号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 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pSp>
        <p:nvGrpSpPr>
          <p:cNvPr id="36868" name="Group 4"/>
          <p:cNvGrpSpPr/>
          <p:nvPr/>
        </p:nvGrpSpPr>
        <p:grpSpPr>
          <a:xfrm>
            <a:off x="1403350" y="2492375"/>
            <a:ext cx="5976938" cy="939800"/>
            <a:chOff x="1292" y="3475"/>
            <a:chExt cx="3765" cy="592"/>
          </a:xfrm>
        </p:grpSpPr>
        <p:sp>
          <p:nvSpPr>
            <p:cNvPr id="36869" name="Text Box 5"/>
            <p:cNvSpPr txBox="1"/>
            <p:nvPr/>
          </p:nvSpPr>
          <p:spPr>
            <a:xfrm>
              <a:off x="1292" y="3611"/>
              <a:ext cx="590" cy="409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系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36870" name="Text Box 6"/>
            <p:cNvSpPr txBox="1"/>
            <p:nvPr/>
          </p:nvSpPr>
          <p:spPr>
            <a:xfrm>
              <a:off x="4241" y="3611"/>
              <a:ext cx="816" cy="409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系主任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36871" name="Line 7"/>
            <p:cNvSpPr/>
            <p:nvPr/>
          </p:nvSpPr>
          <p:spPr>
            <a:xfrm>
              <a:off x="1882" y="3792"/>
              <a:ext cx="235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72" name="AutoShape 8"/>
            <p:cNvSpPr/>
            <p:nvPr/>
          </p:nvSpPr>
          <p:spPr>
            <a:xfrm>
              <a:off x="2472" y="3521"/>
              <a:ext cx="1336" cy="546"/>
            </a:xfrm>
            <a:prstGeom prst="flowChartDecision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fontAlgn="ctr" hangingPunct="1"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管理</a:t>
              </a:r>
              <a:endParaRPr lang="zh-CN" altLang="en-US" sz="3200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6873" name="Text Box 9"/>
            <p:cNvSpPr txBox="1"/>
            <p:nvPr/>
          </p:nvSpPr>
          <p:spPr>
            <a:xfrm>
              <a:off x="2064" y="3475"/>
              <a:ext cx="590" cy="40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1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  <p:sp>
          <p:nvSpPr>
            <p:cNvPr id="36874" name="Text Box 10"/>
            <p:cNvSpPr txBox="1"/>
            <p:nvPr/>
          </p:nvSpPr>
          <p:spPr>
            <a:xfrm>
              <a:off x="3606" y="3475"/>
              <a:ext cx="590" cy="409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0" rIns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1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3"/>
          <p:cNvSpPr/>
          <p:nvPr/>
        </p:nvSpPr>
        <p:spPr>
          <a:xfrm>
            <a:off x="323850" y="4581525"/>
            <a:ext cx="8569325" cy="1371600"/>
          </a:xfrm>
          <a:prstGeom prst="rect">
            <a:avLst/>
          </a:prstGeom>
          <a:solidFill>
            <a:srgbClr val="CC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20000"/>
              </a:spcBef>
              <a:buClr>
                <a:srgbClr val="3333CC"/>
              </a:buClr>
              <a:buSzPct val="90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在其中一个表中增加</a:t>
            </a:r>
            <a:r>
              <a:rPr lang="en-US" altLang="zh-CN" sz="3200" dirty="0">
                <a:latin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</a:rPr>
              <a:t>列，存放另一表的主键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0" lvl="0" indent="0">
              <a:spcBef>
                <a:spcPct val="20000"/>
              </a:spcBef>
              <a:buClr>
                <a:srgbClr val="3333CC"/>
              </a:buClr>
              <a:buSzPct val="90000"/>
              <a:buBlip>
                <a:blip r:embed="rId1"/>
              </a:buBlip>
            </a:pPr>
            <a:r>
              <a:rPr lang="zh-CN" altLang="en-US" sz="3200" dirty="0">
                <a:latin typeface="Arial" panose="020B0604020202020204" pitchFamily="34" charset="0"/>
              </a:rPr>
              <a:t>系表和系主任表之间存在 </a:t>
            </a:r>
            <a:r>
              <a:rPr lang="en-US" altLang="zh-CN" sz="3200" dirty="0">
                <a:latin typeface="Arial" panose="020B0604020202020204" pitchFamily="34" charset="0"/>
              </a:rPr>
              <a:t>1:1 </a:t>
            </a:r>
            <a:r>
              <a:rPr lang="zh-CN" altLang="en-US" sz="3200" dirty="0">
                <a:latin typeface="Arial" panose="020B0604020202020204" pitchFamily="34" charset="0"/>
              </a:rPr>
              <a:t>的联系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76484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(4)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(1:1)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76597" name="Group 117"/>
          <p:cNvGraphicFramePr>
            <a:graphicFrameLocks noGrp="1"/>
          </p:cNvGraphicFramePr>
          <p:nvPr/>
        </p:nvGraphicFramePr>
        <p:xfrm>
          <a:off x="4859338" y="1682750"/>
          <a:ext cx="4175125" cy="1724025"/>
        </p:xfrm>
        <a:graphic>
          <a:graphicData uri="http://schemas.openxmlformats.org/drawingml/2006/table">
            <a:tbl>
              <a:tblPr/>
              <a:tblGrid>
                <a:gridCol w="1295400"/>
                <a:gridCol w="865187"/>
                <a:gridCol w="2014538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工作证号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姓名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电话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221010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王阳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13977020101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231290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刘明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13832108823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190915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杨力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13979552436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914" name="Rectangle 33"/>
          <p:cNvSpPr/>
          <p:nvPr/>
        </p:nvSpPr>
        <p:spPr>
          <a:xfrm>
            <a:off x="4932363" y="1196975"/>
            <a:ext cx="1173162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系主任</a:t>
            </a:r>
            <a:endParaRPr lang="zh-CN" altLang="en-US" sz="2800" dirty="0"/>
          </a:p>
        </p:txBody>
      </p:sp>
      <p:graphicFrame>
        <p:nvGraphicFramePr>
          <p:cNvPr id="276596" name="Group 116"/>
          <p:cNvGraphicFramePr>
            <a:graphicFrameLocks noGrp="1"/>
          </p:cNvGraphicFramePr>
          <p:nvPr/>
        </p:nvGraphicFramePr>
        <p:xfrm>
          <a:off x="179388" y="1668463"/>
          <a:ext cx="4537075" cy="1724025"/>
        </p:xfrm>
        <a:graphic>
          <a:graphicData uri="http://schemas.openxmlformats.org/drawingml/2006/table">
            <a:tbl>
              <a:tblPr/>
              <a:tblGrid>
                <a:gridCol w="819150"/>
                <a:gridCol w="1489075"/>
                <a:gridCol w="1041400"/>
                <a:gridCol w="1187450"/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系号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系名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电话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系主任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计算机系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72290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221010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物理系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73309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190915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数学系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73011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231290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7942" name="Rectangle 61"/>
          <p:cNvSpPr/>
          <p:nvPr/>
        </p:nvSpPr>
        <p:spPr>
          <a:xfrm>
            <a:off x="323850" y="1182688"/>
            <a:ext cx="647700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Tx/>
              <a:buFontTx/>
              <a:buNone/>
            </a:pPr>
            <a:r>
              <a:rPr lang="zh-CN" altLang="en-US" sz="2800" dirty="0"/>
              <a:t>系</a:t>
            </a:r>
            <a:endParaRPr lang="zh-CN" altLang="en-US" sz="2800" dirty="0"/>
          </a:p>
        </p:txBody>
      </p:sp>
      <p:sp>
        <p:nvSpPr>
          <p:cNvPr id="37943" name="AutoShape 112"/>
          <p:cNvSpPr/>
          <p:nvPr/>
        </p:nvSpPr>
        <p:spPr>
          <a:xfrm>
            <a:off x="971550" y="3763963"/>
            <a:ext cx="1143000" cy="457200"/>
          </a:xfrm>
          <a:prstGeom prst="wedgeRoundRectCallout">
            <a:avLst>
              <a:gd name="adj1" fmla="val -86944"/>
              <a:gd name="adj2" fmla="val -123611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主键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37944" name="AutoShape 113"/>
          <p:cNvSpPr/>
          <p:nvPr/>
        </p:nvSpPr>
        <p:spPr>
          <a:xfrm>
            <a:off x="5867400" y="3716338"/>
            <a:ext cx="1143000" cy="457200"/>
          </a:xfrm>
          <a:prstGeom prst="wedgeRoundRectCallout">
            <a:avLst>
              <a:gd name="adj1" fmla="val -86944"/>
              <a:gd name="adj2" fmla="val -113194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主键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sp>
        <p:nvSpPr>
          <p:cNvPr id="37945" name="AutoShape 114"/>
          <p:cNvSpPr/>
          <p:nvPr/>
        </p:nvSpPr>
        <p:spPr>
          <a:xfrm>
            <a:off x="4067175" y="3763963"/>
            <a:ext cx="1143000" cy="457200"/>
          </a:xfrm>
          <a:prstGeom prst="wedgeRoundRectCallout">
            <a:avLst>
              <a:gd name="adj1" fmla="val -51389"/>
              <a:gd name="adj2" fmla="val -118750"/>
              <a:gd name="adj3" fmla="val 16667"/>
            </a:avLst>
          </a:prstGeom>
          <a:noFill/>
          <a:ln w="190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0000CC"/>
                </a:solidFill>
              </a:rPr>
              <a:t>外键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(4)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联系的转换</a:t>
            </a: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(1:1)</a:t>
            </a:r>
            <a:endParaRPr kumimoji="0" lang="en-US" altLang="zh-CN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740775" cy="5508625"/>
          </a:xfrm>
        </p:spPr>
        <p:txBody>
          <a:bodyPr vert="horz" wrap="square" lIns="91440" tIns="45720" rIns="91440" bIns="45720" anchor="t" anchorCtr="0"/>
          <a:p>
            <a:pPr marL="441325" indent="-44132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方法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：转换为一个独立的关系模式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关系名</a:t>
            </a:r>
            <a:r>
              <a:rPr lang="zh-CN" altLang="en-US" dirty="0">
                <a:latin typeface="Arial" panose="020B0604020202020204" pitchFamily="34" charset="0"/>
              </a:rPr>
              <a:t>：联系名 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关系的属性</a:t>
            </a:r>
            <a:r>
              <a:rPr lang="zh-CN" altLang="en-US" dirty="0">
                <a:latin typeface="Arial" panose="020B0604020202020204" pitchFamily="34" charset="0"/>
              </a:rPr>
              <a:t>：与该联系相连的各实体的主键以及联系本身的属性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关系的候选键</a:t>
            </a:r>
            <a:r>
              <a:rPr lang="zh-CN" altLang="en-US" dirty="0">
                <a:latin typeface="Arial" panose="020B0604020202020204" pitchFamily="34" charset="0"/>
              </a:rPr>
              <a:t>：每个实体的主键均是该关系的候选键</a:t>
            </a:r>
            <a:endParaRPr lang="zh-CN" altLang="en-US" dirty="0">
              <a:latin typeface="Arial" panose="020B0604020202020204" pitchFamily="34" charset="0"/>
            </a:endParaRPr>
          </a:p>
          <a:p>
            <a:pPr marL="441325" indent="-441325" eaLnBrk="1" hangingPunct="1">
              <a:spcBef>
                <a:spcPct val="2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举例：</a:t>
            </a:r>
            <a:r>
              <a:rPr lang="zh-CN" altLang="en-US" sz="3200" dirty="0">
                <a:latin typeface="Arial" panose="020B0604020202020204" pitchFamily="34" charset="0"/>
              </a:rPr>
              <a:t>系主任与系之间的</a:t>
            </a:r>
            <a:r>
              <a:rPr lang="zh-CN" altLang="en-US" sz="3200" dirty="0"/>
              <a:t>“</a:t>
            </a:r>
            <a:r>
              <a:rPr lang="zh-CN" altLang="en-US" sz="3200" dirty="0">
                <a:latin typeface="Arial" panose="020B0604020202020204" pitchFamily="34" charset="0"/>
              </a:rPr>
              <a:t>管理</a:t>
            </a:r>
            <a:r>
              <a:rPr lang="zh-CN" altLang="en-US" sz="3200" dirty="0"/>
              <a:t>”</a:t>
            </a:r>
            <a:r>
              <a:rPr lang="zh-CN" altLang="en-US" sz="3200" dirty="0">
                <a:latin typeface="Arial" panose="020B0604020202020204" pitchFamily="34" charset="0"/>
              </a:rPr>
              <a:t>联系可以转换为如下关系模式：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441325" indent="-441325" eaLnBrk="1" hangingPunct="1">
              <a:spcBef>
                <a:spcPct val="1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          管理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sz="3200" u="sng" dirty="0">
                <a:solidFill>
                  <a:srgbClr val="0000CC"/>
                </a:solidFill>
                <a:latin typeface="Arial" panose="020B0604020202020204" pitchFamily="34" charset="0"/>
              </a:rPr>
              <a:t>系主任工作证号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系号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  </a:t>
            </a:r>
            <a:endParaRPr lang="en-US" altLang="zh-CN" sz="32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41325" indent="-441325" eaLnBrk="1" hangingPunct="1">
              <a:spcBef>
                <a:spcPct val="1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或   管理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系主任工作证号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sz="3200" u="sng" dirty="0">
                <a:solidFill>
                  <a:srgbClr val="0000CC"/>
                </a:solidFill>
                <a:latin typeface="Arial" panose="020B0604020202020204" pitchFamily="34" charset="0"/>
              </a:rPr>
              <a:t>系号</a:t>
            </a:r>
            <a:r>
              <a:rPr lang="en-US" altLang="zh-CN" sz="3200" dirty="0">
                <a:solidFill>
                  <a:srgbClr val="0000CC"/>
                </a:solidFill>
                <a:latin typeface="Arial" panose="020B0604020202020204" pitchFamily="34" charset="0"/>
              </a:rPr>
              <a:t>) 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(5)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多元联系的转换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740775" cy="5437188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三个或三个以上实体间的一个多元联系转换为一个关系模式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3000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关系名</a:t>
            </a:r>
            <a:r>
              <a:rPr lang="zh-CN" altLang="en-US" sz="3600" dirty="0">
                <a:latin typeface="Arial" panose="020B0604020202020204" pitchFamily="34" charset="0"/>
              </a:rPr>
              <a:t>：联系名 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关系的属性</a:t>
            </a:r>
            <a:r>
              <a:rPr lang="zh-CN" altLang="en-US" sz="3600" dirty="0">
                <a:latin typeface="Arial" panose="020B0604020202020204" pitchFamily="34" charset="0"/>
              </a:rPr>
              <a:t>：与该多元联系相连的各实体的主键以及联系本身的属性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关系的主键</a:t>
            </a:r>
            <a:r>
              <a:rPr lang="zh-CN" altLang="en-US" sz="3600" dirty="0">
                <a:latin typeface="Arial" panose="020B0604020202020204" pitchFamily="34" charset="0"/>
              </a:rPr>
              <a:t>：各实体主键的组合</a:t>
            </a:r>
            <a:endParaRPr lang="zh-CN" altLang="en-US" sz="36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3333CC"/>
              </a:buClr>
              <a:buSzPct val="65000"/>
              <a:buFont typeface="Wingdings" panose="05000000000000000000" pitchFamily="2" charset="2"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(5)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多元联系的转换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740775" cy="5437188"/>
          </a:xfrm>
        </p:spPr>
        <p:txBody>
          <a:bodyPr vert="horz" wrap="square" lIns="91440" tIns="45720" rIns="91440" bIns="45720" anchor="t" anchorCtr="0"/>
          <a:p>
            <a:pPr marL="361950" indent="-361950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举例：</a:t>
            </a:r>
            <a:r>
              <a:rPr lang="zh-CN" altLang="en-US" sz="3200" dirty="0"/>
              <a:t>“</a:t>
            </a:r>
            <a:r>
              <a:rPr lang="zh-CN" altLang="en-US" sz="3200" dirty="0">
                <a:latin typeface="Arial" panose="020B0604020202020204" pitchFamily="34" charset="0"/>
              </a:rPr>
              <a:t>上课</a:t>
            </a:r>
            <a:r>
              <a:rPr lang="zh-CN" altLang="en-US" sz="3200" dirty="0"/>
              <a:t>”</a:t>
            </a:r>
            <a:r>
              <a:rPr lang="zh-CN" altLang="en-US" sz="3200" dirty="0">
                <a:latin typeface="Arial" panose="020B0604020202020204" pitchFamily="34" charset="0"/>
              </a:rPr>
              <a:t>联系可转换为如下关系模式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40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   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40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40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40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361950" indent="-361950" eaLnBrk="1" hangingPunct="1">
              <a:spcBef>
                <a:spcPct val="8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   上课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课程号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教师号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参考书号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  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grpSp>
        <p:nvGrpSpPr>
          <p:cNvPr id="40964" name="Group 18"/>
          <p:cNvGrpSpPr/>
          <p:nvPr/>
        </p:nvGrpSpPr>
        <p:grpSpPr>
          <a:xfrm>
            <a:off x="2124075" y="1874838"/>
            <a:ext cx="4824413" cy="2994025"/>
            <a:chOff x="1338" y="1117"/>
            <a:chExt cx="3039" cy="1886"/>
          </a:xfrm>
        </p:grpSpPr>
        <p:sp>
          <p:nvSpPr>
            <p:cNvPr id="40965" name="AutoShape 6"/>
            <p:cNvSpPr/>
            <p:nvPr/>
          </p:nvSpPr>
          <p:spPr>
            <a:xfrm>
              <a:off x="2206" y="1804"/>
              <a:ext cx="1241" cy="430"/>
            </a:xfrm>
            <a:prstGeom prst="diamond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  <a:ea typeface="宋体" panose="02010600030101010101" pitchFamily="2" charset="-122"/>
                </a:rPr>
                <a:t>上课</a:t>
              </a:r>
              <a:endParaRPr lang="zh-CN" altLang="en-US" sz="32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6" name="Line 7"/>
            <p:cNvSpPr/>
            <p:nvPr/>
          </p:nvSpPr>
          <p:spPr>
            <a:xfrm flipV="1">
              <a:off x="2826" y="1374"/>
              <a:ext cx="0" cy="43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7" name="Line 8"/>
            <p:cNvSpPr/>
            <p:nvPr/>
          </p:nvSpPr>
          <p:spPr>
            <a:xfrm flipH="1">
              <a:off x="2018" y="2019"/>
              <a:ext cx="188" cy="59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68" name="Text Box 9"/>
            <p:cNvSpPr txBox="1"/>
            <p:nvPr/>
          </p:nvSpPr>
          <p:spPr>
            <a:xfrm>
              <a:off x="2550" y="1504"/>
              <a:ext cx="218" cy="28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69" name="Text Box 10"/>
            <p:cNvSpPr txBox="1"/>
            <p:nvPr/>
          </p:nvSpPr>
          <p:spPr>
            <a:xfrm>
              <a:off x="1710" y="2320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Line 12"/>
            <p:cNvSpPr/>
            <p:nvPr/>
          </p:nvSpPr>
          <p:spPr>
            <a:xfrm>
              <a:off x="3447" y="2019"/>
              <a:ext cx="295" cy="595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0971" name="Text Box 13"/>
            <p:cNvSpPr txBox="1"/>
            <p:nvPr/>
          </p:nvSpPr>
          <p:spPr>
            <a:xfrm>
              <a:off x="3695" y="2320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n</a:t>
              </a: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2" name="Text Box 14"/>
            <p:cNvSpPr txBox="1"/>
            <p:nvPr/>
          </p:nvSpPr>
          <p:spPr>
            <a:xfrm>
              <a:off x="2268" y="1117"/>
              <a:ext cx="1055" cy="389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  <a:ea typeface="宋体" panose="02010600030101010101" pitchFamily="2" charset="-122"/>
                </a:rPr>
                <a:t>课程</a:t>
              </a:r>
              <a:endParaRPr lang="zh-CN" altLang="en-US" sz="3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3" name="Text Box 15"/>
            <p:cNvSpPr txBox="1"/>
            <p:nvPr/>
          </p:nvSpPr>
          <p:spPr>
            <a:xfrm>
              <a:off x="1338" y="2614"/>
              <a:ext cx="1054" cy="389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  <a:ea typeface="宋体" panose="02010600030101010101" pitchFamily="2" charset="-122"/>
                </a:rPr>
                <a:t>教师</a:t>
              </a:r>
              <a:endParaRPr lang="zh-CN" altLang="en-US" sz="3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4" name="Text Box 16"/>
            <p:cNvSpPr txBox="1"/>
            <p:nvPr/>
          </p:nvSpPr>
          <p:spPr>
            <a:xfrm>
              <a:off x="3323" y="2614"/>
              <a:ext cx="1054" cy="389"/>
            </a:xfrm>
            <a:prstGeom prst="rect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  <a:ea typeface="宋体" panose="02010600030101010101" pitchFamily="2" charset="-122"/>
                </a:rPr>
                <a:t>参考书</a:t>
              </a:r>
              <a:endParaRPr lang="zh-CN" altLang="en-US" sz="3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(6) 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一元联系的转换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FF66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16000"/>
            <a:ext cx="8812213" cy="5508625"/>
          </a:xfrm>
        </p:spPr>
        <p:txBody>
          <a:bodyPr vert="horz" wrap="square" lIns="91440" tIns="45720" rIns="91440" bIns="45720" anchor="t" anchorCtr="0"/>
          <a:p>
            <a:pPr marL="441325" indent="-44132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同一实体集的实体间的联系，也可按上述</a:t>
            </a:r>
            <a:r>
              <a:rPr lang="en-US" altLang="zh-CN" dirty="0">
                <a:latin typeface="Arial" panose="020B0604020202020204" pitchFamily="34" charset="0"/>
              </a:rPr>
              <a:t>1:1</a:t>
            </a:r>
            <a:r>
              <a:rPr lang="zh-CN" altLang="en-US" dirty="0">
                <a:latin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</a:rPr>
              <a:t>1:n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m:n</a:t>
            </a:r>
            <a:r>
              <a:rPr lang="zh-CN" altLang="en-US" dirty="0">
                <a:latin typeface="Arial" panose="020B0604020202020204" pitchFamily="34" charset="0"/>
              </a:rPr>
              <a:t>三种情况分别处理。</a:t>
            </a:r>
            <a:endParaRPr lang="zh-CN" altLang="en-US" dirty="0">
              <a:latin typeface="Arial" panose="020B0604020202020204" pitchFamily="34" charset="0"/>
            </a:endParaRPr>
          </a:p>
          <a:p>
            <a:pPr marL="441325" indent="-441325" eaLnBrk="1" hangingPunct="1">
              <a:spcBef>
                <a:spcPct val="4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举例：学生实体集内部的</a:t>
            </a:r>
            <a:endParaRPr lang="zh-CN" altLang="en-US" dirty="0">
              <a:latin typeface="Arial" panose="020B0604020202020204" pitchFamily="34" charset="0"/>
            </a:endParaRPr>
          </a:p>
          <a:p>
            <a:pPr marL="441325" indent="-44132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  领导与被领导的</a:t>
            </a:r>
            <a:r>
              <a:rPr lang="en-US" altLang="zh-CN" dirty="0">
                <a:latin typeface="Arial" panose="020B0604020202020204" pitchFamily="34" charset="0"/>
              </a:rPr>
              <a:t>1:n</a:t>
            </a:r>
            <a:r>
              <a:rPr lang="zh-CN" altLang="en-US" dirty="0">
                <a:latin typeface="Arial" panose="020B0604020202020204" pitchFamily="34" charset="0"/>
              </a:rPr>
              <a:t>联系，</a:t>
            </a:r>
            <a:endParaRPr lang="zh-CN" altLang="en-US" dirty="0">
              <a:latin typeface="Arial" panose="020B0604020202020204" pitchFamily="34" charset="0"/>
            </a:endParaRPr>
          </a:p>
          <a:p>
            <a:pPr marL="441325" indent="-441325" eaLnBrk="1" hangingPunct="1"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latin typeface="Arial" panose="020B0604020202020204" pitchFamily="34" charset="0"/>
              </a:rPr>
              <a:t>   可以转换为如下关系模式：</a:t>
            </a:r>
            <a:endParaRPr lang="zh-CN" altLang="en-US" dirty="0">
              <a:latin typeface="Arial" panose="020B0604020202020204" pitchFamily="34" charset="0"/>
            </a:endParaRPr>
          </a:p>
          <a:p>
            <a:pPr marL="441325" indent="-441325" eaLnBrk="1" hangingPunct="1">
              <a:spcBef>
                <a:spcPct val="40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 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441325" indent="-441325" eaLnBrk="1" hangingPunct="1">
              <a:spcBef>
                <a:spcPct val="65000"/>
              </a:spcBef>
              <a:buClr>
                <a:srgbClr val="FF0000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    学生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姓名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性别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年龄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班长学号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41988" name="Group 13"/>
          <p:cNvGrpSpPr/>
          <p:nvPr/>
        </p:nvGrpSpPr>
        <p:grpSpPr>
          <a:xfrm>
            <a:off x="6516688" y="2527300"/>
            <a:ext cx="2000250" cy="2414588"/>
            <a:chOff x="3976" y="2069"/>
            <a:chExt cx="1260" cy="1521"/>
          </a:xfrm>
        </p:grpSpPr>
        <p:sp>
          <p:nvSpPr>
            <p:cNvPr id="41989" name="Text Box 6"/>
            <p:cNvSpPr txBox="1"/>
            <p:nvPr/>
          </p:nvSpPr>
          <p:spPr>
            <a:xfrm>
              <a:off x="4039" y="2069"/>
              <a:ext cx="1071" cy="389"/>
            </a:xfrm>
            <a:prstGeom prst="rect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学生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  <p:sp>
          <p:nvSpPr>
            <p:cNvPr id="41990" name="Line 7"/>
            <p:cNvSpPr/>
            <p:nvPr/>
          </p:nvSpPr>
          <p:spPr>
            <a:xfrm flipV="1">
              <a:off x="4354" y="2455"/>
              <a:ext cx="0" cy="68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1" name="Line 8"/>
            <p:cNvSpPr/>
            <p:nvPr/>
          </p:nvSpPr>
          <p:spPr>
            <a:xfrm>
              <a:off x="4795" y="2455"/>
              <a:ext cx="0" cy="681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2" name="Text Box 9"/>
            <p:cNvSpPr txBox="1"/>
            <p:nvPr/>
          </p:nvSpPr>
          <p:spPr>
            <a:xfrm>
              <a:off x="4107" y="2626"/>
              <a:ext cx="31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1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  <p:sp>
          <p:nvSpPr>
            <p:cNvPr id="41993" name="Text Box 10"/>
            <p:cNvSpPr txBox="1"/>
            <p:nvPr/>
          </p:nvSpPr>
          <p:spPr>
            <a:xfrm>
              <a:off x="4830" y="2626"/>
              <a:ext cx="31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3200" dirty="0">
                  <a:latin typeface="Arial" panose="020B0604020202020204" pitchFamily="34" charset="0"/>
                </a:rPr>
                <a:t>n</a:t>
              </a:r>
              <a:endParaRPr lang="en-US" altLang="zh-CN" sz="3200" dirty="0">
                <a:latin typeface="Arial" panose="020B0604020202020204" pitchFamily="34" charset="0"/>
              </a:endParaRPr>
            </a:p>
          </p:txBody>
        </p:sp>
        <p:sp>
          <p:nvSpPr>
            <p:cNvPr id="41994" name="AutoShape 12"/>
            <p:cNvSpPr/>
            <p:nvPr/>
          </p:nvSpPr>
          <p:spPr>
            <a:xfrm>
              <a:off x="3976" y="3023"/>
              <a:ext cx="1260" cy="567"/>
            </a:xfrm>
            <a:prstGeom prst="diamond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3200" dirty="0">
                  <a:latin typeface="Arial" panose="020B0604020202020204" pitchFamily="34" charset="0"/>
                </a:rPr>
                <a:t>领导</a:t>
              </a:r>
              <a:endParaRPr lang="zh-CN" altLang="en-US" sz="32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659813" cy="692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FF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逻辑结构设计</a:t>
            </a: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举例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43011" name="Group 4"/>
          <p:cNvGrpSpPr/>
          <p:nvPr/>
        </p:nvGrpSpPr>
        <p:grpSpPr>
          <a:xfrm>
            <a:off x="365125" y="925513"/>
            <a:ext cx="8528050" cy="3224212"/>
            <a:chOff x="230" y="618"/>
            <a:chExt cx="5351" cy="2031"/>
          </a:xfrm>
        </p:grpSpPr>
        <p:sp>
          <p:nvSpPr>
            <p:cNvPr id="43013" name="AutoShape 5"/>
            <p:cNvSpPr/>
            <p:nvPr/>
          </p:nvSpPr>
          <p:spPr>
            <a:xfrm>
              <a:off x="2155" y="1378"/>
              <a:ext cx="918" cy="556"/>
            </a:xfrm>
            <a:prstGeom prst="diamond">
              <a:avLst/>
            </a:prstGeom>
            <a:solidFill>
              <a:srgbClr val="FF99FF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</a:rPr>
                <a:t>选修</a:t>
              </a:r>
              <a:endParaRPr lang="zh-CN" altLang="en-US" sz="2800" dirty="0">
                <a:solidFill>
                  <a:srgbClr val="0000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14" name="Oval 6"/>
            <p:cNvSpPr/>
            <p:nvPr/>
          </p:nvSpPr>
          <p:spPr>
            <a:xfrm>
              <a:off x="4296" y="863"/>
              <a:ext cx="1285" cy="398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u="sng" dirty="0">
                  <a:latin typeface="Arial" panose="020B0604020202020204" pitchFamily="34" charset="0"/>
                </a:rPr>
                <a:t>课程代码</a:t>
              </a:r>
              <a:endParaRPr lang="zh-CN" altLang="en-US" sz="2800" u="sng" dirty="0">
                <a:latin typeface="Arial" panose="020B0604020202020204" pitchFamily="34" charset="0"/>
              </a:endParaRPr>
            </a:p>
          </p:txBody>
        </p:sp>
        <p:sp>
          <p:nvSpPr>
            <p:cNvPr id="43015" name="Oval 7"/>
            <p:cNvSpPr/>
            <p:nvPr/>
          </p:nvSpPr>
          <p:spPr>
            <a:xfrm>
              <a:off x="4296" y="1453"/>
              <a:ext cx="1285" cy="398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课程名称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16" name="Oval 8"/>
            <p:cNvSpPr/>
            <p:nvPr/>
          </p:nvSpPr>
          <p:spPr>
            <a:xfrm>
              <a:off x="4296" y="2024"/>
              <a:ext cx="1285" cy="398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任课教师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17" name="Oval 9"/>
            <p:cNvSpPr/>
            <p:nvPr/>
          </p:nvSpPr>
          <p:spPr>
            <a:xfrm>
              <a:off x="230" y="618"/>
              <a:ext cx="654" cy="398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u="sng" dirty="0">
                  <a:latin typeface="Arial" panose="020B0604020202020204" pitchFamily="34" charset="0"/>
                </a:rPr>
                <a:t>学号</a:t>
              </a:r>
              <a:endParaRPr lang="zh-CN" altLang="en-US" sz="2800" u="sng" dirty="0">
                <a:latin typeface="Arial" panose="020B0604020202020204" pitchFamily="34" charset="0"/>
              </a:endParaRPr>
            </a:p>
          </p:txBody>
        </p:sp>
        <p:sp>
          <p:nvSpPr>
            <p:cNvPr id="43018" name="Oval 10"/>
            <p:cNvSpPr/>
            <p:nvPr/>
          </p:nvSpPr>
          <p:spPr>
            <a:xfrm>
              <a:off x="230" y="1163"/>
              <a:ext cx="654" cy="398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姓名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19" name="Oval 11"/>
            <p:cNvSpPr/>
            <p:nvPr/>
          </p:nvSpPr>
          <p:spPr>
            <a:xfrm>
              <a:off x="230" y="2251"/>
              <a:ext cx="654" cy="398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性别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20" name="Oval 12"/>
            <p:cNvSpPr/>
            <p:nvPr/>
          </p:nvSpPr>
          <p:spPr>
            <a:xfrm>
              <a:off x="230" y="1706"/>
              <a:ext cx="654" cy="398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年龄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21" name="Oval 13"/>
            <p:cNvSpPr/>
            <p:nvPr/>
          </p:nvSpPr>
          <p:spPr>
            <a:xfrm>
              <a:off x="2290" y="799"/>
              <a:ext cx="654" cy="398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成绩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22" name="Line 14"/>
            <p:cNvSpPr/>
            <p:nvPr/>
          </p:nvSpPr>
          <p:spPr>
            <a:xfrm>
              <a:off x="884" y="1379"/>
              <a:ext cx="318" cy="22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3" name="Line 15"/>
            <p:cNvSpPr/>
            <p:nvPr/>
          </p:nvSpPr>
          <p:spPr>
            <a:xfrm>
              <a:off x="2608" y="1207"/>
              <a:ext cx="0" cy="18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4" name="Rectangle 16"/>
            <p:cNvSpPr/>
            <p:nvPr/>
          </p:nvSpPr>
          <p:spPr>
            <a:xfrm>
              <a:off x="1973" y="1379"/>
              <a:ext cx="137" cy="26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en-US" altLang="zh-CN" sz="2800" dirty="0">
                  <a:latin typeface="Arial" panose="020B0604020202020204" pitchFamily="34" charset="0"/>
                </a:rPr>
                <a:t>n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43025" name="Rectangle 17"/>
            <p:cNvSpPr/>
            <p:nvPr/>
          </p:nvSpPr>
          <p:spPr>
            <a:xfrm>
              <a:off x="3061" y="1379"/>
              <a:ext cx="199" cy="26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lIns="0" tIns="0" rIns="0" bIns="0" anchor="ctr" anchorCtr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en-US" altLang="zh-CN" sz="2800" dirty="0">
                  <a:latin typeface="Arial" panose="020B0604020202020204" pitchFamily="34" charset="0"/>
                </a:rPr>
                <a:t>m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43026" name="Line 18"/>
            <p:cNvSpPr/>
            <p:nvPr/>
          </p:nvSpPr>
          <p:spPr>
            <a:xfrm flipV="1">
              <a:off x="4014" y="1152"/>
              <a:ext cx="363" cy="40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7" name="Line 19"/>
            <p:cNvSpPr/>
            <p:nvPr/>
          </p:nvSpPr>
          <p:spPr>
            <a:xfrm>
              <a:off x="3061" y="1651"/>
              <a:ext cx="1224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8" name="Text Box 20"/>
            <p:cNvSpPr txBox="1"/>
            <p:nvPr/>
          </p:nvSpPr>
          <p:spPr>
            <a:xfrm>
              <a:off x="3334" y="1515"/>
              <a:ext cx="682" cy="287"/>
            </a:xfrm>
            <a:prstGeom prst="rect">
              <a:avLst/>
            </a:prstGeom>
            <a:solidFill>
              <a:schemeClr val="tx2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08000" tIns="0" rIns="108000" bIns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课程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29" name="Line 21"/>
            <p:cNvSpPr/>
            <p:nvPr/>
          </p:nvSpPr>
          <p:spPr>
            <a:xfrm>
              <a:off x="1882" y="1651"/>
              <a:ext cx="272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0" name="Text Box 22"/>
            <p:cNvSpPr txBox="1"/>
            <p:nvPr/>
          </p:nvSpPr>
          <p:spPr>
            <a:xfrm>
              <a:off x="1208" y="1515"/>
              <a:ext cx="674" cy="287"/>
            </a:xfrm>
            <a:prstGeom prst="rect">
              <a:avLst/>
            </a:prstGeom>
            <a:solidFill>
              <a:schemeClr val="tx2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08000" tIns="0" rIns="108000" bIns="0">
              <a:spAutoFit/>
            </a:bodyPr>
            <a:lstStyle>
              <a:lvl1pPr marL="269875" indent="-269875" algn="l" rtl="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0000"/>
                </a:buClr>
                <a:buSzPct val="65000"/>
                <a:buFont typeface="Wingdings" panose="05000000000000000000" pitchFamily="2" charset="2"/>
                <a:buChar char="n"/>
                <a:defRPr sz="36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811530" indent="-26987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5000"/>
                <a:buFont typeface="Wingdings" panose="05000000000000000000" pitchFamily="2" charset="2"/>
                <a:buChar char="n"/>
                <a:defRPr sz="3200" b="1">
                  <a:solidFill>
                    <a:srgbClr val="000000"/>
                  </a:solidFill>
                  <a:latin typeface="+mn-lt"/>
                  <a:ea typeface="+mn-ea"/>
                </a:defRPr>
              </a:lvl2pPr>
              <a:lvl3pPr marL="1339850" indent="-2590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800" b="1">
                  <a:solidFill>
                    <a:srgbClr val="000000"/>
                  </a:solidFill>
                  <a:latin typeface="+mn-lt"/>
                  <a:ea typeface="+mn-ea"/>
                </a:defRPr>
              </a:lvl3pPr>
              <a:lvl4pPr marL="1927225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4pPr>
              <a:lvl5pPr marL="2335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rgbClr val="000000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学生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sp>
          <p:nvSpPr>
            <p:cNvPr id="43031" name="Line 23"/>
            <p:cNvSpPr/>
            <p:nvPr/>
          </p:nvSpPr>
          <p:spPr>
            <a:xfrm>
              <a:off x="4014" y="1741"/>
              <a:ext cx="363" cy="36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2" name="Line 24"/>
            <p:cNvSpPr/>
            <p:nvPr/>
          </p:nvSpPr>
          <p:spPr>
            <a:xfrm flipV="1">
              <a:off x="884" y="1695"/>
              <a:ext cx="318" cy="18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3" name="Line 25"/>
            <p:cNvSpPr/>
            <p:nvPr/>
          </p:nvSpPr>
          <p:spPr>
            <a:xfrm>
              <a:off x="884" y="880"/>
              <a:ext cx="409" cy="634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4" name="Line 26"/>
            <p:cNvSpPr/>
            <p:nvPr/>
          </p:nvSpPr>
          <p:spPr>
            <a:xfrm flipV="1">
              <a:off x="884" y="1787"/>
              <a:ext cx="409" cy="635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3012" name="Rectangle 27"/>
          <p:cNvSpPr/>
          <p:nvPr/>
        </p:nvSpPr>
        <p:spPr>
          <a:xfrm>
            <a:off x="1476375" y="3933825"/>
            <a:ext cx="7272338" cy="2590800"/>
          </a:xfrm>
          <a:prstGeom prst="rect">
            <a:avLst/>
          </a:prstGeom>
          <a:noFill/>
          <a:ln w="57150" cap="flat" cmpd="thinThick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65000"/>
              <a:buFont typeface="Wingdings" panose="05000000000000000000" pitchFamily="2" charset="2"/>
              <a:buChar char="n"/>
              <a:defRPr sz="36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1530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5000"/>
              <a:buFont typeface="Wingdings" panose="05000000000000000000" pitchFamily="2" charset="2"/>
              <a:buChar char="n"/>
              <a:defRPr sz="32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339850" indent="-2590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9272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335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rgbClr val="000000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zh-CN" altLang="en-US" sz="3200" dirty="0">
                <a:latin typeface="Arial" panose="020B0604020202020204" pitchFamily="34" charset="0"/>
              </a:rPr>
              <a:t>把实体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</a:rPr>
              <a:t>集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转换成关系：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541655" lvl="1" indent="-36195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学生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 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学号</a:t>
            </a:r>
            <a:r>
              <a:rPr lang="en-US" altLang="zh-CN" u="sng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姓名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性别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年龄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541655" lvl="1" indent="-36195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课程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 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课程代码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课程名称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任课教师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0" lvl="0" indent="0" eaLnBrk="1" hangingPunct="1"/>
            <a:r>
              <a:rPr lang="zh-CN" altLang="en-US" sz="3200" dirty="0">
                <a:latin typeface="Arial" panose="020B0604020202020204" pitchFamily="34" charset="0"/>
              </a:rPr>
              <a:t>把多对多联系转换成关系：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marL="541655" lvl="1" indent="-361950" algn="just" eaLnBrk="1" hangingPunct="1">
              <a:spcBef>
                <a:spcPct val="0"/>
              </a:spcBef>
              <a:buNone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选修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( 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学号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u="sng" dirty="0">
                <a:solidFill>
                  <a:srgbClr val="0000CC"/>
                </a:solidFill>
                <a:latin typeface="Arial" panose="020B0604020202020204" pitchFamily="34" charset="0"/>
              </a:rPr>
              <a:t>课程代码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成绩 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           </a:t>
            </a:r>
            <a:endParaRPr lang="en-US" altLang="zh-CN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27008" y="2829560"/>
            <a:ext cx="368998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Thanks!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</p:sld>
</file>

<file path=ppt/tags/tag1.xml><?xml version="1.0" encoding="utf-8"?>
<p:tagLst xmlns:p="http://schemas.openxmlformats.org/presentationml/2006/main">
  <p:tag name="COMMONDATA" val="eyJoZGlkIjoiNjAxYWNjNWM4YjUwYzdkM2Y4ZDNlNzBkZmE0NjZkZTkifQ=="/>
  <p:tag name="KSO_WPP_MARK_KEY" val="53275f6a-5b03-4ed5-b4e2-efa24ce89e48"/>
</p:tagLst>
</file>

<file path=ppt/theme/theme1.xml><?xml version="1.0" encoding="utf-8"?>
<a:theme xmlns:a="http://schemas.openxmlformats.org/drawingml/2006/main" name="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HXH">
  <a:themeElements>
    <a:clrScheme name="">
      <a:dk1>
        <a:srgbClr val="00354E"/>
      </a:dk1>
      <a:lt1>
        <a:srgbClr val="EAEAEA"/>
      </a:lt1>
      <a:dk2>
        <a:srgbClr val="0099CC"/>
      </a:dk2>
      <a:lt2>
        <a:srgbClr val="CCECFF"/>
      </a:lt2>
      <a:accent1>
        <a:srgbClr val="0099CC"/>
      </a:accent1>
      <a:accent2>
        <a:srgbClr val="6699FF"/>
      </a:accent2>
      <a:accent3>
        <a:srgbClr val="AACAE2"/>
      </a:accent3>
      <a:accent4>
        <a:srgbClr val="C8C8C8"/>
      </a:accent4>
      <a:accent5>
        <a:srgbClr val="AACAE2"/>
      </a:accent5>
      <a:accent6>
        <a:srgbClr val="5C8AE7"/>
      </a:accent6>
      <a:hlink>
        <a:srgbClr val="CCCCFF"/>
      </a:hlink>
      <a:folHlink>
        <a:srgbClr val="5E6FD4"/>
      </a:folHlink>
    </a:clrScheme>
    <a:fontScheme name="HXH">
      <a:majorFont>
        <a:latin typeface="Arial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HXH 1">
        <a:dk1>
          <a:srgbClr val="00354E"/>
        </a:dk1>
        <a:lt1>
          <a:srgbClr val="EAEAEA"/>
        </a:lt1>
        <a:dk2>
          <a:srgbClr val="006699"/>
        </a:dk2>
        <a:lt2>
          <a:srgbClr val="CCECFF"/>
        </a:lt2>
        <a:accent1>
          <a:srgbClr val="006699"/>
        </a:accent1>
        <a:accent2>
          <a:srgbClr val="6699FF"/>
        </a:accent2>
        <a:accent3>
          <a:srgbClr val="AAB8CA"/>
        </a:accent3>
        <a:accent4>
          <a:srgbClr val="C8C8C8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2">
        <a:dk1>
          <a:srgbClr val="000080"/>
        </a:dk1>
        <a:lt1>
          <a:srgbClr val="FFFFFF"/>
        </a:lt1>
        <a:dk2>
          <a:srgbClr val="3366CC"/>
        </a:dk2>
        <a:lt2>
          <a:srgbClr val="7A7C93"/>
        </a:lt2>
        <a:accent1>
          <a:srgbClr val="006699"/>
        </a:accent1>
        <a:accent2>
          <a:srgbClr val="6699FF"/>
        </a:accent2>
        <a:accent3>
          <a:srgbClr val="FFFFFF"/>
        </a:accent3>
        <a:accent4>
          <a:srgbClr val="00006C"/>
        </a:accent4>
        <a:accent5>
          <a:srgbClr val="AAB8CA"/>
        </a:accent5>
        <a:accent6>
          <a:srgbClr val="5C8AE7"/>
        </a:accent6>
        <a:hlink>
          <a:srgbClr val="CCCCFF"/>
        </a:hlink>
        <a:folHlink>
          <a:srgbClr val="5E6F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969696"/>
        </a:accent1>
        <a:accent2>
          <a:srgbClr val="CBCBCB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B8B8B8"/>
        </a:accent6>
        <a:hlink>
          <a:srgbClr val="EAEAEA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4">
        <a:dk1>
          <a:srgbClr val="660066"/>
        </a:dk1>
        <a:lt1>
          <a:srgbClr val="EAEAEA"/>
        </a:lt1>
        <a:dk2>
          <a:srgbClr val="3366CC"/>
        </a:dk2>
        <a:lt2>
          <a:srgbClr val="7A7C93"/>
        </a:lt2>
        <a:accent1>
          <a:srgbClr val="00CCCC"/>
        </a:accent1>
        <a:accent2>
          <a:srgbClr val="CC66FF"/>
        </a:accent2>
        <a:accent3>
          <a:srgbClr val="F3F3F3"/>
        </a:accent3>
        <a:accent4>
          <a:srgbClr val="560056"/>
        </a:accent4>
        <a:accent5>
          <a:srgbClr val="AAE2E2"/>
        </a:accent5>
        <a:accent6>
          <a:srgbClr val="B95CE7"/>
        </a:accent6>
        <a:hlink>
          <a:srgbClr val="CCFF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XH 5">
        <a:dk1>
          <a:srgbClr val="003366"/>
        </a:dk1>
        <a:lt1>
          <a:srgbClr val="EAEAEA"/>
        </a:lt1>
        <a:dk2>
          <a:srgbClr val="009999"/>
        </a:dk2>
        <a:lt2>
          <a:srgbClr val="FFFFFF"/>
        </a:lt2>
        <a:accent1>
          <a:srgbClr val="008080"/>
        </a:accent1>
        <a:accent2>
          <a:srgbClr val="00CCCC"/>
        </a:accent2>
        <a:accent3>
          <a:srgbClr val="AACACA"/>
        </a:accent3>
        <a:accent4>
          <a:srgbClr val="C8C8C8"/>
        </a:accent4>
        <a:accent5>
          <a:srgbClr val="AAC0C0"/>
        </a:accent5>
        <a:accent6>
          <a:srgbClr val="00B9B9"/>
        </a:accent6>
        <a:hlink>
          <a:srgbClr val="A7DDE1"/>
        </a:hlink>
        <a:folHlink>
          <a:srgbClr val="319C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XH 6">
        <a:dk1>
          <a:srgbClr val="00354E"/>
        </a:dk1>
        <a:lt1>
          <a:srgbClr val="EAEAEA"/>
        </a:lt1>
        <a:dk2>
          <a:srgbClr val="6D67AA"/>
        </a:dk2>
        <a:lt2>
          <a:srgbClr val="CCCCFF"/>
        </a:lt2>
        <a:accent1>
          <a:srgbClr val="6600CC"/>
        </a:accent1>
        <a:accent2>
          <a:srgbClr val="9999FF"/>
        </a:accent2>
        <a:accent3>
          <a:srgbClr val="BAB8D2"/>
        </a:accent3>
        <a:accent4>
          <a:srgbClr val="C8C8C8"/>
        </a:accent4>
        <a:accent5>
          <a:srgbClr val="B8AAE2"/>
        </a:accent5>
        <a:accent6>
          <a:srgbClr val="8A8AE7"/>
        </a:accent6>
        <a:hlink>
          <a:srgbClr val="CCCCFF"/>
        </a:hlink>
        <a:folHlink>
          <a:srgbClr val="9D70B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5459</Words>
  <Application>WPS 演示</Application>
  <PresentationFormat>全屏显示(4:3)</PresentationFormat>
  <Paragraphs>1349</Paragraphs>
  <Slides>57</Slides>
  <Notes>28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5" baseType="lpstr">
      <vt:lpstr>Arial</vt:lpstr>
      <vt:lpstr>宋体</vt:lpstr>
      <vt:lpstr>Wingdings</vt:lpstr>
      <vt:lpstr>Times New Roman</vt:lpstr>
      <vt:lpstr>楷体_GB2312</vt:lpstr>
      <vt:lpstr>华文中宋</vt:lpstr>
      <vt:lpstr>黑体</vt:lpstr>
      <vt:lpstr>华文新魏</vt:lpstr>
      <vt:lpstr>微软雅黑</vt:lpstr>
      <vt:lpstr>Arial Unicode MS</vt:lpstr>
      <vt:lpstr>新宋体</vt:lpstr>
      <vt:lpstr>HXH</vt:lpstr>
      <vt:lpstr>1_HXH</vt:lpstr>
      <vt:lpstr>2_HXH</vt:lpstr>
      <vt:lpstr>3_HXH</vt:lpstr>
      <vt:lpstr>4_HXH</vt:lpstr>
      <vt:lpstr>5_HXH</vt:lpstr>
      <vt:lpstr>MS_ClipArt_Gallery.2</vt:lpstr>
      <vt:lpstr>数据库技术与大数据管理</vt:lpstr>
      <vt:lpstr>4.1  数据模型</vt:lpstr>
      <vt:lpstr>4.2 数据模型的组成要素</vt:lpstr>
      <vt:lpstr>4.3  三种数据模型</vt:lpstr>
      <vt:lpstr>现实世界中客观对象的抽象过程</vt:lpstr>
      <vt:lpstr>4.3  三种数据模型</vt:lpstr>
      <vt:lpstr>问题的提出：教学管理</vt:lpstr>
      <vt:lpstr>4.4 概念模型</vt:lpstr>
      <vt:lpstr>1) 实体</vt:lpstr>
      <vt:lpstr>1) 实体</vt:lpstr>
      <vt:lpstr>1) 实体</vt:lpstr>
      <vt:lpstr>1) 实体</vt:lpstr>
      <vt:lpstr>例：教学管理</vt:lpstr>
      <vt:lpstr>2) 联系</vt:lpstr>
      <vt:lpstr>两个实体集间的联系</vt:lpstr>
      <vt:lpstr>两个实体集间的联系</vt:lpstr>
      <vt:lpstr>两个实体集间的联系(续)</vt:lpstr>
      <vt:lpstr>2、联系(续)</vt:lpstr>
      <vt:lpstr>2) 联系</vt:lpstr>
      <vt:lpstr>其它教材中联系的图例(二元联系)</vt:lpstr>
      <vt:lpstr>联系举例</vt:lpstr>
      <vt:lpstr>2) 联系</vt:lpstr>
      <vt:lpstr>例1 学生和课程之间的选修关系</vt:lpstr>
      <vt:lpstr>例2 观众和座位之间的看电影关系</vt:lpstr>
      <vt:lpstr>例3 学生和学员队之间的组成关系</vt:lpstr>
      <vt:lpstr>问题：</vt:lpstr>
      <vt:lpstr>问题：</vt:lpstr>
      <vt:lpstr>问题：</vt:lpstr>
      <vt:lpstr>解决方案：</vt:lpstr>
      <vt:lpstr>解决方案：</vt:lpstr>
      <vt:lpstr>解决方案：</vt:lpstr>
      <vt:lpstr>3) 同一实体集内各实体间的联系</vt:lpstr>
      <vt:lpstr>概念模型举例－教学管理</vt:lpstr>
      <vt:lpstr>概念模型举例－教学管理</vt:lpstr>
      <vt:lpstr>概念模型举例</vt:lpstr>
      <vt:lpstr>练习：</vt:lpstr>
      <vt:lpstr>PowerPoint 演示文稿</vt:lpstr>
      <vt:lpstr>PowerPoint 演示文稿</vt:lpstr>
      <vt:lpstr>4.4 从概念模型到逻辑模型</vt:lpstr>
      <vt:lpstr>(1) 实体的转换</vt:lpstr>
      <vt:lpstr>(1) 实体的转换举例</vt:lpstr>
      <vt:lpstr>(2) 联系的转换(m:n)</vt:lpstr>
      <vt:lpstr>(2) 联系的转换(m:n)举例</vt:lpstr>
      <vt:lpstr>(2) 联系的转换(m:n)举例</vt:lpstr>
      <vt:lpstr>(3) 联系的转换(1:n)</vt:lpstr>
      <vt:lpstr>(3) 联系的转换(1:n)举例</vt:lpstr>
      <vt:lpstr>(3) 联系的转换(1:n)举例</vt:lpstr>
      <vt:lpstr>(3) 联系的转换(1:n)</vt:lpstr>
      <vt:lpstr>(4) 联系的转换(1:1)</vt:lpstr>
      <vt:lpstr>(4) 联系的转换(1:1)举例</vt:lpstr>
      <vt:lpstr>(4) 联系的转换(1:1) 举例</vt:lpstr>
      <vt:lpstr>(4) 联系的转换(1:1)</vt:lpstr>
      <vt:lpstr>(5) 多元联系的转换</vt:lpstr>
      <vt:lpstr>(5) 多元联系的转换举例</vt:lpstr>
      <vt:lpstr>(6) 一元联系的转换</vt:lpstr>
      <vt:lpstr>逻辑结构设计举例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数据库原理及应用</dc:title>
  <dc:creator>HXH</dc:creator>
  <cp:lastModifiedBy>火星叔叔</cp:lastModifiedBy>
  <cp:revision>716</cp:revision>
  <dcterms:created xsi:type="dcterms:W3CDTF">2004-04-23T17:18:00Z</dcterms:created>
  <dcterms:modified xsi:type="dcterms:W3CDTF">2023-05-11T06:21:01Z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D05A8680EF1D4CDE9B677DDACCAC46B0</vt:lpwstr>
  </property>
  <property fmtid="{D5CDD505-2E9C-101B-9397-08002B2CF9AE}" pid="3" name="KSOProductBuildVer">
    <vt:lpwstr>2052-11.1.0.14309</vt:lpwstr>
  </property>
</Properties>
</file>