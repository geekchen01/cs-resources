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10.bin" ContentType="application/vnd.ms-office.activeX"/>
  <Override PartName="/ppt/activeX/activeX10.xml" ContentType="application/vnd.ms-office.activeX+xml"/>
  <Override PartName="/ppt/activeX/activeX11.bin" ContentType="application/vnd.ms-office.activeX"/>
  <Override PartName="/ppt/activeX/activeX11.xml" ContentType="application/vnd.ms-office.activeX+xml"/>
  <Override PartName="/ppt/activeX/activeX12.bin" ContentType="application/vnd.ms-office.activeX"/>
  <Override PartName="/ppt/activeX/activeX12.xml" ContentType="application/vnd.ms-office.activeX+xml"/>
  <Override PartName="/ppt/activeX/activeX13.bin" ContentType="application/vnd.ms-office.activeX"/>
  <Override PartName="/ppt/activeX/activeX13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activeX/activeX3.bin" ContentType="application/vnd.ms-office.activeX"/>
  <Override PartName="/ppt/activeX/activeX3.xml" ContentType="application/vnd.ms-office.activeX+xml"/>
  <Override PartName="/ppt/activeX/activeX4.bin" ContentType="application/vnd.ms-office.activeX"/>
  <Override PartName="/ppt/activeX/activeX4.xml" ContentType="application/vnd.ms-office.activeX+xml"/>
  <Override PartName="/ppt/activeX/activeX5.bin" ContentType="application/vnd.ms-office.activeX"/>
  <Override PartName="/ppt/activeX/activeX5.xml" ContentType="application/vnd.ms-office.activeX+xml"/>
  <Override PartName="/ppt/activeX/activeX6.bin" ContentType="application/vnd.ms-office.activeX"/>
  <Override PartName="/ppt/activeX/activeX6.xml" ContentType="application/vnd.ms-office.activeX+xml"/>
  <Override PartName="/ppt/activeX/activeX7.bin" ContentType="application/vnd.ms-office.activeX"/>
  <Override PartName="/ppt/activeX/activeX7.xml" ContentType="application/vnd.ms-office.activeX+xml"/>
  <Override PartName="/ppt/activeX/activeX8.bin" ContentType="application/vnd.ms-office.activeX"/>
  <Override PartName="/ppt/activeX/activeX8.xml" ContentType="application/vnd.ms-office.activeX+xml"/>
  <Override PartName="/ppt/activeX/activeX9.bin" ContentType="application/vnd.ms-office.activeX"/>
  <Override PartName="/ppt/activeX/activeX9.xml" ContentType="application/vnd.ms-office.activeX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76"/>
  </p:handoutMasterIdLst>
  <p:sldIdLst>
    <p:sldId id="659" r:id="rId3"/>
    <p:sldId id="613" r:id="rId4"/>
    <p:sldId id="258" r:id="rId6"/>
    <p:sldId id="263" r:id="rId7"/>
    <p:sldId id="670" r:id="rId8"/>
    <p:sldId id="615" r:id="rId9"/>
    <p:sldId id="616" r:id="rId10"/>
    <p:sldId id="488" r:id="rId11"/>
    <p:sldId id="358" r:id="rId12"/>
    <p:sldId id="360" r:id="rId13"/>
    <p:sldId id="426" r:id="rId14"/>
    <p:sldId id="362" r:id="rId15"/>
    <p:sldId id="363" r:id="rId16"/>
    <p:sldId id="427" r:id="rId17"/>
    <p:sldId id="660" r:id="rId18"/>
    <p:sldId id="428" r:id="rId19"/>
    <p:sldId id="668" r:id="rId20"/>
    <p:sldId id="666" r:id="rId21"/>
    <p:sldId id="667" r:id="rId22"/>
    <p:sldId id="661" r:id="rId23"/>
    <p:sldId id="430" r:id="rId24"/>
    <p:sldId id="463" r:id="rId25"/>
    <p:sldId id="464" r:id="rId26"/>
    <p:sldId id="269" r:id="rId27"/>
    <p:sldId id="270" r:id="rId28"/>
    <p:sldId id="499" r:id="rId29"/>
    <p:sldId id="500" r:id="rId30"/>
    <p:sldId id="502" r:id="rId31"/>
    <p:sldId id="503" r:id="rId32"/>
    <p:sldId id="619" r:id="rId33"/>
    <p:sldId id="505" r:id="rId34"/>
    <p:sldId id="271" r:id="rId35"/>
    <p:sldId id="506" r:id="rId36"/>
    <p:sldId id="316" r:id="rId37"/>
    <p:sldId id="621" r:id="rId38"/>
    <p:sldId id="272" r:id="rId39"/>
    <p:sldId id="489" r:id="rId40"/>
    <p:sldId id="509" r:id="rId41"/>
    <p:sldId id="671" r:id="rId42"/>
    <p:sldId id="672" r:id="rId43"/>
    <p:sldId id="673" r:id="rId44"/>
    <p:sldId id="674" r:id="rId45"/>
    <p:sldId id="675" r:id="rId46"/>
    <p:sldId id="676" r:id="rId47"/>
    <p:sldId id="677" r:id="rId48"/>
    <p:sldId id="678" r:id="rId49"/>
    <p:sldId id="680" r:id="rId50"/>
    <p:sldId id="681" r:id="rId51"/>
    <p:sldId id="682" r:id="rId52"/>
    <p:sldId id="683" r:id="rId53"/>
    <p:sldId id="684" r:id="rId54"/>
    <p:sldId id="685" r:id="rId55"/>
    <p:sldId id="686" r:id="rId56"/>
    <p:sldId id="687" r:id="rId57"/>
    <p:sldId id="688" r:id="rId58"/>
    <p:sldId id="689" r:id="rId59"/>
    <p:sldId id="690" r:id="rId60"/>
    <p:sldId id="691" r:id="rId61"/>
    <p:sldId id="692" r:id="rId62"/>
    <p:sldId id="693" r:id="rId63"/>
    <p:sldId id="694" r:id="rId64"/>
    <p:sldId id="695" r:id="rId65"/>
    <p:sldId id="696" r:id="rId66"/>
    <p:sldId id="697" r:id="rId67"/>
    <p:sldId id="698" r:id="rId68"/>
    <p:sldId id="699" r:id="rId69"/>
    <p:sldId id="700" r:id="rId70"/>
    <p:sldId id="701" r:id="rId71"/>
    <p:sldId id="702" r:id="rId72"/>
    <p:sldId id="703" r:id="rId73"/>
    <p:sldId id="704" r:id="rId74"/>
    <p:sldId id="737" r:id="rId75"/>
  </p:sldIdLst>
  <p:sldSz cx="9144000" cy="6858000" type="screen4x3"/>
  <p:notesSz cx="6858000" cy="9144000"/>
  <p:custDataLst>
    <p:tags r:id="rId8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33CC"/>
    <a:srgbClr val="000000"/>
    <a:srgbClr val="DDDDDD"/>
    <a:srgbClr val="CCECFF"/>
    <a:srgbClr val="FFCCFF"/>
    <a:srgbClr val="8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22"/>
    <p:restoredTop sz="99613"/>
  </p:normalViewPr>
  <p:slideViewPr>
    <p:cSldViewPr showGuides="1">
      <p:cViewPr>
        <p:scale>
          <a:sx n="69" d="100"/>
          <a:sy n="69" d="100"/>
        </p:scale>
        <p:origin x="-1266" y="54"/>
      </p:cViewPr>
      <p:guideLst>
        <p:guide orient="horz" pos="2153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0" Type="http://schemas.openxmlformats.org/officeDocument/2006/relationships/tags" Target="tags/tag2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handoutMaster" Target="handoutMasters/handoutMaster1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dirty="0">
                <a:ea typeface="华文中宋" panose="02010600040101010101" pitchFamily="2" charset="-122"/>
              </a:rPr>
              <a:t>SQL </a:t>
            </a:r>
            <a:r>
              <a:rPr lang="zh-CN" altLang="en-US" b="1" dirty="0">
                <a:ea typeface="华文中宋" panose="02010600040101010101" pitchFamily="2" charset="-122"/>
              </a:rPr>
              <a:t>简史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lvl="1" indent="0" eaLnBrk="1" hangingPunct="1"/>
            <a:r>
              <a:rPr lang="en-US" altLang="zh-CN" sz="1400" b="1" dirty="0">
                <a:ea typeface="华文中宋" panose="02010600040101010101" pitchFamily="2" charset="-122"/>
              </a:rPr>
              <a:t>SQL</a:t>
            </a:r>
            <a:r>
              <a:rPr lang="zh-CN" altLang="en-US" sz="1400" b="1" dirty="0">
                <a:ea typeface="华文中宋" panose="02010600040101010101" pitchFamily="2" charset="-122"/>
              </a:rPr>
              <a:t>在七十年代诞生于</a:t>
            </a:r>
            <a:r>
              <a:rPr lang="en-US" altLang="zh-CN" sz="1400" b="1" dirty="0">
                <a:ea typeface="华文中宋" panose="02010600040101010101" pitchFamily="2" charset="-122"/>
              </a:rPr>
              <a:t>IBM </a:t>
            </a:r>
            <a:r>
              <a:rPr lang="zh-CN" altLang="en-US" sz="1400" b="1" dirty="0">
                <a:ea typeface="华文中宋" panose="02010600040101010101" pitchFamily="2" charset="-122"/>
              </a:rPr>
              <a:t>公司</a:t>
            </a:r>
            <a:r>
              <a:rPr lang="en-US" altLang="zh-CN" sz="1400" b="1" dirty="0">
                <a:ea typeface="华文中宋" panose="02010600040101010101" pitchFamily="2" charset="-122"/>
              </a:rPr>
              <a:t>San Jose </a:t>
            </a:r>
            <a:r>
              <a:rPr lang="zh-CN" altLang="en-US" sz="1400" b="1" dirty="0">
                <a:ea typeface="华文中宋" panose="02010600040101010101" pitchFamily="2" charset="-122"/>
              </a:rPr>
              <a:t>试验室，最初它们被称为结构化查询语言</a:t>
            </a:r>
            <a:r>
              <a:rPr lang="en-US" altLang="zh-CN" sz="1400" b="1" dirty="0">
                <a:ea typeface="华文中宋" panose="02010600040101010101" pitchFamily="2" charset="-122"/>
              </a:rPr>
              <a:t>Structured Query Language </a:t>
            </a:r>
            <a:r>
              <a:rPr lang="zh-CN" altLang="en-US" sz="1400" b="1" dirty="0">
                <a:ea typeface="华文中宋" panose="02010600040101010101" pitchFamily="2" charset="-122"/>
              </a:rPr>
              <a:t>并常常简称为</a:t>
            </a:r>
            <a:r>
              <a:rPr lang="en-US" altLang="zh-CN" sz="1400" b="1" dirty="0">
                <a:ea typeface="华文中宋" panose="02010600040101010101" pitchFamily="2" charset="-122"/>
              </a:rPr>
              <a:t>sequel </a:t>
            </a:r>
            <a:endParaRPr lang="en-US" altLang="zh-CN" sz="1400" b="1" dirty="0">
              <a:ea typeface="华文中宋" panose="02010600040101010101" pitchFamily="2" charset="-122"/>
            </a:endParaRPr>
          </a:p>
          <a:p>
            <a:pPr lvl="1" indent="0" eaLnBrk="1" hangingPunct="1"/>
            <a:r>
              <a:rPr lang="zh-CN" altLang="en-US" sz="1400" b="1" dirty="0">
                <a:ea typeface="华文中宋" panose="02010600040101010101" pitchFamily="2" charset="-122"/>
              </a:rPr>
              <a:t>开始时是为</a:t>
            </a:r>
            <a:r>
              <a:rPr lang="en-US" altLang="zh-CN" sz="1400" b="1" dirty="0">
                <a:ea typeface="华文中宋" panose="02010600040101010101" pitchFamily="2" charset="-122"/>
              </a:rPr>
              <a:t>IBM </a:t>
            </a:r>
            <a:r>
              <a:rPr lang="zh-CN" altLang="en-US" sz="1400" b="1" dirty="0">
                <a:ea typeface="华文中宋" panose="02010600040101010101" pitchFamily="2" charset="-122"/>
              </a:rPr>
              <a:t>公司的</a:t>
            </a:r>
            <a:r>
              <a:rPr lang="en-US" altLang="zh-CN" sz="1400" b="1" dirty="0">
                <a:ea typeface="华文中宋" panose="02010600040101010101" pitchFamily="2" charset="-122"/>
              </a:rPr>
              <a:t>DB2 </a:t>
            </a:r>
            <a:r>
              <a:rPr lang="zh-CN" altLang="en-US" sz="1400" b="1" dirty="0">
                <a:ea typeface="华文中宋" panose="02010600040101010101" pitchFamily="2" charset="-122"/>
              </a:rPr>
              <a:t>系列</a:t>
            </a:r>
            <a:r>
              <a:rPr lang="en-US" altLang="zh-CN" sz="1400" b="1" dirty="0">
                <a:ea typeface="华文中宋" panose="02010600040101010101" pitchFamily="2" charset="-122"/>
              </a:rPr>
              <a:t>RDBMS </a:t>
            </a:r>
            <a:r>
              <a:rPr lang="zh-CN" altLang="en-US" sz="1400" b="1" dirty="0">
                <a:ea typeface="华文中宋" panose="02010600040101010101" pitchFamily="2" charset="-122"/>
              </a:rPr>
              <a:t>关系型数据库管理系统而开发的</a:t>
            </a:r>
            <a:endParaRPr lang="zh-CN" altLang="en-US" sz="1400" b="1" dirty="0">
              <a:ea typeface="华文中宋" panose="02010600040101010101" pitchFamily="2" charset="-122"/>
            </a:endParaRPr>
          </a:p>
          <a:p>
            <a:pPr lvl="1" indent="0" eaLnBrk="1" hangingPunct="1"/>
            <a:r>
              <a:rPr lang="zh-CN" altLang="en-US" sz="1400" b="1" dirty="0">
                <a:ea typeface="华文中宋" panose="02010600040101010101" pitchFamily="2" charset="-122"/>
              </a:rPr>
              <a:t>事实上是</a:t>
            </a:r>
            <a:r>
              <a:rPr lang="en-US" altLang="zh-CN" sz="1400" b="1" dirty="0">
                <a:ea typeface="华文中宋" panose="02010600040101010101" pitchFamily="2" charset="-122"/>
              </a:rPr>
              <a:t>SQL</a:t>
            </a:r>
            <a:r>
              <a:rPr lang="zh-CN" altLang="en-US" sz="1400" b="1" dirty="0">
                <a:ea typeface="华文中宋" panose="02010600040101010101" pitchFamily="2" charset="-122"/>
              </a:rPr>
              <a:t>造就了</a:t>
            </a:r>
            <a:r>
              <a:rPr lang="en-US" altLang="zh-CN" sz="1400" b="1" dirty="0">
                <a:ea typeface="华文中宋" panose="02010600040101010101" pitchFamily="2" charset="-122"/>
              </a:rPr>
              <a:t>RDBMS</a:t>
            </a:r>
            <a:r>
              <a:rPr lang="zh-CN" altLang="en-US" sz="1400" b="1" dirty="0">
                <a:ea typeface="华文中宋" panose="02010600040101010101" pitchFamily="2" charset="-122"/>
              </a:rPr>
              <a:t>，它是一种非过程语言，与第三代过程语言如</a:t>
            </a:r>
            <a:r>
              <a:rPr lang="en-US" altLang="zh-CN" sz="1400" b="1" dirty="0">
                <a:ea typeface="华文中宋" panose="02010600040101010101" pitchFamily="2" charset="-122"/>
              </a:rPr>
              <a:t>C </a:t>
            </a:r>
            <a:r>
              <a:rPr lang="zh-CN" altLang="en-US" sz="1400" b="1" dirty="0">
                <a:ea typeface="华文中宋" panose="02010600040101010101" pitchFamily="2" charset="-122"/>
              </a:rPr>
              <a:t>和</a:t>
            </a:r>
            <a:r>
              <a:rPr lang="en-US" altLang="zh-CN" sz="1400" b="1" dirty="0">
                <a:ea typeface="华文中宋" panose="02010600040101010101" pitchFamily="2" charset="-122"/>
              </a:rPr>
              <a:t>COBOL </a:t>
            </a:r>
            <a:r>
              <a:rPr lang="zh-CN" altLang="en-US" sz="1400" b="1" dirty="0">
                <a:ea typeface="华文中宋" panose="02010600040101010101" pitchFamily="2" charset="-122"/>
              </a:rPr>
              <a:t>产生于同一时代</a:t>
            </a:r>
            <a:endParaRPr lang="zh-CN" altLang="en-US" sz="1400" b="1" dirty="0">
              <a:ea typeface="华文中宋" panose="02010600040101010101" pitchFamily="2" charset="-122"/>
            </a:endParaRPr>
          </a:p>
          <a:p>
            <a:pPr lvl="0" eaLnBrk="1" hangingPunct="1">
              <a:buClr>
                <a:srgbClr val="6600CC"/>
              </a:buClr>
            </a:pPr>
            <a:r>
              <a:rPr lang="en-US" altLang="zh-CN" dirty="0"/>
              <a:t>SQL</a:t>
            </a:r>
            <a:r>
              <a:rPr lang="zh-CN" altLang="en-US" dirty="0"/>
              <a:t>语言是一个唯一通过了国际标准的关系数据库语言，该语言得到各大数据库厂商的支持，在各种</a:t>
            </a:r>
            <a:r>
              <a:rPr lang="en-US" altLang="zh-CN" dirty="0"/>
              <a:t>DBMS</a:t>
            </a:r>
            <a:r>
              <a:rPr lang="zh-CN" altLang="en-US" dirty="0"/>
              <a:t>产品中都能使用。</a:t>
            </a:r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1986</a:t>
            </a:r>
            <a:r>
              <a:rPr lang="zh-CN" altLang="en-US" dirty="0"/>
              <a:t>年</a:t>
            </a:r>
            <a:r>
              <a:rPr lang="en-US" altLang="zh-CN" dirty="0"/>
              <a:t>ANSI</a:t>
            </a:r>
            <a:r>
              <a:rPr lang="zh-CN" altLang="en-US" dirty="0"/>
              <a:t>公布了</a:t>
            </a:r>
            <a:r>
              <a:rPr lang="en-US" altLang="zh-CN" dirty="0"/>
              <a:t>SQL</a:t>
            </a:r>
            <a:r>
              <a:rPr lang="zh-CN" altLang="en-US" dirty="0"/>
              <a:t>语言标准</a:t>
            </a:r>
            <a:r>
              <a:rPr lang="en-US" altLang="zh-CN" dirty="0"/>
              <a:t>SQL86</a:t>
            </a:r>
            <a:r>
              <a:rPr lang="zh-CN" altLang="en-US" dirty="0"/>
              <a:t>，随后</a:t>
            </a:r>
            <a:r>
              <a:rPr lang="en-US" altLang="zh-CN" dirty="0"/>
              <a:t>ISO</a:t>
            </a:r>
            <a:r>
              <a:rPr lang="zh-CN" altLang="en-US" dirty="0"/>
              <a:t>通过了该标准。</a:t>
            </a:r>
            <a:endParaRPr lang="zh-CN" altLang="en-US" dirty="0"/>
          </a:p>
          <a:p>
            <a:pPr lvl="0" eaLnBrk="1" hangingPunct="1"/>
            <a:r>
              <a:rPr lang="en-US" altLang="zh-CN" dirty="0"/>
              <a:t>1989</a:t>
            </a:r>
            <a:r>
              <a:rPr lang="zh-CN" altLang="en-US" dirty="0"/>
              <a:t>年</a:t>
            </a:r>
            <a:r>
              <a:rPr lang="en-US" altLang="zh-CN" dirty="0"/>
              <a:t>ISO</a:t>
            </a:r>
            <a:r>
              <a:rPr lang="zh-CN" altLang="en-US" dirty="0"/>
              <a:t>公布了</a:t>
            </a:r>
            <a:r>
              <a:rPr lang="en-US" altLang="zh-CN" dirty="0"/>
              <a:t>SQL89</a:t>
            </a:r>
            <a:r>
              <a:rPr lang="zh-CN" altLang="en-US" dirty="0"/>
              <a:t>，加进了完整性等内容。</a:t>
            </a:r>
            <a:endParaRPr lang="zh-CN" altLang="en-US" dirty="0"/>
          </a:p>
          <a:p>
            <a:pPr lvl="0" eaLnBrk="1" hangingPunct="1"/>
            <a:r>
              <a:rPr lang="en-US" altLang="zh-CN" dirty="0"/>
              <a:t>1992</a:t>
            </a:r>
            <a:r>
              <a:rPr lang="zh-CN" altLang="en-US" dirty="0"/>
              <a:t>年</a:t>
            </a:r>
            <a:r>
              <a:rPr lang="en-US" altLang="zh-CN" dirty="0"/>
              <a:t>ISO</a:t>
            </a:r>
            <a:r>
              <a:rPr lang="zh-CN" altLang="en-US" dirty="0"/>
              <a:t>公布了</a:t>
            </a:r>
            <a:r>
              <a:rPr lang="en-US" altLang="zh-CN" dirty="0"/>
              <a:t>SQL92</a:t>
            </a:r>
            <a:r>
              <a:rPr lang="zh-CN" altLang="en-US" dirty="0"/>
              <a:t>，即</a:t>
            </a:r>
            <a:r>
              <a:rPr lang="en-US" altLang="zh-CN" dirty="0"/>
              <a:t>SQL2</a:t>
            </a:r>
            <a:r>
              <a:rPr lang="zh-CN" altLang="en-US" dirty="0"/>
              <a:t>，分初级、中级、完全三级，加进</a:t>
            </a:r>
            <a:r>
              <a:rPr lang="en-US" altLang="zh-CN" dirty="0"/>
              <a:t>BIT</a:t>
            </a:r>
            <a:r>
              <a:rPr lang="zh-CN" altLang="en-US" dirty="0"/>
              <a:t>数据类型，支持对远程数据库的访问。</a:t>
            </a:r>
            <a:endParaRPr lang="zh-CN" altLang="en-US" dirty="0"/>
          </a:p>
          <a:p>
            <a:pPr lvl="0" eaLnBrk="1" hangingPunct="1"/>
            <a:r>
              <a:rPr lang="en-US" altLang="zh-CN" dirty="0"/>
              <a:t>1999</a:t>
            </a:r>
            <a:r>
              <a:rPr lang="zh-CN" altLang="en-US" dirty="0"/>
              <a:t>年</a:t>
            </a:r>
            <a:r>
              <a:rPr lang="en-US" altLang="zh-CN" dirty="0"/>
              <a:t>ANSI</a:t>
            </a:r>
            <a:r>
              <a:rPr lang="zh-CN" altLang="en-US" dirty="0"/>
              <a:t>制定了</a:t>
            </a:r>
            <a:r>
              <a:rPr lang="en-US" altLang="zh-CN" dirty="0"/>
              <a:t>SQL3</a:t>
            </a:r>
            <a:r>
              <a:rPr lang="zh-CN" altLang="en-US" dirty="0"/>
              <a:t>，增加了面向对象功能，支持用户自定义函数。</a:t>
            </a:r>
            <a:endParaRPr lang="zh-CN" altLang="en-US" dirty="0"/>
          </a:p>
          <a:p>
            <a:pPr lvl="0" eaLnBrk="1" hangingPunct="1"/>
            <a:r>
              <a:rPr lang="zh-CN" altLang="en-US" sz="1400" dirty="0"/>
              <a:t>上机使用</a:t>
            </a:r>
            <a:r>
              <a:rPr lang="en-US" altLang="zh-CN" sz="1400" dirty="0"/>
              <a:t>SQL Server 2000</a:t>
            </a:r>
            <a:endParaRPr lang="en-US" altLang="zh-CN" sz="1400" dirty="0"/>
          </a:p>
          <a:p>
            <a:pPr lvl="0" eaLnBrk="1" hangingPunct="1">
              <a:lnSpc>
                <a:spcPct val="95000"/>
              </a:lnSpc>
            </a:pPr>
            <a:r>
              <a:rPr lang="en-US" altLang="zh-CN" dirty="0"/>
              <a:t>2003</a:t>
            </a:r>
            <a:r>
              <a:rPr lang="zh-CN" altLang="en-US" dirty="0"/>
              <a:t>年 </a:t>
            </a:r>
            <a:r>
              <a:rPr lang="en-US" altLang="zh-CN" dirty="0"/>
              <a:t>ISO</a:t>
            </a:r>
            <a:r>
              <a:rPr lang="zh-CN" altLang="en-US" dirty="0"/>
              <a:t>公布了</a:t>
            </a:r>
            <a:r>
              <a:rPr lang="en-US" altLang="zh-CN" dirty="0"/>
              <a:t>SQL2003</a:t>
            </a:r>
            <a:r>
              <a:rPr lang="zh-CN" altLang="en-US" dirty="0"/>
              <a:t>，即 </a:t>
            </a:r>
            <a:r>
              <a:rPr lang="en-US" altLang="zh-CN" dirty="0">
                <a:solidFill>
                  <a:srgbClr val="FF3300"/>
                </a:solidFill>
              </a:rPr>
              <a:t>SQL4</a:t>
            </a:r>
            <a:endParaRPr lang="en-US" altLang="zh-CN" dirty="0"/>
          </a:p>
          <a:p>
            <a:pPr lvl="0" eaLnBrk="1" hangingPunct="1"/>
            <a:endParaRPr lang="en-US" altLang="zh-CN" sz="1400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SQL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中域的概念用数据类型来实现。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1" indent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sz="1400" dirty="0">
                <a:solidFill>
                  <a:srgbClr val="FF0000"/>
                </a:solidFill>
              </a:rPr>
              <a:t>CASCADE</a:t>
            </a:r>
            <a:r>
              <a:rPr lang="en-US" altLang="zh-CN" dirty="0"/>
              <a:t>  </a:t>
            </a:r>
            <a:r>
              <a:rPr lang="zh-CN" altLang="en-US" dirty="0"/>
              <a:t>级联处理，删除父表中的行并且自动删除子表中匹配的行</a:t>
            </a:r>
            <a:endParaRPr lang="zh-CN" altLang="en-US" dirty="0"/>
          </a:p>
          <a:p>
            <a:pPr lvl="0" eaLnBrk="1" hangingPunct="1"/>
            <a:r>
              <a:rPr lang="en-US" altLang="zh-CN" sz="1400" dirty="0">
                <a:solidFill>
                  <a:srgbClr val="FF0000"/>
                </a:solidFill>
              </a:rPr>
              <a:t>NO ACTION</a:t>
            </a:r>
            <a:r>
              <a:rPr lang="en-US" altLang="zh-CN" dirty="0"/>
              <a:t> </a:t>
            </a:r>
            <a:r>
              <a:rPr lang="zh-CN" altLang="en-US" dirty="0"/>
              <a:t>拒绝对父表进行删除操作。</a:t>
            </a:r>
            <a:r>
              <a:rPr lang="en-US" altLang="zh-CN" dirty="0"/>
              <a:t>ON DELETE</a:t>
            </a:r>
            <a:r>
              <a:rPr lang="zh-CN" altLang="en-US" dirty="0"/>
              <a:t>规则的缺省设置为</a:t>
            </a:r>
            <a:r>
              <a:rPr lang="en-US" altLang="zh-CN" dirty="0"/>
              <a:t>NO ACTION</a:t>
            </a:r>
            <a:endParaRPr lang="en-US" altLang="zh-CN" dirty="0"/>
          </a:p>
          <a:p>
            <a:pPr lvl="0" eaLnBrk="1" hangingPunct="1"/>
            <a:r>
              <a:rPr lang="en-US" altLang="zh-CN" sz="1400" dirty="0">
                <a:solidFill>
                  <a:srgbClr val="FF0000"/>
                </a:solidFill>
              </a:rPr>
              <a:t>SET NULL</a:t>
            </a:r>
            <a:r>
              <a:rPr lang="en-US" altLang="zh-CN" dirty="0"/>
              <a:t> </a:t>
            </a:r>
            <a:r>
              <a:rPr lang="zh-CN" altLang="en-US" dirty="0"/>
              <a:t>删除父表中的元组且设置子表中的外键为</a:t>
            </a:r>
            <a:r>
              <a:rPr lang="en-US" altLang="zh-CN" dirty="0"/>
              <a:t>NULL</a:t>
            </a:r>
            <a:r>
              <a:rPr lang="zh-CN" altLang="en-US" dirty="0"/>
              <a:t>。只有当外部关键字属性没有指定为</a:t>
            </a:r>
            <a:r>
              <a:rPr lang="en-US" altLang="zh-CN" dirty="0"/>
              <a:t>NOT NULL</a:t>
            </a:r>
            <a:r>
              <a:rPr lang="zh-CN" altLang="en-US" dirty="0"/>
              <a:t>时，这样做才是有效的</a:t>
            </a:r>
            <a:endParaRPr lang="zh-CN" altLang="en-US" dirty="0"/>
          </a:p>
          <a:p>
            <a:pPr lvl="0" eaLnBrk="1" hangingPunct="1"/>
            <a:r>
              <a:rPr lang="en-US" altLang="zh-CN" sz="1400" dirty="0">
                <a:solidFill>
                  <a:srgbClr val="FF0000"/>
                </a:solidFill>
              </a:rPr>
              <a:t>SET DEFAULT</a:t>
            </a:r>
            <a:r>
              <a:rPr lang="en-US" altLang="zh-CN" dirty="0"/>
              <a:t>  </a:t>
            </a:r>
            <a:r>
              <a:rPr lang="zh-CN" altLang="en-US" dirty="0"/>
              <a:t>删除父表中的元组且设子表中的外键为缺省值。只有当外键属性指定了</a:t>
            </a:r>
            <a:r>
              <a:rPr lang="en-US" altLang="zh-CN" dirty="0"/>
              <a:t>DEFAULT</a:t>
            </a:r>
            <a:r>
              <a:rPr lang="zh-CN" altLang="en-US" dirty="0"/>
              <a:t>值时，这样做才是有效的</a:t>
            </a:r>
            <a:endParaRPr lang="zh-CN" altLang="en-US" dirty="0"/>
          </a:p>
          <a:p>
            <a:pPr lvl="0" eaLnBrk="1" hangingPunct="1"/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SQL92</a:t>
            </a:r>
            <a:r>
              <a:rPr lang="zh-CN" altLang="en-US" dirty="0"/>
              <a:t>没有提供删除表中一列的功能。但在</a:t>
            </a:r>
            <a:r>
              <a:rPr lang="en-US" altLang="zh-CN" dirty="0"/>
              <a:t>SQL Server 2000 </a:t>
            </a:r>
            <a:r>
              <a:rPr lang="zh-CN" altLang="en-US" dirty="0"/>
              <a:t>中增加了取消列的语句：</a:t>
            </a:r>
            <a:endParaRPr lang="zh-CN" altLang="en-US" dirty="0"/>
          </a:p>
          <a:p>
            <a:pPr lvl="0" eaLnBrk="1" hangingPunct="1"/>
            <a:r>
              <a:rPr lang="en-US" altLang="zh-CN" dirty="0"/>
              <a:t>Alter Table &lt;</a:t>
            </a:r>
            <a:r>
              <a:rPr lang="zh-CN" altLang="en-US" dirty="0"/>
              <a:t>表名</a:t>
            </a:r>
            <a:r>
              <a:rPr lang="en-US" altLang="zh-CN" dirty="0"/>
              <a:t>&gt; DROP COLUMN &lt;</a:t>
            </a:r>
            <a:r>
              <a:rPr lang="zh-CN" altLang="en-US" dirty="0"/>
              <a:t>列名</a:t>
            </a:r>
            <a:r>
              <a:rPr lang="en-US" altLang="zh-CN" dirty="0"/>
              <a:t>&gt;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索引可以让数据库服务程序快速地定位到表中的确定行。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35000"/>
              </a:spcBef>
            </a:pPr>
            <a:r>
              <a:rPr lang="zh-CN" altLang="en-US" dirty="0"/>
              <a:t>索引可以提高数据的返回速度，但是使得数据的更新操作变慢，如果要进行大量的更新操作在执行更新操作时先删除索引，当执行完更新操作后，只需要简单的恢复索引即可。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80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89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8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1" indent="0">
              <a:lnSpc>
                <a:spcPct val="110000"/>
              </a:lnSpc>
            </a:pPr>
            <a:endParaRPr lang="zh-CN" altLang="zh-CN" sz="10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6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sz="10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011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6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algn="just">
              <a:lnSpc>
                <a:spcPct val="19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5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830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35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2" indent="0"/>
            <a:r>
              <a:rPr lang="en-US" altLang="zh-CN" sz="1400" dirty="0"/>
              <a:t>SELECT Sname</a:t>
            </a:r>
            <a:r>
              <a:rPr lang="zh-CN" altLang="en-US" sz="1400" dirty="0"/>
              <a:t>，</a:t>
            </a:r>
            <a:r>
              <a:rPr lang="en-US" altLang="zh-CN" sz="1400" dirty="0"/>
              <a:t>Ssex</a:t>
            </a:r>
            <a:endParaRPr lang="en-US" altLang="zh-CN" sz="1400" dirty="0"/>
          </a:p>
          <a:p>
            <a:pPr lvl="2" indent="0"/>
            <a:r>
              <a:rPr lang="en-US" altLang="zh-CN" sz="1400" dirty="0"/>
              <a:t>FROM S</a:t>
            </a:r>
            <a:endParaRPr lang="en-US" altLang="zh-CN" sz="1400" dirty="0"/>
          </a:p>
          <a:p>
            <a:pPr lvl="2" indent="0"/>
            <a:r>
              <a:rPr lang="en-US" altLang="zh-CN" sz="1400" dirty="0"/>
              <a:t>WHERE Sdept IN ( 'IS'</a:t>
            </a:r>
            <a:r>
              <a:rPr lang="zh-CN" altLang="en-US" sz="1400" dirty="0"/>
              <a:t>，</a:t>
            </a:r>
            <a:r>
              <a:rPr lang="en-US" altLang="zh-CN" sz="1400" dirty="0"/>
              <a:t>'MA'</a:t>
            </a:r>
            <a:r>
              <a:rPr lang="zh-CN" altLang="en-US" sz="1400" dirty="0"/>
              <a:t>，</a:t>
            </a:r>
            <a:r>
              <a:rPr lang="en-US" altLang="zh-CN" sz="1400" dirty="0"/>
              <a:t>'CS' )</a:t>
            </a:r>
            <a:endParaRPr lang="en-US" altLang="zh-CN" dirty="0"/>
          </a:p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sz="1000" dirty="0"/>
              <a:t>SELECT Sname</a:t>
            </a:r>
            <a:r>
              <a:rPr lang="zh-CN" altLang="en-US" sz="1000" dirty="0"/>
              <a:t>，</a:t>
            </a:r>
            <a:r>
              <a:rPr lang="en-US" altLang="zh-CN" sz="1000" dirty="0"/>
              <a:t>Sdept</a:t>
            </a:r>
            <a:r>
              <a:rPr lang="zh-CN" altLang="en-US" sz="1000" dirty="0"/>
              <a:t>，</a:t>
            </a:r>
            <a:r>
              <a:rPr lang="en-US" altLang="zh-CN" sz="1000" dirty="0"/>
              <a:t>Sage</a:t>
            </a:r>
            <a:endParaRPr lang="en-US" altLang="zh-CN" sz="1000" dirty="0"/>
          </a:p>
          <a:p>
            <a:pPr lvl="2" indent="0"/>
            <a:r>
              <a:rPr lang="en-US" altLang="zh-CN" sz="1400" dirty="0"/>
              <a:t>FROM S</a:t>
            </a:r>
            <a:endParaRPr lang="en-US" altLang="zh-CN" sz="1400" dirty="0"/>
          </a:p>
          <a:p>
            <a:pPr lvl="2" indent="0"/>
            <a:r>
              <a:rPr lang="en-US" altLang="zh-CN" sz="1400" dirty="0"/>
              <a:t>WHERE Sage BETWEEN 20 AND 23</a:t>
            </a:r>
            <a:r>
              <a:rPr lang="zh-CN" altLang="en-US" sz="1400" dirty="0"/>
              <a:t>；</a:t>
            </a:r>
            <a:endParaRPr lang="zh-CN" altLang="en-US" sz="1400" dirty="0"/>
          </a:p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zh-CN" dirty="0"/>
          </a:p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59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05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69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GROUP BY</a:t>
            </a:r>
            <a:r>
              <a:rPr lang="zh-CN" altLang="en-US" dirty="0"/>
              <a:t>子句的作用对象是查询的中间结果表。</a:t>
            </a:r>
            <a:endParaRPr lang="zh-CN" altLang="en-US" dirty="0"/>
          </a:p>
          <a:p>
            <a:pPr lvl="0"/>
            <a:r>
              <a:rPr lang="zh-CN" altLang="en-US" dirty="0"/>
              <a:t>分组方法：按指定的一列或多列值分组，值相等的为一组。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73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GROUP BY</a:t>
            </a:r>
            <a:r>
              <a:rPr lang="zh-CN" altLang="en-US" dirty="0"/>
              <a:t>子句的作用对象是查询的中间结果表。</a:t>
            </a:r>
            <a:endParaRPr lang="zh-CN" altLang="en-US" dirty="0"/>
          </a:p>
          <a:p>
            <a:pPr lvl="0"/>
            <a:r>
              <a:rPr lang="zh-CN" altLang="en-US" dirty="0"/>
              <a:t>分组方法：按指定的一列或多列值分组，值相等的为一组。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93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7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69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7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10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audio" Target="../media/audio1.wav"/><Relationship Id="rId4" Type="http://schemas.openxmlformats.org/officeDocument/2006/relationships/image" Target="../media/image2.wmf"/><Relationship Id="rId3" Type="http://schemas.openxmlformats.org/officeDocument/2006/relationships/control" Target="../activeX/activeX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audio" Target="../media/audio1.wav"/><Relationship Id="rId4" Type="http://schemas.openxmlformats.org/officeDocument/2006/relationships/image" Target="../media/image3.wmf"/><Relationship Id="rId3" Type="http://schemas.openxmlformats.org/officeDocument/2006/relationships/control" Target="../activeX/activeX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audio" Target="../media/audio1.wav"/><Relationship Id="rId4" Type="http://schemas.openxmlformats.org/officeDocument/2006/relationships/image" Target="../media/image4.wmf"/><Relationship Id="rId3" Type="http://schemas.openxmlformats.org/officeDocument/2006/relationships/control" Target="../activeX/activeX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audio" Target="../media/audio1.wav"/><Relationship Id="rId4" Type="http://schemas.openxmlformats.org/officeDocument/2006/relationships/image" Target="../media/image5.wmf"/><Relationship Id="rId3" Type="http://schemas.openxmlformats.org/officeDocument/2006/relationships/control" Target="../activeX/activeX4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audio" Target="../media/audio1.wav"/><Relationship Id="rId4" Type="http://schemas.openxmlformats.org/officeDocument/2006/relationships/image" Target="../media/image6.wmf"/><Relationship Id="rId3" Type="http://schemas.openxmlformats.org/officeDocument/2006/relationships/control" Target="../activeX/activeX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audio" Target="../media/audio1.wav"/><Relationship Id="rId4" Type="http://schemas.openxmlformats.org/officeDocument/2006/relationships/image" Target="../media/image7.wmf"/><Relationship Id="rId3" Type="http://schemas.openxmlformats.org/officeDocument/2006/relationships/control" Target="../activeX/activeX6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audio" Target="../media/audio1.wav"/><Relationship Id="rId4" Type="http://schemas.openxmlformats.org/officeDocument/2006/relationships/image" Target="../media/image8.wmf"/><Relationship Id="rId3" Type="http://schemas.openxmlformats.org/officeDocument/2006/relationships/control" Target="../activeX/activeX7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audio" Target="../media/audio1.wav"/><Relationship Id="rId4" Type="http://schemas.openxmlformats.org/officeDocument/2006/relationships/image" Target="../media/image9.wmf"/><Relationship Id="rId3" Type="http://schemas.openxmlformats.org/officeDocument/2006/relationships/control" Target="../activeX/activeX8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audio" Target="../media/audio1.wav"/><Relationship Id="rId4" Type="http://schemas.openxmlformats.org/officeDocument/2006/relationships/image" Target="../media/image9.wmf"/><Relationship Id="rId3" Type="http://schemas.openxmlformats.org/officeDocument/2006/relationships/control" Target="../activeX/activeX9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audio" Target="../media/audio1.wav"/><Relationship Id="rId4" Type="http://schemas.openxmlformats.org/officeDocument/2006/relationships/image" Target="../media/image10.wmf"/><Relationship Id="rId3" Type="http://schemas.openxmlformats.org/officeDocument/2006/relationships/control" Target="../activeX/activeX10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audio" Target="../media/audio1.wav"/><Relationship Id="rId4" Type="http://schemas.openxmlformats.org/officeDocument/2006/relationships/image" Target="../media/image11.wmf"/><Relationship Id="rId3" Type="http://schemas.openxmlformats.org/officeDocument/2006/relationships/control" Target="../activeX/activeX1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audio" Target="../media/audio1.wav"/><Relationship Id="rId4" Type="http://schemas.openxmlformats.org/officeDocument/2006/relationships/image" Target="../media/image11.wmf"/><Relationship Id="rId3" Type="http://schemas.openxmlformats.org/officeDocument/2006/relationships/control" Target="../activeX/activeX1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539750" y="1219200"/>
            <a:ext cx="8450263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39750" y="2819400"/>
            <a:ext cx="8451850" cy="32004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quarter" idx="2"/>
          </p:nvPr>
        </p:nvSpPr>
        <p:spPr>
          <a:xfrm>
            <a:off x="152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i="1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i="1" strike="noStrike" noProof="1" dirty="0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showMasterSp="0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75" name="" r:id="rId3" imgW="684213" imgH="569913"/>
        </mc:Choice>
        <mc:Fallback>
          <p:control name="" r:id="rId3" imgW="684213" imgH="569913">
            <p:pic>
              <p:nvPicPr>
                <p:cNvPr id="0" name="Host Control  3074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showMasterSp="0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099" name="" r:id="rId3" imgW="684213" imgH="569913"/>
        </mc:Choice>
        <mc:Fallback>
          <p:control name="" r:id="rId3" imgW="684213" imgH="569913">
            <p:pic>
              <p:nvPicPr>
                <p:cNvPr id="0" name="Host Control  409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showMasterSp="0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836613"/>
            <a:ext cx="4348163" cy="5653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836613"/>
            <a:ext cx="4348162" cy="5653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123" name="" r:id="rId3" imgW="684213" imgH="569913"/>
        </mc:Choice>
        <mc:Fallback>
          <p:control name="" r:id="rId3" imgW="684213" imgH="569913">
            <p:pic>
              <p:nvPicPr>
                <p:cNvPr id="0" name="Host Control  5122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showMasterSp="0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147" name="" r:id="rId3" imgW="684213" imgH="569913"/>
        </mc:Choice>
        <mc:Fallback>
          <p:control name="" r:id="rId3" imgW="684213" imgH="569913">
            <p:pic>
              <p:nvPicPr>
                <p:cNvPr id="0" name="Host Control  6146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showMasterSp="0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171" name="" r:id="rId3" imgW="684213" imgH="569913"/>
        </mc:Choice>
        <mc:Fallback>
          <p:control name="" r:id="rId3" imgW="684213" imgH="569913">
            <p:pic>
              <p:nvPicPr>
                <p:cNvPr id="0" name="Host Control  7170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showMasterSp="0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8195" name="" r:id="rId3" imgW="684213" imgH="569913"/>
        </mc:Choice>
        <mc:Fallback>
          <p:control name="" r:id="rId3" imgW="684213" imgH="569913">
            <p:pic>
              <p:nvPicPr>
                <p:cNvPr id="0" name="Host Control  8194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showMasterSp="0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9219" name="" r:id="rId3" imgW="684213" imgH="569913"/>
        </mc:Choice>
        <mc:Fallback>
          <p:control name="" r:id="rId3" imgW="684213" imgH="569913">
            <p:pic>
              <p:nvPicPr>
                <p:cNvPr id="0" name="Host Control  921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showMasterSp="0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43" name="" r:id="rId3" imgW="684213" imgH="569913"/>
        </mc:Choice>
        <mc:Fallback>
          <p:control name="" r:id="rId3" imgW="684213" imgH="569913">
            <p:pic>
              <p:nvPicPr>
                <p:cNvPr id="0" name="Host Control  10242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showMasterSp="0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267" name="" r:id="rId3" imgW="684213" imgH="569913"/>
        </mc:Choice>
        <mc:Fallback>
          <p:control name="" r:id="rId3" imgW="684213" imgH="569913">
            <p:pic>
              <p:nvPicPr>
                <p:cNvPr id="0" name="Host Control  11266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showMasterSp="0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2291" name="" r:id="rId3" imgW="684213" imgH="569913"/>
        </mc:Choice>
        <mc:Fallback>
          <p:control name="" r:id="rId3" imgW="684213" imgH="569913">
            <p:pic>
              <p:nvPicPr>
                <p:cNvPr id="0" name="Host Control  12290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PhAnim="0" showMasterSp="0">
  <p:cSld name="标题，文本与两项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836613"/>
            <a:ext cx="4348163" cy="565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2963" y="836613"/>
            <a:ext cx="4348162" cy="27495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2963" y="3738563"/>
            <a:ext cx="4348162" cy="275113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6"/>
          <p:cNvSpPr>
            <a:spLocks noGrp="1"/>
          </p:cNvSpPr>
          <p:nvPr>
            <p:ph type="ftr" sz="quarter" idx="1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3315" name="" r:id="rId3" imgW="684213" imgH="569913"/>
        </mc:Choice>
        <mc:Fallback>
          <p:control name="" r:id="rId3" imgW="684213" imgH="569913">
            <p:pic>
              <p:nvPicPr>
                <p:cNvPr id="0" name="Host Control  13314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PhAnim="0" showMasterSp="0">
  <p:cSld name="标题，文本与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836613"/>
            <a:ext cx="4348163" cy="565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836613"/>
            <a:ext cx="4348162" cy="565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4339" name="" r:id="rId3" imgW="684213" imgH="569913"/>
        </mc:Choice>
        <mc:Fallback>
          <p:control name="" r:id="rId3" imgW="684213" imgH="569913">
            <p:pic>
              <p:nvPicPr>
                <p:cNvPr id="0" name="Host Control  1433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vmlDrawing" Target="../drawings/vmlDrawing13.v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4.png"/><Relationship Id="rId18" Type="http://schemas.openxmlformats.org/officeDocument/2006/relationships/image" Target="../media/image13.png"/><Relationship Id="rId17" Type="http://schemas.openxmlformats.org/officeDocument/2006/relationships/audio" Target="../media/audio1.wav"/><Relationship Id="rId16" Type="http://schemas.openxmlformats.org/officeDocument/2006/relationships/image" Target="../media/image12.wmf"/><Relationship Id="rId15" Type="http://schemas.openxmlformats.org/officeDocument/2006/relationships/control" Target="../activeX/activeX13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3"/>
          <p:cNvSpPr>
            <a:spLocks noGrp="1"/>
          </p:cNvSpPr>
          <p:nvPr>
            <p:ph type="body"/>
          </p:nvPr>
        </p:nvSpPr>
        <p:spPr>
          <a:xfrm>
            <a:off x="152400" y="884238"/>
            <a:ext cx="8848725" cy="5561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60338"/>
            <a:ext cx="8659813" cy="503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en-US" altLang="zh-CN" strike="noStrike" noProof="1" dirty="0" smtClean="0"/>
              <a:t>Click to edit Master title style</a:t>
            </a:r>
            <a:endParaRPr lang="en-US" altLang="zh-CN" strike="noStrike" noProof="1" dirty="0" smtClean="0"/>
          </a:p>
        </p:txBody>
      </p:sp>
      <p:sp>
        <p:nvSpPr>
          <p:cNvPr id="3096" name="Text Box 24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algn="ctr" eaLnBrk="0" fontAlgn="base" hangingPunct="0">
              <a:buNone/>
            </a:pPr>
            <a:fld id="{9A0DB2DC-4C9A-4742-B13C-FB6460FD3503}" type="slidenum">
              <a:rPr lang="en-US" altLang="zh-CN" sz="2400" b="1" strike="noStrike" noProof="1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en-US" altLang="zh-CN" sz="2400" b="1" strike="noStrike" noProof="1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smtClean="0">
              <a:ln>
                <a:noFill/>
              </a:ln>
              <a:solidFill>
                <a:srgbClr val="808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099" name="Picture 27" descr="paint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00088"/>
            <a:ext cx="4716463" cy="142875"/>
          </a:xfrm>
          <a:prstGeom prst="rect">
            <a:avLst/>
          </a:prstGeom>
          <a:noFill/>
          <a:ln w="9525">
            <a:noFill/>
          </a:ln>
        </p:spPr>
      </p:pic>
    </p:spTree>
    <p:controls>
      <mc:AlternateContent xmlns:mc="http://schemas.openxmlformats.org/markup-compatibility/2006">
        <mc:Choice xmlns:v="urn:schemas-microsoft-com:vml" Requires="v">
          <p:control spid="2" name="" r:id="rId15" imgW="684213" imgH="569913"/>
        </mc:Choice>
        <mc:Fallback>
          <p:control name="" r:id="rId15" imgW="684213" imgH="569913">
            <p:pic>
              <p:nvPicPr>
                <p:cNvPr id="0" name="Host Control  1"/>
                <p:cNvPicPr/>
                <p:nvPr userDrawn="1"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kumimoji="1"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kumimoji="1"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kumimoji="1"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kumimoji="1"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kumimoji="1"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slide" Target="slide36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3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audio1.wav"/><Relationship Id="rId1" Type="http://schemas.openxmlformats.org/officeDocument/2006/relationships/slide" Target="slide3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3.xml"/><Relationship Id="rId2" Type="http://schemas.openxmlformats.org/officeDocument/2006/relationships/audio" Target="../media/audio1.wav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7409" name="Picture 2" descr="Multi_3"/>
          <p:cNvPicPr>
            <a:picLocks noChangeAspect="1"/>
          </p:cNvPicPr>
          <p:nvPr/>
        </p:nvPicPr>
        <p:blipFill>
          <a:blip r:embed="rId1">
            <a:clrChange>
              <a:clrFrom>
                <a:srgbClr val="4800A1"/>
              </a:clrFrom>
              <a:clrTo>
                <a:srgbClr val="4800A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213" y="4868863"/>
            <a:ext cx="1905000" cy="145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Rectangle 3"/>
          <p:cNvSpPr/>
          <p:nvPr/>
        </p:nvSpPr>
        <p:spPr>
          <a:xfrm>
            <a:off x="611188" y="2924175"/>
            <a:ext cx="8137525" cy="1009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0" hangingPunct="0">
              <a:buClrTx/>
              <a:buFontTx/>
              <a:buNone/>
            </a:pPr>
            <a:r>
              <a:rPr lang="zh-CN" altLang="en-US" sz="5400" b="1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5400" b="1" dirty="0">
                <a:solidFill>
                  <a:srgbClr val="0000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5</a:t>
            </a:r>
            <a:r>
              <a:rPr lang="zh-CN" altLang="en-US" sz="5400" b="1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关系数据库语言</a:t>
            </a:r>
            <a:r>
              <a:rPr lang="en-US" altLang="zh-CN" sz="5400" b="1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</a:t>
            </a:r>
            <a:endParaRPr lang="en-US" altLang="zh-CN" sz="5400" b="1" dirty="0">
              <a:solidFill>
                <a:srgbClr val="00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1" name="Rectangle 4"/>
          <p:cNvSpPr/>
          <p:nvPr/>
        </p:nvSpPr>
        <p:spPr>
          <a:xfrm>
            <a:off x="468313" y="1052513"/>
            <a:ext cx="8497887" cy="1143000"/>
          </a:xfrm>
          <a:prstGeom prst="rect">
            <a:avLst/>
          </a:prstGeom>
          <a:noFill/>
          <a:ln w="12700">
            <a:noFill/>
          </a:ln>
          <a:effectLst>
            <a:outerShdw dist="35921" dir="2699999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44450" anchor="ctr" anchorCtr="0"/>
          <a:p>
            <a:pPr algn="ctr" eaLnBrk="0" hangingPunct="0">
              <a:buClrTx/>
              <a:buFontTx/>
              <a:buNone/>
            </a:pPr>
            <a:r>
              <a:rPr lang="zh-CN" altLang="en-US" sz="5400" b="1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数据库</a:t>
            </a:r>
            <a:r>
              <a:rPr lang="zh-CN" altLang="en-US" sz="5400" b="1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</a:t>
            </a:r>
            <a:endParaRPr lang="zh-CN" altLang="en-US" sz="5400" b="1" dirty="0">
              <a:solidFill>
                <a:srgbClr val="FF3300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17412" name="Text Box 5"/>
          <p:cNvSpPr txBox="1"/>
          <p:nvPr/>
        </p:nvSpPr>
        <p:spPr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  <a:tileRect/>
          </a:gradFill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zh-CN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3" name="Text Box 6"/>
          <p:cNvSpPr txBox="1"/>
          <p:nvPr/>
        </p:nvSpPr>
        <p:spPr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zh-CN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539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1231900" y="1143000"/>
            <a:ext cx="7372350" cy="5235575"/>
          </a:xfrm>
        </p:spPr>
        <p:txBody>
          <a:bodyPr vert="horz" wrap="square" lIns="91440" tIns="45720" rIns="91440" bIns="45720" anchor="t" anchorCtr="0"/>
          <a:p>
            <a:pPr>
              <a:spcBef>
                <a:spcPts val="12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5.1 SQL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概述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5.2 </a:t>
            </a:r>
            <a:r>
              <a:rPr lang="zh-CN" altLang="en-US" dirty="0">
                <a:latin typeface="Arial" panose="020B0604020202020204" pitchFamily="34" charset="0"/>
              </a:rPr>
              <a:t>数据定义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5.3 </a:t>
            </a:r>
            <a:r>
              <a:rPr lang="zh-CN" altLang="en-US" dirty="0">
                <a:latin typeface="Arial" panose="020B0604020202020204" pitchFamily="34" charset="0"/>
              </a:rPr>
              <a:t>数据查询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5.4 </a:t>
            </a:r>
            <a:r>
              <a:rPr lang="zh-CN" altLang="en-US" dirty="0">
                <a:latin typeface="Arial" panose="020B0604020202020204" pitchFamily="34" charset="0"/>
              </a:rPr>
              <a:t>数据更新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5.5 </a:t>
            </a:r>
            <a:r>
              <a:rPr lang="zh-CN" altLang="en-US" dirty="0">
                <a:latin typeface="Arial" panose="020B0604020202020204" pitchFamily="34" charset="0"/>
              </a:rPr>
              <a:t>视图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5.6 </a:t>
            </a:r>
            <a:r>
              <a:rPr lang="zh-CN" altLang="en-US" dirty="0">
                <a:latin typeface="Arial" panose="020B0604020202020204" pitchFamily="34" charset="0"/>
              </a:rPr>
              <a:t>数据控制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705850" cy="5273675"/>
          </a:xfrm>
        </p:spPr>
        <p:txBody>
          <a:bodyPr vert="horz" wrap="square" lIns="91440" tIns="45720" rIns="91440" bIns="45720" anchor="t" anchorCtr="0"/>
          <a:p>
            <a:pPr marL="449580" indent="-449580">
              <a:buNone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/>
              <a:t>SQL ( 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tructured </a:t>
            </a:r>
            <a:r>
              <a:rPr lang="en-US" altLang="zh-CN" dirty="0">
                <a:solidFill>
                  <a:srgbClr val="FF0000"/>
                </a:solidFill>
              </a:rPr>
              <a:t>Q</a:t>
            </a:r>
            <a:r>
              <a:rPr lang="en-US" altLang="zh-CN" dirty="0"/>
              <a:t>uery</a:t>
            </a:r>
            <a:r>
              <a:rPr lang="en-US" altLang="zh-CN" dirty="0">
                <a:solidFill>
                  <a:srgbClr val="FF0000"/>
                </a:solidFill>
              </a:rPr>
              <a:t> L</a:t>
            </a:r>
            <a:r>
              <a:rPr lang="en-US" altLang="zh-CN" dirty="0"/>
              <a:t>anguage )  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    </a:t>
            </a:r>
            <a:r>
              <a:rPr lang="zh-CN" altLang="en-US" dirty="0"/>
              <a:t>结构化查询语言</a:t>
            </a:r>
            <a:endParaRPr lang="zh-CN" altLang="en-US" dirty="0"/>
          </a:p>
          <a:p>
            <a:pPr marL="449580" indent="-449580">
              <a:spcBef>
                <a:spcPct val="35000"/>
              </a:spcBef>
            </a:pPr>
            <a:r>
              <a:rPr lang="zh-CN" altLang="en-US" dirty="0"/>
              <a:t>起源于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</a:t>
            </a:r>
            <a:endParaRPr lang="zh-CN" altLang="en-US" dirty="0"/>
          </a:p>
          <a:p>
            <a:pPr marL="449580" indent="-449580">
              <a:spcBef>
                <a:spcPct val="35000"/>
              </a:spcBef>
            </a:pPr>
            <a:r>
              <a:rPr lang="en-US" altLang="zh-CN" dirty="0"/>
              <a:t>IBM</a:t>
            </a:r>
            <a:r>
              <a:rPr lang="zh-CN" altLang="en-US" dirty="0"/>
              <a:t>开发的关系数据库管理系统 </a:t>
            </a:r>
            <a:r>
              <a:rPr lang="en-US" altLang="zh-CN" dirty="0"/>
              <a:t>System  R </a:t>
            </a:r>
            <a:r>
              <a:rPr lang="zh-CN" altLang="en-US" dirty="0"/>
              <a:t>中实现了该语言</a:t>
            </a:r>
            <a:endParaRPr lang="zh-CN" altLang="en-US" dirty="0"/>
          </a:p>
          <a:p>
            <a:pPr marL="449580" indent="-449580">
              <a:spcBef>
                <a:spcPct val="35000"/>
              </a:spcBef>
            </a:pPr>
            <a:r>
              <a:rPr lang="zh-CN" altLang="en-US" dirty="0"/>
              <a:t>现成为关系数据库的标准语言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5.1 SQL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的标准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0" name="Rectangle 5"/>
          <p:cNvSpPr>
            <a:spLocks noGrp="1"/>
          </p:cNvSpPr>
          <p:nvPr>
            <p:ph idx="1"/>
          </p:nvPr>
        </p:nvSpPr>
        <p:spPr>
          <a:xfrm>
            <a:off x="142875" y="908050"/>
            <a:ext cx="8858250" cy="5581650"/>
          </a:xfrm>
        </p:spPr>
        <p:txBody>
          <a:bodyPr vert="horz" wrap="square" lIns="91440" tIns="45720" rIns="91440" bIns="45720" anchor="t" anchorCtr="0"/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r>
              <a:rPr lang="en-US" altLang="zh-CN" sz="3200" dirty="0"/>
              <a:t>1986</a:t>
            </a:r>
            <a:r>
              <a:rPr lang="zh-CN" altLang="en-US" sz="3200" dirty="0"/>
              <a:t>年</a:t>
            </a:r>
            <a:r>
              <a:rPr lang="en-US" altLang="zh-CN" sz="3200" dirty="0"/>
              <a:t>ANSI </a:t>
            </a:r>
            <a:r>
              <a:rPr lang="zh-CN" altLang="en-US" sz="3200" dirty="0"/>
              <a:t>公布了</a:t>
            </a:r>
            <a:r>
              <a:rPr lang="en-US" altLang="zh-CN" sz="3200" dirty="0"/>
              <a:t>SQL86</a:t>
            </a:r>
            <a:r>
              <a:rPr lang="zh-CN" altLang="en-US" sz="3200" dirty="0"/>
              <a:t>，</a:t>
            </a:r>
            <a:r>
              <a:rPr lang="en-US" altLang="zh-CN" sz="3200" dirty="0"/>
              <a:t>ISO</a:t>
            </a:r>
            <a:r>
              <a:rPr lang="zh-CN" altLang="en-US" sz="3200" dirty="0"/>
              <a:t>通过该标准，即 </a:t>
            </a:r>
            <a:r>
              <a:rPr lang="en-US" altLang="zh-CN" sz="3200" dirty="0">
                <a:solidFill>
                  <a:srgbClr val="FF3300"/>
                </a:solidFill>
              </a:rPr>
              <a:t>SQL1</a:t>
            </a:r>
            <a:r>
              <a:rPr lang="zh-CN" altLang="en-US" sz="3200" dirty="0"/>
              <a:t>。</a:t>
            </a:r>
            <a:endParaRPr lang="zh-CN" altLang="en-US" sz="3200" dirty="0"/>
          </a:p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r>
              <a:rPr lang="en-US" altLang="zh-CN" sz="3200" dirty="0"/>
              <a:t>1989</a:t>
            </a:r>
            <a:r>
              <a:rPr lang="zh-CN" altLang="en-US" sz="3200" dirty="0"/>
              <a:t>年 </a:t>
            </a:r>
            <a:r>
              <a:rPr lang="en-US" altLang="zh-CN" sz="3200" dirty="0"/>
              <a:t>ISO</a:t>
            </a:r>
            <a:r>
              <a:rPr lang="zh-CN" altLang="en-US" sz="3200" dirty="0"/>
              <a:t>公布了</a:t>
            </a:r>
            <a:r>
              <a:rPr lang="en-US" altLang="zh-CN" sz="3200" dirty="0"/>
              <a:t>SQL89</a:t>
            </a:r>
            <a:r>
              <a:rPr lang="zh-CN" altLang="en-US" sz="3200" dirty="0">
                <a:latin typeface="Arial" panose="020B0604020202020204" pitchFamily="34" charset="0"/>
              </a:rPr>
              <a:t>，加进了完整性等内容。</a:t>
            </a:r>
            <a:endParaRPr lang="zh-CN" altLang="en-US" sz="3200" dirty="0"/>
          </a:p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r>
              <a:rPr lang="en-US" altLang="zh-CN" sz="3200" dirty="0"/>
              <a:t>1992</a:t>
            </a:r>
            <a:r>
              <a:rPr lang="zh-CN" altLang="en-US" sz="3200" dirty="0"/>
              <a:t>年 </a:t>
            </a:r>
            <a:r>
              <a:rPr lang="en-US" altLang="zh-CN" sz="3200" dirty="0"/>
              <a:t>ISO</a:t>
            </a:r>
            <a:r>
              <a:rPr lang="zh-CN" altLang="en-US" sz="3200" dirty="0"/>
              <a:t>公布了</a:t>
            </a:r>
            <a:r>
              <a:rPr lang="en-US" altLang="zh-CN" sz="3200" dirty="0"/>
              <a:t>SQL92</a:t>
            </a:r>
            <a:r>
              <a:rPr lang="zh-CN" altLang="en-US" sz="3200" dirty="0"/>
              <a:t>，即 </a:t>
            </a:r>
            <a:r>
              <a:rPr lang="en-US" altLang="zh-CN" sz="3200" dirty="0">
                <a:solidFill>
                  <a:srgbClr val="FF3300"/>
                </a:solidFill>
              </a:rPr>
              <a:t>SQL2</a:t>
            </a:r>
            <a:r>
              <a:rPr lang="zh-CN" altLang="en-US" sz="3200" dirty="0"/>
              <a:t>，</a:t>
            </a:r>
            <a:r>
              <a:rPr lang="zh-CN" altLang="en-US" sz="3200" dirty="0">
                <a:latin typeface="Arial" panose="020B0604020202020204" pitchFamily="34" charset="0"/>
              </a:rPr>
              <a:t>分初级、中级、完全三级，加进</a:t>
            </a:r>
            <a:r>
              <a:rPr lang="en-US" altLang="zh-CN" sz="3200" dirty="0">
                <a:latin typeface="Arial" panose="020B0604020202020204" pitchFamily="34" charset="0"/>
              </a:rPr>
              <a:t>BIT</a:t>
            </a:r>
            <a:r>
              <a:rPr lang="zh-CN" altLang="en-US" sz="3200" dirty="0">
                <a:latin typeface="Arial" panose="020B0604020202020204" pitchFamily="34" charset="0"/>
              </a:rPr>
              <a:t>数据类型，支持对远程数据库的访问。</a:t>
            </a:r>
            <a:endParaRPr lang="zh-CN" altLang="en-US" sz="3200" dirty="0"/>
          </a:p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r>
              <a:rPr lang="en-US" altLang="zh-CN" sz="3200" dirty="0"/>
              <a:t>1999</a:t>
            </a:r>
            <a:r>
              <a:rPr lang="zh-CN" altLang="en-US" sz="3200" dirty="0"/>
              <a:t>年 </a:t>
            </a:r>
            <a:r>
              <a:rPr lang="en-US" altLang="zh-CN" sz="3200" dirty="0"/>
              <a:t>ISO</a:t>
            </a:r>
            <a:r>
              <a:rPr lang="zh-CN" altLang="en-US" sz="3200" dirty="0"/>
              <a:t>公布了</a:t>
            </a:r>
            <a:r>
              <a:rPr lang="en-US" altLang="zh-CN" sz="3200" dirty="0"/>
              <a:t>SQL99</a:t>
            </a:r>
            <a:r>
              <a:rPr lang="zh-CN" altLang="en-US" sz="3200" dirty="0"/>
              <a:t>，即 </a:t>
            </a:r>
            <a:r>
              <a:rPr lang="en-US" altLang="zh-CN" sz="3200" dirty="0">
                <a:solidFill>
                  <a:srgbClr val="FF3300"/>
                </a:solidFill>
              </a:rPr>
              <a:t>SQL3</a:t>
            </a:r>
            <a:r>
              <a:rPr lang="zh-CN" altLang="en-US" sz="3200" dirty="0"/>
              <a:t>，</a:t>
            </a:r>
            <a:r>
              <a:rPr lang="zh-CN" altLang="en-US" sz="3200" dirty="0">
                <a:latin typeface="Arial" panose="020B0604020202020204" pitchFamily="34" charset="0"/>
              </a:rPr>
              <a:t>增加了面向对象功能，支持用户自定义函数。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r>
              <a:rPr lang="en-US" altLang="zh-CN" sz="3200" dirty="0"/>
              <a:t>2003</a:t>
            </a:r>
            <a:r>
              <a:rPr lang="zh-CN" altLang="en-US" sz="3200" dirty="0"/>
              <a:t>年 </a:t>
            </a:r>
            <a:r>
              <a:rPr lang="en-US" altLang="zh-CN" sz="3200" dirty="0"/>
              <a:t>ISO</a:t>
            </a:r>
            <a:r>
              <a:rPr lang="zh-CN" altLang="en-US" sz="3200" dirty="0"/>
              <a:t>公布了</a:t>
            </a:r>
            <a:r>
              <a:rPr lang="en-US" altLang="zh-CN" sz="3200" dirty="0"/>
              <a:t>SQL2003</a:t>
            </a:r>
            <a:r>
              <a:rPr lang="zh-CN" altLang="en-US" sz="3200" dirty="0"/>
              <a:t>，即 </a:t>
            </a:r>
            <a:r>
              <a:rPr lang="en-US" altLang="zh-CN" sz="3200" dirty="0">
                <a:solidFill>
                  <a:srgbClr val="FF3300"/>
                </a:solidFill>
              </a:rPr>
              <a:t>SQL4</a:t>
            </a:r>
            <a:r>
              <a:rPr lang="zh-CN" altLang="en-US" sz="3200" dirty="0">
                <a:latin typeface="Arial" panose="020B0604020202020204" pitchFamily="34" charset="0"/>
              </a:rPr>
              <a:t>。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7505" indent="-357505">
              <a:lnSpc>
                <a:spcPct val="95000"/>
              </a:lnSpc>
              <a:spcBef>
                <a:spcPct val="30000"/>
              </a:spcBef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的组成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884238"/>
            <a:ext cx="8848725" cy="5561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680" marR="0" lvl="0" indent="-3606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操作对象：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视图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特殊的表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0680" marR="0" lvl="0" indent="-3606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操作分类：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12800" marR="0" lvl="1" indent="-363855" algn="l" defTabSz="914400" rtl="0" eaLnBrk="0" fontAlgn="base" latinLnBrk="0" hangingPunct="0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数据定义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(DDL)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352550" marR="0" lvl="2" indent="-276225" algn="l" defTabSz="914400" rtl="0" eaLnBrk="0" fontAlgn="base" latinLnBrk="0" hangingPunct="0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定义数据库的逻辑结构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812800" marR="0" lvl="1" indent="-36385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数据操纵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(DML)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352550" marR="0" lvl="2" indent="-276225" algn="l" defTabSz="914400" rtl="0" eaLnBrk="0" fontAlgn="base" latinLnBrk="0" hangingPunct="0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实现对数据库的基本操作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查询和数据更新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812800" marR="0" lvl="1" indent="-36385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数据控制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(DCL)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352550" marR="0" lvl="2" indent="-276225" algn="just" defTabSz="914400" rtl="0" eaLnBrk="0" fontAlgn="base" latinLnBrk="0" hangingPunct="0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保证数据的安全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访问权限、并发控制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)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800100" marR="0" lvl="1" indent="-357505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嵌入式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SQL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1352550" marR="0" lvl="2" indent="-276225" algn="just" defTabSz="914400" rtl="0" eaLnBrk="0" fontAlgn="base" latinLnBrk="0" hangingPunct="0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规定在其它语言中使用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SQL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的规则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  <a:p>
            <a:pPr marL="809625" marR="0" lvl="1" indent="-2698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的特点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00125"/>
            <a:ext cx="8380413" cy="5489575"/>
          </a:xfrm>
        </p:spPr>
        <p:txBody>
          <a:bodyPr vert="horz" wrap="square" lIns="91440" tIns="45720" rIns="91440" bIns="45720" anchor="t" anchorCtr="0"/>
          <a:p>
            <a:pPr marL="365125" indent="-365125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/>
              <a:t>综合统一</a:t>
            </a:r>
            <a:endParaRPr lang="zh-CN" altLang="en-US" sz="3200" dirty="0"/>
          </a:p>
          <a:p>
            <a:pPr marL="365125" indent="-365125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/>
              <a:t>高度非过程化，面向集合的操作方式</a:t>
            </a:r>
            <a:endParaRPr lang="zh-CN" altLang="en-US" sz="3200" dirty="0"/>
          </a:p>
          <a:p>
            <a:pPr marL="365125" indent="-365125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/>
              <a:t>以同一种语法结构提供两种使用方法</a:t>
            </a:r>
            <a:endParaRPr lang="zh-CN" altLang="en-US" sz="3200" dirty="0"/>
          </a:p>
          <a:p>
            <a:pPr marL="365125" indent="-365125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/>
              <a:t>语言简洁，易学易用</a:t>
            </a:r>
            <a:endParaRPr lang="zh-CN" altLang="en-US" sz="3200" dirty="0"/>
          </a:p>
        </p:txBody>
      </p:sp>
      <p:graphicFrame>
        <p:nvGraphicFramePr>
          <p:cNvPr id="594975" name="Group 31"/>
          <p:cNvGraphicFramePr>
            <a:graphicFrameLocks noGrp="1"/>
          </p:cNvGraphicFramePr>
          <p:nvPr>
            <p:ph sz="quarter" idx="1"/>
          </p:nvPr>
        </p:nvGraphicFramePr>
        <p:xfrm>
          <a:off x="736600" y="3530600"/>
          <a:ext cx="7978775" cy="2613027"/>
        </p:xfrm>
        <a:graphic>
          <a:graphicData uri="http://schemas.openxmlformats.org/drawingml/2006/table">
            <a:tbl>
              <a:tblPr/>
              <a:tblGrid>
                <a:gridCol w="1892263"/>
                <a:gridCol w="6086512"/>
              </a:tblGrid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SQL</a:t>
                      </a: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功能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动词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数据定义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CREATE,  DROP,  ALTER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数据查询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SELECT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数据操纵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INSERT,  UPDATE,  DELETE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数据控制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GRANT,  REVOKE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1231900" y="1143000"/>
            <a:ext cx="7372350" cy="5235575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5.1 SQL</a:t>
            </a:r>
            <a:r>
              <a:rPr lang="zh-CN" altLang="en-US" dirty="0">
                <a:latin typeface="Arial" panose="020B0604020202020204" pitchFamily="34" charset="0"/>
              </a:rPr>
              <a:t>概述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5.2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数据定义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5.3 </a:t>
            </a:r>
            <a:r>
              <a:rPr lang="zh-CN" altLang="en-US" dirty="0">
                <a:latin typeface="Arial" panose="020B0604020202020204" pitchFamily="34" charset="0"/>
              </a:rPr>
              <a:t>数据查询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5.4 </a:t>
            </a:r>
            <a:r>
              <a:rPr lang="zh-CN" altLang="en-US" dirty="0">
                <a:latin typeface="Arial" panose="020B0604020202020204" pitchFamily="34" charset="0"/>
              </a:rPr>
              <a:t>数据更新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5.5 </a:t>
            </a:r>
            <a:r>
              <a:rPr lang="zh-CN" altLang="en-US" dirty="0">
                <a:latin typeface="Arial" panose="020B0604020202020204" pitchFamily="34" charset="0"/>
              </a:rPr>
              <a:t>视图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5.6 </a:t>
            </a:r>
            <a:r>
              <a:rPr lang="zh-CN" altLang="en-US" dirty="0">
                <a:latin typeface="Arial" panose="020B0604020202020204" pitchFamily="34" charset="0"/>
              </a:rPr>
              <a:t>数据控制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5.2 SQL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的数据定义语句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50345" name="Group 137"/>
          <p:cNvGraphicFramePr>
            <a:graphicFrameLocks noGrp="1"/>
          </p:cNvGraphicFramePr>
          <p:nvPr>
            <p:ph sz="half" idx="1"/>
          </p:nvPr>
        </p:nvGraphicFramePr>
        <p:xfrm>
          <a:off x="250825" y="1196975"/>
          <a:ext cx="8677275" cy="4494214"/>
        </p:xfrm>
        <a:graphic>
          <a:graphicData uri="http://schemas.openxmlformats.org/drawingml/2006/table">
            <a:tbl>
              <a:tblPr/>
              <a:tblGrid>
                <a:gridCol w="1873250"/>
                <a:gridCol w="2465388"/>
                <a:gridCol w="2170112"/>
                <a:gridCol w="2168525"/>
              </a:tblGrid>
              <a:tr h="59690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操作对象</a:t>
                      </a:r>
                      <a:endParaRPr kumimoji="1" lang="zh-CN" alt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操作方式</a:t>
                      </a:r>
                      <a:endParaRPr kumimoji="1" lang="zh-CN" alt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969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定义</a:t>
                      </a:r>
                      <a:endParaRPr kumimoji="1" lang="zh-CN" alt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删除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修改</a:t>
                      </a:r>
                      <a:endParaRPr kumimoji="1" lang="zh-CN" alt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1100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表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CREATE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TABLE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DROP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TABLE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ALTER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TABLE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0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视图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CREATE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VIEW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DROP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VIEW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1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0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索引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CREATE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INDEX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+mn-cs"/>
                        </a:rPr>
                        <a:t>DROP</a:t>
                      </a:r>
                      <a:r>
                        <a:rPr kumimoji="1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 INDEX</a:t>
                      </a:r>
                      <a:endParaRPr kumimoji="1" lang="en-US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1" lang="zh-CN" altLang="zh-CN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idx="1"/>
          </p:nvPr>
        </p:nvSpPr>
        <p:spPr>
          <a:xfrm>
            <a:off x="180975" y="971550"/>
            <a:ext cx="8783638" cy="5273675"/>
          </a:xfrm>
        </p:spPr>
        <p:txBody>
          <a:bodyPr vert="horz" wrap="square" lIns="91440" tIns="45720" rIns="91440" bIns="45720" anchor="t" anchorCtr="0"/>
          <a:p>
            <a:pPr marL="365125" indent="-365125">
              <a:buNone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zh-CN" altLang="en-US" dirty="0">
                <a:latin typeface="Arial" panose="020B0604020202020204" pitchFamily="34" charset="0"/>
              </a:rPr>
              <a:t>给定关系模式 ： 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系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D </a:t>
            </a:r>
            <a:r>
              <a:rPr lang="en-US" altLang="zh-CN" dirty="0">
                <a:latin typeface="Arial" panose="020B0604020202020204" pitchFamily="34" charset="0"/>
              </a:rPr>
              <a:t>(Dept, Addr) 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教师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T </a:t>
            </a:r>
            <a:r>
              <a:rPr lang="en-US" altLang="zh-CN" dirty="0">
                <a:latin typeface="Arial" panose="020B0604020202020204" pitchFamily="34" charset="0"/>
              </a:rPr>
              <a:t>(Tno, Tname, Tsex, Tage, Tdept)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学生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S </a:t>
            </a:r>
            <a:r>
              <a:rPr lang="en-US" altLang="zh-CN" dirty="0">
                <a:latin typeface="Arial" panose="020B0604020202020204" pitchFamily="34" charset="0"/>
              </a:rPr>
              <a:t>(Sno, Sname, Ssex, Sage, Sdept)</a:t>
            </a:r>
            <a:r>
              <a:rPr lang="en-US" altLang="zh-CN" sz="3600" dirty="0"/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课程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C </a:t>
            </a:r>
            <a:r>
              <a:rPr lang="en-US" altLang="zh-CN" dirty="0">
                <a:latin typeface="Arial" panose="020B0604020202020204" pitchFamily="34" charset="0"/>
              </a:rPr>
              <a:t>(Cno, Cname, Hour)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选课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SC </a:t>
            </a:r>
            <a:r>
              <a:rPr lang="en-US" altLang="zh-CN" dirty="0">
                <a:latin typeface="Arial" panose="020B0604020202020204" pitchFamily="34" charset="0"/>
              </a:rPr>
              <a:t>(Sno, Cno, Score) 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授课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TC </a:t>
            </a:r>
            <a:r>
              <a:rPr lang="en-US" altLang="zh-CN" dirty="0">
                <a:latin typeface="Arial" panose="020B0604020202020204" pitchFamily="34" charset="0"/>
              </a:rPr>
              <a:t>(Tno, Cno) 	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5.2.1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表的定义、修改与删除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2"/>
          <p:cNvSpPr>
            <a:spLocks noGrp="1" noChangeArrowheads="1"/>
          </p:cNvSpPr>
          <p:nvPr>
            <p:ph idx="1"/>
          </p:nvPr>
        </p:nvSpPr>
        <p:spPr>
          <a:xfrm>
            <a:off x="71438" y="928688"/>
            <a:ext cx="8991600" cy="5813425"/>
          </a:xfrm>
          <a:solidFill>
            <a:srgbClr val="FFFF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365125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基本语法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  TABLE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表名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  (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 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列名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数据类型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列级完整性约束条件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列名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数据类型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列级完整性约束条件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... 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表级完整性约束条件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)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其中：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9580" marR="0" lvl="0" indent="-2749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表名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：所要定义的表的名字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9580" marR="0" lvl="0" indent="-274955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列名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：组成该表的各个属性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9580" marR="0" lvl="0" indent="-274955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数据类型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：属性来自的域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9580" marR="0" lvl="0" indent="-274955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列级完整性约束条件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：涉及对应的属性列</a:t>
            </a:r>
            <a:endParaRPr kumimoji="1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9580" marR="0" lvl="0" indent="-27495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表级完整性约束条件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：涉及表的一个或多个属性列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定义表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322263" y="1385888"/>
            <a:ext cx="8713787" cy="1944687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idx="1"/>
          </p:nvPr>
        </p:nvSpPr>
        <p:spPr>
          <a:xfrm>
            <a:off x="17145" y="908050"/>
            <a:ext cx="9018905" cy="5552440"/>
          </a:xfrm>
        </p:spPr>
        <p:txBody>
          <a:bodyPr vert="horz" wrap="square" lIns="91440" tIns="45720" rIns="91440" bIns="45720" anchor="t" anchorCtr="0"/>
          <a:p>
            <a:pPr marL="449580" indent="-274955" algn="l" defTabSz="914400">
              <a:lnSpc>
                <a:spcPct val="100000"/>
              </a:lnSpc>
              <a:defRPr/>
            </a:pPr>
            <a:r>
              <a:rPr lang="en-US" altLang="zh-CN" sz="320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建立一个“学生”表S，它由学号Sno、姓名Sn、性别Ssex、年龄Sage、所在系Sdept五个属性组成。其中学号为主键，姓名取值不能为空</a:t>
            </a:r>
            <a:endParaRPr lang="en-US" altLang="zh-CN" sz="320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zh-CN" altLang="en-US" sz="3200" dirty="0">
              <a:latin typeface="Arial" panose="020B0604020202020204" pitchFamily="34" charset="0"/>
            </a:endParaRPr>
          </a:p>
          <a:p>
            <a:pPr marL="0" indent="0" algn="just" latinLnBrk="0">
              <a:lnSpc>
                <a:spcPts val="424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CREATE TABLE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 </a:t>
            </a:r>
            <a:r>
              <a:rPr lang="en-US" altLang="zh-CN" sz="3200" dirty="0">
                <a:latin typeface="Arial" panose="020B0604020202020204" pitchFamily="34" charset="0"/>
              </a:rPr>
              <a:t> (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latinLnBrk="0">
              <a:lnSpc>
                <a:spcPts val="42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Sno</a:t>
            </a:r>
            <a:r>
              <a:rPr lang="en-US" altLang="zh-CN" sz="3200" dirty="0">
                <a:latin typeface="Arial" panose="020B0604020202020204" pitchFamily="34" charset="0"/>
              </a:rPr>
              <a:t> CHAR(6)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PRIMARY KEY</a:t>
            </a:r>
            <a:r>
              <a:rPr lang="en-US" altLang="zh-CN" sz="3200" dirty="0">
                <a:latin typeface="Arial" panose="020B0604020202020204" pitchFamily="34" charset="0"/>
              </a:rPr>
              <a:t> ,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0" indent="0" algn="just" latinLnBrk="0">
              <a:lnSpc>
                <a:spcPts val="424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Sname</a:t>
            </a:r>
            <a:r>
              <a:rPr lang="en-US" altLang="zh-CN" sz="3200" dirty="0">
                <a:latin typeface="Arial" panose="020B0604020202020204" pitchFamily="34" charset="0"/>
              </a:rPr>
              <a:t> CHAR(20)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NOT NULL 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 latinLnBrk="0">
              <a:lnSpc>
                <a:spcPts val="424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Ssex</a:t>
            </a:r>
            <a:r>
              <a:rPr lang="en-US" altLang="zh-CN" sz="3200" dirty="0">
                <a:latin typeface="Arial" panose="020B0604020202020204" pitchFamily="34" charset="0"/>
              </a:rPr>
              <a:t> CHAR(2),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 latinLnBrk="0">
              <a:lnSpc>
                <a:spcPts val="424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Sage</a:t>
            </a:r>
            <a:r>
              <a:rPr lang="en-US" altLang="zh-CN" sz="3200" dirty="0">
                <a:latin typeface="Arial" panose="020B0604020202020204" pitchFamily="34" charset="0"/>
              </a:rPr>
              <a:t> INT,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 latinLnBrk="0">
              <a:lnSpc>
                <a:spcPts val="4240"/>
              </a:lnSpc>
              <a:buClr>
                <a:schemeClr val="folHlink"/>
              </a:buClr>
              <a:buSzPct val="60000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Sdept</a:t>
            </a:r>
            <a:r>
              <a:rPr lang="en-US" altLang="zh-CN" sz="3200" dirty="0">
                <a:latin typeface="Arial" panose="020B0604020202020204" pitchFamily="34" charset="0"/>
              </a:rPr>
              <a:t> CHAR(15)   )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;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定义表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3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437188"/>
          </a:xfrm>
        </p:spPr>
        <p:txBody>
          <a:bodyPr vert="horz" wrap="square" lIns="91440" tIns="45720" rIns="91440" bIns="45720" anchor="t" anchorCtr="0"/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Char</a:t>
            </a:r>
            <a:r>
              <a:rPr lang="en-US" altLang="zh-CN" sz="3200" dirty="0">
                <a:latin typeface="Arial" panose="020B0604020202020204" pitchFamily="34" charset="0"/>
              </a:rPr>
              <a:t>(n)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字符型，长度为</a:t>
            </a:r>
            <a:r>
              <a:rPr lang="en-US" altLang="zh-CN" sz="2800" dirty="0">
                <a:latin typeface="Arial" panose="020B0604020202020204" pitchFamily="34" charset="0"/>
              </a:rPr>
              <a:t>n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Varchar</a:t>
            </a:r>
            <a:r>
              <a:rPr lang="en-US" altLang="zh-CN" sz="3200" dirty="0">
                <a:latin typeface="Arial" panose="020B0604020202020204" pitchFamily="34" charset="0"/>
              </a:rPr>
              <a:t>(n)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字符型，最大长度为</a:t>
            </a:r>
            <a:r>
              <a:rPr lang="en-US" altLang="zh-CN" sz="2800" dirty="0">
                <a:latin typeface="Arial" panose="020B0604020202020204" pitchFamily="34" charset="0"/>
              </a:rPr>
              <a:t>n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3200" dirty="0">
                <a:latin typeface="Arial" panose="020B0604020202020204" pitchFamily="34" charset="0"/>
              </a:rPr>
              <a:t>/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Integer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整型，</a:t>
            </a:r>
            <a:r>
              <a:rPr lang="en-US" altLang="zh-CN" sz="2800" dirty="0">
                <a:latin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</a:rPr>
              <a:t>字节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Tinyint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整型，</a:t>
            </a:r>
            <a:r>
              <a:rPr lang="en-US" altLang="zh-CN" sz="2800" dirty="0"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</a:rPr>
              <a:t>字节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Smallint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整型，</a:t>
            </a:r>
            <a:r>
              <a:rPr lang="en-US" altLang="zh-CN" sz="2800" dirty="0">
                <a:latin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</a:rPr>
              <a:t>字节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Numeric</a:t>
            </a:r>
            <a:r>
              <a:rPr lang="en-US" altLang="zh-CN" sz="3200" dirty="0">
                <a:latin typeface="Arial" panose="020B0604020202020204" pitchFamily="34" charset="0"/>
              </a:rPr>
              <a:t>(p,q)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定点数，总长度为</a:t>
            </a:r>
            <a:r>
              <a:rPr lang="en-US" altLang="zh-CN" sz="2800" dirty="0">
                <a:latin typeface="Arial" panose="020B0604020202020204" pitchFamily="34" charset="0"/>
              </a:rPr>
              <a:t>p</a:t>
            </a:r>
            <a:r>
              <a:rPr lang="zh-CN" altLang="en-US" sz="2800" dirty="0">
                <a:latin typeface="Arial" panose="020B0604020202020204" pitchFamily="34" charset="0"/>
              </a:rPr>
              <a:t>，小数后为</a:t>
            </a:r>
            <a:r>
              <a:rPr lang="en-US" altLang="zh-CN" sz="2800" dirty="0">
                <a:latin typeface="Arial" panose="020B0604020202020204" pitchFamily="34" charset="0"/>
              </a:rPr>
              <a:t>q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Real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浮点数， </a:t>
            </a:r>
            <a:r>
              <a:rPr lang="en-US" altLang="zh-CN" sz="2800" dirty="0">
                <a:latin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</a:rPr>
              <a:t>字节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Date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日期型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>
              <a:lnSpc>
                <a:spcPts val="4000"/>
              </a:lnSpc>
              <a:spcBef>
                <a:spcPct val="15000"/>
              </a:spcBef>
              <a:buClr>
                <a:srgbClr val="CC3300"/>
              </a:buClr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Time</a:t>
            </a:r>
            <a:r>
              <a:rPr lang="zh-CN" altLang="en-US" sz="3200" dirty="0"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时间型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a) SQL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基本数据类型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8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b)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完整性约束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4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1167130" lvl="1" indent="-457200" algn="l">
              <a:lnSpc>
                <a:spcPct val="145000"/>
              </a:lnSpc>
            </a:pPr>
            <a:r>
              <a:rPr lang="zh-CN" altLang="en-US" sz="3600" dirty="0">
                <a:latin typeface="Arial" panose="020B0604020202020204" pitchFamily="34" charset="0"/>
                <a:cs typeface="+mn-ea"/>
              </a:rPr>
              <a:t>实体完整性定义</a:t>
            </a:r>
            <a:endParaRPr lang="zh-CN" altLang="en-US" sz="3600" dirty="0">
              <a:latin typeface="Arial" panose="020B0604020202020204" pitchFamily="34" charset="0"/>
              <a:cs typeface="+mn-ea"/>
            </a:endParaRPr>
          </a:p>
          <a:p>
            <a:pPr marL="1167130" lvl="1" indent="-457200">
              <a:lnSpc>
                <a:spcPct val="145000"/>
              </a:lnSpc>
              <a:spcBef>
                <a:spcPct val="0"/>
              </a:spcBef>
            </a:pPr>
            <a:r>
              <a:rPr lang="zh-CN" altLang="en-US" sz="3600" dirty="0">
                <a:latin typeface="Arial" panose="020B0604020202020204" pitchFamily="34" charset="0"/>
              </a:rPr>
              <a:t>参照完整性定义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marL="1167130" lvl="1" indent="-457200">
              <a:lnSpc>
                <a:spcPct val="145000"/>
              </a:lnSpc>
              <a:spcBef>
                <a:spcPct val="0"/>
              </a:spcBef>
            </a:pPr>
            <a:r>
              <a:rPr lang="zh-CN" altLang="en-US" sz="3600" dirty="0">
                <a:latin typeface="Arial" panose="020B0604020202020204" pitchFamily="34" charset="0"/>
              </a:rPr>
              <a:t>用户定义完整性定义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实体完整性定义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152400" y="871855"/>
            <a:ext cx="8690610" cy="5652770"/>
          </a:xfrm>
        </p:spPr>
        <p:txBody>
          <a:bodyPr vert="horz" wrap="square" lIns="91440" tIns="45720" rIns="91440" bIns="45720" anchor="t" anchorCtr="0"/>
          <a:p>
            <a:pPr algn="l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定义为列级约束条件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格式：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CREATE TABLE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表名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(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	   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数据类型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</a:t>
            </a:r>
            <a:r>
              <a:rPr lang="en-US" altLang="zh-CN" sz="3200" dirty="0">
                <a:latin typeface="Arial" panose="020B0604020202020204" pitchFamily="34" charset="0"/>
              </a:rPr>
              <a:t>[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列级完整性约束条件</a:t>
            </a:r>
            <a:r>
              <a:rPr lang="en-US" altLang="zh-CN" sz="3200" dirty="0">
                <a:latin typeface="Arial" panose="020B0604020202020204" pitchFamily="34" charset="0"/>
              </a:rPr>
              <a:t>]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... )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举例：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Sno CHAR(6)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PRIMARY KEY 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实体完整性定义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2467" name="Rectangle 3"/>
          <p:cNvSpPr>
            <a:spLocks noGrp="1"/>
          </p:cNvSpPr>
          <p:nvPr>
            <p:ph idx="1"/>
          </p:nvPr>
        </p:nvSpPr>
        <p:spPr>
          <a:xfrm>
            <a:off x="152400" y="871538"/>
            <a:ext cx="8848725" cy="5653087"/>
          </a:xfrm>
        </p:spPr>
        <p:txBody>
          <a:bodyPr vert="horz" wrap="square" lIns="91440" tIns="45720" rIns="91440" bIns="45720" anchor="t" anchorCtr="0"/>
          <a:p>
            <a:pPr algn="l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定义为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表级</a:t>
            </a:r>
            <a:r>
              <a:rPr lang="zh-CN" altLang="en-US" sz="3200" dirty="0">
                <a:latin typeface="Arial" panose="020B0604020202020204" pitchFamily="34" charset="0"/>
              </a:rPr>
              <a:t>约束条件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格式：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PRIMARY KEY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(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属性列列表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)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举例：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选课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SC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(Sno, Cno, Score)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ts val="18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PRIMARY KEY</a:t>
            </a:r>
            <a:r>
              <a:rPr lang="en-US" altLang="zh-CN" sz="3200" dirty="0">
                <a:latin typeface="Arial" panose="020B0604020202020204" pitchFamily="34" charset="0"/>
              </a:rPr>
              <a:t> ( Sno, Cno)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702468" name="AutoShape 4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459788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48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52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80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6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参照完整性定义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4499" name="Rectangle 3"/>
          <p:cNvSpPr>
            <a:spLocks noGrp="1"/>
          </p:cNvSpPr>
          <p:nvPr>
            <p:ph idx="1"/>
          </p:nvPr>
        </p:nvSpPr>
        <p:spPr>
          <a:xfrm>
            <a:off x="152400" y="871538"/>
            <a:ext cx="8777288" cy="5653087"/>
          </a:xfrm>
        </p:spPr>
        <p:txBody>
          <a:bodyPr vert="horz" wrap="square" lIns="91440" tIns="45720" rIns="91440" bIns="45720" anchor="t" anchorCtr="0"/>
          <a:p>
            <a:pPr marL="271780" indent="-271780" algn="l" defTabSz="987425">
              <a:lnSpc>
                <a:spcPct val="10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定义外键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1780" indent="-271780" defTabSz="987425"/>
            <a:r>
              <a:rPr lang="zh-CN" altLang="en-US" sz="3200" dirty="0">
                <a:latin typeface="Arial" panose="020B0604020202020204" pitchFamily="34" charset="0"/>
              </a:rPr>
              <a:t>语法：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FF3300"/>
                </a:solidFill>
                <a:latin typeface="Arial" panose="020B0604020202020204" pitchFamily="34" charset="0"/>
              </a:rPr>
              <a:t>FOREIGN KEY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 (&lt;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引用列列表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&gt;)</a:t>
            </a:r>
            <a:endParaRPr lang="en-US" altLang="zh-CN" sz="28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FF3300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  &lt;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被引用的表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&gt; (&lt;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被引用的列</a:t>
            </a: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</a:rPr>
              <a:t>&gt;)</a:t>
            </a:r>
            <a:endParaRPr lang="en-US" altLang="zh-CN" sz="28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举例：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</a:rPr>
              <a:t>SC</a:t>
            </a:r>
            <a:r>
              <a:rPr lang="zh-CN" altLang="en-US" sz="2800" dirty="0">
                <a:latin typeface="Arial" panose="020B0604020202020204" pitchFamily="34" charset="0"/>
              </a:rPr>
              <a:t>表定义中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FOREINGN  KEY</a:t>
            </a:r>
            <a:r>
              <a:rPr lang="en-US" altLang="zh-CN" sz="2800" dirty="0">
                <a:latin typeface="Arial" panose="020B0604020202020204" pitchFamily="34" charset="0"/>
              </a:rPr>
              <a:t> (Sno)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0033CC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</a:rPr>
              <a:t> (Sno)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271780" indent="-271780" defTabSz="987425">
              <a:spcBef>
                <a:spcPct val="35000"/>
              </a:spcBef>
              <a:buNone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FOREINGN  KEY</a:t>
            </a:r>
            <a:r>
              <a:rPr lang="en-US" altLang="zh-CN" sz="2800" dirty="0">
                <a:latin typeface="Arial" panose="020B0604020202020204" pitchFamily="34" charset="0"/>
              </a:rPr>
              <a:t> (Cno)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0033CC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dirty="0">
                <a:latin typeface="Arial" panose="020B0604020202020204" pitchFamily="34" charset="0"/>
              </a:rPr>
              <a:t> (Cno)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271780" indent="-271780" defTabSz="987425">
              <a:lnSpc>
                <a:spcPct val="110000"/>
              </a:lnSpc>
              <a:buNone/>
            </a:pPr>
            <a:endParaRPr lang="en-US" altLang="zh-CN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charRg st="7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charRg st="8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charRg st="124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826" name="Rectangle 2"/>
          <p:cNvSpPr>
            <a:spLocks noGrp="1"/>
          </p:cNvSpPr>
          <p:nvPr>
            <p:ph idx="1"/>
          </p:nvPr>
        </p:nvSpPr>
        <p:spPr>
          <a:xfrm>
            <a:off x="179705" y="3248025"/>
            <a:ext cx="8856345" cy="343916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对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表的</a:t>
            </a:r>
            <a:r>
              <a:rPr lang="zh-CN" altLang="en-US" sz="3200" u="sng" dirty="0">
                <a:latin typeface="Arial" panose="020B0604020202020204" pitchFamily="34" charset="0"/>
              </a:rPr>
              <a:t>更新操作</a:t>
            </a:r>
            <a:r>
              <a:rPr lang="zh-CN" altLang="en-US" sz="3200" dirty="0">
                <a:latin typeface="Arial" panose="020B0604020202020204" pitchFamily="34" charset="0"/>
              </a:rPr>
              <a:t>时可能破坏参照完整性，例</a:t>
            </a:r>
            <a:r>
              <a:rPr lang="en-US" altLang="zh-CN" sz="3200" dirty="0">
                <a:latin typeface="Arial" panose="020B0604020202020204" pitchFamily="34" charset="0"/>
              </a:rPr>
              <a:t>: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删除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表的一个元组后，造成在</a:t>
            </a:r>
            <a:r>
              <a:rPr lang="en-US" altLang="zh-CN" sz="3200" dirty="0">
                <a:latin typeface="Arial" panose="020B0604020202020204" pitchFamily="34" charset="0"/>
              </a:rPr>
              <a:t>SC</a:t>
            </a:r>
            <a:r>
              <a:rPr lang="zh-CN" altLang="en-US" sz="3200" dirty="0">
                <a:latin typeface="Arial" panose="020B0604020202020204" pitchFamily="34" charset="0"/>
              </a:rPr>
              <a:t>表中某些元组的</a:t>
            </a:r>
            <a:r>
              <a:rPr lang="en-US" altLang="zh-CN" sz="3200" dirty="0">
                <a:latin typeface="Arial" panose="020B0604020202020204" pitchFamily="34" charset="0"/>
              </a:rPr>
              <a:t>Sno</a:t>
            </a:r>
            <a:r>
              <a:rPr lang="zh-CN" altLang="en-US" sz="3200" dirty="0">
                <a:latin typeface="Arial" panose="020B0604020202020204" pitchFamily="34" charset="0"/>
              </a:rPr>
              <a:t>的值在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表中找不到与其对应的值；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修改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表的一个元组的</a:t>
            </a:r>
            <a:r>
              <a:rPr lang="en-US" altLang="zh-CN" sz="3200" dirty="0">
                <a:latin typeface="Arial" panose="020B0604020202020204" pitchFamily="34" charset="0"/>
              </a:rPr>
              <a:t>Sno</a:t>
            </a:r>
            <a:r>
              <a:rPr lang="zh-CN" altLang="en-US" sz="3200" dirty="0">
                <a:latin typeface="Arial" panose="020B0604020202020204" pitchFamily="34" charset="0"/>
              </a:rPr>
              <a:t>的值后，造成在</a:t>
            </a:r>
            <a:r>
              <a:rPr lang="en-US" altLang="zh-CN" sz="3200" dirty="0">
                <a:latin typeface="Arial" panose="020B0604020202020204" pitchFamily="34" charset="0"/>
              </a:rPr>
              <a:t>SC</a:t>
            </a:r>
            <a:r>
              <a:rPr lang="zh-CN" altLang="en-US" sz="3200" dirty="0">
                <a:latin typeface="Arial" panose="020B0604020202020204" pitchFamily="34" charset="0"/>
              </a:rPr>
              <a:t>表中某些元组的</a:t>
            </a:r>
            <a:r>
              <a:rPr lang="en-US" altLang="zh-CN" sz="3200" dirty="0">
                <a:latin typeface="Arial" panose="020B0604020202020204" pitchFamily="34" charset="0"/>
              </a:rPr>
              <a:t>Sno</a:t>
            </a:r>
            <a:r>
              <a:rPr lang="zh-CN" altLang="en-US" sz="3200" dirty="0">
                <a:latin typeface="Arial" panose="020B0604020202020204" pitchFamily="34" charset="0"/>
              </a:rPr>
              <a:t>的值在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表中找不到与其对应的值；</a:t>
            </a:r>
            <a:endParaRPr lang="zh-CN" altLang="en-US" sz="3200" dirty="0">
              <a:latin typeface="Arial" panose="020B0604020202020204" pitchFamily="34" charset="0"/>
            </a:endParaRPr>
          </a:p>
          <a:p>
            <a:endParaRPr lang="zh-CN" altLang="en-US" sz="3200" dirty="0">
              <a:latin typeface="Arial" panose="020B0604020202020204" pitchFamily="34" charset="0"/>
            </a:endParaRPr>
          </a:p>
        </p:txBody>
      </p:sp>
      <p:graphicFrame>
        <p:nvGraphicFramePr>
          <p:cNvPr id="717828" name="Group 4"/>
          <p:cNvGraphicFramePr>
            <a:graphicFrameLocks noGrp="1"/>
          </p:cNvGraphicFramePr>
          <p:nvPr/>
        </p:nvGraphicFramePr>
        <p:xfrm>
          <a:off x="971550" y="2459038"/>
          <a:ext cx="6913563" cy="431800"/>
        </p:xfrm>
        <a:graphic>
          <a:graphicData uri="http://schemas.openxmlformats.org/drawingml/2006/table">
            <a:tbl>
              <a:tblPr/>
              <a:tblGrid>
                <a:gridCol w="1412875"/>
                <a:gridCol w="1395413"/>
                <a:gridCol w="1441450"/>
                <a:gridCol w="1295400"/>
                <a:gridCol w="13684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Sdept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072" name="Text Box 20"/>
          <p:cNvSpPr txBox="1"/>
          <p:nvPr/>
        </p:nvSpPr>
        <p:spPr>
          <a:xfrm>
            <a:off x="1044575" y="1916113"/>
            <a:ext cx="11318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17845" name="Group 21"/>
          <p:cNvGraphicFramePr>
            <a:graphicFrameLocks noGrp="1"/>
          </p:cNvGraphicFramePr>
          <p:nvPr/>
        </p:nvGraphicFramePr>
        <p:xfrm>
          <a:off x="539750" y="1360488"/>
          <a:ext cx="4319588" cy="431800"/>
        </p:xfrm>
        <a:graphic>
          <a:graphicData uri="http://schemas.openxmlformats.org/drawingml/2006/table">
            <a:tbl>
              <a:tblPr/>
              <a:tblGrid>
                <a:gridCol w="1439863"/>
                <a:gridCol w="1512887"/>
                <a:gridCol w="13668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Cname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Hour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083" name="Text Box 33"/>
          <p:cNvSpPr txBox="1"/>
          <p:nvPr/>
        </p:nvSpPr>
        <p:spPr>
          <a:xfrm>
            <a:off x="612775" y="836613"/>
            <a:ext cx="1152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17858" name="Group 34"/>
          <p:cNvGraphicFramePr>
            <a:graphicFrameLocks noGrp="1"/>
          </p:cNvGraphicFramePr>
          <p:nvPr/>
        </p:nvGraphicFramePr>
        <p:xfrm>
          <a:off x="5291138" y="841375"/>
          <a:ext cx="3744913" cy="431800"/>
        </p:xfrm>
        <a:graphic>
          <a:graphicData uri="http://schemas.openxmlformats.org/drawingml/2006/table">
            <a:tbl>
              <a:tblPr/>
              <a:tblGrid>
                <a:gridCol w="1006475"/>
                <a:gridCol w="1341437"/>
                <a:gridCol w="13970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094" name="Text Box 46"/>
          <p:cNvSpPr txBox="1"/>
          <p:nvPr/>
        </p:nvSpPr>
        <p:spPr>
          <a:xfrm>
            <a:off x="5364163" y="260350"/>
            <a:ext cx="1392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SC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17871" name="Line 47"/>
          <p:cNvSpPr/>
          <p:nvPr/>
        </p:nvSpPr>
        <p:spPr>
          <a:xfrm flipH="1">
            <a:off x="2124075" y="1196975"/>
            <a:ext cx="3743325" cy="1368425"/>
          </a:xfrm>
          <a:prstGeom prst="line">
            <a:avLst/>
          </a:prstGeom>
          <a:ln w="57150" cap="flat" cmpd="sng">
            <a:solidFill>
              <a:srgbClr val="FF3300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717872" name="Line 48"/>
          <p:cNvSpPr/>
          <p:nvPr/>
        </p:nvSpPr>
        <p:spPr>
          <a:xfrm flipH="1">
            <a:off x="1763713" y="908050"/>
            <a:ext cx="4968875" cy="576263"/>
          </a:xfrm>
          <a:prstGeom prst="line">
            <a:avLst/>
          </a:prstGeom>
          <a:ln w="57150" cap="flat" cmpd="sng">
            <a:solidFill>
              <a:srgbClr val="FF3300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717873" name="Rectangle 49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参照完整性定义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1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1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>
                                            <p:txEl>
                                              <p:charRg st="2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6">
                                            <p:txEl>
                                              <p:charRg st="65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6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参照完整性定义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138113" y="836613"/>
            <a:ext cx="8891587" cy="5653087"/>
          </a:xfrm>
        </p:spPr>
        <p:txBody>
          <a:bodyPr vert="horz" wrap="square" lIns="91440" tIns="45720" rIns="91440" bIns="45720" anchor="t" anchorCtr="0"/>
          <a:p>
            <a:pPr marL="176530" indent="-176530" defTabSz="987425"/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语法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176530" indent="-176530" defTabSz="987425"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FOREIGN KEY (&lt;</a:t>
            </a:r>
            <a:r>
              <a:rPr lang="zh-CN" altLang="en-US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引用列列表</a:t>
            </a:r>
            <a:r>
              <a:rPr lang="en-US" altLang="zh-CN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&gt;)</a:t>
            </a:r>
            <a:endParaRPr lang="en-US" altLang="zh-CN" sz="3200" dirty="0">
              <a:solidFill>
                <a:srgbClr val="002060"/>
              </a:solidFill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176530" indent="-176530" defTabSz="987425">
              <a:buNone/>
            </a:pPr>
            <a:r>
              <a:rPr lang="en-US" altLang="zh-CN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 REFERENCES  &lt;</a:t>
            </a:r>
            <a:r>
              <a:rPr lang="zh-CN" altLang="en-US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被引用的表</a:t>
            </a:r>
            <a:r>
              <a:rPr lang="en-US" altLang="zh-CN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&gt; (&lt;</a:t>
            </a:r>
            <a:r>
              <a:rPr lang="zh-CN" altLang="en-US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被引用的列</a:t>
            </a:r>
            <a:r>
              <a:rPr lang="en-US" altLang="zh-CN" sz="3200" dirty="0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&gt;)</a:t>
            </a:r>
            <a:endParaRPr lang="en-US" altLang="zh-CN" sz="3200" dirty="0">
              <a:solidFill>
                <a:srgbClr val="002060"/>
              </a:solidFill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1540510" indent="-665480" defTabSz="987425">
              <a:buNone/>
              <a:tabLst>
                <a:tab pos="1522095" algn="l"/>
                <a:tab pos="1969770" algn="l"/>
              </a:tabLst>
            </a:pPr>
            <a:r>
              <a:rPr lang="en-US" altLang="zh-CN" sz="3200" b="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ON  DELETE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删除时动作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1540510" indent="-665480" defTabSz="987425">
              <a:buNone/>
              <a:tabLst>
                <a:tab pos="1522095" algn="l"/>
                <a:tab pos="1969770" algn="l"/>
              </a:tabLst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ON  UPDATE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更新时动作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176530" indent="-176530" defTabSz="987425">
              <a:spcBef>
                <a:spcPct val="35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其中，删除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更新时动作包括：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625475" lvl="1" defTabSz="987425"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CASCADE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：级联处理</a:t>
            </a:r>
            <a:endParaRPr lang="zh-CN" altLang="en-US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625475" lvl="1" defTabSz="987425"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NO ACTION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：拒绝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缺省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625475" lvl="1" defTabSz="987425"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SET NULL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：置空</a:t>
            </a:r>
            <a:endParaRPr lang="zh-CN" altLang="en-US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  <a:p>
            <a:pPr marL="625475" lvl="1" defTabSz="987425">
              <a:spcBef>
                <a:spcPct val="0"/>
              </a:spcBef>
            </a:pP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SET DEFAULT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2" charset="-122"/>
                <a:cs typeface="Arial" panose="020B0604020202020204" pitchFamily="34" charset="0"/>
              </a:rPr>
              <a:t>：置为缺省值</a:t>
            </a:r>
            <a:endParaRPr lang="zh-CN" altLang="en-US" dirty="0">
              <a:latin typeface="Arial" panose="020B0604020202020204" pitchFamily="34" charset="0"/>
              <a:ea typeface="黑体" panose="0201060906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idx="1"/>
          </p:nvPr>
        </p:nvSpPr>
        <p:spPr>
          <a:xfrm>
            <a:off x="323850" y="3248025"/>
            <a:ext cx="8569325" cy="3205163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</a:rPr>
              <a:t>SC</a:t>
            </a:r>
            <a:r>
              <a:rPr lang="zh-CN" altLang="en-US" sz="3200" dirty="0">
                <a:latin typeface="Arial" panose="020B0604020202020204" pitchFamily="34" charset="0"/>
              </a:rPr>
              <a:t>表定义中有如下语句：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FOREINGN  KEY</a:t>
            </a:r>
            <a:r>
              <a:rPr lang="en-US" altLang="zh-CN" sz="2800" dirty="0">
                <a:latin typeface="Arial" panose="020B0604020202020204" pitchFamily="34" charset="0"/>
              </a:rPr>
              <a:t> (Sno)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0033CC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</a:rPr>
              <a:t> (Sno)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</a:rPr>
              <a:t>ON  DELETE  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CASCADE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6633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</a:rPr>
              <a:t>ON  UPDATE 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CASCADE</a:t>
            </a:r>
            <a:r>
              <a:rPr lang="zh-CN" altLang="en-US" sz="2800" dirty="0">
                <a:solidFill>
                  <a:srgbClr val="663300"/>
                </a:solidFill>
                <a:latin typeface="Arial" panose="020B0604020202020204" pitchFamily="34" charset="0"/>
              </a:rPr>
              <a:t>，</a:t>
            </a:r>
            <a:endParaRPr lang="zh-CN" altLang="en-US" sz="28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FOREINGN  KEY</a:t>
            </a:r>
            <a:r>
              <a:rPr lang="en-US" altLang="zh-CN" sz="2800" dirty="0">
                <a:latin typeface="Arial" panose="020B0604020202020204" pitchFamily="34" charset="0"/>
              </a:rPr>
              <a:t> (Cno)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rgbClr val="0033CC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dirty="0">
                <a:latin typeface="Arial" panose="020B0604020202020204" pitchFamily="34" charset="0"/>
              </a:rPr>
              <a:t> (Cno)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</a:rPr>
              <a:t>ON  DELETE  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CASCADE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2800" dirty="0">
                <a:solidFill>
                  <a:srgbClr val="6633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solidFill>
                  <a:srgbClr val="002060"/>
                </a:solidFill>
                <a:latin typeface="Arial" panose="020B0604020202020204" pitchFamily="34" charset="0"/>
              </a:rPr>
              <a:t>ON  UPDATE 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CASCADE</a:t>
            </a:r>
            <a:r>
              <a:rPr lang="zh-CN" altLang="en-US" sz="2800" dirty="0">
                <a:solidFill>
                  <a:srgbClr val="663300"/>
                </a:solidFill>
                <a:latin typeface="Arial" panose="020B0604020202020204" pitchFamily="34" charset="0"/>
              </a:rPr>
              <a:t>，</a:t>
            </a:r>
            <a:endParaRPr lang="zh-CN" altLang="en-US" sz="28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716803" name="AutoShape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459788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6804" name="Group 4"/>
          <p:cNvGraphicFramePr>
            <a:graphicFrameLocks noGrp="1"/>
          </p:cNvGraphicFramePr>
          <p:nvPr/>
        </p:nvGraphicFramePr>
        <p:xfrm>
          <a:off x="971550" y="2459038"/>
          <a:ext cx="6913563" cy="431800"/>
        </p:xfrm>
        <a:graphic>
          <a:graphicData uri="http://schemas.openxmlformats.org/drawingml/2006/table">
            <a:tbl>
              <a:tblPr/>
              <a:tblGrid>
                <a:gridCol w="1412875"/>
                <a:gridCol w="1395413"/>
                <a:gridCol w="1441450"/>
                <a:gridCol w="1295400"/>
                <a:gridCol w="13684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Sdept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145" name="Text Box 20"/>
          <p:cNvSpPr txBox="1"/>
          <p:nvPr/>
        </p:nvSpPr>
        <p:spPr>
          <a:xfrm>
            <a:off x="1044575" y="1916113"/>
            <a:ext cx="11318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16821" name="Group 21"/>
          <p:cNvGraphicFramePr>
            <a:graphicFrameLocks noGrp="1"/>
          </p:cNvGraphicFramePr>
          <p:nvPr/>
        </p:nvGraphicFramePr>
        <p:xfrm>
          <a:off x="539750" y="1360488"/>
          <a:ext cx="4319588" cy="431800"/>
        </p:xfrm>
        <a:graphic>
          <a:graphicData uri="http://schemas.openxmlformats.org/drawingml/2006/table">
            <a:tbl>
              <a:tblPr/>
              <a:tblGrid>
                <a:gridCol w="1439863"/>
                <a:gridCol w="1512887"/>
                <a:gridCol w="13668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Cname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Hour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156" name="Text Box 33"/>
          <p:cNvSpPr txBox="1"/>
          <p:nvPr/>
        </p:nvSpPr>
        <p:spPr>
          <a:xfrm>
            <a:off x="612775" y="836613"/>
            <a:ext cx="1152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716834" name="Group 34"/>
          <p:cNvGraphicFramePr>
            <a:graphicFrameLocks noGrp="1"/>
          </p:cNvGraphicFramePr>
          <p:nvPr/>
        </p:nvGraphicFramePr>
        <p:xfrm>
          <a:off x="5291138" y="841375"/>
          <a:ext cx="3744913" cy="431800"/>
        </p:xfrm>
        <a:graphic>
          <a:graphicData uri="http://schemas.openxmlformats.org/drawingml/2006/table">
            <a:tbl>
              <a:tblPr/>
              <a:tblGrid>
                <a:gridCol w="1006475"/>
                <a:gridCol w="1341437"/>
                <a:gridCol w="13970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167" name="Text Box 46"/>
          <p:cNvSpPr txBox="1"/>
          <p:nvPr/>
        </p:nvSpPr>
        <p:spPr>
          <a:xfrm>
            <a:off x="5364163" y="260350"/>
            <a:ext cx="1392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关系</a:t>
            </a:r>
            <a:r>
              <a:rPr lang="en-US" altLang="zh-CN" sz="2800" b="1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SC</a:t>
            </a:r>
            <a:endParaRPr lang="en-US" altLang="zh-CN" sz="2800" b="1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48168" name="Line 47"/>
          <p:cNvSpPr/>
          <p:nvPr/>
        </p:nvSpPr>
        <p:spPr>
          <a:xfrm flipH="1">
            <a:off x="2124075" y="1196975"/>
            <a:ext cx="3743325" cy="1368425"/>
          </a:xfrm>
          <a:prstGeom prst="line">
            <a:avLst/>
          </a:prstGeom>
          <a:ln w="57150" cap="flat" cmpd="sng">
            <a:solidFill>
              <a:srgbClr val="FF3300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48169" name="Line 48"/>
          <p:cNvSpPr/>
          <p:nvPr/>
        </p:nvSpPr>
        <p:spPr>
          <a:xfrm flipH="1">
            <a:off x="1763713" y="908050"/>
            <a:ext cx="4968875" cy="576263"/>
          </a:xfrm>
          <a:prstGeom prst="line">
            <a:avLst/>
          </a:prstGeom>
          <a:ln w="57150" cap="flat" cmpd="sng">
            <a:solidFill>
              <a:srgbClr val="FF3300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716849" name="Rectangle 49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参照完整性定义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用户定义完整性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152400" y="836613"/>
            <a:ext cx="8848725" cy="5832475"/>
          </a:xfrm>
        </p:spPr>
        <p:txBody>
          <a:bodyPr vert="horz" wrap="square" lIns="91440" tIns="45720" rIns="91440" bIns="45720" anchor="t" anchorCtr="0"/>
          <a:p>
            <a:pPr algn="l" latinLnBrk="0">
              <a:lnSpc>
                <a:spcPts val="416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属性上(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  <a:cs typeface="+mn-ea"/>
              </a:rPr>
              <a:t>列级</a:t>
            </a:r>
            <a:r>
              <a:rPr lang="zh-CN" altLang="en-US" sz="3200" dirty="0">
                <a:latin typeface="Arial" panose="020B0604020202020204" pitchFamily="34" charset="0"/>
              </a:rPr>
              <a:t>) 约束条件的定义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16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列级约束的种类：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vl="1" latinLnBrk="0">
              <a:lnSpc>
                <a:spcPts val="4160"/>
              </a:lnSpc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NOT  NULL</a:t>
            </a:r>
            <a:r>
              <a:rPr lang="zh-CN" altLang="en-US" sz="3200" dirty="0">
                <a:latin typeface="Arial" panose="020B0604020202020204" pitchFamily="34" charset="0"/>
              </a:rPr>
              <a:t>：指明字段是否为非空</a:t>
            </a:r>
            <a:endParaRPr lang="en-US" altLang="zh-CN" sz="3200" dirty="0">
              <a:solidFill>
                <a:srgbClr val="0033CC"/>
              </a:solidFill>
              <a:latin typeface="Arial" panose="020B0604020202020204" pitchFamily="34" charset="0"/>
              <a:cs typeface="+mn-ea"/>
            </a:endParaRPr>
          </a:p>
          <a:p>
            <a:pPr lvl="1" latinLnBrk="0">
              <a:lnSpc>
                <a:spcPts val="4160"/>
              </a:lnSpc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UNIQUE</a:t>
            </a:r>
            <a:r>
              <a:rPr lang="zh-CN" altLang="en-US" sz="3200" dirty="0">
                <a:latin typeface="Arial" panose="020B0604020202020204" pitchFamily="34" charset="0"/>
              </a:rPr>
              <a:t>：该字段不能包含重复值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空除外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latinLnBrk="0">
              <a:lnSpc>
                <a:spcPts val="4160"/>
              </a:lnSpc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DEFAULT</a:t>
            </a:r>
            <a:r>
              <a:rPr lang="en-US" altLang="zh-CN" sz="3200" dirty="0"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latin typeface="Arial" panose="020B0604020202020204" pitchFamily="34" charset="0"/>
              </a:rPr>
              <a:t>缺省值</a:t>
            </a:r>
            <a:r>
              <a:rPr lang="en-US" altLang="zh-CN" sz="3200" dirty="0">
                <a:latin typeface="Arial" panose="020B0604020202020204" pitchFamily="34" charset="0"/>
              </a:rPr>
              <a:t>&gt;</a:t>
            </a:r>
            <a:r>
              <a:rPr lang="zh-CN" altLang="en-US" sz="3200" dirty="0">
                <a:latin typeface="Arial" panose="020B0604020202020204" pitchFamily="34" charset="0"/>
              </a:rPr>
              <a:t>：指定该字段的缺省值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vl="1" latinLnBrk="0">
              <a:lnSpc>
                <a:spcPts val="4160"/>
              </a:lnSpc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CHECK</a:t>
            </a:r>
            <a:r>
              <a:rPr lang="zh-CN" altLang="en-US" sz="3200" dirty="0">
                <a:latin typeface="Arial" panose="020B0604020202020204" pitchFamily="34" charset="0"/>
              </a:rPr>
              <a:t>： 该字段应满足的条件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160"/>
              </a:lnSpc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举例：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160"/>
              </a:lnSpc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    </a:t>
            </a:r>
            <a:r>
              <a:rPr lang="en-US" altLang="zh-CN" sz="2800" dirty="0">
                <a:latin typeface="Arial" panose="020B0604020202020204" pitchFamily="34" charset="0"/>
              </a:rPr>
              <a:t>Ssex CHAR (2)  </a:t>
            </a:r>
            <a:r>
              <a:rPr lang="en-US" altLang="zh-CN" sz="2800" dirty="0">
                <a:solidFill>
                  <a:srgbClr val="CC3300"/>
                </a:solidFill>
                <a:latin typeface="Arial" panose="020B0604020202020204" pitchFamily="34" charset="0"/>
              </a:rPr>
              <a:t>DEFAULT  ‘</a:t>
            </a:r>
            <a:r>
              <a:rPr lang="zh-CN" altLang="en-US" sz="2800" dirty="0">
                <a:solidFill>
                  <a:srgbClr val="CC3300"/>
                </a:solidFill>
                <a:latin typeface="Arial" panose="020B0604020202020204" pitchFamily="34" charset="0"/>
              </a:rPr>
              <a:t>男’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latinLnBrk="0">
              <a:lnSpc>
                <a:spcPts val="4160"/>
              </a:lnSpc>
              <a:spcBef>
                <a:spcPts val="600"/>
              </a:spcBef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    </a:t>
            </a:r>
            <a:r>
              <a:rPr lang="en-US" altLang="zh-CN" sz="2800" dirty="0">
                <a:latin typeface="Arial" panose="020B0604020202020204" pitchFamily="34" charset="0"/>
              </a:rPr>
              <a:t>Ssex CHAR (2)  </a:t>
            </a:r>
            <a:r>
              <a:rPr lang="en-US" altLang="zh-CN" sz="2800" dirty="0">
                <a:solidFill>
                  <a:srgbClr val="CC3300"/>
                </a:solidFill>
                <a:latin typeface="Arial" panose="020B0604020202020204" pitchFamily="34" charset="0"/>
              </a:rPr>
              <a:t>CHECK( Ssex IN ( ‘</a:t>
            </a:r>
            <a:r>
              <a:rPr lang="zh-CN" altLang="en-US" sz="2800" dirty="0">
                <a:solidFill>
                  <a:srgbClr val="CC3300"/>
                </a:solidFill>
                <a:latin typeface="Arial" panose="020B0604020202020204" pitchFamily="34" charset="0"/>
              </a:rPr>
              <a:t>男</a:t>
            </a:r>
            <a:r>
              <a:rPr lang="en-US" altLang="zh-CN" sz="2800" dirty="0">
                <a:solidFill>
                  <a:srgbClr val="CC3300"/>
                </a:solidFill>
                <a:latin typeface="Arial" panose="020B0604020202020204" pitchFamily="34" charset="0"/>
              </a:rPr>
              <a:t>’ , ‘</a:t>
            </a:r>
            <a:r>
              <a:rPr lang="zh-CN" altLang="en-US" sz="2800" dirty="0">
                <a:solidFill>
                  <a:srgbClr val="CC3300"/>
                </a:solidFill>
                <a:latin typeface="Arial" panose="020B0604020202020204" pitchFamily="34" charset="0"/>
              </a:rPr>
              <a:t>女</a:t>
            </a:r>
            <a:r>
              <a:rPr lang="en-US" altLang="zh-CN" sz="2800" dirty="0">
                <a:solidFill>
                  <a:srgbClr val="CC3300"/>
                </a:solidFill>
                <a:latin typeface="Arial" panose="020B0604020202020204" pitchFamily="34" charset="0"/>
              </a:rPr>
              <a:t>’ ) )</a:t>
            </a:r>
            <a:endParaRPr lang="en-US" altLang="zh-CN" sz="2800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endParaRPr lang="en-US" altLang="zh-CN" sz="3200" dirty="0">
              <a:latin typeface="Arial" panose="020B0604020202020204" pitchFamily="34" charset="0"/>
              <a:ea typeface="Courier New" panose="02070309020205020404" pitchFamily="49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用户定义完整性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7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</a:rPr>
              <a:t>元组上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表级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 约束条件的定义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格式：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CHECK  (&lt;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约束条件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&gt;)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Arial" panose="020B0604020202020204" pitchFamily="34" charset="0"/>
              </a:rPr>
              <a:t>其中：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zh-CN" altLang="en-US" dirty="0"/>
              <a:t>约束条件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zh-CN" altLang="en-US" dirty="0">
                <a:solidFill>
                  <a:srgbClr val="FF3300"/>
                </a:solidFill>
              </a:rPr>
              <a:t>表</a:t>
            </a:r>
            <a:r>
              <a:rPr lang="zh-CN" altLang="en-US" dirty="0"/>
              <a:t>应满足的条件</a:t>
            </a:r>
            <a:endParaRPr lang="zh-CN" altLang="en-US" dirty="0"/>
          </a:p>
          <a:p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举例：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spcBef>
                <a:spcPct val="25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latin typeface="Arial" panose="020B0604020202020204" pitchFamily="34" charset="0"/>
              </a:rPr>
              <a:t>CHECK ( 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Ssex IN ( ‘</a:t>
            </a:r>
            <a:r>
              <a:rPr lang="zh-CN" altLang="en-US" sz="3200" dirty="0">
                <a:latin typeface="Arial" panose="020B0604020202020204" pitchFamily="34" charset="0"/>
              </a:rPr>
              <a:t>男</a:t>
            </a:r>
            <a:r>
              <a:rPr lang="en-US" altLang="zh-CN" sz="3200" dirty="0">
                <a:latin typeface="Arial" panose="020B0604020202020204" pitchFamily="34" charset="0"/>
              </a:rPr>
              <a:t>’ , ‘</a:t>
            </a:r>
            <a:r>
              <a:rPr lang="zh-CN" altLang="en-US" sz="3200" dirty="0">
                <a:latin typeface="Arial" panose="020B0604020202020204" pitchFamily="34" charset="0"/>
              </a:rPr>
              <a:t>女</a:t>
            </a:r>
            <a:r>
              <a:rPr lang="en-US" altLang="zh-CN" sz="3200" dirty="0">
                <a:latin typeface="Arial" panose="020B0604020202020204" pitchFamily="34" charset="0"/>
              </a:rPr>
              <a:t>’ )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        Sage BETWEEN 15 AND 35 )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237573" name="AutoShape 5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459788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charRg st="6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charRg st="109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idx="1"/>
          </p:nvPr>
        </p:nvSpPr>
        <p:spPr>
          <a:xfrm>
            <a:off x="225425" y="981075"/>
            <a:ext cx="8667750" cy="527367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CREATE TABLE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(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Sno </a:t>
            </a:r>
            <a:r>
              <a:rPr lang="en-US" altLang="zh-CN" sz="3200" dirty="0">
                <a:latin typeface="Arial" panose="020B0604020202020204" pitchFamily="34" charset="0"/>
              </a:rPr>
              <a:t> CHAR(10)  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Sname</a:t>
            </a:r>
            <a:r>
              <a:rPr lang="en-US" altLang="zh-CN" sz="3200" dirty="0">
                <a:latin typeface="Arial" panose="020B0604020202020204" pitchFamily="34" charset="0"/>
              </a:rPr>
              <a:t>  CHAR(8)  </a:t>
            </a:r>
            <a:r>
              <a:rPr lang="en-US" altLang="zh-CN" sz="3200" dirty="0">
                <a:solidFill>
                  <a:srgbClr val="FF0066"/>
                </a:solidFill>
                <a:latin typeface="Arial" panose="020B0604020202020204" pitchFamily="34" charset="0"/>
              </a:rPr>
              <a:t>NOT NULL 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Sage </a:t>
            </a:r>
            <a:r>
              <a:rPr lang="en-US" altLang="zh-CN" sz="3200" dirty="0">
                <a:latin typeface="Arial" panose="020B0604020202020204" pitchFamily="34" charset="0"/>
              </a:rPr>
              <a:t> INT,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Ssex</a:t>
            </a:r>
            <a:r>
              <a:rPr lang="en-US" altLang="zh-CN" sz="3200" dirty="0">
                <a:latin typeface="Arial" panose="020B0604020202020204" pitchFamily="34" charset="0"/>
              </a:rPr>
              <a:t>  CHAR (2)</a:t>
            </a:r>
            <a:r>
              <a:rPr lang="en-US" altLang="zh-CN" sz="3200" dirty="0">
                <a:solidFill>
                  <a:srgbClr val="FF0066"/>
                </a:solidFill>
                <a:latin typeface="Arial" panose="020B0604020202020204" pitchFamily="34" charset="0"/>
              </a:rPr>
              <a:t>  DEFAULT ‘</a:t>
            </a:r>
            <a:r>
              <a:rPr lang="zh-CN" altLang="en-US" sz="3200" dirty="0">
                <a:solidFill>
                  <a:srgbClr val="FF0066"/>
                </a:solidFill>
                <a:latin typeface="Arial" panose="020B0604020202020204" pitchFamily="34" charset="0"/>
              </a:rPr>
              <a:t>男</a:t>
            </a:r>
            <a:r>
              <a:rPr lang="en-US" altLang="zh-CN" sz="3200" dirty="0">
                <a:solidFill>
                  <a:srgbClr val="FF0066"/>
                </a:solidFill>
                <a:latin typeface="Arial" panose="020B0604020202020204" pitchFamily="34" charset="0"/>
              </a:rPr>
              <a:t>’ 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800000"/>
                </a:solidFill>
                <a:latin typeface="Arial" panose="020B0604020202020204" pitchFamily="34" charset="0"/>
              </a:rPr>
              <a:t>PRIMARY  KEY (Sno) 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CC66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800000"/>
                </a:solidFill>
                <a:latin typeface="Arial" panose="020B0604020202020204" pitchFamily="34" charset="0"/>
              </a:rPr>
              <a:t>CHECK (Sage BETWEEN  15 AND 35) </a:t>
            </a:r>
            <a:r>
              <a:rPr lang="en-US" altLang="zh-CN" sz="3200" dirty="0">
                <a:latin typeface="Arial" panose="020B0604020202020204" pitchFamily="34" charset="0"/>
              </a:rPr>
              <a:t>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CREATE TABLE C</a:t>
            </a:r>
            <a:r>
              <a:rPr lang="en-US" altLang="zh-CN" sz="3200" dirty="0">
                <a:latin typeface="Arial" panose="020B0604020202020204" pitchFamily="34" charset="0"/>
              </a:rPr>
              <a:t> (</a:t>
            </a:r>
            <a:r>
              <a:rPr lang="en-US" altLang="zh-CN" sz="3200" dirty="0">
                <a:latin typeface="Arial" panose="020B0604020202020204" pitchFamily="34" charset="0"/>
                <a:ea typeface="Courier New" panose="02070309020205020404" pitchFamily="49" charset="0"/>
              </a:rPr>
              <a:t>……</a:t>
            </a:r>
            <a:r>
              <a:rPr lang="en-US" altLang="zh-CN" sz="3200" dirty="0">
                <a:latin typeface="Arial" panose="020B0604020202020204" pitchFamily="34" charset="0"/>
              </a:rPr>
              <a:t>);</a:t>
            </a:r>
            <a:endParaRPr lang="en-US" altLang="zh-CN" sz="3200" dirty="0">
              <a:latin typeface="Arial" panose="020B0604020202020204" pitchFamily="34" charset="0"/>
              <a:ea typeface="Courier New" panose="02070309020205020404" pitchFamily="49" charset="0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定义表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idx="1"/>
          </p:nvPr>
        </p:nvSpPr>
        <p:spPr>
          <a:xfrm>
            <a:off x="179388" y="981075"/>
            <a:ext cx="8740775" cy="5472113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CREATE TABLE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SC</a:t>
            </a:r>
            <a:r>
              <a:rPr lang="en-US" altLang="zh-CN" sz="3200" dirty="0">
                <a:latin typeface="Arial" panose="020B0604020202020204" pitchFamily="34" charset="0"/>
              </a:rPr>
              <a:t>  (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Sno</a:t>
            </a:r>
            <a:r>
              <a:rPr lang="en-US" altLang="zh-CN" sz="3200" dirty="0">
                <a:latin typeface="Arial" panose="020B0604020202020204" pitchFamily="34" charset="0"/>
              </a:rPr>
              <a:t> CHAR(10),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Cno</a:t>
            </a:r>
            <a:r>
              <a:rPr lang="en-US" altLang="zh-CN" sz="3200" dirty="0">
                <a:latin typeface="Arial" panose="020B0604020202020204" pitchFamily="34" charset="0"/>
              </a:rPr>
              <a:t> CHAR(6),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Score</a:t>
            </a:r>
            <a:r>
              <a:rPr lang="en-US" altLang="zh-CN" sz="3200" dirty="0">
                <a:latin typeface="Arial" panose="020B0604020202020204" pitchFamily="34" charset="0"/>
              </a:rPr>
              <a:t>  NUMERIC(4, 1)</a:t>
            </a:r>
            <a:r>
              <a:rPr lang="en-US" altLang="zh-CN" sz="3200" dirty="0">
                <a:solidFill>
                  <a:srgbClr val="FF0066"/>
                </a:solidFill>
                <a:latin typeface="Arial" panose="020B0604020202020204" pitchFamily="34" charset="0"/>
              </a:rPr>
              <a:t> DEFAULT NULL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indent="0">
              <a:lnSpc>
                <a:spcPct val="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PRIMARY KEY (Sno , Cno) </a:t>
            </a:r>
            <a:r>
              <a:rPr lang="en-US" altLang="zh-CN" sz="3200" dirty="0">
                <a:solidFill>
                  <a:schemeClr val="bg2"/>
                </a:solidFill>
                <a:latin typeface="Arial" panose="020B0604020202020204" pitchFamily="34" charset="0"/>
              </a:rPr>
              <a:t>,</a:t>
            </a:r>
            <a:endParaRPr lang="en-US" altLang="zh-CN" sz="32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    FOREIGN  KEY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(Sno)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S</a:t>
            </a:r>
            <a:endParaRPr lang="en-US" altLang="zh-CN" sz="3200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          ON  DELETE  </a:t>
            </a:r>
            <a:r>
              <a:rPr lang="en-US" altLang="zh-CN" sz="3200" dirty="0">
                <a:solidFill>
                  <a:srgbClr val="663300"/>
                </a:solidFill>
                <a:latin typeface="Arial" panose="020B0604020202020204" pitchFamily="34" charset="0"/>
              </a:rPr>
              <a:t>CASCADE</a:t>
            </a:r>
            <a:endParaRPr lang="en-US" altLang="zh-CN" sz="32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          ON  UPDATE  </a:t>
            </a:r>
            <a:r>
              <a:rPr lang="en-US" altLang="zh-CN" sz="3200" dirty="0">
                <a:solidFill>
                  <a:srgbClr val="663300"/>
                </a:solidFill>
                <a:latin typeface="Arial" panose="020B0604020202020204" pitchFamily="34" charset="0"/>
              </a:rPr>
              <a:t>CASCADE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bg2"/>
                </a:solidFill>
                <a:latin typeface="Arial" panose="020B0604020202020204" pitchFamily="34" charset="0"/>
              </a:rPr>
              <a:t>,</a:t>
            </a:r>
            <a:endParaRPr lang="en-US" altLang="zh-CN" sz="32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FOREIGN  KEY 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(Cno)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C</a:t>
            </a:r>
            <a:endParaRPr lang="en-US" altLang="zh-CN" sz="3200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          ON  DELETE  </a:t>
            </a:r>
            <a:r>
              <a:rPr lang="en-US" altLang="zh-CN" sz="3200" dirty="0">
                <a:solidFill>
                  <a:srgbClr val="663300"/>
                </a:solidFill>
                <a:latin typeface="Arial" panose="020B0604020202020204" pitchFamily="34" charset="0"/>
              </a:rPr>
              <a:t>CASCADE</a:t>
            </a:r>
            <a:endParaRPr lang="en-US" altLang="zh-CN" sz="32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           ON  UPDATE  </a:t>
            </a:r>
            <a:r>
              <a:rPr lang="en-US" altLang="zh-CN" sz="3200" dirty="0">
                <a:solidFill>
                  <a:srgbClr val="663300"/>
                </a:solidFill>
                <a:latin typeface="Arial" panose="020B0604020202020204" pitchFamily="34" charset="0"/>
              </a:rPr>
              <a:t>CASCADE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)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;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  <a:ea typeface="Courier New" panose="02070309020205020404" pitchFamily="49" charset="0"/>
            </a:endParaRPr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定义表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idx="1"/>
          </p:nvPr>
        </p:nvSpPr>
        <p:spPr>
          <a:xfrm>
            <a:off x="152400" y="836613"/>
            <a:ext cx="8812213" cy="5508625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基本语法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ALTER TABLE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表名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&gt;[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ADD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新列名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数据类型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&gt;[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完整性约束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] |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ALTER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数据类型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 |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DROP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完整性约束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 ]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25475" lvl="1" indent="-344170" algn="just"/>
            <a:r>
              <a:rPr lang="en-US" altLang="zh-CN" dirty="0">
                <a:latin typeface="Arial" panose="020B0604020202020204" pitchFamily="34" charset="0"/>
              </a:rPr>
              <a:t>ADD</a:t>
            </a:r>
            <a:r>
              <a:rPr lang="zh-CN" altLang="en-US" dirty="0">
                <a:latin typeface="Arial" panose="020B0604020202020204" pitchFamily="34" charset="0"/>
              </a:rPr>
              <a:t>子句：增加新列和新的完整性约束条件</a:t>
            </a:r>
            <a:endParaRPr lang="zh-CN" altLang="en-US" dirty="0">
              <a:latin typeface="Arial" panose="020B0604020202020204" pitchFamily="34" charset="0"/>
            </a:endParaRPr>
          </a:p>
          <a:p>
            <a:pPr marL="625475" lvl="1" indent="-344170" algn="just"/>
            <a:r>
              <a:rPr lang="en-US" altLang="zh-CN" dirty="0">
                <a:latin typeface="Arial" panose="020B0604020202020204" pitchFamily="34" charset="0"/>
              </a:rPr>
              <a:t>ALTER</a:t>
            </a:r>
            <a:r>
              <a:rPr lang="zh-CN" altLang="en-US" dirty="0">
                <a:latin typeface="Arial" panose="020B0604020202020204" pitchFamily="34" charset="0"/>
              </a:rPr>
              <a:t>子句：用于修改列名和数据类型</a:t>
            </a:r>
            <a:endParaRPr lang="zh-CN" altLang="en-US" dirty="0">
              <a:latin typeface="Arial" panose="020B0604020202020204" pitchFamily="34" charset="0"/>
            </a:endParaRPr>
          </a:p>
          <a:p>
            <a:pPr marL="625475" lvl="1" indent="-344170" algn="just"/>
            <a:r>
              <a:rPr lang="en-US" altLang="zh-CN" dirty="0">
                <a:latin typeface="Arial" panose="020B0604020202020204" pitchFamily="34" charset="0"/>
              </a:rPr>
              <a:t>DROP</a:t>
            </a:r>
            <a:r>
              <a:rPr lang="zh-CN" altLang="en-US" dirty="0">
                <a:latin typeface="Arial" panose="020B0604020202020204" pitchFamily="34" charset="0"/>
              </a:rPr>
              <a:t>子句：删除指定的完整性约束条件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625475" lvl="1" indent="-344170" algn="just"/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修改表结构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5" name="Rectangle 4"/>
          <p:cNvSpPr/>
          <p:nvPr/>
        </p:nvSpPr>
        <p:spPr>
          <a:xfrm>
            <a:off x="250825" y="1484313"/>
            <a:ext cx="8321675" cy="21590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idx="1"/>
          </p:nvPr>
        </p:nvSpPr>
        <p:spPr>
          <a:xfrm>
            <a:off x="152400" y="836613"/>
            <a:ext cx="8812213" cy="5508625"/>
          </a:xfrm>
        </p:spPr>
        <p:txBody>
          <a:bodyPr vert="horz" wrap="square" lIns="91440" tIns="45720" rIns="91440" bIns="45720" anchor="t" anchorCtr="0"/>
          <a:p>
            <a:pPr marL="265430" indent="-265430">
              <a:lnSpc>
                <a:spcPct val="110000"/>
              </a:lnSpc>
              <a:spcBef>
                <a:spcPct val="3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基本语法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65430" indent="-265430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	  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DROP TABLE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Table_Name 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65430" indent="-265430"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marL="265430" indent="-265430"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</a:t>
            </a:r>
            <a:r>
              <a:rPr lang="zh-CN" altLang="en-US" dirty="0">
                <a:latin typeface="Arial" panose="020B0604020202020204" pitchFamily="34" charset="0"/>
              </a:rPr>
              <a:t>不能删除当前正在使用的表；不要删除系统表。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65430" indent="-265430"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例：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65430" indent="-265430">
              <a:lnSpc>
                <a:spcPct val="110000"/>
              </a:lnSpc>
              <a:buNone/>
            </a:pPr>
            <a:r>
              <a:rPr lang="zh-CN" altLang="en-US" dirty="0">
                <a:latin typeface="Arial" panose="020B0604020202020204" pitchFamily="34" charset="0"/>
              </a:rPr>
              <a:t>       </a:t>
            </a:r>
            <a:r>
              <a:rPr lang="en-US" altLang="zh-CN" dirty="0">
                <a:latin typeface="Arial" panose="020B0604020202020204" pitchFamily="34" charset="0"/>
              </a:rPr>
              <a:t>DROP TABLE  S ;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删除表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4"/>
          <p:cNvSpPr/>
          <p:nvPr/>
        </p:nvSpPr>
        <p:spPr>
          <a:xfrm>
            <a:off x="250825" y="1557338"/>
            <a:ext cx="8713788" cy="86360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  <a:buNone/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idx="1"/>
          </p:nvPr>
        </p:nvSpPr>
        <p:spPr>
          <a:xfrm>
            <a:off x="179388" y="920750"/>
            <a:ext cx="8785225" cy="5508625"/>
          </a:xfrm>
        </p:spPr>
        <p:txBody>
          <a:bodyPr vert="horz" wrap="square" lIns="91440" tIns="45720" rIns="91440" bIns="45720" anchor="t" anchorCtr="0"/>
          <a:p>
            <a:pPr marL="274955" indent="-274955">
              <a:lnSpc>
                <a:spcPct val="90000"/>
              </a:lnSpc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建立索引是加快查询速度的有效手段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74955" indent="-274955" algn="just">
              <a:lnSpc>
                <a:spcPct val="90000"/>
              </a:lnSpc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建立索引</a:t>
            </a:r>
            <a:endParaRPr lang="zh-CN" altLang="en-US" dirty="0">
              <a:latin typeface="Arial" panose="020B0604020202020204" pitchFamily="34" charset="0"/>
            </a:endParaRPr>
          </a:p>
          <a:p>
            <a:pPr marL="716280" lvl="1" indent="-262255" algn="just">
              <a:lnSpc>
                <a:spcPct val="90000"/>
              </a:lnSpc>
              <a:spcBef>
                <a:spcPct val="25000"/>
              </a:spcBef>
            </a:pPr>
            <a:r>
              <a:rPr lang="en-US" altLang="zh-CN" dirty="0">
                <a:latin typeface="Arial" panose="020B0604020202020204" pitchFamily="34" charset="0"/>
              </a:rPr>
              <a:t>DBA</a:t>
            </a:r>
            <a:r>
              <a:rPr lang="zh-CN" altLang="en-US" dirty="0">
                <a:latin typeface="Arial" panose="020B0604020202020204" pitchFamily="34" charset="0"/>
              </a:rPr>
              <a:t>或表的属主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即建表的人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根据需要建立</a:t>
            </a:r>
            <a:endParaRPr lang="zh-CN" altLang="en-US" dirty="0">
              <a:latin typeface="Arial" panose="020B0604020202020204" pitchFamily="34" charset="0"/>
            </a:endParaRPr>
          </a:p>
          <a:p>
            <a:pPr marL="716280" lvl="1" indent="-262255" algn="just">
              <a:lnSpc>
                <a:spcPct val="90000"/>
              </a:lnSpc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有些</a:t>
            </a:r>
            <a:r>
              <a:rPr lang="en-US" altLang="zh-CN" dirty="0">
                <a:latin typeface="Arial" panose="020B0604020202020204" pitchFamily="34" charset="0"/>
              </a:rPr>
              <a:t>DBMS</a:t>
            </a:r>
            <a:r>
              <a:rPr lang="zh-CN" altLang="en-US" dirty="0">
                <a:latin typeface="Arial" panose="020B0604020202020204" pitchFamily="34" charset="0"/>
              </a:rPr>
              <a:t>自动建立以下列上的索引</a:t>
            </a:r>
            <a:endParaRPr lang="zh-CN" altLang="en-US" dirty="0">
              <a:latin typeface="Arial" panose="020B0604020202020204" pitchFamily="34" charset="0"/>
            </a:endParaRPr>
          </a:p>
          <a:p>
            <a:pPr marL="1249680" lvl="2" indent="-257175" algn="just">
              <a:lnSpc>
                <a:spcPct val="90000"/>
              </a:lnSpc>
              <a:spcBef>
                <a:spcPct val="25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PRIMARY  KEY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1249680" lvl="2" indent="-257175" algn="just">
              <a:lnSpc>
                <a:spcPct val="90000"/>
              </a:lnSpc>
              <a:spcBef>
                <a:spcPct val="25000"/>
              </a:spcBef>
            </a:pPr>
            <a:r>
              <a:rPr lang="en-US" altLang="zh-CN" sz="3200" dirty="0">
                <a:latin typeface="Arial" panose="020B0604020202020204" pitchFamily="34" charset="0"/>
              </a:rPr>
              <a:t> UNIQUE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74955" indent="-274955" algn="just">
              <a:lnSpc>
                <a:spcPct val="90000"/>
              </a:lnSpc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维护索引：</a:t>
            </a:r>
            <a:r>
              <a:rPr lang="en-US" altLang="zh-CN" sz="3200" dirty="0">
                <a:latin typeface="Arial" panose="020B0604020202020204" pitchFamily="34" charset="0"/>
              </a:rPr>
              <a:t>DBMS</a:t>
            </a:r>
            <a:r>
              <a:rPr lang="zh-CN" altLang="en-US" sz="3200" dirty="0">
                <a:latin typeface="Arial" panose="020B0604020202020204" pitchFamily="34" charset="0"/>
              </a:rPr>
              <a:t>自动完成 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74955" indent="-274955" algn="just">
              <a:lnSpc>
                <a:spcPct val="90000"/>
              </a:lnSpc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使用索引：</a:t>
            </a:r>
            <a:r>
              <a:rPr lang="en-US" altLang="zh-CN" sz="3200" dirty="0">
                <a:latin typeface="Arial" panose="020B0604020202020204" pitchFamily="34" charset="0"/>
              </a:rPr>
              <a:t>DBMS</a:t>
            </a:r>
            <a:r>
              <a:rPr lang="zh-CN" altLang="en-US" sz="3200" dirty="0">
                <a:latin typeface="Arial" panose="020B0604020202020204" pitchFamily="34" charset="0"/>
              </a:rPr>
              <a:t>自动选择是否使用索引以及使用哪些索引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5.2.2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索引的建立与删除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idx="1"/>
          </p:nvPr>
        </p:nvSpPr>
        <p:spPr>
          <a:xfrm>
            <a:off x="44450" y="908050"/>
            <a:ext cx="8991600" cy="5689600"/>
          </a:xfrm>
        </p:spPr>
        <p:txBody>
          <a:bodyPr vert="horz" wrap="square" lIns="91440" tIns="45720" rIns="91440" bIns="45720" anchor="t" anchorCtr="0"/>
          <a:p>
            <a:pPr marL="0" indent="0"/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基本语法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ct val="45000"/>
              </a:spcBef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CREATE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[UNIQUE]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INDEX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索引名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ON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表名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(&lt;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&gt;[&lt;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次序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&gt;] [,&lt;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&gt;][&lt;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次序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&gt;],…) 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lvl="1" indent="-185420" algn="just">
              <a:spcBef>
                <a:spcPct val="0"/>
              </a:spcBef>
            </a:pPr>
            <a:endParaRPr lang="en-US" altLang="zh-CN" sz="28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lvl="1" indent="-185420" algn="just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zh-CN" altLang="en-US" dirty="0">
                <a:latin typeface="Arial" panose="020B0604020202020204" pitchFamily="34" charset="0"/>
              </a:rPr>
              <a:t>表名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sz="2800" dirty="0">
                <a:latin typeface="Arial" panose="020B0604020202020204" pitchFamily="34" charset="0"/>
              </a:rPr>
              <a:t>：指定要建索引的基本表名字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365125" lvl="1" indent="-185420" algn="just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zh-CN" altLang="en-US" dirty="0">
                <a:latin typeface="Arial" panose="020B0604020202020204" pitchFamily="34" charset="0"/>
              </a:rPr>
              <a:t>列名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sz="2800" dirty="0">
                <a:latin typeface="Arial" panose="020B0604020202020204" pitchFamily="34" charset="0"/>
              </a:rPr>
              <a:t>：索引可以建立在该表的一列或多列上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365125" lvl="1" indent="-185420" algn="just"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zh-CN" altLang="en-US" dirty="0">
                <a:latin typeface="Arial" panose="020B0604020202020204" pitchFamily="34" charset="0"/>
              </a:rPr>
              <a:t>次序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sz="2800" dirty="0">
                <a:latin typeface="Arial" panose="020B0604020202020204" pitchFamily="34" charset="0"/>
              </a:rPr>
              <a:t>：指定索引值的排列次序，升序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ASC</a:t>
            </a:r>
            <a:r>
              <a:rPr lang="zh-CN" altLang="en-US" sz="2800" dirty="0">
                <a:latin typeface="Arial" panose="020B0604020202020204" pitchFamily="34" charset="0"/>
              </a:rPr>
              <a:t>，降序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</a:rPr>
              <a:t>DESC</a:t>
            </a:r>
            <a:r>
              <a:rPr lang="zh-CN" altLang="en-US" sz="2800" dirty="0">
                <a:latin typeface="Arial" panose="020B0604020202020204" pitchFamily="34" charset="0"/>
              </a:rPr>
              <a:t>。缺省值为</a:t>
            </a:r>
            <a:r>
              <a:rPr lang="en-US" altLang="zh-CN" sz="2800" dirty="0">
                <a:latin typeface="Arial" panose="020B0604020202020204" pitchFamily="34" charset="0"/>
              </a:rPr>
              <a:t>ASC</a:t>
            </a:r>
            <a:r>
              <a:rPr lang="zh-CN" altLang="en-US" sz="2800" dirty="0">
                <a:latin typeface="Arial" panose="020B0604020202020204" pitchFamily="34" charset="0"/>
              </a:rPr>
              <a:t>。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365125" lvl="1" indent="-185420" algn="just">
              <a:spcBef>
                <a:spcPct val="0"/>
              </a:spcBef>
            </a:pPr>
            <a:r>
              <a:rPr lang="en-US" altLang="zh-CN" sz="2800" dirty="0">
                <a:latin typeface="Arial" panose="020B0604020202020204" pitchFamily="34" charset="0"/>
              </a:rPr>
              <a:t>UNIQUE</a:t>
            </a:r>
            <a:r>
              <a:rPr lang="zh-CN" altLang="en-US" sz="2800" dirty="0">
                <a:latin typeface="Arial" panose="020B0604020202020204" pitchFamily="34" charset="0"/>
              </a:rPr>
              <a:t>：表明此索引的每一个索引值只对应唯一的数据记录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87313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建立索引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9" name="Rectangle 4"/>
          <p:cNvSpPr/>
          <p:nvPr/>
        </p:nvSpPr>
        <p:spPr>
          <a:xfrm>
            <a:off x="500063" y="1557338"/>
            <a:ext cx="8286750" cy="1728787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idx="1"/>
          </p:nvPr>
        </p:nvSpPr>
        <p:spPr>
          <a:xfrm>
            <a:off x="152400" y="968375"/>
            <a:ext cx="8740775" cy="5445125"/>
          </a:xfrm>
        </p:spPr>
        <p:txBody>
          <a:bodyPr vert="horz" wrap="square" lIns="91440" tIns="45720" rIns="91440" bIns="45720" anchor="t" anchorCtr="0"/>
          <a:p>
            <a:pPr marL="365125" indent="-365125"/>
            <a:r>
              <a:rPr lang="zh-CN" altLang="en-US" dirty="0">
                <a:latin typeface="Arial" panose="020B0604020202020204" pitchFamily="34" charset="0"/>
              </a:rPr>
              <a:t>基本语法 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DROP  INDEX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&lt;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表名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.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索引名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&gt;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/>
            <a:r>
              <a:rPr lang="zh-CN" altLang="en-US" dirty="0">
                <a:latin typeface="Arial" panose="020B0604020202020204" pitchFamily="34" charset="0"/>
              </a:rPr>
              <a:t>举例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spcBef>
                <a:spcPct val="350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latin typeface="Arial" panose="020B0604020202020204" pitchFamily="34" charset="0"/>
              </a:rPr>
              <a:t>DROP INDEX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.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S_Index</a:t>
            </a:r>
            <a:r>
              <a:rPr lang="en-US" altLang="zh-CN" sz="3200" dirty="0">
                <a:latin typeface="Arial" panose="020B0604020202020204" pitchFamily="34" charset="0"/>
              </a:rPr>
              <a:t>,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SC</a:t>
            </a:r>
            <a:r>
              <a:rPr lang="en-US" altLang="zh-CN" sz="3200" dirty="0">
                <a:latin typeface="Arial" panose="020B0604020202020204" pitchFamily="34" charset="0"/>
              </a:rPr>
              <a:t>.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SC_Index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/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删除索引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4"/>
          <p:cNvSpPr/>
          <p:nvPr/>
        </p:nvSpPr>
        <p:spPr>
          <a:xfrm>
            <a:off x="322263" y="1916113"/>
            <a:ext cx="8497887" cy="936625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lang="en-US" altLang="zh-CN" noProof="0" dirty="0" smtClean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使用索引的说明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12213" cy="5508625"/>
          </a:xfrm>
        </p:spPr>
        <p:txBody>
          <a:bodyPr vert="horz" wrap="square" lIns="91440" tIns="45720" rIns="91440" bIns="45720" anchor="t" anchorCtr="0"/>
          <a:p>
            <a:pPr marL="273050" indent="-273050">
              <a:spcBef>
                <a:spcPct val="35000"/>
              </a:spcBef>
            </a:pPr>
            <a:r>
              <a:rPr lang="zh-CN" altLang="en-US" sz="3200" dirty="0"/>
              <a:t>索引会占用数据库的存储空间</a:t>
            </a:r>
            <a:endParaRPr lang="zh-CN" altLang="en-US" sz="3200" dirty="0"/>
          </a:p>
          <a:p>
            <a:pPr marL="273050" indent="-273050">
              <a:spcBef>
                <a:spcPct val="35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对于数据量小的表来说，使用索引对于性能不会有很大提高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3050" indent="-273050">
              <a:spcBef>
                <a:spcPct val="35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不要对经常需要更新或修改的字段创建索引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3050" indent="-273050">
              <a:spcBef>
                <a:spcPct val="35000"/>
              </a:spcBef>
            </a:pPr>
            <a:r>
              <a:rPr lang="zh-CN" altLang="en-US" sz="3200" dirty="0"/>
              <a:t>索引提高了数据的查询速度，但使得数据的更新操作变慢。</a:t>
            </a:r>
            <a:r>
              <a:rPr lang="zh-CN" altLang="en-US" sz="3200" dirty="0">
                <a:latin typeface="Arial" panose="020B0604020202020204" pitchFamily="34" charset="0"/>
              </a:rPr>
              <a:t>如要进行大量的更新操作，在执行更新操作时最好先删除索引，当执行完更新操作后，再建立索引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6562" name="Rectangle 3"/>
          <p:cNvSpPr txBox="1"/>
          <p:nvPr/>
        </p:nvSpPr>
        <p:spPr>
          <a:xfrm>
            <a:off x="1231900" y="1143000"/>
            <a:ext cx="7372350" cy="5235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60680" indent="-360680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5.1 SQL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概述</a:t>
            </a:r>
            <a:endParaRPr lang="zh-CN" altLang="en-US" sz="36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60680" indent="-360680" algn="just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5.2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数据定义</a:t>
            </a:r>
            <a:endParaRPr lang="zh-CN" altLang="en-US" sz="36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60680" indent="-360680" algn="just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5.3 </a:t>
            </a:r>
            <a:r>
              <a:rPr lang="zh-CN" altLang="en-US" sz="36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数据查询</a:t>
            </a:r>
            <a:endParaRPr lang="zh-CN" altLang="en-US" sz="36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60680" indent="-360680" algn="just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5.4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数据更新</a:t>
            </a:r>
            <a:endParaRPr lang="zh-CN" altLang="en-US" sz="36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60680" indent="-360680" algn="just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5.5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视图</a:t>
            </a:r>
            <a:endParaRPr lang="zh-CN" altLang="en-US" sz="36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60680" indent="-360680" algn="just" eaLnBrk="0" hangingPunct="0"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5.6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数据控制</a:t>
            </a:r>
            <a:endParaRPr lang="zh-CN" altLang="en-US" sz="36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idx="1"/>
          </p:nvPr>
        </p:nvSpPr>
        <p:spPr>
          <a:xfrm>
            <a:off x="295275" y="1071563"/>
            <a:ext cx="7705725" cy="5273675"/>
          </a:xfrm>
        </p:spPr>
        <p:txBody>
          <a:bodyPr vert="horz" wrap="square" lIns="91440" tIns="45720" rIns="91440" bIns="45720" anchor="t" anchorCtr="0"/>
          <a:p>
            <a:pPr marL="365125" indent="-365125">
              <a:buNone/>
            </a:pPr>
            <a:r>
              <a:rPr lang="en-US" altLang="zh-CN" dirty="0">
                <a:latin typeface="Arial" panose="020B0604020202020204" pitchFamily="34" charset="0"/>
              </a:rPr>
              <a:t>    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5.3.1 </a:t>
            </a:r>
            <a:r>
              <a:rPr lang="zh-CN" altLang="en-US" dirty="0">
                <a:solidFill>
                  <a:srgbClr val="0000CC"/>
                </a:solidFill>
              </a:rPr>
              <a:t>查询语句的基本格式</a:t>
            </a:r>
            <a:endParaRPr lang="zh-CN" altLang="en-US" dirty="0">
              <a:solidFill>
                <a:srgbClr val="0000CC"/>
              </a:solidFill>
            </a:endParaRPr>
          </a:p>
          <a:p>
            <a:pPr lvl="1">
              <a:buNone/>
            </a:pPr>
            <a:r>
              <a:rPr lang="zh-CN" altLang="en-US" sz="3600" dirty="0"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</a:rPr>
              <a:t>5.3.2 </a:t>
            </a:r>
            <a:r>
              <a:rPr lang="zh-CN" altLang="en-US" sz="3600" dirty="0"/>
              <a:t>单表查询</a:t>
            </a:r>
            <a:endParaRPr lang="zh-CN" altLang="en-US" sz="3600" dirty="0"/>
          </a:p>
          <a:p>
            <a:pPr lvl="1">
              <a:buNone/>
            </a:pPr>
            <a:r>
              <a:rPr lang="zh-CN" altLang="en-US" sz="3600" dirty="0"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</a:rPr>
              <a:t>5.3.3 </a:t>
            </a:r>
            <a:r>
              <a:rPr lang="zh-CN" altLang="en-US" sz="3600" dirty="0"/>
              <a:t>多表查询</a:t>
            </a:r>
            <a:endParaRPr lang="zh-CN" altLang="en-US" sz="3600" dirty="0"/>
          </a:p>
          <a:p>
            <a:pPr lvl="1">
              <a:buNone/>
            </a:pPr>
            <a:r>
              <a:rPr lang="zh-CN" altLang="en-US" sz="3600" dirty="0"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</a:rPr>
              <a:t>5.3.4 </a:t>
            </a:r>
            <a:r>
              <a:rPr lang="zh-CN" altLang="en-US" sz="3600" dirty="0"/>
              <a:t>嵌套查询</a:t>
            </a:r>
            <a:endParaRPr lang="zh-CN" altLang="en-US" sz="3600" dirty="0"/>
          </a:p>
          <a:p>
            <a:pPr lvl="1">
              <a:buNone/>
            </a:pPr>
            <a:r>
              <a:rPr lang="zh-CN" altLang="en-US" sz="3600" dirty="0"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</a:rPr>
              <a:t>5.3.5 </a:t>
            </a:r>
            <a:r>
              <a:rPr lang="zh-CN" altLang="en-US" sz="3600" dirty="0"/>
              <a:t>集合查询</a:t>
            </a:r>
            <a:endParaRPr lang="zh-CN" altLang="en-US" sz="3600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数据查询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idx="1"/>
          </p:nvPr>
        </p:nvSpPr>
        <p:spPr>
          <a:xfrm>
            <a:off x="223838" y="857250"/>
            <a:ext cx="8777287" cy="5508625"/>
          </a:xfrm>
        </p:spPr>
        <p:txBody>
          <a:bodyPr vert="horz" wrap="square" lIns="91440" tIns="45720" rIns="91440" bIns="45720" anchor="t" anchorCtr="0"/>
          <a:p>
            <a:pPr marL="0" indent="0">
              <a:buClr>
                <a:srgbClr val="FF0000"/>
              </a:buClr>
              <a:buSzPct val="67000"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基本语法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[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latin typeface="Arial" panose="020B0604020202020204" pitchFamily="34" charset="0"/>
              </a:rPr>
              <a:t>] &lt;</a:t>
            </a:r>
            <a:r>
              <a:rPr lang="zh-CN" altLang="en-US" sz="3200" dirty="0">
                <a:latin typeface="Arial" panose="020B0604020202020204" pitchFamily="34" charset="0"/>
              </a:rPr>
              <a:t>目标列表达式</a:t>
            </a:r>
            <a:r>
              <a:rPr lang="en-US" altLang="zh-CN" sz="3200" dirty="0">
                <a:latin typeface="Arial" panose="020B0604020202020204" pitchFamily="34" charset="0"/>
              </a:rPr>
              <a:t>&gt;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[, &lt;</a:t>
            </a:r>
            <a:r>
              <a:rPr lang="zh-CN" altLang="en-US" sz="3200" dirty="0">
                <a:latin typeface="Arial" panose="020B0604020202020204" pitchFamily="34" charset="0"/>
              </a:rPr>
              <a:t>目标列表达式</a:t>
            </a:r>
            <a:r>
              <a:rPr lang="en-US" altLang="zh-CN" sz="3200" dirty="0">
                <a:latin typeface="Arial" panose="020B0604020202020204" pitchFamily="34" charset="0"/>
              </a:rPr>
              <a:t>&gt;]…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latin typeface="Arial" panose="020B0604020202020204" pitchFamily="34" charset="0"/>
              </a:rPr>
              <a:t>表名或视图名</a:t>
            </a:r>
            <a:r>
              <a:rPr lang="en-US" altLang="zh-CN" sz="3200" dirty="0">
                <a:latin typeface="Arial" panose="020B0604020202020204" pitchFamily="34" charset="0"/>
              </a:rPr>
              <a:t>&gt;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[, &lt;</a:t>
            </a:r>
            <a:r>
              <a:rPr lang="zh-CN" altLang="en-US" sz="3200" dirty="0">
                <a:latin typeface="Arial" panose="020B0604020202020204" pitchFamily="34" charset="0"/>
              </a:rPr>
              <a:t>表名或视图名</a:t>
            </a:r>
            <a:r>
              <a:rPr lang="en-US" altLang="zh-CN" sz="3200" dirty="0">
                <a:latin typeface="Arial" panose="020B0604020202020204" pitchFamily="34" charset="0"/>
              </a:rPr>
              <a:t>&gt;]…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[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WHERE</a:t>
            </a:r>
            <a:r>
              <a:rPr lang="en-US" altLang="zh-CN" sz="3200" dirty="0"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latin typeface="Arial" panose="020B0604020202020204" pitchFamily="34" charset="0"/>
              </a:rPr>
              <a:t>条件表达式</a:t>
            </a:r>
            <a:r>
              <a:rPr lang="en-US" altLang="zh-CN" sz="3200" dirty="0">
                <a:latin typeface="Arial" panose="020B0604020202020204" pitchFamily="34" charset="0"/>
              </a:rPr>
              <a:t>&gt; ]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[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3200" dirty="0"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1&gt;]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[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HAVING</a:t>
            </a:r>
            <a:r>
              <a:rPr lang="en-US" altLang="zh-CN" sz="3200" dirty="0">
                <a:latin typeface="Arial" panose="020B0604020202020204" pitchFamily="34" charset="0"/>
              </a:rPr>
              <a:t> &lt;</a:t>
            </a:r>
            <a:r>
              <a:rPr lang="zh-CN" altLang="en-US" sz="3200" dirty="0">
                <a:latin typeface="Arial" panose="020B0604020202020204" pitchFamily="34" charset="0"/>
              </a:rPr>
              <a:t>条件表达式</a:t>
            </a:r>
            <a:r>
              <a:rPr lang="en-US" altLang="zh-CN" sz="3200" dirty="0">
                <a:latin typeface="Arial" panose="020B0604020202020204" pitchFamily="34" charset="0"/>
              </a:rPr>
              <a:t>&gt; ]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[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2&gt; [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ASC</a:t>
            </a:r>
            <a:r>
              <a:rPr lang="en-US" altLang="zh-CN" sz="3200" dirty="0">
                <a:latin typeface="Arial" panose="020B0604020202020204" pitchFamily="34" charset="0"/>
              </a:rPr>
              <a:t>|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3200" dirty="0">
                <a:latin typeface="Arial" panose="020B0604020202020204" pitchFamily="34" charset="0"/>
              </a:rPr>
              <a:t>]]</a:t>
            </a:r>
            <a:endParaRPr lang="en-US" altLang="zh-CN" sz="32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5.3.1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查询语句的基本格式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659" name="Rectangle 4"/>
          <p:cNvSpPr/>
          <p:nvPr/>
        </p:nvSpPr>
        <p:spPr>
          <a:xfrm>
            <a:off x="393700" y="1463675"/>
            <a:ext cx="8426450" cy="4679950"/>
          </a:xfrm>
          <a:prstGeom prst="rect">
            <a:avLst/>
          </a:prstGeom>
          <a:noFill/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idx="1"/>
          </p:nvPr>
        </p:nvSpPr>
        <p:spPr>
          <a:xfrm>
            <a:off x="152400" y="765175"/>
            <a:ext cx="8740775" cy="5761038"/>
          </a:xfrm>
        </p:spPr>
        <p:txBody>
          <a:bodyPr vert="horz" wrap="square" lIns="91440" tIns="45720" rIns="91440" bIns="45720" anchor="t" anchorCtr="0"/>
          <a:p>
            <a:pPr marL="352425" indent="-352425"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语法说明：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52425" indent="-352425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zh-CN" altLang="en-US" sz="3200" dirty="0">
                <a:latin typeface="Arial" panose="020B0604020202020204" pitchFamily="34" charset="0"/>
              </a:rPr>
              <a:t>子句：指定要显示的属性列。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zh-CN" altLang="en-US" sz="3200" dirty="0">
                <a:latin typeface="Arial" panose="020B0604020202020204" pitchFamily="34" charset="0"/>
              </a:rPr>
              <a:t>子句：指定查询对象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表或视图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WHERE</a:t>
            </a:r>
            <a:r>
              <a:rPr lang="zh-CN" altLang="en-US" sz="3200" dirty="0">
                <a:latin typeface="Arial" panose="020B0604020202020204" pitchFamily="34" charset="0"/>
              </a:rPr>
              <a:t>子句：指定查询条件。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GROUP BY</a:t>
            </a:r>
            <a:r>
              <a:rPr lang="zh-CN" altLang="en-US" sz="3200" dirty="0">
                <a:latin typeface="Arial" panose="020B0604020202020204" pitchFamily="34" charset="0"/>
              </a:rPr>
              <a:t>子句：对查询结果按指定列的值分组，该属性列值相等的元组为一个组。通常在每组中使用聚集函数。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HAVING</a:t>
            </a:r>
            <a:r>
              <a:rPr lang="zh-CN" altLang="en-US" sz="3200" dirty="0">
                <a:latin typeface="Arial" panose="020B0604020202020204" pitchFamily="34" charset="0"/>
              </a:rPr>
              <a:t>短语：筛选出只有满足指定条件的组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ct val="20000"/>
              </a:spcBef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ORDER BY</a:t>
            </a:r>
            <a:r>
              <a:rPr lang="zh-CN" altLang="en-US" sz="3200" dirty="0">
                <a:latin typeface="Arial" panose="020B0604020202020204" pitchFamily="34" charset="0"/>
              </a:rPr>
              <a:t>子句：对查询结果表按指定列值的升序或降序排序。 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5.3.1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查询语句的基本格式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5.3.1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查询语句的基本格式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27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52425" indent="-352425">
              <a:buNone/>
            </a:pPr>
            <a:r>
              <a:rPr lang="zh-CN" altLang="en-US" dirty="0">
                <a:solidFill>
                  <a:srgbClr val="0000CC"/>
                </a:solidFill>
              </a:rPr>
              <a:t>查询语句的注意事项：</a:t>
            </a:r>
            <a:endParaRPr lang="zh-CN" altLang="en-US" dirty="0">
              <a:solidFill>
                <a:srgbClr val="0000CC"/>
              </a:solidFill>
            </a:endParaRPr>
          </a:p>
          <a:p>
            <a:pPr marL="352425" indent="-352425">
              <a:spcBef>
                <a:spcPct val="45000"/>
              </a:spcBef>
            </a:pPr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SQL </a:t>
            </a:r>
            <a:r>
              <a:rPr lang="zh-CN" altLang="en-US" dirty="0">
                <a:latin typeface="Arial" panose="020B0604020202020204" pitchFamily="34" charset="0"/>
              </a:rPr>
              <a:t>语句中关键字不区分大小写，但在数据库中的数据是区分大小的。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2425" indent="-352425">
              <a:spcBef>
                <a:spcPct val="45000"/>
              </a:spcBef>
            </a:pPr>
            <a:r>
              <a:rPr lang="zh-CN" altLang="en-US" dirty="0">
                <a:latin typeface="Arial" panose="020B0604020202020204" pitchFamily="34" charset="0"/>
              </a:rPr>
              <a:t>在语句中使用空格和大写字母会增强语句的可读性。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2425" indent="-352425">
              <a:spcBef>
                <a:spcPct val="45000"/>
              </a:spcBef>
            </a:pPr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SQL </a:t>
            </a:r>
            <a:r>
              <a:rPr lang="zh-CN" altLang="en-US" dirty="0">
                <a:latin typeface="Arial" panose="020B0604020202020204" pitchFamily="34" charset="0"/>
              </a:rPr>
              <a:t>语句中出现</a:t>
            </a:r>
            <a:r>
              <a:rPr lang="zh-CN" altLang="en-US" u="sng" dirty="0">
                <a:latin typeface="Arial" panose="020B0604020202020204" pitchFamily="34" charset="0"/>
              </a:rPr>
              <a:t>分号</a:t>
            </a:r>
            <a:r>
              <a:rPr lang="zh-CN" altLang="en-US" dirty="0">
                <a:latin typeface="Arial" panose="020B0604020202020204" pitchFamily="34" charset="0"/>
              </a:rPr>
              <a:t>就表示本条语句结束。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273675"/>
          </a:xfrm>
        </p:spPr>
        <p:txBody>
          <a:bodyPr vert="horz" wrap="square" lIns="91440" tIns="45720" rIns="91440" bIns="45720" anchor="t" anchorCtr="0"/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5.3.1 </a:t>
            </a:r>
            <a:r>
              <a:rPr lang="zh-CN" altLang="en-US" sz="3600" dirty="0"/>
              <a:t>查询语句的基本格式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5.3.2 </a:t>
            </a:r>
            <a:r>
              <a:rPr lang="zh-CN" alt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单表查询</a:t>
            </a:r>
            <a:endParaRPr lang="zh-CN" altLang="en-US" sz="36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5.3.3 </a:t>
            </a:r>
            <a:r>
              <a:rPr lang="zh-CN" altLang="en-US" sz="3600" dirty="0"/>
              <a:t>多表查询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5.3.4 </a:t>
            </a:r>
            <a:r>
              <a:rPr lang="zh-CN" altLang="en-US" sz="3600" dirty="0"/>
              <a:t>嵌套查询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5.3.5 </a:t>
            </a:r>
            <a:r>
              <a:rPr lang="zh-CN" altLang="en-US" sz="3600" dirty="0"/>
              <a:t>集合查询</a:t>
            </a:r>
            <a:endParaRPr lang="zh-CN" altLang="en-US" sz="3600" dirty="0"/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596313" cy="4970463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</a:rPr>
              <a:t>查询仅涉及一个表。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90000"/>
              </a:lnSpc>
              <a:buNone/>
            </a:pPr>
            <a:endParaRPr lang="zh-CN" altLang="en-US" sz="1200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90000"/>
              </a:lnSpc>
              <a:buNone/>
            </a:pPr>
            <a:endParaRPr lang="zh-CN" altLang="en-US" sz="200" dirty="0">
              <a:latin typeface="Arial" panose="020B0604020202020204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1) </a:t>
            </a:r>
            <a:r>
              <a:rPr lang="zh-CN" altLang="en-US" sz="3600" dirty="0">
                <a:latin typeface="Arial" panose="020B0604020202020204" pitchFamily="34" charset="0"/>
              </a:rPr>
              <a:t>选择表中的若干列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2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) </a:t>
            </a:r>
            <a:r>
              <a:rPr lang="zh-CN" altLang="en-US" sz="3600" dirty="0">
                <a:latin typeface="Arial" panose="020B0604020202020204" pitchFamily="34" charset="0"/>
              </a:rPr>
              <a:t>选择表中的若干元组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3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) </a:t>
            </a:r>
            <a:r>
              <a:rPr lang="zh-CN" altLang="en-US" sz="3600" dirty="0">
                <a:latin typeface="Arial" panose="020B0604020202020204" pitchFamily="34" charset="0"/>
              </a:rPr>
              <a:t>对查询结果排序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4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) </a:t>
            </a:r>
            <a:r>
              <a:rPr lang="zh-CN" altLang="en-US" sz="3600" dirty="0">
                <a:latin typeface="Arial" panose="020B0604020202020204" pitchFamily="34" charset="0"/>
              </a:rPr>
              <a:t>使用聚集函数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) </a:t>
            </a:r>
            <a:r>
              <a:rPr lang="zh-CN" altLang="en-US" sz="3600" dirty="0">
                <a:latin typeface="Arial" panose="020B0604020202020204" pitchFamily="34" charset="0"/>
              </a:rPr>
              <a:t>对查询结果分组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marL="539750" lvl="1" indent="0">
              <a:lnSpc>
                <a:spcPct val="12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5.3.2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单表查询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idx="1"/>
          </p:nvPr>
        </p:nvSpPr>
        <p:spPr>
          <a:xfrm>
            <a:off x="107950" y="836613"/>
            <a:ext cx="8821738" cy="5545137"/>
          </a:xfrm>
        </p:spPr>
        <p:txBody>
          <a:bodyPr vert="horz" wrap="square" lIns="91440" tIns="45720" rIns="91440" bIns="45720" anchor="t" anchorCtr="0"/>
          <a:p>
            <a:pPr marL="365125" indent="-365125" algn="just" defTabSz="914400">
              <a:buNone/>
              <a:tabLst>
                <a:tab pos="2959100" algn="l"/>
              </a:tabLst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(1)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选择指定列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algn="just" defTabSz="914400"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查询全体学生的学号、姓名。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defTabSz="914400">
              <a:buNone/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 Sno, Sname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S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defTabSz="914400">
              <a:spcBef>
                <a:spcPct val="25000"/>
              </a:spcBef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查询全体学生的姓名、学号、所在系。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algn="just" defTabSz="914400">
              <a:buNone/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 Sname, Sno, Sdept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S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 defTabSz="914400">
              <a:buNone/>
              <a:tabLst>
                <a:tab pos="2959100" algn="l"/>
              </a:tabLst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marL="365125" indent="-365125" algn="just" defTabSz="914400">
              <a:buNone/>
              <a:tabLst>
                <a:tab pos="2959100" algn="l"/>
              </a:tabLst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(2) </a:t>
            </a:r>
            <a:r>
              <a:rPr lang="zh-CN" altLang="en-US" dirty="0">
                <a:solidFill>
                  <a:srgbClr val="0000CC"/>
                </a:solidFill>
              </a:rPr>
              <a:t>选择全部列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 algn="just" defTabSz="914400"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查询全体学生的详细记录。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algn="just" defTabSz="914400">
              <a:buNone/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 Sno,Sname,Ssex,Sage,Sdept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 defTabSz="914400">
              <a:buNone/>
              <a:tabLst>
                <a:tab pos="2959100" algn="l"/>
              </a:tabLst>
            </a:pPr>
            <a:r>
              <a:rPr lang="en-US" altLang="zh-CN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 S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 defTabSz="914400">
              <a:spcBef>
                <a:spcPct val="15000"/>
              </a:spcBef>
              <a:buNone/>
              <a:tabLst>
                <a:tab pos="2959100" algn="l"/>
              </a:tabLst>
            </a:pPr>
            <a:r>
              <a:rPr lang="zh-CN" altLang="en-US" sz="3200" dirty="0">
                <a:latin typeface="Arial" panose="020B0604020202020204" pitchFamily="34" charset="0"/>
              </a:rPr>
              <a:t>      或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 S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选择表中的若干列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选择表中的若干列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0147" name="Rectangle 3"/>
          <p:cNvSpPr>
            <a:spLocks noGrp="1"/>
          </p:cNvSpPr>
          <p:nvPr>
            <p:ph idx="1"/>
          </p:nvPr>
        </p:nvSpPr>
        <p:spPr>
          <a:xfrm>
            <a:off x="152400" y="765175"/>
            <a:ext cx="8848725" cy="5653088"/>
          </a:xfrm>
        </p:spPr>
        <p:txBody>
          <a:bodyPr vert="horz" wrap="square" lIns="91440" tIns="45720" rIns="91440" bIns="45720" anchor="t" anchorCtr="0"/>
          <a:p>
            <a:pPr marL="352425" indent="-352425" algn="just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(3)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查询经过计算的列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52425" indent="-352425"/>
            <a:r>
              <a:rPr lang="zh-CN" altLang="en-US" sz="3200" dirty="0">
                <a:latin typeface="Arial" panose="020B0604020202020204" pitchFamily="34" charset="0"/>
              </a:rPr>
              <a:t>查询全体学生的姓名、出生年份和所属系，要求用小写字母表示所有系名。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 Sname, 2017-Sage,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LOWER(Sdept)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 S 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latin typeface="Arial" panose="020B0604020202020204" pitchFamily="34" charset="0"/>
              </a:rPr>
              <a:t> Sname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AS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2017-Sage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AS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出生年</a:t>
            </a:r>
            <a:r>
              <a:rPr lang="en-US" altLang="zh-CN" sz="3200" dirty="0">
                <a:latin typeface="Arial" panose="020B0604020202020204" pitchFamily="34" charset="0"/>
              </a:rPr>
              <a:t>,         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LOWER(Sdept)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AS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系别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 S</a:t>
            </a:r>
            <a:r>
              <a:rPr lang="zh-CN" altLang="en-US" sz="3200" dirty="0">
                <a:latin typeface="Arial" panose="020B0604020202020204" pitchFamily="34" charset="0"/>
              </a:rPr>
              <a:t>；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90148" name="Text Box 4"/>
          <p:cNvSpPr txBox="1"/>
          <p:nvPr/>
        </p:nvSpPr>
        <p:spPr>
          <a:xfrm>
            <a:off x="6443663" y="2500313"/>
            <a:ext cx="2343150" cy="1816100"/>
          </a:xfrm>
          <a:prstGeom prst="rect">
            <a:avLst/>
          </a:prstGeom>
          <a:solidFill>
            <a:schemeClr val="tx2"/>
          </a:solidFill>
          <a:ln w="57150" cap="flat" cmpd="thickThin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marL="262255" indent="-262255">
              <a:buClrTx/>
              <a:buSzPct val="85000"/>
              <a:buFontTx/>
              <a:buBlip>
                <a:blip r:embed="rId1"/>
              </a:buBlip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算术表达式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62255" indent="-262255">
              <a:buClrTx/>
              <a:buSzPct val="85000"/>
              <a:buFontTx/>
              <a:buBlip>
                <a:blip r:embed="rId1"/>
              </a:buBlip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字符串常量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62255" indent="-262255">
              <a:buClrTx/>
              <a:buSzPct val="85000"/>
              <a:buFontTx/>
              <a:buBlip>
                <a:blip r:embed="rId1"/>
              </a:buBlip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函数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62255" indent="-262255">
              <a:buClrTx/>
              <a:buSzPct val="85000"/>
              <a:buFontTx/>
              <a:buBlip>
                <a:blip r:embed="rId1"/>
              </a:buBlip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列别名等 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90150" name="AutoShap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956550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13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7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10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121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144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19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charRg st="227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build="p"/>
      <p:bldP spid="3901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5330" name="Rectangle 2"/>
          <p:cNvSpPr>
            <a:spLocks noGrp="1"/>
          </p:cNvSpPr>
          <p:nvPr>
            <p:ph idx="1"/>
          </p:nvPr>
        </p:nvSpPr>
        <p:spPr>
          <a:xfrm>
            <a:off x="223838" y="908050"/>
            <a:ext cx="8777287" cy="5761038"/>
          </a:xfrm>
        </p:spPr>
        <p:txBody>
          <a:bodyPr vert="horz" wrap="square" lIns="91440" tIns="45720" rIns="91440" bIns="45720" anchor="t" anchorCtr="0"/>
          <a:p>
            <a:pPr marL="365125" indent="-365125" algn="just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(1)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  <a:r>
              <a:rPr lang="zh-CN" altLang="en-US" dirty="0">
                <a:solidFill>
                  <a:srgbClr val="0000CC"/>
                </a:solidFill>
              </a:rPr>
              <a:t>消除取值重复的行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algn="just"/>
            <a:r>
              <a:rPr lang="zh-CN" altLang="en-US" sz="3200" dirty="0">
                <a:latin typeface="Arial" panose="020B0604020202020204" pitchFamily="34" charset="0"/>
              </a:rPr>
              <a:t>查询选修了课程的学生学号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algn="just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latin typeface="Arial" panose="020B0604020202020204" pitchFamily="34" charset="0"/>
              </a:rPr>
              <a:t> Sno FROM SC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( </a:t>
            </a:r>
            <a:r>
              <a:rPr lang="en-US" altLang="zh-CN" sz="2800" dirty="0">
                <a:latin typeface="Arial" panose="020B0604020202020204" pitchFamily="34" charset="0"/>
              </a:rPr>
              <a:t>DISTINCT</a:t>
            </a:r>
            <a:r>
              <a:rPr lang="zh-CN" altLang="en-US" sz="2800" dirty="0">
                <a:latin typeface="Arial" panose="020B0604020202020204" pitchFamily="34" charset="0"/>
              </a:rPr>
              <a:t>的作用范围是所有目标列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algn="just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查询选修课程的各种成绩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latin typeface="Arial" panose="020B0604020202020204" pitchFamily="34" charset="0"/>
              </a:rPr>
              <a:t> Cno,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latin typeface="Arial" panose="020B0604020202020204" pitchFamily="34" charset="0"/>
              </a:rPr>
              <a:t> Score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1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SC;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10000"/>
              </a:lnSpc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1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SELECT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latin typeface="Arial" panose="020B0604020202020204" pitchFamily="34" charset="0"/>
              </a:rPr>
              <a:t> Cno, Score FROM SC; 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选择表中的若干元组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5333" name="Text Box 5"/>
          <p:cNvSpPr txBox="1"/>
          <p:nvPr/>
        </p:nvSpPr>
        <p:spPr>
          <a:xfrm>
            <a:off x="5827713" y="4275138"/>
            <a:ext cx="1049337" cy="10985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sz="6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×</a:t>
            </a:r>
            <a:endParaRPr lang="en-US" altLang="zh-CN" sz="66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5334" name="Text Box 6"/>
          <p:cNvSpPr txBox="1"/>
          <p:nvPr/>
        </p:nvSpPr>
        <p:spPr>
          <a:xfrm>
            <a:off x="8078788" y="5445125"/>
            <a:ext cx="1101725" cy="1189038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sz="7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√</a:t>
            </a:r>
            <a:endParaRPr lang="en-US" altLang="zh-CN" sz="7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2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61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101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113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153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charRg st="167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uild="p"/>
      <p:bldP spid="355333" grpId="0"/>
      <p:bldP spid="3553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选择表中的若干元组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3970" name="Rectangle 3"/>
          <p:cNvSpPr>
            <a:spLocks noGrp="1"/>
          </p:cNvSpPr>
          <p:nvPr>
            <p:ph idx="1"/>
          </p:nvPr>
        </p:nvSpPr>
        <p:spPr>
          <a:xfrm>
            <a:off x="187325" y="836613"/>
            <a:ext cx="8848725" cy="5688012"/>
          </a:xfrm>
        </p:spPr>
        <p:txBody>
          <a:bodyPr vert="horz" wrap="square" lIns="91440" tIns="45720" rIns="91440" bIns="45720" anchor="t" anchorCtr="0"/>
          <a:p>
            <a:pPr marL="273050" indent="-273050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(2)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查询满足条件的元组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WHERE</a:t>
            </a:r>
            <a:r>
              <a:rPr lang="zh-CN" altLang="en-US" sz="3200" dirty="0">
                <a:latin typeface="Arial" panose="020B0604020202020204" pitchFamily="34" charset="0"/>
              </a:rPr>
              <a:t>子句常用的查询条件：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比较：</a:t>
            </a:r>
            <a:br>
              <a:rPr lang="zh-CN" altLang="en-US" sz="3200" dirty="0">
                <a:latin typeface="Arial" panose="020B0604020202020204" pitchFamily="34" charset="0"/>
              </a:rPr>
            </a:br>
            <a:r>
              <a:rPr lang="zh-CN" altLang="en-US" sz="3200" dirty="0">
                <a:latin typeface="Arial" panose="020B0604020202020204" pitchFamily="34" charset="0"/>
              </a:rPr>
              <a:t>  比较运算符：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=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&lt;=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&gt;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&gt;=</a:t>
            </a:r>
            <a:r>
              <a:rPr lang="en-US" altLang="zh-CN" sz="3200" dirty="0">
                <a:latin typeface="Arial" panose="020B0604020202020204" pitchFamily="34" charset="0"/>
              </a:rPr>
              <a:t>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!=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&lt;&gt;</a:t>
            </a:r>
            <a:r>
              <a:rPr lang="en-US" altLang="zh-CN" sz="3200" dirty="0">
                <a:latin typeface="Arial" panose="020B0604020202020204" pitchFamily="34" charset="0"/>
              </a:rPr>
              <a:t>) 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!&lt;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 !&gt;</a:t>
            </a:r>
            <a:br>
              <a:rPr lang="en-US" altLang="zh-CN" sz="3200" dirty="0">
                <a:latin typeface="Arial" panose="020B0604020202020204" pitchFamily="34" charset="0"/>
              </a:rPr>
            </a:br>
            <a:r>
              <a:rPr lang="en-US" altLang="zh-CN" sz="3200" dirty="0">
                <a:latin typeface="Arial" panose="020B0604020202020204" pitchFamily="34" charset="0"/>
              </a:rPr>
              <a:t>  NOT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+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比较运算符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确定范围：</a:t>
            </a:r>
            <a:br>
              <a:rPr lang="zh-CN" altLang="en-US" sz="3200" dirty="0">
                <a:latin typeface="Arial" panose="020B0604020202020204" pitchFamily="34" charset="0"/>
              </a:rPr>
            </a:b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BETWEEN AND</a:t>
            </a:r>
            <a:r>
              <a:rPr lang="en-US" altLang="zh-CN" sz="3200" dirty="0">
                <a:latin typeface="Arial" panose="020B0604020202020204" pitchFamily="34" charset="0"/>
              </a:rPr>
              <a:t>,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NOT BETWEEN AND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确定集合：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3200" dirty="0">
                <a:latin typeface="Arial" panose="020B0604020202020204" pitchFamily="34" charset="0"/>
              </a:rPr>
              <a:t> ,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NOT IN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/>
              <a:t>字符串匹配：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LIKE</a:t>
            </a:r>
            <a:r>
              <a:rPr lang="en-US" altLang="zh-CN" sz="3200" dirty="0">
                <a:latin typeface="Arial" panose="020B0604020202020204" pitchFamily="34" charset="0"/>
              </a:rPr>
              <a:t>,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NOT LIKE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空值：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IS NULL</a:t>
            </a:r>
            <a:r>
              <a:rPr lang="en-US" altLang="zh-CN" sz="3200" dirty="0">
                <a:latin typeface="Arial" panose="020B0604020202020204" pitchFamily="34" charset="0"/>
              </a:rPr>
              <a:t> ,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IS NOT NULL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多重条件：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,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OR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比较大小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49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</a:rPr>
              <a:t>查询所有年龄在</a:t>
            </a:r>
            <a:r>
              <a:rPr lang="en-US" altLang="zh-CN" dirty="0">
                <a:latin typeface="Arial" panose="020B0604020202020204" pitchFamily="34" charset="0"/>
              </a:rPr>
              <a:t>20</a:t>
            </a:r>
            <a:r>
              <a:rPr lang="zh-CN" altLang="en-US" dirty="0">
                <a:latin typeface="Arial" panose="020B0604020202020204" pitchFamily="34" charset="0"/>
              </a:rPr>
              <a:t>岁以下的学生姓名及其年龄。 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zh-CN" altLang="en-US" sz="2000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latin typeface="Arial" panose="020B0604020202020204" pitchFamily="34" charset="0"/>
              </a:rPr>
              <a:t>SELECT Sname, Sage FROM S</a:t>
            </a:r>
            <a:endParaRPr lang="en-US" altLang="zh-CN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dirty="0">
                <a:latin typeface="Arial" panose="020B0604020202020204" pitchFamily="34" charset="0"/>
              </a:rPr>
              <a:t>    WHERE Sage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&lt;</a:t>
            </a:r>
            <a:r>
              <a:rPr lang="en-US" altLang="zh-CN" dirty="0">
                <a:latin typeface="Arial" panose="020B0604020202020204" pitchFamily="34" charset="0"/>
              </a:rPr>
              <a:t> 20 ;</a:t>
            </a:r>
            <a:endParaRPr lang="en-US" altLang="zh-CN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zh-CN" altLang="en-US" dirty="0">
                <a:latin typeface="Arial" panose="020B0604020202020204" pitchFamily="34" charset="0"/>
              </a:rPr>
              <a:t>或  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latin typeface="Arial" panose="020B0604020202020204" pitchFamily="34" charset="0"/>
              </a:rPr>
              <a:t>SELECT Sname, Sage FROM S 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WHERE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</a:rPr>
              <a:t> Sage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&gt;=</a:t>
            </a:r>
            <a:r>
              <a:rPr lang="en-US" altLang="zh-CN" dirty="0">
                <a:latin typeface="Arial" panose="020B0604020202020204" pitchFamily="34" charset="0"/>
              </a:rPr>
              <a:t> 20 ; 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确定范围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70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查询年龄在</a:t>
            </a:r>
            <a:r>
              <a:rPr lang="en-US" altLang="zh-CN" sz="3200" dirty="0">
                <a:latin typeface="Arial" panose="020B0604020202020204" pitchFamily="34" charset="0"/>
              </a:rPr>
              <a:t>20~23</a:t>
            </a:r>
            <a:r>
              <a:rPr lang="zh-CN" altLang="en-US" sz="3200" dirty="0">
                <a:latin typeface="Arial" panose="020B0604020202020204" pitchFamily="34" charset="0"/>
              </a:rPr>
              <a:t>岁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包括</a:t>
            </a:r>
            <a:r>
              <a:rPr lang="en-US" altLang="zh-CN" sz="3200" dirty="0">
                <a:latin typeface="Arial" panose="020B0604020202020204" pitchFamily="34" charset="0"/>
              </a:rPr>
              <a:t>20</a:t>
            </a:r>
            <a:r>
              <a:rPr lang="zh-CN" altLang="en-US" sz="3200" dirty="0">
                <a:latin typeface="Arial" panose="020B0604020202020204" pitchFamily="34" charset="0"/>
              </a:rPr>
              <a:t>岁和</a:t>
            </a:r>
            <a:r>
              <a:rPr lang="en-US" altLang="zh-CN" sz="3200" dirty="0">
                <a:latin typeface="Arial" panose="020B0604020202020204" pitchFamily="34" charset="0"/>
              </a:rPr>
              <a:t>23</a:t>
            </a:r>
            <a:r>
              <a:rPr lang="zh-CN" altLang="en-US" sz="3200" dirty="0">
                <a:latin typeface="Arial" panose="020B0604020202020204" pitchFamily="34" charset="0"/>
              </a:rPr>
              <a:t>岁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之间的学生的姓名、系别和年龄。  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Sname, Sdept, Sage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Sage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BETWEEN</a:t>
            </a:r>
            <a:r>
              <a:rPr lang="en-US" altLang="zh-CN" sz="3200" dirty="0">
                <a:latin typeface="Arial" panose="020B0604020202020204" pitchFamily="34" charset="0"/>
              </a:rPr>
              <a:t> 20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23 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查询年龄不在</a:t>
            </a:r>
            <a:r>
              <a:rPr lang="en-US" altLang="zh-CN" sz="3200" dirty="0">
                <a:latin typeface="Arial" panose="020B0604020202020204" pitchFamily="34" charset="0"/>
              </a:rPr>
              <a:t>20~23</a:t>
            </a:r>
            <a:r>
              <a:rPr lang="zh-CN" altLang="en-US" sz="3200" dirty="0">
                <a:latin typeface="Arial" panose="020B0604020202020204" pitchFamily="34" charset="0"/>
              </a:rPr>
              <a:t>岁之间的</a:t>
            </a:r>
            <a:r>
              <a:rPr lang="en-US" altLang="zh-CN" sz="3200" dirty="0">
                <a:latin typeface="Arial" panose="020B0604020202020204" pitchFamily="34" charset="0"/>
              </a:rPr>
              <a:t>……</a:t>
            </a:r>
            <a:r>
              <a:rPr lang="zh-CN" altLang="en-US" sz="3200" dirty="0">
                <a:latin typeface="Arial" panose="020B0604020202020204" pitchFamily="34" charset="0"/>
              </a:rPr>
              <a:t>。  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Sname, Sdept, Sage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Sage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NOT BETWEEN</a:t>
            </a:r>
            <a:r>
              <a:rPr lang="en-US" altLang="zh-CN" sz="3200" dirty="0">
                <a:latin typeface="Arial" panose="020B0604020202020204" pitchFamily="34" charset="0"/>
              </a:rPr>
              <a:t> 20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23 ;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确定集合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52425" indent="-352425"/>
            <a:r>
              <a:rPr lang="zh-CN" altLang="en-US" sz="3200" dirty="0">
                <a:latin typeface="Arial" panose="020B0604020202020204" pitchFamily="34" charset="0"/>
              </a:rPr>
              <a:t>查询信息系</a:t>
            </a:r>
            <a:r>
              <a:rPr lang="en-US" altLang="zh-CN" sz="3200" dirty="0">
                <a:latin typeface="Arial" panose="020B0604020202020204" pitchFamily="34" charset="0"/>
              </a:rPr>
              <a:t>(IS)</a:t>
            </a:r>
            <a:r>
              <a:rPr lang="zh-CN" altLang="en-US" sz="3200" dirty="0">
                <a:latin typeface="Arial" panose="020B0604020202020204" pitchFamily="34" charset="0"/>
              </a:rPr>
              <a:t>、数学系</a:t>
            </a:r>
            <a:r>
              <a:rPr lang="en-US" altLang="zh-CN" sz="3200" dirty="0">
                <a:latin typeface="Arial" panose="020B0604020202020204" pitchFamily="34" charset="0"/>
              </a:rPr>
              <a:t>(MA)</a:t>
            </a:r>
            <a:r>
              <a:rPr lang="zh-CN" altLang="en-US" sz="3200" dirty="0">
                <a:latin typeface="Arial" panose="020B0604020202020204" pitchFamily="34" charset="0"/>
              </a:rPr>
              <a:t>和计算机科学系</a:t>
            </a:r>
            <a:r>
              <a:rPr lang="en-US" altLang="zh-CN" sz="3200" dirty="0">
                <a:latin typeface="Arial" panose="020B0604020202020204" pitchFamily="34" charset="0"/>
              </a:rPr>
              <a:t>(CS)</a:t>
            </a:r>
            <a:r>
              <a:rPr lang="zh-CN" altLang="en-US" sz="3200" dirty="0">
                <a:latin typeface="Arial" panose="020B0604020202020204" pitchFamily="34" charset="0"/>
              </a:rPr>
              <a:t>学生的姓名和性别。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Sname, Ssex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Sdept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IN</a:t>
            </a:r>
            <a:r>
              <a:rPr lang="en-US" altLang="zh-CN" sz="3200" dirty="0">
                <a:latin typeface="Arial" panose="020B0604020202020204" pitchFamily="34" charset="0"/>
              </a:rPr>
              <a:t> ( 'IS', 'MA', 'CS' 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marL="352425" indent="-352425"/>
            <a:r>
              <a:rPr lang="zh-CN" altLang="en-US" sz="3200" dirty="0">
                <a:latin typeface="Arial" panose="020B0604020202020204" pitchFamily="34" charset="0"/>
              </a:rPr>
              <a:t>查询既不是信息系、数学系，也不是计算机科学系学生的姓名和性别。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Sname, Ssex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Sdept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NOT IN</a:t>
            </a:r>
            <a:r>
              <a:rPr lang="en-US" altLang="zh-CN" sz="3200" dirty="0">
                <a:latin typeface="Arial" panose="020B0604020202020204" pitchFamily="34" charset="0"/>
              </a:rPr>
              <a:t> ( 'IS', 'MA', 'CS' );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3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61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73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115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147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17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charRg st="18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字符串匹配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0387" name="Rectangle 3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653088"/>
          </a:xfrm>
        </p:spPr>
        <p:txBody>
          <a:bodyPr vert="horz" wrap="square" lIns="91440" tIns="45720" rIns="91440" bIns="45720" anchor="t" anchorCtr="0"/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使用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LIKE</a:t>
            </a:r>
            <a:r>
              <a:rPr lang="zh-CN" altLang="en-US" sz="3200" dirty="0">
                <a:latin typeface="Arial" panose="020B0604020202020204" pitchFamily="34" charset="0"/>
              </a:rPr>
              <a:t>，进行字符串的匹配。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974725" lvl="1" indent="-361950">
              <a:spcBef>
                <a:spcPct val="50000"/>
              </a:spcBef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% 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</a:rPr>
              <a:t>百分号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</a:rPr>
              <a:t>：代表任意长度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</a:rPr>
              <a:t>可为</a:t>
            </a:r>
            <a:r>
              <a:rPr lang="en-US" altLang="zh-CN" sz="2800" dirty="0">
                <a:latin typeface="Arial" panose="020B0604020202020204" pitchFamily="34" charset="0"/>
              </a:rPr>
              <a:t>0)</a:t>
            </a:r>
            <a:r>
              <a:rPr lang="zh-CN" altLang="en-US" sz="2800" dirty="0">
                <a:latin typeface="Arial" panose="020B0604020202020204" pitchFamily="34" charset="0"/>
              </a:rPr>
              <a:t>的字符串</a:t>
            </a:r>
            <a:endParaRPr lang="zh-CN" altLang="en-US" dirty="0">
              <a:latin typeface="Arial" panose="020B0604020202020204" pitchFamily="34" charset="0"/>
            </a:endParaRPr>
          </a:p>
          <a:p>
            <a:pPr marL="974725" lvl="1" indent="-361950"/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_ </a:t>
            </a:r>
            <a:r>
              <a:rPr lang="en-US" altLang="zh-CN" sz="2800" dirty="0">
                <a:latin typeface="Arial" panose="020B0604020202020204" pitchFamily="34" charset="0"/>
              </a:rPr>
              <a:t> (</a:t>
            </a:r>
            <a:r>
              <a:rPr lang="zh-CN" altLang="en-US" sz="2800" dirty="0">
                <a:latin typeface="Arial" panose="020B0604020202020204" pitchFamily="34" charset="0"/>
              </a:rPr>
              <a:t>下横线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</a:rPr>
              <a:t>：代表任意单个字符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273050" indent="-273050"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例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974725" lvl="1" indent="-361950"/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a%b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表示以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开头，以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结尾的任意长度的字符串。如</a:t>
            </a:r>
            <a:r>
              <a:rPr lang="en-US" altLang="zh-CN" sz="2800" dirty="0">
                <a:latin typeface="Arial" panose="020B0604020202020204" pitchFamily="34" charset="0"/>
              </a:rPr>
              <a:t>adb</a:t>
            </a:r>
            <a:r>
              <a:rPr lang="zh-CN" altLang="en-US" sz="2800" dirty="0">
                <a:latin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</a:rPr>
              <a:t>acckb</a:t>
            </a:r>
            <a:r>
              <a:rPr lang="zh-CN" altLang="en-US" sz="2800" dirty="0">
                <a:latin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</a:rPr>
              <a:t>ab </a:t>
            </a:r>
            <a:r>
              <a:rPr lang="zh-CN" altLang="en-US" sz="2800" dirty="0">
                <a:latin typeface="Arial" panose="020B0604020202020204" pitchFamily="34" charset="0"/>
              </a:rPr>
              <a:t>等都满足该匹配串</a:t>
            </a:r>
            <a:endParaRPr lang="zh-CN" altLang="en-US" dirty="0">
              <a:latin typeface="Arial" panose="020B0604020202020204" pitchFamily="34" charset="0"/>
            </a:endParaRPr>
          </a:p>
          <a:p>
            <a:pPr marL="974725" lvl="1" indent="-361950"/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a_b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800" dirty="0">
                <a:latin typeface="Arial" panose="020B0604020202020204" pitchFamily="34" charset="0"/>
              </a:rPr>
              <a:t>表示以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开头，以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结尾的长度为</a:t>
            </a:r>
            <a:r>
              <a:rPr lang="en-US" altLang="zh-CN" sz="2800" dirty="0">
                <a:latin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</a:rPr>
              <a:t>的任意字符串。如</a:t>
            </a:r>
            <a:r>
              <a:rPr lang="en-US" altLang="zh-CN" sz="2800" dirty="0">
                <a:latin typeface="Arial" panose="020B0604020202020204" pitchFamily="34" charset="0"/>
              </a:rPr>
              <a:t>adb</a:t>
            </a:r>
            <a:r>
              <a:rPr lang="zh-CN" altLang="en-US" sz="2800" dirty="0">
                <a:latin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</a:rPr>
              <a:t>akb</a:t>
            </a:r>
            <a:r>
              <a:rPr lang="zh-CN" altLang="en-US" sz="2800" dirty="0">
                <a:latin typeface="Arial" panose="020B0604020202020204" pitchFamily="34" charset="0"/>
              </a:rPr>
              <a:t>等都满足该匹配串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charRg st="5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charRg st="6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charRg st="109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字符串匹配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152400" y="944563"/>
            <a:ext cx="8848725" cy="5653087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查询所有刘姓学生的姓名、学号和性别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Sname, Sno, Ssex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 Sname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LIKE</a:t>
            </a:r>
            <a:r>
              <a:rPr lang="en-US" altLang="zh-CN" sz="3200" dirty="0">
                <a:latin typeface="Arial" panose="020B0604020202020204" pitchFamily="34" charset="0"/>
              </a:rPr>
              <a:t> '</a:t>
            </a:r>
            <a:r>
              <a:rPr lang="zh-CN" altLang="en-US" sz="3200" dirty="0">
                <a:latin typeface="Arial" panose="020B0604020202020204" pitchFamily="34" charset="0"/>
              </a:rPr>
              <a:t>刘</a:t>
            </a:r>
            <a:r>
              <a:rPr lang="en-US" altLang="zh-CN" sz="3200" dirty="0">
                <a:latin typeface="Arial" panose="020B0604020202020204" pitchFamily="34" charset="0"/>
              </a:rPr>
              <a:t>%'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ts val="24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查询姓</a:t>
            </a:r>
            <a:r>
              <a:rPr lang="en-US" altLang="zh-CN" sz="3200" dirty="0">
                <a:latin typeface="Arial" panose="020B0604020202020204" pitchFamily="34" charset="0"/>
              </a:rPr>
              <a:t>“</a:t>
            </a:r>
            <a:r>
              <a:rPr lang="zh-CN" altLang="en-US" sz="3200" dirty="0">
                <a:latin typeface="Arial" panose="020B0604020202020204" pitchFamily="34" charset="0"/>
              </a:rPr>
              <a:t>欧阳</a:t>
            </a:r>
            <a:r>
              <a:rPr lang="en-US" altLang="zh-CN" sz="3200" dirty="0">
                <a:latin typeface="Arial" panose="020B0604020202020204" pitchFamily="34" charset="0"/>
              </a:rPr>
              <a:t>”</a:t>
            </a:r>
            <a:r>
              <a:rPr lang="zh-CN" altLang="en-US" sz="3200" dirty="0">
                <a:latin typeface="Arial" panose="020B0604020202020204" pitchFamily="34" charset="0"/>
              </a:rPr>
              <a:t>且全名为三个汉字的学生的姓名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Sname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 Sname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LIKE</a:t>
            </a:r>
            <a:r>
              <a:rPr lang="en-US" altLang="zh-CN" sz="3200" dirty="0">
                <a:latin typeface="Arial" panose="020B0604020202020204" pitchFamily="34" charset="0"/>
              </a:rPr>
              <a:t> '</a:t>
            </a:r>
            <a:r>
              <a:rPr lang="zh-CN" altLang="en-US" sz="3200" dirty="0">
                <a:latin typeface="Arial" panose="020B0604020202020204" pitchFamily="34" charset="0"/>
              </a:rPr>
              <a:t>欧阳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_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_</a:t>
            </a:r>
            <a:r>
              <a:rPr lang="en-US" altLang="zh-CN" sz="3200" dirty="0">
                <a:latin typeface="Arial" panose="020B0604020202020204" pitchFamily="34" charset="0"/>
              </a:rPr>
              <a:t>'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字符串匹配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42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52425" indent="-352425"/>
            <a:r>
              <a:rPr lang="zh-CN" altLang="en-US" sz="3200" dirty="0">
                <a:latin typeface="Arial" panose="020B0604020202020204" pitchFamily="34" charset="0"/>
              </a:rPr>
              <a:t>查询名字中第</a:t>
            </a:r>
            <a:r>
              <a:rPr lang="en-US" altLang="zh-CN" sz="3200" dirty="0">
                <a:latin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</a:rPr>
              <a:t>个字为</a:t>
            </a:r>
            <a:r>
              <a:rPr lang="en-US" altLang="zh-CN" sz="3200" dirty="0">
                <a:latin typeface="Arial" panose="020B0604020202020204" pitchFamily="34" charset="0"/>
              </a:rPr>
              <a:t>"</a:t>
            </a:r>
            <a:r>
              <a:rPr lang="zh-CN" altLang="en-US" sz="3200" dirty="0">
                <a:latin typeface="Arial" panose="020B0604020202020204" pitchFamily="34" charset="0"/>
              </a:rPr>
              <a:t>阳</a:t>
            </a:r>
            <a:r>
              <a:rPr lang="en-US" altLang="zh-CN" sz="3200" dirty="0">
                <a:latin typeface="Arial" panose="020B0604020202020204" pitchFamily="34" charset="0"/>
              </a:rPr>
              <a:t>"</a:t>
            </a:r>
            <a:r>
              <a:rPr lang="zh-CN" altLang="en-US" sz="3200" dirty="0">
                <a:latin typeface="Arial" panose="020B0604020202020204" pitchFamily="34" charset="0"/>
              </a:rPr>
              <a:t>字的学生的姓名和学号。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Sname, Sno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Sname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LIKE</a:t>
            </a:r>
            <a:r>
              <a:rPr lang="en-US" altLang="zh-CN" sz="3200" dirty="0">
                <a:latin typeface="Arial" panose="020B0604020202020204" pitchFamily="34" charset="0"/>
              </a:rPr>
              <a:t> '_ _</a:t>
            </a:r>
            <a:r>
              <a:rPr lang="zh-CN" altLang="en-US" sz="3200" dirty="0">
                <a:latin typeface="Arial" panose="020B0604020202020204" pitchFamily="34" charset="0"/>
              </a:rPr>
              <a:t>阳</a:t>
            </a:r>
            <a:r>
              <a:rPr lang="en-US" altLang="zh-CN" sz="3200" dirty="0">
                <a:latin typeface="Arial" panose="020B0604020202020204" pitchFamily="34" charset="0"/>
              </a:rPr>
              <a:t>%'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查询所有不姓刘的学生姓名。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Sname, Sno, Ssex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Sname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NOT LIKE</a:t>
            </a:r>
            <a:r>
              <a:rPr lang="en-US" altLang="zh-CN" sz="3200" dirty="0">
                <a:latin typeface="Arial" panose="020B0604020202020204" pitchFamily="34" charset="0"/>
              </a:rPr>
              <a:t> '</a:t>
            </a:r>
            <a:r>
              <a:rPr lang="zh-CN" altLang="en-US" sz="3200" dirty="0">
                <a:latin typeface="Arial" panose="020B0604020202020204" pitchFamily="34" charset="0"/>
              </a:rPr>
              <a:t>刘</a:t>
            </a:r>
            <a:r>
              <a:rPr lang="en-US" altLang="zh-CN" sz="3200" dirty="0">
                <a:latin typeface="Arial" panose="020B0604020202020204" pitchFamily="34" charset="0"/>
              </a:rPr>
              <a:t>%'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3970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涉及空值的查询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3459" name="Rectangle 3"/>
          <p:cNvSpPr>
            <a:spLocks noGrp="1"/>
          </p:cNvSpPr>
          <p:nvPr>
            <p:ph idx="1"/>
          </p:nvPr>
        </p:nvSpPr>
        <p:spPr>
          <a:xfrm>
            <a:off x="107950" y="928688"/>
            <a:ext cx="8848725" cy="5561012"/>
          </a:xfrm>
        </p:spPr>
        <p:txBody>
          <a:bodyPr vert="horz" wrap="square" lIns="91440" tIns="45720" rIns="91440" bIns="45720" anchor="t" anchorCtr="0"/>
          <a:p>
            <a:pPr marL="352425" indent="-352425"/>
            <a:r>
              <a:rPr lang="zh-CN" altLang="en-US" sz="3200" dirty="0">
                <a:latin typeface="Arial" panose="020B0604020202020204" pitchFamily="34" charset="0"/>
              </a:rPr>
              <a:t>查询缺少成绩的学生的学号和相应的课程号。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Sno, Cno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Score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IS  NULL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24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查所有有成绩的学生学号和课程号。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Sno, Cno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 Score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IS  NOT NULL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4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5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104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12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charRg st="141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多重条件查询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6531" name="Rectangle 3"/>
          <p:cNvSpPr>
            <a:spLocks noGrp="1"/>
          </p:cNvSpPr>
          <p:nvPr>
            <p:ph idx="1"/>
          </p:nvPr>
        </p:nvSpPr>
        <p:spPr>
          <a:xfrm>
            <a:off x="152400" y="836613"/>
            <a:ext cx="8848725" cy="5580062"/>
          </a:xfrm>
        </p:spPr>
        <p:txBody>
          <a:bodyPr vert="horz" wrap="square" lIns="91440" tIns="45720" rIns="91440" bIns="45720" anchor="t" anchorCtr="0"/>
          <a:p>
            <a:pPr marL="274955" indent="-274955">
              <a:lnSpc>
                <a:spcPct val="110000"/>
              </a:lnSpc>
            </a:pPr>
            <a:r>
              <a:rPr lang="zh-CN" altLang="en-US" sz="3200" dirty="0"/>
              <a:t>用逻辑运算</a:t>
            </a:r>
            <a:r>
              <a:rPr lang="zh-CN" altLang="en-US" sz="3200" dirty="0">
                <a:latin typeface="Arial" panose="020B0604020202020204" pitchFamily="34" charset="0"/>
              </a:rPr>
              <a:t>符</a:t>
            </a:r>
            <a:r>
              <a:rPr lang="en-US" altLang="zh-CN" sz="3200" dirty="0">
                <a:latin typeface="Arial" panose="020B0604020202020204" pitchFamily="34" charset="0"/>
              </a:rPr>
              <a:t>AND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</a:rPr>
              <a:t>OR</a:t>
            </a:r>
            <a:r>
              <a:rPr lang="zh-CN" altLang="en-US" sz="3200" dirty="0">
                <a:latin typeface="Arial" panose="020B0604020202020204" pitchFamily="34" charset="0"/>
              </a:rPr>
              <a:t>联结</a:t>
            </a:r>
            <a:r>
              <a:rPr lang="zh-CN" altLang="en-US" sz="3200" dirty="0"/>
              <a:t>多个查询条件</a:t>
            </a:r>
            <a:endParaRPr lang="zh-CN" altLang="en-US" sz="3200" dirty="0"/>
          </a:p>
          <a:p>
            <a:pPr marL="815975" lvl="1" indent="-361950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</a:rPr>
              <a:t>：只有当两个表达式的值都为真，其结果为真。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用于限制查询结果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815975" lvl="1" indent="-361950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OR</a:t>
            </a:r>
            <a:r>
              <a:rPr lang="zh-CN" altLang="en-US" dirty="0">
                <a:latin typeface="Arial" panose="020B0604020202020204" pitchFamily="34" charset="0"/>
              </a:rPr>
              <a:t>：对几个条件进行合并，当其中的任一个条件为真，其结果为真。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用于扩展查询结果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74955" indent="-274955"/>
            <a:endParaRPr lang="en-US" altLang="zh-CN" sz="1600" dirty="0">
              <a:latin typeface="Arial" panose="020B0604020202020204" pitchFamily="34" charset="0"/>
            </a:endParaRPr>
          </a:p>
          <a:p>
            <a:pPr marL="274955" indent="-274955"/>
            <a:r>
              <a:rPr lang="zh-CN" altLang="en-US" sz="3200" dirty="0">
                <a:latin typeface="Arial" panose="020B0604020202020204" pitchFamily="34" charset="0"/>
              </a:rPr>
              <a:t>运算优先级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815975" lvl="1" indent="-361950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</a:rPr>
              <a:t>的优先级高于</a:t>
            </a:r>
            <a:r>
              <a:rPr lang="en-US" altLang="zh-CN" dirty="0">
                <a:latin typeface="Arial" panose="020B0604020202020204" pitchFamily="34" charset="0"/>
              </a:rPr>
              <a:t>OR</a:t>
            </a:r>
            <a:endParaRPr lang="en-US" altLang="zh-CN" dirty="0">
              <a:latin typeface="Arial" panose="020B0604020202020204" pitchFamily="34" charset="0"/>
            </a:endParaRPr>
          </a:p>
          <a:p>
            <a:pPr marL="815975" lvl="1" indent="-361950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</a:rPr>
              <a:t>可以用括号改变优先级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21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5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99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105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charRg st="11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302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多重条件查询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7555" name="Rectangle 3"/>
          <p:cNvSpPr>
            <a:spLocks noGrp="1"/>
          </p:cNvSpPr>
          <p:nvPr>
            <p:ph idx="1"/>
          </p:nvPr>
        </p:nvSpPr>
        <p:spPr>
          <a:xfrm>
            <a:off x="152400" y="836613"/>
            <a:ext cx="8848725" cy="5842000"/>
          </a:xfrm>
        </p:spPr>
        <p:txBody>
          <a:bodyPr vert="horz" wrap="square" lIns="91440" tIns="45720" rIns="91440" bIns="45720" anchor="t" anchorCtr="0"/>
          <a:p>
            <a:pPr marL="352425" indent="-352425" latinLnBrk="0">
              <a:lnSpc>
                <a:spcPts val="448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查询计算机系</a:t>
            </a:r>
            <a:r>
              <a:rPr lang="en-US" altLang="zh-CN" sz="3200" dirty="0">
                <a:latin typeface="Arial" panose="020B0604020202020204" pitchFamily="34" charset="0"/>
              </a:rPr>
              <a:t>(CS)20</a:t>
            </a:r>
            <a:r>
              <a:rPr lang="zh-CN" altLang="en-US" sz="3200" dirty="0">
                <a:latin typeface="Arial" panose="020B0604020202020204" pitchFamily="34" charset="0"/>
              </a:rPr>
              <a:t>岁以下的学生姓名。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SELECT Sname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 Sdept='CS'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Sage&lt;20;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查询信息系</a:t>
            </a:r>
            <a:r>
              <a:rPr lang="en-US" altLang="zh-CN" sz="3200" dirty="0">
                <a:latin typeface="Arial" panose="020B0604020202020204" pitchFamily="34" charset="0"/>
              </a:rPr>
              <a:t>(IS)</a:t>
            </a:r>
            <a:r>
              <a:rPr lang="zh-CN" altLang="en-US" sz="3200" dirty="0">
                <a:latin typeface="Arial" panose="020B0604020202020204" pitchFamily="34" charset="0"/>
              </a:rPr>
              <a:t>、数学系</a:t>
            </a:r>
            <a:r>
              <a:rPr lang="en-US" altLang="zh-CN" sz="3200" dirty="0">
                <a:latin typeface="Arial" panose="020B0604020202020204" pitchFamily="34" charset="0"/>
              </a:rPr>
              <a:t>(MA)</a:t>
            </a:r>
            <a:r>
              <a:rPr lang="zh-CN" altLang="en-US" sz="3200" dirty="0">
                <a:latin typeface="Arial" panose="020B0604020202020204" pitchFamily="34" charset="0"/>
              </a:rPr>
              <a:t>和计算机系</a:t>
            </a:r>
            <a:r>
              <a:rPr lang="en-US" altLang="zh-CN" sz="3200" dirty="0">
                <a:latin typeface="Arial" panose="020B0604020202020204" pitchFamily="34" charset="0"/>
              </a:rPr>
              <a:t>(CS)</a:t>
            </a:r>
            <a:r>
              <a:rPr lang="zh-CN" altLang="en-US" sz="3200" dirty="0">
                <a:latin typeface="Arial" panose="020B0604020202020204" pitchFamily="34" charset="0"/>
              </a:rPr>
              <a:t>学生的姓名和性别。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Sname, Ssex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 Sdept= 'IS'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OR</a:t>
            </a:r>
            <a:r>
              <a:rPr lang="en-US" altLang="zh-CN" sz="3200" dirty="0">
                <a:latin typeface="Arial" panose="020B0604020202020204" pitchFamily="34" charset="0"/>
              </a:rPr>
              <a:t> Sdept= 'MA'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latinLnBrk="0">
              <a:lnSpc>
                <a:spcPts val="44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OR</a:t>
            </a:r>
            <a:r>
              <a:rPr lang="en-US" altLang="zh-CN" sz="3200" dirty="0">
                <a:latin typeface="Arial" panose="020B0604020202020204" pitchFamily="34" charset="0"/>
              </a:rPr>
              <a:t> Sdept= 'CS';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5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9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13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15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171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charRg st="212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87313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多重条件查询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8579" name="Rectangle 3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437188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查询年龄在</a:t>
            </a:r>
            <a:r>
              <a:rPr lang="en-US" altLang="zh-CN" sz="3200" dirty="0">
                <a:latin typeface="Arial" panose="020B0604020202020204" pitchFamily="34" charset="0"/>
              </a:rPr>
              <a:t>20~23</a:t>
            </a:r>
            <a:r>
              <a:rPr lang="zh-CN" altLang="en-US" sz="3200" dirty="0">
                <a:latin typeface="Arial" panose="020B0604020202020204" pitchFamily="34" charset="0"/>
              </a:rPr>
              <a:t>岁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包括</a:t>
            </a:r>
            <a:r>
              <a:rPr lang="en-US" altLang="zh-CN" sz="3200" dirty="0">
                <a:latin typeface="Arial" panose="020B0604020202020204" pitchFamily="34" charset="0"/>
              </a:rPr>
              <a:t>20</a:t>
            </a:r>
            <a:r>
              <a:rPr lang="zh-CN" altLang="en-US" sz="3200" dirty="0">
                <a:latin typeface="Arial" panose="020B0604020202020204" pitchFamily="34" charset="0"/>
              </a:rPr>
              <a:t>岁和</a:t>
            </a:r>
            <a:r>
              <a:rPr lang="en-US" altLang="zh-CN" sz="3200" dirty="0">
                <a:latin typeface="Arial" panose="020B0604020202020204" pitchFamily="34" charset="0"/>
              </a:rPr>
              <a:t>23</a:t>
            </a:r>
            <a:r>
              <a:rPr lang="zh-CN" altLang="en-US" sz="3200" dirty="0">
                <a:latin typeface="Arial" panose="020B0604020202020204" pitchFamily="34" charset="0"/>
              </a:rPr>
              <a:t>岁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之间的学生的姓名、系别和年龄。</a:t>
            </a:r>
            <a:br>
              <a:rPr lang="zh-CN" altLang="en-US" sz="3200" dirty="0">
                <a:latin typeface="Arial" panose="020B0604020202020204" pitchFamily="34" charset="0"/>
              </a:rPr>
            </a:br>
            <a:r>
              <a:rPr lang="zh-CN" altLang="en-US" sz="3200" dirty="0">
                <a:latin typeface="Arial" panose="020B0604020202020204" pitchFamily="34" charset="0"/>
              </a:rPr>
              <a:t>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Sname, Sdept, Sage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latinLnBrk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FROM S</a:t>
            </a:r>
            <a:endParaRPr lang="en-US" altLang="zh-CN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 Sage&gt;=20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Sage&lt;=23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None/>
            </a:pP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408580" name="AutoShape 4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7956550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charRg st="4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charRg st="7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charRg st="77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8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对查询结果进行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排序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03426" name="Rectangle 5"/>
          <p:cNvSpPr>
            <a:spLocks noGrp="1"/>
          </p:cNvSpPr>
          <p:nvPr>
            <p:ph idx="1"/>
          </p:nvPr>
        </p:nvSpPr>
        <p:spPr>
          <a:xfrm>
            <a:off x="152400" y="871538"/>
            <a:ext cx="8848725" cy="5653087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使用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ORDER BY</a:t>
            </a:r>
            <a:r>
              <a:rPr lang="zh-CN" altLang="en-US" sz="3200" dirty="0">
                <a:latin typeface="Arial" panose="020B0604020202020204" pitchFamily="34" charset="0"/>
              </a:rPr>
              <a:t>子句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898525" lvl="1" indent="-358775" algn="just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可以按一个或多个属性列排序</a:t>
            </a:r>
            <a:endParaRPr lang="zh-CN" altLang="en-US" dirty="0">
              <a:latin typeface="Arial" panose="020B0604020202020204" pitchFamily="34" charset="0"/>
            </a:endParaRPr>
          </a:p>
          <a:p>
            <a:pPr marL="898525" lvl="1" indent="-358775" algn="just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>
                <a:latin typeface="Arial" panose="020B0604020202020204" pitchFamily="34" charset="0"/>
              </a:rPr>
              <a:t>升序：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ASC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缺省值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；降序：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DESC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pPr marL="898525" lvl="1" indent="-358775" algn="just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  <a:p>
            <a:pPr algn="just"/>
            <a:r>
              <a:rPr lang="zh-CN" altLang="en-US" sz="3200" dirty="0">
                <a:latin typeface="Arial" panose="020B0604020202020204" pitchFamily="34" charset="0"/>
              </a:rPr>
              <a:t>当排序列含空值时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898525" lvl="1" indent="-358775" algn="just">
              <a:spcBef>
                <a:spcPct val="15000"/>
              </a:spcBef>
            </a:pPr>
            <a:r>
              <a:rPr lang="en-US" altLang="zh-CN" dirty="0">
                <a:latin typeface="Arial" panose="020B0604020202020204" pitchFamily="34" charset="0"/>
              </a:rPr>
              <a:t>ASC</a:t>
            </a:r>
            <a:r>
              <a:rPr lang="zh-CN" altLang="en-US" dirty="0">
                <a:latin typeface="Arial" panose="020B0604020202020204" pitchFamily="34" charset="0"/>
              </a:rPr>
              <a:t>：排序列为空值的元组最后显示</a:t>
            </a:r>
            <a:endParaRPr lang="zh-CN" altLang="en-US" dirty="0">
              <a:latin typeface="Arial" panose="020B0604020202020204" pitchFamily="34" charset="0"/>
            </a:endParaRPr>
          </a:p>
          <a:p>
            <a:pPr marL="898525" lvl="1" indent="-358775" algn="just">
              <a:spcBef>
                <a:spcPct val="15000"/>
              </a:spcBef>
            </a:pPr>
            <a:r>
              <a:rPr lang="en-US" altLang="zh-CN" dirty="0">
                <a:latin typeface="Arial" panose="020B0604020202020204" pitchFamily="34" charset="0"/>
              </a:rPr>
              <a:t>DESC</a:t>
            </a:r>
            <a:r>
              <a:rPr lang="zh-CN" altLang="en-US" dirty="0">
                <a:latin typeface="Arial" panose="020B0604020202020204" pitchFamily="34" charset="0"/>
              </a:rPr>
              <a:t>：排序列为空值的元组最先显示</a:t>
            </a:r>
            <a:r>
              <a:rPr lang="zh-CN" altLang="en-US" sz="3600" dirty="0">
                <a:latin typeface="Arial" panose="020B0604020202020204" pitchFamily="34" charset="0"/>
              </a:rPr>
              <a:t> 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3" name="Rectangle 5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查询排序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334" name="Rectangle 6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883650" cy="5473700"/>
          </a:xfrm>
        </p:spPr>
        <p:txBody>
          <a:bodyPr vert="horz" wrap="square" lIns="91440" tIns="45720" rIns="91440" bIns="45720" anchor="t" anchorCtr="0"/>
          <a:p>
            <a:pPr marL="352425" indent="-352425"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找出年龄小于</a:t>
            </a:r>
            <a:r>
              <a:rPr lang="en-US" altLang="zh-CN" sz="3200" dirty="0">
                <a:latin typeface="Arial" panose="020B0604020202020204" pitchFamily="34" charset="0"/>
              </a:rPr>
              <a:t>23</a:t>
            </a:r>
            <a:r>
              <a:rPr lang="zh-CN" altLang="en-US" sz="3200" dirty="0">
                <a:latin typeface="Arial" panose="020B0604020202020204" pitchFamily="34" charset="0"/>
              </a:rPr>
              <a:t>岁的男学生的全部情况，并将结果按年龄从小到大排序。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>
              <a:spcBef>
                <a:spcPct val="150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</a:t>
            </a:r>
            <a:r>
              <a:rPr lang="en-US" altLang="zh-CN" sz="3200" dirty="0">
                <a:latin typeface="Arial" panose="020B0604020202020204" pitchFamily="34" charset="0"/>
              </a:rPr>
              <a:t>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Sage &lt; 23 AND Ssex='</a:t>
            </a:r>
            <a:r>
              <a:rPr lang="zh-CN" altLang="en-US" sz="3200" dirty="0">
                <a:latin typeface="Arial" panose="020B0604020202020204" pitchFamily="34" charset="0"/>
              </a:rPr>
              <a:t>男</a:t>
            </a:r>
            <a:r>
              <a:rPr lang="en-US" altLang="zh-CN" sz="3200" dirty="0">
                <a:latin typeface="Arial" panose="020B0604020202020204" pitchFamily="34" charset="0"/>
              </a:rPr>
              <a:t>' 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Sage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ASC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查询选修了</a:t>
            </a:r>
            <a:r>
              <a:rPr lang="en-US" altLang="zh-CN" sz="3200" dirty="0">
                <a:latin typeface="Arial" panose="020B0604020202020204" pitchFamily="34" charset="0"/>
              </a:rPr>
              <a:t>C3</a:t>
            </a:r>
            <a:r>
              <a:rPr lang="zh-CN" altLang="en-US" sz="3200" dirty="0">
                <a:latin typeface="Arial" panose="020B0604020202020204" pitchFamily="34" charset="0"/>
              </a:rPr>
              <a:t>号课程的学生的学号、课程号及其成绩，查询结果按分数降序排列。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SELECT Sno, Cno, Score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  Cno= 'C3'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Score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3200" dirty="0">
                <a:latin typeface="Arial" panose="020B0604020202020204" pitchFamily="34" charset="0"/>
              </a:rPr>
              <a:t> ;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34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5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94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121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159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>
                                            <p:txEl>
                                              <p:charRg st="223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查询排序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3523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883650" cy="5473700"/>
          </a:xfrm>
        </p:spPr>
        <p:txBody>
          <a:bodyPr vert="horz" wrap="square" lIns="91440" tIns="45720" rIns="91440" bIns="45720" anchor="t" anchorCtr="0"/>
          <a:p>
            <a:pPr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查询全体学生情况，查询结果按所在系的系名升序排列，同一系中的学生按年龄降序排列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Sdept, Sage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3200" dirty="0">
                <a:latin typeface="Arial" panose="020B0604020202020204" pitchFamily="34" charset="0"/>
              </a:rPr>
              <a:t> 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algn="just">
              <a:buClr>
                <a:srgbClr val="FF3300"/>
              </a:buClr>
              <a:buSzPct val="65000"/>
              <a:buFont typeface="Wingdings" panose="05000000000000000000" pitchFamily="2" charset="2"/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charRg st="46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charRg st="71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查询排序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43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883650" cy="5473700"/>
          </a:xfrm>
        </p:spPr>
        <p:txBody>
          <a:bodyPr vert="horz" wrap="square" lIns="91440" tIns="45720" rIns="91440" bIns="45720" anchor="t" anchorCtr="0"/>
          <a:p>
            <a:pPr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查询选修</a:t>
            </a:r>
            <a:r>
              <a:rPr lang="en-US" altLang="zh-CN" sz="3200" dirty="0">
                <a:latin typeface="Arial" panose="020B0604020202020204" pitchFamily="34" charset="0"/>
              </a:rPr>
              <a:t>C2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C3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C4</a:t>
            </a:r>
            <a:r>
              <a:rPr lang="zh-CN" altLang="en-US" sz="3200" dirty="0">
                <a:latin typeface="Arial" panose="020B0604020202020204" pitchFamily="34" charset="0"/>
              </a:rPr>
              <a:t>或</a:t>
            </a:r>
            <a:r>
              <a:rPr lang="en-US" altLang="zh-CN" sz="3200" dirty="0">
                <a:latin typeface="Arial" panose="020B0604020202020204" pitchFamily="34" charset="0"/>
              </a:rPr>
              <a:t>C5</a:t>
            </a:r>
            <a:r>
              <a:rPr lang="zh-CN" altLang="en-US" sz="3200" dirty="0">
                <a:latin typeface="Arial" panose="020B0604020202020204" pitchFamily="34" charset="0"/>
              </a:rPr>
              <a:t>课程的学号、课程号和成绩，查询结果按学号升序排列，学号相同再按成绩降序排列。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spcBef>
                <a:spcPct val="450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latin typeface="Arial" panose="020B0604020202020204" pitchFamily="34" charset="0"/>
              </a:rPr>
              <a:t>SELECT Sno, Cno, Score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WHERE Cno IN ('C2','C3','C4','C5')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Sno, Score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3200" dirty="0">
                <a:latin typeface="Arial" panose="020B0604020202020204" pitchFamily="34" charset="0"/>
              </a:rPr>
              <a:t>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17445" name="AutoShape 5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7956550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5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8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97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138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lang="en-US" altLang="zh-CN" noProof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使用聚集函数 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522" name="Rectangle 3"/>
          <p:cNvSpPr>
            <a:spLocks noGrp="1"/>
          </p:cNvSpPr>
          <p:nvPr>
            <p:ph idx="1"/>
          </p:nvPr>
        </p:nvSpPr>
        <p:spPr>
          <a:xfrm>
            <a:off x="179388" y="871538"/>
            <a:ext cx="8856662" cy="5653087"/>
          </a:xfrm>
        </p:spPr>
        <p:txBody>
          <a:bodyPr vert="horz" wrap="square" lIns="91440" tIns="45720" rIns="91440" bIns="45720" anchor="t" anchorCtr="0"/>
          <a:p>
            <a:pPr marL="365125" indent="-365125" algn="just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计数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10000"/>
              </a:lnSpc>
              <a:buNone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COUNT</a:t>
            </a:r>
            <a:r>
              <a:rPr lang="en-US" altLang="zh-CN" sz="3200" dirty="0">
                <a:latin typeface="Arial" panose="020B0604020202020204" pitchFamily="34" charset="0"/>
              </a:rPr>
              <a:t>([DISTINCT]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) </a:t>
            </a:r>
            <a:r>
              <a:rPr lang="zh-CN" altLang="en-US" sz="3200" dirty="0">
                <a:latin typeface="Arial" panose="020B0604020202020204" pitchFamily="34" charset="0"/>
              </a:rPr>
              <a:t>统计元组个数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1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COUNT([DISTINCT]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&gt;)</a:t>
            </a:r>
            <a:r>
              <a:rPr lang="zh-CN" altLang="en-US" sz="2800" dirty="0">
                <a:latin typeface="Arial" panose="020B0604020202020204" pitchFamily="34" charset="0"/>
              </a:rPr>
              <a:t>统计一列中值的个数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20000"/>
              </a:lnSpc>
              <a:spcBef>
                <a:spcPct val="25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计算总和：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SUM</a:t>
            </a:r>
            <a:r>
              <a:rPr lang="en-US" altLang="zh-CN" sz="3200" dirty="0">
                <a:latin typeface="Arial" panose="020B0604020202020204" pitchFamily="34" charset="0"/>
              </a:rPr>
              <a:t> ([DISTINCT]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&gt;)	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计算平均值：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AVG</a:t>
            </a:r>
            <a:r>
              <a:rPr lang="en-US" altLang="zh-CN" sz="3200" dirty="0">
                <a:latin typeface="Arial" panose="020B0604020202020204" pitchFamily="34" charset="0"/>
              </a:rPr>
              <a:t> ([DISTINCT]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&gt;)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求最大值：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MAX </a:t>
            </a:r>
            <a:r>
              <a:rPr lang="en-US" altLang="zh-CN" sz="3200" dirty="0">
                <a:latin typeface="Arial" panose="020B0604020202020204" pitchFamily="34" charset="0"/>
              </a:rPr>
              <a:t>([DISTINCT]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&gt;)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求最小值：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MIN </a:t>
            </a:r>
            <a:r>
              <a:rPr lang="en-US" altLang="zh-CN" sz="3200" dirty="0">
                <a:latin typeface="Arial" panose="020B0604020202020204" pitchFamily="34" charset="0"/>
              </a:rPr>
              <a:t>([DISTINCT] 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&gt;)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algn="just">
              <a:lnSpc>
                <a:spcPct val="95000"/>
              </a:lnSpc>
              <a:spcBef>
                <a:spcPct val="75000"/>
              </a:spcBef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注</a:t>
            </a:r>
            <a:r>
              <a:rPr lang="zh-CN" altLang="en-US" sz="3200" dirty="0">
                <a:latin typeface="Arial" panose="020B0604020202020204" pitchFamily="34" charset="0"/>
              </a:rPr>
              <a:t>：聚集函数不能出现在</a:t>
            </a:r>
            <a:r>
              <a:rPr lang="en-US" altLang="zh-CN" sz="3200" dirty="0">
                <a:latin typeface="Arial" panose="020B0604020202020204" pitchFamily="34" charset="0"/>
              </a:rPr>
              <a:t>WHERE</a:t>
            </a:r>
            <a:r>
              <a:rPr lang="zh-CN" altLang="en-US" sz="3200" dirty="0">
                <a:latin typeface="Arial" panose="020B0604020202020204" pitchFamily="34" charset="0"/>
              </a:rPr>
              <a:t>子句；除</a:t>
            </a:r>
            <a:r>
              <a:rPr lang="en-US" altLang="zh-CN" sz="3200" dirty="0">
                <a:latin typeface="Arial" panose="020B0604020202020204" pitchFamily="34" charset="0"/>
              </a:rPr>
              <a:t>COUNT(*)</a:t>
            </a:r>
            <a:r>
              <a:rPr lang="zh-CN" altLang="en-US" sz="3200" dirty="0">
                <a:latin typeface="Arial" panose="020B0604020202020204" pitchFamily="34" charset="0"/>
              </a:rPr>
              <a:t>外，其他函数在计算时忽略</a:t>
            </a:r>
            <a:r>
              <a:rPr lang="en-US" altLang="zh-CN" sz="3200" dirty="0">
                <a:latin typeface="Arial" panose="020B0604020202020204" pitchFamily="34" charset="0"/>
              </a:rPr>
              <a:t>NULL.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87313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聚集函数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0611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883650" cy="5473700"/>
          </a:xfrm>
        </p:spPr>
        <p:txBody>
          <a:bodyPr vert="horz" wrap="square" lIns="91440" tIns="45720" rIns="91440" bIns="45720" anchor="t" anchorCtr="0"/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查询学生总人数。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COUNT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 FROM  S</a:t>
            </a:r>
            <a:r>
              <a:rPr lang="zh-CN" altLang="en-US" sz="3200" dirty="0">
                <a:latin typeface="Arial" panose="020B0604020202020204" pitchFamily="34" charset="0"/>
              </a:rPr>
              <a:t>；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 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查询选修了课程的学生人数。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COUNT</a:t>
            </a:r>
            <a:r>
              <a:rPr lang="en-US" altLang="zh-CN" sz="3200" dirty="0">
                <a:latin typeface="Arial" panose="020B0604020202020204" pitchFamily="34" charset="0"/>
              </a:rPr>
              <a:t>(DISTINCT Sno)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SC</a:t>
            </a:r>
            <a:r>
              <a:rPr lang="zh-CN" altLang="en-US" sz="3200" dirty="0">
                <a:latin typeface="Arial" panose="020B0604020202020204" pitchFamily="34" charset="0"/>
              </a:rPr>
              <a:t>；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用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DISTINCT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以避免重复计算学生人数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求学生</a:t>
            </a:r>
            <a:r>
              <a:rPr lang="en-US" altLang="zh-CN" sz="3200" dirty="0">
                <a:latin typeface="Arial" panose="020B0604020202020204" pitchFamily="34" charset="0"/>
              </a:rPr>
              <a:t>S1</a:t>
            </a:r>
            <a:r>
              <a:rPr lang="zh-CN" altLang="en-US" sz="3200" dirty="0">
                <a:latin typeface="Arial" panose="020B0604020202020204" pitchFamily="34" charset="0"/>
              </a:rPr>
              <a:t>的所学课程的总成绩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SUM</a:t>
            </a:r>
            <a:r>
              <a:rPr lang="en-US" altLang="zh-CN" sz="3200" dirty="0">
                <a:latin typeface="Arial" panose="020B0604020202020204" pitchFamily="34" charset="0"/>
              </a:rPr>
              <a:t>(Score)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Sno= 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</a:rPr>
              <a:t>'</a:t>
            </a:r>
            <a:r>
              <a:rPr lang="en-US" altLang="zh-CN" sz="3200" dirty="0">
                <a:latin typeface="Arial" panose="020B0604020202020204" pitchFamily="34" charset="0"/>
              </a:rPr>
              <a:t>S1</a:t>
            </a:r>
            <a:r>
              <a:rPr lang="en-US" altLang="zh-CN" sz="3200" dirty="0">
                <a:latin typeface="Arial" panose="020B0604020202020204" pitchFamily="34" charset="0"/>
                <a:ea typeface="华文中宋" panose="02010600040101010101" pitchFamily="2" charset="-122"/>
              </a:rPr>
              <a:t>'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9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4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5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8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12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141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charRg st="17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1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87313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聚集函数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2659" name="Rectangle 3"/>
          <p:cNvSpPr>
            <a:spLocks noGrp="1"/>
          </p:cNvSpPr>
          <p:nvPr>
            <p:ph idx="1"/>
          </p:nvPr>
        </p:nvSpPr>
        <p:spPr>
          <a:xfrm>
            <a:off x="152400" y="944563"/>
            <a:ext cx="8848725" cy="5653087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查询选修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号课程的学生最高分数。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MAX</a:t>
            </a:r>
            <a:r>
              <a:rPr lang="en-US" altLang="zh-CN" sz="3200" dirty="0">
                <a:latin typeface="Arial" panose="020B0604020202020204" pitchFamily="34" charset="0"/>
              </a:rPr>
              <a:t>(Score)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WHERE Cno= 'C1' 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endParaRPr lang="en-US" altLang="zh-CN" sz="3200" dirty="0">
              <a:latin typeface="Arial" panose="020B0604020202020204" pitchFamily="34" charset="0"/>
            </a:endParaRPr>
          </a:p>
          <a:p>
            <a:r>
              <a:rPr lang="zh-CN" altLang="en-US" sz="3200" dirty="0">
                <a:latin typeface="Arial" panose="020B0604020202020204" pitchFamily="34" charset="0"/>
              </a:rPr>
              <a:t>计算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号课程的学生平均成绩。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AVG</a:t>
            </a:r>
            <a:r>
              <a:rPr lang="en-US" altLang="zh-CN" sz="3200" dirty="0">
                <a:latin typeface="Arial" panose="020B0604020202020204" pitchFamily="34" charset="0"/>
              </a:rPr>
              <a:t>(Score)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WHERE Cno= 'C1' ;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18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5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78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94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117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charRg st="130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9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其他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函数将增强</a:t>
            </a:r>
            <a:r>
              <a:rPr lang="en-US" altLang="zh-CN" dirty="0">
                <a:latin typeface="Arial" panose="020B0604020202020204" pitchFamily="34" charset="0"/>
              </a:rPr>
              <a:t>SQL</a:t>
            </a:r>
            <a:r>
              <a:rPr lang="zh-CN" altLang="en-US" dirty="0">
                <a:latin typeface="Arial" panose="020B0604020202020204" pitchFamily="34" charset="0"/>
              </a:rPr>
              <a:t>的数据查询能力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</a:endParaRPr>
          </a:p>
          <a:p>
            <a:pPr lvl="1"/>
            <a:r>
              <a:rPr lang="zh-CN" altLang="en-US" sz="3600" dirty="0">
                <a:latin typeface="Arial" panose="020B0604020202020204" pitchFamily="34" charset="0"/>
              </a:rPr>
              <a:t>日期与时间函数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/>
            <a:r>
              <a:rPr lang="zh-CN" altLang="en-US" sz="3600" dirty="0">
                <a:latin typeface="Arial" panose="020B0604020202020204" pitchFamily="34" charset="0"/>
              </a:rPr>
              <a:t>数学函数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/>
            <a:r>
              <a:rPr lang="zh-CN" altLang="en-US" sz="3600" dirty="0">
                <a:latin typeface="Arial" panose="020B0604020202020204" pitchFamily="34" charset="0"/>
              </a:rPr>
              <a:t>字符函数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/>
            <a:r>
              <a:rPr lang="zh-CN" altLang="en-US" sz="3600" dirty="0">
                <a:latin typeface="Arial" panose="020B0604020202020204" pitchFamily="34" charset="0"/>
              </a:rPr>
              <a:t>转换函数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/>
            <a:r>
              <a:rPr lang="zh-CN" altLang="en-US" sz="3600" dirty="0">
                <a:latin typeface="Arial" panose="020B0604020202020204" pitchFamily="34" charset="0"/>
              </a:rPr>
              <a:t>其它函数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lang="en-US" altLang="zh-CN" noProof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对查询结果分组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3666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740775" cy="1728788"/>
          </a:xfrm>
        </p:spPr>
        <p:txBody>
          <a:bodyPr vert="horz" wrap="square" lIns="91440" tIns="45720" rIns="91440" bIns="45720" anchor="t" anchorCtr="0"/>
          <a:p>
            <a:pPr marL="0" algn="just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分组是将具有某些相同特征的元组分为一组，作为一个整体进行处理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indent="0" algn="just">
              <a:spcBef>
                <a:spcPct val="20000"/>
              </a:spcBef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举例：查询各个课程号及相应的选课人数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graphicFrame>
        <p:nvGraphicFramePr>
          <p:cNvPr id="709991" name="Group 359"/>
          <p:cNvGraphicFramePr>
            <a:graphicFrameLocks noGrp="1"/>
          </p:cNvGraphicFramePr>
          <p:nvPr>
            <p:ph sz="half" idx="1"/>
          </p:nvPr>
        </p:nvGraphicFramePr>
        <p:xfrm>
          <a:off x="723900" y="2698750"/>
          <a:ext cx="3600450" cy="3902075"/>
        </p:xfrm>
        <a:graphic>
          <a:graphicData uri="http://schemas.openxmlformats.org/drawingml/2006/table">
            <a:tbl>
              <a:tblPr/>
              <a:tblGrid>
                <a:gridCol w="1081088"/>
                <a:gridCol w="1150937"/>
                <a:gridCol w="1368425"/>
              </a:tblGrid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S4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S5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77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0009" name="Group 37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8975" y="2698750"/>
          <a:ext cx="3384550" cy="3902075"/>
        </p:xfrm>
        <a:graphic>
          <a:graphicData uri="http://schemas.openxmlformats.org/drawingml/2006/table">
            <a:tbl>
              <a:tblPr/>
              <a:tblGrid>
                <a:gridCol w="1008063"/>
                <a:gridCol w="1042987"/>
                <a:gridCol w="1333500"/>
              </a:tblGrid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77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S5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90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87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S4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376"/>
          <p:cNvGrpSpPr/>
          <p:nvPr/>
        </p:nvGrpSpPr>
        <p:grpSpPr>
          <a:xfrm>
            <a:off x="7956550" y="3417888"/>
            <a:ext cx="1152525" cy="3168650"/>
            <a:chOff x="4785" y="1706"/>
            <a:chExt cx="726" cy="1996"/>
          </a:xfrm>
        </p:grpSpPr>
        <p:sp>
          <p:nvSpPr>
            <p:cNvPr id="113744" name="AutoShape 370"/>
            <p:cNvSpPr/>
            <p:nvPr/>
          </p:nvSpPr>
          <p:spPr>
            <a:xfrm>
              <a:off x="4785" y="1706"/>
              <a:ext cx="136" cy="681"/>
            </a:xfrm>
            <a:prstGeom prst="rightBrace">
              <a:avLst>
                <a:gd name="adj1" fmla="val 41704"/>
                <a:gd name="adj2" fmla="val 50074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45" name="AutoShape 371"/>
            <p:cNvSpPr/>
            <p:nvPr/>
          </p:nvSpPr>
          <p:spPr>
            <a:xfrm>
              <a:off x="4785" y="2614"/>
              <a:ext cx="136" cy="681"/>
            </a:xfrm>
            <a:prstGeom prst="rightBrace">
              <a:avLst>
                <a:gd name="adj1" fmla="val 41704"/>
                <a:gd name="adj2" fmla="val 5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46" name="AutoShape 372"/>
            <p:cNvSpPr/>
            <p:nvPr/>
          </p:nvSpPr>
          <p:spPr>
            <a:xfrm>
              <a:off x="4794" y="3475"/>
              <a:ext cx="127" cy="182"/>
            </a:xfrm>
            <a:prstGeom prst="rightBrace">
              <a:avLst>
                <a:gd name="adj1" fmla="val 11935"/>
                <a:gd name="adj2" fmla="val 4999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47" name="Rectangle 373"/>
            <p:cNvSpPr/>
            <p:nvPr/>
          </p:nvSpPr>
          <p:spPr>
            <a:xfrm>
              <a:off x="5012" y="1888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32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13748" name="Rectangle 374"/>
            <p:cNvSpPr/>
            <p:nvPr/>
          </p:nvSpPr>
          <p:spPr>
            <a:xfrm>
              <a:off x="4967" y="2795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32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13749" name="Rectangle 375"/>
            <p:cNvSpPr/>
            <p:nvPr/>
          </p:nvSpPr>
          <p:spPr>
            <a:xfrm>
              <a:off x="4967" y="3385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32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32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lang="en-US" altLang="zh-CN" noProof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对查询结果分组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5714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48725" cy="5581650"/>
          </a:xfrm>
        </p:spPr>
        <p:txBody>
          <a:bodyPr vert="horz" wrap="square" lIns="91440" tIns="45720" rIns="91440" bIns="45720" anchor="t" anchorCtr="0"/>
          <a:p>
            <a:pPr marL="269875" indent="-269875" algn="just"/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GROUP BY</a:t>
            </a:r>
            <a:r>
              <a:rPr lang="zh-CN" altLang="en-US" sz="3200" dirty="0">
                <a:latin typeface="Arial" panose="020B0604020202020204" pitchFamily="34" charset="0"/>
              </a:rPr>
              <a:t>子句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716280" lvl="1" indent="-265430" algn="just"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</a:rPr>
              <a:t>将查询结果按某一列或多列值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分组</a:t>
            </a:r>
            <a:endParaRPr lang="zh-CN" altLang="en-US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716280" lvl="1" indent="-265430" algn="just"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</a:rPr>
              <a:t>值相等的为一组</a:t>
            </a:r>
            <a:endParaRPr lang="zh-CN" altLang="en-US" dirty="0">
              <a:latin typeface="Arial" panose="020B0604020202020204" pitchFamily="34" charset="0"/>
            </a:endParaRPr>
          </a:p>
          <a:p>
            <a:pPr marL="716280" lvl="1" indent="-265430" algn="just">
              <a:spcBef>
                <a:spcPct val="0"/>
              </a:spcBef>
            </a:pPr>
            <a:endParaRPr lang="zh-CN" altLang="en-US" dirty="0">
              <a:latin typeface="Arial" panose="020B0604020202020204" pitchFamily="34" charset="0"/>
            </a:endParaRPr>
          </a:p>
          <a:p>
            <a:pPr marL="269875" indent="-269875"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/>
              <a:t>聚集函数的作用对象</a:t>
            </a:r>
            <a:endParaRPr lang="zh-CN" altLang="en-US" sz="3200" dirty="0"/>
          </a:p>
          <a:p>
            <a:pPr marL="716280" lvl="1" indent="-265430" algn="just"/>
            <a:r>
              <a:rPr lang="zh-CN" altLang="en-US" dirty="0">
                <a:solidFill>
                  <a:srgbClr val="FF3300"/>
                </a:solidFill>
              </a:rPr>
              <a:t>未</a:t>
            </a:r>
            <a:r>
              <a:rPr lang="zh-CN" altLang="en-US" dirty="0"/>
              <a:t>对查询结果分组，聚集函数将作用于</a:t>
            </a:r>
            <a:r>
              <a:rPr lang="zh-CN" altLang="en-US" dirty="0">
                <a:solidFill>
                  <a:srgbClr val="FF3300"/>
                </a:solidFill>
              </a:rPr>
              <a:t>整个</a:t>
            </a:r>
            <a:r>
              <a:rPr lang="zh-CN" altLang="en-US" dirty="0"/>
              <a:t>查询结果</a:t>
            </a:r>
            <a:endParaRPr lang="zh-CN" altLang="en-US" dirty="0"/>
          </a:p>
          <a:p>
            <a:pPr marL="716280" lvl="1" indent="-265430"/>
            <a:r>
              <a:rPr lang="zh-CN" altLang="en-US" dirty="0"/>
              <a:t>对查询结果分组后，聚集函数将分别作用于</a:t>
            </a:r>
            <a:r>
              <a:rPr lang="zh-CN" altLang="en-US" dirty="0">
                <a:solidFill>
                  <a:srgbClr val="FF3300"/>
                </a:solidFill>
              </a:rPr>
              <a:t>每个组</a:t>
            </a:r>
            <a:r>
              <a:rPr lang="zh-CN" altLang="en-US" dirty="0"/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9" name="Rectangle 7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0120" name="Rectangle 8"/>
          <p:cNvSpPr>
            <a:spLocks noGrp="1"/>
          </p:cNvSpPr>
          <p:nvPr>
            <p:ph type="body" sz="half" idx="1"/>
          </p:nvPr>
        </p:nvSpPr>
        <p:spPr>
          <a:xfrm>
            <a:off x="152400" y="765175"/>
            <a:ext cx="8596313" cy="2232025"/>
          </a:xfrm>
        </p:spPr>
        <p:txBody>
          <a:bodyPr vert="horz" wrap="square" lIns="91440" tIns="45720" rIns="91440" bIns="45720" anchor="t" anchorCtr="0"/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查询各个课程号及相应的选课人数。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spcBef>
                <a:spcPct val="250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Cno,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COUNT(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3200" dirty="0">
                <a:latin typeface="Arial" panose="020B0604020202020204" pitchFamily="34" charset="0"/>
              </a:rPr>
              <a:t>AS </a:t>
            </a:r>
            <a:r>
              <a:rPr lang="zh-CN" altLang="en-US" sz="3200" dirty="0">
                <a:latin typeface="Arial" panose="020B0604020202020204" pitchFamily="34" charset="0"/>
              </a:rPr>
              <a:t>人数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>
              <a:buClr>
                <a:srgbClr val="0000CC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3200" dirty="0">
                <a:latin typeface="Arial" panose="020B0604020202020204" pitchFamily="34" charset="0"/>
              </a:rPr>
              <a:t> Cno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aphicFrame>
        <p:nvGraphicFramePr>
          <p:cNvPr id="90283" name="Group 171"/>
          <p:cNvGraphicFramePr>
            <a:graphicFrameLocks noGrp="1"/>
          </p:cNvGraphicFramePr>
          <p:nvPr>
            <p:ph sz="half" idx="1"/>
          </p:nvPr>
        </p:nvGraphicFramePr>
        <p:xfrm>
          <a:off x="5867400" y="3573463"/>
          <a:ext cx="2303463" cy="2447926"/>
        </p:xfrm>
        <a:graphic>
          <a:graphicData uri="http://schemas.openxmlformats.org/drawingml/2006/table">
            <a:tbl>
              <a:tblPr/>
              <a:tblGrid>
                <a:gridCol w="1150938"/>
                <a:gridCol w="1152525"/>
              </a:tblGrid>
              <a:tr h="617538"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人数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611188"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7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30000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285" name="Group 173"/>
          <p:cNvGraphicFramePr>
            <a:graphicFrameLocks noGrp="1"/>
          </p:cNvGraphicFramePr>
          <p:nvPr/>
        </p:nvGraphicFramePr>
        <p:xfrm>
          <a:off x="827088" y="3101975"/>
          <a:ext cx="3384550" cy="3495675"/>
        </p:xfrm>
        <a:graphic>
          <a:graphicData uri="http://schemas.openxmlformats.org/drawingml/2006/table">
            <a:tbl>
              <a:tblPr/>
              <a:tblGrid>
                <a:gridCol w="1008062"/>
                <a:gridCol w="1042988"/>
                <a:gridCol w="1333500"/>
              </a:tblGrid>
              <a:tr h="4267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4318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4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S5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77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17818" name="Group 160"/>
          <p:cNvGrpSpPr/>
          <p:nvPr/>
        </p:nvGrpSpPr>
        <p:grpSpPr>
          <a:xfrm>
            <a:off x="4240213" y="3789363"/>
            <a:ext cx="1152525" cy="2735262"/>
            <a:chOff x="4785" y="1706"/>
            <a:chExt cx="726" cy="1996"/>
          </a:xfrm>
        </p:grpSpPr>
        <p:sp>
          <p:nvSpPr>
            <p:cNvPr id="117819" name="AutoShape 161"/>
            <p:cNvSpPr/>
            <p:nvPr/>
          </p:nvSpPr>
          <p:spPr>
            <a:xfrm>
              <a:off x="4785" y="1706"/>
              <a:ext cx="136" cy="681"/>
            </a:xfrm>
            <a:prstGeom prst="rightBrace">
              <a:avLst>
                <a:gd name="adj1" fmla="val 41704"/>
                <a:gd name="adj2" fmla="val 50074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820" name="AutoShape 162"/>
            <p:cNvSpPr/>
            <p:nvPr/>
          </p:nvSpPr>
          <p:spPr>
            <a:xfrm>
              <a:off x="4785" y="2614"/>
              <a:ext cx="136" cy="681"/>
            </a:xfrm>
            <a:prstGeom prst="rightBrace">
              <a:avLst>
                <a:gd name="adj1" fmla="val 41704"/>
                <a:gd name="adj2" fmla="val 5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821" name="AutoShape 163"/>
            <p:cNvSpPr/>
            <p:nvPr/>
          </p:nvSpPr>
          <p:spPr>
            <a:xfrm>
              <a:off x="4794" y="3475"/>
              <a:ext cx="127" cy="182"/>
            </a:xfrm>
            <a:prstGeom prst="rightBrace">
              <a:avLst>
                <a:gd name="adj1" fmla="val 11935"/>
                <a:gd name="adj2" fmla="val 4999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822" name="Rectangle 164"/>
            <p:cNvSpPr/>
            <p:nvPr/>
          </p:nvSpPr>
          <p:spPr>
            <a:xfrm>
              <a:off x="5012" y="1888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17823" name="Rectangle 165"/>
            <p:cNvSpPr/>
            <p:nvPr/>
          </p:nvSpPr>
          <p:spPr>
            <a:xfrm>
              <a:off x="4967" y="2795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17824" name="Rectangle 166"/>
            <p:cNvSpPr/>
            <p:nvPr/>
          </p:nvSpPr>
          <p:spPr>
            <a:xfrm>
              <a:off x="4967" y="3385"/>
              <a:ext cx="499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组</a:t>
              </a:r>
              <a:r>
                <a:rPr lang="en-US" altLang="zh-CN" sz="2800" b="1" dirty="0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28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charRg st="1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charRg st="6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0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lang="en-US" altLang="zh-CN" noProof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对查询结果分组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6803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48725" cy="5508625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zh-CN" altLang="en-US" sz="3200" dirty="0">
                <a:latin typeface="Arial" panose="020B0604020202020204" pitchFamily="34" charset="0"/>
              </a:rPr>
              <a:t>使用</a:t>
            </a:r>
            <a:r>
              <a:rPr lang="en-US" altLang="zh-CN" sz="3200" dirty="0">
                <a:latin typeface="Arial" panose="020B0604020202020204" pitchFamily="34" charset="0"/>
              </a:rPr>
              <a:t>GROUP BY</a:t>
            </a:r>
            <a:r>
              <a:rPr lang="zh-CN" altLang="en-US" sz="3200" dirty="0">
                <a:latin typeface="Arial" panose="020B0604020202020204" pitchFamily="34" charset="0"/>
              </a:rPr>
              <a:t>子句后，</a:t>
            </a:r>
            <a:r>
              <a:rPr lang="en-US" altLang="zh-CN" sz="3200" dirty="0">
                <a:latin typeface="Arial" panose="020B0604020202020204" pitchFamily="34" charset="0"/>
              </a:rPr>
              <a:t>SELECT</a:t>
            </a:r>
            <a:r>
              <a:rPr lang="zh-CN" altLang="en-US" sz="3200" dirty="0">
                <a:latin typeface="Arial" panose="020B0604020202020204" pitchFamily="34" charset="0"/>
              </a:rPr>
              <a:t>子句的中只能出现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分组属性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聚集函数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例：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 Sno,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COUNT(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3200" dirty="0">
                <a:latin typeface="Arial" panose="020B0604020202020204" pitchFamily="34" charset="0"/>
              </a:rPr>
              <a:t> Cno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716804" name="Text Box 4"/>
          <p:cNvSpPr txBox="1"/>
          <p:nvPr/>
        </p:nvSpPr>
        <p:spPr>
          <a:xfrm>
            <a:off x="6156325" y="4220528"/>
            <a:ext cx="1049338" cy="10985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sz="6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×</a:t>
            </a:r>
            <a:endParaRPr lang="en-US" altLang="zh-CN" sz="66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6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8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3" grpId="0" build="p"/>
      <p:bldP spid="71680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lang="en-US" altLang="zh-CN" noProof="0">
                <a:ln>
                  <a:noFill/>
                </a:ln>
                <a:uLnTx/>
                <a:uFillTx/>
                <a:sym typeface="+mn-ea"/>
              </a:rPr>
              <a:t>)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对查询结果分组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9875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48725" cy="5508625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zh-CN" altLang="en-US" sz="3200" dirty="0">
                <a:latin typeface="Arial" panose="020B0604020202020204" pitchFamily="34" charset="0"/>
              </a:rPr>
              <a:t>若在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分组后</a:t>
            </a:r>
            <a:r>
              <a:rPr lang="zh-CN" altLang="en-US" sz="3200" dirty="0">
                <a:latin typeface="Arial" panose="020B0604020202020204" pitchFamily="34" charset="0"/>
              </a:rPr>
              <a:t>还要按照一定的条件进行筛选，则需使用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HAVING</a:t>
            </a:r>
            <a:r>
              <a:rPr lang="zh-CN" altLang="en-US" sz="3200" dirty="0">
                <a:latin typeface="Arial" panose="020B0604020202020204" pitchFamily="34" charset="0"/>
              </a:rPr>
              <a:t>子句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/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ct val="35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例：查询选课人数超过</a:t>
            </a:r>
            <a:r>
              <a:rPr lang="en-US" altLang="zh-CN" sz="3200" dirty="0">
                <a:latin typeface="Arial" panose="020B0604020202020204" pitchFamily="34" charset="0"/>
              </a:rPr>
              <a:t>10</a:t>
            </a:r>
            <a:r>
              <a:rPr lang="zh-CN" altLang="en-US" sz="3200" dirty="0">
                <a:latin typeface="Arial" panose="020B0604020202020204" pitchFamily="34" charset="0"/>
              </a:rPr>
              <a:t>人的课程号及具体的选课人数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 Cno, COUNT(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 AS </a:t>
            </a:r>
            <a:r>
              <a:rPr lang="zh-CN" altLang="en-US" sz="3200" dirty="0">
                <a:latin typeface="Arial" panose="020B0604020202020204" pitchFamily="34" charset="0"/>
              </a:rPr>
              <a:t>人数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GROUP BY  Cno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lnSpc>
                <a:spcPct val="95000"/>
              </a:lnSpc>
              <a:spcBef>
                <a:spcPct val="150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HAVING COUNT(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&gt; 10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charRg st="64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charRg st="9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charRg st="10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charRg st="12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0834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48725" cy="5508625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查询选修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门以上课程的学生学号和选课门数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   SELECT Sno, COUNT(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AS </a:t>
            </a:r>
            <a:r>
              <a:rPr lang="zh-CN" altLang="en-US" sz="3200" dirty="0">
                <a:latin typeface="Arial" panose="020B0604020202020204" pitchFamily="34" charset="0"/>
              </a:rPr>
              <a:t>选课门数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993300"/>
                </a:solidFill>
                <a:latin typeface="Arial" panose="020B0604020202020204" pitchFamily="34" charset="0"/>
              </a:rPr>
              <a:t>GROUP BY Sno</a:t>
            </a:r>
            <a:endParaRPr lang="en-US" altLang="zh-CN" sz="3200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HAVING COUNT(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&gt; 3</a:t>
            </a: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;</a:t>
            </a:r>
            <a:endParaRPr lang="en-US" altLang="zh-CN" sz="3200" dirty="0"/>
          </a:p>
          <a:p>
            <a:pPr algn="just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468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8469" name="Rectangle 5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653088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找出平均成绩在</a:t>
            </a:r>
            <a:r>
              <a:rPr lang="en-US" altLang="zh-CN" sz="3200" dirty="0">
                <a:latin typeface="Arial" panose="020B0604020202020204" pitchFamily="34" charset="0"/>
              </a:rPr>
              <a:t>90</a:t>
            </a:r>
            <a:r>
              <a:rPr lang="zh-CN" altLang="en-US" sz="3200" dirty="0">
                <a:latin typeface="Arial" panose="020B0604020202020204" pitchFamily="34" charset="0"/>
              </a:rPr>
              <a:t>分以上的所有学生的学号及平均成绩。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Sno,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AVG</a:t>
            </a:r>
            <a:r>
              <a:rPr lang="en-US" altLang="zh-CN" sz="3200" dirty="0">
                <a:latin typeface="Arial" panose="020B0604020202020204" pitchFamily="34" charset="0"/>
              </a:rPr>
              <a:t>(Score)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993300"/>
                </a:solidFill>
                <a:latin typeface="Arial" panose="020B0604020202020204" pitchFamily="34" charset="0"/>
              </a:rPr>
              <a:t>GROUP BY Sno</a:t>
            </a:r>
            <a:endParaRPr lang="en-US" altLang="zh-CN" sz="3200" dirty="0">
              <a:solidFill>
                <a:srgbClr val="99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HAVING AVG(Score) &gt; 90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3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71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>
                                            <p:txEl>
                                              <p:charRg st="88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7619" name="Rectangle 3"/>
          <p:cNvSpPr>
            <a:spLocks noGrp="1"/>
          </p:cNvSpPr>
          <p:nvPr>
            <p:ph idx="1"/>
          </p:nvPr>
        </p:nvSpPr>
        <p:spPr>
          <a:xfrm>
            <a:off x="507365" y="884555"/>
            <a:ext cx="8252460" cy="5560695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zh-CN" altLang="en-US" sz="3200" dirty="0">
                <a:latin typeface="Arial" panose="020B0604020202020204" pitchFamily="34" charset="0"/>
              </a:rPr>
              <a:t>查询有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门以上课程是</a:t>
            </a:r>
            <a:r>
              <a:rPr lang="en-US" altLang="zh-CN" sz="3200" dirty="0">
                <a:latin typeface="Arial" panose="020B0604020202020204" pitchFamily="34" charset="0"/>
              </a:rPr>
              <a:t>90</a:t>
            </a:r>
            <a:r>
              <a:rPr lang="zh-CN" altLang="en-US" sz="3200" dirty="0">
                <a:latin typeface="Arial" panose="020B0604020202020204" pitchFamily="34" charset="0"/>
              </a:rPr>
              <a:t>分以上的学生的学号及</a:t>
            </a:r>
            <a:r>
              <a:rPr lang="en-US" altLang="zh-CN" sz="3200" dirty="0">
                <a:latin typeface="Arial" panose="020B0604020202020204" pitchFamily="34" charset="0"/>
              </a:rPr>
              <a:t>90</a:t>
            </a:r>
            <a:r>
              <a:rPr lang="zh-CN" altLang="en-US" sz="3200" dirty="0">
                <a:latin typeface="Arial" panose="020B0604020202020204" pitchFamily="34" charset="0"/>
              </a:rPr>
              <a:t>分以上的课程数。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/>
            <a:endParaRPr lang="zh-CN" altLang="en-US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 Sno,  COUNT(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339933"/>
                </a:solidFill>
                <a:latin typeface="Arial" panose="020B0604020202020204" pitchFamily="34" charset="0"/>
              </a:rPr>
              <a:t>WHERE</a:t>
            </a:r>
            <a:r>
              <a:rPr lang="en-US" altLang="zh-CN" sz="3200" dirty="0">
                <a:latin typeface="Arial" panose="020B0604020202020204" pitchFamily="34" charset="0"/>
              </a:rPr>
              <a:t> Score &gt; 90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3200" dirty="0">
                <a:latin typeface="Arial" panose="020B0604020202020204" pitchFamily="34" charset="0"/>
              </a:rPr>
              <a:t> Sno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algn="just" latinLnBrk="0">
              <a:lnSpc>
                <a:spcPct val="15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993300"/>
                </a:solidFill>
                <a:latin typeface="Arial" panose="020B0604020202020204" pitchFamily="34" charset="0"/>
              </a:rPr>
              <a:t>HAVING </a:t>
            </a:r>
            <a:r>
              <a:rPr lang="en-US" altLang="zh-CN" sz="3200" dirty="0">
                <a:latin typeface="Arial" panose="020B0604020202020204" pitchFamily="34" charset="0"/>
              </a:rPr>
              <a:t>COUNT(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 &gt; 3;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34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65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8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108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129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36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查询有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门以上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含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及格课程学生的学号及其及格课程总成绩，结果按总成绩降序列出</a:t>
            </a:r>
            <a:r>
              <a:rPr lang="zh-CN" altLang="en-US" sz="3200" b="0" dirty="0">
                <a:latin typeface="Arial" panose="020B0604020202020204" pitchFamily="34" charset="0"/>
                <a:ea typeface="华文中宋" panose="02010600040101010101" pitchFamily="2" charset="-122"/>
              </a:rPr>
              <a:t>。</a:t>
            </a:r>
            <a:endParaRPr lang="zh-CN" altLang="en-US" sz="3200" b="0" dirty="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273050" indent="-273050">
              <a:spcBef>
                <a:spcPct val="25000"/>
              </a:spcBef>
              <a:buNone/>
            </a:pP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latin typeface="Arial" panose="020B0604020202020204" pitchFamily="34" charset="0"/>
              </a:rPr>
              <a:t> Sno,SUM(Score) AS </a:t>
            </a:r>
            <a:r>
              <a:rPr lang="zh-CN" altLang="en-US" sz="3200" dirty="0">
                <a:latin typeface="Arial" panose="020B0604020202020204" pitchFamily="34" charset="0"/>
              </a:rPr>
              <a:t>总分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en-US" altLang="zh-CN" sz="3200" dirty="0">
                <a:solidFill>
                  <a:srgbClr val="3333CC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latin typeface="Arial" panose="020B0604020202020204" pitchFamily="34" charset="0"/>
              </a:rPr>
              <a:t>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sz="3200" dirty="0">
                <a:latin typeface="Arial" panose="020B0604020202020204" pitchFamily="34" charset="0"/>
              </a:rPr>
              <a:t> Score&gt;=60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en-US" altLang="zh-CN" sz="3200" dirty="0">
                <a:solidFill>
                  <a:srgbClr val="008000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3200" dirty="0">
                <a:latin typeface="Arial" panose="020B0604020202020204" pitchFamily="34" charset="0"/>
              </a:rPr>
              <a:t> Sno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HAVING</a:t>
            </a:r>
            <a:r>
              <a:rPr lang="en-US" altLang="zh-CN" sz="3200" dirty="0">
                <a:latin typeface="Arial" panose="020B0604020202020204" pitchFamily="34" charset="0"/>
              </a:rPr>
              <a:t> COUNT(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)&gt;=3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3050" indent="-273050">
              <a:buNone/>
            </a:pPr>
            <a:r>
              <a:rPr lang="en-US" altLang="zh-CN" sz="3200" dirty="0">
                <a:solidFill>
                  <a:srgbClr val="993300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3200" dirty="0">
                <a:latin typeface="Arial" panose="020B0604020202020204" pitchFamily="34" charset="0"/>
              </a:rPr>
              <a:t> SUM(Score) DESC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623620" name="Text Box 4"/>
          <p:cNvSpPr txBox="1"/>
          <p:nvPr/>
        </p:nvSpPr>
        <p:spPr>
          <a:xfrm>
            <a:off x="2555875" y="2930525"/>
            <a:ext cx="6480175" cy="3709035"/>
          </a:xfrm>
          <a:prstGeom prst="rect">
            <a:avLst/>
          </a:prstGeom>
          <a:solidFill>
            <a:schemeClr val="tx1"/>
          </a:solidFill>
          <a:ln w="57150" cap="flat" cmpd="thickThin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marL="457200" indent="-457200">
              <a:lnSpc>
                <a:spcPct val="120000"/>
              </a:lnSpc>
              <a:buClrTx/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66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执行过程如下：</a:t>
            </a:r>
            <a:endParaRPr lang="zh-CN" altLang="en-US" sz="2800" b="1" dirty="0">
              <a:solidFill>
                <a:srgbClr val="6633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FROM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取出整个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SC</a:t>
            </a:r>
            <a:endParaRPr lang="en-US" altLang="zh-CN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WHERE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筛选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Score&gt;=60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的元组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GROUP BY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将选出的元组按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Sno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分组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HAVING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筛选选课三门以上的分组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SELECT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选出的组中提取学号和总成绩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ORDER BY</a:t>
            </a:r>
            <a:r>
              <a:rPr lang="en-US" altLang="zh-CN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将选取结果排序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4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7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79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95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10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charRg st="12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6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19" grpId="0" build="p"/>
      <p:bldP spid="623620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分组查询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45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273050" indent="-273050"/>
            <a:r>
              <a:rPr lang="zh-CN" altLang="en-US" sz="3200" dirty="0">
                <a:latin typeface="Arial" panose="020B0604020202020204" pitchFamily="34" charset="0"/>
              </a:rPr>
              <a:t>求选课在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门以上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含</a:t>
            </a:r>
            <a:r>
              <a:rPr lang="en-US" altLang="zh-CN" sz="3200" dirty="0"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latin typeface="Arial" panose="020B0604020202020204" pitchFamily="34" charset="0"/>
              </a:rPr>
              <a:t>门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且各门课程均及格的学生的学号及其总成绩，查询结果按总成绩降序列出</a:t>
            </a:r>
            <a:r>
              <a:rPr lang="zh-CN" altLang="en-US" sz="3200" b="0" dirty="0">
                <a:latin typeface="Arial" panose="020B0604020202020204" pitchFamily="34" charset="0"/>
                <a:ea typeface="华文中宋" panose="02010600040101010101" pitchFamily="2" charset="-122"/>
              </a:rPr>
              <a:t>。</a:t>
            </a:r>
            <a:endParaRPr lang="zh-CN" altLang="en-US" sz="3200" b="0" dirty="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marL="273050" indent="-273050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en-US" altLang="zh-CN" sz="2840" dirty="0">
                <a:latin typeface="Arial" panose="020B0604020202020204" pitchFamily="34" charset="0"/>
              </a:rPr>
              <a:t>SELECT Sno,SUM(Score) AS </a:t>
            </a:r>
            <a:r>
              <a:rPr lang="zh-CN" altLang="en-US" sz="2840" dirty="0">
                <a:latin typeface="Arial" panose="020B0604020202020204" pitchFamily="34" charset="0"/>
              </a:rPr>
              <a:t>总成绩</a:t>
            </a:r>
            <a:endParaRPr lang="zh-CN" altLang="en-US" sz="2840" dirty="0">
              <a:latin typeface="Arial" panose="020B0604020202020204" pitchFamily="34" charset="0"/>
            </a:endParaRPr>
          </a:p>
          <a:p>
            <a:pPr marL="730250" lvl="1" indent="-27305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40" dirty="0">
                <a:latin typeface="Arial" panose="020B0604020202020204" pitchFamily="34" charset="0"/>
              </a:rPr>
              <a:t>FROM SC</a:t>
            </a:r>
            <a:endParaRPr lang="en-US" altLang="zh-CN" sz="2840" dirty="0">
              <a:latin typeface="Arial" panose="020B0604020202020204" pitchFamily="34" charset="0"/>
            </a:endParaRPr>
          </a:p>
          <a:p>
            <a:pPr marL="730250" lvl="1" indent="-27305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40" dirty="0">
                <a:latin typeface="Arial" panose="020B0604020202020204" pitchFamily="34" charset="0"/>
              </a:rPr>
              <a:t>GROUP BY Sno</a:t>
            </a:r>
            <a:endParaRPr lang="en-US" altLang="zh-CN" sz="2840" dirty="0">
              <a:latin typeface="Arial" panose="020B0604020202020204" pitchFamily="34" charset="0"/>
            </a:endParaRPr>
          </a:p>
          <a:p>
            <a:pPr marL="730250" lvl="1" indent="-27305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40" dirty="0">
                <a:latin typeface="Arial" panose="020B0604020202020204" pitchFamily="34" charset="0"/>
              </a:rPr>
              <a:t>HAVING COUNT(</a:t>
            </a:r>
            <a:r>
              <a:rPr lang="en-US" altLang="zh-CN" sz="284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2840" dirty="0">
                <a:latin typeface="Arial" panose="020B0604020202020204" pitchFamily="34" charset="0"/>
              </a:rPr>
              <a:t>)&gt;=3 AND MIN(Score)&gt;=60</a:t>
            </a:r>
            <a:endParaRPr lang="en-US" altLang="zh-CN" sz="2840" dirty="0">
              <a:latin typeface="Arial" panose="020B0604020202020204" pitchFamily="34" charset="0"/>
            </a:endParaRPr>
          </a:p>
          <a:p>
            <a:pPr marL="730250" lvl="1" indent="-27305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40" dirty="0">
                <a:latin typeface="Arial" panose="020B0604020202020204" pitchFamily="34" charset="0"/>
              </a:rPr>
              <a:t>ORDER BY SUM(Score) DESC ;</a:t>
            </a:r>
            <a:endParaRPr lang="en-US" altLang="zh-CN" sz="284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charRg st="47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charRg st="79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charRg st="87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charRg st="10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charRg st="138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4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关于子句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800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子句使用顺序：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WHERE→GROUP BY → HAVING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WHERE</a:t>
            </a:r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HAVING</a:t>
            </a:r>
            <a:r>
              <a:rPr lang="zh-CN" altLang="en-US" dirty="0">
                <a:latin typeface="Arial" panose="020B0604020202020204" pitchFamily="34" charset="0"/>
              </a:rPr>
              <a:t>子句的根本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区别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</a:rPr>
              <a:t>作用对象不同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WHERE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子句</a:t>
            </a:r>
            <a:r>
              <a:rPr lang="zh-CN" altLang="en-US" dirty="0">
                <a:latin typeface="Arial" panose="020B0604020202020204" pitchFamily="34" charset="0"/>
              </a:rPr>
              <a:t>作用于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基本表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视图</a:t>
            </a:r>
            <a:r>
              <a:rPr lang="zh-CN" altLang="en-US" dirty="0">
                <a:latin typeface="Arial" panose="020B0604020202020204" pitchFamily="34" charset="0"/>
              </a:rPr>
              <a:t>， </a:t>
            </a:r>
            <a:r>
              <a:rPr lang="zh-CN" altLang="en-US" dirty="0"/>
              <a:t>从中选择满足条件的元组。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HAVING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子句</a:t>
            </a:r>
            <a:r>
              <a:rPr lang="zh-CN" altLang="en-US" dirty="0">
                <a:latin typeface="Arial" panose="020B0604020202020204" pitchFamily="34" charset="0"/>
              </a:rPr>
              <a:t>作用于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组</a:t>
            </a:r>
            <a:r>
              <a:rPr lang="zh-CN" altLang="en-US" dirty="0">
                <a:latin typeface="Arial" panose="020B0604020202020204" pitchFamily="34" charset="0"/>
              </a:rPr>
              <a:t>，选择满足条件的组，必须用于</a:t>
            </a:r>
            <a:r>
              <a:rPr lang="en-US" altLang="zh-CN" dirty="0">
                <a:latin typeface="Arial" panose="020B0604020202020204" pitchFamily="34" charset="0"/>
              </a:rPr>
              <a:t>GROUP BY</a:t>
            </a:r>
            <a:r>
              <a:rPr lang="zh-CN" altLang="en-US" dirty="0">
                <a:latin typeface="Arial" panose="020B0604020202020204" pitchFamily="34" charset="0"/>
              </a:rPr>
              <a:t>子句之后，但</a:t>
            </a:r>
            <a:r>
              <a:rPr lang="en-US" altLang="zh-CN" dirty="0">
                <a:latin typeface="Arial" panose="020B0604020202020204" pitchFamily="34" charset="0"/>
              </a:rPr>
              <a:t>GROUP BY</a:t>
            </a:r>
            <a:r>
              <a:rPr lang="zh-CN" altLang="en-US" dirty="0">
                <a:latin typeface="Arial" panose="020B0604020202020204" pitchFamily="34" charset="0"/>
              </a:rPr>
              <a:t>子句可以没有</a:t>
            </a:r>
            <a:r>
              <a:rPr lang="en-US" altLang="zh-CN" dirty="0">
                <a:latin typeface="Arial" panose="020B0604020202020204" pitchFamily="34" charset="0"/>
              </a:rPr>
              <a:t>HAVING</a:t>
            </a:r>
            <a:r>
              <a:rPr lang="zh-CN" altLang="en-US" dirty="0">
                <a:latin typeface="Arial" panose="020B0604020202020204" pitchFamily="34" charset="0"/>
              </a:rPr>
              <a:t>子句。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65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l"/>
            <a:r>
              <a:rPr lang="zh-CN" altLang="en-US" dirty="0">
                <a:latin typeface="Arial" panose="020B0604020202020204" pitchFamily="34" charset="0"/>
              </a:rPr>
              <a:t>给出实现下列代数运算的SQL语句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SELECT Cno, Cname FROM C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WHERE Tno =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'T2'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lvl="1" indent="0"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     П</a:t>
            </a:r>
            <a:r>
              <a:rPr lang="en-US" altLang="zh-CN" baseline="-25000" dirty="0">
                <a:latin typeface="Arial" panose="020B0604020202020204" pitchFamily="34" charset="0"/>
                <a:sym typeface="Symbol" panose="05050102010706020507" pitchFamily="18" charset="2"/>
              </a:rPr>
              <a:t>Cno,C</a:t>
            </a:r>
            <a:r>
              <a:rPr lang="en-US" altLang="zh-CN" baseline="-25000" dirty="0">
                <a:latin typeface="Arial" panose="020B0604020202020204" pitchFamily="34" charset="0"/>
                <a:sym typeface="+mn-ea"/>
              </a:rPr>
              <a:t>name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 </a:t>
            </a:r>
            <a:r>
              <a:rPr lang="en-US" altLang="zh-CN" dirty="0">
                <a:sym typeface="Symbol" panose="05050102010706020507" pitchFamily="18" charset="2"/>
              </a:rPr>
              <a:t> </a:t>
            </a:r>
            <a:r>
              <a:rPr lang="en-US" altLang="zh-CN" baseline="-25000" dirty="0">
                <a:latin typeface="Arial" panose="020B0604020202020204" pitchFamily="34" charset="0"/>
                <a:sym typeface="+mn-ea"/>
              </a:rPr>
              <a:t>Tno = </a:t>
            </a:r>
            <a:r>
              <a:rPr lang="en-US" altLang="zh-CN" baseline="-25000" dirty="0"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'T2'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(C) 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Sno,S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name,Sage FROM S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WHERE Sage&lt;=20 AND Sage&gt;=18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lvl="1" indent="0"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     П</a:t>
            </a:r>
            <a:r>
              <a:rPr lang="en-US" altLang="zh-CN" baseline="-25000" dirty="0">
                <a:latin typeface="Arial" panose="020B0604020202020204" pitchFamily="34" charset="0"/>
                <a:sym typeface="Symbol" panose="05050102010706020507" pitchFamily="18" charset="2"/>
              </a:rPr>
              <a:t>Sno,S</a:t>
            </a:r>
            <a:r>
              <a:rPr lang="en-US" altLang="zh-CN" baseline="-25000" dirty="0">
                <a:latin typeface="Arial" panose="020B0604020202020204" pitchFamily="34" charset="0"/>
                <a:sym typeface="+mn-ea"/>
              </a:rPr>
              <a:t>name,Sage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 </a:t>
            </a:r>
            <a:r>
              <a:rPr lang="en-US" altLang="zh-CN" dirty="0">
                <a:sym typeface="Symbol" panose="05050102010706020507" pitchFamily="18" charset="2"/>
              </a:rPr>
              <a:t> </a:t>
            </a:r>
            <a:r>
              <a:rPr lang="en-US" altLang="zh-CN" baseline="-25000" dirty="0">
                <a:latin typeface="Arial" panose="020B0604020202020204" pitchFamily="34" charset="0"/>
                <a:sym typeface="+mn-ea"/>
              </a:rPr>
              <a:t>Sage&lt;=20 ∧Sage&gt;=18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(S) 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21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5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7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143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172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6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SQL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7587" name="Rectangle 3"/>
          <p:cNvSpPr>
            <a:spLocks noGrp="1"/>
          </p:cNvSpPr>
          <p:nvPr>
            <p:ph idx="1"/>
          </p:nvPr>
        </p:nvSpPr>
        <p:spPr>
          <a:xfrm>
            <a:off x="152400" y="884555"/>
            <a:ext cx="8991600" cy="5560695"/>
          </a:xfrm>
        </p:spPr>
        <p:txBody>
          <a:bodyPr vert="horz" wrap="square" lIns="91440" tIns="45720" rIns="91440" bIns="45720" anchor="t" anchorCtr="0"/>
          <a:p>
            <a:pPr algn="l"/>
            <a:r>
              <a:rPr lang="zh-CN" altLang="en-US" dirty="0">
                <a:latin typeface="Arial" panose="020B0604020202020204" pitchFamily="34" charset="0"/>
              </a:rPr>
              <a:t>给出实现下列代数运算的</a:t>
            </a:r>
            <a:r>
              <a:rPr lang="zh-CN" altLang="en-US" dirty="0">
                <a:latin typeface="Arial" panose="020B0604020202020204" pitchFamily="34" charset="0"/>
              </a:rPr>
              <a:t>SQL语句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57200" lvl="1" indent="0" latinLnBrk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FROM R WHERE DWH=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'100'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lvl="1" indent="0" latinLnBrk="0"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latin typeface="Arial" panose="020B0604020202020204" pitchFamily="34" charset="0"/>
                <a:sym typeface="+mn-ea"/>
              </a:rPr>
              <a:t>DWH = </a:t>
            </a:r>
            <a:r>
              <a:rPr lang="en-US" altLang="zh-CN" baseline="-25000" dirty="0"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'100'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(R) 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marL="0" lvl="1" indent="0" latinLnBrk="0">
              <a:spcBef>
                <a:spcPts val="0"/>
              </a:spcBef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lvl="1" indent="0" latinLnBrk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    SELECT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XM,XB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 FROM R;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1" indent="0" latinLnBrk="0"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П</a:t>
            </a:r>
            <a:r>
              <a:rPr lang="en-US" altLang="zh-CN" baseline="-25000" dirty="0">
                <a:latin typeface="Arial" panose="020B0604020202020204" pitchFamily="34" charset="0"/>
                <a:sym typeface="Symbol" panose="05050102010706020507" pitchFamily="18" charset="2"/>
              </a:rPr>
              <a:t>XM, XB</a:t>
            </a:r>
            <a:r>
              <a:rPr lang="en-US" altLang="zh-CN" dirty="0">
                <a:latin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457200" lvl="1" indent="0" latinLnBrk="0">
              <a:spcBef>
                <a:spcPts val="0"/>
              </a:spcBef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marL="457200" lvl="1" indent="0" latinLnBrk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XM, XB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FROM R WHERE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XB=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'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女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'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lvl="1" indent="0" latinLnBrk="0"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Symbol" panose="05050102010706020507" pitchFamily="18" charset="2"/>
              </a:rPr>
              <a:t>    П</a:t>
            </a:r>
            <a:r>
              <a:rPr lang="en-US" altLang="zh-CN" baseline="-25000" dirty="0">
                <a:latin typeface="Arial" panose="020B0604020202020204" pitchFamily="34" charset="0"/>
                <a:sym typeface="Symbol" panose="05050102010706020507" pitchFamily="18" charset="2"/>
              </a:rPr>
              <a:t>XM, XB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latin typeface="Arial" panose="020B0604020202020204" pitchFamily="34" charset="0"/>
                <a:sym typeface="Symbol" panose="05050102010706020507" pitchFamily="18" charset="2"/>
              </a:rPr>
              <a:t>XB=</a:t>
            </a:r>
            <a:r>
              <a:rPr lang="en-US" altLang="zh-CN" baseline="-25000" dirty="0"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'</a:t>
            </a:r>
            <a:r>
              <a:rPr lang="zh-CN" altLang="en-US" baseline="-25000" dirty="0">
                <a:latin typeface="Arial" panose="020B0604020202020204" pitchFamily="34" charset="0"/>
                <a:sym typeface="Symbol" panose="05050102010706020507" pitchFamily="18" charset="2"/>
              </a:rPr>
              <a:t>女</a:t>
            </a:r>
            <a:r>
              <a:rPr lang="en-US" altLang="zh-CN" baseline="-25000" dirty="0">
                <a:latin typeface="Arial" panose="020B0604020202020204" pitchFamily="34" charset="0"/>
                <a:ea typeface="华文中宋" panose="02010600040101010101" pitchFamily="2" charset="-122"/>
                <a:sym typeface="+mn-ea"/>
              </a:rPr>
              <a:t>'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(R) 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lvl="1" indent="0">
              <a:spcBef>
                <a:spcPct val="15000"/>
              </a:spcBef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  <p:bldLst>
      <p:bldP spid="707587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27008" y="2829560"/>
            <a:ext cx="36899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Thanks!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tags/tag1.xml><?xml version="1.0" encoding="utf-8"?>
<p:tagLst xmlns:p="http://schemas.openxmlformats.org/presentationml/2006/main">
  <p:tag name="KSO_WM_UNIT_TABLE_BEAUTIFY" val="smartTable{082a4647-898e-4003-806b-5acd59b33c9b}"/>
</p:tagLst>
</file>

<file path=ppt/tags/tag2.xml><?xml version="1.0" encoding="utf-8"?>
<p:tagLst xmlns:p="http://schemas.openxmlformats.org/presentationml/2006/main">
  <p:tag name="COMMONDATA" val="eyJoZGlkIjoiNjAxYWNjNWM4YjUwYzdkM2Y4ZDNlNzBkZmE0NjZkZTkifQ=="/>
  <p:tag name="KSO_WPP_MARK_KEY" val="1893bf8a-8702-4f61-98d8-9115ac9de8f6"/>
</p:tagLst>
</file>

<file path=ppt/theme/theme1.xml><?xml version="1.0" encoding="utf-8"?>
<a:theme xmlns:a="http://schemas.openxmlformats.org/drawingml/2006/main" name="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幼圆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11065</Words>
  <Application>WPS 演示</Application>
  <PresentationFormat>全屏显示(4:3)</PresentationFormat>
  <Paragraphs>1028</Paragraphs>
  <Slides>72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Arial</vt:lpstr>
      <vt:lpstr>宋体</vt:lpstr>
      <vt:lpstr>Wingdings</vt:lpstr>
      <vt:lpstr>楷体_GB2312</vt:lpstr>
      <vt:lpstr>幼圆</vt:lpstr>
      <vt:lpstr>华文新魏</vt:lpstr>
      <vt:lpstr>华文中宋</vt:lpstr>
      <vt:lpstr>黑体</vt:lpstr>
      <vt:lpstr>微软雅黑</vt:lpstr>
      <vt:lpstr>Arial Unicode MS</vt:lpstr>
      <vt:lpstr>Courier New</vt:lpstr>
      <vt:lpstr>Wingdings</vt:lpstr>
      <vt:lpstr>Symbol</vt:lpstr>
      <vt:lpstr>Times New Roman</vt:lpstr>
      <vt:lpstr>Tahoma</vt:lpstr>
      <vt:lpstr>新宋体</vt:lpstr>
      <vt:lpstr>HXH</vt:lpstr>
      <vt:lpstr>PowerPoint 演示文稿</vt:lpstr>
      <vt:lpstr>主要内容</vt:lpstr>
      <vt:lpstr>5.1 SQL概述</vt:lpstr>
      <vt:lpstr>1) SQL的标准</vt:lpstr>
      <vt:lpstr>2) SQL的组成</vt:lpstr>
      <vt:lpstr>3) SQL的特点</vt:lpstr>
      <vt:lpstr>主要内容</vt:lpstr>
      <vt:lpstr>5.2 SQL的数据定义语句</vt:lpstr>
      <vt:lpstr>5.2.1 表的定义、修改与删除</vt:lpstr>
      <vt:lpstr>1) 定义表</vt:lpstr>
      <vt:lpstr>定义表举例1</vt:lpstr>
      <vt:lpstr>a) SQL基本数据类型</vt:lpstr>
      <vt:lpstr>b) 完整性约束</vt:lpstr>
      <vt:lpstr>实体完整性定义</vt:lpstr>
      <vt:lpstr>实体完整性定义</vt:lpstr>
      <vt:lpstr>参照完整性定义</vt:lpstr>
      <vt:lpstr>参照完整性定义举例</vt:lpstr>
      <vt:lpstr>参照完整性定义</vt:lpstr>
      <vt:lpstr>参照完整性定义举例</vt:lpstr>
      <vt:lpstr>用户定义完整性</vt:lpstr>
      <vt:lpstr>用户定义完整性</vt:lpstr>
      <vt:lpstr>定义表举例2</vt:lpstr>
      <vt:lpstr>定义表举例3</vt:lpstr>
      <vt:lpstr>2) 修改表结构</vt:lpstr>
      <vt:lpstr>3) 删除表</vt:lpstr>
      <vt:lpstr>5.2.2 索引的建立与删除</vt:lpstr>
      <vt:lpstr>1) 建立索引</vt:lpstr>
      <vt:lpstr>2) 删除索引</vt:lpstr>
      <vt:lpstr>3) 使用索引的说明</vt:lpstr>
      <vt:lpstr>主要内容</vt:lpstr>
      <vt:lpstr>5.3 数据查询</vt:lpstr>
      <vt:lpstr>5.3.1 查询语句的基本格式</vt:lpstr>
      <vt:lpstr>5.3.1 查询语句的基本格式</vt:lpstr>
      <vt:lpstr>5.3.1 查询语句的基本格式</vt:lpstr>
      <vt:lpstr>5.3 数据查询</vt:lpstr>
      <vt:lpstr>5.3.2 单表查询</vt:lpstr>
      <vt:lpstr>1) 选择表中的若干列</vt:lpstr>
      <vt:lpstr>1) 选择表中的若干列</vt:lpstr>
      <vt:lpstr>2) 选择表中的若干元组</vt:lpstr>
      <vt:lpstr>2) 选择表中的若干元组</vt:lpstr>
      <vt:lpstr>比较大小举例</vt:lpstr>
      <vt:lpstr>确定范围举例</vt:lpstr>
      <vt:lpstr>确定集合举例</vt:lpstr>
      <vt:lpstr>字符串匹配</vt:lpstr>
      <vt:lpstr>字符串匹配举例1</vt:lpstr>
      <vt:lpstr>字符串匹配举例2</vt:lpstr>
      <vt:lpstr>涉及空值的查询举例</vt:lpstr>
      <vt:lpstr>多重条件查询</vt:lpstr>
      <vt:lpstr>多重条件查询举例1</vt:lpstr>
      <vt:lpstr>多重条件查询举例2</vt:lpstr>
      <vt:lpstr>3) 对查询结果进行排序</vt:lpstr>
      <vt:lpstr>查询排序举例1</vt:lpstr>
      <vt:lpstr>查询排序举例2</vt:lpstr>
      <vt:lpstr>查询排序举例3</vt:lpstr>
      <vt:lpstr>4) 使用聚集函数 </vt:lpstr>
      <vt:lpstr>聚集函数举例</vt:lpstr>
      <vt:lpstr>聚集函数举例</vt:lpstr>
      <vt:lpstr>其他SQL函数</vt:lpstr>
      <vt:lpstr>5) 对查询结果分组</vt:lpstr>
      <vt:lpstr>5) 对查询结果分组</vt:lpstr>
      <vt:lpstr>分组查询举例</vt:lpstr>
      <vt:lpstr>5) 对查询结果分组</vt:lpstr>
      <vt:lpstr>5) 对查询结果分组</vt:lpstr>
      <vt:lpstr>分组查询举例1</vt:lpstr>
      <vt:lpstr>分组查询举例2</vt:lpstr>
      <vt:lpstr>分组查询举例3</vt:lpstr>
      <vt:lpstr>分组查询举例4</vt:lpstr>
      <vt:lpstr>分组查询举例5</vt:lpstr>
      <vt:lpstr>关于子句</vt:lpstr>
      <vt:lpstr>SQL练习1</vt:lpstr>
      <vt:lpstr>SQL练习2</vt:lpstr>
      <vt:lpstr>PowerPoint 演示文稿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火星叔叔</cp:lastModifiedBy>
  <cp:revision>1719</cp:revision>
  <dcterms:created xsi:type="dcterms:W3CDTF">2007-03-26T07:48:00Z</dcterms:created>
  <dcterms:modified xsi:type="dcterms:W3CDTF">2023-05-25T06:54:52Z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CE864C04E9E54CCE956A1489562B0904</vt:lpwstr>
  </property>
  <property fmtid="{D5CDD505-2E9C-101B-9397-08002B2CF9AE}" pid="3" name="KSOProductBuildVer">
    <vt:lpwstr>2052-11.1.0.14309</vt:lpwstr>
  </property>
</Properties>
</file>